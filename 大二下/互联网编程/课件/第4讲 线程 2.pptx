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4"/>
  </p:handoutMasterIdLst>
  <p:sldIdLst>
    <p:sldId id="256" r:id="rId3"/>
    <p:sldId id="402" r:id="rId5"/>
    <p:sldId id="382" r:id="rId6"/>
    <p:sldId id="380" r:id="rId7"/>
    <p:sldId id="358" r:id="rId8"/>
    <p:sldId id="383" r:id="rId9"/>
    <p:sldId id="381" r:id="rId10"/>
    <p:sldId id="384" r:id="rId11"/>
    <p:sldId id="403" r:id="rId12"/>
    <p:sldId id="385" r:id="rId13"/>
    <p:sldId id="379" r:id="rId14"/>
    <p:sldId id="391" r:id="rId15"/>
    <p:sldId id="392" r:id="rId16"/>
    <p:sldId id="393" r:id="rId17"/>
    <p:sldId id="386" r:id="rId18"/>
    <p:sldId id="387" r:id="rId19"/>
    <p:sldId id="394" r:id="rId20"/>
    <p:sldId id="395" r:id="rId21"/>
    <p:sldId id="388" r:id="rId22"/>
    <p:sldId id="389" r:id="rId23"/>
    <p:sldId id="359" r:id="rId24"/>
    <p:sldId id="360" r:id="rId25"/>
    <p:sldId id="361" r:id="rId26"/>
    <p:sldId id="396" r:id="rId27"/>
    <p:sldId id="397" r:id="rId28"/>
    <p:sldId id="398" r:id="rId29"/>
    <p:sldId id="363" r:id="rId30"/>
    <p:sldId id="362" r:id="rId31"/>
    <p:sldId id="364" r:id="rId32"/>
    <p:sldId id="400" r:id="rId33"/>
    <p:sldId id="401" r:id="rId34"/>
    <p:sldId id="365" r:id="rId35"/>
    <p:sldId id="366" r:id="rId36"/>
    <p:sldId id="367" r:id="rId37"/>
    <p:sldId id="368" r:id="rId38"/>
    <p:sldId id="369" r:id="rId39"/>
    <p:sldId id="399" r:id="rId40"/>
    <p:sldId id="370" r:id="rId41"/>
    <p:sldId id="371" r:id="rId42"/>
    <p:sldId id="390" r:id="rId43"/>
  </p:sldIdLst>
  <p:sldSz cx="12192000" cy="6858000"/>
  <p:notesSz cx="7099300" cy="10234295"/>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990099"/>
    <a:srgbClr val="006600"/>
    <a:srgbClr val="003300"/>
    <a:srgbClr val="FF3399"/>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94728" autoAdjust="0"/>
  </p:normalViewPr>
  <p:slideViewPr>
    <p:cSldViewPr showGuides="1">
      <p:cViewPr varScale="1">
        <p:scale>
          <a:sx n="113" d="100"/>
          <a:sy n="113" d="100"/>
        </p:scale>
        <p:origin x="474"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5"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atin typeface="Arial" panose="020B0604020202020204" pitchFamily="34" charset="0"/>
                <a:ea typeface="宋体" panose="02010600030101010101" pitchFamily="2" charset="-122"/>
              </a:defRPr>
            </a:lvl1pPr>
          </a:lstStyle>
          <a:p>
            <a:pPr>
              <a:defRPr/>
            </a:pPr>
            <a:fld id="{2738FC8D-520B-4135-9531-927293AD2239}" type="datetime1">
              <a:rPr lang="zh-CN" altLang="en-US"/>
            </a:fld>
            <a:endParaRPr lang="en-US" altLang="zh-CN"/>
          </a:p>
        </p:txBody>
      </p:sp>
      <p:sp>
        <p:nvSpPr>
          <p:cNvPr id="74756"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74757"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F88E7E53-C249-47ED-8D94-659CDB91FEC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3"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defRPr sz="1300">
                <a:latin typeface="Arial" panose="020B0604020202020204" pitchFamily="34" charset="0"/>
                <a:ea typeface="宋体" panose="02010600030101010101" pitchFamily="2" charset="-122"/>
              </a:defRPr>
            </a:lvl1pPr>
          </a:lstStyle>
          <a:p>
            <a:pPr>
              <a:defRPr/>
            </a:pPr>
            <a:fld id="{64285A42-7167-40E6-9FCA-8AC50A7CEEFA}" type="datetime1">
              <a:rPr lang="zh-CN" altLang="en-US"/>
            </a:fld>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5"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1686"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71687"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defRPr sz="1300"/>
            </a:lvl1pPr>
          </a:lstStyle>
          <a:p>
            <a:pPr>
              <a:defRPr/>
            </a:pPr>
            <a:fld id="{C0AE5403-E5F9-40D4-9913-26D748FF539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465D2BD-4D96-4995-B3E5-632F3A508C06}" type="slidenum">
              <a:rPr lang="en-US" altLang="zh-CN" smtClean="0"/>
            </a:fld>
            <a:endParaRPr lang="en-US" altLang="zh-CN"/>
          </a:p>
        </p:txBody>
      </p:sp>
      <p:sp>
        <p:nvSpPr>
          <p:cNvPr id="6147" name="Rectangle 2"/>
          <p:cNvSpPr>
            <a:spLocks noGrp="1" noRot="1" noChangeAspect="1" noChangeArrowheads="1" noTextEdit="1"/>
          </p:cNvSpPr>
          <p:nvPr>
            <p:ph type="sldImg"/>
          </p:nvPr>
        </p:nvSpPr>
        <p:spPr>
          <a:xfrm>
            <a:off x="139700" y="768350"/>
            <a:ext cx="6819900" cy="3836988"/>
          </a:xfrm>
        </p:spPr>
      </p:sp>
      <p:sp>
        <p:nvSpPr>
          <p:cNvPr id="6148"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9634" name="Rectangle 2"/>
          <p:cNvSpPr>
            <a:spLocks noGrp="1" noRot="1" noChangeArrowheads="1"/>
          </p:cNvSpPr>
          <p:nvPr>
            <p:ph type="ctrTitle"/>
          </p:nvPr>
        </p:nvSpPr>
        <p:spPr>
          <a:xfrm>
            <a:off x="914400" y="2286000"/>
            <a:ext cx="10363200" cy="1143000"/>
          </a:xfrm>
        </p:spPr>
        <p:txBody>
          <a:bodyPr/>
          <a:lstStyle>
            <a:lvl1pPr>
              <a:defRPr/>
            </a:lvl1pPr>
          </a:lstStyle>
          <a:p>
            <a:pPr lvl="0"/>
            <a:r>
              <a:rPr lang="zh-CN" altLang="en-US" noProof="0"/>
              <a:t>单击此处编辑母版标题样式</a:t>
            </a:r>
            <a:endParaRPr lang="zh-CN" altLang="en-US" noProof="0"/>
          </a:p>
        </p:txBody>
      </p:sp>
      <p:sp>
        <p:nvSpPr>
          <p:cNvPr id="69635" name="Rectangle 3"/>
          <p:cNvSpPr>
            <a:spLocks noGrp="1" noRot="1" noChangeArrowheads="1"/>
          </p:cNvSpPr>
          <p:nvPr>
            <p:ph type="subTitle" idx="1"/>
          </p:nvPr>
        </p:nvSpPr>
        <p:spPr>
          <a:xfrm>
            <a:off x="1828800" y="3886200"/>
            <a:ext cx="8534400" cy="1752600"/>
          </a:xfrm>
        </p:spPr>
        <p:txBody>
          <a:bodyPr/>
          <a:lstStyle>
            <a:lvl1pPr marL="0" indent="0" algn="ctr">
              <a:buFont typeface="Wingdings 2" panose="05020102010507070707" pitchFamily="18" charset="2"/>
              <a:buNone/>
              <a:defRPr/>
            </a:lvl1pPr>
          </a:lstStyle>
          <a:p>
            <a:pPr lvl="0"/>
            <a:r>
              <a:rPr lang="zh-CN" altLang="en-US" noProof="0"/>
              <a:t>单击此处编辑母版副标题样式</a:t>
            </a:r>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CF09E43-D2BC-4572-936B-D343D45BFFD6}"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1681AD1-CDFE-4ACA-AF89-B791CA1E0D9F}"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AFA43E2-C88D-49A9-82B9-1D31CAB9AD34}"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02168"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F16A7BD-5150-45E4-9803-A2CD859C4546}"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25CDE65C-32C9-49ED-A26B-5F7F60B03960}"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0F92E45-2824-4922-9948-E5C16C7BCF8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6BEC37CF-EADA-4AE2-91F4-65AEE4122EB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1D9FC07-426F-40E9-AEC3-223001C4E4DC}"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8AAD887-F0F7-42A8-81D6-AB98DC593D66}"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6805C38-4D42-4467-8549-A7773319C1C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8" y="228601"/>
            <a:ext cx="2846916" cy="58705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02167" y="228601"/>
            <a:ext cx="8337551" cy="58705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C4D527A-8DDE-4899-B62C-98758D7E8CBB}"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228600"/>
            <a:ext cx="1138766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02168"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1" y="1600200"/>
            <a:ext cx="5592233" cy="44989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CSASC</a:t>
            </a: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43A12B0-5CF4-4F62-A203-D70342B05B3A}"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402167" y="228600"/>
            <a:ext cx="1138766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Rot="1" noChangeArrowheads="1"/>
          </p:cNvSpPr>
          <p:nvPr>
            <p:ph type="body" idx="1"/>
          </p:nvPr>
        </p:nvSpPr>
        <p:spPr bwMode="auto">
          <a:xfrm>
            <a:off x="402167" y="1600200"/>
            <a:ext cx="11387667"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8612" name="Rectangle 4"/>
          <p:cNvSpPr>
            <a:spLocks noGrp="1" noChangeArrowheads="1"/>
          </p:cNvSpPr>
          <p:nvPr>
            <p:ph type="dt" sz="half" idx="2"/>
          </p:nvPr>
        </p:nvSpPr>
        <p:spPr bwMode="auto">
          <a:xfrm>
            <a:off x="402167"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68613"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r>
              <a:rPr lang="en-US" altLang="zh-CN"/>
              <a:t>CSASC</a:t>
            </a:r>
            <a:endParaRPr lang="en-US" altLang="zh-CN"/>
          </a:p>
        </p:txBody>
      </p:sp>
      <p:sp>
        <p:nvSpPr>
          <p:cNvPr id="68614" name="Rectangle 6"/>
          <p:cNvSpPr>
            <a:spLocks noGrp="1" noChangeArrowheads="1"/>
          </p:cNvSpPr>
          <p:nvPr>
            <p:ph type="sldNum" sz="quarter" idx="4"/>
          </p:nvPr>
        </p:nvSpPr>
        <p:spPr bwMode="auto">
          <a:xfrm>
            <a:off x="8737601" y="6245225"/>
            <a:ext cx="305223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lvl1pPr>
          </a:lstStyle>
          <a:p>
            <a:pPr>
              <a:defRPr/>
            </a:pPr>
            <a:fld id="{CC2050F9-BD06-42C9-B310-C7B98A70173F}"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85000"/>
        <a:buFont typeface="Wingdings 2" panose="05020102010507070707" pitchFamily="18"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90000"/>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sldNum" sz="quarter" idx="12"/>
          </p:nvPr>
        </p:nvSpPr>
        <p:spPr>
          <a:noFill/>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6D1392E8-67E9-447A-85B9-98CAD7AE532C}" type="slidenum">
              <a:rPr lang="en-US" altLang="zh-CN" sz="1400"/>
            </a:fld>
            <a:endParaRPr lang="en-US" altLang="zh-CN" sz="1400"/>
          </a:p>
        </p:txBody>
      </p:sp>
      <p:sp>
        <p:nvSpPr>
          <p:cNvPr id="5123" name="Rectangle 6"/>
          <p:cNvSpPr>
            <a:spLocks noRot="1" noChangeArrowheads="1"/>
          </p:cNvSpPr>
          <p:nvPr/>
        </p:nvSpPr>
        <p:spPr bwMode="auto">
          <a:xfrm>
            <a:off x="1676400" y="1295400"/>
            <a:ext cx="85407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4800" b="1">
                <a:solidFill>
                  <a:srgbClr val="FF0000"/>
                </a:solidFill>
                <a:latin typeface="华文行楷" panose="02010800040101010101" pitchFamily="2" charset="-122"/>
                <a:ea typeface="华文行楷" panose="02010800040101010101" pitchFamily="2" charset="-122"/>
              </a:rPr>
              <a:t>Internet Programming</a:t>
            </a:r>
            <a:endParaRPr lang="en-US" altLang="zh-CN" sz="4800" b="1">
              <a:solidFill>
                <a:srgbClr val="FF0000"/>
              </a:solidFill>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en-US" sz="4800" b="1">
                <a:latin typeface="华文行楷" panose="02010800040101010101" pitchFamily="2" charset="-122"/>
                <a:ea typeface="华文行楷" panose="02010800040101010101" pitchFamily="2" charset="-122"/>
              </a:rPr>
              <a:t>Chapter </a:t>
            </a:r>
            <a:r>
              <a:rPr lang="en-GB" altLang="zh-CN" sz="4800" b="1">
                <a:latin typeface="华文行楷" panose="02010800040101010101" pitchFamily="2" charset="-122"/>
                <a:ea typeface="华文行楷" panose="02010800040101010101" pitchFamily="2" charset="-122"/>
              </a:rPr>
              <a:t>3</a:t>
            </a:r>
            <a:r>
              <a:rPr lang="en-GB" altLang="en-US" sz="4800" b="1">
                <a:latin typeface="华文行楷" panose="02010800040101010101" pitchFamily="2" charset="-122"/>
                <a:ea typeface="华文行楷" panose="02010800040101010101" pitchFamily="2" charset="-122"/>
              </a:rPr>
              <a:t>​</a:t>
            </a:r>
            <a:endParaRPr lang="en-US" altLang="zh-CN" sz="4800" b="1">
              <a:latin typeface="华文行楷" panose="02010800040101010101" pitchFamily="2" charset="-122"/>
              <a:ea typeface="华文行楷" panose="02010800040101010101" pitchFamily="2" charset="-122"/>
            </a:endParaRPr>
          </a:p>
          <a:p>
            <a:pPr algn="ctr" eaLnBrk="1" hangingPunct="1">
              <a:buFont typeface="Wingdings 2" panose="05020102010507070707" pitchFamily="18" charset="2"/>
              <a:buNone/>
            </a:pPr>
            <a:r>
              <a:rPr lang="en-GB" altLang="en-US" sz="4800">
                <a:latin typeface="Garamond" panose="02020404030301010803" pitchFamily="18" charset="0"/>
                <a:ea typeface="仿宋" panose="02010609060101010101" pitchFamily="49" charset="-122"/>
              </a:rPr>
              <a:t>Threads</a:t>
            </a:r>
            <a:endParaRPr lang="en-US" altLang="zh-CN" sz="4800">
              <a:latin typeface="Garamond" panose="02020404030301010803" pitchFamily="18" charset="0"/>
              <a:ea typeface="仿宋" panose="02010609060101010101" pitchFamily="49" charset="-122"/>
            </a:endParaRPr>
          </a:p>
        </p:txBody>
      </p:sp>
      <p:sp>
        <p:nvSpPr>
          <p:cNvPr id="5124" name="Rectangle 8"/>
          <p:cNvSpPr>
            <a:spLocks noRot="1" noChangeArrowheads="1"/>
          </p:cNvSpPr>
          <p:nvPr/>
        </p:nvSpPr>
        <p:spPr bwMode="auto">
          <a:xfrm>
            <a:off x="6477000" y="5715000"/>
            <a:ext cx="396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2000" b="1">
                <a:solidFill>
                  <a:schemeClr val="tx2"/>
                </a:solidFill>
              </a:rPr>
              <a:t>School of Computer and Software, Shenzhen University</a:t>
            </a:r>
            <a:endParaRPr lang="zh-CN" altLang="en-US" sz="2000" b="1" i="1">
              <a:solidFill>
                <a:schemeClr val="tx2"/>
              </a:solidFill>
            </a:endParaRPr>
          </a:p>
        </p:txBody>
      </p:sp>
      <p:pic>
        <p:nvPicPr>
          <p:cNvPr id="5125" name="Picture 10" descr="sz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228601"/>
            <a:ext cx="2514600"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over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1752600" y="457200"/>
            <a:ext cx="8229600" cy="431800"/>
          </a:xfrm>
        </p:spPr>
        <p:txBody>
          <a:bodyPr/>
          <a:lstStyle/>
          <a:p>
            <a:pPr algn="l"/>
            <a:r>
              <a:rPr lang="en-GB" altLang="en-US" sz="3600" b="1" dirty="0">
                <a:solidFill>
                  <a:srgbClr val="FF0000"/>
                </a:solidFill>
              </a:rPr>
              <a:t>Main content</a:t>
            </a:r>
            <a:endParaRPr lang="en-GB" altLang="en-US" sz="3600" b="1" dirty="0">
              <a:solidFill>
                <a:srgbClr val="FF0000"/>
              </a:solidFill>
            </a:endParaRPr>
          </a:p>
        </p:txBody>
      </p:sp>
      <p:sp>
        <p:nvSpPr>
          <p:cNvPr id="7171" name="内容占位符 2"/>
          <p:cNvSpPr>
            <a:spLocks noGrp="1"/>
          </p:cNvSpPr>
          <p:nvPr>
            <p:ph idx="1"/>
          </p:nvPr>
        </p:nvSpPr>
        <p:spPr>
          <a:xfrm>
            <a:off x="381000" y="1293814"/>
            <a:ext cx="11429999"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n"/>
            </a:pPr>
            <a:r>
              <a:rPr lang="en-GB" altLang="en-US" b="1" dirty="0">
                <a:solidFill>
                  <a:srgbClr val="FF0000"/>
                </a:solidFill>
              </a:rPr>
              <a:t>Multithreading and thread pool programming technology</a:t>
            </a:r>
            <a:r>
              <a:rPr lang="zh-CN" altLang="en-GB" b="1" dirty="0">
                <a:solidFill>
                  <a:srgbClr val="FF0000"/>
                </a:solidFill>
              </a:rPr>
              <a:t>多线程和线程池编程技术</a:t>
            </a:r>
            <a:endParaRPr lang="en-US" altLang="zh-CN" b="1" dirty="0">
              <a:solidFill>
                <a:srgbClr val="FF0000"/>
              </a:solidFill>
            </a:endParaRPr>
          </a:p>
          <a:p>
            <a:pPr>
              <a:buFont typeface="Wingdings" panose="05000000000000000000" pitchFamily="2" charset="2"/>
              <a:buChar char="n"/>
            </a:pPr>
            <a:r>
              <a:rPr lang="en-GB" altLang="zh-CN" b="1" dirty="0">
                <a:solidFill>
                  <a:srgbClr val="FF0000"/>
                </a:solidFill>
              </a:rPr>
              <a:t>Executor </a:t>
            </a:r>
            <a:r>
              <a:rPr lang="en-GB" altLang="en-US" b="1" dirty="0">
                <a:solidFill>
                  <a:srgbClr val="FF0000"/>
                </a:solidFill>
              </a:rPr>
              <a:t>concurrent programming framework</a:t>
            </a:r>
            <a:r>
              <a:rPr lang="zh-CN" altLang="en-GB" b="1" dirty="0">
                <a:solidFill>
                  <a:srgbClr val="FF0000"/>
                </a:solidFill>
              </a:rPr>
              <a:t>执行器并发编程框架</a:t>
            </a:r>
            <a:endParaRPr lang="en-US" altLang="zh-CN" b="1" dirty="0">
              <a:solidFill>
                <a:srgbClr val="FF0000"/>
              </a:solidFill>
            </a:endParaRPr>
          </a:p>
          <a:p>
            <a:pPr>
              <a:buFont typeface="Wingdings" panose="05000000000000000000" pitchFamily="2" charset="2"/>
              <a:buChar char="n"/>
            </a:pPr>
            <a:r>
              <a:rPr lang="en-GB" altLang="en-US" b="1" dirty="0">
                <a:solidFill>
                  <a:srgbClr val="FF0000"/>
                </a:solidFill>
              </a:rPr>
              <a:t>Concurrent program structure design </a:t>
            </a:r>
            <a:r>
              <a:rPr lang="zh-CN" altLang="en-GB" b="1" dirty="0">
                <a:solidFill>
                  <a:srgbClr val="FF0000"/>
                </a:solidFill>
              </a:rPr>
              <a:t>并发程序结构设计</a:t>
            </a:r>
            <a:endParaRPr lang="en-US" altLang="zh-CN" b="1" dirty="0">
              <a:solidFill>
                <a:srgbClr val="FF0000"/>
              </a:solidFill>
            </a:endParaRPr>
          </a:p>
          <a:p>
            <a:pPr>
              <a:buFont typeface="Wingdings" panose="05000000000000000000" pitchFamily="2" charset="2"/>
              <a:buChar char="n"/>
            </a:pPr>
            <a:r>
              <a:rPr lang="en-GB" altLang="en-US" b="1" dirty="0">
                <a:solidFill>
                  <a:srgbClr val="FF0000"/>
                </a:solidFill>
              </a:rPr>
              <a:t>File compression concurrent programming example</a:t>
            </a:r>
            <a:r>
              <a:rPr lang="zh-CN" altLang="en-GB" b="1" dirty="0">
                <a:solidFill>
                  <a:srgbClr val="FF0000"/>
                </a:solidFill>
              </a:rPr>
              <a:t>文件压缩并发编程示例</a:t>
            </a:r>
            <a:endParaRPr lang="en-US" altLang="zh-CN" b="1" dirty="0">
              <a:solidFill>
                <a:srgbClr val="FF0000"/>
              </a:solidFill>
            </a:endParaRPr>
          </a:p>
          <a:p>
            <a:pPr>
              <a:buFont typeface="Wingdings" panose="05000000000000000000" pitchFamily="2" charset="2"/>
              <a:buChar char="n"/>
            </a:pPr>
            <a:r>
              <a:rPr lang="en-GB" altLang="en-US" b="1" dirty="0">
                <a:solidFill>
                  <a:srgbClr val="FF0000"/>
                </a:solidFill>
              </a:rPr>
              <a:t>Synchronous block programming techniques and examples</a:t>
            </a:r>
            <a:r>
              <a:rPr lang="zh-CN" altLang="en-GB" b="1" dirty="0">
                <a:solidFill>
                  <a:srgbClr val="FF0000"/>
                </a:solidFill>
              </a:rPr>
              <a:t>同步块编程</a:t>
            </a:r>
            <a:endParaRPr lang="en-US" altLang="zh-CN" b="1" dirty="0">
              <a:solidFill>
                <a:srgbClr val="FF0000"/>
              </a:solidFill>
            </a:endParaRPr>
          </a:p>
          <a:p>
            <a:pPr>
              <a:buFont typeface="Wingdings" panose="05000000000000000000" pitchFamily="2" charset="2"/>
              <a:buChar char="n"/>
            </a:pPr>
            <a:r>
              <a:rPr lang="en-GB" altLang="en-US" b="1" dirty="0">
                <a:solidFill>
                  <a:srgbClr val="FF0000"/>
                </a:solidFill>
              </a:rPr>
              <a:t>Connection thread programming techniques and examples</a:t>
            </a:r>
            <a:r>
              <a:rPr lang="zh-CN" altLang="en-GB" b="1" dirty="0">
                <a:solidFill>
                  <a:srgbClr val="FF0000"/>
                </a:solidFill>
              </a:rPr>
              <a:t>连接编程</a:t>
            </a:r>
            <a:endParaRPr lang="zh-CN" altLang="en-GB"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270933" y="457200"/>
            <a:ext cx="11734800" cy="431800"/>
          </a:xfrm>
        </p:spPr>
        <p:txBody>
          <a:bodyPr/>
          <a:lstStyle/>
          <a:p>
            <a:pPr algn="l"/>
            <a:r>
              <a:rPr lang="en-GB" altLang="en-US" sz="3200" dirty="0"/>
              <a:t>Proper application of multithreaded programming technology</a:t>
            </a:r>
            <a:endParaRPr lang="en-GB" altLang="en-US" sz="3200" dirty="0"/>
          </a:p>
        </p:txBody>
      </p:sp>
      <p:sp>
        <p:nvSpPr>
          <p:cNvPr id="8195" name="内容占位符 2"/>
          <p:cNvSpPr>
            <a:spLocks noGrp="1"/>
          </p:cNvSpPr>
          <p:nvPr>
            <p:ph idx="1"/>
          </p:nvPr>
        </p:nvSpPr>
        <p:spPr>
          <a:xfrm>
            <a:off x="304800" y="1293814"/>
            <a:ext cx="112776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Advantages: Network programs, especially </a:t>
            </a:r>
            <a:r>
              <a:rPr lang="en-GB" altLang="zh-CN" sz="2800" dirty="0"/>
              <a:t>I/O </a:t>
            </a:r>
            <a:r>
              <a:rPr lang="en-GB" altLang="en-US" sz="2800" dirty="0"/>
              <a:t>-limited or </a:t>
            </a:r>
            <a:r>
              <a:rPr lang="en-GB" altLang="zh-CN" sz="2800" dirty="0"/>
              <a:t>CPU </a:t>
            </a:r>
            <a:r>
              <a:rPr lang="en-GB" altLang="en-US" sz="2800" dirty="0"/>
              <a:t>-limited network programs, introduce multithreading to improve concurrency and program performance.</a:t>
            </a:r>
            <a:endParaRPr lang="en-US" altLang="zh-CN" sz="2800" dirty="0"/>
          </a:p>
          <a:p>
            <a:pPr>
              <a:buFont typeface="Wingdings" panose="05000000000000000000" pitchFamily="2" charset="2"/>
              <a:buChar char="Ø"/>
            </a:pPr>
            <a:r>
              <a:rPr lang="en-GB" altLang="en-US" sz="2800" dirty="0"/>
              <a:t>Disadvantages: The creation, switching, and cleanup of threads themselves consume performance resources and have a negative impact on program performance.</a:t>
            </a:r>
            <a:endParaRPr lang="en-US" altLang="zh-CN" sz="2800" dirty="0"/>
          </a:p>
          <a:p>
            <a:pPr>
              <a:buFont typeface="Wingdings" panose="05000000000000000000" pitchFamily="2" charset="2"/>
              <a:buChar char="Ø"/>
            </a:pPr>
            <a:r>
              <a:rPr lang="en-GB" altLang="en-US" sz="2800" dirty="0"/>
              <a:t>Reasonable degree: The number of threads is moderate. Once you have created enough threads to use all the available idle time on the computer, creating more threads will only waste </a:t>
            </a:r>
            <a:r>
              <a:rPr lang="en-GB" altLang="zh-CN" sz="2800" dirty="0"/>
              <a:t>MIPS </a:t>
            </a:r>
            <a:r>
              <a:rPr lang="en-GB" altLang="en-US" sz="2800" dirty="0"/>
              <a:t>and memory on thread management.</a:t>
            </a:r>
            <a:endParaRPr lang="en-US" altLang="zh-C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1752600" y="457200"/>
            <a:ext cx="8229600" cy="431800"/>
          </a:xfrm>
        </p:spPr>
        <p:txBody>
          <a:bodyPr/>
          <a:lstStyle/>
          <a:p>
            <a:pPr algn="l"/>
            <a:r>
              <a:rPr lang="en-GB" altLang="en-US" sz="3200"/>
              <a:t>Disadvantages of traditional multithreading</a:t>
            </a:r>
            <a:endParaRPr lang="en-GB" altLang="en-US" sz="3200"/>
          </a:p>
        </p:txBody>
      </p:sp>
      <p:sp>
        <p:nvSpPr>
          <p:cNvPr id="9219" name="内容占位符 2"/>
          <p:cNvSpPr>
            <a:spLocks noGrp="1"/>
          </p:cNvSpPr>
          <p:nvPr>
            <p:ph idx="1"/>
          </p:nvPr>
        </p:nvSpPr>
        <p:spPr>
          <a:xfrm>
            <a:off x="304800" y="1295400"/>
            <a:ext cx="11506200"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Traditional multithreading method: using </a:t>
            </a:r>
            <a:r>
              <a:rPr lang="en-GB" altLang="zh-CN" sz="2800" dirty="0"/>
              <a:t>the </a:t>
            </a:r>
            <a:r>
              <a:rPr lang="en-GB" altLang="zh-CN" sz="2800" dirty="0">
                <a:solidFill>
                  <a:srgbClr val="FF0000"/>
                </a:solidFill>
              </a:rPr>
              <a:t>new Thread(...).start() </a:t>
            </a:r>
            <a:r>
              <a:rPr lang="en-GB" altLang="en-US" sz="2800" dirty="0">
                <a:solidFill>
                  <a:srgbClr val="FF0000"/>
                </a:solidFill>
              </a:rPr>
              <a:t>method</a:t>
            </a:r>
            <a:endParaRPr lang="en-US" altLang="zh-CN" sz="2800" dirty="0">
              <a:solidFill>
                <a:srgbClr val="FF0000"/>
              </a:solidFill>
            </a:endParaRPr>
          </a:p>
          <a:p>
            <a:pPr>
              <a:buFont typeface="Wingdings" panose="05000000000000000000" pitchFamily="2" charset="2"/>
              <a:buChar char="Ø"/>
            </a:pPr>
            <a:r>
              <a:rPr lang="en-GB" altLang="en-US" sz="2800" dirty="0"/>
              <a:t>question:</a:t>
            </a:r>
            <a:endParaRPr lang="en-US" altLang="zh-CN" sz="2800" dirty="0"/>
          </a:p>
          <a:p>
            <a:pPr>
              <a:buFont typeface="Wingdings" panose="05000000000000000000" pitchFamily="2" charset="2"/>
              <a:buChar char="Ø"/>
            </a:pPr>
            <a:r>
              <a:rPr lang="en-GB" altLang="en-US" sz="2400" dirty="0"/>
              <a:t>( </a:t>
            </a:r>
            <a:r>
              <a:rPr lang="en-GB" altLang="zh-CN" sz="2400" dirty="0"/>
              <a:t>1 </a:t>
            </a:r>
            <a:r>
              <a:rPr lang="en-GB" altLang="en-US" sz="2400" dirty="0"/>
              <a:t>) High overhead.</a:t>
            </a:r>
            <a:r>
              <a:rPr lang="zh-CN" altLang="en-GB" sz="2400" dirty="0"/>
              <a:t>开销高</a:t>
            </a:r>
            <a:r>
              <a:rPr lang="en-GB" altLang="en-US" sz="2400" dirty="0"/>
              <a:t> For </a:t>
            </a:r>
            <a:r>
              <a:rPr lang="en-GB" altLang="zh-CN" sz="2400" dirty="0"/>
              <a:t>the JVM </a:t>
            </a:r>
            <a:r>
              <a:rPr lang="en-GB" altLang="en-US" sz="2400" dirty="0"/>
              <a:t>, each time a new thread is created or destroyed, it will incur a lot of overhead. The machine's </a:t>
            </a:r>
            <a:r>
              <a:rPr lang="en-GB" altLang="zh-CN" sz="2400" dirty="0"/>
              <a:t>MIPS </a:t>
            </a:r>
            <a:r>
              <a:rPr lang="en-GB" altLang="en-US" sz="2400" dirty="0"/>
              <a:t>and memory are wasted on thread management.</a:t>
            </a:r>
            <a:endParaRPr lang="en-US" altLang="zh-CN" sz="2400" dirty="0"/>
          </a:p>
          <a:p>
            <a:pPr>
              <a:buFont typeface="Wingdings" panose="05000000000000000000" pitchFamily="2" charset="2"/>
              <a:buChar char="Ø"/>
            </a:pPr>
            <a:r>
              <a:rPr lang="en-GB" altLang="en-US" sz="2400" dirty="0"/>
              <a:t>( </a:t>
            </a:r>
            <a:r>
              <a:rPr lang="en-GB" altLang="zh-CN" sz="2400" dirty="0"/>
              <a:t>2 </a:t>
            </a:r>
            <a:r>
              <a:rPr lang="en-GB" altLang="en-US" sz="2400" dirty="0"/>
              <a:t>) Lack of thread management. There is no pool to limit the number of threads. If the concurrency is high, many threads will be created, and there may be competition between threads, which will occupy too many system resources and increase the consumption of system resources. Moreover, if the number of threads exceeds the system load, it is easy to cause system instability.</a:t>
            </a:r>
            <a:endParaRPr lang="en-US" altLang="zh-C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304800" y="304800"/>
            <a:ext cx="11582400" cy="431800"/>
          </a:xfrm>
        </p:spPr>
        <p:txBody>
          <a:bodyPr/>
          <a:lstStyle/>
          <a:p>
            <a:pPr algn="l"/>
            <a:r>
              <a:rPr lang="en-GB" altLang="zh-CN" sz="3200" dirty="0"/>
              <a:t>Java </a:t>
            </a:r>
            <a:r>
              <a:rPr lang="en-GB" altLang="en-US" sz="3200" dirty="0"/>
              <a:t>multithreaded concurrent programming framework</a:t>
            </a:r>
            <a:endParaRPr lang="en-GB" altLang="en-US" sz="3200" dirty="0"/>
          </a:p>
        </p:txBody>
      </p:sp>
      <p:sp>
        <p:nvSpPr>
          <p:cNvPr id="10243" name="内容占位符 2"/>
          <p:cNvSpPr>
            <a:spLocks noGrp="1"/>
          </p:cNvSpPr>
          <p:nvPr>
            <p:ph idx="1"/>
          </p:nvPr>
        </p:nvSpPr>
        <p:spPr>
          <a:xfrm>
            <a:off x="186267" y="1447800"/>
            <a:ext cx="11277600" cy="4191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400" dirty="0"/>
              <a:t>JDK 1.5 </a:t>
            </a:r>
            <a:r>
              <a:rPr lang="en-GB" altLang="en-US" sz="2400" dirty="0"/>
              <a:t>and above, </a:t>
            </a:r>
            <a:r>
              <a:rPr lang="en-GB" altLang="zh-CN" sz="2400" dirty="0"/>
              <a:t>java.util.concurrent.* </a:t>
            </a:r>
            <a:r>
              <a:rPr lang="en-GB" altLang="en-US" sz="2400" dirty="0"/>
              <a:t>provides an </a:t>
            </a:r>
            <a:r>
              <a:rPr lang="en-GB" altLang="zh-CN" sz="2400" dirty="0"/>
              <a:t>Executor </a:t>
            </a:r>
            <a:r>
              <a:rPr lang="en-GB" altLang="en-US" sz="2400" dirty="0"/>
              <a:t>framework to encapsulate and hide the details of multi-threaded asynchronous control, making callbacks easier to handle.</a:t>
            </a:r>
            <a:endParaRPr lang="en-US" altLang="zh-CN" sz="2400" dirty="0"/>
          </a:p>
          <a:p>
            <a:pPr>
              <a:buFont typeface="Wingdings" panose="05000000000000000000" pitchFamily="2" charset="2"/>
              <a:buChar char="Ø"/>
            </a:pPr>
            <a:r>
              <a:rPr lang="en-GB" altLang="zh-CN" sz="2400" dirty="0"/>
              <a:t>Executor </a:t>
            </a:r>
            <a:r>
              <a:rPr lang="en-GB" altLang="en-US" sz="2400" dirty="0"/>
              <a:t>framework (concurrent programming framework): refers to the functional classes related to </a:t>
            </a:r>
            <a:r>
              <a:rPr lang="en-GB" altLang="zh-CN" sz="2400" dirty="0"/>
              <a:t>Executor in the JDK </a:t>
            </a:r>
            <a:r>
              <a:rPr lang="en-GB" altLang="en-US" sz="2400" dirty="0"/>
              <a:t>concurrency library , including thread pool, </a:t>
            </a:r>
            <a:r>
              <a:rPr lang="en-GB" altLang="zh-CN" sz="2400" dirty="0"/>
              <a:t>Executor </a:t>
            </a:r>
            <a:r>
              <a:rPr lang="en-GB" altLang="en-US" sz="2400" dirty="0"/>
              <a:t>, </a:t>
            </a:r>
            <a:r>
              <a:rPr lang="en-GB" altLang="zh-CN" sz="2400" dirty="0"/>
              <a:t>Executors </a:t>
            </a:r>
            <a:r>
              <a:rPr lang="en-GB" altLang="en-US" sz="2400" dirty="0"/>
              <a:t>, </a:t>
            </a:r>
            <a:r>
              <a:rPr lang="en-GB" altLang="zh-CN" sz="2400" dirty="0"/>
              <a:t>ExecutorService </a:t>
            </a:r>
            <a:r>
              <a:rPr lang="en-GB" altLang="en-US" sz="2400" dirty="0"/>
              <a:t>, </a:t>
            </a:r>
            <a:r>
              <a:rPr lang="en-GB" altLang="zh-CN" sz="2400" dirty="0"/>
              <a:t>Future </a:t>
            </a:r>
            <a:r>
              <a:rPr lang="en-GB" altLang="en-US" sz="2400" dirty="0"/>
              <a:t>, </a:t>
            </a:r>
            <a:r>
              <a:rPr lang="en-GB" altLang="zh-CN" sz="2400" dirty="0"/>
              <a:t>Callable </a:t>
            </a:r>
            <a:r>
              <a:rPr lang="en-GB" altLang="en-US" sz="2400" dirty="0"/>
              <a:t>, etc.</a:t>
            </a:r>
            <a:endParaRPr lang="en-US" altLang="zh-CN" sz="2400" dirty="0"/>
          </a:p>
          <a:p>
            <a:pPr>
              <a:buFont typeface="Wingdings" panose="05000000000000000000" pitchFamily="2" charset="2"/>
              <a:buChar char="Ø"/>
            </a:pPr>
            <a:r>
              <a:rPr lang="en-GB" altLang="en-US" sz="2400" dirty="0"/>
              <a:t>Programmers can create multiple different threads and get the required answers in the desired order.</a:t>
            </a:r>
            <a:endParaRPr lang="en-US" altLang="zh-C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1600200" y="152400"/>
            <a:ext cx="8229600" cy="431800"/>
          </a:xfrm>
        </p:spPr>
        <p:txBody>
          <a:bodyPr/>
          <a:lstStyle/>
          <a:p>
            <a:pPr algn="l"/>
            <a:r>
              <a:rPr lang="en-GB" altLang="en-US" sz="3200" dirty="0"/>
              <a:t>Thread </a:t>
            </a:r>
            <a:r>
              <a:rPr lang="en-GB" altLang="zh-CN" sz="3200" dirty="0"/>
              <a:t>Pool</a:t>
            </a:r>
            <a:r>
              <a:rPr lang="en-GB" altLang="en-US" sz="3200" dirty="0"/>
              <a:t>​</a:t>
            </a:r>
            <a:endParaRPr lang="en-GB" altLang="en-US" sz="3200" dirty="0"/>
          </a:p>
        </p:txBody>
      </p:sp>
      <p:sp>
        <p:nvSpPr>
          <p:cNvPr id="11267" name="内容占位符 2"/>
          <p:cNvSpPr>
            <a:spLocks noGrp="1"/>
          </p:cNvSpPr>
          <p:nvPr>
            <p:ph idx="1"/>
          </p:nvPr>
        </p:nvSpPr>
        <p:spPr>
          <a:xfrm>
            <a:off x="0" y="914400"/>
            <a:ext cx="12039600" cy="56388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000" dirty="0"/>
              <a:t>Function: When you need to limit the number of threads running at the same time in an application, you can use thread pool programming. The function of the thread pool is to limit the number of threads executing in the system.</a:t>
            </a:r>
            <a:endParaRPr lang="en-US" altLang="zh-CN" sz="2000" dirty="0"/>
          </a:p>
          <a:p>
            <a:pPr>
              <a:buFont typeface="Wingdings" panose="05000000000000000000" pitchFamily="2" charset="2"/>
              <a:buChar char="Ø"/>
            </a:pPr>
            <a:r>
              <a:rPr lang="en-GB" altLang="en-US" sz="2000" dirty="0"/>
              <a:t>Principle </a:t>
            </a:r>
            <a:r>
              <a:rPr lang="en-GB" altLang="en-US" sz="2400" dirty="0"/>
              <a:t>: </a:t>
            </a:r>
            <a:r>
              <a:rPr lang="en-GB" altLang="en-US" sz="2000" dirty="0"/>
              <a:t>Submit concurrently executed tasks to a thread pool (no need to start a new thread for each concurrently executed task). Once there is an idle thread in the pool, a thread will be assigned to the task for execution. Inside the thread pool, tasks are inserted into a blocking queue </a:t>
            </a:r>
            <a:r>
              <a:rPr lang="en-GB" altLang="zh-CN" sz="2000" dirty="0"/>
              <a:t>, </a:t>
            </a:r>
            <a:r>
              <a:rPr lang="en-GB" altLang="en-US" sz="2000" dirty="0"/>
              <a:t>and threads in the thread pool will take tasks from this queue. When a new task is inserted into the queue, an idle thread will successfully take the task from the queue and execute it.</a:t>
            </a:r>
            <a:endParaRPr lang="en-US" altLang="zh-CN" sz="2000" dirty="0"/>
          </a:p>
          <a:p>
            <a:pPr>
              <a:buFont typeface="Wingdings" panose="05000000000000000000" pitchFamily="2" charset="2"/>
              <a:buChar char="Ø"/>
            </a:pPr>
            <a:r>
              <a:rPr lang="en-GB" altLang="en-US" sz="2000" dirty="0"/>
              <a:t>The basic idea of thread pool is that it is an object pool idea, which opens up a piece of memory space to store many </a:t>
            </a:r>
            <a:r>
              <a:rPr lang="en-GB" altLang="zh-CN" sz="2000" dirty="0"/>
              <a:t>( </a:t>
            </a:r>
            <a:r>
              <a:rPr lang="en-GB" altLang="en-US" sz="2000" dirty="0"/>
              <a:t>not dead </a:t>
            </a:r>
            <a:r>
              <a:rPr lang="en-GB" altLang="zh-CN" sz="2000" dirty="0"/>
              <a:t>) </a:t>
            </a:r>
            <a:r>
              <a:rPr lang="en-GB" altLang="en-US" sz="2000" dirty="0"/>
              <a:t>threads. The thread execution scheduling in the pool is handled by the pool manager. When there is a thread task, one is taken from the pool, and the thread object is returned to the pool after execution. This can avoid the performance overhead caused by repeated creation of thread objects and save system resources.</a:t>
            </a:r>
            <a:endParaRPr lang="en-US" altLang="zh-CN" sz="2000" dirty="0"/>
          </a:p>
          <a:p>
            <a:pPr>
              <a:buFont typeface="Wingdings" panose="05000000000000000000" pitchFamily="2" charset="2"/>
              <a:buChar char="Ø"/>
            </a:pPr>
            <a:r>
              <a:rPr lang="en-GB" altLang="en-US" sz="2000" dirty="0"/>
              <a:t>Thread pools are often used in programming implementations of multi-threaded servers. Each connection that reaches the server through the network is packaged as a task and submitted to the thread pool. The threads in the thread pool will process requests on the connection concurrently.</a:t>
            </a:r>
            <a:endParaRPr lang="en-US" altLang="zh-CN" sz="2000" dirty="0"/>
          </a:p>
          <a:p>
            <a:pPr>
              <a:buFont typeface="Wingdings" panose="05000000000000000000" pitchFamily="2" charset="2"/>
              <a:buChar char="Ø"/>
            </a:pPr>
            <a:r>
              <a:rPr lang="en-GB" altLang="zh-CN" sz="2000" dirty="0"/>
              <a:t>Java5 </a:t>
            </a:r>
            <a:r>
              <a:rPr lang="en-GB" altLang="en-US" sz="2000" dirty="0"/>
              <a:t>and above support thread pool programming</a:t>
            </a:r>
            <a:endParaRPr lang="en-US" altLang="zh-C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1752600" y="381000"/>
            <a:ext cx="8229600" cy="431800"/>
          </a:xfrm>
        </p:spPr>
        <p:txBody>
          <a:bodyPr/>
          <a:lstStyle/>
          <a:p>
            <a:pPr algn="l"/>
            <a:r>
              <a:rPr lang="en-GB" altLang="en-US" sz="3200" dirty="0"/>
              <a:t>Advantages of the thread pool approach</a:t>
            </a:r>
            <a:endParaRPr lang="en-GB" altLang="en-US" sz="3200" dirty="0"/>
          </a:p>
        </p:txBody>
      </p:sp>
      <p:sp>
        <p:nvSpPr>
          <p:cNvPr id="12291" name="内容占位符 2"/>
          <p:cNvSpPr>
            <a:spLocks noGrp="1"/>
          </p:cNvSpPr>
          <p:nvPr>
            <p:ph idx="1"/>
          </p:nvPr>
        </p:nvSpPr>
        <p:spPr>
          <a:xfrm>
            <a:off x="304800" y="762000"/>
            <a:ext cx="11658600" cy="5791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Reuse threads. By reusing the created threads, the overhead of thread creation and destruction is reduced. Each working thread can be reused to perform multiple tasks.</a:t>
            </a:r>
            <a:endParaRPr lang="en-GB" altLang="en-US" sz="2800" dirty="0"/>
          </a:p>
          <a:p>
            <a:pPr>
              <a:buFont typeface="Wingdings" panose="05000000000000000000" pitchFamily="2" charset="2"/>
              <a:buChar char="Ø"/>
            </a:pPr>
            <a:r>
              <a:rPr lang="en-GB" altLang="en-US" sz="2800" dirty="0"/>
              <a:t>Effectively control the number of concurrent threads: You can adjust the number of working threads in the thread pool according to the system's capacity to prevent the server from being overwhelmed by excessive memory consumption </a:t>
            </a:r>
            <a:r>
              <a:rPr lang="en-GB" altLang="zh-CN" sz="2800" dirty="0"/>
              <a:t>( </a:t>
            </a:r>
            <a:r>
              <a:rPr lang="en-GB" altLang="en-US" sz="2800" dirty="0"/>
              <a:t>each thread requires about </a:t>
            </a:r>
            <a:r>
              <a:rPr lang="en-GB" altLang="zh-CN" sz="2800" dirty="0"/>
              <a:t>1MB </a:t>
            </a:r>
            <a:r>
              <a:rPr lang="en-GB" altLang="en-US" sz="2800" dirty="0"/>
              <a:t>of memory. The more threads you open, the more memory is consumed, and eventually the server crashes </a:t>
            </a:r>
            <a:r>
              <a:rPr lang="en-GB" altLang="zh-CN" sz="2800" dirty="0"/>
              <a:t>) </a:t>
            </a:r>
            <a:r>
              <a:rPr lang="en-GB" altLang="en-US" sz="2800" dirty="0"/>
              <a:t>.</a:t>
            </a:r>
            <a:endParaRPr lang="en-GB" altLang="en-US" sz="2800" dirty="0"/>
          </a:p>
          <a:p>
            <a:pPr>
              <a:buFont typeface="Wingdings" panose="05000000000000000000" pitchFamily="2" charset="2"/>
              <a:buChar char="Ø"/>
            </a:pPr>
            <a:r>
              <a:rPr lang="en-GB" altLang="en-US" sz="2800" dirty="0"/>
              <a:t>It provides simpler and more flexible thread management. It can provide various thread usage functions such as scheduled execution, periodic execution, single thread, variable number of threads, etc.</a:t>
            </a:r>
            <a:endParaRPr lang="en-US" altLang="zh-C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1787525" y="120663"/>
            <a:ext cx="8229600" cy="431800"/>
          </a:xfrm>
        </p:spPr>
        <p:txBody>
          <a:bodyPr/>
          <a:lstStyle/>
          <a:p>
            <a:r>
              <a:rPr lang="en-GB" altLang="zh-CN" sz="3200" dirty="0"/>
              <a:t>Executor </a:t>
            </a:r>
            <a:r>
              <a:rPr lang="en-GB" altLang="en-US" sz="3200" dirty="0"/>
              <a:t>framework</a:t>
            </a:r>
            <a:endParaRPr lang="en-GB" altLang="en-US" sz="3200" dirty="0"/>
          </a:p>
        </p:txBody>
      </p:sp>
      <p:sp>
        <p:nvSpPr>
          <p:cNvPr id="13315" name="内容占位符 2"/>
          <p:cNvSpPr>
            <a:spLocks noGrp="1"/>
          </p:cNvSpPr>
          <p:nvPr>
            <p:ph idx="1"/>
          </p:nvPr>
        </p:nvSpPr>
        <p:spPr>
          <a:xfrm>
            <a:off x="8467" y="235876"/>
            <a:ext cx="12001500" cy="12547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dirty="0"/>
              <a:t>Relationship between </a:t>
            </a:r>
            <a:endParaRPr lang="en-US" altLang="zh-CN" sz="2400" dirty="0"/>
          </a:p>
          <a:p>
            <a:pPr>
              <a:buFont typeface="Wingdings" panose="05000000000000000000" pitchFamily="2" charset="2"/>
              <a:buChar char="Ø"/>
            </a:pPr>
            <a:r>
              <a:rPr lang="en-GB" altLang="en-US" sz="2400" dirty="0"/>
              <a:t>In the </a:t>
            </a:r>
            <a:r>
              <a:rPr lang="en-GB" altLang="zh-CN" sz="2400" dirty="0"/>
              <a:t>Executor </a:t>
            </a:r>
            <a:r>
              <a:rPr lang="en-GB" altLang="en-US" sz="2400" dirty="0"/>
              <a:t>framework, Executor is used </a:t>
            </a:r>
            <a:r>
              <a:rPr lang="en-GB" altLang="zh-CN" sz="2400" dirty="0"/>
              <a:t>to </a:t>
            </a:r>
            <a:r>
              <a:rPr lang="en-GB" altLang="en-US" sz="2400" dirty="0"/>
              <a:t>manage </a:t>
            </a:r>
            <a:r>
              <a:rPr lang="en-GB" altLang="zh-CN" sz="2400" dirty="0"/>
              <a:t>Thread </a:t>
            </a:r>
            <a:r>
              <a:rPr lang="en-GB" altLang="en-US" sz="2400" dirty="0"/>
              <a:t>objects, thus simplifying concurrent programming.</a:t>
            </a: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marL="0" indent="0">
              <a:buNone/>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p:txBody>
      </p:sp>
      <p:sp>
        <p:nvSpPr>
          <p:cNvPr id="12293" name="文本框 5"/>
          <p:cNvSpPr txBox="1">
            <a:spLocks noChangeArrowheads="1"/>
          </p:cNvSpPr>
          <p:nvPr/>
        </p:nvSpPr>
        <p:spPr bwMode="auto">
          <a:xfrm>
            <a:off x="147902" y="3286412"/>
            <a:ext cx="62103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C00000"/>
                </a:solidFill>
              </a:rPr>
              <a:t>(1) The Callable </a:t>
            </a:r>
            <a:r>
              <a:rPr lang="en-GB" altLang="en-US" sz="1600" dirty="0">
                <a:solidFill>
                  <a:srgbClr val="C00000"/>
                </a:solidFill>
              </a:rPr>
              <a:t>interface </a:t>
            </a:r>
            <a:r>
              <a:rPr lang="en-GB" altLang="en-US" sz="1600" dirty="0">
                <a:solidFill>
                  <a:schemeClr val="tx2"/>
                </a:solidFill>
              </a:rPr>
              <a:t>is similar to </a:t>
            </a:r>
            <a:r>
              <a:rPr lang="en-GB" altLang="zh-CN" sz="1600" dirty="0">
                <a:solidFill>
                  <a:schemeClr val="tx2"/>
                </a:solidFill>
              </a:rPr>
              <a:t>Runnable </a:t>
            </a:r>
            <a:r>
              <a:rPr lang="en-GB" altLang="en-US" sz="1600" dirty="0">
                <a:solidFill>
                  <a:schemeClr val="tx2"/>
                </a:solidFill>
              </a:rPr>
              <a:t>and is designed for classes whose instances may be executed by another thread.</a:t>
            </a:r>
            <a:r>
              <a:rPr lang="en-GB" altLang="zh-CN" sz="1600" dirty="0">
                <a:solidFill>
                  <a:schemeClr val="tx2"/>
                </a:solidFill>
              </a:rPr>
              <a:t> </a:t>
            </a:r>
            <a:r>
              <a:rPr lang="en-GB" altLang="en-US" sz="1600" dirty="0">
                <a:solidFill>
                  <a:schemeClr val="tx2"/>
                </a:solidFill>
              </a:rPr>
              <a:t>Provide a </a:t>
            </a:r>
            <a:r>
              <a:rPr lang="en-GB" altLang="zh-CN" sz="1600" dirty="0">
                <a:solidFill>
                  <a:schemeClr val="tx2"/>
                </a:solidFill>
              </a:rPr>
              <a:t>call() </a:t>
            </a:r>
            <a:r>
              <a:rPr lang="en-GB" altLang="en-US" sz="1600" dirty="0">
                <a:solidFill>
                  <a:schemeClr val="tx2"/>
                </a:solidFill>
              </a:rPr>
              <a:t>method as the thread's execution body. </a:t>
            </a:r>
            <a:r>
              <a:rPr lang="en-GB" altLang="zh-CN" sz="1600" dirty="0">
                <a:solidFill>
                  <a:schemeClr val="tx2"/>
                </a:solidFill>
              </a:rPr>
              <a:t>The call() </a:t>
            </a:r>
            <a:r>
              <a:rPr lang="en-GB" altLang="en-US" sz="1600" dirty="0">
                <a:solidFill>
                  <a:schemeClr val="tx2"/>
                </a:solidFill>
              </a:rPr>
              <a:t>method is more powerful than </a:t>
            </a:r>
            <a:r>
              <a:rPr lang="en-GB" altLang="zh-CN" sz="1600" dirty="0">
                <a:solidFill>
                  <a:schemeClr val="tx2"/>
                </a:solidFill>
              </a:rPr>
              <a:t>the run() </a:t>
            </a:r>
            <a:r>
              <a:rPr lang="en-GB" altLang="en-US" sz="1600" dirty="0">
                <a:solidFill>
                  <a:schemeClr val="tx2"/>
                </a:solidFill>
              </a:rPr>
              <a:t>method: it has a return value and can throw exceptions.</a:t>
            </a:r>
            <a:endParaRPr lang="en-US" altLang="zh-CN" sz="1600" dirty="0">
              <a:solidFill>
                <a:schemeClr val="tx2"/>
              </a:solidFill>
            </a:endParaRPr>
          </a:p>
          <a:p>
            <a:pPr>
              <a:spcBef>
                <a:spcPct val="0"/>
              </a:spcBef>
              <a:buClrTx/>
              <a:buSzTx/>
              <a:buFontTx/>
              <a:buNone/>
            </a:pPr>
            <a:r>
              <a:rPr lang="en-GB" altLang="en-US" sz="1600" dirty="0">
                <a:solidFill>
                  <a:schemeClr val="tx2"/>
                </a:solidFill>
              </a:rPr>
              <a:t>When you submit a </a:t>
            </a:r>
            <a:r>
              <a:rPr lang="en-GB" altLang="zh-CN" sz="1600" dirty="0">
                <a:solidFill>
                  <a:schemeClr val="tx2"/>
                </a:solidFill>
              </a:rPr>
              <a:t>Callable </a:t>
            </a:r>
            <a:r>
              <a:rPr lang="en-GB" altLang="en-US" sz="1600" dirty="0">
                <a:solidFill>
                  <a:schemeClr val="tx2"/>
                </a:solidFill>
              </a:rPr>
              <a:t>object to the thread pool, you will get a </a:t>
            </a:r>
            <a:r>
              <a:rPr lang="en-GB" altLang="zh-CN" sz="1600" dirty="0">
                <a:solidFill>
                  <a:schemeClr val="tx2"/>
                </a:solidFill>
              </a:rPr>
              <a:t>Future object, and it </a:t>
            </a:r>
            <a:r>
              <a:rPr lang="en-GB" altLang="en-US" sz="1600" dirty="0">
                <a:solidFill>
                  <a:schemeClr val="tx2"/>
                </a:solidFill>
              </a:rPr>
              <a:t>has the same generic type as the </a:t>
            </a:r>
            <a:r>
              <a:rPr lang="en-GB" altLang="zh-CN" sz="1600" dirty="0">
                <a:solidFill>
                  <a:schemeClr val="tx2"/>
                </a:solidFill>
              </a:rPr>
              <a:t>Callable instance </a:t>
            </a:r>
            <a:r>
              <a:rPr lang="en-GB" altLang="en-US" sz="1600" dirty="0">
                <a:solidFill>
                  <a:schemeClr val="tx2"/>
                </a:solidFill>
              </a:rPr>
              <a:t>you passed in.</a:t>
            </a:r>
            <a:endParaRPr lang="en-GB" altLang="en-US" sz="1600" dirty="0">
              <a:solidFill>
                <a:schemeClr val="tx2"/>
              </a:solidFill>
            </a:endParaRPr>
          </a:p>
        </p:txBody>
      </p:sp>
      <p:sp>
        <p:nvSpPr>
          <p:cNvPr id="12294" name="文本框 6"/>
          <p:cNvSpPr txBox="1">
            <a:spLocks noChangeArrowheads="1"/>
          </p:cNvSpPr>
          <p:nvPr/>
        </p:nvSpPr>
        <p:spPr bwMode="auto">
          <a:xfrm>
            <a:off x="147902" y="5413898"/>
            <a:ext cx="598752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C00000"/>
                </a:solidFill>
              </a:rPr>
              <a:t>(2) The Future </a:t>
            </a:r>
            <a:r>
              <a:rPr lang="en-GB" altLang="en-US" sz="1600" dirty="0">
                <a:solidFill>
                  <a:srgbClr val="C00000"/>
                </a:solidFill>
              </a:rPr>
              <a:t>interface </a:t>
            </a:r>
            <a:r>
              <a:rPr lang="en-GB" altLang="en-US" sz="1600" dirty="0">
                <a:solidFill>
                  <a:schemeClr val="tx2"/>
                </a:solidFill>
              </a:rPr>
              <a:t>is used to cancel the execution result of a specific </a:t>
            </a:r>
            <a:r>
              <a:rPr lang="en-GB" altLang="zh-CN" sz="1600" dirty="0">
                <a:solidFill>
                  <a:schemeClr val="tx2"/>
                </a:solidFill>
              </a:rPr>
              <a:t>Runnable </a:t>
            </a:r>
            <a:r>
              <a:rPr lang="en-GB" altLang="en-US" sz="1600" dirty="0">
                <a:solidFill>
                  <a:schemeClr val="tx2"/>
                </a:solidFill>
              </a:rPr>
              <a:t>or </a:t>
            </a:r>
            <a:r>
              <a:rPr lang="en-GB" altLang="zh-CN" sz="1600" dirty="0">
                <a:solidFill>
                  <a:schemeClr val="tx2"/>
                </a:solidFill>
              </a:rPr>
              <a:t>Callable </a:t>
            </a:r>
            <a:r>
              <a:rPr lang="en-GB" altLang="en-US" sz="1600" dirty="0">
                <a:solidFill>
                  <a:schemeClr val="tx2"/>
                </a:solidFill>
              </a:rPr>
              <a:t>task, check whether it is completed, and obtain the result. If necessary, the execution result can be obtained through </a:t>
            </a:r>
            <a:r>
              <a:rPr lang="en-GB" altLang="zh-CN" sz="1600" dirty="0">
                <a:solidFill>
                  <a:schemeClr val="tx2"/>
                </a:solidFill>
              </a:rPr>
              <a:t>the get() method. The get() </a:t>
            </a:r>
            <a:r>
              <a:rPr lang="en-GB" altLang="en-US" sz="1600" dirty="0">
                <a:solidFill>
                  <a:schemeClr val="tx2"/>
                </a:solidFill>
              </a:rPr>
              <a:t>method will block until the task returns the result.</a:t>
            </a:r>
            <a:endParaRPr lang="en-GB" altLang="en-US" sz="1600" dirty="0">
              <a:solidFill>
                <a:schemeClr val="tx2"/>
              </a:solidFill>
            </a:endParaRPr>
          </a:p>
        </p:txBody>
      </p:sp>
      <p:sp>
        <p:nvSpPr>
          <p:cNvPr id="12295" name="文本框 7"/>
          <p:cNvSpPr txBox="1">
            <a:spLocks noChangeArrowheads="1"/>
          </p:cNvSpPr>
          <p:nvPr/>
        </p:nvSpPr>
        <p:spPr bwMode="auto">
          <a:xfrm>
            <a:off x="6400801" y="1490663"/>
            <a:ext cx="535781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C00000"/>
                </a:solidFill>
              </a:rPr>
              <a:t>(3) The Executor </a:t>
            </a:r>
            <a:r>
              <a:rPr lang="en-GB" altLang="en-US" sz="1600" dirty="0">
                <a:solidFill>
                  <a:srgbClr val="C00000"/>
                </a:solidFill>
              </a:rPr>
              <a:t>interface </a:t>
            </a:r>
            <a:r>
              <a:rPr lang="en-GB" altLang="en-US" sz="1600" dirty="0">
                <a:solidFill>
                  <a:schemeClr val="tx2"/>
                </a:solidFill>
              </a:rPr>
              <a:t>separates task submission from task execution and defines a method called </a:t>
            </a:r>
            <a:r>
              <a:rPr lang="en-GB" altLang="zh-CN" sz="1600" dirty="0">
                <a:solidFill>
                  <a:schemeClr val="tx2"/>
                </a:solidFill>
              </a:rPr>
              <a:t>execute that receives a Runnable </a:t>
            </a:r>
            <a:r>
              <a:rPr lang="en-GB" altLang="en-US" sz="1600" dirty="0">
                <a:solidFill>
                  <a:schemeClr val="tx2"/>
                </a:solidFill>
              </a:rPr>
              <a:t>object . It is the most basic interface in the </a:t>
            </a:r>
            <a:r>
              <a:rPr lang="en-GB" altLang="zh-CN" sz="1600" dirty="0">
                <a:solidFill>
                  <a:schemeClr val="tx2"/>
                </a:solidFill>
              </a:rPr>
              <a:t>Executor framework, similar to the Collection interface </a:t>
            </a:r>
            <a:r>
              <a:rPr lang="en-GB" altLang="en-US" sz="1600" dirty="0">
                <a:solidFill>
                  <a:schemeClr val="tx2"/>
                </a:solidFill>
              </a:rPr>
              <a:t>in a collection .</a:t>
            </a:r>
            <a:endParaRPr lang="en-GB" altLang="en-US" sz="1600" dirty="0">
              <a:solidFill>
                <a:schemeClr val="tx2"/>
              </a:solidFill>
            </a:endParaRPr>
          </a:p>
        </p:txBody>
      </p:sp>
      <p:sp>
        <p:nvSpPr>
          <p:cNvPr id="12296" name="文本框 8"/>
          <p:cNvSpPr txBox="1">
            <a:spLocks noChangeArrowheads="1"/>
          </p:cNvSpPr>
          <p:nvPr/>
        </p:nvSpPr>
        <p:spPr bwMode="auto">
          <a:xfrm>
            <a:off x="6469592" y="2870914"/>
            <a:ext cx="5531908"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C00000"/>
                </a:solidFill>
              </a:rPr>
              <a:t>(4) ExecutorService </a:t>
            </a:r>
            <a:r>
              <a:rPr lang="en-GB" altLang="en-US" sz="1600" dirty="0">
                <a:solidFill>
                  <a:srgbClr val="990099"/>
                </a:solidFill>
              </a:rPr>
              <a:t>is a subclass interface of </a:t>
            </a:r>
            <a:r>
              <a:rPr lang="en-GB" altLang="zh-CN" sz="1600" dirty="0">
                <a:solidFill>
                  <a:srgbClr val="990099"/>
                </a:solidFill>
              </a:rPr>
              <a:t>Executor </a:t>
            </a:r>
            <a:r>
              <a:rPr lang="en-GB" altLang="en-US" sz="1600" dirty="0">
                <a:solidFill>
                  <a:srgbClr val="990099"/>
                </a:solidFill>
              </a:rPr>
              <a:t>, which defines methods ( </a:t>
            </a:r>
            <a:r>
              <a:rPr lang="en-GB" altLang="zh-CN" sz="1600" dirty="0">
                <a:solidFill>
                  <a:srgbClr val="990099"/>
                </a:solidFill>
              </a:rPr>
              <a:t>API </a:t>
            </a:r>
            <a:r>
              <a:rPr lang="en-GB" altLang="en-US" sz="1600" dirty="0">
                <a:solidFill>
                  <a:srgbClr val="990099"/>
                </a:solidFill>
              </a:rPr>
              <a:t>) for operating </a:t>
            </a:r>
            <a:r>
              <a:rPr lang="en-GB" altLang="zh-CN" sz="1600" dirty="0">
                <a:solidFill>
                  <a:srgbClr val="990099"/>
                </a:solidFill>
              </a:rPr>
              <a:t>Executor , such as terminating tasks, submitting tasks, and tracking task return results </a:t>
            </a:r>
            <a:r>
              <a:rPr lang="en-GB" altLang="en-US" sz="1600" dirty="0">
                <a:solidFill>
                  <a:srgbClr val="990099"/>
                </a:solidFill>
              </a:rPr>
              <a:t>. After an </a:t>
            </a:r>
            <a:r>
              <a:rPr lang="en-GB" altLang="zh-CN" sz="1600" dirty="0">
                <a:solidFill>
                  <a:srgbClr val="990099"/>
                </a:solidFill>
              </a:rPr>
              <a:t>ExecutorService is closed, the thread pool will no longer receive any tasks. For ExecutorService </a:t>
            </a:r>
            <a:r>
              <a:rPr lang="en-GB" altLang="en-US" sz="1600" dirty="0">
                <a:solidFill>
                  <a:srgbClr val="990099"/>
                </a:solidFill>
              </a:rPr>
              <a:t>that is no longer used , it should be closed to release resources. It is the implementation of the thread pool.</a:t>
            </a:r>
            <a:endParaRPr lang="en-GB" altLang="en-US" sz="1600" dirty="0">
              <a:solidFill>
                <a:srgbClr val="990099"/>
              </a:solidFill>
            </a:endParaRPr>
          </a:p>
        </p:txBody>
      </p:sp>
      <p:sp>
        <p:nvSpPr>
          <p:cNvPr id="12297" name="文本框 9"/>
          <p:cNvSpPr txBox="1">
            <a:spLocks noChangeArrowheads="1"/>
          </p:cNvSpPr>
          <p:nvPr/>
        </p:nvSpPr>
        <p:spPr bwMode="auto">
          <a:xfrm>
            <a:off x="6469592" y="5006762"/>
            <a:ext cx="546311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600" dirty="0">
                <a:solidFill>
                  <a:srgbClr val="C00000"/>
                </a:solidFill>
              </a:rPr>
              <a:t>(5) The Executors </a:t>
            </a:r>
            <a:r>
              <a:rPr lang="en-GB" altLang="en-US" sz="1600" dirty="0">
                <a:solidFill>
                  <a:srgbClr val="C00000"/>
                </a:solidFill>
              </a:rPr>
              <a:t>class </a:t>
            </a:r>
            <a:r>
              <a:rPr lang="en-GB" altLang="en-US" sz="1600" dirty="0">
                <a:solidFill>
                  <a:schemeClr val="tx2"/>
                </a:solidFill>
              </a:rPr>
              <a:t>is mainly used to provide thread pool related operations. It provides a series of factory methods for creating thread pools. The returned thread pools all implement </a:t>
            </a:r>
            <a:r>
              <a:rPr lang="en-GB" altLang="zh-CN" sz="1600" dirty="0">
                <a:solidFill>
                  <a:schemeClr val="tx2"/>
                </a:solidFill>
              </a:rPr>
              <a:t>the ExecutorService </a:t>
            </a:r>
            <a:r>
              <a:rPr lang="en-GB" altLang="en-US" sz="1600" dirty="0">
                <a:solidFill>
                  <a:schemeClr val="tx2"/>
                </a:solidFill>
              </a:rPr>
              <a:t>interface .</a:t>
            </a:r>
            <a:endParaRPr lang="en-GB" altLang="en-US" sz="1600" dirty="0">
              <a:solidFill>
                <a:schemeClr val="tx2"/>
              </a:solidFill>
            </a:endParaRPr>
          </a:p>
        </p:txBody>
      </p:sp>
      <p:sp>
        <p:nvSpPr>
          <p:cNvPr id="12298" name="文本框 10"/>
          <p:cNvSpPr txBox="1">
            <a:spLocks noChangeArrowheads="1"/>
          </p:cNvSpPr>
          <p:nvPr/>
        </p:nvSpPr>
        <p:spPr bwMode="auto">
          <a:xfrm>
            <a:off x="203597" y="1585815"/>
            <a:ext cx="62103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CC00CC"/>
                </a:solidFill>
              </a:rPr>
              <a:t>The main difference between </a:t>
            </a:r>
            <a:r>
              <a:rPr lang="en-GB" altLang="zh-CN" sz="1600" dirty="0">
                <a:solidFill>
                  <a:srgbClr val="C00000"/>
                </a:solidFill>
              </a:rPr>
              <a:t>CompletionService </a:t>
            </a:r>
            <a:r>
              <a:rPr lang="en-GB" altLang="en-US" sz="1600" dirty="0">
                <a:solidFill>
                  <a:srgbClr val="CC00CC"/>
                </a:solidFill>
              </a:rPr>
              <a:t>and </a:t>
            </a:r>
            <a:r>
              <a:rPr lang="en-GB" altLang="zh-CN" sz="1600" dirty="0">
                <a:solidFill>
                  <a:srgbClr val="CC00CC"/>
                </a:solidFill>
              </a:rPr>
              <a:t>ExecutorService is that </a:t>
            </a:r>
            <a:r>
              <a:rPr lang="en-GB" altLang="en-US" sz="1600" dirty="0">
                <a:solidFill>
                  <a:srgbClr val="CC00CC"/>
                </a:solidFill>
              </a:rPr>
              <a:t>the </a:t>
            </a:r>
            <a:r>
              <a:rPr lang="en-GB" altLang="zh-CN" sz="1600" dirty="0">
                <a:solidFill>
                  <a:srgbClr val="CC00CC"/>
                </a:solidFill>
              </a:rPr>
              <a:t>submitted tasks </a:t>
            </a:r>
            <a:r>
              <a:rPr lang="en-GB" altLang="en-US" sz="1600" dirty="0">
                <a:solidFill>
                  <a:srgbClr val="CC00CC"/>
                </a:solidFill>
              </a:rPr>
              <a:t>are not necessarily completed in the order in which they are added to </a:t>
            </a:r>
            <a:r>
              <a:rPr lang="en-GB" altLang="zh-CN" sz="1600" dirty="0">
                <a:solidFill>
                  <a:srgbClr val="CC00CC"/>
                </a:solidFill>
              </a:rPr>
              <a:t>the list they maintain. Its implementation is to maintain a BlockingQueue that saves Future </a:t>
            </a:r>
            <a:r>
              <a:rPr lang="en-GB" altLang="en-US" sz="1600" dirty="0">
                <a:solidFill>
                  <a:srgbClr val="CC00CC"/>
                </a:solidFill>
              </a:rPr>
              <a:t>objects . Only when the status of the </a:t>
            </a:r>
            <a:r>
              <a:rPr lang="en-GB" altLang="zh-CN" sz="1600" dirty="0">
                <a:solidFill>
                  <a:srgbClr val="CC00CC"/>
                </a:solidFill>
              </a:rPr>
              <a:t>Future </a:t>
            </a:r>
            <a:r>
              <a:rPr lang="en-GB" altLang="en-US" sz="1600" dirty="0">
                <a:solidFill>
                  <a:srgbClr val="CC00CC"/>
                </a:solidFill>
              </a:rPr>
              <a:t>object is completed will it be added to the Queue </a:t>
            </a:r>
            <a:r>
              <a:rPr lang="en-GB" altLang="zh-CN" sz="1600" dirty="0">
                <a:solidFill>
                  <a:srgbClr val="CC00CC"/>
                </a:solidFill>
              </a:rPr>
              <a:t>.</a:t>
            </a:r>
            <a:endParaRPr lang="en-GB" altLang="zh-CN" sz="1600" dirty="0">
              <a:solidFill>
                <a:srgbClr val="CC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p:bldP spid="12294" grpId="0"/>
      <p:bldP spid="12295" grpId="0"/>
      <p:bldP spid="12296" grpId="0"/>
      <p:bldP spid="12297" grpId="0"/>
      <p:bldP spid="1229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BEC37CF-EADA-4AE2-91F4-65AEE4122EBE}" type="slidenum">
              <a:rPr lang="en-US" altLang="zh-CN" smtClean="0"/>
            </a:fld>
            <a:endParaRPr lang="en-US" altLang="zh-CN"/>
          </a:p>
        </p:txBody>
      </p:sp>
      <p:pic>
        <p:nvPicPr>
          <p:cNvPr id="3" name="Picture 2"/>
          <p:cNvPicPr>
            <a:picLocks noChangeAspect="1"/>
          </p:cNvPicPr>
          <p:nvPr/>
        </p:nvPicPr>
        <p:blipFill>
          <a:blip r:embed="rId1"/>
          <a:stretch>
            <a:fillRect/>
          </a:stretch>
        </p:blipFill>
        <p:spPr>
          <a:xfrm>
            <a:off x="1143000" y="533400"/>
            <a:ext cx="8864352" cy="5562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152400" y="101600"/>
            <a:ext cx="11887200" cy="431800"/>
          </a:xfrm>
        </p:spPr>
        <p:txBody>
          <a:bodyPr/>
          <a:lstStyle/>
          <a:p>
            <a:pPr algn="l"/>
            <a:r>
              <a:rPr lang="en-GB" altLang="en-US" sz="3200" dirty="0"/>
              <a:t>Asynchronous computing program structure design model</a:t>
            </a:r>
            <a:endParaRPr lang="en-GB" altLang="en-US" sz="3200" dirty="0"/>
          </a:p>
        </p:txBody>
      </p:sp>
      <p:sp>
        <p:nvSpPr>
          <p:cNvPr id="14339" name="内容占位符 2"/>
          <p:cNvSpPr>
            <a:spLocks noGrp="1"/>
          </p:cNvSpPr>
          <p:nvPr>
            <p:ph idx="1"/>
          </p:nvPr>
        </p:nvSpPr>
        <p:spPr>
          <a:xfrm>
            <a:off x="304800" y="618067"/>
            <a:ext cx="11582400" cy="448733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1800" dirty="0"/>
              <a:t>In multi-threaded programming, it is troublesome for the main thread to obtain the results of the worker thread (asynchronous computing thread). It is necessary to design a special program structure, which is cumbersome and error-prone. Use </a:t>
            </a:r>
            <a:r>
              <a:rPr lang="en-GB" altLang="zh-CN" sz="1800" dirty="0"/>
              <a:t>Future </a:t>
            </a:r>
            <a:r>
              <a:rPr lang="en-GB" altLang="en-US" sz="1800" dirty="0"/>
              <a:t>in the </a:t>
            </a:r>
            <a:r>
              <a:rPr lang="en-GB" altLang="zh-CN" sz="1800" dirty="0"/>
              <a:t>Executor framework </a:t>
            </a:r>
            <a:r>
              <a:rPr lang="en-GB" altLang="en-US" sz="1800" dirty="0"/>
              <a:t>to track the results of asynchronous computing and design a good asynchronous computing program structure model.</a:t>
            </a:r>
            <a:endParaRPr lang="en-US" altLang="zh-CN" sz="1800" dirty="0"/>
          </a:p>
          <a:p>
            <a:pPr>
              <a:buFont typeface="Wingdings" panose="05000000000000000000" pitchFamily="2" charset="2"/>
              <a:buChar char="Ø"/>
            </a:pPr>
            <a:r>
              <a:rPr lang="en-GB" altLang="en-US" sz="2000" dirty="0"/>
              <a:t>According to the idea of divide and conquer, asynchronous computing threads are divided into </a:t>
            </a:r>
            <a:r>
              <a:rPr lang="en-GB" altLang="zh-CN" sz="2000" dirty="0"/>
              <a:t>three </a:t>
            </a:r>
            <a:r>
              <a:rPr lang="en-GB" altLang="en-US" sz="2000" dirty="0"/>
              <a:t>categories according to their responsibilities:</a:t>
            </a:r>
            <a:endParaRPr lang="en-US" altLang="zh-CN" sz="2000" dirty="0"/>
          </a:p>
          <a:p>
            <a:pPr>
              <a:buFont typeface="Wingdings" panose="05000000000000000000" pitchFamily="2" charset="2"/>
              <a:buChar char="Ø"/>
            </a:pPr>
            <a:r>
              <a:rPr lang="en-GB" altLang="zh-CN" sz="2000" dirty="0"/>
              <a:t>(1) </a:t>
            </a:r>
            <a:r>
              <a:rPr lang="en-GB" altLang="en-US" sz="2000" dirty="0">
                <a:solidFill>
                  <a:schemeClr val="tx2"/>
                </a:solidFill>
              </a:rPr>
              <a:t>The initiating thread of asynchronous computing (control thread) </a:t>
            </a:r>
            <a:r>
              <a:rPr lang="en-GB" altLang="en-US" sz="2000" dirty="0"/>
              <a:t>: </a:t>
            </a:r>
            <a:r>
              <a:rPr lang="en-GB" altLang="en-US" sz="1800" dirty="0"/>
              <a:t>It is responsible for decomposing and initiating asynchronous computing tasks, and assigning the decomposed tasks to the </a:t>
            </a:r>
            <a:r>
              <a:rPr lang="en-GB" altLang="zh-CN" sz="1800" dirty="0"/>
              <a:t>worker </a:t>
            </a:r>
            <a:r>
              <a:rPr lang="en-GB" altLang="en-US" sz="1800" dirty="0"/>
              <a:t>thread of asynchronous computing for execution. After initiating asynchronous computing, the initiating thread can obtain the collection of </a:t>
            </a:r>
            <a:r>
              <a:rPr lang="en-GB" altLang="zh-CN" sz="1800" dirty="0"/>
              <a:t>Futures </a:t>
            </a:r>
            <a:r>
              <a:rPr lang="en-GB" altLang="en-US" sz="1800" dirty="0"/>
              <a:t>, so as to track the results of asynchronous computing.</a:t>
            </a:r>
            <a:endParaRPr lang="en-US" altLang="zh-CN" sz="1800" dirty="0"/>
          </a:p>
          <a:p>
            <a:pPr>
              <a:buFont typeface="Wingdings" panose="05000000000000000000" pitchFamily="2" charset="2"/>
              <a:buChar char="Ø"/>
            </a:pPr>
            <a:r>
              <a:rPr lang="en-GB" altLang="zh-CN" sz="2000" dirty="0"/>
              <a:t>(2) </a:t>
            </a:r>
            <a:r>
              <a:rPr lang="en-GB" altLang="en-US" sz="2000" dirty="0">
                <a:solidFill>
                  <a:schemeClr val="tx2"/>
                </a:solidFill>
              </a:rPr>
              <a:t>Asynchronous computing </a:t>
            </a:r>
            <a:r>
              <a:rPr lang="en-GB" altLang="zh-CN" sz="2000" dirty="0">
                <a:solidFill>
                  <a:schemeClr val="tx2"/>
                </a:solidFill>
              </a:rPr>
              <a:t>work </a:t>
            </a:r>
            <a:r>
              <a:rPr lang="en-GB" altLang="en-US" sz="2000" dirty="0">
                <a:solidFill>
                  <a:schemeClr val="tx2"/>
                </a:solidFill>
              </a:rPr>
              <a:t>thread </a:t>
            </a:r>
            <a:r>
              <a:rPr lang="en-GB" altLang="en-US" sz="2000" dirty="0"/>
              <a:t>: </a:t>
            </a:r>
            <a:r>
              <a:rPr lang="en-GB" altLang="en-US" sz="1800" dirty="0"/>
              <a:t>responsible for specific computing tasks</a:t>
            </a:r>
            <a:endParaRPr lang="en-US" altLang="zh-CN" sz="1800" dirty="0"/>
          </a:p>
          <a:p>
            <a:pPr>
              <a:buFont typeface="Wingdings" panose="05000000000000000000" pitchFamily="2" charset="2"/>
              <a:buChar char="Ø"/>
            </a:pPr>
            <a:r>
              <a:rPr lang="en-GB" altLang="zh-CN" sz="2000" dirty="0"/>
              <a:t>(3) </a:t>
            </a:r>
            <a:r>
              <a:rPr lang="en-GB" altLang="en-US" sz="2000" dirty="0">
                <a:solidFill>
                  <a:schemeClr val="tx2"/>
                </a:solidFill>
              </a:rPr>
              <a:t>Asynchronous calculation result collection thread </a:t>
            </a:r>
            <a:r>
              <a:rPr lang="en-GB" altLang="en-US" sz="2000" dirty="0"/>
              <a:t>: </a:t>
            </a:r>
            <a:r>
              <a:rPr lang="en-GB" altLang="en-US" sz="1800" dirty="0"/>
              <a:t>obtains the </a:t>
            </a:r>
            <a:r>
              <a:rPr lang="en-GB" altLang="zh-CN" sz="1800" dirty="0"/>
              <a:t>Future </a:t>
            </a:r>
            <a:r>
              <a:rPr lang="en-GB" altLang="en-US" sz="1800" dirty="0"/>
              <a:t>collection from the initiating thread, is responsible for monitoring the status of </a:t>
            </a:r>
            <a:r>
              <a:rPr lang="en-GB" altLang="zh-CN" sz="1800" dirty="0"/>
              <a:t>Future </a:t>
            </a:r>
            <a:r>
              <a:rPr lang="en-GB" altLang="en-US" sz="1800" dirty="0"/>
              <a:t>, and processes the results of asynchronous calculation according to the status of </a:t>
            </a:r>
            <a:endParaRPr lang="en-US" altLang="zh-CN" sz="2000" dirty="0"/>
          </a:p>
        </p:txBody>
      </p:sp>
      <p:sp>
        <p:nvSpPr>
          <p:cNvPr id="14340" name="圆角矩形 1"/>
          <p:cNvSpPr>
            <a:spLocks noChangeArrowheads="1"/>
          </p:cNvSpPr>
          <p:nvPr/>
        </p:nvSpPr>
        <p:spPr bwMode="auto">
          <a:xfrm>
            <a:off x="2514600" y="5418667"/>
            <a:ext cx="1676400" cy="6096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chemeClr val="tx2"/>
                </a:solidFill>
              </a:rPr>
              <a:t>Thread of Control</a:t>
            </a:r>
            <a:endParaRPr lang="en-GB" altLang="en-US" sz="1800" b="1" dirty="0">
              <a:solidFill>
                <a:schemeClr val="tx2"/>
              </a:solidFill>
            </a:endParaRPr>
          </a:p>
        </p:txBody>
      </p:sp>
      <p:sp>
        <p:nvSpPr>
          <p:cNvPr id="14341" name="圆角矩形 4"/>
          <p:cNvSpPr>
            <a:spLocks noChangeArrowheads="1"/>
          </p:cNvSpPr>
          <p:nvPr/>
        </p:nvSpPr>
        <p:spPr bwMode="auto">
          <a:xfrm>
            <a:off x="4953000" y="5435600"/>
            <a:ext cx="1524000" cy="6096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b="1">
                <a:solidFill>
                  <a:schemeClr val="tx2"/>
                </a:solidFill>
              </a:rPr>
              <a:t>Work </a:t>
            </a:r>
            <a:r>
              <a:rPr lang="en-GB" altLang="en-US" sz="1800" b="1">
                <a:solidFill>
                  <a:schemeClr val="tx2"/>
                </a:solidFill>
              </a:rPr>
              <a:t>thread</a:t>
            </a:r>
            <a:endParaRPr lang="en-GB" altLang="en-US" sz="1800" b="1">
              <a:solidFill>
                <a:schemeClr val="tx2"/>
              </a:solidFill>
            </a:endParaRPr>
          </a:p>
        </p:txBody>
      </p:sp>
      <p:sp>
        <p:nvSpPr>
          <p:cNvPr id="14342" name="圆角矩形 5"/>
          <p:cNvSpPr>
            <a:spLocks noChangeArrowheads="1"/>
          </p:cNvSpPr>
          <p:nvPr/>
        </p:nvSpPr>
        <p:spPr bwMode="auto">
          <a:xfrm>
            <a:off x="7162800" y="5435600"/>
            <a:ext cx="2692400" cy="6096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chemeClr val="tx2"/>
                </a:solidFill>
              </a:rPr>
              <a:t>Calculation result collection thread</a:t>
            </a:r>
            <a:endParaRPr lang="en-GB" altLang="en-US" sz="1800" b="1" dirty="0">
              <a:solidFill>
                <a:schemeClr val="tx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685800" y="330200"/>
            <a:ext cx="9753600" cy="431800"/>
          </a:xfrm>
        </p:spPr>
        <p:txBody>
          <a:bodyPr/>
          <a:lstStyle/>
          <a:p>
            <a:pPr algn="l"/>
            <a:r>
              <a:rPr lang="en-GB" altLang="en-US" sz="3200" dirty="0"/>
              <a:t>Asynchronous computing program structure example</a:t>
            </a:r>
            <a:endParaRPr lang="en-GB" altLang="en-US" sz="3200" dirty="0"/>
          </a:p>
        </p:txBody>
      </p:sp>
      <p:sp>
        <p:nvSpPr>
          <p:cNvPr id="15363" name="内容占位符 2"/>
          <p:cNvSpPr>
            <a:spLocks noGrp="1"/>
          </p:cNvSpPr>
          <p:nvPr>
            <p:ph idx="1"/>
          </p:nvPr>
        </p:nvSpPr>
        <p:spPr>
          <a:xfrm>
            <a:off x="304800" y="1143000"/>
            <a:ext cx="11734800"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dirty="0"/>
              <a:t>Application example: Use </a:t>
            </a:r>
            <a:r>
              <a:rPr lang="en-GB" altLang="zh-CN" sz="2400" dirty="0"/>
              <a:t>Executor </a:t>
            </a:r>
            <a:r>
              <a:rPr lang="en-GB" altLang="en-US" sz="2400" dirty="0"/>
              <a:t>framework multithreaded programming to find the maximum value in a large array of numbers. </a:t>
            </a:r>
            <a:r>
              <a:rPr lang="en-GB" altLang="zh-CN" sz="2400" dirty="0"/>
              <a:t>P72-73</a:t>
            </a:r>
            <a:endParaRPr lang="en-GB" altLang="zh-CN" sz="2400" dirty="0"/>
          </a:p>
          <a:p>
            <a:pPr>
              <a:buFont typeface="Wingdings" panose="05000000000000000000" pitchFamily="2" charset="2"/>
              <a:buChar char="Ø"/>
            </a:pPr>
            <a:r>
              <a:rPr lang="en-GB" altLang="zh-CN" sz="2400" dirty="0"/>
              <a:t>Ch3.FindMaxInteger.FindMaxTask.java</a:t>
            </a:r>
            <a:endParaRPr lang="en-GB" altLang="zh-CN" sz="2400" dirty="0"/>
          </a:p>
          <a:p>
            <a:pPr>
              <a:buFont typeface="Wingdings" panose="05000000000000000000" pitchFamily="2" charset="2"/>
              <a:buChar char="Ø"/>
            </a:pPr>
            <a:r>
              <a:rPr lang="en-GB" altLang="zh-CN" sz="2400" dirty="0"/>
              <a:t>Ch3.FindMaxInteger.MultithreadedMaxFinder.java</a:t>
            </a:r>
            <a:endParaRPr lang="en-GB" altLang="zh-CN" sz="2400" dirty="0"/>
          </a:p>
          <a:p>
            <a:pPr>
              <a:buFont typeface="Wingdings" panose="05000000000000000000" pitchFamily="2" charset="2"/>
              <a:buChar char="Ø"/>
            </a:pPr>
            <a:r>
              <a:rPr lang="en-GB" altLang="zh-CN" sz="2400" dirty="0"/>
              <a:t>ch3.FindMaxInteger.StartClass.java</a:t>
            </a:r>
            <a:endParaRPr lang="en-GB"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r>
              <a:rPr lang="en-GB" altLang="en-US" sz="2400" dirty="0"/>
              <a:t>Mainly use </a:t>
            </a:r>
            <a:r>
              <a:rPr lang="en-GB" altLang="zh-CN" sz="2400" dirty="0"/>
              <a:t>Future </a:t>
            </a:r>
            <a:r>
              <a:rPr lang="en-GB" altLang="en-US" sz="2400" dirty="0"/>
              <a:t>, </a:t>
            </a:r>
            <a:r>
              <a:rPr lang="en-GB" altLang="zh-CN" sz="2400" dirty="0"/>
              <a:t>Callable </a:t>
            </a:r>
            <a:r>
              <a:rPr lang="en-GB" altLang="en-US" sz="2400" dirty="0"/>
              <a:t>and </a:t>
            </a:r>
            <a:r>
              <a:rPr lang="en-GB" altLang="zh-CN" sz="2400" dirty="0"/>
              <a:t>Executor </a:t>
            </a:r>
            <a:r>
              <a:rPr lang="en-GB" altLang="en-US" sz="2400" dirty="0"/>
              <a:t>classes</a:t>
            </a:r>
            <a:endParaRPr lang="en-US" altLang="zh-C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517650" y="26988"/>
            <a:ext cx="8229600" cy="431800"/>
          </a:xfrm>
        </p:spPr>
        <p:txBody>
          <a:bodyPr/>
          <a:lstStyle/>
          <a:p>
            <a:pPr algn="l"/>
            <a:r>
              <a:rPr lang="en-GB" altLang="zh-CN" sz="3200"/>
              <a:t>FindMaxTask.java</a:t>
            </a:r>
            <a:endParaRPr lang="en-GB" altLang="zh-CN" sz="3200"/>
          </a:p>
        </p:txBody>
      </p:sp>
      <p:pic>
        <p:nvPicPr>
          <p:cNvPr id="1638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609600"/>
            <a:ext cx="6760210" cy="655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1517650" y="26988"/>
            <a:ext cx="8229600" cy="431800"/>
          </a:xfrm>
        </p:spPr>
        <p:txBody>
          <a:bodyPr/>
          <a:lstStyle/>
          <a:p>
            <a:pPr algn="l"/>
            <a:r>
              <a:rPr lang="en-GB" altLang="zh-CN" sz="3200"/>
              <a:t>MultithreadedMaxFinder.java</a:t>
            </a:r>
            <a:endParaRPr lang="en-GB" altLang="zh-CN" sz="3200"/>
          </a:p>
        </p:txBody>
      </p:sp>
      <p:pic>
        <p:nvPicPr>
          <p:cNvPr id="17411"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533400"/>
            <a:ext cx="9988550" cy="648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1517650" y="26988"/>
            <a:ext cx="8229600" cy="431800"/>
          </a:xfrm>
        </p:spPr>
        <p:txBody>
          <a:bodyPr/>
          <a:lstStyle/>
          <a:p>
            <a:pPr algn="l"/>
            <a:r>
              <a:rPr lang="en-GB" altLang="zh-CN" sz="3200"/>
              <a:t>StartClass.java</a:t>
            </a:r>
            <a:endParaRPr lang="en-GB" altLang="zh-CN" sz="3200"/>
          </a:p>
        </p:txBody>
      </p:sp>
      <p:pic>
        <p:nvPicPr>
          <p:cNvPr id="1843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600200" y="459105"/>
            <a:ext cx="8554720" cy="6812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228600" y="457200"/>
            <a:ext cx="11582400" cy="431800"/>
          </a:xfrm>
        </p:spPr>
        <p:txBody>
          <a:bodyPr/>
          <a:lstStyle/>
          <a:p>
            <a:pPr algn="l"/>
            <a:r>
              <a:rPr lang="en-GB" altLang="en-US" sz="3200" dirty="0"/>
              <a:t>Programming application problem scenario </a:t>
            </a:r>
            <a:r>
              <a:rPr lang="en-GB" altLang="zh-CN" sz="3200" dirty="0"/>
              <a:t>: </a:t>
            </a:r>
            <a:r>
              <a:rPr lang="en-GB" altLang="en-US" sz="3200" dirty="0"/>
              <a:t>compressed files</a:t>
            </a:r>
            <a:endParaRPr lang="en-GB" altLang="en-US" sz="3200" dirty="0"/>
          </a:p>
        </p:txBody>
      </p:sp>
      <p:sp>
        <p:nvSpPr>
          <p:cNvPr id="19459" name="内容占位符 2"/>
          <p:cNvSpPr>
            <a:spLocks noGrp="1"/>
          </p:cNvSpPr>
          <p:nvPr>
            <p:ph idx="1"/>
          </p:nvPr>
        </p:nvSpPr>
        <p:spPr>
          <a:xfrm>
            <a:off x="457200" y="1676400"/>
            <a:ext cx="9753600" cy="3886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800" dirty="0"/>
              <a:t>gzip </a:t>
            </a:r>
            <a:r>
              <a:rPr lang="en-GB" altLang="en-US" sz="2800" dirty="0"/>
              <a:t>compression </a:t>
            </a:r>
            <a:endParaRPr lang="en-US" altLang="zh-CN" sz="2800" dirty="0"/>
          </a:p>
          <a:p>
            <a:pPr>
              <a:buFont typeface="Wingdings" panose="05000000000000000000" pitchFamily="2" charset="2"/>
              <a:buChar char="Ø"/>
            </a:pPr>
            <a:r>
              <a:rPr lang="en-GB" altLang="en-US" sz="2800" dirty="0"/>
              <a:t>Application features: large number of </a:t>
            </a:r>
            <a:r>
              <a:rPr lang="en-GB" altLang="zh-CN" sz="2800" dirty="0"/>
              <a:t>I/O </a:t>
            </a:r>
            <a:r>
              <a:rPr lang="en-GB" altLang="en-US" sz="2800" dirty="0"/>
              <a:t>operations</a:t>
            </a:r>
            <a:endParaRPr lang="en-US" altLang="zh-CN" sz="2800" dirty="0"/>
          </a:p>
          <a:p>
            <a:pPr>
              <a:buFont typeface="Wingdings" panose="05000000000000000000" pitchFamily="2" charset="2"/>
              <a:buChar char="Ø"/>
            </a:pPr>
            <a:r>
              <a:rPr lang="en-GB" altLang="en-US" sz="2800" dirty="0"/>
              <a:t>Application characteristics: Data compression is a highly </a:t>
            </a:r>
            <a:endParaRPr lang="en-US" altLang="zh-CN" sz="2800" dirty="0"/>
          </a:p>
          <a:p>
            <a:pPr>
              <a:buFont typeface="Wingdings" panose="05000000000000000000" pitchFamily="2" charset="2"/>
              <a:buChar char="Ø"/>
            </a:pPr>
            <a:r>
              <a:rPr lang="en-GB" altLang="en-US" sz="2800" dirty="0"/>
              <a:t>Don't run too many threads at the same time</a:t>
            </a: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r>
              <a:rPr lang="en-GB" altLang="en-US" sz="2800" dirty="0"/>
              <a:t>Programming with thread pools</a:t>
            </a:r>
            <a:endParaRPr lang="en-US" altLang="zh-CN"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1752600" y="457200"/>
            <a:ext cx="8229600" cy="431800"/>
          </a:xfrm>
        </p:spPr>
        <p:txBody>
          <a:bodyPr/>
          <a:lstStyle/>
          <a:p>
            <a:pPr algn="l"/>
            <a:r>
              <a:rPr lang="en-GB" altLang="en-US" sz="3200"/>
              <a:t>Using thread pool to implement compressed file programming</a:t>
            </a:r>
            <a:endParaRPr lang="en-GB" altLang="en-US" sz="3200"/>
          </a:p>
        </p:txBody>
      </p:sp>
      <p:sp>
        <p:nvSpPr>
          <p:cNvPr id="20483" name="内容占位符 2"/>
          <p:cNvSpPr>
            <a:spLocks noGrp="1"/>
          </p:cNvSpPr>
          <p:nvPr>
            <p:ph idx="1"/>
          </p:nvPr>
        </p:nvSpPr>
        <p:spPr>
          <a:xfrm>
            <a:off x="1606550" y="1123950"/>
            <a:ext cx="8229600" cy="3886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a:t>Programming Ideas</a:t>
            </a:r>
            <a:endParaRPr lang="en-US" altLang="zh-CN" sz="2800"/>
          </a:p>
        </p:txBody>
      </p:sp>
      <p:sp>
        <p:nvSpPr>
          <p:cNvPr id="20484" name="矩形 7"/>
          <p:cNvSpPr>
            <a:spLocks noChangeArrowheads="1"/>
          </p:cNvSpPr>
          <p:nvPr/>
        </p:nvSpPr>
        <p:spPr bwMode="auto">
          <a:xfrm>
            <a:off x="914399" y="1905000"/>
            <a:ext cx="3916363" cy="19050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Main program:</a:t>
            </a:r>
            <a:endParaRPr lang="en-US" altLang="zh-CN" sz="2000"/>
          </a:p>
          <a:p>
            <a:pPr>
              <a:spcBef>
                <a:spcPct val="0"/>
              </a:spcBef>
              <a:buClrTx/>
              <a:buSzTx/>
              <a:buFontTx/>
              <a:buNone/>
            </a:pPr>
            <a:r>
              <a:rPr lang="en-GB" altLang="en-US" sz="2000"/>
              <a:t>List the files in a directory and determine which file to compress</a:t>
            </a:r>
            <a:endParaRPr lang="en-US" altLang="zh-CN" sz="2000"/>
          </a:p>
          <a:p>
            <a:pPr>
              <a:spcBef>
                <a:spcPct val="0"/>
              </a:spcBef>
              <a:buClrTx/>
              <a:buSzTx/>
              <a:buFontTx/>
              <a:buNone/>
            </a:pPr>
            <a:endParaRPr lang="en-US" altLang="zh-CN" sz="1800"/>
          </a:p>
          <a:p>
            <a:pPr>
              <a:spcBef>
                <a:spcPct val="0"/>
              </a:spcBef>
              <a:buClrTx/>
              <a:buSzTx/>
              <a:buFontTx/>
              <a:buNone/>
            </a:pPr>
            <a:r>
              <a:rPr lang="en-GB" altLang="en-US" sz="1800">
                <a:solidFill>
                  <a:srgbClr val="FF0000"/>
                </a:solidFill>
              </a:rPr>
              <a:t>Fast execution speed</a:t>
            </a:r>
            <a:endParaRPr lang="en-GB" altLang="en-US" sz="1800">
              <a:solidFill>
                <a:srgbClr val="FF0000"/>
              </a:solidFill>
            </a:endParaRPr>
          </a:p>
        </p:txBody>
      </p:sp>
      <p:sp>
        <p:nvSpPr>
          <p:cNvPr id="20485" name="矩形 7"/>
          <p:cNvSpPr>
            <a:spLocks noChangeArrowheads="1"/>
          </p:cNvSpPr>
          <p:nvPr/>
        </p:nvSpPr>
        <p:spPr bwMode="auto">
          <a:xfrm>
            <a:off x="6134629" y="2057400"/>
            <a:ext cx="4191000" cy="17526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Compression Thread:</a:t>
            </a:r>
            <a:endParaRPr lang="en-US" altLang="zh-CN" sz="2000" dirty="0"/>
          </a:p>
          <a:p>
            <a:pPr>
              <a:spcBef>
                <a:spcPct val="0"/>
              </a:spcBef>
              <a:buClrTx/>
              <a:buSzTx/>
              <a:buFontTx/>
              <a:buNone/>
            </a:pPr>
            <a:r>
              <a:rPr lang="en-GB" altLang="en-US" sz="2000" dirty="0"/>
              <a:t>Compressed files</a:t>
            </a:r>
            <a:endParaRPr lang="en-US" altLang="zh-CN" sz="2000" dirty="0"/>
          </a:p>
          <a:p>
            <a:pPr>
              <a:spcBef>
                <a:spcPct val="0"/>
              </a:spcBef>
              <a:buClrTx/>
              <a:buSzTx/>
              <a:buFontTx/>
              <a:buNone/>
            </a:pPr>
            <a:endParaRPr lang="en-US" altLang="zh-CN" sz="2000" dirty="0"/>
          </a:p>
          <a:p>
            <a:pPr>
              <a:spcBef>
                <a:spcPct val="0"/>
              </a:spcBef>
              <a:buClrTx/>
              <a:buSzTx/>
              <a:buFontTx/>
              <a:buNone/>
            </a:pPr>
            <a:r>
              <a:rPr lang="en-GB" altLang="en-US" sz="2000" dirty="0">
                <a:solidFill>
                  <a:srgbClr val="FF0000"/>
                </a:solidFill>
              </a:rPr>
              <a:t>Slow execution speed</a:t>
            </a:r>
            <a:endParaRPr lang="en-US" altLang="zh-CN" sz="2000" dirty="0">
              <a:solidFill>
                <a:srgbClr val="FF0000"/>
              </a:solidFill>
            </a:endParaRPr>
          </a:p>
          <a:p>
            <a:pPr>
              <a:spcBef>
                <a:spcPct val="0"/>
              </a:spcBef>
              <a:buClrTx/>
              <a:buSzTx/>
              <a:buFontTx/>
              <a:buNone/>
            </a:pPr>
            <a:r>
              <a:rPr lang="en-GB" altLang="en-US" sz="2000" dirty="0">
                <a:solidFill>
                  <a:srgbClr val="FF0000"/>
                </a:solidFill>
              </a:rPr>
              <a:t>Limited number of</a:t>
            </a:r>
            <a:endParaRPr lang="en-US" altLang="zh-CN" sz="2000" dirty="0">
              <a:solidFill>
                <a:srgbClr val="FF0000"/>
              </a:solidFill>
            </a:endParaRPr>
          </a:p>
        </p:txBody>
      </p:sp>
      <p:sp>
        <p:nvSpPr>
          <p:cNvPr id="20486" name="流程图: 可选过程 2"/>
          <p:cNvSpPr>
            <a:spLocks noChangeArrowheads="1"/>
          </p:cNvSpPr>
          <p:nvPr/>
        </p:nvSpPr>
        <p:spPr bwMode="auto">
          <a:xfrm>
            <a:off x="1984907" y="4296833"/>
            <a:ext cx="4525431" cy="1447800"/>
          </a:xfrm>
          <a:prstGeom prst="flowChartAlternateProcess">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dirty="0"/>
              <a:t>ExecutorServiece</a:t>
            </a:r>
            <a:endParaRPr lang="en-GB" altLang="zh-CN" sz="2000" dirty="0"/>
          </a:p>
          <a:p>
            <a:pPr>
              <a:spcBef>
                <a:spcPct val="0"/>
              </a:spcBef>
              <a:buClrTx/>
              <a:buSzTx/>
              <a:buFontTx/>
              <a:buNone/>
            </a:pPr>
            <a:r>
              <a:rPr lang="en-GB" altLang="en-US" sz="2000" dirty="0"/>
              <a:t>Thread Pool</a:t>
            </a:r>
            <a:endParaRPr lang="en-US" altLang="zh-CN" sz="2000" dirty="0"/>
          </a:p>
          <a:p>
            <a:pPr>
              <a:spcBef>
                <a:spcPct val="0"/>
              </a:spcBef>
              <a:buClrTx/>
              <a:buSzTx/>
              <a:buFontTx/>
              <a:buNone/>
            </a:pPr>
            <a:r>
              <a:rPr lang="en-GB" altLang="en-US" sz="2000" dirty="0">
                <a:solidFill>
                  <a:srgbClr val="FF0000"/>
                </a:solidFill>
              </a:rPr>
              <a:t>Run the main program in parallel with the compression thread</a:t>
            </a:r>
            <a:endParaRPr lang="en-GB" altLang="en-US" sz="2000" dirty="0">
              <a:solidFill>
                <a:srgbClr val="FF0000"/>
              </a:solidFill>
            </a:endParaRPr>
          </a:p>
        </p:txBody>
      </p:sp>
      <p:sp>
        <p:nvSpPr>
          <p:cNvPr id="20487" name="左弧形箭头 3"/>
          <p:cNvSpPr>
            <a:spLocks noChangeArrowheads="1"/>
          </p:cNvSpPr>
          <p:nvPr/>
        </p:nvSpPr>
        <p:spPr bwMode="auto">
          <a:xfrm>
            <a:off x="1305190" y="3867150"/>
            <a:ext cx="609600" cy="1447800"/>
          </a:xfrm>
          <a:prstGeom prst="curvedRightArrow">
            <a:avLst>
              <a:gd name="adj1" fmla="val 24992"/>
              <a:gd name="adj2" fmla="val 49996"/>
              <a:gd name="adj3" fmla="val 25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0488" name="右弧形箭头 10"/>
          <p:cNvSpPr>
            <a:spLocks noChangeArrowheads="1"/>
          </p:cNvSpPr>
          <p:nvPr/>
        </p:nvSpPr>
        <p:spPr bwMode="auto">
          <a:xfrm>
            <a:off x="6510338" y="3810000"/>
            <a:ext cx="965200" cy="1295400"/>
          </a:xfrm>
          <a:prstGeom prst="curvedLeftArrow">
            <a:avLst>
              <a:gd name="adj1" fmla="val 25028"/>
              <a:gd name="adj2" fmla="val 50043"/>
              <a:gd name="adj3" fmla="val 25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20489" name="TextBox 11"/>
          <p:cNvSpPr txBox="1">
            <a:spLocks noChangeArrowheads="1"/>
          </p:cNvSpPr>
          <p:nvPr/>
        </p:nvSpPr>
        <p:spPr bwMode="auto">
          <a:xfrm>
            <a:off x="7110412" y="636588"/>
            <a:ext cx="500538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solidFill>
                  <a:srgbClr val="FF0000"/>
                </a:solidFill>
              </a:rPr>
              <a:t>Demonstration running sample code:</a:t>
            </a:r>
            <a:endParaRPr lang="en-US" altLang="zh-CN" sz="1800" dirty="0">
              <a:solidFill>
                <a:srgbClr val="FF0000"/>
              </a:solidFill>
            </a:endParaRPr>
          </a:p>
          <a:p>
            <a:pPr>
              <a:spcBef>
                <a:spcPct val="0"/>
              </a:spcBef>
              <a:buClrTx/>
              <a:buSzTx/>
              <a:buFontTx/>
              <a:buNone/>
            </a:pPr>
            <a:r>
              <a:rPr lang="en-GB" altLang="zh-CN" sz="1800" dirty="0">
                <a:solidFill>
                  <a:srgbClr val="FF0000"/>
                </a:solidFill>
              </a:rPr>
              <a:t>Ch3.threadPool.GZipAllFiles.java, GZipRunnable.java</a:t>
            </a:r>
            <a:endParaRPr lang="en-GB" altLang="zh-CN" sz="1800" dirty="0">
              <a:solidFill>
                <a:srgbClr val="FF0000"/>
              </a:solidFill>
            </a:endParaRPr>
          </a:p>
          <a:p>
            <a:pPr>
              <a:spcBef>
                <a:spcPct val="0"/>
              </a:spcBef>
              <a:buClrTx/>
              <a:buSzTx/>
              <a:buFontTx/>
              <a:buNone/>
            </a:pPr>
            <a:r>
              <a:rPr lang="en-GB" altLang="en-US" sz="1800" dirty="0">
                <a:solidFill>
                  <a:srgbClr val="FF0000"/>
                </a:solidFill>
              </a:rPr>
              <a:t>Explain the program structure</a:t>
            </a:r>
            <a:endParaRPr lang="en-US" altLang="zh-CN" sz="1800" dirty="0">
              <a:solidFill>
                <a:srgbClr val="FF0000"/>
              </a:solidFill>
            </a:endParaRPr>
          </a:p>
          <a:p>
            <a:pPr>
              <a:spcBef>
                <a:spcPct val="0"/>
              </a:spcBef>
              <a:buClrTx/>
              <a:buSzTx/>
              <a:buFontTx/>
              <a:buNone/>
            </a:pPr>
            <a:endParaRPr lang="zh-CN" altLang="en-US" sz="1800" dirty="0"/>
          </a:p>
        </p:txBody>
      </p:sp>
      <p:sp>
        <p:nvSpPr>
          <p:cNvPr id="20490" name="文本框 1"/>
          <p:cNvSpPr txBox="1">
            <a:spLocks noChangeArrowheads="1"/>
          </p:cNvSpPr>
          <p:nvPr/>
        </p:nvSpPr>
        <p:spPr bwMode="auto">
          <a:xfrm>
            <a:off x="7821879" y="4438650"/>
            <a:ext cx="416877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Run parameters:</a:t>
            </a:r>
            <a:endParaRPr lang="en-US" altLang="zh-CN" sz="1800" dirty="0"/>
          </a:p>
          <a:p>
            <a:pPr>
              <a:spcBef>
                <a:spcPct val="0"/>
              </a:spcBef>
              <a:buClrTx/>
              <a:buSzTx/>
              <a:buFontTx/>
              <a:buNone/>
            </a:pPr>
            <a:r>
              <a:rPr lang="en-GB" altLang="zh-CN" sz="1800" dirty="0"/>
              <a:t>C:\temp\ch3data\zip\2018.4.5.pptx</a:t>
            </a:r>
            <a:endParaRPr lang="en-GB" altLang="zh-CN" sz="1800" dirty="0"/>
          </a:p>
          <a:p>
            <a:pPr>
              <a:spcBef>
                <a:spcPct val="0"/>
              </a:spcBef>
              <a:buClrTx/>
              <a:buSzTx/>
              <a:buFontTx/>
              <a:buNone/>
            </a:pPr>
            <a:r>
              <a:rPr lang="en-GB" altLang="zh-CN" sz="1800" dirty="0"/>
              <a:t>C:\temp\ch3data\zip\build.xml</a:t>
            </a:r>
            <a:endParaRPr lang="en-GB" altLang="zh-CN" sz="1800" dirty="0"/>
          </a:p>
          <a:p>
            <a:pPr>
              <a:spcBef>
                <a:spcPct val="0"/>
              </a:spcBef>
              <a:buClrTx/>
              <a:buSzTx/>
              <a:buFontTx/>
              <a:buNone/>
            </a:pPr>
            <a:r>
              <a:rPr lang="en-GB" altLang="zh-CN" sz="1800" dirty="0"/>
              <a:t>C:\temp\ch3data\zip\ </a:t>
            </a:r>
            <a:r>
              <a:rPr lang="en-GB" altLang="en-US" sz="1800" dirty="0"/>
              <a:t>New </a:t>
            </a:r>
            <a:r>
              <a:rPr lang="en-GB" altLang="zh-CN" sz="1800" dirty="0"/>
              <a:t>Microsoft Word </a:t>
            </a:r>
            <a:r>
              <a:rPr lang="en-GB" altLang="en-US" sz="1800" dirty="0"/>
              <a:t>Document </a:t>
            </a:r>
            <a:r>
              <a:rPr lang="en-GB" altLang="zh-CN" sz="1800" dirty="0"/>
              <a:t>(2).docx</a:t>
            </a:r>
            <a:endParaRPr lang="en-GB" altLang="zh-CN" sz="1800" dirty="0"/>
          </a:p>
          <a:p>
            <a:pPr>
              <a:spcBef>
                <a:spcPct val="0"/>
              </a:spcBef>
              <a:buClrTx/>
              <a:buSzTx/>
              <a:buFontTx/>
              <a:buNone/>
            </a:pPr>
            <a:r>
              <a:rPr lang="en-GB" altLang="zh-CN" sz="1800" dirty="0"/>
              <a:t>C:\temp\ch3data\zip\ </a:t>
            </a:r>
            <a:r>
              <a:rPr lang="en-GB" altLang="en-US" sz="1800" dirty="0"/>
              <a:t>New text </a:t>
            </a:r>
            <a:r>
              <a:rPr lang="en-GB" altLang="zh-CN" sz="1800" dirty="0"/>
              <a:t>document.txt</a:t>
            </a:r>
            <a:endParaRPr lang="zh-CN" alt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1517650" y="26988"/>
            <a:ext cx="8229600" cy="431800"/>
          </a:xfrm>
        </p:spPr>
        <p:txBody>
          <a:bodyPr/>
          <a:lstStyle/>
          <a:p>
            <a:pPr algn="l"/>
            <a:r>
              <a:rPr lang="en-GB" altLang="zh-CN" sz="3200"/>
              <a:t>GZipAllFiles.java</a:t>
            </a:r>
            <a:endParaRPr lang="en-GB" altLang="zh-CN" sz="3200"/>
          </a:p>
        </p:txBody>
      </p:sp>
      <p:pic>
        <p:nvPicPr>
          <p:cNvPr id="2150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3400" y="459105"/>
            <a:ext cx="10946765" cy="704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1517650" y="26988"/>
            <a:ext cx="8229600" cy="431800"/>
          </a:xfrm>
        </p:spPr>
        <p:txBody>
          <a:bodyPr/>
          <a:lstStyle/>
          <a:p>
            <a:pPr algn="l"/>
            <a:r>
              <a:rPr lang="en-GB" altLang="zh-CN" sz="3200"/>
              <a:t>GZipRunnable.java</a:t>
            </a:r>
            <a:endParaRPr lang="en-GB" altLang="zh-CN" sz="3200"/>
          </a:p>
        </p:txBody>
      </p:sp>
      <p:pic>
        <p:nvPicPr>
          <p:cNvPr id="22531"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304483"/>
            <a:ext cx="8763000" cy="662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1752600" y="457200"/>
            <a:ext cx="8229600" cy="431800"/>
          </a:xfrm>
        </p:spPr>
        <p:txBody>
          <a:bodyPr/>
          <a:lstStyle/>
          <a:p>
            <a:pPr algn="l"/>
            <a:r>
              <a:rPr lang="en-GB" altLang="en-US" sz="3200"/>
              <a:t>Using thread pool to implement compressed file programming</a:t>
            </a:r>
            <a:endParaRPr lang="en-GB" altLang="en-US" sz="3200"/>
          </a:p>
        </p:txBody>
      </p:sp>
      <p:sp>
        <p:nvSpPr>
          <p:cNvPr id="23555" name="内容占位符 2"/>
          <p:cNvSpPr>
            <a:spLocks noGrp="1"/>
          </p:cNvSpPr>
          <p:nvPr>
            <p:ph idx="1"/>
          </p:nvPr>
        </p:nvSpPr>
        <p:spPr>
          <a:xfrm>
            <a:off x="1524000" y="1028700"/>
            <a:ext cx="8229600" cy="9525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a:t>Program Structure</a:t>
            </a:r>
            <a:endParaRPr lang="en-US" altLang="zh-CN" sz="2800"/>
          </a:p>
        </p:txBody>
      </p:sp>
      <p:grpSp>
        <p:nvGrpSpPr>
          <p:cNvPr id="5" name="组合 12"/>
          <p:cNvGrpSpPr/>
          <p:nvPr/>
        </p:nvGrpSpPr>
        <p:grpSpPr bwMode="auto">
          <a:xfrm>
            <a:off x="1188358" y="3678502"/>
            <a:ext cx="1905000" cy="1614044"/>
            <a:chOff x="914400" y="3124200"/>
            <a:chExt cx="1905000" cy="1132548"/>
          </a:xfrm>
          <a:solidFill>
            <a:srgbClr val="00B0F0"/>
          </a:solidFill>
        </p:grpSpPr>
        <p:sp>
          <p:nvSpPr>
            <p:cNvPr id="6" name="矩形 7"/>
            <p:cNvSpPr>
              <a:spLocks noChangeArrowheads="1"/>
            </p:cNvSpPr>
            <p:nvPr/>
          </p:nvSpPr>
          <p:spPr bwMode="auto">
            <a:xfrm>
              <a:off x="914400" y="3124200"/>
              <a:ext cx="1905000" cy="457200"/>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err="1">
                  <a:latin typeface="Arial" panose="020B0604020202020204" pitchFamily="34" charset="0"/>
                </a:rPr>
                <a:t>GZipRunnable </a:t>
              </a:r>
              <a:r>
                <a:rPr lang="en-GB" altLang="en-US" dirty="0">
                  <a:latin typeface="Arial" panose="020B0604020202020204" pitchFamily="34" charset="0"/>
                </a:rPr>
                <a:t>Class</a:t>
              </a:r>
              <a:endParaRPr lang="en-GB" altLang="en-US" dirty="0">
                <a:latin typeface="Arial" panose="020B0604020202020204" pitchFamily="34" charset="0"/>
              </a:endParaRPr>
            </a:p>
          </p:txBody>
        </p:sp>
        <p:sp>
          <p:nvSpPr>
            <p:cNvPr id="7" name="矩形 8"/>
            <p:cNvSpPr>
              <a:spLocks noChangeArrowheads="1"/>
            </p:cNvSpPr>
            <p:nvPr/>
          </p:nvSpPr>
          <p:spPr bwMode="auto">
            <a:xfrm>
              <a:off x="914400" y="3519714"/>
              <a:ext cx="1905000" cy="324644"/>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input: File</a:t>
              </a:r>
              <a:endParaRPr lang="zh-CN" altLang="en-US" dirty="0">
                <a:latin typeface="Arial" panose="020B0604020202020204" pitchFamily="34" charset="0"/>
              </a:endParaRPr>
            </a:p>
          </p:txBody>
        </p:sp>
        <p:sp>
          <p:nvSpPr>
            <p:cNvPr id="8" name="矩形 9"/>
            <p:cNvSpPr>
              <a:spLocks noChangeArrowheads="1"/>
            </p:cNvSpPr>
            <p:nvPr/>
          </p:nvSpPr>
          <p:spPr bwMode="auto">
            <a:xfrm>
              <a:off x="914400" y="3830793"/>
              <a:ext cx="1905000" cy="425955"/>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run( )</a:t>
              </a:r>
              <a:endParaRPr lang="en-GB" altLang="zh-CN" dirty="0">
                <a:latin typeface="Arial" panose="020B0604020202020204" pitchFamily="34" charset="0"/>
              </a:endParaRPr>
            </a:p>
          </p:txBody>
        </p:sp>
      </p:grpSp>
      <p:grpSp>
        <p:nvGrpSpPr>
          <p:cNvPr id="23557" name="组合 12"/>
          <p:cNvGrpSpPr/>
          <p:nvPr/>
        </p:nvGrpSpPr>
        <p:grpSpPr bwMode="auto">
          <a:xfrm>
            <a:off x="1981200" y="1536592"/>
            <a:ext cx="1905000" cy="1197083"/>
            <a:chOff x="914400" y="3124200"/>
            <a:chExt cx="1905000" cy="782611"/>
          </a:xfrm>
        </p:grpSpPr>
        <p:sp>
          <p:nvSpPr>
            <p:cNvPr id="23574"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Runnable </a:t>
              </a:r>
              <a:r>
                <a:rPr lang="en-GB" altLang="en-US" sz="1800"/>
                <a:t>Interface</a:t>
              </a:r>
              <a:endParaRPr lang="en-GB" altLang="en-US" sz="1800"/>
            </a:p>
          </p:txBody>
        </p:sp>
        <p:sp>
          <p:nvSpPr>
            <p:cNvPr id="23575" name="矩形 9"/>
            <p:cNvSpPr>
              <a:spLocks noChangeArrowheads="1"/>
            </p:cNvSpPr>
            <p:nvPr/>
          </p:nvSpPr>
          <p:spPr bwMode="auto">
            <a:xfrm>
              <a:off x="914400" y="3525344"/>
              <a:ext cx="1905000" cy="381467"/>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p:txBody>
        </p:sp>
      </p:grpSp>
      <p:cxnSp>
        <p:nvCxnSpPr>
          <p:cNvPr id="23558" name="直接箭头连接符 2"/>
          <p:cNvCxnSpPr>
            <a:cxnSpLocks noChangeShapeType="1"/>
            <a:endCxn id="23575" idx="2"/>
          </p:cNvCxnSpPr>
          <p:nvPr/>
        </p:nvCxnSpPr>
        <p:spPr bwMode="auto">
          <a:xfrm flipV="1">
            <a:off x="2705100" y="2733675"/>
            <a:ext cx="228600" cy="806450"/>
          </a:xfrm>
          <a:prstGeom prst="straightConnector1">
            <a:avLst/>
          </a:prstGeom>
          <a:noFill/>
          <a:ln w="9525" algn="ctr">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2"/>
          <p:cNvGrpSpPr/>
          <p:nvPr/>
        </p:nvGrpSpPr>
        <p:grpSpPr bwMode="auto">
          <a:xfrm>
            <a:off x="4862286" y="5113145"/>
            <a:ext cx="2895600" cy="1242333"/>
            <a:chOff x="914400" y="3124200"/>
            <a:chExt cx="1905000" cy="1056815"/>
          </a:xfrm>
          <a:solidFill>
            <a:srgbClr val="00B0F0"/>
          </a:solidFill>
        </p:grpSpPr>
        <p:sp>
          <p:nvSpPr>
            <p:cNvPr id="15" name="矩形 7"/>
            <p:cNvSpPr>
              <a:spLocks noChangeArrowheads="1"/>
            </p:cNvSpPr>
            <p:nvPr/>
          </p:nvSpPr>
          <p:spPr bwMode="auto">
            <a:xfrm>
              <a:off x="914400" y="3124200"/>
              <a:ext cx="1905000" cy="457200"/>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err="1">
                  <a:latin typeface="Arial" panose="020B0604020202020204" pitchFamily="34" charset="0"/>
                </a:rPr>
                <a:t>GZipAllFiles </a:t>
              </a:r>
              <a:r>
                <a:rPr lang="en-GB" altLang="en-US" dirty="0">
                  <a:latin typeface="Arial" panose="020B0604020202020204" pitchFamily="34" charset="0"/>
                </a:rPr>
                <a:t>Class</a:t>
              </a:r>
              <a:endParaRPr lang="en-GB" altLang="en-US" dirty="0">
                <a:latin typeface="Arial" panose="020B0604020202020204" pitchFamily="34" charset="0"/>
              </a:endParaRPr>
            </a:p>
          </p:txBody>
        </p:sp>
        <p:sp>
          <p:nvSpPr>
            <p:cNvPr id="16" name="矩形 8"/>
            <p:cNvSpPr>
              <a:spLocks noChangeArrowheads="1"/>
            </p:cNvSpPr>
            <p:nvPr/>
          </p:nvSpPr>
          <p:spPr bwMode="auto">
            <a:xfrm>
              <a:off x="914400" y="3519714"/>
              <a:ext cx="1905000" cy="324644"/>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sz="1600" dirty="0">
                  <a:latin typeface="Arial" panose="020B0604020202020204" pitchFamily="34" charset="0"/>
                </a:rPr>
                <a:t>THREAD_COUNT=4</a:t>
              </a:r>
              <a:r>
                <a:rPr lang="en-GB" altLang="zh-CN" dirty="0">
                  <a:latin typeface="Arial" panose="020B0604020202020204" pitchFamily="34" charset="0"/>
                </a:rPr>
                <a:t> </a:t>
              </a:r>
              <a:endParaRPr lang="zh-CN" altLang="en-US" dirty="0">
                <a:latin typeface="Arial" panose="020B0604020202020204" pitchFamily="34" charset="0"/>
              </a:endParaRPr>
            </a:p>
          </p:txBody>
        </p:sp>
        <p:sp>
          <p:nvSpPr>
            <p:cNvPr id="17" name="矩形 9"/>
            <p:cNvSpPr>
              <a:spLocks noChangeArrowheads="1"/>
            </p:cNvSpPr>
            <p:nvPr/>
          </p:nvSpPr>
          <p:spPr bwMode="auto">
            <a:xfrm>
              <a:off x="914400" y="3799548"/>
              <a:ext cx="1905000" cy="381467"/>
            </a:xfrm>
            <a:prstGeom prst="rect">
              <a:avLst/>
            </a:prstGeom>
            <a:grp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GB" altLang="zh-CN" dirty="0">
                  <a:latin typeface="Arial" panose="020B0604020202020204" pitchFamily="34" charset="0"/>
                </a:rPr>
                <a:t>main( )</a:t>
              </a:r>
              <a:endParaRPr lang="en-GB" altLang="zh-CN" dirty="0">
                <a:latin typeface="Arial" panose="020B0604020202020204" pitchFamily="34" charset="0"/>
              </a:endParaRPr>
            </a:p>
          </p:txBody>
        </p:sp>
      </p:grpSp>
      <p:grpSp>
        <p:nvGrpSpPr>
          <p:cNvPr id="23560" name="组合 12"/>
          <p:cNvGrpSpPr/>
          <p:nvPr/>
        </p:nvGrpSpPr>
        <p:grpSpPr bwMode="auto">
          <a:xfrm>
            <a:off x="4800601" y="1536592"/>
            <a:ext cx="2362200" cy="1665395"/>
            <a:chOff x="914400" y="3124200"/>
            <a:chExt cx="1905000" cy="989412"/>
          </a:xfrm>
        </p:grpSpPr>
        <p:sp>
          <p:nvSpPr>
            <p:cNvPr id="23572"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ExecutorService </a:t>
              </a:r>
              <a:r>
                <a:rPr lang="en-GB" altLang="en-US" sz="1800" dirty="0"/>
                <a:t>Interface</a:t>
              </a:r>
              <a:endParaRPr lang="en-GB" altLang="en-US" sz="1800" dirty="0"/>
            </a:p>
          </p:txBody>
        </p:sp>
        <p:sp>
          <p:nvSpPr>
            <p:cNvPr id="23573" name="矩形 9"/>
            <p:cNvSpPr>
              <a:spLocks noChangeArrowheads="1"/>
            </p:cNvSpPr>
            <p:nvPr/>
          </p:nvSpPr>
          <p:spPr bwMode="auto">
            <a:xfrm>
              <a:off x="914400" y="3531729"/>
              <a:ext cx="1905000" cy="581883"/>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shutdown( )</a:t>
              </a:r>
              <a:endParaRPr lang="en-GB" altLang="zh-CN" sz="1800"/>
            </a:p>
            <a:p>
              <a:pPr>
                <a:spcBef>
                  <a:spcPct val="0"/>
                </a:spcBef>
                <a:buClrTx/>
                <a:buSzTx/>
                <a:buFontTx/>
                <a:buNone/>
              </a:pPr>
              <a:r>
                <a:rPr lang="en-GB" altLang="zh-CN" sz="1800"/>
                <a:t>submit( )</a:t>
              </a:r>
              <a:endParaRPr lang="en-GB" altLang="zh-CN" sz="1800"/>
            </a:p>
          </p:txBody>
        </p:sp>
      </p:grpSp>
      <p:cxnSp>
        <p:nvCxnSpPr>
          <p:cNvPr id="23561" name="直接箭头连接符 12"/>
          <p:cNvCxnSpPr>
            <a:cxnSpLocks noChangeShapeType="1"/>
            <a:endCxn id="23573" idx="2"/>
          </p:cNvCxnSpPr>
          <p:nvPr/>
        </p:nvCxnSpPr>
        <p:spPr bwMode="auto">
          <a:xfrm flipH="1" flipV="1">
            <a:off x="5981701" y="3201987"/>
            <a:ext cx="163515" cy="1638194"/>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2" name="TextBox 21"/>
          <p:cNvSpPr txBox="1">
            <a:spLocks noChangeArrowheads="1"/>
          </p:cNvSpPr>
          <p:nvPr/>
        </p:nvSpPr>
        <p:spPr bwMode="auto">
          <a:xfrm>
            <a:off x="4876800" y="3502025"/>
            <a:ext cx="274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pool: ExecutorService</a:t>
            </a:r>
            <a:endParaRPr lang="zh-CN" altLang="en-US" sz="1800"/>
          </a:p>
        </p:txBody>
      </p:sp>
      <p:grpSp>
        <p:nvGrpSpPr>
          <p:cNvPr id="23563" name="组合 12"/>
          <p:cNvGrpSpPr/>
          <p:nvPr/>
        </p:nvGrpSpPr>
        <p:grpSpPr bwMode="auto">
          <a:xfrm>
            <a:off x="7780338" y="1824038"/>
            <a:ext cx="2743200" cy="1243012"/>
            <a:chOff x="914400" y="3124200"/>
            <a:chExt cx="1905000" cy="1056815"/>
          </a:xfrm>
        </p:grpSpPr>
        <p:sp>
          <p:nvSpPr>
            <p:cNvPr id="23569"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Executor </a:t>
              </a:r>
              <a:r>
                <a:rPr lang="en-GB" altLang="en-US" sz="1800"/>
                <a:t>Class</a:t>
              </a:r>
              <a:endParaRPr lang="en-GB" altLang="en-US" sz="1800"/>
            </a:p>
          </p:txBody>
        </p:sp>
        <p:sp>
          <p:nvSpPr>
            <p:cNvPr id="23570" name="矩形 8"/>
            <p:cNvSpPr>
              <a:spLocks noChangeArrowheads="1"/>
            </p:cNvSpPr>
            <p:nvPr/>
          </p:nvSpPr>
          <p:spPr bwMode="auto">
            <a:xfrm>
              <a:off x="914400" y="3519714"/>
              <a:ext cx="1905000" cy="324644"/>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 </a:t>
              </a:r>
              <a:endParaRPr lang="zh-CN" altLang="en-US" sz="1800"/>
            </a:p>
          </p:txBody>
        </p:sp>
        <p:sp>
          <p:nvSpPr>
            <p:cNvPr id="23571" name="矩形 9"/>
            <p:cNvSpPr>
              <a:spLocks noChangeArrowheads="1"/>
            </p:cNvSpPr>
            <p:nvPr/>
          </p:nvSpPr>
          <p:spPr bwMode="auto">
            <a:xfrm>
              <a:off x="914400" y="3799548"/>
              <a:ext cx="1905000" cy="381467"/>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newFixedThreadPool()</a:t>
              </a:r>
              <a:endParaRPr lang="en-GB" altLang="zh-CN" sz="1800"/>
            </a:p>
          </p:txBody>
        </p:sp>
      </p:grpSp>
      <p:cxnSp>
        <p:nvCxnSpPr>
          <p:cNvPr id="23564" name="直接箭头连接符 29"/>
          <p:cNvCxnSpPr>
            <a:cxnSpLocks noChangeShapeType="1"/>
          </p:cNvCxnSpPr>
          <p:nvPr/>
        </p:nvCxnSpPr>
        <p:spPr bwMode="auto">
          <a:xfrm flipV="1">
            <a:off x="7315200" y="3070226"/>
            <a:ext cx="838200" cy="2011363"/>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5" name="直接箭头连接符 17407"/>
          <p:cNvCxnSpPr>
            <a:cxnSpLocks noChangeShapeType="1"/>
          </p:cNvCxnSpPr>
          <p:nvPr/>
        </p:nvCxnSpPr>
        <p:spPr bwMode="auto">
          <a:xfrm flipH="1" flipV="1">
            <a:off x="3276601" y="4783139"/>
            <a:ext cx="1585913" cy="598487"/>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66" name="直接箭头连接符 17412"/>
          <p:cNvCxnSpPr>
            <a:cxnSpLocks noChangeShapeType="1"/>
          </p:cNvCxnSpPr>
          <p:nvPr/>
        </p:nvCxnSpPr>
        <p:spPr bwMode="auto">
          <a:xfrm flipH="1" flipV="1">
            <a:off x="3886200" y="2733676"/>
            <a:ext cx="990600" cy="2347913"/>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567" name="TextBox 17413"/>
          <p:cNvSpPr txBox="1">
            <a:spLocks noChangeArrowheads="1"/>
          </p:cNvSpPr>
          <p:nvPr/>
        </p:nvSpPr>
        <p:spPr bwMode="auto">
          <a:xfrm>
            <a:off x="3467100" y="3136900"/>
            <a:ext cx="1752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Task:Runnable</a:t>
            </a:r>
            <a:endParaRPr lang="zh-CN" altLang="en-US" sz="1800"/>
          </a:p>
        </p:txBody>
      </p:sp>
      <p:cxnSp>
        <p:nvCxnSpPr>
          <p:cNvPr id="23568" name="直接箭头连接符 42"/>
          <p:cNvCxnSpPr>
            <a:cxnSpLocks noChangeShapeType="1"/>
          </p:cNvCxnSpPr>
          <p:nvPr/>
        </p:nvCxnSpPr>
        <p:spPr bwMode="auto">
          <a:xfrm flipH="1" flipV="1">
            <a:off x="7162801" y="2362200"/>
            <a:ext cx="595313" cy="255588"/>
          </a:xfrm>
          <a:prstGeom prst="straightConnector1">
            <a:avLst/>
          </a:prstGeom>
          <a:noFill/>
          <a:ln w="9525" algn="ctr">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1752600" y="457200"/>
            <a:ext cx="8229600" cy="431800"/>
          </a:xfrm>
        </p:spPr>
        <p:txBody>
          <a:bodyPr/>
          <a:lstStyle/>
          <a:p>
            <a:pPr algn="l"/>
            <a:r>
              <a:rPr lang="en-GB" altLang="en-US" sz="3200"/>
              <a:t>Thinking extension:</a:t>
            </a:r>
            <a:endParaRPr lang="en-GB" altLang="en-US" sz="3200"/>
          </a:p>
        </p:txBody>
      </p:sp>
      <p:sp>
        <p:nvSpPr>
          <p:cNvPr id="24579" name="内容占位符 2"/>
          <p:cNvSpPr>
            <a:spLocks noGrp="1"/>
          </p:cNvSpPr>
          <p:nvPr>
            <p:ph idx="1"/>
          </p:nvPr>
        </p:nvSpPr>
        <p:spPr>
          <a:xfrm>
            <a:off x="1905000" y="1371600"/>
            <a:ext cx="8686800" cy="24765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a:t>What classes are there to implement thread pools </a:t>
            </a:r>
            <a:endParaRPr lang="en-US" altLang="zh-CN" sz="2800"/>
          </a:p>
          <a:p>
            <a:pPr>
              <a:buFont typeface="Wingdings" panose="05000000000000000000" pitchFamily="2" charset="2"/>
              <a:buChar char="Ø"/>
            </a:pPr>
            <a:r>
              <a:rPr lang="en-GB" altLang="zh-CN" sz="2800"/>
              <a:t>Java </a:t>
            </a:r>
            <a:r>
              <a:rPr lang="en-GB" altLang="en-US" sz="2800"/>
              <a:t>implements thread pool using factory pattern. What is factory pattern?</a:t>
            </a:r>
            <a:endParaRPr lang="en-US" altLang="zh-CN" sz="2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838200" y="214843"/>
            <a:ext cx="9982200" cy="431800"/>
          </a:xfrm>
        </p:spPr>
        <p:txBody>
          <a:bodyPr/>
          <a:lstStyle/>
          <a:p>
            <a:r>
              <a:rPr lang="en-GB" altLang="en-US" sz="3200" b="1" dirty="0"/>
              <a:t>Multiple threads accessing the same resource</a:t>
            </a:r>
            <a:endParaRPr lang="en-GB" altLang="en-US" sz="3200" b="1" dirty="0"/>
          </a:p>
        </p:txBody>
      </p:sp>
      <p:sp>
        <p:nvSpPr>
          <p:cNvPr id="25603" name="内容占位符 2"/>
          <p:cNvSpPr>
            <a:spLocks noGrp="1"/>
          </p:cNvSpPr>
          <p:nvPr>
            <p:ph idx="1"/>
          </p:nvPr>
        </p:nvSpPr>
        <p:spPr>
          <a:xfrm>
            <a:off x="-76200" y="646643"/>
            <a:ext cx="12115800" cy="369834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Resources shared by multiple threads include memory, file handles, </a:t>
            </a:r>
            <a:r>
              <a:rPr lang="en-GB" altLang="zh-CN" sz="2800" dirty="0"/>
              <a:t>sockets </a:t>
            </a:r>
            <a:r>
              <a:rPr lang="en-GB" altLang="en-US" sz="2800" dirty="0"/>
              <a:t>, etc.</a:t>
            </a:r>
            <a:endParaRPr lang="en-US" altLang="zh-CN" sz="2800" dirty="0"/>
          </a:p>
          <a:p>
            <a:pPr>
              <a:buFont typeface="Wingdings" panose="05000000000000000000" pitchFamily="2" charset="2"/>
              <a:buChar char="Ø"/>
            </a:pPr>
            <a:r>
              <a:rPr lang="en-GB" altLang="en-US" sz="2800" dirty="0"/>
              <a:t>Multithreading shares resources. If the shared resources are not used at the same time, the program efficiency can be improved.</a:t>
            </a:r>
            <a:endParaRPr lang="en-US" altLang="zh-CN" sz="2800" dirty="0">
              <a:solidFill>
                <a:srgbClr val="FF0000"/>
              </a:solidFill>
            </a:endParaRPr>
          </a:p>
          <a:p>
            <a:pPr>
              <a:buFont typeface="Wingdings" panose="05000000000000000000" pitchFamily="2" charset="2"/>
              <a:buChar char="Ø"/>
            </a:pPr>
            <a:r>
              <a:rPr lang="en-GB" altLang="en-US" sz="2800" dirty="0"/>
              <a:t>If shared resources are used simultaneously, they must be shared mutually exclusively. Only one thread is allowed to use them at a time, and the other threads have to wait. Otherwise, the resources will be destroyed and the program may be in chaos.</a:t>
            </a:r>
            <a:endParaRPr lang="en-US" altLang="zh-CN" sz="2800" dirty="0"/>
          </a:p>
        </p:txBody>
      </p:sp>
      <p:sp>
        <p:nvSpPr>
          <p:cNvPr id="25604" name="椭圆 1"/>
          <p:cNvSpPr>
            <a:spLocks noChangeArrowheads="1"/>
          </p:cNvSpPr>
          <p:nvPr/>
        </p:nvSpPr>
        <p:spPr bwMode="auto">
          <a:xfrm>
            <a:off x="4038600" y="4419600"/>
            <a:ext cx="2438400" cy="1600200"/>
          </a:xfrm>
          <a:prstGeom prst="ellipse">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Shared resources</a:t>
            </a:r>
            <a:endParaRPr lang="en-US" altLang="zh-CN" sz="1800" dirty="0"/>
          </a:p>
          <a:p>
            <a:pPr>
              <a:spcBef>
                <a:spcPct val="0"/>
              </a:spcBef>
              <a:buClrTx/>
              <a:buSzTx/>
              <a:buFontTx/>
              <a:buNone/>
            </a:pPr>
            <a:r>
              <a:rPr lang="en-GB" altLang="zh-CN" sz="1800" dirty="0"/>
              <a:t>System.out</a:t>
            </a:r>
            <a:endParaRPr lang="zh-CN" altLang="en-US" sz="1800" dirty="0"/>
          </a:p>
        </p:txBody>
      </p:sp>
      <p:sp>
        <p:nvSpPr>
          <p:cNvPr id="25605" name="圆角矩形 2"/>
          <p:cNvSpPr>
            <a:spLocks noChangeArrowheads="1"/>
          </p:cNvSpPr>
          <p:nvPr/>
        </p:nvSpPr>
        <p:spPr bwMode="auto">
          <a:xfrm>
            <a:off x="7467600" y="4610100"/>
            <a:ext cx="1219200" cy="381000"/>
          </a:xfrm>
          <a:prstGeom prst="roundRect">
            <a:avLst>
              <a:gd name="adj" fmla="val 16667"/>
            </a:avLst>
          </a:prstGeom>
          <a:solidFill>
            <a:srgbClr val="FF000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1</a:t>
            </a:r>
            <a:endParaRPr lang="zh-CN" altLang="en-US" sz="1800"/>
          </a:p>
        </p:txBody>
      </p:sp>
      <p:cxnSp>
        <p:nvCxnSpPr>
          <p:cNvPr id="25606" name="直接箭头连接符 4"/>
          <p:cNvCxnSpPr>
            <a:cxnSpLocks noChangeShapeType="1"/>
          </p:cNvCxnSpPr>
          <p:nvPr/>
        </p:nvCxnSpPr>
        <p:spPr bwMode="auto">
          <a:xfrm>
            <a:off x="6324600" y="4800600"/>
            <a:ext cx="1143000" cy="0"/>
          </a:xfrm>
          <a:prstGeom prst="straightConnector1">
            <a:avLst/>
          </a:prstGeom>
          <a:noFill/>
          <a:ln w="9525" algn="ctr">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7" name="圆角矩形 7"/>
          <p:cNvSpPr>
            <a:spLocks noChangeArrowheads="1"/>
          </p:cNvSpPr>
          <p:nvPr/>
        </p:nvSpPr>
        <p:spPr bwMode="auto">
          <a:xfrm>
            <a:off x="7467600" y="5410200"/>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2</a:t>
            </a:r>
            <a:endParaRPr lang="zh-CN" altLang="en-US" sz="1800"/>
          </a:p>
        </p:txBody>
      </p:sp>
      <p:cxnSp>
        <p:nvCxnSpPr>
          <p:cNvPr id="25608" name="直接箭头连接符 8"/>
          <p:cNvCxnSpPr>
            <a:cxnSpLocks noChangeShapeType="1"/>
          </p:cNvCxnSpPr>
          <p:nvPr/>
        </p:nvCxnSpPr>
        <p:spPr bwMode="auto">
          <a:xfrm>
            <a:off x="6348413" y="5600700"/>
            <a:ext cx="11430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09" name="圆角矩形 9"/>
          <p:cNvSpPr>
            <a:spLocks noChangeArrowheads="1"/>
          </p:cNvSpPr>
          <p:nvPr/>
        </p:nvSpPr>
        <p:spPr bwMode="auto">
          <a:xfrm>
            <a:off x="2057400" y="4800600"/>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3</a:t>
            </a:r>
            <a:endParaRPr lang="zh-CN" altLang="en-US" sz="1800"/>
          </a:p>
        </p:txBody>
      </p:sp>
      <p:sp>
        <p:nvSpPr>
          <p:cNvPr id="25610" name="圆角矩形 10"/>
          <p:cNvSpPr>
            <a:spLocks noChangeArrowheads="1"/>
          </p:cNvSpPr>
          <p:nvPr/>
        </p:nvSpPr>
        <p:spPr bwMode="auto">
          <a:xfrm>
            <a:off x="2097088" y="5622925"/>
            <a:ext cx="1219200" cy="381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4</a:t>
            </a:r>
            <a:endParaRPr lang="zh-CN" altLang="en-US" sz="1800"/>
          </a:p>
        </p:txBody>
      </p:sp>
      <p:cxnSp>
        <p:nvCxnSpPr>
          <p:cNvPr id="25611" name="直接箭头连接符 6"/>
          <p:cNvCxnSpPr>
            <a:cxnSpLocks noChangeShapeType="1"/>
          </p:cNvCxnSpPr>
          <p:nvPr/>
        </p:nvCxnSpPr>
        <p:spPr bwMode="auto">
          <a:xfrm flipH="1">
            <a:off x="3316288" y="4991100"/>
            <a:ext cx="722312"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12" name="直接箭头连接符 13"/>
          <p:cNvCxnSpPr>
            <a:cxnSpLocks noChangeShapeType="1"/>
            <a:endCxn id="25610" idx="3"/>
          </p:cNvCxnSpPr>
          <p:nvPr/>
        </p:nvCxnSpPr>
        <p:spPr bwMode="auto">
          <a:xfrm flipH="1">
            <a:off x="3316288" y="5622925"/>
            <a:ext cx="874712" cy="190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3" name="TextBox 15"/>
          <p:cNvSpPr txBox="1">
            <a:spLocks noChangeArrowheads="1"/>
          </p:cNvSpPr>
          <p:nvPr/>
        </p:nvSpPr>
        <p:spPr bwMode="auto">
          <a:xfrm>
            <a:off x="190500" y="5939135"/>
            <a:ext cx="11811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600" dirty="0">
                <a:solidFill>
                  <a:srgbClr val="FF0000"/>
                </a:solidFill>
              </a:rPr>
              <a:t>At a certain moment, thread </a:t>
            </a:r>
            <a:r>
              <a:rPr lang="en-GB" altLang="zh-CN" sz="1600" dirty="0">
                <a:solidFill>
                  <a:srgbClr val="FF0000"/>
                </a:solidFill>
              </a:rPr>
              <a:t>1 </a:t>
            </a:r>
            <a:r>
              <a:rPr lang="en-GB" altLang="en-US" sz="1600" dirty="0">
                <a:solidFill>
                  <a:srgbClr val="FF0000"/>
                </a:solidFill>
              </a:rPr>
              <a:t>accesses, and threads </a:t>
            </a:r>
            <a:r>
              <a:rPr lang="en-GB" altLang="zh-CN" sz="1600" dirty="0">
                <a:solidFill>
                  <a:srgbClr val="FF0000"/>
                </a:solidFill>
              </a:rPr>
              <a:t>2 </a:t>
            </a:r>
            <a:r>
              <a:rPr lang="en-GB" altLang="en-US" sz="1600" dirty="0">
                <a:solidFill>
                  <a:srgbClr val="FF0000"/>
                </a:solidFill>
              </a:rPr>
              <a:t>, </a:t>
            </a:r>
            <a:r>
              <a:rPr lang="en-GB" altLang="zh-CN" sz="1600" dirty="0">
                <a:solidFill>
                  <a:srgbClr val="FF0000"/>
                </a:solidFill>
              </a:rPr>
              <a:t>3 </a:t>
            </a:r>
            <a:r>
              <a:rPr lang="en-GB" altLang="en-US" sz="1600" dirty="0">
                <a:solidFill>
                  <a:srgbClr val="FF0000"/>
                </a:solidFill>
              </a:rPr>
              <a:t>, and </a:t>
            </a:r>
            <a:r>
              <a:rPr lang="en-GB" altLang="zh-CN" sz="1600" dirty="0">
                <a:solidFill>
                  <a:srgbClr val="FF0000"/>
                </a:solidFill>
              </a:rPr>
              <a:t>4 </a:t>
            </a:r>
            <a:r>
              <a:rPr lang="en-GB" altLang="en-US" sz="1600" dirty="0">
                <a:solidFill>
                  <a:srgbClr val="FF0000"/>
                </a:solidFill>
              </a:rPr>
              <a:t>wait.</a:t>
            </a:r>
            <a:endParaRPr lang="en-US" altLang="zh-CN" sz="1600" dirty="0">
              <a:solidFill>
                <a:srgbClr val="FF0000"/>
              </a:solidFill>
            </a:endParaRPr>
          </a:p>
          <a:p>
            <a:pPr>
              <a:spcBef>
                <a:spcPct val="0"/>
              </a:spcBef>
              <a:buClrTx/>
              <a:buSzTx/>
              <a:buFontTx/>
              <a:buNone/>
            </a:pPr>
            <a:r>
              <a:rPr lang="en-GB" altLang="en-US" sz="1600" dirty="0">
                <a:solidFill>
                  <a:srgbClr val="FF0000"/>
                </a:solidFill>
              </a:rPr>
              <a:t>When programming: You must be able to specify that a shared resource (several statements) can only be accessed exclusively by one thread.</a:t>
            </a:r>
            <a:endParaRPr lang="en-US" altLang="zh-CN" sz="1600" dirty="0">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1752600" y="457200"/>
            <a:ext cx="8229600" cy="431800"/>
          </a:xfrm>
        </p:spPr>
        <p:txBody>
          <a:bodyPr/>
          <a:lstStyle/>
          <a:p>
            <a:pPr algn="l"/>
            <a:r>
              <a:rPr lang="en-GB" altLang="en-US" sz="3200" dirty="0"/>
              <a:t>Synchronous block programming technology</a:t>
            </a:r>
            <a:endParaRPr lang="en-GB" altLang="en-US" sz="3200" dirty="0"/>
          </a:p>
        </p:txBody>
      </p:sp>
      <p:sp>
        <p:nvSpPr>
          <p:cNvPr id="26627" name="内容占位符 2"/>
          <p:cNvSpPr>
            <a:spLocks noGrp="1"/>
          </p:cNvSpPr>
          <p:nvPr>
            <p:ph idx="1"/>
          </p:nvPr>
        </p:nvSpPr>
        <p:spPr>
          <a:xfrm>
            <a:off x="381000" y="1295400"/>
            <a:ext cx="11049000" cy="44973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Surround </a:t>
            </a:r>
            <a:endParaRPr lang="en-US" altLang="zh-CN" sz="2800" dirty="0"/>
          </a:p>
        </p:txBody>
      </p:sp>
      <p:sp>
        <p:nvSpPr>
          <p:cNvPr id="26628" name="TextBox 3"/>
          <p:cNvSpPr txBox="1">
            <a:spLocks noChangeArrowheads="1"/>
          </p:cNvSpPr>
          <p:nvPr/>
        </p:nvSpPr>
        <p:spPr bwMode="auto">
          <a:xfrm>
            <a:off x="1905000" y="1983846"/>
            <a:ext cx="7391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Statements that require exclusive access:</a:t>
            </a:r>
            <a:endParaRPr lang="en-US" altLang="zh-CN" sz="2000" dirty="0"/>
          </a:p>
          <a:p>
            <a:pPr>
              <a:spcBef>
                <a:spcPct val="0"/>
              </a:spcBef>
              <a:buClrTx/>
              <a:buSzTx/>
              <a:buFontTx/>
              <a:buNone/>
            </a:pPr>
            <a:r>
              <a:rPr lang="en-GB" altLang="zh-CN" sz="2000" dirty="0"/>
              <a:t>System.out.print( input + “:” );</a:t>
            </a:r>
            <a:endParaRPr lang="en-GB" altLang="zh-CN" sz="2000" dirty="0"/>
          </a:p>
          <a:p>
            <a:pPr>
              <a:spcBef>
                <a:spcPct val="0"/>
              </a:spcBef>
              <a:buClrTx/>
              <a:buSzTx/>
              <a:buFontTx/>
              <a:buNone/>
            </a:pPr>
            <a:r>
              <a:rPr lang="en-GB" altLang="zh-CN" sz="2000" dirty="0"/>
              <a:t>System.out.print(DatatypeConverter.printHexBinary(digest));</a:t>
            </a:r>
            <a:endParaRPr lang="en-GB" altLang="zh-CN" sz="2000" dirty="0"/>
          </a:p>
          <a:p>
            <a:pPr>
              <a:spcBef>
                <a:spcPct val="0"/>
              </a:spcBef>
              <a:buClrTx/>
              <a:buSzTx/>
              <a:buFontTx/>
              <a:buNone/>
            </a:pPr>
            <a:r>
              <a:rPr lang="en-GB" altLang="zh-CN" sz="2000" dirty="0"/>
              <a:t>System.out.println() ;</a:t>
            </a:r>
            <a:endParaRPr lang="zh-CN" altLang="en-US" sz="2000" dirty="0"/>
          </a:p>
        </p:txBody>
      </p:sp>
      <p:sp>
        <p:nvSpPr>
          <p:cNvPr id="26629" name="TextBox 14"/>
          <p:cNvSpPr txBox="1">
            <a:spLocks noChangeArrowheads="1"/>
          </p:cNvSpPr>
          <p:nvPr/>
        </p:nvSpPr>
        <p:spPr bwMode="auto">
          <a:xfrm>
            <a:off x="1905000" y="3624262"/>
            <a:ext cx="7391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Add a synchronized block:</a:t>
            </a:r>
            <a:endParaRPr lang="en-US" altLang="zh-CN" sz="2000" dirty="0"/>
          </a:p>
          <a:p>
            <a:pPr>
              <a:spcBef>
                <a:spcPct val="0"/>
              </a:spcBef>
              <a:buClrTx/>
              <a:buSzTx/>
              <a:buFontTx/>
              <a:buNone/>
            </a:pPr>
            <a:r>
              <a:rPr lang="en-GB" altLang="zh-CN" sz="2000" dirty="0">
                <a:solidFill>
                  <a:srgbClr val="FF0000"/>
                </a:solidFill>
              </a:rPr>
              <a:t>Synchronized ( </a:t>
            </a:r>
            <a:r>
              <a:rPr lang="en-GB" altLang="zh-CN" sz="2000" dirty="0">
                <a:solidFill>
                  <a:schemeClr val="tx2"/>
                </a:solidFill>
              </a:rPr>
              <a:t>System.out </a:t>
            </a:r>
            <a:r>
              <a:rPr lang="en-GB" altLang="zh-CN" sz="2000" dirty="0">
                <a:solidFill>
                  <a:srgbClr val="FF0000"/>
                </a:solidFill>
              </a:rPr>
              <a:t>) {</a:t>
            </a:r>
            <a:endParaRPr lang="en-GB" altLang="zh-CN" sz="2000" dirty="0">
              <a:solidFill>
                <a:srgbClr val="FF0000"/>
              </a:solidFill>
            </a:endParaRPr>
          </a:p>
          <a:p>
            <a:pPr>
              <a:spcBef>
                <a:spcPct val="0"/>
              </a:spcBef>
              <a:buClrTx/>
              <a:buSzTx/>
              <a:buFontTx/>
              <a:buNone/>
            </a:pPr>
            <a:r>
              <a:rPr lang="en-GB" altLang="zh-CN" sz="2000" dirty="0"/>
              <a:t>System.out.print( input + “:” );</a:t>
            </a:r>
            <a:endParaRPr lang="en-GB" altLang="zh-CN" sz="2000" dirty="0"/>
          </a:p>
          <a:p>
            <a:pPr>
              <a:spcBef>
                <a:spcPct val="0"/>
              </a:spcBef>
              <a:buClrTx/>
              <a:buSzTx/>
              <a:buFontTx/>
              <a:buNone/>
            </a:pPr>
            <a:r>
              <a:rPr lang="en-GB" altLang="zh-CN" sz="2000" dirty="0"/>
              <a:t>System.out.print(DatatypeConverter.printHexBinary(digest));</a:t>
            </a:r>
            <a:endParaRPr lang="en-GB" altLang="zh-CN" sz="2000" dirty="0"/>
          </a:p>
          <a:p>
            <a:pPr>
              <a:spcBef>
                <a:spcPct val="0"/>
              </a:spcBef>
              <a:buClrTx/>
              <a:buSzTx/>
              <a:buFontTx/>
              <a:buNone/>
            </a:pPr>
            <a:r>
              <a:rPr lang="en-GB" altLang="zh-CN" sz="2000" dirty="0"/>
              <a:t>System.out.println() ;</a:t>
            </a:r>
            <a:endParaRPr lang="en-GB" altLang="zh-CN" sz="2000" dirty="0"/>
          </a:p>
          <a:p>
            <a:pPr>
              <a:spcBef>
                <a:spcPct val="0"/>
              </a:spcBef>
              <a:buClrTx/>
              <a:buSzTx/>
              <a:buFontTx/>
              <a:buNone/>
            </a:pPr>
            <a:r>
              <a:rPr lang="en-GB" altLang="zh-CN" sz="2000" dirty="0">
                <a:solidFill>
                  <a:srgbClr val="FF0000"/>
                </a:solidFill>
              </a:rPr>
              <a:t>}</a:t>
            </a:r>
            <a:endParaRPr lang="zh-CN" altLang="en-US" sz="2000"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152400" y="-20638"/>
            <a:ext cx="11887200" cy="909638"/>
          </a:xfrm>
        </p:spPr>
        <p:txBody>
          <a:bodyPr/>
          <a:lstStyle/>
          <a:p>
            <a:pPr algn="l"/>
            <a:r>
              <a:rPr lang="en-GB" altLang="en-US" sz="3200" dirty="0"/>
              <a:t>Synchronous block programming technology application example</a:t>
            </a:r>
            <a:endParaRPr lang="en-GB" altLang="en-US" sz="3200" dirty="0"/>
          </a:p>
        </p:txBody>
      </p:sp>
      <p:sp>
        <p:nvSpPr>
          <p:cNvPr id="27651" name="内容占位符 2"/>
          <p:cNvSpPr>
            <a:spLocks noGrp="1"/>
          </p:cNvSpPr>
          <p:nvPr>
            <p:ph idx="1"/>
          </p:nvPr>
        </p:nvSpPr>
        <p:spPr>
          <a:xfrm>
            <a:off x="304800" y="990600"/>
            <a:ext cx="11582400" cy="44973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Multithreaded access to log files on a </a:t>
            </a: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a:p>
            <a:pPr marL="0" indent="0">
              <a:buNone/>
            </a:pPr>
            <a:endParaRPr lang="en-US" altLang="zh-CN" sz="2800" dirty="0"/>
          </a:p>
          <a:p>
            <a:pPr>
              <a:buFont typeface="Wingdings" panose="05000000000000000000" pitchFamily="2" charset="2"/>
              <a:buChar char="Ø"/>
            </a:pPr>
            <a:r>
              <a:rPr lang="en-GB" altLang="en-US" sz="2800" dirty="0"/>
              <a:t>Multiple threads will use the reference of </a:t>
            </a:r>
            <a:r>
              <a:rPr lang="en-GB" altLang="zh-CN" sz="2800" dirty="0"/>
              <a:t>the LogFile </a:t>
            </a:r>
            <a:r>
              <a:rPr lang="en-GB" altLang="en-US" sz="2800" dirty="0"/>
              <a:t>object to obtain the current date and time and write it to the log file. How can I programmatically handle this to avoid confusion?</a:t>
            </a:r>
            <a:endParaRPr lang="en-US" altLang="zh-CN" sz="2800" dirty="0"/>
          </a:p>
        </p:txBody>
      </p:sp>
      <p:sp>
        <p:nvSpPr>
          <p:cNvPr id="27652" name="TextBox 14"/>
          <p:cNvSpPr txBox="1">
            <a:spLocks noChangeArrowheads="1"/>
          </p:cNvSpPr>
          <p:nvPr/>
        </p:nvSpPr>
        <p:spPr bwMode="auto">
          <a:xfrm>
            <a:off x="1210733" y="5602288"/>
            <a:ext cx="739140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00"/>
                </a:solidFill>
              </a:rPr>
              <a:t>Demonstration sample code </a:t>
            </a:r>
            <a:r>
              <a:rPr lang="en-GB" altLang="zh-CN" sz="2000" dirty="0">
                <a:solidFill>
                  <a:srgbClr val="FF0000"/>
                </a:solidFill>
              </a:rPr>
              <a:t>ch3- LogFile.java</a:t>
            </a:r>
            <a:endParaRPr lang="en-GB" altLang="zh-CN" sz="2000" dirty="0">
              <a:solidFill>
                <a:srgbClr val="FF0000"/>
              </a:solidFill>
            </a:endParaRPr>
          </a:p>
          <a:p>
            <a:pPr>
              <a:spcBef>
                <a:spcPct val="0"/>
              </a:spcBef>
              <a:buClrTx/>
              <a:buSzTx/>
              <a:buFontTx/>
              <a:buNone/>
            </a:pPr>
            <a:r>
              <a:rPr lang="en-GB" altLang="en-US" sz="2000" dirty="0">
                <a:solidFill>
                  <a:srgbClr val="FF0000"/>
                </a:solidFill>
              </a:rPr>
              <a:t>No synchronization</a:t>
            </a:r>
            <a:endParaRPr lang="en-US" altLang="zh-CN" sz="2000" dirty="0">
              <a:solidFill>
                <a:srgbClr val="FF0000"/>
              </a:solidFill>
            </a:endParaRPr>
          </a:p>
          <a:p>
            <a:pPr>
              <a:spcBef>
                <a:spcPct val="0"/>
              </a:spcBef>
              <a:buClrTx/>
              <a:buSzTx/>
              <a:buFontTx/>
              <a:buNone/>
            </a:pPr>
            <a:r>
              <a:rPr lang="en-GB" altLang="en-US" sz="2000" dirty="0">
                <a:solidFill>
                  <a:srgbClr val="FF0000"/>
                </a:solidFill>
              </a:rPr>
              <a:t>Three synchronization processing methods</a:t>
            </a:r>
            <a:endParaRPr lang="en-GB" altLang="en-US" sz="2000" dirty="0">
              <a:solidFill>
                <a:srgbClr val="FF0000"/>
              </a:solidFill>
            </a:endParaRPr>
          </a:p>
        </p:txBody>
      </p:sp>
      <p:sp>
        <p:nvSpPr>
          <p:cNvPr id="27653" name="流程图: 文档 1"/>
          <p:cNvSpPr>
            <a:spLocks noChangeArrowheads="1"/>
          </p:cNvSpPr>
          <p:nvPr/>
        </p:nvSpPr>
        <p:spPr bwMode="auto">
          <a:xfrm>
            <a:off x="4495800" y="1981200"/>
            <a:ext cx="1265238" cy="1143000"/>
          </a:xfrm>
          <a:prstGeom prst="flowChart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Log files</a:t>
            </a:r>
            <a:endParaRPr lang="en-US" altLang="zh-CN" sz="1800"/>
          </a:p>
          <a:p>
            <a:pPr>
              <a:spcBef>
                <a:spcPct val="0"/>
              </a:spcBef>
              <a:buClrTx/>
              <a:buSzTx/>
              <a:buFontTx/>
              <a:buNone/>
            </a:pPr>
            <a:r>
              <a:rPr lang="en-GB" altLang="zh-CN" sz="1800"/>
              <a:t>LogFile</a:t>
            </a:r>
            <a:endParaRPr lang="zh-CN" altLang="en-US" sz="1800"/>
          </a:p>
        </p:txBody>
      </p:sp>
      <p:sp>
        <p:nvSpPr>
          <p:cNvPr id="27654" name="圆角矩形 2"/>
          <p:cNvSpPr>
            <a:spLocks noChangeArrowheads="1"/>
          </p:cNvSpPr>
          <p:nvPr/>
        </p:nvSpPr>
        <p:spPr bwMode="auto">
          <a:xfrm>
            <a:off x="6591300" y="1828800"/>
            <a:ext cx="5486399"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1 </a:t>
            </a:r>
            <a:r>
              <a:rPr lang="en-GB" altLang="en-US" sz="1800"/>
              <a:t>: handles inbound connections</a:t>
            </a:r>
            <a:endParaRPr lang="en-GB" altLang="en-US" sz="1800"/>
          </a:p>
        </p:txBody>
      </p:sp>
      <p:sp>
        <p:nvSpPr>
          <p:cNvPr id="27655" name="圆角矩形 7"/>
          <p:cNvSpPr>
            <a:spLocks noChangeArrowheads="1"/>
          </p:cNvSpPr>
          <p:nvPr/>
        </p:nvSpPr>
        <p:spPr bwMode="auto">
          <a:xfrm>
            <a:off x="6591300" y="2747433"/>
            <a:ext cx="54864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2 </a:t>
            </a:r>
            <a:r>
              <a:rPr lang="en-GB" altLang="en-US" sz="1800" dirty="0"/>
              <a:t>: handles inbound connections</a:t>
            </a:r>
            <a:endParaRPr lang="en-GB" altLang="en-US" sz="1800" dirty="0"/>
          </a:p>
        </p:txBody>
      </p:sp>
      <p:cxnSp>
        <p:nvCxnSpPr>
          <p:cNvPr id="27656" name="直接箭头连接符 8"/>
          <p:cNvCxnSpPr>
            <a:cxnSpLocks noChangeShapeType="1"/>
          </p:cNvCxnSpPr>
          <p:nvPr/>
        </p:nvCxnSpPr>
        <p:spPr bwMode="auto">
          <a:xfrm flipH="1">
            <a:off x="5824009" y="2171700"/>
            <a:ext cx="1020762" cy="76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7" name="直接箭头连接符 10"/>
          <p:cNvCxnSpPr>
            <a:cxnSpLocks noChangeShapeType="1"/>
          </p:cNvCxnSpPr>
          <p:nvPr/>
        </p:nvCxnSpPr>
        <p:spPr bwMode="auto">
          <a:xfrm flipH="1" flipV="1">
            <a:off x="5761038" y="2667000"/>
            <a:ext cx="1020762" cy="457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8" name="圆角矩形 15"/>
          <p:cNvSpPr>
            <a:spLocks noChangeArrowheads="1"/>
          </p:cNvSpPr>
          <p:nvPr/>
        </p:nvSpPr>
        <p:spPr bwMode="auto">
          <a:xfrm>
            <a:off x="228600" y="1940983"/>
            <a:ext cx="32766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3 </a:t>
            </a:r>
            <a:r>
              <a:rPr lang="en-GB" altLang="en-US" sz="1800" dirty="0"/>
              <a:t>: handles inbound connections</a:t>
            </a:r>
            <a:endParaRPr lang="en-GB" altLang="en-US" sz="1800" dirty="0"/>
          </a:p>
        </p:txBody>
      </p:sp>
      <p:cxnSp>
        <p:nvCxnSpPr>
          <p:cNvPr id="27659" name="直接箭头连接符 12"/>
          <p:cNvCxnSpPr>
            <a:cxnSpLocks noChangeShapeType="1"/>
          </p:cNvCxnSpPr>
          <p:nvPr/>
        </p:nvCxnSpPr>
        <p:spPr bwMode="auto">
          <a:xfrm>
            <a:off x="3505200" y="2332038"/>
            <a:ext cx="9906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60" name="圆角矩形 17"/>
          <p:cNvSpPr>
            <a:spLocks noChangeArrowheads="1"/>
          </p:cNvSpPr>
          <p:nvPr/>
        </p:nvSpPr>
        <p:spPr bwMode="auto">
          <a:xfrm>
            <a:off x="114301" y="2872846"/>
            <a:ext cx="3522663"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4 </a:t>
            </a:r>
            <a:r>
              <a:rPr lang="en-GB" altLang="en-US" sz="1800" dirty="0"/>
              <a:t>: handles inbound connections</a:t>
            </a:r>
            <a:endParaRPr lang="en-GB" altLang="en-US" sz="1800" dirty="0"/>
          </a:p>
        </p:txBody>
      </p:sp>
      <p:cxnSp>
        <p:nvCxnSpPr>
          <p:cNvPr id="27661" name="直接箭头连接符 16"/>
          <p:cNvCxnSpPr>
            <a:cxnSpLocks noChangeShapeType="1"/>
          </p:cNvCxnSpPr>
          <p:nvPr/>
        </p:nvCxnSpPr>
        <p:spPr bwMode="auto">
          <a:xfrm flipV="1">
            <a:off x="3675064" y="2781300"/>
            <a:ext cx="820737" cy="571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517650" y="26988"/>
            <a:ext cx="8229600" cy="431800"/>
          </a:xfrm>
        </p:spPr>
        <p:txBody>
          <a:bodyPr/>
          <a:lstStyle/>
          <a:p>
            <a:pPr algn="l"/>
            <a:r>
              <a:rPr lang="en-GB" altLang="zh-CN" sz="3200"/>
              <a:t>LogFile.java</a:t>
            </a:r>
            <a:endParaRPr lang="en-GB" altLang="zh-CN" sz="3200"/>
          </a:p>
        </p:txBody>
      </p:sp>
      <p:pic>
        <p:nvPicPr>
          <p:cNvPr id="2867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914400"/>
            <a:ext cx="9831705" cy="5358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1517650" y="26988"/>
            <a:ext cx="8229600" cy="431800"/>
          </a:xfrm>
        </p:spPr>
        <p:txBody>
          <a:bodyPr/>
          <a:lstStyle/>
          <a:p>
            <a:pPr algn="l"/>
            <a:r>
              <a:rPr lang="en-GB" altLang="zh-CN" sz="3200"/>
              <a:t>LogFile.java</a:t>
            </a:r>
            <a:endParaRPr lang="en-GB" altLang="zh-CN" sz="3200"/>
          </a:p>
        </p:txBody>
      </p:sp>
      <p:pic>
        <p:nvPicPr>
          <p:cNvPr id="2969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09600" y="60855"/>
            <a:ext cx="10668000" cy="6602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1517650" y="26988"/>
            <a:ext cx="8229600" cy="431800"/>
          </a:xfrm>
        </p:spPr>
        <p:txBody>
          <a:bodyPr/>
          <a:lstStyle/>
          <a:p>
            <a:pPr algn="l"/>
            <a:r>
              <a:rPr lang="en-GB" altLang="zh-CN" sz="3200"/>
              <a:t>LogFile.java</a:t>
            </a:r>
            <a:endParaRPr lang="en-GB" altLang="zh-CN" sz="3200"/>
          </a:p>
        </p:txBody>
      </p:sp>
      <p:pic>
        <p:nvPicPr>
          <p:cNvPr id="3072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7365" y="838200"/>
            <a:ext cx="11177905" cy="5306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1828800" y="228600"/>
            <a:ext cx="8229600" cy="431800"/>
          </a:xfrm>
        </p:spPr>
        <p:txBody>
          <a:bodyPr/>
          <a:lstStyle/>
          <a:p>
            <a:pPr algn="l"/>
            <a:r>
              <a:rPr lang="en-GB" altLang="en-US" sz="3200" dirty="0"/>
              <a:t>Programming thinking problem</a:t>
            </a:r>
            <a:endParaRPr lang="en-GB" altLang="en-US" sz="3200" dirty="0"/>
          </a:p>
        </p:txBody>
      </p:sp>
      <p:sp>
        <p:nvSpPr>
          <p:cNvPr id="31747" name="内容占位符 2"/>
          <p:cNvSpPr>
            <a:spLocks noGrp="1"/>
          </p:cNvSpPr>
          <p:nvPr>
            <p:ph idx="1"/>
          </p:nvPr>
        </p:nvSpPr>
        <p:spPr>
          <a:xfrm>
            <a:off x="16933" y="1066800"/>
            <a:ext cx="11963400" cy="51069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dirty="0"/>
              <a:t>Improve the file security algorithm summary saving program completed in the last programming thinking problem, and give a file security algorithm summary log generation program. </a:t>
            </a:r>
            <a:endParaRPr lang="en-GB" altLang="en-US" sz="2400" dirty="0"/>
          </a:p>
          <a:p>
            <a:pPr>
              <a:buFont typeface="Wingdings" panose="05000000000000000000" pitchFamily="2" charset="2"/>
              <a:buChar char="Ø"/>
            </a:pPr>
            <a:r>
              <a:rPr lang="en-GB" altLang="en-US" sz="2400" dirty="0"/>
              <a:t>Requirement: Use multi-threaded synchronous programming technology to save the file security algorithm summary calculated by the file security algorithm summary calculation program (using multi-threaded calculation) into a log file. </a:t>
            </a:r>
            <a:endParaRPr lang="en-GB" altLang="en-US" sz="2400" dirty="0"/>
          </a:p>
          <a:p>
            <a:pPr>
              <a:buFont typeface="Wingdings" panose="05000000000000000000" pitchFamily="2" charset="2"/>
              <a:buChar char="Ø"/>
            </a:pPr>
            <a:r>
              <a:rPr lang="en-GB" altLang="en-US" sz="2400" dirty="0"/>
              <a:t>For example, the security algorithm summary calculated for the </a:t>
            </a:r>
            <a:r>
              <a:rPr lang="en-GB" altLang="zh-CN" sz="2400" dirty="0"/>
              <a:t>1.txt file is stored </a:t>
            </a:r>
            <a:r>
              <a:rPr lang="en-GB" altLang="en-US" sz="2400" dirty="0"/>
              <a:t>in a log file named </a:t>
            </a:r>
            <a:r>
              <a:rPr lang="en-GB" altLang="zh-CN" sz="2400" dirty="0"/>
              <a:t>SafeLogFile.txt , and </a:t>
            </a:r>
            <a:r>
              <a:rPr lang="en-GB" altLang="en-US" sz="2400" dirty="0"/>
              <a:t>the security algorithm summary calculated for the </a:t>
            </a:r>
            <a:r>
              <a:rPr lang="en-GB" altLang="zh-CN" sz="2400" dirty="0"/>
              <a:t>2.xml file is also stored in a file named SafeLogFile.txt </a:t>
            </a:r>
            <a:r>
              <a:rPr lang="en-GB" altLang="en-US" sz="2400" dirty="0"/>
              <a:t>. </a:t>
            </a:r>
            <a:endParaRPr lang="en-GB" altLang="en-US" sz="2400" dirty="0"/>
          </a:p>
          <a:p>
            <a:pPr>
              <a:buFont typeface="Wingdings" panose="05000000000000000000" pitchFamily="2" charset="2"/>
              <a:buChar char="Ø"/>
            </a:pPr>
            <a:r>
              <a:rPr lang="en-GB" altLang="en-US" sz="2400" dirty="0"/>
              <a:t>And when storing the security algorithm summary of a file in the </a:t>
            </a:r>
            <a:r>
              <a:rPr lang="en-GB" altLang="zh-CN" sz="2400" dirty="0"/>
              <a:t>SafeLogFile.txt </a:t>
            </a:r>
            <a:r>
              <a:rPr lang="en-GB" altLang="en-US" sz="2400" dirty="0"/>
              <a:t>log file, the generation time of the security algorithm summary of the file must also be stored.</a:t>
            </a: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114300" y="100014"/>
            <a:ext cx="11963400" cy="889000"/>
          </a:xfrm>
        </p:spPr>
        <p:txBody>
          <a:bodyPr/>
          <a:lstStyle/>
          <a:p>
            <a:pPr algn="l"/>
            <a:r>
              <a:rPr lang="en-GB" altLang="en-US" sz="3200" dirty="0"/>
              <a:t>Problems that may arise from synchronous block programming techniques</a:t>
            </a:r>
            <a:endParaRPr lang="en-GB" altLang="en-US" sz="3200" dirty="0"/>
          </a:p>
        </p:txBody>
      </p:sp>
      <p:sp>
        <p:nvSpPr>
          <p:cNvPr id="32771" name="内容占位符 2"/>
          <p:cNvSpPr>
            <a:spLocks noGrp="1"/>
          </p:cNvSpPr>
          <p:nvPr>
            <p:ph idx="1"/>
          </p:nvPr>
        </p:nvSpPr>
        <p:spPr>
          <a:xfrm>
            <a:off x="122767" y="1027113"/>
            <a:ext cx="117348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400" dirty="0"/>
              <a:t>1. </a:t>
            </a:r>
            <a:r>
              <a:rPr lang="en-GB" altLang="en-US" sz="2400" dirty="0"/>
              <a:t>It may seriously degrade the performance of </a:t>
            </a:r>
            <a:r>
              <a:rPr lang="en-GB" altLang="zh-CN" sz="2400" dirty="0"/>
              <a:t>the VM , </a:t>
            </a:r>
            <a:r>
              <a:rPr lang="en-GB" altLang="en-US" sz="2400" dirty="0"/>
              <a:t>reducing the code execution speed by one third or more</a:t>
            </a:r>
            <a:endParaRPr lang="en-US" altLang="zh-CN" sz="2400" dirty="0"/>
          </a:p>
          <a:p>
            <a:pPr>
              <a:buFont typeface="Wingdings" panose="05000000000000000000" pitchFamily="2" charset="2"/>
              <a:buChar char="Ø"/>
            </a:pPr>
            <a:r>
              <a:rPr lang="en-GB" altLang="zh-CN" sz="2400" dirty="0"/>
              <a:t>2. </a:t>
            </a:r>
            <a:r>
              <a:rPr lang="en-GB" altLang="en-US" sz="2400" dirty="0"/>
              <a:t>Greatly increases the possibility of deadlock</a:t>
            </a:r>
            <a:endParaRPr lang="en-US" altLang="zh-CN" sz="2400" dirty="0"/>
          </a:p>
          <a:p>
            <a:pPr>
              <a:buFont typeface="Wingdings" panose="05000000000000000000" pitchFamily="2" charset="2"/>
              <a:buChar char="Ø"/>
            </a:pPr>
            <a:r>
              <a:rPr lang="en-GB" altLang="zh-CN" sz="2400" dirty="0"/>
              <a:t>3. </a:t>
            </a:r>
            <a:r>
              <a:rPr lang="en-GB" altLang="en-US" sz="2400" dirty="0"/>
              <a:t>It is not the object itself that needs to be protected from simultaneous modification or access </a:t>
            </a:r>
            <a:r>
              <a:rPr lang="en-GB" altLang="zh-CN" sz="2400" dirty="0"/>
              <a:t>. </a:t>
            </a:r>
            <a:r>
              <a:rPr lang="en-GB" altLang="en-US" sz="2400" dirty="0"/>
              <a:t>If only the instance of the class to which the method belongs is synchronized </a:t>
            </a:r>
            <a:r>
              <a:rPr lang="en-GB" altLang="zh-CN" sz="2400" dirty="0"/>
              <a:t>, </a:t>
            </a:r>
            <a:r>
              <a:rPr lang="en-GB" altLang="en-US" sz="2400" dirty="0"/>
              <a:t>it may not protect the object that really needs to be protected </a:t>
            </a:r>
            <a:r>
              <a:rPr lang="en-GB" altLang="zh-CN" sz="2400" dirty="0"/>
              <a:t>.</a:t>
            </a:r>
            <a:endParaRPr lang="en-GB"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a:p>
            <a:pPr>
              <a:buFont typeface="Wingdings" panose="05000000000000000000" pitchFamily="2" charset="2"/>
              <a:buChar char="Ø"/>
            </a:pPr>
            <a:endParaRPr lang="en-US" altLang="zh-CN" sz="2400" dirty="0"/>
          </a:p>
        </p:txBody>
      </p:sp>
      <p:sp>
        <p:nvSpPr>
          <p:cNvPr id="32772" name="流程图: 文档 13"/>
          <p:cNvSpPr>
            <a:spLocks noChangeArrowheads="1"/>
          </p:cNvSpPr>
          <p:nvPr/>
        </p:nvSpPr>
        <p:spPr bwMode="auto">
          <a:xfrm>
            <a:off x="4495800" y="4152900"/>
            <a:ext cx="1265238" cy="1371600"/>
          </a:xfrm>
          <a:prstGeom prst="flowChart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Log files</a:t>
            </a:r>
            <a:endParaRPr lang="en-US" altLang="zh-CN" sz="1800" dirty="0"/>
          </a:p>
          <a:p>
            <a:pPr>
              <a:spcBef>
                <a:spcPct val="0"/>
              </a:spcBef>
              <a:buClrTx/>
              <a:buSzTx/>
              <a:buFontTx/>
              <a:buNone/>
            </a:pPr>
            <a:r>
              <a:rPr lang="en-GB" altLang="zh-CN" sz="1800" dirty="0"/>
              <a:t>LogFile</a:t>
            </a:r>
            <a:endParaRPr lang="en-GB" altLang="zh-CN" sz="1800" dirty="0"/>
          </a:p>
          <a:p>
            <a:pPr>
              <a:spcBef>
                <a:spcPct val="0"/>
              </a:spcBef>
              <a:buClrTx/>
              <a:buSzTx/>
              <a:buFontTx/>
              <a:buNone/>
            </a:pPr>
            <a:r>
              <a:rPr lang="en-GB" altLang="zh-CN" sz="1800" dirty="0">
                <a:solidFill>
                  <a:srgbClr val="FF0000"/>
                </a:solidFill>
              </a:rPr>
              <a:t>Out </a:t>
            </a:r>
            <a:r>
              <a:rPr lang="en-GB" altLang="en-US" sz="1600" dirty="0">
                <a:solidFill>
                  <a:srgbClr val="FF0000"/>
                </a:solidFill>
              </a:rPr>
              <a:t>object</a:t>
            </a:r>
            <a:r>
              <a:rPr lang="en-GB" altLang="en-US" sz="1800" dirty="0">
                <a:solidFill>
                  <a:srgbClr val="FF0000"/>
                </a:solidFill>
              </a:rPr>
              <a:t>: </a:t>
            </a:r>
            <a:r>
              <a:rPr lang="en-GB" altLang="zh-CN" sz="1800" dirty="0">
                <a:solidFill>
                  <a:srgbClr val="FF0000"/>
                </a:solidFill>
              </a:rPr>
              <a:t>Writer</a:t>
            </a:r>
            <a:endParaRPr lang="en-GB" altLang="zh-CN" sz="1800" dirty="0">
              <a:solidFill>
                <a:srgbClr val="FF0000"/>
              </a:solidFill>
            </a:endParaRPr>
          </a:p>
        </p:txBody>
      </p:sp>
      <p:sp>
        <p:nvSpPr>
          <p:cNvPr id="32773" name="圆角矩形 18"/>
          <p:cNvSpPr>
            <a:spLocks noChangeArrowheads="1"/>
          </p:cNvSpPr>
          <p:nvPr/>
        </p:nvSpPr>
        <p:spPr bwMode="auto">
          <a:xfrm>
            <a:off x="6477001" y="4038600"/>
            <a:ext cx="5592232"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1 </a:t>
            </a:r>
            <a:r>
              <a:rPr lang="en-GB" altLang="en-US" sz="1800"/>
              <a:t>: handles inbound connections</a:t>
            </a:r>
            <a:endParaRPr lang="en-GB" altLang="en-US" sz="1800"/>
          </a:p>
        </p:txBody>
      </p:sp>
      <p:sp>
        <p:nvSpPr>
          <p:cNvPr id="32774" name="圆角矩形 19"/>
          <p:cNvSpPr>
            <a:spLocks noChangeArrowheads="1"/>
          </p:cNvSpPr>
          <p:nvPr/>
        </p:nvSpPr>
        <p:spPr bwMode="auto">
          <a:xfrm>
            <a:off x="6477000" y="4851399"/>
            <a:ext cx="5600699"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Connection thread </a:t>
            </a:r>
            <a:r>
              <a:rPr lang="en-GB" altLang="zh-CN" sz="1800"/>
              <a:t>2 </a:t>
            </a:r>
            <a:r>
              <a:rPr lang="en-GB" altLang="en-US" sz="1800"/>
              <a:t>: handles inbound connections</a:t>
            </a:r>
            <a:endParaRPr lang="en-GB" altLang="en-US" sz="1800"/>
          </a:p>
        </p:txBody>
      </p:sp>
      <p:cxnSp>
        <p:nvCxnSpPr>
          <p:cNvPr id="32775" name="直接箭头连接符 20"/>
          <p:cNvCxnSpPr>
            <a:cxnSpLocks noChangeShapeType="1"/>
          </p:cNvCxnSpPr>
          <p:nvPr/>
        </p:nvCxnSpPr>
        <p:spPr bwMode="auto">
          <a:xfrm flipH="1">
            <a:off x="5761038" y="4381500"/>
            <a:ext cx="1020762" cy="76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76" name="直接箭头连接符 21"/>
          <p:cNvCxnSpPr>
            <a:cxnSpLocks noChangeShapeType="1"/>
          </p:cNvCxnSpPr>
          <p:nvPr/>
        </p:nvCxnSpPr>
        <p:spPr bwMode="auto">
          <a:xfrm flipH="1" flipV="1">
            <a:off x="5761038" y="4838700"/>
            <a:ext cx="1020762" cy="4572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7" name="圆角矩形 22"/>
          <p:cNvSpPr>
            <a:spLocks noChangeArrowheads="1"/>
          </p:cNvSpPr>
          <p:nvPr/>
        </p:nvSpPr>
        <p:spPr bwMode="auto">
          <a:xfrm>
            <a:off x="228600" y="4160838"/>
            <a:ext cx="3276600"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3 </a:t>
            </a:r>
            <a:r>
              <a:rPr lang="en-GB" altLang="en-US" sz="1800" dirty="0"/>
              <a:t>: handles inbound connections</a:t>
            </a:r>
            <a:endParaRPr lang="en-GB" altLang="en-US" sz="1800" dirty="0"/>
          </a:p>
        </p:txBody>
      </p:sp>
      <p:cxnSp>
        <p:nvCxnSpPr>
          <p:cNvPr id="32778" name="直接箭头连接符 23"/>
          <p:cNvCxnSpPr>
            <a:cxnSpLocks noChangeShapeType="1"/>
          </p:cNvCxnSpPr>
          <p:nvPr/>
        </p:nvCxnSpPr>
        <p:spPr bwMode="auto">
          <a:xfrm>
            <a:off x="3505200" y="4503738"/>
            <a:ext cx="9906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9" name="圆角矩形 24"/>
          <p:cNvSpPr>
            <a:spLocks noChangeArrowheads="1"/>
          </p:cNvSpPr>
          <p:nvPr/>
        </p:nvSpPr>
        <p:spPr bwMode="auto">
          <a:xfrm>
            <a:off x="228600" y="5177631"/>
            <a:ext cx="3446463" cy="6858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Connection thread </a:t>
            </a:r>
            <a:r>
              <a:rPr lang="en-GB" altLang="zh-CN" sz="1800" dirty="0"/>
              <a:t>4 </a:t>
            </a:r>
            <a:r>
              <a:rPr lang="en-GB" altLang="en-US" sz="1800" dirty="0"/>
              <a:t>: handles inbound connections</a:t>
            </a:r>
            <a:endParaRPr lang="en-GB" altLang="en-US" sz="1800" dirty="0"/>
          </a:p>
        </p:txBody>
      </p:sp>
      <p:cxnSp>
        <p:nvCxnSpPr>
          <p:cNvPr id="32780" name="直接箭头连接符 25"/>
          <p:cNvCxnSpPr>
            <a:cxnSpLocks noChangeShapeType="1"/>
          </p:cNvCxnSpPr>
          <p:nvPr/>
        </p:nvCxnSpPr>
        <p:spPr bwMode="auto">
          <a:xfrm flipV="1">
            <a:off x="3675064" y="4953000"/>
            <a:ext cx="820737" cy="57150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81" name="TextBox 3"/>
          <p:cNvSpPr txBox="1">
            <a:spLocks noChangeArrowheads="1"/>
          </p:cNvSpPr>
          <p:nvPr/>
        </p:nvSpPr>
        <p:spPr bwMode="auto">
          <a:xfrm>
            <a:off x="122768" y="6014133"/>
            <a:ext cx="119549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b="1" dirty="0">
                <a:solidFill>
                  <a:srgbClr val="FF0000"/>
                </a:solidFill>
              </a:rPr>
              <a:t>Problems caused: </a:t>
            </a:r>
            <a:r>
              <a:rPr lang="en-GB" altLang="en-US" sz="1800" b="1" dirty="0"/>
              <a:t>The goal is to avoid </a:t>
            </a:r>
            <a:r>
              <a:rPr lang="en-GB" altLang="zh-CN" sz="1800" b="1" dirty="0"/>
              <a:t>4 </a:t>
            </a:r>
            <a:r>
              <a:rPr lang="en-GB" altLang="en-US" sz="1800" b="1" dirty="0"/>
              <a:t>threads writing to the log file using the </a:t>
            </a:r>
            <a:r>
              <a:rPr lang="en-GB" altLang="zh-CN" sz="1800" b="1" dirty="0"/>
              <a:t>out </a:t>
            </a:r>
            <a:r>
              <a:rPr lang="en-GB" altLang="en-US" sz="1800" b="1" dirty="0"/>
              <a:t>object at the same time, but if other classes have references to </a:t>
            </a:r>
            <a:r>
              <a:rPr lang="en-GB" altLang="zh-CN" sz="1800" b="1" dirty="0"/>
              <a:t>out </a:t>
            </a:r>
            <a:r>
              <a:rPr lang="en-GB" altLang="en-US" sz="1800" b="1" dirty="0"/>
              <a:t>that are completely unrelated to </a:t>
            </a:r>
            <a:r>
              <a:rPr lang="en-GB" altLang="zh-CN" sz="1800" b="1" dirty="0"/>
              <a:t>LogFile </a:t>
            </a:r>
            <a:r>
              <a:rPr lang="en-GB" altLang="en-US" sz="1800" b="1" dirty="0"/>
              <a:t>, these writes will fail.</a:t>
            </a:r>
            <a:endParaRPr lang="en-GB" altLang="en-US" sz="18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228600" y="152400"/>
            <a:ext cx="11734800" cy="990600"/>
          </a:xfrm>
        </p:spPr>
        <p:txBody>
          <a:bodyPr/>
          <a:lstStyle/>
          <a:p>
            <a:pPr algn="l"/>
            <a:r>
              <a:rPr lang="en-GB" altLang="en-US" sz="3200" dirty="0"/>
              <a:t>Replacement technology for synchronous programming technology</a:t>
            </a:r>
            <a:endParaRPr lang="en-GB" altLang="en-US" sz="3200" dirty="0"/>
          </a:p>
        </p:txBody>
      </p:sp>
      <p:sp>
        <p:nvSpPr>
          <p:cNvPr id="33795" name="内容占位符 2"/>
          <p:cNvSpPr>
            <a:spLocks noGrp="1"/>
          </p:cNvSpPr>
          <p:nvPr>
            <p:ph idx="1"/>
          </p:nvPr>
        </p:nvSpPr>
        <p:spPr>
          <a:xfrm>
            <a:off x="194733" y="1600200"/>
            <a:ext cx="117348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Using synchronous programming techniques to solve inconsistency problems that may be caused by thread scheduling will introduce new problems, called synchronization problems.</a:t>
            </a:r>
            <a:endParaRPr lang="en-US" altLang="zh-CN" sz="2800" dirty="0"/>
          </a:p>
          <a:p>
            <a:pPr>
              <a:buFont typeface="Wingdings" panose="05000000000000000000" pitchFamily="2" charset="2"/>
              <a:buChar char="Ø"/>
            </a:pPr>
            <a:r>
              <a:rPr lang="en-GB" altLang="en-US" sz="2800" dirty="0"/>
              <a:t>Think about it: What are some alternative programming techniques that can solve the inconsistency problems that may be caused by multi-threaded resource sharing, and avoid synchronization problems caused by the use of synchronization?</a:t>
            </a:r>
            <a:endParaRPr lang="en-US" altLang="zh-CN" sz="2800" dirty="0"/>
          </a:p>
          <a:p>
            <a:pPr>
              <a:buFont typeface="Wingdings" panose="05000000000000000000" pitchFamily="2" charset="2"/>
              <a:buChar char="Ø"/>
            </a:pPr>
            <a:r>
              <a:rPr lang="en-GB" altLang="en-US" sz="2400" dirty="0"/>
              <a:t>Method </a:t>
            </a:r>
            <a:r>
              <a:rPr lang="en-GB" altLang="zh-CN" sz="2400" dirty="0"/>
              <a:t>1 </a:t>
            </a:r>
            <a:r>
              <a:rPr lang="en-GB" altLang="en-US" sz="2400" dirty="0"/>
              <a:t>: Try to use local variables instead of fields</a:t>
            </a:r>
            <a:endParaRPr lang="en-US" altLang="zh-CN" sz="2400" dirty="0"/>
          </a:p>
          <a:p>
            <a:pPr>
              <a:buFont typeface="Wingdings" panose="05000000000000000000" pitchFamily="2" charset="2"/>
              <a:buChar char="Ø"/>
            </a:pPr>
            <a:r>
              <a:rPr lang="en-GB" altLang="en-US" sz="2400" dirty="0"/>
              <a:t>Method </a:t>
            </a:r>
            <a:r>
              <a:rPr lang="en-GB" altLang="zh-CN" sz="2400" dirty="0"/>
              <a:t>2 </a:t>
            </a:r>
            <a:r>
              <a:rPr lang="en-GB" altLang="en-US" sz="2400" dirty="0"/>
              <a:t>: Basic type method parameters, constructors are usually thread-safe</a:t>
            </a:r>
            <a:endParaRPr lang="en-US" altLang="zh-CN" sz="2400" dirty="0"/>
          </a:p>
          <a:p>
            <a:pPr>
              <a:buFont typeface="Wingdings" panose="05000000000000000000" pitchFamily="2" charset="2"/>
              <a:buChar char="Ø"/>
            </a:pPr>
            <a:r>
              <a:rPr lang="en-GB" altLang="en-US" sz="2400" dirty="0"/>
              <a:t>Method </a:t>
            </a:r>
            <a:r>
              <a:rPr lang="en-GB" altLang="zh-CN" sz="2400" dirty="0"/>
              <a:t>3 </a:t>
            </a:r>
            <a:r>
              <a:rPr lang="en-GB" altLang="en-US" sz="2400" dirty="0"/>
              <a:t>: Use a non-thread-safe class as a private field of a thread-safe class.</a:t>
            </a:r>
            <a:endParaRPr lang="en-US" altLang="zh-CN" sz="2400" dirty="0"/>
          </a:p>
          <a:p>
            <a:pPr>
              <a:buFont typeface="Wingdings" panose="05000000000000000000" pitchFamily="2" charset="2"/>
              <a:buChar char="Ø"/>
            </a:pPr>
            <a:endParaRPr lang="en-US" altLang="zh-CN" sz="2800" dirty="0"/>
          </a:p>
          <a:p>
            <a:pPr>
              <a:buFont typeface="Wingdings" panose="05000000000000000000" pitchFamily="2" charset="2"/>
              <a:buChar char="Ø"/>
            </a:pPr>
            <a:endParaRPr lang="en-US" altLang="zh-CN"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600200" y="304800"/>
            <a:ext cx="8229600" cy="431800"/>
          </a:xfrm>
        </p:spPr>
        <p:txBody>
          <a:bodyPr/>
          <a:lstStyle/>
          <a:p>
            <a:r>
              <a:rPr lang="en-GB" altLang="en-US" sz="3200" dirty="0"/>
              <a:t>Thread Scheduling</a:t>
            </a:r>
            <a:endParaRPr lang="en-GB" altLang="en-US" sz="3200" dirty="0"/>
          </a:p>
        </p:txBody>
      </p:sp>
      <p:sp>
        <p:nvSpPr>
          <p:cNvPr id="34819" name="内容占位符 2"/>
          <p:cNvSpPr>
            <a:spLocks noGrp="1"/>
          </p:cNvSpPr>
          <p:nvPr>
            <p:ph idx="1"/>
          </p:nvPr>
        </p:nvSpPr>
        <p:spPr>
          <a:xfrm>
            <a:off x="457200" y="1066800"/>
            <a:ext cx="11430000" cy="40925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Multithreaded programs need to consider thread scheduling issues</a:t>
            </a:r>
            <a:endParaRPr lang="en-US" altLang="zh-CN" sz="2800" dirty="0"/>
          </a:p>
          <a:p>
            <a:pPr>
              <a:buFont typeface="Wingdings" panose="05000000000000000000" pitchFamily="2" charset="2"/>
              <a:buChar char="Ø"/>
            </a:pPr>
            <a:r>
              <a:rPr lang="en-GB" altLang="en-US" sz="2400" dirty="0"/>
              <a:t>Important threads get </a:t>
            </a:r>
            <a:r>
              <a:rPr lang="en-GB" altLang="zh-CN" sz="2400" dirty="0"/>
              <a:t>CPU </a:t>
            </a:r>
            <a:r>
              <a:rPr lang="en-GB" altLang="en-US" sz="2400" dirty="0"/>
              <a:t>time to run, more important threads get more time </a:t>
            </a:r>
            <a:r>
              <a:rPr lang="en-GB" altLang="zh-CN" sz="2400" dirty="0"/>
              <a:t>, and </a:t>
            </a:r>
            <a:r>
              <a:rPr lang="en-GB" altLang="en-US" sz="2400" dirty="0"/>
              <a:t>can now execute in a reasonable order</a:t>
            </a:r>
            <a:endParaRPr lang="en-US" altLang="zh-CN" sz="2400" dirty="0"/>
          </a:p>
          <a:p>
            <a:pPr>
              <a:buFont typeface="Wingdings" panose="05000000000000000000" pitchFamily="2" charset="2"/>
              <a:buChar char="Ø"/>
            </a:pPr>
            <a:endParaRPr lang="en-US" altLang="zh-CN" sz="2400" b="1" dirty="0"/>
          </a:p>
          <a:p>
            <a:pPr>
              <a:buFont typeface="Wingdings" panose="05000000000000000000" pitchFamily="2" charset="2"/>
              <a:buChar char="Ø"/>
            </a:pPr>
            <a:r>
              <a:rPr lang="en-GB" altLang="en-US" sz="2400" b="1" dirty="0"/>
              <a:t>Priority </a:t>
            </a:r>
            <a:r>
              <a:rPr lang="en-GB" altLang="en-US" sz="2400" dirty="0"/>
              <a:t>: In </a:t>
            </a:r>
            <a:r>
              <a:rPr lang="en-GB" altLang="zh-CN" sz="2400" dirty="0"/>
              <a:t>Java </a:t>
            </a:r>
            <a:r>
              <a:rPr lang="en-GB" altLang="en-US" sz="2400" dirty="0"/>
              <a:t>, each thread has a priority, specified as an integer from </a:t>
            </a:r>
            <a:r>
              <a:rPr lang="en-GB" altLang="zh-CN" sz="2400" dirty="0"/>
              <a:t>0 to 10. The </a:t>
            </a:r>
            <a:r>
              <a:rPr lang="en-GB" altLang="en-US" sz="2400" dirty="0"/>
              <a:t>virtual machine schedules the execution of threads with higher priority first </a:t>
            </a:r>
            <a:r>
              <a:rPr lang="en-GB" altLang="zh-CN" sz="2400" dirty="0"/>
              <a:t>.</a:t>
            </a:r>
            <a:r>
              <a:rPr lang="en-GB" altLang="en-US" sz="2400" dirty="0"/>
              <a:t> </a:t>
            </a:r>
            <a:r>
              <a:rPr lang="en-GB" altLang="zh-CN" sz="2400" dirty="0"/>
              <a:t>10 </a:t>
            </a:r>
            <a:r>
              <a:rPr lang="en-GB" altLang="en-US" sz="2400" dirty="0"/>
              <a:t>is the highest priority, </a:t>
            </a:r>
            <a:r>
              <a:rPr lang="en-GB" altLang="zh-CN" sz="2400" dirty="0"/>
              <a:t>0 </a:t>
            </a:r>
            <a:r>
              <a:rPr lang="en-GB" altLang="en-US" sz="2400" dirty="0"/>
              <a:t>is the lowest, and the default priority is </a:t>
            </a:r>
            <a:r>
              <a:rPr lang="en-GB" altLang="zh-CN" sz="2400" dirty="0"/>
              <a:t>5. </a:t>
            </a:r>
            <a:r>
              <a:rPr lang="en-GB" altLang="en-US" sz="2400" dirty="0"/>
              <a:t>Usually, the threads in our program are all at the default priority </a:t>
            </a:r>
            <a:r>
              <a:rPr lang="en-GB" altLang="zh-CN" sz="2400" dirty="0"/>
              <a:t>.</a:t>
            </a:r>
            <a:endParaRPr lang="en-GB" altLang="zh-CN" sz="2400" dirty="0"/>
          </a:p>
          <a:p>
            <a:pPr>
              <a:buFont typeface="Wingdings" panose="05000000000000000000" pitchFamily="2" charset="2"/>
              <a:buChar char="Ø"/>
            </a:pPr>
            <a:r>
              <a:rPr lang="en-GB" altLang="zh-CN" sz="2000" dirty="0"/>
              <a:t>Thread.MIN_PRIORITY = 1 </a:t>
            </a:r>
            <a:r>
              <a:rPr lang="en-GB" altLang="en-US" sz="2000" dirty="0"/>
              <a:t>, </a:t>
            </a:r>
            <a:r>
              <a:rPr lang="en-GB" altLang="zh-CN" sz="2000" dirty="0"/>
              <a:t>Thread.NORM_PRIORITY = 5, Thread.MAX_PRIORITY = 10</a:t>
            </a:r>
            <a:endParaRPr lang="en-GB" altLang="zh-CN"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a:xfrm>
            <a:off x="1676400" y="304800"/>
            <a:ext cx="8229600" cy="431800"/>
          </a:xfrm>
        </p:spPr>
        <p:txBody>
          <a:bodyPr/>
          <a:lstStyle/>
          <a:p>
            <a:r>
              <a:rPr lang="en-GB" altLang="en-US" sz="3200" dirty="0"/>
              <a:t>Thread Scheduling</a:t>
            </a:r>
            <a:endParaRPr lang="en-GB" altLang="en-US" sz="3200" dirty="0"/>
          </a:p>
        </p:txBody>
      </p:sp>
      <p:sp>
        <p:nvSpPr>
          <p:cNvPr id="35843" name="内容占位符 2"/>
          <p:cNvSpPr>
            <a:spLocks noGrp="1"/>
          </p:cNvSpPr>
          <p:nvPr>
            <p:ph idx="1"/>
          </p:nvPr>
        </p:nvSpPr>
        <p:spPr>
          <a:xfrm>
            <a:off x="152400" y="990600"/>
            <a:ext cx="11658600" cy="52355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400" b="1" dirty="0"/>
              <a:t>Thread Scheduler </a:t>
            </a:r>
            <a:r>
              <a:rPr lang="en-GB" altLang="zh-CN" sz="2400" dirty="0"/>
              <a:t>: </a:t>
            </a:r>
            <a:r>
              <a:rPr lang="en-GB" altLang="en-US" sz="2400" dirty="0"/>
              <a:t>Each virtual machine has a thread scheduler that determines which thread is running at a given time.</a:t>
            </a:r>
            <a:endParaRPr lang="en-US" altLang="zh-CN" sz="2400" dirty="0"/>
          </a:p>
          <a:p>
            <a:pPr>
              <a:buFont typeface="Wingdings" panose="05000000000000000000" pitchFamily="2" charset="2"/>
              <a:buChar char="Ø"/>
            </a:pPr>
            <a:r>
              <a:rPr lang="en-GB" altLang="en-US" sz="2400" dirty="0"/>
              <a:t>Thread scheduling methods </a:t>
            </a:r>
            <a:r>
              <a:rPr lang="en-GB" altLang="zh-CN" sz="2400" dirty="0"/>
              <a:t>: </a:t>
            </a:r>
            <a:r>
              <a:rPr lang="en-GB" altLang="en-US" sz="2400" dirty="0">
                <a:solidFill>
                  <a:srgbClr val="FF0000"/>
                </a:solidFill>
              </a:rPr>
              <a:t>preemptive </a:t>
            </a:r>
            <a:r>
              <a:rPr lang="en-GB" altLang="en-US" sz="2400" dirty="0"/>
              <a:t>and </a:t>
            </a:r>
            <a:r>
              <a:rPr lang="en-GB" altLang="en-US" sz="2400" dirty="0">
                <a:solidFill>
                  <a:srgbClr val="FF0000"/>
                </a:solidFill>
              </a:rPr>
              <a:t>cooperative</a:t>
            </a:r>
            <a:endParaRPr lang="en-US" altLang="zh-CN" sz="2400" dirty="0">
              <a:solidFill>
                <a:srgbClr val="FF0000"/>
              </a:solidFill>
            </a:endParaRPr>
          </a:p>
          <a:p>
            <a:pPr>
              <a:buFont typeface="Wingdings" panose="05000000000000000000" pitchFamily="2" charset="2"/>
              <a:buChar char="Ø"/>
            </a:pPr>
            <a:r>
              <a:rPr lang="en-GB" altLang="en-US" sz="2400" b="1" dirty="0"/>
              <a:t>The preemptive thread scheduler </a:t>
            </a:r>
            <a:r>
              <a:rPr lang="en-GB" altLang="en-US" sz="2400" dirty="0"/>
              <a:t>periodically interrupts the currently executing thread and transfers </a:t>
            </a:r>
            <a:r>
              <a:rPr lang="en-GB" altLang="zh-CN" sz="2400" dirty="0"/>
              <a:t>CPU </a:t>
            </a:r>
            <a:r>
              <a:rPr lang="en-GB" altLang="en-US" sz="2400" dirty="0"/>
              <a:t>control to another thread.</a:t>
            </a:r>
            <a:endParaRPr lang="en-US" altLang="zh-CN" sz="2400" dirty="0"/>
          </a:p>
          <a:p>
            <a:pPr>
              <a:buFont typeface="Wingdings" panose="05000000000000000000" pitchFamily="2" charset="2"/>
              <a:buChar char="Ø"/>
            </a:pPr>
            <a:r>
              <a:rPr lang="en-GB" altLang="en-US" sz="2400" b="1" dirty="0"/>
              <a:t>A cooperative thread scheduler </a:t>
            </a:r>
            <a:r>
              <a:rPr lang="en-GB" altLang="en-US" sz="2400" dirty="0"/>
              <a:t>waits for the currently running thread to pause itself before handing control of the CPU to another </a:t>
            </a:r>
            <a:endParaRPr lang="en-US" altLang="zh-CN" sz="2400" dirty="0"/>
          </a:p>
          <a:p>
            <a:pPr>
              <a:buFont typeface="Wingdings" panose="05000000000000000000" pitchFamily="2" charset="2"/>
              <a:buChar char="Ø"/>
            </a:pPr>
            <a:r>
              <a:rPr lang="en-GB" altLang="en-US" sz="2400" dirty="0"/>
              <a:t>When writing a </a:t>
            </a:r>
            <a:r>
              <a:rPr lang="en-GB" altLang="zh-CN" sz="2400" dirty="0"/>
              <a:t>Java </a:t>
            </a:r>
            <a:r>
              <a:rPr lang="en-GB" altLang="en-US" sz="2400" dirty="0"/>
              <a:t>thread program to implement </a:t>
            </a:r>
            <a:r>
              <a:rPr lang="en-GB" altLang="zh-CN" sz="2400" dirty="0"/>
              <a:t>the run </a:t>
            </a:r>
            <a:r>
              <a:rPr lang="en-GB" altLang="en-US" sz="2400" dirty="0"/>
              <a:t>() method, make sure that the thread has conditions that allow it to be suspended </a:t>
            </a:r>
            <a:r>
              <a:rPr lang="en-GB" altLang="zh-CN" sz="2400" dirty="0"/>
              <a:t>so </a:t>
            </a:r>
            <a:r>
              <a:rPr lang="en-GB" altLang="en-US" sz="2400" dirty="0"/>
              <a:t>that other threads have a chance to run.</a:t>
            </a:r>
            <a:endParaRPr lang="en-US" altLang="zh-CN" sz="2400" dirty="0"/>
          </a:p>
          <a:p>
            <a:pPr>
              <a:buFont typeface="Wingdings" panose="05000000000000000000" pitchFamily="2" charset="2"/>
              <a:buChar char="Ø"/>
            </a:pPr>
            <a:r>
              <a:rPr lang="en-GB" altLang="en-US" sz="2400" dirty="0"/>
              <a:t>There are several ways to pause a thread </a:t>
            </a:r>
            <a:r>
              <a:rPr lang="en-GB" altLang="zh-CN" sz="2400" dirty="0"/>
              <a:t>:</a:t>
            </a:r>
            <a:endParaRPr lang="en-GB" altLang="zh-CN" sz="2400" dirty="0"/>
          </a:p>
          <a:p>
            <a:pPr>
              <a:buFont typeface="Wingdings" panose="05000000000000000000" pitchFamily="2" charset="2"/>
              <a:buChar char="Ø"/>
            </a:pPr>
            <a:r>
              <a:rPr lang="en-GB" altLang="en-US" sz="2000" dirty="0"/>
              <a:t>on </a:t>
            </a:r>
            <a:r>
              <a:rPr lang="en-GB" altLang="zh-CN" sz="2000" dirty="0"/>
              <a:t>I/O </a:t>
            </a:r>
            <a:r>
              <a:rPr lang="en-GB" altLang="en-US" sz="2000" dirty="0"/>
              <a:t>, block on synchronization object, give up, sleep, connect to another thread, wait for an object, end, can be preempted by a higher priority thread, etc.</a:t>
            </a:r>
            <a:endParaRPr lang="en-US" altLang="zh-CN" sz="2000" dirty="0"/>
          </a:p>
          <a:p>
            <a:pPr>
              <a:buFont typeface="Wingdings" panose="05000000000000000000" pitchFamily="2" charset="2"/>
              <a:buChar char="Ø"/>
            </a:pPr>
            <a:endParaRPr lang="en-US" altLang="zh-CN"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1752600" y="457200"/>
            <a:ext cx="8229600" cy="431800"/>
          </a:xfrm>
        </p:spPr>
        <p:txBody>
          <a:bodyPr/>
          <a:lstStyle/>
          <a:p>
            <a:pPr algn="l"/>
            <a:r>
              <a:rPr lang="en-GB" altLang="en-US" sz="3200"/>
              <a:t>Questions to think about</a:t>
            </a:r>
            <a:endParaRPr lang="en-GB" altLang="en-US" sz="3200"/>
          </a:p>
        </p:txBody>
      </p:sp>
      <p:sp>
        <p:nvSpPr>
          <p:cNvPr id="36867" name="内容占位符 2"/>
          <p:cNvSpPr>
            <a:spLocks noGrp="1"/>
          </p:cNvSpPr>
          <p:nvPr>
            <p:ph idx="1"/>
          </p:nvPr>
        </p:nvSpPr>
        <p:spPr>
          <a:xfrm>
            <a:off x="1712913" y="1293814"/>
            <a:ext cx="8229600" cy="12969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zh-CN" sz="2800"/>
              <a:t>1. </a:t>
            </a:r>
            <a:r>
              <a:rPr lang="en-GB" altLang="en-US" sz="2800"/>
              <a:t>What is thread deadlock problem</a:t>
            </a:r>
            <a:endParaRPr lang="en-US" altLang="zh-CN" sz="2800"/>
          </a:p>
          <a:p>
            <a:pPr>
              <a:buFont typeface="Wingdings" panose="05000000000000000000" pitchFamily="2" charset="2"/>
              <a:buChar char="Ø"/>
            </a:pPr>
            <a:r>
              <a:rPr lang="en-GB" altLang="zh-CN" sz="2800"/>
              <a:t>2. </a:t>
            </a:r>
            <a:r>
              <a:rPr lang="en-GB" altLang="en-US" sz="2800"/>
              <a:t>What is thread starvation problem</a:t>
            </a:r>
            <a:endParaRPr lang="en-US" altLang="zh-CN" sz="2800"/>
          </a:p>
          <a:p>
            <a:pPr>
              <a:buFont typeface="Wingdings" panose="05000000000000000000" pitchFamily="2" charset="2"/>
              <a:buChar char="Ø"/>
            </a:pPr>
            <a:endParaRPr lang="en-US" altLang="zh-CN" sz="2800"/>
          </a:p>
        </p:txBody>
      </p:sp>
      <p:sp>
        <p:nvSpPr>
          <p:cNvPr id="2" name="文本框 1"/>
          <p:cNvSpPr txBox="1">
            <a:spLocks noChangeArrowheads="1"/>
          </p:cNvSpPr>
          <p:nvPr/>
        </p:nvSpPr>
        <p:spPr bwMode="auto">
          <a:xfrm>
            <a:off x="2209800" y="2590801"/>
            <a:ext cx="8458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deadlock: Deadlock occurs when two threads need exclusive access to the same set of resources, but each thread has locks on a different subset of these resources.</a:t>
            </a:r>
            <a:endParaRPr lang="en-GB" altLang="en-US" sz="2000"/>
          </a:p>
        </p:txBody>
      </p:sp>
      <p:sp>
        <p:nvSpPr>
          <p:cNvPr id="5" name="文本框 4"/>
          <p:cNvSpPr txBox="1">
            <a:spLocks noChangeArrowheads="1"/>
          </p:cNvSpPr>
          <p:nvPr/>
        </p:nvSpPr>
        <p:spPr bwMode="auto">
          <a:xfrm>
            <a:off x="2195513" y="3563939"/>
            <a:ext cx="6781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starvation: When thread scheduling is running, some threads cannot get </a:t>
            </a:r>
            <a:r>
              <a:rPr lang="en-GB" altLang="zh-CN" sz="2000"/>
              <a:t>CPU </a:t>
            </a:r>
            <a:r>
              <a:rPr lang="en-GB" altLang="en-US" sz="2000"/>
              <a:t>time slices and are always in a waiting state, unable to run tasks.</a:t>
            </a:r>
            <a:endParaRPr lang="en-GB" alt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1668463" y="152400"/>
            <a:ext cx="8229600" cy="431800"/>
          </a:xfrm>
        </p:spPr>
        <p:txBody>
          <a:bodyPr/>
          <a:lstStyle/>
          <a:p>
            <a:pPr algn="l"/>
            <a:r>
              <a:rPr lang="en-GB" altLang="en-US" sz="3200"/>
              <a:t>Programming problem scenario: </a:t>
            </a:r>
            <a:r>
              <a:rPr lang="en-GB" altLang="en-US" sz="2400"/>
              <a:t>Calculate and display the summary of multiple file security algorithms</a:t>
            </a:r>
            <a:endParaRPr lang="en-GB" altLang="en-US" sz="2400"/>
          </a:p>
        </p:txBody>
      </p:sp>
      <p:sp>
        <p:nvSpPr>
          <p:cNvPr id="37891" name="圆角矩形 3"/>
          <p:cNvSpPr>
            <a:spLocks noChangeArrowheads="1"/>
          </p:cNvSpPr>
          <p:nvPr/>
        </p:nvSpPr>
        <p:spPr bwMode="auto">
          <a:xfrm>
            <a:off x="381000" y="2116667"/>
            <a:ext cx="2257425" cy="1524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a:t>Main </a:t>
            </a:r>
            <a:r>
              <a:rPr lang="en-GB" altLang="en-US" sz="2000"/>
              <a:t>thread: File security algorithm summary display</a:t>
            </a:r>
            <a:endParaRPr lang="en-GB" altLang="en-US" sz="2000"/>
          </a:p>
        </p:txBody>
      </p:sp>
      <p:sp>
        <p:nvSpPr>
          <p:cNvPr id="37892" name="圆角矩形 6"/>
          <p:cNvSpPr>
            <a:spLocks noChangeArrowheads="1"/>
          </p:cNvSpPr>
          <p:nvPr/>
        </p:nvSpPr>
        <p:spPr bwMode="auto">
          <a:xfrm>
            <a:off x="5714999" y="838200"/>
            <a:ext cx="4183063"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a:t>
            </a:r>
            <a:r>
              <a:rPr lang="en-GB" altLang="zh-CN" sz="2000"/>
              <a:t>1 </a:t>
            </a:r>
            <a:r>
              <a:rPr lang="en-GB" altLang="en-US" sz="2000"/>
              <a:t>: File security algorithm summary generation thread</a:t>
            </a:r>
            <a:endParaRPr lang="en-US" altLang="zh-CN" sz="2000"/>
          </a:p>
          <a:p>
            <a:pPr>
              <a:spcBef>
                <a:spcPct val="0"/>
              </a:spcBef>
              <a:buClrTx/>
              <a:buSzTx/>
              <a:buFontTx/>
              <a:buNone/>
            </a:pPr>
            <a:r>
              <a:rPr lang="en-GB" altLang="zh-CN" sz="2000"/>
              <a:t>ReturnDigest</a:t>
            </a:r>
            <a:endParaRPr lang="zh-CN" altLang="en-US" sz="2000"/>
          </a:p>
        </p:txBody>
      </p:sp>
      <p:sp>
        <p:nvSpPr>
          <p:cNvPr id="37893" name="圆角矩形 7"/>
          <p:cNvSpPr>
            <a:spLocks noChangeArrowheads="1"/>
          </p:cNvSpPr>
          <p:nvPr/>
        </p:nvSpPr>
        <p:spPr bwMode="auto">
          <a:xfrm>
            <a:off x="5783262" y="2438400"/>
            <a:ext cx="4351337"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t>Thread </a:t>
            </a:r>
            <a:r>
              <a:rPr lang="en-GB" altLang="zh-CN" sz="2000" dirty="0"/>
              <a:t>2 </a:t>
            </a:r>
            <a:r>
              <a:rPr lang="en-GB" altLang="en-US" sz="2000" dirty="0"/>
              <a:t>: File security algorithm summary generation thread</a:t>
            </a:r>
            <a:endParaRPr lang="en-US" altLang="zh-CN" sz="2000" dirty="0"/>
          </a:p>
          <a:p>
            <a:pPr>
              <a:spcBef>
                <a:spcPct val="0"/>
              </a:spcBef>
              <a:buClrTx/>
              <a:buSzTx/>
              <a:buFontTx/>
              <a:buNone/>
            </a:pPr>
            <a:r>
              <a:rPr lang="en-GB" altLang="zh-CN" sz="2000" dirty="0"/>
              <a:t>ReturnDigest</a:t>
            </a:r>
            <a:endParaRPr lang="zh-CN" altLang="en-US" sz="2000" dirty="0"/>
          </a:p>
        </p:txBody>
      </p:sp>
      <p:sp>
        <p:nvSpPr>
          <p:cNvPr id="37894" name="TextBox 4"/>
          <p:cNvSpPr txBox="1">
            <a:spLocks noChangeArrowheads="1"/>
          </p:cNvSpPr>
          <p:nvPr/>
        </p:nvSpPr>
        <p:spPr bwMode="auto">
          <a:xfrm>
            <a:off x="6400800" y="3962401"/>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400" b="1">
                <a:solidFill>
                  <a:srgbClr val="FF0000"/>
                </a:solidFill>
              </a:rPr>
              <a:t>… …</a:t>
            </a:r>
            <a:endParaRPr lang="zh-CN" altLang="en-US" sz="2400" b="1">
              <a:solidFill>
                <a:srgbClr val="FF0000"/>
              </a:solidFill>
            </a:endParaRPr>
          </a:p>
        </p:txBody>
      </p:sp>
      <p:sp>
        <p:nvSpPr>
          <p:cNvPr id="37895" name="圆角矩形 9"/>
          <p:cNvSpPr>
            <a:spLocks noChangeArrowheads="1"/>
          </p:cNvSpPr>
          <p:nvPr/>
        </p:nvSpPr>
        <p:spPr bwMode="auto">
          <a:xfrm>
            <a:off x="5791200" y="4572000"/>
            <a:ext cx="4724400"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a:t>Thread </a:t>
            </a:r>
            <a:r>
              <a:rPr lang="en-GB" altLang="zh-CN" sz="2000"/>
              <a:t>n </a:t>
            </a:r>
            <a:r>
              <a:rPr lang="en-GB" altLang="en-US" sz="2000"/>
              <a:t>: File security algorithm digest generation thread</a:t>
            </a:r>
            <a:endParaRPr lang="en-US" altLang="zh-CN" sz="2000"/>
          </a:p>
          <a:p>
            <a:pPr>
              <a:spcBef>
                <a:spcPct val="0"/>
              </a:spcBef>
              <a:buClrTx/>
              <a:buSzTx/>
              <a:buFontTx/>
              <a:buNone/>
            </a:pPr>
            <a:r>
              <a:rPr lang="en-GB" altLang="zh-CN" sz="2000"/>
              <a:t>ReturnDigest</a:t>
            </a:r>
            <a:endParaRPr lang="zh-CN" altLang="en-US" sz="2000"/>
          </a:p>
        </p:txBody>
      </p:sp>
      <p:cxnSp>
        <p:nvCxnSpPr>
          <p:cNvPr id="37896" name="直接连接符 8"/>
          <p:cNvCxnSpPr>
            <a:cxnSpLocks noChangeShapeType="1"/>
            <a:stCxn id="37891" idx="3"/>
            <a:endCxn id="37892" idx="1"/>
          </p:cNvCxnSpPr>
          <p:nvPr/>
        </p:nvCxnSpPr>
        <p:spPr bwMode="auto">
          <a:xfrm flipV="1">
            <a:off x="2638425" y="1447800"/>
            <a:ext cx="3076574" cy="1430867"/>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97" name="TextBox 10"/>
          <p:cNvSpPr txBox="1">
            <a:spLocks noChangeArrowheads="1"/>
          </p:cNvSpPr>
          <p:nvPr/>
        </p:nvSpPr>
        <p:spPr bwMode="auto">
          <a:xfrm>
            <a:off x="4081858" y="1077913"/>
            <a:ext cx="1365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getDigest()</a:t>
            </a:r>
            <a:endParaRPr lang="zh-CN" altLang="en-US" sz="1800" dirty="0"/>
          </a:p>
        </p:txBody>
      </p:sp>
      <p:cxnSp>
        <p:nvCxnSpPr>
          <p:cNvPr id="37898" name="直接连接符 13"/>
          <p:cNvCxnSpPr>
            <a:cxnSpLocks noChangeShapeType="1"/>
          </p:cNvCxnSpPr>
          <p:nvPr/>
        </p:nvCxnSpPr>
        <p:spPr bwMode="auto">
          <a:xfrm>
            <a:off x="2731030" y="2878667"/>
            <a:ext cx="2983969" cy="1397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899" name="直接连接符 15"/>
          <p:cNvCxnSpPr>
            <a:cxnSpLocks noChangeShapeType="1"/>
          </p:cNvCxnSpPr>
          <p:nvPr/>
        </p:nvCxnSpPr>
        <p:spPr bwMode="auto">
          <a:xfrm>
            <a:off x="2662767" y="3026303"/>
            <a:ext cx="3144837" cy="2144978"/>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0" name="流程图: 多文档 16"/>
          <p:cNvSpPr>
            <a:spLocks noChangeArrowheads="1"/>
          </p:cNvSpPr>
          <p:nvPr/>
        </p:nvSpPr>
        <p:spPr bwMode="auto">
          <a:xfrm>
            <a:off x="10972800" y="2142067"/>
            <a:ext cx="762000" cy="1752600"/>
          </a:xfrm>
          <a:prstGeom prst="flowChartMulti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7901" name="直接连接符 19"/>
          <p:cNvCxnSpPr>
            <a:cxnSpLocks noChangeShapeType="1"/>
          </p:cNvCxnSpPr>
          <p:nvPr/>
        </p:nvCxnSpPr>
        <p:spPr bwMode="auto">
          <a:xfrm>
            <a:off x="9898062" y="1379537"/>
            <a:ext cx="1227138" cy="163883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02" name="直接连接符 21"/>
          <p:cNvCxnSpPr>
            <a:cxnSpLocks noChangeShapeType="1"/>
            <a:endCxn id="37900" idx="1"/>
          </p:cNvCxnSpPr>
          <p:nvPr/>
        </p:nvCxnSpPr>
        <p:spPr bwMode="auto">
          <a:xfrm flipV="1">
            <a:off x="10129835" y="3018367"/>
            <a:ext cx="842965" cy="6747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03" name="直接连接符 24"/>
          <p:cNvCxnSpPr>
            <a:cxnSpLocks noChangeShapeType="1"/>
            <a:endCxn id="37900" idx="1"/>
          </p:cNvCxnSpPr>
          <p:nvPr/>
        </p:nvCxnSpPr>
        <p:spPr bwMode="auto">
          <a:xfrm flipV="1">
            <a:off x="9362280" y="3018367"/>
            <a:ext cx="1610520" cy="149463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904" name="TextBox 28"/>
          <p:cNvSpPr txBox="1">
            <a:spLocks noChangeArrowheads="1"/>
          </p:cNvSpPr>
          <p:nvPr/>
        </p:nvSpPr>
        <p:spPr bwMode="auto">
          <a:xfrm>
            <a:off x="4048653" y="2470150"/>
            <a:ext cx="1363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getDigest()</a:t>
            </a:r>
            <a:endParaRPr lang="zh-CN" altLang="en-US" sz="1800"/>
          </a:p>
        </p:txBody>
      </p:sp>
      <p:sp>
        <p:nvSpPr>
          <p:cNvPr id="37905" name="TextBox 29"/>
          <p:cNvSpPr txBox="1">
            <a:spLocks noChangeArrowheads="1"/>
          </p:cNvSpPr>
          <p:nvPr/>
        </p:nvSpPr>
        <p:spPr bwMode="auto">
          <a:xfrm>
            <a:off x="3962400" y="4810917"/>
            <a:ext cx="1365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getDigest()</a:t>
            </a:r>
            <a:endParaRPr lang="zh-CN"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圆角矩形 3"/>
          <p:cNvSpPr>
            <a:spLocks noChangeArrowheads="1"/>
          </p:cNvSpPr>
          <p:nvPr/>
        </p:nvSpPr>
        <p:spPr bwMode="auto">
          <a:xfrm>
            <a:off x="4572000" y="838200"/>
            <a:ext cx="5943600" cy="5486400"/>
          </a:xfrm>
          <a:prstGeom prst="roundRect">
            <a:avLst>
              <a:gd name="adj" fmla="val 16667"/>
            </a:avLst>
          </a:prstGeom>
          <a:solidFill>
            <a:srgbClr val="92D05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38915" name="标题 1"/>
          <p:cNvSpPr>
            <a:spLocks noGrp="1"/>
          </p:cNvSpPr>
          <p:nvPr>
            <p:ph type="title"/>
          </p:nvPr>
        </p:nvSpPr>
        <p:spPr>
          <a:xfrm>
            <a:off x="228600" y="21780"/>
            <a:ext cx="11658600" cy="958772"/>
          </a:xfrm>
        </p:spPr>
        <p:txBody>
          <a:bodyPr/>
          <a:lstStyle/>
          <a:p>
            <a:pPr algn="l"/>
            <a:r>
              <a:rPr lang="en-GB" altLang="en-US" sz="3200" dirty="0"/>
              <a:t>Problem continued: Multithreaded programming using accessor methods</a:t>
            </a:r>
            <a:endParaRPr lang="en-GB" altLang="en-US" sz="3200" dirty="0"/>
          </a:p>
        </p:txBody>
      </p:sp>
      <p:grpSp>
        <p:nvGrpSpPr>
          <p:cNvPr id="38916" name="组合 5"/>
          <p:cNvGrpSpPr/>
          <p:nvPr/>
        </p:nvGrpSpPr>
        <p:grpSpPr bwMode="auto">
          <a:xfrm>
            <a:off x="7239000" y="1143000"/>
            <a:ext cx="3124200" cy="1295400"/>
            <a:chOff x="914400" y="3124200"/>
            <a:chExt cx="3124200" cy="1045481"/>
          </a:xfrm>
        </p:grpSpPr>
        <p:sp>
          <p:nvSpPr>
            <p:cNvPr id="38934" name="矩形 27"/>
            <p:cNvSpPr>
              <a:spLocks noChangeArrowheads="1"/>
            </p:cNvSpPr>
            <p:nvPr/>
          </p:nvSpPr>
          <p:spPr bwMode="auto">
            <a:xfrm>
              <a:off x="914400" y="3124200"/>
              <a:ext cx="3124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ReturnDigestUserInterface </a:t>
              </a:r>
              <a:r>
                <a:rPr lang="en-GB" altLang="en-US" sz="1800"/>
                <a:t>Class</a:t>
              </a:r>
              <a:endParaRPr lang="en-GB" altLang="en-US" sz="1800"/>
            </a:p>
          </p:txBody>
        </p:sp>
        <p:sp>
          <p:nvSpPr>
            <p:cNvPr id="38935" name="矩形 29"/>
            <p:cNvSpPr>
              <a:spLocks noChangeArrowheads="1"/>
            </p:cNvSpPr>
            <p:nvPr/>
          </p:nvSpPr>
          <p:spPr bwMode="auto">
            <a:xfrm>
              <a:off x="914400" y="3574595"/>
              <a:ext cx="3124200" cy="595086"/>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main( )</a:t>
              </a:r>
              <a:endParaRPr lang="zh-CN" altLang="en-US" sz="1800"/>
            </a:p>
          </p:txBody>
        </p:sp>
      </p:grpSp>
      <p:grpSp>
        <p:nvGrpSpPr>
          <p:cNvPr id="38917" name="组合 9"/>
          <p:cNvGrpSpPr/>
          <p:nvPr/>
        </p:nvGrpSpPr>
        <p:grpSpPr bwMode="auto">
          <a:xfrm>
            <a:off x="1600200" y="1098179"/>
            <a:ext cx="1905000" cy="973138"/>
            <a:chOff x="457200" y="1524000"/>
            <a:chExt cx="1219200" cy="751280"/>
          </a:xfrm>
        </p:grpSpPr>
        <p:sp>
          <p:nvSpPr>
            <p:cNvPr id="38932" name="矩形 2"/>
            <p:cNvSpPr>
              <a:spLocks noChangeArrowheads="1"/>
            </p:cNvSpPr>
            <p:nvPr/>
          </p:nvSpPr>
          <p:spPr bwMode="auto">
            <a:xfrm>
              <a:off x="457200" y="1524000"/>
              <a:ext cx="1219200" cy="29408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Thread </a:t>
              </a:r>
              <a:r>
                <a:rPr lang="en-GB" altLang="en-US" sz="1800"/>
                <a:t>Class</a:t>
              </a:r>
              <a:endParaRPr lang="en-GB" altLang="en-US" sz="1800"/>
            </a:p>
          </p:txBody>
        </p:sp>
        <p:sp>
          <p:nvSpPr>
            <p:cNvPr id="38933" name="矩形 6"/>
            <p:cNvSpPr>
              <a:spLocks noChangeArrowheads="1"/>
            </p:cNvSpPr>
            <p:nvPr/>
          </p:nvSpPr>
          <p:spPr bwMode="auto">
            <a:xfrm>
              <a:off x="457200" y="1818080"/>
              <a:ext cx="1219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start( )</a:t>
              </a:r>
              <a:endParaRPr lang="zh-CN" altLang="en-US" sz="1800"/>
            </a:p>
          </p:txBody>
        </p:sp>
      </p:grpSp>
      <p:grpSp>
        <p:nvGrpSpPr>
          <p:cNvPr id="38918" name="组合 12"/>
          <p:cNvGrpSpPr/>
          <p:nvPr/>
        </p:nvGrpSpPr>
        <p:grpSpPr bwMode="auto">
          <a:xfrm>
            <a:off x="1348316" y="2986534"/>
            <a:ext cx="2599267" cy="2196188"/>
            <a:chOff x="914400" y="3124200"/>
            <a:chExt cx="1905000" cy="1775134"/>
          </a:xfrm>
        </p:grpSpPr>
        <p:sp>
          <p:nvSpPr>
            <p:cNvPr id="38929"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 </a:t>
              </a:r>
              <a:r>
                <a:rPr lang="en-GB" altLang="en-US" sz="1800"/>
                <a:t>Class</a:t>
              </a:r>
              <a:endParaRPr lang="en-GB" altLang="en-US" sz="1800"/>
            </a:p>
          </p:txBody>
        </p:sp>
        <p:sp>
          <p:nvSpPr>
            <p:cNvPr id="38930" name="矩形 8"/>
            <p:cNvSpPr>
              <a:spLocks noChangeArrowheads="1"/>
            </p:cNvSpPr>
            <p:nvPr/>
          </p:nvSpPr>
          <p:spPr bwMode="auto">
            <a:xfrm>
              <a:off x="914400" y="3519714"/>
              <a:ext cx="1905000" cy="649288"/>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filename: String</a:t>
              </a:r>
              <a:endParaRPr lang="en-GB" altLang="zh-CN" sz="1800"/>
            </a:p>
            <a:p>
              <a:pPr>
                <a:spcBef>
                  <a:spcPct val="0"/>
                </a:spcBef>
                <a:buClrTx/>
                <a:buSzTx/>
                <a:buFontTx/>
                <a:buNone/>
              </a:pPr>
              <a:r>
                <a:rPr lang="en-GB" altLang="zh-CN" sz="1800"/>
                <a:t>digest: byte[]</a:t>
              </a:r>
              <a:endParaRPr lang="zh-CN" altLang="en-US" sz="1800"/>
            </a:p>
          </p:txBody>
        </p:sp>
        <p:sp>
          <p:nvSpPr>
            <p:cNvPr id="38931" name="矩形 9"/>
            <p:cNvSpPr>
              <a:spLocks noChangeArrowheads="1"/>
            </p:cNvSpPr>
            <p:nvPr/>
          </p:nvSpPr>
          <p:spPr bwMode="auto">
            <a:xfrm>
              <a:off x="914400" y="4169002"/>
              <a:ext cx="1905000" cy="730332"/>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getDigest()</a:t>
              </a:r>
              <a:endParaRPr lang="zh-CN" altLang="en-US" sz="1800"/>
            </a:p>
          </p:txBody>
        </p:sp>
      </p:grpSp>
      <p:sp>
        <p:nvSpPr>
          <p:cNvPr id="38919" name="等腰三角形 16"/>
          <p:cNvSpPr>
            <a:spLocks noChangeArrowheads="1"/>
          </p:cNvSpPr>
          <p:nvPr/>
        </p:nvSpPr>
        <p:spPr bwMode="auto">
          <a:xfrm>
            <a:off x="2590800" y="1981201"/>
            <a:ext cx="114300" cy="188913"/>
          </a:xfrm>
          <a:prstGeom prst="triangle">
            <a:avLst>
              <a:gd name="adj" fmla="val 50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8920" name="直接连接符 17"/>
          <p:cNvCxnSpPr>
            <a:cxnSpLocks noChangeShapeType="1"/>
            <a:stCxn id="38919" idx="3"/>
            <a:endCxn id="38929" idx="0"/>
          </p:cNvCxnSpPr>
          <p:nvPr/>
        </p:nvCxnSpPr>
        <p:spPr bwMode="auto">
          <a:xfrm>
            <a:off x="2647950" y="2170114"/>
            <a:ext cx="0" cy="816420"/>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8921" name="组合 18"/>
          <p:cNvGrpSpPr/>
          <p:nvPr/>
        </p:nvGrpSpPr>
        <p:grpSpPr bwMode="auto">
          <a:xfrm>
            <a:off x="5257800" y="2720975"/>
            <a:ext cx="1905000" cy="2613025"/>
            <a:chOff x="932543" y="5373688"/>
            <a:chExt cx="1905000" cy="1579698"/>
          </a:xfrm>
        </p:grpSpPr>
        <p:sp>
          <p:nvSpPr>
            <p:cNvPr id="20" name="矩形 19"/>
            <p:cNvSpPr/>
            <p:nvPr/>
          </p:nvSpPr>
          <p:spPr bwMode="auto">
            <a:xfrm>
              <a:off x="932543" y="5373688"/>
              <a:ext cx="1905000" cy="457139"/>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err="1">
                  <a:latin typeface="Arial" panose="020B0604020202020204" pitchFamily="34" charset="0"/>
                </a:rPr>
                <a:t>dr </a:t>
              </a:r>
              <a:r>
                <a:rPr lang="en-GB" altLang="zh-CN" dirty="0">
                  <a:latin typeface="Arial" panose="020B0604020202020204" pitchFamily="34" charset="0"/>
                </a:rPr>
                <a:t>: </a:t>
              </a:r>
              <a:r>
                <a:rPr lang="en-GB" altLang="zh-CN" dirty="0" err="1">
                  <a:latin typeface="Arial" panose="020B0604020202020204" pitchFamily="34" charset="0"/>
                </a:rPr>
                <a:t>ReturnDigest</a:t>
              </a:r>
              <a:endParaRPr lang="zh-CN" altLang="en-US" dirty="0">
                <a:latin typeface="Arial" panose="020B0604020202020204" pitchFamily="34" charset="0"/>
              </a:endParaRPr>
            </a:p>
          </p:txBody>
        </p:sp>
        <p:sp>
          <p:nvSpPr>
            <p:cNvPr id="21" name="矩形 20"/>
            <p:cNvSpPr/>
            <p:nvPr/>
          </p:nvSpPr>
          <p:spPr bwMode="auto">
            <a:xfrm>
              <a:off x="932543" y="5729391"/>
              <a:ext cx="1905000" cy="649191"/>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filename</a:t>
              </a:r>
              <a:endParaRPr lang="en-GB" altLang="zh-CN" dirty="0">
                <a:latin typeface="Arial" panose="020B0604020202020204" pitchFamily="34" charset="0"/>
              </a:endParaRPr>
            </a:p>
            <a:p>
              <a:pPr>
                <a:defRPr/>
              </a:pPr>
              <a:r>
                <a:rPr lang="en-GB" altLang="zh-CN" dirty="0">
                  <a:latin typeface="Arial" panose="020B0604020202020204" pitchFamily="34" charset="0"/>
                </a:rPr>
                <a:t>digest</a:t>
              </a:r>
              <a:endParaRPr lang="zh-CN" altLang="en-US" dirty="0">
                <a:latin typeface="Arial" panose="020B0604020202020204" pitchFamily="34" charset="0"/>
              </a:endParaRPr>
            </a:p>
          </p:txBody>
        </p:sp>
        <p:sp>
          <p:nvSpPr>
            <p:cNvPr id="22" name="矩形 21"/>
            <p:cNvSpPr/>
            <p:nvPr/>
          </p:nvSpPr>
          <p:spPr bwMode="auto">
            <a:xfrm>
              <a:off x="932543" y="6378582"/>
              <a:ext cx="1905000" cy="574804"/>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start( )</a:t>
              </a:r>
              <a:endParaRPr lang="en-GB" altLang="zh-CN" dirty="0">
                <a:latin typeface="Arial" panose="020B0604020202020204" pitchFamily="34" charset="0"/>
              </a:endParaRPr>
            </a:p>
            <a:p>
              <a:pPr>
                <a:defRPr/>
              </a:pPr>
              <a:r>
                <a:rPr lang="en-GB" altLang="zh-CN" dirty="0" err="1">
                  <a:latin typeface="Arial" panose="020B0604020202020204" pitchFamily="34" charset="0"/>
                </a:rPr>
                <a:t>getDigest </a:t>
              </a:r>
              <a:r>
                <a:rPr lang="en-GB" altLang="zh-CN" dirty="0">
                  <a:latin typeface="Arial" panose="020B0604020202020204" pitchFamily="34" charset="0"/>
                </a:rPr>
                <a:t>()</a:t>
              </a:r>
              <a:endParaRPr lang="zh-CN" altLang="en-US" dirty="0">
                <a:latin typeface="Arial" panose="020B0604020202020204" pitchFamily="34" charset="0"/>
              </a:endParaRPr>
            </a:p>
          </p:txBody>
        </p:sp>
      </p:grpSp>
      <p:cxnSp>
        <p:nvCxnSpPr>
          <p:cNvPr id="38922" name="直接箭头连接符 22"/>
          <p:cNvCxnSpPr>
            <a:cxnSpLocks noChangeShapeType="1"/>
            <a:stCxn id="21" idx="1"/>
          </p:cNvCxnSpPr>
          <p:nvPr/>
        </p:nvCxnSpPr>
        <p:spPr bwMode="auto">
          <a:xfrm flipH="1">
            <a:off x="3657600" y="3846277"/>
            <a:ext cx="1600200" cy="366948"/>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23" name="直接箭头连接符 23"/>
          <p:cNvCxnSpPr>
            <a:cxnSpLocks noChangeShapeType="1"/>
            <a:stCxn id="38935" idx="2"/>
            <a:endCxn id="20" idx="3"/>
          </p:cNvCxnSpPr>
          <p:nvPr/>
        </p:nvCxnSpPr>
        <p:spPr bwMode="auto">
          <a:xfrm flipH="1">
            <a:off x="7162800" y="2438400"/>
            <a:ext cx="1638300" cy="660659"/>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924" name="TextBox 25"/>
          <p:cNvSpPr txBox="1">
            <a:spLocks noChangeArrowheads="1"/>
          </p:cNvSpPr>
          <p:nvPr/>
        </p:nvSpPr>
        <p:spPr bwMode="auto">
          <a:xfrm>
            <a:off x="8268229" y="2848386"/>
            <a:ext cx="750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dr</a:t>
            </a:r>
            <a:endParaRPr lang="zh-CN" altLang="en-US" sz="1800" dirty="0"/>
          </a:p>
        </p:txBody>
      </p:sp>
      <p:sp>
        <p:nvSpPr>
          <p:cNvPr id="38925" name="TextBox 22"/>
          <p:cNvSpPr txBox="1">
            <a:spLocks noChangeArrowheads="1"/>
          </p:cNvSpPr>
          <p:nvPr/>
        </p:nvSpPr>
        <p:spPr bwMode="auto">
          <a:xfrm>
            <a:off x="7239000" y="3301095"/>
            <a:ext cx="3276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00"/>
                </a:solidFill>
              </a:rPr>
              <a:t>There is a problem with using access methods to obtain the output of the calculation thread. The speed of </a:t>
            </a:r>
            <a:r>
              <a:rPr lang="en-GB" altLang="zh-CN" sz="2000" dirty="0">
                <a:solidFill>
                  <a:srgbClr val="FF0000"/>
                </a:solidFill>
              </a:rPr>
              <a:t>the main() </a:t>
            </a:r>
            <a:r>
              <a:rPr lang="en-GB" altLang="en-US" sz="2000" dirty="0">
                <a:solidFill>
                  <a:srgbClr val="FF0000"/>
                </a:solidFill>
              </a:rPr>
              <a:t>method will exceed the thread that generates the result, and a null pointer exception will occur.</a:t>
            </a:r>
            <a:endParaRPr lang="en-GB" altLang="en-US" sz="2000" dirty="0">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1752600" y="457200"/>
            <a:ext cx="8229600" cy="431800"/>
          </a:xfrm>
        </p:spPr>
        <p:txBody>
          <a:bodyPr/>
          <a:lstStyle/>
          <a:p>
            <a:pPr algn="l"/>
            <a:r>
              <a:rPr lang="en-GB" altLang="en-US" sz="3200"/>
              <a:t>Problem Solving: Using Connection Threads</a:t>
            </a:r>
            <a:endParaRPr lang="en-GB" altLang="en-US" sz="3200"/>
          </a:p>
        </p:txBody>
      </p:sp>
      <p:sp>
        <p:nvSpPr>
          <p:cNvPr id="39939" name="圆角矩形 3"/>
          <p:cNvSpPr>
            <a:spLocks noChangeArrowheads="1"/>
          </p:cNvSpPr>
          <p:nvPr/>
        </p:nvSpPr>
        <p:spPr bwMode="auto">
          <a:xfrm>
            <a:off x="106759" y="2590800"/>
            <a:ext cx="3810000" cy="15240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000"/>
              <a:t>Main </a:t>
            </a:r>
            <a:r>
              <a:rPr lang="en-GB" altLang="en-US" sz="2000"/>
              <a:t>thread: File security algorithm summary display</a:t>
            </a:r>
            <a:endParaRPr lang="en-GB" altLang="en-US" sz="2000"/>
          </a:p>
        </p:txBody>
      </p:sp>
      <p:sp>
        <p:nvSpPr>
          <p:cNvPr id="39940" name="圆角矩形 6"/>
          <p:cNvSpPr>
            <a:spLocks noChangeArrowheads="1"/>
          </p:cNvSpPr>
          <p:nvPr/>
        </p:nvSpPr>
        <p:spPr bwMode="auto">
          <a:xfrm>
            <a:off x="5257799" y="1347790"/>
            <a:ext cx="3962401"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1 </a:t>
            </a:r>
            <a:r>
              <a:rPr lang="en-GB" altLang="en-US" sz="1800"/>
              <a:t>: File security algorithm summary generation thread</a:t>
            </a:r>
            <a:endParaRPr lang="en-US" altLang="zh-CN" sz="1800"/>
          </a:p>
          <a:p>
            <a:pPr>
              <a:spcBef>
                <a:spcPct val="0"/>
              </a:spcBef>
              <a:buClrTx/>
              <a:buSzTx/>
              <a:buFontTx/>
              <a:buNone/>
            </a:pPr>
            <a:r>
              <a:rPr lang="en-GB" altLang="zh-CN" sz="1800"/>
              <a:t>ReturnDigest</a:t>
            </a:r>
            <a:endParaRPr lang="zh-CN" altLang="en-US" sz="1800"/>
          </a:p>
        </p:txBody>
      </p:sp>
      <p:sp>
        <p:nvSpPr>
          <p:cNvPr id="39941" name="圆角矩形 7"/>
          <p:cNvSpPr>
            <a:spLocks noChangeArrowheads="1"/>
          </p:cNvSpPr>
          <p:nvPr/>
        </p:nvSpPr>
        <p:spPr bwMode="auto">
          <a:xfrm>
            <a:off x="5302646" y="2895600"/>
            <a:ext cx="3923903"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dirty="0"/>
              <a:t>Thread </a:t>
            </a:r>
            <a:r>
              <a:rPr lang="en-GB" altLang="zh-CN" sz="1800" dirty="0"/>
              <a:t>2 </a:t>
            </a:r>
            <a:r>
              <a:rPr lang="en-GB" altLang="en-US" sz="1800" dirty="0"/>
              <a:t>: File security algorithm summary generation thread</a:t>
            </a:r>
            <a:endParaRPr lang="en-US" altLang="zh-CN" sz="1800" dirty="0"/>
          </a:p>
          <a:p>
            <a:pPr>
              <a:spcBef>
                <a:spcPct val="0"/>
              </a:spcBef>
              <a:buClrTx/>
              <a:buSzTx/>
              <a:buFontTx/>
              <a:buNone/>
            </a:pPr>
            <a:r>
              <a:rPr lang="en-GB" altLang="zh-CN" sz="1800" dirty="0"/>
              <a:t>ReturnDigest</a:t>
            </a:r>
            <a:endParaRPr lang="zh-CN" altLang="en-US" sz="1800" dirty="0"/>
          </a:p>
        </p:txBody>
      </p:sp>
      <p:sp>
        <p:nvSpPr>
          <p:cNvPr id="39942" name="TextBox 4"/>
          <p:cNvSpPr txBox="1">
            <a:spLocks noChangeArrowheads="1"/>
          </p:cNvSpPr>
          <p:nvPr/>
        </p:nvSpPr>
        <p:spPr bwMode="auto">
          <a:xfrm>
            <a:off x="6400800" y="4419601"/>
            <a:ext cx="1219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2400" b="1">
                <a:solidFill>
                  <a:srgbClr val="FF0000"/>
                </a:solidFill>
              </a:rPr>
              <a:t>… …</a:t>
            </a:r>
            <a:endParaRPr lang="zh-CN" altLang="en-US" sz="2400" b="1">
              <a:solidFill>
                <a:srgbClr val="FF0000"/>
              </a:solidFill>
            </a:endParaRPr>
          </a:p>
        </p:txBody>
      </p:sp>
      <p:sp>
        <p:nvSpPr>
          <p:cNvPr id="39943" name="圆角矩形 9"/>
          <p:cNvSpPr>
            <a:spLocks noChangeArrowheads="1"/>
          </p:cNvSpPr>
          <p:nvPr/>
        </p:nvSpPr>
        <p:spPr bwMode="auto">
          <a:xfrm>
            <a:off x="5302646" y="5029200"/>
            <a:ext cx="3962400" cy="1219200"/>
          </a:xfrm>
          <a:prstGeom prst="roundRect">
            <a:avLst>
              <a:gd name="adj" fmla="val 16667"/>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1800"/>
              <a:t>Thread </a:t>
            </a:r>
            <a:r>
              <a:rPr lang="en-GB" altLang="zh-CN" sz="1800"/>
              <a:t>n </a:t>
            </a:r>
            <a:r>
              <a:rPr lang="en-GB" altLang="en-US" sz="1800"/>
              <a:t>: File security algorithm digest generation thread</a:t>
            </a:r>
            <a:endParaRPr lang="en-US" altLang="zh-CN" sz="1800"/>
          </a:p>
          <a:p>
            <a:pPr>
              <a:spcBef>
                <a:spcPct val="0"/>
              </a:spcBef>
              <a:buClrTx/>
              <a:buSzTx/>
              <a:buFontTx/>
              <a:buNone/>
            </a:pPr>
            <a:r>
              <a:rPr lang="en-GB" altLang="zh-CN" sz="1800"/>
              <a:t>ReturnDigest</a:t>
            </a:r>
            <a:endParaRPr lang="zh-CN" altLang="en-US" sz="1800"/>
          </a:p>
        </p:txBody>
      </p:sp>
      <p:cxnSp>
        <p:nvCxnSpPr>
          <p:cNvPr id="39944" name="直接连接符 8"/>
          <p:cNvCxnSpPr>
            <a:cxnSpLocks noChangeShapeType="1"/>
            <a:stCxn id="39939" idx="3"/>
            <a:endCxn id="39940" idx="1"/>
          </p:cNvCxnSpPr>
          <p:nvPr/>
        </p:nvCxnSpPr>
        <p:spPr bwMode="auto">
          <a:xfrm flipV="1">
            <a:off x="3916759" y="1957390"/>
            <a:ext cx="1341040" cy="139541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45" name="TextBox 10"/>
          <p:cNvSpPr txBox="1">
            <a:spLocks noChangeArrowheads="1"/>
          </p:cNvSpPr>
          <p:nvPr/>
        </p:nvSpPr>
        <p:spPr bwMode="auto">
          <a:xfrm>
            <a:off x="4648200" y="1828800"/>
            <a:ext cx="76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cxnSp>
        <p:nvCxnSpPr>
          <p:cNvPr id="39946" name="直接连接符 13"/>
          <p:cNvCxnSpPr>
            <a:cxnSpLocks noChangeShapeType="1"/>
            <a:endCxn id="39941" idx="1"/>
          </p:cNvCxnSpPr>
          <p:nvPr/>
        </p:nvCxnSpPr>
        <p:spPr bwMode="auto">
          <a:xfrm>
            <a:off x="4107887" y="3429000"/>
            <a:ext cx="1194759" cy="762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47" name="直接连接符 15"/>
          <p:cNvCxnSpPr>
            <a:cxnSpLocks noChangeShapeType="1"/>
          </p:cNvCxnSpPr>
          <p:nvPr/>
        </p:nvCxnSpPr>
        <p:spPr bwMode="auto">
          <a:xfrm>
            <a:off x="3985219" y="3464458"/>
            <a:ext cx="1272580" cy="217434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48" name="流程图: 多文档 16"/>
          <p:cNvSpPr>
            <a:spLocks noChangeArrowheads="1"/>
          </p:cNvSpPr>
          <p:nvPr/>
        </p:nvSpPr>
        <p:spPr bwMode="auto">
          <a:xfrm>
            <a:off x="11222038" y="2714626"/>
            <a:ext cx="762000" cy="1752600"/>
          </a:xfrm>
          <a:prstGeom prst="flowChartMultidocumen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39949" name="直接连接符 19"/>
          <p:cNvCxnSpPr>
            <a:cxnSpLocks noChangeShapeType="1"/>
            <a:stCxn id="39940" idx="3"/>
            <a:endCxn id="39948" idx="1"/>
          </p:cNvCxnSpPr>
          <p:nvPr/>
        </p:nvCxnSpPr>
        <p:spPr bwMode="auto">
          <a:xfrm>
            <a:off x="9220200" y="1957390"/>
            <a:ext cx="2001838" cy="1633536"/>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50" name="直接连接符 21"/>
          <p:cNvCxnSpPr>
            <a:cxnSpLocks noChangeShapeType="1"/>
            <a:stCxn id="39941" idx="3"/>
          </p:cNvCxnSpPr>
          <p:nvPr/>
        </p:nvCxnSpPr>
        <p:spPr bwMode="auto">
          <a:xfrm flipV="1">
            <a:off x="9226549" y="3244058"/>
            <a:ext cx="1975910" cy="261142"/>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51" name="直接连接符 24"/>
          <p:cNvCxnSpPr>
            <a:cxnSpLocks noChangeShapeType="1"/>
            <a:stCxn id="39943" idx="3"/>
          </p:cNvCxnSpPr>
          <p:nvPr/>
        </p:nvCxnSpPr>
        <p:spPr bwMode="auto">
          <a:xfrm flipV="1">
            <a:off x="9265046" y="3886200"/>
            <a:ext cx="2123679" cy="1752600"/>
          </a:xfrm>
          <a:prstGeom prst="line">
            <a:avLst/>
          </a:prstGeom>
          <a:noFill/>
          <a:ln w="9525" algn="ctr">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952" name="TextBox 26"/>
          <p:cNvSpPr txBox="1">
            <a:spLocks noChangeArrowheads="1"/>
          </p:cNvSpPr>
          <p:nvPr/>
        </p:nvSpPr>
        <p:spPr bwMode="auto">
          <a:xfrm>
            <a:off x="4800600" y="2754314"/>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sp>
        <p:nvSpPr>
          <p:cNvPr id="39953" name="TextBox 27"/>
          <p:cNvSpPr txBox="1">
            <a:spLocks noChangeArrowheads="1"/>
          </p:cNvSpPr>
          <p:nvPr/>
        </p:nvSpPr>
        <p:spPr bwMode="auto">
          <a:xfrm>
            <a:off x="4419600" y="4049714"/>
            <a:ext cx="76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a:t>
            </a:r>
            <a:endParaRPr lang="zh-CN"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圆角矩形 3"/>
          <p:cNvSpPr>
            <a:spLocks noChangeArrowheads="1"/>
          </p:cNvSpPr>
          <p:nvPr/>
        </p:nvSpPr>
        <p:spPr bwMode="auto">
          <a:xfrm>
            <a:off x="4572000" y="838200"/>
            <a:ext cx="5943600" cy="5486400"/>
          </a:xfrm>
          <a:prstGeom prst="roundRect">
            <a:avLst>
              <a:gd name="adj" fmla="val 16667"/>
            </a:avLst>
          </a:prstGeom>
          <a:solidFill>
            <a:srgbClr val="92D050"/>
          </a:solidFill>
          <a:ln w="9525" algn="ctr">
            <a:solidFill>
              <a:schemeClr val="tx1"/>
            </a:solidFill>
            <a:round/>
          </a:ln>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40963" name="标题 1"/>
          <p:cNvSpPr>
            <a:spLocks noGrp="1"/>
          </p:cNvSpPr>
          <p:nvPr>
            <p:ph type="title"/>
          </p:nvPr>
        </p:nvSpPr>
        <p:spPr>
          <a:xfrm>
            <a:off x="1752600" y="304800"/>
            <a:ext cx="8229600" cy="431800"/>
          </a:xfrm>
        </p:spPr>
        <p:txBody>
          <a:bodyPr/>
          <a:lstStyle/>
          <a:p>
            <a:pPr algn="l"/>
            <a:r>
              <a:rPr lang="en-GB" altLang="en-US" sz="3200"/>
              <a:t>Multithreaded programming using the join thread method</a:t>
            </a:r>
            <a:endParaRPr lang="en-GB" altLang="en-US" sz="3200"/>
          </a:p>
        </p:txBody>
      </p:sp>
      <p:grpSp>
        <p:nvGrpSpPr>
          <p:cNvPr id="40964" name="组合 5"/>
          <p:cNvGrpSpPr/>
          <p:nvPr/>
        </p:nvGrpSpPr>
        <p:grpSpPr bwMode="auto">
          <a:xfrm>
            <a:off x="6858000" y="1530350"/>
            <a:ext cx="3505200" cy="908050"/>
            <a:chOff x="914400" y="3124200"/>
            <a:chExt cx="3124200" cy="1045481"/>
          </a:xfrm>
        </p:grpSpPr>
        <p:sp>
          <p:nvSpPr>
            <p:cNvPr id="40981" name="矩形 27"/>
            <p:cNvSpPr>
              <a:spLocks noChangeArrowheads="1"/>
            </p:cNvSpPr>
            <p:nvPr/>
          </p:nvSpPr>
          <p:spPr bwMode="auto">
            <a:xfrm>
              <a:off x="914400" y="3124200"/>
              <a:ext cx="3124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JoinDigestUserInterface </a:t>
              </a:r>
              <a:r>
                <a:rPr lang="en-GB" altLang="en-US" sz="1800"/>
                <a:t>Class</a:t>
              </a:r>
              <a:endParaRPr lang="en-GB" altLang="en-US" sz="1800"/>
            </a:p>
          </p:txBody>
        </p:sp>
        <p:sp>
          <p:nvSpPr>
            <p:cNvPr id="40982" name="矩形 29"/>
            <p:cNvSpPr>
              <a:spLocks noChangeArrowheads="1"/>
            </p:cNvSpPr>
            <p:nvPr/>
          </p:nvSpPr>
          <p:spPr bwMode="auto">
            <a:xfrm>
              <a:off x="914400" y="3574595"/>
              <a:ext cx="3124200" cy="595086"/>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main( )</a:t>
              </a:r>
              <a:endParaRPr lang="zh-CN" altLang="en-US" sz="1800"/>
            </a:p>
          </p:txBody>
        </p:sp>
      </p:grpSp>
      <p:grpSp>
        <p:nvGrpSpPr>
          <p:cNvPr id="40965" name="组合 9"/>
          <p:cNvGrpSpPr/>
          <p:nvPr/>
        </p:nvGrpSpPr>
        <p:grpSpPr bwMode="auto">
          <a:xfrm>
            <a:off x="1381125" y="985648"/>
            <a:ext cx="2209800" cy="1371600"/>
            <a:chOff x="457200" y="1524000"/>
            <a:chExt cx="1219200" cy="1372278"/>
          </a:xfrm>
        </p:grpSpPr>
        <p:sp>
          <p:nvSpPr>
            <p:cNvPr id="40979" name="矩形 2"/>
            <p:cNvSpPr>
              <a:spLocks noChangeArrowheads="1"/>
            </p:cNvSpPr>
            <p:nvPr/>
          </p:nvSpPr>
          <p:spPr bwMode="auto">
            <a:xfrm>
              <a:off x="457200" y="1524000"/>
              <a:ext cx="12192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Thread </a:t>
              </a:r>
              <a:r>
                <a:rPr lang="en-GB" altLang="en-US" sz="1800"/>
                <a:t>Class</a:t>
              </a:r>
              <a:endParaRPr lang="en-GB" altLang="en-US" sz="1800"/>
            </a:p>
          </p:txBody>
        </p:sp>
        <p:sp>
          <p:nvSpPr>
            <p:cNvPr id="40980" name="矩形 6"/>
            <p:cNvSpPr>
              <a:spLocks noChangeArrowheads="1"/>
            </p:cNvSpPr>
            <p:nvPr/>
          </p:nvSpPr>
          <p:spPr bwMode="auto">
            <a:xfrm>
              <a:off x="457200" y="1984828"/>
              <a:ext cx="1219200" cy="91145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dirty="0"/>
                <a:t>run ()</a:t>
              </a:r>
              <a:endParaRPr lang="en-GB" altLang="zh-CN" sz="1800" dirty="0"/>
            </a:p>
            <a:p>
              <a:pPr>
                <a:spcBef>
                  <a:spcPct val="0"/>
                </a:spcBef>
                <a:buClrTx/>
                <a:buSzTx/>
                <a:buFontTx/>
                <a:buNone/>
              </a:pPr>
              <a:r>
                <a:rPr lang="en-GB" altLang="zh-CN" sz="1800" dirty="0"/>
                <a:t>start( )</a:t>
              </a:r>
              <a:endParaRPr lang="en-GB" altLang="zh-CN" sz="1800" dirty="0"/>
            </a:p>
            <a:p>
              <a:pPr>
                <a:spcBef>
                  <a:spcPct val="0"/>
                </a:spcBef>
                <a:buClrTx/>
                <a:buSzTx/>
                <a:buFontTx/>
                <a:buNone/>
              </a:pPr>
              <a:r>
                <a:rPr lang="en-GB" altLang="zh-CN" sz="1800" dirty="0"/>
                <a:t>join( )</a:t>
              </a:r>
              <a:endParaRPr lang="zh-CN" altLang="en-US" sz="1800" dirty="0"/>
            </a:p>
          </p:txBody>
        </p:sp>
      </p:grpSp>
      <p:grpSp>
        <p:nvGrpSpPr>
          <p:cNvPr id="40966" name="组合 12"/>
          <p:cNvGrpSpPr/>
          <p:nvPr/>
        </p:nvGrpSpPr>
        <p:grpSpPr bwMode="auto">
          <a:xfrm>
            <a:off x="1314450" y="3062110"/>
            <a:ext cx="2667000" cy="1981200"/>
            <a:chOff x="914400" y="3124200"/>
            <a:chExt cx="1905000" cy="1685347"/>
          </a:xfrm>
        </p:grpSpPr>
        <p:sp>
          <p:nvSpPr>
            <p:cNvPr id="40976" name="矩形 7"/>
            <p:cNvSpPr>
              <a:spLocks noChangeArrowheads="1"/>
            </p:cNvSpPr>
            <p:nvPr/>
          </p:nvSpPr>
          <p:spPr bwMode="auto">
            <a:xfrm>
              <a:off x="914400" y="3124200"/>
              <a:ext cx="1905000" cy="457200"/>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ReturnDigest </a:t>
              </a:r>
              <a:r>
                <a:rPr lang="en-GB" altLang="en-US" sz="1800"/>
                <a:t>Class</a:t>
              </a:r>
              <a:endParaRPr lang="en-GB" altLang="en-US" sz="1800"/>
            </a:p>
          </p:txBody>
        </p:sp>
        <p:sp>
          <p:nvSpPr>
            <p:cNvPr id="40977" name="矩形 8"/>
            <p:cNvSpPr>
              <a:spLocks noChangeArrowheads="1"/>
            </p:cNvSpPr>
            <p:nvPr/>
          </p:nvSpPr>
          <p:spPr bwMode="auto">
            <a:xfrm>
              <a:off x="914400" y="3519714"/>
              <a:ext cx="1905000" cy="649288"/>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filename: String</a:t>
              </a:r>
              <a:endParaRPr lang="en-GB" altLang="zh-CN" sz="1800"/>
            </a:p>
            <a:p>
              <a:pPr>
                <a:spcBef>
                  <a:spcPct val="0"/>
                </a:spcBef>
                <a:buClrTx/>
                <a:buSzTx/>
                <a:buFontTx/>
                <a:buNone/>
              </a:pPr>
              <a:r>
                <a:rPr lang="en-GB" altLang="zh-CN" sz="1800"/>
                <a:t>digest: byte[]</a:t>
              </a:r>
              <a:endParaRPr lang="zh-CN" altLang="en-US" sz="1800"/>
            </a:p>
          </p:txBody>
        </p:sp>
        <p:sp>
          <p:nvSpPr>
            <p:cNvPr id="40978" name="矩形 9"/>
            <p:cNvSpPr>
              <a:spLocks noChangeArrowheads="1"/>
            </p:cNvSpPr>
            <p:nvPr/>
          </p:nvSpPr>
          <p:spPr bwMode="auto">
            <a:xfrm>
              <a:off x="914400" y="4169002"/>
              <a:ext cx="1905000" cy="640545"/>
            </a:xfrm>
            <a:prstGeom prst="rect">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run( )</a:t>
              </a:r>
              <a:endParaRPr lang="en-GB" altLang="zh-CN" sz="1800"/>
            </a:p>
            <a:p>
              <a:pPr>
                <a:spcBef>
                  <a:spcPct val="0"/>
                </a:spcBef>
                <a:buClrTx/>
                <a:buSzTx/>
                <a:buFontTx/>
                <a:buNone/>
              </a:pPr>
              <a:r>
                <a:rPr lang="en-GB" altLang="zh-CN" sz="1800"/>
                <a:t>getDigest()</a:t>
              </a:r>
              <a:endParaRPr lang="zh-CN" altLang="en-US" sz="1800"/>
            </a:p>
          </p:txBody>
        </p:sp>
      </p:grpSp>
      <p:sp>
        <p:nvSpPr>
          <p:cNvPr id="40967" name="等腰三角形 16"/>
          <p:cNvSpPr>
            <a:spLocks noChangeArrowheads="1"/>
          </p:cNvSpPr>
          <p:nvPr/>
        </p:nvSpPr>
        <p:spPr bwMode="auto">
          <a:xfrm>
            <a:off x="2590800" y="2362201"/>
            <a:ext cx="114300" cy="188913"/>
          </a:xfrm>
          <a:prstGeom prst="triangle">
            <a:avLst>
              <a:gd name="adj" fmla="val 50000"/>
            </a:avLst>
          </a:prstGeom>
          <a:solidFill>
            <a:schemeClr val="accent1"/>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cxnSp>
        <p:nvCxnSpPr>
          <p:cNvPr id="40968" name="直接连接符 17"/>
          <p:cNvCxnSpPr>
            <a:cxnSpLocks noChangeShapeType="1"/>
            <a:stCxn id="40967" idx="3"/>
            <a:endCxn id="40976" idx="0"/>
          </p:cNvCxnSpPr>
          <p:nvPr/>
        </p:nvCxnSpPr>
        <p:spPr bwMode="auto">
          <a:xfrm>
            <a:off x="2647950" y="2551114"/>
            <a:ext cx="0" cy="510996"/>
          </a:xfrm>
          <a:prstGeom prst="line">
            <a:avLst/>
          </a:prstGeom>
          <a:noFill/>
          <a:ln w="9525" algn="ctr">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0969" name="组合 18"/>
          <p:cNvGrpSpPr/>
          <p:nvPr/>
        </p:nvGrpSpPr>
        <p:grpSpPr bwMode="auto">
          <a:xfrm>
            <a:off x="5171016" y="3383316"/>
            <a:ext cx="2067983" cy="1654175"/>
            <a:chOff x="780143" y="5219717"/>
            <a:chExt cx="2057400" cy="1409114"/>
          </a:xfrm>
        </p:grpSpPr>
        <p:sp>
          <p:nvSpPr>
            <p:cNvPr id="20" name="矩形 19"/>
            <p:cNvSpPr/>
            <p:nvPr/>
          </p:nvSpPr>
          <p:spPr bwMode="auto">
            <a:xfrm>
              <a:off x="780143" y="5219717"/>
              <a:ext cx="2057400" cy="611247"/>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err="1">
                  <a:latin typeface="Arial" panose="020B0604020202020204" pitchFamily="34" charset="0"/>
                </a:rPr>
                <a:t>digestThreads </a:t>
              </a:r>
              <a:r>
                <a:rPr lang="en-GB" altLang="zh-CN" dirty="0">
                  <a:latin typeface="Arial" panose="020B0604020202020204" pitchFamily="34" charset="0"/>
                </a:rPr>
                <a:t>: </a:t>
              </a:r>
              <a:r>
                <a:rPr lang="en-GB" altLang="zh-CN" dirty="0" err="1">
                  <a:latin typeface="Arial" panose="020B0604020202020204" pitchFamily="34" charset="0"/>
                </a:rPr>
                <a:t>ReturnDigest </a:t>
              </a:r>
              <a:r>
                <a:rPr lang="en-GB" altLang="zh-CN" dirty="0">
                  <a:latin typeface="Arial" panose="020B0604020202020204" pitchFamily="34" charset="0"/>
                </a:rPr>
                <a:t>[ ]</a:t>
              </a:r>
              <a:endParaRPr lang="zh-CN" altLang="en-US" dirty="0">
                <a:latin typeface="Arial" panose="020B0604020202020204" pitchFamily="34" charset="0"/>
              </a:endParaRPr>
            </a:p>
          </p:txBody>
        </p:sp>
        <p:sp>
          <p:nvSpPr>
            <p:cNvPr id="22" name="矩形 21"/>
            <p:cNvSpPr/>
            <p:nvPr/>
          </p:nvSpPr>
          <p:spPr bwMode="auto">
            <a:xfrm>
              <a:off x="780143" y="5816089"/>
              <a:ext cx="2057400" cy="812742"/>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a:lstStyle/>
            <a:p>
              <a:pPr>
                <a:defRPr/>
              </a:pPr>
              <a:r>
                <a:rPr lang="en-GB" altLang="zh-CN" dirty="0">
                  <a:latin typeface="Arial" panose="020B0604020202020204" pitchFamily="34" charset="0"/>
                </a:rPr>
                <a:t>start( )</a:t>
              </a:r>
              <a:endParaRPr lang="en-GB" altLang="zh-CN" dirty="0">
                <a:latin typeface="Arial" panose="020B0604020202020204" pitchFamily="34" charset="0"/>
              </a:endParaRPr>
            </a:p>
            <a:p>
              <a:pPr>
                <a:defRPr/>
              </a:pPr>
              <a:r>
                <a:rPr lang="en-GB" altLang="zh-CN" dirty="0">
                  <a:latin typeface="Arial" panose="020B0604020202020204" pitchFamily="34" charset="0"/>
                </a:rPr>
                <a:t>join( )</a:t>
              </a:r>
              <a:endParaRPr lang="en-GB" altLang="zh-CN" dirty="0">
                <a:latin typeface="Arial" panose="020B0604020202020204" pitchFamily="34" charset="0"/>
              </a:endParaRPr>
            </a:p>
            <a:p>
              <a:pPr>
                <a:defRPr/>
              </a:pPr>
              <a:r>
                <a:rPr lang="en-GB" altLang="zh-CN" dirty="0" err="1">
                  <a:latin typeface="Arial" panose="020B0604020202020204" pitchFamily="34" charset="0"/>
                </a:rPr>
                <a:t>getDigest </a:t>
              </a:r>
              <a:r>
                <a:rPr lang="en-GB" altLang="zh-CN" dirty="0">
                  <a:latin typeface="Arial" panose="020B0604020202020204" pitchFamily="34" charset="0"/>
                </a:rPr>
                <a:t>()</a:t>
              </a:r>
              <a:endParaRPr lang="zh-CN" altLang="en-US" dirty="0">
                <a:latin typeface="Arial" panose="020B0604020202020204" pitchFamily="34" charset="0"/>
              </a:endParaRPr>
            </a:p>
          </p:txBody>
        </p:sp>
      </p:grpSp>
      <p:cxnSp>
        <p:nvCxnSpPr>
          <p:cNvPr id="40970" name="直接箭头连接符 22"/>
          <p:cNvCxnSpPr>
            <a:cxnSpLocks noChangeShapeType="1"/>
          </p:cNvCxnSpPr>
          <p:nvPr/>
        </p:nvCxnSpPr>
        <p:spPr bwMode="auto">
          <a:xfrm flipH="1">
            <a:off x="4038600" y="4278313"/>
            <a:ext cx="1066800" cy="0"/>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971" name="直接箭头连接符 23"/>
          <p:cNvCxnSpPr>
            <a:cxnSpLocks noChangeShapeType="1"/>
            <a:stCxn id="40982" idx="2"/>
            <a:endCxn id="20" idx="3"/>
          </p:cNvCxnSpPr>
          <p:nvPr/>
        </p:nvCxnSpPr>
        <p:spPr bwMode="auto">
          <a:xfrm flipH="1">
            <a:off x="7238999" y="2438400"/>
            <a:ext cx="1371601" cy="1303691"/>
          </a:xfrm>
          <a:prstGeom prst="straightConnector1">
            <a:avLst/>
          </a:prstGeom>
          <a:noFill/>
          <a:ln w="9525" algn="ctr">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972" name="TextBox 25"/>
          <p:cNvSpPr txBox="1">
            <a:spLocks noChangeArrowheads="1"/>
          </p:cNvSpPr>
          <p:nvPr/>
        </p:nvSpPr>
        <p:spPr bwMode="auto">
          <a:xfrm>
            <a:off x="7467600" y="28956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zh-CN" sz="1800"/>
              <a:t>digestThreads</a:t>
            </a:r>
            <a:endParaRPr lang="zh-CN" altLang="en-US" sz="1800"/>
          </a:p>
        </p:txBody>
      </p:sp>
      <p:sp>
        <p:nvSpPr>
          <p:cNvPr id="40973" name="TextBox 22"/>
          <p:cNvSpPr txBox="1">
            <a:spLocks noChangeArrowheads="1"/>
          </p:cNvSpPr>
          <p:nvPr/>
        </p:nvSpPr>
        <p:spPr bwMode="auto">
          <a:xfrm>
            <a:off x="2590800" y="5361579"/>
            <a:ext cx="8458199"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GB" altLang="en-US" sz="2000" dirty="0">
                <a:solidFill>
                  <a:srgbClr val="FF0000"/>
                </a:solidFill>
              </a:rPr>
              <a:t>Code example demonstration and operation: </a:t>
            </a:r>
            <a:r>
              <a:rPr lang="en-GB" altLang="zh-CN" sz="2000" dirty="0">
                <a:solidFill>
                  <a:srgbClr val="FF0000"/>
                </a:solidFill>
              </a:rPr>
              <a:t>ch3.JoinDigestUserInterface.java, ex3-12</a:t>
            </a:r>
            <a:endParaRPr lang="en-GB" altLang="zh-CN" sz="2000" dirty="0">
              <a:solidFill>
                <a:srgbClr val="FF0000"/>
              </a:solidFill>
            </a:endParaRPr>
          </a:p>
          <a:p>
            <a:pPr>
              <a:spcBef>
                <a:spcPct val="0"/>
              </a:spcBef>
              <a:buClrTx/>
              <a:buSzTx/>
              <a:buFontTx/>
              <a:buNone/>
            </a:pPr>
            <a:endParaRPr lang="en-US" altLang="zh-CN" sz="2000" dirty="0">
              <a:solidFill>
                <a:srgbClr val="FF0000"/>
              </a:solidFill>
            </a:endParaRPr>
          </a:p>
          <a:p>
            <a:pPr>
              <a:spcBef>
                <a:spcPct val="0"/>
              </a:spcBef>
              <a:buClrTx/>
              <a:buSzTx/>
              <a:buFontTx/>
              <a:buNone/>
            </a:pPr>
            <a:r>
              <a:rPr lang="en-GB" altLang="en-US" sz="2000" dirty="0">
                <a:solidFill>
                  <a:srgbClr val="FF0000"/>
                </a:solidFill>
              </a:rPr>
              <a:t>Compare and run </a:t>
            </a:r>
            <a:r>
              <a:rPr lang="en-GB" altLang="zh-CN" sz="2000" dirty="0">
                <a:solidFill>
                  <a:srgbClr val="FF0000"/>
                </a:solidFill>
              </a:rPr>
              <a:t>ch3.returnInfo.ReturnDigestUserInterface.java</a:t>
            </a:r>
            <a:endParaRPr lang="zh-CN" altLang="en-US" sz="2000" dirty="0">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a:xfrm>
            <a:off x="1517650" y="26988"/>
            <a:ext cx="8229600" cy="431800"/>
          </a:xfrm>
        </p:spPr>
        <p:txBody>
          <a:bodyPr/>
          <a:lstStyle/>
          <a:p>
            <a:pPr algn="l"/>
            <a:r>
              <a:rPr lang="en-GB" altLang="zh-CN" sz="3200"/>
              <a:t>JoinDigestUserInterface.java</a:t>
            </a:r>
            <a:endParaRPr lang="en-GB" altLang="zh-CN" sz="3200"/>
          </a:p>
        </p:txBody>
      </p:sp>
      <p:pic>
        <p:nvPicPr>
          <p:cNvPr id="4198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8077200" cy="679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a:xfrm>
            <a:off x="1752600" y="457200"/>
            <a:ext cx="8229600" cy="431800"/>
          </a:xfrm>
        </p:spPr>
        <p:txBody>
          <a:bodyPr/>
          <a:lstStyle/>
          <a:p>
            <a:pPr algn="l"/>
            <a:r>
              <a:rPr lang="en-GB" altLang="en-US" sz="3200" dirty="0"/>
              <a:t>Connecting thread programming techniques</a:t>
            </a:r>
            <a:endParaRPr lang="en-GB" altLang="en-US" sz="3200" dirty="0"/>
          </a:p>
        </p:txBody>
      </p:sp>
      <p:sp>
        <p:nvSpPr>
          <p:cNvPr id="43011" name="内容占位符 2"/>
          <p:cNvSpPr>
            <a:spLocks noGrp="1"/>
          </p:cNvSpPr>
          <p:nvPr>
            <p:ph idx="1"/>
          </p:nvPr>
        </p:nvSpPr>
        <p:spPr>
          <a:xfrm>
            <a:off x="381000" y="1293814"/>
            <a:ext cx="115062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Allows a thread to wait for another thread to complete before continuing execution </a:t>
            </a:r>
            <a:endParaRPr lang="en-US" altLang="zh-CN" sz="2800" dirty="0"/>
          </a:p>
          <a:p>
            <a:pPr>
              <a:buFont typeface="Wingdings" panose="05000000000000000000" pitchFamily="2" charset="2"/>
              <a:buChar char="Ø"/>
            </a:pPr>
            <a:r>
              <a:rPr lang="en-GB" altLang="en-US" sz="2800" dirty="0"/>
              <a:t>calls </a:t>
            </a:r>
            <a:r>
              <a:rPr lang="en-GB" altLang="zh-CN" sz="2800" dirty="0"/>
              <a:t>the join() </a:t>
            </a:r>
            <a:r>
              <a:rPr lang="en-GB" altLang="en-US" sz="2800" dirty="0"/>
              <a:t>method is </a:t>
            </a:r>
            <a:r>
              <a:rPr lang="en-GB" altLang="en-US" sz="2800" b="1" dirty="0">
                <a:solidFill>
                  <a:srgbClr val="FF0000"/>
                </a:solidFill>
              </a:rPr>
              <a:t>the joining thread ( </a:t>
            </a:r>
            <a:r>
              <a:rPr lang="en-GB" altLang="zh-CN" sz="2800" b="1" dirty="0">
                <a:solidFill>
                  <a:srgbClr val="FF0000"/>
                </a:solidFill>
              </a:rPr>
              <a:t>join thread) </a:t>
            </a:r>
            <a:r>
              <a:rPr lang="en-GB" altLang="en-US" sz="2800" dirty="0"/>
              <a:t>, waiting for </a:t>
            </a:r>
            <a:r>
              <a:rPr lang="en-GB" altLang="en-US" sz="2800" b="1" dirty="0">
                <a:solidFill>
                  <a:srgbClr val="FF0000"/>
                </a:solidFill>
              </a:rPr>
              <a:t>the thread to be connected </a:t>
            </a:r>
            <a:r>
              <a:rPr lang="en-GB" altLang="zh-CN" sz="2800" b="1" dirty="0">
                <a:solidFill>
                  <a:srgbClr val="FF0000"/>
                </a:solidFill>
              </a:rPr>
              <a:t>(joined thread) </a:t>
            </a:r>
            <a:r>
              <a:rPr lang="en-GB" altLang="en-US" sz="2800" dirty="0"/>
              <a:t>( the </a:t>
            </a:r>
            <a:r>
              <a:rPr lang="en-GB" altLang="zh-CN" sz="2800" dirty="0"/>
              <a:t>join </a:t>
            </a:r>
            <a:r>
              <a:rPr lang="en-GB" altLang="en-US" sz="2800" dirty="0"/>
              <a:t>method belongs to the connected thread).</a:t>
            </a:r>
            <a:endParaRPr lang="en-US" altLang="zh-CN" sz="2800" dirty="0"/>
          </a:p>
          <a:p>
            <a:pPr>
              <a:buFont typeface="Wingdings" panose="05000000000000000000" pitchFamily="2" charset="2"/>
              <a:buChar char="Ø"/>
            </a:pPr>
            <a:r>
              <a:rPr lang="en-GB" altLang="en-US" sz="2800" dirty="0"/>
              <a:t>Question: In the above </a:t>
            </a:r>
            <a:r>
              <a:rPr lang="en-GB" altLang="zh-CN" sz="2800" dirty="0"/>
              <a:t>ex3-12 </a:t>
            </a:r>
            <a:r>
              <a:rPr lang="en-GB" altLang="en-US" sz="2800" dirty="0"/>
              <a:t>program design, which one is the connecting thread? Which one is the connected thread?</a:t>
            </a:r>
            <a:endParaRPr lang="en-US" altLang="zh-CN" sz="2800" dirty="0"/>
          </a:p>
          <a:p>
            <a:pPr>
              <a:buFont typeface="Wingdings" panose="05000000000000000000" pitchFamily="2" charset="2"/>
              <a:buChar char="Ø"/>
            </a:pPr>
            <a:endParaRPr lang="en-US" altLang="zh-CN"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a:xfrm>
            <a:off x="1752600" y="457200"/>
            <a:ext cx="8229600" cy="431800"/>
          </a:xfrm>
        </p:spPr>
        <p:txBody>
          <a:bodyPr/>
          <a:lstStyle/>
          <a:p>
            <a:pPr algn="l"/>
            <a:r>
              <a:rPr lang="en-GB" altLang="en-US" sz="3200"/>
              <a:t>Connecting thread programming techniques</a:t>
            </a:r>
            <a:endParaRPr lang="en-GB" altLang="en-US" sz="3200"/>
          </a:p>
        </p:txBody>
      </p:sp>
      <p:sp>
        <p:nvSpPr>
          <p:cNvPr id="44035" name="内容占位符 2"/>
          <p:cNvSpPr>
            <a:spLocks noGrp="1"/>
          </p:cNvSpPr>
          <p:nvPr>
            <p:ph idx="1"/>
          </p:nvPr>
        </p:nvSpPr>
        <p:spPr>
          <a:xfrm>
            <a:off x="381000" y="1293814"/>
            <a:ext cx="11506200" cy="44973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anose="05000000000000000000" pitchFamily="2" charset="2"/>
              <a:buChar char="Ø"/>
            </a:pPr>
            <a:r>
              <a:rPr lang="en-GB" altLang="en-US" sz="2800" dirty="0"/>
              <a:t>By calling </a:t>
            </a:r>
            <a:r>
              <a:rPr lang="en-GB" altLang="zh-CN" sz="2800" dirty="0"/>
              <a:t>the join() method, a thread is allowed </a:t>
            </a:r>
            <a:r>
              <a:rPr lang="en-GB" altLang="en-US" sz="2800" b="1" dirty="0">
                <a:solidFill>
                  <a:srgbClr val="FF0000"/>
                </a:solidFill>
              </a:rPr>
              <a:t>to wait for </a:t>
            </a:r>
            <a:r>
              <a:rPr lang="en-GB" altLang="en-US" sz="2800" dirty="0"/>
              <a:t>another thread to finish before continuing . How long should </a:t>
            </a:r>
            <a:r>
              <a:rPr lang="en-GB" altLang="en-US" sz="2800" b="1" dirty="0"/>
              <a:t>the joining thread </a:t>
            </a:r>
            <a:r>
              <a:rPr lang="en-GB" altLang="en-US" sz="2800" dirty="0"/>
              <a:t>wait?</a:t>
            </a:r>
            <a:endParaRPr lang="en-US" altLang="zh-CN" sz="2800" dirty="0"/>
          </a:p>
          <a:p>
            <a:pPr>
              <a:buFont typeface="Wingdings" panose="05000000000000000000" pitchFamily="2" charset="2"/>
              <a:buChar char="Ø"/>
            </a:pPr>
            <a:r>
              <a:rPr lang="en-GB" altLang="en-US" sz="2800" dirty="0"/>
              <a:t>Depends on </a:t>
            </a:r>
            <a:r>
              <a:rPr lang="en-GB" altLang="zh-CN" sz="2800" dirty="0"/>
              <a:t>the join() </a:t>
            </a:r>
            <a:r>
              <a:rPr lang="en-GB" altLang="en-US" sz="2800" dirty="0"/>
              <a:t>parameter:</a:t>
            </a:r>
            <a:endParaRPr lang="en-US" altLang="zh-CN" sz="2800" dirty="0"/>
          </a:p>
          <a:p>
            <a:pPr>
              <a:buFont typeface="Wingdings" panose="05000000000000000000" pitchFamily="2" charset="2"/>
              <a:buChar char="Ø"/>
            </a:pPr>
            <a:r>
              <a:rPr lang="en-GB" altLang="zh-CN" sz="2800" dirty="0"/>
              <a:t>join() ---- </a:t>
            </a:r>
            <a:r>
              <a:rPr lang="en-GB" altLang="en-US" sz="2800" dirty="0"/>
              <a:t>infinitely wait for the connected thread to end</a:t>
            </a:r>
            <a:endParaRPr lang="en-US" altLang="zh-CN" sz="2800" dirty="0"/>
          </a:p>
          <a:p>
            <a:pPr>
              <a:buFont typeface="Wingdings" panose="05000000000000000000" pitchFamily="2" charset="2"/>
              <a:buChar char="Ø"/>
            </a:pPr>
            <a:r>
              <a:rPr lang="en-GB" altLang="zh-CN" sz="2800" dirty="0"/>
              <a:t>join( </a:t>
            </a:r>
            <a:r>
              <a:rPr lang="en-GB" altLang="zh-CN" sz="2400" dirty="0"/>
              <a:t>long milliseconds </a:t>
            </a:r>
            <a:r>
              <a:rPr lang="en-GB" altLang="zh-CN" sz="2800" dirty="0"/>
              <a:t>)---- </a:t>
            </a:r>
            <a:r>
              <a:rPr lang="en-GB" altLang="en-US" sz="2800" dirty="0"/>
              <a:t>Wait for </a:t>
            </a:r>
            <a:r>
              <a:rPr lang="en-GB" altLang="zh-CN" sz="2400" dirty="0"/>
              <a:t>milliseconds </a:t>
            </a:r>
            <a:r>
              <a:rPr lang="en-GB" altLang="en-US" sz="2800" dirty="0"/>
              <a:t>microseconds and then continue execution.</a:t>
            </a:r>
            <a:endParaRPr lang="en-US" altLang="zh-CN" sz="2800" dirty="0"/>
          </a:p>
          <a:p>
            <a:pPr>
              <a:buFont typeface="Wingdings" panose="05000000000000000000" pitchFamily="2" charset="2"/>
              <a:buChar char="Ø"/>
            </a:pPr>
            <a:r>
              <a:rPr lang="en-GB" altLang="zh-CN" sz="2800" dirty="0"/>
              <a:t>join </a:t>
            </a:r>
            <a:r>
              <a:rPr lang="en-GB" altLang="zh-CN" sz="2400" dirty="0"/>
              <a:t>( long milliseconds, int nanoseconds </a:t>
            </a:r>
            <a:r>
              <a:rPr lang="en-GB" altLang="zh-CN" sz="2800" dirty="0"/>
              <a:t>) --- </a:t>
            </a:r>
            <a:r>
              <a:rPr lang="en-GB" altLang="en-US" sz="2800" dirty="0"/>
              <a:t>Wait for </a:t>
            </a:r>
            <a:r>
              <a:rPr lang="en-GB" altLang="zh-CN" sz="2400" dirty="0"/>
              <a:t>nanoseconds </a:t>
            </a:r>
            <a:r>
              <a:rPr lang="en-GB" altLang="en-US" sz="2800" dirty="0"/>
              <a:t>milliseconds or </a:t>
            </a:r>
            <a:r>
              <a:rPr lang="en-GB" altLang="zh-CN" sz="2400" dirty="0"/>
              <a:t>milliseconds </a:t>
            </a:r>
            <a:r>
              <a:rPr lang="en-GB" altLang="en-US" sz="2800" dirty="0"/>
              <a:t>microseconds before continuing</a:t>
            </a:r>
            <a:endParaRPr lang="en-US" altLang="zh-CN"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2"/>
          <p:cNvSpPr>
            <a:spLocks noChangeArrowheads="1"/>
          </p:cNvSpPr>
          <p:nvPr/>
        </p:nvSpPr>
        <p:spPr bwMode="auto">
          <a:xfrm>
            <a:off x="1524001" y="21299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p>
        </p:txBody>
      </p:sp>
      <p:sp>
        <p:nvSpPr>
          <p:cNvPr id="45059" name="Rectangle 6"/>
          <p:cNvSpPr>
            <a:spLocks noRot="1" noChangeArrowheads="1"/>
          </p:cNvSpPr>
          <p:nvPr/>
        </p:nvSpPr>
        <p:spPr bwMode="auto">
          <a:xfrm>
            <a:off x="2590800" y="2895600"/>
            <a:ext cx="64833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SzPct val="85000"/>
              <a:buFont typeface="Wingdings 2" panose="05020102010507070707" pitchFamily="18"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SzPct val="90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en-GB" altLang="en-US" sz="8000" b="1" dirty="0">
                <a:solidFill>
                  <a:srgbClr val="FF0000"/>
                </a:solidFill>
                <a:latin typeface="华文行楷" panose="02010800040101010101" pitchFamily="2" charset="-122"/>
                <a:ea typeface="华文行楷" panose="02010800040101010101" pitchFamily="2" charset="-122"/>
              </a:rPr>
              <a:t>Thanks</a:t>
            </a:r>
            <a:endParaRPr lang="en-US" altLang="zh-CN" sz="8000" b="1" dirty="0">
              <a:solidFill>
                <a:srgbClr val="FF0000"/>
              </a:solidFill>
              <a:latin typeface="华文行楷" panose="02010800040101010101" pitchFamily="2" charset="-122"/>
              <a:ea typeface="华文行楷" panose="02010800040101010101" pitchFamily="2" charset="-122"/>
            </a:endParaRPr>
          </a:p>
        </p:txBody>
      </p:sp>
    </p:spTree>
  </p:cSld>
  <p:clrMapOvr>
    <a:masterClrMapping/>
  </p:clrMapOvr>
</p:sld>
</file>

<file path=ppt/theme/theme1.xml><?xml version="1.0" encoding="utf-8"?>
<a:theme xmlns:a="http://schemas.openxmlformats.org/drawingml/2006/main" name="砖雕艺术">
  <a:themeElements>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砖雕艺术">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砖雕艺术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clrMap bg1="lt1" tx1="dk1" bg2="lt2" tx2="dk2" accent1="accent1" accent2="accent2" accent3="accent3" accent4="accent4" accent5="accent5" accent6="accent6" hlink="hlink" folHlink="folHlink"/>
    </a:extraClrScheme>
    <a:extraClrScheme>
      <a:clrScheme name="砖雕艺术 2">
        <a:dk1>
          <a:srgbClr val="333399"/>
        </a:dk1>
        <a:lt1>
          <a:srgbClr val="ADD3AF"/>
        </a:lt1>
        <a:dk2>
          <a:srgbClr val="D65700"/>
        </a:dk2>
        <a:lt2>
          <a:srgbClr val="B2B2B2"/>
        </a:lt2>
        <a:accent1>
          <a:srgbClr val="B8E9EE"/>
        </a:accent1>
        <a:accent2>
          <a:srgbClr val="FFCC00"/>
        </a:accent2>
        <a:accent3>
          <a:srgbClr val="D3E6D4"/>
        </a:accent3>
        <a:accent4>
          <a:srgbClr val="2A2A82"/>
        </a:accent4>
        <a:accent5>
          <a:srgbClr val="D8F2F5"/>
        </a:accent5>
        <a:accent6>
          <a:srgbClr val="E7B900"/>
        </a:accent6>
        <a:hlink>
          <a:srgbClr val="008080"/>
        </a:hlink>
        <a:folHlink>
          <a:srgbClr val="003366"/>
        </a:folHlink>
      </a:clrScheme>
      <a:clrMap bg1="lt1" tx1="dk1" bg2="lt2" tx2="dk2" accent1="accent1" accent2="accent2" accent3="accent3" accent4="accent4" accent5="accent5" accent6="accent6" hlink="hlink" folHlink="folHlink"/>
    </a:extraClrScheme>
    <a:extraClrScheme>
      <a:clrScheme name="砖雕艺术 3">
        <a:dk1>
          <a:srgbClr val="003BB2"/>
        </a:dk1>
        <a:lt1>
          <a:srgbClr val="CCFFCC"/>
        </a:lt1>
        <a:dk2>
          <a:srgbClr val="003366"/>
        </a:dk2>
        <a:lt2>
          <a:srgbClr val="C0C0C0"/>
        </a:lt2>
        <a:accent1>
          <a:srgbClr val="FFFFFF"/>
        </a:accent1>
        <a:accent2>
          <a:srgbClr val="009900"/>
        </a:accent2>
        <a:accent3>
          <a:srgbClr val="E2FFE2"/>
        </a:accent3>
        <a:accent4>
          <a:srgbClr val="003197"/>
        </a:accent4>
        <a:accent5>
          <a:srgbClr val="FFFFFF"/>
        </a:accent5>
        <a:accent6>
          <a:srgbClr val="008A00"/>
        </a:accent6>
        <a:hlink>
          <a:srgbClr val="333399"/>
        </a:hlink>
        <a:folHlink>
          <a:srgbClr val="E45C00"/>
        </a:folHlink>
      </a:clrScheme>
      <a:clrMap bg1="lt1" tx1="dk1" bg2="lt2" tx2="dk2" accent1="accent1" accent2="accent2" accent3="accent3" accent4="accent4" accent5="accent5" accent6="accent6" hlink="hlink" folHlink="folHlink"/>
    </a:extraClrScheme>
    <a:extraClrScheme>
      <a:clrScheme name="砖雕艺术 4">
        <a:dk1>
          <a:srgbClr val="0000CC"/>
        </a:dk1>
        <a:lt1>
          <a:srgbClr val="CCECFF"/>
        </a:lt1>
        <a:dk2>
          <a:srgbClr val="006666"/>
        </a:dk2>
        <a:lt2>
          <a:srgbClr val="C0C0C0"/>
        </a:lt2>
        <a:accent1>
          <a:srgbClr val="FFFF99"/>
        </a:accent1>
        <a:accent2>
          <a:srgbClr val="FFCCFF"/>
        </a:accent2>
        <a:accent3>
          <a:srgbClr val="E2F4FF"/>
        </a:accent3>
        <a:accent4>
          <a:srgbClr val="0000AE"/>
        </a:accent4>
        <a:accent5>
          <a:srgbClr val="FFFFCA"/>
        </a:accent5>
        <a:accent6>
          <a:srgbClr val="E7B9E7"/>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砖雕艺术 5">
        <a:dk1>
          <a:srgbClr val="000000"/>
        </a:dk1>
        <a:lt1>
          <a:srgbClr val="FFFFCC"/>
        </a:lt1>
        <a:dk2>
          <a:srgbClr val="5A5A86"/>
        </a:dk2>
        <a:lt2>
          <a:srgbClr val="C0C0C0"/>
        </a:lt2>
        <a:accent1>
          <a:srgbClr val="D5E9F7"/>
        </a:accent1>
        <a:accent2>
          <a:srgbClr val="FFCC00"/>
        </a:accent2>
        <a:accent3>
          <a:srgbClr val="FFFFE2"/>
        </a:accent3>
        <a:accent4>
          <a:srgbClr val="000000"/>
        </a:accent4>
        <a:accent5>
          <a:srgbClr val="E7F2FA"/>
        </a:accent5>
        <a:accent6>
          <a:srgbClr val="E7B900"/>
        </a:accent6>
        <a:hlink>
          <a:srgbClr val="CC3300"/>
        </a:hlink>
        <a:folHlink>
          <a:srgbClr val="007D7A"/>
        </a:folHlink>
      </a:clrScheme>
      <a:clrMap bg1="lt1" tx1="dk1" bg2="lt2" tx2="dk2" accent1="accent1" accent2="accent2" accent3="accent3" accent4="accent4" accent5="accent5" accent6="accent6" hlink="hlink" folHlink="folHlink"/>
    </a:extraClrScheme>
    <a:extraClrScheme>
      <a:clrScheme name="砖雕艺术 6">
        <a:dk1>
          <a:srgbClr val="006666"/>
        </a:dk1>
        <a:lt1>
          <a:srgbClr val="FFECD9"/>
        </a:lt1>
        <a:dk2>
          <a:srgbClr val="000099"/>
        </a:dk2>
        <a:lt2>
          <a:srgbClr val="B2B2B2"/>
        </a:lt2>
        <a:accent1>
          <a:srgbClr val="EAEAEA"/>
        </a:accent1>
        <a:accent2>
          <a:srgbClr val="FF6600"/>
        </a:accent2>
        <a:accent3>
          <a:srgbClr val="FFF4E9"/>
        </a:accent3>
        <a:accent4>
          <a:srgbClr val="005656"/>
        </a:accent4>
        <a:accent5>
          <a:srgbClr val="F3F3F3"/>
        </a:accent5>
        <a:accent6>
          <a:srgbClr val="E75C00"/>
        </a:accent6>
        <a:hlink>
          <a:srgbClr val="0066FF"/>
        </a:hlink>
        <a:folHlink>
          <a:srgbClr val="777777"/>
        </a:folHlink>
      </a:clrScheme>
      <a:clrMap bg1="lt1" tx1="dk1" bg2="lt2" tx2="dk2" accent1="accent1" accent2="accent2" accent3="accent3" accent4="accent4" accent5="accent5" accent6="accent6" hlink="hlink" folHlink="folHlink"/>
    </a:extraClrScheme>
    <a:extraClrScheme>
      <a:clrScheme name="砖雕艺术 7">
        <a:dk1>
          <a:srgbClr val="585884"/>
        </a:dk1>
        <a:lt1>
          <a:srgbClr val="DDDDDD"/>
        </a:lt1>
        <a:dk2>
          <a:srgbClr val="000000"/>
        </a:dk2>
        <a:lt2>
          <a:srgbClr val="969696"/>
        </a:lt2>
        <a:accent1>
          <a:srgbClr val="FFFFCC"/>
        </a:accent1>
        <a:accent2>
          <a:srgbClr val="99CC00"/>
        </a:accent2>
        <a:accent3>
          <a:srgbClr val="EBEBEB"/>
        </a:accent3>
        <a:accent4>
          <a:srgbClr val="4A4A70"/>
        </a:accent4>
        <a:accent5>
          <a:srgbClr val="FFFFE2"/>
        </a:accent5>
        <a:accent6>
          <a:srgbClr val="8AB900"/>
        </a:accent6>
        <a:hlink>
          <a:srgbClr val="FF3300"/>
        </a:hlink>
        <a:folHlink>
          <a:srgbClr val="6E3B8B"/>
        </a:folHlink>
      </a:clrScheme>
      <a:clrMap bg1="lt1" tx1="dk1" bg2="lt2" tx2="dk2" accent1="accent1" accent2="accent2" accent3="accent3" accent4="accent4" accent5="accent5" accent6="accent6" hlink="hlink" folHlink="folHlink"/>
    </a:extraClrScheme>
    <a:extraClrScheme>
      <a:clrScheme name="砖雕艺术 8">
        <a:dk1>
          <a:srgbClr val="333399"/>
        </a:dk1>
        <a:lt1>
          <a:srgbClr val="FFD9D9"/>
        </a:lt1>
        <a:dk2>
          <a:srgbClr val="00716E"/>
        </a:dk2>
        <a:lt2>
          <a:srgbClr val="C0C0C0"/>
        </a:lt2>
        <a:accent1>
          <a:srgbClr val="AED2BA"/>
        </a:accent1>
        <a:accent2>
          <a:srgbClr val="FF9933"/>
        </a:accent2>
        <a:accent3>
          <a:srgbClr val="FFE9E9"/>
        </a:accent3>
        <a:accent4>
          <a:srgbClr val="2A2A82"/>
        </a:accent4>
        <a:accent5>
          <a:srgbClr val="D3E5D9"/>
        </a:accent5>
        <a:accent6>
          <a:srgbClr val="E78A2D"/>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18400</Words>
  <Application>WPS 演示</Application>
  <PresentationFormat>Widescreen</PresentationFormat>
  <Paragraphs>452</Paragraphs>
  <Slides>40</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Arial</vt:lpstr>
      <vt:lpstr>宋体</vt:lpstr>
      <vt:lpstr>Wingdings</vt:lpstr>
      <vt:lpstr>Wingdings 2</vt:lpstr>
      <vt:lpstr>华文行楷</vt:lpstr>
      <vt:lpstr>Garamond</vt:lpstr>
      <vt:lpstr>仿宋</vt:lpstr>
      <vt:lpstr>微软雅黑</vt:lpstr>
      <vt:lpstr>Arial Unicode MS</vt:lpstr>
      <vt:lpstr>砖雕艺术</vt:lpstr>
      <vt:lpstr>PowerPoint 演示文稿</vt:lpstr>
      <vt:lpstr>Main content</vt:lpstr>
      <vt:lpstr>Proper application of multithreaded programming technology</vt:lpstr>
      <vt:lpstr>Disadvantages of traditional multithreading</vt:lpstr>
      <vt:lpstr>Java multithreaded concurrent programming framework</vt:lpstr>
      <vt:lpstr>Thread Pool​</vt:lpstr>
      <vt:lpstr>Advantages of the thread pool approach</vt:lpstr>
      <vt:lpstr>Executor framework</vt:lpstr>
      <vt:lpstr>PowerPoint 演示文稿</vt:lpstr>
      <vt:lpstr>Asynchronous computing program structure design model</vt:lpstr>
      <vt:lpstr>Asynchronous computing program structure example</vt:lpstr>
      <vt:lpstr>FindMaxTask.java</vt:lpstr>
      <vt:lpstr>MultithreadedMaxFinder.java</vt:lpstr>
      <vt:lpstr>StartClass.java</vt:lpstr>
      <vt:lpstr>Programming application problem scenario : compressed files</vt:lpstr>
      <vt:lpstr>Using thread pool to implement compressed file programming</vt:lpstr>
      <vt:lpstr>GZipAllFiles.java</vt:lpstr>
      <vt:lpstr>GZipRunnable.java</vt:lpstr>
      <vt:lpstr>Using thread pool to implement compressed file programming</vt:lpstr>
      <vt:lpstr>Thinking extension:</vt:lpstr>
      <vt:lpstr>Multiple threads accessing the same resource</vt:lpstr>
      <vt:lpstr>Synchronous block programming technology</vt:lpstr>
      <vt:lpstr>Synchronous block programming technology application example</vt:lpstr>
      <vt:lpstr>LogFile.java</vt:lpstr>
      <vt:lpstr>LogFile.java</vt:lpstr>
      <vt:lpstr>LogFile.java</vt:lpstr>
      <vt:lpstr>Programming thinking problem</vt:lpstr>
      <vt:lpstr>Problems that may arise from synchronous block programming techniques</vt:lpstr>
      <vt:lpstr>Replacement technology for synchronous programming technology</vt:lpstr>
      <vt:lpstr>Thread Scheduling</vt:lpstr>
      <vt:lpstr>Thread Scheduling</vt:lpstr>
      <vt:lpstr>Questions to think about</vt:lpstr>
      <vt:lpstr>Programming problem scenario: Calculate and display the summary of multiple file security algorithms</vt:lpstr>
      <vt:lpstr>Problem continued: Multithreaded programming using accessor methods</vt:lpstr>
      <vt:lpstr>Problem Solving: Using Connection Threads</vt:lpstr>
      <vt:lpstr>Multithreaded programming using the join thread method</vt:lpstr>
      <vt:lpstr>JoinDigestUserInterface.java</vt:lpstr>
      <vt:lpstr>Connecting thread programming techniques</vt:lpstr>
      <vt:lpstr>Connecting thread programming techniques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mfq</dc:creator>
  <cp:lastModifiedBy>杨韩冰</cp:lastModifiedBy>
  <cp:revision>1407</cp:revision>
  <cp:lastPrinted>2113-01-01T00:00:00Z</cp:lastPrinted>
  <dcterms:created xsi:type="dcterms:W3CDTF">2113-01-01T00:00:00Z</dcterms:created>
  <dcterms:modified xsi:type="dcterms:W3CDTF">2025-05-12T12:14:22Z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596EE6BD5C5542B68D5AE25B72FF31C8_12</vt:lpwstr>
  </property>
  <property fmtid="{D5CDD505-2E9C-101B-9397-08002B2CF9AE}" pid="4" name="KSOProductBuildVer">
    <vt:lpwstr>2052-12.1.0.20305</vt:lpwstr>
  </property>
</Properties>
</file>