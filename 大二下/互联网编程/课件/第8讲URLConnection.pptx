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1"/>
  </p:sldMasterIdLst>
  <p:notesMasterIdLst>
    <p:notesMasterId r:id="rId94"/>
  </p:notesMasterIdLst>
  <p:handoutMasterIdLst>
    <p:handoutMasterId r:id="rId95"/>
  </p:handoutMasterIdLst>
  <p:sldIdLst>
    <p:sldId id="256" r:id="rId2"/>
    <p:sldId id="419" r:id="rId3"/>
    <p:sldId id="352" r:id="rId4"/>
    <p:sldId id="353" r:id="rId5"/>
    <p:sldId id="354" r:id="rId6"/>
    <p:sldId id="420" r:id="rId7"/>
    <p:sldId id="421" r:id="rId8"/>
    <p:sldId id="356" r:id="rId9"/>
    <p:sldId id="422" r:id="rId10"/>
    <p:sldId id="355" r:id="rId11"/>
    <p:sldId id="357" r:id="rId12"/>
    <p:sldId id="358" r:id="rId13"/>
    <p:sldId id="381" r:id="rId14"/>
    <p:sldId id="359" r:id="rId15"/>
    <p:sldId id="423" r:id="rId16"/>
    <p:sldId id="360" r:id="rId17"/>
    <p:sldId id="424" r:id="rId18"/>
    <p:sldId id="425" r:id="rId19"/>
    <p:sldId id="361" r:id="rId20"/>
    <p:sldId id="382" r:id="rId21"/>
    <p:sldId id="427" r:id="rId22"/>
    <p:sldId id="428" r:id="rId23"/>
    <p:sldId id="362" r:id="rId24"/>
    <p:sldId id="383" r:id="rId25"/>
    <p:sldId id="429" r:id="rId26"/>
    <p:sldId id="363" r:id="rId27"/>
    <p:sldId id="384" r:id="rId28"/>
    <p:sldId id="385" r:id="rId29"/>
    <p:sldId id="430" r:id="rId30"/>
    <p:sldId id="431" r:id="rId31"/>
    <p:sldId id="432" r:id="rId32"/>
    <p:sldId id="386" r:id="rId33"/>
    <p:sldId id="387" r:id="rId34"/>
    <p:sldId id="388" r:id="rId35"/>
    <p:sldId id="389" r:id="rId36"/>
    <p:sldId id="391" r:id="rId37"/>
    <p:sldId id="433" r:id="rId38"/>
    <p:sldId id="392" r:id="rId39"/>
    <p:sldId id="434" r:id="rId40"/>
    <p:sldId id="390" r:id="rId41"/>
    <p:sldId id="435" r:id="rId42"/>
    <p:sldId id="436" r:id="rId43"/>
    <p:sldId id="393" r:id="rId44"/>
    <p:sldId id="437" r:id="rId45"/>
    <p:sldId id="364" r:id="rId46"/>
    <p:sldId id="397" r:id="rId47"/>
    <p:sldId id="398" r:id="rId48"/>
    <p:sldId id="399" r:id="rId49"/>
    <p:sldId id="400" r:id="rId50"/>
    <p:sldId id="401" r:id="rId51"/>
    <p:sldId id="402" r:id="rId52"/>
    <p:sldId id="438" r:id="rId53"/>
    <p:sldId id="403" r:id="rId54"/>
    <p:sldId id="396" r:id="rId55"/>
    <p:sldId id="404" r:id="rId56"/>
    <p:sldId id="365" r:id="rId57"/>
    <p:sldId id="405" r:id="rId58"/>
    <p:sldId id="366" r:id="rId59"/>
    <p:sldId id="407" r:id="rId60"/>
    <p:sldId id="406" r:id="rId61"/>
    <p:sldId id="439" r:id="rId62"/>
    <p:sldId id="440" r:id="rId63"/>
    <p:sldId id="441" r:id="rId64"/>
    <p:sldId id="442" r:id="rId65"/>
    <p:sldId id="443" r:id="rId66"/>
    <p:sldId id="395" r:id="rId67"/>
    <p:sldId id="408" r:id="rId68"/>
    <p:sldId id="368" r:id="rId69"/>
    <p:sldId id="369" r:id="rId70"/>
    <p:sldId id="414" r:id="rId71"/>
    <p:sldId id="409" r:id="rId72"/>
    <p:sldId id="370" r:id="rId73"/>
    <p:sldId id="444" r:id="rId74"/>
    <p:sldId id="371" r:id="rId75"/>
    <p:sldId id="410" r:id="rId76"/>
    <p:sldId id="372" r:id="rId77"/>
    <p:sldId id="373" r:id="rId78"/>
    <p:sldId id="374" r:id="rId79"/>
    <p:sldId id="375" r:id="rId80"/>
    <p:sldId id="376" r:id="rId81"/>
    <p:sldId id="411" r:id="rId82"/>
    <p:sldId id="412" r:id="rId83"/>
    <p:sldId id="445" r:id="rId84"/>
    <p:sldId id="446" r:id="rId85"/>
    <p:sldId id="413" r:id="rId86"/>
    <p:sldId id="447" r:id="rId87"/>
    <p:sldId id="394" r:id="rId88"/>
    <p:sldId id="415" r:id="rId89"/>
    <p:sldId id="416" r:id="rId90"/>
    <p:sldId id="417" r:id="rId91"/>
    <p:sldId id="418" r:id="rId92"/>
    <p:sldId id="426" r:id="rId93"/>
  </p:sldIdLst>
  <p:sldSz cx="12192000" cy="6858000"/>
  <p:notesSz cx="7099300" cy="10234613"/>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66"/>
    <a:srgbClr val="006600"/>
    <a:srgbClr val="003300"/>
    <a:srgbClr val="990099"/>
    <a:srgbClr val="FF3399"/>
    <a:srgbClr val="CC00CC"/>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2" autoAdjust="0"/>
    <p:restoredTop sz="94843" autoAdjust="0"/>
  </p:normalViewPr>
  <p:slideViewPr>
    <p:cSldViewPr>
      <p:cViewPr varScale="1">
        <p:scale>
          <a:sx n="113" d="100"/>
          <a:sy n="113" d="100"/>
        </p:scale>
        <p:origin x="474" y="11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1" d="100"/>
          <a:sy n="81" d="100"/>
        </p:scale>
        <p:origin x="3060" y="11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458F9892-A0E0-4EC1-A3E9-E8EBA4B1B010}"/>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74755" name="Rectangle 3">
            <a:extLst>
              <a:ext uri="{FF2B5EF4-FFF2-40B4-BE49-F238E27FC236}">
                <a16:creationId xmlns:a16="http://schemas.microsoft.com/office/drawing/2014/main" id="{03771A78-33B1-487F-A7C0-27FA2CB6E96D}"/>
              </a:ext>
            </a:extLst>
          </p:cNvPr>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pitchFamily="2" charset="-122"/>
              </a:defRPr>
            </a:lvl1pPr>
          </a:lstStyle>
          <a:p>
            <a:pPr>
              <a:defRPr/>
            </a:pPr>
            <a:fld id="{C4F97103-C260-4D9E-B2CC-A265135CD1F2}" type="datetime1">
              <a:rPr lang="zh-CN" altLang="en-US"/>
              <a:pPr>
                <a:defRPr/>
              </a:pPr>
              <a:t>2025/5/29</a:t>
            </a:fld>
            <a:endParaRPr lang="en-US" altLang="zh-CN"/>
          </a:p>
        </p:txBody>
      </p:sp>
      <p:sp>
        <p:nvSpPr>
          <p:cNvPr id="74756" name="Rectangle 4">
            <a:extLst>
              <a:ext uri="{FF2B5EF4-FFF2-40B4-BE49-F238E27FC236}">
                <a16:creationId xmlns:a16="http://schemas.microsoft.com/office/drawing/2014/main" id="{3443263F-62F1-411D-B7BF-A3365F97A68A}"/>
              </a:ext>
            </a:extLst>
          </p:cNvPr>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74757" name="Rectangle 5">
            <a:extLst>
              <a:ext uri="{FF2B5EF4-FFF2-40B4-BE49-F238E27FC236}">
                <a16:creationId xmlns:a16="http://schemas.microsoft.com/office/drawing/2014/main" id="{B3685F02-1D3E-48AB-89F2-87951B4167A1}"/>
              </a:ext>
            </a:extLst>
          </p:cNvPr>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60F90B4-8053-4B87-AD48-CA3B4042BA7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1E069EFC-B4D7-4AF7-AE33-01DB635DA158}"/>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a:latin typeface="Arial" charset="0"/>
                <a:ea typeface="宋体" pitchFamily="2" charset="-122"/>
              </a:defRPr>
            </a:lvl1pPr>
          </a:lstStyle>
          <a:p>
            <a:pPr>
              <a:defRPr/>
            </a:pPr>
            <a:endParaRPr lang="en-US" altLang="zh-CN"/>
          </a:p>
        </p:txBody>
      </p:sp>
      <p:sp>
        <p:nvSpPr>
          <p:cNvPr id="71683" name="Rectangle 3">
            <a:extLst>
              <a:ext uri="{FF2B5EF4-FFF2-40B4-BE49-F238E27FC236}">
                <a16:creationId xmlns:a16="http://schemas.microsoft.com/office/drawing/2014/main" id="{73C6C439-D309-4B03-9418-A0D019B8CD72}"/>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a:latin typeface="Arial" charset="0"/>
                <a:ea typeface="宋体" pitchFamily="2" charset="-122"/>
              </a:defRPr>
            </a:lvl1pPr>
          </a:lstStyle>
          <a:p>
            <a:pPr>
              <a:defRPr/>
            </a:pPr>
            <a:fld id="{D65345B6-D1A2-4034-943A-9F92CDACED67}" type="datetime1">
              <a:rPr lang="zh-CN" altLang="en-US"/>
              <a:pPr>
                <a:defRPr/>
              </a:pPr>
              <a:t>2025/5/29</a:t>
            </a:fld>
            <a:endParaRPr lang="en-US" altLang="zh-CN"/>
          </a:p>
        </p:txBody>
      </p:sp>
      <p:sp>
        <p:nvSpPr>
          <p:cNvPr id="3076" name="Rectangle 4">
            <a:extLst>
              <a:ext uri="{FF2B5EF4-FFF2-40B4-BE49-F238E27FC236}">
                <a16:creationId xmlns:a16="http://schemas.microsoft.com/office/drawing/2014/main" id="{E7A36156-463C-471D-8659-4F01FE3EB8F9}"/>
              </a:ext>
            </a:extLst>
          </p:cNvPr>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685" name="Rectangle 5">
            <a:extLst>
              <a:ext uri="{FF2B5EF4-FFF2-40B4-BE49-F238E27FC236}">
                <a16:creationId xmlns:a16="http://schemas.microsoft.com/office/drawing/2014/main" id="{F6C193C4-509E-4DF7-A901-A76E0101C3BC}"/>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1686" name="Rectangle 6">
            <a:extLst>
              <a:ext uri="{FF2B5EF4-FFF2-40B4-BE49-F238E27FC236}">
                <a16:creationId xmlns:a16="http://schemas.microsoft.com/office/drawing/2014/main" id="{A16A7F2C-2ABB-455D-8EE3-DF90FF7D120D}"/>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a:latin typeface="Arial" charset="0"/>
                <a:ea typeface="宋体" pitchFamily="2" charset="-122"/>
              </a:defRPr>
            </a:lvl1pPr>
          </a:lstStyle>
          <a:p>
            <a:pPr>
              <a:defRPr/>
            </a:pPr>
            <a:endParaRPr lang="en-US" altLang="zh-CN"/>
          </a:p>
        </p:txBody>
      </p:sp>
      <p:sp>
        <p:nvSpPr>
          <p:cNvPr id="71687" name="Rectangle 7">
            <a:extLst>
              <a:ext uri="{FF2B5EF4-FFF2-40B4-BE49-F238E27FC236}">
                <a16:creationId xmlns:a16="http://schemas.microsoft.com/office/drawing/2014/main" id="{6896ED2F-06DA-4E96-BE59-6BE3B0E055BA}"/>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a:lvl1pPr>
          </a:lstStyle>
          <a:p>
            <a:pPr>
              <a:defRPr/>
            </a:pPr>
            <a:fld id="{5EE7D90B-1269-4ECD-A639-A680B8E5750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0D3B3786-F5C8-4C80-8424-1FBA703D9197}"/>
              </a:ext>
            </a:extLst>
          </p:cNvPr>
          <p:cNvSpPr>
            <a:spLocks noGrp="1" noChangeArrowheads="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91A5675-AF45-4780-A133-2E87FADE636B}" type="slidenum">
              <a:rPr lang="en-US" altLang="zh-CN" smtClean="0"/>
              <a:pPr/>
              <a:t>1</a:t>
            </a:fld>
            <a:endParaRPr lang="en-US" altLang="zh-CN"/>
          </a:p>
        </p:txBody>
      </p:sp>
      <p:sp>
        <p:nvSpPr>
          <p:cNvPr id="6147" name="Rectangle 2">
            <a:extLst>
              <a:ext uri="{FF2B5EF4-FFF2-40B4-BE49-F238E27FC236}">
                <a16:creationId xmlns:a16="http://schemas.microsoft.com/office/drawing/2014/main" id="{20E3C3EE-AC6B-4CF9-B65B-925C7F01479A}"/>
              </a:ext>
            </a:extLst>
          </p:cNvPr>
          <p:cNvSpPr>
            <a:spLocks noGrp="1" noRot="1" noChangeAspect="1" noChangeArrowheads="1" noTextEdit="1"/>
          </p:cNvSpPr>
          <p:nvPr>
            <p:ph type="sldImg"/>
          </p:nvPr>
        </p:nvSpPr>
        <p:spPr>
          <a:xfrm>
            <a:off x="139700" y="768350"/>
            <a:ext cx="6819900" cy="3836988"/>
          </a:xfrm>
          <a:ln/>
        </p:spPr>
      </p:sp>
      <p:sp>
        <p:nvSpPr>
          <p:cNvPr id="6148" name="Rectangle 3">
            <a:extLst>
              <a:ext uri="{FF2B5EF4-FFF2-40B4-BE49-F238E27FC236}">
                <a16:creationId xmlns:a16="http://schemas.microsoft.com/office/drawing/2014/main" id="{868A60B0-DE37-4013-8065-8EDECAE33EB8}"/>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FC393F45-5CAC-436E-B9B5-245A5EE5A393}"/>
              </a:ext>
            </a:extLst>
          </p:cNvPr>
          <p:cNvSpPr>
            <a:spLocks noGrp="1" noRot="1" noChangeAspect="1" noTextEdit="1"/>
          </p:cNvSpPr>
          <p:nvPr>
            <p:ph type="sldImg"/>
          </p:nvPr>
        </p:nvSpPr>
        <p:spPr>
          <a:xfrm>
            <a:off x="139700" y="768350"/>
            <a:ext cx="6819900" cy="3836988"/>
          </a:xfrm>
          <a:ln/>
        </p:spPr>
      </p:sp>
      <p:sp>
        <p:nvSpPr>
          <p:cNvPr id="11267" name="备注占位符 2">
            <a:extLst>
              <a:ext uri="{FF2B5EF4-FFF2-40B4-BE49-F238E27FC236}">
                <a16:creationId xmlns:a16="http://schemas.microsoft.com/office/drawing/2014/main" id="{1B27E13D-7803-492B-8474-E6D03476E836}"/>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11268" name="灯片编号占位符 3">
            <a:extLst>
              <a:ext uri="{FF2B5EF4-FFF2-40B4-BE49-F238E27FC236}">
                <a16:creationId xmlns:a16="http://schemas.microsoft.com/office/drawing/2014/main" id="{C7F07187-CC5B-4F9D-A16A-F22414AC8D2A}"/>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0AFE7DF-2679-4207-99CD-09269E2487F9}" type="slidenum">
              <a:rPr lang="zh-CN" altLang="en-US" smtClean="0"/>
              <a:pPr/>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6B37C10A-A0C0-4C42-BBC6-142D8A21DDEF}"/>
              </a:ext>
            </a:extLst>
          </p:cNvPr>
          <p:cNvSpPr>
            <a:spLocks noGrp="1" noRot="1" noChangeAspect="1" noTextEdit="1"/>
          </p:cNvSpPr>
          <p:nvPr>
            <p:ph type="sldImg"/>
          </p:nvPr>
        </p:nvSpPr>
        <p:spPr>
          <a:xfrm>
            <a:off x="139700" y="768350"/>
            <a:ext cx="6819900" cy="3836988"/>
          </a:xfrm>
          <a:ln/>
        </p:spPr>
      </p:sp>
      <p:sp>
        <p:nvSpPr>
          <p:cNvPr id="13315" name="备注占位符 2">
            <a:extLst>
              <a:ext uri="{FF2B5EF4-FFF2-40B4-BE49-F238E27FC236}">
                <a16:creationId xmlns:a16="http://schemas.microsoft.com/office/drawing/2014/main" id="{83442D29-C6DE-425B-9720-EA7CC45F476D}"/>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13316" name="灯片编号占位符 3">
            <a:extLst>
              <a:ext uri="{FF2B5EF4-FFF2-40B4-BE49-F238E27FC236}">
                <a16:creationId xmlns:a16="http://schemas.microsoft.com/office/drawing/2014/main" id="{44A9763D-9CF3-4F70-B326-B4E03BC0BF1C}"/>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7C2FDFC-04B0-474B-88F2-F7EDD63FB060}" type="slidenum">
              <a:rPr lang="zh-CN" altLang="en-US" smtClean="0"/>
              <a:pPr/>
              <a:t>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B310154E-45C3-429A-AEC4-199583951D30}"/>
              </a:ext>
            </a:extLst>
          </p:cNvPr>
          <p:cNvSpPr>
            <a:spLocks noGrp="1" noRot="1" noChangeAspect="1" noTextEdit="1"/>
          </p:cNvSpPr>
          <p:nvPr>
            <p:ph type="sldImg"/>
          </p:nvPr>
        </p:nvSpPr>
        <p:spPr>
          <a:xfrm>
            <a:off x="139700" y="768350"/>
            <a:ext cx="6819900" cy="3836988"/>
          </a:xfrm>
          <a:ln/>
        </p:spPr>
      </p:sp>
      <p:sp>
        <p:nvSpPr>
          <p:cNvPr id="15363" name="备注占位符 2">
            <a:extLst>
              <a:ext uri="{FF2B5EF4-FFF2-40B4-BE49-F238E27FC236}">
                <a16:creationId xmlns:a16="http://schemas.microsoft.com/office/drawing/2014/main" id="{59130F84-A7FC-4F97-A4D2-DD5AE24E8924}"/>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15364" name="灯片编号占位符 3">
            <a:extLst>
              <a:ext uri="{FF2B5EF4-FFF2-40B4-BE49-F238E27FC236}">
                <a16:creationId xmlns:a16="http://schemas.microsoft.com/office/drawing/2014/main" id="{C6102313-A8F9-4C44-ABF6-3B456DE33474}"/>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29F73B5-1AC5-4A6E-8040-BC797207FE60}" type="slidenum">
              <a:rPr lang="zh-CN" altLang="en-US" smtClean="0"/>
              <a:pPr/>
              <a:t>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9E33F13E-E55F-4ED1-A041-00EDC87C3D9D}"/>
              </a:ext>
            </a:extLst>
          </p:cNvPr>
          <p:cNvSpPr>
            <a:spLocks noGrp="1" noRot="1" noChangeAspect="1" noTextEdit="1"/>
          </p:cNvSpPr>
          <p:nvPr>
            <p:ph type="sldImg"/>
          </p:nvPr>
        </p:nvSpPr>
        <p:spPr>
          <a:xfrm>
            <a:off x="139700" y="768350"/>
            <a:ext cx="6819900" cy="3836988"/>
          </a:xfrm>
          <a:ln/>
        </p:spPr>
      </p:sp>
      <p:sp>
        <p:nvSpPr>
          <p:cNvPr id="17411" name="备注占位符 2">
            <a:extLst>
              <a:ext uri="{FF2B5EF4-FFF2-40B4-BE49-F238E27FC236}">
                <a16:creationId xmlns:a16="http://schemas.microsoft.com/office/drawing/2014/main" id="{363ADE4C-C7C3-492D-988D-40275BF256A6}"/>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17412" name="灯片编号占位符 3">
            <a:extLst>
              <a:ext uri="{FF2B5EF4-FFF2-40B4-BE49-F238E27FC236}">
                <a16:creationId xmlns:a16="http://schemas.microsoft.com/office/drawing/2014/main" id="{0DBF366A-D842-4E4F-ACCC-22FB7F2B7693}"/>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1DDCC19-0CED-44D5-9C13-6ADAFA1EEFB6}" type="slidenum">
              <a:rPr lang="zh-CN" altLang="en-US" smtClean="0"/>
              <a:pPr/>
              <a:t>8</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A23C0923-42B5-432F-83AF-B4177C90BF35}"/>
              </a:ext>
            </a:extLst>
          </p:cNvPr>
          <p:cNvSpPr>
            <a:spLocks noGrp="1" noRot="1" noChangeAspect="1" noTextEdit="1"/>
          </p:cNvSpPr>
          <p:nvPr>
            <p:ph type="sldImg"/>
          </p:nvPr>
        </p:nvSpPr>
        <p:spPr>
          <a:xfrm>
            <a:off x="139700" y="768350"/>
            <a:ext cx="6819900" cy="3836988"/>
          </a:xfrm>
          <a:ln/>
        </p:spPr>
      </p:sp>
      <p:sp>
        <p:nvSpPr>
          <p:cNvPr id="19459" name="备注占位符 2">
            <a:extLst>
              <a:ext uri="{FF2B5EF4-FFF2-40B4-BE49-F238E27FC236}">
                <a16:creationId xmlns:a16="http://schemas.microsoft.com/office/drawing/2014/main" id="{F9B9B06B-DA67-49E8-BDAB-378F070DC7BB}"/>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19460" name="灯片编号占位符 3">
            <a:extLst>
              <a:ext uri="{FF2B5EF4-FFF2-40B4-BE49-F238E27FC236}">
                <a16:creationId xmlns:a16="http://schemas.microsoft.com/office/drawing/2014/main" id="{6FEF6861-1742-485D-A938-F06E76EB38C3}"/>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DA7F745-5E70-4A5B-B073-D85490A2970B}" type="slidenum">
              <a:rPr lang="zh-CN" altLang="en-US" smtClean="0"/>
              <a:pPr/>
              <a:t>9</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6AE72E4C-68AA-4E0D-B476-9EE60AE69654}"/>
              </a:ext>
            </a:extLst>
          </p:cNvPr>
          <p:cNvSpPr>
            <a:spLocks noGrp="1" noRot="1" noChangeAspect="1" noTextEdit="1"/>
          </p:cNvSpPr>
          <p:nvPr>
            <p:ph type="sldImg"/>
          </p:nvPr>
        </p:nvSpPr>
        <p:spPr>
          <a:xfrm>
            <a:off x="139700" y="768350"/>
            <a:ext cx="6819900" cy="3836988"/>
          </a:xfrm>
          <a:ln/>
        </p:spPr>
      </p:sp>
      <p:sp>
        <p:nvSpPr>
          <p:cNvPr id="21507" name="备注占位符 2">
            <a:extLst>
              <a:ext uri="{FF2B5EF4-FFF2-40B4-BE49-F238E27FC236}">
                <a16:creationId xmlns:a16="http://schemas.microsoft.com/office/drawing/2014/main" id="{692BBE6E-58E2-4CB4-B479-1B73045569E8}"/>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21508" name="灯片编号占位符 3">
            <a:extLst>
              <a:ext uri="{FF2B5EF4-FFF2-40B4-BE49-F238E27FC236}">
                <a16:creationId xmlns:a16="http://schemas.microsoft.com/office/drawing/2014/main" id="{EDF4367D-88BD-42CD-9D49-4EDC45E9FD3C}"/>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892777D-08F7-4479-B4CA-2DDB6C12C145}" type="slidenum">
              <a:rPr lang="zh-CN" altLang="en-US" smtClean="0"/>
              <a:pPr/>
              <a:t>10</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3CB6D80F-1CBD-4CE2-A879-D17831C9D28D}"/>
              </a:ext>
            </a:extLst>
          </p:cNvPr>
          <p:cNvSpPr>
            <a:spLocks noGrp="1" noRot="1" noChangeAspect="1" noTextEdit="1"/>
          </p:cNvSpPr>
          <p:nvPr>
            <p:ph type="sldImg"/>
          </p:nvPr>
        </p:nvSpPr>
        <p:spPr>
          <a:xfrm>
            <a:off x="139700" y="768350"/>
            <a:ext cx="6819900" cy="3836988"/>
          </a:xfrm>
          <a:ln/>
        </p:spPr>
      </p:sp>
      <p:sp>
        <p:nvSpPr>
          <p:cNvPr id="26627" name="备注占位符 2">
            <a:extLst>
              <a:ext uri="{FF2B5EF4-FFF2-40B4-BE49-F238E27FC236}">
                <a16:creationId xmlns:a16="http://schemas.microsoft.com/office/drawing/2014/main" id="{E416EE46-8A91-4656-BC29-6A62878F0565}"/>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26628" name="灯片编号占位符 3">
            <a:extLst>
              <a:ext uri="{FF2B5EF4-FFF2-40B4-BE49-F238E27FC236}">
                <a16:creationId xmlns:a16="http://schemas.microsoft.com/office/drawing/2014/main" id="{E2D2A3ED-78EF-4262-94BF-CF13363BF0E1}"/>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3EF30F9-0E8F-482E-A7CF-D6D36DC35D23}" type="slidenum">
              <a:rPr lang="zh-CN" altLang="en-US" smtClean="0"/>
              <a:pPr/>
              <a:t>14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76EE136F-D872-442B-B1B5-A46428F0D90A}"/>
              </a:ext>
            </a:extLst>
          </p:cNvPr>
          <p:cNvSpPr>
            <a:spLocks noGrp="1" noRot="1" noChangeAspect="1" noTextEdit="1"/>
          </p:cNvSpPr>
          <p:nvPr>
            <p:ph type="sldImg"/>
          </p:nvPr>
        </p:nvSpPr>
        <p:spPr>
          <a:xfrm>
            <a:off x="139700" y="768350"/>
            <a:ext cx="6819900" cy="3836988"/>
          </a:xfrm>
          <a:ln/>
        </p:spPr>
      </p:sp>
      <p:sp>
        <p:nvSpPr>
          <p:cNvPr id="28675" name="备注占位符 2">
            <a:extLst>
              <a:ext uri="{FF2B5EF4-FFF2-40B4-BE49-F238E27FC236}">
                <a16:creationId xmlns:a16="http://schemas.microsoft.com/office/drawing/2014/main" id="{58FFDC9B-47A3-4878-9A5F-4DB53E3CFF97}"/>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5D64C439-B2B4-4C1F-90C8-6E17EEE51DAB}"/>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DCFEB5F-D9E0-47EF-BE85-E3D401770FE0}" type="slidenum">
              <a:rPr lang="zh-CN" altLang="en-US" smtClean="0"/>
              <a:pPr/>
              <a:t>15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D4376C94-296D-4AF3-BB86-D398792D035E}"/>
              </a:ext>
            </a:extLst>
          </p:cNvPr>
          <p:cNvSpPr>
            <a:spLocks noGrp="1" noRot="1" noChangeAspect="1" noTextEdit="1"/>
          </p:cNvSpPr>
          <p:nvPr>
            <p:ph type="sldImg"/>
          </p:nvPr>
        </p:nvSpPr>
        <p:spPr>
          <a:xfrm>
            <a:off x="139700" y="768350"/>
            <a:ext cx="6819900" cy="3836988"/>
          </a:xfrm>
          <a:ln/>
        </p:spPr>
      </p:sp>
      <p:sp>
        <p:nvSpPr>
          <p:cNvPr id="30723" name="备注占位符 2">
            <a:extLst>
              <a:ext uri="{FF2B5EF4-FFF2-40B4-BE49-F238E27FC236}">
                <a16:creationId xmlns:a16="http://schemas.microsoft.com/office/drawing/2014/main" id="{6A1F4AFF-C6EF-44B7-B46E-5D65F916A068}"/>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30724" name="灯片编号占位符 3">
            <a:extLst>
              <a:ext uri="{FF2B5EF4-FFF2-40B4-BE49-F238E27FC236}">
                <a16:creationId xmlns:a16="http://schemas.microsoft.com/office/drawing/2014/main" id="{890ADA02-BF3E-414A-91B8-9B0C4693F895}"/>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659FE17-949A-4601-B53C-ADEEF3A43AD0}" type="slidenum">
              <a:rPr lang="zh-CN" altLang="en-US" smtClean="0"/>
              <a:pPr/>
              <a:t>16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18110014-0941-4822-B220-4AD6C5FFD5DC}"/>
              </a:ext>
            </a:extLst>
          </p:cNvPr>
          <p:cNvSpPr>
            <a:spLocks noGrp="1" noRot="1" noChangeAspect="1" noTextEdit="1"/>
          </p:cNvSpPr>
          <p:nvPr>
            <p:ph type="sldImg"/>
          </p:nvPr>
        </p:nvSpPr>
        <p:spPr>
          <a:xfrm>
            <a:off x="139700" y="768350"/>
            <a:ext cx="6819900" cy="3836988"/>
          </a:xfrm>
          <a:ln/>
        </p:spPr>
      </p:sp>
      <p:sp>
        <p:nvSpPr>
          <p:cNvPr id="32771" name="备注占位符 2">
            <a:extLst>
              <a:ext uri="{FF2B5EF4-FFF2-40B4-BE49-F238E27FC236}">
                <a16:creationId xmlns:a16="http://schemas.microsoft.com/office/drawing/2014/main" id="{A627F83F-B27A-4785-8E2D-477195C2B606}"/>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32772" name="灯片编号占位符 3">
            <a:extLst>
              <a:ext uri="{FF2B5EF4-FFF2-40B4-BE49-F238E27FC236}">
                <a16:creationId xmlns:a16="http://schemas.microsoft.com/office/drawing/2014/main" id="{47B1C0C5-8B9A-4E89-ACF8-0A11ED5AF998}"/>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A0E8894-880A-44DC-84D3-83F495F6CD69}" type="slidenum">
              <a:rPr lang="zh-CN" altLang="en-US" smtClean="0"/>
              <a:pPr/>
              <a:t>17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DF9294FB-4374-45C2-8F2C-6ACF546BC829}"/>
              </a:ext>
            </a:extLst>
          </p:cNvPr>
          <p:cNvSpPr>
            <a:spLocks noGrp="1" noRot="1" noChangeAspect="1" noTextEdit="1"/>
          </p:cNvSpPr>
          <p:nvPr>
            <p:ph type="sldImg"/>
          </p:nvPr>
        </p:nvSpPr>
        <p:spPr>
          <a:xfrm>
            <a:off x="139700" y="768350"/>
            <a:ext cx="6819900" cy="3836988"/>
          </a:xfrm>
          <a:ln/>
        </p:spPr>
      </p:sp>
      <p:sp>
        <p:nvSpPr>
          <p:cNvPr id="34819" name="备注占位符 2">
            <a:extLst>
              <a:ext uri="{FF2B5EF4-FFF2-40B4-BE49-F238E27FC236}">
                <a16:creationId xmlns:a16="http://schemas.microsoft.com/office/drawing/2014/main" id="{87AB49EC-4052-468B-8399-675847BAB6AE}"/>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34820" name="灯片编号占位符 3">
            <a:extLst>
              <a:ext uri="{FF2B5EF4-FFF2-40B4-BE49-F238E27FC236}">
                <a16:creationId xmlns:a16="http://schemas.microsoft.com/office/drawing/2014/main" id="{7C14E36C-31C8-414E-B96D-CAA0993F6ED9}"/>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08BF22B-045C-45A6-B203-2C91CBB27370}" type="slidenum">
              <a:rPr lang="zh-CN" altLang="en-US" smtClean="0"/>
              <a:pPr/>
              <a:t>18</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A46FD50C-2EA1-4F8B-8BD0-002710B2EBB8}"/>
              </a:ext>
            </a:extLst>
          </p:cNvPr>
          <p:cNvSpPr>
            <a:spLocks noGrp="1" noRot="1" noChangeAspect="1" noTextEdit="1"/>
          </p:cNvSpPr>
          <p:nvPr>
            <p:ph type="sldImg"/>
          </p:nvPr>
        </p:nvSpPr>
        <p:spPr>
          <a:xfrm>
            <a:off x="139700" y="768350"/>
            <a:ext cx="6819900" cy="3836988"/>
          </a:xfrm>
          <a:ln/>
        </p:spPr>
      </p:sp>
      <p:sp>
        <p:nvSpPr>
          <p:cNvPr id="37891" name="备注占位符 2">
            <a:extLst>
              <a:ext uri="{FF2B5EF4-FFF2-40B4-BE49-F238E27FC236}">
                <a16:creationId xmlns:a16="http://schemas.microsoft.com/office/drawing/2014/main" id="{BF89C5B8-A6D1-4320-B756-AC21591AA654}"/>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37892" name="灯片编号占位符 3">
            <a:extLst>
              <a:ext uri="{FF2B5EF4-FFF2-40B4-BE49-F238E27FC236}">
                <a16:creationId xmlns:a16="http://schemas.microsoft.com/office/drawing/2014/main" id="{A3B63EDE-11EF-4C87-91DA-ADF068A8DDE3}"/>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7DDD47A-929E-48BE-89DC-D912F89D35AA}" type="slidenum">
              <a:rPr lang="zh-CN" altLang="en-US" smtClean="0"/>
              <a:pPr/>
              <a:t>20</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99E11987-D286-4610-BB8F-208D69140FA7}"/>
              </a:ext>
            </a:extLst>
          </p:cNvPr>
          <p:cNvSpPr>
            <a:spLocks noGrp="1" noRot="1" noChangeAspect="1" noTextEdit="1"/>
          </p:cNvSpPr>
          <p:nvPr>
            <p:ph type="sldImg"/>
          </p:nvPr>
        </p:nvSpPr>
        <p:spPr>
          <a:xfrm>
            <a:off x="139700" y="768350"/>
            <a:ext cx="6819900" cy="3836988"/>
          </a:xfrm>
          <a:ln/>
        </p:spPr>
      </p:sp>
      <p:sp>
        <p:nvSpPr>
          <p:cNvPr id="39939" name="备注占位符 2">
            <a:extLst>
              <a:ext uri="{FF2B5EF4-FFF2-40B4-BE49-F238E27FC236}">
                <a16:creationId xmlns:a16="http://schemas.microsoft.com/office/drawing/2014/main" id="{482C84C7-CB03-4CD3-81D7-5C8D25B9A25C}"/>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39940" name="灯片编号占位符 3">
            <a:extLst>
              <a:ext uri="{FF2B5EF4-FFF2-40B4-BE49-F238E27FC236}">
                <a16:creationId xmlns:a16="http://schemas.microsoft.com/office/drawing/2014/main" id="{4AB6237A-AB5B-4903-AD9D-30C0E58282C3}"/>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2C8CE50-A9E3-42F3-8BAB-F806C14EBF3F}" type="slidenum">
              <a:rPr lang="zh-CN" altLang="en-US" smtClean="0"/>
              <a:pPr/>
              <a:t>21</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325127E7-AFDD-490F-A697-DE4B33D763B5}"/>
              </a:ext>
            </a:extLst>
          </p:cNvPr>
          <p:cNvSpPr>
            <a:spLocks noGrp="1" noRot="1" noChangeAspect="1" noTextEdit="1"/>
          </p:cNvSpPr>
          <p:nvPr>
            <p:ph type="sldImg"/>
          </p:nvPr>
        </p:nvSpPr>
        <p:spPr>
          <a:xfrm>
            <a:off x="139700" y="768350"/>
            <a:ext cx="6819900" cy="3836988"/>
          </a:xfrm>
          <a:ln/>
        </p:spPr>
      </p:sp>
      <p:sp>
        <p:nvSpPr>
          <p:cNvPr id="41987" name="备注占位符 2">
            <a:extLst>
              <a:ext uri="{FF2B5EF4-FFF2-40B4-BE49-F238E27FC236}">
                <a16:creationId xmlns:a16="http://schemas.microsoft.com/office/drawing/2014/main" id="{633EA47C-0054-49ED-8441-08A94A6B7AD2}"/>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41988" name="灯片编号占位符 3">
            <a:extLst>
              <a:ext uri="{FF2B5EF4-FFF2-40B4-BE49-F238E27FC236}">
                <a16:creationId xmlns:a16="http://schemas.microsoft.com/office/drawing/2014/main" id="{797CFB0F-E804-4830-8B8B-8CAEF10618E1}"/>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4A952C3-8103-4FF5-AFC0-C377EC4FFC53}" type="slidenum">
              <a:rPr lang="zh-CN" altLang="en-US" smtClean="0"/>
              <a:pPr/>
              <a:t>22</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AF1C067D-B68D-4655-9805-7DE7E0E8F0A2}"/>
              </a:ext>
            </a:extLst>
          </p:cNvPr>
          <p:cNvSpPr>
            <a:spLocks noGrp="1" noRot="1" noChangeAspect="1" noTextEdit="1"/>
          </p:cNvSpPr>
          <p:nvPr>
            <p:ph type="sldImg"/>
          </p:nvPr>
        </p:nvSpPr>
        <p:spPr>
          <a:xfrm>
            <a:off x="139700" y="768350"/>
            <a:ext cx="6819900" cy="3836988"/>
          </a:xfrm>
          <a:ln/>
        </p:spPr>
      </p:sp>
      <p:sp>
        <p:nvSpPr>
          <p:cNvPr id="49155" name="备注占位符 2">
            <a:extLst>
              <a:ext uri="{FF2B5EF4-FFF2-40B4-BE49-F238E27FC236}">
                <a16:creationId xmlns:a16="http://schemas.microsoft.com/office/drawing/2014/main" id="{B8D0C3D3-EB5B-4D01-BC1F-F4A1CC436378}"/>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49156" name="灯片编号占位符 3">
            <a:extLst>
              <a:ext uri="{FF2B5EF4-FFF2-40B4-BE49-F238E27FC236}">
                <a16:creationId xmlns:a16="http://schemas.microsoft.com/office/drawing/2014/main" id="{F296A43A-747B-4B82-B922-608F70E42BCC}"/>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133D24F-9597-40B1-80B3-45164CFC215A}" type="slidenum">
              <a:rPr lang="en-US" altLang="zh-CN" smtClean="0"/>
              <a:pPr/>
              <a:t>28</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89FD408D-BD39-48EB-B5E0-FADD781390DB}"/>
              </a:ext>
            </a:extLst>
          </p:cNvPr>
          <p:cNvSpPr>
            <a:spLocks noGrp="1" noRot="1" noChangeAspect="1" noTextEdit="1"/>
          </p:cNvSpPr>
          <p:nvPr>
            <p:ph type="sldImg"/>
          </p:nvPr>
        </p:nvSpPr>
        <p:spPr>
          <a:xfrm>
            <a:off x="139700" y="768350"/>
            <a:ext cx="6819900" cy="3836988"/>
          </a:xfrm>
          <a:ln/>
        </p:spPr>
      </p:sp>
      <p:sp>
        <p:nvSpPr>
          <p:cNvPr id="51203" name="备注占位符 2">
            <a:extLst>
              <a:ext uri="{FF2B5EF4-FFF2-40B4-BE49-F238E27FC236}">
                <a16:creationId xmlns:a16="http://schemas.microsoft.com/office/drawing/2014/main" id="{53282DEF-24F0-4880-AAFD-58B43E72ADEF}"/>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51204" name="灯片编号占位符 3">
            <a:extLst>
              <a:ext uri="{FF2B5EF4-FFF2-40B4-BE49-F238E27FC236}">
                <a16:creationId xmlns:a16="http://schemas.microsoft.com/office/drawing/2014/main" id="{3FE582F5-77AF-47F2-942D-EC9568A15A12}"/>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D638285-A821-4E84-B1CA-E34343930059}" type="slidenum">
              <a:rPr lang="en-US" altLang="zh-CN" smtClean="0"/>
              <a:pPr/>
              <a:t>29</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a:extLst>
              <a:ext uri="{FF2B5EF4-FFF2-40B4-BE49-F238E27FC236}">
                <a16:creationId xmlns:a16="http://schemas.microsoft.com/office/drawing/2014/main" id="{0F118AD3-C46A-4399-A44F-64E8A7FD9073}"/>
              </a:ext>
            </a:extLst>
          </p:cNvPr>
          <p:cNvSpPr>
            <a:spLocks noGrp="1" noRot="1" noChangeAspect="1" noTextEdit="1"/>
          </p:cNvSpPr>
          <p:nvPr>
            <p:ph type="sldImg"/>
          </p:nvPr>
        </p:nvSpPr>
        <p:spPr>
          <a:xfrm>
            <a:off x="139700" y="768350"/>
            <a:ext cx="6819900" cy="3836988"/>
          </a:xfrm>
          <a:ln/>
        </p:spPr>
      </p:sp>
      <p:sp>
        <p:nvSpPr>
          <p:cNvPr id="53251" name="备注占位符 2">
            <a:extLst>
              <a:ext uri="{FF2B5EF4-FFF2-40B4-BE49-F238E27FC236}">
                <a16:creationId xmlns:a16="http://schemas.microsoft.com/office/drawing/2014/main" id="{DD16EDC4-C386-4E37-AE88-F234F90257BA}"/>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53252" name="灯片编号占位符 3">
            <a:extLst>
              <a:ext uri="{FF2B5EF4-FFF2-40B4-BE49-F238E27FC236}">
                <a16:creationId xmlns:a16="http://schemas.microsoft.com/office/drawing/2014/main" id="{FE98EDE9-E21E-4BC1-BA08-8A24BA02F719}"/>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37C7130-7BE5-4915-B34D-B283B3659371}" type="slidenum">
              <a:rPr lang="en-US" altLang="zh-CN" smtClean="0"/>
              <a:pPr/>
              <a:t>30</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a:extLst>
              <a:ext uri="{FF2B5EF4-FFF2-40B4-BE49-F238E27FC236}">
                <a16:creationId xmlns:a16="http://schemas.microsoft.com/office/drawing/2014/main" id="{9111C33C-984B-4B6F-83B9-D305AF1F5142}"/>
              </a:ext>
            </a:extLst>
          </p:cNvPr>
          <p:cNvSpPr>
            <a:spLocks noGrp="1" noRot="1" noChangeAspect="1" noTextEdit="1"/>
          </p:cNvSpPr>
          <p:nvPr>
            <p:ph type="sldImg"/>
          </p:nvPr>
        </p:nvSpPr>
        <p:spPr>
          <a:xfrm>
            <a:off x="139700" y="768350"/>
            <a:ext cx="6819900" cy="3836988"/>
          </a:xfrm>
          <a:ln/>
        </p:spPr>
      </p:sp>
      <p:sp>
        <p:nvSpPr>
          <p:cNvPr id="55299" name="备注占位符 2">
            <a:extLst>
              <a:ext uri="{FF2B5EF4-FFF2-40B4-BE49-F238E27FC236}">
                <a16:creationId xmlns:a16="http://schemas.microsoft.com/office/drawing/2014/main" id="{29E400FA-A27E-4803-8622-FF25B37857C4}"/>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55300" name="灯片编号占位符 3">
            <a:extLst>
              <a:ext uri="{FF2B5EF4-FFF2-40B4-BE49-F238E27FC236}">
                <a16:creationId xmlns:a16="http://schemas.microsoft.com/office/drawing/2014/main" id="{962AA4D1-14EB-4A9B-9BE8-39302398C88B}"/>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3B5961F-1ACD-4982-8A27-1F5421FD2E0E}" type="slidenum">
              <a:rPr lang="en-US" altLang="zh-CN" smtClean="0"/>
              <a:pPr/>
              <a:t>31</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D9B36334-E734-4A56-8A9A-272EA8D9366E}"/>
              </a:ext>
            </a:extLst>
          </p:cNvPr>
          <p:cNvSpPr>
            <a:spLocks noGrp="1" noRot="1" noChangeAspect="1" noTextEdit="1"/>
          </p:cNvSpPr>
          <p:nvPr>
            <p:ph type="sldImg"/>
          </p:nvPr>
        </p:nvSpPr>
        <p:spPr>
          <a:xfrm>
            <a:off x="139700" y="768350"/>
            <a:ext cx="6819900" cy="3836988"/>
          </a:xfrm>
          <a:ln/>
        </p:spPr>
      </p:sp>
      <p:sp>
        <p:nvSpPr>
          <p:cNvPr id="58371" name="备注占位符 2">
            <a:extLst>
              <a:ext uri="{FF2B5EF4-FFF2-40B4-BE49-F238E27FC236}">
                <a16:creationId xmlns:a16="http://schemas.microsoft.com/office/drawing/2014/main" id="{8BF16B6E-BC57-4779-813D-3AA3D1446FDF}"/>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58372" name="灯片编号占位符 3">
            <a:extLst>
              <a:ext uri="{FF2B5EF4-FFF2-40B4-BE49-F238E27FC236}">
                <a16:creationId xmlns:a16="http://schemas.microsoft.com/office/drawing/2014/main" id="{F03A0838-775C-4CD4-B66F-3157038BB276}"/>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AD8B523-1680-4B13-A257-2949E8668ADF}" type="slidenum">
              <a:rPr lang="en-US" altLang="zh-CN" smtClean="0"/>
              <a:pPr/>
              <a:t>33</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a:extLst>
              <a:ext uri="{FF2B5EF4-FFF2-40B4-BE49-F238E27FC236}">
                <a16:creationId xmlns:a16="http://schemas.microsoft.com/office/drawing/2014/main" id="{C363DE50-45F2-4CE1-A804-124530FE965F}"/>
              </a:ext>
            </a:extLst>
          </p:cNvPr>
          <p:cNvSpPr>
            <a:spLocks noGrp="1" noRot="1" noChangeAspect="1" noTextEdit="1"/>
          </p:cNvSpPr>
          <p:nvPr>
            <p:ph type="sldImg"/>
          </p:nvPr>
        </p:nvSpPr>
        <p:spPr>
          <a:xfrm>
            <a:off x="139700" y="768350"/>
            <a:ext cx="6819900" cy="3836988"/>
          </a:xfrm>
          <a:ln/>
        </p:spPr>
      </p:sp>
      <p:sp>
        <p:nvSpPr>
          <p:cNvPr id="60419" name="备注占位符 2">
            <a:extLst>
              <a:ext uri="{FF2B5EF4-FFF2-40B4-BE49-F238E27FC236}">
                <a16:creationId xmlns:a16="http://schemas.microsoft.com/office/drawing/2014/main" id="{D73CEC8C-2B2C-493F-9F9C-7453E3E27C84}"/>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60420" name="灯片编号占位符 3">
            <a:extLst>
              <a:ext uri="{FF2B5EF4-FFF2-40B4-BE49-F238E27FC236}">
                <a16:creationId xmlns:a16="http://schemas.microsoft.com/office/drawing/2014/main" id="{0219DAAC-4331-4B41-8487-C680124EA6F0}"/>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15085DD-CAB5-4019-A0E3-9D6E1C96EE4E}" type="slidenum">
              <a:rPr lang="en-US" altLang="zh-CN" smtClean="0"/>
              <a:pPr/>
              <a:t>34</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9A675B97-4CDE-4C9C-8AA0-EF62C8FF6588}"/>
              </a:ext>
            </a:extLst>
          </p:cNvPr>
          <p:cNvSpPr>
            <a:spLocks noGrp="1" noRot="1" noChangeAspect="1" noTextEdit="1"/>
          </p:cNvSpPr>
          <p:nvPr>
            <p:ph type="sldImg"/>
          </p:nvPr>
        </p:nvSpPr>
        <p:spPr>
          <a:xfrm>
            <a:off x="139700" y="768350"/>
            <a:ext cx="6819900" cy="3836988"/>
          </a:xfrm>
          <a:ln/>
        </p:spPr>
      </p:sp>
      <p:sp>
        <p:nvSpPr>
          <p:cNvPr id="62467" name="备注占位符 2">
            <a:extLst>
              <a:ext uri="{FF2B5EF4-FFF2-40B4-BE49-F238E27FC236}">
                <a16:creationId xmlns:a16="http://schemas.microsoft.com/office/drawing/2014/main" id="{45FB874C-BBCA-41C9-BD79-FE770FB362D4}"/>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62468" name="灯片编号占位符 3">
            <a:extLst>
              <a:ext uri="{FF2B5EF4-FFF2-40B4-BE49-F238E27FC236}">
                <a16:creationId xmlns:a16="http://schemas.microsoft.com/office/drawing/2014/main" id="{6273101A-C7B2-47E8-BA5F-1806ABA66E78}"/>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62FB98F-D7AD-461A-BF12-FBBE261EF8ED}" type="slidenum">
              <a:rPr lang="en-US" altLang="zh-CN" smtClean="0"/>
              <a:pPr/>
              <a:t>35</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a:extLst>
              <a:ext uri="{FF2B5EF4-FFF2-40B4-BE49-F238E27FC236}">
                <a16:creationId xmlns:a16="http://schemas.microsoft.com/office/drawing/2014/main" id="{2337439D-6F3D-4E34-87A0-37D29BC5E19B}"/>
              </a:ext>
            </a:extLst>
          </p:cNvPr>
          <p:cNvSpPr>
            <a:spLocks noGrp="1" noRot="1" noChangeAspect="1" noTextEdit="1"/>
          </p:cNvSpPr>
          <p:nvPr>
            <p:ph type="sldImg"/>
          </p:nvPr>
        </p:nvSpPr>
        <p:spPr>
          <a:xfrm>
            <a:off x="139700" y="768350"/>
            <a:ext cx="6819900" cy="3836988"/>
          </a:xfrm>
          <a:ln/>
        </p:spPr>
      </p:sp>
      <p:sp>
        <p:nvSpPr>
          <p:cNvPr id="64515" name="备注占位符 2">
            <a:extLst>
              <a:ext uri="{FF2B5EF4-FFF2-40B4-BE49-F238E27FC236}">
                <a16:creationId xmlns:a16="http://schemas.microsoft.com/office/drawing/2014/main" id="{38823C70-5528-4B21-9571-DEFD641CBD04}"/>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64516" name="灯片编号占位符 3">
            <a:extLst>
              <a:ext uri="{FF2B5EF4-FFF2-40B4-BE49-F238E27FC236}">
                <a16:creationId xmlns:a16="http://schemas.microsoft.com/office/drawing/2014/main" id="{332A3955-B8B3-40EA-95F7-D81A1D00FF13}"/>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8E2CCE6-38AD-4B3A-9504-0585A65E1E50}" type="slidenum">
              <a:rPr lang="en-US" altLang="zh-CN" smtClean="0"/>
              <a:pPr/>
              <a:t>36</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22C89DF4-2D8C-40A7-B55D-98BE5E3F5856}"/>
              </a:ext>
            </a:extLst>
          </p:cNvPr>
          <p:cNvSpPr>
            <a:spLocks noGrp="1" noRot="1" noChangeAspect="1" noTextEdit="1"/>
          </p:cNvSpPr>
          <p:nvPr>
            <p:ph type="sldImg"/>
          </p:nvPr>
        </p:nvSpPr>
        <p:spPr>
          <a:xfrm>
            <a:off x="139700" y="768350"/>
            <a:ext cx="6819900" cy="3836988"/>
          </a:xfrm>
          <a:ln/>
        </p:spPr>
      </p:sp>
      <p:sp>
        <p:nvSpPr>
          <p:cNvPr id="66563" name="备注占位符 2">
            <a:extLst>
              <a:ext uri="{FF2B5EF4-FFF2-40B4-BE49-F238E27FC236}">
                <a16:creationId xmlns:a16="http://schemas.microsoft.com/office/drawing/2014/main" id="{C18C64A8-9F6B-4666-8A6D-A855729F3415}"/>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66564" name="灯片编号占位符 3">
            <a:extLst>
              <a:ext uri="{FF2B5EF4-FFF2-40B4-BE49-F238E27FC236}">
                <a16:creationId xmlns:a16="http://schemas.microsoft.com/office/drawing/2014/main" id="{2E5B65B9-A8A9-4234-A802-DD11B4DF9AFF}"/>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1D86693-285C-44C7-8B34-CAA01989D3D1}" type="slidenum">
              <a:rPr lang="en-US" altLang="zh-CN" smtClean="0"/>
              <a:pPr/>
              <a:t>37</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a:extLst>
              <a:ext uri="{FF2B5EF4-FFF2-40B4-BE49-F238E27FC236}">
                <a16:creationId xmlns:a16="http://schemas.microsoft.com/office/drawing/2014/main" id="{DF496387-4DE4-464B-8945-0A566D70284F}"/>
              </a:ext>
            </a:extLst>
          </p:cNvPr>
          <p:cNvSpPr>
            <a:spLocks noGrp="1" noRot="1" noChangeAspect="1" noTextEdit="1"/>
          </p:cNvSpPr>
          <p:nvPr>
            <p:ph type="sldImg"/>
          </p:nvPr>
        </p:nvSpPr>
        <p:spPr>
          <a:xfrm>
            <a:off x="139700" y="768350"/>
            <a:ext cx="6819900" cy="3836988"/>
          </a:xfrm>
          <a:ln/>
        </p:spPr>
      </p:sp>
      <p:sp>
        <p:nvSpPr>
          <p:cNvPr id="68611" name="备注占位符 2">
            <a:extLst>
              <a:ext uri="{FF2B5EF4-FFF2-40B4-BE49-F238E27FC236}">
                <a16:creationId xmlns:a16="http://schemas.microsoft.com/office/drawing/2014/main" id="{E3110738-2FC0-4CC1-AF60-4EEE087FF30F}"/>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68612" name="灯片编号占位符 3">
            <a:extLst>
              <a:ext uri="{FF2B5EF4-FFF2-40B4-BE49-F238E27FC236}">
                <a16:creationId xmlns:a16="http://schemas.microsoft.com/office/drawing/2014/main" id="{2AB8DC6C-3820-4D9E-B362-67736ACF8B13}"/>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58036B9-3B6F-4008-8A44-2810D7DA8EAB}" type="slidenum">
              <a:rPr lang="en-US" altLang="zh-CN" smtClean="0"/>
              <a:pPr/>
              <a:t>38</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a:extLst>
              <a:ext uri="{FF2B5EF4-FFF2-40B4-BE49-F238E27FC236}">
                <a16:creationId xmlns:a16="http://schemas.microsoft.com/office/drawing/2014/main" id="{232A31F2-F7F2-4317-8469-C21F6085ECFA}"/>
              </a:ext>
            </a:extLst>
          </p:cNvPr>
          <p:cNvSpPr>
            <a:spLocks noGrp="1" noRot="1" noChangeAspect="1" noTextEdit="1"/>
          </p:cNvSpPr>
          <p:nvPr>
            <p:ph type="sldImg"/>
          </p:nvPr>
        </p:nvSpPr>
        <p:spPr>
          <a:xfrm>
            <a:off x="139700" y="768350"/>
            <a:ext cx="6819900" cy="3836988"/>
          </a:xfrm>
          <a:ln/>
        </p:spPr>
      </p:sp>
      <p:sp>
        <p:nvSpPr>
          <p:cNvPr id="70659" name="备注占位符 2">
            <a:extLst>
              <a:ext uri="{FF2B5EF4-FFF2-40B4-BE49-F238E27FC236}">
                <a16:creationId xmlns:a16="http://schemas.microsoft.com/office/drawing/2014/main" id="{85FC9689-522E-49B0-A994-D201F0991725}"/>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70660" name="灯片编号占位符 3">
            <a:extLst>
              <a:ext uri="{FF2B5EF4-FFF2-40B4-BE49-F238E27FC236}">
                <a16:creationId xmlns:a16="http://schemas.microsoft.com/office/drawing/2014/main" id="{DE2B7768-2EAD-450A-BE10-13B3274C7058}"/>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E02D82E-29EC-4E0A-86F3-D32AAF4A1B3B}" type="slidenum">
              <a:rPr lang="en-US" altLang="zh-CN" smtClean="0"/>
              <a:pPr/>
              <a:t>39</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a:extLst>
              <a:ext uri="{FF2B5EF4-FFF2-40B4-BE49-F238E27FC236}">
                <a16:creationId xmlns:a16="http://schemas.microsoft.com/office/drawing/2014/main" id="{ECF31FBF-7336-4201-AB76-C80E2F179FC5}"/>
              </a:ext>
            </a:extLst>
          </p:cNvPr>
          <p:cNvSpPr>
            <a:spLocks noGrp="1" noRot="1" noChangeAspect="1" noTextEdit="1"/>
          </p:cNvSpPr>
          <p:nvPr>
            <p:ph type="sldImg"/>
          </p:nvPr>
        </p:nvSpPr>
        <p:spPr>
          <a:xfrm>
            <a:off x="139700" y="768350"/>
            <a:ext cx="6819900" cy="3836988"/>
          </a:xfrm>
          <a:ln/>
        </p:spPr>
      </p:sp>
      <p:sp>
        <p:nvSpPr>
          <p:cNvPr id="72707" name="备注占位符 2">
            <a:extLst>
              <a:ext uri="{FF2B5EF4-FFF2-40B4-BE49-F238E27FC236}">
                <a16:creationId xmlns:a16="http://schemas.microsoft.com/office/drawing/2014/main" id="{0151082B-4F0A-404C-9C54-996D9002A774}"/>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72708" name="灯片编号占位符 3">
            <a:extLst>
              <a:ext uri="{FF2B5EF4-FFF2-40B4-BE49-F238E27FC236}">
                <a16:creationId xmlns:a16="http://schemas.microsoft.com/office/drawing/2014/main" id="{FE8863AC-6FC5-4D98-8126-976470A40F18}"/>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9532E66-7D7A-4061-92B3-0FC90190CA88}" type="slidenum">
              <a:rPr lang="en-US" altLang="zh-CN" smtClean="0"/>
              <a:pPr/>
              <a:t>40</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a:extLst>
              <a:ext uri="{FF2B5EF4-FFF2-40B4-BE49-F238E27FC236}">
                <a16:creationId xmlns:a16="http://schemas.microsoft.com/office/drawing/2014/main" id="{522514C9-D324-462A-9DC4-6F2C68DA85BA}"/>
              </a:ext>
            </a:extLst>
          </p:cNvPr>
          <p:cNvSpPr>
            <a:spLocks noGrp="1" noRot="1" noChangeAspect="1" noTextEdit="1"/>
          </p:cNvSpPr>
          <p:nvPr>
            <p:ph type="sldImg"/>
          </p:nvPr>
        </p:nvSpPr>
        <p:spPr>
          <a:xfrm>
            <a:off x="139700" y="768350"/>
            <a:ext cx="6819900" cy="3836988"/>
          </a:xfrm>
          <a:ln/>
        </p:spPr>
      </p:sp>
      <p:sp>
        <p:nvSpPr>
          <p:cNvPr id="74755" name="备注占位符 2">
            <a:extLst>
              <a:ext uri="{FF2B5EF4-FFF2-40B4-BE49-F238E27FC236}">
                <a16:creationId xmlns:a16="http://schemas.microsoft.com/office/drawing/2014/main" id="{874484FF-AB5A-42D4-A675-21F40586463E}"/>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74756" name="灯片编号占位符 3">
            <a:extLst>
              <a:ext uri="{FF2B5EF4-FFF2-40B4-BE49-F238E27FC236}">
                <a16:creationId xmlns:a16="http://schemas.microsoft.com/office/drawing/2014/main" id="{2515B2F3-A320-4BA8-BB6C-EAA7BB5809E7}"/>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43318FA-22D5-4778-8A34-3E2FA946757D}" type="slidenum">
              <a:rPr lang="en-US" altLang="zh-CN" smtClean="0"/>
              <a:pPr/>
              <a:t>41</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B3A426DA-E079-4830-84D1-1337B847BACC}"/>
              </a:ext>
            </a:extLst>
          </p:cNvPr>
          <p:cNvSpPr>
            <a:spLocks noGrp="1" noRot="1" noChangeAspect="1" noTextEdit="1"/>
          </p:cNvSpPr>
          <p:nvPr>
            <p:ph type="sldImg"/>
          </p:nvPr>
        </p:nvSpPr>
        <p:spPr>
          <a:xfrm>
            <a:off x="139700" y="768350"/>
            <a:ext cx="6819900" cy="3836988"/>
          </a:xfrm>
          <a:ln/>
        </p:spPr>
      </p:sp>
      <p:sp>
        <p:nvSpPr>
          <p:cNvPr id="76803" name="备注占位符 2">
            <a:extLst>
              <a:ext uri="{FF2B5EF4-FFF2-40B4-BE49-F238E27FC236}">
                <a16:creationId xmlns:a16="http://schemas.microsoft.com/office/drawing/2014/main" id="{26893144-7F5B-4A03-9DDC-6D066A8CB493}"/>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76804" name="灯片编号占位符 3">
            <a:extLst>
              <a:ext uri="{FF2B5EF4-FFF2-40B4-BE49-F238E27FC236}">
                <a16:creationId xmlns:a16="http://schemas.microsoft.com/office/drawing/2014/main" id="{D19B00B4-5B28-40F3-89D3-F23195D31697}"/>
              </a:ext>
            </a:extLst>
          </p:cNvPr>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4A02ECC-6C63-4F4B-9532-034F4960E699}" type="slidenum">
              <a:rPr lang="en-US" altLang="zh-CN" smtClean="0"/>
              <a:pPr/>
              <a:t>42</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69634" name="Rectangle 2"/>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a:t>单击此处编辑母版标题样式</a:t>
            </a:r>
          </a:p>
        </p:txBody>
      </p:sp>
      <p:sp>
        <p:nvSpPr>
          <p:cNvPr id="69635" name="Rectangle 3"/>
          <p:cNvSpPr>
            <a:spLocks noGrp="1" noRot="1" noChangeArrowheads="1"/>
          </p:cNvSpPr>
          <p:nvPr>
            <p:ph type="subTitle" idx="1"/>
          </p:nvPr>
        </p:nvSpPr>
        <p:spPr>
          <a:xfrm>
            <a:off x="1828800" y="3886200"/>
            <a:ext cx="8534400" cy="1752600"/>
          </a:xfrm>
        </p:spPr>
        <p:txBody>
          <a:bodyPr/>
          <a:lstStyle>
            <a:lvl1pPr marL="0" indent="0" algn="ctr">
              <a:buFont typeface="Wingdings 2" pitchFamily="18" charset="2"/>
              <a:buNone/>
              <a:defRPr/>
            </a:lvl1pPr>
          </a:lstStyle>
          <a:p>
            <a:pPr lvl="0"/>
            <a:r>
              <a:rPr lang="zh-CN" altLang="en-US" noProof="0"/>
              <a:t>单击此处编辑母版副标题样式</a:t>
            </a:r>
          </a:p>
        </p:txBody>
      </p:sp>
      <p:sp>
        <p:nvSpPr>
          <p:cNvPr id="4" name="Rectangle 4">
            <a:extLst>
              <a:ext uri="{FF2B5EF4-FFF2-40B4-BE49-F238E27FC236}">
                <a16:creationId xmlns:a16="http://schemas.microsoft.com/office/drawing/2014/main" id="{32D04320-41C5-4021-8C81-8468A1070DEF}"/>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644A3FB-70EC-41FB-82A9-9F82CCA70229}"/>
              </a:ext>
            </a:extLst>
          </p:cNvPr>
          <p:cNvSpPr>
            <a:spLocks noGrp="1" noChangeArrowheads="1"/>
          </p:cNvSpPr>
          <p:nvPr>
            <p:ph type="ftr" sz="quarter" idx="11"/>
          </p:nvPr>
        </p:nvSpPr>
        <p:spPr/>
        <p:txBody>
          <a:bodyPr/>
          <a:lstStyle>
            <a:lvl1pPr>
              <a:defRPr/>
            </a:lvl1pPr>
          </a:lstStyle>
          <a:p>
            <a:pPr>
              <a:defRPr/>
            </a:pPr>
            <a:r>
              <a:rPr lang="en-US" altLang="zh-CN"/>
              <a:t>CSASC</a:t>
            </a:r>
          </a:p>
        </p:txBody>
      </p:sp>
      <p:sp>
        <p:nvSpPr>
          <p:cNvPr id="6" name="Rectangle 6">
            <a:extLst>
              <a:ext uri="{FF2B5EF4-FFF2-40B4-BE49-F238E27FC236}">
                <a16:creationId xmlns:a16="http://schemas.microsoft.com/office/drawing/2014/main" id="{A563D529-4DFF-407F-B5FF-6975E8ED12D2}"/>
              </a:ext>
            </a:extLst>
          </p:cNvPr>
          <p:cNvSpPr>
            <a:spLocks noGrp="1" noChangeArrowheads="1"/>
          </p:cNvSpPr>
          <p:nvPr>
            <p:ph type="sldNum" sz="quarter" idx="12"/>
          </p:nvPr>
        </p:nvSpPr>
        <p:spPr/>
        <p:txBody>
          <a:bodyPr/>
          <a:lstStyle>
            <a:lvl1pPr>
              <a:defRPr/>
            </a:lvl1pPr>
          </a:lstStyle>
          <a:p>
            <a:pPr>
              <a:defRPr/>
            </a:pPr>
            <a:fld id="{C95FDCE6-A7A8-4C19-B95A-CEC990D9494A}" type="slidenum">
              <a:rPr lang="en-US" altLang="zh-CN"/>
              <a:pPr>
                <a:defRPr/>
              </a:pPr>
              <a:t>‹#›</a:t>
            </a:fld>
            <a:endParaRPr lang="en-US" altLang="zh-CN"/>
          </a:p>
        </p:txBody>
      </p:sp>
    </p:spTree>
    <p:extLst>
      <p:ext uri="{BB962C8B-B14F-4D97-AF65-F5344CB8AC3E}">
        <p14:creationId xmlns:p14="http://schemas.microsoft.com/office/powerpoint/2010/main" val="4006032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A795568-56E9-4A1C-ACDF-CB046B46599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22F6FB0-B70E-4CC3-9505-574C85AF34C6}"/>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6" name="Rectangle 6">
            <a:extLst>
              <a:ext uri="{FF2B5EF4-FFF2-40B4-BE49-F238E27FC236}">
                <a16:creationId xmlns:a16="http://schemas.microsoft.com/office/drawing/2014/main" id="{1361F12C-1B8E-49EA-BF7A-BDF0C15B812C}"/>
              </a:ext>
            </a:extLst>
          </p:cNvPr>
          <p:cNvSpPr>
            <a:spLocks noGrp="1" noChangeArrowheads="1"/>
          </p:cNvSpPr>
          <p:nvPr>
            <p:ph type="sldNum" sz="quarter" idx="12"/>
          </p:nvPr>
        </p:nvSpPr>
        <p:spPr>
          <a:ln/>
        </p:spPr>
        <p:txBody>
          <a:bodyPr/>
          <a:lstStyle>
            <a:lvl1pPr>
              <a:defRPr/>
            </a:lvl1pPr>
          </a:lstStyle>
          <a:p>
            <a:pPr>
              <a:defRPr/>
            </a:pPr>
            <a:fld id="{708D8E75-19A4-468E-83BC-8FD0505362CF}" type="slidenum">
              <a:rPr lang="en-US" altLang="zh-CN"/>
              <a:pPr>
                <a:defRPr/>
              </a:pPr>
              <a:t>‹#›</a:t>
            </a:fld>
            <a:endParaRPr lang="en-US" altLang="zh-CN"/>
          </a:p>
        </p:txBody>
      </p:sp>
    </p:spTree>
    <p:extLst>
      <p:ext uri="{BB962C8B-B14F-4D97-AF65-F5344CB8AC3E}">
        <p14:creationId xmlns:p14="http://schemas.microsoft.com/office/powerpoint/2010/main" val="3027521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B445E801-B748-49DC-AE15-28FB030B715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9327033-8CBC-443A-BF91-90AA77E0288A}"/>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6" name="Rectangle 6">
            <a:extLst>
              <a:ext uri="{FF2B5EF4-FFF2-40B4-BE49-F238E27FC236}">
                <a16:creationId xmlns:a16="http://schemas.microsoft.com/office/drawing/2014/main" id="{1867C640-B292-4500-9D46-D1E651DEFC5E}"/>
              </a:ext>
            </a:extLst>
          </p:cNvPr>
          <p:cNvSpPr>
            <a:spLocks noGrp="1" noChangeArrowheads="1"/>
          </p:cNvSpPr>
          <p:nvPr>
            <p:ph type="sldNum" sz="quarter" idx="12"/>
          </p:nvPr>
        </p:nvSpPr>
        <p:spPr>
          <a:ln/>
        </p:spPr>
        <p:txBody>
          <a:bodyPr/>
          <a:lstStyle>
            <a:lvl1pPr>
              <a:defRPr/>
            </a:lvl1pPr>
          </a:lstStyle>
          <a:p>
            <a:pPr>
              <a:defRPr/>
            </a:pPr>
            <a:fld id="{071BE336-7A27-479D-AAD1-F206663944B9}" type="slidenum">
              <a:rPr lang="en-US" altLang="zh-CN"/>
              <a:pPr>
                <a:defRPr/>
              </a:pPr>
              <a:t>‹#›</a:t>
            </a:fld>
            <a:endParaRPr lang="en-US" altLang="zh-CN"/>
          </a:p>
        </p:txBody>
      </p:sp>
    </p:spTree>
    <p:extLst>
      <p:ext uri="{BB962C8B-B14F-4D97-AF65-F5344CB8AC3E}">
        <p14:creationId xmlns:p14="http://schemas.microsoft.com/office/powerpoint/2010/main" val="2107866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2168"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1"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530B3AC8-C219-48C5-9377-F063016BE58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4332DC8-3D86-419B-80FD-D39BAEB200AD}"/>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7" name="Rectangle 6">
            <a:extLst>
              <a:ext uri="{FF2B5EF4-FFF2-40B4-BE49-F238E27FC236}">
                <a16:creationId xmlns:a16="http://schemas.microsoft.com/office/drawing/2014/main" id="{A24601B1-691D-4DDB-9D83-47BF4892E8A3}"/>
              </a:ext>
            </a:extLst>
          </p:cNvPr>
          <p:cNvSpPr>
            <a:spLocks noGrp="1" noChangeArrowheads="1"/>
          </p:cNvSpPr>
          <p:nvPr>
            <p:ph type="sldNum" sz="quarter" idx="12"/>
          </p:nvPr>
        </p:nvSpPr>
        <p:spPr>
          <a:ln/>
        </p:spPr>
        <p:txBody>
          <a:bodyPr/>
          <a:lstStyle>
            <a:lvl1pPr>
              <a:defRPr/>
            </a:lvl1pPr>
          </a:lstStyle>
          <a:p>
            <a:pPr>
              <a:defRPr/>
            </a:pPr>
            <a:fld id="{0EF7DEC3-A863-4C43-B9CD-6A3AF90DE4CF}" type="slidenum">
              <a:rPr lang="en-US" altLang="zh-CN"/>
              <a:pPr>
                <a:defRPr/>
              </a:pPr>
              <a:t>‹#›</a:t>
            </a:fld>
            <a:endParaRPr lang="en-US" altLang="zh-CN"/>
          </a:p>
        </p:txBody>
      </p:sp>
    </p:spTree>
    <p:extLst>
      <p:ext uri="{BB962C8B-B14F-4D97-AF65-F5344CB8AC3E}">
        <p14:creationId xmlns:p14="http://schemas.microsoft.com/office/powerpoint/2010/main" val="2235849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B662C6D2-F188-4517-B895-CA241DF7965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39842E88-CD8A-480F-B65C-68FCCE1636CC}"/>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9" name="Rectangle 6">
            <a:extLst>
              <a:ext uri="{FF2B5EF4-FFF2-40B4-BE49-F238E27FC236}">
                <a16:creationId xmlns:a16="http://schemas.microsoft.com/office/drawing/2014/main" id="{BB324940-DF70-4872-977E-D64C255BC9FE}"/>
              </a:ext>
            </a:extLst>
          </p:cNvPr>
          <p:cNvSpPr>
            <a:spLocks noGrp="1" noChangeArrowheads="1"/>
          </p:cNvSpPr>
          <p:nvPr>
            <p:ph type="sldNum" sz="quarter" idx="12"/>
          </p:nvPr>
        </p:nvSpPr>
        <p:spPr>
          <a:ln/>
        </p:spPr>
        <p:txBody>
          <a:bodyPr/>
          <a:lstStyle>
            <a:lvl1pPr>
              <a:defRPr/>
            </a:lvl1pPr>
          </a:lstStyle>
          <a:p>
            <a:pPr>
              <a:defRPr/>
            </a:pPr>
            <a:fld id="{6C646E0E-EE02-4E1C-BAAA-38DD66723B89}" type="slidenum">
              <a:rPr lang="en-US" altLang="zh-CN"/>
              <a:pPr>
                <a:defRPr/>
              </a:pPr>
              <a:t>‹#›</a:t>
            </a:fld>
            <a:endParaRPr lang="en-US" altLang="zh-CN"/>
          </a:p>
        </p:txBody>
      </p:sp>
    </p:spTree>
    <p:extLst>
      <p:ext uri="{BB962C8B-B14F-4D97-AF65-F5344CB8AC3E}">
        <p14:creationId xmlns:p14="http://schemas.microsoft.com/office/powerpoint/2010/main" val="3910898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BF889273-85DB-4DF2-965C-6DEFB08FC02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F7EECEA4-AD97-4F3B-BB0A-BC88651C6F8F}"/>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5" name="Rectangle 6">
            <a:extLst>
              <a:ext uri="{FF2B5EF4-FFF2-40B4-BE49-F238E27FC236}">
                <a16:creationId xmlns:a16="http://schemas.microsoft.com/office/drawing/2014/main" id="{1E04029A-807A-4766-BEBB-01D71AE98E97}"/>
              </a:ext>
            </a:extLst>
          </p:cNvPr>
          <p:cNvSpPr>
            <a:spLocks noGrp="1" noChangeArrowheads="1"/>
          </p:cNvSpPr>
          <p:nvPr>
            <p:ph type="sldNum" sz="quarter" idx="12"/>
          </p:nvPr>
        </p:nvSpPr>
        <p:spPr>
          <a:ln/>
        </p:spPr>
        <p:txBody>
          <a:bodyPr/>
          <a:lstStyle>
            <a:lvl1pPr>
              <a:defRPr/>
            </a:lvl1pPr>
          </a:lstStyle>
          <a:p>
            <a:pPr>
              <a:defRPr/>
            </a:pPr>
            <a:fld id="{8B5480FD-2FE3-4DB8-A104-627316789689}" type="slidenum">
              <a:rPr lang="en-US" altLang="zh-CN"/>
              <a:pPr>
                <a:defRPr/>
              </a:pPr>
              <a:t>‹#›</a:t>
            </a:fld>
            <a:endParaRPr lang="en-US" altLang="zh-CN"/>
          </a:p>
        </p:txBody>
      </p:sp>
    </p:spTree>
    <p:extLst>
      <p:ext uri="{BB962C8B-B14F-4D97-AF65-F5344CB8AC3E}">
        <p14:creationId xmlns:p14="http://schemas.microsoft.com/office/powerpoint/2010/main" val="2071370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11BCB11-82D1-4AB3-A762-619C42F3A38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CA30E5D0-C4B3-4778-83FF-00C8DC2A25E8}"/>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4" name="Rectangle 6">
            <a:extLst>
              <a:ext uri="{FF2B5EF4-FFF2-40B4-BE49-F238E27FC236}">
                <a16:creationId xmlns:a16="http://schemas.microsoft.com/office/drawing/2014/main" id="{32BDD310-CA77-440E-8316-21F080DFA5A6}"/>
              </a:ext>
            </a:extLst>
          </p:cNvPr>
          <p:cNvSpPr>
            <a:spLocks noGrp="1" noChangeArrowheads="1"/>
          </p:cNvSpPr>
          <p:nvPr>
            <p:ph type="sldNum" sz="quarter" idx="12"/>
          </p:nvPr>
        </p:nvSpPr>
        <p:spPr>
          <a:ln/>
        </p:spPr>
        <p:txBody>
          <a:bodyPr/>
          <a:lstStyle>
            <a:lvl1pPr>
              <a:defRPr/>
            </a:lvl1pPr>
          </a:lstStyle>
          <a:p>
            <a:pPr>
              <a:defRPr/>
            </a:pPr>
            <a:fld id="{ED69E8C7-F9B4-4FB8-9138-8E1DB967F9BC}" type="slidenum">
              <a:rPr lang="en-US" altLang="zh-CN"/>
              <a:pPr>
                <a:defRPr/>
              </a:pPr>
              <a:t>‹#›</a:t>
            </a:fld>
            <a:endParaRPr lang="en-US" altLang="zh-CN"/>
          </a:p>
        </p:txBody>
      </p:sp>
    </p:spTree>
    <p:extLst>
      <p:ext uri="{BB962C8B-B14F-4D97-AF65-F5344CB8AC3E}">
        <p14:creationId xmlns:p14="http://schemas.microsoft.com/office/powerpoint/2010/main" val="1850445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E1F0530-15D1-4298-86AD-495AFB9D719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94D8203-604F-4B1B-BE7D-7B88900375A3}"/>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7" name="Rectangle 6">
            <a:extLst>
              <a:ext uri="{FF2B5EF4-FFF2-40B4-BE49-F238E27FC236}">
                <a16:creationId xmlns:a16="http://schemas.microsoft.com/office/drawing/2014/main" id="{513362C9-BAE1-426B-98FC-D1E503E772B8}"/>
              </a:ext>
            </a:extLst>
          </p:cNvPr>
          <p:cNvSpPr>
            <a:spLocks noGrp="1" noChangeArrowheads="1"/>
          </p:cNvSpPr>
          <p:nvPr>
            <p:ph type="sldNum" sz="quarter" idx="12"/>
          </p:nvPr>
        </p:nvSpPr>
        <p:spPr>
          <a:ln/>
        </p:spPr>
        <p:txBody>
          <a:bodyPr/>
          <a:lstStyle>
            <a:lvl1pPr>
              <a:defRPr/>
            </a:lvl1pPr>
          </a:lstStyle>
          <a:p>
            <a:pPr>
              <a:defRPr/>
            </a:pPr>
            <a:fld id="{EDEB723A-2112-4258-BD19-C9F03D086825}" type="slidenum">
              <a:rPr lang="en-US" altLang="zh-CN"/>
              <a:pPr>
                <a:defRPr/>
              </a:pPr>
              <a:t>‹#›</a:t>
            </a:fld>
            <a:endParaRPr lang="en-US" altLang="zh-CN"/>
          </a:p>
        </p:txBody>
      </p:sp>
    </p:spTree>
    <p:extLst>
      <p:ext uri="{BB962C8B-B14F-4D97-AF65-F5344CB8AC3E}">
        <p14:creationId xmlns:p14="http://schemas.microsoft.com/office/powerpoint/2010/main" val="93076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ACE282E8-D505-46D9-914A-CD8EBB769AC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C5838E8-A693-45B8-8729-63095732DCEB}"/>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7" name="Rectangle 6">
            <a:extLst>
              <a:ext uri="{FF2B5EF4-FFF2-40B4-BE49-F238E27FC236}">
                <a16:creationId xmlns:a16="http://schemas.microsoft.com/office/drawing/2014/main" id="{7320CB2E-E403-4087-B79A-DFDB004DE752}"/>
              </a:ext>
            </a:extLst>
          </p:cNvPr>
          <p:cNvSpPr>
            <a:spLocks noGrp="1" noChangeArrowheads="1"/>
          </p:cNvSpPr>
          <p:nvPr>
            <p:ph type="sldNum" sz="quarter" idx="12"/>
          </p:nvPr>
        </p:nvSpPr>
        <p:spPr>
          <a:ln/>
        </p:spPr>
        <p:txBody>
          <a:bodyPr/>
          <a:lstStyle>
            <a:lvl1pPr>
              <a:defRPr/>
            </a:lvl1pPr>
          </a:lstStyle>
          <a:p>
            <a:pPr>
              <a:defRPr/>
            </a:pPr>
            <a:fld id="{20CF7058-4D66-4EEF-B87B-AE98ADA9664E}" type="slidenum">
              <a:rPr lang="en-US" altLang="zh-CN"/>
              <a:pPr>
                <a:defRPr/>
              </a:pPr>
              <a:t>‹#›</a:t>
            </a:fld>
            <a:endParaRPr lang="en-US" altLang="zh-CN"/>
          </a:p>
        </p:txBody>
      </p:sp>
    </p:spTree>
    <p:extLst>
      <p:ext uri="{BB962C8B-B14F-4D97-AF65-F5344CB8AC3E}">
        <p14:creationId xmlns:p14="http://schemas.microsoft.com/office/powerpoint/2010/main" val="25838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8AE7885-DE83-475C-84C3-37E093F85E1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7A585E2-270B-4371-8644-17319850B2FF}"/>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6" name="Rectangle 6">
            <a:extLst>
              <a:ext uri="{FF2B5EF4-FFF2-40B4-BE49-F238E27FC236}">
                <a16:creationId xmlns:a16="http://schemas.microsoft.com/office/drawing/2014/main" id="{E055F730-A957-40F6-97EE-1485AEC6DE5E}"/>
              </a:ext>
            </a:extLst>
          </p:cNvPr>
          <p:cNvSpPr>
            <a:spLocks noGrp="1" noChangeArrowheads="1"/>
          </p:cNvSpPr>
          <p:nvPr>
            <p:ph type="sldNum" sz="quarter" idx="12"/>
          </p:nvPr>
        </p:nvSpPr>
        <p:spPr>
          <a:ln/>
        </p:spPr>
        <p:txBody>
          <a:bodyPr/>
          <a:lstStyle>
            <a:lvl1pPr>
              <a:defRPr/>
            </a:lvl1pPr>
          </a:lstStyle>
          <a:p>
            <a:pPr>
              <a:defRPr/>
            </a:pPr>
            <a:fld id="{24E19281-0EB4-460F-A57E-531EC6C9A4DF}" type="slidenum">
              <a:rPr lang="en-US" altLang="zh-CN"/>
              <a:pPr>
                <a:defRPr/>
              </a:pPr>
              <a:t>‹#›</a:t>
            </a:fld>
            <a:endParaRPr lang="en-US" altLang="zh-CN"/>
          </a:p>
        </p:txBody>
      </p:sp>
    </p:spTree>
    <p:extLst>
      <p:ext uri="{BB962C8B-B14F-4D97-AF65-F5344CB8AC3E}">
        <p14:creationId xmlns:p14="http://schemas.microsoft.com/office/powerpoint/2010/main" val="855875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2918" y="228601"/>
            <a:ext cx="2846916" cy="5870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2167" y="228601"/>
            <a:ext cx="8337551" cy="5870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B6A8618-761B-4F01-B53D-D1B7FDA70AB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C7538B4-21CE-4A16-B32A-E095FDEC5469}"/>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6" name="Rectangle 6">
            <a:extLst>
              <a:ext uri="{FF2B5EF4-FFF2-40B4-BE49-F238E27FC236}">
                <a16:creationId xmlns:a16="http://schemas.microsoft.com/office/drawing/2014/main" id="{0350D724-C609-4A79-BE78-CB256BA11898}"/>
              </a:ext>
            </a:extLst>
          </p:cNvPr>
          <p:cNvSpPr>
            <a:spLocks noGrp="1" noChangeArrowheads="1"/>
          </p:cNvSpPr>
          <p:nvPr>
            <p:ph type="sldNum" sz="quarter" idx="12"/>
          </p:nvPr>
        </p:nvSpPr>
        <p:spPr>
          <a:ln/>
        </p:spPr>
        <p:txBody>
          <a:bodyPr/>
          <a:lstStyle>
            <a:lvl1pPr>
              <a:defRPr/>
            </a:lvl1pPr>
          </a:lstStyle>
          <a:p>
            <a:pPr>
              <a:defRPr/>
            </a:pPr>
            <a:fld id="{BAA07E59-993A-4C22-839D-1A2BE00205B6}" type="slidenum">
              <a:rPr lang="en-US" altLang="zh-CN"/>
              <a:pPr>
                <a:defRPr/>
              </a:pPr>
              <a:t>‹#›</a:t>
            </a:fld>
            <a:endParaRPr lang="en-US" altLang="zh-CN"/>
          </a:p>
        </p:txBody>
      </p:sp>
    </p:spTree>
    <p:extLst>
      <p:ext uri="{BB962C8B-B14F-4D97-AF65-F5344CB8AC3E}">
        <p14:creationId xmlns:p14="http://schemas.microsoft.com/office/powerpoint/2010/main" val="1362344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228600"/>
            <a:ext cx="1138766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02168" y="1600200"/>
            <a:ext cx="5592233"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1" y="1600200"/>
            <a:ext cx="5592233"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76092EAE-6712-4CF6-829C-D9D993AA5C3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9E5E557-F124-42EB-9983-3B98CFE176F8}"/>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7" name="Rectangle 6">
            <a:extLst>
              <a:ext uri="{FF2B5EF4-FFF2-40B4-BE49-F238E27FC236}">
                <a16:creationId xmlns:a16="http://schemas.microsoft.com/office/drawing/2014/main" id="{C71D6033-A30F-4293-816E-204568AB53A8}"/>
              </a:ext>
            </a:extLst>
          </p:cNvPr>
          <p:cNvSpPr>
            <a:spLocks noGrp="1" noChangeArrowheads="1"/>
          </p:cNvSpPr>
          <p:nvPr>
            <p:ph type="sldNum" sz="quarter" idx="12"/>
          </p:nvPr>
        </p:nvSpPr>
        <p:spPr>
          <a:ln/>
        </p:spPr>
        <p:txBody>
          <a:bodyPr/>
          <a:lstStyle>
            <a:lvl1pPr>
              <a:defRPr/>
            </a:lvl1pPr>
          </a:lstStyle>
          <a:p>
            <a:pPr>
              <a:defRPr/>
            </a:pPr>
            <a:fld id="{C3CFFD5D-B0A8-41B6-925A-271ED8BAA36C}" type="slidenum">
              <a:rPr lang="en-US" altLang="zh-CN"/>
              <a:pPr>
                <a:defRPr/>
              </a:pPr>
              <a:t>‹#›</a:t>
            </a:fld>
            <a:endParaRPr lang="en-US" altLang="zh-CN"/>
          </a:p>
        </p:txBody>
      </p:sp>
    </p:spTree>
    <p:extLst>
      <p:ext uri="{BB962C8B-B14F-4D97-AF65-F5344CB8AC3E}">
        <p14:creationId xmlns:p14="http://schemas.microsoft.com/office/powerpoint/2010/main" val="2736398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7F5680F-AAA7-4AB2-ADCF-1D4D4675EC4C}"/>
              </a:ext>
            </a:extLst>
          </p:cNvPr>
          <p:cNvSpPr>
            <a:spLocks noGrp="1" noRot="1" noChangeArrowheads="1"/>
          </p:cNvSpPr>
          <p:nvPr>
            <p:ph type="title"/>
          </p:nvPr>
        </p:nvSpPr>
        <p:spPr bwMode="auto">
          <a:xfrm>
            <a:off x="402167" y="228600"/>
            <a:ext cx="1138766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44BC4B4C-BDD6-4677-AD36-47EB302D476D}"/>
              </a:ext>
            </a:extLst>
          </p:cNvPr>
          <p:cNvSpPr>
            <a:spLocks noGrp="1" noRot="1" noChangeArrowheads="1"/>
          </p:cNvSpPr>
          <p:nvPr>
            <p:ph type="body" idx="1"/>
          </p:nvPr>
        </p:nvSpPr>
        <p:spPr bwMode="auto">
          <a:xfrm>
            <a:off x="402167" y="1600200"/>
            <a:ext cx="11387667"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8612" name="Rectangle 4">
            <a:extLst>
              <a:ext uri="{FF2B5EF4-FFF2-40B4-BE49-F238E27FC236}">
                <a16:creationId xmlns:a16="http://schemas.microsoft.com/office/drawing/2014/main" id="{1FCC4441-67A4-4F12-A0E9-6740F01E7A91}"/>
              </a:ext>
            </a:extLst>
          </p:cNvPr>
          <p:cNvSpPr>
            <a:spLocks noGrp="1" noChangeArrowheads="1"/>
          </p:cNvSpPr>
          <p:nvPr>
            <p:ph type="dt" sz="half" idx="2"/>
          </p:nvPr>
        </p:nvSpPr>
        <p:spPr bwMode="auto">
          <a:xfrm>
            <a:off x="402167"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pitchFamily="2" charset="-122"/>
              </a:defRPr>
            </a:lvl1pPr>
          </a:lstStyle>
          <a:p>
            <a:pPr>
              <a:defRPr/>
            </a:pPr>
            <a:endParaRPr lang="en-US" altLang="zh-CN"/>
          </a:p>
        </p:txBody>
      </p:sp>
      <p:sp>
        <p:nvSpPr>
          <p:cNvPr id="68613" name="Rectangle 5">
            <a:extLst>
              <a:ext uri="{FF2B5EF4-FFF2-40B4-BE49-F238E27FC236}">
                <a16:creationId xmlns:a16="http://schemas.microsoft.com/office/drawing/2014/main" id="{4527F022-BD24-463F-BC47-F7699B7BADF1}"/>
              </a:ext>
            </a:extLst>
          </p:cNvPr>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pitchFamily="2" charset="-122"/>
              </a:defRPr>
            </a:lvl1pPr>
          </a:lstStyle>
          <a:p>
            <a:pPr>
              <a:defRPr/>
            </a:pPr>
            <a:r>
              <a:rPr lang="en-US" altLang="zh-CN"/>
              <a:t>CSASC</a:t>
            </a:r>
          </a:p>
        </p:txBody>
      </p:sp>
      <p:sp>
        <p:nvSpPr>
          <p:cNvPr id="68614" name="Rectangle 6">
            <a:extLst>
              <a:ext uri="{FF2B5EF4-FFF2-40B4-BE49-F238E27FC236}">
                <a16:creationId xmlns:a16="http://schemas.microsoft.com/office/drawing/2014/main" id="{6D75D86E-71EC-493F-BD32-0368A0888D20}"/>
              </a:ext>
            </a:extLst>
          </p:cNvPr>
          <p:cNvSpPr>
            <a:spLocks noGrp="1" noChangeArrowheads="1"/>
          </p:cNvSpPr>
          <p:nvPr>
            <p:ph type="sldNum" sz="quarter" idx="4"/>
          </p:nvPr>
        </p:nvSpPr>
        <p:spPr bwMode="auto">
          <a:xfrm>
            <a:off x="8737601"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507672C9-A9DB-4D1C-81AC-F6F092B4FD1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028" r:id="rId1"/>
    <p:sldLayoutId id="2147484017" r:id="rId2"/>
    <p:sldLayoutId id="2147484018" r:id="rId3"/>
    <p:sldLayoutId id="2147484019" r:id="rId4"/>
    <p:sldLayoutId id="2147484020" r:id="rId5"/>
    <p:sldLayoutId id="2147484021" r:id="rId6"/>
    <p:sldLayoutId id="2147484022" r:id="rId7"/>
    <p:sldLayoutId id="2147484023" r:id="rId8"/>
    <p:sldLayoutId id="2147484024" r:id="rId9"/>
    <p:sldLayoutId id="2147484025" r:id="rId10"/>
    <p:sldLayoutId id="2147484026" r:id="rId11"/>
    <p:sldLayoutId id="2147484027"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szu.edu.cn/szu.asp"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www.orielly.com/"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www.cafeaulait.org/"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www.cafeaulait.org/books/jnp4/postquery.phtml"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www.cafeaulait.org/sliders&#19981;&#23384;&#22312;&#26102;&#65292;&#26381;&#21153;&#22120;&#36820;&#22238;404"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http://download.oracle.com/technetwork/java/javase/6/docs/zh/api/java/net/URLConnection.html"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a:extLst>
              <a:ext uri="{FF2B5EF4-FFF2-40B4-BE49-F238E27FC236}">
                <a16:creationId xmlns:a16="http://schemas.microsoft.com/office/drawing/2014/main" id="{C902BA95-1F7E-4CD3-B2B2-FF5EC1C44BDF}"/>
              </a:ext>
            </a:extLst>
          </p:cNvPr>
          <p:cNvSpPr>
            <a:spLocks noGrp="1" noChangeArrowheads="1"/>
          </p:cNvSpPr>
          <p:nvPr>
            <p:ph type="sldNum" sz="quarter" idx="12"/>
          </p:nvPr>
        </p:nvSpPr>
        <p:spPr>
          <a:noFill/>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9A590A8-8526-4417-90F0-9CD012BED5EF}" type="slidenum">
              <a:rPr lang="en-US" altLang="zh-CN" sz="1400"/>
              <a:pPr>
                <a:spcBef>
                  <a:spcPct val="0"/>
                </a:spcBef>
                <a:buClrTx/>
                <a:buSzTx/>
                <a:buFontTx/>
                <a:buNone/>
              </a:pPr>
              <a:t>1</a:t>
            </a:fld>
            <a:endParaRPr lang="en-US" altLang="zh-CN" sz="1400"/>
          </a:p>
        </p:txBody>
      </p:sp>
      <p:sp>
        <p:nvSpPr>
          <p:cNvPr id="5123" name="Rectangle 6">
            <a:extLst>
              <a:ext uri="{FF2B5EF4-FFF2-40B4-BE49-F238E27FC236}">
                <a16:creationId xmlns:a16="http://schemas.microsoft.com/office/drawing/2014/main" id="{779850F3-0281-4EDA-B34D-F5F331C75A85}"/>
              </a:ext>
            </a:extLst>
          </p:cNvPr>
          <p:cNvSpPr>
            <a:spLocks noRot="1" noChangeArrowheads="1"/>
          </p:cNvSpPr>
          <p:nvPr/>
        </p:nvSpPr>
        <p:spPr bwMode="auto">
          <a:xfrm>
            <a:off x="1676400" y="1295400"/>
            <a:ext cx="85407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zh-CN" altLang="en-US" sz="4800" b="1" dirty="0">
                <a:solidFill>
                  <a:srgbClr val="FF0000"/>
                </a:solidFill>
                <a:latin typeface="华文行楷" panose="02010800040101010101" pitchFamily="2" charset="-122"/>
                <a:ea typeface="华文行楷" panose="02010800040101010101" pitchFamily="2" charset="-122"/>
              </a:rPr>
              <a:t>互联网编程</a:t>
            </a:r>
            <a:endParaRPr lang="en-US" altLang="zh-CN" sz="4800" b="1" dirty="0">
              <a:solidFill>
                <a:srgbClr val="FF0000"/>
              </a:solidFill>
              <a:latin typeface="华文行楷" panose="02010800040101010101" pitchFamily="2" charset="-122"/>
              <a:ea typeface="华文行楷" panose="02010800040101010101" pitchFamily="2" charset="-122"/>
            </a:endParaRPr>
          </a:p>
          <a:p>
            <a:pPr algn="ctr" eaLnBrk="1" hangingPunct="1">
              <a:buFont typeface="Wingdings 2" panose="05020102010507070707" pitchFamily="18" charset="2"/>
              <a:buNone/>
            </a:pPr>
            <a:r>
              <a:rPr lang="zh-CN" altLang="en-US" sz="4800" b="1" dirty="0">
                <a:latin typeface="华文行楷" panose="02010800040101010101" pitchFamily="2" charset="-122"/>
                <a:ea typeface="华文行楷" panose="02010800040101010101" pitchFamily="2" charset="-122"/>
              </a:rPr>
              <a:t>第</a:t>
            </a:r>
            <a:r>
              <a:rPr lang="en-US" altLang="zh-CN" sz="4800" b="1" dirty="0">
                <a:latin typeface="华文行楷" panose="02010800040101010101" pitchFamily="2" charset="-122"/>
                <a:ea typeface="华文行楷" panose="02010800040101010101" pitchFamily="2" charset="-122"/>
              </a:rPr>
              <a:t>7</a:t>
            </a:r>
            <a:r>
              <a:rPr lang="zh-CN" altLang="en-US" sz="4800" b="1" dirty="0">
                <a:latin typeface="华文行楷" panose="02010800040101010101" pitchFamily="2" charset="-122"/>
                <a:ea typeface="华文行楷" panose="02010800040101010101" pitchFamily="2" charset="-122"/>
              </a:rPr>
              <a:t>章</a:t>
            </a:r>
            <a:endParaRPr lang="en-US" altLang="zh-CN" sz="4800" b="1" dirty="0">
              <a:latin typeface="华文行楷" panose="02010800040101010101" pitchFamily="2" charset="-122"/>
              <a:ea typeface="华文行楷" panose="02010800040101010101" pitchFamily="2" charset="-122"/>
            </a:endParaRPr>
          </a:p>
          <a:p>
            <a:pPr algn="ctr" eaLnBrk="1" hangingPunct="1">
              <a:buFont typeface="Wingdings 2" panose="05020102010507070707" pitchFamily="18" charset="2"/>
              <a:buNone/>
            </a:pPr>
            <a:r>
              <a:rPr lang="en-US" altLang="zh-CN" sz="4800" b="1" dirty="0" err="1">
                <a:latin typeface="黑体" panose="02010609060101010101" pitchFamily="49" charset="-122"/>
                <a:ea typeface="黑体" panose="02010609060101010101" pitchFamily="49" charset="-122"/>
              </a:rPr>
              <a:t>URLConnection</a:t>
            </a:r>
            <a:endParaRPr lang="en-US" altLang="zh-CN" sz="4800" dirty="0">
              <a:latin typeface="黑体" panose="02010609060101010101" pitchFamily="49" charset="-122"/>
              <a:ea typeface="黑体" panose="02010609060101010101" pitchFamily="49" charset="-122"/>
            </a:endParaRPr>
          </a:p>
        </p:txBody>
      </p:sp>
      <p:sp>
        <p:nvSpPr>
          <p:cNvPr id="5124" name="Rectangle 8">
            <a:extLst>
              <a:ext uri="{FF2B5EF4-FFF2-40B4-BE49-F238E27FC236}">
                <a16:creationId xmlns:a16="http://schemas.microsoft.com/office/drawing/2014/main" id="{4252A434-5D64-4059-847C-27659FD143BF}"/>
              </a:ext>
            </a:extLst>
          </p:cNvPr>
          <p:cNvSpPr>
            <a:spLocks noRot="1" noChangeArrowheads="1"/>
          </p:cNvSpPr>
          <p:nvPr/>
        </p:nvSpPr>
        <p:spPr bwMode="auto">
          <a:xfrm>
            <a:off x="6477000" y="5715000"/>
            <a:ext cx="396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zh-CN" altLang="en-US" sz="2000" b="1">
                <a:solidFill>
                  <a:schemeClr val="tx2"/>
                </a:solidFill>
              </a:rPr>
              <a:t>深圳大学计算机与软件学院</a:t>
            </a:r>
            <a:endParaRPr lang="zh-CN" altLang="en-US" sz="2000" b="1" i="1">
              <a:solidFill>
                <a:schemeClr val="tx2"/>
              </a:solidFill>
            </a:endParaRPr>
          </a:p>
        </p:txBody>
      </p:sp>
      <p:pic>
        <p:nvPicPr>
          <p:cNvPr id="5125" name="Picture 10" descr="szu">
            <a:extLst>
              <a:ext uri="{FF2B5EF4-FFF2-40B4-BE49-F238E27FC236}">
                <a16:creationId xmlns:a16="http://schemas.microsoft.com/office/drawing/2014/main" id="{FA7A2D3F-A1D3-4A32-B647-CC730E9995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28601"/>
            <a:ext cx="25146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BE1B2589-B871-4D4E-A8AA-263D953E3651}"/>
              </a:ext>
            </a:extLst>
          </p:cNvPr>
          <p:cNvSpPr>
            <a:spLocks noGrp="1"/>
          </p:cNvSpPr>
          <p:nvPr>
            <p:ph type="title"/>
          </p:nvPr>
        </p:nvSpPr>
        <p:spPr/>
        <p:txBody>
          <a:bodyPr/>
          <a:lstStyle/>
          <a:p>
            <a:pPr algn="l"/>
            <a:r>
              <a:rPr lang="zh-CN" altLang="en-US" sz="3200" b="1">
                <a:solidFill>
                  <a:srgbClr val="C00000"/>
                </a:solidFill>
              </a:rPr>
              <a:t>主要内容</a:t>
            </a:r>
          </a:p>
        </p:txBody>
      </p:sp>
      <p:sp>
        <p:nvSpPr>
          <p:cNvPr id="7171" name="内容占位符 2">
            <a:extLst>
              <a:ext uri="{FF2B5EF4-FFF2-40B4-BE49-F238E27FC236}">
                <a16:creationId xmlns:a16="http://schemas.microsoft.com/office/drawing/2014/main" id="{D95CBCBB-D1B3-449D-B54D-773E9AC94489}"/>
              </a:ext>
            </a:extLst>
          </p:cNvPr>
          <p:cNvSpPr>
            <a:spLocks noGrp="1"/>
          </p:cNvSpPr>
          <p:nvPr>
            <p:ph idx="1"/>
          </p:nvPr>
        </p:nvSpPr>
        <p:spPr>
          <a:xfrm>
            <a:off x="1828800" y="1219201"/>
            <a:ext cx="8540750" cy="44989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buFont typeface="Wingdings" panose="05000000000000000000" pitchFamily="2" charset="2"/>
              <a:buChar char="n"/>
            </a:pPr>
            <a:r>
              <a:rPr lang="en-US" altLang="zh-CN" sz="2800" dirty="0">
                <a:solidFill>
                  <a:schemeClr val="tx2"/>
                </a:solidFill>
                <a:latin typeface="宋体" panose="02010600030101010101" pitchFamily="2" charset="-122"/>
              </a:rPr>
              <a:t>1.URLConnection</a:t>
            </a:r>
            <a:r>
              <a:rPr lang="zh-CN" altLang="en-US" sz="2800" dirty="0">
                <a:solidFill>
                  <a:schemeClr val="tx2"/>
                </a:solidFill>
                <a:latin typeface="宋体" panose="02010600030101010101" pitchFamily="2" charset="-122"/>
              </a:rPr>
              <a:t>简介</a:t>
            </a:r>
            <a:endParaRPr lang="en-US" altLang="zh-CN" sz="2800" dirty="0">
              <a:solidFill>
                <a:schemeClr val="tx2"/>
              </a:solidFill>
              <a:latin typeface="宋体" panose="02010600030101010101" pitchFamily="2" charset="-122"/>
            </a:endParaRPr>
          </a:p>
          <a:p>
            <a:pPr eaLnBrk="1" hangingPunct="1">
              <a:lnSpc>
                <a:spcPct val="150000"/>
              </a:lnSpc>
              <a:buFont typeface="Wingdings" panose="05000000000000000000" pitchFamily="2" charset="2"/>
              <a:buChar char="n"/>
            </a:pPr>
            <a:r>
              <a:rPr lang="en-US" altLang="zh-CN" sz="2800" dirty="0">
                <a:solidFill>
                  <a:schemeClr val="tx2"/>
                </a:solidFill>
                <a:latin typeface="宋体" panose="02010600030101010101" pitchFamily="2" charset="-122"/>
              </a:rPr>
              <a:t>2.</a:t>
            </a:r>
            <a:r>
              <a:rPr lang="zh-CN" altLang="en-US" sz="2800" dirty="0">
                <a:solidFill>
                  <a:schemeClr val="tx2"/>
                </a:solidFill>
                <a:latin typeface="宋体" panose="02010600030101010101" pitchFamily="2" charset="-122"/>
              </a:rPr>
              <a:t>读取服务器数据</a:t>
            </a:r>
            <a:endParaRPr lang="en-US" altLang="zh-CN" sz="2800" dirty="0">
              <a:solidFill>
                <a:schemeClr val="tx2"/>
              </a:solidFill>
              <a:latin typeface="宋体" panose="02010600030101010101" pitchFamily="2" charset="-122"/>
            </a:endParaRPr>
          </a:p>
          <a:p>
            <a:pPr eaLnBrk="1" hangingPunct="1">
              <a:lnSpc>
                <a:spcPct val="150000"/>
              </a:lnSpc>
              <a:buFont typeface="Wingdings" panose="05000000000000000000" pitchFamily="2" charset="2"/>
              <a:buChar char="n"/>
            </a:pPr>
            <a:r>
              <a:rPr lang="en-US" altLang="zh-CN" sz="2800" dirty="0">
                <a:solidFill>
                  <a:schemeClr val="tx2"/>
                </a:solidFill>
                <a:latin typeface="宋体" panose="02010600030101010101" pitchFamily="2" charset="-122"/>
              </a:rPr>
              <a:t>3.</a:t>
            </a:r>
            <a:r>
              <a:rPr lang="zh-CN" altLang="en-US" sz="2800" dirty="0">
                <a:solidFill>
                  <a:schemeClr val="tx2"/>
                </a:solidFill>
                <a:latin typeface="宋体" panose="02010600030101010101" pitchFamily="2" charset="-122"/>
              </a:rPr>
              <a:t>缓存</a:t>
            </a:r>
            <a:endParaRPr lang="en-US" altLang="zh-CN" sz="2800" dirty="0">
              <a:solidFill>
                <a:schemeClr val="tx2"/>
              </a:solidFill>
              <a:latin typeface="宋体" panose="02010600030101010101" pitchFamily="2" charset="-122"/>
            </a:endParaRPr>
          </a:p>
          <a:p>
            <a:pPr eaLnBrk="1" hangingPunct="1">
              <a:lnSpc>
                <a:spcPct val="150000"/>
              </a:lnSpc>
              <a:buFont typeface="Wingdings" panose="05000000000000000000" pitchFamily="2" charset="2"/>
              <a:buChar char="n"/>
            </a:pPr>
            <a:r>
              <a:rPr lang="en-US" altLang="zh-CN" sz="2800" dirty="0">
                <a:solidFill>
                  <a:schemeClr val="tx2"/>
                </a:solidFill>
                <a:latin typeface="宋体" panose="02010600030101010101" pitchFamily="2" charset="-122"/>
              </a:rPr>
              <a:t>4.</a:t>
            </a:r>
            <a:r>
              <a:rPr lang="zh-CN" altLang="en-US" sz="2800" dirty="0">
                <a:solidFill>
                  <a:schemeClr val="tx2"/>
                </a:solidFill>
                <a:latin typeface="宋体" panose="02010600030101010101" pitchFamily="2" charset="-122"/>
              </a:rPr>
              <a:t>连接与请求配置</a:t>
            </a:r>
            <a:endParaRPr lang="en-US" altLang="zh-CN" sz="2800" dirty="0">
              <a:solidFill>
                <a:schemeClr val="tx2"/>
              </a:solidFill>
              <a:latin typeface="宋体" panose="02010600030101010101" pitchFamily="2" charset="-122"/>
            </a:endParaRPr>
          </a:p>
          <a:p>
            <a:pPr eaLnBrk="1" hangingPunct="1">
              <a:lnSpc>
                <a:spcPct val="150000"/>
              </a:lnSpc>
              <a:buFont typeface="Wingdings" panose="05000000000000000000" pitchFamily="2" charset="2"/>
              <a:buChar char="n"/>
            </a:pPr>
            <a:r>
              <a:rPr lang="en-US" altLang="zh-CN" sz="2800" dirty="0">
                <a:solidFill>
                  <a:schemeClr val="tx2"/>
                </a:solidFill>
                <a:latin typeface="宋体" panose="02010600030101010101" pitchFamily="2" charset="-122"/>
              </a:rPr>
              <a:t>5.</a:t>
            </a:r>
            <a:r>
              <a:rPr lang="zh-CN" altLang="en-US" sz="2800" dirty="0">
                <a:solidFill>
                  <a:schemeClr val="tx2"/>
                </a:solidFill>
                <a:latin typeface="宋体" panose="02010600030101010101" pitchFamily="2" charset="-122"/>
              </a:rPr>
              <a:t>向服务器写入数据</a:t>
            </a:r>
            <a:endParaRPr lang="en-US" altLang="zh-CN" sz="2800" dirty="0">
              <a:solidFill>
                <a:schemeClr val="tx2"/>
              </a:solidFill>
              <a:latin typeface="宋体" panose="02010600030101010101" pitchFamily="2" charset="-122"/>
            </a:endParaRPr>
          </a:p>
          <a:p>
            <a:pPr eaLnBrk="1" hangingPunct="1">
              <a:lnSpc>
                <a:spcPct val="150000"/>
              </a:lnSpc>
              <a:buFont typeface="Wingdings" panose="05000000000000000000" pitchFamily="2" charset="2"/>
              <a:buChar char="n"/>
            </a:pPr>
            <a:r>
              <a:rPr lang="en-US" altLang="zh-CN" sz="2800" dirty="0">
                <a:solidFill>
                  <a:schemeClr val="tx2"/>
                </a:solidFill>
                <a:latin typeface="宋体" panose="02010600030101010101" pitchFamily="2" charset="-122"/>
              </a:rPr>
              <a:t>6.HttpURLConnection</a:t>
            </a:r>
          </a:p>
          <a:p>
            <a:pPr eaLnBrk="1" hangingPunct="1">
              <a:lnSpc>
                <a:spcPct val="150000"/>
              </a:lnSpc>
              <a:buFont typeface="Wingdings" panose="05000000000000000000" pitchFamily="2" charset="2"/>
              <a:buChar char="n"/>
            </a:pPr>
            <a:endParaRPr lang="en-US" altLang="zh-CN" sz="2800" dirty="0">
              <a:solidFill>
                <a:schemeClr val="tx2"/>
              </a:solidFill>
              <a:latin typeface="宋体" panose="02010600030101010101" pitchFamily="2" charset="-122"/>
            </a:endParaRPr>
          </a:p>
          <a:p>
            <a:pPr eaLnBrk="1" hangingPunct="1">
              <a:lnSpc>
                <a:spcPct val="150000"/>
              </a:lnSpc>
              <a:buFont typeface="Wingdings 2" panose="05020102010507070707" pitchFamily="18" charset="2"/>
              <a:buNone/>
            </a:pPr>
            <a:r>
              <a:rPr lang="en-US" altLang="zh-CN" dirty="0">
                <a:solidFill>
                  <a:schemeClr val="tx2"/>
                </a:solidFill>
                <a:latin typeface="宋体" panose="02010600030101010101" pitchFamily="2" charset="-122"/>
              </a:rPr>
              <a:t>  </a:t>
            </a:r>
            <a:endParaRPr lang="zh-CN" altLang="en-US" dirty="0"/>
          </a:p>
        </p:txBody>
      </p:sp>
      <p:sp>
        <p:nvSpPr>
          <p:cNvPr id="7172" name="灯片编号占位符 2">
            <a:extLst>
              <a:ext uri="{FF2B5EF4-FFF2-40B4-BE49-F238E27FC236}">
                <a16:creationId xmlns:a16="http://schemas.microsoft.com/office/drawing/2014/main" id="{F2418617-E580-4330-8342-01C00FA048EA}"/>
              </a:ext>
            </a:extLst>
          </p:cNvPr>
          <p:cNvSpPr>
            <a:spLocks noGrp="1"/>
          </p:cNvSpPr>
          <p:nvPr>
            <p:ph type="sldNum" sz="quarter" idx="12"/>
          </p:nvPr>
        </p:nvSpPr>
        <p:spPr>
          <a:noFill/>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0DF6DE2-6C6C-4FFD-9A2F-6BE023C99BEA}" type="slidenum">
              <a:rPr lang="en-US" altLang="zh-CN" sz="1400"/>
              <a:pPr>
                <a:spcBef>
                  <a:spcPct val="0"/>
                </a:spcBef>
                <a:buClrTx/>
                <a:buSzTx/>
                <a:buFontTx/>
                <a:buNone/>
              </a:pPr>
              <a:t>2</a:t>
            </a:fld>
            <a:endParaRPr lang="en-US" altLang="zh-CN"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6C05CE2-2D25-4041-A63F-B148B29BCCB6}"/>
              </a:ext>
            </a:extLst>
          </p:cNvPr>
          <p:cNvSpPr>
            <a:spLocks noGrp="1" noChangeArrowheads="1"/>
          </p:cNvSpPr>
          <p:nvPr>
            <p:ph type="title"/>
          </p:nvPr>
        </p:nvSpPr>
        <p:spPr>
          <a:xfrm>
            <a:off x="1517651" y="0"/>
            <a:ext cx="7775575" cy="838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indent="-342900" algn="l">
              <a:lnSpc>
                <a:spcPct val="170000"/>
              </a:lnSpc>
            </a:pPr>
            <a:r>
              <a:rPr lang="en-US" altLang="zh-CN" sz="3200" b="1">
                <a:solidFill>
                  <a:srgbClr val="C00000"/>
                </a:solidFill>
              </a:rPr>
              <a:t>1.URLConnection</a:t>
            </a:r>
            <a:r>
              <a:rPr lang="zh-CN" altLang="en-US" sz="3200" b="1">
                <a:solidFill>
                  <a:srgbClr val="C00000"/>
                </a:solidFill>
              </a:rPr>
              <a:t>简介</a:t>
            </a:r>
          </a:p>
        </p:txBody>
      </p:sp>
      <p:sp>
        <p:nvSpPr>
          <p:cNvPr id="8195" name="Rectangle 3">
            <a:extLst>
              <a:ext uri="{FF2B5EF4-FFF2-40B4-BE49-F238E27FC236}">
                <a16:creationId xmlns:a16="http://schemas.microsoft.com/office/drawing/2014/main" id="{B49A3D12-1001-4100-80E3-EE776B76BCEF}"/>
              </a:ext>
            </a:extLst>
          </p:cNvPr>
          <p:cNvSpPr>
            <a:spLocks noGrp="1" noChangeArrowheads="1"/>
          </p:cNvSpPr>
          <p:nvPr>
            <p:ph type="body" idx="1"/>
          </p:nvPr>
        </p:nvSpPr>
        <p:spPr>
          <a:xfrm>
            <a:off x="1676401" y="1143001"/>
            <a:ext cx="8424863" cy="42846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US" altLang="zh-CN" sz="2400"/>
              <a:t>public abstract class URLConnection extends Object</a:t>
            </a:r>
          </a:p>
          <a:p>
            <a:pPr eaLnBrk="1" hangingPunct="1">
              <a:buFont typeface="Wingdings" panose="05000000000000000000" pitchFamily="2" charset="2"/>
              <a:buChar char="Ø"/>
            </a:pPr>
            <a:r>
              <a:rPr lang="en-US" altLang="zh-CN" sz="2400"/>
              <a:t>URLConnection</a:t>
            </a:r>
            <a:r>
              <a:rPr lang="zh-CN" altLang="en-US" sz="2400"/>
              <a:t>是一个抽象类</a:t>
            </a:r>
          </a:p>
          <a:p>
            <a:pPr eaLnBrk="1" hangingPunct="1">
              <a:buFont typeface="Wingdings" panose="05000000000000000000" pitchFamily="2" charset="2"/>
              <a:buChar char="Ø"/>
            </a:pPr>
            <a:r>
              <a:rPr lang="en-US" altLang="zh-CN" sz="2400"/>
              <a:t>URLConnection  -&gt;  HttpURLConnection</a:t>
            </a:r>
          </a:p>
          <a:p>
            <a:pPr eaLnBrk="1" hangingPunct="1">
              <a:buFont typeface="Wingdings" panose="05000000000000000000" pitchFamily="2" charset="2"/>
              <a:buChar char="Ø"/>
            </a:pPr>
            <a:r>
              <a:rPr lang="zh-CN" altLang="en-US" sz="2400"/>
              <a:t>提供了更多与</a:t>
            </a:r>
            <a:r>
              <a:rPr lang="en-US" altLang="zh-CN" sz="2400"/>
              <a:t>HTTP</a:t>
            </a:r>
            <a:r>
              <a:rPr lang="zh-CN" altLang="en-US" sz="2400"/>
              <a:t>服务器的交互控制</a:t>
            </a:r>
            <a:endParaRPr lang="en-US" altLang="zh-CN" sz="2400"/>
          </a:p>
          <a:p>
            <a:pPr eaLnBrk="1" hangingPunct="1">
              <a:buFont typeface="Wingdings" panose="05000000000000000000" pitchFamily="2" charset="2"/>
              <a:buChar char="Ø"/>
            </a:pPr>
            <a:r>
              <a:rPr lang="zh-CN" altLang="en-US" sz="2400"/>
              <a:t>可以检查服务器发送的首部，做出响应。</a:t>
            </a:r>
            <a:endParaRPr lang="en-US" altLang="zh-CN" sz="2400"/>
          </a:p>
          <a:p>
            <a:pPr eaLnBrk="1" hangingPunct="1">
              <a:buFont typeface="Wingdings" panose="05000000000000000000" pitchFamily="2" charset="2"/>
              <a:buChar char="Ø"/>
            </a:pPr>
            <a:r>
              <a:rPr lang="zh-CN" altLang="en-US" sz="2400"/>
              <a:t>可以设置客户端请求中使用的首部字段。</a:t>
            </a:r>
            <a:endParaRPr lang="en-US" altLang="zh-CN" sz="2400"/>
          </a:p>
          <a:p>
            <a:pPr eaLnBrk="1" hangingPunct="1">
              <a:buFont typeface="Wingdings" panose="05000000000000000000" pitchFamily="2" charset="2"/>
              <a:buChar char="Ø"/>
            </a:pPr>
            <a:r>
              <a:rPr lang="zh-CN" altLang="en-US" sz="2400"/>
              <a:t>可用</a:t>
            </a:r>
            <a:r>
              <a:rPr lang="en-US" altLang="zh-CN" sz="2400"/>
              <a:t>GET</a:t>
            </a:r>
            <a:r>
              <a:rPr lang="zh-CN" altLang="en-US" sz="2400"/>
              <a:t>、</a:t>
            </a:r>
            <a:r>
              <a:rPr lang="en-US" altLang="zh-CN" sz="2400"/>
              <a:t>POST</a:t>
            </a:r>
            <a:r>
              <a:rPr lang="zh-CN" altLang="en-US" sz="2400"/>
              <a:t>、</a:t>
            </a:r>
            <a:r>
              <a:rPr lang="en-US" altLang="zh-CN" sz="2400"/>
              <a:t>PUT</a:t>
            </a:r>
            <a:r>
              <a:rPr lang="zh-CN" altLang="en-US" sz="2400"/>
              <a:t>等</a:t>
            </a:r>
            <a:r>
              <a:rPr lang="en-US" altLang="zh-CN" sz="2400"/>
              <a:t>HTTP</a:t>
            </a:r>
            <a:r>
              <a:rPr lang="zh-CN" altLang="en-US" sz="2400"/>
              <a:t>请求方法向服务器发送数据。</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601A9280-42BE-4D95-8313-A99753CA7B76}"/>
              </a:ext>
            </a:extLst>
          </p:cNvPr>
          <p:cNvSpPr>
            <a:spLocks noGrp="1"/>
          </p:cNvSpPr>
          <p:nvPr>
            <p:ph type="title"/>
          </p:nvPr>
        </p:nvSpPr>
        <p:spPr>
          <a:xfrm>
            <a:off x="1550988" y="20638"/>
            <a:ext cx="8540750" cy="685800"/>
          </a:xfrm>
        </p:spPr>
        <p:txBody>
          <a:bodyPr/>
          <a:lstStyle/>
          <a:p>
            <a:pPr algn="l"/>
            <a:r>
              <a:rPr lang="en-US" altLang="zh-CN" sz="2800"/>
              <a:t>URLConnection</a:t>
            </a:r>
            <a:r>
              <a:rPr lang="zh-CN" altLang="en-US" sz="2800"/>
              <a:t>类的使用步骤</a:t>
            </a:r>
          </a:p>
        </p:txBody>
      </p:sp>
      <p:sp>
        <p:nvSpPr>
          <p:cNvPr id="8195" name="内容占位符 2">
            <a:extLst>
              <a:ext uri="{FF2B5EF4-FFF2-40B4-BE49-F238E27FC236}">
                <a16:creationId xmlns:a16="http://schemas.microsoft.com/office/drawing/2014/main" id="{C976E971-B663-41EE-B010-8138E88201C4}"/>
              </a:ext>
            </a:extLst>
          </p:cNvPr>
          <p:cNvSpPr>
            <a:spLocks noGrp="1"/>
          </p:cNvSpPr>
          <p:nvPr>
            <p:ph idx="1"/>
          </p:nvPr>
        </p:nvSpPr>
        <p:spPr>
          <a:xfrm>
            <a:off x="533400" y="914401"/>
            <a:ext cx="11506200" cy="4498975"/>
          </a:xfrm>
        </p:spPr>
        <p:txBody>
          <a:bodyPr/>
          <a:lstStyle/>
          <a:p>
            <a:pPr marL="0" indent="0">
              <a:buNone/>
            </a:pPr>
            <a:r>
              <a:rPr lang="zh-CN" altLang="en-US" sz="2400"/>
              <a:t>直接使用</a:t>
            </a:r>
            <a:r>
              <a:rPr lang="en-US" altLang="zh-CN" sz="2400"/>
              <a:t>URLConnection</a:t>
            </a:r>
            <a:r>
              <a:rPr lang="zh-CN" altLang="en-US" sz="2400"/>
              <a:t>类的程序基本编写步骤：</a:t>
            </a:r>
            <a:endParaRPr lang="en-US" altLang="zh-CN" sz="2400"/>
          </a:p>
          <a:p>
            <a:pPr marL="0" indent="0">
              <a:buFont typeface="Arial" panose="020B0604020202020204" pitchFamily="34" charset="0"/>
              <a:buAutoNum type="arabicPeriod"/>
            </a:pPr>
            <a:r>
              <a:rPr lang="zh-CN" altLang="en-US" sz="2400"/>
              <a:t>创建</a:t>
            </a:r>
            <a:r>
              <a:rPr lang="en-US" altLang="zh-CN" sz="2400"/>
              <a:t>URL</a:t>
            </a:r>
            <a:r>
              <a:rPr lang="zh-CN" altLang="en-US" sz="2400"/>
              <a:t>对象</a:t>
            </a:r>
            <a:endParaRPr lang="en-US" altLang="zh-CN" sz="2400"/>
          </a:p>
          <a:p>
            <a:pPr marL="0" indent="0">
              <a:buFont typeface="Arial" panose="020B0604020202020204" pitchFamily="34" charset="0"/>
              <a:buAutoNum type="arabicPeriod"/>
            </a:pPr>
            <a:r>
              <a:rPr lang="zh-CN" altLang="en-US" sz="2400"/>
              <a:t>调用</a:t>
            </a:r>
            <a:r>
              <a:rPr lang="en-US" altLang="zh-CN" sz="2400"/>
              <a:t>URL.openConnection()</a:t>
            </a:r>
            <a:r>
              <a:rPr lang="zh-CN" altLang="en-US" sz="2400"/>
              <a:t>获取</a:t>
            </a:r>
            <a:r>
              <a:rPr lang="en-US" altLang="zh-CN" sz="2400"/>
              <a:t>URLConnection</a:t>
            </a:r>
            <a:r>
              <a:rPr lang="zh-CN" altLang="en-US" sz="2400"/>
              <a:t>对象</a:t>
            </a:r>
            <a:endParaRPr lang="en-US" altLang="zh-CN" sz="2400"/>
          </a:p>
          <a:p>
            <a:pPr marL="0" indent="0">
              <a:buFont typeface="Arial" panose="020B0604020202020204" pitchFamily="34" charset="0"/>
              <a:buAutoNum type="arabicPeriod"/>
            </a:pPr>
            <a:r>
              <a:rPr lang="zh-CN" altLang="en-US" sz="2400">
                <a:solidFill>
                  <a:srgbClr val="FF0000"/>
                </a:solidFill>
              </a:rPr>
              <a:t>配置</a:t>
            </a:r>
            <a:r>
              <a:rPr lang="en-US" altLang="zh-CN" sz="2400">
                <a:solidFill>
                  <a:srgbClr val="FF0000"/>
                </a:solidFill>
              </a:rPr>
              <a:t>URLConnection</a:t>
            </a:r>
            <a:r>
              <a:rPr lang="zh-CN" altLang="en-US" sz="2400">
                <a:solidFill>
                  <a:srgbClr val="FF0000"/>
                </a:solidFill>
              </a:rPr>
              <a:t>对象</a:t>
            </a:r>
            <a:endParaRPr lang="en-US" altLang="zh-CN" sz="2400">
              <a:solidFill>
                <a:srgbClr val="FF0000"/>
              </a:solidFill>
            </a:endParaRPr>
          </a:p>
          <a:p>
            <a:pPr marL="0" indent="0">
              <a:buFont typeface="Arial" panose="020B0604020202020204" pitchFamily="34" charset="0"/>
              <a:buAutoNum type="arabicPeriod"/>
            </a:pPr>
            <a:r>
              <a:rPr lang="zh-CN" altLang="en-US" sz="2400">
                <a:solidFill>
                  <a:srgbClr val="FF0000"/>
                </a:solidFill>
              </a:rPr>
              <a:t>读取头信息</a:t>
            </a:r>
            <a:endParaRPr lang="en-US" altLang="zh-CN" sz="2400">
              <a:solidFill>
                <a:srgbClr val="FF0000"/>
              </a:solidFill>
            </a:endParaRPr>
          </a:p>
          <a:p>
            <a:pPr marL="0" indent="0">
              <a:buFont typeface="Arial" panose="020B0604020202020204" pitchFamily="34" charset="0"/>
              <a:buAutoNum type="arabicPeriod"/>
            </a:pPr>
            <a:r>
              <a:rPr lang="zh-CN" altLang="en-US" sz="2400">
                <a:solidFill>
                  <a:srgbClr val="FF0000"/>
                </a:solidFill>
              </a:rPr>
              <a:t>获得输入流，并读数据</a:t>
            </a:r>
            <a:endParaRPr lang="en-US" altLang="zh-CN" sz="2400">
              <a:solidFill>
                <a:srgbClr val="FF0000"/>
              </a:solidFill>
            </a:endParaRPr>
          </a:p>
          <a:p>
            <a:pPr marL="0" indent="0">
              <a:buFont typeface="Arial" panose="020B0604020202020204" pitchFamily="34" charset="0"/>
              <a:buAutoNum type="arabicPeriod"/>
            </a:pPr>
            <a:r>
              <a:rPr lang="zh-CN" altLang="en-US" sz="2400">
                <a:solidFill>
                  <a:srgbClr val="FF0000"/>
                </a:solidFill>
              </a:rPr>
              <a:t>获得输出流，并写数据</a:t>
            </a:r>
            <a:endParaRPr lang="en-US" altLang="zh-CN" sz="2400">
              <a:solidFill>
                <a:srgbClr val="FF0000"/>
              </a:solidFill>
            </a:endParaRPr>
          </a:p>
          <a:p>
            <a:pPr marL="0" indent="0">
              <a:buFont typeface="Arial" panose="020B0604020202020204" pitchFamily="34" charset="0"/>
              <a:buAutoNum type="arabicPeriod"/>
            </a:pPr>
            <a:r>
              <a:rPr lang="zh-CN" altLang="en-US" sz="2400"/>
              <a:t>关闭连接</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519D3FAF-87FA-4C04-B59F-AC6D08F8B55A}"/>
              </a:ext>
            </a:extLst>
          </p:cNvPr>
          <p:cNvSpPr>
            <a:spLocks noGrp="1"/>
          </p:cNvSpPr>
          <p:nvPr>
            <p:ph type="title"/>
          </p:nvPr>
        </p:nvSpPr>
        <p:spPr>
          <a:xfrm>
            <a:off x="1524000" y="34925"/>
            <a:ext cx="8540750" cy="533400"/>
          </a:xfrm>
        </p:spPr>
        <p:txBody>
          <a:bodyPr/>
          <a:lstStyle/>
          <a:p>
            <a:pPr algn="l"/>
            <a:r>
              <a:rPr lang="zh-CN" altLang="en-US" sz="2800"/>
              <a:t>创建</a:t>
            </a:r>
            <a:r>
              <a:rPr lang="en-US" altLang="zh-CN" sz="2800"/>
              <a:t>URLConnection</a:t>
            </a:r>
            <a:r>
              <a:rPr lang="zh-CN" altLang="en-US" sz="2800"/>
              <a:t>对象</a:t>
            </a:r>
          </a:p>
        </p:txBody>
      </p:sp>
      <p:sp>
        <p:nvSpPr>
          <p:cNvPr id="9219" name="内容占位符 2">
            <a:extLst>
              <a:ext uri="{FF2B5EF4-FFF2-40B4-BE49-F238E27FC236}">
                <a16:creationId xmlns:a16="http://schemas.microsoft.com/office/drawing/2014/main" id="{0985C8C7-E58E-46C8-A68F-74ECC232545B}"/>
              </a:ext>
            </a:extLst>
          </p:cNvPr>
          <p:cNvSpPr>
            <a:spLocks noGrp="1"/>
          </p:cNvSpPr>
          <p:nvPr>
            <p:ph idx="1"/>
          </p:nvPr>
        </p:nvSpPr>
        <p:spPr>
          <a:xfrm>
            <a:off x="1550989" y="685801"/>
            <a:ext cx="8936037" cy="5483225"/>
          </a:xfrm>
        </p:spPr>
        <p:txBody>
          <a:bodyPr/>
          <a:lstStyle/>
          <a:p>
            <a:r>
              <a:rPr lang="en-US" altLang="zh-CN" sz="2200">
                <a:latin typeface="Times New Roman" panose="02020603050405020304" pitchFamily="18" charset="0"/>
                <a:cs typeface="Times New Roman" panose="02020603050405020304" pitchFamily="18" charset="0"/>
              </a:rPr>
              <a:t>URLConnection</a:t>
            </a:r>
            <a:r>
              <a:rPr lang="zh-CN" altLang="en-US" sz="2200">
                <a:latin typeface="Times New Roman" panose="02020603050405020304" pitchFamily="18" charset="0"/>
                <a:cs typeface="Times New Roman" panose="02020603050405020304" pitchFamily="18" charset="0"/>
              </a:rPr>
              <a:t>类仅有一个为保持类型的构造函数</a:t>
            </a:r>
            <a:r>
              <a:rPr lang="zh-CN" altLang="en-US" sz="2200" b="1">
                <a:solidFill>
                  <a:srgbClr val="006699"/>
                </a:solidFill>
                <a:latin typeface="Times New Roman" panose="02020603050405020304" pitchFamily="18" charset="0"/>
                <a:cs typeface="Times New Roman" panose="02020603050405020304" pitchFamily="18" charset="0"/>
              </a:rPr>
              <a:t>：</a:t>
            </a:r>
            <a:endParaRPr lang="en-US" altLang="zh-CN" sz="2200" b="1">
              <a:solidFill>
                <a:srgbClr val="006699"/>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2400" b="1">
                <a:solidFill>
                  <a:srgbClr val="006699"/>
                </a:solidFill>
                <a:latin typeface="Times New Roman" panose="02020603050405020304" pitchFamily="18" charset="0"/>
                <a:cs typeface="Times New Roman" panose="02020603050405020304" pitchFamily="18" charset="0"/>
              </a:rPr>
              <a:t>     </a:t>
            </a:r>
            <a:r>
              <a:rPr lang="en-US" altLang="zh-CN" sz="2000" b="1">
                <a:solidFill>
                  <a:srgbClr val="006699"/>
                </a:solidFill>
                <a:latin typeface="Times New Roman" panose="02020603050405020304" pitchFamily="18" charset="0"/>
                <a:cs typeface="Times New Roman" panose="02020603050405020304" pitchFamily="18" charset="0"/>
              </a:rPr>
              <a:t>protected URLConnection(URL url)</a:t>
            </a:r>
          </a:p>
          <a:p>
            <a:r>
              <a:rPr lang="zh-CN" altLang="en-US" sz="2200">
                <a:latin typeface="Times New Roman" panose="02020603050405020304" pitchFamily="18" charset="0"/>
                <a:cs typeface="Times New Roman" panose="02020603050405020304" pitchFamily="18" charset="0"/>
              </a:rPr>
              <a:t>例如要编写一个协议处理器需派生</a:t>
            </a:r>
            <a:r>
              <a:rPr lang="en-US" altLang="zh-CN" sz="2200">
                <a:latin typeface="Times New Roman" panose="02020603050405020304" pitchFamily="18" charset="0"/>
                <a:cs typeface="Times New Roman" panose="02020603050405020304" pitchFamily="18" charset="0"/>
              </a:rPr>
              <a:t>URLConnection</a:t>
            </a:r>
            <a:r>
              <a:rPr lang="zh-CN" altLang="en-US" sz="2200">
                <a:latin typeface="Times New Roman" panose="02020603050405020304" pitchFamily="18" charset="0"/>
                <a:cs typeface="Times New Roman" panose="02020603050405020304" pitchFamily="18" charset="0"/>
              </a:rPr>
              <a:t>的子类才会使用此构造函数</a:t>
            </a:r>
            <a:endParaRPr lang="en-US" altLang="zh-CN" sz="2200">
              <a:latin typeface="Times New Roman" panose="02020603050405020304" pitchFamily="18" charset="0"/>
              <a:cs typeface="Times New Roman" panose="02020603050405020304" pitchFamily="18" charset="0"/>
            </a:endParaRPr>
          </a:p>
          <a:p>
            <a:r>
              <a:rPr lang="zh-CN" altLang="en-US" sz="2200">
                <a:latin typeface="Times New Roman" panose="02020603050405020304" pitchFamily="18" charset="0"/>
                <a:cs typeface="Times New Roman" panose="02020603050405020304" pitchFamily="18" charset="0"/>
              </a:rPr>
              <a:t>通常</a:t>
            </a:r>
            <a:r>
              <a:rPr lang="zh-CN" altLang="en-US" sz="2200">
                <a:solidFill>
                  <a:srgbClr val="FF0000"/>
                </a:solidFill>
                <a:latin typeface="Times New Roman" panose="02020603050405020304" pitchFamily="18" charset="0"/>
                <a:cs typeface="Times New Roman" panose="02020603050405020304" pitchFamily="18" charset="0"/>
              </a:rPr>
              <a:t>使用该类的</a:t>
            </a:r>
            <a:r>
              <a:rPr lang="en-US" altLang="zh-CN" sz="2200">
                <a:solidFill>
                  <a:srgbClr val="FF0000"/>
                </a:solidFill>
                <a:latin typeface="Times New Roman" panose="02020603050405020304" pitchFamily="18" charset="0"/>
                <a:cs typeface="Times New Roman" panose="02020603050405020304" pitchFamily="18" charset="0"/>
              </a:rPr>
              <a:t>openConnection</a:t>
            </a:r>
            <a:r>
              <a:rPr lang="zh-CN" altLang="en-US" sz="2200">
                <a:solidFill>
                  <a:srgbClr val="FF0000"/>
                </a:solidFill>
                <a:latin typeface="Times New Roman" panose="02020603050405020304" pitchFamily="18" charset="0"/>
                <a:cs typeface="Times New Roman" panose="02020603050405020304" pitchFamily="18" charset="0"/>
              </a:rPr>
              <a:t>方法来创建对象</a:t>
            </a:r>
            <a:endParaRPr lang="en-US" altLang="zh-CN" sz="2200">
              <a:solidFill>
                <a:srgbClr val="FF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2000" b="1">
                <a:solidFill>
                  <a:srgbClr val="006699"/>
                </a:solidFill>
                <a:latin typeface="Times New Roman" panose="02020603050405020304" pitchFamily="18" charset="0"/>
                <a:cs typeface="Times New Roman" panose="02020603050405020304" pitchFamily="18" charset="0"/>
              </a:rPr>
              <a:t>try</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555555"/>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2000">
                <a:solidFill>
                  <a:srgbClr val="000088"/>
                </a:solidFill>
                <a:latin typeface="Times New Roman" panose="02020603050405020304" pitchFamily="18" charset="0"/>
                <a:cs typeface="Times New Roman" panose="02020603050405020304" pitchFamily="18" charset="0"/>
              </a:rPr>
              <a:t>    URL</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000088"/>
                </a:solidFill>
                <a:latin typeface="Times New Roman" panose="02020603050405020304" pitchFamily="18" charset="0"/>
                <a:cs typeface="Times New Roman" panose="02020603050405020304" pitchFamily="18" charset="0"/>
              </a:rPr>
              <a:t>u</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b="1">
                <a:solidFill>
                  <a:srgbClr val="006699"/>
                </a:solidFill>
                <a:latin typeface="Times New Roman" panose="02020603050405020304" pitchFamily="18" charset="0"/>
                <a:cs typeface="Times New Roman" panose="02020603050405020304" pitchFamily="18" charset="0"/>
              </a:rPr>
              <a:t>new</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000088"/>
                </a:solidFill>
                <a:latin typeface="Times New Roman" panose="02020603050405020304" pitchFamily="18" charset="0"/>
                <a:cs typeface="Times New Roman" panose="02020603050405020304" pitchFamily="18" charset="0"/>
              </a:rPr>
              <a:t>URL</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CC3300"/>
                </a:solidFill>
                <a:latin typeface="Times New Roman" panose="02020603050405020304" pitchFamily="18" charset="0"/>
                <a:cs typeface="Times New Roman" panose="02020603050405020304" pitchFamily="18" charset="0"/>
              </a:rPr>
              <a:t>"http://www.szu.edu.cn/"</a:t>
            </a:r>
            <a:r>
              <a:rPr lang="en-US" altLang="zh-CN" sz="2000">
                <a:solidFill>
                  <a:srgbClr val="555555"/>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2000">
                <a:solidFill>
                  <a:srgbClr val="000088"/>
                </a:solidFill>
                <a:latin typeface="Times New Roman" panose="02020603050405020304" pitchFamily="18" charset="0"/>
                <a:cs typeface="Times New Roman" panose="02020603050405020304" pitchFamily="18" charset="0"/>
              </a:rPr>
              <a:t>    URLConnection</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000088"/>
                </a:solidFill>
                <a:latin typeface="Times New Roman" panose="02020603050405020304" pitchFamily="18" charset="0"/>
                <a:cs typeface="Times New Roman" panose="02020603050405020304" pitchFamily="18" charset="0"/>
              </a:rPr>
              <a:t>uc</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000088"/>
                </a:solidFill>
                <a:latin typeface="Times New Roman" panose="02020603050405020304" pitchFamily="18" charset="0"/>
                <a:cs typeface="Times New Roman" panose="02020603050405020304" pitchFamily="18" charset="0"/>
              </a:rPr>
              <a:t>u</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330099"/>
                </a:solidFill>
                <a:latin typeface="Times New Roman" panose="02020603050405020304" pitchFamily="18" charset="0"/>
                <a:cs typeface="Times New Roman" panose="02020603050405020304" pitchFamily="18" charset="0"/>
              </a:rPr>
              <a:t>openConnection</a:t>
            </a:r>
            <a:r>
              <a:rPr lang="en-US" altLang="zh-CN" sz="2000">
                <a:solidFill>
                  <a:srgbClr val="555555"/>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2000" i="1">
                <a:solidFill>
                  <a:srgbClr val="35586C"/>
                </a:solidFill>
                <a:latin typeface="Times New Roman" panose="02020603050405020304" pitchFamily="18" charset="0"/>
                <a:cs typeface="Times New Roman" panose="02020603050405020304" pitchFamily="18" charset="0"/>
              </a:rPr>
              <a:t>    // read from the URL...</a:t>
            </a:r>
            <a:endParaRPr lang="en-US" altLang="zh-CN" sz="200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2000">
                <a:solidFill>
                  <a:srgbClr val="555555"/>
                </a:solidFill>
                <a:latin typeface="Times New Roman" panose="02020603050405020304" pitchFamily="18" charset="0"/>
                <a:cs typeface="Times New Roman" panose="02020603050405020304" pitchFamily="18" charset="0"/>
              </a:rPr>
              <a:t>}</a:t>
            </a:r>
            <a:endParaRPr lang="en-US" altLang="zh-CN" sz="2000">
              <a:solidFill>
                <a:srgbClr val="1B1C2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2000" b="1">
                <a:solidFill>
                  <a:srgbClr val="006699"/>
                </a:solidFill>
                <a:latin typeface="Times New Roman" panose="02020603050405020304" pitchFamily="18" charset="0"/>
                <a:cs typeface="Times New Roman" panose="02020603050405020304" pitchFamily="18" charset="0"/>
              </a:rPr>
              <a:t>catch</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000088"/>
                </a:solidFill>
                <a:latin typeface="Times New Roman" panose="02020603050405020304" pitchFamily="18" charset="0"/>
                <a:cs typeface="Times New Roman" panose="02020603050405020304" pitchFamily="18" charset="0"/>
              </a:rPr>
              <a:t>MalformedURLException</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000088"/>
                </a:solidFill>
                <a:latin typeface="Times New Roman" panose="02020603050405020304" pitchFamily="18" charset="0"/>
                <a:cs typeface="Times New Roman" panose="02020603050405020304" pitchFamily="18" charset="0"/>
              </a:rPr>
              <a:t>ex</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555555"/>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2000">
                <a:solidFill>
                  <a:srgbClr val="000088"/>
                </a:solidFill>
                <a:latin typeface="Times New Roman" panose="02020603050405020304" pitchFamily="18" charset="0"/>
                <a:cs typeface="Times New Roman" panose="02020603050405020304" pitchFamily="18" charset="0"/>
              </a:rPr>
              <a:t>    System</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330099"/>
                </a:solidFill>
                <a:latin typeface="Times New Roman" panose="02020603050405020304" pitchFamily="18" charset="0"/>
                <a:cs typeface="Times New Roman" panose="02020603050405020304" pitchFamily="18" charset="0"/>
              </a:rPr>
              <a:t>err</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330099"/>
                </a:solidFill>
                <a:latin typeface="Times New Roman" panose="02020603050405020304" pitchFamily="18" charset="0"/>
                <a:cs typeface="Times New Roman" panose="02020603050405020304" pitchFamily="18" charset="0"/>
              </a:rPr>
              <a:t>println</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000088"/>
                </a:solidFill>
                <a:latin typeface="Times New Roman" panose="02020603050405020304" pitchFamily="18" charset="0"/>
                <a:cs typeface="Times New Roman" panose="02020603050405020304" pitchFamily="18" charset="0"/>
              </a:rPr>
              <a:t>ex</a:t>
            </a:r>
            <a:r>
              <a:rPr lang="en-US" altLang="zh-CN" sz="2000">
                <a:solidFill>
                  <a:srgbClr val="555555"/>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2000">
                <a:solidFill>
                  <a:srgbClr val="555555"/>
                </a:solidFill>
                <a:latin typeface="Times New Roman" panose="02020603050405020304" pitchFamily="18" charset="0"/>
                <a:cs typeface="Times New Roman" panose="02020603050405020304" pitchFamily="18" charset="0"/>
              </a:rPr>
              <a:t>}</a:t>
            </a:r>
          </a:p>
          <a:p>
            <a:pPr>
              <a:buFont typeface="Wingdings 2" panose="05020102010507070707" pitchFamily="18" charset="2"/>
              <a:buNone/>
            </a:pPr>
            <a:r>
              <a:rPr lang="en-US" altLang="zh-CN" sz="2000" b="1">
                <a:solidFill>
                  <a:srgbClr val="006699"/>
                </a:solidFill>
                <a:latin typeface="Times New Roman" panose="02020603050405020304" pitchFamily="18" charset="0"/>
                <a:cs typeface="Times New Roman" panose="02020603050405020304" pitchFamily="18" charset="0"/>
              </a:rPr>
              <a:t>catch</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000088"/>
                </a:solidFill>
                <a:latin typeface="Times New Roman" panose="02020603050405020304" pitchFamily="18" charset="0"/>
                <a:cs typeface="Times New Roman" panose="02020603050405020304" pitchFamily="18" charset="0"/>
              </a:rPr>
              <a:t>IOException</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000088"/>
                </a:solidFill>
                <a:latin typeface="Times New Roman" panose="02020603050405020304" pitchFamily="18" charset="0"/>
                <a:cs typeface="Times New Roman" panose="02020603050405020304" pitchFamily="18" charset="0"/>
              </a:rPr>
              <a:t>ex</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1B1C20"/>
                </a:solidFill>
                <a:latin typeface="Times New Roman" panose="02020603050405020304" pitchFamily="18" charset="0"/>
                <a:cs typeface="Times New Roman" panose="02020603050405020304" pitchFamily="18" charset="0"/>
              </a:rPr>
              <a:t> </a:t>
            </a:r>
            <a:r>
              <a:rPr lang="en-US" altLang="zh-CN" sz="2000">
                <a:solidFill>
                  <a:srgbClr val="555555"/>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2000">
                <a:solidFill>
                  <a:srgbClr val="000088"/>
                </a:solidFill>
                <a:latin typeface="Times New Roman" panose="02020603050405020304" pitchFamily="18" charset="0"/>
                <a:cs typeface="Times New Roman" panose="02020603050405020304" pitchFamily="18" charset="0"/>
              </a:rPr>
              <a:t>    System</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330099"/>
                </a:solidFill>
                <a:latin typeface="Times New Roman" panose="02020603050405020304" pitchFamily="18" charset="0"/>
                <a:cs typeface="Times New Roman" panose="02020603050405020304" pitchFamily="18" charset="0"/>
              </a:rPr>
              <a:t>err</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330099"/>
                </a:solidFill>
                <a:latin typeface="Times New Roman" panose="02020603050405020304" pitchFamily="18" charset="0"/>
                <a:cs typeface="Times New Roman" panose="02020603050405020304" pitchFamily="18" charset="0"/>
              </a:rPr>
              <a:t>println</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000088"/>
                </a:solidFill>
                <a:latin typeface="Times New Roman" panose="02020603050405020304" pitchFamily="18" charset="0"/>
                <a:cs typeface="Times New Roman" panose="02020603050405020304" pitchFamily="18" charset="0"/>
              </a:rPr>
              <a:t>ex</a:t>
            </a:r>
            <a:r>
              <a:rPr lang="en-US" altLang="zh-CN" sz="2000">
                <a:solidFill>
                  <a:srgbClr val="555555"/>
                </a:solidFill>
                <a:latin typeface="Times New Roman" panose="02020603050405020304" pitchFamily="18" charset="0"/>
                <a:cs typeface="Times New Roman" panose="02020603050405020304" pitchFamily="18" charset="0"/>
              </a:rPr>
              <a:t>);</a:t>
            </a:r>
          </a:p>
          <a:p>
            <a:pPr>
              <a:buFont typeface="Wingdings 2" panose="05020102010507070707" pitchFamily="18" charset="2"/>
              <a:buNone/>
            </a:pPr>
            <a:r>
              <a:rPr lang="en-US" altLang="zh-CN" sz="2000">
                <a:solidFill>
                  <a:srgbClr val="555555"/>
                </a:solidFill>
                <a:latin typeface="Times New Roman" panose="02020603050405020304" pitchFamily="18" charset="0"/>
                <a:cs typeface="Times New Roman" panose="02020603050405020304" pitchFamily="18" charset="0"/>
              </a:rPr>
              <a:t>}</a:t>
            </a:r>
            <a:endParaRPr lang="zh-CN"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07404072-46E8-4397-BD81-FD60460289F2}"/>
              </a:ext>
            </a:extLst>
          </p:cNvPr>
          <p:cNvSpPr>
            <a:spLocks noGrp="1"/>
          </p:cNvSpPr>
          <p:nvPr>
            <p:ph type="title"/>
          </p:nvPr>
        </p:nvSpPr>
        <p:spPr>
          <a:xfrm>
            <a:off x="1524000" y="34925"/>
            <a:ext cx="8540750" cy="533400"/>
          </a:xfrm>
        </p:spPr>
        <p:txBody>
          <a:bodyPr/>
          <a:lstStyle/>
          <a:p>
            <a:pPr algn="l"/>
            <a:r>
              <a:rPr lang="en-US" altLang="zh-CN" sz="2800"/>
              <a:t>2.</a:t>
            </a:r>
            <a:r>
              <a:rPr lang="zh-CN" altLang="en-US" sz="2800"/>
              <a:t>读取服务器的数据</a:t>
            </a:r>
          </a:p>
        </p:txBody>
      </p:sp>
      <p:sp>
        <p:nvSpPr>
          <p:cNvPr id="12291" name="内容占位符 2">
            <a:extLst>
              <a:ext uri="{FF2B5EF4-FFF2-40B4-BE49-F238E27FC236}">
                <a16:creationId xmlns:a16="http://schemas.microsoft.com/office/drawing/2014/main" id="{5D2CBAB1-BF15-4FBC-B32D-9FDCA72BCF3E}"/>
              </a:ext>
            </a:extLst>
          </p:cNvPr>
          <p:cNvSpPr>
            <a:spLocks noGrp="1"/>
          </p:cNvSpPr>
          <p:nvPr>
            <p:ph idx="1"/>
          </p:nvPr>
        </p:nvSpPr>
        <p:spPr>
          <a:xfrm>
            <a:off x="1550989" y="685801"/>
            <a:ext cx="8936037" cy="5483225"/>
          </a:xfrm>
        </p:spPr>
        <p:txBody>
          <a:bodyPr/>
          <a:lstStyle/>
          <a:p>
            <a:r>
              <a:rPr lang="zh-CN" altLang="en-US" sz="2400">
                <a:latin typeface="Times New Roman" panose="02020603050405020304" pitchFamily="18" charset="0"/>
                <a:cs typeface="Times New Roman" panose="02020603050405020304" pitchFamily="18" charset="0"/>
              </a:rPr>
              <a:t>使用一个</a:t>
            </a:r>
            <a:r>
              <a:rPr lang="en-US" altLang="zh-CN" sz="2400">
                <a:latin typeface="Times New Roman" panose="02020603050405020304" pitchFamily="18" charset="0"/>
                <a:cs typeface="Times New Roman" panose="02020603050405020304" pitchFamily="18" charset="0"/>
              </a:rPr>
              <a:t>URLConnection</a:t>
            </a:r>
            <a:r>
              <a:rPr lang="zh-CN" altLang="en-US" sz="2400">
                <a:latin typeface="Times New Roman" panose="02020603050405020304" pitchFamily="18" charset="0"/>
                <a:cs typeface="Times New Roman" panose="02020603050405020304" pitchFamily="18" charset="0"/>
              </a:rPr>
              <a:t>对象从一个</a:t>
            </a:r>
            <a:r>
              <a:rPr lang="en-US" altLang="zh-CN" sz="2400">
                <a:latin typeface="Times New Roman" panose="02020603050405020304" pitchFamily="18" charset="0"/>
                <a:cs typeface="Times New Roman" panose="02020603050405020304" pitchFamily="18" charset="0"/>
              </a:rPr>
              <a:t>URL</a:t>
            </a:r>
            <a:r>
              <a:rPr lang="zh-CN" altLang="en-US" sz="2400">
                <a:latin typeface="Times New Roman" panose="02020603050405020304" pitchFamily="18" charset="0"/>
                <a:cs typeface="Times New Roman" panose="02020603050405020304" pitchFamily="18" charset="0"/>
              </a:rPr>
              <a:t>获取数据，编程基本步骤</a:t>
            </a:r>
            <a:r>
              <a:rPr lang="zh-CN" altLang="en-US" sz="24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a:t>
            </a:r>
            <a:endParaRPr lang="en-US" altLang="zh-CN" sz="2400" b="1">
              <a:solidFill>
                <a:srgbClr val="006699"/>
              </a:solidFill>
              <a:latin typeface="Times New Roman" panose="02020603050405020304" pitchFamily="18" charset="0"/>
              <a:cs typeface="Times New Roman" panose="02020603050405020304" pitchFamily="18" charset="0"/>
              <a:sym typeface="Wingdings" panose="05000000000000000000" pitchFamily="2" charset="2"/>
            </a:endParaRPr>
          </a:p>
          <a:p>
            <a:pPr lvl="1">
              <a:buFont typeface="Wingdings" panose="05000000000000000000" pitchFamily="2" charset="2"/>
              <a:buChar char="p"/>
            </a:pP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1</a:t>
            </a: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）构造一个</a:t>
            </a:r>
            <a:r>
              <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URL</a:t>
            </a: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对象</a:t>
            </a:r>
            <a:endPar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endParaRPr>
          </a:p>
          <a:p>
            <a:pPr lvl="1">
              <a:buFont typeface="Wingdings" panose="05000000000000000000" pitchFamily="2" charset="2"/>
              <a:buChar char="p"/>
            </a:pP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2</a:t>
            </a: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）调用这个</a:t>
            </a:r>
            <a:r>
              <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URL</a:t>
            </a: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对象的</a:t>
            </a:r>
            <a:r>
              <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openConnection( )</a:t>
            </a: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方法获取此</a:t>
            </a:r>
            <a:r>
              <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URL</a:t>
            </a: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的</a:t>
            </a:r>
            <a:r>
              <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URLConnection</a:t>
            </a: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对象</a:t>
            </a:r>
            <a:endPar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endParaRPr>
          </a:p>
          <a:p>
            <a:pPr lvl="1">
              <a:buFont typeface="Wingdings" panose="05000000000000000000" pitchFamily="2" charset="2"/>
              <a:buChar char="p"/>
            </a:pP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3</a:t>
            </a: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）调用这个</a:t>
            </a:r>
            <a:r>
              <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URL connection</a:t>
            </a: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的</a:t>
            </a:r>
            <a:r>
              <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getInputStream( )</a:t>
            </a: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方法</a:t>
            </a:r>
            <a:endPar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endParaRPr>
          </a:p>
          <a:p>
            <a:pPr lvl="1">
              <a:buFont typeface="Wingdings" panose="05000000000000000000" pitchFamily="2" charset="2"/>
              <a:buChar char="p"/>
            </a:pP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4</a:t>
            </a: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）使用通常的流</a:t>
            </a:r>
            <a:r>
              <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API</a:t>
            </a:r>
            <a:r>
              <a:rPr lang="zh-CN" altLang="en-US"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读取输入流</a:t>
            </a:r>
            <a:endPar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endParaRPr>
          </a:p>
          <a:p>
            <a:r>
              <a:rPr lang="en-US" altLang="zh-CN" sz="2400">
                <a:latin typeface="Times New Roman" panose="02020603050405020304" pitchFamily="18" charset="0"/>
                <a:cs typeface="Times New Roman" panose="02020603050405020304" pitchFamily="18" charset="0"/>
                <a:sym typeface="Wingdings" panose="05000000000000000000" pitchFamily="2" charset="2"/>
              </a:rPr>
              <a:t>URL connection</a:t>
            </a:r>
            <a:r>
              <a:rPr lang="zh-CN" altLang="en-US" sz="2400">
                <a:latin typeface="Times New Roman" panose="02020603050405020304" pitchFamily="18" charset="0"/>
                <a:cs typeface="Times New Roman" panose="02020603050405020304" pitchFamily="18" charset="0"/>
                <a:sym typeface="Wingdings" panose="05000000000000000000" pitchFamily="2" charset="2"/>
              </a:rPr>
              <a:t>的</a:t>
            </a:r>
            <a:r>
              <a:rPr lang="en-US" altLang="zh-CN" sz="2400">
                <a:latin typeface="Times New Roman" panose="02020603050405020304" pitchFamily="18" charset="0"/>
                <a:cs typeface="Times New Roman" panose="02020603050405020304" pitchFamily="18" charset="0"/>
                <a:sym typeface="Wingdings" panose="05000000000000000000" pitchFamily="2" charset="2"/>
              </a:rPr>
              <a:t>getInputStream( )</a:t>
            </a:r>
            <a:r>
              <a:rPr lang="zh-CN" altLang="en-US" sz="2400">
                <a:latin typeface="Times New Roman" panose="02020603050405020304" pitchFamily="18" charset="0"/>
                <a:cs typeface="Times New Roman" panose="02020603050405020304" pitchFamily="18" charset="0"/>
                <a:sym typeface="Wingdings" panose="05000000000000000000" pitchFamily="2" charset="2"/>
              </a:rPr>
              <a:t>方法返回一个通用</a:t>
            </a:r>
            <a:r>
              <a:rPr lang="en-US" altLang="zh-CN" sz="2400">
                <a:latin typeface="Times New Roman" panose="02020603050405020304" pitchFamily="18" charset="0"/>
                <a:cs typeface="Times New Roman" panose="02020603050405020304" pitchFamily="18" charset="0"/>
                <a:sym typeface="Wingdings" panose="05000000000000000000" pitchFamily="2" charset="2"/>
              </a:rPr>
              <a:t>Input Stream</a:t>
            </a:r>
            <a:r>
              <a:rPr lang="zh-CN" altLang="en-US" sz="2400">
                <a:latin typeface="Times New Roman" panose="02020603050405020304" pitchFamily="18" charset="0"/>
                <a:cs typeface="Times New Roman" panose="02020603050405020304" pitchFamily="18" charset="0"/>
                <a:sym typeface="Wingdings" panose="05000000000000000000" pitchFamily="2" charset="2"/>
              </a:rPr>
              <a:t>，可以读取和解析服务器发送的数据。</a:t>
            </a:r>
            <a:endParaRPr lang="en-US" altLang="zh-CN" sz="2400">
              <a:latin typeface="Times New Roman" panose="02020603050405020304" pitchFamily="18" charset="0"/>
              <a:cs typeface="Times New Roman" panose="02020603050405020304" pitchFamily="18" charset="0"/>
              <a:sym typeface="Wingdings" panose="05000000000000000000" pitchFamily="2" charset="2"/>
            </a:endParaRPr>
          </a:p>
          <a:p>
            <a:endParaRPr lang="en-US" altLang="zh-CN" sz="2200" b="1">
              <a:solidFill>
                <a:srgbClr val="006699"/>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43137704-12AB-44C1-A1B1-AD57CDBA7A5A}"/>
              </a:ext>
            </a:extLst>
          </p:cNvPr>
          <p:cNvSpPr>
            <a:spLocks noGrp="1"/>
          </p:cNvSpPr>
          <p:nvPr>
            <p:ph type="title"/>
          </p:nvPr>
        </p:nvSpPr>
        <p:spPr>
          <a:xfrm>
            <a:off x="1524000" y="34925"/>
            <a:ext cx="8540750" cy="533400"/>
          </a:xfrm>
        </p:spPr>
        <p:txBody>
          <a:bodyPr/>
          <a:lstStyle/>
          <a:p>
            <a:pPr algn="l"/>
            <a:r>
              <a:rPr lang="zh-CN" altLang="en-US" sz="2800"/>
              <a:t>读取服务器的数据</a:t>
            </a:r>
          </a:p>
        </p:txBody>
      </p:sp>
      <p:sp>
        <p:nvSpPr>
          <p:cNvPr id="14339" name="内容占位符 2">
            <a:extLst>
              <a:ext uri="{FF2B5EF4-FFF2-40B4-BE49-F238E27FC236}">
                <a16:creationId xmlns:a16="http://schemas.microsoft.com/office/drawing/2014/main" id="{D815A5C3-3C0D-439F-A838-DD35A346B1E7}"/>
              </a:ext>
            </a:extLst>
          </p:cNvPr>
          <p:cNvSpPr>
            <a:spLocks noGrp="1"/>
          </p:cNvSpPr>
          <p:nvPr>
            <p:ph idx="1"/>
          </p:nvPr>
        </p:nvSpPr>
        <p:spPr>
          <a:xfrm>
            <a:off x="1550989" y="685801"/>
            <a:ext cx="8936037" cy="5483225"/>
          </a:xfrm>
        </p:spPr>
        <p:txBody>
          <a:bodyPr/>
          <a:lstStyle/>
          <a:p>
            <a:r>
              <a:rPr lang="zh-CN" altLang="en-US" sz="2400">
                <a:latin typeface="Times New Roman" panose="02020603050405020304" pitchFamily="18" charset="0"/>
                <a:cs typeface="Times New Roman" panose="02020603050405020304" pitchFamily="18" charset="0"/>
              </a:rPr>
              <a:t>例子：</a:t>
            </a:r>
            <a:endParaRPr lang="en-US" altLang="zh-CN" sz="240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zh-CN" altLang="en-US" sz="2000">
                <a:latin typeface="Times New Roman" panose="02020603050405020304" pitchFamily="18" charset="0"/>
                <a:cs typeface="Times New Roman" panose="02020603050405020304" pitchFamily="18" charset="0"/>
              </a:rPr>
              <a:t>使用</a:t>
            </a:r>
            <a:r>
              <a:rPr lang="en-US" altLang="zh-CN" sz="2000">
                <a:latin typeface="Times New Roman" panose="02020603050405020304" pitchFamily="18" charset="0"/>
                <a:cs typeface="Times New Roman" panose="02020603050405020304" pitchFamily="18" charset="0"/>
              </a:rPr>
              <a:t>URLConnection getInputString( )</a:t>
            </a:r>
            <a:r>
              <a:rPr lang="zh-CN" altLang="en-US" sz="2000">
                <a:latin typeface="Times New Roman" panose="02020603050405020304" pitchFamily="18" charset="0"/>
                <a:cs typeface="Times New Roman" panose="02020603050405020304" pitchFamily="18" charset="0"/>
              </a:rPr>
              <a:t>方法下载一个</a:t>
            </a:r>
            <a:r>
              <a:rPr lang="en-US" altLang="zh-CN" sz="2000">
                <a:latin typeface="Times New Roman" panose="02020603050405020304" pitchFamily="18" charset="0"/>
                <a:cs typeface="Times New Roman" panose="02020603050405020304" pitchFamily="18" charset="0"/>
              </a:rPr>
              <a:t>web</a:t>
            </a:r>
            <a:r>
              <a:rPr lang="zh-CN" altLang="en-US" sz="2000">
                <a:latin typeface="Times New Roman" panose="02020603050405020304" pitchFamily="18" charset="0"/>
                <a:cs typeface="Times New Roman" panose="02020603050405020304" pitchFamily="18" charset="0"/>
              </a:rPr>
              <a:t>页面。</a:t>
            </a:r>
            <a:endParaRPr lang="en-US" altLang="zh-CN" sz="2000" b="1">
              <a:solidFill>
                <a:srgbClr val="006699"/>
              </a:solidFill>
              <a:latin typeface="Times New Roman" panose="02020603050405020304" pitchFamily="18" charset="0"/>
              <a:cs typeface="Times New Roman" panose="02020603050405020304" pitchFamily="18" charset="0"/>
              <a:sym typeface="Wingdings" panose="05000000000000000000" pitchFamily="2" charset="2"/>
            </a:endParaRPr>
          </a:p>
          <a:p>
            <a:endParaRPr lang="en-US" altLang="zh-CN" sz="2200" b="1">
              <a:solidFill>
                <a:srgbClr val="006699"/>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矩形 3">
            <a:extLst>
              <a:ext uri="{FF2B5EF4-FFF2-40B4-BE49-F238E27FC236}">
                <a16:creationId xmlns:a16="http://schemas.microsoft.com/office/drawing/2014/main" id="{8BE96890-7B7E-4B83-9479-EDD69F669F60}"/>
              </a:ext>
            </a:extLst>
          </p:cNvPr>
          <p:cNvSpPr>
            <a:spLocks noChangeArrowheads="1"/>
          </p:cNvSpPr>
          <p:nvPr/>
        </p:nvSpPr>
        <p:spPr bwMode="auto">
          <a:xfrm>
            <a:off x="152400" y="41275"/>
            <a:ext cx="11582400" cy="67405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a:t>
            </a:r>
            <a:r>
              <a:rPr lang="en-US" altLang="zh-CN" sz="1600" b="1" dirty="0" err="1">
                <a:latin typeface="Times New Roman" panose="02020603050405020304" pitchFamily="18" charset="0"/>
                <a:cs typeface="Times New Roman" panose="02020603050405020304" pitchFamily="18" charset="0"/>
              </a:rPr>
              <a:t>InputStream</a:t>
            </a:r>
            <a:r>
              <a:rPr lang="en-US" altLang="zh-CN" sz="1600" b="1" dirty="0">
                <a:latin typeface="Times New Roman" panose="02020603050405020304" pitchFamily="18" charset="0"/>
                <a:cs typeface="Times New Roman" panose="02020603050405020304" pitchFamily="18" charset="0"/>
              </a:rPr>
              <a:t> in = null;</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try {</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 Open the URL for reading</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a:t>
            </a:r>
            <a:r>
              <a:rPr lang="en-US" altLang="zh-CN" sz="1600" b="1" dirty="0">
                <a:solidFill>
                  <a:srgbClr val="FF0000"/>
                </a:solidFill>
                <a:latin typeface="Times New Roman" panose="02020603050405020304" pitchFamily="18" charset="0"/>
                <a:cs typeface="Times New Roman" panose="02020603050405020304" pitchFamily="18" charset="0"/>
              </a:rPr>
              <a:t>URL u = new URL(</a:t>
            </a:r>
            <a:r>
              <a:rPr lang="en-US" altLang="zh-CN" sz="1600" b="1" dirty="0" err="1">
                <a:solidFill>
                  <a:srgbClr val="FF0000"/>
                </a:solidFill>
                <a:latin typeface="Times New Roman" panose="02020603050405020304" pitchFamily="18" charset="0"/>
                <a:cs typeface="Times New Roman" panose="02020603050405020304" pitchFamily="18" charset="0"/>
              </a:rPr>
              <a:t>args</a:t>
            </a:r>
            <a:r>
              <a:rPr lang="en-US" altLang="zh-CN" sz="1600" b="1" dirty="0">
                <a:solidFill>
                  <a:srgbClr val="FF0000"/>
                </a:solidFill>
                <a:latin typeface="Times New Roman" panose="02020603050405020304" pitchFamily="18" charset="0"/>
                <a:cs typeface="Times New Roman" panose="02020603050405020304" pitchFamily="18" charset="0"/>
              </a:rPr>
              <a:t>[0]);</a:t>
            </a:r>
          </a:p>
          <a:p>
            <a:pPr>
              <a:spcBef>
                <a:spcPct val="0"/>
              </a:spcBef>
              <a:buClrTx/>
              <a:buSzTx/>
              <a:buFontTx/>
              <a:buNone/>
            </a:pPr>
            <a:r>
              <a:rPr lang="en-US" altLang="zh-CN" sz="1600" b="1" dirty="0">
                <a:solidFill>
                  <a:srgbClr val="FF0000"/>
                </a:solidFill>
                <a:latin typeface="Times New Roman" panose="02020603050405020304" pitchFamily="18" charset="0"/>
                <a:cs typeface="Times New Roman" panose="02020603050405020304" pitchFamily="18" charset="0"/>
              </a:rPr>
              <a:t>        </a:t>
            </a:r>
            <a:r>
              <a:rPr lang="en-US" altLang="zh-CN" sz="1600" b="1" dirty="0" err="1">
                <a:solidFill>
                  <a:srgbClr val="FF0000"/>
                </a:solidFill>
                <a:latin typeface="Times New Roman" panose="02020603050405020304" pitchFamily="18" charset="0"/>
                <a:cs typeface="Times New Roman" panose="02020603050405020304" pitchFamily="18" charset="0"/>
              </a:rPr>
              <a:t>URLConnection</a:t>
            </a:r>
            <a:r>
              <a:rPr lang="en-US" altLang="zh-CN" sz="1600" b="1" dirty="0">
                <a:solidFill>
                  <a:srgbClr val="FF0000"/>
                </a:solidFill>
                <a:latin typeface="Times New Roman" panose="02020603050405020304" pitchFamily="18" charset="0"/>
                <a:cs typeface="Times New Roman" panose="02020603050405020304" pitchFamily="18" charset="0"/>
              </a:rPr>
              <a:t> </a:t>
            </a:r>
            <a:r>
              <a:rPr lang="en-US" altLang="zh-CN" sz="1600" b="1" dirty="0" err="1">
                <a:solidFill>
                  <a:srgbClr val="FF0000"/>
                </a:solidFill>
                <a:latin typeface="Times New Roman" panose="02020603050405020304" pitchFamily="18" charset="0"/>
                <a:cs typeface="Times New Roman" panose="02020603050405020304" pitchFamily="18" charset="0"/>
              </a:rPr>
              <a:t>uc</a:t>
            </a:r>
            <a:r>
              <a:rPr lang="en-US" altLang="zh-CN" sz="1600" b="1" dirty="0">
                <a:solidFill>
                  <a:srgbClr val="FF0000"/>
                </a:solidFill>
                <a:latin typeface="Times New Roman" panose="02020603050405020304" pitchFamily="18" charset="0"/>
                <a:cs typeface="Times New Roman" panose="02020603050405020304" pitchFamily="18" charset="0"/>
              </a:rPr>
              <a:t> = </a:t>
            </a:r>
            <a:r>
              <a:rPr lang="en-US" altLang="zh-CN" sz="1600" b="1" dirty="0" err="1">
                <a:solidFill>
                  <a:srgbClr val="FF0000"/>
                </a:solidFill>
                <a:latin typeface="Times New Roman" panose="02020603050405020304" pitchFamily="18" charset="0"/>
                <a:cs typeface="Times New Roman" panose="02020603050405020304" pitchFamily="18" charset="0"/>
              </a:rPr>
              <a:t>u.openConnection</a:t>
            </a:r>
            <a:r>
              <a:rPr lang="en-US" altLang="zh-CN" sz="1600" b="1" dirty="0">
                <a:solidFill>
                  <a:srgbClr val="FF0000"/>
                </a:solidFill>
                <a:latin typeface="Times New Roman" panose="02020603050405020304" pitchFamily="18" charset="0"/>
                <a:cs typeface="Times New Roman" panose="02020603050405020304" pitchFamily="18" charset="0"/>
              </a:rPr>
              <a:t>();</a:t>
            </a:r>
          </a:p>
          <a:p>
            <a:pPr>
              <a:spcBef>
                <a:spcPct val="0"/>
              </a:spcBef>
              <a:buClrTx/>
              <a:buSzTx/>
              <a:buFontTx/>
              <a:buNone/>
            </a:pPr>
            <a:r>
              <a:rPr lang="en-US" altLang="zh-CN" sz="1600" b="1" dirty="0">
                <a:solidFill>
                  <a:srgbClr val="FF0000"/>
                </a:solidFill>
                <a:latin typeface="Times New Roman" panose="02020603050405020304" pitchFamily="18" charset="0"/>
                <a:cs typeface="Times New Roman" panose="02020603050405020304" pitchFamily="18" charset="0"/>
              </a:rPr>
              <a:t>        in = </a:t>
            </a:r>
            <a:r>
              <a:rPr lang="en-US" altLang="zh-CN" sz="1600" b="1" dirty="0" err="1">
                <a:solidFill>
                  <a:srgbClr val="FF0000"/>
                </a:solidFill>
                <a:latin typeface="Times New Roman" panose="02020603050405020304" pitchFamily="18" charset="0"/>
                <a:cs typeface="Times New Roman" panose="02020603050405020304" pitchFamily="18" charset="0"/>
              </a:rPr>
              <a:t>uc.getInputStream</a:t>
            </a:r>
            <a:r>
              <a:rPr lang="en-US" altLang="zh-CN" sz="1600" b="1" dirty="0">
                <a:solidFill>
                  <a:srgbClr val="FF0000"/>
                </a:solidFill>
                <a:latin typeface="Times New Roman" panose="02020603050405020304" pitchFamily="18" charset="0"/>
                <a:cs typeface="Times New Roman" panose="02020603050405020304" pitchFamily="18" charset="0"/>
              </a:rPr>
              <a:t>();</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 buffer the input to increase performance </a:t>
            </a:r>
          </a:p>
          <a:p>
            <a:pPr>
              <a:spcBef>
                <a:spcPct val="0"/>
              </a:spcBef>
              <a:buClrTx/>
              <a:buSzTx/>
              <a:buFontTx/>
              <a:buNone/>
            </a:pPr>
            <a:r>
              <a:rPr lang="en-US" altLang="zh-CN" sz="1600" b="1" dirty="0">
                <a:solidFill>
                  <a:srgbClr val="FF0000"/>
                </a:solidFill>
                <a:latin typeface="Times New Roman" panose="02020603050405020304" pitchFamily="18" charset="0"/>
                <a:cs typeface="Times New Roman" panose="02020603050405020304" pitchFamily="18" charset="0"/>
              </a:rPr>
              <a:t>        in = new </a:t>
            </a:r>
            <a:r>
              <a:rPr lang="en-US" altLang="zh-CN" sz="1600" b="1" dirty="0" err="1">
                <a:solidFill>
                  <a:srgbClr val="FF0000"/>
                </a:solidFill>
                <a:latin typeface="Times New Roman" panose="02020603050405020304" pitchFamily="18" charset="0"/>
                <a:cs typeface="Times New Roman" panose="02020603050405020304" pitchFamily="18" charset="0"/>
              </a:rPr>
              <a:t>BufferedInputStream</a:t>
            </a:r>
            <a:r>
              <a:rPr lang="en-US" altLang="zh-CN" sz="1600" b="1" dirty="0">
                <a:solidFill>
                  <a:srgbClr val="FF0000"/>
                </a:solidFill>
                <a:latin typeface="Times New Roman" panose="02020603050405020304" pitchFamily="18" charset="0"/>
                <a:cs typeface="Times New Roman" panose="02020603050405020304" pitchFamily="18" charset="0"/>
              </a:rPr>
              <a:t>(in);       </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 chain the </a:t>
            </a:r>
            <a:r>
              <a:rPr lang="en-US" altLang="zh-CN" sz="1600" b="1" dirty="0" err="1">
                <a:latin typeface="Times New Roman" panose="02020603050405020304" pitchFamily="18" charset="0"/>
                <a:cs typeface="Times New Roman" panose="02020603050405020304" pitchFamily="18" charset="0"/>
              </a:rPr>
              <a:t>InputStream</a:t>
            </a:r>
            <a:r>
              <a:rPr lang="en-US" altLang="zh-CN" sz="1600" b="1" dirty="0">
                <a:latin typeface="Times New Roman" panose="02020603050405020304" pitchFamily="18" charset="0"/>
                <a:cs typeface="Times New Roman" panose="02020603050405020304" pitchFamily="18" charset="0"/>
              </a:rPr>
              <a:t> to a Reader</a:t>
            </a:r>
          </a:p>
          <a:p>
            <a:pPr>
              <a:spcBef>
                <a:spcPct val="0"/>
              </a:spcBef>
              <a:buClrTx/>
              <a:buSzTx/>
              <a:buFontTx/>
              <a:buNone/>
            </a:pPr>
            <a:r>
              <a:rPr lang="en-US" altLang="zh-CN" sz="1600" b="1" dirty="0">
                <a:solidFill>
                  <a:srgbClr val="FF0000"/>
                </a:solidFill>
                <a:latin typeface="Times New Roman" panose="02020603050405020304" pitchFamily="18" charset="0"/>
                <a:cs typeface="Times New Roman" panose="02020603050405020304" pitchFamily="18" charset="0"/>
              </a:rPr>
              <a:t>        Reader r = new </a:t>
            </a:r>
            <a:r>
              <a:rPr lang="en-US" altLang="zh-CN" sz="1600" b="1" dirty="0" err="1">
                <a:solidFill>
                  <a:srgbClr val="FF0000"/>
                </a:solidFill>
                <a:latin typeface="Times New Roman" panose="02020603050405020304" pitchFamily="18" charset="0"/>
                <a:cs typeface="Times New Roman" panose="02020603050405020304" pitchFamily="18" charset="0"/>
              </a:rPr>
              <a:t>InputStreamReader</a:t>
            </a:r>
            <a:r>
              <a:rPr lang="en-US" altLang="zh-CN" sz="1600" b="1" dirty="0">
                <a:solidFill>
                  <a:srgbClr val="FF0000"/>
                </a:solidFill>
                <a:latin typeface="Times New Roman" panose="02020603050405020304" pitchFamily="18" charset="0"/>
                <a:cs typeface="Times New Roman" panose="02020603050405020304" pitchFamily="18" charset="0"/>
              </a:rPr>
              <a:t>(in);</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int c;</a:t>
            </a:r>
          </a:p>
          <a:p>
            <a:pPr>
              <a:spcBef>
                <a:spcPct val="0"/>
              </a:spcBef>
              <a:buClrTx/>
              <a:buSzTx/>
              <a:buFontTx/>
              <a:buNone/>
            </a:pPr>
            <a:r>
              <a:rPr lang="en-US" altLang="zh-CN" sz="1600" b="1" dirty="0">
                <a:solidFill>
                  <a:srgbClr val="FF0000"/>
                </a:solidFill>
                <a:latin typeface="Times New Roman" panose="02020603050405020304" pitchFamily="18" charset="0"/>
                <a:cs typeface="Times New Roman" panose="02020603050405020304" pitchFamily="18" charset="0"/>
              </a:rPr>
              <a:t>        while ((c = </a:t>
            </a:r>
            <a:r>
              <a:rPr lang="en-US" altLang="zh-CN" sz="1600" b="1" dirty="0" err="1">
                <a:solidFill>
                  <a:srgbClr val="FF0000"/>
                </a:solidFill>
                <a:latin typeface="Times New Roman" panose="02020603050405020304" pitchFamily="18" charset="0"/>
                <a:cs typeface="Times New Roman" panose="02020603050405020304" pitchFamily="18" charset="0"/>
              </a:rPr>
              <a:t>r.read</a:t>
            </a:r>
            <a:r>
              <a:rPr lang="en-US" altLang="zh-CN" sz="1600" b="1" dirty="0">
                <a:solidFill>
                  <a:srgbClr val="FF0000"/>
                </a:solidFill>
                <a:latin typeface="Times New Roman" panose="02020603050405020304" pitchFamily="18" charset="0"/>
                <a:cs typeface="Times New Roman" panose="02020603050405020304" pitchFamily="18" charset="0"/>
              </a:rPr>
              <a:t>()) != -1) {</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a:t>
            </a:r>
            <a:r>
              <a:rPr lang="en-US" altLang="zh-CN" sz="1600" b="1" dirty="0" err="1">
                <a:latin typeface="Times New Roman" panose="02020603050405020304" pitchFamily="18" charset="0"/>
                <a:cs typeface="Times New Roman" panose="02020603050405020304" pitchFamily="18" charset="0"/>
              </a:rPr>
              <a:t>System.out.print</a:t>
            </a:r>
            <a:r>
              <a:rPr lang="en-US" altLang="zh-CN" sz="1600" b="1" dirty="0">
                <a:latin typeface="Times New Roman" panose="02020603050405020304" pitchFamily="18" charset="0"/>
                <a:cs typeface="Times New Roman" panose="02020603050405020304" pitchFamily="18" charset="0"/>
              </a:rPr>
              <a:t>((char) c);</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 </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 catch (</a:t>
            </a:r>
            <a:r>
              <a:rPr lang="en-US" altLang="zh-CN" sz="1600" b="1" dirty="0" err="1">
                <a:latin typeface="Times New Roman" panose="02020603050405020304" pitchFamily="18" charset="0"/>
                <a:cs typeface="Times New Roman" panose="02020603050405020304" pitchFamily="18" charset="0"/>
              </a:rPr>
              <a:t>MalformedURLException</a:t>
            </a:r>
            <a:r>
              <a:rPr lang="en-US" altLang="zh-CN" sz="1600" b="1" dirty="0">
                <a:latin typeface="Times New Roman" panose="02020603050405020304" pitchFamily="18" charset="0"/>
                <a:cs typeface="Times New Roman" panose="02020603050405020304" pitchFamily="18" charset="0"/>
              </a:rPr>
              <a:t> ex) {</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a:t>
            </a:r>
            <a:r>
              <a:rPr lang="en-US" altLang="zh-CN" sz="1600" b="1" dirty="0" err="1">
                <a:latin typeface="Times New Roman" panose="02020603050405020304" pitchFamily="18" charset="0"/>
                <a:cs typeface="Times New Roman" panose="02020603050405020304" pitchFamily="18" charset="0"/>
              </a:rPr>
              <a:t>System.err.println</a:t>
            </a:r>
            <a:r>
              <a:rPr lang="en-US" altLang="zh-CN" sz="1600" b="1" dirty="0">
                <a:latin typeface="Times New Roman" panose="02020603050405020304" pitchFamily="18" charset="0"/>
                <a:cs typeface="Times New Roman" panose="02020603050405020304" pitchFamily="18" charset="0"/>
              </a:rPr>
              <a:t>(</a:t>
            </a:r>
            <a:r>
              <a:rPr lang="en-US" altLang="zh-CN" sz="1600" b="1" dirty="0" err="1">
                <a:latin typeface="Times New Roman" panose="02020603050405020304" pitchFamily="18" charset="0"/>
                <a:cs typeface="Times New Roman" panose="02020603050405020304" pitchFamily="18" charset="0"/>
              </a:rPr>
              <a:t>args</a:t>
            </a:r>
            <a:r>
              <a:rPr lang="en-US" altLang="zh-CN" sz="1600" b="1" dirty="0">
                <a:latin typeface="Times New Roman" panose="02020603050405020304" pitchFamily="18" charset="0"/>
                <a:cs typeface="Times New Roman" panose="02020603050405020304" pitchFamily="18" charset="0"/>
              </a:rPr>
              <a:t>[0] + " is not a </a:t>
            </a:r>
            <a:r>
              <a:rPr lang="en-US" altLang="zh-CN" sz="1600" b="1" dirty="0" err="1">
                <a:latin typeface="Times New Roman" panose="02020603050405020304" pitchFamily="18" charset="0"/>
                <a:cs typeface="Times New Roman" panose="02020603050405020304" pitchFamily="18" charset="0"/>
              </a:rPr>
              <a:t>parseable</a:t>
            </a:r>
            <a:r>
              <a:rPr lang="en-US" altLang="zh-CN" sz="1600" b="1" dirty="0">
                <a:latin typeface="Times New Roman" panose="02020603050405020304" pitchFamily="18" charset="0"/>
                <a:cs typeface="Times New Roman" panose="02020603050405020304" pitchFamily="18" charset="0"/>
              </a:rPr>
              <a:t> URL");</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 catch (</a:t>
            </a:r>
            <a:r>
              <a:rPr lang="en-US" altLang="zh-CN" sz="1600" b="1" dirty="0" err="1">
                <a:latin typeface="Times New Roman" panose="02020603050405020304" pitchFamily="18" charset="0"/>
                <a:cs typeface="Times New Roman" panose="02020603050405020304" pitchFamily="18" charset="0"/>
              </a:rPr>
              <a:t>IOException</a:t>
            </a:r>
            <a:r>
              <a:rPr lang="en-US" altLang="zh-CN" sz="1600" b="1" dirty="0">
                <a:latin typeface="Times New Roman" panose="02020603050405020304" pitchFamily="18" charset="0"/>
                <a:cs typeface="Times New Roman" panose="02020603050405020304" pitchFamily="18" charset="0"/>
              </a:rPr>
              <a:t> ex) {</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a:t>
            </a:r>
            <a:r>
              <a:rPr lang="en-US" altLang="zh-CN" sz="1600" b="1" dirty="0" err="1">
                <a:latin typeface="Times New Roman" panose="02020603050405020304" pitchFamily="18" charset="0"/>
                <a:cs typeface="Times New Roman" panose="02020603050405020304" pitchFamily="18" charset="0"/>
              </a:rPr>
              <a:t>System.err.println</a:t>
            </a:r>
            <a:r>
              <a:rPr lang="en-US" altLang="zh-CN" sz="1600" b="1" dirty="0">
                <a:latin typeface="Times New Roman" panose="02020603050405020304" pitchFamily="18" charset="0"/>
                <a:cs typeface="Times New Roman" panose="02020603050405020304" pitchFamily="18" charset="0"/>
              </a:rPr>
              <a:t>(ex);</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 finally {</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if (in != null) {</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try {</a:t>
            </a:r>
          </a:p>
          <a:p>
            <a:pPr>
              <a:spcBef>
                <a:spcPct val="0"/>
              </a:spcBef>
              <a:buClrTx/>
              <a:buSzTx/>
              <a:buFontTx/>
              <a:buNone/>
            </a:pPr>
            <a:r>
              <a:rPr lang="en-US" altLang="zh-CN" sz="1600" b="1" dirty="0">
                <a:solidFill>
                  <a:srgbClr val="FF0000"/>
                </a:solidFill>
                <a:latin typeface="Times New Roman" panose="02020603050405020304" pitchFamily="18" charset="0"/>
                <a:cs typeface="Times New Roman" panose="02020603050405020304" pitchFamily="18" charset="0"/>
              </a:rPr>
              <a:t>            </a:t>
            </a:r>
            <a:r>
              <a:rPr lang="en-US" altLang="zh-CN" sz="1600" b="1" dirty="0" err="1">
                <a:solidFill>
                  <a:srgbClr val="FF0000"/>
                </a:solidFill>
                <a:latin typeface="Times New Roman" panose="02020603050405020304" pitchFamily="18" charset="0"/>
                <a:cs typeface="Times New Roman" panose="02020603050405020304" pitchFamily="18" charset="0"/>
              </a:rPr>
              <a:t>in.close</a:t>
            </a:r>
            <a:r>
              <a:rPr lang="en-US" altLang="zh-CN" sz="1600" b="1" dirty="0">
                <a:solidFill>
                  <a:srgbClr val="FF0000"/>
                </a:solidFill>
                <a:latin typeface="Times New Roman" panose="02020603050405020304" pitchFamily="18" charset="0"/>
                <a:cs typeface="Times New Roman" panose="02020603050405020304" pitchFamily="18" charset="0"/>
              </a:rPr>
              <a:t>();</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 catch (</a:t>
            </a:r>
            <a:r>
              <a:rPr lang="en-US" altLang="zh-CN" sz="1600" b="1" dirty="0" err="1">
                <a:latin typeface="Times New Roman" panose="02020603050405020304" pitchFamily="18" charset="0"/>
                <a:cs typeface="Times New Roman" panose="02020603050405020304" pitchFamily="18" charset="0"/>
              </a:rPr>
              <a:t>IOException</a:t>
            </a:r>
            <a:r>
              <a:rPr lang="en-US" altLang="zh-CN" sz="1600" b="1" dirty="0">
                <a:latin typeface="Times New Roman" panose="02020603050405020304" pitchFamily="18" charset="0"/>
                <a:cs typeface="Times New Roman" panose="02020603050405020304" pitchFamily="18" charset="0"/>
              </a:rPr>
              <a:t> e) {</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 ignore</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      }</a:t>
            </a:r>
          </a:p>
        </p:txBody>
      </p:sp>
      <p:sp>
        <p:nvSpPr>
          <p:cNvPr id="16386" name="标题 1">
            <a:extLst>
              <a:ext uri="{FF2B5EF4-FFF2-40B4-BE49-F238E27FC236}">
                <a16:creationId xmlns:a16="http://schemas.microsoft.com/office/drawing/2014/main" id="{42EAEE59-9A55-4B39-B4BF-C39E38A11417}"/>
              </a:ext>
            </a:extLst>
          </p:cNvPr>
          <p:cNvSpPr>
            <a:spLocks noGrp="1"/>
          </p:cNvSpPr>
          <p:nvPr>
            <p:ph type="title"/>
          </p:nvPr>
        </p:nvSpPr>
        <p:spPr>
          <a:xfrm>
            <a:off x="1825625" y="228600"/>
            <a:ext cx="8540750" cy="685800"/>
          </a:xfrm>
        </p:spPr>
        <p:txBody>
          <a:bodyPr/>
          <a:lstStyle/>
          <a:p>
            <a:r>
              <a:rPr lang="zh-CN" altLang="en-US" sz="3200"/>
              <a:t>读取服务器的数据</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D22D8C5B-C32D-49FD-8842-C6ED618C10EF}"/>
              </a:ext>
            </a:extLst>
          </p:cNvPr>
          <p:cNvSpPr>
            <a:spLocks noGrp="1"/>
          </p:cNvSpPr>
          <p:nvPr>
            <p:ph type="title"/>
          </p:nvPr>
        </p:nvSpPr>
        <p:spPr>
          <a:xfrm>
            <a:off x="1524000" y="20638"/>
            <a:ext cx="8540750" cy="685800"/>
          </a:xfrm>
        </p:spPr>
        <p:txBody>
          <a:bodyPr/>
          <a:lstStyle/>
          <a:p>
            <a:pPr algn="l"/>
            <a:r>
              <a:rPr lang="zh-CN" altLang="en-US" sz="3200"/>
              <a:t>读取服务器的数据</a:t>
            </a:r>
          </a:p>
        </p:txBody>
      </p:sp>
      <p:sp>
        <p:nvSpPr>
          <p:cNvPr id="18435" name="矩形 3">
            <a:extLst>
              <a:ext uri="{FF2B5EF4-FFF2-40B4-BE49-F238E27FC236}">
                <a16:creationId xmlns:a16="http://schemas.microsoft.com/office/drawing/2014/main" id="{F0F5156A-6682-4EC1-B5B8-1422C1461865}"/>
              </a:ext>
            </a:extLst>
          </p:cNvPr>
          <p:cNvSpPr>
            <a:spLocks noChangeArrowheads="1"/>
          </p:cNvSpPr>
          <p:nvPr/>
        </p:nvSpPr>
        <p:spPr bwMode="auto">
          <a:xfrm>
            <a:off x="6602414" y="787400"/>
            <a:ext cx="40655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SourceViewer2</a:t>
            </a:r>
            <a:r>
              <a:rPr lang="zh-CN" altLang="en-US" sz="1800"/>
              <a:t>，使用</a:t>
            </a:r>
            <a:r>
              <a:rPr lang="en-US" altLang="zh-CN" sz="1800"/>
              <a:t>URLConnection</a:t>
            </a:r>
            <a:endParaRPr lang="zh-CN" altLang="en-US" sz="1800"/>
          </a:p>
        </p:txBody>
      </p:sp>
      <p:sp>
        <p:nvSpPr>
          <p:cNvPr id="18436" name="矩形 4">
            <a:extLst>
              <a:ext uri="{FF2B5EF4-FFF2-40B4-BE49-F238E27FC236}">
                <a16:creationId xmlns:a16="http://schemas.microsoft.com/office/drawing/2014/main" id="{F0839C87-BA49-4AF6-9B49-68AE55DCE21A}"/>
              </a:ext>
            </a:extLst>
          </p:cNvPr>
          <p:cNvSpPr>
            <a:spLocks noChangeArrowheads="1"/>
          </p:cNvSpPr>
          <p:nvPr/>
        </p:nvSpPr>
        <p:spPr bwMode="auto">
          <a:xfrm>
            <a:off x="1550989" y="647700"/>
            <a:ext cx="45926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a:t>演示</a:t>
            </a:r>
            <a:r>
              <a:rPr lang="en-US" altLang="zh-CN" sz="1800"/>
              <a:t>ch7. SourceViewer2</a:t>
            </a:r>
            <a:r>
              <a:rPr lang="zh-CN" altLang="en-US" sz="1800"/>
              <a:t>完整代码</a:t>
            </a:r>
            <a:endParaRPr lang="en-US" altLang="zh-CN" sz="1800"/>
          </a:p>
          <a:p>
            <a:pPr>
              <a:spcBef>
                <a:spcPct val="0"/>
              </a:spcBef>
              <a:buClrTx/>
              <a:buSzTx/>
              <a:buFontTx/>
              <a:buNone/>
            </a:pPr>
            <a:r>
              <a:rPr lang="zh-CN" altLang="en-US" sz="1800"/>
              <a:t>实现使用</a:t>
            </a:r>
            <a:r>
              <a:rPr lang="en-US" altLang="zh-CN" sz="1800"/>
              <a:t>URLConnection</a:t>
            </a:r>
            <a:r>
              <a:rPr lang="zh-CN" altLang="en-US" sz="1800"/>
              <a:t>下载一个</a:t>
            </a:r>
            <a:r>
              <a:rPr lang="en-US" altLang="zh-CN" sz="1800"/>
              <a:t>Web</a:t>
            </a:r>
            <a:r>
              <a:rPr lang="zh-CN" altLang="en-US" sz="1800"/>
              <a:t>页面</a:t>
            </a:r>
          </a:p>
        </p:txBody>
      </p:sp>
      <p:pic>
        <p:nvPicPr>
          <p:cNvPr id="18437" name="图片 1">
            <a:extLst>
              <a:ext uri="{FF2B5EF4-FFF2-40B4-BE49-F238E27FC236}">
                <a16:creationId xmlns:a16="http://schemas.microsoft.com/office/drawing/2014/main" id="{FE7224EB-4002-4F2E-9139-2865B4AFE47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295400"/>
            <a:ext cx="10591800" cy="555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矩形 3">
            <a:extLst>
              <a:ext uri="{FF2B5EF4-FFF2-40B4-BE49-F238E27FC236}">
                <a16:creationId xmlns:a16="http://schemas.microsoft.com/office/drawing/2014/main" id="{CA0BBCB9-CEAC-42C5-8BFA-3757713B6F0E}"/>
              </a:ext>
            </a:extLst>
          </p:cNvPr>
          <p:cNvSpPr>
            <a:spLocks noChangeArrowheads="1"/>
          </p:cNvSpPr>
          <p:nvPr/>
        </p:nvSpPr>
        <p:spPr bwMode="auto">
          <a:xfrm>
            <a:off x="152400" y="200026"/>
            <a:ext cx="11658600" cy="64944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InputStream in = null;</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try {</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 Open the URL for reading</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a:t>
            </a:r>
            <a:r>
              <a:rPr lang="en-US" altLang="zh-CN" sz="1600" b="1">
                <a:solidFill>
                  <a:srgbClr val="FF0000"/>
                </a:solidFill>
                <a:latin typeface="Times New Roman" panose="02020603050405020304" pitchFamily="18" charset="0"/>
                <a:cs typeface="Times New Roman" panose="02020603050405020304" pitchFamily="18" charset="0"/>
              </a:rPr>
              <a:t>URL u = new URL(args[0]);</a:t>
            </a:r>
          </a:p>
          <a:p>
            <a:pPr>
              <a:spcBef>
                <a:spcPct val="0"/>
              </a:spcBef>
              <a:buClrTx/>
              <a:buSzTx/>
              <a:buFontTx/>
              <a:buNone/>
            </a:pPr>
            <a:r>
              <a:rPr lang="en-US" altLang="zh-CN" sz="1600" b="1">
                <a:solidFill>
                  <a:srgbClr val="FF0000"/>
                </a:solidFill>
                <a:latin typeface="Times New Roman" panose="02020603050405020304" pitchFamily="18" charset="0"/>
                <a:cs typeface="Times New Roman" panose="02020603050405020304" pitchFamily="18" charset="0"/>
              </a:rPr>
              <a:t>        in = u.openStream();</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 buffer the input to increase performance </a:t>
            </a:r>
          </a:p>
          <a:p>
            <a:pPr>
              <a:spcBef>
                <a:spcPct val="0"/>
              </a:spcBef>
              <a:buClrTx/>
              <a:buSzTx/>
              <a:buFontTx/>
              <a:buNone/>
            </a:pPr>
            <a:r>
              <a:rPr lang="en-US" altLang="zh-CN" sz="1600" b="1">
                <a:solidFill>
                  <a:srgbClr val="FF0000"/>
                </a:solidFill>
                <a:latin typeface="Times New Roman" panose="02020603050405020304" pitchFamily="18" charset="0"/>
                <a:cs typeface="Times New Roman" panose="02020603050405020304" pitchFamily="18" charset="0"/>
              </a:rPr>
              <a:t>        in = new BufferedInputStream(in);       </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 chain the InputStream to a Reader</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a:t>
            </a:r>
            <a:r>
              <a:rPr lang="en-US" altLang="zh-CN" sz="1600" b="1">
                <a:solidFill>
                  <a:srgbClr val="FF0000"/>
                </a:solidFill>
                <a:latin typeface="Times New Roman" panose="02020603050405020304" pitchFamily="18" charset="0"/>
                <a:cs typeface="Times New Roman" panose="02020603050405020304" pitchFamily="18" charset="0"/>
              </a:rPr>
              <a:t>Reader r = new InputStreamReader(in);</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int c;</a:t>
            </a:r>
          </a:p>
          <a:p>
            <a:pPr>
              <a:spcBef>
                <a:spcPct val="0"/>
              </a:spcBef>
              <a:buClrTx/>
              <a:buSzTx/>
              <a:buFontTx/>
              <a:buNone/>
            </a:pPr>
            <a:r>
              <a:rPr lang="en-US" altLang="zh-CN" sz="1600" b="1">
                <a:solidFill>
                  <a:srgbClr val="FF0000"/>
                </a:solidFill>
                <a:latin typeface="Times New Roman" panose="02020603050405020304" pitchFamily="18" charset="0"/>
                <a:cs typeface="Times New Roman" panose="02020603050405020304" pitchFamily="18" charset="0"/>
              </a:rPr>
              <a:t>        while ((c = r.read()) != -1) </a:t>
            </a:r>
            <a:r>
              <a:rPr lang="en-US" altLang="zh-CN" sz="1600" b="1">
                <a:latin typeface="Times New Roman" panose="02020603050405020304" pitchFamily="18" charset="0"/>
                <a:cs typeface="Times New Roman" panose="02020603050405020304" pitchFamily="18" charset="0"/>
              </a:rPr>
              <a:t>{</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System.out.print((char) c);</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 </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 catch (MalformedURLException ex) {</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System.err.println(args[0] + " is not a parseable URL");</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 catch (IOException ex) {</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System.err.println(ex);</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 finally {</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if (in != null) {</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try {</a:t>
            </a:r>
          </a:p>
          <a:p>
            <a:pPr>
              <a:spcBef>
                <a:spcPct val="0"/>
              </a:spcBef>
              <a:buClrTx/>
              <a:buSzTx/>
              <a:buFontTx/>
              <a:buNone/>
            </a:pPr>
            <a:r>
              <a:rPr lang="en-US" altLang="zh-CN" sz="1600" b="1">
                <a:solidFill>
                  <a:srgbClr val="FF0000"/>
                </a:solidFill>
                <a:latin typeface="Times New Roman" panose="02020603050405020304" pitchFamily="18" charset="0"/>
                <a:cs typeface="Times New Roman" panose="02020603050405020304" pitchFamily="18" charset="0"/>
              </a:rPr>
              <a:t>            in.close();</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 catch (IOException e) {</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 ignore</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600" b="1">
                <a:latin typeface="Times New Roman" panose="02020603050405020304" pitchFamily="18" charset="0"/>
                <a:cs typeface="Times New Roman" panose="02020603050405020304" pitchFamily="18" charset="0"/>
              </a:rPr>
              <a:t>      }</a:t>
            </a:r>
          </a:p>
        </p:txBody>
      </p:sp>
      <p:sp>
        <p:nvSpPr>
          <p:cNvPr id="20482" name="标题 1">
            <a:extLst>
              <a:ext uri="{FF2B5EF4-FFF2-40B4-BE49-F238E27FC236}">
                <a16:creationId xmlns:a16="http://schemas.microsoft.com/office/drawing/2014/main" id="{55D20E11-6050-4309-87A2-D1B291F06BB8}"/>
              </a:ext>
            </a:extLst>
          </p:cNvPr>
          <p:cNvSpPr>
            <a:spLocks noGrp="1"/>
          </p:cNvSpPr>
          <p:nvPr>
            <p:ph type="title"/>
          </p:nvPr>
        </p:nvSpPr>
        <p:spPr>
          <a:xfrm>
            <a:off x="1825625" y="228600"/>
            <a:ext cx="8540750" cy="685800"/>
          </a:xfrm>
        </p:spPr>
        <p:txBody>
          <a:bodyPr/>
          <a:lstStyle/>
          <a:p>
            <a:r>
              <a:rPr lang="zh-CN" altLang="en-US" sz="3200"/>
              <a:t>读取服务器的数据</a:t>
            </a:r>
          </a:p>
        </p:txBody>
      </p:sp>
      <p:sp>
        <p:nvSpPr>
          <p:cNvPr id="20484" name="矩形 3">
            <a:extLst>
              <a:ext uri="{FF2B5EF4-FFF2-40B4-BE49-F238E27FC236}">
                <a16:creationId xmlns:a16="http://schemas.microsoft.com/office/drawing/2014/main" id="{AA3E8CF6-4E1B-4A56-9857-1EC076CA89CD}"/>
              </a:ext>
            </a:extLst>
          </p:cNvPr>
          <p:cNvSpPr>
            <a:spLocks noChangeArrowheads="1"/>
          </p:cNvSpPr>
          <p:nvPr/>
        </p:nvSpPr>
        <p:spPr bwMode="auto">
          <a:xfrm>
            <a:off x="6858001" y="914400"/>
            <a:ext cx="3910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b="1"/>
              <a:t>对比</a:t>
            </a:r>
            <a:r>
              <a:rPr lang="en-US" altLang="zh-CN" sz="1800" b="1"/>
              <a:t>Ch5.SourceViewer</a:t>
            </a:r>
            <a:r>
              <a:rPr lang="zh-CN" altLang="en-US" sz="1800" b="1"/>
              <a:t>使用</a:t>
            </a:r>
            <a:r>
              <a:rPr lang="en-US" altLang="zh-CN" sz="1800" b="1"/>
              <a:t>URL</a:t>
            </a:r>
            <a:r>
              <a:rPr lang="zh-CN" altLang="en-US" sz="1800" b="1"/>
              <a:t>类</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097FD7F1-1672-47FF-A251-07D24CC11A64}"/>
              </a:ext>
            </a:extLst>
          </p:cNvPr>
          <p:cNvSpPr>
            <a:spLocks noGrp="1"/>
          </p:cNvSpPr>
          <p:nvPr>
            <p:ph type="title"/>
          </p:nvPr>
        </p:nvSpPr>
        <p:spPr>
          <a:xfrm>
            <a:off x="1738313" y="0"/>
            <a:ext cx="8540750" cy="685800"/>
          </a:xfrm>
        </p:spPr>
        <p:txBody>
          <a:bodyPr/>
          <a:lstStyle/>
          <a:p>
            <a:pPr algn="l"/>
            <a:r>
              <a:rPr lang="en-US" altLang="zh-CN" sz="3200"/>
              <a:t>URL</a:t>
            </a:r>
            <a:r>
              <a:rPr lang="zh-CN" altLang="en-US" sz="3200"/>
              <a:t>与</a:t>
            </a:r>
            <a:r>
              <a:rPr lang="en-US" altLang="zh-CN" sz="3200"/>
              <a:t>URLConnection</a:t>
            </a:r>
            <a:r>
              <a:rPr lang="zh-CN" altLang="en-US" sz="3200"/>
              <a:t>区别</a:t>
            </a:r>
          </a:p>
        </p:txBody>
      </p:sp>
      <p:sp>
        <p:nvSpPr>
          <p:cNvPr id="22531" name="内容占位符 2">
            <a:extLst>
              <a:ext uri="{FF2B5EF4-FFF2-40B4-BE49-F238E27FC236}">
                <a16:creationId xmlns:a16="http://schemas.microsoft.com/office/drawing/2014/main" id="{4BDFF21E-19FB-40C7-9573-1F336D3002CF}"/>
              </a:ext>
            </a:extLst>
          </p:cNvPr>
          <p:cNvSpPr>
            <a:spLocks noGrp="1"/>
          </p:cNvSpPr>
          <p:nvPr>
            <p:ph idx="1"/>
          </p:nvPr>
        </p:nvSpPr>
        <p:spPr>
          <a:xfrm>
            <a:off x="1752600" y="1219201"/>
            <a:ext cx="8540750" cy="4498975"/>
          </a:xfrm>
        </p:spPr>
        <p:txBody>
          <a:bodyPr/>
          <a:lstStyle/>
          <a:p>
            <a:r>
              <a:rPr lang="en-US" altLang="zh-CN" sz="2800"/>
              <a:t>URLConnection</a:t>
            </a:r>
            <a:r>
              <a:rPr lang="zh-CN" altLang="en-US" sz="2800"/>
              <a:t>提供了对</a:t>
            </a:r>
            <a:r>
              <a:rPr lang="en-US" altLang="zh-CN" sz="2800"/>
              <a:t>HTTP</a:t>
            </a:r>
            <a:r>
              <a:rPr lang="zh-CN" altLang="en-US" sz="2800"/>
              <a:t>头信息访问</a:t>
            </a:r>
            <a:endParaRPr lang="en-US" altLang="zh-CN" sz="2800"/>
          </a:p>
          <a:p>
            <a:r>
              <a:rPr lang="en-US" altLang="zh-CN" sz="2800"/>
              <a:t>URLConnection</a:t>
            </a:r>
            <a:r>
              <a:rPr lang="zh-CN" altLang="en-US" sz="2800"/>
              <a:t>可以配置发给服务器的请求参数</a:t>
            </a:r>
            <a:endParaRPr lang="en-US" altLang="zh-CN" sz="2800"/>
          </a:p>
          <a:p>
            <a:r>
              <a:rPr lang="en-US" altLang="zh-CN" sz="2800"/>
              <a:t>URLConnection</a:t>
            </a:r>
            <a:r>
              <a:rPr lang="zh-CN" altLang="en-US" sz="2800"/>
              <a:t>除了可读取服务器数据外，还可向服务器写入</a:t>
            </a:r>
            <a:r>
              <a:rPr lang="zh-CN" altLang="en-US" sz="2800">
                <a:solidFill>
                  <a:srgbClr val="FF0000"/>
                </a:solidFill>
              </a:rPr>
              <a:t>数据</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E89BA590-BB0F-4629-ABF9-5CB023CAA367}"/>
              </a:ext>
            </a:extLst>
          </p:cNvPr>
          <p:cNvSpPr>
            <a:spLocks noGrp="1"/>
          </p:cNvSpPr>
          <p:nvPr>
            <p:ph type="title"/>
          </p:nvPr>
        </p:nvSpPr>
        <p:spPr>
          <a:xfrm>
            <a:off x="1524000" y="0"/>
            <a:ext cx="8540750" cy="496888"/>
          </a:xfrm>
        </p:spPr>
        <p:txBody>
          <a:bodyPr/>
          <a:lstStyle/>
          <a:p>
            <a:pPr algn="l"/>
            <a:r>
              <a:rPr lang="zh-CN" altLang="en-US" sz="3200"/>
              <a:t>读取</a:t>
            </a:r>
            <a:r>
              <a:rPr lang="en-US" altLang="zh-CN" sz="3200"/>
              <a:t>HTTP</a:t>
            </a:r>
            <a:r>
              <a:rPr lang="zh-CN" altLang="en-US" sz="3200"/>
              <a:t>首部</a:t>
            </a:r>
          </a:p>
        </p:txBody>
      </p:sp>
      <p:sp>
        <p:nvSpPr>
          <p:cNvPr id="3" name="内容占位符 2">
            <a:extLst>
              <a:ext uri="{FF2B5EF4-FFF2-40B4-BE49-F238E27FC236}">
                <a16:creationId xmlns:a16="http://schemas.microsoft.com/office/drawing/2014/main" id="{32EB2512-D091-4B1E-95E3-0D1A9251C967}"/>
              </a:ext>
            </a:extLst>
          </p:cNvPr>
          <p:cNvSpPr>
            <a:spLocks noGrp="1"/>
          </p:cNvSpPr>
          <p:nvPr>
            <p:ph idx="1"/>
          </p:nvPr>
        </p:nvSpPr>
        <p:spPr>
          <a:xfrm>
            <a:off x="1544638" y="990601"/>
            <a:ext cx="8540750" cy="4498975"/>
          </a:xfrm>
        </p:spPr>
        <p:txBody>
          <a:bodyPr/>
          <a:lstStyle/>
          <a:p>
            <a:r>
              <a:rPr lang="zh-CN" altLang="en-US" sz="2800"/>
              <a:t>一个</a:t>
            </a:r>
            <a:r>
              <a:rPr lang="en-US" altLang="zh-CN" sz="2800"/>
              <a:t>HTTP</a:t>
            </a:r>
            <a:r>
              <a:rPr lang="zh-CN" altLang="en-US" sz="2800"/>
              <a:t>服务器响应的头部信息头部中的常用 字段有：</a:t>
            </a:r>
            <a:endParaRPr lang="en-US" altLang="zh-CN" sz="2800"/>
          </a:p>
          <a:p>
            <a:pPr lvl="1">
              <a:buFont typeface="Wingdings" panose="05000000000000000000" pitchFamily="2" charset="2"/>
              <a:buChar char="p"/>
            </a:pPr>
            <a:r>
              <a:rPr lang="en-US" altLang="zh-CN" sz="2400"/>
              <a:t>Content-type</a:t>
            </a:r>
          </a:p>
          <a:p>
            <a:pPr lvl="1">
              <a:buFont typeface="Wingdings" panose="05000000000000000000" pitchFamily="2" charset="2"/>
              <a:buChar char="p"/>
            </a:pPr>
            <a:r>
              <a:rPr lang="en-US" altLang="zh-CN" sz="2400"/>
              <a:t>Content-length</a:t>
            </a:r>
          </a:p>
          <a:p>
            <a:pPr lvl="1">
              <a:buFont typeface="Wingdings" panose="05000000000000000000" pitchFamily="2" charset="2"/>
              <a:buChar char="p"/>
            </a:pPr>
            <a:r>
              <a:rPr lang="en-US" altLang="zh-CN" sz="2400"/>
              <a:t>Content-encoding</a:t>
            </a:r>
          </a:p>
          <a:p>
            <a:pPr lvl="1">
              <a:buFont typeface="Wingdings" panose="05000000000000000000" pitchFamily="2" charset="2"/>
              <a:buChar char="p"/>
            </a:pPr>
            <a:r>
              <a:rPr lang="en-US" altLang="zh-CN" sz="2400"/>
              <a:t>Date</a:t>
            </a:r>
          </a:p>
          <a:p>
            <a:pPr lvl="1">
              <a:buFont typeface="Wingdings" panose="05000000000000000000" pitchFamily="2" charset="2"/>
              <a:buChar char="p"/>
            </a:pPr>
            <a:r>
              <a:rPr lang="en-US" altLang="zh-CN" sz="2400"/>
              <a:t>Last-modified</a:t>
            </a:r>
          </a:p>
          <a:p>
            <a:pPr lvl="1">
              <a:buFont typeface="Wingdings" panose="05000000000000000000" pitchFamily="2" charset="2"/>
              <a:buChar char="p"/>
            </a:pPr>
            <a:r>
              <a:rPr lang="en-US" altLang="zh-CN" sz="2400"/>
              <a:t>Expires</a:t>
            </a:r>
            <a:endParaRPr lang="en-US" altLang="zh-CN"/>
          </a:p>
        </p:txBody>
      </p:sp>
      <p:sp>
        <p:nvSpPr>
          <p:cNvPr id="23556" name="矩形 3">
            <a:extLst>
              <a:ext uri="{FF2B5EF4-FFF2-40B4-BE49-F238E27FC236}">
                <a16:creationId xmlns:a16="http://schemas.microsoft.com/office/drawing/2014/main" id="{38B4AEC4-02EA-4178-BAD4-D782595263D3}"/>
              </a:ext>
            </a:extLst>
          </p:cNvPr>
          <p:cNvSpPr>
            <a:spLocks noChangeArrowheads="1"/>
          </p:cNvSpPr>
          <p:nvPr/>
        </p:nvSpPr>
        <p:spPr bwMode="auto">
          <a:xfrm>
            <a:off x="5181600" y="1905001"/>
            <a:ext cx="5334000" cy="28622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b="1">
                <a:solidFill>
                  <a:srgbClr val="FF0000"/>
                </a:solidFill>
                <a:latin typeface="Times New Roman" panose="02020603050405020304" pitchFamily="18" charset="0"/>
                <a:cs typeface="Times New Roman" panose="02020603050405020304" pitchFamily="18" charset="0"/>
              </a:rPr>
              <a:t>一个</a:t>
            </a:r>
            <a:r>
              <a:rPr lang="en-US" altLang="zh-CN" sz="1800" b="1">
                <a:solidFill>
                  <a:srgbClr val="FF0000"/>
                </a:solidFill>
                <a:latin typeface="Times New Roman" panose="02020603050405020304" pitchFamily="18" charset="0"/>
                <a:cs typeface="Times New Roman" panose="02020603050405020304" pitchFamily="18" charset="0"/>
              </a:rPr>
              <a:t>Appache Web</a:t>
            </a:r>
            <a:r>
              <a:rPr lang="zh-CN" altLang="en-US" sz="1800" b="1">
                <a:solidFill>
                  <a:srgbClr val="FF0000"/>
                </a:solidFill>
                <a:latin typeface="Times New Roman" panose="02020603050405020304" pitchFamily="18" charset="0"/>
                <a:cs typeface="Times New Roman" panose="02020603050405020304" pitchFamily="18" charset="0"/>
              </a:rPr>
              <a:t>服务器返回的响应信息中的</a:t>
            </a:r>
            <a:r>
              <a:rPr lang="en-US" altLang="zh-CN" sz="1800" b="1">
                <a:solidFill>
                  <a:srgbClr val="FF0000"/>
                </a:solidFill>
                <a:latin typeface="Times New Roman" panose="02020603050405020304" pitchFamily="18" charset="0"/>
                <a:cs typeface="Times New Roman" panose="02020603050405020304" pitchFamily="18" charset="0"/>
              </a:rPr>
              <a:t>HTTP</a:t>
            </a:r>
            <a:r>
              <a:rPr lang="zh-CN" altLang="en-US" sz="1800" b="1">
                <a:solidFill>
                  <a:srgbClr val="FF0000"/>
                </a:solidFill>
                <a:latin typeface="Times New Roman" panose="02020603050405020304" pitchFamily="18" charset="0"/>
                <a:cs typeface="Times New Roman" panose="02020603050405020304" pitchFamily="18" charset="0"/>
              </a:rPr>
              <a:t>头部：</a:t>
            </a:r>
            <a:endParaRPr lang="en-US" altLang="zh-CN" sz="1800" b="1">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1800" b="1">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800">
                <a:latin typeface="Times New Roman" panose="02020603050405020304" pitchFamily="18" charset="0"/>
                <a:cs typeface="Times New Roman" panose="02020603050405020304" pitchFamily="18" charset="0"/>
              </a:rPr>
              <a:t>HTTP/1.1  301  Moved Permanently</a:t>
            </a:r>
          </a:p>
          <a:p>
            <a:pPr>
              <a:spcBef>
                <a:spcPct val="0"/>
              </a:spcBef>
              <a:buClrTx/>
              <a:buSzTx/>
              <a:buFontTx/>
              <a:buNone/>
            </a:pPr>
            <a:r>
              <a:rPr lang="en-US" altLang="zh-CN" sz="1800">
                <a:latin typeface="Times New Roman" panose="02020603050405020304" pitchFamily="18" charset="0"/>
                <a:cs typeface="Times New Roman" panose="02020603050405020304" pitchFamily="18" charset="0"/>
              </a:rPr>
              <a:t>Date:  Sun, 21 Apr 2013  15:12:46 GMT</a:t>
            </a:r>
          </a:p>
          <a:p>
            <a:pPr>
              <a:spcBef>
                <a:spcPct val="0"/>
              </a:spcBef>
              <a:buClrTx/>
              <a:buSzTx/>
              <a:buFontTx/>
              <a:buNone/>
            </a:pPr>
            <a:r>
              <a:rPr lang="en-US" altLang="zh-CN" sz="1800">
                <a:latin typeface="Times New Roman" panose="02020603050405020304" pitchFamily="18" charset="0"/>
                <a:cs typeface="Times New Roman" panose="02020603050405020304" pitchFamily="18" charset="0"/>
              </a:rPr>
              <a:t>Server: Apache</a:t>
            </a:r>
          </a:p>
          <a:p>
            <a:pPr>
              <a:spcBef>
                <a:spcPct val="0"/>
              </a:spcBef>
              <a:buClrTx/>
              <a:buSzTx/>
              <a:buFontTx/>
              <a:buNone/>
            </a:pPr>
            <a:r>
              <a:rPr lang="en-US" altLang="zh-CN" sz="1800">
                <a:latin typeface="Times New Roman" panose="02020603050405020304" pitchFamily="18" charset="0"/>
                <a:cs typeface="Times New Roman" panose="02020603050405020304" pitchFamily="18" charset="0"/>
              </a:rPr>
              <a:t>Location: http://www.ibiblio.org/</a:t>
            </a:r>
          </a:p>
          <a:p>
            <a:pPr>
              <a:spcBef>
                <a:spcPct val="0"/>
              </a:spcBef>
              <a:buClrTx/>
              <a:buSzTx/>
              <a:buFontTx/>
              <a:buNone/>
            </a:pPr>
            <a:r>
              <a:rPr lang="en-US" altLang="zh-CN" sz="1800">
                <a:latin typeface="Times New Roman" panose="02020603050405020304" pitchFamily="18" charset="0"/>
                <a:cs typeface="Times New Roman" panose="02020603050405020304" pitchFamily="18" charset="0"/>
              </a:rPr>
              <a:t>Content-Length:  296</a:t>
            </a:r>
          </a:p>
          <a:p>
            <a:pPr>
              <a:spcBef>
                <a:spcPct val="0"/>
              </a:spcBef>
              <a:buClrTx/>
              <a:buSzTx/>
              <a:buFontTx/>
              <a:buNone/>
            </a:pPr>
            <a:r>
              <a:rPr lang="en-US" altLang="zh-CN" sz="1800">
                <a:latin typeface="Times New Roman" panose="02020603050405020304" pitchFamily="18" charset="0"/>
                <a:cs typeface="Times New Roman" panose="02020603050405020304" pitchFamily="18" charset="0"/>
              </a:rPr>
              <a:t>Connection: close</a:t>
            </a:r>
          </a:p>
          <a:p>
            <a:pPr>
              <a:spcBef>
                <a:spcPct val="0"/>
              </a:spcBef>
              <a:buClrTx/>
              <a:buSzTx/>
              <a:buFontTx/>
              <a:buNone/>
            </a:pPr>
            <a:r>
              <a:rPr lang="en-US" altLang="zh-CN" sz="1800">
                <a:latin typeface="Times New Roman" panose="02020603050405020304" pitchFamily="18" charset="0"/>
                <a:cs typeface="Times New Roman" panose="02020603050405020304" pitchFamily="18" charset="0"/>
              </a:rPr>
              <a:t>Content-type:  text/html;  charset = iso-8859-1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50ED32C1-D8BC-4C57-B48C-87223FFBFD61}"/>
              </a:ext>
            </a:extLst>
          </p:cNvPr>
          <p:cNvSpPr>
            <a:spLocks noGrp="1"/>
          </p:cNvSpPr>
          <p:nvPr>
            <p:ph type="title"/>
          </p:nvPr>
        </p:nvSpPr>
        <p:spPr>
          <a:xfrm>
            <a:off x="1676400" y="152400"/>
            <a:ext cx="8540750" cy="609600"/>
          </a:xfrm>
        </p:spPr>
        <p:txBody>
          <a:bodyPr/>
          <a:lstStyle/>
          <a:p>
            <a:pPr algn="l"/>
            <a:r>
              <a:rPr lang="zh-CN" altLang="en-US" sz="3200"/>
              <a:t>头字段信息获取的方法（</a:t>
            </a:r>
            <a:r>
              <a:rPr lang="en-US" altLang="zh-CN" sz="3200"/>
              <a:t>2</a:t>
            </a:r>
            <a:r>
              <a:rPr lang="zh-CN" altLang="en-US" sz="3200"/>
              <a:t>个）</a:t>
            </a:r>
          </a:p>
        </p:txBody>
      </p:sp>
      <p:sp>
        <p:nvSpPr>
          <p:cNvPr id="3" name="内容占位符 2">
            <a:extLst>
              <a:ext uri="{FF2B5EF4-FFF2-40B4-BE49-F238E27FC236}">
                <a16:creationId xmlns:a16="http://schemas.microsoft.com/office/drawing/2014/main" id="{22545462-8C46-4A45-9FAB-89E08E81E6C6}"/>
              </a:ext>
            </a:extLst>
          </p:cNvPr>
          <p:cNvSpPr>
            <a:spLocks noGrp="1"/>
          </p:cNvSpPr>
          <p:nvPr>
            <p:ph idx="1"/>
          </p:nvPr>
        </p:nvSpPr>
        <p:spPr>
          <a:xfrm>
            <a:off x="1676400" y="1066801"/>
            <a:ext cx="8540750" cy="4498975"/>
          </a:xfrm>
        </p:spPr>
        <p:txBody>
          <a:bodyPr/>
          <a:lstStyle/>
          <a:p>
            <a:r>
              <a:rPr lang="en-US" altLang="zh-CN" sz="2800"/>
              <a:t>public String getContentType()</a:t>
            </a:r>
          </a:p>
          <a:p>
            <a:pPr lvl="1">
              <a:buFont typeface="Wingdings" panose="05000000000000000000" pitchFamily="2" charset="2"/>
              <a:buChar char="p"/>
            </a:pPr>
            <a:r>
              <a:rPr lang="zh-CN" altLang="en-US" sz="2200"/>
              <a:t>返回响应主体的</a:t>
            </a:r>
            <a:r>
              <a:rPr lang="en-US" altLang="zh-CN" sz="2200"/>
              <a:t>MIME</a:t>
            </a:r>
            <a:r>
              <a:rPr lang="zh-CN" altLang="en-US" sz="2200"/>
              <a:t>类型，包括字符编码方式，如：</a:t>
            </a:r>
            <a:r>
              <a:rPr lang="en-US" altLang="zh-CN" sz="2200"/>
              <a:t>text/html; charset=UTF-8</a:t>
            </a:r>
          </a:p>
          <a:p>
            <a:pPr lvl="1">
              <a:buFont typeface="Wingdings" panose="05000000000000000000" pitchFamily="2" charset="2"/>
              <a:buChar char="p"/>
            </a:pPr>
            <a:r>
              <a:rPr lang="zh-CN" altLang="en-US" sz="2200"/>
              <a:t>使得编程人员可以使用</a:t>
            </a:r>
            <a:r>
              <a:rPr lang="en-US" altLang="zh-CN" sz="2200"/>
              <a:t>HTTP</a:t>
            </a:r>
            <a:r>
              <a:rPr lang="zh-CN" altLang="en-US" sz="2200"/>
              <a:t>头部中指定的编码方式对文档解码。如果头部中没有指定编码方式，就使用</a:t>
            </a:r>
            <a:r>
              <a:rPr lang="en-US" altLang="zh-CN" sz="2200"/>
              <a:t>ISO-8859-1</a:t>
            </a:r>
            <a:r>
              <a:rPr lang="zh-CN" altLang="en-US" sz="2200"/>
              <a:t>，这是</a:t>
            </a:r>
            <a:r>
              <a:rPr lang="en-US" altLang="zh-CN" sz="2200"/>
              <a:t>HTTP </a:t>
            </a:r>
            <a:r>
              <a:rPr lang="zh-CN" altLang="en-US" sz="2200"/>
              <a:t>的默认编码方式。</a:t>
            </a:r>
            <a:endParaRPr lang="en-US" altLang="zh-CN" sz="2200"/>
          </a:p>
          <a:p>
            <a:pPr>
              <a:buFont typeface="Wingdings 2" panose="05020102010507070707" pitchFamily="18" charset="2"/>
              <a:buNone/>
            </a:pPr>
            <a:endParaRPr lang="en-US" altLang="zh-CN" sz="2800"/>
          </a:p>
          <a:p>
            <a:r>
              <a:rPr lang="en-US" altLang="zh-CN" sz="2800"/>
              <a:t>public int getContentLength()</a:t>
            </a:r>
          </a:p>
          <a:p>
            <a:r>
              <a:rPr lang="en-US" altLang="zh-CN" sz="2800"/>
              <a:t>public long getContentLengthLong()</a:t>
            </a:r>
          </a:p>
          <a:p>
            <a:pPr lvl="1">
              <a:buFont typeface="Wingdings" panose="05000000000000000000" pitchFamily="2" charset="2"/>
              <a:buChar char="p"/>
            </a:pPr>
            <a:r>
              <a:rPr lang="zh-CN" altLang="en-US" sz="2200"/>
              <a:t>返回响应主体的字节数</a:t>
            </a:r>
            <a:endParaRPr lang="en-US" altLang="zh-CN" sz="2200"/>
          </a:p>
          <a:p>
            <a:pPr lvl="1">
              <a:buFont typeface="Wingdings" panose="05000000000000000000" pitchFamily="2" charset="2"/>
              <a:buChar char="p"/>
            </a:pPr>
            <a:r>
              <a:rPr lang="zh-CN" altLang="en-US" sz="2200"/>
              <a:t>如无</a:t>
            </a:r>
            <a:r>
              <a:rPr lang="en-US" altLang="zh-CN" sz="2200"/>
              <a:t>Content-length</a:t>
            </a:r>
            <a:r>
              <a:rPr lang="zh-CN" altLang="en-US" sz="2200"/>
              <a:t>首部，返回</a:t>
            </a:r>
            <a:r>
              <a:rPr lang="en-US" altLang="zh-CN" sz="2200"/>
              <a:t>-1</a:t>
            </a:r>
          </a:p>
          <a:p>
            <a:pPr lvl="1">
              <a:buFont typeface="Wingdings" panose="05000000000000000000" pitchFamily="2" charset="2"/>
              <a:buChar char="p"/>
            </a:pPr>
            <a:r>
              <a:rPr lang="zh-CN" altLang="en-US" sz="2200"/>
              <a:t>当程序中需要准备知道要读取的字节数，或需要预先创建一个足够大的缓冲区来保存数据时使用。</a:t>
            </a:r>
            <a:endParaRPr lang="en-US" altLang="zh-CN" sz="2200"/>
          </a:p>
          <a:p>
            <a:pPr lvl="1"/>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矩形 3">
            <a:extLst>
              <a:ext uri="{FF2B5EF4-FFF2-40B4-BE49-F238E27FC236}">
                <a16:creationId xmlns:a16="http://schemas.microsoft.com/office/drawing/2014/main" id="{7243A28B-8169-4A9F-B489-5427ECD9F9C7}"/>
              </a:ext>
            </a:extLst>
          </p:cNvPr>
          <p:cNvSpPr>
            <a:spLocks noChangeArrowheads="1"/>
          </p:cNvSpPr>
          <p:nvPr/>
        </p:nvSpPr>
        <p:spPr bwMode="auto">
          <a:xfrm>
            <a:off x="381000" y="381000"/>
            <a:ext cx="10820400" cy="6093976"/>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try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 set default encoding</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String encoding = "ISO-8859-1";</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URL u = new URL(</a:t>
            </a:r>
            <a:r>
              <a:rPr lang="en-US" altLang="zh-CN" sz="1300" b="1" dirty="0" err="1">
                <a:latin typeface="Times New Roman" panose="02020603050405020304" pitchFamily="18" charset="0"/>
                <a:cs typeface="Times New Roman" panose="02020603050405020304" pitchFamily="18" charset="0"/>
              </a:rPr>
              <a:t>args</a:t>
            </a:r>
            <a:r>
              <a:rPr lang="en-US" altLang="zh-CN" sz="1300" b="1" dirty="0">
                <a:latin typeface="Times New Roman" panose="02020603050405020304" pitchFamily="18" charset="0"/>
                <a:cs typeface="Times New Roman" panose="02020603050405020304" pitchFamily="18" charset="0"/>
              </a:rPr>
              <a:t>[0]);</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r>
              <a:rPr lang="en-US" altLang="zh-CN" sz="1300" b="1" dirty="0" err="1">
                <a:latin typeface="Times New Roman" panose="02020603050405020304" pitchFamily="18" charset="0"/>
                <a:cs typeface="Times New Roman" panose="02020603050405020304" pitchFamily="18" charset="0"/>
              </a:rPr>
              <a:t>URLConnection</a:t>
            </a:r>
            <a:r>
              <a:rPr lang="en-US" altLang="zh-CN" sz="1300" b="1" dirty="0">
                <a:latin typeface="Times New Roman" panose="02020603050405020304" pitchFamily="18" charset="0"/>
                <a:cs typeface="Times New Roman" panose="02020603050405020304" pitchFamily="18" charset="0"/>
              </a:rPr>
              <a:t> </a:t>
            </a:r>
            <a:r>
              <a:rPr lang="en-US" altLang="zh-CN" sz="1300" b="1" dirty="0" err="1">
                <a:latin typeface="Times New Roman" panose="02020603050405020304" pitchFamily="18" charset="0"/>
                <a:cs typeface="Times New Roman" panose="02020603050405020304" pitchFamily="18" charset="0"/>
              </a:rPr>
              <a:t>uc</a:t>
            </a:r>
            <a:r>
              <a:rPr lang="en-US" altLang="zh-CN" sz="1300" b="1" dirty="0">
                <a:latin typeface="Times New Roman" panose="02020603050405020304" pitchFamily="18" charset="0"/>
                <a:cs typeface="Times New Roman" panose="02020603050405020304" pitchFamily="18" charset="0"/>
              </a:rPr>
              <a:t> = </a:t>
            </a:r>
            <a:r>
              <a:rPr lang="en-US" altLang="zh-CN" sz="1300" b="1" dirty="0" err="1">
                <a:latin typeface="Times New Roman" panose="02020603050405020304" pitchFamily="18" charset="0"/>
                <a:cs typeface="Times New Roman" panose="02020603050405020304" pitchFamily="18" charset="0"/>
              </a:rPr>
              <a:t>u.openConnection</a:t>
            </a:r>
            <a:r>
              <a:rPr lang="en-US" altLang="zh-CN" sz="1300" b="1" dirty="0">
                <a:latin typeface="Times New Roman" panose="02020603050405020304" pitchFamily="18" charset="0"/>
                <a:cs typeface="Times New Roman" panose="02020603050405020304" pitchFamily="18" charset="0"/>
              </a:rPr>
              <a:t>();</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String </a:t>
            </a:r>
            <a:r>
              <a:rPr lang="en-US" altLang="zh-CN" sz="1300" b="1" dirty="0" err="1">
                <a:latin typeface="Times New Roman" panose="02020603050405020304" pitchFamily="18" charset="0"/>
                <a:cs typeface="Times New Roman" panose="02020603050405020304" pitchFamily="18" charset="0"/>
              </a:rPr>
              <a:t>contentType</a:t>
            </a:r>
            <a:r>
              <a:rPr lang="en-US" altLang="zh-CN" sz="1300" b="1" dirty="0">
                <a:latin typeface="Times New Roman" panose="02020603050405020304" pitchFamily="18" charset="0"/>
                <a:cs typeface="Times New Roman" panose="02020603050405020304" pitchFamily="18" charset="0"/>
              </a:rPr>
              <a:t> = </a:t>
            </a:r>
            <a:r>
              <a:rPr lang="en-US" altLang="zh-CN" sz="1300" b="1" dirty="0" err="1">
                <a:latin typeface="Times New Roman" panose="02020603050405020304" pitchFamily="18" charset="0"/>
                <a:cs typeface="Times New Roman" panose="02020603050405020304" pitchFamily="18" charset="0"/>
              </a:rPr>
              <a:t>uc.getContentType</a:t>
            </a:r>
            <a:r>
              <a:rPr lang="en-US" altLang="zh-CN" sz="1300" b="1" dirty="0">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int </a:t>
            </a:r>
            <a:r>
              <a:rPr lang="en-US" altLang="zh-CN" sz="1300" b="1" dirty="0" err="1">
                <a:latin typeface="Times New Roman" panose="02020603050405020304" pitchFamily="18" charset="0"/>
                <a:cs typeface="Times New Roman" panose="02020603050405020304" pitchFamily="18" charset="0"/>
              </a:rPr>
              <a:t>encodingStart</a:t>
            </a:r>
            <a:r>
              <a:rPr lang="en-US" altLang="zh-CN" sz="1300" b="1" dirty="0">
                <a:latin typeface="Times New Roman" panose="02020603050405020304" pitchFamily="18" charset="0"/>
                <a:cs typeface="Times New Roman" panose="02020603050405020304" pitchFamily="18" charset="0"/>
              </a:rPr>
              <a:t> = </a:t>
            </a:r>
            <a:r>
              <a:rPr lang="en-US" altLang="zh-CN" sz="1300" b="1" dirty="0" err="1">
                <a:latin typeface="Times New Roman" panose="02020603050405020304" pitchFamily="18" charset="0"/>
                <a:cs typeface="Times New Roman" panose="02020603050405020304" pitchFamily="18" charset="0"/>
              </a:rPr>
              <a:t>contentType.indexOf</a:t>
            </a:r>
            <a:r>
              <a:rPr lang="en-US" altLang="zh-CN" sz="1300" b="1" dirty="0">
                <a:latin typeface="Times New Roman" panose="02020603050405020304" pitchFamily="18" charset="0"/>
                <a:cs typeface="Times New Roman" panose="02020603050405020304" pitchFamily="18" charset="0"/>
              </a:rPr>
              <a:t>("charset=");</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if (</a:t>
            </a:r>
            <a:r>
              <a:rPr lang="en-US" altLang="zh-CN" sz="1300" b="1" dirty="0" err="1">
                <a:latin typeface="Times New Roman" panose="02020603050405020304" pitchFamily="18" charset="0"/>
                <a:cs typeface="Times New Roman" panose="02020603050405020304" pitchFamily="18" charset="0"/>
              </a:rPr>
              <a:t>encodingStart</a:t>
            </a:r>
            <a:r>
              <a:rPr lang="en-US" altLang="zh-CN" sz="1300" b="1" dirty="0">
                <a:latin typeface="Times New Roman" panose="02020603050405020304" pitchFamily="18" charset="0"/>
                <a:cs typeface="Times New Roman" panose="02020603050405020304" pitchFamily="18" charset="0"/>
              </a:rPr>
              <a:t> != -1)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encoding = </a:t>
            </a:r>
            <a:r>
              <a:rPr lang="en-US" altLang="zh-CN" sz="1300" b="1" dirty="0" err="1">
                <a:latin typeface="Times New Roman" panose="02020603050405020304" pitchFamily="18" charset="0"/>
                <a:cs typeface="Times New Roman" panose="02020603050405020304" pitchFamily="18" charset="0"/>
              </a:rPr>
              <a:t>contentType.substring</a:t>
            </a:r>
            <a:r>
              <a:rPr lang="en-US" altLang="zh-CN" sz="1300" b="1" dirty="0">
                <a:latin typeface="Times New Roman" panose="02020603050405020304" pitchFamily="18" charset="0"/>
                <a:cs typeface="Times New Roman" panose="02020603050405020304" pitchFamily="18" charset="0"/>
              </a:rPr>
              <a:t>(</a:t>
            </a:r>
            <a:r>
              <a:rPr lang="en-US" altLang="zh-CN" sz="1300" b="1" dirty="0" err="1">
                <a:latin typeface="Times New Roman" panose="02020603050405020304" pitchFamily="18" charset="0"/>
                <a:cs typeface="Times New Roman" panose="02020603050405020304" pitchFamily="18" charset="0"/>
              </a:rPr>
              <a:t>encodingStart</a:t>
            </a:r>
            <a:r>
              <a:rPr lang="en-US" altLang="zh-CN" sz="1300" b="1" dirty="0">
                <a:latin typeface="Times New Roman" panose="02020603050405020304" pitchFamily="18" charset="0"/>
                <a:cs typeface="Times New Roman" panose="02020603050405020304" pitchFamily="18" charset="0"/>
              </a:rPr>
              <a:t> + 8);</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r>
              <a:rPr lang="en-US" altLang="zh-CN" sz="1300" b="1" dirty="0" err="1">
                <a:latin typeface="Times New Roman" panose="02020603050405020304" pitchFamily="18" charset="0"/>
                <a:cs typeface="Times New Roman" panose="02020603050405020304" pitchFamily="18" charset="0"/>
              </a:rPr>
              <a:t>InputStream</a:t>
            </a:r>
            <a:r>
              <a:rPr lang="en-US" altLang="zh-CN" sz="1300" b="1" dirty="0">
                <a:latin typeface="Times New Roman" panose="02020603050405020304" pitchFamily="18" charset="0"/>
                <a:cs typeface="Times New Roman" panose="02020603050405020304" pitchFamily="18" charset="0"/>
              </a:rPr>
              <a:t> in = new </a:t>
            </a:r>
            <a:r>
              <a:rPr lang="en-US" altLang="zh-CN" sz="1300" b="1" dirty="0" err="1">
                <a:latin typeface="Times New Roman" panose="02020603050405020304" pitchFamily="18" charset="0"/>
                <a:cs typeface="Times New Roman" panose="02020603050405020304" pitchFamily="18" charset="0"/>
              </a:rPr>
              <a:t>BufferedInputStream</a:t>
            </a:r>
            <a:r>
              <a:rPr lang="en-US" altLang="zh-CN" sz="1300" b="1" dirty="0">
                <a:latin typeface="Times New Roman" panose="02020603050405020304" pitchFamily="18" charset="0"/>
                <a:cs typeface="Times New Roman" panose="02020603050405020304" pitchFamily="18" charset="0"/>
              </a:rPr>
              <a:t>(</a:t>
            </a:r>
            <a:r>
              <a:rPr lang="en-US" altLang="zh-CN" sz="1300" b="1" dirty="0" err="1">
                <a:latin typeface="Times New Roman" panose="02020603050405020304" pitchFamily="18" charset="0"/>
                <a:cs typeface="Times New Roman" panose="02020603050405020304" pitchFamily="18" charset="0"/>
              </a:rPr>
              <a:t>uc.getInputStream</a:t>
            </a:r>
            <a:r>
              <a:rPr lang="en-US" altLang="zh-CN" sz="1300" b="1" dirty="0">
                <a:latin typeface="Times New Roman" panose="02020603050405020304" pitchFamily="18" charset="0"/>
                <a:cs typeface="Times New Roman" panose="02020603050405020304" pitchFamily="18" charset="0"/>
              </a:rPr>
              <a:t>());</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//Reader r = new </a:t>
            </a:r>
            <a:r>
              <a:rPr lang="en-US" altLang="zh-CN" sz="1300" b="1" dirty="0" err="1">
                <a:latin typeface="Times New Roman" panose="02020603050405020304" pitchFamily="18" charset="0"/>
                <a:cs typeface="Times New Roman" panose="02020603050405020304" pitchFamily="18" charset="0"/>
              </a:rPr>
              <a:t>InputStreamReader</a:t>
            </a:r>
            <a:r>
              <a:rPr lang="en-US" altLang="zh-CN" sz="1300" b="1" dirty="0">
                <a:latin typeface="Times New Roman" panose="02020603050405020304" pitchFamily="18" charset="0"/>
                <a:cs typeface="Times New Roman" panose="02020603050405020304" pitchFamily="18" charset="0"/>
              </a:rPr>
              <a:t>(in, encoding);</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Reader r = new </a:t>
            </a:r>
            <a:r>
              <a:rPr lang="en-US" altLang="zh-CN" sz="1300" b="1" dirty="0" err="1">
                <a:latin typeface="Times New Roman" panose="02020603050405020304" pitchFamily="18" charset="0"/>
                <a:cs typeface="Times New Roman" panose="02020603050405020304" pitchFamily="18" charset="0"/>
              </a:rPr>
              <a:t>InputStreamReader</a:t>
            </a:r>
            <a:r>
              <a:rPr lang="en-US" altLang="zh-CN" sz="1300" b="1" dirty="0">
                <a:latin typeface="Times New Roman" panose="02020603050405020304" pitchFamily="18" charset="0"/>
                <a:cs typeface="Times New Roman" panose="02020603050405020304" pitchFamily="18" charset="0"/>
              </a:rPr>
              <a:t>(in);</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int c;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while ((c = </a:t>
            </a:r>
            <a:r>
              <a:rPr lang="en-US" altLang="zh-CN" sz="1300" b="1" dirty="0" err="1">
                <a:latin typeface="Times New Roman" panose="02020603050405020304" pitchFamily="18" charset="0"/>
                <a:cs typeface="Times New Roman" panose="02020603050405020304" pitchFamily="18" charset="0"/>
              </a:rPr>
              <a:t>r.read</a:t>
            </a:r>
            <a:r>
              <a:rPr lang="en-US" altLang="zh-CN" sz="1300" b="1" dirty="0">
                <a:latin typeface="Times New Roman" panose="02020603050405020304" pitchFamily="18" charset="0"/>
                <a:cs typeface="Times New Roman" panose="02020603050405020304" pitchFamily="18" charset="0"/>
              </a:rPr>
              <a:t>()) != -1)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r>
              <a:rPr lang="en-US" altLang="zh-CN" sz="1300" b="1" dirty="0" err="1">
                <a:latin typeface="Times New Roman" panose="02020603050405020304" pitchFamily="18" charset="0"/>
                <a:cs typeface="Times New Roman" panose="02020603050405020304" pitchFamily="18" charset="0"/>
              </a:rPr>
              <a:t>System.out.print</a:t>
            </a:r>
            <a:r>
              <a:rPr lang="en-US" altLang="zh-CN" sz="1300" b="1" dirty="0">
                <a:latin typeface="Times New Roman" panose="02020603050405020304" pitchFamily="18" charset="0"/>
                <a:cs typeface="Times New Roman" panose="02020603050405020304" pitchFamily="18" charset="0"/>
              </a:rPr>
              <a:t>((char) c);</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r>
              <a:rPr lang="en-US" altLang="zh-CN" sz="1300" b="1" dirty="0" err="1">
                <a:latin typeface="Times New Roman" panose="02020603050405020304" pitchFamily="18" charset="0"/>
                <a:cs typeface="Times New Roman" panose="02020603050405020304" pitchFamily="18" charset="0"/>
              </a:rPr>
              <a:t>r.close</a:t>
            </a:r>
            <a:r>
              <a:rPr lang="en-US" altLang="zh-CN" sz="1300" b="1" dirty="0">
                <a:latin typeface="Times New Roman" panose="02020603050405020304" pitchFamily="18" charset="0"/>
                <a:cs typeface="Times New Roman" panose="02020603050405020304" pitchFamily="18" charset="0"/>
              </a:rPr>
              <a:t>();</a:t>
            </a:r>
          </a:p>
          <a:p>
            <a:pPr>
              <a:spcBef>
                <a:spcPct val="0"/>
              </a:spcBef>
              <a:buClrTx/>
              <a:buSzTx/>
              <a:buFontTx/>
              <a:buNone/>
            </a:pPr>
            <a:endParaRPr lang="en-US" altLang="zh-CN" sz="1300" b="1" dirty="0">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r>
              <a:rPr lang="en-US" altLang="zh-CN" sz="1300" b="1" dirty="0" err="1">
                <a:latin typeface="Times New Roman" panose="02020603050405020304" pitchFamily="18" charset="0"/>
                <a:cs typeface="Times New Roman" panose="02020603050405020304" pitchFamily="18" charset="0"/>
              </a:rPr>
              <a:t>System.out.println</a:t>
            </a:r>
            <a:r>
              <a:rPr lang="en-US" altLang="zh-CN" sz="1300" b="1" dirty="0">
                <a:latin typeface="Times New Roman" panose="02020603050405020304" pitchFamily="18" charset="0"/>
                <a:cs typeface="Times New Roman" panose="02020603050405020304" pitchFamily="18" charset="0"/>
              </a:rPr>
              <a:t>("charset=" + encoding);</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catch (</a:t>
            </a:r>
            <a:r>
              <a:rPr lang="en-US" altLang="zh-CN" sz="1300" b="1" dirty="0" err="1">
                <a:latin typeface="Times New Roman" panose="02020603050405020304" pitchFamily="18" charset="0"/>
                <a:cs typeface="Times New Roman" panose="02020603050405020304" pitchFamily="18" charset="0"/>
              </a:rPr>
              <a:t>MalformedURLException</a:t>
            </a:r>
            <a:r>
              <a:rPr lang="en-US" altLang="zh-CN" sz="1300" b="1" dirty="0">
                <a:latin typeface="Times New Roman" panose="02020603050405020304" pitchFamily="18" charset="0"/>
                <a:cs typeface="Times New Roman" panose="02020603050405020304" pitchFamily="18" charset="0"/>
              </a:rPr>
              <a:t> ex)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r>
              <a:rPr lang="en-US" altLang="zh-CN" sz="1300" b="1" dirty="0" err="1">
                <a:latin typeface="Times New Roman" panose="02020603050405020304" pitchFamily="18" charset="0"/>
                <a:cs typeface="Times New Roman" panose="02020603050405020304" pitchFamily="18" charset="0"/>
              </a:rPr>
              <a:t>System.err.println</a:t>
            </a:r>
            <a:r>
              <a:rPr lang="en-US" altLang="zh-CN" sz="1300" b="1" dirty="0">
                <a:latin typeface="Times New Roman" panose="02020603050405020304" pitchFamily="18" charset="0"/>
                <a:cs typeface="Times New Roman" panose="02020603050405020304" pitchFamily="18" charset="0"/>
              </a:rPr>
              <a:t>(</a:t>
            </a:r>
            <a:r>
              <a:rPr lang="en-US" altLang="zh-CN" sz="1300" b="1" dirty="0" err="1">
                <a:latin typeface="Times New Roman" panose="02020603050405020304" pitchFamily="18" charset="0"/>
                <a:cs typeface="Times New Roman" panose="02020603050405020304" pitchFamily="18" charset="0"/>
              </a:rPr>
              <a:t>args</a:t>
            </a:r>
            <a:r>
              <a:rPr lang="en-US" altLang="zh-CN" sz="1300" b="1" dirty="0">
                <a:latin typeface="Times New Roman" panose="02020603050405020304" pitchFamily="18" charset="0"/>
                <a:cs typeface="Times New Roman" panose="02020603050405020304" pitchFamily="18" charset="0"/>
              </a:rPr>
              <a:t>[0] + " is not a </a:t>
            </a:r>
            <a:r>
              <a:rPr lang="en-US" altLang="zh-CN" sz="1300" b="1" dirty="0" err="1">
                <a:latin typeface="Times New Roman" panose="02020603050405020304" pitchFamily="18" charset="0"/>
                <a:cs typeface="Times New Roman" panose="02020603050405020304" pitchFamily="18" charset="0"/>
              </a:rPr>
              <a:t>parseable</a:t>
            </a:r>
            <a:r>
              <a:rPr lang="en-US" altLang="zh-CN" sz="1300" b="1" dirty="0">
                <a:latin typeface="Times New Roman" panose="02020603050405020304" pitchFamily="18" charset="0"/>
                <a:cs typeface="Times New Roman" panose="02020603050405020304" pitchFamily="18" charset="0"/>
              </a:rPr>
              <a:t> URL");</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catch (</a:t>
            </a:r>
            <a:r>
              <a:rPr lang="en-US" altLang="zh-CN" sz="1300" b="1" dirty="0" err="1">
                <a:latin typeface="Times New Roman" panose="02020603050405020304" pitchFamily="18" charset="0"/>
                <a:cs typeface="Times New Roman" panose="02020603050405020304" pitchFamily="18" charset="0"/>
              </a:rPr>
              <a:t>UnsupportedEncodingException</a:t>
            </a:r>
            <a:r>
              <a:rPr lang="en-US" altLang="zh-CN" sz="1300" b="1" dirty="0">
                <a:latin typeface="Times New Roman" panose="02020603050405020304" pitchFamily="18" charset="0"/>
                <a:cs typeface="Times New Roman" panose="02020603050405020304" pitchFamily="18" charset="0"/>
              </a:rPr>
              <a:t> ex)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r>
              <a:rPr lang="en-US" altLang="zh-CN" sz="1300" b="1" dirty="0" err="1">
                <a:latin typeface="Times New Roman" panose="02020603050405020304" pitchFamily="18" charset="0"/>
                <a:cs typeface="Times New Roman" panose="02020603050405020304" pitchFamily="18" charset="0"/>
              </a:rPr>
              <a:t>System.err.println</a:t>
            </a:r>
            <a:r>
              <a:rPr lang="en-US" altLang="zh-CN" sz="1300" b="1" dirty="0">
                <a:latin typeface="Times New Roman" panose="02020603050405020304" pitchFamily="18" charset="0"/>
                <a:cs typeface="Times New Roman" panose="02020603050405020304" pitchFamily="18" charset="0"/>
              </a:rPr>
              <a:t>("Server sent an encoding Java does not support: " + </a:t>
            </a:r>
            <a:r>
              <a:rPr lang="en-US" altLang="zh-CN" sz="1300" b="1" dirty="0" err="1">
                <a:latin typeface="Times New Roman" panose="02020603050405020304" pitchFamily="18" charset="0"/>
                <a:cs typeface="Times New Roman" panose="02020603050405020304" pitchFamily="18" charset="0"/>
              </a:rPr>
              <a:t>ex.getMessage</a:t>
            </a:r>
            <a:r>
              <a:rPr lang="en-US" altLang="zh-CN" sz="1300" b="1" dirty="0">
                <a:latin typeface="Times New Roman" panose="02020603050405020304" pitchFamily="18" charset="0"/>
                <a:cs typeface="Times New Roman" panose="02020603050405020304" pitchFamily="18" charset="0"/>
              </a:rPr>
              <a:t>());</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catch (</a:t>
            </a:r>
            <a:r>
              <a:rPr lang="en-US" altLang="zh-CN" sz="1300" b="1" dirty="0" err="1">
                <a:latin typeface="Times New Roman" panose="02020603050405020304" pitchFamily="18" charset="0"/>
                <a:cs typeface="Times New Roman" panose="02020603050405020304" pitchFamily="18" charset="0"/>
              </a:rPr>
              <a:t>IOException</a:t>
            </a:r>
            <a:r>
              <a:rPr lang="en-US" altLang="zh-CN" sz="1300" b="1" dirty="0">
                <a:latin typeface="Times New Roman" panose="02020603050405020304" pitchFamily="18" charset="0"/>
                <a:cs typeface="Times New Roman" panose="02020603050405020304" pitchFamily="18" charset="0"/>
              </a:rPr>
              <a:t> ex) {</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r>
              <a:rPr lang="en-US" altLang="zh-CN" sz="1300" b="1" dirty="0" err="1">
                <a:latin typeface="Times New Roman" panose="02020603050405020304" pitchFamily="18" charset="0"/>
                <a:cs typeface="Times New Roman" panose="02020603050405020304" pitchFamily="18" charset="0"/>
              </a:rPr>
              <a:t>System.err.println</a:t>
            </a:r>
            <a:r>
              <a:rPr lang="en-US" altLang="zh-CN" sz="1300" b="1" dirty="0">
                <a:latin typeface="Times New Roman" panose="02020603050405020304" pitchFamily="18" charset="0"/>
                <a:cs typeface="Times New Roman" panose="02020603050405020304" pitchFamily="18" charset="0"/>
              </a:rPr>
              <a:t>(ex);</a:t>
            </a:r>
          </a:p>
          <a:p>
            <a:pPr>
              <a:spcBef>
                <a:spcPct val="0"/>
              </a:spcBef>
              <a:buClrTx/>
              <a:buSzTx/>
              <a:buFontTx/>
              <a:buNone/>
            </a:pPr>
            <a:r>
              <a:rPr lang="en-US" altLang="zh-CN" sz="1300" b="1" dirty="0">
                <a:latin typeface="Times New Roman" panose="02020603050405020304" pitchFamily="18" charset="0"/>
                <a:cs typeface="Times New Roman" panose="02020603050405020304" pitchFamily="18" charset="0"/>
              </a:rPr>
              <a:t>            }</a:t>
            </a:r>
          </a:p>
        </p:txBody>
      </p:sp>
      <p:sp>
        <p:nvSpPr>
          <p:cNvPr id="25602" name="标题 1">
            <a:extLst>
              <a:ext uri="{FF2B5EF4-FFF2-40B4-BE49-F238E27FC236}">
                <a16:creationId xmlns:a16="http://schemas.microsoft.com/office/drawing/2014/main" id="{869B3CEA-5FA2-4306-B67F-BF9F224D4C65}"/>
              </a:ext>
            </a:extLst>
          </p:cNvPr>
          <p:cNvSpPr>
            <a:spLocks noGrp="1"/>
          </p:cNvSpPr>
          <p:nvPr>
            <p:ph type="title"/>
          </p:nvPr>
        </p:nvSpPr>
        <p:spPr>
          <a:xfrm>
            <a:off x="1825625" y="228600"/>
            <a:ext cx="8540750" cy="685800"/>
          </a:xfrm>
        </p:spPr>
        <p:txBody>
          <a:bodyPr/>
          <a:lstStyle/>
          <a:p>
            <a:r>
              <a:rPr lang="zh-CN" altLang="en-US" sz="3200"/>
              <a:t>头字段</a:t>
            </a:r>
          </a:p>
        </p:txBody>
      </p:sp>
      <p:sp>
        <p:nvSpPr>
          <p:cNvPr id="25604" name="矩形 3">
            <a:extLst>
              <a:ext uri="{FF2B5EF4-FFF2-40B4-BE49-F238E27FC236}">
                <a16:creationId xmlns:a16="http://schemas.microsoft.com/office/drawing/2014/main" id="{8ABD49A8-D33C-4F3B-8BBF-4BF80318883A}"/>
              </a:ext>
            </a:extLst>
          </p:cNvPr>
          <p:cNvSpPr>
            <a:spLocks noChangeArrowheads="1"/>
          </p:cNvSpPr>
          <p:nvPr/>
        </p:nvSpPr>
        <p:spPr bwMode="auto">
          <a:xfrm>
            <a:off x="5627689" y="3048001"/>
            <a:ext cx="47656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a:solidFill>
                  <a:srgbClr val="FF0066"/>
                </a:solidFill>
              </a:rPr>
              <a:t>使用</a:t>
            </a:r>
            <a:r>
              <a:rPr lang="en-US" altLang="zh-CN" sz="1800">
                <a:solidFill>
                  <a:srgbClr val="FF0066"/>
                </a:solidFill>
              </a:rPr>
              <a:t>HTTP</a:t>
            </a:r>
            <a:r>
              <a:rPr lang="zh-CN" altLang="en-US" sz="1800">
                <a:solidFill>
                  <a:srgbClr val="FF0066"/>
                </a:solidFill>
              </a:rPr>
              <a:t>头部中指定的编码方式对文档解码</a:t>
            </a:r>
            <a:endParaRPr lang="en-US" altLang="zh-CN" sz="1800">
              <a:solidFill>
                <a:srgbClr val="FF0066"/>
              </a:solidFill>
            </a:endParaRPr>
          </a:p>
          <a:p>
            <a:pPr>
              <a:spcBef>
                <a:spcPct val="0"/>
              </a:spcBef>
              <a:buClrTx/>
              <a:buSzTx/>
              <a:buFontTx/>
              <a:buNone/>
            </a:pPr>
            <a:r>
              <a:rPr lang="zh-CN" altLang="en-US" sz="1800">
                <a:solidFill>
                  <a:srgbClr val="FF0066"/>
                </a:solidFill>
              </a:rPr>
              <a:t>改进</a:t>
            </a:r>
            <a:r>
              <a:rPr lang="en-US" altLang="zh-CN" sz="1800">
                <a:solidFill>
                  <a:srgbClr val="FF0066"/>
                </a:solidFill>
              </a:rPr>
              <a:t>ex7-1SourceViewer2</a:t>
            </a:r>
            <a:r>
              <a:rPr lang="zh-CN" altLang="en-US" sz="1800">
                <a:solidFill>
                  <a:srgbClr val="FF0066"/>
                </a:solidFill>
              </a:rPr>
              <a:t>。</a:t>
            </a:r>
            <a:endParaRPr lang="en-US" altLang="zh-CN" sz="1800">
              <a:solidFill>
                <a:srgbClr val="FF0066"/>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1" name="图片 1">
            <a:extLst>
              <a:ext uri="{FF2B5EF4-FFF2-40B4-BE49-F238E27FC236}">
                <a16:creationId xmlns:a16="http://schemas.microsoft.com/office/drawing/2014/main" id="{D7DA6628-6838-4156-A0B8-BEE64F1751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76200"/>
            <a:ext cx="10515600" cy="555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0" name="标题 1">
            <a:extLst>
              <a:ext uri="{FF2B5EF4-FFF2-40B4-BE49-F238E27FC236}">
                <a16:creationId xmlns:a16="http://schemas.microsoft.com/office/drawing/2014/main" id="{529A1A74-D89E-4C1B-9575-51D52FC38FC7}"/>
              </a:ext>
            </a:extLst>
          </p:cNvPr>
          <p:cNvSpPr>
            <a:spLocks noGrp="1"/>
          </p:cNvSpPr>
          <p:nvPr>
            <p:ph type="title"/>
          </p:nvPr>
        </p:nvSpPr>
        <p:spPr>
          <a:xfrm>
            <a:off x="4114800" y="69851"/>
            <a:ext cx="5105400" cy="685800"/>
          </a:xfrm>
        </p:spPr>
        <p:txBody>
          <a:bodyPr/>
          <a:lstStyle/>
          <a:p>
            <a:pPr algn="l"/>
            <a:r>
              <a:rPr lang="zh-CN" altLang="en-US" sz="3200" dirty="0"/>
              <a:t>头字段</a:t>
            </a:r>
          </a:p>
        </p:txBody>
      </p:sp>
      <p:sp>
        <p:nvSpPr>
          <p:cNvPr id="27652" name="矩形 3">
            <a:extLst>
              <a:ext uri="{FF2B5EF4-FFF2-40B4-BE49-F238E27FC236}">
                <a16:creationId xmlns:a16="http://schemas.microsoft.com/office/drawing/2014/main" id="{D3B89AB8-AB71-4CDF-9042-540C3D7D346F}"/>
              </a:ext>
            </a:extLst>
          </p:cNvPr>
          <p:cNvSpPr>
            <a:spLocks noChangeArrowheads="1"/>
          </p:cNvSpPr>
          <p:nvPr/>
        </p:nvSpPr>
        <p:spPr bwMode="auto">
          <a:xfrm>
            <a:off x="5902326" y="314325"/>
            <a:ext cx="47656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a:solidFill>
                  <a:srgbClr val="FF0066"/>
                </a:solidFill>
              </a:rPr>
              <a:t>演示</a:t>
            </a:r>
            <a:r>
              <a:rPr lang="en-US" altLang="zh-CN" sz="1800">
                <a:solidFill>
                  <a:srgbClr val="FF0066"/>
                </a:solidFill>
              </a:rPr>
              <a:t>ch7. EncodingAwareSourceViewer</a:t>
            </a:r>
            <a:r>
              <a:rPr lang="zh-CN" altLang="en-US" sz="1800">
                <a:solidFill>
                  <a:srgbClr val="FF0066"/>
                </a:solidFill>
              </a:rPr>
              <a:t>，用正确的字符集下载一个</a:t>
            </a:r>
            <a:r>
              <a:rPr lang="en-US" altLang="zh-CN" sz="1800">
                <a:solidFill>
                  <a:srgbClr val="FF0066"/>
                </a:solidFill>
              </a:rPr>
              <a:t>Web</a:t>
            </a:r>
            <a:r>
              <a:rPr lang="zh-CN" altLang="en-US" sz="1800">
                <a:solidFill>
                  <a:srgbClr val="FF0066"/>
                </a:solidFill>
              </a:rPr>
              <a:t>页面。</a:t>
            </a:r>
          </a:p>
        </p:txBody>
      </p:sp>
      <p:pic>
        <p:nvPicPr>
          <p:cNvPr id="27653" name="图片 2">
            <a:extLst>
              <a:ext uri="{FF2B5EF4-FFF2-40B4-BE49-F238E27FC236}">
                <a16:creationId xmlns:a16="http://schemas.microsoft.com/office/drawing/2014/main" id="{DCD7BFCF-984C-4E1A-A923-385F3C2F534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800" y="5638800"/>
            <a:ext cx="3429000"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9AEE2BD5-B919-4DD4-BC0E-CDC140CB71B2}"/>
              </a:ext>
            </a:extLst>
          </p:cNvPr>
          <p:cNvSpPr>
            <a:spLocks noGrp="1"/>
          </p:cNvSpPr>
          <p:nvPr>
            <p:ph type="title"/>
          </p:nvPr>
        </p:nvSpPr>
        <p:spPr>
          <a:xfrm>
            <a:off x="1825625" y="228600"/>
            <a:ext cx="8540750" cy="685800"/>
          </a:xfrm>
        </p:spPr>
        <p:txBody>
          <a:bodyPr/>
          <a:lstStyle/>
          <a:p>
            <a:r>
              <a:rPr lang="zh-CN" altLang="en-US" sz="3200"/>
              <a:t>头字段</a:t>
            </a:r>
          </a:p>
        </p:txBody>
      </p:sp>
      <p:sp>
        <p:nvSpPr>
          <p:cNvPr id="29699" name="矩形 3">
            <a:extLst>
              <a:ext uri="{FF2B5EF4-FFF2-40B4-BE49-F238E27FC236}">
                <a16:creationId xmlns:a16="http://schemas.microsoft.com/office/drawing/2014/main" id="{B84E8E0F-65E0-49A3-92FC-88783DAD64F3}"/>
              </a:ext>
            </a:extLst>
          </p:cNvPr>
          <p:cNvSpPr>
            <a:spLocks noChangeArrowheads="1"/>
          </p:cNvSpPr>
          <p:nvPr/>
        </p:nvSpPr>
        <p:spPr bwMode="auto">
          <a:xfrm>
            <a:off x="1905000" y="153989"/>
            <a:ext cx="8305800" cy="615473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public static void saveBinaryFile(URL u) throws IOException {</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URLConnection uc = u.openConnection();</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String contentType = uc.getContentType();</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int contentLength = uc.getContentLength();</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if (contentType.startsWith("text/") || contentLength == -1 ) {</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throw new IOException("This is not a binary file.");</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try (InputStream raw = uc.getInputStream()) {</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InputStream in  = new BufferedInputStream(raw);</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byte[] data = new byte[contentLength];</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int offset = 0;</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while (offset &lt; contentLength) {</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int bytesRead = in.read(data, offset, data.length - offset);</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if (bytesRead == -1) break;</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offset += bytesRead;</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if (offset != contentLength) {</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throw new IOException("Only read " + offset+ " bytes; Expected " + contentLength + " bytes");</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String filename = u.getFile();</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filename = filename.substring(filename.lastIndexOf('/') + 1);</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try (FileOutputStream fout = new FileOutputStream(filename)) {</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fout.write(data);</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fout.flush();</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1400" b="1">
                <a:latin typeface="Times New Roman" panose="02020603050405020304" pitchFamily="18" charset="0"/>
                <a:cs typeface="Times New Roman" panose="02020603050405020304" pitchFamily="18" charset="0"/>
              </a:rPr>
              <a:t>  }</a:t>
            </a:r>
          </a:p>
          <a:p>
            <a:pPr>
              <a:spcBef>
                <a:spcPct val="0"/>
              </a:spcBef>
              <a:buClrTx/>
              <a:buSzTx/>
              <a:buFontTx/>
              <a:buNone/>
            </a:pPr>
            <a:endParaRPr lang="en-US" altLang="zh-CN" sz="1600" b="1">
              <a:latin typeface="Times New Roman" panose="02020603050405020304" pitchFamily="18" charset="0"/>
              <a:cs typeface="Times New Roman" panose="02020603050405020304" pitchFamily="18" charset="0"/>
            </a:endParaRPr>
          </a:p>
        </p:txBody>
      </p:sp>
      <p:sp>
        <p:nvSpPr>
          <p:cNvPr id="29700" name="矩形 3">
            <a:extLst>
              <a:ext uri="{FF2B5EF4-FFF2-40B4-BE49-F238E27FC236}">
                <a16:creationId xmlns:a16="http://schemas.microsoft.com/office/drawing/2014/main" id="{477D547C-72F6-4751-A95B-3B545392C478}"/>
              </a:ext>
            </a:extLst>
          </p:cNvPr>
          <p:cNvSpPr>
            <a:spLocks noChangeArrowheads="1"/>
          </p:cNvSpPr>
          <p:nvPr/>
        </p:nvSpPr>
        <p:spPr bwMode="auto">
          <a:xfrm>
            <a:off x="3703639" y="5181601"/>
            <a:ext cx="56356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a:solidFill>
                  <a:srgbClr val="FF0066"/>
                </a:solidFill>
              </a:rPr>
              <a:t>使用</a:t>
            </a:r>
            <a:r>
              <a:rPr lang="en-US" altLang="zh-CN" sz="1800">
                <a:solidFill>
                  <a:srgbClr val="FF0066"/>
                </a:solidFill>
              </a:rPr>
              <a:t>getContentLength()</a:t>
            </a:r>
            <a:r>
              <a:rPr lang="zh-CN" altLang="en-US" sz="1800">
                <a:solidFill>
                  <a:srgbClr val="FF0066"/>
                </a:solidFill>
              </a:rPr>
              <a:t>方法例子。</a:t>
            </a:r>
            <a:endParaRPr lang="en-US" altLang="zh-CN" sz="1800">
              <a:solidFill>
                <a:srgbClr val="FF0066"/>
              </a:solidFill>
            </a:endParaRPr>
          </a:p>
          <a:p>
            <a:pPr>
              <a:spcBef>
                <a:spcPct val="0"/>
              </a:spcBef>
              <a:buClrTx/>
              <a:buSzTx/>
              <a:buFontTx/>
              <a:buNone/>
            </a:pPr>
            <a:r>
              <a:rPr lang="zh-CN" altLang="en-US" sz="1800">
                <a:solidFill>
                  <a:srgbClr val="FF0066"/>
                </a:solidFill>
              </a:rPr>
              <a:t>正确可靠从</a:t>
            </a:r>
            <a:r>
              <a:rPr lang="en-US" altLang="zh-CN" sz="1800">
                <a:solidFill>
                  <a:srgbClr val="FF0066"/>
                </a:solidFill>
              </a:rPr>
              <a:t>HTTP</a:t>
            </a:r>
            <a:r>
              <a:rPr lang="zh-CN" altLang="en-US" sz="1800">
                <a:solidFill>
                  <a:srgbClr val="FF0066"/>
                </a:solidFill>
              </a:rPr>
              <a:t>服务器下载一个二进制文件的例子。</a:t>
            </a:r>
            <a:endParaRPr lang="en-US" altLang="zh-CN" sz="1800">
              <a:solidFill>
                <a:srgbClr val="FF0066"/>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图片 2">
            <a:extLst>
              <a:ext uri="{FF2B5EF4-FFF2-40B4-BE49-F238E27FC236}">
                <a16:creationId xmlns:a16="http://schemas.microsoft.com/office/drawing/2014/main" id="{0B2DC76A-A14F-4FC9-A6F2-063359675E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38282"/>
            <a:ext cx="8062913" cy="604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6" name="标题 1">
            <a:extLst>
              <a:ext uri="{FF2B5EF4-FFF2-40B4-BE49-F238E27FC236}">
                <a16:creationId xmlns:a16="http://schemas.microsoft.com/office/drawing/2014/main" id="{E142BC51-12EC-4B09-93BF-57B1FE90ED23}"/>
              </a:ext>
            </a:extLst>
          </p:cNvPr>
          <p:cNvSpPr>
            <a:spLocks noGrp="1"/>
          </p:cNvSpPr>
          <p:nvPr>
            <p:ph type="title"/>
          </p:nvPr>
        </p:nvSpPr>
        <p:spPr>
          <a:xfrm>
            <a:off x="1524000" y="0"/>
            <a:ext cx="8540750" cy="685800"/>
          </a:xfrm>
        </p:spPr>
        <p:txBody>
          <a:bodyPr/>
          <a:lstStyle/>
          <a:p>
            <a:pPr algn="l"/>
            <a:r>
              <a:rPr lang="zh-CN" altLang="en-US" sz="3200"/>
              <a:t>头字段</a:t>
            </a:r>
          </a:p>
        </p:txBody>
      </p:sp>
      <p:sp>
        <p:nvSpPr>
          <p:cNvPr id="31748" name="矩形 3">
            <a:extLst>
              <a:ext uri="{FF2B5EF4-FFF2-40B4-BE49-F238E27FC236}">
                <a16:creationId xmlns:a16="http://schemas.microsoft.com/office/drawing/2014/main" id="{6B33AE77-A26D-4081-A5BC-490B644072AA}"/>
              </a:ext>
            </a:extLst>
          </p:cNvPr>
          <p:cNvSpPr>
            <a:spLocks noChangeArrowheads="1"/>
          </p:cNvSpPr>
          <p:nvPr/>
        </p:nvSpPr>
        <p:spPr bwMode="auto">
          <a:xfrm>
            <a:off x="3505201" y="0"/>
            <a:ext cx="7027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a:solidFill>
                  <a:srgbClr val="FF0066"/>
                </a:solidFill>
              </a:rPr>
              <a:t>演示</a:t>
            </a:r>
            <a:r>
              <a:rPr lang="en-US" altLang="zh-CN" sz="1800">
                <a:solidFill>
                  <a:srgbClr val="FF0066"/>
                </a:solidFill>
              </a:rPr>
              <a:t>ch7. BinarySaver</a:t>
            </a:r>
            <a:r>
              <a:rPr lang="zh-CN" altLang="en-US" sz="1800">
                <a:solidFill>
                  <a:srgbClr val="FF0066"/>
                </a:solidFill>
              </a:rPr>
              <a:t>，从</a:t>
            </a:r>
            <a:r>
              <a:rPr lang="en-US" altLang="zh-CN" sz="1800">
                <a:solidFill>
                  <a:srgbClr val="FF0066"/>
                </a:solidFill>
              </a:rPr>
              <a:t>Web</a:t>
            </a:r>
            <a:r>
              <a:rPr lang="zh-CN" altLang="en-US" sz="1800">
                <a:solidFill>
                  <a:srgbClr val="FF0066"/>
                </a:solidFill>
              </a:rPr>
              <a:t>网站下载二进制文件并保存到磁盘。</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6" name="图片 4">
            <a:extLst>
              <a:ext uri="{FF2B5EF4-FFF2-40B4-BE49-F238E27FC236}">
                <a16:creationId xmlns:a16="http://schemas.microsoft.com/office/drawing/2014/main" id="{BF48E6FB-A0D8-4DDD-87D3-593144D3EC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7338" y="-6350"/>
            <a:ext cx="8534400" cy="593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标题 1">
            <a:extLst>
              <a:ext uri="{FF2B5EF4-FFF2-40B4-BE49-F238E27FC236}">
                <a16:creationId xmlns:a16="http://schemas.microsoft.com/office/drawing/2014/main" id="{897F1DDD-2F6D-414B-9961-DD603A5F79B5}"/>
              </a:ext>
            </a:extLst>
          </p:cNvPr>
          <p:cNvSpPr>
            <a:spLocks noGrp="1"/>
          </p:cNvSpPr>
          <p:nvPr>
            <p:ph type="title"/>
          </p:nvPr>
        </p:nvSpPr>
        <p:spPr>
          <a:xfrm>
            <a:off x="1524000" y="0"/>
            <a:ext cx="8540750" cy="685800"/>
          </a:xfrm>
        </p:spPr>
        <p:txBody>
          <a:bodyPr/>
          <a:lstStyle/>
          <a:p>
            <a:pPr algn="l"/>
            <a:r>
              <a:rPr lang="zh-CN" altLang="en-US" sz="3200"/>
              <a:t>头字段</a:t>
            </a:r>
          </a:p>
        </p:txBody>
      </p:sp>
      <p:sp>
        <p:nvSpPr>
          <p:cNvPr id="33795" name="矩形 3">
            <a:extLst>
              <a:ext uri="{FF2B5EF4-FFF2-40B4-BE49-F238E27FC236}">
                <a16:creationId xmlns:a16="http://schemas.microsoft.com/office/drawing/2014/main" id="{59F04B0C-A33F-4B7E-9A0A-B60D43D8B624}"/>
              </a:ext>
            </a:extLst>
          </p:cNvPr>
          <p:cNvSpPr>
            <a:spLocks noChangeArrowheads="1"/>
          </p:cNvSpPr>
          <p:nvPr/>
        </p:nvSpPr>
        <p:spPr bwMode="auto">
          <a:xfrm>
            <a:off x="2895601" y="6019800"/>
            <a:ext cx="7027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a:solidFill>
                  <a:srgbClr val="FF0066"/>
                </a:solidFill>
              </a:rPr>
              <a:t>演示</a:t>
            </a:r>
            <a:r>
              <a:rPr lang="en-US" altLang="zh-CN" sz="1800">
                <a:solidFill>
                  <a:srgbClr val="FF0066"/>
                </a:solidFill>
              </a:rPr>
              <a:t>ch7. BinarySaver</a:t>
            </a:r>
            <a:r>
              <a:rPr lang="zh-CN" altLang="en-US" sz="1800">
                <a:solidFill>
                  <a:srgbClr val="FF0066"/>
                </a:solidFill>
              </a:rPr>
              <a:t>，从</a:t>
            </a:r>
            <a:r>
              <a:rPr lang="en-US" altLang="zh-CN" sz="1800">
                <a:solidFill>
                  <a:srgbClr val="FF0066"/>
                </a:solidFill>
              </a:rPr>
              <a:t>Web</a:t>
            </a:r>
            <a:r>
              <a:rPr lang="zh-CN" altLang="en-US" sz="1800">
                <a:solidFill>
                  <a:srgbClr val="FF0066"/>
                </a:solidFill>
              </a:rPr>
              <a:t>网站下载二进制文件并保存到磁盘。</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646AF70A-5575-4855-B7FC-954345DD8363}"/>
              </a:ext>
            </a:extLst>
          </p:cNvPr>
          <p:cNvSpPr>
            <a:spLocks noGrp="1"/>
          </p:cNvSpPr>
          <p:nvPr>
            <p:ph type="title"/>
          </p:nvPr>
        </p:nvSpPr>
        <p:spPr>
          <a:xfrm>
            <a:off x="1825625" y="228600"/>
            <a:ext cx="8540750" cy="685800"/>
          </a:xfrm>
        </p:spPr>
        <p:txBody>
          <a:bodyPr/>
          <a:lstStyle/>
          <a:p>
            <a:pPr algn="l"/>
            <a:r>
              <a:rPr lang="zh-CN" altLang="en-US" sz="3200"/>
              <a:t>头字段信息获取的方法（</a:t>
            </a:r>
            <a:r>
              <a:rPr lang="en-US" altLang="zh-CN" sz="3200"/>
              <a:t>4</a:t>
            </a:r>
            <a:r>
              <a:rPr lang="zh-CN" altLang="en-US" sz="3200"/>
              <a:t>个）</a:t>
            </a:r>
          </a:p>
        </p:txBody>
      </p:sp>
      <p:sp>
        <p:nvSpPr>
          <p:cNvPr id="35843" name="内容占位符 2">
            <a:extLst>
              <a:ext uri="{FF2B5EF4-FFF2-40B4-BE49-F238E27FC236}">
                <a16:creationId xmlns:a16="http://schemas.microsoft.com/office/drawing/2014/main" id="{30EED604-D595-4724-B747-AEAC45387AB9}"/>
              </a:ext>
            </a:extLst>
          </p:cNvPr>
          <p:cNvSpPr>
            <a:spLocks noGrp="1"/>
          </p:cNvSpPr>
          <p:nvPr>
            <p:ph idx="1"/>
          </p:nvPr>
        </p:nvSpPr>
        <p:spPr>
          <a:xfrm>
            <a:off x="1905000" y="1143001"/>
            <a:ext cx="8540750" cy="4498975"/>
          </a:xfrm>
        </p:spPr>
        <p:txBody>
          <a:bodyPr/>
          <a:lstStyle/>
          <a:p>
            <a:r>
              <a:rPr lang="en-US" altLang="zh-CN" sz="2800">
                <a:latin typeface="Times New Roman" panose="02020603050405020304" pitchFamily="18" charset="0"/>
                <a:cs typeface="Times New Roman" panose="02020603050405020304" pitchFamily="18" charset="0"/>
              </a:rPr>
              <a:t>public String getContentEncoding()</a:t>
            </a:r>
          </a:p>
          <a:p>
            <a:pPr lvl="1">
              <a:buFont typeface="Wingdings" panose="05000000000000000000" pitchFamily="2" charset="2"/>
              <a:buChar char="p"/>
            </a:pPr>
            <a:r>
              <a:rPr lang="zh-CN" altLang="en-US" sz="2400">
                <a:latin typeface="Times New Roman" panose="02020603050405020304" pitchFamily="18" charset="0"/>
                <a:cs typeface="Times New Roman" panose="02020603050405020304" pitchFamily="18" charset="0"/>
              </a:rPr>
              <a:t>返回内容压缩编码（与字符编码不同）</a:t>
            </a:r>
            <a:endParaRPr lang="en-US" altLang="zh-CN" sz="2400">
              <a:latin typeface="Times New Roman" panose="02020603050405020304" pitchFamily="18" charset="0"/>
              <a:cs typeface="Times New Roman" panose="02020603050405020304" pitchFamily="18" charset="0"/>
            </a:endParaRPr>
          </a:p>
          <a:p>
            <a:r>
              <a:rPr lang="en-US" altLang="zh-CN" sz="2800">
                <a:latin typeface="Times New Roman" panose="02020603050405020304" pitchFamily="18" charset="0"/>
                <a:cs typeface="Times New Roman" panose="02020603050405020304" pitchFamily="18" charset="0"/>
              </a:rPr>
              <a:t>public long getDate()</a:t>
            </a:r>
          </a:p>
          <a:p>
            <a:pPr lvl="1">
              <a:buFont typeface="Wingdings" panose="05000000000000000000" pitchFamily="2" charset="2"/>
              <a:buChar char="p"/>
            </a:pPr>
            <a:r>
              <a:rPr lang="zh-CN" altLang="en-US" sz="2400">
                <a:latin typeface="Times New Roman" panose="02020603050405020304" pitchFamily="18" charset="0"/>
                <a:cs typeface="Times New Roman" panose="02020603050405020304" pitchFamily="18" charset="0"/>
              </a:rPr>
              <a:t>发送文档的时间</a:t>
            </a:r>
            <a:endParaRPr lang="en-US" altLang="zh-CN" sz="2400">
              <a:latin typeface="Times New Roman" panose="02020603050405020304" pitchFamily="18" charset="0"/>
              <a:cs typeface="Times New Roman" panose="02020603050405020304" pitchFamily="18" charset="0"/>
            </a:endParaRPr>
          </a:p>
          <a:p>
            <a:r>
              <a:rPr lang="en-US" altLang="zh-CN" sz="2800">
                <a:latin typeface="Times New Roman" panose="02020603050405020304" pitchFamily="18" charset="0"/>
                <a:cs typeface="Times New Roman" panose="02020603050405020304" pitchFamily="18" charset="0"/>
              </a:rPr>
              <a:t>public long getExpiration()</a:t>
            </a:r>
          </a:p>
          <a:p>
            <a:pPr lvl="1">
              <a:buFont typeface="Wingdings" panose="05000000000000000000" pitchFamily="2" charset="2"/>
              <a:buChar char="p"/>
            </a:pPr>
            <a:r>
              <a:rPr lang="zh-CN" altLang="en-US" sz="2400">
                <a:latin typeface="Times New Roman" panose="02020603050405020304" pitchFamily="18" charset="0"/>
                <a:cs typeface="Times New Roman" panose="02020603050405020304" pitchFamily="18" charset="0"/>
              </a:rPr>
              <a:t>文档失效时间</a:t>
            </a:r>
            <a:endParaRPr lang="en-US" altLang="zh-CN" sz="2400">
              <a:latin typeface="Times New Roman" panose="02020603050405020304" pitchFamily="18" charset="0"/>
              <a:cs typeface="Times New Roman" panose="02020603050405020304" pitchFamily="18" charset="0"/>
            </a:endParaRPr>
          </a:p>
          <a:p>
            <a:r>
              <a:rPr lang="en-US" altLang="zh-CN" sz="2800">
                <a:latin typeface="Times New Roman" panose="02020603050405020304" pitchFamily="18" charset="0"/>
                <a:cs typeface="Times New Roman" panose="02020603050405020304" pitchFamily="18" charset="0"/>
              </a:rPr>
              <a:t>public long getLastModified()</a:t>
            </a:r>
          </a:p>
          <a:p>
            <a:pPr lvl="1">
              <a:buFont typeface="Wingdings" panose="05000000000000000000" pitchFamily="2" charset="2"/>
              <a:buChar char="p"/>
            </a:pPr>
            <a:r>
              <a:rPr lang="zh-CN" altLang="en-US" sz="2400">
                <a:latin typeface="Times New Roman" panose="02020603050405020304" pitchFamily="18" charset="0"/>
                <a:cs typeface="Times New Roman" panose="02020603050405020304" pitchFamily="18" charset="0"/>
              </a:rPr>
              <a:t>文档最后修改时间</a:t>
            </a:r>
            <a:endParaRPr lang="en-US" altLang="zh-CN" sz="2400">
              <a:latin typeface="Times New Roman" panose="02020603050405020304" pitchFamily="18" charset="0"/>
              <a:cs typeface="Times New Roman" panose="02020603050405020304" pitchFamily="18" charset="0"/>
            </a:endParaRPr>
          </a:p>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6C48C911-5E8E-4CA2-BDB0-EE967B053695}"/>
              </a:ext>
            </a:extLst>
          </p:cNvPr>
          <p:cNvSpPr>
            <a:spLocks noGrp="1"/>
          </p:cNvSpPr>
          <p:nvPr>
            <p:ph type="title"/>
          </p:nvPr>
        </p:nvSpPr>
        <p:spPr>
          <a:xfrm>
            <a:off x="1825625" y="228600"/>
            <a:ext cx="8540750" cy="685800"/>
          </a:xfrm>
        </p:spPr>
        <p:txBody>
          <a:bodyPr/>
          <a:lstStyle/>
          <a:p>
            <a:pPr algn="l"/>
            <a:r>
              <a:rPr lang="zh-CN" altLang="en-US" sz="3200"/>
              <a:t>头部方法使用例子</a:t>
            </a:r>
          </a:p>
        </p:txBody>
      </p:sp>
      <p:sp>
        <p:nvSpPr>
          <p:cNvPr id="5" name="内容占位符 2">
            <a:extLst>
              <a:ext uri="{FF2B5EF4-FFF2-40B4-BE49-F238E27FC236}">
                <a16:creationId xmlns:a16="http://schemas.microsoft.com/office/drawing/2014/main" id="{625B146B-E8FA-4E81-880E-A356D934F94B}"/>
              </a:ext>
            </a:extLst>
          </p:cNvPr>
          <p:cNvSpPr>
            <a:spLocks noGrp="1"/>
          </p:cNvSpPr>
          <p:nvPr>
            <p:ph idx="1"/>
          </p:nvPr>
        </p:nvSpPr>
        <p:spPr>
          <a:xfrm>
            <a:off x="1905000" y="1143001"/>
            <a:ext cx="8540750" cy="4498975"/>
          </a:xfrm>
        </p:spPr>
        <p:txBody>
          <a:bodyPr/>
          <a:lstStyle/>
          <a:p>
            <a:r>
              <a:rPr lang="zh-CN" altLang="en-US" sz="2400">
                <a:latin typeface="Times New Roman" panose="02020603050405020304" pitchFamily="18" charset="0"/>
                <a:cs typeface="Times New Roman" panose="02020603050405020304" pitchFamily="18" charset="0"/>
              </a:rPr>
              <a:t>代码例子</a:t>
            </a:r>
            <a:r>
              <a:rPr lang="en-US" altLang="zh-CN" sz="2400">
                <a:latin typeface="Times New Roman" panose="02020603050405020304" pitchFamily="18" charset="0"/>
                <a:cs typeface="Times New Roman" panose="02020603050405020304" pitchFamily="18" charset="0"/>
              </a:rPr>
              <a:t>ch7. HeaderViewer</a:t>
            </a:r>
          </a:p>
          <a:p>
            <a:r>
              <a:rPr lang="zh-CN" altLang="en-US" sz="2800"/>
              <a:t>从命令行读取</a:t>
            </a:r>
            <a:r>
              <a:rPr lang="en-US" altLang="zh-CN" sz="2800"/>
              <a:t>url</a:t>
            </a:r>
            <a:r>
              <a:rPr lang="zh-CN" altLang="en-US" sz="2800"/>
              <a:t>，使用访问头部信息的</a:t>
            </a:r>
            <a:r>
              <a:rPr lang="en-US" altLang="zh-CN" sz="2800"/>
              <a:t>6</a:t>
            </a:r>
            <a:r>
              <a:rPr lang="zh-CN" altLang="en-US" sz="2800"/>
              <a:t>个方法，显示内容类型、内容长度、内容编码方式、最后修改日期、过期日期和当前日期。</a:t>
            </a:r>
            <a:endParaRPr lang="en-US" altLang="zh-CN" sz="2800"/>
          </a:p>
          <a:p>
            <a:r>
              <a:rPr lang="zh-CN" altLang="en-US" sz="2400"/>
              <a:t>运行 </a:t>
            </a:r>
            <a:r>
              <a:rPr lang="en-US" altLang="zh-CN" sz="2400"/>
              <a:t>HeaderViewer,</a:t>
            </a:r>
            <a:r>
              <a:rPr lang="zh-CN" altLang="en-US" sz="2400"/>
              <a:t>输入 </a:t>
            </a:r>
            <a:r>
              <a:rPr lang="en-US" altLang="zh-CN" sz="2400">
                <a:hlinkClick r:id="rId3"/>
              </a:rPr>
              <a:t>http://www.szu.edu.cn/szu.asp</a:t>
            </a:r>
            <a:r>
              <a:rPr lang="zh-CN" altLang="en-US" sz="2400"/>
              <a:t>参数的运行结果</a:t>
            </a:r>
          </a:p>
        </p:txBody>
      </p:sp>
      <p:sp>
        <p:nvSpPr>
          <p:cNvPr id="36868" name="矩形 6">
            <a:extLst>
              <a:ext uri="{FF2B5EF4-FFF2-40B4-BE49-F238E27FC236}">
                <a16:creationId xmlns:a16="http://schemas.microsoft.com/office/drawing/2014/main" id="{63A027C4-8812-49B0-A247-49B8FB0E56C5}"/>
              </a:ext>
            </a:extLst>
          </p:cNvPr>
          <p:cNvSpPr>
            <a:spLocks noChangeArrowheads="1"/>
          </p:cNvSpPr>
          <p:nvPr/>
        </p:nvSpPr>
        <p:spPr bwMode="auto">
          <a:xfrm>
            <a:off x="8534401" y="6148389"/>
            <a:ext cx="2117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HeaderViewer.java</a:t>
            </a:r>
            <a:endParaRPr lang="zh-CN" altLang="en-US" sz="1800"/>
          </a:p>
        </p:txBody>
      </p:sp>
      <p:pic>
        <p:nvPicPr>
          <p:cNvPr id="20482" name="Picture 2">
            <a:extLst>
              <a:ext uri="{FF2B5EF4-FFF2-40B4-BE49-F238E27FC236}">
                <a16:creationId xmlns:a16="http://schemas.microsoft.com/office/drawing/2014/main" id="{96C4B0EE-5A87-4077-B43A-0CA25F2A37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4191001"/>
            <a:ext cx="4419600" cy="1649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CDD56A7E-950E-4E6C-A975-EBF30D05E846}"/>
              </a:ext>
            </a:extLst>
          </p:cNvPr>
          <p:cNvSpPr>
            <a:spLocks noGrp="1"/>
          </p:cNvSpPr>
          <p:nvPr>
            <p:ph type="title"/>
          </p:nvPr>
        </p:nvSpPr>
        <p:spPr>
          <a:xfrm>
            <a:off x="1825625" y="228600"/>
            <a:ext cx="8540750" cy="685800"/>
          </a:xfrm>
        </p:spPr>
        <p:txBody>
          <a:bodyPr/>
          <a:lstStyle/>
          <a:p>
            <a:pPr algn="l"/>
            <a:r>
              <a:rPr lang="zh-CN" altLang="en-US" sz="3200"/>
              <a:t>头部方法使用例子</a:t>
            </a:r>
          </a:p>
        </p:txBody>
      </p:sp>
      <p:pic>
        <p:nvPicPr>
          <p:cNvPr id="38915" name="图片 2">
            <a:extLst>
              <a:ext uri="{FF2B5EF4-FFF2-40B4-BE49-F238E27FC236}">
                <a16:creationId xmlns:a16="http://schemas.microsoft.com/office/drawing/2014/main" id="{8420BB36-55AF-4E32-A441-AD7E62B98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
            <a:ext cx="8001000" cy="661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矩形 6">
            <a:extLst>
              <a:ext uri="{FF2B5EF4-FFF2-40B4-BE49-F238E27FC236}">
                <a16:creationId xmlns:a16="http://schemas.microsoft.com/office/drawing/2014/main" id="{7DB75EDB-AE99-422B-BD55-F0A457C84F38}"/>
              </a:ext>
            </a:extLst>
          </p:cNvPr>
          <p:cNvSpPr>
            <a:spLocks noChangeArrowheads="1"/>
          </p:cNvSpPr>
          <p:nvPr/>
        </p:nvSpPr>
        <p:spPr bwMode="auto">
          <a:xfrm>
            <a:off x="8248651" y="42864"/>
            <a:ext cx="2117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solidFill>
                  <a:srgbClr val="FF0000"/>
                </a:solidFill>
              </a:rPr>
              <a:t>HeaderViewer.java</a:t>
            </a:r>
            <a:endParaRPr lang="zh-CN" altLang="en-US" sz="180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460C46FA-CF44-42BB-9FA3-E37390DCE05E}"/>
              </a:ext>
            </a:extLst>
          </p:cNvPr>
          <p:cNvSpPr>
            <a:spLocks noGrp="1"/>
          </p:cNvSpPr>
          <p:nvPr>
            <p:ph type="title"/>
          </p:nvPr>
        </p:nvSpPr>
        <p:spPr>
          <a:xfrm>
            <a:off x="1825625" y="228600"/>
            <a:ext cx="8540750" cy="685800"/>
          </a:xfrm>
        </p:spPr>
        <p:txBody>
          <a:bodyPr/>
          <a:lstStyle/>
          <a:p>
            <a:pPr algn="l"/>
            <a:r>
              <a:rPr lang="zh-CN" altLang="en-US" sz="3200"/>
              <a:t>头部方法使用例子</a:t>
            </a:r>
          </a:p>
        </p:txBody>
      </p:sp>
      <p:sp>
        <p:nvSpPr>
          <p:cNvPr id="40963" name="矩形 6">
            <a:extLst>
              <a:ext uri="{FF2B5EF4-FFF2-40B4-BE49-F238E27FC236}">
                <a16:creationId xmlns:a16="http://schemas.microsoft.com/office/drawing/2014/main" id="{5DA54F01-CC50-4231-B9B2-269A96B39BA8}"/>
              </a:ext>
            </a:extLst>
          </p:cNvPr>
          <p:cNvSpPr>
            <a:spLocks noChangeArrowheads="1"/>
          </p:cNvSpPr>
          <p:nvPr/>
        </p:nvSpPr>
        <p:spPr bwMode="auto">
          <a:xfrm>
            <a:off x="3200401" y="4419600"/>
            <a:ext cx="2117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solidFill>
                  <a:srgbClr val="FF0000"/>
                </a:solidFill>
              </a:rPr>
              <a:t>HeaderViewer.java</a:t>
            </a:r>
            <a:endParaRPr lang="zh-CN" altLang="en-US" sz="1800">
              <a:solidFill>
                <a:srgbClr val="FF0000"/>
              </a:solidFill>
            </a:endParaRPr>
          </a:p>
        </p:txBody>
      </p:sp>
      <p:pic>
        <p:nvPicPr>
          <p:cNvPr id="40964" name="图片 3">
            <a:extLst>
              <a:ext uri="{FF2B5EF4-FFF2-40B4-BE49-F238E27FC236}">
                <a16:creationId xmlns:a16="http://schemas.microsoft.com/office/drawing/2014/main" id="{5BE079F8-9E86-4FEB-9D89-28610D4DAA7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8504238"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2980AE88-DAE3-40F2-8155-40C5DD79EE02}"/>
              </a:ext>
            </a:extLst>
          </p:cNvPr>
          <p:cNvSpPr>
            <a:spLocks noGrp="1"/>
          </p:cNvSpPr>
          <p:nvPr>
            <p:ph type="title"/>
          </p:nvPr>
        </p:nvSpPr>
        <p:spPr>
          <a:xfrm>
            <a:off x="1538288" y="0"/>
            <a:ext cx="8540750" cy="533400"/>
          </a:xfrm>
        </p:spPr>
        <p:txBody>
          <a:bodyPr/>
          <a:lstStyle/>
          <a:p>
            <a:pPr algn="l"/>
            <a:r>
              <a:rPr lang="zh-CN" altLang="en-US" sz="3200"/>
              <a:t>获取任意头字段方法</a:t>
            </a:r>
          </a:p>
        </p:txBody>
      </p:sp>
      <p:sp>
        <p:nvSpPr>
          <p:cNvPr id="3" name="内容占位符 2">
            <a:extLst>
              <a:ext uri="{FF2B5EF4-FFF2-40B4-BE49-F238E27FC236}">
                <a16:creationId xmlns:a16="http://schemas.microsoft.com/office/drawing/2014/main" id="{6F989C80-3692-4C8D-A867-BD396B341A54}"/>
              </a:ext>
            </a:extLst>
          </p:cNvPr>
          <p:cNvSpPr>
            <a:spLocks noGrp="1"/>
          </p:cNvSpPr>
          <p:nvPr>
            <p:ph idx="1"/>
          </p:nvPr>
        </p:nvSpPr>
        <p:spPr>
          <a:xfrm>
            <a:off x="1773239" y="1166813"/>
            <a:ext cx="8797925" cy="5135562"/>
          </a:xfrm>
        </p:spPr>
        <p:txBody>
          <a:bodyPr>
            <a:normAutofit/>
          </a:bodyPr>
          <a:lstStyle/>
          <a:p>
            <a:pPr>
              <a:defRPr/>
            </a:pPr>
            <a:r>
              <a:rPr lang="en-US" altLang="zh-CN" dirty="0"/>
              <a:t>public String </a:t>
            </a:r>
            <a:r>
              <a:rPr lang="en-US" altLang="zh-CN" dirty="0" err="1"/>
              <a:t>getHeaderField</a:t>
            </a:r>
            <a:r>
              <a:rPr lang="en-US" altLang="zh-CN" dirty="0"/>
              <a:t>(String name)</a:t>
            </a:r>
          </a:p>
          <a:p>
            <a:pPr>
              <a:defRPr/>
            </a:pPr>
            <a:r>
              <a:rPr lang="en-US" altLang="zh-CN" sz="2000" dirty="0">
                <a:solidFill>
                  <a:srgbClr val="000088"/>
                </a:solidFill>
                <a:latin typeface="Times New Roman" panose="02020603050405020304" pitchFamily="18" charset="0"/>
                <a:cs typeface="Times New Roman" panose="02020603050405020304" pitchFamily="18" charset="0"/>
              </a:rPr>
              <a:t>String</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contentType</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uc</a:t>
            </a:r>
            <a:r>
              <a:rPr lang="en-US" altLang="zh-CN" sz="2000" dirty="0" err="1">
                <a:solidFill>
                  <a:srgbClr val="555555"/>
                </a:solidFill>
                <a:latin typeface="Times New Roman" panose="02020603050405020304" pitchFamily="18" charset="0"/>
                <a:cs typeface="Times New Roman" panose="02020603050405020304" pitchFamily="18" charset="0"/>
              </a:rPr>
              <a:t>.</a:t>
            </a:r>
            <a:r>
              <a:rPr lang="en-US" altLang="zh-CN" sz="2000" dirty="0" err="1">
                <a:solidFill>
                  <a:srgbClr val="330099"/>
                </a:solidFill>
                <a:latin typeface="Times New Roman" panose="02020603050405020304" pitchFamily="18" charset="0"/>
                <a:cs typeface="Times New Roman" panose="02020603050405020304" pitchFamily="18" charset="0"/>
              </a:rPr>
              <a:t>getHeaderField</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"content-type"</a:t>
            </a:r>
            <a:r>
              <a:rPr lang="en-US" altLang="zh-CN" sz="2000" dirty="0">
                <a:solidFill>
                  <a:srgbClr val="555555"/>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pPr>
              <a:defRPr/>
            </a:pPr>
            <a:r>
              <a:rPr lang="en-US" altLang="zh-CN" sz="2000" dirty="0">
                <a:solidFill>
                  <a:srgbClr val="000088"/>
                </a:solidFill>
                <a:latin typeface="Times New Roman" panose="02020603050405020304" pitchFamily="18" charset="0"/>
                <a:cs typeface="Times New Roman" panose="02020603050405020304" pitchFamily="18" charset="0"/>
              </a:rPr>
              <a:t>String</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contentEncoding</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uc</a:t>
            </a:r>
            <a:r>
              <a:rPr lang="en-US" altLang="zh-CN" sz="2000" dirty="0" err="1">
                <a:solidFill>
                  <a:srgbClr val="555555"/>
                </a:solidFill>
                <a:latin typeface="Times New Roman" panose="02020603050405020304" pitchFamily="18" charset="0"/>
                <a:cs typeface="Times New Roman" panose="02020603050405020304" pitchFamily="18" charset="0"/>
              </a:rPr>
              <a:t>.</a:t>
            </a:r>
            <a:r>
              <a:rPr lang="en-US" altLang="zh-CN" sz="2000" dirty="0" err="1">
                <a:solidFill>
                  <a:srgbClr val="330099"/>
                </a:solidFill>
                <a:latin typeface="Times New Roman" panose="02020603050405020304" pitchFamily="18" charset="0"/>
                <a:cs typeface="Times New Roman" panose="02020603050405020304" pitchFamily="18" charset="0"/>
              </a:rPr>
              <a:t>getHeaderField</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"content-encoding"</a:t>
            </a:r>
            <a:r>
              <a:rPr lang="en-US" altLang="zh-CN" sz="2000" dirty="0">
                <a:solidFill>
                  <a:srgbClr val="555555"/>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pPr>
              <a:defRPr/>
            </a:pPr>
            <a:r>
              <a:rPr lang="en-US" altLang="zh-CN" sz="2000" dirty="0">
                <a:solidFill>
                  <a:srgbClr val="000088"/>
                </a:solidFill>
                <a:latin typeface="Times New Roman" panose="02020603050405020304" pitchFamily="18" charset="0"/>
                <a:cs typeface="Times New Roman" panose="02020603050405020304" pitchFamily="18" charset="0"/>
              </a:rPr>
              <a:t>String</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000088"/>
                </a:solidFill>
                <a:latin typeface="Times New Roman" panose="02020603050405020304" pitchFamily="18" charset="0"/>
                <a:cs typeface="Times New Roman" panose="02020603050405020304" pitchFamily="18" charset="0"/>
              </a:rPr>
              <a:t>data</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uc</a:t>
            </a:r>
            <a:r>
              <a:rPr lang="en-US" altLang="zh-CN" sz="2000" dirty="0" err="1">
                <a:solidFill>
                  <a:srgbClr val="555555"/>
                </a:solidFill>
                <a:latin typeface="Times New Roman" panose="02020603050405020304" pitchFamily="18" charset="0"/>
                <a:cs typeface="Times New Roman" panose="02020603050405020304" pitchFamily="18" charset="0"/>
              </a:rPr>
              <a:t>.</a:t>
            </a:r>
            <a:r>
              <a:rPr lang="en-US" altLang="zh-CN" sz="2000" dirty="0" err="1">
                <a:solidFill>
                  <a:srgbClr val="330099"/>
                </a:solidFill>
                <a:latin typeface="Times New Roman" panose="02020603050405020304" pitchFamily="18" charset="0"/>
                <a:cs typeface="Times New Roman" panose="02020603050405020304" pitchFamily="18" charset="0"/>
              </a:rPr>
              <a:t>getHeaderField</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"date"</a:t>
            </a:r>
            <a:r>
              <a:rPr lang="en-US" altLang="zh-CN" sz="2000" dirty="0">
                <a:solidFill>
                  <a:srgbClr val="555555"/>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pPr>
              <a:defRPr/>
            </a:pPr>
            <a:r>
              <a:rPr lang="en-US" altLang="zh-CN" sz="2000" dirty="0">
                <a:solidFill>
                  <a:srgbClr val="000088"/>
                </a:solidFill>
                <a:latin typeface="Times New Roman" panose="02020603050405020304" pitchFamily="18" charset="0"/>
                <a:cs typeface="Times New Roman" panose="02020603050405020304" pitchFamily="18" charset="0"/>
              </a:rPr>
              <a:t>String</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000088"/>
                </a:solidFill>
                <a:latin typeface="Times New Roman" panose="02020603050405020304" pitchFamily="18" charset="0"/>
                <a:cs typeface="Times New Roman" panose="02020603050405020304" pitchFamily="18" charset="0"/>
              </a:rPr>
              <a:t>expires</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uc</a:t>
            </a:r>
            <a:r>
              <a:rPr lang="en-US" altLang="zh-CN" sz="2000" dirty="0" err="1">
                <a:solidFill>
                  <a:srgbClr val="555555"/>
                </a:solidFill>
                <a:latin typeface="Times New Roman" panose="02020603050405020304" pitchFamily="18" charset="0"/>
                <a:cs typeface="Times New Roman" panose="02020603050405020304" pitchFamily="18" charset="0"/>
              </a:rPr>
              <a:t>.</a:t>
            </a:r>
            <a:r>
              <a:rPr lang="en-US" altLang="zh-CN" sz="2000" dirty="0" err="1">
                <a:solidFill>
                  <a:srgbClr val="330099"/>
                </a:solidFill>
                <a:latin typeface="Times New Roman" panose="02020603050405020304" pitchFamily="18" charset="0"/>
                <a:cs typeface="Times New Roman" panose="02020603050405020304" pitchFamily="18" charset="0"/>
              </a:rPr>
              <a:t>getHeaderField</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"expires"</a:t>
            </a:r>
            <a:r>
              <a:rPr lang="en-US" altLang="zh-CN" sz="2000" dirty="0">
                <a:solidFill>
                  <a:srgbClr val="555555"/>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pPr>
              <a:defRPr/>
            </a:pPr>
            <a:r>
              <a:rPr lang="en-US" altLang="zh-CN" sz="2000" dirty="0">
                <a:solidFill>
                  <a:srgbClr val="000088"/>
                </a:solidFill>
                <a:latin typeface="Times New Roman" panose="02020603050405020304" pitchFamily="18" charset="0"/>
                <a:cs typeface="Times New Roman" panose="02020603050405020304" pitchFamily="18" charset="0"/>
              </a:rPr>
              <a:t>String</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contentLength</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uc</a:t>
            </a:r>
            <a:r>
              <a:rPr lang="en-US" altLang="zh-CN" sz="2000" dirty="0" err="1">
                <a:solidFill>
                  <a:srgbClr val="555555"/>
                </a:solidFill>
                <a:latin typeface="Times New Roman" panose="02020603050405020304" pitchFamily="18" charset="0"/>
                <a:cs typeface="Times New Roman" panose="02020603050405020304" pitchFamily="18" charset="0"/>
              </a:rPr>
              <a:t>.</a:t>
            </a:r>
            <a:r>
              <a:rPr lang="en-US" altLang="zh-CN" sz="2000" dirty="0" err="1">
                <a:solidFill>
                  <a:srgbClr val="330099"/>
                </a:solidFill>
                <a:latin typeface="Times New Roman" panose="02020603050405020304" pitchFamily="18" charset="0"/>
                <a:cs typeface="Times New Roman" panose="02020603050405020304" pitchFamily="18" charset="0"/>
              </a:rPr>
              <a:t>getHeaderField</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"Content-length"</a:t>
            </a:r>
            <a:r>
              <a:rPr lang="en-US" altLang="zh-CN" sz="2000" dirty="0">
                <a:solidFill>
                  <a:srgbClr val="555555"/>
                </a:solidFill>
                <a:latin typeface="Times New Roman" panose="02020603050405020304" pitchFamily="18" charset="0"/>
                <a:cs typeface="Times New Roman" panose="02020603050405020304" pitchFamily="18" charset="0"/>
              </a:rPr>
              <a:t>);</a:t>
            </a:r>
          </a:p>
          <a:p>
            <a:pPr marL="0" indent="0">
              <a:buNone/>
              <a:defRPr/>
            </a:pPr>
            <a:endParaRPr lang="en-US" altLang="zh-CN" dirty="0">
              <a:solidFill>
                <a:srgbClr val="000000"/>
              </a:solidFill>
              <a:latin typeface="Simsun"/>
            </a:endParaRPr>
          </a:p>
          <a:p>
            <a:pPr>
              <a:defRPr/>
            </a:pP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8E772929-B5C9-4C55-803A-BD872BE034A8}"/>
              </a:ext>
            </a:extLst>
          </p:cNvPr>
          <p:cNvSpPr>
            <a:spLocks noGrp="1"/>
          </p:cNvSpPr>
          <p:nvPr>
            <p:ph type="title"/>
          </p:nvPr>
        </p:nvSpPr>
        <p:spPr>
          <a:xfrm>
            <a:off x="1558925" y="115889"/>
            <a:ext cx="8540750" cy="719137"/>
          </a:xfrm>
        </p:spPr>
        <p:txBody>
          <a:bodyPr/>
          <a:lstStyle/>
          <a:p>
            <a:pPr algn="l"/>
            <a:r>
              <a:rPr lang="zh-CN" altLang="en-US" sz="2800"/>
              <a:t>使用获取任意首部字段方法显示整个</a:t>
            </a:r>
            <a:r>
              <a:rPr lang="en-US" altLang="zh-CN" sz="2800"/>
              <a:t>HTTP</a:t>
            </a:r>
            <a:r>
              <a:rPr lang="zh-CN" altLang="en-US" sz="2800"/>
              <a:t>请求</a:t>
            </a:r>
          </a:p>
        </p:txBody>
      </p:sp>
      <p:sp>
        <p:nvSpPr>
          <p:cNvPr id="17411" name="内容占位符 2">
            <a:extLst>
              <a:ext uri="{FF2B5EF4-FFF2-40B4-BE49-F238E27FC236}">
                <a16:creationId xmlns:a16="http://schemas.microsoft.com/office/drawing/2014/main" id="{9D9D286C-3AD1-4C93-8792-76CD99B59698}"/>
              </a:ext>
            </a:extLst>
          </p:cNvPr>
          <p:cNvSpPr>
            <a:spLocks noGrp="1"/>
          </p:cNvSpPr>
          <p:nvPr>
            <p:ph idx="1"/>
          </p:nvPr>
        </p:nvSpPr>
        <p:spPr>
          <a:xfrm>
            <a:off x="1905000" y="1143001"/>
            <a:ext cx="8540750" cy="4498975"/>
          </a:xfrm>
        </p:spPr>
        <p:txBody>
          <a:bodyPr/>
          <a:lstStyle/>
          <a:p>
            <a:r>
              <a:rPr lang="zh-CN" altLang="en-US" sz="2400">
                <a:latin typeface="Times New Roman" panose="02020603050405020304" pitchFamily="18" charset="0"/>
                <a:cs typeface="Times New Roman" panose="02020603050405020304" pitchFamily="18" charset="0"/>
              </a:rPr>
              <a:t>编程实现：提供任一个</a:t>
            </a:r>
            <a:r>
              <a:rPr lang="en-US" altLang="zh-CN" sz="2400">
                <a:latin typeface="Times New Roman" panose="02020603050405020304" pitchFamily="18" charset="0"/>
                <a:cs typeface="Times New Roman" panose="02020603050405020304" pitchFamily="18" charset="0"/>
              </a:rPr>
              <a:t>url</a:t>
            </a:r>
            <a:r>
              <a:rPr lang="zh-CN" altLang="en-US" sz="2400">
                <a:latin typeface="Times New Roman" panose="02020603050405020304" pitchFamily="18" charset="0"/>
                <a:cs typeface="Times New Roman" panose="02020603050405020304" pitchFamily="18" charset="0"/>
              </a:rPr>
              <a:t>，在控制台显示输出</a:t>
            </a:r>
            <a:r>
              <a:rPr lang="en-US" altLang="zh-CN" sz="2400">
                <a:latin typeface="Times New Roman" panose="02020603050405020304" pitchFamily="18" charset="0"/>
                <a:cs typeface="Times New Roman" panose="02020603050405020304" pitchFamily="18" charset="0"/>
              </a:rPr>
              <a:t>HTTP</a:t>
            </a:r>
            <a:r>
              <a:rPr lang="zh-CN" altLang="en-US" sz="2400">
                <a:latin typeface="Times New Roman" panose="02020603050405020304" pitchFamily="18" charset="0"/>
                <a:cs typeface="Times New Roman" panose="02020603050405020304" pitchFamily="18" charset="0"/>
              </a:rPr>
              <a:t>服务器响应整个头部。</a:t>
            </a:r>
            <a:endParaRPr lang="en-US" altLang="zh-CN" sz="24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演示例子代码</a:t>
            </a:r>
            <a:r>
              <a:rPr lang="en-US" altLang="zh-CN" sz="2400">
                <a:latin typeface="Times New Roman" panose="02020603050405020304" pitchFamily="18" charset="0"/>
                <a:cs typeface="Times New Roman" panose="02020603050405020304" pitchFamily="18" charset="0"/>
              </a:rPr>
              <a:t>ch7. AllHeaders.java</a:t>
            </a:r>
          </a:p>
          <a:p>
            <a:r>
              <a:rPr lang="zh-CN" altLang="en-US" sz="2400">
                <a:latin typeface="Times New Roman" panose="02020603050405020304" pitchFamily="18" charset="0"/>
                <a:cs typeface="Times New Roman" panose="02020603050405020304" pitchFamily="18" charset="0"/>
              </a:rPr>
              <a:t>输入参数 </a:t>
            </a:r>
            <a:r>
              <a:rPr lang="en-US" altLang="zh-CN" sz="2400">
                <a:latin typeface="Times New Roman" panose="02020603050405020304" pitchFamily="18" charset="0"/>
                <a:cs typeface="Times New Roman" panose="02020603050405020304" pitchFamily="18" charset="0"/>
              </a:rPr>
              <a:t>http://www.szu.edu.cn/szu.asp</a:t>
            </a:r>
            <a:r>
              <a:rPr lang="zh-CN" altLang="en-US" sz="2400">
                <a:latin typeface="Times New Roman" panose="02020603050405020304" pitchFamily="18" charset="0"/>
                <a:cs typeface="Times New Roman" panose="02020603050405020304" pitchFamily="18" charset="0"/>
              </a:rPr>
              <a:t>，运行结果：</a:t>
            </a:r>
            <a:endParaRPr lang="en-US" altLang="zh-CN" sz="2400">
              <a:latin typeface="Times New Roman" panose="02020603050405020304" pitchFamily="18" charset="0"/>
              <a:cs typeface="Times New Roman" panose="02020603050405020304" pitchFamily="18" charset="0"/>
            </a:endParaRPr>
          </a:p>
          <a:p>
            <a:endParaRPr lang="en-US" altLang="zh-CN" sz="2800">
              <a:latin typeface="Times New Roman" panose="02020603050405020304" pitchFamily="18" charset="0"/>
              <a:cs typeface="Times New Roman" panose="02020603050405020304" pitchFamily="18" charset="0"/>
            </a:endParaRPr>
          </a:p>
        </p:txBody>
      </p:sp>
      <p:pic>
        <p:nvPicPr>
          <p:cNvPr id="57346" name="Picture 2">
            <a:extLst>
              <a:ext uri="{FF2B5EF4-FFF2-40B4-BE49-F238E27FC236}">
                <a16:creationId xmlns:a16="http://schemas.microsoft.com/office/drawing/2014/main" id="{8945D791-F7EC-4502-98A9-19F928DD1D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048000"/>
            <a:ext cx="8320088"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2881FC07-E914-4FC9-A818-1F518B18785E}"/>
              </a:ext>
            </a:extLst>
          </p:cNvPr>
          <p:cNvSpPr txBox="1">
            <a:spLocks noChangeArrowheads="1"/>
          </p:cNvSpPr>
          <p:nvPr/>
        </p:nvSpPr>
        <p:spPr bwMode="auto">
          <a:xfrm>
            <a:off x="5334000" y="5867400"/>
            <a:ext cx="3962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a:solidFill>
                  <a:srgbClr val="FF0000"/>
                </a:solidFill>
              </a:rPr>
              <a:t>不同服务器可能有不同的首部集。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734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EEDD1648-A68B-4796-A58B-ECED120C3CE6}"/>
              </a:ext>
            </a:extLst>
          </p:cNvPr>
          <p:cNvSpPr>
            <a:spLocks noGrp="1"/>
          </p:cNvSpPr>
          <p:nvPr>
            <p:ph type="title"/>
          </p:nvPr>
        </p:nvSpPr>
        <p:spPr>
          <a:xfrm>
            <a:off x="1558925" y="115889"/>
            <a:ext cx="8540750" cy="719137"/>
          </a:xfrm>
        </p:spPr>
        <p:txBody>
          <a:bodyPr/>
          <a:lstStyle/>
          <a:p>
            <a:pPr algn="l"/>
            <a:r>
              <a:rPr lang="zh-CN" altLang="en-US" sz="2800"/>
              <a:t>使用获取任意首部字段方法显示整个</a:t>
            </a:r>
            <a:r>
              <a:rPr lang="en-US" altLang="zh-CN" sz="2800"/>
              <a:t>HTTP</a:t>
            </a:r>
            <a:r>
              <a:rPr lang="zh-CN" altLang="en-US" sz="2800"/>
              <a:t>请求</a:t>
            </a:r>
          </a:p>
        </p:txBody>
      </p:sp>
      <p:pic>
        <p:nvPicPr>
          <p:cNvPr id="45059" name="图片 4">
            <a:extLst>
              <a:ext uri="{FF2B5EF4-FFF2-40B4-BE49-F238E27FC236}">
                <a16:creationId xmlns:a16="http://schemas.microsoft.com/office/drawing/2014/main" id="{8BD187F6-DB35-4AB4-8FA1-019FF265DAC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73214" y="115889"/>
            <a:ext cx="9018587" cy="649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文本框 8">
            <a:extLst>
              <a:ext uri="{FF2B5EF4-FFF2-40B4-BE49-F238E27FC236}">
                <a16:creationId xmlns:a16="http://schemas.microsoft.com/office/drawing/2014/main" id="{6CDA5E41-A8B2-4AA8-86F5-8DE4A7624D5B}"/>
              </a:ext>
            </a:extLst>
          </p:cNvPr>
          <p:cNvSpPr txBox="1">
            <a:spLocks noChangeArrowheads="1"/>
          </p:cNvSpPr>
          <p:nvPr/>
        </p:nvSpPr>
        <p:spPr bwMode="auto">
          <a:xfrm>
            <a:off x="5243514" y="6246813"/>
            <a:ext cx="16779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solidFill>
                  <a:srgbClr val="FF0000"/>
                </a:solidFill>
                <a:latin typeface="Times New Roman" panose="02020603050405020304" pitchFamily="18" charset="0"/>
                <a:cs typeface="Times New Roman" panose="02020603050405020304" pitchFamily="18" charset="0"/>
              </a:rPr>
              <a:t>AllHeaders.java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B59067C9-16CC-49E0-856A-E3F083F98919}"/>
              </a:ext>
            </a:extLst>
          </p:cNvPr>
          <p:cNvSpPr>
            <a:spLocks noGrp="1"/>
          </p:cNvSpPr>
          <p:nvPr>
            <p:ph type="title"/>
          </p:nvPr>
        </p:nvSpPr>
        <p:spPr>
          <a:xfrm>
            <a:off x="1825625" y="228600"/>
            <a:ext cx="8540750" cy="685800"/>
          </a:xfrm>
        </p:spPr>
        <p:txBody>
          <a:bodyPr/>
          <a:lstStyle/>
          <a:p>
            <a:pPr algn="l"/>
            <a:r>
              <a:rPr lang="zh-CN" altLang="en-US" sz="3200"/>
              <a:t>获得任意头字段的方法</a:t>
            </a:r>
          </a:p>
        </p:txBody>
      </p:sp>
      <p:sp>
        <p:nvSpPr>
          <p:cNvPr id="46083" name="内容占位符 2">
            <a:extLst>
              <a:ext uri="{FF2B5EF4-FFF2-40B4-BE49-F238E27FC236}">
                <a16:creationId xmlns:a16="http://schemas.microsoft.com/office/drawing/2014/main" id="{EE491009-54BF-41D8-852A-A8B810B3ECBE}"/>
              </a:ext>
            </a:extLst>
          </p:cNvPr>
          <p:cNvSpPr>
            <a:spLocks noGrp="1"/>
          </p:cNvSpPr>
          <p:nvPr>
            <p:ph idx="1"/>
          </p:nvPr>
        </p:nvSpPr>
        <p:spPr>
          <a:xfrm>
            <a:off x="1905000" y="1143001"/>
            <a:ext cx="8540750" cy="4498975"/>
          </a:xfrm>
        </p:spPr>
        <p:txBody>
          <a:bodyPr/>
          <a:lstStyle/>
          <a:p>
            <a:r>
              <a:rPr lang="en-US" altLang="zh-CN" sz="2800">
                <a:latin typeface="Times New Roman" panose="02020603050405020304" pitchFamily="18" charset="0"/>
                <a:cs typeface="Times New Roman" panose="02020603050405020304" pitchFamily="18" charset="0"/>
              </a:rPr>
              <a:t>public String getHeaderFieldKey(int n)</a:t>
            </a:r>
          </a:p>
          <a:p>
            <a:pPr lvl="1">
              <a:buFont typeface="Wingdings" panose="05000000000000000000" pitchFamily="2" charset="2"/>
              <a:buChar char="p"/>
            </a:pPr>
            <a:r>
              <a:rPr lang="zh-CN" altLang="en-US" sz="2400">
                <a:latin typeface="Times New Roman" panose="02020603050405020304" pitchFamily="18" charset="0"/>
                <a:cs typeface="Times New Roman" panose="02020603050405020304" pitchFamily="18" charset="0"/>
              </a:rPr>
              <a:t>第</a:t>
            </a:r>
            <a:r>
              <a:rPr lang="en-US" altLang="zh-CN" sz="2400">
                <a:latin typeface="Times New Roman" panose="02020603050405020304" pitchFamily="18" charset="0"/>
                <a:cs typeface="Times New Roman" panose="02020603050405020304" pitchFamily="18" charset="0"/>
              </a:rPr>
              <a:t>n</a:t>
            </a:r>
            <a:r>
              <a:rPr lang="zh-CN" altLang="en-US" sz="2400">
                <a:latin typeface="Times New Roman" panose="02020603050405020304" pitchFamily="18" charset="0"/>
                <a:cs typeface="Times New Roman" panose="02020603050405020304" pitchFamily="18" charset="0"/>
              </a:rPr>
              <a:t>个字段名</a:t>
            </a:r>
            <a:endParaRPr lang="en-US" altLang="zh-CN" sz="2400">
              <a:latin typeface="Times New Roman" panose="02020603050405020304" pitchFamily="18" charset="0"/>
              <a:cs typeface="Times New Roman" panose="02020603050405020304" pitchFamily="18" charset="0"/>
            </a:endParaRPr>
          </a:p>
          <a:p>
            <a:r>
              <a:rPr lang="en-US" altLang="zh-CN" sz="2800">
                <a:latin typeface="Times New Roman" panose="02020603050405020304" pitchFamily="18" charset="0"/>
                <a:cs typeface="Times New Roman" panose="02020603050405020304" pitchFamily="18" charset="0"/>
              </a:rPr>
              <a:t>public String getHeaderField(int n)</a:t>
            </a:r>
          </a:p>
          <a:p>
            <a:pPr lvl="1">
              <a:buFont typeface="Wingdings" panose="05000000000000000000" pitchFamily="2" charset="2"/>
              <a:buChar char="p"/>
            </a:pPr>
            <a:r>
              <a:rPr lang="zh-CN" altLang="en-US" sz="2400">
                <a:latin typeface="Times New Roman" panose="02020603050405020304" pitchFamily="18" charset="0"/>
                <a:cs typeface="Times New Roman" panose="02020603050405020304" pitchFamily="18" charset="0"/>
              </a:rPr>
              <a:t>第</a:t>
            </a:r>
            <a:r>
              <a:rPr lang="en-US" altLang="zh-CN" sz="2400">
                <a:latin typeface="Times New Roman" panose="02020603050405020304" pitchFamily="18" charset="0"/>
                <a:cs typeface="Times New Roman" panose="02020603050405020304" pitchFamily="18" charset="0"/>
              </a:rPr>
              <a:t>n</a:t>
            </a:r>
            <a:r>
              <a:rPr lang="zh-CN" altLang="en-US" sz="2400">
                <a:latin typeface="Times New Roman" panose="02020603050405020304" pitchFamily="18" charset="0"/>
                <a:cs typeface="Times New Roman" panose="02020603050405020304" pitchFamily="18" charset="0"/>
              </a:rPr>
              <a:t>个字段值</a:t>
            </a:r>
            <a:endParaRPr lang="en-US" altLang="zh-CN" sz="2400">
              <a:latin typeface="Times New Roman" panose="02020603050405020304" pitchFamily="18" charset="0"/>
              <a:cs typeface="Times New Roman" panose="02020603050405020304" pitchFamily="18" charset="0"/>
            </a:endParaRPr>
          </a:p>
          <a:p>
            <a:r>
              <a:rPr lang="zh-CN" altLang="en-US" sz="2800">
                <a:latin typeface="Times New Roman" panose="02020603050405020304" pitchFamily="18" charset="0"/>
                <a:cs typeface="Times New Roman" panose="02020603050405020304" pitchFamily="18" charset="0"/>
              </a:rPr>
              <a:t>这两个方法可以实现对所有头字段的遍历</a:t>
            </a:r>
            <a:endParaRPr lang="en-US" altLang="zh-CN" sz="2800">
              <a:latin typeface="Times New Roman" panose="02020603050405020304" pitchFamily="18" charset="0"/>
              <a:cs typeface="Times New Roman" panose="02020603050405020304" pitchFamily="18" charset="0"/>
            </a:endParaRPr>
          </a:p>
          <a:p>
            <a:r>
              <a:rPr lang="zh-CN" altLang="en-US" sz="2800">
                <a:latin typeface="Times New Roman" panose="02020603050405020304" pitchFamily="18" charset="0"/>
                <a:cs typeface="Times New Roman" panose="02020603050405020304" pitchFamily="18" charset="0"/>
              </a:rPr>
              <a:t>（因为无法预知</a:t>
            </a:r>
            <a:r>
              <a:rPr lang="en-US" altLang="zh-CN" sz="2800">
                <a:latin typeface="Times New Roman" panose="02020603050405020304" pitchFamily="18" charset="0"/>
                <a:cs typeface="Times New Roman" panose="02020603050405020304" pitchFamily="18" charset="0"/>
              </a:rPr>
              <a:t>HTTP</a:t>
            </a:r>
            <a:r>
              <a:rPr lang="zh-CN" altLang="en-US" sz="2800">
                <a:latin typeface="Times New Roman" panose="02020603050405020304" pitchFamily="18" charset="0"/>
                <a:cs typeface="Times New Roman" panose="02020603050405020304" pitchFamily="18" charset="0"/>
              </a:rPr>
              <a:t>服务器会发送哪些字段）</a:t>
            </a:r>
            <a:endParaRPr lang="en-US" altLang="zh-CN"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599B045C-E75F-4C00-BD5B-C7F8CD628426}"/>
              </a:ext>
            </a:extLst>
          </p:cNvPr>
          <p:cNvSpPr>
            <a:spLocks noGrp="1"/>
          </p:cNvSpPr>
          <p:nvPr>
            <p:ph type="title"/>
          </p:nvPr>
        </p:nvSpPr>
        <p:spPr>
          <a:xfrm>
            <a:off x="1676400" y="152400"/>
            <a:ext cx="8540750" cy="609600"/>
          </a:xfrm>
        </p:spPr>
        <p:txBody>
          <a:bodyPr/>
          <a:lstStyle/>
          <a:p>
            <a:pPr algn="l"/>
            <a:r>
              <a:rPr lang="en-US" altLang="zh-CN" sz="3200"/>
              <a:t>3.Web</a:t>
            </a:r>
            <a:r>
              <a:rPr lang="zh-CN" altLang="en-US" sz="3200"/>
              <a:t>缓存</a:t>
            </a:r>
          </a:p>
        </p:txBody>
      </p:sp>
      <p:sp>
        <p:nvSpPr>
          <p:cNvPr id="18435" name="内容占位符 2">
            <a:extLst>
              <a:ext uri="{FF2B5EF4-FFF2-40B4-BE49-F238E27FC236}">
                <a16:creationId xmlns:a16="http://schemas.microsoft.com/office/drawing/2014/main" id="{B32683BD-08EC-4E29-A127-27E018CC580D}"/>
              </a:ext>
            </a:extLst>
          </p:cNvPr>
          <p:cNvSpPr>
            <a:spLocks noGrp="1"/>
          </p:cNvSpPr>
          <p:nvPr>
            <p:ph idx="1"/>
          </p:nvPr>
        </p:nvSpPr>
        <p:spPr>
          <a:xfrm>
            <a:off x="1905000" y="1143001"/>
            <a:ext cx="8540750" cy="4498975"/>
          </a:xfrm>
        </p:spPr>
        <p:txBody>
          <a:bodyPr/>
          <a:lstStyle/>
          <a:p>
            <a:r>
              <a:rPr lang="zh-CN" altLang="en-US" sz="2400">
                <a:latin typeface="Times New Roman" panose="02020603050405020304" pitchFamily="18" charset="0"/>
                <a:cs typeface="Times New Roman" panose="02020603050405020304" pitchFamily="18" charset="0"/>
              </a:rPr>
              <a:t>为啥需要缓存？</a:t>
            </a:r>
            <a:endParaRPr lang="en-US" altLang="zh-CN" sz="24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比如</a:t>
            </a:r>
            <a:r>
              <a:rPr lang="en-US" altLang="zh-CN" sz="2400">
                <a:latin typeface="Times New Roman" panose="02020603050405020304" pitchFamily="18" charset="0"/>
                <a:cs typeface="Times New Roman" panose="02020603050405020304" pitchFamily="18" charset="0"/>
              </a:rPr>
              <a:t>Web</a:t>
            </a:r>
            <a:r>
              <a:rPr lang="zh-CN" altLang="en-US" sz="2400">
                <a:latin typeface="Times New Roman" panose="02020603050405020304" pitchFamily="18" charset="0"/>
                <a:cs typeface="Times New Roman" panose="02020603050405020304" pitchFamily="18" charset="0"/>
              </a:rPr>
              <a:t>浏览器从远程</a:t>
            </a:r>
            <a:r>
              <a:rPr lang="en-US" altLang="zh-CN" sz="2400">
                <a:latin typeface="Times New Roman" panose="02020603050405020304" pitchFamily="18" charset="0"/>
                <a:cs typeface="Times New Roman" panose="02020603050405020304" pitchFamily="18" charset="0"/>
              </a:rPr>
              <a:t>HTTP</a:t>
            </a:r>
            <a:r>
              <a:rPr lang="zh-CN" altLang="en-US" sz="2400">
                <a:latin typeface="Times New Roman" panose="02020603050405020304" pitchFamily="18" charset="0"/>
                <a:cs typeface="Times New Roman" panose="02020603050405020304" pitchFamily="18" charset="0"/>
              </a:rPr>
              <a:t>服务器请求加载一次一个页面和图片后，保存在本地缓存中，每次需要时从缓存加载，不是每次都从远程服务器加载。</a:t>
            </a:r>
            <a:endParaRPr lang="en-US" altLang="zh-CN" sz="24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默认：使用</a:t>
            </a:r>
            <a:r>
              <a:rPr lang="en-US" altLang="zh-CN" sz="2400">
                <a:latin typeface="Times New Roman" panose="02020603050405020304" pitchFamily="18" charset="0"/>
                <a:cs typeface="Times New Roman" panose="02020603050405020304" pitchFamily="18" charset="0"/>
              </a:rPr>
              <a:t>GET</a:t>
            </a:r>
            <a:r>
              <a:rPr lang="zh-CN" altLang="en-US" sz="2400">
                <a:latin typeface="Times New Roman" panose="02020603050405020304" pitchFamily="18" charset="0"/>
                <a:cs typeface="Times New Roman" panose="02020603050405020304" pitchFamily="18" charset="0"/>
              </a:rPr>
              <a:t>通过</a:t>
            </a:r>
            <a:r>
              <a:rPr lang="en-US" altLang="zh-CN" sz="2400">
                <a:latin typeface="Times New Roman" panose="02020603050405020304" pitchFamily="18" charset="0"/>
                <a:cs typeface="Times New Roman" panose="02020603050405020304" pitchFamily="18" charset="0"/>
              </a:rPr>
              <a:t>HTTP</a:t>
            </a:r>
            <a:r>
              <a:rPr lang="zh-CN" altLang="en-US" sz="2400">
                <a:latin typeface="Times New Roman" panose="02020603050405020304" pitchFamily="18" charset="0"/>
                <a:cs typeface="Times New Roman" panose="02020603050405020304" pitchFamily="18" charset="0"/>
              </a:rPr>
              <a:t>访问的页面可以缓存，也应缓存。使用</a:t>
            </a:r>
            <a:r>
              <a:rPr lang="en-US" altLang="zh-CN" sz="2400">
                <a:latin typeface="Times New Roman" panose="02020603050405020304" pitchFamily="18" charset="0"/>
                <a:cs typeface="Times New Roman" panose="02020603050405020304" pitchFamily="18" charset="0"/>
              </a:rPr>
              <a:t>HTTPS</a:t>
            </a:r>
            <a:r>
              <a:rPr lang="zh-CN" altLang="en-US" sz="2400">
                <a:latin typeface="Times New Roman" panose="02020603050405020304" pitchFamily="18" charset="0"/>
                <a:cs typeface="Times New Roman" panose="02020603050405020304" pitchFamily="18" charset="0"/>
              </a:rPr>
              <a:t>或</a:t>
            </a:r>
            <a:r>
              <a:rPr lang="en-US" altLang="zh-CN" sz="2400">
                <a:latin typeface="Times New Roman" panose="02020603050405020304" pitchFamily="18" charset="0"/>
                <a:cs typeface="Times New Roman" panose="02020603050405020304" pitchFamily="18" charset="0"/>
              </a:rPr>
              <a:t>POST</a:t>
            </a:r>
            <a:r>
              <a:rPr lang="zh-CN" altLang="en-US" sz="2400">
                <a:latin typeface="Times New Roman" panose="02020603050405020304" pitchFamily="18" charset="0"/>
                <a:cs typeface="Times New Roman" panose="02020603050405020304" pitchFamily="18" charset="0"/>
              </a:rPr>
              <a:t>访问的页面不应缓存。</a:t>
            </a:r>
            <a:endParaRPr lang="en-US" altLang="zh-CN" sz="24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通过检查和使用</a:t>
            </a:r>
            <a:r>
              <a:rPr lang="en-US" altLang="zh-CN" sz="2400">
                <a:latin typeface="Times New Roman" panose="02020603050405020304" pitchFamily="18" charset="0"/>
                <a:cs typeface="Times New Roman" panose="02020603050405020304" pitchFamily="18" charset="0"/>
              </a:rPr>
              <a:t>HTTP</a:t>
            </a:r>
            <a:r>
              <a:rPr lang="zh-CN" altLang="en-US" sz="2400">
                <a:latin typeface="Times New Roman" panose="02020603050405020304" pitchFamily="18" charset="0"/>
                <a:cs typeface="Times New Roman" panose="02020603050405020304" pitchFamily="18" charset="0"/>
              </a:rPr>
              <a:t>响应头部</a:t>
            </a:r>
            <a:r>
              <a:rPr lang="en-US" altLang="zh-CN" sz="2400">
                <a:latin typeface="Times New Roman" panose="02020603050405020304" pitchFamily="18" charset="0"/>
                <a:cs typeface="Times New Roman" panose="02020603050405020304" pitchFamily="18" charset="0"/>
              </a:rPr>
              <a:t>(Expires</a:t>
            </a:r>
            <a:r>
              <a:rPr lang="zh-CN" altLang="en-US" sz="2400">
                <a:latin typeface="Times New Roman" panose="02020603050405020304" pitchFamily="18" charset="0"/>
                <a:cs typeface="Times New Roman" panose="02020603050405020304" pitchFamily="18" charset="0"/>
              </a:rPr>
              <a:t>和</a:t>
            </a:r>
            <a:r>
              <a:rPr lang="en-US" altLang="zh-CN" sz="2400">
                <a:latin typeface="Times New Roman" panose="02020603050405020304" pitchFamily="18" charset="0"/>
                <a:cs typeface="Times New Roman" panose="02020603050405020304" pitchFamily="18" charset="0"/>
              </a:rPr>
              <a:t>Cache-Contorl)</a:t>
            </a:r>
            <a:r>
              <a:rPr lang="zh-CN" altLang="en-US" sz="2400">
                <a:latin typeface="Times New Roman" panose="02020603050405020304" pitchFamily="18" charset="0"/>
                <a:cs typeface="Times New Roman" panose="02020603050405020304" pitchFamily="18" charset="0"/>
              </a:rPr>
              <a:t>可以控制缓存</a:t>
            </a:r>
            <a:endParaRPr lang="en-US" altLang="zh-CN" sz="2400">
              <a:latin typeface="Times New Roman" panose="02020603050405020304" pitchFamily="18" charset="0"/>
              <a:cs typeface="Times New Roman" panose="02020603050405020304" pitchFamily="18" charset="0"/>
            </a:endParaRPr>
          </a:p>
          <a:p>
            <a:r>
              <a:rPr lang="en-US" altLang="zh-CN" sz="2400">
                <a:latin typeface="Times New Roman" panose="02020603050405020304" pitchFamily="18" charset="0"/>
                <a:cs typeface="Times New Roman" panose="02020603050405020304" pitchFamily="18" charset="0"/>
              </a:rPr>
              <a:t>Expires</a:t>
            </a:r>
            <a:r>
              <a:rPr lang="zh-CN" altLang="en-US" sz="2400">
                <a:latin typeface="Times New Roman" panose="02020603050405020304" pitchFamily="18" charset="0"/>
                <a:cs typeface="Times New Roman" panose="02020603050405020304" pitchFamily="18" charset="0"/>
              </a:rPr>
              <a:t>：指示可以缓存这个资源的表示，直到指定的时间为止。</a:t>
            </a:r>
            <a:endParaRPr lang="en-US" altLang="zh-CN" sz="2400">
              <a:latin typeface="Times New Roman" panose="02020603050405020304" pitchFamily="18" charset="0"/>
              <a:cs typeface="Times New Roman" panose="02020603050405020304" pitchFamily="18" charset="0"/>
            </a:endParaRPr>
          </a:p>
          <a:p>
            <a:r>
              <a:rPr lang="en-US" altLang="zh-CN" sz="2400">
                <a:latin typeface="Times New Roman" panose="02020603050405020304" pitchFamily="18" charset="0"/>
                <a:cs typeface="Times New Roman" panose="02020603050405020304" pitchFamily="18" charset="0"/>
              </a:rPr>
              <a:t>Cache-Control:</a:t>
            </a:r>
            <a:r>
              <a:rPr lang="zh-CN" altLang="en-US" sz="2400">
                <a:latin typeface="Times New Roman" panose="02020603050405020304" pitchFamily="18" charset="0"/>
                <a:cs typeface="Times New Roman" panose="02020603050405020304" pitchFamily="18" charset="0"/>
              </a:rPr>
              <a:t>提供了细粒度的缓冲策略。（课后熟悉</a:t>
            </a:r>
            <a:r>
              <a:rPr lang="en-US" altLang="zh-CN" sz="2400">
                <a:latin typeface="Times New Roman" panose="02020603050405020304" pitchFamily="18" charset="0"/>
                <a:cs typeface="Times New Roman" panose="02020603050405020304" pitchFamily="18" charset="0"/>
              </a:rPr>
              <a:t>P198</a:t>
            </a:r>
            <a:r>
              <a:rPr lang="zh-CN" altLang="en-US" sz="2400">
                <a:latin typeface="Times New Roman" panose="02020603050405020304" pitchFamily="18" charset="0"/>
                <a:cs typeface="Times New Roman" panose="02020603050405020304" pitchFamily="18" charset="0"/>
              </a:rPr>
              <a:t>页各属性的含义）</a:t>
            </a:r>
            <a:endParaRPr lang="en-US" altLang="zh-CN"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B4F8F4CB-85C7-46EC-BBD5-17F4F6BA3203}"/>
              </a:ext>
            </a:extLst>
          </p:cNvPr>
          <p:cNvSpPr>
            <a:spLocks noGrp="1"/>
          </p:cNvSpPr>
          <p:nvPr>
            <p:ph type="title"/>
          </p:nvPr>
        </p:nvSpPr>
        <p:spPr>
          <a:xfrm>
            <a:off x="1676400" y="88901"/>
            <a:ext cx="8540750" cy="557213"/>
          </a:xfrm>
        </p:spPr>
        <p:txBody>
          <a:bodyPr/>
          <a:lstStyle/>
          <a:p>
            <a:pPr algn="l"/>
            <a:r>
              <a:rPr lang="en-US" altLang="zh-CN" sz="3200"/>
              <a:t>Web</a:t>
            </a:r>
            <a:r>
              <a:rPr lang="zh-CN" altLang="en-US" sz="3200"/>
              <a:t>缓存</a:t>
            </a:r>
          </a:p>
        </p:txBody>
      </p:sp>
      <p:sp>
        <p:nvSpPr>
          <p:cNvPr id="18435" name="内容占位符 2">
            <a:extLst>
              <a:ext uri="{FF2B5EF4-FFF2-40B4-BE49-F238E27FC236}">
                <a16:creationId xmlns:a16="http://schemas.microsoft.com/office/drawing/2014/main" id="{D5462912-42AF-4224-84E4-DFA6D3BD1B21}"/>
              </a:ext>
            </a:extLst>
          </p:cNvPr>
          <p:cNvSpPr>
            <a:spLocks noGrp="1"/>
          </p:cNvSpPr>
          <p:nvPr>
            <p:ph idx="1"/>
          </p:nvPr>
        </p:nvSpPr>
        <p:spPr>
          <a:xfrm>
            <a:off x="304800" y="666750"/>
            <a:ext cx="11582399" cy="5810250"/>
          </a:xfrm>
        </p:spPr>
        <p:txBody>
          <a:bodyPr/>
          <a:lstStyle/>
          <a:p>
            <a:r>
              <a:rPr lang="zh-CN" altLang="en-US" sz="2200" dirty="0">
                <a:latin typeface="Times New Roman" panose="02020603050405020304" pitchFamily="18" charset="0"/>
                <a:cs typeface="Times New Roman" panose="02020603050405020304" pitchFamily="18" charset="0"/>
              </a:rPr>
              <a:t>你的</a:t>
            </a:r>
            <a:r>
              <a:rPr lang="en-US" altLang="zh-CN" sz="2200" dirty="0">
                <a:latin typeface="Times New Roman" panose="02020603050405020304" pitchFamily="18" charset="0"/>
                <a:cs typeface="Times New Roman" panose="02020603050405020304" pitchFamily="18" charset="0"/>
              </a:rPr>
              <a:t>HTTP</a:t>
            </a:r>
            <a:r>
              <a:rPr lang="zh-CN" altLang="en-US" sz="2200" dirty="0">
                <a:latin typeface="Times New Roman" panose="02020603050405020304" pitchFamily="18" charset="0"/>
                <a:cs typeface="Times New Roman" panose="02020603050405020304" pitchFamily="18" charset="0"/>
              </a:rPr>
              <a:t>客户端程序查看到下面这个</a:t>
            </a:r>
            <a:r>
              <a:rPr lang="en-US" altLang="zh-CN" sz="2200" dirty="0">
                <a:latin typeface="Times New Roman" panose="02020603050405020304" pitchFamily="18" charset="0"/>
                <a:cs typeface="Times New Roman" panose="02020603050405020304" pitchFamily="18" charset="0"/>
              </a:rPr>
              <a:t>HTTP</a:t>
            </a:r>
            <a:r>
              <a:rPr lang="zh-CN" altLang="en-US" sz="2200" dirty="0">
                <a:latin typeface="Times New Roman" panose="02020603050405020304" pitchFamily="18" charset="0"/>
                <a:cs typeface="Times New Roman" panose="02020603050405020304" pitchFamily="18" charset="0"/>
              </a:rPr>
              <a:t>响应头后，且本地缓存中有一个</a:t>
            </a:r>
            <a:r>
              <a:rPr lang="en-US" altLang="zh-CN" sz="2200" dirty="0" err="1">
                <a:latin typeface="Times New Roman" panose="02020603050405020304" pitchFamily="18" charset="0"/>
                <a:cs typeface="Times New Roman" panose="02020603050405020304" pitchFamily="18" charset="0"/>
              </a:rPr>
              <a:t>Etag</a:t>
            </a:r>
            <a:r>
              <a:rPr lang="zh-CN" altLang="en-US" sz="2200" dirty="0">
                <a:latin typeface="Times New Roman" panose="02020603050405020304" pitchFamily="18" charset="0"/>
                <a:cs typeface="Times New Roman" panose="02020603050405020304" pitchFamily="18" charset="0"/>
              </a:rPr>
              <a:t>为</a:t>
            </a:r>
            <a:r>
              <a:rPr lang="en-US" altLang="zh-CN" sz="2200" dirty="0">
                <a:latin typeface="Times New Roman" panose="02020603050405020304" pitchFamily="18" charset="0"/>
                <a:cs typeface="Times New Roman" panose="02020603050405020304" pitchFamily="18" charset="0"/>
              </a:rPr>
              <a:t>67099097696afcf1b67e</a:t>
            </a:r>
            <a:r>
              <a:rPr lang="zh-CN" altLang="en-US" sz="2200" dirty="0">
                <a:latin typeface="Times New Roman" panose="02020603050405020304" pitchFamily="18" charset="0"/>
                <a:cs typeface="Times New Roman" panose="02020603050405020304" pitchFamily="18" charset="0"/>
              </a:rPr>
              <a:t>的资源，是否还需加载整个文档？</a:t>
            </a:r>
            <a:endParaRPr lang="en-US" altLang="zh-CN" sz="2200" dirty="0">
              <a:latin typeface="Times New Roman" panose="02020603050405020304" pitchFamily="18" charset="0"/>
              <a:cs typeface="Times New Roman" panose="02020603050405020304" pitchFamily="18" charset="0"/>
            </a:endParaRPr>
          </a:p>
          <a:p>
            <a:endParaRPr lang="en-US" altLang="zh-CN" sz="22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200" dirty="0">
                <a:latin typeface="Times New Roman" panose="02020603050405020304" pitchFamily="18" charset="0"/>
                <a:cs typeface="Times New Roman" panose="02020603050405020304" pitchFamily="18" charset="0"/>
              </a:rPr>
              <a:t>HTTP</a:t>
            </a:r>
            <a:r>
              <a:rPr lang="zh-CN" altLang="en-US" sz="2200" dirty="0">
                <a:latin typeface="Times New Roman" panose="02020603050405020304" pitchFamily="18" charset="0"/>
                <a:cs typeface="Times New Roman" panose="02020603050405020304" pitchFamily="18" charset="0"/>
              </a:rPr>
              <a:t>客户端检查</a:t>
            </a:r>
            <a:r>
              <a:rPr lang="en-US" altLang="zh-CN" sz="2200" dirty="0">
                <a:latin typeface="Times New Roman" panose="02020603050405020304" pitchFamily="18" charset="0"/>
                <a:cs typeface="Times New Roman" panose="02020603050405020304" pitchFamily="18" charset="0"/>
              </a:rPr>
              <a:t>Cache-control</a:t>
            </a:r>
            <a:r>
              <a:rPr lang="zh-CN" altLang="en-US" sz="2200" dirty="0">
                <a:latin typeface="Times New Roman" panose="02020603050405020304" pitchFamily="18" charset="0"/>
                <a:cs typeface="Times New Roman" panose="02020603050405020304" pitchFamily="18" charset="0"/>
              </a:rPr>
              <a:t>头部，可以利用信息：</a:t>
            </a:r>
            <a:endParaRPr lang="en-US" altLang="zh-CN" sz="22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若本地缓存有此资源的一个表示，且未过期，可直接使用此资源，无需与服务器交互。</a:t>
            </a:r>
            <a:endParaRPr lang="en-US" altLang="zh-CN" sz="1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US" altLang="zh-CN" sz="1600" dirty="0">
                <a:latin typeface="Times New Roman" panose="02020603050405020304" pitchFamily="18" charset="0"/>
                <a:cs typeface="Times New Roman" panose="02020603050405020304" pitchFamily="18" charset="0"/>
              </a:rPr>
              <a:t>2.</a:t>
            </a:r>
            <a:r>
              <a:rPr lang="zh-CN" altLang="en-US" sz="1600" dirty="0">
                <a:latin typeface="Times New Roman" panose="02020603050405020304" pitchFamily="18" charset="0"/>
                <a:cs typeface="Times New Roman" panose="02020603050405020304" pitchFamily="18" charset="0"/>
              </a:rPr>
              <a:t>若本地缓存有此资源的一个表示，且已过期，在完成完整 </a:t>
            </a:r>
            <a:r>
              <a:rPr lang="en-US" altLang="zh-CN" sz="1600" dirty="0">
                <a:latin typeface="Times New Roman" panose="02020603050405020304" pitchFamily="18" charset="0"/>
                <a:cs typeface="Times New Roman" panose="02020603050405020304" pitchFamily="18" charset="0"/>
              </a:rPr>
              <a:t>GET</a:t>
            </a:r>
            <a:r>
              <a:rPr lang="zh-CN" altLang="en-US" sz="1600" dirty="0">
                <a:latin typeface="Times New Roman" panose="02020603050405020304" pitchFamily="18" charset="0"/>
                <a:cs typeface="Times New Roman" panose="02020603050405020304" pitchFamily="18" charset="0"/>
              </a:rPr>
              <a:t>之前，可检查服务器的</a:t>
            </a:r>
            <a:r>
              <a:rPr lang="en-US" altLang="zh-CN" sz="1600" dirty="0">
                <a:latin typeface="Times New Roman" panose="02020603050405020304" pitchFamily="18" charset="0"/>
                <a:cs typeface="Times New Roman" panose="02020603050405020304" pitchFamily="18" charset="0"/>
              </a:rPr>
              <a:t>HEAD</a:t>
            </a:r>
            <a:r>
              <a:rPr lang="zh-CN" altLang="en-US" sz="1600" dirty="0">
                <a:latin typeface="Times New Roman" panose="02020603050405020304" pitchFamily="18" charset="0"/>
                <a:cs typeface="Times New Roman" panose="02020603050405020304" pitchFamily="18" charset="0"/>
              </a:rPr>
              <a:t>首部，查看资源是否已改变。</a:t>
            </a:r>
            <a:endParaRPr lang="en-US" altLang="zh-CN" sz="16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p:txBody>
      </p:sp>
      <p:sp>
        <p:nvSpPr>
          <p:cNvPr id="48132" name="矩形 3">
            <a:extLst>
              <a:ext uri="{FF2B5EF4-FFF2-40B4-BE49-F238E27FC236}">
                <a16:creationId xmlns:a16="http://schemas.microsoft.com/office/drawing/2014/main" id="{E6E0C42E-3FD1-4E9F-9304-FD011EC415FD}"/>
              </a:ext>
            </a:extLst>
          </p:cNvPr>
          <p:cNvSpPr>
            <a:spLocks noChangeArrowheads="1"/>
          </p:cNvSpPr>
          <p:nvPr/>
        </p:nvSpPr>
        <p:spPr bwMode="auto">
          <a:xfrm>
            <a:off x="1828800" y="1600200"/>
            <a:ext cx="5334000" cy="31400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b="1" dirty="0">
                <a:solidFill>
                  <a:srgbClr val="FF0000"/>
                </a:solidFill>
                <a:latin typeface="Times New Roman" panose="02020603050405020304" pitchFamily="18" charset="0"/>
                <a:cs typeface="Times New Roman" panose="02020603050405020304" pitchFamily="18" charset="0"/>
              </a:rPr>
              <a:t>一个</a:t>
            </a:r>
            <a:r>
              <a:rPr lang="en-US" altLang="zh-CN" sz="1800" b="1" dirty="0">
                <a:solidFill>
                  <a:srgbClr val="FF0000"/>
                </a:solidFill>
                <a:latin typeface="Times New Roman" panose="02020603050405020304" pitchFamily="18" charset="0"/>
                <a:cs typeface="Times New Roman" panose="02020603050405020304" pitchFamily="18" charset="0"/>
              </a:rPr>
              <a:t>HTTP</a:t>
            </a:r>
            <a:r>
              <a:rPr lang="zh-CN" altLang="en-US" sz="1800" b="1" dirty="0">
                <a:solidFill>
                  <a:srgbClr val="FF0000"/>
                </a:solidFill>
                <a:latin typeface="Times New Roman" panose="02020603050405020304" pitchFamily="18" charset="0"/>
                <a:cs typeface="Times New Roman" panose="02020603050405020304" pitchFamily="18" charset="0"/>
              </a:rPr>
              <a:t>响应头部：</a:t>
            </a:r>
            <a:endParaRPr lang="en-US" altLang="zh-CN" sz="1800" b="1"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1800" b="1"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800" dirty="0">
                <a:latin typeface="Times New Roman" panose="02020603050405020304" pitchFamily="18" charset="0"/>
                <a:cs typeface="Times New Roman" panose="02020603050405020304" pitchFamily="18" charset="0"/>
              </a:rPr>
              <a:t>HTTP/1.1  200 OK</a:t>
            </a:r>
          </a:p>
          <a:p>
            <a:pPr>
              <a:spcBef>
                <a:spcPct val="0"/>
              </a:spcBef>
              <a:buClrTx/>
              <a:buSzTx/>
              <a:buFontTx/>
              <a:buNone/>
            </a:pPr>
            <a:r>
              <a:rPr lang="en-US" altLang="zh-CN" sz="1800" dirty="0">
                <a:latin typeface="Times New Roman" panose="02020603050405020304" pitchFamily="18" charset="0"/>
                <a:cs typeface="Times New Roman" panose="02020603050405020304" pitchFamily="18" charset="0"/>
              </a:rPr>
              <a:t>Date:  Sun, 21 Apr 2013  15:12:46 GMT</a:t>
            </a:r>
          </a:p>
          <a:p>
            <a:pPr>
              <a:spcBef>
                <a:spcPct val="0"/>
              </a:spcBef>
              <a:buClrTx/>
              <a:buSzTx/>
              <a:buFontTx/>
              <a:buNone/>
            </a:pPr>
            <a:r>
              <a:rPr lang="en-US" altLang="zh-CN" sz="1800" dirty="0">
                <a:latin typeface="Times New Roman" panose="02020603050405020304" pitchFamily="18" charset="0"/>
                <a:cs typeface="Times New Roman" panose="02020603050405020304" pitchFamily="18" charset="0"/>
              </a:rPr>
              <a:t>Server: Apache</a:t>
            </a:r>
          </a:p>
          <a:p>
            <a:pPr>
              <a:spcBef>
                <a:spcPct val="0"/>
              </a:spcBef>
              <a:buClrTx/>
              <a:buSzTx/>
              <a:buFontTx/>
              <a:buNone/>
            </a:pPr>
            <a:r>
              <a:rPr lang="en-US" altLang="zh-CN" sz="1800" dirty="0">
                <a:latin typeface="Times New Roman" panose="02020603050405020304" pitchFamily="18" charset="0"/>
                <a:cs typeface="Times New Roman" panose="02020603050405020304" pitchFamily="18" charset="0"/>
              </a:rPr>
              <a:t>Connection: close</a:t>
            </a:r>
          </a:p>
          <a:p>
            <a:pPr>
              <a:spcBef>
                <a:spcPct val="0"/>
              </a:spcBef>
              <a:buClrTx/>
              <a:buSzTx/>
              <a:buFontTx/>
              <a:buNone/>
            </a:pPr>
            <a:r>
              <a:rPr lang="en-US" altLang="zh-CN" sz="1800" dirty="0">
                <a:latin typeface="Times New Roman" panose="02020603050405020304" pitchFamily="18" charset="0"/>
                <a:cs typeface="Times New Roman" panose="02020603050405020304" pitchFamily="18" charset="0"/>
              </a:rPr>
              <a:t>Content-type:  text/html;  charset = iso-8859-1</a:t>
            </a:r>
          </a:p>
          <a:p>
            <a:pPr>
              <a:spcBef>
                <a:spcPct val="0"/>
              </a:spcBef>
              <a:buClrTx/>
              <a:buSzTx/>
              <a:buFontTx/>
              <a:buNone/>
            </a:pPr>
            <a:r>
              <a:rPr lang="en-US" altLang="zh-CN" sz="1800" dirty="0">
                <a:solidFill>
                  <a:srgbClr val="FF0000"/>
                </a:solidFill>
                <a:latin typeface="Times New Roman" panose="02020603050405020304" pitchFamily="18" charset="0"/>
                <a:cs typeface="Times New Roman" panose="02020603050405020304" pitchFamily="18" charset="0"/>
              </a:rPr>
              <a:t>Cache-control: max-age=604800</a:t>
            </a:r>
          </a:p>
          <a:p>
            <a:pPr>
              <a:spcBef>
                <a:spcPct val="0"/>
              </a:spcBef>
              <a:buClrTx/>
              <a:buSzTx/>
              <a:buFontTx/>
              <a:buNone/>
            </a:pPr>
            <a:r>
              <a:rPr lang="en-US" altLang="zh-CN" sz="1800" dirty="0">
                <a:latin typeface="Times New Roman" panose="02020603050405020304" pitchFamily="18" charset="0"/>
                <a:cs typeface="Times New Roman" panose="02020603050405020304" pitchFamily="18" charset="0"/>
              </a:rPr>
              <a:t>Expires: Sun,28 Apr 2013 15:12:46GMT</a:t>
            </a:r>
          </a:p>
          <a:p>
            <a:pPr>
              <a:spcBef>
                <a:spcPct val="0"/>
              </a:spcBef>
              <a:buClrTx/>
              <a:buSzTx/>
              <a:buFontTx/>
              <a:buNone/>
            </a:pPr>
            <a:r>
              <a:rPr lang="en-US" altLang="zh-CN" sz="1800" dirty="0">
                <a:solidFill>
                  <a:srgbClr val="FF0000"/>
                </a:solidFill>
                <a:latin typeface="Times New Roman" panose="02020603050405020304" pitchFamily="18" charset="0"/>
                <a:cs typeface="Times New Roman" panose="02020603050405020304" pitchFamily="18" charset="0"/>
              </a:rPr>
              <a:t>Last-modified: Sat, 20 Apr 2013 09:55:04 GMT</a:t>
            </a:r>
          </a:p>
          <a:p>
            <a:pPr>
              <a:spcBef>
                <a:spcPct val="0"/>
              </a:spcBef>
              <a:buClrTx/>
              <a:buSzTx/>
              <a:buFontTx/>
              <a:buNone/>
            </a:pPr>
            <a:r>
              <a:rPr lang="en-US" altLang="zh-CN" sz="1800" dirty="0" err="1">
                <a:latin typeface="Times New Roman" panose="02020603050405020304" pitchFamily="18" charset="0"/>
                <a:cs typeface="Times New Roman" panose="02020603050405020304" pitchFamily="18" charset="0"/>
              </a:rPr>
              <a:t>Etag</a:t>
            </a:r>
            <a:r>
              <a:rPr lang="en-US" altLang="zh-CN" sz="1800" dirty="0">
                <a:latin typeface="Times New Roman" panose="02020603050405020304" pitchFamily="18" charset="0"/>
                <a:cs typeface="Times New Roman" panose="02020603050405020304" pitchFamily="18" charset="0"/>
              </a:rPr>
              <a:t>: “67099097696afcf1b67e”</a:t>
            </a:r>
          </a:p>
        </p:txBody>
      </p:sp>
      <p:sp>
        <p:nvSpPr>
          <p:cNvPr id="7" name="矩形 6">
            <a:extLst>
              <a:ext uri="{FF2B5EF4-FFF2-40B4-BE49-F238E27FC236}">
                <a16:creationId xmlns:a16="http://schemas.microsoft.com/office/drawing/2014/main" id="{16068501-0716-47F2-B607-775C820F6E26}"/>
              </a:ext>
            </a:extLst>
          </p:cNvPr>
          <p:cNvSpPr>
            <a:spLocks noChangeArrowheads="1"/>
          </p:cNvSpPr>
          <p:nvPr/>
        </p:nvSpPr>
        <p:spPr bwMode="auto">
          <a:xfrm>
            <a:off x="7836693" y="2371725"/>
            <a:ext cx="34163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2" panose="05020102010507070707" pitchFamily="18" charset="2"/>
              <a:buNone/>
            </a:pPr>
            <a:r>
              <a:rPr lang="zh-CN" altLang="en-US" sz="1800" dirty="0"/>
              <a:t>资源可以缓存</a:t>
            </a:r>
            <a:r>
              <a:rPr lang="en-US" altLang="zh-CN" sz="1800" dirty="0">
                <a:solidFill>
                  <a:srgbClr val="FF0000"/>
                </a:solidFill>
                <a:latin typeface="Times New Roman" panose="02020603050405020304" pitchFamily="18" charset="0"/>
                <a:cs typeface="Times New Roman" panose="02020603050405020304" pitchFamily="18" charset="0"/>
              </a:rPr>
              <a:t>604800</a:t>
            </a:r>
          </a:p>
          <a:p>
            <a:pPr>
              <a:spcBef>
                <a:spcPct val="0"/>
              </a:spcBef>
              <a:buClrTx/>
              <a:buSzTx/>
              <a:buFontTx/>
              <a:buNone/>
            </a:pPr>
            <a:r>
              <a:rPr lang="zh-CN" altLang="en-US" sz="1800" dirty="0"/>
              <a:t>秒，即缓存到一周以后。</a:t>
            </a:r>
            <a:endParaRPr lang="en-US" altLang="zh-CN" sz="1800" dirty="0"/>
          </a:p>
          <a:p>
            <a:pPr>
              <a:spcBef>
                <a:spcPct val="0"/>
              </a:spcBef>
              <a:buClrTx/>
              <a:buSzTx/>
              <a:buFontTx/>
              <a:buNone/>
            </a:pPr>
            <a:r>
              <a:rPr lang="zh-CN" altLang="en-US" sz="1800" dirty="0"/>
              <a:t>缓存中已经有一个更新的副本。</a:t>
            </a:r>
            <a:endParaRPr lang="en-US" altLang="zh-CN" sz="1800" dirty="0"/>
          </a:p>
          <a:p>
            <a:pPr>
              <a:spcBef>
                <a:spcPct val="0"/>
              </a:spcBef>
              <a:buClrTx/>
              <a:buSzTx/>
              <a:buFontTx/>
              <a:buNone/>
            </a:pPr>
            <a:r>
              <a:rPr lang="zh-CN" altLang="en-US" sz="1800" dirty="0"/>
              <a:t>无需加载整个文档。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5">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4758D060-EA80-4379-80A4-A19DB96EE041}"/>
              </a:ext>
            </a:extLst>
          </p:cNvPr>
          <p:cNvSpPr>
            <a:spLocks noGrp="1"/>
          </p:cNvSpPr>
          <p:nvPr>
            <p:ph type="title"/>
          </p:nvPr>
        </p:nvSpPr>
        <p:spPr>
          <a:xfrm>
            <a:off x="1676400" y="88901"/>
            <a:ext cx="8540750" cy="557213"/>
          </a:xfrm>
        </p:spPr>
        <p:txBody>
          <a:bodyPr/>
          <a:lstStyle/>
          <a:p>
            <a:pPr algn="l"/>
            <a:r>
              <a:rPr lang="en-US" altLang="zh-CN" sz="3200"/>
              <a:t>Web</a:t>
            </a:r>
            <a:r>
              <a:rPr lang="zh-CN" altLang="en-US" sz="3200"/>
              <a:t>缓存</a:t>
            </a:r>
          </a:p>
        </p:txBody>
      </p:sp>
      <p:pic>
        <p:nvPicPr>
          <p:cNvPr id="50179" name="图片 2">
            <a:extLst>
              <a:ext uri="{FF2B5EF4-FFF2-40B4-BE49-F238E27FC236}">
                <a16:creationId xmlns:a16="http://schemas.microsoft.com/office/drawing/2014/main" id="{83BE590C-3CFE-4886-A7C0-4DBECBDCD99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09712" y="0"/>
            <a:ext cx="588168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6">
            <a:extLst>
              <a:ext uri="{FF2B5EF4-FFF2-40B4-BE49-F238E27FC236}">
                <a16:creationId xmlns:a16="http://schemas.microsoft.com/office/drawing/2014/main" id="{A23AE836-72FC-4B6A-93FE-EB254264E815}"/>
              </a:ext>
            </a:extLst>
          </p:cNvPr>
          <p:cNvSpPr>
            <a:spLocks noChangeArrowheads="1"/>
          </p:cNvSpPr>
          <p:nvPr/>
        </p:nvSpPr>
        <p:spPr bwMode="auto">
          <a:xfrm>
            <a:off x="6553201" y="371476"/>
            <a:ext cx="31845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2" panose="05020102010507070707" pitchFamily="18" charset="2"/>
              <a:buNone/>
            </a:pPr>
            <a:r>
              <a:rPr lang="zh-CN" altLang="en-US" sz="1800">
                <a:solidFill>
                  <a:srgbClr val="FF0000"/>
                </a:solidFill>
              </a:rPr>
              <a:t>演示讲解一个用于解析和查询</a:t>
            </a:r>
            <a:endParaRPr lang="en-US" altLang="zh-CN" sz="1800">
              <a:solidFill>
                <a:srgbClr val="FF0000"/>
              </a:solidFill>
            </a:endParaRPr>
          </a:p>
          <a:p>
            <a:pPr>
              <a:spcBef>
                <a:spcPct val="0"/>
              </a:spcBef>
              <a:buClrTx/>
              <a:buSzTx/>
              <a:buFont typeface="Wingdings 2" panose="05020102010507070707" pitchFamily="18" charset="2"/>
              <a:buNone/>
            </a:pPr>
            <a:r>
              <a:rPr lang="en-US" altLang="zh-CN" sz="1800">
                <a:solidFill>
                  <a:srgbClr val="FF0000"/>
                </a:solidFill>
              </a:rPr>
              <a:t>Cache-control</a:t>
            </a:r>
            <a:r>
              <a:rPr lang="zh-CN" altLang="en-US" sz="1800">
                <a:solidFill>
                  <a:srgbClr val="FF0000"/>
                </a:solidFill>
              </a:rPr>
              <a:t>首部的</a:t>
            </a:r>
            <a:r>
              <a:rPr lang="en-US" altLang="zh-CN" sz="1800">
                <a:solidFill>
                  <a:srgbClr val="FF0000"/>
                </a:solidFill>
              </a:rPr>
              <a:t>java</a:t>
            </a:r>
            <a:r>
              <a:rPr lang="zh-CN" altLang="en-US" sz="1800">
                <a:solidFill>
                  <a:srgbClr val="FF0000"/>
                </a:solidFill>
              </a:rPr>
              <a:t>类</a:t>
            </a:r>
            <a:endParaRPr lang="en-US" altLang="zh-CN" sz="1800">
              <a:solidFill>
                <a:srgbClr val="FF0000"/>
              </a:solidFill>
            </a:endParaRPr>
          </a:p>
          <a:p>
            <a:pPr>
              <a:spcBef>
                <a:spcPct val="0"/>
              </a:spcBef>
              <a:buClrTx/>
              <a:buSzTx/>
              <a:buFont typeface="Wingdings 2" panose="05020102010507070707" pitchFamily="18" charset="2"/>
              <a:buNone/>
            </a:pPr>
            <a:r>
              <a:rPr lang="en-US" altLang="zh-CN" sz="1800">
                <a:solidFill>
                  <a:srgbClr val="FF0000"/>
                </a:solidFill>
              </a:rPr>
              <a:t>Ch7.CacheControl.java</a:t>
            </a:r>
            <a:r>
              <a:rPr lang="zh-CN" altLang="en-US" sz="180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4FD47DB8-0652-4896-A47A-2EA8B6DF3B89}"/>
              </a:ext>
            </a:extLst>
          </p:cNvPr>
          <p:cNvSpPr>
            <a:spLocks noGrp="1"/>
          </p:cNvSpPr>
          <p:nvPr>
            <p:ph type="title"/>
          </p:nvPr>
        </p:nvSpPr>
        <p:spPr>
          <a:xfrm>
            <a:off x="1676400" y="88901"/>
            <a:ext cx="8540750" cy="557213"/>
          </a:xfrm>
        </p:spPr>
        <p:txBody>
          <a:bodyPr/>
          <a:lstStyle/>
          <a:p>
            <a:pPr algn="l"/>
            <a:r>
              <a:rPr lang="en-US" altLang="zh-CN" sz="3200"/>
              <a:t>Web</a:t>
            </a:r>
            <a:r>
              <a:rPr lang="zh-CN" altLang="en-US" sz="3200"/>
              <a:t>缓存</a:t>
            </a:r>
          </a:p>
        </p:txBody>
      </p:sp>
      <p:pic>
        <p:nvPicPr>
          <p:cNvPr id="52227" name="图片 3">
            <a:extLst>
              <a:ext uri="{FF2B5EF4-FFF2-40B4-BE49-F238E27FC236}">
                <a16:creationId xmlns:a16="http://schemas.microsoft.com/office/drawing/2014/main" id="{8A37E493-24D6-48B7-A9BB-E5C4332D98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8839200" cy="654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DDCE04C2-55CB-49DF-AF49-8CFE07AB6045}"/>
              </a:ext>
            </a:extLst>
          </p:cNvPr>
          <p:cNvSpPr>
            <a:spLocks noGrp="1"/>
          </p:cNvSpPr>
          <p:nvPr>
            <p:ph type="title"/>
          </p:nvPr>
        </p:nvSpPr>
        <p:spPr>
          <a:xfrm>
            <a:off x="1676400" y="88901"/>
            <a:ext cx="8540750" cy="557213"/>
          </a:xfrm>
        </p:spPr>
        <p:txBody>
          <a:bodyPr/>
          <a:lstStyle/>
          <a:p>
            <a:pPr algn="l"/>
            <a:r>
              <a:rPr lang="en-US" altLang="zh-CN" sz="3200"/>
              <a:t>Web</a:t>
            </a:r>
            <a:r>
              <a:rPr lang="zh-CN" altLang="en-US" sz="3200"/>
              <a:t>缓存</a:t>
            </a:r>
          </a:p>
        </p:txBody>
      </p:sp>
      <p:pic>
        <p:nvPicPr>
          <p:cNvPr id="54275" name="图片 1">
            <a:extLst>
              <a:ext uri="{FF2B5EF4-FFF2-40B4-BE49-F238E27FC236}">
                <a16:creationId xmlns:a16="http://schemas.microsoft.com/office/drawing/2014/main" id="{B72BC9C9-21AC-486D-92AB-85D46CB1D26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0"/>
            <a:ext cx="10744200" cy="671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C72184E3-E79C-4812-A2E5-94772F1E7CCC}"/>
              </a:ext>
            </a:extLst>
          </p:cNvPr>
          <p:cNvSpPr>
            <a:spLocks noGrp="1"/>
          </p:cNvSpPr>
          <p:nvPr>
            <p:ph type="title"/>
          </p:nvPr>
        </p:nvSpPr>
        <p:spPr>
          <a:xfrm>
            <a:off x="1676400" y="20638"/>
            <a:ext cx="8540750" cy="685800"/>
          </a:xfrm>
        </p:spPr>
        <p:txBody>
          <a:bodyPr/>
          <a:lstStyle/>
          <a:p>
            <a:pPr algn="l"/>
            <a:r>
              <a:rPr lang="en-US" altLang="zh-CN" sz="3200"/>
              <a:t>Java</a:t>
            </a:r>
            <a:r>
              <a:rPr lang="zh-CN" altLang="en-US" sz="3200"/>
              <a:t>的</a:t>
            </a:r>
            <a:r>
              <a:rPr lang="en-US" altLang="zh-CN" sz="3200"/>
              <a:t>Web</a:t>
            </a:r>
            <a:r>
              <a:rPr lang="zh-CN" altLang="en-US" sz="3200"/>
              <a:t>缓存</a:t>
            </a:r>
          </a:p>
        </p:txBody>
      </p:sp>
      <p:sp>
        <p:nvSpPr>
          <p:cNvPr id="56323" name="内容占位符 2">
            <a:extLst>
              <a:ext uri="{FF2B5EF4-FFF2-40B4-BE49-F238E27FC236}">
                <a16:creationId xmlns:a16="http://schemas.microsoft.com/office/drawing/2014/main" id="{2E29FEF5-79CF-4171-ABE4-E43C70F6075F}"/>
              </a:ext>
            </a:extLst>
          </p:cNvPr>
          <p:cNvSpPr>
            <a:spLocks noGrp="1"/>
          </p:cNvSpPr>
          <p:nvPr>
            <p:ph idx="1"/>
          </p:nvPr>
        </p:nvSpPr>
        <p:spPr>
          <a:xfrm>
            <a:off x="1676400" y="838201"/>
            <a:ext cx="8210550" cy="5135563"/>
          </a:xfrm>
        </p:spPr>
        <p:txBody>
          <a:bodyPr/>
          <a:lstStyle/>
          <a:p>
            <a:r>
              <a:rPr lang="en-US" altLang="zh-CN" sz="2800" dirty="0"/>
              <a:t>JVM</a:t>
            </a:r>
            <a:r>
              <a:rPr lang="zh-CN" altLang="en-US" sz="2800" dirty="0"/>
              <a:t>只支持一个共享缓存，在</a:t>
            </a:r>
            <a:r>
              <a:rPr lang="en-US" altLang="zh-CN" sz="2800" dirty="0"/>
              <a:t>HTTP</a:t>
            </a:r>
            <a:r>
              <a:rPr lang="zh-CN" altLang="en-US" sz="2800" dirty="0"/>
              <a:t>客户端程序中要使用缓存需要使用到自定义的</a:t>
            </a:r>
            <a:r>
              <a:rPr lang="en-US" altLang="zh-CN" sz="2800" dirty="0"/>
              <a:t>3</a:t>
            </a:r>
            <a:r>
              <a:rPr lang="zh-CN" altLang="en-US" sz="2800" dirty="0"/>
              <a:t>个具体子类来安装</a:t>
            </a:r>
            <a:r>
              <a:rPr lang="en-US" altLang="zh-CN" sz="2800" dirty="0"/>
              <a:t>URL</a:t>
            </a:r>
            <a:r>
              <a:rPr lang="zh-CN" altLang="en-US" sz="2800" dirty="0"/>
              <a:t>类使用的系统级缓存。</a:t>
            </a:r>
            <a:endParaRPr lang="en-US" altLang="zh-CN" sz="2800" dirty="0"/>
          </a:p>
          <a:p>
            <a:pPr lvl="1">
              <a:buFont typeface="Wingdings" panose="05000000000000000000" pitchFamily="2" charset="2"/>
              <a:buChar char="p"/>
            </a:pPr>
            <a:r>
              <a:rPr lang="en-US" altLang="zh-CN" sz="2400" dirty="0" err="1"/>
              <a:t>ResponseCache</a:t>
            </a:r>
            <a:r>
              <a:rPr lang="zh-CN" altLang="en-US" sz="2400" dirty="0"/>
              <a:t>的一个具体子类</a:t>
            </a:r>
            <a:endParaRPr lang="en-US" altLang="zh-CN" sz="2400" dirty="0"/>
          </a:p>
          <a:p>
            <a:pPr lvl="1">
              <a:buFont typeface="Wingdings" panose="05000000000000000000" pitchFamily="2" charset="2"/>
              <a:buChar char="p"/>
            </a:pPr>
            <a:r>
              <a:rPr lang="en-US" altLang="zh-CN" sz="2400" dirty="0" err="1"/>
              <a:t>CacheRequest</a:t>
            </a:r>
            <a:r>
              <a:rPr lang="zh-CN" altLang="en-US" sz="2400" dirty="0"/>
              <a:t>的一个具体子类</a:t>
            </a:r>
            <a:endParaRPr lang="en-US" altLang="zh-CN" sz="2400" dirty="0"/>
          </a:p>
          <a:p>
            <a:pPr lvl="1">
              <a:buFont typeface="Wingdings" panose="05000000000000000000" pitchFamily="2" charset="2"/>
              <a:buChar char="p"/>
            </a:pPr>
            <a:r>
              <a:rPr lang="en-US" altLang="zh-CN" sz="2400" dirty="0" err="1"/>
              <a:t>CacheResponse</a:t>
            </a:r>
            <a:r>
              <a:rPr lang="zh-CN" altLang="en-US" sz="2400" dirty="0"/>
              <a:t>的一个具体子类</a:t>
            </a:r>
            <a:endParaRPr lang="en-US" altLang="zh-CN" sz="2400" dirty="0"/>
          </a:p>
          <a:p>
            <a:r>
              <a:rPr lang="zh-CN" altLang="en-US" sz="2800" dirty="0"/>
              <a:t>使用</a:t>
            </a:r>
            <a:r>
              <a:rPr lang="en-US" altLang="zh-CN" sz="2400" dirty="0" err="1">
                <a:solidFill>
                  <a:srgbClr val="FF0000"/>
                </a:solidFill>
              </a:rPr>
              <a:t>ResponseCache.setDefault</a:t>
            </a:r>
            <a:r>
              <a:rPr lang="en-US" altLang="zh-CN" sz="2400" dirty="0">
                <a:solidFill>
                  <a:srgbClr val="FF0000"/>
                </a:solidFill>
              </a:rPr>
              <a:t>()</a:t>
            </a:r>
            <a:r>
              <a:rPr lang="zh-CN" altLang="en-US" sz="2800" dirty="0"/>
              <a:t>方法把自定义缓存子类对象安装为默认缓存，来处理自定义的</a:t>
            </a:r>
            <a:r>
              <a:rPr lang="en-US" altLang="zh-CN" sz="2800" dirty="0" err="1"/>
              <a:t>CacheRequest</a:t>
            </a:r>
            <a:r>
              <a:rPr lang="zh-CN" altLang="en-US" sz="2800" dirty="0"/>
              <a:t>和</a:t>
            </a:r>
            <a:r>
              <a:rPr lang="en-US" altLang="zh-CN" sz="2800" dirty="0" err="1"/>
              <a:t>CacheResponse</a:t>
            </a:r>
            <a:r>
              <a:rPr lang="zh-CN" altLang="en-US" sz="2800" dirty="0"/>
              <a:t>子类。</a:t>
            </a:r>
            <a:endParaRPr lang="en-US" altLang="zh-CN" sz="2800" dirty="0"/>
          </a:p>
          <a:p>
            <a:endParaRPr lang="en-US" altLang="zh-CN"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80ACB6B0-3122-4A12-9F21-2D374FD7834B}"/>
              </a:ext>
            </a:extLst>
          </p:cNvPr>
          <p:cNvSpPr>
            <a:spLocks noGrp="1"/>
          </p:cNvSpPr>
          <p:nvPr>
            <p:ph type="title"/>
          </p:nvPr>
        </p:nvSpPr>
        <p:spPr>
          <a:xfrm>
            <a:off x="1600200" y="26989"/>
            <a:ext cx="8540750" cy="623887"/>
          </a:xfrm>
        </p:spPr>
        <p:txBody>
          <a:bodyPr/>
          <a:lstStyle/>
          <a:p>
            <a:pPr algn="l"/>
            <a:r>
              <a:rPr lang="en-US" altLang="zh-CN" sz="3200"/>
              <a:t>Java</a:t>
            </a:r>
            <a:r>
              <a:rPr lang="zh-CN" altLang="en-US" sz="3200"/>
              <a:t>的</a:t>
            </a:r>
            <a:r>
              <a:rPr lang="en-US" altLang="zh-CN" sz="3200"/>
              <a:t>Web</a:t>
            </a:r>
            <a:r>
              <a:rPr lang="zh-CN" altLang="en-US" sz="3200"/>
              <a:t>缓存</a:t>
            </a:r>
            <a:r>
              <a:rPr lang="en-US" altLang="zh-CN" sz="3200"/>
              <a:t>-- </a:t>
            </a:r>
            <a:r>
              <a:rPr lang="en-US" altLang="zh-CN" sz="2800">
                <a:solidFill>
                  <a:srgbClr val="FF0000"/>
                </a:solidFill>
              </a:rPr>
              <a:t>CacheRequest</a:t>
            </a:r>
            <a:r>
              <a:rPr lang="zh-CN" altLang="en-US" sz="2800">
                <a:solidFill>
                  <a:srgbClr val="FF0000"/>
                </a:solidFill>
              </a:rPr>
              <a:t>类</a:t>
            </a:r>
          </a:p>
        </p:txBody>
      </p:sp>
      <p:sp>
        <p:nvSpPr>
          <p:cNvPr id="57347" name="内容占位符 2">
            <a:extLst>
              <a:ext uri="{FF2B5EF4-FFF2-40B4-BE49-F238E27FC236}">
                <a16:creationId xmlns:a16="http://schemas.microsoft.com/office/drawing/2014/main" id="{31B5E924-A821-4514-A1C6-520ACB0999BF}"/>
              </a:ext>
            </a:extLst>
          </p:cNvPr>
          <p:cNvSpPr>
            <a:spLocks noGrp="1"/>
          </p:cNvSpPr>
          <p:nvPr>
            <p:ph idx="1"/>
          </p:nvPr>
        </p:nvSpPr>
        <p:spPr>
          <a:xfrm>
            <a:off x="1930400" y="914401"/>
            <a:ext cx="8210550" cy="5135563"/>
          </a:xfrm>
        </p:spPr>
        <p:txBody>
          <a:bodyPr/>
          <a:lstStyle/>
          <a:p>
            <a:r>
              <a:rPr lang="en-US" altLang="zh-CN" sz="2400" dirty="0" err="1"/>
              <a:t>ResponseCache</a:t>
            </a:r>
            <a:r>
              <a:rPr lang="zh-CN" altLang="en-US" sz="2400" dirty="0"/>
              <a:t>的</a:t>
            </a:r>
            <a:r>
              <a:rPr lang="en-US" altLang="zh-CN" sz="2400" dirty="0"/>
              <a:t>put()</a:t>
            </a:r>
            <a:r>
              <a:rPr lang="zh-CN" altLang="en-US" sz="2400" dirty="0"/>
              <a:t>方法返回一个</a:t>
            </a:r>
            <a:r>
              <a:rPr lang="en-US" altLang="zh-CN" sz="2400" dirty="0" err="1"/>
              <a:t>CacheRequest</a:t>
            </a:r>
            <a:r>
              <a:rPr lang="zh-CN" altLang="en-US" sz="2400" dirty="0"/>
              <a:t>类型 的对象。</a:t>
            </a:r>
            <a:endParaRPr lang="en-US" altLang="zh-CN" sz="2400" dirty="0"/>
          </a:p>
          <a:p>
            <a:r>
              <a:rPr lang="en-US" altLang="zh-CN" sz="2400" dirty="0" err="1"/>
              <a:t>CacheRequest</a:t>
            </a:r>
            <a:r>
              <a:rPr lang="zh-CN" altLang="en-US" sz="2400" dirty="0"/>
              <a:t>类表示在 </a:t>
            </a:r>
            <a:r>
              <a:rPr lang="en-US" altLang="zh-CN" sz="2400" dirty="0" err="1"/>
              <a:t>ResponseCache</a:t>
            </a:r>
            <a:r>
              <a:rPr lang="en-US" altLang="zh-CN" sz="2400" dirty="0"/>
              <a:t> </a:t>
            </a:r>
            <a:r>
              <a:rPr lang="zh-CN" altLang="en-US" sz="2400" dirty="0"/>
              <a:t>中存储资源的通道。</a:t>
            </a:r>
            <a:endParaRPr lang="en-US" altLang="zh-CN" sz="2400" dirty="0"/>
          </a:p>
          <a:p>
            <a:r>
              <a:rPr lang="en-US" altLang="zh-CN" sz="2400" dirty="0" err="1"/>
              <a:t>CacheRequest</a:t>
            </a:r>
            <a:r>
              <a:rPr lang="zh-CN" altLang="en-US" sz="2400" dirty="0"/>
              <a:t>类的实例包装了一个</a:t>
            </a:r>
            <a:r>
              <a:rPr lang="en-US" altLang="zh-CN" sz="2400" dirty="0" err="1"/>
              <a:t>OutputStream</a:t>
            </a:r>
            <a:r>
              <a:rPr lang="zh-CN" altLang="en-US" sz="2400" dirty="0"/>
              <a:t>对象，</a:t>
            </a:r>
            <a:r>
              <a:rPr lang="en-US" altLang="zh-CN" sz="2400" dirty="0"/>
              <a:t>HTTP</a:t>
            </a:r>
            <a:r>
              <a:rPr lang="zh-CN" altLang="en-US" sz="2400" dirty="0"/>
              <a:t>客户端程序可以调用该对象来将资源数据存储到缓存中。</a:t>
            </a:r>
            <a:endParaRPr lang="en-US" altLang="zh-CN" sz="2400" dirty="0"/>
          </a:p>
          <a:p>
            <a:r>
              <a:rPr lang="en-US" altLang="zh-CN" sz="2400" dirty="0" err="1"/>
              <a:t>CacheRequest</a:t>
            </a:r>
            <a:r>
              <a:rPr lang="zh-CN" altLang="en-US" sz="2400" dirty="0"/>
              <a:t>类</a:t>
            </a:r>
            <a:r>
              <a:rPr lang="zh-CN" altLang="en-US" sz="2800" dirty="0"/>
              <a:t> </a:t>
            </a:r>
            <a:r>
              <a:rPr lang="en-US" altLang="zh-CN" sz="2400" dirty="0"/>
              <a:t>ex7-7 CacheRequest.java</a:t>
            </a:r>
            <a:r>
              <a:rPr lang="zh-CN" altLang="en-US" sz="2400" dirty="0"/>
              <a:t> ：</a:t>
            </a:r>
            <a:endParaRPr lang="en-US" altLang="zh-CN" sz="2800" dirty="0"/>
          </a:p>
          <a:p>
            <a:endParaRPr lang="en-US" altLang="zh-CN" sz="2400" dirty="0"/>
          </a:p>
          <a:p>
            <a:endParaRPr lang="en-US" altLang="zh-CN" sz="2800" dirty="0"/>
          </a:p>
        </p:txBody>
      </p:sp>
      <p:sp>
        <p:nvSpPr>
          <p:cNvPr id="4" name="矩形 3">
            <a:extLst>
              <a:ext uri="{FF2B5EF4-FFF2-40B4-BE49-F238E27FC236}">
                <a16:creationId xmlns:a16="http://schemas.microsoft.com/office/drawing/2014/main" id="{E9246AF4-BC88-4DE4-94E3-99CB53A7FF04}"/>
              </a:ext>
            </a:extLst>
          </p:cNvPr>
          <p:cNvSpPr>
            <a:spLocks noChangeArrowheads="1"/>
          </p:cNvSpPr>
          <p:nvPr/>
        </p:nvSpPr>
        <p:spPr bwMode="auto">
          <a:xfrm>
            <a:off x="2328864" y="4419601"/>
            <a:ext cx="7083425" cy="22463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b="1">
                <a:solidFill>
                  <a:srgbClr val="FF0000"/>
                </a:solidFill>
                <a:latin typeface="Times New Roman" panose="02020603050405020304" pitchFamily="18" charset="0"/>
                <a:cs typeface="Times New Roman" panose="02020603050405020304" pitchFamily="18" charset="0"/>
              </a:rPr>
              <a:t>Package java.net</a:t>
            </a:r>
          </a:p>
          <a:p>
            <a:pPr>
              <a:spcBef>
                <a:spcPct val="0"/>
              </a:spcBef>
              <a:buClrTx/>
              <a:buSzTx/>
              <a:buFontTx/>
              <a:buNone/>
            </a:pPr>
            <a:endParaRPr lang="en-US" altLang="zh-CN" sz="2000" b="1">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Public abstract class CacheRequest {</a:t>
            </a: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cs typeface="Times New Roman" panose="02020603050405020304" pitchFamily="18" charset="0"/>
              </a:rPr>
              <a:t>返回可以将响应正文写入</a:t>
            </a:r>
            <a:r>
              <a:rPr lang="en-US" altLang="zh-CN" sz="2000">
                <a:latin typeface="Times New Roman" panose="02020603050405020304" pitchFamily="18" charset="0"/>
                <a:cs typeface="Times New Roman" panose="02020603050405020304" pitchFamily="18" charset="0"/>
              </a:rPr>
              <a:t>cache</a:t>
            </a:r>
            <a:r>
              <a:rPr lang="zh-CN" altLang="en-US" sz="2000">
                <a:latin typeface="Times New Roman" panose="02020603050405020304" pitchFamily="18" charset="0"/>
                <a:cs typeface="Times New Roman" panose="02020603050405020304" pitchFamily="18" charset="0"/>
              </a:rPr>
              <a:t>库的 </a:t>
            </a:r>
            <a:r>
              <a:rPr lang="en-US" altLang="zh-CN" sz="2000">
                <a:latin typeface="Times New Roman" panose="02020603050405020304" pitchFamily="18" charset="0"/>
                <a:cs typeface="Times New Roman" panose="02020603050405020304" pitchFamily="18" charset="0"/>
              </a:rPr>
              <a:t>OutputStream</a:t>
            </a: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        public abstract OutputStream getBody( ) throws IOException;</a:t>
            </a: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        public abstract void abort( );//</a:t>
            </a:r>
            <a:r>
              <a:rPr lang="zh-CN" altLang="en-US" sz="2000">
                <a:latin typeface="Times New Roman" panose="02020603050405020304" pitchFamily="18" charset="0"/>
                <a:cs typeface="Times New Roman" panose="02020603050405020304" pitchFamily="18" charset="0"/>
              </a:rPr>
              <a:t>中止缓存响应的尝试</a:t>
            </a:r>
            <a:endParaRPr lang="en-US" altLang="zh-CN" sz="2000">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AA2A9508-47E0-4921-B365-278070DD6A86}"/>
              </a:ext>
            </a:extLst>
          </p:cNvPr>
          <p:cNvSpPr>
            <a:spLocks noGrp="1"/>
          </p:cNvSpPr>
          <p:nvPr>
            <p:ph type="title"/>
          </p:nvPr>
        </p:nvSpPr>
        <p:spPr>
          <a:xfrm>
            <a:off x="1524000" y="76200"/>
            <a:ext cx="8540750" cy="685800"/>
          </a:xfrm>
        </p:spPr>
        <p:txBody>
          <a:bodyPr/>
          <a:lstStyle/>
          <a:p>
            <a:pPr algn="l"/>
            <a:r>
              <a:rPr lang="zh-CN" altLang="en-US" sz="3200"/>
              <a:t>自定义</a:t>
            </a:r>
            <a:r>
              <a:rPr lang="en-US" altLang="zh-CN" sz="3200"/>
              <a:t>CacheRequest</a:t>
            </a:r>
            <a:r>
              <a:rPr lang="zh-CN" altLang="en-US" sz="3200"/>
              <a:t>子类</a:t>
            </a:r>
          </a:p>
        </p:txBody>
      </p:sp>
      <p:sp>
        <p:nvSpPr>
          <p:cNvPr id="59395" name="内容占位符 2">
            <a:extLst>
              <a:ext uri="{FF2B5EF4-FFF2-40B4-BE49-F238E27FC236}">
                <a16:creationId xmlns:a16="http://schemas.microsoft.com/office/drawing/2014/main" id="{56DBA5BA-C85C-4D76-AF63-42EE49E94F7E}"/>
              </a:ext>
            </a:extLst>
          </p:cNvPr>
          <p:cNvSpPr>
            <a:spLocks noGrp="1"/>
          </p:cNvSpPr>
          <p:nvPr>
            <p:ph idx="1"/>
          </p:nvPr>
        </p:nvSpPr>
        <p:spPr>
          <a:xfrm>
            <a:off x="1676400" y="908051"/>
            <a:ext cx="8210550" cy="5135563"/>
          </a:xfrm>
        </p:spPr>
        <p:txBody>
          <a:bodyPr/>
          <a:lstStyle/>
          <a:p>
            <a:r>
              <a:rPr lang="zh-CN" altLang="en-US" sz="2200"/>
              <a:t>自定义一个</a:t>
            </a:r>
            <a:r>
              <a:rPr lang="en-US" altLang="zh-CN" sz="2200"/>
              <a:t>CacheRequest</a:t>
            </a:r>
            <a:r>
              <a:rPr lang="zh-CN" altLang="en-US" sz="2200"/>
              <a:t>子类，可返回一个</a:t>
            </a:r>
            <a:r>
              <a:rPr lang="en-US" altLang="zh-CN" sz="2200"/>
              <a:t>ByteArrayOutputStream</a:t>
            </a:r>
            <a:r>
              <a:rPr lang="zh-CN" altLang="en-US" sz="2200"/>
              <a:t>，支持</a:t>
            </a:r>
            <a:r>
              <a:rPr lang="en-US" altLang="zh-CN" sz="2200"/>
              <a:t>ResponseCache</a:t>
            </a:r>
            <a:r>
              <a:rPr lang="zh-CN" altLang="en-US" sz="2200"/>
              <a:t>对象的</a:t>
            </a:r>
            <a:r>
              <a:rPr lang="en-US" altLang="zh-CN" sz="2200"/>
              <a:t>put()</a:t>
            </a:r>
            <a:r>
              <a:rPr lang="zh-CN" altLang="en-US" sz="2200"/>
              <a:t>方法将资源数据以字节数组文件存入缓存中。</a:t>
            </a:r>
            <a:endParaRPr lang="en-US" altLang="zh-CN" sz="2200"/>
          </a:p>
          <a:p>
            <a:r>
              <a:rPr lang="zh-CN" altLang="en-US" sz="2200"/>
              <a:t>演示子类代码例子</a:t>
            </a:r>
            <a:r>
              <a:rPr lang="en-US" altLang="zh-CN" sz="2200"/>
              <a:t>ch7. SimpleCacheRequest.java</a:t>
            </a:r>
          </a:p>
          <a:p>
            <a:endParaRPr lang="en-US" altLang="zh-CN" sz="2800"/>
          </a:p>
        </p:txBody>
      </p:sp>
      <p:pic>
        <p:nvPicPr>
          <p:cNvPr id="59396" name="图片 1">
            <a:extLst>
              <a:ext uri="{FF2B5EF4-FFF2-40B4-BE49-F238E27FC236}">
                <a16:creationId xmlns:a16="http://schemas.microsoft.com/office/drawing/2014/main" id="{F44246A0-CE37-4722-A50C-56C4F7224F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327275"/>
            <a:ext cx="6629400" cy="459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0C715748-CC7C-4AB9-9C6D-ABCD7D26FF82}"/>
              </a:ext>
            </a:extLst>
          </p:cNvPr>
          <p:cNvSpPr>
            <a:spLocks noGrp="1"/>
          </p:cNvSpPr>
          <p:nvPr>
            <p:ph type="title"/>
          </p:nvPr>
        </p:nvSpPr>
        <p:spPr>
          <a:xfrm>
            <a:off x="1544638" y="0"/>
            <a:ext cx="8540750" cy="685800"/>
          </a:xfrm>
        </p:spPr>
        <p:txBody>
          <a:bodyPr/>
          <a:lstStyle/>
          <a:p>
            <a:pPr algn="l"/>
            <a:r>
              <a:rPr lang="en-US" altLang="zh-CN" sz="3200"/>
              <a:t>Java</a:t>
            </a:r>
            <a:r>
              <a:rPr lang="zh-CN" altLang="en-US" sz="3200"/>
              <a:t>的</a:t>
            </a:r>
            <a:r>
              <a:rPr lang="en-US" altLang="zh-CN" sz="3200"/>
              <a:t>Web</a:t>
            </a:r>
            <a:r>
              <a:rPr lang="zh-CN" altLang="en-US" sz="3200"/>
              <a:t>缓存</a:t>
            </a:r>
            <a:r>
              <a:rPr lang="en-US" altLang="zh-CN" sz="3200"/>
              <a:t>-- </a:t>
            </a:r>
            <a:r>
              <a:rPr lang="en-US" altLang="zh-CN" sz="2800"/>
              <a:t>CacheResponse</a:t>
            </a:r>
            <a:r>
              <a:rPr lang="zh-CN" altLang="en-US" sz="2800"/>
              <a:t>类</a:t>
            </a:r>
          </a:p>
        </p:txBody>
      </p:sp>
      <p:sp>
        <p:nvSpPr>
          <p:cNvPr id="61443" name="内容占位符 2">
            <a:extLst>
              <a:ext uri="{FF2B5EF4-FFF2-40B4-BE49-F238E27FC236}">
                <a16:creationId xmlns:a16="http://schemas.microsoft.com/office/drawing/2014/main" id="{C2312B0C-BB95-4BCC-8432-9D2C8D2071B8}"/>
              </a:ext>
            </a:extLst>
          </p:cNvPr>
          <p:cNvSpPr>
            <a:spLocks noGrp="1"/>
          </p:cNvSpPr>
          <p:nvPr>
            <p:ph idx="1"/>
          </p:nvPr>
        </p:nvSpPr>
        <p:spPr>
          <a:xfrm>
            <a:off x="1709738" y="838201"/>
            <a:ext cx="8375650" cy="5135563"/>
          </a:xfrm>
        </p:spPr>
        <p:txBody>
          <a:bodyPr/>
          <a:lstStyle/>
          <a:p>
            <a:r>
              <a:rPr lang="en-US" altLang="zh-CN" sz="2200"/>
              <a:t>ResponseCache</a:t>
            </a:r>
            <a:r>
              <a:rPr lang="zh-CN" altLang="en-US" sz="2200"/>
              <a:t>的</a:t>
            </a:r>
            <a:r>
              <a:rPr lang="en-US" altLang="zh-CN" sz="2200"/>
              <a:t>get()</a:t>
            </a:r>
            <a:r>
              <a:rPr lang="zh-CN" altLang="en-US" sz="2200"/>
              <a:t>方法从缓存中获取资源的数据和首部，包装在一个</a:t>
            </a:r>
            <a:r>
              <a:rPr lang="en-US" altLang="zh-CN" sz="2200"/>
              <a:t>CacheRsponse</a:t>
            </a:r>
            <a:r>
              <a:rPr lang="zh-CN" altLang="en-US" sz="2200"/>
              <a:t>类型的对象中返回。</a:t>
            </a:r>
            <a:endParaRPr lang="en-US" altLang="zh-CN" sz="2200"/>
          </a:p>
          <a:p>
            <a:r>
              <a:rPr lang="en-US" altLang="zh-CN" sz="2200"/>
              <a:t>CacheRsponse</a:t>
            </a:r>
            <a:r>
              <a:rPr lang="zh-CN" altLang="en-US" sz="2200"/>
              <a:t>类表示在 </a:t>
            </a:r>
            <a:r>
              <a:rPr lang="en-US" altLang="zh-CN" sz="2200"/>
              <a:t>ResponseCache </a:t>
            </a:r>
            <a:r>
              <a:rPr lang="zh-CN" altLang="en-US" sz="2200"/>
              <a:t>中检索资源的通道。</a:t>
            </a:r>
            <a:endParaRPr lang="en-US" altLang="zh-CN" sz="2200"/>
          </a:p>
          <a:p>
            <a:r>
              <a:rPr lang="en-US" altLang="zh-CN" sz="2200"/>
              <a:t>CacheRsponse</a:t>
            </a:r>
            <a:r>
              <a:rPr lang="zh-CN" altLang="en-US" sz="2200"/>
              <a:t>类的实例包装了一个</a:t>
            </a:r>
            <a:r>
              <a:rPr lang="en-US" altLang="zh-CN" sz="2200"/>
              <a:t>URI</a:t>
            </a:r>
            <a:r>
              <a:rPr lang="zh-CN" altLang="en-US" sz="2200"/>
              <a:t>请求资源的数据和首部，</a:t>
            </a:r>
            <a:r>
              <a:rPr lang="en-US" altLang="zh-CN" sz="2200"/>
              <a:t>HTTP</a:t>
            </a:r>
            <a:r>
              <a:rPr lang="zh-CN" altLang="en-US" sz="2200"/>
              <a:t>客户端程序可以调用该对象将资源的数据或首部从缓存中取出。</a:t>
            </a:r>
            <a:endParaRPr lang="en-US" altLang="zh-CN" sz="2200"/>
          </a:p>
          <a:p>
            <a:r>
              <a:rPr lang="en-US" altLang="zh-CN" sz="2200"/>
              <a:t>CacheResponse</a:t>
            </a:r>
            <a:r>
              <a:rPr lang="zh-CN" altLang="en-US" sz="2200"/>
              <a:t>类 </a:t>
            </a:r>
            <a:r>
              <a:rPr lang="en-US" altLang="zh-CN" sz="2200"/>
              <a:t>ex7-9 CacheResponse</a:t>
            </a:r>
            <a:r>
              <a:rPr lang="zh-CN" altLang="en-US" sz="2200"/>
              <a:t>：</a:t>
            </a:r>
            <a:endParaRPr lang="en-US" altLang="zh-CN" sz="2200"/>
          </a:p>
          <a:p>
            <a:endParaRPr lang="en-US" altLang="zh-CN" sz="2400"/>
          </a:p>
          <a:p>
            <a:endParaRPr lang="en-US" altLang="zh-CN" sz="2800"/>
          </a:p>
        </p:txBody>
      </p:sp>
      <p:sp>
        <p:nvSpPr>
          <p:cNvPr id="4" name="矩形 3">
            <a:extLst>
              <a:ext uri="{FF2B5EF4-FFF2-40B4-BE49-F238E27FC236}">
                <a16:creationId xmlns:a16="http://schemas.microsoft.com/office/drawing/2014/main" id="{EC7F28DE-6306-4833-82A5-5E252896A8D4}"/>
              </a:ext>
            </a:extLst>
          </p:cNvPr>
          <p:cNvSpPr>
            <a:spLocks noChangeArrowheads="1"/>
          </p:cNvSpPr>
          <p:nvPr/>
        </p:nvSpPr>
        <p:spPr bwMode="auto">
          <a:xfrm>
            <a:off x="1695450" y="3727451"/>
            <a:ext cx="8763000" cy="22463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b="1">
                <a:solidFill>
                  <a:srgbClr val="FF0000"/>
                </a:solidFill>
                <a:latin typeface="Times New Roman" panose="02020603050405020304" pitchFamily="18" charset="0"/>
                <a:cs typeface="Times New Roman" panose="02020603050405020304" pitchFamily="18" charset="0"/>
              </a:rPr>
              <a:t>Package java.net</a:t>
            </a:r>
          </a:p>
          <a:p>
            <a:pPr>
              <a:spcBef>
                <a:spcPct val="0"/>
              </a:spcBef>
              <a:buClrTx/>
              <a:buSzTx/>
              <a:buFontTx/>
              <a:buNone/>
            </a:pPr>
            <a:endParaRPr lang="en-US" altLang="zh-CN" sz="2000" b="1">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Public abstract class CacheResponse{</a:t>
            </a: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cs typeface="Times New Roman" panose="02020603050405020304" pitchFamily="18" charset="0"/>
              </a:rPr>
              <a:t>返回响应的主体作为</a:t>
            </a:r>
            <a:r>
              <a:rPr lang="en-US" altLang="zh-CN" sz="2000">
                <a:latin typeface="Times New Roman" panose="02020603050405020304" pitchFamily="18" charset="0"/>
                <a:cs typeface="Times New Roman" panose="02020603050405020304" pitchFamily="18" charset="0"/>
              </a:rPr>
              <a:t>InputStream</a:t>
            </a: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        public abstract Map&lt;String, List&lt;String&gt;&gt; getHeaders( ) throws IOException;</a:t>
            </a: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        public abstract InputStream  getBody( ) throws IOException;//</a:t>
            </a:r>
            <a:r>
              <a:rPr lang="zh-CN" altLang="en-US" sz="2000">
                <a:latin typeface="Times New Roman" panose="02020603050405020304" pitchFamily="18" charset="0"/>
                <a:cs typeface="Times New Roman" panose="02020603050405020304" pitchFamily="18" charset="0"/>
              </a:rPr>
              <a:t>返回响应头作为一个</a:t>
            </a:r>
            <a:r>
              <a:rPr lang="en-US" altLang="zh-CN" sz="2000">
                <a:latin typeface="Times New Roman" panose="02020603050405020304" pitchFamily="18" charset="0"/>
                <a:cs typeface="Times New Roman" panose="02020603050405020304" pitchFamily="18" charset="0"/>
              </a:rPr>
              <a:t>Map}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3F9AB6B0-25D4-48CA-B588-B550D282C860}"/>
              </a:ext>
            </a:extLst>
          </p:cNvPr>
          <p:cNvSpPr>
            <a:spLocks noGrp="1"/>
          </p:cNvSpPr>
          <p:nvPr>
            <p:ph type="title"/>
          </p:nvPr>
        </p:nvSpPr>
        <p:spPr>
          <a:xfrm>
            <a:off x="1676400" y="6350"/>
            <a:ext cx="8540750" cy="685800"/>
          </a:xfrm>
        </p:spPr>
        <p:txBody>
          <a:bodyPr/>
          <a:lstStyle/>
          <a:p>
            <a:pPr algn="l"/>
            <a:r>
              <a:rPr lang="zh-CN" altLang="en-US" sz="3200"/>
              <a:t>自定义</a:t>
            </a:r>
            <a:r>
              <a:rPr lang="en-US" altLang="zh-CN" sz="3200"/>
              <a:t>CacheResponse</a:t>
            </a:r>
            <a:r>
              <a:rPr lang="zh-CN" altLang="en-US" sz="3200"/>
              <a:t>子类</a:t>
            </a:r>
          </a:p>
        </p:txBody>
      </p:sp>
      <p:sp>
        <p:nvSpPr>
          <p:cNvPr id="63491" name="内容占位符 2">
            <a:extLst>
              <a:ext uri="{FF2B5EF4-FFF2-40B4-BE49-F238E27FC236}">
                <a16:creationId xmlns:a16="http://schemas.microsoft.com/office/drawing/2014/main" id="{18FA7970-C1EE-4146-ACC8-5B28C38C35B5}"/>
              </a:ext>
            </a:extLst>
          </p:cNvPr>
          <p:cNvSpPr>
            <a:spLocks noGrp="1"/>
          </p:cNvSpPr>
          <p:nvPr>
            <p:ph idx="1"/>
          </p:nvPr>
        </p:nvSpPr>
        <p:spPr>
          <a:xfrm>
            <a:off x="1676400" y="920751"/>
            <a:ext cx="8210550" cy="5135563"/>
          </a:xfrm>
        </p:spPr>
        <p:txBody>
          <a:bodyPr/>
          <a:lstStyle/>
          <a:p>
            <a:r>
              <a:rPr lang="zh-CN" altLang="en-US" sz="2200"/>
              <a:t>自定义一个</a:t>
            </a:r>
            <a:r>
              <a:rPr lang="en-US" altLang="zh-CN" sz="2200"/>
              <a:t>CacheResponse</a:t>
            </a:r>
            <a:r>
              <a:rPr lang="zh-CN" altLang="en-US" sz="2200"/>
              <a:t>子类，与一个自定义的</a:t>
            </a:r>
            <a:r>
              <a:rPr lang="en-US" altLang="zh-CN" sz="2200"/>
              <a:t>CacheRequest</a:t>
            </a:r>
            <a:r>
              <a:rPr lang="zh-CN" altLang="en-US" sz="2200"/>
              <a:t>子类（</a:t>
            </a:r>
            <a:r>
              <a:rPr lang="en-US" altLang="zh-CN" sz="2200"/>
              <a:t>SimpleCacheRequest</a:t>
            </a:r>
            <a:r>
              <a:rPr lang="zh-CN" altLang="en-US" sz="2200"/>
              <a:t>）对象和一个</a:t>
            </a:r>
            <a:r>
              <a:rPr lang="en-US" altLang="zh-CN" sz="2200"/>
              <a:t>CacheControl</a:t>
            </a:r>
            <a:r>
              <a:rPr lang="zh-CN" altLang="en-US" sz="2200"/>
              <a:t>对象绑定，支持</a:t>
            </a:r>
            <a:r>
              <a:rPr lang="en-US" altLang="zh-CN" sz="2200"/>
              <a:t>ResponseCache</a:t>
            </a:r>
            <a:r>
              <a:rPr lang="zh-CN" altLang="en-US" sz="2200"/>
              <a:t>对象的</a:t>
            </a:r>
            <a:r>
              <a:rPr lang="en-US" altLang="zh-CN" sz="2200"/>
              <a:t>get()</a:t>
            </a:r>
            <a:r>
              <a:rPr lang="zh-CN" altLang="en-US" sz="2200"/>
              <a:t>方法从缓存中读取资源的数据或首部。</a:t>
            </a:r>
            <a:endParaRPr lang="en-US" altLang="zh-CN" sz="2200"/>
          </a:p>
          <a:p>
            <a:r>
              <a:rPr lang="zh-CN" altLang="en-US" sz="2200"/>
              <a:t>演示一个自定义</a:t>
            </a:r>
            <a:r>
              <a:rPr lang="en-US" altLang="zh-CN" sz="2200"/>
              <a:t>CacheResponse</a:t>
            </a:r>
            <a:r>
              <a:rPr lang="zh-CN" altLang="en-US" sz="2200"/>
              <a:t>子类代码例子</a:t>
            </a:r>
            <a:r>
              <a:rPr lang="en-US" altLang="zh-CN" sz="2200"/>
              <a:t>ch7.SimpleCacheResponse</a:t>
            </a:r>
            <a:r>
              <a:rPr lang="zh-CN" altLang="en-US" sz="2200"/>
              <a:t>。</a:t>
            </a:r>
            <a:endParaRPr lang="en-US" altLang="zh-CN" sz="2200"/>
          </a:p>
          <a:p>
            <a:endParaRPr lang="en-US" altLang="zh-CN" sz="2800"/>
          </a:p>
        </p:txBody>
      </p:sp>
      <p:pic>
        <p:nvPicPr>
          <p:cNvPr id="63492" name="图片 1">
            <a:extLst>
              <a:ext uri="{FF2B5EF4-FFF2-40B4-BE49-F238E27FC236}">
                <a16:creationId xmlns:a16="http://schemas.microsoft.com/office/drawing/2014/main" id="{02BB8AF0-C989-4DEC-8954-ABE5E38FB0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3048000"/>
            <a:ext cx="68421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a:extLst>
              <a:ext uri="{FF2B5EF4-FFF2-40B4-BE49-F238E27FC236}">
                <a16:creationId xmlns:a16="http://schemas.microsoft.com/office/drawing/2014/main" id="{ACEBCABB-7F08-4D96-A4CB-9F25DC244A13}"/>
              </a:ext>
            </a:extLst>
          </p:cNvPr>
          <p:cNvSpPr>
            <a:spLocks noGrp="1"/>
          </p:cNvSpPr>
          <p:nvPr>
            <p:ph type="title"/>
          </p:nvPr>
        </p:nvSpPr>
        <p:spPr>
          <a:xfrm>
            <a:off x="1676400" y="6350"/>
            <a:ext cx="8540750" cy="685800"/>
          </a:xfrm>
        </p:spPr>
        <p:txBody>
          <a:bodyPr/>
          <a:lstStyle/>
          <a:p>
            <a:pPr algn="l"/>
            <a:r>
              <a:rPr lang="zh-CN" altLang="en-US" sz="3200"/>
              <a:t>自定义</a:t>
            </a:r>
            <a:r>
              <a:rPr lang="en-US" altLang="zh-CN" sz="3200"/>
              <a:t>CacheResponse</a:t>
            </a:r>
            <a:r>
              <a:rPr lang="zh-CN" altLang="en-US" sz="3200"/>
              <a:t>子类</a:t>
            </a:r>
          </a:p>
        </p:txBody>
      </p:sp>
      <p:pic>
        <p:nvPicPr>
          <p:cNvPr id="65539" name="图片 3">
            <a:extLst>
              <a:ext uri="{FF2B5EF4-FFF2-40B4-BE49-F238E27FC236}">
                <a16:creationId xmlns:a16="http://schemas.microsoft.com/office/drawing/2014/main" id="{56433615-B544-445B-8BB4-D2B2FF0CA5E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17650" y="6351"/>
            <a:ext cx="7931150" cy="663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2659CDDC-EE85-4701-9DB4-F157486111AC}"/>
              </a:ext>
            </a:extLst>
          </p:cNvPr>
          <p:cNvSpPr>
            <a:spLocks noGrp="1"/>
          </p:cNvSpPr>
          <p:nvPr>
            <p:ph type="title"/>
          </p:nvPr>
        </p:nvSpPr>
        <p:spPr>
          <a:xfrm>
            <a:off x="1676400" y="74613"/>
            <a:ext cx="8540750" cy="685800"/>
          </a:xfrm>
        </p:spPr>
        <p:txBody>
          <a:bodyPr/>
          <a:lstStyle/>
          <a:p>
            <a:pPr algn="l"/>
            <a:r>
              <a:rPr lang="en-US" altLang="zh-CN" sz="3200"/>
              <a:t>Java</a:t>
            </a:r>
            <a:r>
              <a:rPr lang="zh-CN" altLang="en-US" sz="3200"/>
              <a:t>的</a:t>
            </a:r>
            <a:r>
              <a:rPr lang="en-US" altLang="zh-CN" sz="3200"/>
              <a:t>Web</a:t>
            </a:r>
            <a:r>
              <a:rPr lang="zh-CN" altLang="en-US" sz="3200"/>
              <a:t>缓存</a:t>
            </a:r>
            <a:r>
              <a:rPr lang="en-US" altLang="zh-CN" sz="3200"/>
              <a:t>-- ResponseCache</a:t>
            </a:r>
            <a:r>
              <a:rPr lang="zh-CN" altLang="en-US" sz="2800"/>
              <a:t>类</a:t>
            </a:r>
          </a:p>
        </p:txBody>
      </p:sp>
      <p:sp>
        <p:nvSpPr>
          <p:cNvPr id="67587" name="内容占位符 2">
            <a:extLst>
              <a:ext uri="{FF2B5EF4-FFF2-40B4-BE49-F238E27FC236}">
                <a16:creationId xmlns:a16="http://schemas.microsoft.com/office/drawing/2014/main" id="{144E121F-00DA-4CAF-BFB9-9F38E3871073}"/>
              </a:ext>
            </a:extLst>
          </p:cNvPr>
          <p:cNvSpPr>
            <a:spLocks noGrp="1"/>
          </p:cNvSpPr>
          <p:nvPr>
            <p:ph idx="1"/>
          </p:nvPr>
        </p:nvSpPr>
        <p:spPr>
          <a:xfrm>
            <a:off x="1697038" y="914401"/>
            <a:ext cx="8210550" cy="5135563"/>
          </a:xfrm>
        </p:spPr>
        <p:txBody>
          <a:bodyPr/>
          <a:lstStyle/>
          <a:p>
            <a:r>
              <a:rPr lang="zh-CN" altLang="en-US" sz="2400"/>
              <a:t>代表</a:t>
            </a:r>
            <a:r>
              <a:rPr lang="en-US" altLang="zh-CN" sz="2400"/>
              <a:t>URLConnection</a:t>
            </a:r>
            <a:r>
              <a:rPr lang="zh-CN" altLang="en-US" sz="2400"/>
              <a:t>缓存的实现。</a:t>
            </a:r>
            <a:endParaRPr lang="en-US" altLang="zh-CN" sz="2400"/>
          </a:p>
          <a:p>
            <a:r>
              <a:rPr lang="zh-CN" altLang="en-US" sz="2400"/>
              <a:t>它的实例可以通过</a:t>
            </a:r>
            <a:r>
              <a:rPr lang="en-US" altLang="zh-CN" sz="2400"/>
              <a:t>ResponseCache.setDefault(ResponseCache)</a:t>
            </a:r>
            <a:r>
              <a:rPr lang="zh-CN" altLang="en-US" sz="2400"/>
              <a:t>向系统注册</a:t>
            </a:r>
            <a:r>
              <a:rPr lang="en-US" altLang="zh-CN" sz="2400"/>
              <a:t>,</a:t>
            </a:r>
            <a:r>
              <a:rPr lang="zh-CN" altLang="en-US" sz="2400"/>
              <a:t>系统将调用这个对象</a:t>
            </a:r>
            <a:r>
              <a:rPr lang="en-US" altLang="zh-CN" sz="2400"/>
              <a:t>:</a:t>
            </a:r>
          </a:p>
          <a:p>
            <a:r>
              <a:rPr lang="zh-CN" altLang="en-US" sz="2400"/>
              <a:t>（</a:t>
            </a:r>
            <a:r>
              <a:rPr lang="en-US" altLang="zh-CN" sz="2400"/>
              <a:t>1</a:t>
            </a:r>
            <a:r>
              <a:rPr lang="zh-CN" altLang="en-US" sz="2400"/>
              <a:t>）存储从外部源已检索资源数据到缓存中。</a:t>
            </a:r>
            <a:endParaRPr lang="en-US" altLang="zh-CN" sz="2400"/>
          </a:p>
          <a:p>
            <a:r>
              <a:rPr lang="zh-CN" altLang="en-US" sz="2400"/>
              <a:t>（</a:t>
            </a:r>
            <a:r>
              <a:rPr lang="en-US" altLang="zh-CN" sz="2400"/>
              <a:t>2</a:t>
            </a:r>
            <a:r>
              <a:rPr lang="zh-CN" altLang="en-US" sz="2400"/>
              <a:t>）试图获取可能是存储在缓存中的所请求的资源。</a:t>
            </a:r>
            <a:endParaRPr lang="en-US" altLang="zh-CN" sz="2400"/>
          </a:p>
          <a:p>
            <a:r>
              <a:rPr lang="en-US" altLang="zh-CN" sz="2400"/>
              <a:t>ResponseCache</a:t>
            </a:r>
            <a:r>
              <a:rPr lang="zh-CN" altLang="en-US" sz="2400"/>
              <a:t>实现决定哪些资源应该被缓存</a:t>
            </a:r>
            <a:r>
              <a:rPr lang="en-US" altLang="zh-CN" sz="2400"/>
              <a:t>,</a:t>
            </a:r>
            <a:r>
              <a:rPr lang="zh-CN" altLang="en-US" sz="2400"/>
              <a:t>多长时间 。如果不能从缓存检索请求的资源</a:t>
            </a:r>
            <a:r>
              <a:rPr lang="en-US" altLang="zh-CN" sz="2400"/>
              <a:t>,</a:t>
            </a:r>
            <a:r>
              <a:rPr lang="zh-CN" altLang="en-US" sz="2400"/>
              <a:t> 协议处理程序将从其原始位置获取资源。</a:t>
            </a:r>
            <a:endParaRPr lang="en-US" altLang="zh-CN" sz="2400"/>
          </a:p>
          <a:p>
            <a:r>
              <a:rPr lang="en-US" altLang="zh-CN" sz="2400"/>
              <a:t>ResponseCache</a:t>
            </a:r>
            <a:r>
              <a:rPr lang="zh-CN" altLang="en-US" sz="2400"/>
              <a:t>类</a:t>
            </a:r>
            <a:r>
              <a:rPr lang="zh-CN" altLang="en-US" sz="2800"/>
              <a:t> </a:t>
            </a:r>
            <a:r>
              <a:rPr lang="zh-CN" altLang="en-US" sz="2400"/>
              <a:t>如下 </a:t>
            </a:r>
            <a:r>
              <a:rPr lang="zh-CN" altLang="en-US" sz="2000"/>
              <a:t>：</a:t>
            </a:r>
            <a:endParaRPr lang="en-US" altLang="zh-CN" sz="2800"/>
          </a:p>
          <a:p>
            <a:endParaRPr lang="en-US" altLang="zh-CN" sz="2400"/>
          </a:p>
          <a:p>
            <a:endParaRPr lang="en-US" altLang="zh-CN" sz="2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CD3171C3-2596-4718-AAD6-D5DA3B38BF8E}"/>
              </a:ext>
            </a:extLst>
          </p:cNvPr>
          <p:cNvSpPr>
            <a:spLocks noGrp="1"/>
          </p:cNvSpPr>
          <p:nvPr>
            <p:ph type="title"/>
          </p:nvPr>
        </p:nvSpPr>
        <p:spPr>
          <a:xfrm>
            <a:off x="1676400" y="74613"/>
            <a:ext cx="8540750" cy="685800"/>
          </a:xfrm>
        </p:spPr>
        <p:txBody>
          <a:bodyPr/>
          <a:lstStyle/>
          <a:p>
            <a:pPr algn="l"/>
            <a:r>
              <a:rPr lang="en-US" altLang="zh-CN" sz="3200"/>
              <a:t>Java</a:t>
            </a:r>
            <a:r>
              <a:rPr lang="zh-CN" altLang="en-US" sz="3200"/>
              <a:t>的</a:t>
            </a:r>
            <a:r>
              <a:rPr lang="en-US" altLang="zh-CN" sz="3200"/>
              <a:t>Web</a:t>
            </a:r>
            <a:r>
              <a:rPr lang="zh-CN" altLang="en-US" sz="3200"/>
              <a:t>缓存</a:t>
            </a:r>
            <a:r>
              <a:rPr lang="en-US" altLang="zh-CN" sz="3200"/>
              <a:t>-- ResponseCache</a:t>
            </a:r>
            <a:r>
              <a:rPr lang="zh-CN" altLang="en-US" sz="2800"/>
              <a:t>类</a:t>
            </a:r>
          </a:p>
        </p:txBody>
      </p:sp>
      <p:sp>
        <p:nvSpPr>
          <p:cNvPr id="4" name="矩形 3">
            <a:extLst>
              <a:ext uri="{FF2B5EF4-FFF2-40B4-BE49-F238E27FC236}">
                <a16:creationId xmlns:a16="http://schemas.microsoft.com/office/drawing/2014/main" id="{FC1F3411-09D6-4236-8761-492FC0736FF0}"/>
              </a:ext>
            </a:extLst>
          </p:cNvPr>
          <p:cNvSpPr>
            <a:spLocks noChangeArrowheads="1"/>
          </p:cNvSpPr>
          <p:nvPr/>
        </p:nvSpPr>
        <p:spPr bwMode="auto">
          <a:xfrm>
            <a:off x="1828800" y="990600"/>
            <a:ext cx="7696200" cy="41544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b="1">
                <a:solidFill>
                  <a:srgbClr val="FF0000"/>
                </a:solidFill>
                <a:latin typeface="Times New Roman" panose="02020603050405020304" pitchFamily="18" charset="0"/>
                <a:cs typeface="Times New Roman" panose="02020603050405020304" pitchFamily="18" charset="0"/>
              </a:rPr>
              <a:t>Package java.net</a:t>
            </a:r>
          </a:p>
          <a:p>
            <a:pPr>
              <a:spcBef>
                <a:spcPct val="0"/>
              </a:spcBef>
              <a:buClrTx/>
              <a:buSzTx/>
              <a:buFontTx/>
              <a:buNone/>
            </a:pPr>
            <a:endParaRPr lang="en-US" altLang="zh-CN" sz="2400" b="1">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Public abstract class ResponseCache extends Object {</a:t>
            </a: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cs typeface="Times New Roman" panose="02020603050405020304" pitchFamily="18" charset="0"/>
              </a:rPr>
              <a:t>检索缓存的响应基于请求</a:t>
            </a:r>
            <a:r>
              <a:rPr lang="en-US" altLang="zh-CN" sz="2000">
                <a:latin typeface="Times New Roman" panose="02020603050405020304" pitchFamily="18" charset="0"/>
                <a:cs typeface="Times New Roman" panose="02020603050405020304" pitchFamily="18" charset="0"/>
              </a:rPr>
              <a:t>uri,</a:t>
            </a:r>
            <a:r>
              <a:rPr lang="zh-CN" altLang="en-US" sz="2000">
                <a:latin typeface="Times New Roman" panose="02020603050405020304" pitchFamily="18" charset="0"/>
                <a:cs typeface="Times New Roman" panose="02020603050405020304" pitchFamily="18" charset="0"/>
              </a:rPr>
              <a:t>请求方法和请求头。</a:t>
            </a:r>
            <a:endParaRPr lang="en-US" altLang="zh-CN" sz="2000">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        public abstract CacheResponse get(URI uri, String rqstMethod,          Map&lt;String,List&lt;String&gt;&gt; rqstHeaders) </a:t>
            </a: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      throws IOExceiption;</a:t>
            </a: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cs typeface="Times New Roman" panose="02020603050405020304" pitchFamily="18" charset="0"/>
              </a:rPr>
              <a:t>协议处理器调用此方法检索资源之后</a:t>
            </a:r>
            <a:r>
              <a:rPr lang="en-US" altLang="zh-CN" sz="2000">
                <a:latin typeface="Times New Roman" panose="02020603050405020304" pitchFamily="18" charset="0"/>
                <a:cs typeface="Times New Roman" panose="02020603050405020304" pitchFamily="18" charset="0"/>
              </a:rPr>
              <a:t>,</a:t>
            </a:r>
            <a:r>
              <a:rPr lang="zh-CN" altLang="en-US" sz="2000">
                <a:latin typeface="Times New Roman" panose="02020603050405020304" pitchFamily="18" charset="0"/>
                <a:cs typeface="Times New Roman" panose="02020603050405020304" pitchFamily="18" charset="0"/>
              </a:rPr>
              <a:t>和</a:t>
            </a:r>
            <a:r>
              <a:rPr lang="en-US" altLang="zh-CN" sz="2000">
                <a:latin typeface="Times New Roman" panose="02020603050405020304" pitchFamily="18" charset="0"/>
                <a:cs typeface="Times New Roman" panose="02020603050405020304" pitchFamily="18" charset="0"/>
              </a:rPr>
              <a:t>ResponseCache</a:t>
            </a:r>
            <a:r>
              <a:rPr lang="zh-CN" altLang="en-US" sz="2000">
                <a:latin typeface="Times New Roman" panose="02020603050405020304" pitchFamily="18" charset="0"/>
                <a:cs typeface="Times New Roman" panose="02020603050405020304" pitchFamily="18" charset="0"/>
              </a:rPr>
              <a:t>必须决定          </a:t>
            </a:r>
            <a:r>
              <a:rPr lang="en-US" altLang="zh-CN" sz="2000">
                <a:latin typeface="Times New Roman" panose="02020603050405020304" pitchFamily="18" charset="0"/>
                <a:cs typeface="Times New Roman" panose="02020603050405020304" pitchFamily="18" charset="0"/>
              </a:rPr>
              <a:t>//</a:t>
            </a:r>
            <a:r>
              <a:rPr lang="zh-CN" altLang="en-US" sz="2000">
                <a:latin typeface="Times New Roman" panose="02020603050405020304" pitchFamily="18" charset="0"/>
                <a:cs typeface="Times New Roman" panose="02020603050405020304" pitchFamily="18" charset="0"/>
              </a:rPr>
              <a:t>是否存储缓存的资源。</a:t>
            </a:r>
            <a:endParaRPr lang="en-US" altLang="zh-CN" sz="2000">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        public abstract CacheRequest put(URI uri, URLConnection conn) throws IOExceiption;</a:t>
            </a: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 … </a:t>
            </a:r>
          </a:p>
          <a:p>
            <a:pPr>
              <a:spcBef>
                <a:spcPct val="0"/>
              </a:spcBef>
              <a:buClrTx/>
              <a:buSzTx/>
              <a:buFontTx/>
              <a:buNone/>
            </a:pPr>
            <a:r>
              <a:rPr lang="en-US" altLang="zh-CN" sz="2000">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a:extLst>
              <a:ext uri="{FF2B5EF4-FFF2-40B4-BE49-F238E27FC236}">
                <a16:creationId xmlns:a16="http://schemas.microsoft.com/office/drawing/2014/main" id="{1B679BBD-86E6-4FDC-B582-874F1D615BFF}"/>
              </a:ext>
            </a:extLst>
          </p:cNvPr>
          <p:cNvSpPr>
            <a:spLocks noGrp="1"/>
          </p:cNvSpPr>
          <p:nvPr>
            <p:ph type="title"/>
          </p:nvPr>
        </p:nvSpPr>
        <p:spPr>
          <a:xfrm>
            <a:off x="1676400" y="152400"/>
            <a:ext cx="8540750" cy="609600"/>
          </a:xfrm>
        </p:spPr>
        <p:txBody>
          <a:bodyPr/>
          <a:lstStyle/>
          <a:p>
            <a:pPr algn="l"/>
            <a:r>
              <a:rPr lang="zh-CN" altLang="en-US" sz="3200"/>
              <a:t>自定义</a:t>
            </a:r>
            <a:r>
              <a:rPr lang="en-US" altLang="zh-CN" sz="3200"/>
              <a:t>ResponseCache</a:t>
            </a:r>
            <a:r>
              <a:rPr lang="zh-CN" altLang="en-US" sz="3200"/>
              <a:t>子类</a:t>
            </a:r>
          </a:p>
        </p:txBody>
      </p:sp>
      <p:sp>
        <p:nvSpPr>
          <p:cNvPr id="71683" name="内容占位符 2">
            <a:extLst>
              <a:ext uri="{FF2B5EF4-FFF2-40B4-BE49-F238E27FC236}">
                <a16:creationId xmlns:a16="http://schemas.microsoft.com/office/drawing/2014/main" id="{A72C6C9B-AFA4-4354-8CF0-5E2DB308D5F5}"/>
              </a:ext>
            </a:extLst>
          </p:cNvPr>
          <p:cNvSpPr>
            <a:spLocks noGrp="1"/>
          </p:cNvSpPr>
          <p:nvPr>
            <p:ph idx="1"/>
          </p:nvPr>
        </p:nvSpPr>
        <p:spPr>
          <a:xfrm>
            <a:off x="1676400" y="796926"/>
            <a:ext cx="8210550" cy="2251075"/>
          </a:xfrm>
        </p:spPr>
        <p:txBody>
          <a:bodyPr/>
          <a:lstStyle/>
          <a:p>
            <a:r>
              <a:rPr lang="zh-CN" altLang="en-US" sz="2200"/>
              <a:t>自定义一个</a:t>
            </a:r>
            <a:r>
              <a:rPr lang="en-US" altLang="zh-CN" sz="2200"/>
              <a:t>ResponseCache</a:t>
            </a:r>
            <a:r>
              <a:rPr lang="zh-CN" altLang="en-US" sz="2200"/>
              <a:t>子类，使用一个大的线程安全</a:t>
            </a:r>
            <a:r>
              <a:rPr lang="en-US" altLang="zh-CN" sz="2200"/>
              <a:t>HasheMap</a:t>
            </a:r>
            <a:r>
              <a:rPr lang="zh-CN" altLang="en-US" sz="2200"/>
              <a:t>将有限数量的响应存储在内存中。</a:t>
            </a:r>
            <a:endParaRPr lang="en-US" altLang="zh-CN" sz="2200"/>
          </a:p>
          <a:p>
            <a:r>
              <a:rPr lang="zh-CN" altLang="en-US" sz="2200"/>
              <a:t>演示自定义</a:t>
            </a:r>
            <a:r>
              <a:rPr lang="en-US" altLang="zh-CN" sz="2200"/>
              <a:t>ResponseCache</a:t>
            </a:r>
            <a:r>
              <a:rPr lang="zh-CN" altLang="en-US" sz="2200"/>
              <a:t>子类代码例子</a:t>
            </a:r>
            <a:r>
              <a:rPr lang="en-US" altLang="zh-CN" sz="2200"/>
              <a:t>ex7-11 ch7.MemoryCache</a:t>
            </a:r>
            <a:r>
              <a:rPr lang="zh-CN" altLang="en-US" sz="2200"/>
              <a:t>。</a:t>
            </a:r>
            <a:endParaRPr lang="en-US" altLang="zh-CN" sz="2200"/>
          </a:p>
          <a:p>
            <a:endParaRPr lang="en-US" altLang="zh-CN" sz="2800"/>
          </a:p>
        </p:txBody>
      </p:sp>
      <p:pic>
        <p:nvPicPr>
          <p:cNvPr id="71684" name="图片 1">
            <a:extLst>
              <a:ext uri="{FF2B5EF4-FFF2-40B4-BE49-F238E27FC236}">
                <a16:creationId xmlns:a16="http://schemas.microsoft.com/office/drawing/2014/main" id="{867F2D2F-151A-4228-A2ED-A18ED22871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362201"/>
            <a:ext cx="7162800" cy="44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a:extLst>
              <a:ext uri="{FF2B5EF4-FFF2-40B4-BE49-F238E27FC236}">
                <a16:creationId xmlns:a16="http://schemas.microsoft.com/office/drawing/2014/main" id="{D7AD213D-6E84-4534-BF4C-F59B171CDEDA}"/>
              </a:ext>
            </a:extLst>
          </p:cNvPr>
          <p:cNvSpPr>
            <a:spLocks noGrp="1"/>
          </p:cNvSpPr>
          <p:nvPr>
            <p:ph type="title"/>
          </p:nvPr>
        </p:nvSpPr>
        <p:spPr>
          <a:xfrm>
            <a:off x="1676400" y="152400"/>
            <a:ext cx="8540750" cy="609600"/>
          </a:xfrm>
        </p:spPr>
        <p:txBody>
          <a:bodyPr/>
          <a:lstStyle/>
          <a:p>
            <a:pPr algn="l"/>
            <a:r>
              <a:rPr lang="zh-CN" altLang="en-US" sz="3200"/>
              <a:t>自定义</a:t>
            </a:r>
            <a:r>
              <a:rPr lang="en-US" altLang="zh-CN" sz="3200"/>
              <a:t>ResponseCache</a:t>
            </a:r>
            <a:r>
              <a:rPr lang="zh-CN" altLang="en-US" sz="3200"/>
              <a:t>子类</a:t>
            </a:r>
          </a:p>
        </p:txBody>
      </p:sp>
      <p:pic>
        <p:nvPicPr>
          <p:cNvPr id="73731" name="图片 3">
            <a:extLst>
              <a:ext uri="{FF2B5EF4-FFF2-40B4-BE49-F238E27FC236}">
                <a16:creationId xmlns:a16="http://schemas.microsoft.com/office/drawing/2014/main" id="{34151347-73C3-4EA4-80BA-EB3EFC2D5A3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25414"/>
            <a:ext cx="9080500" cy="482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7E1C299E-0763-4338-A6AB-A447996CCD69}"/>
              </a:ext>
            </a:extLst>
          </p:cNvPr>
          <p:cNvSpPr>
            <a:spLocks noGrp="1"/>
          </p:cNvSpPr>
          <p:nvPr>
            <p:ph type="title"/>
          </p:nvPr>
        </p:nvSpPr>
        <p:spPr>
          <a:xfrm>
            <a:off x="1676400" y="152400"/>
            <a:ext cx="8540750" cy="609600"/>
          </a:xfrm>
        </p:spPr>
        <p:txBody>
          <a:bodyPr/>
          <a:lstStyle/>
          <a:p>
            <a:pPr algn="l"/>
            <a:r>
              <a:rPr lang="zh-CN" altLang="en-US" sz="3200"/>
              <a:t>自定义</a:t>
            </a:r>
            <a:r>
              <a:rPr lang="en-US" altLang="zh-CN" sz="3200"/>
              <a:t>ResponseCache</a:t>
            </a:r>
            <a:r>
              <a:rPr lang="zh-CN" altLang="en-US" sz="3200"/>
              <a:t>子类</a:t>
            </a:r>
          </a:p>
        </p:txBody>
      </p:sp>
      <p:pic>
        <p:nvPicPr>
          <p:cNvPr id="75779" name="图片 1">
            <a:extLst>
              <a:ext uri="{FF2B5EF4-FFF2-40B4-BE49-F238E27FC236}">
                <a16:creationId xmlns:a16="http://schemas.microsoft.com/office/drawing/2014/main" id="{72699DAC-BFE4-4C17-BCDA-F0AE707A3F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6988"/>
            <a:ext cx="80772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a:extLst>
              <a:ext uri="{FF2B5EF4-FFF2-40B4-BE49-F238E27FC236}">
                <a16:creationId xmlns:a16="http://schemas.microsoft.com/office/drawing/2014/main" id="{080C7ADC-2D9D-4674-8108-473CF09F9A2E}"/>
              </a:ext>
            </a:extLst>
          </p:cNvPr>
          <p:cNvSpPr>
            <a:spLocks noGrp="1"/>
          </p:cNvSpPr>
          <p:nvPr>
            <p:ph type="title"/>
          </p:nvPr>
        </p:nvSpPr>
        <p:spPr>
          <a:xfrm>
            <a:off x="1524000" y="115888"/>
            <a:ext cx="8540750" cy="685800"/>
          </a:xfrm>
        </p:spPr>
        <p:txBody>
          <a:bodyPr/>
          <a:lstStyle/>
          <a:p>
            <a:pPr algn="l"/>
            <a:r>
              <a:rPr lang="en-US" altLang="zh-CN" sz="3200"/>
              <a:t>4.</a:t>
            </a:r>
            <a:r>
              <a:rPr lang="zh-CN" altLang="en-US" sz="3200"/>
              <a:t>配置</a:t>
            </a:r>
            <a:r>
              <a:rPr lang="en-US" altLang="zh-CN" sz="3200"/>
              <a:t>URLConnection</a:t>
            </a:r>
            <a:r>
              <a:rPr lang="zh-CN" altLang="en-US" sz="3200"/>
              <a:t>连接</a:t>
            </a:r>
          </a:p>
        </p:txBody>
      </p:sp>
      <p:sp>
        <p:nvSpPr>
          <p:cNvPr id="23555" name="内容占位符 2">
            <a:extLst>
              <a:ext uri="{FF2B5EF4-FFF2-40B4-BE49-F238E27FC236}">
                <a16:creationId xmlns:a16="http://schemas.microsoft.com/office/drawing/2014/main" id="{1DCC4896-9BAF-4F76-99C1-AC60399E606E}"/>
              </a:ext>
            </a:extLst>
          </p:cNvPr>
          <p:cNvSpPr>
            <a:spLocks noGrp="1"/>
          </p:cNvSpPr>
          <p:nvPr>
            <p:ph idx="1"/>
          </p:nvPr>
        </p:nvSpPr>
        <p:spPr>
          <a:xfrm>
            <a:off x="1524000" y="914401"/>
            <a:ext cx="8210550" cy="5135563"/>
          </a:xfrm>
        </p:spPr>
        <p:txBody>
          <a:bodyPr/>
          <a:lstStyle/>
          <a:p>
            <a:r>
              <a:rPr lang="zh-CN" altLang="en-US" sz="2200" dirty="0">
                <a:latin typeface="Times New Roman" panose="02020603050405020304" pitchFamily="18" charset="0"/>
                <a:cs typeface="Times New Roman" panose="02020603050405020304" pitchFamily="18" charset="0"/>
              </a:rPr>
              <a:t>抽象类 </a:t>
            </a:r>
            <a:r>
              <a:rPr lang="en-US" altLang="zh-CN" sz="2200" dirty="0" err="1">
                <a:latin typeface="Times New Roman" panose="02020603050405020304" pitchFamily="18" charset="0"/>
                <a:cs typeface="Times New Roman" panose="02020603050405020304" pitchFamily="18" charset="0"/>
              </a:rPr>
              <a:t>URLConnection</a:t>
            </a: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是一个超类，代表应用程序和 </a:t>
            </a:r>
            <a:r>
              <a:rPr lang="en-US" altLang="zh-CN" sz="2200" dirty="0">
                <a:latin typeface="Times New Roman" panose="02020603050405020304" pitchFamily="18" charset="0"/>
                <a:cs typeface="Times New Roman" panose="02020603050405020304" pitchFamily="18" charset="0"/>
              </a:rPr>
              <a:t>URL </a:t>
            </a:r>
            <a:r>
              <a:rPr lang="zh-CN" altLang="en-US" sz="2200" dirty="0">
                <a:latin typeface="Times New Roman" panose="02020603050405020304" pitchFamily="18" charset="0"/>
                <a:cs typeface="Times New Roman" panose="02020603050405020304" pitchFamily="18" charset="0"/>
              </a:rPr>
              <a:t>之间的通信链接。</a:t>
            </a:r>
            <a:endParaRPr lang="en-US" altLang="zh-CN" sz="2200" dirty="0">
              <a:latin typeface="Times New Roman" panose="02020603050405020304" pitchFamily="18" charset="0"/>
              <a:cs typeface="Times New Roman" panose="02020603050405020304" pitchFamily="18" charset="0"/>
            </a:endParaRPr>
          </a:p>
          <a:p>
            <a:r>
              <a:rPr lang="zh-CN" altLang="en-US" sz="2200" dirty="0">
                <a:latin typeface="Times New Roman" panose="02020603050405020304" pitchFamily="18" charset="0"/>
                <a:cs typeface="Times New Roman" panose="02020603050405020304" pitchFamily="18" charset="0"/>
              </a:rPr>
              <a:t>此类的实例可用于读取和写入此 </a:t>
            </a:r>
            <a:r>
              <a:rPr lang="en-US" altLang="zh-CN" sz="2200" dirty="0">
                <a:latin typeface="Times New Roman" panose="02020603050405020304" pitchFamily="18" charset="0"/>
                <a:cs typeface="Times New Roman" panose="02020603050405020304" pitchFamily="18" charset="0"/>
              </a:rPr>
              <a:t>URL </a:t>
            </a:r>
            <a:r>
              <a:rPr lang="zh-CN" altLang="en-US" sz="2200" dirty="0">
                <a:latin typeface="Times New Roman" panose="02020603050405020304" pitchFamily="18" charset="0"/>
                <a:cs typeface="Times New Roman" panose="02020603050405020304" pitchFamily="18" charset="0"/>
              </a:rPr>
              <a:t>引用的资源。创建一个到 </a:t>
            </a:r>
            <a:r>
              <a:rPr lang="en-US" altLang="zh-CN" sz="2200" dirty="0">
                <a:latin typeface="Times New Roman" panose="02020603050405020304" pitchFamily="18" charset="0"/>
                <a:cs typeface="Times New Roman" panose="02020603050405020304" pitchFamily="18" charset="0"/>
              </a:rPr>
              <a:t>URL </a:t>
            </a:r>
            <a:r>
              <a:rPr lang="zh-CN" altLang="en-US" sz="2200" dirty="0">
                <a:latin typeface="Times New Roman" panose="02020603050405020304" pitchFamily="18" charset="0"/>
                <a:cs typeface="Times New Roman" panose="02020603050405020304" pitchFamily="18" charset="0"/>
              </a:rPr>
              <a:t>的连接需要</a:t>
            </a:r>
            <a:r>
              <a:rPr lang="en-US" altLang="zh-CN" sz="2200" dirty="0">
                <a:latin typeface="Times New Roman" panose="02020603050405020304" pitchFamily="18" charset="0"/>
                <a:cs typeface="Times New Roman" panose="02020603050405020304" pitchFamily="18" charset="0"/>
              </a:rPr>
              <a:t>4</a:t>
            </a:r>
            <a:r>
              <a:rPr lang="zh-CN" altLang="en-US" sz="2200" dirty="0">
                <a:latin typeface="Times New Roman" panose="02020603050405020304" pitchFamily="18" charset="0"/>
                <a:cs typeface="Times New Roman" panose="02020603050405020304" pitchFamily="18" charset="0"/>
              </a:rPr>
              <a:t>个步骤</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zh-CN" altLang="en-US" sz="2000" dirty="0">
                <a:solidFill>
                  <a:srgbClr val="002B81"/>
                </a:solidFill>
              </a:rPr>
              <a:t>（</a:t>
            </a:r>
            <a:r>
              <a:rPr lang="en-US" altLang="zh-CN" sz="2000" dirty="0">
                <a:solidFill>
                  <a:srgbClr val="002B81"/>
                </a:solidFill>
              </a:rPr>
              <a:t>1</a:t>
            </a:r>
            <a:r>
              <a:rPr lang="zh-CN" altLang="en-US" sz="2000" dirty="0">
                <a:solidFill>
                  <a:srgbClr val="002B81"/>
                </a:solidFill>
              </a:rPr>
              <a:t>）通过在 </a:t>
            </a:r>
            <a:r>
              <a:rPr lang="en-US" altLang="zh-CN" sz="2000" dirty="0">
                <a:solidFill>
                  <a:srgbClr val="002B81"/>
                </a:solidFill>
              </a:rPr>
              <a:t>URL </a:t>
            </a:r>
            <a:r>
              <a:rPr lang="zh-CN" altLang="en-US" sz="2000" dirty="0">
                <a:solidFill>
                  <a:srgbClr val="002B81"/>
                </a:solidFill>
              </a:rPr>
              <a:t>上调用 </a:t>
            </a:r>
            <a:r>
              <a:rPr lang="en-US" altLang="zh-CN" sz="2000" dirty="0" err="1">
                <a:solidFill>
                  <a:srgbClr val="002B81"/>
                </a:solidFill>
              </a:rPr>
              <a:t>openConnection</a:t>
            </a:r>
            <a:r>
              <a:rPr lang="en-US" altLang="zh-CN" sz="2000" dirty="0">
                <a:solidFill>
                  <a:srgbClr val="002B81"/>
                </a:solidFill>
              </a:rPr>
              <a:t> </a:t>
            </a:r>
            <a:r>
              <a:rPr lang="zh-CN" altLang="en-US" sz="2000" dirty="0">
                <a:solidFill>
                  <a:srgbClr val="002B81"/>
                </a:solidFill>
              </a:rPr>
              <a:t>方法创建连接对象。</a:t>
            </a:r>
          </a:p>
          <a:p>
            <a:pPr lvl="1">
              <a:buFont typeface="Wingdings" panose="05000000000000000000" pitchFamily="2" charset="2"/>
              <a:buChar char="p"/>
            </a:pPr>
            <a:r>
              <a:rPr lang="zh-CN" altLang="en-US" sz="2000" dirty="0">
                <a:solidFill>
                  <a:srgbClr val="002B81"/>
                </a:solidFill>
              </a:rPr>
              <a:t>（</a:t>
            </a:r>
            <a:r>
              <a:rPr lang="en-US" altLang="zh-CN" sz="2000" dirty="0">
                <a:solidFill>
                  <a:srgbClr val="002B81"/>
                </a:solidFill>
              </a:rPr>
              <a:t>2</a:t>
            </a:r>
            <a:r>
              <a:rPr lang="zh-CN" altLang="en-US" sz="2000" dirty="0">
                <a:solidFill>
                  <a:srgbClr val="002B81"/>
                </a:solidFill>
              </a:rPr>
              <a:t>）处理设置参数和一般请求属性。</a:t>
            </a:r>
          </a:p>
          <a:p>
            <a:pPr lvl="1">
              <a:buFont typeface="Wingdings" panose="05000000000000000000" pitchFamily="2" charset="2"/>
              <a:buChar char="p"/>
            </a:pPr>
            <a:r>
              <a:rPr lang="zh-CN" altLang="en-US" sz="2000" dirty="0">
                <a:solidFill>
                  <a:srgbClr val="002B81"/>
                </a:solidFill>
              </a:rPr>
              <a:t>（</a:t>
            </a:r>
            <a:r>
              <a:rPr lang="en-US" altLang="zh-CN" sz="2000" dirty="0">
                <a:solidFill>
                  <a:srgbClr val="002B81"/>
                </a:solidFill>
              </a:rPr>
              <a:t>3</a:t>
            </a:r>
            <a:r>
              <a:rPr lang="zh-CN" altLang="en-US" sz="2000" dirty="0">
                <a:solidFill>
                  <a:srgbClr val="002B81"/>
                </a:solidFill>
              </a:rPr>
              <a:t>）使用 </a:t>
            </a:r>
            <a:r>
              <a:rPr lang="en-US" altLang="zh-CN" sz="2000" dirty="0">
                <a:solidFill>
                  <a:srgbClr val="002B81"/>
                </a:solidFill>
              </a:rPr>
              <a:t>connect </a:t>
            </a:r>
            <a:r>
              <a:rPr lang="zh-CN" altLang="en-US" sz="2000" dirty="0">
                <a:solidFill>
                  <a:srgbClr val="002B81"/>
                </a:solidFill>
              </a:rPr>
              <a:t>方法建立到远程对象的实际连接。</a:t>
            </a:r>
          </a:p>
          <a:p>
            <a:pPr lvl="1">
              <a:buFont typeface="Wingdings" panose="05000000000000000000" pitchFamily="2" charset="2"/>
              <a:buChar char="p"/>
            </a:pPr>
            <a:r>
              <a:rPr lang="zh-CN" altLang="en-US" sz="2000" dirty="0">
                <a:solidFill>
                  <a:srgbClr val="002B81"/>
                </a:solidFill>
              </a:rPr>
              <a:t>（</a:t>
            </a:r>
            <a:r>
              <a:rPr lang="en-US" altLang="zh-CN" sz="2000" dirty="0">
                <a:solidFill>
                  <a:srgbClr val="002B81"/>
                </a:solidFill>
              </a:rPr>
              <a:t>4</a:t>
            </a:r>
            <a:r>
              <a:rPr lang="zh-CN" altLang="en-US" sz="2000" dirty="0">
                <a:solidFill>
                  <a:srgbClr val="002B81"/>
                </a:solidFill>
              </a:rPr>
              <a:t>）远程对象变为可用。远程对象的头字段和内容变为可访问。</a:t>
            </a:r>
            <a:endParaRPr lang="en-US" altLang="zh-CN" sz="2000" dirty="0">
              <a:solidFill>
                <a:srgbClr val="002B81"/>
              </a:solidFill>
            </a:endParaRPr>
          </a:p>
          <a:p>
            <a:endParaRPr lang="en-US" altLang="zh-CN" sz="2200" dirty="0">
              <a:latin typeface="Times New Roman" panose="02020603050405020304" pitchFamily="18" charset="0"/>
              <a:cs typeface="Times New Roman" panose="02020603050405020304" pitchFamily="18" charset="0"/>
            </a:endParaRPr>
          </a:p>
          <a:p>
            <a:r>
              <a:rPr lang="en-US" altLang="zh-CN" sz="2200" dirty="0" err="1">
                <a:latin typeface="Times New Roman" panose="02020603050405020304" pitchFamily="18" charset="0"/>
                <a:cs typeface="Times New Roman" panose="02020603050405020304" pitchFamily="18" charset="0"/>
              </a:rPr>
              <a:t>URLConnection</a:t>
            </a:r>
            <a:r>
              <a:rPr lang="zh-CN" altLang="en-US" sz="2200" dirty="0">
                <a:latin typeface="Times New Roman" panose="02020603050405020304" pitchFamily="18" charset="0"/>
                <a:cs typeface="Times New Roman" panose="02020603050405020304" pitchFamily="18" charset="0"/>
              </a:rPr>
              <a:t>类有</a:t>
            </a:r>
            <a:r>
              <a:rPr lang="en-US" altLang="zh-CN" sz="2200" dirty="0">
                <a:latin typeface="Times New Roman" panose="02020603050405020304" pitchFamily="18" charset="0"/>
                <a:cs typeface="Times New Roman" panose="02020603050405020304" pitchFamily="18" charset="0"/>
              </a:rPr>
              <a:t>7</a:t>
            </a:r>
            <a:r>
              <a:rPr lang="zh-CN" altLang="en-US" sz="2200" dirty="0">
                <a:latin typeface="Times New Roman" panose="02020603050405020304" pitchFamily="18" charset="0"/>
                <a:cs typeface="Times New Roman" panose="02020603050405020304" pitchFamily="18" charset="0"/>
              </a:rPr>
              <a:t>个受保护的实例字段，</a:t>
            </a:r>
            <a:r>
              <a:rPr lang="zh-CN" altLang="en-US" sz="2200" dirty="0">
                <a:solidFill>
                  <a:srgbClr val="FF0000"/>
                </a:solidFill>
                <a:latin typeface="Times New Roman" panose="02020603050405020304" pitchFamily="18" charset="0"/>
                <a:cs typeface="Times New Roman" panose="02020603050405020304" pitchFamily="18" charset="0"/>
              </a:rPr>
              <a:t>通过对这些字段的访问和修改可以配置和定义客户端如何向服务器做出请求</a:t>
            </a:r>
            <a:r>
              <a:rPr lang="zh-CN" altLang="en-US" sz="2200" dirty="0">
                <a:latin typeface="Times New Roman" panose="02020603050405020304" pitchFamily="18" charset="0"/>
                <a:cs typeface="Times New Roman" panose="02020603050405020304" pitchFamily="18" charset="0"/>
              </a:rPr>
              <a:t>。这些字段的访问和修改需使用字段对应的</a:t>
            </a:r>
            <a:r>
              <a:rPr lang="en-US" altLang="zh-CN" sz="2200" dirty="0">
                <a:latin typeface="Times New Roman" panose="02020603050405020304" pitchFamily="18" charset="0"/>
                <a:cs typeface="Times New Roman" panose="02020603050405020304" pitchFamily="18" charset="0"/>
              </a:rPr>
              <a:t>get</a:t>
            </a:r>
            <a:r>
              <a:rPr lang="zh-CN" altLang="en-US" sz="2200" dirty="0">
                <a:latin typeface="Times New Roman" panose="02020603050405020304" pitchFamily="18" charset="0"/>
                <a:cs typeface="Times New Roman" panose="02020603050405020304" pitchFamily="18" charset="0"/>
              </a:rPr>
              <a:t>和</a:t>
            </a:r>
            <a:r>
              <a:rPr lang="en-US" altLang="zh-CN" sz="2200" dirty="0">
                <a:latin typeface="Times New Roman" panose="02020603050405020304" pitchFamily="18" charset="0"/>
                <a:cs typeface="Times New Roman" panose="02020603050405020304" pitchFamily="18" charset="0"/>
              </a:rPr>
              <a:t>set</a:t>
            </a:r>
            <a:r>
              <a:rPr lang="zh-CN" altLang="en-US" sz="2200" dirty="0">
                <a:latin typeface="Times New Roman" panose="02020603050405020304" pitchFamily="18" charset="0"/>
                <a:cs typeface="Times New Roman" panose="02020603050405020304" pitchFamily="18" charset="0"/>
              </a:rPr>
              <a:t>方法。</a:t>
            </a:r>
            <a:endParaRPr lang="zh-CN" altLang="en-US" sz="2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55">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355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a:extLst>
              <a:ext uri="{FF2B5EF4-FFF2-40B4-BE49-F238E27FC236}">
                <a16:creationId xmlns:a16="http://schemas.microsoft.com/office/drawing/2014/main" id="{3C659757-5A35-47B8-AB13-9A7A3A5CA7E8}"/>
              </a:ext>
            </a:extLst>
          </p:cNvPr>
          <p:cNvSpPr>
            <a:spLocks noGrp="1"/>
          </p:cNvSpPr>
          <p:nvPr>
            <p:ph type="title"/>
          </p:nvPr>
        </p:nvSpPr>
        <p:spPr>
          <a:xfrm>
            <a:off x="1524000" y="115888"/>
            <a:ext cx="8540750" cy="685800"/>
          </a:xfrm>
        </p:spPr>
        <p:txBody>
          <a:bodyPr/>
          <a:lstStyle/>
          <a:p>
            <a:pPr algn="l"/>
            <a:r>
              <a:rPr lang="zh-CN" altLang="en-US" sz="3200"/>
              <a:t>配置</a:t>
            </a:r>
            <a:r>
              <a:rPr lang="en-US" altLang="zh-CN" sz="3200"/>
              <a:t>URLConnection</a:t>
            </a:r>
            <a:r>
              <a:rPr lang="zh-CN" altLang="en-US" sz="3200"/>
              <a:t>连接</a:t>
            </a:r>
          </a:p>
        </p:txBody>
      </p:sp>
      <p:pic>
        <p:nvPicPr>
          <p:cNvPr id="63490" name="Picture 2">
            <a:extLst>
              <a:ext uri="{FF2B5EF4-FFF2-40B4-BE49-F238E27FC236}">
                <a16:creationId xmlns:a16="http://schemas.microsoft.com/office/drawing/2014/main" id="{FBD121D8-D9E5-4AFC-98BC-6E90EADFE6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1" y="990600"/>
            <a:ext cx="8691563"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D1628AD8-3595-431E-A9E5-068E37A89B6D}"/>
              </a:ext>
            </a:extLst>
          </p:cNvPr>
          <p:cNvSpPr txBox="1">
            <a:spLocks noChangeArrowheads="1"/>
          </p:cNvSpPr>
          <p:nvPr/>
        </p:nvSpPr>
        <p:spPr bwMode="auto">
          <a:xfrm>
            <a:off x="1752600" y="5257800"/>
            <a:ext cx="8839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a:solidFill>
                  <a:srgbClr val="FF0000"/>
                </a:solidFill>
              </a:rPr>
              <a:t>doOutput=true</a:t>
            </a:r>
            <a:r>
              <a:rPr lang="en-US" altLang="zh-CN" sz="2000"/>
              <a:t>;//</a:t>
            </a:r>
            <a:r>
              <a:rPr lang="zh-CN" altLang="en-US" sz="2000"/>
              <a:t>表示除了通过这个</a:t>
            </a:r>
            <a:r>
              <a:rPr lang="en-US" altLang="zh-CN" sz="2000"/>
              <a:t>URLConnection</a:t>
            </a:r>
            <a:r>
              <a:rPr lang="zh-CN" altLang="en-US" sz="2000"/>
              <a:t>读取数据外，还可以将数据写入到服务器。</a:t>
            </a:r>
            <a:endParaRPr lang="en-US" altLang="zh-CN" sz="2000"/>
          </a:p>
          <a:p>
            <a:pPr>
              <a:spcBef>
                <a:spcPct val="0"/>
              </a:spcBef>
              <a:buClrTx/>
              <a:buSzTx/>
              <a:buFontTx/>
              <a:buNone/>
            </a:pPr>
            <a:r>
              <a:rPr lang="en-US" altLang="zh-CN" sz="2000">
                <a:solidFill>
                  <a:srgbClr val="FF0000"/>
                </a:solidFill>
              </a:rPr>
              <a:t>useCaches=false</a:t>
            </a:r>
            <a:r>
              <a:rPr lang="en-US" altLang="zh-CN" sz="2000"/>
              <a:t>;//</a:t>
            </a:r>
            <a:r>
              <a:rPr lang="zh-CN" altLang="en-US" sz="2000"/>
              <a:t>表示连接会绕过所有本地缓存，重新从服务器下载文件。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34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a:extLst>
              <a:ext uri="{FF2B5EF4-FFF2-40B4-BE49-F238E27FC236}">
                <a16:creationId xmlns:a16="http://schemas.microsoft.com/office/drawing/2014/main" id="{302A7D14-743C-438E-B101-4B3BD491CDF1}"/>
              </a:ext>
            </a:extLst>
          </p:cNvPr>
          <p:cNvSpPr>
            <a:spLocks noGrp="1"/>
          </p:cNvSpPr>
          <p:nvPr>
            <p:ph type="title"/>
          </p:nvPr>
        </p:nvSpPr>
        <p:spPr>
          <a:xfrm>
            <a:off x="1752600" y="152400"/>
            <a:ext cx="8540750" cy="685800"/>
          </a:xfrm>
        </p:spPr>
        <p:txBody>
          <a:bodyPr/>
          <a:lstStyle/>
          <a:p>
            <a:pPr algn="l"/>
            <a:r>
              <a:rPr lang="en-US" altLang="zh-CN" sz="3200"/>
              <a:t>Protected URL url </a:t>
            </a:r>
            <a:r>
              <a:rPr lang="zh-CN" altLang="en-US" sz="3200"/>
              <a:t>字段</a:t>
            </a:r>
          </a:p>
        </p:txBody>
      </p:sp>
      <p:sp>
        <p:nvSpPr>
          <p:cNvPr id="79875" name="内容占位符 2">
            <a:extLst>
              <a:ext uri="{FF2B5EF4-FFF2-40B4-BE49-F238E27FC236}">
                <a16:creationId xmlns:a16="http://schemas.microsoft.com/office/drawing/2014/main" id="{A7147562-8780-4D03-8CE6-B086BF662EE6}"/>
              </a:ext>
            </a:extLst>
          </p:cNvPr>
          <p:cNvSpPr>
            <a:spLocks noGrp="1"/>
          </p:cNvSpPr>
          <p:nvPr>
            <p:ph idx="1"/>
          </p:nvPr>
        </p:nvSpPr>
        <p:spPr>
          <a:xfrm>
            <a:off x="1752600" y="844551"/>
            <a:ext cx="8210550" cy="5135563"/>
          </a:xfrm>
        </p:spPr>
        <p:txBody>
          <a:bodyPr/>
          <a:lstStyle/>
          <a:p>
            <a:r>
              <a:rPr lang="en-US" altLang="zh-CN" sz="2200">
                <a:latin typeface="Times New Roman" panose="02020603050405020304" pitchFamily="18" charset="0"/>
                <a:cs typeface="Times New Roman" panose="02020603050405020304" pitchFamily="18" charset="0"/>
              </a:rPr>
              <a:t>url</a:t>
            </a:r>
            <a:r>
              <a:rPr lang="zh-CN" altLang="en-US" sz="2200">
                <a:latin typeface="Times New Roman" panose="02020603050405020304" pitchFamily="18" charset="0"/>
                <a:cs typeface="Times New Roman" panose="02020603050405020304" pitchFamily="18" charset="0"/>
              </a:rPr>
              <a:t>字段指定了这个</a:t>
            </a:r>
            <a:r>
              <a:rPr lang="en-US" altLang="zh-CN" sz="2200">
                <a:latin typeface="Times New Roman" panose="02020603050405020304" pitchFamily="18" charset="0"/>
                <a:cs typeface="Times New Roman" panose="02020603050405020304" pitchFamily="18" charset="0"/>
              </a:rPr>
              <a:t>URLConnection</a:t>
            </a:r>
            <a:r>
              <a:rPr lang="zh-CN" altLang="en-US" sz="2200">
                <a:latin typeface="Times New Roman" panose="02020603050405020304" pitchFamily="18" charset="0"/>
                <a:cs typeface="Times New Roman" panose="02020603050405020304" pitchFamily="18" charset="0"/>
              </a:rPr>
              <a:t>连接的</a:t>
            </a:r>
            <a:r>
              <a:rPr lang="en-US" altLang="zh-CN" sz="2200">
                <a:latin typeface="Times New Roman" panose="02020603050405020304" pitchFamily="18" charset="0"/>
                <a:cs typeface="Times New Roman" panose="02020603050405020304" pitchFamily="18" charset="0"/>
              </a:rPr>
              <a:t>URL</a:t>
            </a:r>
            <a:r>
              <a:rPr lang="zh-CN" altLang="en-US" sz="2200">
                <a:latin typeface="Times New Roman" panose="02020603050405020304" pitchFamily="18" charset="0"/>
                <a:cs typeface="Times New Roman" panose="02020603050405020304" pitchFamily="18" charset="0"/>
              </a:rPr>
              <a:t>。</a:t>
            </a:r>
            <a:endParaRPr lang="en-US" altLang="zh-CN" sz="2200">
              <a:latin typeface="Times New Roman" panose="02020603050405020304" pitchFamily="18" charset="0"/>
              <a:cs typeface="Times New Roman" panose="02020603050405020304" pitchFamily="18" charset="0"/>
            </a:endParaRPr>
          </a:p>
          <a:p>
            <a:r>
              <a:rPr lang="zh-CN" altLang="en-US" sz="2200">
                <a:latin typeface="Times New Roman" panose="02020603050405020304" pitchFamily="18" charset="0"/>
                <a:cs typeface="Times New Roman" panose="02020603050405020304" pitchFamily="18" charset="0"/>
              </a:rPr>
              <a:t>构造函数会在创建</a:t>
            </a:r>
            <a:r>
              <a:rPr lang="en-US" altLang="zh-CN" sz="2200">
                <a:latin typeface="Times New Roman" panose="02020603050405020304" pitchFamily="18" charset="0"/>
                <a:cs typeface="Times New Roman" panose="02020603050405020304" pitchFamily="18" charset="0"/>
              </a:rPr>
              <a:t>URLConnection</a:t>
            </a:r>
            <a:r>
              <a:rPr lang="zh-CN" altLang="en-US" sz="2200">
                <a:latin typeface="Times New Roman" panose="02020603050405020304" pitchFamily="18" charset="0"/>
                <a:cs typeface="Times New Roman" panose="02020603050405020304" pitchFamily="18" charset="0"/>
              </a:rPr>
              <a:t>时设置这个字段，此后不能再改变</a:t>
            </a:r>
            <a:endParaRPr lang="en-US" altLang="zh-CN" sz="2200">
              <a:latin typeface="Times New Roman" panose="02020603050405020304" pitchFamily="18" charset="0"/>
              <a:cs typeface="Times New Roman" panose="02020603050405020304" pitchFamily="18" charset="0"/>
            </a:endParaRPr>
          </a:p>
          <a:p>
            <a:r>
              <a:rPr lang="zh-CN" altLang="en-US" sz="2200">
                <a:latin typeface="Times New Roman" panose="02020603050405020304" pitchFamily="18" charset="0"/>
                <a:cs typeface="Times New Roman" panose="02020603050405020304" pitchFamily="18" charset="0"/>
              </a:rPr>
              <a:t>可调用</a:t>
            </a:r>
            <a:r>
              <a:rPr lang="en-US" altLang="zh-CN" sz="2200">
                <a:latin typeface="Times New Roman" panose="02020603050405020304" pitchFamily="18" charset="0"/>
                <a:cs typeface="Times New Roman" panose="02020603050405020304" pitchFamily="18" charset="0"/>
              </a:rPr>
              <a:t>getURL()</a:t>
            </a:r>
            <a:r>
              <a:rPr lang="zh-CN" altLang="en-US" sz="2200">
                <a:latin typeface="Times New Roman" panose="02020603050405020304" pitchFamily="18" charset="0"/>
                <a:cs typeface="Times New Roman" panose="02020603050405020304" pitchFamily="18" charset="0"/>
              </a:rPr>
              <a:t>获取该字段的值</a:t>
            </a:r>
            <a:endParaRPr lang="en-US" altLang="zh-CN" sz="2200">
              <a:latin typeface="Times New Roman" panose="02020603050405020304" pitchFamily="18" charset="0"/>
              <a:cs typeface="Times New Roman" panose="02020603050405020304" pitchFamily="18" charset="0"/>
            </a:endParaRPr>
          </a:p>
          <a:p>
            <a:r>
              <a:rPr lang="en-US" altLang="zh-CN" sz="2200">
                <a:latin typeface="Times New Roman" panose="02020603050405020304" pitchFamily="18" charset="0"/>
                <a:cs typeface="Times New Roman" panose="02020603050405020304" pitchFamily="18" charset="0"/>
              </a:rPr>
              <a:t>Ex7-12 URLPrinter.java</a:t>
            </a:r>
            <a:r>
              <a:rPr lang="zh-CN" altLang="en-US" sz="2200">
                <a:latin typeface="Times New Roman" panose="02020603050405020304" pitchFamily="18" charset="0"/>
                <a:cs typeface="Times New Roman" panose="02020603050405020304" pitchFamily="18" charset="0"/>
              </a:rPr>
              <a:t>，打开一个指向</a:t>
            </a:r>
            <a:r>
              <a:rPr lang="en-US" altLang="zh-CN" sz="2200">
                <a:latin typeface="Times New Roman" panose="02020603050405020304" pitchFamily="18" charset="0"/>
                <a:cs typeface="Times New Roman" panose="02020603050405020304" pitchFamily="18" charset="0"/>
                <a:hlinkClick r:id="rId2"/>
              </a:rPr>
              <a:t>http://www.orielly.com/</a:t>
            </a:r>
            <a:r>
              <a:rPr lang="zh-CN" altLang="en-US" sz="2200">
                <a:latin typeface="Times New Roman" panose="02020603050405020304" pitchFamily="18" charset="0"/>
                <a:cs typeface="Times New Roman" panose="02020603050405020304" pitchFamily="18" charset="0"/>
              </a:rPr>
              <a:t>的</a:t>
            </a:r>
            <a:r>
              <a:rPr lang="en-US" altLang="zh-CN" sz="2200">
                <a:latin typeface="Times New Roman" panose="02020603050405020304" pitchFamily="18" charset="0"/>
                <a:cs typeface="Times New Roman" panose="02020603050405020304" pitchFamily="18" charset="0"/>
              </a:rPr>
              <a:t>URLConnection</a:t>
            </a:r>
            <a:r>
              <a:rPr lang="zh-CN" altLang="en-US" sz="2200">
                <a:latin typeface="Times New Roman" panose="02020603050405020304" pitchFamily="18" charset="0"/>
                <a:cs typeface="Times New Roman" panose="02020603050405020304" pitchFamily="18" charset="0"/>
              </a:rPr>
              <a:t>，获取这连接的</a:t>
            </a:r>
            <a:r>
              <a:rPr lang="en-US" altLang="zh-CN" sz="2200">
                <a:latin typeface="Times New Roman" panose="02020603050405020304" pitchFamily="18" charset="0"/>
                <a:cs typeface="Times New Roman" panose="02020603050405020304" pitchFamily="18" charset="0"/>
              </a:rPr>
              <a:t>URL</a:t>
            </a:r>
            <a:r>
              <a:rPr lang="zh-CN" altLang="en-US" sz="2200">
                <a:latin typeface="Times New Roman" panose="02020603050405020304" pitchFamily="18" charset="0"/>
                <a:cs typeface="Times New Roman" panose="02020603050405020304" pitchFamily="18" charset="0"/>
              </a:rPr>
              <a:t>，并显示。</a:t>
            </a:r>
            <a:endParaRPr lang="en-US" altLang="zh-CN" sz="2200">
              <a:latin typeface="Times New Roman" panose="02020603050405020304" pitchFamily="18" charset="0"/>
              <a:cs typeface="Times New Roman" panose="02020603050405020304" pitchFamily="18" charset="0"/>
            </a:endParaRPr>
          </a:p>
          <a:p>
            <a:endParaRPr lang="zh-CN" altLang="en-US"/>
          </a:p>
        </p:txBody>
      </p:sp>
      <p:pic>
        <p:nvPicPr>
          <p:cNvPr id="79876" name="图片 1">
            <a:extLst>
              <a:ext uri="{FF2B5EF4-FFF2-40B4-BE49-F238E27FC236}">
                <a16:creationId xmlns:a16="http://schemas.microsoft.com/office/drawing/2014/main" id="{CE5F2DA6-5085-4FCF-BE3A-C87BD3D20CB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8288" y="3276600"/>
            <a:ext cx="79375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矩形 4">
            <a:extLst>
              <a:ext uri="{FF2B5EF4-FFF2-40B4-BE49-F238E27FC236}">
                <a16:creationId xmlns:a16="http://schemas.microsoft.com/office/drawing/2014/main" id="{D99FD33B-0BB0-40BA-85E8-19868BC4A26D}"/>
              </a:ext>
            </a:extLst>
          </p:cNvPr>
          <p:cNvSpPr>
            <a:spLocks noChangeArrowheads="1"/>
          </p:cNvSpPr>
          <p:nvPr/>
        </p:nvSpPr>
        <p:spPr bwMode="auto">
          <a:xfrm>
            <a:off x="5194300" y="3213100"/>
            <a:ext cx="4281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2000">
                <a:solidFill>
                  <a:srgbClr val="FF0000"/>
                </a:solidFill>
                <a:latin typeface="Times New Roman" panose="02020603050405020304" pitchFamily="18" charset="0"/>
                <a:cs typeface="Times New Roman" panose="02020603050405020304" pitchFamily="18" charset="0"/>
              </a:rPr>
              <a:t>演示</a:t>
            </a:r>
            <a:r>
              <a:rPr lang="en-US" altLang="zh-CN" sz="2000">
                <a:solidFill>
                  <a:srgbClr val="FF0000"/>
                </a:solidFill>
                <a:latin typeface="Times New Roman" panose="02020603050405020304" pitchFamily="18" charset="0"/>
                <a:cs typeface="Times New Roman" panose="02020603050405020304" pitchFamily="18" charset="0"/>
              </a:rPr>
              <a:t>ch7.URLPrinter.java</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a:extLst>
              <a:ext uri="{FF2B5EF4-FFF2-40B4-BE49-F238E27FC236}">
                <a16:creationId xmlns:a16="http://schemas.microsoft.com/office/drawing/2014/main" id="{95107ED5-9307-4836-9E4A-5F65CB34DA49}"/>
              </a:ext>
            </a:extLst>
          </p:cNvPr>
          <p:cNvSpPr>
            <a:spLocks noGrp="1"/>
          </p:cNvSpPr>
          <p:nvPr>
            <p:ph type="title"/>
          </p:nvPr>
        </p:nvSpPr>
        <p:spPr>
          <a:xfrm>
            <a:off x="1524000" y="6350"/>
            <a:ext cx="8540750" cy="685800"/>
          </a:xfrm>
        </p:spPr>
        <p:txBody>
          <a:bodyPr/>
          <a:lstStyle/>
          <a:p>
            <a:pPr algn="l"/>
            <a:r>
              <a:rPr lang="en-US" altLang="zh-CN" sz="3200"/>
              <a:t>Protected boolean connected</a:t>
            </a:r>
            <a:endParaRPr lang="zh-CN" altLang="en-US" sz="3200"/>
          </a:p>
        </p:txBody>
      </p:sp>
      <p:sp>
        <p:nvSpPr>
          <p:cNvPr id="80899" name="内容占位符 2">
            <a:extLst>
              <a:ext uri="{FF2B5EF4-FFF2-40B4-BE49-F238E27FC236}">
                <a16:creationId xmlns:a16="http://schemas.microsoft.com/office/drawing/2014/main" id="{5060C7EF-61C6-45D3-A6D7-7A38533A9852}"/>
              </a:ext>
            </a:extLst>
          </p:cNvPr>
          <p:cNvSpPr>
            <a:spLocks noGrp="1"/>
          </p:cNvSpPr>
          <p:nvPr>
            <p:ph idx="1"/>
          </p:nvPr>
        </p:nvSpPr>
        <p:spPr>
          <a:xfrm>
            <a:off x="1833563" y="914401"/>
            <a:ext cx="8210550" cy="5135563"/>
          </a:xfrm>
        </p:spPr>
        <p:txBody>
          <a:bodyPr/>
          <a:lstStyle/>
          <a:p>
            <a:r>
              <a:rPr lang="zh-CN" altLang="en-US" sz="2800" dirty="0">
                <a:latin typeface="Times New Roman" panose="02020603050405020304" pitchFamily="18" charset="0"/>
                <a:cs typeface="Times New Roman" panose="02020603050405020304" pitchFamily="18" charset="0"/>
              </a:rPr>
              <a:t>当连接已经打开，</a:t>
            </a:r>
            <a:r>
              <a:rPr lang="en-US" altLang="zh-CN" sz="2800" dirty="0">
                <a:latin typeface="Times New Roman" panose="02020603050405020304" pitchFamily="18" charset="0"/>
                <a:cs typeface="Times New Roman" panose="02020603050405020304" pitchFamily="18" charset="0"/>
              </a:rPr>
              <a:t>connected</a:t>
            </a:r>
            <a:r>
              <a:rPr lang="zh-CN" altLang="en-US" sz="2800" dirty="0">
                <a:latin typeface="Times New Roman" panose="02020603050405020304" pitchFamily="18" charset="0"/>
                <a:cs typeface="Times New Roman" panose="02020603050405020304" pitchFamily="18" charset="0"/>
              </a:rPr>
              <a:t>为</a:t>
            </a:r>
            <a:r>
              <a:rPr lang="en-US" altLang="zh-CN" sz="2800" dirty="0">
                <a:latin typeface="Times New Roman" panose="02020603050405020304" pitchFamily="18" charset="0"/>
                <a:cs typeface="Times New Roman" panose="02020603050405020304" pitchFamily="18" charset="0"/>
              </a:rPr>
              <a:t>true</a:t>
            </a:r>
            <a:r>
              <a:rPr lang="zh-CN" altLang="en-US" sz="2800" dirty="0">
                <a:latin typeface="Times New Roman" panose="02020603050405020304" pitchFamily="18" charset="0"/>
                <a:cs typeface="Times New Roman" panose="02020603050405020304" pitchFamily="18" charset="0"/>
              </a:rPr>
              <a:t>。由任何导致</a:t>
            </a:r>
            <a:r>
              <a:rPr lang="en-US" altLang="zh-CN" sz="2800" dirty="0" err="1">
                <a:latin typeface="Times New Roman" panose="02020603050405020304" pitchFamily="18" charset="0"/>
                <a:cs typeface="Times New Roman" panose="02020603050405020304" pitchFamily="18" charset="0"/>
              </a:rPr>
              <a:t>URLConnection</a:t>
            </a:r>
            <a:r>
              <a:rPr lang="zh-CN" altLang="en-US" sz="2800" dirty="0">
                <a:latin typeface="Times New Roman" panose="02020603050405020304" pitchFamily="18" charset="0"/>
                <a:cs typeface="Times New Roman" panose="02020603050405020304" pitchFamily="18" charset="0"/>
              </a:rPr>
              <a:t>连接的方法设置</a:t>
            </a:r>
            <a:endParaRPr lang="en-US" altLang="zh-CN" sz="2800" dirty="0">
              <a:latin typeface="Times New Roman" panose="02020603050405020304" pitchFamily="18" charset="0"/>
              <a:cs typeface="Times New Roman" panose="02020603050405020304" pitchFamily="18" charset="0"/>
            </a:endParaRPr>
          </a:p>
          <a:p>
            <a:r>
              <a:rPr lang="zh-CN" altLang="en-US" sz="2800" dirty="0">
                <a:latin typeface="Times New Roman" panose="02020603050405020304" pitchFamily="18" charset="0"/>
                <a:cs typeface="Times New Roman" panose="02020603050405020304" pitchFamily="18" charset="0"/>
              </a:rPr>
              <a:t>当连接关闭，</a:t>
            </a:r>
            <a:r>
              <a:rPr lang="en-US" altLang="zh-CN" sz="2800" dirty="0">
                <a:latin typeface="Times New Roman" panose="02020603050405020304" pitchFamily="18" charset="0"/>
                <a:cs typeface="Times New Roman" panose="02020603050405020304" pitchFamily="18" charset="0"/>
              </a:rPr>
              <a:t>connected </a:t>
            </a:r>
            <a:r>
              <a:rPr lang="zh-CN" altLang="en-US" sz="2800" dirty="0">
                <a:latin typeface="Times New Roman" panose="02020603050405020304" pitchFamily="18" charset="0"/>
                <a:cs typeface="Times New Roman" panose="02020603050405020304" pitchFamily="18" charset="0"/>
              </a:rPr>
              <a:t>为</a:t>
            </a:r>
            <a:r>
              <a:rPr lang="en-US" altLang="zh-CN" sz="2800" dirty="0">
                <a:latin typeface="Times New Roman" panose="02020603050405020304" pitchFamily="18" charset="0"/>
                <a:cs typeface="Times New Roman" panose="02020603050405020304" pitchFamily="18" charset="0"/>
              </a:rPr>
              <a:t>false</a:t>
            </a:r>
          </a:p>
          <a:p>
            <a:r>
              <a:rPr lang="zh-CN" altLang="en-US" sz="2800" dirty="0"/>
              <a:t>没有直接读取或改变</a:t>
            </a:r>
            <a:r>
              <a:rPr lang="en-US" altLang="zh-CN" sz="2800" dirty="0"/>
              <a:t>connected</a:t>
            </a:r>
            <a:r>
              <a:rPr lang="zh-CN" altLang="en-US" sz="2800" dirty="0"/>
              <a:t>值的方法</a:t>
            </a:r>
            <a:endParaRPr lang="en-US" altLang="zh-CN" sz="2800" dirty="0"/>
          </a:p>
          <a:p>
            <a:r>
              <a:rPr lang="zh-CN" altLang="en-US" sz="2800" dirty="0"/>
              <a:t>该变量只能由</a:t>
            </a:r>
            <a:r>
              <a:rPr lang="en-US" altLang="zh-CN" sz="2800" dirty="0" err="1"/>
              <a:t>java.net.URLConnection</a:t>
            </a:r>
            <a:r>
              <a:rPr lang="zh-CN" altLang="en-US" sz="2800" dirty="0"/>
              <a:t>及其子类的实例访问。</a:t>
            </a:r>
            <a:endParaRPr lang="en-US" altLang="zh-CN" sz="2800" dirty="0"/>
          </a:p>
          <a:p>
            <a:r>
              <a:rPr lang="zh-CN" altLang="en-US" sz="2800" dirty="0"/>
              <a:t>注意：派生</a:t>
            </a:r>
            <a:r>
              <a:rPr lang="en-US" altLang="zh-CN" sz="2800" dirty="0" err="1"/>
              <a:t>URLConnection</a:t>
            </a:r>
            <a:r>
              <a:rPr lang="zh-CN" altLang="en-US" sz="2800" dirty="0"/>
              <a:t>子类编写一个协议处理器时，要正确设置该字段的值，否则程序可能出现严重的且很难诊断的</a:t>
            </a:r>
            <a:r>
              <a:rPr lang="en-US" altLang="zh-CN" sz="2800" dirty="0"/>
              <a:t>bug</a:t>
            </a:r>
          </a:p>
          <a:p>
            <a:pPr marL="0" indent="0">
              <a:buNone/>
            </a:pP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a:extLst>
              <a:ext uri="{FF2B5EF4-FFF2-40B4-BE49-F238E27FC236}">
                <a16:creationId xmlns:a16="http://schemas.microsoft.com/office/drawing/2014/main" id="{DD27190C-67DD-4E21-8BF0-6D0F0758A405}"/>
              </a:ext>
            </a:extLst>
          </p:cNvPr>
          <p:cNvSpPr>
            <a:spLocks noGrp="1"/>
          </p:cNvSpPr>
          <p:nvPr>
            <p:ph type="title"/>
          </p:nvPr>
        </p:nvSpPr>
        <p:spPr>
          <a:xfrm>
            <a:off x="1649413" y="152400"/>
            <a:ext cx="8540750" cy="685800"/>
          </a:xfrm>
        </p:spPr>
        <p:txBody>
          <a:bodyPr/>
          <a:lstStyle/>
          <a:p>
            <a:pPr algn="l"/>
            <a:r>
              <a:rPr lang="en-US" altLang="zh-CN" sz="3200"/>
              <a:t>Protected boolean allowUserInteraction</a:t>
            </a:r>
            <a:endParaRPr lang="zh-CN" altLang="en-US" sz="3200"/>
          </a:p>
        </p:txBody>
      </p:sp>
      <p:sp>
        <p:nvSpPr>
          <p:cNvPr id="81923" name="内容占位符 2">
            <a:extLst>
              <a:ext uri="{FF2B5EF4-FFF2-40B4-BE49-F238E27FC236}">
                <a16:creationId xmlns:a16="http://schemas.microsoft.com/office/drawing/2014/main" id="{9B921437-6FA1-4928-94CA-603D71045BCA}"/>
              </a:ext>
            </a:extLst>
          </p:cNvPr>
          <p:cNvSpPr>
            <a:spLocks noGrp="1"/>
          </p:cNvSpPr>
          <p:nvPr>
            <p:ph idx="1"/>
          </p:nvPr>
        </p:nvSpPr>
        <p:spPr>
          <a:xfrm>
            <a:off x="1649413" y="990601"/>
            <a:ext cx="8210550" cy="5135563"/>
          </a:xfrm>
        </p:spPr>
        <p:txBody>
          <a:bodyPr/>
          <a:lstStyle/>
          <a:p>
            <a:r>
              <a:rPr lang="zh-CN" altLang="en-US" sz="2800" dirty="0">
                <a:latin typeface="Times New Roman" panose="02020603050405020304" pitchFamily="18" charset="0"/>
                <a:cs typeface="Times New Roman" panose="02020603050405020304" pitchFamily="18" charset="0"/>
              </a:rPr>
              <a:t>该字段指示是否允许用户交互，默认值是</a:t>
            </a:r>
            <a:r>
              <a:rPr lang="en-US" altLang="zh-CN" sz="2800" dirty="0">
                <a:latin typeface="Times New Roman" panose="02020603050405020304" pitchFamily="18" charset="0"/>
                <a:cs typeface="Times New Roman" panose="02020603050405020304" pitchFamily="18" charset="0"/>
              </a:rPr>
              <a:t>false</a:t>
            </a:r>
          </a:p>
          <a:p>
            <a:r>
              <a:rPr lang="zh-CN" altLang="en-US" sz="2800" dirty="0">
                <a:latin typeface="Times New Roman" panose="02020603050405020304" pitchFamily="18" charset="0"/>
                <a:cs typeface="Times New Roman" panose="02020603050405020304" pitchFamily="18" charset="0"/>
              </a:rPr>
              <a:t>当连接关闭，</a:t>
            </a:r>
            <a:r>
              <a:rPr lang="en-US" altLang="zh-CN" sz="2800" dirty="0">
                <a:latin typeface="Times New Roman" panose="02020603050405020304" pitchFamily="18" charset="0"/>
                <a:cs typeface="Times New Roman" panose="02020603050405020304" pitchFamily="18" charset="0"/>
              </a:rPr>
              <a:t>connected </a:t>
            </a:r>
            <a:r>
              <a:rPr lang="zh-CN" altLang="en-US" sz="2800" dirty="0">
                <a:latin typeface="Times New Roman" panose="02020603050405020304" pitchFamily="18" charset="0"/>
                <a:cs typeface="Times New Roman" panose="02020603050405020304" pitchFamily="18" charset="0"/>
              </a:rPr>
              <a:t>为</a:t>
            </a:r>
            <a:r>
              <a:rPr lang="en-US" altLang="zh-CN" sz="2800" dirty="0">
                <a:latin typeface="Times New Roman" panose="02020603050405020304" pitchFamily="18" charset="0"/>
                <a:cs typeface="Times New Roman" panose="02020603050405020304" pitchFamily="18" charset="0"/>
              </a:rPr>
              <a:t>false</a:t>
            </a:r>
          </a:p>
          <a:p>
            <a:r>
              <a:rPr lang="zh-CN" altLang="en-US" sz="2800" dirty="0"/>
              <a:t>只能通过该字段对应的</a:t>
            </a:r>
            <a:r>
              <a:rPr lang="en-US" altLang="zh-CN" sz="2800" dirty="0"/>
              <a:t>get/set</a:t>
            </a:r>
            <a:r>
              <a:rPr lang="zh-CN" altLang="en-US" sz="2800" dirty="0"/>
              <a:t>方法访问</a:t>
            </a:r>
            <a:endParaRPr lang="en-US" altLang="zh-CN" sz="2800" dirty="0"/>
          </a:p>
          <a:p>
            <a:r>
              <a:rPr lang="zh-CN" altLang="en-US" sz="2800" dirty="0"/>
              <a:t>只能在</a:t>
            </a:r>
            <a:r>
              <a:rPr lang="en-US" altLang="zh-CN" sz="2800" dirty="0" err="1"/>
              <a:t>URLConnection</a:t>
            </a:r>
            <a:r>
              <a:rPr lang="zh-CN" altLang="en-US" sz="2800" dirty="0"/>
              <a:t>连接前设置，否则会抛出</a:t>
            </a:r>
            <a:r>
              <a:rPr lang="en-US" altLang="zh-CN" sz="2800" dirty="0" err="1"/>
              <a:t>IllegalStateException</a:t>
            </a:r>
            <a:r>
              <a:rPr lang="zh-CN" altLang="en-US" sz="2800" dirty="0"/>
              <a:t>异常</a:t>
            </a:r>
          </a:p>
        </p:txBody>
      </p:sp>
      <p:sp>
        <p:nvSpPr>
          <p:cNvPr id="81924" name="矩形 4">
            <a:extLst>
              <a:ext uri="{FF2B5EF4-FFF2-40B4-BE49-F238E27FC236}">
                <a16:creationId xmlns:a16="http://schemas.microsoft.com/office/drawing/2014/main" id="{40D7A6B2-95CB-440D-B2D5-E3BCDC719CE8}"/>
              </a:ext>
            </a:extLst>
          </p:cNvPr>
          <p:cNvSpPr>
            <a:spLocks noChangeArrowheads="1"/>
          </p:cNvSpPr>
          <p:nvPr/>
        </p:nvSpPr>
        <p:spPr bwMode="auto">
          <a:xfrm>
            <a:off x="1912938" y="3886200"/>
            <a:ext cx="829786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400">
                <a:solidFill>
                  <a:srgbClr val="000000"/>
                </a:solidFill>
                <a:latin typeface="Times New Roman" panose="02020603050405020304" pitchFamily="18" charset="0"/>
                <a:cs typeface="Times New Roman" panose="02020603050405020304" pitchFamily="18" charset="0"/>
              </a:rPr>
              <a:t>URL u=new URL(“http://www.example.com/passwordProtectedPage.html”);</a:t>
            </a:r>
          </a:p>
          <a:p>
            <a:pPr>
              <a:spcBef>
                <a:spcPct val="0"/>
              </a:spcBef>
              <a:buClrTx/>
              <a:buSzTx/>
              <a:buFontTx/>
              <a:buNone/>
            </a:pPr>
            <a:r>
              <a:rPr lang="en-US" altLang="zh-CN" sz="2400">
                <a:solidFill>
                  <a:srgbClr val="000000"/>
                </a:solidFill>
                <a:latin typeface="Times New Roman" panose="02020603050405020304" pitchFamily="18" charset="0"/>
                <a:cs typeface="Times New Roman" panose="02020603050405020304" pitchFamily="18" charset="0"/>
              </a:rPr>
              <a:t>URLConnection uc = u.openConnection();//</a:t>
            </a:r>
            <a:r>
              <a:rPr lang="zh-CN" altLang="en-US" sz="2400">
                <a:solidFill>
                  <a:srgbClr val="000000"/>
                </a:solidFill>
                <a:latin typeface="Times New Roman" panose="02020603050405020304" pitchFamily="18" charset="0"/>
                <a:cs typeface="Times New Roman" panose="02020603050405020304" pitchFamily="18" charset="0"/>
              </a:rPr>
              <a:t>获得连接对象</a:t>
            </a:r>
            <a:endParaRPr lang="en-US" altLang="zh-CN" sz="240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400">
                <a:solidFill>
                  <a:srgbClr val="FF0000"/>
                </a:solidFill>
                <a:latin typeface="Times New Roman" panose="02020603050405020304" pitchFamily="18" charset="0"/>
                <a:cs typeface="Times New Roman" panose="02020603050405020304" pitchFamily="18" charset="0"/>
              </a:rPr>
              <a:t>Uc.setAllowUserInteraction(true);</a:t>
            </a:r>
          </a:p>
          <a:p>
            <a:pPr>
              <a:spcBef>
                <a:spcPct val="0"/>
              </a:spcBef>
              <a:buClrTx/>
              <a:buSzTx/>
              <a:buFontTx/>
              <a:buNone/>
            </a:pPr>
            <a:r>
              <a:rPr lang="en-US" altLang="zh-CN" sz="2400">
                <a:solidFill>
                  <a:srgbClr val="000000"/>
                </a:solidFill>
                <a:latin typeface="Times New Roman" panose="02020603050405020304" pitchFamily="18" charset="0"/>
                <a:cs typeface="Times New Roman" panose="02020603050405020304" pitchFamily="18" charset="0"/>
              </a:rPr>
              <a:t>InputStream in uc.getInputStream();//</a:t>
            </a:r>
            <a:r>
              <a:rPr lang="zh-CN" altLang="en-US" sz="2400">
                <a:solidFill>
                  <a:srgbClr val="000000"/>
                </a:solidFill>
                <a:latin typeface="Times New Roman" panose="02020603050405020304" pitchFamily="18" charset="0"/>
                <a:cs typeface="Times New Roman" panose="02020603050405020304" pitchFamily="18" charset="0"/>
              </a:rPr>
              <a:t>建立输入连接</a:t>
            </a:r>
            <a:endParaRPr lang="en-US" altLang="zh-CN" sz="240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a:extLst>
              <a:ext uri="{FF2B5EF4-FFF2-40B4-BE49-F238E27FC236}">
                <a16:creationId xmlns:a16="http://schemas.microsoft.com/office/drawing/2014/main" id="{AABD6E09-11A3-4DEB-8223-204B85E6A5D1}"/>
              </a:ext>
            </a:extLst>
          </p:cNvPr>
          <p:cNvSpPr>
            <a:spLocks noGrp="1"/>
          </p:cNvSpPr>
          <p:nvPr>
            <p:ph type="title"/>
          </p:nvPr>
        </p:nvSpPr>
        <p:spPr>
          <a:xfrm>
            <a:off x="1630363" y="107950"/>
            <a:ext cx="8540750" cy="685800"/>
          </a:xfrm>
        </p:spPr>
        <p:txBody>
          <a:bodyPr/>
          <a:lstStyle/>
          <a:p>
            <a:pPr algn="l"/>
            <a:r>
              <a:rPr lang="en-US" altLang="zh-CN" sz="3200"/>
              <a:t>Protected boolean doInput</a:t>
            </a:r>
            <a:endParaRPr lang="zh-CN" altLang="en-US" sz="3200"/>
          </a:p>
        </p:txBody>
      </p:sp>
      <p:sp>
        <p:nvSpPr>
          <p:cNvPr id="82947" name="内容占位符 2">
            <a:extLst>
              <a:ext uri="{FF2B5EF4-FFF2-40B4-BE49-F238E27FC236}">
                <a16:creationId xmlns:a16="http://schemas.microsoft.com/office/drawing/2014/main" id="{D9A56ED3-E92C-4E93-ACA9-681355EF90CF}"/>
              </a:ext>
            </a:extLst>
          </p:cNvPr>
          <p:cNvSpPr>
            <a:spLocks noGrp="1"/>
          </p:cNvSpPr>
          <p:nvPr>
            <p:ph idx="1"/>
          </p:nvPr>
        </p:nvSpPr>
        <p:spPr>
          <a:xfrm>
            <a:off x="1752600" y="793751"/>
            <a:ext cx="8210550" cy="5135563"/>
          </a:xfrm>
        </p:spPr>
        <p:txBody>
          <a:bodyPr/>
          <a:lstStyle/>
          <a:p>
            <a:r>
              <a:rPr lang="zh-CN" altLang="en-US" sz="2800">
                <a:latin typeface="Times New Roman" panose="02020603050405020304" pitchFamily="18" charset="0"/>
                <a:cs typeface="Times New Roman" panose="02020603050405020304" pitchFamily="18" charset="0"/>
              </a:rPr>
              <a:t>该字段指示</a:t>
            </a:r>
            <a:r>
              <a:rPr lang="en-US" altLang="zh-CN" sz="2800">
                <a:latin typeface="Times New Roman" panose="02020603050405020304" pitchFamily="18" charset="0"/>
                <a:cs typeface="Times New Roman" panose="02020603050405020304" pitchFamily="18" charset="0"/>
              </a:rPr>
              <a:t>URLConnection</a:t>
            </a:r>
            <a:r>
              <a:rPr lang="zh-CN" altLang="en-US" sz="2800">
                <a:latin typeface="Times New Roman" panose="02020603050405020304" pitchFamily="18" charset="0"/>
                <a:cs typeface="Times New Roman" panose="02020603050405020304" pitchFamily="18" charset="0"/>
              </a:rPr>
              <a:t>可否用于写入服务器</a:t>
            </a:r>
            <a:endParaRPr lang="en-US" altLang="zh-CN" sz="2800">
              <a:latin typeface="Times New Roman" panose="02020603050405020304" pitchFamily="18" charset="0"/>
              <a:cs typeface="Times New Roman" panose="02020603050405020304" pitchFamily="18" charset="0"/>
            </a:endParaRPr>
          </a:p>
          <a:p>
            <a:r>
              <a:rPr lang="en-US" altLang="zh-CN" sz="2800">
                <a:latin typeface="Times New Roman" panose="02020603050405020304" pitchFamily="18" charset="0"/>
                <a:cs typeface="Times New Roman" panose="02020603050405020304" pitchFamily="18" charset="0"/>
              </a:rPr>
              <a:t>doInput</a:t>
            </a:r>
            <a:r>
              <a:rPr lang="zh-CN" altLang="en-US" sz="2800">
                <a:latin typeface="Times New Roman" panose="02020603050405020304" pitchFamily="18" charset="0"/>
                <a:cs typeface="Times New Roman" panose="02020603050405020304" pitchFamily="18" charset="0"/>
              </a:rPr>
              <a:t>为</a:t>
            </a:r>
            <a:r>
              <a:rPr lang="en-US" altLang="zh-CN" sz="2800">
                <a:latin typeface="Times New Roman" panose="02020603050405020304" pitchFamily="18" charset="0"/>
                <a:cs typeface="Times New Roman" panose="02020603050405020304" pitchFamily="18" charset="0"/>
              </a:rPr>
              <a:t>true</a:t>
            </a:r>
            <a:r>
              <a:rPr lang="zh-CN" altLang="en-US" sz="2800">
                <a:latin typeface="Times New Roman" panose="02020603050405020304" pitchFamily="18" charset="0"/>
                <a:cs typeface="Times New Roman" panose="02020603050405020304" pitchFamily="18" charset="0"/>
              </a:rPr>
              <a:t>表示连接写用于读</a:t>
            </a:r>
            <a:r>
              <a:rPr lang="en-US" altLang="zh-CN" sz="2800">
                <a:latin typeface="Times New Roman" panose="02020603050405020304" pitchFamily="18" charset="0"/>
                <a:cs typeface="Times New Roman" panose="02020603050405020304" pitchFamily="18" charset="0"/>
              </a:rPr>
              <a:t>/</a:t>
            </a:r>
            <a:r>
              <a:rPr lang="zh-CN" altLang="en-US" sz="2800">
                <a:latin typeface="Times New Roman" panose="02020603050405020304" pitchFamily="18" charset="0"/>
                <a:cs typeface="Times New Roman" panose="02020603050405020304" pitchFamily="18" charset="0"/>
              </a:rPr>
              <a:t>写服务器</a:t>
            </a:r>
            <a:endParaRPr lang="en-US" altLang="zh-CN" sz="2800">
              <a:latin typeface="Times New Roman" panose="02020603050405020304" pitchFamily="18" charset="0"/>
              <a:cs typeface="Times New Roman" panose="02020603050405020304" pitchFamily="18" charset="0"/>
            </a:endParaRPr>
          </a:p>
          <a:p>
            <a:r>
              <a:rPr lang="en-US" altLang="zh-CN" sz="2800">
                <a:latin typeface="Times New Roman" panose="02020603050405020304" pitchFamily="18" charset="0"/>
                <a:cs typeface="Times New Roman" panose="02020603050405020304" pitchFamily="18" charset="0"/>
              </a:rPr>
              <a:t>doInput</a:t>
            </a:r>
            <a:r>
              <a:rPr lang="zh-CN" altLang="en-US" sz="2800">
                <a:latin typeface="Times New Roman" panose="02020603050405020304" pitchFamily="18" charset="0"/>
                <a:cs typeface="Times New Roman" panose="02020603050405020304" pitchFamily="18" charset="0"/>
              </a:rPr>
              <a:t>为</a:t>
            </a:r>
            <a:r>
              <a:rPr lang="en-US" altLang="zh-CN" sz="2800">
                <a:latin typeface="Times New Roman" panose="02020603050405020304" pitchFamily="18" charset="0"/>
                <a:cs typeface="Times New Roman" panose="02020603050405020304" pitchFamily="18" charset="0"/>
              </a:rPr>
              <a:t>false</a:t>
            </a:r>
            <a:r>
              <a:rPr lang="zh-CN" altLang="en-US" sz="2800">
                <a:latin typeface="Times New Roman" panose="02020603050405020304" pitchFamily="18" charset="0"/>
                <a:cs typeface="Times New Roman" panose="02020603050405020304" pitchFamily="18" charset="0"/>
              </a:rPr>
              <a:t>表示连接只能用于读取服务器。</a:t>
            </a:r>
            <a:endParaRPr lang="en-US" altLang="zh-CN" sz="2800">
              <a:latin typeface="Times New Roman" panose="02020603050405020304" pitchFamily="18" charset="0"/>
              <a:cs typeface="Times New Roman" panose="02020603050405020304" pitchFamily="18" charset="0"/>
            </a:endParaRPr>
          </a:p>
          <a:p>
            <a:r>
              <a:rPr lang="zh-CN" altLang="en-US" sz="2800">
                <a:latin typeface="Times New Roman" panose="02020603050405020304" pitchFamily="18" charset="0"/>
                <a:cs typeface="Times New Roman" panose="02020603050405020304" pitchFamily="18" charset="0"/>
              </a:rPr>
              <a:t>默认值是</a:t>
            </a:r>
            <a:r>
              <a:rPr lang="en-US" altLang="zh-CN" sz="2800">
                <a:latin typeface="Times New Roman" panose="02020603050405020304" pitchFamily="18" charset="0"/>
                <a:cs typeface="Times New Roman" panose="02020603050405020304" pitchFamily="18" charset="0"/>
              </a:rPr>
              <a:t>true</a:t>
            </a:r>
          </a:p>
          <a:p>
            <a:r>
              <a:rPr lang="zh-CN" altLang="en-US" sz="2800">
                <a:latin typeface="Times New Roman" panose="02020603050405020304" pitchFamily="18" charset="0"/>
                <a:cs typeface="Times New Roman" panose="02020603050405020304" pitchFamily="18" charset="0"/>
              </a:rPr>
              <a:t>该字段的访问使用对应的</a:t>
            </a:r>
            <a:r>
              <a:rPr lang="en-US" altLang="zh-CN" sz="2800">
                <a:latin typeface="Times New Roman" panose="02020603050405020304" pitchFamily="18" charset="0"/>
                <a:cs typeface="Times New Roman" panose="02020603050405020304" pitchFamily="18" charset="0"/>
              </a:rPr>
              <a:t>get/set</a:t>
            </a:r>
            <a:r>
              <a:rPr lang="zh-CN" altLang="en-US" sz="2800">
                <a:latin typeface="Times New Roman" panose="02020603050405020304" pitchFamily="18" charset="0"/>
                <a:cs typeface="Times New Roman" panose="02020603050405020304" pitchFamily="18" charset="0"/>
              </a:rPr>
              <a:t>方法</a:t>
            </a:r>
            <a:endParaRPr lang="en-US" altLang="zh-CN" sz="2800">
              <a:latin typeface="Times New Roman" panose="02020603050405020304" pitchFamily="18" charset="0"/>
              <a:cs typeface="Times New Roman" panose="02020603050405020304" pitchFamily="18" charset="0"/>
            </a:endParaRPr>
          </a:p>
          <a:p>
            <a:endParaRPr lang="zh-CN" altLang="en-US" sz="2800"/>
          </a:p>
        </p:txBody>
      </p:sp>
      <p:sp>
        <p:nvSpPr>
          <p:cNvPr id="82948" name="矩形 4">
            <a:extLst>
              <a:ext uri="{FF2B5EF4-FFF2-40B4-BE49-F238E27FC236}">
                <a16:creationId xmlns:a16="http://schemas.microsoft.com/office/drawing/2014/main" id="{E0FD85F2-18B6-4210-BE0D-2A0A15F2B8C7}"/>
              </a:ext>
            </a:extLst>
          </p:cNvPr>
          <p:cNvSpPr>
            <a:spLocks noChangeArrowheads="1"/>
          </p:cNvSpPr>
          <p:nvPr/>
        </p:nvSpPr>
        <p:spPr bwMode="auto">
          <a:xfrm>
            <a:off x="1752601" y="3505200"/>
            <a:ext cx="8297863"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a:solidFill>
                  <a:srgbClr val="000000"/>
                </a:solidFill>
                <a:latin typeface="Times New Roman" panose="02020603050405020304" pitchFamily="18" charset="0"/>
                <a:cs typeface="Times New Roman" panose="02020603050405020304" pitchFamily="18" charset="0"/>
              </a:rPr>
              <a:t>Try{</a:t>
            </a:r>
          </a:p>
          <a:p>
            <a:pPr>
              <a:spcBef>
                <a:spcPct val="0"/>
              </a:spcBef>
              <a:buClrTx/>
              <a:buSzTx/>
              <a:buFontTx/>
              <a:buNone/>
            </a:pPr>
            <a:r>
              <a:rPr lang="en-US" altLang="zh-CN" sz="2000">
                <a:solidFill>
                  <a:srgbClr val="000000"/>
                </a:solidFill>
                <a:latin typeface="Times New Roman" panose="02020603050405020304" pitchFamily="18" charset="0"/>
                <a:cs typeface="Times New Roman" panose="02020603050405020304" pitchFamily="18" charset="0"/>
              </a:rPr>
              <a:t>	URL u=new  URL(“http://www.oreilly.com”);</a:t>
            </a:r>
          </a:p>
          <a:p>
            <a:pPr>
              <a:spcBef>
                <a:spcPct val="0"/>
              </a:spcBef>
              <a:buClrTx/>
              <a:buSzTx/>
              <a:buFontTx/>
              <a:buNone/>
            </a:pPr>
            <a:r>
              <a:rPr lang="en-US" altLang="zh-CN" sz="2000">
                <a:solidFill>
                  <a:srgbClr val="000000"/>
                </a:solidFill>
                <a:latin typeface="Times New Roman" panose="02020603050405020304" pitchFamily="18" charset="0"/>
                <a:cs typeface="Times New Roman" panose="02020603050405020304" pitchFamily="18" charset="0"/>
              </a:rPr>
              <a:t>	URLConnection uc = u.openConnection();//</a:t>
            </a:r>
            <a:r>
              <a:rPr lang="zh-CN" altLang="en-US" sz="2000">
                <a:solidFill>
                  <a:srgbClr val="000000"/>
                </a:solidFill>
                <a:latin typeface="Times New Roman" panose="02020603050405020304" pitchFamily="18" charset="0"/>
                <a:cs typeface="Times New Roman" panose="02020603050405020304" pitchFamily="18" charset="0"/>
              </a:rPr>
              <a:t>获得连接对象</a:t>
            </a:r>
            <a:endParaRPr lang="en-US" altLang="zh-CN" sz="200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000">
                <a:solidFill>
                  <a:srgbClr val="FF0000"/>
                </a:solidFill>
                <a:latin typeface="Times New Roman" panose="02020603050405020304" pitchFamily="18" charset="0"/>
                <a:cs typeface="Times New Roman" panose="02020603050405020304" pitchFamily="18" charset="0"/>
              </a:rPr>
              <a:t>	if(!uc.getDoInput()){</a:t>
            </a:r>
          </a:p>
          <a:p>
            <a:pPr>
              <a:spcBef>
                <a:spcPct val="0"/>
              </a:spcBef>
              <a:buClrTx/>
              <a:buSzTx/>
              <a:buFontTx/>
              <a:buNone/>
            </a:pPr>
            <a:r>
              <a:rPr lang="en-US" altLang="zh-CN" sz="2000">
                <a:solidFill>
                  <a:srgbClr val="FF0000"/>
                </a:solidFill>
                <a:latin typeface="Times New Roman" panose="02020603050405020304" pitchFamily="18" charset="0"/>
                <a:cs typeface="Times New Roman" panose="02020603050405020304" pitchFamily="18" charset="0"/>
              </a:rPr>
              <a:t>                    uc.setDoInput(true);</a:t>
            </a:r>
          </a:p>
          <a:p>
            <a:pPr>
              <a:spcBef>
                <a:spcPct val="0"/>
              </a:spcBef>
              <a:buClrTx/>
              <a:buSzTx/>
              <a:buFontTx/>
              <a:buNone/>
            </a:pPr>
            <a:r>
              <a:rPr lang="en-US" altLang="zh-CN" sz="2000">
                <a:solidFill>
                  <a:srgbClr val="FF0000"/>
                </a:solidFill>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从连接读取</a:t>
            </a:r>
            <a:r>
              <a:rPr lang="en-US" altLang="zh-CN" sz="2000">
                <a:solidFill>
                  <a:srgbClr val="000000"/>
                </a:solidFill>
                <a:latin typeface="Times New Roman" panose="02020603050405020304" pitchFamily="18" charset="0"/>
                <a:cs typeface="Times New Roman" panose="02020603050405020304" pitchFamily="18" charset="0"/>
              </a:rPr>
              <a:t>…</a:t>
            </a:r>
          </a:p>
          <a:p>
            <a:pPr>
              <a:spcBef>
                <a:spcPct val="0"/>
              </a:spcBef>
              <a:buClrTx/>
              <a:buSzTx/>
              <a:buFontTx/>
              <a:buNone/>
            </a:pPr>
            <a:r>
              <a:rPr lang="zh-CN" altLang="en-US"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catch(IOException ex){</a:t>
            </a:r>
          </a:p>
          <a:p>
            <a:pPr>
              <a:spcBef>
                <a:spcPct val="0"/>
              </a:spcBef>
              <a:buClrTx/>
              <a:buSzTx/>
              <a:buFontTx/>
              <a:buNone/>
            </a:pPr>
            <a:r>
              <a:rPr lang="en-US" altLang="zh-CN" sz="2000">
                <a:solidFill>
                  <a:srgbClr val="000000"/>
                </a:solidFill>
                <a:latin typeface="Times New Roman" panose="02020603050405020304" pitchFamily="18" charset="0"/>
                <a:cs typeface="Times New Roman" panose="02020603050405020304" pitchFamily="18" charset="0"/>
              </a:rPr>
              <a:t>	System.out.println(ex);</a:t>
            </a:r>
          </a:p>
          <a:p>
            <a:pPr>
              <a:spcBef>
                <a:spcPct val="0"/>
              </a:spcBef>
              <a:buClrTx/>
              <a:buSzTx/>
              <a:buFontTx/>
              <a:buNone/>
            </a:pPr>
            <a:r>
              <a:rPr lang="en-US" altLang="zh-CN" sz="2000">
                <a:solidFill>
                  <a:srgbClr val="000000"/>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a:extLst>
              <a:ext uri="{FF2B5EF4-FFF2-40B4-BE49-F238E27FC236}">
                <a16:creationId xmlns:a16="http://schemas.microsoft.com/office/drawing/2014/main" id="{7EB61FC0-4CAD-41BE-BB48-FBE7A7E3FCE8}"/>
              </a:ext>
            </a:extLst>
          </p:cNvPr>
          <p:cNvSpPr>
            <a:spLocks noGrp="1"/>
          </p:cNvSpPr>
          <p:nvPr>
            <p:ph type="title"/>
          </p:nvPr>
        </p:nvSpPr>
        <p:spPr>
          <a:xfrm>
            <a:off x="1716088" y="152400"/>
            <a:ext cx="8540750" cy="685800"/>
          </a:xfrm>
        </p:spPr>
        <p:txBody>
          <a:bodyPr/>
          <a:lstStyle/>
          <a:p>
            <a:pPr algn="l"/>
            <a:r>
              <a:rPr lang="en-US" altLang="zh-CN" sz="3200"/>
              <a:t>Protected boolean doOutput</a:t>
            </a:r>
            <a:endParaRPr lang="zh-CN" altLang="en-US" sz="3200"/>
          </a:p>
        </p:txBody>
      </p:sp>
      <p:sp>
        <p:nvSpPr>
          <p:cNvPr id="83971" name="内容占位符 2">
            <a:extLst>
              <a:ext uri="{FF2B5EF4-FFF2-40B4-BE49-F238E27FC236}">
                <a16:creationId xmlns:a16="http://schemas.microsoft.com/office/drawing/2014/main" id="{E22C6906-CAA2-4F70-9A8D-FDED0CE3BBEE}"/>
              </a:ext>
            </a:extLst>
          </p:cNvPr>
          <p:cNvSpPr>
            <a:spLocks noGrp="1"/>
          </p:cNvSpPr>
          <p:nvPr>
            <p:ph idx="1"/>
          </p:nvPr>
        </p:nvSpPr>
        <p:spPr>
          <a:xfrm>
            <a:off x="1736725" y="914400"/>
            <a:ext cx="8210550" cy="2947988"/>
          </a:xfrm>
        </p:spPr>
        <p:txBody>
          <a:bodyPr/>
          <a:lstStyle/>
          <a:p>
            <a:r>
              <a:rPr lang="zh-CN" altLang="en-US" sz="2400">
                <a:latin typeface="Times New Roman" panose="02020603050405020304" pitchFamily="18" charset="0"/>
                <a:cs typeface="Times New Roman" panose="02020603050405020304" pitchFamily="18" charset="0"/>
              </a:rPr>
              <a:t>该字段指示程序可否使用</a:t>
            </a:r>
            <a:r>
              <a:rPr lang="en-US" altLang="zh-CN" sz="2400">
                <a:latin typeface="Times New Roman" panose="02020603050405020304" pitchFamily="18" charset="0"/>
                <a:cs typeface="Times New Roman" panose="02020603050405020304" pitchFamily="18" charset="0"/>
              </a:rPr>
              <a:t>URLConnection</a:t>
            </a:r>
            <a:r>
              <a:rPr lang="zh-CN" altLang="en-US" sz="2400">
                <a:latin typeface="Times New Roman" panose="02020603050405020304" pitchFamily="18" charset="0"/>
                <a:cs typeface="Times New Roman" panose="02020603050405020304" pitchFamily="18" charset="0"/>
              </a:rPr>
              <a:t>将输出发回服务器</a:t>
            </a:r>
            <a:endParaRPr lang="en-US" altLang="zh-CN" sz="2400">
              <a:latin typeface="Times New Roman" panose="02020603050405020304" pitchFamily="18" charset="0"/>
              <a:cs typeface="Times New Roman" panose="02020603050405020304" pitchFamily="18" charset="0"/>
            </a:endParaRPr>
          </a:p>
          <a:p>
            <a:r>
              <a:rPr lang="en-US" altLang="zh-CN" sz="2400">
                <a:latin typeface="Times New Roman" panose="02020603050405020304" pitchFamily="18" charset="0"/>
                <a:cs typeface="Times New Roman" panose="02020603050405020304" pitchFamily="18" charset="0"/>
              </a:rPr>
              <a:t>doOutput</a:t>
            </a:r>
            <a:r>
              <a:rPr lang="zh-CN" altLang="en-US" sz="2400">
                <a:latin typeface="Times New Roman" panose="02020603050405020304" pitchFamily="18" charset="0"/>
                <a:cs typeface="Times New Roman" panose="02020603050405020304" pitchFamily="18" charset="0"/>
              </a:rPr>
              <a:t>为</a:t>
            </a:r>
            <a:r>
              <a:rPr lang="en-US" altLang="zh-CN" sz="2400">
                <a:latin typeface="Times New Roman" panose="02020603050405020304" pitchFamily="18" charset="0"/>
                <a:cs typeface="Times New Roman" panose="02020603050405020304" pitchFamily="18" charset="0"/>
              </a:rPr>
              <a:t>true</a:t>
            </a:r>
            <a:r>
              <a:rPr lang="zh-CN" altLang="en-US" sz="2400">
                <a:latin typeface="Times New Roman" panose="02020603050405020304" pitchFamily="18" charset="0"/>
                <a:cs typeface="Times New Roman" panose="02020603050405020304" pitchFamily="18" charset="0"/>
              </a:rPr>
              <a:t>表示连接写用于写数据到服务器</a:t>
            </a:r>
            <a:endParaRPr lang="en-US" altLang="zh-CN" sz="2400">
              <a:latin typeface="Times New Roman" panose="02020603050405020304" pitchFamily="18" charset="0"/>
              <a:cs typeface="Times New Roman" panose="02020603050405020304" pitchFamily="18" charset="0"/>
            </a:endParaRPr>
          </a:p>
          <a:p>
            <a:r>
              <a:rPr lang="en-US" altLang="zh-CN" sz="2400">
                <a:latin typeface="Times New Roman" panose="02020603050405020304" pitchFamily="18" charset="0"/>
                <a:cs typeface="Times New Roman" panose="02020603050405020304" pitchFamily="18" charset="0"/>
              </a:rPr>
              <a:t>doOutput</a:t>
            </a:r>
            <a:r>
              <a:rPr lang="zh-CN" altLang="en-US" sz="2400">
                <a:latin typeface="Times New Roman" panose="02020603050405020304" pitchFamily="18" charset="0"/>
                <a:cs typeface="Times New Roman" panose="02020603050405020304" pitchFamily="18" charset="0"/>
              </a:rPr>
              <a:t>为</a:t>
            </a:r>
            <a:r>
              <a:rPr lang="en-US" altLang="zh-CN" sz="2400">
                <a:latin typeface="Times New Roman" panose="02020603050405020304" pitchFamily="18" charset="0"/>
                <a:cs typeface="Times New Roman" panose="02020603050405020304" pitchFamily="18" charset="0"/>
              </a:rPr>
              <a:t>false</a:t>
            </a:r>
            <a:r>
              <a:rPr lang="zh-CN" altLang="en-US" sz="2400">
                <a:latin typeface="Times New Roman" panose="02020603050405020304" pitchFamily="18" charset="0"/>
                <a:cs typeface="Times New Roman" panose="02020603050405020304" pitchFamily="18" charset="0"/>
              </a:rPr>
              <a:t>表示连接不能用于写数据到服务器。</a:t>
            </a:r>
            <a:endParaRPr lang="en-US" altLang="zh-CN" sz="24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默认值是</a:t>
            </a:r>
            <a:r>
              <a:rPr lang="en-US" altLang="zh-CN" sz="2400">
                <a:latin typeface="Times New Roman" panose="02020603050405020304" pitchFamily="18" charset="0"/>
                <a:cs typeface="Times New Roman" panose="02020603050405020304" pitchFamily="18" charset="0"/>
              </a:rPr>
              <a:t>false</a:t>
            </a:r>
          </a:p>
          <a:p>
            <a:r>
              <a:rPr lang="zh-CN" altLang="en-US" sz="2400">
                <a:latin typeface="Times New Roman" panose="02020603050405020304" pitchFamily="18" charset="0"/>
                <a:cs typeface="Times New Roman" panose="02020603050405020304" pitchFamily="18" charset="0"/>
              </a:rPr>
              <a:t>该字段的访问使用对应的</a:t>
            </a:r>
            <a:r>
              <a:rPr lang="en-US" altLang="zh-CN" sz="2400">
                <a:latin typeface="Times New Roman" panose="02020603050405020304" pitchFamily="18" charset="0"/>
                <a:cs typeface="Times New Roman" panose="02020603050405020304" pitchFamily="18" charset="0"/>
              </a:rPr>
              <a:t>get/set</a:t>
            </a:r>
            <a:r>
              <a:rPr lang="zh-CN" altLang="en-US" sz="2400">
                <a:latin typeface="Times New Roman" panose="02020603050405020304" pitchFamily="18" charset="0"/>
                <a:cs typeface="Times New Roman" panose="02020603050405020304" pitchFamily="18" charset="0"/>
              </a:rPr>
              <a:t>方法</a:t>
            </a:r>
            <a:endParaRPr lang="en-US" altLang="zh-CN" sz="2400">
              <a:latin typeface="Times New Roman" panose="02020603050405020304" pitchFamily="18" charset="0"/>
              <a:cs typeface="Times New Roman" panose="02020603050405020304" pitchFamily="18" charset="0"/>
            </a:endParaRPr>
          </a:p>
          <a:p>
            <a:endParaRPr lang="zh-CN" altLang="en-US" sz="2800"/>
          </a:p>
        </p:txBody>
      </p:sp>
      <p:sp>
        <p:nvSpPr>
          <p:cNvPr id="83972" name="矩形 4">
            <a:extLst>
              <a:ext uri="{FF2B5EF4-FFF2-40B4-BE49-F238E27FC236}">
                <a16:creationId xmlns:a16="http://schemas.microsoft.com/office/drawing/2014/main" id="{8A012A55-866B-4363-8799-834964B58876}"/>
              </a:ext>
            </a:extLst>
          </p:cNvPr>
          <p:cNvSpPr>
            <a:spLocks noChangeArrowheads="1"/>
          </p:cNvSpPr>
          <p:nvPr/>
        </p:nvSpPr>
        <p:spPr bwMode="auto">
          <a:xfrm>
            <a:off x="1836738" y="3716339"/>
            <a:ext cx="8297862" cy="317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a:solidFill>
                  <a:srgbClr val="000000"/>
                </a:solidFill>
                <a:latin typeface="Times New Roman" panose="02020603050405020304" pitchFamily="18" charset="0"/>
                <a:cs typeface="Times New Roman" panose="02020603050405020304" pitchFamily="18" charset="0"/>
              </a:rPr>
              <a:t>Try{</a:t>
            </a:r>
          </a:p>
          <a:p>
            <a:pPr>
              <a:spcBef>
                <a:spcPct val="0"/>
              </a:spcBef>
              <a:buClrTx/>
              <a:buSzTx/>
              <a:buFontTx/>
              <a:buNone/>
            </a:pPr>
            <a:r>
              <a:rPr lang="en-US" altLang="zh-CN" sz="2000">
                <a:solidFill>
                  <a:srgbClr val="000000"/>
                </a:solidFill>
                <a:latin typeface="Times New Roman" panose="02020603050405020304" pitchFamily="18" charset="0"/>
                <a:cs typeface="Times New Roman" panose="02020603050405020304" pitchFamily="18" charset="0"/>
              </a:rPr>
              <a:t>	URL u=new  URL(“http://www.oreilly.com”);</a:t>
            </a:r>
          </a:p>
          <a:p>
            <a:pPr>
              <a:spcBef>
                <a:spcPct val="0"/>
              </a:spcBef>
              <a:buClrTx/>
              <a:buSzTx/>
              <a:buFontTx/>
              <a:buNone/>
            </a:pPr>
            <a:r>
              <a:rPr lang="en-US" altLang="zh-CN" sz="2000">
                <a:solidFill>
                  <a:srgbClr val="000000"/>
                </a:solidFill>
                <a:latin typeface="Times New Roman" panose="02020603050405020304" pitchFamily="18" charset="0"/>
                <a:cs typeface="Times New Roman" panose="02020603050405020304" pitchFamily="18" charset="0"/>
              </a:rPr>
              <a:t>	URLConnection uc = u.openConnection();//</a:t>
            </a:r>
            <a:r>
              <a:rPr lang="zh-CN" altLang="en-US" sz="2000">
                <a:solidFill>
                  <a:srgbClr val="000000"/>
                </a:solidFill>
                <a:latin typeface="Times New Roman" panose="02020603050405020304" pitchFamily="18" charset="0"/>
                <a:cs typeface="Times New Roman" panose="02020603050405020304" pitchFamily="18" charset="0"/>
              </a:rPr>
              <a:t>获得连接对象</a:t>
            </a:r>
            <a:endParaRPr lang="en-US" altLang="zh-CN" sz="200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000">
                <a:solidFill>
                  <a:srgbClr val="FF0000"/>
                </a:solidFill>
                <a:latin typeface="Times New Roman" panose="02020603050405020304" pitchFamily="18" charset="0"/>
                <a:cs typeface="Times New Roman" panose="02020603050405020304" pitchFamily="18" charset="0"/>
              </a:rPr>
              <a:t>	if(!uc.getDoOutput()){</a:t>
            </a:r>
          </a:p>
          <a:p>
            <a:pPr>
              <a:spcBef>
                <a:spcPct val="0"/>
              </a:spcBef>
              <a:buClrTx/>
              <a:buSzTx/>
              <a:buFontTx/>
              <a:buNone/>
            </a:pPr>
            <a:r>
              <a:rPr lang="en-US" altLang="zh-CN" sz="2000">
                <a:solidFill>
                  <a:srgbClr val="FF0000"/>
                </a:solidFill>
                <a:latin typeface="Times New Roman" panose="02020603050405020304" pitchFamily="18" charset="0"/>
                <a:cs typeface="Times New Roman" panose="02020603050405020304" pitchFamily="18" charset="0"/>
              </a:rPr>
              <a:t>                    uc.setDoOutput(true);</a:t>
            </a:r>
          </a:p>
          <a:p>
            <a:pPr>
              <a:spcBef>
                <a:spcPct val="0"/>
              </a:spcBef>
              <a:buClrTx/>
              <a:buSzTx/>
              <a:buFontTx/>
              <a:buNone/>
            </a:pPr>
            <a:r>
              <a:rPr lang="en-US" altLang="zh-CN" sz="2000">
                <a:solidFill>
                  <a:srgbClr val="FF0000"/>
                </a:solidFill>
                <a:latin typeface="Times New Roman" panose="02020603050405020304" pitchFamily="18" charset="0"/>
                <a:cs typeface="Times New Roman" panose="02020603050405020304" pitchFamily="18" charset="0"/>
              </a:rPr>
              <a:t>              }</a:t>
            </a:r>
          </a:p>
          <a:p>
            <a:pPr>
              <a:spcBef>
                <a:spcPct val="0"/>
              </a:spcBef>
              <a:buClrTx/>
              <a:buSzTx/>
              <a:buFontTx/>
              <a:buNone/>
            </a:pP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写入连接</a:t>
            </a:r>
            <a:r>
              <a:rPr lang="en-US" altLang="zh-CN" sz="2000">
                <a:solidFill>
                  <a:srgbClr val="000000"/>
                </a:solidFill>
                <a:latin typeface="Times New Roman" panose="02020603050405020304" pitchFamily="18" charset="0"/>
                <a:cs typeface="Times New Roman" panose="02020603050405020304" pitchFamily="18" charset="0"/>
              </a:rPr>
              <a:t>…</a:t>
            </a:r>
          </a:p>
          <a:p>
            <a:pPr>
              <a:spcBef>
                <a:spcPct val="0"/>
              </a:spcBef>
              <a:buClrTx/>
              <a:buSzTx/>
              <a:buFontTx/>
              <a:buNone/>
            </a:pPr>
            <a:r>
              <a:rPr lang="zh-CN" altLang="en-US"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catch(IOException ex){</a:t>
            </a:r>
          </a:p>
          <a:p>
            <a:pPr>
              <a:spcBef>
                <a:spcPct val="0"/>
              </a:spcBef>
              <a:buClrTx/>
              <a:buSzTx/>
              <a:buFontTx/>
              <a:buNone/>
            </a:pPr>
            <a:r>
              <a:rPr lang="en-US" altLang="zh-CN" sz="2000">
                <a:solidFill>
                  <a:srgbClr val="000000"/>
                </a:solidFill>
                <a:latin typeface="Times New Roman" panose="02020603050405020304" pitchFamily="18" charset="0"/>
                <a:cs typeface="Times New Roman" panose="02020603050405020304" pitchFamily="18" charset="0"/>
              </a:rPr>
              <a:t>	System.out.println(ex);</a:t>
            </a:r>
          </a:p>
          <a:p>
            <a:pPr>
              <a:spcBef>
                <a:spcPct val="0"/>
              </a:spcBef>
              <a:buClrTx/>
              <a:buSzTx/>
              <a:buFontTx/>
              <a:buNone/>
            </a:pPr>
            <a:r>
              <a:rPr lang="en-US" altLang="zh-CN" sz="2000">
                <a:solidFill>
                  <a:srgbClr val="000000"/>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a:extLst>
              <a:ext uri="{FF2B5EF4-FFF2-40B4-BE49-F238E27FC236}">
                <a16:creationId xmlns:a16="http://schemas.microsoft.com/office/drawing/2014/main" id="{71051CE9-2019-4482-AA28-62B8B4EA8623}"/>
              </a:ext>
            </a:extLst>
          </p:cNvPr>
          <p:cNvSpPr>
            <a:spLocks noGrp="1"/>
          </p:cNvSpPr>
          <p:nvPr>
            <p:ph type="title"/>
          </p:nvPr>
        </p:nvSpPr>
        <p:spPr>
          <a:xfrm>
            <a:off x="1593850" y="15875"/>
            <a:ext cx="8540750" cy="685800"/>
          </a:xfrm>
        </p:spPr>
        <p:txBody>
          <a:bodyPr/>
          <a:lstStyle/>
          <a:p>
            <a:pPr algn="l"/>
            <a:r>
              <a:rPr lang="en-US" altLang="zh-CN" sz="3200"/>
              <a:t>Protected boolean ifModifiedSince</a:t>
            </a:r>
            <a:endParaRPr lang="zh-CN" altLang="en-US" sz="3200"/>
          </a:p>
        </p:txBody>
      </p:sp>
      <p:sp>
        <p:nvSpPr>
          <p:cNvPr id="29699" name="内容占位符 2">
            <a:extLst>
              <a:ext uri="{FF2B5EF4-FFF2-40B4-BE49-F238E27FC236}">
                <a16:creationId xmlns:a16="http://schemas.microsoft.com/office/drawing/2014/main" id="{C2D092A0-3D50-4B8B-875B-1E8B2058590F}"/>
              </a:ext>
            </a:extLst>
          </p:cNvPr>
          <p:cNvSpPr>
            <a:spLocks noGrp="1"/>
          </p:cNvSpPr>
          <p:nvPr>
            <p:ph idx="1"/>
          </p:nvPr>
        </p:nvSpPr>
        <p:spPr>
          <a:xfrm>
            <a:off x="1781175" y="1000126"/>
            <a:ext cx="8210550" cy="5135563"/>
          </a:xfrm>
        </p:spPr>
        <p:txBody>
          <a:bodyPr/>
          <a:lstStyle/>
          <a:p>
            <a:r>
              <a:rPr lang="zh-CN" altLang="en-US" sz="2800" dirty="0">
                <a:latin typeface="Times New Roman" panose="02020603050405020304" pitchFamily="18" charset="0"/>
                <a:cs typeface="Times New Roman" panose="02020603050405020304" pitchFamily="18" charset="0"/>
              </a:rPr>
              <a:t>该字段指示放置在</a:t>
            </a:r>
            <a:r>
              <a:rPr lang="en-US" altLang="zh-CN" sz="2800" dirty="0" err="1">
                <a:latin typeface="Times New Roman" panose="02020603050405020304" pitchFamily="18" charset="0"/>
                <a:cs typeface="Times New Roman" panose="02020603050405020304" pitchFamily="18" charset="0"/>
              </a:rPr>
              <a:t>URLConnection</a:t>
            </a:r>
            <a:r>
              <a:rPr lang="zh-CN" altLang="en-US" sz="2800" dirty="0">
                <a:latin typeface="Times New Roman" panose="02020603050405020304" pitchFamily="18" charset="0"/>
                <a:cs typeface="Times New Roman" panose="02020603050405020304" pitchFamily="18" charset="0"/>
              </a:rPr>
              <a:t>连接请求头的</a:t>
            </a:r>
            <a:r>
              <a:rPr lang="en-US" altLang="zh-CN" sz="2800" dirty="0">
                <a:latin typeface="Times New Roman" panose="02020603050405020304" pitchFamily="18" charset="0"/>
                <a:cs typeface="Times New Roman" panose="02020603050405020304" pitchFamily="18" charset="0"/>
              </a:rPr>
              <a:t>If-Modified-Since</a:t>
            </a:r>
            <a:r>
              <a:rPr lang="zh-CN" altLang="en-US" sz="2800" dirty="0">
                <a:latin typeface="Times New Roman" panose="02020603050405020304" pitchFamily="18" charset="0"/>
                <a:cs typeface="Times New Roman" panose="02020603050405020304" pitchFamily="18" charset="0"/>
              </a:rPr>
              <a:t>字段中的日期</a:t>
            </a:r>
            <a:endParaRPr lang="en-US" altLang="zh-CN" sz="28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endParaRPr lang="en-US" altLang="zh-CN" sz="28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该字段值是</a:t>
            </a:r>
            <a:r>
              <a:rPr lang="en-US" altLang="zh-CN" sz="2400" dirty="0">
                <a:latin typeface="Times New Roman" panose="02020603050405020304" pitchFamily="18" charset="0"/>
                <a:cs typeface="Times New Roman" panose="02020603050405020304" pitchFamily="18" charset="0"/>
              </a:rPr>
              <a:t>long</a:t>
            </a:r>
            <a:r>
              <a:rPr lang="zh-CN" altLang="en-US" sz="2400" dirty="0">
                <a:latin typeface="Times New Roman" panose="02020603050405020304" pitchFamily="18" charset="0"/>
                <a:cs typeface="Times New Roman" panose="02020603050405020304" pitchFamily="18" charset="0"/>
              </a:rPr>
              <a:t>型</a:t>
            </a:r>
            <a:r>
              <a:rPr lang="en-US" altLang="zh-CN" sz="2400" dirty="0">
                <a:latin typeface="Times New Roman" panose="02020603050405020304" pitchFamily="18" charset="0"/>
                <a:cs typeface="Times New Roman" panose="02020603050405020304" pitchFamily="18" charset="0"/>
              </a:rPr>
              <a:t>,</a:t>
            </a:r>
          </a:p>
          <a:p>
            <a:r>
              <a:rPr lang="zh-CN" altLang="en-US" sz="2400" dirty="0">
                <a:latin typeface="Times New Roman" panose="02020603050405020304" pitchFamily="18" charset="0"/>
                <a:cs typeface="Times New Roman" panose="02020603050405020304" pitchFamily="18" charset="0"/>
              </a:rPr>
              <a:t>是自格林尼治标准时间</a:t>
            </a:r>
            <a:r>
              <a:rPr lang="en-US" altLang="zh-CN" sz="2400" dirty="0">
                <a:latin typeface="Times New Roman" panose="02020603050405020304" pitchFamily="18" charset="0"/>
                <a:cs typeface="Times New Roman" panose="02020603050405020304" pitchFamily="18" charset="0"/>
              </a:rPr>
              <a:t>1970.1.1  00:00:00</a:t>
            </a:r>
            <a:r>
              <a:rPr lang="zh-CN" altLang="en-US" sz="2400" dirty="0">
                <a:latin typeface="Times New Roman" panose="02020603050405020304" pitchFamily="18" charset="0"/>
                <a:cs typeface="Times New Roman" panose="02020603050405020304" pitchFamily="18" charset="0"/>
              </a:rPr>
              <a:t>后的毫秒数</a:t>
            </a:r>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访问方法：</a:t>
            </a:r>
            <a:endParaRPr lang="en-US" altLang="zh-CN" sz="2400" dirty="0">
              <a:latin typeface="Times New Roman" panose="02020603050405020304" pitchFamily="18" charset="0"/>
              <a:cs typeface="Times New Roman" panose="02020603050405020304" pitchFamily="18" charset="0"/>
            </a:endParaRPr>
          </a:p>
          <a:p>
            <a:endParaRPr lang="zh-CN" altLang="en-US" sz="2800" dirty="0"/>
          </a:p>
        </p:txBody>
      </p:sp>
      <p:sp>
        <p:nvSpPr>
          <p:cNvPr id="84996" name="矩形 4">
            <a:extLst>
              <a:ext uri="{FF2B5EF4-FFF2-40B4-BE49-F238E27FC236}">
                <a16:creationId xmlns:a16="http://schemas.microsoft.com/office/drawing/2014/main" id="{576715CE-C0AB-429E-9AB8-CBFEFCD4595B}"/>
              </a:ext>
            </a:extLst>
          </p:cNvPr>
          <p:cNvSpPr>
            <a:spLocks noChangeArrowheads="1"/>
          </p:cNvSpPr>
          <p:nvPr/>
        </p:nvSpPr>
        <p:spPr bwMode="auto">
          <a:xfrm>
            <a:off x="4038600" y="5943601"/>
            <a:ext cx="6096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a:solidFill>
                  <a:schemeClr val="tx2"/>
                </a:solidFill>
                <a:latin typeface="Times New Roman" panose="02020603050405020304" pitchFamily="18" charset="0"/>
                <a:cs typeface="Times New Roman" panose="02020603050405020304" pitchFamily="18" charset="0"/>
              </a:rPr>
              <a:t>Public long getIfModifiedSince()</a:t>
            </a:r>
          </a:p>
          <a:p>
            <a:pPr>
              <a:spcBef>
                <a:spcPct val="0"/>
              </a:spcBef>
              <a:buClrTx/>
              <a:buSzTx/>
              <a:buFontTx/>
              <a:buNone/>
            </a:pPr>
            <a:r>
              <a:rPr lang="en-US" altLang="zh-CN" sz="2000">
                <a:solidFill>
                  <a:schemeClr val="tx2"/>
                </a:solidFill>
                <a:latin typeface="Times New Roman" panose="02020603050405020304" pitchFamily="18" charset="0"/>
                <a:cs typeface="Times New Roman" panose="02020603050405020304" pitchFamily="18" charset="0"/>
              </a:rPr>
              <a:t>Public void setIfModifiedSince(long ifModifiedSince)</a:t>
            </a:r>
          </a:p>
        </p:txBody>
      </p:sp>
      <p:pic>
        <p:nvPicPr>
          <p:cNvPr id="84997" name="Picture 2">
            <a:extLst>
              <a:ext uri="{FF2B5EF4-FFF2-40B4-BE49-F238E27FC236}">
                <a16:creationId xmlns:a16="http://schemas.microsoft.com/office/drawing/2014/main" id="{0E5E75C1-B919-4F16-93C6-E13FA471C5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400" y="2895600"/>
            <a:ext cx="52324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998" name="矩形 1">
            <a:extLst>
              <a:ext uri="{FF2B5EF4-FFF2-40B4-BE49-F238E27FC236}">
                <a16:creationId xmlns:a16="http://schemas.microsoft.com/office/drawing/2014/main" id="{7EB10EC1-993D-4310-BE03-1F4CCD4F8448}"/>
              </a:ext>
            </a:extLst>
          </p:cNvPr>
          <p:cNvSpPr>
            <a:spLocks noChangeArrowheads="1"/>
          </p:cNvSpPr>
          <p:nvPr/>
        </p:nvSpPr>
        <p:spPr bwMode="auto">
          <a:xfrm>
            <a:off x="2141538" y="2198688"/>
            <a:ext cx="1219200" cy="762000"/>
          </a:xfrm>
          <a:prstGeom prst="rec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a:t>客户端</a:t>
            </a:r>
          </a:p>
        </p:txBody>
      </p:sp>
      <p:sp>
        <p:nvSpPr>
          <p:cNvPr id="84999" name="矩形 6">
            <a:extLst>
              <a:ext uri="{FF2B5EF4-FFF2-40B4-BE49-F238E27FC236}">
                <a16:creationId xmlns:a16="http://schemas.microsoft.com/office/drawing/2014/main" id="{B05C65AE-192A-4F38-8CF2-498B9884B005}"/>
              </a:ext>
            </a:extLst>
          </p:cNvPr>
          <p:cNvSpPr>
            <a:spLocks noChangeArrowheads="1"/>
          </p:cNvSpPr>
          <p:nvPr/>
        </p:nvSpPr>
        <p:spPr bwMode="auto">
          <a:xfrm>
            <a:off x="7086600" y="2198688"/>
            <a:ext cx="1219200" cy="762000"/>
          </a:xfrm>
          <a:prstGeom prst="rec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a:t>服务器</a:t>
            </a:r>
          </a:p>
        </p:txBody>
      </p:sp>
      <p:cxnSp>
        <p:nvCxnSpPr>
          <p:cNvPr id="85000" name="直接连接符 4">
            <a:extLst>
              <a:ext uri="{FF2B5EF4-FFF2-40B4-BE49-F238E27FC236}">
                <a16:creationId xmlns:a16="http://schemas.microsoft.com/office/drawing/2014/main" id="{034F1320-83CB-4CE4-AF4C-1FA1EF099243}"/>
              </a:ext>
            </a:extLst>
          </p:cNvPr>
          <p:cNvCxnSpPr>
            <a:cxnSpLocks noChangeShapeType="1"/>
            <a:endCxn id="84999" idx="1"/>
          </p:cNvCxnSpPr>
          <p:nvPr/>
        </p:nvCxnSpPr>
        <p:spPr bwMode="auto">
          <a:xfrm>
            <a:off x="3360738" y="2579688"/>
            <a:ext cx="3725862"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001" name="矩形 5">
            <a:extLst>
              <a:ext uri="{FF2B5EF4-FFF2-40B4-BE49-F238E27FC236}">
                <a16:creationId xmlns:a16="http://schemas.microsoft.com/office/drawing/2014/main" id="{7AF32094-0462-42BB-BB07-D86226CA41E4}"/>
              </a:ext>
            </a:extLst>
          </p:cNvPr>
          <p:cNvSpPr>
            <a:spLocks noChangeArrowheads="1"/>
          </p:cNvSpPr>
          <p:nvPr/>
        </p:nvSpPr>
        <p:spPr bwMode="auto">
          <a:xfrm>
            <a:off x="1552575" y="4038600"/>
            <a:ext cx="4013200" cy="381000"/>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85002" name="TextBox 7">
            <a:extLst>
              <a:ext uri="{FF2B5EF4-FFF2-40B4-BE49-F238E27FC236}">
                <a16:creationId xmlns:a16="http://schemas.microsoft.com/office/drawing/2014/main" id="{34D41E56-A360-4D2E-8E1F-ADF7017C3917}"/>
              </a:ext>
            </a:extLst>
          </p:cNvPr>
          <p:cNvSpPr txBox="1">
            <a:spLocks noChangeArrowheads="1"/>
          </p:cNvSpPr>
          <p:nvPr/>
        </p:nvSpPr>
        <p:spPr bwMode="auto">
          <a:xfrm>
            <a:off x="8382000" y="1524001"/>
            <a:ext cx="21336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a:t>服务器考虑</a:t>
            </a:r>
            <a:r>
              <a:rPr lang="en-US" altLang="zh-CN" sz="1800"/>
              <a:t>If-Modified-Since</a:t>
            </a:r>
            <a:r>
              <a:rPr lang="zh-CN" altLang="en-US" sz="1800"/>
              <a:t>字段，如果请求的文档在这个时间后有修改，服务器就发送此文档，否则不发送此文档，回复“未修改”消息。客户端从本地缓存中加载此文档。</a:t>
            </a:r>
          </a:p>
        </p:txBody>
      </p:sp>
      <p:pic>
        <p:nvPicPr>
          <p:cNvPr id="85003" name="Picture 3">
            <a:extLst>
              <a:ext uri="{FF2B5EF4-FFF2-40B4-BE49-F238E27FC236}">
                <a16:creationId xmlns:a16="http://schemas.microsoft.com/office/drawing/2014/main" id="{F9B7F99C-0642-4DDF-82D9-21CFD3ED71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2700" y="4267201"/>
            <a:ext cx="41529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5004" name="矩形 14">
            <a:extLst>
              <a:ext uri="{FF2B5EF4-FFF2-40B4-BE49-F238E27FC236}">
                <a16:creationId xmlns:a16="http://schemas.microsoft.com/office/drawing/2014/main" id="{55DA7924-C98F-4D9F-8BEC-B19EBFBFB0DC}"/>
              </a:ext>
            </a:extLst>
          </p:cNvPr>
          <p:cNvSpPr>
            <a:spLocks noChangeArrowheads="1"/>
          </p:cNvSpPr>
          <p:nvPr/>
        </p:nvSpPr>
        <p:spPr bwMode="auto">
          <a:xfrm>
            <a:off x="6226175" y="4191000"/>
            <a:ext cx="3200400" cy="381000"/>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a:extLst>
              <a:ext uri="{FF2B5EF4-FFF2-40B4-BE49-F238E27FC236}">
                <a16:creationId xmlns:a16="http://schemas.microsoft.com/office/drawing/2014/main" id="{C630AC68-8CFB-478E-939B-314034AA62BF}"/>
              </a:ext>
            </a:extLst>
          </p:cNvPr>
          <p:cNvSpPr>
            <a:spLocks noGrp="1"/>
          </p:cNvSpPr>
          <p:nvPr>
            <p:ph type="title"/>
          </p:nvPr>
        </p:nvSpPr>
        <p:spPr>
          <a:xfrm>
            <a:off x="1677988" y="6350"/>
            <a:ext cx="8540750" cy="685800"/>
          </a:xfrm>
        </p:spPr>
        <p:txBody>
          <a:bodyPr/>
          <a:lstStyle/>
          <a:p>
            <a:pPr algn="l"/>
            <a:r>
              <a:rPr lang="en-US" altLang="zh-CN" sz="3200"/>
              <a:t>ifModifiedSince</a:t>
            </a:r>
            <a:r>
              <a:rPr lang="zh-CN" altLang="en-US" sz="3200"/>
              <a:t>应用例子</a:t>
            </a:r>
          </a:p>
        </p:txBody>
      </p:sp>
      <p:sp>
        <p:nvSpPr>
          <p:cNvPr id="86019" name="矩形 4">
            <a:extLst>
              <a:ext uri="{FF2B5EF4-FFF2-40B4-BE49-F238E27FC236}">
                <a16:creationId xmlns:a16="http://schemas.microsoft.com/office/drawing/2014/main" id="{8C948130-B347-4443-B556-9E2A084B85CC}"/>
              </a:ext>
            </a:extLst>
          </p:cNvPr>
          <p:cNvSpPr>
            <a:spLocks noChangeArrowheads="1"/>
          </p:cNvSpPr>
          <p:nvPr/>
        </p:nvSpPr>
        <p:spPr bwMode="auto">
          <a:xfrm>
            <a:off x="1677988" y="914400"/>
            <a:ext cx="82994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2400">
                <a:solidFill>
                  <a:srgbClr val="000000"/>
                </a:solidFill>
                <a:latin typeface="Times New Roman" panose="02020603050405020304" pitchFamily="18" charset="0"/>
                <a:cs typeface="Times New Roman" panose="02020603050405020304" pitchFamily="18" charset="0"/>
              </a:rPr>
              <a:t>演示</a:t>
            </a:r>
            <a:r>
              <a:rPr lang="en-US" altLang="zh-CN" sz="2400">
                <a:solidFill>
                  <a:srgbClr val="000000"/>
                </a:solidFill>
                <a:latin typeface="Times New Roman" panose="02020603050405020304" pitchFamily="18" charset="0"/>
                <a:cs typeface="Times New Roman" panose="02020603050405020304" pitchFamily="18" charset="0"/>
              </a:rPr>
              <a:t>Ex7-13,ch7.Last24.java  </a:t>
            </a:r>
            <a:r>
              <a:rPr lang="zh-CN" altLang="en-US" sz="2400">
                <a:solidFill>
                  <a:srgbClr val="000000"/>
                </a:solidFill>
                <a:latin typeface="Times New Roman" panose="02020603050405020304" pitchFamily="18" charset="0"/>
                <a:cs typeface="Times New Roman" panose="02020603050405020304" pitchFamily="18" charset="0"/>
              </a:rPr>
              <a:t>打印</a:t>
            </a:r>
            <a:r>
              <a:rPr lang="en-US" altLang="zh-CN" sz="2400">
                <a:solidFill>
                  <a:srgbClr val="000000"/>
                </a:solidFill>
                <a:latin typeface="Times New Roman" panose="02020603050405020304" pitchFamily="18" charset="0"/>
                <a:cs typeface="Times New Roman" panose="02020603050405020304" pitchFamily="18" charset="0"/>
              </a:rPr>
              <a:t>ifModifiedSince</a:t>
            </a:r>
            <a:r>
              <a:rPr lang="zh-CN" altLang="en-US" sz="2400">
                <a:solidFill>
                  <a:srgbClr val="000000"/>
                </a:solidFill>
                <a:latin typeface="Times New Roman" panose="02020603050405020304" pitchFamily="18" charset="0"/>
                <a:cs typeface="Times New Roman" panose="02020603050405020304" pitchFamily="18" charset="0"/>
              </a:rPr>
              <a:t>的默认值，将此值设置为</a:t>
            </a:r>
            <a:r>
              <a:rPr lang="en-US" altLang="zh-CN" sz="2400">
                <a:solidFill>
                  <a:srgbClr val="000000"/>
                </a:solidFill>
                <a:latin typeface="Times New Roman" panose="02020603050405020304" pitchFamily="18" charset="0"/>
                <a:cs typeface="Times New Roman" panose="02020603050405020304" pitchFamily="18" charset="0"/>
              </a:rPr>
              <a:t>24</a:t>
            </a:r>
            <a:r>
              <a:rPr lang="zh-CN" altLang="en-US" sz="2400">
                <a:solidFill>
                  <a:srgbClr val="000000"/>
                </a:solidFill>
                <a:latin typeface="Times New Roman" panose="02020603050405020304" pitchFamily="18" charset="0"/>
                <a:cs typeface="Times New Roman" panose="02020603050405020304" pitchFamily="18" charset="0"/>
              </a:rPr>
              <a:t>小时之前，并打印这个新值。 然后下载并显示文档，但只是在最后</a:t>
            </a:r>
            <a:r>
              <a:rPr lang="en-US" altLang="zh-CN" sz="2400">
                <a:solidFill>
                  <a:srgbClr val="000000"/>
                </a:solidFill>
                <a:latin typeface="Times New Roman" panose="02020603050405020304" pitchFamily="18" charset="0"/>
                <a:cs typeface="Times New Roman" panose="02020603050405020304" pitchFamily="18" charset="0"/>
              </a:rPr>
              <a:t>24</a:t>
            </a:r>
            <a:r>
              <a:rPr lang="zh-CN" altLang="en-US" sz="2400">
                <a:solidFill>
                  <a:srgbClr val="000000"/>
                </a:solidFill>
                <a:latin typeface="Times New Roman" panose="02020603050405020304" pitchFamily="18" charset="0"/>
                <a:cs typeface="Times New Roman" panose="02020603050405020304" pitchFamily="18" charset="0"/>
              </a:rPr>
              <a:t>小时内有所修改时才会显示文档。</a:t>
            </a:r>
            <a:endParaRPr lang="en-US" altLang="zh-CN" sz="2400">
              <a:solidFill>
                <a:srgbClr val="000000"/>
              </a:solidFill>
              <a:latin typeface="Times New Roman" panose="02020603050405020304" pitchFamily="18" charset="0"/>
              <a:cs typeface="Times New Roman" panose="02020603050405020304" pitchFamily="18" charset="0"/>
            </a:endParaRPr>
          </a:p>
        </p:txBody>
      </p:sp>
      <p:pic>
        <p:nvPicPr>
          <p:cNvPr id="86020" name="图片 1">
            <a:extLst>
              <a:ext uri="{FF2B5EF4-FFF2-40B4-BE49-F238E27FC236}">
                <a16:creationId xmlns:a16="http://schemas.microsoft.com/office/drawing/2014/main" id="{95C94FF6-F7F0-414D-800A-7D72AD53731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7988" y="2343150"/>
            <a:ext cx="8661400"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a:extLst>
              <a:ext uri="{FF2B5EF4-FFF2-40B4-BE49-F238E27FC236}">
                <a16:creationId xmlns:a16="http://schemas.microsoft.com/office/drawing/2014/main" id="{85E99C2F-1B0D-47AE-B794-45C019D5FC95}"/>
              </a:ext>
            </a:extLst>
          </p:cNvPr>
          <p:cNvSpPr>
            <a:spLocks noGrp="1"/>
          </p:cNvSpPr>
          <p:nvPr>
            <p:ph type="title"/>
          </p:nvPr>
        </p:nvSpPr>
        <p:spPr>
          <a:xfrm>
            <a:off x="1677988" y="6350"/>
            <a:ext cx="8540750" cy="685800"/>
          </a:xfrm>
        </p:spPr>
        <p:txBody>
          <a:bodyPr/>
          <a:lstStyle/>
          <a:p>
            <a:pPr algn="l"/>
            <a:r>
              <a:rPr lang="en-US" altLang="zh-CN" sz="3200"/>
              <a:t>ifModifiedSince</a:t>
            </a:r>
            <a:r>
              <a:rPr lang="zh-CN" altLang="en-US" sz="3200"/>
              <a:t>应用例子</a:t>
            </a:r>
          </a:p>
        </p:txBody>
      </p:sp>
      <p:pic>
        <p:nvPicPr>
          <p:cNvPr id="87043" name="图片 2">
            <a:extLst>
              <a:ext uri="{FF2B5EF4-FFF2-40B4-BE49-F238E27FC236}">
                <a16:creationId xmlns:a16="http://schemas.microsoft.com/office/drawing/2014/main" id="{7DF30D30-87E1-4D2D-8F04-7668874CA29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6" y="-26988"/>
            <a:ext cx="9109075" cy="624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a:extLst>
              <a:ext uri="{FF2B5EF4-FFF2-40B4-BE49-F238E27FC236}">
                <a16:creationId xmlns:a16="http://schemas.microsoft.com/office/drawing/2014/main" id="{DACB3B5F-F269-4498-BFA3-11E45E0AAB94}"/>
              </a:ext>
            </a:extLst>
          </p:cNvPr>
          <p:cNvSpPr>
            <a:spLocks noGrp="1"/>
          </p:cNvSpPr>
          <p:nvPr>
            <p:ph type="title"/>
          </p:nvPr>
        </p:nvSpPr>
        <p:spPr>
          <a:xfrm>
            <a:off x="1609725" y="34925"/>
            <a:ext cx="8540750" cy="685800"/>
          </a:xfrm>
        </p:spPr>
        <p:txBody>
          <a:bodyPr/>
          <a:lstStyle/>
          <a:p>
            <a:pPr algn="l"/>
            <a:r>
              <a:rPr lang="en-US" altLang="zh-CN" sz="3200"/>
              <a:t>Protected boolean useCaches</a:t>
            </a:r>
            <a:endParaRPr lang="zh-CN" altLang="en-US" sz="3200"/>
          </a:p>
        </p:txBody>
      </p:sp>
      <p:sp>
        <p:nvSpPr>
          <p:cNvPr id="88067" name="内容占位符 2">
            <a:extLst>
              <a:ext uri="{FF2B5EF4-FFF2-40B4-BE49-F238E27FC236}">
                <a16:creationId xmlns:a16="http://schemas.microsoft.com/office/drawing/2014/main" id="{CDB76862-D7F8-4D4F-895D-DABB9206F2B9}"/>
              </a:ext>
            </a:extLst>
          </p:cNvPr>
          <p:cNvSpPr>
            <a:spLocks noGrp="1"/>
          </p:cNvSpPr>
          <p:nvPr>
            <p:ph idx="1"/>
          </p:nvPr>
        </p:nvSpPr>
        <p:spPr>
          <a:xfrm>
            <a:off x="457200" y="785814"/>
            <a:ext cx="10591800" cy="2492373"/>
          </a:xfrm>
        </p:spPr>
        <p:txBody>
          <a:bodyPr/>
          <a:lstStyle/>
          <a:p>
            <a:r>
              <a:rPr lang="zh-CN" altLang="en-US" sz="2000" dirty="0">
                <a:latin typeface="Times New Roman" panose="02020603050405020304" pitchFamily="18" charset="0"/>
                <a:cs typeface="Times New Roman" panose="02020603050405020304" pitchFamily="18" charset="0"/>
              </a:rPr>
              <a:t>有些客户端（比如</a:t>
            </a:r>
            <a:r>
              <a:rPr lang="en-US" altLang="zh-CN" sz="2000" dirty="0">
                <a:latin typeface="Times New Roman" panose="02020603050405020304" pitchFamily="18" charset="0"/>
                <a:cs typeface="Times New Roman" panose="02020603050405020304" pitchFamily="18" charset="0"/>
              </a:rPr>
              <a:t>web</a:t>
            </a:r>
            <a:r>
              <a:rPr lang="zh-CN" altLang="en-US" sz="2000" dirty="0">
                <a:latin typeface="Times New Roman" panose="02020603050405020304" pitchFamily="18" charset="0"/>
                <a:cs typeface="Times New Roman" panose="02020603050405020304" pitchFamily="18" charset="0"/>
              </a:rPr>
              <a:t>浏览器）可以从本地缓存获取文档</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applet</a:t>
            </a:r>
            <a:r>
              <a:rPr lang="zh-CN" altLang="en-US" sz="2000" dirty="0">
                <a:latin typeface="Times New Roman" panose="02020603050405020304" pitchFamily="18" charset="0"/>
                <a:cs typeface="Times New Roman" panose="02020603050405020304" pitchFamily="18" charset="0"/>
              </a:rPr>
              <a:t>可以访问浏览器的缓存。</a:t>
            </a:r>
            <a:endParaRPr lang="en-US" altLang="zh-CN" sz="2000" dirty="0">
              <a:latin typeface="Times New Roman" panose="02020603050405020304" pitchFamily="18" charset="0"/>
              <a:cs typeface="Times New Roman" panose="02020603050405020304" pitchFamily="18" charset="0"/>
            </a:endParaRPr>
          </a:p>
          <a:p>
            <a:r>
              <a:rPr lang="zh-CN" altLang="en-US" sz="2000" dirty="0">
                <a:latin typeface="Times New Roman" panose="02020603050405020304" pitchFamily="18" charset="0"/>
                <a:cs typeface="Times New Roman" panose="02020603050405020304" pitchFamily="18" charset="0"/>
              </a:rPr>
              <a:t>独立的应用程序可使用</a:t>
            </a:r>
            <a:r>
              <a:rPr lang="en-US" altLang="zh-CN" sz="2000" dirty="0" err="1">
                <a:latin typeface="Times New Roman" panose="02020603050405020304" pitchFamily="18" charset="0"/>
                <a:cs typeface="Times New Roman" panose="02020603050405020304" pitchFamily="18" charset="0"/>
              </a:rPr>
              <a:t>java.net.ResponseCache</a:t>
            </a:r>
            <a:r>
              <a:rPr lang="zh-CN" altLang="en-US" sz="2000" dirty="0">
                <a:latin typeface="Times New Roman" panose="02020603050405020304" pitchFamily="18" charset="0"/>
                <a:cs typeface="Times New Roman" panose="02020603050405020304" pitchFamily="18" charset="0"/>
              </a:rPr>
              <a:t>类</a:t>
            </a:r>
            <a:endParaRPr lang="en-US" altLang="zh-CN" sz="2000" dirty="0">
              <a:latin typeface="Times New Roman" panose="02020603050405020304" pitchFamily="18" charset="0"/>
              <a:cs typeface="Times New Roman" panose="02020603050405020304" pitchFamily="18" charset="0"/>
            </a:endParaRPr>
          </a:p>
          <a:p>
            <a:r>
              <a:rPr lang="zh-CN" altLang="en-US" sz="2000" dirty="0">
                <a:latin typeface="Times New Roman" panose="02020603050405020304" pitchFamily="18" charset="0"/>
                <a:cs typeface="Times New Roman" panose="02020603050405020304" pitchFamily="18" charset="0"/>
              </a:rPr>
              <a:t>如果有缓存，那么由</a:t>
            </a:r>
            <a:r>
              <a:rPr lang="en-US" altLang="zh-CN" sz="2000" dirty="0" err="1">
                <a:latin typeface="Times New Roman" panose="02020603050405020304" pitchFamily="18" charset="0"/>
                <a:cs typeface="Times New Roman" panose="02020603050405020304" pitchFamily="18" charset="0"/>
              </a:rPr>
              <a:t>useCaches</a:t>
            </a:r>
            <a:r>
              <a:rPr lang="zh-CN" altLang="en-US" sz="2000" dirty="0">
                <a:latin typeface="Times New Roman" panose="02020603050405020304" pitchFamily="18" charset="0"/>
                <a:cs typeface="Times New Roman" panose="02020603050405020304" pitchFamily="18" charset="0"/>
              </a:rPr>
              <a:t>变量确定是否可以使用缓存</a:t>
            </a:r>
            <a:endParaRPr lang="en-US" altLang="zh-CN" sz="2000" dirty="0">
              <a:latin typeface="Times New Roman" panose="02020603050405020304" pitchFamily="18" charset="0"/>
              <a:cs typeface="Times New Roman" panose="02020603050405020304" pitchFamily="18" charset="0"/>
            </a:endParaRPr>
          </a:p>
          <a:p>
            <a:r>
              <a:rPr lang="en-US" altLang="zh-CN" sz="2000" dirty="0" err="1">
                <a:latin typeface="Times New Roman" panose="02020603050405020304" pitchFamily="18" charset="0"/>
                <a:cs typeface="Times New Roman" panose="02020603050405020304" pitchFamily="18" charset="0"/>
              </a:rPr>
              <a:t>useCahces</a:t>
            </a:r>
            <a:r>
              <a:rPr lang="zh-CN" altLang="en-US" sz="2000" dirty="0">
                <a:latin typeface="Times New Roman" panose="02020603050405020304" pitchFamily="18" charset="0"/>
                <a:cs typeface="Times New Roman" panose="02020603050405020304" pitchFamily="18" charset="0"/>
              </a:rPr>
              <a:t>变量为</a:t>
            </a:r>
            <a:r>
              <a:rPr lang="en-US" altLang="zh-CN" sz="2000" dirty="0">
                <a:latin typeface="Times New Roman" panose="02020603050405020304" pitchFamily="18" charset="0"/>
                <a:cs typeface="Times New Roman" panose="02020603050405020304" pitchFamily="18" charset="0"/>
              </a:rPr>
              <a:t>true</a:t>
            </a:r>
            <a:r>
              <a:rPr lang="zh-CN" altLang="en-US" sz="2000" dirty="0">
                <a:latin typeface="Times New Roman" panose="02020603050405020304" pitchFamily="18" charset="0"/>
                <a:cs typeface="Times New Roman" panose="02020603050405020304" pitchFamily="18" charset="0"/>
              </a:rPr>
              <a:t>表示将使用缓存，</a:t>
            </a:r>
            <a:r>
              <a:rPr lang="en-US" altLang="zh-CN" sz="2000" dirty="0">
                <a:latin typeface="Times New Roman" panose="02020603050405020304" pitchFamily="18" charset="0"/>
                <a:cs typeface="Times New Roman" panose="02020603050405020304" pitchFamily="18" charset="0"/>
              </a:rPr>
              <a:t>false</a:t>
            </a:r>
            <a:r>
              <a:rPr lang="zh-CN" altLang="en-US" sz="2000" dirty="0">
                <a:latin typeface="Times New Roman" panose="02020603050405020304" pitchFamily="18" charset="0"/>
                <a:cs typeface="Times New Roman" panose="02020603050405020304" pitchFamily="18" charset="0"/>
              </a:rPr>
              <a:t>表示不使用缓存，默认值是</a:t>
            </a:r>
            <a:r>
              <a:rPr lang="en-US" altLang="zh-CN" sz="2000" dirty="0">
                <a:latin typeface="Times New Roman" panose="02020603050405020304" pitchFamily="18" charset="0"/>
                <a:cs typeface="Times New Roman" panose="02020603050405020304" pitchFamily="18" charset="0"/>
              </a:rPr>
              <a:t>true</a:t>
            </a:r>
          </a:p>
          <a:p>
            <a:r>
              <a:rPr lang="zh-CN" altLang="en-US" sz="2000" dirty="0">
                <a:latin typeface="Times New Roman" panose="02020603050405020304" pitchFamily="18" charset="0"/>
                <a:cs typeface="Times New Roman" panose="02020603050405020304" pitchFamily="18" charset="0"/>
              </a:rPr>
              <a:t>编程时，使用该变量对应的</a:t>
            </a:r>
            <a:r>
              <a:rPr lang="en-US" altLang="zh-CN" sz="2000" dirty="0">
                <a:latin typeface="Times New Roman" panose="02020603050405020304" pitchFamily="18" charset="0"/>
                <a:cs typeface="Times New Roman" panose="02020603050405020304" pitchFamily="18" charset="0"/>
              </a:rPr>
              <a:t>get</a:t>
            </a:r>
            <a:r>
              <a:rPr lang="zh-CN" altLang="en-US" sz="2000" dirty="0">
                <a:latin typeface="Times New Roman" panose="02020603050405020304" pitchFamily="18" charset="0"/>
                <a:cs typeface="Times New Roman" panose="02020603050405020304" pitchFamily="18" charset="0"/>
              </a:rPr>
              <a:t>和</a:t>
            </a:r>
            <a:r>
              <a:rPr lang="en-US" altLang="zh-CN" sz="2000" dirty="0">
                <a:latin typeface="Times New Roman" panose="02020603050405020304" pitchFamily="18" charset="0"/>
                <a:cs typeface="Times New Roman" panose="02020603050405020304" pitchFamily="18" charset="0"/>
              </a:rPr>
              <a:t>set</a:t>
            </a:r>
            <a:r>
              <a:rPr lang="zh-CN" altLang="en-US" sz="2000" dirty="0">
                <a:latin typeface="Times New Roman" panose="02020603050405020304" pitchFamily="18" charset="0"/>
                <a:cs typeface="Times New Roman" panose="02020603050405020304" pitchFamily="18" charset="0"/>
              </a:rPr>
              <a:t>方法访问此变量</a:t>
            </a:r>
            <a:endParaRPr lang="en-US" altLang="zh-CN" sz="2000" dirty="0">
              <a:latin typeface="Times New Roman" panose="02020603050405020304" pitchFamily="18" charset="0"/>
              <a:cs typeface="Times New Roman" panose="02020603050405020304" pitchFamily="18" charset="0"/>
            </a:endParaRPr>
          </a:p>
        </p:txBody>
      </p:sp>
      <p:sp>
        <p:nvSpPr>
          <p:cNvPr id="88068" name="矩形 4">
            <a:extLst>
              <a:ext uri="{FF2B5EF4-FFF2-40B4-BE49-F238E27FC236}">
                <a16:creationId xmlns:a16="http://schemas.microsoft.com/office/drawing/2014/main" id="{AD0C1BE6-9D59-440E-A050-E1463FA29138}"/>
              </a:ext>
            </a:extLst>
          </p:cNvPr>
          <p:cNvSpPr>
            <a:spLocks noChangeArrowheads="1"/>
          </p:cNvSpPr>
          <p:nvPr/>
        </p:nvSpPr>
        <p:spPr bwMode="auto">
          <a:xfrm>
            <a:off x="609600" y="3579813"/>
            <a:ext cx="108204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2000" dirty="0">
                <a:solidFill>
                  <a:srgbClr val="000000"/>
                </a:solidFill>
                <a:latin typeface="Times New Roman" panose="02020603050405020304" pitchFamily="18" charset="0"/>
                <a:cs typeface="Times New Roman" panose="02020603050405020304" pitchFamily="18" charset="0"/>
              </a:rPr>
              <a:t>在程序中禁用缓存，确保总是获取文档的最新版本。通过将</a:t>
            </a:r>
            <a:r>
              <a:rPr lang="en-US" altLang="zh-CN" sz="2000" dirty="0" err="1">
                <a:solidFill>
                  <a:srgbClr val="000000"/>
                </a:solidFill>
                <a:latin typeface="Times New Roman" panose="02020603050405020304" pitchFamily="18" charset="0"/>
                <a:cs typeface="Times New Roman" panose="02020603050405020304" pitchFamily="18" charset="0"/>
              </a:rPr>
              <a:t>useCaches</a:t>
            </a:r>
            <a:r>
              <a:rPr lang="zh-CN" altLang="en-US" sz="2000" dirty="0">
                <a:solidFill>
                  <a:srgbClr val="000000"/>
                </a:solidFill>
                <a:latin typeface="Times New Roman" panose="02020603050405020304" pitchFamily="18" charset="0"/>
                <a:cs typeface="Times New Roman" panose="02020603050405020304" pitchFamily="18" charset="0"/>
              </a:rPr>
              <a:t>设置为</a:t>
            </a:r>
            <a:r>
              <a:rPr lang="en-US" altLang="zh-CN" sz="2000" dirty="0">
                <a:solidFill>
                  <a:srgbClr val="000000"/>
                </a:solidFill>
                <a:latin typeface="Times New Roman" panose="02020603050405020304" pitchFamily="18" charset="0"/>
                <a:cs typeface="Times New Roman" panose="02020603050405020304" pitchFamily="18" charset="0"/>
              </a:rPr>
              <a:t>false</a:t>
            </a:r>
            <a:r>
              <a:rPr lang="zh-CN" altLang="en-US" sz="2000" dirty="0">
                <a:solidFill>
                  <a:srgbClr val="000000"/>
                </a:solidFill>
                <a:latin typeface="Times New Roman" panose="02020603050405020304" pitchFamily="18" charset="0"/>
                <a:cs typeface="Times New Roman" panose="02020603050405020304" pitchFamily="18" charset="0"/>
              </a:rPr>
              <a:t>来实现：</a:t>
            </a:r>
            <a:endParaRPr lang="en-US"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000" dirty="0">
                <a:solidFill>
                  <a:srgbClr val="000000"/>
                </a:solidFill>
                <a:latin typeface="Times New Roman" panose="02020603050405020304" pitchFamily="18" charset="0"/>
                <a:cs typeface="Times New Roman" panose="02020603050405020304" pitchFamily="18" charset="0"/>
              </a:rPr>
              <a:t>Try{</a:t>
            </a:r>
          </a:p>
          <a:p>
            <a:pPr>
              <a:spcBef>
                <a:spcPct val="0"/>
              </a:spcBef>
              <a:buClrTx/>
              <a:buSzTx/>
              <a:buFontTx/>
              <a:buNone/>
            </a:pPr>
            <a:r>
              <a:rPr lang="en-US" altLang="zh-CN" sz="2000" dirty="0">
                <a:solidFill>
                  <a:srgbClr val="000000"/>
                </a:solidFill>
                <a:latin typeface="Times New Roman" panose="02020603050405020304" pitchFamily="18" charset="0"/>
                <a:cs typeface="Times New Roman" panose="02020603050405020304" pitchFamily="18" charset="0"/>
              </a:rPr>
              <a:t>            </a:t>
            </a:r>
          </a:p>
          <a:p>
            <a:pPr>
              <a:spcBef>
                <a:spcPct val="0"/>
              </a:spcBef>
              <a:buClrTx/>
              <a:buSzTx/>
              <a:buFontTx/>
              <a:buNone/>
            </a:pPr>
            <a:endParaRPr lang="en-US"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000" dirty="0">
                <a:solidFill>
                  <a:srgbClr val="000000"/>
                </a:solidFill>
                <a:latin typeface="Times New Roman" panose="02020603050405020304" pitchFamily="18" charset="0"/>
                <a:cs typeface="Times New Roman" panose="02020603050405020304" pitchFamily="18" charset="0"/>
              </a:rPr>
              <a:t>}catch(</a:t>
            </a:r>
            <a:r>
              <a:rPr lang="en-US" altLang="zh-CN" sz="2000" dirty="0" err="1">
                <a:solidFill>
                  <a:srgbClr val="000000"/>
                </a:solidFill>
                <a:latin typeface="Times New Roman" panose="02020603050405020304" pitchFamily="18" charset="0"/>
                <a:cs typeface="Times New Roman" panose="02020603050405020304" pitchFamily="18" charset="0"/>
              </a:rPr>
              <a:t>IOException</a:t>
            </a:r>
            <a:r>
              <a:rPr lang="en-US" altLang="zh-CN" sz="2000" dirty="0">
                <a:solidFill>
                  <a:srgbClr val="000000"/>
                </a:solidFill>
                <a:latin typeface="Times New Roman" panose="02020603050405020304" pitchFamily="18" charset="0"/>
                <a:cs typeface="Times New Roman" panose="02020603050405020304" pitchFamily="18" charset="0"/>
              </a:rPr>
              <a:t> ex){</a:t>
            </a:r>
          </a:p>
          <a:p>
            <a:pPr>
              <a:spcBef>
                <a:spcPct val="0"/>
              </a:spcBef>
              <a:buClrTx/>
              <a:buSzTx/>
              <a:buFontTx/>
              <a:buNone/>
            </a:pP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err="1">
                <a:solidFill>
                  <a:srgbClr val="000000"/>
                </a:solidFill>
                <a:latin typeface="Times New Roman" panose="02020603050405020304" pitchFamily="18" charset="0"/>
                <a:cs typeface="Times New Roman" panose="02020603050405020304" pitchFamily="18" charset="0"/>
              </a:rPr>
              <a:t>System.err.println</a:t>
            </a:r>
            <a:r>
              <a:rPr lang="en-US" altLang="zh-CN" sz="2000" dirty="0">
                <a:solidFill>
                  <a:srgbClr val="000000"/>
                </a:solidFill>
                <a:latin typeface="Times New Roman" panose="02020603050405020304" pitchFamily="18" charset="0"/>
                <a:cs typeface="Times New Roman" panose="02020603050405020304" pitchFamily="18" charset="0"/>
              </a:rPr>
              <a:t>(ex);</a:t>
            </a:r>
          </a:p>
          <a:p>
            <a:pPr>
              <a:spcBef>
                <a:spcPct val="0"/>
              </a:spcBef>
              <a:buClrTx/>
              <a:buSzTx/>
              <a:buFontTx/>
              <a:buNone/>
            </a:pPr>
            <a:r>
              <a:rPr lang="en-US" altLang="zh-CN" sz="2000" dirty="0">
                <a:solidFill>
                  <a:srgbClr val="000000"/>
                </a:solidFill>
                <a:latin typeface="Times New Roman" panose="02020603050405020304" pitchFamily="18" charset="0"/>
                <a:cs typeface="Times New Roman" panose="02020603050405020304" pitchFamily="18" charset="0"/>
              </a:rPr>
              <a:t>}</a:t>
            </a:r>
          </a:p>
        </p:txBody>
      </p:sp>
      <p:sp>
        <p:nvSpPr>
          <p:cNvPr id="5" name="矩形 4">
            <a:extLst>
              <a:ext uri="{FF2B5EF4-FFF2-40B4-BE49-F238E27FC236}">
                <a16:creationId xmlns:a16="http://schemas.microsoft.com/office/drawing/2014/main" id="{2B808040-ABA5-41E2-95E7-967D7AA175F4}"/>
              </a:ext>
            </a:extLst>
          </p:cNvPr>
          <p:cNvSpPr>
            <a:spLocks noChangeArrowheads="1"/>
          </p:cNvSpPr>
          <p:nvPr/>
        </p:nvSpPr>
        <p:spPr bwMode="auto">
          <a:xfrm>
            <a:off x="2428875" y="5316539"/>
            <a:ext cx="3276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a:solidFill>
                  <a:srgbClr val="FF0000"/>
                </a:solidFill>
                <a:latin typeface="Times New Roman" panose="02020603050405020304" pitchFamily="18" charset="0"/>
                <a:cs typeface="Times New Roman" panose="02020603050405020304" pitchFamily="18" charset="0"/>
              </a:rPr>
              <a:t>uc.setUseCatches(false);</a:t>
            </a:r>
          </a:p>
          <a:p>
            <a:pPr>
              <a:spcBef>
                <a:spcPct val="0"/>
              </a:spcBef>
              <a:buClrTx/>
              <a:buSzTx/>
              <a:buFontTx/>
              <a:buNone/>
            </a:pPr>
            <a:r>
              <a:rPr lang="en-US" altLang="zh-CN" sz="2000">
                <a:solidFill>
                  <a:schemeClr val="tx2"/>
                </a:solidFill>
                <a:latin typeface="Times New Roman" panose="02020603050405020304" pitchFamily="18" charset="0"/>
                <a:cs typeface="Times New Roman" panose="02020603050405020304" pitchFamily="18" charset="0"/>
              </a:rPr>
              <a:t>//</a:t>
            </a:r>
            <a:r>
              <a:rPr lang="zh-CN" altLang="en-US" sz="2000">
                <a:solidFill>
                  <a:schemeClr val="tx2"/>
                </a:solidFill>
                <a:latin typeface="Times New Roman" panose="02020603050405020304" pitchFamily="18" charset="0"/>
                <a:cs typeface="Times New Roman" panose="02020603050405020304" pitchFamily="18" charset="0"/>
              </a:rPr>
              <a:t>读取文档</a:t>
            </a:r>
            <a:r>
              <a:rPr lang="en-US" altLang="zh-CN" sz="2000">
                <a:solidFill>
                  <a:schemeClr val="tx2"/>
                </a:solidFill>
                <a:latin typeface="Times New Roman" panose="02020603050405020304" pitchFamily="18" charset="0"/>
                <a:cs typeface="Times New Roman" panose="02020603050405020304" pitchFamily="18" charset="0"/>
              </a:rPr>
              <a:t>…</a:t>
            </a:r>
          </a:p>
        </p:txBody>
      </p:sp>
      <p:sp>
        <p:nvSpPr>
          <p:cNvPr id="6" name="矩形 5">
            <a:extLst>
              <a:ext uri="{FF2B5EF4-FFF2-40B4-BE49-F238E27FC236}">
                <a16:creationId xmlns:a16="http://schemas.microsoft.com/office/drawing/2014/main" id="{F9927ED8-BE14-4923-A036-C53F41211FFE}"/>
              </a:ext>
            </a:extLst>
          </p:cNvPr>
          <p:cNvSpPr>
            <a:spLocks noChangeArrowheads="1"/>
          </p:cNvSpPr>
          <p:nvPr/>
        </p:nvSpPr>
        <p:spPr bwMode="auto">
          <a:xfrm>
            <a:off x="2416175" y="4654550"/>
            <a:ext cx="548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a:solidFill>
                  <a:schemeClr val="tx2"/>
                </a:solidFill>
                <a:latin typeface="Times New Roman" panose="02020603050405020304" pitchFamily="18" charset="0"/>
                <a:cs typeface="Times New Roman" panose="02020603050405020304" pitchFamily="18" charset="0"/>
              </a:rPr>
              <a:t>URL u = new URL(“http://www.soucebot.com/”);</a:t>
            </a:r>
          </a:p>
        </p:txBody>
      </p:sp>
      <p:sp>
        <p:nvSpPr>
          <p:cNvPr id="7" name="矩形 6">
            <a:extLst>
              <a:ext uri="{FF2B5EF4-FFF2-40B4-BE49-F238E27FC236}">
                <a16:creationId xmlns:a16="http://schemas.microsoft.com/office/drawing/2014/main" id="{52CFF48F-F8D7-4358-8CA3-D225AAAA885A}"/>
              </a:ext>
            </a:extLst>
          </p:cNvPr>
          <p:cNvSpPr>
            <a:spLocks noChangeArrowheads="1"/>
          </p:cNvSpPr>
          <p:nvPr/>
        </p:nvSpPr>
        <p:spPr bwMode="auto">
          <a:xfrm>
            <a:off x="2416175" y="4964114"/>
            <a:ext cx="50292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a:solidFill>
                  <a:schemeClr val="tx2"/>
                </a:solidFill>
                <a:latin typeface="Times New Roman" panose="02020603050405020304" pitchFamily="18" charset="0"/>
                <a:cs typeface="Times New Roman" panose="02020603050405020304" pitchFamily="18" charset="0"/>
              </a:rPr>
              <a:t>URLConnection uc = u.openConnection();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3B35E7A8-5DEE-4093-83F5-7C9949D43B9F}"/>
              </a:ext>
            </a:extLst>
          </p:cNvPr>
          <p:cNvSpPr>
            <a:spLocks noGrp="1"/>
          </p:cNvSpPr>
          <p:nvPr>
            <p:ph type="title"/>
          </p:nvPr>
        </p:nvSpPr>
        <p:spPr>
          <a:xfrm>
            <a:off x="1825625" y="228600"/>
            <a:ext cx="8540750" cy="685800"/>
          </a:xfrm>
        </p:spPr>
        <p:txBody>
          <a:bodyPr/>
          <a:lstStyle/>
          <a:p>
            <a:pPr algn="l"/>
            <a:r>
              <a:rPr lang="zh-CN" altLang="en-US" sz="3200"/>
              <a:t>配置</a:t>
            </a:r>
            <a:r>
              <a:rPr lang="en-US" altLang="zh-CN" sz="3200"/>
              <a:t>HTTP</a:t>
            </a:r>
            <a:r>
              <a:rPr lang="zh-CN" altLang="en-US" sz="3200"/>
              <a:t>客户端请求头信息</a:t>
            </a:r>
          </a:p>
        </p:txBody>
      </p:sp>
      <p:sp>
        <p:nvSpPr>
          <p:cNvPr id="89091" name="内容占位符 2">
            <a:extLst>
              <a:ext uri="{FF2B5EF4-FFF2-40B4-BE49-F238E27FC236}">
                <a16:creationId xmlns:a16="http://schemas.microsoft.com/office/drawing/2014/main" id="{F1E380E5-8644-4478-87B6-A42CE5954190}"/>
              </a:ext>
            </a:extLst>
          </p:cNvPr>
          <p:cNvSpPr>
            <a:spLocks noGrp="1"/>
          </p:cNvSpPr>
          <p:nvPr>
            <p:ph idx="1"/>
          </p:nvPr>
        </p:nvSpPr>
        <p:spPr>
          <a:xfrm>
            <a:off x="228600" y="1143001"/>
            <a:ext cx="11658600" cy="5135563"/>
          </a:xfrm>
        </p:spPr>
        <p:txBody>
          <a:bodyPr/>
          <a:lstStyle/>
          <a:p>
            <a:r>
              <a:rPr lang="en-US" altLang="zh-CN" sz="2400" dirty="0">
                <a:latin typeface="Times New Roman" panose="02020603050405020304" pitchFamily="18" charset="0"/>
                <a:cs typeface="Times New Roman" panose="02020603050405020304" pitchFamily="18" charset="0"/>
              </a:rPr>
              <a:t>HTTP</a:t>
            </a:r>
            <a:r>
              <a:rPr lang="zh-CN" altLang="en-US" sz="2400" dirty="0">
                <a:latin typeface="Times New Roman" panose="02020603050405020304" pitchFamily="18" charset="0"/>
                <a:cs typeface="Times New Roman" panose="02020603050405020304" pitchFamily="18" charset="0"/>
              </a:rPr>
              <a:t>客户端向服务器发送一个请求行和一个首部。</a:t>
            </a:r>
            <a:r>
              <a:rPr lang="en-US" altLang="zh-CN" sz="2400" dirty="0">
                <a:latin typeface="Times New Roman" panose="02020603050405020304" pitchFamily="18" charset="0"/>
                <a:cs typeface="Times New Roman" panose="02020603050405020304" pitchFamily="18" charset="0"/>
              </a:rPr>
              <a:t>Web</a:t>
            </a:r>
            <a:r>
              <a:rPr lang="zh-CN" altLang="en-US" sz="2400" dirty="0">
                <a:latin typeface="Times New Roman" panose="02020603050405020304" pitchFamily="18" charset="0"/>
                <a:cs typeface="Times New Roman" panose="02020603050405020304" pitchFamily="18" charset="0"/>
              </a:rPr>
              <a:t>服务器根据这些信息向不同的客户端 提供不同的页面。</a:t>
            </a:r>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通过设置客户端请求头和服务器端响应头中的字段来控制请求格式和响应格式。</a:t>
            </a:r>
            <a:endParaRPr lang="en-US" altLang="zh-CN" sz="2400" dirty="0">
              <a:latin typeface="Times New Roman" panose="02020603050405020304" pitchFamily="18" charset="0"/>
              <a:cs typeface="Times New Roman" panose="02020603050405020304" pitchFamily="18" charset="0"/>
            </a:endParaRPr>
          </a:p>
          <a:p>
            <a:r>
              <a:rPr lang="zh-CN" altLang="en-US" sz="2800" dirty="0">
                <a:latin typeface="Times New Roman" panose="02020603050405020304" pitchFamily="18" charset="0"/>
                <a:cs typeface="Times New Roman" panose="02020603050405020304" pitchFamily="18" charset="0"/>
              </a:rPr>
              <a:t>需在</a:t>
            </a:r>
            <a:r>
              <a:rPr lang="zh-CN" altLang="en-US" sz="2800" dirty="0">
                <a:solidFill>
                  <a:srgbClr val="FF0000"/>
                </a:solidFill>
                <a:latin typeface="Times New Roman" panose="02020603050405020304" pitchFamily="18" charset="0"/>
                <a:cs typeface="Times New Roman" panose="02020603050405020304" pitchFamily="18" charset="0"/>
              </a:rPr>
              <a:t>打开连接前</a:t>
            </a:r>
            <a:r>
              <a:rPr lang="zh-CN" altLang="en-US" sz="2800" dirty="0">
                <a:latin typeface="Times New Roman" panose="02020603050405020304" pitchFamily="18" charset="0"/>
                <a:cs typeface="Times New Roman" panose="02020603050405020304" pitchFamily="18" charset="0"/>
              </a:rPr>
              <a:t>设置字段</a:t>
            </a:r>
            <a:endParaRPr lang="en-US" altLang="zh-CN" sz="2800" dirty="0">
              <a:latin typeface="Times New Roman" panose="02020603050405020304" pitchFamily="18" charset="0"/>
              <a:cs typeface="Times New Roman" panose="02020603050405020304" pitchFamily="18" charset="0"/>
            </a:endParaRPr>
          </a:p>
          <a:p>
            <a:r>
              <a:rPr lang="zh-CN" altLang="en-US" sz="2800" dirty="0">
                <a:latin typeface="Times New Roman" panose="02020603050405020304" pitchFamily="18" charset="0"/>
                <a:cs typeface="Times New Roman" panose="02020603050405020304" pitchFamily="18" charset="0"/>
              </a:rPr>
              <a:t>仅对</a:t>
            </a:r>
            <a:r>
              <a:rPr lang="en-US" altLang="zh-CN" sz="2800" dirty="0">
                <a:latin typeface="Times New Roman" panose="02020603050405020304" pitchFamily="18" charset="0"/>
                <a:cs typeface="Times New Roman" panose="02020603050405020304" pitchFamily="18" charset="0"/>
              </a:rPr>
              <a:t>HTTP</a:t>
            </a:r>
            <a:r>
              <a:rPr lang="zh-CN" altLang="en-US" sz="2800" dirty="0">
                <a:latin typeface="Times New Roman" panose="02020603050405020304" pitchFamily="18" charset="0"/>
                <a:cs typeface="Times New Roman" panose="02020603050405020304" pitchFamily="18" charset="0"/>
              </a:rPr>
              <a:t>协议适用，设置方法：</a:t>
            </a:r>
            <a:endParaRPr lang="en-US" altLang="zh-CN" sz="28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public void </a:t>
            </a:r>
            <a:r>
              <a:rPr lang="en-US" altLang="zh-CN" sz="2400" dirty="0" err="1">
                <a:latin typeface="Times New Roman" panose="02020603050405020304" pitchFamily="18" charset="0"/>
                <a:cs typeface="Times New Roman" panose="02020603050405020304" pitchFamily="18" charset="0"/>
              </a:rPr>
              <a:t>setRequestProperty</a:t>
            </a:r>
            <a:r>
              <a:rPr lang="en-US" altLang="zh-CN" sz="2400" dirty="0">
                <a:latin typeface="Times New Roman" panose="02020603050405020304" pitchFamily="18" charset="0"/>
                <a:cs typeface="Times New Roman" panose="02020603050405020304" pitchFamily="18" charset="0"/>
              </a:rPr>
              <a:t>(String name, String value)</a:t>
            </a:r>
          </a:p>
          <a:p>
            <a:r>
              <a:rPr lang="en-US" altLang="zh-CN" sz="2400" dirty="0">
                <a:latin typeface="Times New Roman" panose="02020603050405020304" pitchFamily="18" charset="0"/>
                <a:cs typeface="Times New Roman" panose="02020603050405020304" pitchFamily="18" charset="0"/>
              </a:rPr>
              <a:t>public void </a:t>
            </a:r>
            <a:r>
              <a:rPr lang="en-US" altLang="zh-CN" sz="2400" dirty="0" err="1">
                <a:latin typeface="Times New Roman" panose="02020603050405020304" pitchFamily="18" charset="0"/>
                <a:cs typeface="Times New Roman" panose="02020603050405020304" pitchFamily="18" charset="0"/>
              </a:rPr>
              <a:t>addRequestProperty</a:t>
            </a:r>
            <a:r>
              <a:rPr lang="en-US" altLang="zh-CN" sz="2400" dirty="0">
                <a:latin typeface="Times New Roman" panose="02020603050405020304" pitchFamily="18" charset="0"/>
                <a:cs typeface="Times New Roman" panose="02020603050405020304" pitchFamily="18" charset="0"/>
              </a:rPr>
              <a:t>(String name, String value)</a:t>
            </a:r>
          </a:p>
          <a:p>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090037A2-5815-442D-A27A-7B36C0C639C4}"/>
              </a:ext>
            </a:extLst>
          </p:cNvPr>
          <p:cNvSpPr>
            <a:spLocks noGrp="1"/>
          </p:cNvSpPr>
          <p:nvPr>
            <p:ph type="title"/>
          </p:nvPr>
        </p:nvSpPr>
        <p:spPr>
          <a:xfrm>
            <a:off x="1825625" y="228600"/>
            <a:ext cx="8540750" cy="685800"/>
          </a:xfrm>
        </p:spPr>
        <p:txBody>
          <a:bodyPr/>
          <a:lstStyle/>
          <a:p>
            <a:pPr algn="l"/>
            <a:r>
              <a:rPr lang="zh-CN" altLang="en-US" sz="3200"/>
              <a:t>配置</a:t>
            </a:r>
            <a:r>
              <a:rPr lang="en-US" altLang="zh-CN" sz="3200"/>
              <a:t>HTTP</a:t>
            </a:r>
            <a:r>
              <a:rPr lang="zh-CN" altLang="en-US" sz="3200"/>
              <a:t>客户端请求头信息</a:t>
            </a:r>
          </a:p>
        </p:txBody>
      </p:sp>
      <p:sp>
        <p:nvSpPr>
          <p:cNvPr id="90115" name="内容占位符 2">
            <a:extLst>
              <a:ext uri="{FF2B5EF4-FFF2-40B4-BE49-F238E27FC236}">
                <a16:creationId xmlns:a16="http://schemas.microsoft.com/office/drawing/2014/main" id="{7CBDE40D-73B9-49A4-A616-EBF002FE74F9}"/>
              </a:ext>
            </a:extLst>
          </p:cNvPr>
          <p:cNvSpPr>
            <a:spLocks noGrp="1"/>
          </p:cNvSpPr>
          <p:nvPr>
            <p:ph idx="1"/>
          </p:nvPr>
        </p:nvSpPr>
        <p:spPr>
          <a:xfrm>
            <a:off x="228600" y="1046164"/>
            <a:ext cx="11582400" cy="1728787"/>
          </a:xfrm>
        </p:spPr>
        <p:txBody>
          <a:bodyPr/>
          <a:lstStyle/>
          <a:p>
            <a:r>
              <a:rPr lang="en-US" altLang="zh-CN" sz="2400" dirty="0">
                <a:latin typeface="Times New Roman" panose="02020603050405020304" pitchFamily="18" charset="0"/>
                <a:cs typeface="Times New Roman" panose="02020603050405020304" pitchFamily="18" charset="0"/>
              </a:rPr>
              <a:t>Cookie</a:t>
            </a:r>
            <a:r>
              <a:rPr lang="zh-CN" altLang="en-US" sz="2400" dirty="0">
                <a:latin typeface="Times New Roman" panose="02020603050405020304" pitchFamily="18" charset="0"/>
                <a:cs typeface="Times New Roman" panose="02020603050405020304" pitchFamily="18" charset="0"/>
              </a:rPr>
              <a:t>是名</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值对的集合。</a:t>
            </a:r>
            <a:r>
              <a:rPr lang="en-US" altLang="zh-CN" sz="2400" dirty="0">
                <a:latin typeface="Times New Roman" panose="02020603050405020304" pitchFamily="18" charset="0"/>
                <a:cs typeface="Times New Roman" panose="02020603050405020304" pitchFamily="18" charset="0"/>
              </a:rPr>
              <a:t>HTTP</a:t>
            </a:r>
            <a:r>
              <a:rPr lang="zh-CN" altLang="en-US" sz="2400" dirty="0">
                <a:latin typeface="Times New Roman" panose="02020603050405020304" pitchFamily="18" charset="0"/>
                <a:cs typeface="Times New Roman" panose="02020603050405020304" pitchFamily="18" charset="0"/>
              </a:rPr>
              <a:t>客户端和服务器之间使用</a:t>
            </a:r>
            <a:r>
              <a:rPr lang="en-US" altLang="zh-CN" sz="2400" dirty="0">
                <a:latin typeface="Times New Roman" panose="02020603050405020304" pitchFamily="18" charset="0"/>
                <a:cs typeface="Times New Roman" panose="02020603050405020304" pitchFamily="18" charset="0"/>
              </a:rPr>
              <a:t>cookie</a:t>
            </a:r>
            <a:r>
              <a:rPr lang="zh-CN" altLang="en-US" sz="2400" dirty="0">
                <a:latin typeface="Times New Roman" panose="02020603050405020304" pitchFamily="18" charset="0"/>
                <a:cs typeface="Times New Roman" panose="02020603050405020304" pitchFamily="18" charset="0"/>
              </a:rPr>
              <a:t>存储一些受限的持久信息。服务器使用</a:t>
            </a:r>
            <a:r>
              <a:rPr lang="en-US" altLang="zh-CN" sz="2400" dirty="0">
                <a:latin typeface="Times New Roman" panose="02020603050405020304" pitchFamily="18" charset="0"/>
                <a:cs typeface="Times New Roman" panose="02020603050405020304" pitchFamily="18" charset="0"/>
              </a:rPr>
              <a:t>HTTP</a:t>
            </a:r>
            <a:r>
              <a:rPr lang="zh-CN" altLang="en-US" sz="2400" dirty="0">
                <a:latin typeface="Times New Roman" panose="02020603050405020304" pitchFamily="18" charset="0"/>
                <a:cs typeface="Times New Roman" panose="02020603050405020304" pitchFamily="18" charset="0"/>
              </a:rPr>
              <a:t>响应头部向客户端发送一个</a:t>
            </a:r>
            <a:r>
              <a:rPr lang="en-US" altLang="zh-CN" sz="2400" dirty="0">
                <a:latin typeface="Times New Roman" panose="02020603050405020304" pitchFamily="18" charset="0"/>
                <a:cs typeface="Times New Roman" panose="02020603050405020304" pitchFamily="18" charset="0"/>
              </a:rPr>
              <a:t>cookie</a:t>
            </a:r>
            <a:r>
              <a:rPr lang="zh-CN" altLang="en-US" sz="2400" dirty="0">
                <a:latin typeface="Times New Roman" panose="02020603050405020304" pitchFamily="18" charset="0"/>
                <a:cs typeface="Times New Roman" panose="02020603050405020304" pitchFamily="18" charset="0"/>
              </a:rPr>
              <a:t>，之后，客户端请求此服务器的</a:t>
            </a:r>
            <a:r>
              <a:rPr lang="en-US" altLang="zh-CN" sz="2400" dirty="0">
                <a:latin typeface="Times New Roman" panose="02020603050405020304" pitchFamily="18" charset="0"/>
                <a:cs typeface="Times New Roman" panose="02020603050405020304" pitchFamily="18" charset="0"/>
              </a:rPr>
              <a:t>URL,</a:t>
            </a:r>
            <a:r>
              <a:rPr lang="zh-CN" altLang="en-US" sz="2400" dirty="0">
                <a:latin typeface="Times New Roman" panose="02020603050405020304" pitchFamily="18" charset="0"/>
                <a:cs typeface="Times New Roman" panose="02020603050405020304" pitchFamily="18" charset="0"/>
              </a:rPr>
              <a:t>都会在</a:t>
            </a:r>
            <a:r>
              <a:rPr lang="en-US" altLang="zh-CN" sz="2400" dirty="0">
                <a:latin typeface="Times New Roman" panose="02020603050405020304" pitchFamily="18" charset="0"/>
                <a:cs typeface="Times New Roman" panose="02020603050405020304" pitchFamily="18" charset="0"/>
              </a:rPr>
              <a:t>HTTP</a:t>
            </a:r>
            <a:r>
              <a:rPr lang="zh-CN" altLang="en-US" sz="2400" dirty="0">
                <a:latin typeface="Times New Roman" panose="02020603050405020304" pitchFamily="18" charset="0"/>
                <a:cs typeface="Times New Roman" panose="02020603050405020304" pitchFamily="18" charset="0"/>
              </a:rPr>
              <a:t>请求头部中</a:t>
            </a:r>
            <a:r>
              <a:rPr lang="zh-CN" altLang="en-US" sz="2400" u="sng" dirty="0">
                <a:latin typeface="Times New Roman" panose="02020603050405020304" pitchFamily="18" charset="0"/>
                <a:cs typeface="Times New Roman" panose="02020603050405020304" pitchFamily="18" charset="0"/>
              </a:rPr>
              <a:t>包含此</a:t>
            </a:r>
            <a:r>
              <a:rPr lang="en-US" altLang="zh-CN" sz="2400" u="sng" dirty="0">
                <a:latin typeface="Times New Roman" panose="02020603050405020304" pitchFamily="18" charset="0"/>
                <a:cs typeface="Times New Roman" panose="02020603050405020304" pitchFamily="18" charset="0"/>
              </a:rPr>
              <a:t>cookie</a:t>
            </a:r>
            <a:r>
              <a:rPr lang="zh-CN" altLang="en-US" sz="2400" u="sng" dirty="0">
                <a:latin typeface="Times New Roman" panose="02020603050405020304" pitchFamily="18" charset="0"/>
                <a:cs typeface="Times New Roman" panose="02020603050405020304" pitchFamily="18" charset="0"/>
              </a:rPr>
              <a:t>字段</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endParaRPr lang="zh-CN" altLang="en-US" dirty="0"/>
          </a:p>
        </p:txBody>
      </p:sp>
      <p:sp>
        <p:nvSpPr>
          <p:cNvPr id="36868" name="矩形 4">
            <a:extLst>
              <a:ext uri="{FF2B5EF4-FFF2-40B4-BE49-F238E27FC236}">
                <a16:creationId xmlns:a16="http://schemas.microsoft.com/office/drawing/2014/main" id="{E4397FC6-67F3-4E80-91C3-BAF8D86932D6}"/>
              </a:ext>
            </a:extLst>
          </p:cNvPr>
          <p:cNvSpPr>
            <a:spLocks noChangeArrowheads="1"/>
          </p:cNvSpPr>
          <p:nvPr/>
        </p:nvSpPr>
        <p:spPr bwMode="auto">
          <a:xfrm>
            <a:off x="1787526" y="4210050"/>
            <a:ext cx="875506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a:solidFill>
                  <a:srgbClr val="000088"/>
                </a:solidFill>
                <a:latin typeface="Times New Roman" panose="02020603050405020304" pitchFamily="18" charset="0"/>
                <a:cs typeface="Times New Roman" panose="02020603050405020304" pitchFamily="18" charset="0"/>
              </a:rPr>
              <a:t>uc</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330099"/>
                </a:solidFill>
                <a:latin typeface="Times New Roman" panose="02020603050405020304" pitchFamily="18" charset="0"/>
                <a:cs typeface="Times New Roman" panose="02020603050405020304" pitchFamily="18" charset="0"/>
              </a:rPr>
              <a:t>setRequestProperty</a:t>
            </a:r>
            <a:r>
              <a:rPr lang="en-US" altLang="zh-CN" sz="2000">
                <a:solidFill>
                  <a:srgbClr val="555555"/>
                </a:solidFill>
                <a:latin typeface="Times New Roman" panose="02020603050405020304" pitchFamily="18" charset="0"/>
                <a:cs typeface="Times New Roman" panose="02020603050405020304" pitchFamily="18" charset="0"/>
              </a:rPr>
              <a:t>(</a:t>
            </a:r>
            <a:r>
              <a:rPr lang="en-US" altLang="zh-CN" sz="2000">
                <a:solidFill>
                  <a:srgbClr val="CC3300"/>
                </a:solidFill>
                <a:latin typeface="Times New Roman" panose="02020603050405020304" pitchFamily="18" charset="0"/>
                <a:cs typeface="Times New Roman" panose="02020603050405020304" pitchFamily="18" charset="0"/>
              </a:rPr>
              <a:t>"Cookie"</a:t>
            </a:r>
            <a:r>
              <a:rPr lang="en-US" altLang="zh-CN" sz="2000">
                <a:solidFill>
                  <a:srgbClr val="555555"/>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000">
                <a:solidFill>
                  <a:srgbClr val="CC3300"/>
                </a:solidFill>
                <a:latin typeface="Times New Roman" panose="02020603050405020304" pitchFamily="18" charset="0"/>
                <a:cs typeface="Times New Roman" panose="02020603050405020304" pitchFamily="18" charset="0"/>
              </a:rPr>
              <a:t>"username=elharo; password=ACD0X9F23JJJn6G; session=100678945"</a:t>
            </a:r>
            <a:r>
              <a:rPr lang="en-US" altLang="zh-CN" sz="2000">
                <a:solidFill>
                  <a:srgbClr val="555555"/>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5FA15472-2DE6-44EB-884C-7F6BEAF6E3EB}"/>
              </a:ext>
            </a:extLst>
          </p:cNvPr>
          <p:cNvSpPr txBox="1">
            <a:spLocks noChangeArrowheads="1"/>
          </p:cNvSpPr>
          <p:nvPr/>
        </p:nvSpPr>
        <p:spPr bwMode="auto">
          <a:xfrm>
            <a:off x="2200276" y="2808289"/>
            <a:ext cx="8347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solidFill>
                  <a:schemeClr val="tx2"/>
                </a:solidFill>
              </a:rPr>
              <a:t>Cookie: usename=elharo; password=ACD0X9F23JJJn6G; session=100678945</a:t>
            </a:r>
            <a:endParaRPr lang="zh-CN" altLang="en-US" sz="1800">
              <a:solidFill>
                <a:schemeClr val="tx2"/>
              </a:solidFill>
            </a:endParaRPr>
          </a:p>
        </p:txBody>
      </p:sp>
      <p:sp>
        <p:nvSpPr>
          <p:cNvPr id="3" name="文本框 2">
            <a:extLst>
              <a:ext uri="{FF2B5EF4-FFF2-40B4-BE49-F238E27FC236}">
                <a16:creationId xmlns:a16="http://schemas.microsoft.com/office/drawing/2014/main" id="{7EBD30BE-971D-4887-B3CD-CAB53E5EA018}"/>
              </a:ext>
            </a:extLst>
          </p:cNvPr>
          <p:cNvSpPr txBox="1">
            <a:spLocks noChangeArrowheads="1"/>
          </p:cNvSpPr>
          <p:nvPr/>
        </p:nvSpPr>
        <p:spPr bwMode="auto">
          <a:xfrm>
            <a:off x="2346326" y="3352801"/>
            <a:ext cx="77120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2400"/>
              <a:t>给定一个</a:t>
            </a:r>
            <a:r>
              <a:rPr lang="en-US" altLang="zh-CN" sz="2400"/>
              <a:t>URLConnection</a:t>
            </a:r>
            <a:r>
              <a:rPr lang="zh-CN" altLang="en-US" sz="2400"/>
              <a:t>对象</a:t>
            </a:r>
            <a:r>
              <a:rPr lang="en-US" altLang="zh-CN" sz="2400"/>
              <a:t>uc,</a:t>
            </a:r>
            <a:r>
              <a:rPr lang="zh-CN" altLang="en-US" sz="2400"/>
              <a:t>如何将这个</a:t>
            </a:r>
            <a:r>
              <a:rPr lang="en-US" altLang="zh-CN" sz="2400"/>
              <a:t>cookie</a:t>
            </a:r>
            <a:r>
              <a:rPr lang="zh-CN" altLang="en-US" sz="2400"/>
              <a:t>增加到连接？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6868"/>
                                        </p:tgtEl>
                                        <p:attrNameLst>
                                          <p:attrName>style.visibility</p:attrName>
                                        </p:attrNameLst>
                                      </p:cBhvr>
                                      <p:to>
                                        <p:strVal val="visible"/>
                                      </p:to>
                                    </p:set>
                                    <p:anim calcmode="lin" valueType="num">
                                      <p:cBhvr>
                                        <p:cTn id="18" dur="500" fill="hold"/>
                                        <p:tgtEl>
                                          <p:spTgt spid="36868"/>
                                        </p:tgtEl>
                                        <p:attrNameLst>
                                          <p:attrName>ppt_w</p:attrName>
                                        </p:attrNameLst>
                                      </p:cBhvr>
                                      <p:tavLst>
                                        <p:tav tm="0">
                                          <p:val>
                                            <p:fltVal val="0"/>
                                          </p:val>
                                        </p:tav>
                                        <p:tav tm="100000">
                                          <p:val>
                                            <p:strVal val="#ppt_w"/>
                                          </p:val>
                                        </p:tav>
                                      </p:tavLst>
                                    </p:anim>
                                    <p:anim calcmode="lin" valueType="num">
                                      <p:cBhvr>
                                        <p:cTn id="19" dur="500" fill="hold"/>
                                        <p:tgtEl>
                                          <p:spTgt spid="36868"/>
                                        </p:tgtEl>
                                        <p:attrNameLst>
                                          <p:attrName>ppt_h</p:attrName>
                                        </p:attrNameLst>
                                      </p:cBhvr>
                                      <p:tavLst>
                                        <p:tav tm="0">
                                          <p:val>
                                            <p:fltVal val="0"/>
                                          </p:val>
                                        </p:tav>
                                        <p:tav tm="100000">
                                          <p:val>
                                            <p:strVal val="#ppt_h"/>
                                          </p:val>
                                        </p:tav>
                                      </p:tavLst>
                                    </p:anim>
                                    <p:animEffect transition="in" filter="fade">
                                      <p:cBhvr>
                                        <p:cTn id="20" dur="500"/>
                                        <p:tgtEl>
                                          <p:spTgt spid="3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P spid="2" grpId="0"/>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a:extLst>
              <a:ext uri="{FF2B5EF4-FFF2-40B4-BE49-F238E27FC236}">
                <a16:creationId xmlns:a16="http://schemas.microsoft.com/office/drawing/2014/main" id="{D0885C22-CA5A-492A-AB48-F6B770B425BB}"/>
              </a:ext>
            </a:extLst>
          </p:cNvPr>
          <p:cNvSpPr>
            <a:spLocks noGrp="1"/>
          </p:cNvSpPr>
          <p:nvPr>
            <p:ph type="title"/>
          </p:nvPr>
        </p:nvSpPr>
        <p:spPr>
          <a:xfrm>
            <a:off x="1825625" y="228600"/>
            <a:ext cx="8540750" cy="762000"/>
          </a:xfrm>
        </p:spPr>
        <p:txBody>
          <a:bodyPr/>
          <a:lstStyle/>
          <a:p>
            <a:pPr algn="l"/>
            <a:r>
              <a:rPr lang="en-US" altLang="zh-CN" sz="3200"/>
              <a:t>5.</a:t>
            </a:r>
            <a:r>
              <a:rPr lang="zh-CN" altLang="en-US" sz="3200"/>
              <a:t>向服务器写入数据</a:t>
            </a:r>
          </a:p>
        </p:txBody>
      </p:sp>
      <p:sp>
        <p:nvSpPr>
          <p:cNvPr id="24579" name="内容占位符 2">
            <a:extLst>
              <a:ext uri="{FF2B5EF4-FFF2-40B4-BE49-F238E27FC236}">
                <a16:creationId xmlns:a16="http://schemas.microsoft.com/office/drawing/2014/main" id="{92A210E1-47D1-44A2-8008-D366247EB5E3}"/>
              </a:ext>
            </a:extLst>
          </p:cNvPr>
          <p:cNvSpPr>
            <a:spLocks noGrp="1"/>
          </p:cNvSpPr>
          <p:nvPr>
            <p:ph idx="1"/>
          </p:nvPr>
        </p:nvSpPr>
        <p:spPr>
          <a:xfrm>
            <a:off x="152400" y="1219201"/>
            <a:ext cx="11887200" cy="4498975"/>
          </a:xfrm>
        </p:spPr>
        <p:txBody>
          <a:bodyPr/>
          <a:lstStyle/>
          <a:p>
            <a:r>
              <a:rPr lang="zh-CN" altLang="en-US" sz="2400" dirty="0">
                <a:latin typeface="Times New Roman" panose="02020603050405020304" pitchFamily="18" charset="0"/>
                <a:cs typeface="Times New Roman" panose="02020603050405020304" pitchFamily="18" charset="0"/>
              </a:rPr>
              <a:t>当在客户端程序中需要向</a:t>
            </a:r>
            <a:r>
              <a:rPr lang="en-US" altLang="zh-CN" sz="2400" dirty="0" err="1">
                <a:latin typeface="Times New Roman" panose="02020603050405020304" pitchFamily="18" charset="0"/>
                <a:cs typeface="Times New Roman" panose="02020603050405020304" pitchFamily="18" charset="0"/>
              </a:rPr>
              <a:t>URLConnection</a:t>
            </a:r>
            <a:r>
              <a:rPr lang="zh-CN" altLang="en-US" sz="2400" dirty="0">
                <a:latin typeface="Times New Roman" panose="02020603050405020304" pitchFamily="18" charset="0"/>
                <a:cs typeface="Times New Roman" panose="02020603050405020304" pitchFamily="18" charset="0"/>
              </a:rPr>
              <a:t>写入数据，例如使用</a:t>
            </a:r>
            <a:r>
              <a:rPr lang="en-US" altLang="zh-CN" sz="2400" dirty="0">
                <a:latin typeface="Times New Roman" panose="02020603050405020304" pitchFamily="18" charset="0"/>
                <a:cs typeface="Times New Roman" panose="02020603050405020304" pitchFamily="18" charset="0"/>
              </a:rPr>
              <a:t>POST</a:t>
            </a:r>
            <a:r>
              <a:rPr lang="zh-CN" altLang="en-US" sz="2400" dirty="0">
                <a:latin typeface="Times New Roman" panose="02020603050405020304" pitchFamily="18" charset="0"/>
                <a:cs typeface="Times New Roman" panose="02020603050405020304" pitchFamily="18" charset="0"/>
              </a:rPr>
              <a:t>向</a:t>
            </a:r>
            <a:r>
              <a:rPr lang="en-US" altLang="zh-CN" sz="2400" dirty="0">
                <a:latin typeface="Times New Roman" panose="02020603050405020304" pitchFamily="18" charset="0"/>
                <a:cs typeface="Times New Roman" panose="02020603050405020304" pitchFamily="18" charset="0"/>
              </a:rPr>
              <a:t>Web</a:t>
            </a:r>
            <a:r>
              <a:rPr lang="zh-CN" altLang="en-US" sz="2400" dirty="0">
                <a:latin typeface="Times New Roman" panose="02020603050405020304" pitchFamily="18" charset="0"/>
                <a:cs typeface="Times New Roman" panose="02020603050405020304" pitchFamily="18" charset="0"/>
              </a:rPr>
              <a:t>服务器提交表单，或使用</a:t>
            </a:r>
            <a:r>
              <a:rPr lang="en-US" altLang="zh-CN" sz="2400" dirty="0">
                <a:latin typeface="Times New Roman" panose="02020603050405020304" pitchFamily="18" charset="0"/>
                <a:cs typeface="Times New Roman" panose="02020603050405020304" pitchFamily="18" charset="0"/>
              </a:rPr>
              <a:t>PUT</a:t>
            </a:r>
            <a:r>
              <a:rPr lang="zh-CN" altLang="en-US" sz="2400" dirty="0">
                <a:latin typeface="Times New Roman" panose="02020603050405020304" pitchFamily="18" charset="0"/>
                <a:cs typeface="Times New Roman" panose="02020603050405020304" pitchFamily="18" charset="0"/>
              </a:rPr>
              <a:t>上传文件。</a:t>
            </a:r>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则使用</a:t>
            </a:r>
            <a:r>
              <a:rPr lang="en-US" altLang="zh-CN" sz="2400" dirty="0" err="1">
                <a:latin typeface="Times New Roman" panose="02020603050405020304" pitchFamily="18" charset="0"/>
                <a:cs typeface="Times New Roman" panose="02020603050405020304" pitchFamily="18" charset="0"/>
              </a:rPr>
              <a:t>URLConnection</a:t>
            </a:r>
            <a:r>
              <a:rPr lang="zh-CN" altLang="en-US" sz="2400" dirty="0">
                <a:latin typeface="Times New Roman" panose="02020603050405020304" pitchFamily="18" charset="0"/>
                <a:cs typeface="Times New Roman" panose="02020603050405020304" pitchFamily="18" charset="0"/>
              </a:rPr>
              <a:t>的</a:t>
            </a:r>
            <a:r>
              <a:rPr lang="en-US" altLang="zh-CN" sz="2400" dirty="0" err="1">
                <a:latin typeface="Times New Roman" panose="02020603050405020304" pitchFamily="18" charset="0"/>
                <a:cs typeface="Times New Roman" panose="02020603050405020304" pitchFamily="18" charset="0"/>
              </a:rPr>
              <a:t>getOutputStream</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方法返回一个</a:t>
            </a:r>
            <a:r>
              <a:rPr lang="en-US" altLang="zh-CN" sz="2400" dirty="0" err="1">
                <a:latin typeface="Times New Roman" panose="02020603050405020304" pitchFamily="18" charset="0"/>
                <a:cs typeface="Times New Roman" panose="02020603050405020304" pitchFamily="18" charset="0"/>
              </a:rPr>
              <a:t>OutputStream</a:t>
            </a:r>
            <a:r>
              <a:rPr lang="zh-CN" altLang="en-US" sz="2400" dirty="0">
                <a:latin typeface="Times New Roman" panose="02020603050405020304" pitchFamily="18" charset="0"/>
                <a:cs typeface="Times New Roman" panose="02020603050405020304" pitchFamily="18" charset="0"/>
              </a:rPr>
              <a:t>，用来写入数据传送给服务器。</a:t>
            </a:r>
            <a:endParaRPr lang="en-US" altLang="zh-CN" sz="2400" dirty="0">
              <a:latin typeface="Times New Roman" panose="02020603050405020304" pitchFamily="18" charset="0"/>
              <a:cs typeface="Times New Roman" panose="02020603050405020304" pitchFamily="18" charset="0"/>
            </a:endParaRPr>
          </a:p>
          <a:p>
            <a:r>
              <a:rPr lang="zh-CN" altLang="en-US" sz="2400" b="1" dirty="0">
                <a:latin typeface="Times New Roman" panose="02020603050405020304" pitchFamily="18" charset="0"/>
                <a:cs typeface="Times New Roman" panose="02020603050405020304" pitchFamily="18" charset="0"/>
              </a:rPr>
              <a:t>步骤：</a:t>
            </a:r>
            <a:endParaRPr lang="en-US" altLang="zh-CN" sz="2400" b="1"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US" altLang="zh-CN" sz="2200" dirty="0" err="1">
                <a:latin typeface="Times New Roman" panose="02020603050405020304" pitchFamily="18" charset="0"/>
                <a:cs typeface="Times New Roman" panose="02020603050405020304" pitchFamily="18" charset="0"/>
              </a:rPr>
              <a:t>URLConnection</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uc</a:t>
            </a:r>
            <a:r>
              <a:rPr lang="en-US" altLang="zh-CN" sz="2200" dirty="0">
                <a:latin typeface="Times New Roman" panose="02020603050405020304" pitchFamily="18" charset="0"/>
                <a:cs typeface="Times New Roman" panose="02020603050405020304" pitchFamily="18" charset="0"/>
              </a:rPr>
              <a:t> = </a:t>
            </a:r>
            <a:r>
              <a:rPr lang="en-US" altLang="zh-CN" sz="2200" dirty="0" err="1">
                <a:latin typeface="Times New Roman" panose="02020603050405020304" pitchFamily="18" charset="0"/>
                <a:cs typeface="Times New Roman" panose="02020603050405020304" pitchFamily="18" charset="0"/>
              </a:rPr>
              <a:t>u.openConnection</a:t>
            </a:r>
            <a:r>
              <a:rPr lang="en-US" altLang="zh-CN" sz="22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p"/>
            </a:pPr>
            <a:r>
              <a:rPr lang="en-US" altLang="zh-CN" sz="2200" dirty="0" err="1">
                <a:solidFill>
                  <a:srgbClr val="FF0000"/>
                </a:solidFill>
                <a:latin typeface="Times New Roman" panose="02020603050405020304" pitchFamily="18" charset="0"/>
                <a:cs typeface="Times New Roman" panose="02020603050405020304" pitchFamily="18" charset="0"/>
              </a:rPr>
              <a:t>uc.setDoOutput</a:t>
            </a:r>
            <a:r>
              <a:rPr lang="en-US" altLang="zh-CN" sz="2200" dirty="0">
                <a:solidFill>
                  <a:srgbClr val="FF0000"/>
                </a:solidFill>
                <a:latin typeface="Times New Roman" panose="02020603050405020304" pitchFamily="18" charset="0"/>
                <a:cs typeface="Times New Roman" panose="02020603050405020304" pitchFamily="18" charset="0"/>
              </a:rPr>
              <a:t>(true);// </a:t>
            </a:r>
            <a:r>
              <a:rPr lang="en-US" altLang="zh-CN" sz="2000" dirty="0" err="1">
                <a:solidFill>
                  <a:srgbClr val="FF0000"/>
                </a:solidFill>
                <a:latin typeface="Times New Roman" panose="02020603050405020304" pitchFamily="18" charset="0"/>
                <a:cs typeface="Times New Roman" panose="02020603050405020304" pitchFamily="18" charset="0"/>
              </a:rPr>
              <a:t>URLConnection</a:t>
            </a:r>
            <a:r>
              <a:rPr lang="zh-CN" altLang="en-US" sz="2000" dirty="0">
                <a:solidFill>
                  <a:srgbClr val="FF0000"/>
                </a:solidFill>
                <a:latin typeface="Times New Roman" panose="02020603050405020304" pitchFamily="18" charset="0"/>
                <a:cs typeface="Times New Roman" panose="02020603050405020304" pitchFamily="18" charset="0"/>
              </a:rPr>
              <a:t>默认不允许输出，设置为允许</a:t>
            </a:r>
            <a:endParaRPr lang="en-US" altLang="zh-CN" sz="2000" dirty="0">
              <a:solidFill>
                <a:srgbClr val="FF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US" altLang="zh-CN" sz="2200" dirty="0" err="1">
                <a:latin typeface="Times New Roman" panose="02020603050405020304" pitchFamily="18" charset="0"/>
                <a:cs typeface="Times New Roman" panose="02020603050405020304" pitchFamily="18" charset="0"/>
              </a:rPr>
              <a:t>uc.getOutputStream</a:t>
            </a:r>
            <a:r>
              <a:rPr lang="en-US" altLang="zh-CN" sz="22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p"/>
            </a:pP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开始写</a:t>
            </a:r>
            <a:r>
              <a:rPr lang="en-US" altLang="zh-CN" sz="2200" dirty="0">
                <a:latin typeface="Times New Roman" panose="02020603050405020304" pitchFamily="18" charset="0"/>
                <a:cs typeface="Times New Roman" panose="02020603050405020304" pitchFamily="18" charset="0"/>
              </a:rPr>
              <a:t>...</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7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7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7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5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a:extLst>
              <a:ext uri="{FF2B5EF4-FFF2-40B4-BE49-F238E27FC236}">
                <a16:creationId xmlns:a16="http://schemas.microsoft.com/office/drawing/2014/main" id="{69D68CA7-A1DD-4EC1-9CB9-07832ABE9C51}"/>
              </a:ext>
            </a:extLst>
          </p:cNvPr>
          <p:cNvSpPr>
            <a:spLocks noGrp="1"/>
          </p:cNvSpPr>
          <p:nvPr>
            <p:ph type="title"/>
          </p:nvPr>
        </p:nvSpPr>
        <p:spPr>
          <a:xfrm>
            <a:off x="1825625" y="228600"/>
            <a:ext cx="8540750" cy="762000"/>
          </a:xfrm>
        </p:spPr>
        <p:txBody>
          <a:bodyPr/>
          <a:lstStyle/>
          <a:p>
            <a:pPr algn="l"/>
            <a:r>
              <a:rPr lang="zh-CN" altLang="en-US" sz="3200"/>
              <a:t>如何写？</a:t>
            </a:r>
          </a:p>
        </p:txBody>
      </p:sp>
      <p:sp>
        <p:nvSpPr>
          <p:cNvPr id="92163" name="内容占位符 2">
            <a:extLst>
              <a:ext uri="{FF2B5EF4-FFF2-40B4-BE49-F238E27FC236}">
                <a16:creationId xmlns:a16="http://schemas.microsoft.com/office/drawing/2014/main" id="{41542A2A-DB4C-463F-8CE3-2ED661D86D0B}"/>
              </a:ext>
            </a:extLst>
          </p:cNvPr>
          <p:cNvSpPr>
            <a:spLocks noGrp="1"/>
          </p:cNvSpPr>
          <p:nvPr>
            <p:ph idx="1"/>
          </p:nvPr>
        </p:nvSpPr>
        <p:spPr>
          <a:xfrm>
            <a:off x="381000" y="914400"/>
            <a:ext cx="10972800" cy="5562600"/>
          </a:xfrm>
        </p:spPr>
        <p:txBody>
          <a:bodyPr/>
          <a:lstStyle/>
          <a:p>
            <a:r>
              <a:rPr lang="zh-CN" altLang="en-US" sz="2400" dirty="0">
                <a:latin typeface="Times New Roman" panose="02020603050405020304" pitchFamily="18" charset="0"/>
                <a:cs typeface="Times New Roman" panose="02020603050405020304" pitchFamily="18" charset="0"/>
              </a:rPr>
              <a:t>得到</a:t>
            </a:r>
            <a:r>
              <a:rPr lang="en-US" altLang="zh-CN" sz="2400" dirty="0" err="1">
                <a:latin typeface="Times New Roman" panose="02020603050405020304" pitchFamily="18" charset="0"/>
                <a:cs typeface="Times New Roman" panose="02020603050405020304" pitchFamily="18" charset="0"/>
              </a:rPr>
              <a:t>OutputStream</a:t>
            </a:r>
            <a:r>
              <a:rPr lang="zh-CN" altLang="en-US" sz="2400" dirty="0">
                <a:latin typeface="Times New Roman" panose="02020603050405020304" pitchFamily="18" charset="0"/>
                <a:cs typeface="Times New Roman" panose="02020603050405020304" pitchFamily="18" charset="0"/>
              </a:rPr>
              <a:t>后，将它串链到缓冲类等方便写的类，</a:t>
            </a:r>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如缓冲类</a:t>
            </a:r>
            <a:r>
              <a:rPr lang="en-US" altLang="zh-CN" sz="2400" dirty="0" err="1">
                <a:latin typeface="Times New Roman" panose="02020603050405020304" pitchFamily="18" charset="0"/>
                <a:cs typeface="Times New Roman" panose="02020603050405020304" pitchFamily="18" charset="0"/>
              </a:rPr>
              <a:t>BufferedOutputStream</a:t>
            </a:r>
            <a:r>
              <a:rPr lang="zh-CN" altLang="en-US" sz="2400" dirty="0">
                <a:latin typeface="Times New Roman" panose="02020603050405020304" pitchFamily="18" charset="0"/>
                <a:cs typeface="Times New Roman" panose="02020603050405020304" pitchFamily="18" charset="0"/>
              </a:rPr>
              <a:t>或</a:t>
            </a:r>
            <a:r>
              <a:rPr lang="en-US" altLang="zh-CN" sz="2400" dirty="0" err="1">
                <a:latin typeface="Times New Roman" panose="02020603050405020304" pitchFamily="18" charset="0"/>
                <a:cs typeface="Times New Roman" panose="02020603050405020304" pitchFamily="18" charset="0"/>
              </a:rPr>
              <a:t>BufferedWriter</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写入类</a:t>
            </a:r>
            <a:r>
              <a:rPr lang="en-US" altLang="zh-CN" sz="2400" dirty="0" err="1">
                <a:latin typeface="Times New Roman" panose="02020603050405020304" pitchFamily="18" charset="0"/>
                <a:cs typeface="Times New Roman" panose="02020603050405020304" pitchFamily="18" charset="0"/>
              </a:rPr>
              <a:t>DataOutputStream</a:t>
            </a:r>
            <a:r>
              <a:rPr lang="zh-CN" altLang="en-US" sz="2400" dirty="0">
                <a:latin typeface="Times New Roman" panose="02020603050405020304" pitchFamily="18" charset="0"/>
                <a:cs typeface="Times New Roman" panose="02020603050405020304" pitchFamily="18" charset="0"/>
              </a:rPr>
              <a:t>或</a:t>
            </a:r>
            <a:r>
              <a:rPr lang="en-US" altLang="zh-CN" sz="2400" dirty="0" err="1">
                <a:latin typeface="Times New Roman" panose="02020603050405020304" pitchFamily="18" charset="0"/>
                <a:cs typeface="Times New Roman" panose="02020603050405020304" pitchFamily="18" charset="0"/>
              </a:rPr>
              <a:t>OutputStreamWriter</a:t>
            </a:r>
            <a:endParaRPr lang="en-US" altLang="zh-CN" sz="24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Try{</a:t>
            </a: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}catch(</a:t>
            </a:r>
            <a:r>
              <a:rPr lang="en-US" altLang="zh-CN" sz="2000" dirty="0" err="1">
                <a:latin typeface="Times New Roman" panose="02020603050405020304" pitchFamily="18" charset="0"/>
                <a:cs typeface="Times New Roman" panose="02020603050405020304" pitchFamily="18" charset="0"/>
              </a:rPr>
              <a:t>IOExceptionex</a:t>
            </a:r>
            <a:r>
              <a:rPr lang="en-US" altLang="zh-CN" sz="2000" dirty="0">
                <a:latin typeface="Times New Roman" panose="02020603050405020304" pitchFamily="18" charset="0"/>
                <a:cs typeface="Times New Roman" panose="02020603050405020304" pitchFamily="18" charset="0"/>
              </a:rPr>
              <a:t>){</a:t>
            </a:r>
          </a:p>
          <a:p>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System.err.println</a:t>
            </a:r>
            <a:r>
              <a:rPr lang="en-US" altLang="zh-CN" sz="2000" dirty="0">
                <a:latin typeface="Times New Roman" panose="02020603050405020304" pitchFamily="18" charset="0"/>
                <a:cs typeface="Times New Roman" panose="02020603050405020304" pitchFamily="18" charset="0"/>
              </a:rPr>
              <a:t>(ex);</a:t>
            </a:r>
          </a:p>
          <a:p>
            <a:r>
              <a:rPr lang="en-US" altLang="zh-CN" sz="20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endParaRPr lang="zh-CN" altLang="en-US" dirty="0"/>
          </a:p>
        </p:txBody>
      </p:sp>
      <p:sp>
        <p:nvSpPr>
          <p:cNvPr id="92164" name="文本框 1">
            <a:extLst>
              <a:ext uri="{FF2B5EF4-FFF2-40B4-BE49-F238E27FC236}">
                <a16:creationId xmlns:a16="http://schemas.microsoft.com/office/drawing/2014/main" id="{DE313020-0345-4EAF-8BC7-4902E08921EE}"/>
              </a:ext>
            </a:extLst>
          </p:cNvPr>
          <p:cNvSpPr txBox="1">
            <a:spLocks noChangeArrowheads="1"/>
          </p:cNvSpPr>
          <p:nvPr/>
        </p:nvSpPr>
        <p:spPr bwMode="auto">
          <a:xfrm>
            <a:off x="2057400" y="2484440"/>
            <a:ext cx="66325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dirty="0">
                <a:solidFill>
                  <a:schemeClr val="tx2"/>
                </a:solidFill>
              </a:rPr>
              <a:t>URL u = new URL(“http://www.somehost.com/</a:t>
            </a:r>
            <a:r>
              <a:rPr lang="en-US" altLang="zh-CN" sz="1800" dirty="0" err="1">
                <a:solidFill>
                  <a:schemeClr val="tx2"/>
                </a:solidFill>
              </a:rPr>
              <a:t>cgi</a:t>
            </a:r>
            <a:r>
              <a:rPr lang="en-US" altLang="zh-CN" sz="1800" dirty="0">
                <a:solidFill>
                  <a:schemeClr val="tx2"/>
                </a:solidFill>
              </a:rPr>
              <a:t>-bin/</a:t>
            </a:r>
            <a:r>
              <a:rPr lang="en-US" altLang="zh-CN" sz="1800" dirty="0" err="1">
                <a:solidFill>
                  <a:schemeClr val="tx2"/>
                </a:solidFill>
              </a:rPr>
              <a:t>acgi</a:t>
            </a:r>
            <a:r>
              <a:rPr lang="en-US" altLang="zh-CN" sz="1800" dirty="0">
                <a:solidFill>
                  <a:schemeClr val="tx2"/>
                </a:solidFill>
              </a:rPr>
              <a:t>”);</a:t>
            </a:r>
          </a:p>
          <a:p>
            <a:pPr>
              <a:spcBef>
                <a:spcPct val="0"/>
              </a:spcBef>
              <a:buClrTx/>
              <a:buSzTx/>
              <a:buFontTx/>
              <a:buNone/>
            </a:pPr>
            <a:r>
              <a:rPr lang="en-US" altLang="zh-CN" sz="1800" dirty="0">
                <a:solidFill>
                  <a:schemeClr val="tx2"/>
                </a:solidFill>
              </a:rPr>
              <a:t>//</a:t>
            </a:r>
            <a:r>
              <a:rPr lang="zh-CN" altLang="en-US" sz="1800" dirty="0">
                <a:solidFill>
                  <a:schemeClr val="tx2"/>
                </a:solidFill>
              </a:rPr>
              <a:t>打开连接，准备</a:t>
            </a:r>
            <a:r>
              <a:rPr lang="en-US" altLang="zh-CN" sz="1800" dirty="0">
                <a:solidFill>
                  <a:schemeClr val="tx2"/>
                </a:solidFill>
              </a:rPr>
              <a:t>post</a:t>
            </a:r>
          </a:p>
          <a:p>
            <a:pPr>
              <a:spcBef>
                <a:spcPct val="0"/>
              </a:spcBef>
              <a:buClrTx/>
              <a:buSzTx/>
              <a:buFontTx/>
              <a:buNone/>
            </a:pPr>
            <a:r>
              <a:rPr lang="en-US" altLang="zh-CN" sz="1800" dirty="0" err="1">
                <a:solidFill>
                  <a:schemeClr val="tx2"/>
                </a:solidFill>
              </a:rPr>
              <a:t>URLConnection</a:t>
            </a:r>
            <a:r>
              <a:rPr lang="en-US" altLang="zh-CN" sz="1800" dirty="0">
                <a:solidFill>
                  <a:schemeClr val="tx2"/>
                </a:solidFill>
              </a:rPr>
              <a:t> </a:t>
            </a:r>
            <a:r>
              <a:rPr lang="en-US" altLang="zh-CN" sz="1800" dirty="0" err="1">
                <a:solidFill>
                  <a:schemeClr val="tx2"/>
                </a:solidFill>
              </a:rPr>
              <a:t>uc</a:t>
            </a:r>
            <a:r>
              <a:rPr lang="en-US" altLang="zh-CN" sz="1800" dirty="0">
                <a:solidFill>
                  <a:schemeClr val="tx2"/>
                </a:solidFill>
              </a:rPr>
              <a:t> = </a:t>
            </a:r>
            <a:r>
              <a:rPr lang="en-US" altLang="zh-CN" sz="1800" dirty="0" err="1">
                <a:solidFill>
                  <a:schemeClr val="tx2"/>
                </a:solidFill>
              </a:rPr>
              <a:t>u.openConnection</a:t>
            </a:r>
            <a:r>
              <a:rPr lang="en-US" altLang="zh-CN" sz="1800" dirty="0">
                <a:solidFill>
                  <a:schemeClr val="tx2"/>
                </a:solidFill>
              </a:rPr>
              <a:t>();</a:t>
            </a:r>
          </a:p>
          <a:p>
            <a:pPr>
              <a:spcBef>
                <a:spcPct val="0"/>
              </a:spcBef>
              <a:buClrTx/>
              <a:buSzTx/>
              <a:buFontTx/>
              <a:buNone/>
            </a:pPr>
            <a:r>
              <a:rPr lang="en-US" altLang="zh-CN" sz="1800" dirty="0" err="1">
                <a:solidFill>
                  <a:schemeClr val="tx2"/>
                </a:solidFill>
              </a:rPr>
              <a:t>uc.setDoOutput</a:t>
            </a:r>
            <a:r>
              <a:rPr lang="en-US" altLang="zh-CN" sz="1800" dirty="0">
                <a:solidFill>
                  <a:schemeClr val="tx2"/>
                </a:solidFill>
              </a:rPr>
              <a:t>(true);</a:t>
            </a:r>
            <a:endParaRPr lang="zh-CN" altLang="en-US" sz="1800" dirty="0">
              <a:solidFill>
                <a:schemeClr val="tx2"/>
              </a:solidFill>
            </a:endParaRPr>
          </a:p>
        </p:txBody>
      </p:sp>
      <p:sp>
        <p:nvSpPr>
          <p:cNvPr id="92165" name="文本框 2">
            <a:extLst>
              <a:ext uri="{FF2B5EF4-FFF2-40B4-BE49-F238E27FC236}">
                <a16:creationId xmlns:a16="http://schemas.microsoft.com/office/drawing/2014/main" id="{BB1A0944-8CA7-42A6-A7C7-C08E4D828A88}"/>
              </a:ext>
            </a:extLst>
          </p:cNvPr>
          <p:cNvSpPr txBox="1">
            <a:spLocks noChangeArrowheads="1"/>
          </p:cNvSpPr>
          <p:nvPr/>
        </p:nvSpPr>
        <p:spPr bwMode="auto">
          <a:xfrm>
            <a:off x="2057400" y="3684590"/>
            <a:ext cx="76962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dirty="0" err="1">
                <a:solidFill>
                  <a:srgbClr val="FF0000"/>
                </a:solidFill>
              </a:rPr>
              <a:t>OutputStream</a:t>
            </a:r>
            <a:r>
              <a:rPr lang="en-US" altLang="zh-CN" sz="1800" dirty="0">
                <a:solidFill>
                  <a:srgbClr val="FF0000"/>
                </a:solidFill>
              </a:rPr>
              <a:t> raw = </a:t>
            </a:r>
            <a:r>
              <a:rPr lang="en-US" altLang="zh-CN" sz="1800" dirty="0" err="1">
                <a:solidFill>
                  <a:srgbClr val="FF0000"/>
                </a:solidFill>
              </a:rPr>
              <a:t>uc.getOutputStream</a:t>
            </a:r>
            <a:r>
              <a:rPr lang="en-US" altLang="zh-CN" sz="1800" dirty="0">
                <a:solidFill>
                  <a:srgbClr val="FF0000"/>
                </a:solidFill>
              </a:rPr>
              <a:t>();</a:t>
            </a:r>
          </a:p>
          <a:p>
            <a:pPr>
              <a:spcBef>
                <a:spcPct val="0"/>
              </a:spcBef>
              <a:buClrTx/>
              <a:buSzTx/>
              <a:buFontTx/>
              <a:buNone/>
            </a:pPr>
            <a:r>
              <a:rPr lang="en-US" altLang="zh-CN" sz="1800" dirty="0" err="1">
                <a:solidFill>
                  <a:srgbClr val="FF0000"/>
                </a:solidFill>
              </a:rPr>
              <a:t>OutputStream</a:t>
            </a:r>
            <a:r>
              <a:rPr lang="en-US" altLang="zh-CN" sz="1800" dirty="0">
                <a:solidFill>
                  <a:srgbClr val="FF0000"/>
                </a:solidFill>
              </a:rPr>
              <a:t> buffered = new </a:t>
            </a:r>
            <a:r>
              <a:rPr lang="en-US" altLang="zh-CN" sz="1800" dirty="0" err="1">
                <a:solidFill>
                  <a:srgbClr val="FF0000"/>
                </a:solidFill>
              </a:rPr>
              <a:t>BufferedOutputStream</a:t>
            </a:r>
            <a:r>
              <a:rPr lang="en-US" altLang="zh-CN" sz="1800" dirty="0">
                <a:solidFill>
                  <a:srgbClr val="FF0000"/>
                </a:solidFill>
              </a:rPr>
              <a:t>(raw);</a:t>
            </a:r>
          </a:p>
          <a:p>
            <a:pPr>
              <a:spcBef>
                <a:spcPct val="0"/>
              </a:spcBef>
              <a:buClrTx/>
              <a:buSzTx/>
              <a:buFontTx/>
              <a:buNone/>
            </a:pPr>
            <a:r>
              <a:rPr lang="en-US" altLang="zh-CN" sz="1800" dirty="0" err="1">
                <a:solidFill>
                  <a:srgbClr val="FF0000"/>
                </a:solidFill>
              </a:rPr>
              <a:t>OutputStreamWriter</a:t>
            </a:r>
            <a:r>
              <a:rPr lang="en-US" altLang="zh-CN" sz="1800" dirty="0">
                <a:solidFill>
                  <a:srgbClr val="FF0000"/>
                </a:solidFill>
              </a:rPr>
              <a:t> out = new </a:t>
            </a:r>
            <a:r>
              <a:rPr lang="en-US" altLang="zh-CN" sz="1800" dirty="0" err="1">
                <a:solidFill>
                  <a:srgbClr val="FF0000"/>
                </a:solidFill>
              </a:rPr>
              <a:t>OutputStreamWriter</a:t>
            </a:r>
            <a:r>
              <a:rPr lang="en-US" altLang="zh-CN" sz="1800" dirty="0">
                <a:solidFill>
                  <a:srgbClr val="FF0000"/>
                </a:solidFill>
              </a:rPr>
              <a:t>(</a:t>
            </a:r>
            <a:r>
              <a:rPr lang="en-US" altLang="zh-CN" sz="1800" dirty="0" err="1">
                <a:solidFill>
                  <a:srgbClr val="FF0000"/>
                </a:solidFill>
              </a:rPr>
              <a:t>buffedred</a:t>
            </a:r>
            <a:r>
              <a:rPr lang="en-US" altLang="zh-CN" sz="1800" dirty="0">
                <a:solidFill>
                  <a:srgbClr val="FF0000"/>
                </a:solidFill>
              </a:rPr>
              <a:t>, “8859-1”);</a:t>
            </a:r>
          </a:p>
          <a:p>
            <a:pPr>
              <a:spcBef>
                <a:spcPct val="0"/>
              </a:spcBef>
              <a:buClrTx/>
              <a:buSzTx/>
              <a:buFontTx/>
              <a:buNone/>
            </a:pPr>
            <a:r>
              <a:rPr lang="en-US" altLang="zh-CN" sz="1800" dirty="0" err="1">
                <a:solidFill>
                  <a:srgbClr val="FF0000"/>
                </a:solidFill>
              </a:rPr>
              <a:t>out.write</a:t>
            </a:r>
            <a:r>
              <a:rPr lang="en-US" altLang="zh-CN" sz="1800" dirty="0">
                <a:solidFill>
                  <a:srgbClr val="FF0000"/>
                </a:solidFill>
              </a:rPr>
              <a:t>(“first=</a:t>
            </a:r>
            <a:r>
              <a:rPr lang="en-US" altLang="zh-CN" sz="1800" dirty="0" err="1">
                <a:solidFill>
                  <a:srgbClr val="FF0000"/>
                </a:solidFill>
              </a:rPr>
              <a:t>Julie&amp;middle</a:t>
            </a:r>
            <a:r>
              <a:rPr lang="en-US" altLang="zh-CN" sz="1800" dirty="0">
                <a:solidFill>
                  <a:srgbClr val="FF0000"/>
                </a:solidFill>
              </a:rPr>
              <a:t>=&amp;last=</a:t>
            </a:r>
            <a:r>
              <a:rPr lang="en-US" altLang="zh-CN" sz="1800" dirty="0" err="1">
                <a:solidFill>
                  <a:srgbClr val="FF0000"/>
                </a:solidFill>
              </a:rPr>
              <a:t>Harting&amp;work</a:t>
            </a:r>
            <a:r>
              <a:rPr lang="en-US" altLang="zh-CN" sz="1800" dirty="0">
                <a:solidFill>
                  <a:srgbClr val="FF0000"/>
                </a:solidFill>
              </a:rPr>
              <a:t>=</a:t>
            </a:r>
            <a:r>
              <a:rPr lang="en-US" altLang="zh-CN" sz="1800" dirty="0" err="1">
                <a:solidFill>
                  <a:srgbClr val="FF0000"/>
                </a:solidFill>
              </a:rPr>
              <a:t>String+Quartet</a:t>
            </a:r>
            <a:r>
              <a:rPr lang="en-US" altLang="zh-CN" sz="1800" dirty="0">
                <a:solidFill>
                  <a:srgbClr val="FF0000"/>
                </a:solidFill>
              </a:rPr>
              <a:t>\r\n”);</a:t>
            </a:r>
          </a:p>
          <a:p>
            <a:pPr>
              <a:spcBef>
                <a:spcPct val="0"/>
              </a:spcBef>
              <a:buClrTx/>
              <a:buSzTx/>
              <a:buFontTx/>
              <a:buNone/>
            </a:pPr>
            <a:r>
              <a:rPr lang="en-US" altLang="zh-CN" sz="1800" dirty="0" err="1">
                <a:solidFill>
                  <a:srgbClr val="FF0000"/>
                </a:solidFill>
              </a:rPr>
              <a:t>out.flush</a:t>
            </a:r>
            <a:r>
              <a:rPr lang="en-US" altLang="zh-CN" sz="1800" dirty="0">
                <a:solidFill>
                  <a:srgbClr val="FF0000"/>
                </a:solidFill>
              </a:rPr>
              <a:t>();</a:t>
            </a:r>
          </a:p>
          <a:p>
            <a:pPr>
              <a:spcBef>
                <a:spcPct val="0"/>
              </a:spcBef>
              <a:buClrTx/>
              <a:buSzTx/>
              <a:buFontTx/>
              <a:buNone/>
            </a:pPr>
            <a:r>
              <a:rPr lang="en-US" altLang="zh-CN" sz="1800" dirty="0" err="1">
                <a:solidFill>
                  <a:srgbClr val="FF0000"/>
                </a:solidFill>
              </a:rPr>
              <a:t>out.close</a:t>
            </a:r>
            <a:r>
              <a:rPr lang="en-US" altLang="zh-CN" sz="1800" dirty="0">
                <a:solidFill>
                  <a:srgbClr val="FF0000"/>
                </a:solidFill>
              </a:rPr>
              <a:t>();</a:t>
            </a:r>
            <a:endParaRPr lang="zh-CN" altLang="en-US" sz="1800"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a:extLst>
              <a:ext uri="{FF2B5EF4-FFF2-40B4-BE49-F238E27FC236}">
                <a16:creationId xmlns:a16="http://schemas.microsoft.com/office/drawing/2014/main" id="{C91FDA03-D579-4BFA-A26F-F33E90C38107}"/>
              </a:ext>
            </a:extLst>
          </p:cNvPr>
          <p:cNvSpPr>
            <a:spLocks noGrp="1"/>
          </p:cNvSpPr>
          <p:nvPr>
            <p:ph type="title"/>
          </p:nvPr>
        </p:nvSpPr>
        <p:spPr>
          <a:xfrm>
            <a:off x="1825625" y="228600"/>
            <a:ext cx="8540750" cy="762000"/>
          </a:xfrm>
        </p:spPr>
        <p:txBody>
          <a:bodyPr/>
          <a:lstStyle/>
          <a:p>
            <a:pPr algn="l"/>
            <a:r>
              <a:rPr lang="en-US" altLang="zh-CN" sz="3200"/>
              <a:t>POST</a:t>
            </a:r>
            <a:r>
              <a:rPr lang="zh-CN" altLang="en-US" sz="3200"/>
              <a:t>请求</a:t>
            </a:r>
          </a:p>
        </p:txBody>
      </p:sp>
      <p:sp>
        <p:nvSpPr>
          <p:cNvPr id="3" name="内容占位符 2">
            <a:extLst>
              <a:ext uri="{FF2B5EF4-FFF2-40B4-BE49-F238E27FC236}">
                <a16:creationId xmlns:a16="http://schemas.microsoft.com/office/drawing/2014/main" id="{4B8607AA-E762-4EC3-B0B9-FE177F288DDF}"/>
              </a:ext>
            </a:extLst>
          </p:cNvPr>
          <p:cNvSpPr>
            <a:spLocks noGrp="1"/>
          </p:cNvSpPr>
          <p:nvPr>
            <p:ph idx="1"/>
          </p:nvPr>
        </p:nvSpPr>
        <p:spPr>
          <a:xfrm>
            <a:off x="457200" y="2720543"/>
            <a:ext cx="10972800" cy="3871912"/>
          </a:xfrm>
        </p:spPr>
        <p:txBody>
          <a:bodyPr>
            <a:normAutofit/>
          </a:bodyPr>
          <a:lstStyle/>
          <a:p>
            <a:pPr>
              <a:lnSpc>
                <a:spcPct val="80000"/>
              </a:lnSpc>
            </a:pPr>
            <a:r>
              <a:rPr lang="zh-CN" altLang="en-US" sz="2200" dirty="0">
                <a:solidFill>
                  <a:srgbClr val="1B1C20"/>
                </a:solidFill>
                <a:latin typeface="Times New Roman" panose="02020603050405020304" pitchFamily="18" charset="0"/>
                <a:cs typeface="Times New Roman" panose="02020603050405020304" pitchFamily="18" charset="0"/>
              </a:rPr>
              <a:t>一个客户端的</a:t>
            </a:r>
            <a:r>
              <a:rPr lang="en-US" altLang="zh-CN" sz="2200" dirty="0">
                <a:solidFill>
                  <a:srgbClr val="1B1C20"/>
                </a:solidFill>
                <a:latin typeface="Times New Roman" panose="02020603050405020304" pitchFamily="18" charset="0"/>
                <a:cs typeface="Times New Roman" panose="02020603050405020304" pitchFamily="18" charset="0"/>
              </a:rPr>
              <a:t>POST</a:t>
            </a:r>
            <a:r>
              <a:rPr lang="zh-CN" altLang="en-US" sz="2200" dirty="0">
                <a:solidFill>
                  <a:srgbClr val="1B1C20"/>
                </a:solidFill>
                <a:latin typeface="Times New Roman" panose="02020603050405020304" pitchFamily="18" charset="0"/>
                <a:cs typeface="Times New Roman" panose="02020603050405020304" pitchFamily="18" charset="0"/>
              </a:rPr>
              <a:t>请求和服务器的响应例子：</a:t>
            </a:r>
            <a:endParaRPr lang="en-US" altLang="zh-CN" sz="2200" dirty="0">
              <a:solidFill>
                <a:srgbClr val="1B1C20"/>
              </a:solidFill>
              <a:latin typeface="Times New Roman" panose="02020603050405020304" pitchFamily="18" charset="0"/>
              <a:cs typeface="Times New Roman" panose="02020603050405020304" pitchFamily="18" charset="0"/>
            </a:endParaRPr>
          </a:p>
          <a:p>
            <a:pPr>
              <a:lnSpc>
                <a:spcPct val="80000"/>
              </a:lnSpc>
            </a:pPr>
            <a:r>
              <a:rPr lang="en-US" altLang="zh-CN" sz="2200" dirty="0">
                <a:solidFill>
                  <a:srgbClr val="1B1C20"/>
                </a:solidFill>
                <a:latin typeface="Times New Roman" panose="02020603050405020304" pitchFamily="18" charset="0"/>
                <a:cs typeface="Times New Roman" panose="02020603050405020304" pitchFamily="18" charset="0"/>
              </a:rPr>
              <a:t>telnet </a:t>
            </a:r>
            <a:r>
              <a:rPr lang="en-US" altLang="zh-CN" sz="2200" dirty="0">
                <a:solidFill>
                  <a:srgbClr val="1B1C20"/>
                </a:solidFill>
                <a:latin typeface="Times New Roman" panose="02020603050405020304" pitchFamily="18" charset="0"/>
                <a:cs typeface="Times New Roman" panose="02020603050405020304" pitchFamily="18" charset="0"/>
                <a:hlinkClick r:id="rId2"/>
              </a:rPr>
              <a:t>www.cafeaulait.org</a:t>
            </a:r>
            <a:r>
              <a:rPr lang="en-US" altLang="zh-CN" sz="2200" dirty="0">
                <a:solidFill>
                  <a:srgbClr val="1B1C20"/>
                </a:solidFill>
                <a:latin typeface="Times New Roman" panose="02020603050405020304" pitchFamily="18" charset="0"/>
                <a:cs typeface="Times New Roman" panose="02020603050405020304" pitchFamily="18" charset="0"/>
              </a:rPr>
              <a:t> 80</a:t>
            </a:r>
          </a:p>
          <a:p>
            <a:pPr>
              <a:lnSpc>
                <a:spcPct val="80000"/>
              </a:lnSpc>
            </a:pPr>
            <a:r>
              <a:rPr lang="en-US" altLang="zh-CN" sz="2200" dirty="0">
                <a:solidFill>
                  <a:srgbClr val="1B1C20"/>
                </a:solidFill>
                <a:latin typeface="Times New Roman" panose="02020603050405020304" pitchFamily="18" charset="0"/>
                <a:cs typeface="Times New Roman" panose="02020603050405020304" pitchFamily="18" charset="0"/>
              </a:rPr>
              <a:t>Trying 152.19.134.41…</a:t>
            </a:r>
          </a:p>
          <a:p>
            <a:pPr>
              <a:lnSpc>
                <a:spcPct val="80000"/>
              </a:lnSpc>
            </a:pPr>
            <a:r>
              <a:rPr lang="en-US" altLang="zh-CN" sz="2200" dirty="0">
                <a:solidFill>
                  <a:srgbClr val="1B1C20"/>
                </a:solidFill>
                <a:latin typeface="Times New Roman" panose="02020603050405020304" pitchFamily="18" charset="0"/>
                <a:cs typeface="Times New Roman" panose="02020603050405020304" pitchFamily="18" charset="0"/>
              </a:rPr>
              <a:t>Connected to www.cafeaulait.org</a:t>
            </a:r>
          </a:p>
          <a:p>
            <a:pPr>
              <a:lnSpc>
                <a:spcPct val="80000"/>
              </a:lnSpc>
            </a:pPr>
            <a:r>
              <a:rPr lang="en-US" altLang="zh-CN" sz="2200" dirty="0">
                <a:solidFill>
                  <a:srgbClr val="1B1C20"/>
                </a:solidFill>
                <a:latin typeface="Times New Roman" panose="02020603050405020304" pitchFamily="18" charset="0"/>
                <a:cs typeface="Times New Roman" panose="02020603050405020304" pitchFamily="18" charset="0"/>
              </a:rPr>
              <a:t>POST /books/jnp3/postquery.phtml HTTP/1.0</a:t>
            </a:r>
            <a:endParaRPr lang="en-US" altLang="zh-CN" sz="2200" dirty="0">
              <a:solidFill>
                <a:srgbClr val="000000"/>
              </a:solidFill>
              <a:latin typeface="Times New Roman" panose="02020603050405020304" pitchFamily="18" charset="0"/>
              <a:cs typeface="Times New Roman" panose="02020603050405020304" pitchFamily="18" charset="0"/>
            </a:endParaRPr>
          </a:p>
          <a:p>
            <a:pPr>
              <a:lnSpc>
                <a:spcPct val="80000"/>
              </a:lnSpc>
            </a:pPr>
            <a:r>
              <a:rPr lang="en-US" altLang="zh-CN" sz="2200" dirty="0">
                <a:solidFill>
                  <a:srgbClr val="1B1C20"/>
                </a:solidFill>
                <a:latin typeface="Times New Roman" panose="02020603050405020304" pitchFamily="18" charset="0"/>
                <a:cs typeface="Times New Roman" panose="02020603050405020304" pitchFamily="18" charset="0"/>
              </a:rPr>
              <a:t>Accept: text/plain</a:t>
            </a:r>
            <a:endParaRPr lang="en-US" altLang="zh-CN" sz="2200" dirty="0">
              <a:solidFill>
                <a:srgbClr val="000000"/>
              </a:solidFill>
              <a:latin typeface="Times New Roman" panose="02020603050405020304" pitchFamily="18" charset="0"/>
              <a:cs typeface="Times New Roman" panose="02020603050405020304" pitchFamily="18" charset="0"/>
            </a:endParaRPr>
          </a:p>
          <a:p>
            <a:pPr>
              <a:lnSpc>
                <a:spcPct val="80000"/>
              </a:lnSpc>
            </a:pPr>
            <a:r>
              <a:rPr lang="en-US" altLang="zh-CN" sz="2200" dirty="0">
                <a:solidFill>
                  <a:srgbClr val="1B1C20"/>
                </a:solidFill>
                <a:latin typeface="Times New Roman" panose="02020603050405020304" pitchFamily="18" charset="0"/>
                <a:cs typeface="Times New Roman" panose="02020603050405020304" pitchFamily="18" charset="0"/>
              </a:rPr>
              <a:t>Content-type: application/x-www-form-</a:t>
            </a:r>
            <a:r>
              <a:rPr lang="en-US" altLang="zh-CN" sz="2200" dirty="0" err="1">
                <a:solidFill>
                  <a:srgbClr val="1B1C20"/>
                </a:solidFill>
                <a:latin typeface="Times New Roman" panose="02020603050405020304" pitchFamily="18" charset="0"/>
                <a:cs typeface="Times New Roman" panose="02020603050405020304" pitchFamily="18" charset="0"/>
              </a:rPr>
              <a:t>urlencoded</a:t>
            </a:r>
            <a:endParaRPr lang="en-US" altLang="zh-CN" sz="2200" dirty="0">
              <a:solidFill>
                <a:srgbClr val="000000"/>
              </a:solidFill>
              <a:latin typeface="Times New Roman" panose="02020603050405020304" pitchFamily="18" charset="0"/>
              <a:cs typeface="Times New Roman" panose="02020603050405020304" pitchFamily="18" charset="0"/>
            </a:endParaRPr>
          </a:p>
          <a:p>
            <a:pPr>
              <a:lnSpc>
                <a:spcPct val="80000"/>
              </a:lnSpc>
            </a:pPr>
            <a:r>
              <a:rPr lang="en-US" altLang="zh-CN" sz="2200" dirty="0">
                <a:solidFill>
                  <a:srgbClr val="1B1C20"/>
                </a:solidFill>
                <a:latin typeface="Times New Roman" panose="02020603050405020304" pitchFamily="18" charset="0"/>
                <a:cs typeface="Times New Roman" panose="02020603050405020304" pitchFamily="18" charset="0"/>
              </a:rPr>
              <a:t>Content-length: 63</a:t>
            </a:r>
            <a:endParaRPr lang="en-US" altLang="zh-CN" sz="2200" dirty="0">
              <a:solidFill>
                <a:srgbClr val="000000"/>
              </a:solidFill>
              <a:latin typeface="Times New Roman" panose="02020603050405020304" pitchFamily="18" charset="0"/>
              <a:cs typeface="Times New Roman" panose="02020603050405020304" pitchFamily="18" charset="0"/>
            </a:endParaRPr>
          </a:p>
          <a:p>
            <a:pPr>
              <a:lnSpc>
                <a:spcPct val="80000"/>
              </a:lnSpc>
            </a:pPr>
            <a:r>
              <a:rPr lang="en-US" altLang="zh-CN" sz="2200" dirty="0">
                <a:solidFill>
                  <a:srgbClr val="1B1C20"/>
                </a:solidFill>
                <a:latin typeface="Times New Roman" panose="02020603050405020304" pitchFamily="18" charset="0"/>
                <a:cs typeface="Times New Roman" panose="02020603050405020304" pitchFamily="18" charset="0"/>
              </a:rPr>
              <a:t>Connection: close</a:t>
            </a:r>
            <a:endParaRPr lang="en-US" altLang="zh-CN" sz="2200" dirty="0">
              <a:solidFill>
                <a:srgbClr val="000000"/>
              </a:solidFill>
              <a:latin typeface="Times New Roman" panose="02020603050405020304" pitchFamily="18" charset="0"/>
              <a:cs typeface="Times New Roman" panose="02020603050405020304" pitchFamily="18" charset="0"/>
            </a:endParaRPr>
          </a:p>
          <a:p>
            <a:pPr>
              <a:lnSpc>
                <a:spcPct val="80000"/>
              </a:lnSpc>
            </a:pPr>
            <a:r>
              <a:rPr lang="en-US" altLang="zh-CN" sz="2200" dirty="0">
                <a:solidFill>
                  <a:srgbClr val="1B1C20"/>
                </a:solidFill>
                <a:latin typeface="Times New Roman" panose="02020603050405020304" pitchFamily="18" charset="0"/>
                <a:cs typeface="Times New Roman" panose="02020603050405020304" pitchFamily="18" charset="0"/>
              </a:rPr>
              <a:t>Host: www.cafeaulait.org</a:t>
            </a:r>
          </a:p>
          <a:p>
            <a:pPr>
              <a:lnSpc>
                <a:spcPct val="80000"/>
              </a:lnSpc>
            </a:pPr>
            <a:r>
              <a:rPr lang="en-US" altLang="zh-CN" sz="2200" dirty="0">
                <a:solidFill>
                  <a:srgbClr val="FF0000"/>
                </a:solidFill>
                <a:latin typeface="Times New Roman" panose="02020603050405020304" pitchFamily="18" charset="0"/>
                <a:cs typeface="Times New Roman" panose="02020603050405020304" pitchFamily="18" charset="0"/>
              </a:rPr>
              <a:t>username=</a:t>
            </a:r>
            <a:r>
              <a:rPr lang="en-US" altLang="zh-CN" sz="2200" dirty="0" err="1">
                <a:solidFill>
                  <a:srgbClr val="FF0000"/>
                </a:solidFill>
                <a:latin typeface="Times New Roman" panose="02020603050405020304" pitchFamily="18" charset="0"/>
                <a:cs typeface="Times New Roman" panose="02020603050405020304" pitchFamily="18" charset="0"/>
              </a:rPr>
              <a:t>Elliotte+Rusty+Harold&amp;email</a:t>
            </a:r>
            <a:r>
              <a:rPr lang="en-US" altLang="zh-CN" sz="2200" dirty="0">
                <a:solidFill>
                  <a:srgbClr val="FF0000"/>
                </a:solidFill>
                <a:latin typeface="Times New Roman" panose="02020603050405020304" pitchFamily="18" charset="0"/>
                <a:cs typeface="Times New Roman" panose="02020603050405020304" pitchFamily="18" charset="0"/>
              </a:rPr>
              <a:t>=elharo%40ibiblio%2eorg</a:t>
            </a:r>
          </a:p>
        </p:txBody>
      </p:sp>
      <p:sp>
        <p:nvSpPr>
          <p:cNvPr id="5" name="矩形 4">
            <a:extLst>
              <a:ext uri="{FF2B5EF4-FFF2-40B4-BE49-F238E27FC236}">
                <a16:creationId xmlns:a16="http://schemas.microsoft.com/office/drawing/2014/main" id="{0E12B440-B2BD-4110-855F-D0913732F4F7}"/>
              </a:ext>
            </a:extLst>
          </p:cNvPr>
          <p:cNvSpPr>
            <a:spLocks noChangeArrowheads="1"/>
          </p:cNvSpPr>
          <p:nvPr/>
        </p:nvSpPr>
        <p:spPr bwMode="auto">
          <a:xfrm>
            <a:off x="304800" y="1001713"/>
            <a:ext cx="116586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2" panose="05020102010507070707" pitchFamily="18" charset="2"/>
              <a:buNone/>
            </a:pPr>
            <a:r>
              <a:rPr lang="zh-CN" altLang="en-US" sz="2000" dirty="0"/>
              <a:t>用</a:t>
            </a:r>
            <a:r>
              <a:rPr lang="en-US" altLang="zh-CN" sz="2000" dirty="0"/>
              <a:t>POST</a:t>
            </a:r>
            <a:r>
              <a:rPr lang="zh-CN" altLang="en-US" sz="2000" dirty="0"/>
              <a:t>发送请求与</a:t>
            </a:r>
            <a:r>
              <a:rPr lang="en-US" altLang="zh-CN" sz="2000" dirty="0"/>
              <a:t>GET</a:t>
            </a:r>
            <a:r>
              <a:rPr lang="zh-CN" altLang="en-US" sz="2000" dirty="0"/>
              <a:t>的区别是：</a:t>
            </a:r>
            <a:endParaRPr lang="en-US" altLang="zh-CN" sz="2000" dirty="0"/>
          </a:p>
          <a:p>
            <a:pPr>
              <a:spcBef>
                <a:spcPct val="0"/>
              </a:spcBef>
              <a:buClrTx/>
              <a:buSzTx/>
              <a:buFont typeface="Wingdings 2" panose="05020102010507070707" pitchFamily="18" charset="2"/>
              <a:buNone/>
            </a:pPr>
            <a:r>
              <a:rPr lang="zh-CN" altLang="en-US" sz="2000" dirty="0"/>
              <a:t>（</a:t>
            </a:r>
            <a:r>
              <a:rPr lang="en-US" altLang="zh-CN" sz="2000" dirty="0"/>
              <a:t>1</a:t>
            </a:r>
            <a:r>
              <a:rPr lang="zh-CN" altLang="en-US" sz="2000" dirty="0"/>
              <a:t>）先调用</a:t>
            </a:r>
            <a:r>
              <a:rPr lang="en-US" altLang="zh-CN" sz="2000" dirty="0" err="1"/>
              <a:t>setDoOutput</a:t>
            </a:r>
            <a:r>
              <a:rPr lang="en-US" altLang="zh-CN" sz="2000" dirty="0"/>
              <a:t>(true)</a:t>
            </a:r>
            <a:r>
              <a:rPr lang="zh-CN" altLang="en-US" sz="2000" dirty="0"/>
              <a:t>。</a:t>
            </a:r>
            <a:endParaRPr lang="en-US" altLang="zh-CN" sz="2000" dirty="0"/>
          </a:p>
          <a:p>
            <a:pPr>
              <a:spcBef>
                <a:spcPct val="0"/>
              </a:spcBef>
              <a:buClrTx/>
              <a:buSzTx/>
              <a:buFont typeface="Wingdings 2" panose="05020102010507070707" pitchFamily="18" charset="2"/>
              <a:buNone/>
            </a:pPr>
            <a:r>
              <a:rPr lang="zh-CN" altLang="en-US" sz="2000" dirty="0"/>
              <a:t>（</a:t>
            </a:r>
            <a:r>
              <a:rPr lang="en-US" altLang="zh-CN" sz="2000" dirty="0"/>
              <a:t>2</a:t>
            </a:r>
            <a:r>
              <a:rPr lang="zh-CN" altLang="en-US" sz="2000" dirty="0"/>
              <a:t>）使用</a:t>
            </a:r>
            <a:r>
              <a:rPr lang="en-US" altLang="zh-CN" sz="2000" dirty="0" err="1"/>
              <a:t>URLConnection</a:t>
            </a:r>
            <a:r>
              <a:rPr lang="zh-CN" altLang="en-US" sz="2000" dirty="0"/>
              <a:t>的</a:t>
            </a:r>
            <a:r>
              <a:rPr lang="en-US" altLang="zh-CN" sz="2000" dirty="0" err="1"/>
              <a:t>getOutputStream</a:t>
            </a:r>
            <a:r>
              <a:rPr lang="en-US" altLang="zh-CN" sz="2000" dirty="0"/>
              <a:t>()</a:t>
            </a:r>
            <a:r>
              <a:rPr lang="zh-CN" altLang="en-US" sz="2000" dirty="0"/>
              <a:t>方法写入查询字符串，而不是附加到</a:t>
            </a:r>
            <a:r>
              <a:rPr lang="en-US" altLang="zh-CN" sz="2000" dirty="0"/>
              <a:t>URL</a:t>
            </a:r>
            <a:r>
              <a:rPr lang="zh-CN" altLang="en-US" sz="2000" dirty="0"/>
              <a:t>（发送</a:t>
            </a:r>
            <a:r>
              <a:rPr lang="en-US" altLang="zh-CN" sz="2000" dirty="0"/>
              <a:t>x-www-form-</a:t>
            </a:r>
            <a:r>
              <a:rPr lang="en-US" altLang="zh-CN" sz="2000" dirty="0" err="1"/>
              <a:t>url</a:t>
            </a:r>
            <a:r>
              <a:rPr lang="en-US" altLang="zh-CN" sz="2000" dirty="0"/>
              <a:t>-encoded</a:t>
            </a:r>
            <a:r>
              <a:rPr lang="zh-CN" altLang="en-US" sz="2000" dirty="0"/>
              <a:t>码的字符串）。</a:t>
            </a:r>
            <a:endParaRPr lang="en-US" altLang="zh-CN" sz="2000" dirty="0"/>
          </a:p>
          <a:p>
            <a:pPr>
              <a:spcBef>
                <a:spcPct val="0"/>
              </a:spcBef>
              <a:buClrTx/>
              <a:buSzTx/>
              <a:buFont typeface="Wingdings 2" panose="05020102010507070707" pitchFamily="18" charset="2"/>
              <a:buNone/>
            </a:pPr>
            <a:r>
              <a:rPr lang="en-US" altLang="zh-CN" sz="2000" dirty="0"/>
              <a:t>Java</a:t>
            </a:r>
            <a:r>
              <a:rPr lang="zh-CN" altLang="en-US" sz="2000" dirty="0"/>
              <a:t>会缓冲写入输出流的所有数据，直到流关闭为止。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a:extLst>
              <a:ext uri="{FF2B5EF4-FFF2-40B4-BE49-F238E27FC236}">
                <a16:creationId xmlns:a16="http://schemas.microsoft.com/office/drawing/2014/main" id="{5B432F6E-A100-4445-9246-7BDAC61AE5EF}"/>
              </a:ext>
            </a:extLst>
          </p:cNvPr>
          <p:cNvSpPr>
            <a:spLocks noGrp="1"/>
          </p:cNvSpPr>
          <p:nvPr>
            <p:ph type="title"/>
          </p:nvPr>
        </p:nvSpPr>
        <p:spPr>
          <a:xfrm>
            <a:off x="1825625" y="228600"/>
            <a:ext cx="8540750" cy="762000"/>
          </a:xfrm>
        </p:spPr>
        <p:txBody>
          <a:bodyPr/>
          <a:lstStyle/>
          <a:p>
            <a:pPr algn="l"/>
            <a:r>
              <a:rPr lang="zh-CN" altLang="en-US" sz="3200"/>
              <a:t>服务器的响应</a:t>
            </a:r>
          </a:p>
        </p:txBody>
      </p:sp>
      <p:sp>
        <p:nvSpPr>
          <p:cNvPr id="5" name="矩形 4">
            <a:extLst>
              <a:ext uri="{FF2B5EF4-FFF2-40B4-BE49-F238E27FC236}">
                <a16:creationId xmlns:a16="http://schemas.microsoft.com/office/drawing/2014/main" id="{D5D1FA41-83A4-4618-9B9E-769C41E6A5C4}"/>
              </a:ext>
            </a:extLst>
          </p:cNvPr>
          <p:cNvSpPr>
            <a:spLocks noChangeArrowheads="1"/>
          </p:cNvSpPr>
          <p:nvPr/>
        </p:nvSpPr>
        <p:spPr bwMode="auto">
          <a:xfrm>
            <a:off x="1825625" y="1001713"/>
            <a:ext cx="81534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2" panose="05020102010507070707" pitchFamily="18" charset="2"/>
              <a:buNone/>
            </a:pPr>
            <a:r>
              <a:rPr lang="en-US" altLang="zh-CN" sz="2000"/>
              <a:t>HTTP/1.1 200 OK</a:t>
            </a:r>
          </a:p>
          <a:p>
            <a:pPr>
              <a:spcBef>
                <a:spcPct val="0"/>
              </a:spcBef>
              <a:buClrTx/>
              <a:buSzTx/>
              <a:buFont typeface="Wingdings 2" panose="05020102010507070707" pitchFamily="18" charset="2"/>
              <a:buNone/>
            </a:pPr>
            <a:r>
              <a:rPr lang="en-US" altLang="zh-CN" sz="2000"/>
              <a:t>Date: Sat, 04 May 2013 13:27:24 GMT</a:t>
            </a:r>
          </a:p>
          <a:p>
            <a:pPr>
              <a:spcBef>
                <a:spcPct val="0"/>
              </a:spcBef>
              <a:buClrTx/>
              <a:buSzTx/>
              <a:buFont typeface="Wingdings 2" panose="05020102010507070707" pitchFamily="18" charset="2"/>
              <a:buNone/>
            </a:pPr>
            <a:r>
              <a:rPr lang="en-US" altLang="zh-CN" sz="2000"/>
              <a:t>Server: Apache</a:t>
            </a:r>
          </a:p>
          <a:p>
            <a:pPr>
              <a:spcBef>
                <a:spcPct val="0"/>
              </a:spcBef>
              <a:buClrTx/>
              <a:buSzTx/>
              <a:buFont typeface="Wingdings 2" panose="05020102010507070707" pitchFamily="18" charset="2"/>
              <a:buNone/>
            </a:pPr>
            <a:r>
              <a:rPr lang="en-US" altLang="zh-CN" sz="2000"/>
              <a:t>Content-Style-Type: text/css</a:t>
            </a:r>
          </a:p>
          <a:p>
            <a:pPr>
              <a:spcBef>
                <a:spcPct val="0"/>
              </a:spcBef>
              <a:buClrTx/>
              <a:buSzTx/>
              <a:buFont typeface="Wingdings 2" panose="05020102010507070707" pitchFamily="18" charset="2"/>
              <a:buNone/>
            </a:pPr>
            <a:r>
              <a:rPr lang="en-US" altLang="zh-CN" sz="2000"/>
              <a:t>Content-Length: 864</a:t>
            </a:r>
          </a:p>
          <a:p>
            <a:pPr>
              <a:spcBef>
                <a:spcPct val="0"/>
              </a:spcBef>
              <a:buClrTx/>
              <a:buSzTx/>
              <a:buFont typeface="Wingdings 2" panose="05020102010507070707" pitchFamily="18" charset="2"/>
              <a:buNone/>
            </a:pPr>
            <a:r>
              <a:rPr lang="en-US" altLang="zh-CN" sz="2000"/>
              <a:t>Connection: close</a:t>
            </a:r>
          </a:p>
          <a:p>
            <a:pPr>
              <a:spcBef>
                <a:spcPct val="0"/>
              </a:spcBef>
              <a:buClrTx/>
              <a:buSzTx/>
              <a:buFont typeface="Wingdings 2" panose="05020102010507070707" pitchFamily="18" charset="2"/>
              <a:buNone/>
            </a:pPr>
            <a:r>
              <a:rPr lang="en-US" altLang="zh-CN" sz="2000"/>
              <a:t>Content-Type:text/html; charset=utf-8</a:t>
            </a:r>
          </a:p>
          <a:p>
            <a:pPr>
              <a:spcBef>
                <a:spcPct val="0"/>
              </a:spcBef>
              <a:buClrTx/>
              <a:buSzTx/>
              <a:buFont typeface="Wingdings 2" panose="05020102010507070707" pitchFamily="18" charset="2"/>
              <a:buNone/>
            </a:pPr>
            <a:endParaRPr lang="en-US" altLang="zh-CN" sz="2000"/>
          </a:p>
          <a:p>
            <a:pPr>
              <a:spcBef>
                <a:spcPct val="0"/>
              </a:spcBef>
              <a:buClrTx/>
              <a:buSzTx/>
              <a:buFont typeface="Wingdings 2" panose="05020102010507070707" pitchFamily="18" charset="2"/>
              <a:buNone/>
            </a:pPr>
            <a:r>
              <a:rPr lang="en-US" altLang="zh-CN" sz="2000"/>
              <a:t>&lt;html xmlns=http://www.w3.org/1999/xhtml&gt;</a:t>
            </a:r>
          </a:p>
          <a:p>
            <a:pPr>
              <a:spcBef>
                <a:spcPct val="0"/>
              </a:spcBef>
              <a:buClrTx/>
              <a:buSzTx/>
              <a:buFont typeface="Wingdings 2" panose="05020102010507070707" pitchFamily="18" charset="2"/>
              <a:buNone/>
            </a:pPr>
            <a:r>
              <a:rPr lang="en-US" altLang="zh-CN" sz="2000"/>
              <a:t>	&lt;head&gt;</a:t>
            </a:r>
          </a:p>
          <a:p>
            <a:pPr>
              <a:spcBef>
                <a:spcPct val="0"/>
              </a:spcBef>
              <a:buClrTx/>
              <a:buSzTx/>
              <a:buFont typeface="Wingdings 2" panose="05020102010507070707" pitchFamily="18" charset="2"/>
              <a:buNone/>
            </a:pPr>
            <a:r>
              <a:rPr lang="en-US" altLang="zh-CN" sz="2000"/>
              <a:t>		&lt;title&gt;Query Results&lt;/title&gt;</a:t>
            </a:r>
          </a:p>
          <a:p>
            <a:pPr>
              <a:spcBef>
                <a:spcPct val="0"/>
              </a:spcBef>
              <a:buClrTx/>
              <a:buSzTx/>
              <a:buFont typeface="Wingdings 2" panose="05020102010507070707" pitchFamily="18" charset="2"/>
              <a:buNone/>
            </a:pPr>
            <a:r>
              <a:rPr lang="en-US" altLang="zh-CN" sz="2000"/>
              <a:t>	&lt;/head&gt;</a:t>
            </a:r>
          </a:p>
          <a:p>
            <a:pPr>
              <a:spcBef>
                <a:spcPct val="0"/>
              </a:spcBef>
              <a:buClrTx/>
              <a:buSzTx/>
              <a:buFont typeface="Wingdings 2" panose="05020102010507070707" pitchFamily="18" charset="2"/>
              <a:buNone/>
            </a:pPr>
            <a:r>
              <a:rPr lang="en-US" altLang="zh-CN" sz="2000"/>
              <a:t>	&lt;body&gt;</a:t>
            </a:r>
          </a:p>
          <a:p>
            <a:pPr>
              <a:spcBef>
                <a:spcPct val="0"/>
              </a:spcBef>
              <a:buClrTx/>
              <a:buSzTx/>
              <a:buFont typeface="Wingdings 2" panose="05020102010507070707" pitchFamily="18" charset="2"/>
              <a:buNone/>
            </a:pPr>
            <a:r>
              <a:rPr lang="en-US" altLang="zh-CN" sz="2000"/>
              <a:t>		&lt;h1&gt;Query Results&lt;/h1&gt;</a:t>
            </a:r>
          </a:p>
          <a:p>
            <a:pPr>
              <a:spcBef>
                <a:spcPct val="0"/>
              </a:spcBef>
              <a:buClrTx/>
              <a:buSzTx/>
              <a:buFont typeface="Wingdings 2" panose="05020102010507070707" pitchFamily="18" charset="2"/>
              <a:buNone/>
            </a:pPr>
            <a:r>
              <a:rPr lang="en-US" altLang="zh-CN" sz="2000"/>
              <a:t>		&lt;p&gt;You submitted the following name/value pairs:&lt;/p&gt;</a:t>
            </a:r>
          </a:p>
          <a:p>
            <a:pPr>
              <a:spcBef>
                <a:spcPct val="0"/>
              </a:spcBef>
              <a:buClrTx/>
              <a:buSzTx/>
              <a:buFont typeface="Wingdings 2" panose="05020102010507070707" pitchFamily="18" charset="2"/>
              <a:buNone/>
            </a:pPr>
            <a:r>
              <a:rPr lang="en-US" altLang="zh-CN" sz="2000"/>
              <a:t>	… </a:t>
            </a:r>
          </a:p>
          <a:p>
            <a:pPr>
              <a:spcBef>
                <a:spcPct val="0"/>
              </a:spcBef>
              <a:buClrTx/>
              <a:buSzTx/>
              <a:buFont typeface="Wingdings 2" panose="05020102010507070707" pitchFamily="18" charset="2"/>
              <a:buNone/>
            </a:pPr>
            <a:r>
              <a:rPr lang="en-US" altLang="zh-CN" sz="2000"/>
              <a:t>	&lt;/body&gt;</a:t>
            </a:r>
          </a:p>
          <a:p>
            <a:pPr>
              <a:spcBef>
                <a:spcPct val="0"/>
              </a:spcBef>
              <a:buClrTx/>
              <a:buSzTx/>
              <a:buFont typeface="Wingdings 2" panose="05020102010507070707" pitchFamily="18" charset="2"/>
              <a:buNone/>
            </a:pPr>
            <a:r>
              <a:rPr lang="en-US" altLang="zh-CN" sz="2000"/>
              <a:t>&lt;/html&gt;</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a:extLst>
              <a:ext uri="{FF2B5EF4-FFF2-40B4-BE49-F238E27FC236}">
                <a16:creationId xmlns:a16="http://schemas.microsoft.com/office/drawing/2014/main" id="{0E9A0AE6-07DE-4285-8CDC-748253FC3AB1}"/>
              </a:ext>
            </a:extLst>
          </p:cNvPr>
          <p:cNvSpPr>
            <a:spLocks noGrp="1"/>
          </p:cNvSpPr>
          <p:nvPr>
            <p:ph type="title"/>
          </p:nvPr>
        </p:nvSpPr>
        <p:spPr>
          <a:xfrm>
            <a:off x="1825625" y="228600"/>
            <a:ext cx="8540750" cy="762000"/>
          </a:xfrm>
        </p:spPr>
        <p:txBody>
          <a:bodyPr/>
          <a:lstStyle/>
          <a:p>
            <a:pPr algn="l"/>
            <a:r>
              <a:rPr lang="en-US" altLang="zh-CN" sz="3200"/>
              <a:t>POST</a:t>
            </a:r>
            <a:r>
              <a:rPr lang="zh-CN" altLang="en-US" sz="3200"/>
              <a:t>请求编程例子</a:t>
            </a:r>
          </a:p>
        </p:txBody>
      </p:sp>
      <p:sp>
        <p:nvSpPr>
          <p:cNvPr id="95235" name="内容占位符 2">
            <a:extLst>
              <a:ext uri="{FF2B5EF4-FFF2-40B4-BE49-F238E27FC236}">
                <a16:creationId xmlns:a16="http://schemas.microsoft.com/office/drawing/2014/main" id="{371ED399-0290-4509-B94B-00AF1C600125}"/>
              </a:ext>
            </a:extLst>
          </p:cNvPr>
          <p:cNvSpPr>
            <a:spLocks noGrp="1"/>
          </p:cNvSpPr>
          <p:nvPr>
            <p:ph idx="1"/>
          </p:nvPr>
        </p:nvSpPr>
        <p:spPr>
          <a:xfrm>
            <a:off x="457200" y="1143000"/>
            <a:ext cx="11277599" cy="3124200"/>
          </a:xfrm>
        </p:spPr>
        <p:txBody>
          <a:bodyPr/>
          <a:lstStyle/>
          <a:p>
            <a:r>
              <a:rPr lang="zh-CN" altLang="en-US" sz="2400" dirty="0">
                <a:solidFill>
                  <a:srgbClr val="000000"/>
                </a:solidFill>
                <a:latin typeface="Times New Roman" panose="02020603050405020304" pitchFamily="18" charset="0"/>
                <a:cs typeface="Times New Roman" panose="02020603050405020304" pitchFamily="18" charset="0"/>
              </a:rPr>
              <a:t>编写程序，向一个</a:t>
            </a:r>
            <a:r>
              <a:rPr lang="en-US" altLang="zh-CN" sz="2400" dirty="0">
                <a:solidFill>
                  <a:srgbClr val="000000"/>
                </a:solidFill>
                <a:latin typeface="Times New Roman" panose="02020603050405020304" pitchFamily="18" charset="0"/>
                <a:cs typeface="Times New Roman" panose="02020603050405020304" pitchFamily="18" charset="0"/>
              </a:rPr>
              <a:t>HTTP</a:t>
            </a:r>
            <a:r>
              <a:rPr lang="zh-CN" altLang="en-US" sz="2400" dirty="0">
                <a:solidFill>
                  <a:srgbClr val="000000"/>
                </a:solidFill>
                <a:latin typeface="Times New Roman" panose="02020603050405020304" pitchFamily="18" charset="0"/>
                <a:cs typeface="Times New Roman" panose="02020603050405020304" pitchFamily="18" charset="0"/>
              </a:rPr>
              <a:t>服务器提交一个表单：使用</a:t>
            </a:r>
            <a:r>
              <a:rPr lang="en-US" altLang="zh-CN" sz="2400" dirty="0" err="1">
                <a:solidFill>
                  <a:srgbClr val="000000"/>
                </a:solidFill>
                <a:latin typeface="Times New Roman" panose="02020603050405020304" pitchFamily="18" charset="0"/>
                <a:cs typeface="Times New Roman" panose="02020603050405020304" pitchFamily="18" charset="0"/>
              </a:rPr>
              <a:t>URLConnection</a:t>
            </a:r>
            <a:r>
              <a:rPr lang="zh-CN" altLang="en-US" sz="2400" dirty="0">
                <a:solidFill>
                  <a:srgbClr val="000000"/>
                </a:solidFill>
                <a:latin typeface="Times New Roman" panose="02020603050405020304" pitchFamily="18" charset="0"/>
                <a:cs typeface="Times New Roman" panose="02020603050405020304" pitchFamily="18" charset="0"/>
              </a:rPr>
              <a:t>类和第</a:t>
            </a:r>
            <a:r>
              <a:rPr lang="en-US" altLang="zh-CN" sz="2400" dirty="0">
                <a:solidFill>
                  <a:srgbClr val="000000"/>
                </a:solidFill>
                <a:latin typeface="Times New Roman" panose="02020603050405020304" pitchFamily="18" charset="0"/>
                <a:cs typeface="Times New Roman" panose="02020603050405020304" pitchFamily="18" charset="0"/>
              </a:rPr>
              <a:t>5</a:t>
            </a:r>
            <a:r>
              <a:rPr lang="zh-CN" altLang="en-US" sz="2400" dirty="0">
                <a:solidFill>
                  <a:srgbClr val="000000"/>
                </a:solidFill>
                <a:latin typeface="Times New Roman" panose="02020603050405020304" pitchFamily="18" charset="0"/>
                <a:cs typeface="Times New Roman" panose="02020603050405020304" pitchFamily="18" charset="0"/>
              </a:rPr>
              <a:t>章的</a:t>
            </a:r>
            <a:r>
              <a:rPr lang="en-US" altLang="zh-CN" sz="2400" dirty="0" err="1">
                <a:solidFill>
                  <a:srgbClr val="000000"/>
                </a:solidFill>
                <a:latin typeface="Times New Roman" panose="02020603050405020304" pitchFamily="18" charset="0"/>
                <a:cs typeface="Times New Roman" panose="02020603050405020304" pitchFamily="18" charset="0"/>
              </a:rPr>
              <a:t>QueryString</a:t>
            </a:r>
            <a:r>
              <a:rPr lang="zh-CN" altLang="en-US" sz="2400" dirty="0">
                <a:solidFill>
                  <a:srgbClr val="000000"/>
                </a:solidFill>
                <a:latin typeface="Times New Roman" panose="02020603050405020304" pitchFamily="18" charset="0"/>
                <a:cs typeface="Times New Roman" panose="02020603050405020304" pitchFamily="18" charset="0"/>
              </a:rPr>
              <a:t>类提交</a:t>
            </a:r>
            <a:r>
              <a:rPr lang="en-US" altLang="zh-CN" sz="2400" dirty="0">
                <a:solidFill>
                  <a:srgbClr val="000000"/>
                </a:solidFill>
                <a:latin typeface="Times New Roman" panose="02020603050405020304" pitchFamily="18" charset="0"/>
                <a:cs typeface="Times New Roman" panose="02020603050405020304" pitchFamily="18" charset="0"/>
              </a:rPr>
              <a:t>(post)</a:t>
            </a:r>
            <a:r>
              <a:rPr lang="zh-CN" altLang="en-US" sz="2400" dirty="0">
                <a:solidFill>
                  <a:srgbClr val="000000"/>
                </a:solidFill>
                <a:latin typeface="Times New Roman" panose="02020603050405020304" pitchFamily="18" charset="0"/>
                <a:cs typeface="Times New Roman" panose="02020603050405020304" pitchFamily="18" charset="0"/>
              </a:rPr>
              <a:t>表单数据。向服务器资源发送名字</a:t>
            </a:r>
            <a:r>
              <a:rPr lang="en-US" altLang="zh-CN" sz="2400" dirty="0">
                <a:solidFill>
                  <a:srgbClr val="000000"/>
                </a:solidFill>
                <a:latin typeface="Times New Roman" panose="02020603050405020304" pitchFamily="18" charset="0"/>
                <a:cs typeface="Times New Roman" panose="02020603050405020304" pitchFamily="18" charset="0"/>
              </a:rPr>
              <a:t>”</a:t>
            </a:r>
            <a:r>
              <a:rPr lang="en-US" altLang="zh-CN" sz="2400" dirty="0" err="1">
                <a:solidFill>
                  <a:srgbClr val="000000"/>
                </a:solidFill>
                <a:latin typeface="Times New Roman" panose="02020603050405020304" pitchFamily="18" charset="0"/>
                <a:cs typeface="Times New Roman" panose="02020603050405020304" pitchFamily="18" charset="0"/>
              </a:rPr>
              <a:t>Elliotte</a:t>
            </a:r>
            <a:r>
              <a:rPr lang="en-US" altLang="zh-CN" sz="2400" dirty="0">
                <a:solidFill>
                  <a:srgbClr val="000000"/>
                </a:solidFill>
                <a:latin typeface="Times New Roman" panose="02020603050405020304" pitchFamily="18" charset="0"/>
                <a:cs typeface="Times New Roman" panose="02020603050405020304" pitchFamily="18" charset="0"/>
              </a:rPr>
              <a:t> Rusty Harold”</a:t>
            </a:r>
            <a:r>
              <a:rPr lang="zh-CN" altLang="en-US" sz="2400" dirty="0">
                <a:solidFill>
                  <a:srgbClr val="000000"/>
                </a:solidFill>
                <a:latin typeface="Times New Roman" panose="02020603050405020304" pitchFamily="18" charset="0"/>
                <a:cs typeface="Times New Roman" panose="02020603050405020304" pitchFamily="18" charset="0"/>
              </a:rPr>
              <a:t>和电子邮件地址</a:t>
            </a:r>
            <a:r>
              <a:rPr lang="en-US" altLang="zh-CN" sz="2400" dirty="0">
                <a:solidFill>
                  <a:srgbClr val="000000"/>
                </a:solidFill>
                <a:latin typeface="Times New Roman" panose="02020603050405020304" pitchFamily="18" charset="0"/>
                <a:cs typeface="Times New Roman" panose="02020603050405020304" pitchFamily="18" charset="0"/>
              </a:rPr>
              <a:t>elharo@biblio.org</a:t>
            </a:r>
            <a:r>
              <a:rPr lang="zh-CN" altLang="en-US" sz="2400" dirty="0">
                <a:solidFill>
                  <a:srgbClr val="000000"/>
                </a:solidFill>
                <a:latin typeface="Times New Roman" panose="02020603050405020304" pitchFamily="18" charset="0"/>
                <a:cs typeface="Times New Roman" panose="02020603050405020304" pitchFamily="18" charset="0"/>
              </a:rPr>
              <a:t>。服务器资源位于</a:t>
            </a:r>
            <a:r>
              <a:rPr lang="en-US" altLang="zh-CN" sz="2400" dirty="0">
                <a:solidFill>
                  <a:srgbClr val="000000"/>
                </a:solidFill>
                <a:latin typeface="Times New Roman" panose="02020603050405020304" pitchFamily="18" charset="0"/>
                <a:cs typeface="Times New Roman" panose="02020603050405020304" pitchFamily="18" charset="0"/>
              </a:rPr>
              <a:t>http://www.cafeaulait.org/books/jnp4/postquery.html, </a:t>
            </a:r>
            <a:r>
              <a:rPr lang="zh-CN" altLang="en-US" sz="2400" dirty="0">
                <a:solidFill>
                  <a:srgbClr val="000000"/>
                </a:solidFill>
                <a:latin typeface="Times New Roman" panose="02020603050405020304" pitchFamily="18" charset="0"/>
                <a:cs typeface="Times New Roman" panose="02020603050405020304" pitchFamily="18" charset="0"/>
              </a:rPr>
              <a:t>是一个表单测试器，可</a:t>
            </a:r>
            <a:r>
              <a:rPr lang="zh-CN" altLang="en-US" sz="2400" dirty="0">
                <a:solidFill>
                  <a:srgbClr val="FF0000"/>
                </a:solidFill>
                <a:latin typeface="Times New Roman" panose="02020603050405020304" pitchFamily="18" charset="0"/>
                <a:cs typeface="Times New Roman" panose="02020603050405020304" pitchFamily="18" charset="0"/>
              </a:rPr>
              <a:t>接受任何使用</a:t>
            </a:r>
            <a:r>
              <a:rPr lang="en-US" altLang="zh-CN" sz="2400" dirty="0">
                <a:solidFill>
                  <a:srgbClr val="FF0000"/>
                </a:solidFill>
                <a:latin typeface="Times New Roman" panose="02020603050405020304" pitchFamily="18" charset="0"/>
                <a:cs typeface="Times New Roman" panose="02020603050405020304" pitchFamily="18" charset="0"/>
              </a:rPr>
              <a:t>POST</a:t>
            </a:r>
            <a:r>
              <a:rPr lang="zh-CN" altLang="en-US" sz="2400" dirty="0">
                <a:solidFill>
                  <a:srgbClr val="FF0000"/>
                </a:solidFill>
                <a:latin typeface="Times New Roman" panose="02020603050405020304" pitchFamily="18" charset="0"/>
                <a:cs typeface="Times New Roman" panose="02020603050405020304" pitchFamily="18" charset="0"/>
              </a:rPr>
              <a:t>或</a:t>
            </a:r>
            <a:r>
              <a:rPr lang="en-US" altLang="zh-CN" sz="2400" dirty="0">
                <a:solidFill>
                  <a:srgbClr val="FF0000"/>
                </a:solidFill>
                <a:latin typeface="Times New Roman" panose="02020603050405020304" pitchFamily="18" charset="0"/>
                <a:cs typeface="Times New Roman" panose="02020603050405020304" pitchFamily="18" charset="0"/>
              </a:rPr>
              <a:t>GET</a:t>
            </a:r>
            <a:r>
              <a:rPr lang="zh-CN" altLang="en-US" sz="2400" dirty="0">
                <a:solidFill>
                  <a:srgbClr val="FF0000"/>
                </a:solidFill>
                <a:latin typeface="Times New Roman" panose="02020603050405020304" pitchFamily="18" charset="0"/>
                <a:cs typeface="Times New Roman" panose="02020603050405020304" pitchFamily="18" charset="0"/>
              </a:rPr>
              <a:t>方法的输入</a:t>
            </a:r>
            <a:r>
              <a:rPr lang="en-US" altLang="zh-CN" sz="2400" dirty="0">
                <a:solidFill>
                  <a:srgbClr val="FF0000"/>
                </a:solidFill>
                <a:latin typeface="Times New Roman" panose="02020603050405020304" pitchFamily="18" charset="0"/>
                <a:cs typeface="Times New Roman" panose="02020603050405020304" pitchFamily="18" charset="0"/>
              </a:rPr>
              <a:t>,</a:t>
            </a:r>
            <a:r>
              <a:rPr lang="zh-CN" altLang="en-US" sz="2400" dirty="0">
                <a:solidFill>
                  <a:srgbClr val="FF0000"/>
                </a:solidFill>
                <a:latin typeface="Times New Roman" panose="02020603050405020304" pitchFamily="18" charset="0"/>
                <a:cs typeface="Times New Roman" panose="02020603050405020304" pitchFamily="18" charset="0"/>
              </a:rPr>
              <a:t>并返回一个</a:t>
            </a:r>
            <a:r>
              <a:rPr lang="en-US" altLang="zh-CN" sz="2400" dirty="0">
                <a:solidFill>
                  <a:srgbClr val="FF0000"/>
                </a:solidFill>
                <a:latin typeface="Times New Roman" panose="02020603050405020304" pitchFamily="18" charset="0"/>
                <a:cs typeface="Times New Roman" panose="02020603050405020304" pitchFamily="18" charset="0"/>
              </a:rPr>
              <a:t>HTML</a:t>
            </a:r>
            <a:r>
              <a:rPr lang="zh-CN" altLang="en-US" sz="2400" dirty="0">
                <a:solidFill>
                  <a:srgbClr val="FF0000"/>
                </a:solidFill>
                <a:latin typeface="Times New Roman" panose="02020603050405020304" pitchFamily="18" charset="0"/>
                <a:cs typeface="Times New Roman" panose="02020603050405020304" pitchFamily="18" charset="0"/>
              </a:rPr>
              <a:t>页面</a:t>
            </a:r>
            <a:r>
              <a:rPr lang="en-US" altLang="zh-CN" sz="2400" dirty="0">
                <a:solidFill>
                  <a:srgbClr val="FF0000"/>
                </a:solidFill>
                <a:latin typeface="Times New Roman" panose="02020603050405020304" pitchFamily="18" charset="0"/>
                <a:cs typeface="Times New Roman" panose="02020603050405020304" pitchFamily="18" charset="0"/>
              </a:rPr>
              <a:t>,</a:t>
            </a:r>
            <a:r>
              <a:rPr lang="zh-CN" altLang="en-US" sz="2400" dirty="0">
                <a:solidFill>
                  <a:srgbClr val="FF0000"/>
                </a:solidFill>
                <a:latin typeface="Times New Roman" panose="02020603050405020304" pitchFamily="18" charset="0"/>
                <a:cs typeface="Times New Roman" panose="02020603050405020304" pitchFamily="18" charset="0"/>
              </a:rPr>
              <a:t>显示所提交的名和值。返回的数据是</a:t>
            </a:r>
            <a:r>
              <a:rPr lang="en-US" altLang="zh-CN" sz="2400" dirty="0">
                <a:solidFill>
                  <a:srgbClr val="FF0000"/>
                </a:solidFill>
                <a:latin typeface="Times New Roman" panose="02020603050405020304" pitchFamily="18" charset="0"/>
                <a:cs typeface="Times New Roman" panose="02020603050405020304" pitchFamily="18" charset="0"/>
              </a:rPr>
              <a:t>HTML</a:t>
            </a:r>
          </a:p>
        </p:txBody>
      </p:sp>
      <p:sp>
        <p:nvSpPr>
          <p:cNvPr id="95236" name="矩形 4">
            <a:extLst>
              <a:ext uri="{FF2B5EF4-FFF2-40B4-BE49-F238E27FC236}">
                <a16:creationId xmlns:a16="http://schemas.microsoft.com/office/drawing/2014/main" id="{9AC6E92D-BAE6-424A-A5DD-8D34A37CD5AD}"/>
              </a:ext>
            </a:extLst>
          </p:cNvPr>
          <p:cNvSpPr>
            <a:spLocks noChangeArrowheads="1"/>
          </p:cNvSpPr>
          <p:nvPr/>
        </p:nvSpPr>
        <p:spPr bwMode="auto">
          <a:xfrm>
            <a:off x="2008188" y="4237038"/>
            <a:ext cx="815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2" panose="05020102010507070707" pitchFamily="18" charset="2"/>
              <a:buNone/>
            </a:pPr>
            <a:r>
              <a:rPr lang="zh-CN" altLang="en-US" sz="2400"/>
              <a:t>演示讲解示例代码：</a:t>
            </a:r>
            <a:r>
              <a:rPr lang="en-US" altLang="zh-CN" sz="2400"/>
              <a:t>ch7.FormPoster.java</a:t>
            </a:r>
            <a:endParaRPr lang="zh-CN" altLang="en-US" sz="24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a:extLst>
              <a:ext uri="{FF2B5EF4-FFF2-40B4-BE49-F238E27FC236}">
                <a16:creationId xmlns:a16="http://schemas.microsoft.com/office/drawing/2014/main" id="{95A7F837-6653-45BB-8BA2-CC1868BBA6FD}"/>
              </a:ext>
            </a:extLst>
          </p:cNvPr>
          <p:cNvSpPr>
            <a:spLocks noGrp="1"/>
          </p:cNvSpPr>
          <p:nvPr>
            <p:ph type="title"/>
          </p:nvPr>
        </p:nvSpPr>
        <p:spPr>
          <a:xfrm>
            <a:off x="1825625" y="228600"/>
            <a:ext cx="8540750" cy="762000"/>
          </a:xfrm>
        </p:spPr>
        <p:txBody>
          <a:bodyPr/>
          <a:lstStyle/>
          <a:p>
            <a:r>
              <a:rPr lang="en-US" altLang="zh-CN" sz="3200"/>
              <a:t>POST</a:t>
            </a:r>
            <a:r>
              <a:rPr lang="zh-CN" altLang="en-US" sz="3200"/>
              <a:t>请求编程例子</a:t>
            </a:r>
          </a:p>
        </p:txBody>
      </p:sp>
      <p:pic>
        <p:nvPicPr>
          <p:cNvPr id="96259" name="图片 2">
            <a:extLst>
              <a:ext uri="{FF2B5EF4-FFF2-40B4-BE49-F238E27FC236}">
                <a16:creationId xmlns:a16="http://schemas.microsoft.com/office/drawing/2014/main" id="{608BB65D-EF8B-4264-ADA4-A97ECCAF16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38288" y="0"/>
            <a:ext cx="8062912" cy="654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a:extLst>
              <a:ext uri="{FF2B5EF4-FFF2-40B4-BE49-F238E27FC236}">
                <a16:creationId xmlns:a16="http://schemas.microsoft.com/office/drawing/2014/main" id="{32263F9D-D344-4633-8D7D-1A70C40C2411}"/>
              </a:ext>
            </a:extLst>
          </p:cNvPr>
          <p:cNvSpPr>
            <a:spLocks noGrp="1"/>
          </p:cNvSpPr>
          <p:nvPr>
            <p:ph type="title"/>
          </p:nvPr>
        </p:nvSpPr>
        <p:spPr>
          <a:xfrm>
            <a:off x="1825625" y="228600"/>
            <a:ext cx="8540750" cy="762000"/>
          </a:xfrm>
        </p:spPr>
        <p:txBody>
          <a:bodyPr/>
          <a:lstStyle/>
          <a:p>
            <a:r>
              <a:rPr lang="en-US" altLang="zh-CN" sz="3200"/>
              <a:t>POST</a:t>
            </a:r>
            <a:r>
              <a:rPr lang="zh-CN" altLang="en-US" sz="3200"/>
              <a:t>请求编程例子</a:t>
            </a:r>
          </a:p>
        </p:txBody>
      </p:sp>
      <p:pic>
        <p:nvPicPr>
          <p:cNvPr id="97283" name="图片 1">
            <a:extLst>
              <a:ext uri="{FF2B5EF4-FFF2-40B4-BE49-F238E27FC236}">
                <a16:creationId xmlns:a16="http://schemas.microsoft.com/office/drawing/2014/main" id="{8A37F00B-5BE4-412E-A4E2-BDEF2146DE8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067800" cy="565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a:extLst>
              <a:ext uri="{FF2B5EF4-FFF2-40B4-BE49-F238E27FC236}">
                <a16:creationId xmlns:a16="http://schemas.microsoft.com/office/drawing/2014/main" id="{116B63E5-D98E-4955-A155-9610A74802AC}"/>
              </a:ext>
            </a:extLst>
          </p:cNvPr>
          <p:cNvSpPr>
            <a:spLocks noGrp="1"/>
          </p:cNvSpPr>
          <p:nvPr>
            <p:ph type="title"/>
          </p:nvPr>
        </p:nvSpPr>
        <p:spPr>
          <a:xfrm>
            <a:off x="1825625" y="228600"/>
            <a:ext cx="8540750" cy="762000"/>
          </a:xfrm>
        </p:spPr>
        <p:txBody>
          <a:bodyPr/>
          <a:lstStyle/>
          <a:p>
            <a:r>
              <a:rPr lang="en-US" altLang="zh-CN" sz="3200"/>
              <a:t>POST</a:t>
            </a:r>
            <a:r>
              <a:rPr lang="zh-CN" altLang="en-US" sz="3200"/>
              <a:t>请求编程例子</a:t>
            </a:r>
          </a:p>
        </p:txBody>
      </p:sp>
      <p:pic>
        <p:nvPicPr>
          <p:cNvPr id="98307" name="图片 2">
            <a:extLst>
              <a:ext uri="{FF2B5EF4-FFF2-40B4-BE49-F238E27FC236}">
                <a16:creationId xmlns:a16="http://schemas.microsoft.com/office/drawing/2014/main" id="{3804A415-6893-4112-B761-CE212B083F9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30351" y="228600"/>
            <a:ext cx="8689975"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a:extLst>
              <a:ext uri="{FF2B5EF4-FFF2-40B4-BE49-F238E27FC236}">
                <a16:creationId xmlns:a16="http://schemas.microsoft.com/office/drawing/2014/main" id="{749BB4AE-476E-44A2-A2FF-1492F43C49E2}"/>
              </a:ext>
            </a:extLst>
          </p:cNvPr>
          <p:cNvSpPr>
            <a:spLocks noGrp="1"/>
          </p:cNvSpPr>
          <p:nvPr>
            <p:ph type="title"/>
          </p:nvPr>
        </p:nvSpPr>
        <p:spPr>
          <a:xfrm>
            <a:off x="1825625" y="228600"/>
            <a:ext cx="8540750" cy="762000"/>
          </a:xfrm>
        </p:spPr>
        <p:txBody>
          <a:bodyPr/>
          <a:lstStyle/>
          <a:p>
            <a:r>
              <a:rPr lang="en-US" altLang="zh-CN" sz="3200"/>
              <a:t>POST</a:t>
            </a:r>
            <a:r>
              <a:rPr lang="zh-CN" altLang="en-US" sz="3200"/>
              <a:t>请求编程例子</a:t>
            </a:r>
          </a:p>
        </p:txBody>
      </p:sp>
      <p:pic>
        <p:nvPicPr>
          <p:cNvPr id="99331" name="图片 3">
            <a:extLst>
              <a:ext uri="{FF2B5EF4-FFF2-40B4-BE49-F238E27FC236}">
                <a16:creationId xmlns:a16="http://schemas.microsoft.com/office/drawing/2014/main" id="{62026E15-5F9A-480D-A44D-5C9EB935E0B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
            <a:ext cx="7086600" cy="547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a:extLst>
              <a:ext uri="{FF2B5EF4-FFF2-40B4-BE49-F238E27FC236}">
                <a16:creationId xmlns:a16="http://schemas.microsoft.com/office/drawing/2014/main" id="{B7D51E5F-405D-49E3-A47D-56D1624CDB0C}"/>
              </a:ext>
            </a:extLst>
          </p:cNvPr>
          <p:cNvSpPr>
            <a:spLocks noGrp="1"/>
          </p:cNvSpPr>
          <p:nvPr>
            <p:ph type="title"/>
          </p:nvPr>
        </p:nvSpPr>
        <p:spPr>
          <a:xfrm>
            <a:off x="1825625" y="228600"/>
            <a:ext cx="8540750" cy="762000"/>
          </a:xfrm>
        </p:spPr>
        <p:txBody>
          <a:bodyPr/>
          <a:lstStyle/>
          <a:p>
            <a:r>
              <a:rPr lang="en-US" altLang="zh-CN" sz="3200"/>
              <a:t>POST</a:t>
            </a:r>
            <a:r>
              <a:rPr lang="zh-CN" altLang="en-US" sz="3200"/>
              <a:t>请求编程例子</a:t>
            </a:r>
          </a:p>
        </p:txBody>
      </p:sp>
      <p:pic>
        <p:nvPicPr>
          <p:cNvPr id="100355" name="图片 1">
            <a:extLst>
              <a:ext uri="{FF2B5EF4-FFF2-40B4-BE49-F238E27FC236}">
                <a16:creationId xmlns:a16="http://schemas.microsoft.com/office/drawing/2014/main" id="{80E3232B-05E2-4B0A-8D61-5DD0516B1ED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38288" y="152400"/>
            <a:ext cx="8215312" cy="657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a:extLst>
              <a:ext uri="{FF2B5EF4-FFF2-40B4-BE49-F238E27FC236}">
                <a16:creationId xmlns:a16="http://schemas.microsoft.com/office/drawing/2014/main" id="{689F58B1-B569-40FA-ABE4-51F93D5F9DD7}"/>
              </a:ext>
            </a:extLst>
          </p:cNvPr>
          <p:cNvSpPr>
            <a:spLocks noGrp="1"/>
          </p:cNvSpPr>
          <p:nvPr>
            <p:ph type="title"/>
          </p:nvPr>
        </p:nvSpPr>
        <p:spPr>
          <a:xfrm>
            <a:off x="1825625" y="228600"/>
            <a:ext cx="8540750" cy="762000"/>
          </a:xfrm>
        </p:spPr>
        <p:txBody>
          <a:bodyPr/>
          <a:lstStyle/>
          <a:p>
            <a:pPr algn="l"/>
            <a:r>
              <a:rPr lang="en-US" altLang="zh-CN" sz="3200"/>
              <a:t>POST</a:t>
            </a:r>
            <a:r>
              <a:rPr lang="zh-CN" altLang="en-US" sz="3200"/>
              <a:t>请求例子分析与测试</a:t>
            </a:r>
          </a:p>
        </p:txBody>
      </p:sp>
      <p:sp>
        <p:nvSpPr>
          <p:cNvPr id="101379" name="内容占位符 2">
            <a:extLst>
              <a:ext uri="{FF2B5EF4-FFF2-40B4-BE49-F238E27FC236}">
                <a16:creationId xmlns:a16="http://schemas.microsoft.com/office/drawing/2014/main" id="{F6DB44F2-BAD9-4EF9-8BD7-86501152C54C}"/>
              </a:ext>
            </a:extLst>
          </p:cNvPr>
          <p:cNvSpPr>
            <a:spLocks noGrp="1"/>
          </p:cNvSpPr>
          <p:nvPr>
            <p:ph idx="1"/>
          </p:nvPr>
        </p:nvSpPr>
        <p:spPr>
          <a:xfrm>
            <a:off x="304800" y="1166813"/>
            <a:ext cx="11734800" cy="5135562"/>
          </a:xfrm>
        </p:spPr>
        <p:txBody>
          <a:bodyPr/>
          <a:lstStyle/>
          <a:p>
            <a:r>
              <a:rPr lang="en-US" altLang="zh-CN" sz="2600" dirty="0" err="1">
                <a:solidFill>
                  <a:srgbClr val="000000"/>
                </a:solidFill>
                <a:latin typeface="Times New Roman" panose="02020603050405020304" pitchFamily="18" charset="0"/>
                <a:cs typeface="Times New Roman" panose="02020603050405020304" pitchFamily="18" charset="0"/>
              </a:rPr>
              <a:t>FormPoster</a:t>
            </a:r>
            <a:r>
              <a:rPr lang="zh-CN" altLang="en-US" sz="2600" dirty="0">
                <a:solidFill>
                  <a:srgbClr val="000000"/>
                </a:solidFill>
                <a:latin typeface="Times New Roman" panose="02020603050405020304" pitchFamily="18" charset="0"/>
                <a:cs typeface="Times New Roman" panose="02020603050405020304" pitchFamily="18" charset="0"/>
              </a:rPr>
              <a:t>使用</a:t>
            </a:r>
            <a:r>
              <a:rPr lang="en-US" altLang="zh-CN" sz="2600" dirty="0" err="1">
                <a:solidFill>
                  <a:srgbClr val="000000"/>
                </a:solidFill>
                <a:latin typeface="Times New Roman" panose="02020603050405020304" pitchFamily="18" charset="0"/>
                <a:cs typeface="Times New Roman" panose="02020603050405020304" pitchFamily="18" charset="0"/>
              </a:rPr>
              <a:t>URLConnection</a:t>
            </a:r>
            <a:r>
              <a:rPr lang="zh-CN" altLang="en-US" sz="2600" dirty="0">
                <a:solidFill>
                  <a:srgbClr val="000000"/>
                </a:solidFill>
                <a:latin typeface="Times New Roman" panose="02020603050405020304" pitchFamily="18" charset="0"/>
                <a:cs typeface="Times New Roman" panose="02020603050405020304" pitchFamily="18" charset="0"/>
              </a:rPr>
              <a:t>类和</a:t>
            </a:r>
            <a:r>
              <a:rPr lang="en-US" altLang="zh-CN" sz="2600" dirty="0" err="1">
                <a:solidFill>
                  <a:srgbClr val="000000"/>
                </a:solidFill>
                <a:latin typeface="Times New Roman" panose="02020603050405020304" pitchFamily="18" charset="0"/>
                <a:cs typeface="Times New Roman" panose="02020603050405020304" pitchFamily="18" charset="0"/>
              </a:rPr>
              <a:t>QueryString</a:t>
            </a:r>
            <a:r>
              <a:rPr lang="zh-CN" altLang="en-US" sz="2600" dirty="0">
                <a:solidFill>
                  <a:srgbClr val="000000"/>
                </a:solidFill>
                <a:latin typeface="Times New Roman" panose="02020603050405020304" pitchFamily="18" charset="0"/>
                <a:cs typeface="Times New Roman" panose="02020603050405020304" pitchFamily="18" charset="0"/>
              </a:rPr>
              <a:t>类提交</a:t>
            </a:r>
            <a:r>
              <a:rPr lang="en-US" altLang="zh-CN" sz="2600" dirty="0">
                <a:solidFill>
                  <a:srgbClr val="000000"/>
                </a:solidFill>
                <a:latin typeface="Times New Roman" panose="02020603050405020304" pitchFamily="18" charset="0"/>
                <a:cs typeface="Times New Roman" panose="02020603050405020304" pitchFamily="18" charset="0"/>
              </a:rPr>
              <a:t>POST</a:t>
            </a:r>
            <a:r>
              <a:rPr lang="zh-CN" altLang="en-US" sz="2600" dirty="0">
                <a:solidFill>
                  <a:srgbClr val="000000"/>
                </a:solidFill>
                <a:latin typeface="Times New Roman" panose="02020603050405020304" pitchFamily="18" charset="0"/>
                <a:cs typeface="Times New Roman" panose="02020603050405020304" pitchFamily="18" charset="0"/>
              </a:rPr>
              <a:t>表单数据。</a:t>
            </a:r>
            <a:endParaRPr lang="en-US" altLang="zh-CN" sz="2600" dirty="0">
              <a:solidFill>
                <a:srgbClr val="000000"/>
              </a:solidFill>
              <a:latin typeface="Times New Roman" panose="02020603050405020304" pitchFamily="18" charset="0"/>
              <a:cs typeface="Times New Roman" panose="02020603050405020304" pitchFamily="18" charset="0"/>
            </a:endParaRPr>
          </a:p>
          <a:p>
            <a:r>
              <a:rPr lang="zh-CN" altLang="en-US" sz="2600" dirty="0">
                <a:solidFill>
                  <a:srgbClr val="000000"/>
                </a:solidFill>
                <a:latin typeface="Times New Roman" panose="02020603050405020304" pitchFamily="18" charset="0"/>
                <a:cs typeface="Times New Roman" panose="02020603050405020304" pitchFamily="18" charset="0"/>
              </a:rPr>
              <a:t>在构造函数中设置</a:t>
            </a:r>
            <a:r>
              <a:rPr lang="en-US" altLang="zh-CN" sz="2600" dirty="0">
                <a:solidFill>
                  <a:srgbClr val="000000"/>
                </a:solidFill>
                <a:latin typeface="Times New Roman" panose="02020603050405020304" pitchFamily="18" charset="0"/>
                <a:cs typeface="Times New Roman" panose="02020603050405020304" pitchFamily="18" charset="0"/>
              </a:rPr>
              <a:t>URL</a:t>
            </a:r>
            <a:r>
              <a:rPr lang="zh-CN" altLang="en-US" sz="2600" dirty="0">
                <a:solidFill>
                  <a:srgbClr val="000000"/>
                </a:solidFill>
                <a:latin typeface="Times New Roman" panose="02020603050405020304" pitchFamily="18" charset="0"/>
                <a:cs typeface="Times New Roman" panose="02020603050405020304" pitchFamily="18" charset="0"/>
              </a:rPr>
              <a:t>。</a:t>
            </a:r>
            <a:endParaRPr lang="en-US" altLang="zh-CN" sz="2600" dirty="0">
              <a:solidFill>
                <a:srgbClr val="000000"/>
              </a:solidFill>
              <a:latin typeface="Times New Roman" panose="02020603050405020304" pitchFamily="18" charset="0"/>
              <a:cs typeface="Times New Roman" panose="02020603050405020304" pitchFamily="18" charset="0"/>
            </a:endParaRPr>
          </a:p>
          <a:p>
            <a:r>
              <a:rPr lang="zh-CN" altLang="en-US" sz="2600" dirty="0">
                <a:solidFill>
                  <a:srgbClr val="000000"/>
                </a:solidFill>
                <a:latin typeface="Times New Roman" panose="02020603050405020304" pitchFamily="18" charset="0"/>
                <a:cs typeface="Times New Roman" panose="02020603050405020304" pitchFamily="18" charset="0"/>
              </a:rPr>
              <a:t>查询字符串用</a:t>
            </a:r>
            <a:r>
              <a:rPr lang="en-US" altLang="zh-CN" sz="2600" dirty="0">
                <a:solidFill>
                  <a:srgbClr val="000000"/>
                </a:solidFill>
                <a:latin typeface="Times New Roman" panose="02020603050405020304" pitchFamily="18" charset="0"/>
                <a:cs typeface="Times New Roman" panose="02020603050405020304" pitchFamily="18" charset="0"/>
              </a:rPr>
              <a:t>add()</a:t>
            </a:r>
            <a:r>
              <a:rPr lang="zh-CN" altLang="en-US" sz="2600" dirty="0">
                <a:solidFill>
                  <a:srgbClr val="000000"/>
                </a:solidFill>
                <a:latin typeface="Times New Roman" panose="02020603050405020304" pitchFamily="18" charset="0"/>
                <a:cs typeface="Times New Roman" panose="02020603050405020304" pitchFamily="18" charset="0"/>
              </a:rPr>
              <a:t>方法构建。</a:t>
            </a:r>
            <a:endParaRPr lang="en-US" altLang="zh-CN" sz="2600" dirty="0">
              <a:solidFill>
                <a:srgbClr val="000000"/>
              </a:solidFill>
              <a:latin typeface="Times New Roman" panose="02020603050405020304" pitchFamily="18" charset="0"/>
              <a:cs typeface="Times New Roman" panose="02020603050405020304" pitchFamily="18" charset="0"/>
            </a:endParaRPr>
          </a:p>
          <a:p>
            <a:r>
              <a:rPr lang="en-US" altLang="zh-CN" sz="2600" dirty="0">
                <a:solidFill>
                  <a:srgbClr val="000000"/>
                </a:solidFill>
                <a:latin typeface="Times New Roman" panose="02020603050405020304" pitchFamily="18" charset="0"/>
                <a:cs typeface="Times New Roman" panose="02020603050405020304" pitchFamily="18" charset="0"/>
              </a:rPr>
              <a:t>Post()</a:t>
            </a:r>
            <a:r>
              <a:rPr lang="zh-CN" altLang="en-US" sz="2600" dirty="0">
                <a:solidFill>
                  <a:srgbClr val="000000"/>
                </a:solidFill>
                <a:latin typeface="Times New Roman" panose="02020603050405020304" pitchFamily="18" charset="0"/>
                <a:cs typeface="Times New Roman" panose="02020603050405020304" pitchFamily="18" charset="0"/>
              </a:rPr>
              <a:t>方法负责向服务器发送数据，返回包含服务器响应的输入流。</a:t>
            </a:r>
            <a:endParaRPr lang="en-US" altLang="zh-CN" sz="2600" dirty="0">
              <a:solidFill>
                <a:srgbClr val="000000"/>
              </a:solidFill>
              <a:latin typeface="Times New Roman" panose="02020603050405020304" pitchFamily="18" charset="0"/>
              <a:cs typeface="Times New Roman" panose="02020603050405020304" pitchFamily="18" charset="0"/>
            </a:endParaRPr>
          </a:p>
          <a:p>
            <a:r>
              <a:rPr lang="en-US" altLang="zh-CN" sz="2600" dirty="0">
                <a:solidFill>
                  <a:srgbClr val="000000"/>
                </a:solidFill>
                <a:latin typeface="Times New Roman" panose="02020603050405020304" pitchFamily="18" charset="0"/>
                <a:cs typeface="Times New Roman" panose="02020603050405020304" pitchFamily="18" charset="0"/>
              </a:rPr>
              <a:t>Main()</a:t>
            </a:r>
            <a:r>
              <a:rPr lang="zh-CN" altLang="en-US" sz="2600" dirty="0">
                <a:solidFill>
                  <a:srgbClr val="000000"/>
                </a:solidFill>
                <a:latin typeface="Times New Roman" panose="02020603050405020304" pitchFamily="18" charset="0"/>
                <a:cs typeface="Times New Roman" panose="02020603050405020304" pitchFamily="18" charset="0"/>
              </a:rPr>
              <a:t>方法实现测试，</a:t>
            </a:r>
            <a:r>
              <a:rPr lang="zh-CN" altLang="en-US" sz="2200" dirty="0">
                <a:solidFill>
                  <a:srgbClr val="000000"/>
                </a:solidFill>
                <a:latin typeface="Times New Roman" panose="02020603050405020304" pitchFamily="18" charset="0"/>
                <a:cs typeface="Times New Roman" panose="02020603050405020304" pitchFamily="18" charset="0"/>
              </a:rPr>
              <a:t>可向位于</a:t>
            </a:r>
            <a:r>
              <a:rPr lang="en-US" altLang="zh-CN" sz="2200" b="1" dirty="0">
                <a:latin typeface="Times New Roman" panose="02020603050405020304" pitchFamily="18" charset="0"/>
                <a:cs typeface="Times New Roman" panose="02020603050405020304" pitchFamily="18" charset="0"/>
                <a:hlinkClick r:id="rId2"/>
              </a:rPr>
              <a:t>http://www.cafeaulait.org/books/jnp4/postquery.phtml</a:t>
            </a:r>
            <a:r>
              <a:rPr lang="zh-CN" altLang="en-US" sz="2200" dirty="0">
                <a:latin typeface="Times New Roman" panose="02020603050405020304" pitchFamily="18" charset="0"/>
                <a:cs typeface="Times New Roman" panose="02020603050405020304" pitchFamily="18" charset="0"/>
              </a:rPr>
              <a:t>的资源发送名字“</a:t>
            </a:r>
            <a:r>
              <a:rPr lang="en-US" altLang="zh-CN" sz="2200" dirty="0" err="1">
                <a:latin typeface="Times New Roman" panose="02020603050405020304" pitchFamily="18" charset="0"/>
                <a:cs typeface="Times New Roman" panose="02020603050405020304" pitchFamily="18" charset="0"/>
              </a:rPr>
              <a:t>Elliotte</a:t>
            </a:r>
            <a:r>
              <a:rPr lang="en-US" altLang="zh-CN" sz="2200" dirty="0">
                <a:latin typeface="Times New Roman" panose="02020603050405020304" pitchFamily="18" charset="0"/>
                <a:cs typeface="Times New Roman" panose="02020603050405020304" pitchFamily="18" charset="0"/>
              </a:rPr>
              <a:t> Rusty Harold</a:t>
            </a:r>
            <a:r>
              <a:rPr lang="zh-CN" altLang="en-US" sz="2200" dirty="0">
                <a:latin typeface="Times New Roman" panose="02020603050405020304" pitchFamily="18" charset="0"/>
                <a:cs typeface="Times New Roman" panose="02020603050405020304" pitchFamily="18" charset="0"/>
              </a:rPr>
              <a:t>”和电邮地址</a:t>
            </a:r>
            <a:r>
              <a:rPr lang="en-US" altLang="zh-CN" sz="2200" dirty="0">
                <a:latin typeface="Times New Roman" panose="02020603050405020304" pitchFamily="18" charset="0"/>
                <a:cs typeface="Times New Roman" panose="02020603050405020304" pitchFamily="18" charset="0"/>
              </a:rPr>
              <a:t>elharo@ibiblio.org</a:t>
            </a:r>
            <a:r>
              <a:rPr lang="zh-CN" altLang="en-US" sz="2200" dirty="0">
                <a:latin typeface="Times New Roman" panose="02020603050405020304" pitchFamily="18" charset="0"/>
                <a:cs typeface="Times New Roman" panose="02020603050405020304" pitchFamily="18" charset="0"/>
              </a:rPr>
              <a:t>。此</a:t>
            </a:r>
            <a:r>
              <a:rPr lang="en-US" altLang="zh-CN" sz="2200" dirty="0">
                <a:latin typeface="Times New Roman" panose="02020603050405020304" pitchFamily="18" charset="0"/>
                <a:cs typeface="Times New Roman" panose="02020603050405020304" pitchFamily="18" charset="0"/>
              </a:rPr>
              <a:t>Web</a:t>
            </a:r>
            <a:r>
              <a:rPr lang="zh-CN" altLang="en-US" sz="2200" dirty="0">
                <a:latin typeface="Times New Roman" panose="02020603050405020304" pitchFamily="18" charset="0"/>
                <a:cs typeface="Times New Roman" panose="02020603050405020304" pitchFamily="18" charset="0"/>
              </a:rPr>
              <a:t>资源是一个表单测试器，接受任何使用</a:t>
            </a:r>
            <a:r>
              <a:rPr lang="en-US" altLang="zh-CN" sz="2200" dirty="0">
                <a:latin typeface="Times New Roman" panose="02020603050405020304" pitchFamily="18" charset="0"/>
                <a:cs typeface="Times New Roman" panose="02020603050405020304" pitchFamily="18" charset="0"/>
              </a:rPr>
              <a:t>POST</a:t>
            </a:r>
            <a:r>
              <a:rPr lang="zh-CN" altLang="en-US" sz="2200" dirty="0">
                <a:latin typeface="Times New Roman" panose="02020603050405020304" pitchFamily="18" charset="0"/>
                <a:cs typeface="Times New Roman" panose="02020603050405020304" pitchFamily="18" charset="0"/>
              </a:rPr>
              <a:t>或</a:t>
            </a:r>
            <a:r>
              <a:rPr lang="en-US" altLang="zh-CN" sz="2200" dirty="0">
                <a:latin typeface="Times New Roman" panose="02020603050405020304" pitchFamily="18" charset="0"/>
                <a:cs typeface="Times New Roman" panose="02020603050405020304" pitchFamily="18" charset="0"/>
              </a:rPr>
              <a:t>GET</a:t>
            </a:r>
            <a:r>
              <a:rPr lang="zh-CN" altLang="en-US" sz="2200" dirty="0">
                <a:latin typeface="Times New Roman" panose="02020603050405020304" pitchFamily="18" charset="0"/>
                <a:cs typeface="Times New Roman" panose="02020603050405020304" pitchFamily="18" charset="0"/>
              </a:rPr>
              <a:t>方法的输入，并返回一个未解析的</a:t>
            </a:r>
            <a:r>
              <a:rPr lang="en-US" altLang="zh-CN" sz="2200" dirty="0">
                <a:latin typeface="Times New Roman" panose="02020603050405020304" pitchFamily="18" charset="0"/>
                <a:cs typeface="Times New Roman" panose="02020603050405020304" pitchFamily="18" charset="0"/>
              </a:rPr>
              <a:t>HTML</a:t>
            </a:r>
            <a:r>
              <a:rPr lang="zh-CN" altLang="en-US" sz="2200" dirty="0">
                <a:latin typeface="Times New Roman" panose="02020603050405020304" pitchFamily="18" charset="0"/>
                <a:cs typeface="Times New Roman" panose="02020603050405020304" pitchFamily="18" charset="0"/>
              </a:rPr>
              <a:t>页面，显示提交的名和值</a:t>
            </a:r>
            <a:r>
              <a:rPr lang="zh-CN" altLang="en-US" sz="2400" dirty="0">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a:extLst>
              <a:ext uri="{FF2B5EF4-FFF2-40B4-BE49-F238E27FC236}">
                <a16:creationId xmlns:a16="http://schemas.microsoft.com/office/drawing/2014/main" id="{D5DE9925-2106-4F9F-954D-0920B4217C5E}"/>
              </a:ext>
            </a:extLst>
          </p:cNvPr>
          <p:cNvSpPr>
            <a:spLocks noGrp="1"/>
          </p:cNvSpPr>
          <p:nvPr>
            <p:ph type="title"/>
          </p:nvPr>
        </p:nvSpPr>
        <p:spPr>
          <a:xfrm>
            <a:off x="1752600" y="76200"/>
            <a:ext cx="8540750" cy="762000"/>
          </a:xfrm>
        </p:spPr>
        <p:txBody>
          <a:bodyPr/>
          <a:lstStyle/>
          <a:p>
            <a:pPr algn="l"/>
            <a:r>
              <a:rPr lang="zh-CN" altLang="en-US" sz="3200"/>
              <a:t>提交表单数据编程总结</a:t>
            </a:r>
          </a:p>
        </p:txBody>
      </p:sp>
      <p:sp>
        <p:nvSpPr>
          <p:cNvPr id="102403" name="内容占位符 2">
            <a:extLst>
              <a:ext uri="{FF2B5EF4-FFF2-40B4-BE49-F238E27FC236}">
                <a16:creationId xmlns:a16="http://schemas.microsoft.com/office/drawing/2014/main" id="{BC695A88-8D31-4DB1-B029-E212FC711D01}"/>
              </a:ext>
            </a:extLst>
          </p:cNvPr>
          <p:cNvSpPr>
            <a:spLocks noGrp="1"/>
          </p:cNvSpPr>
          <p:nvPr>
            <p:ph idx="1"/>
          </p:nvPr>
        </p:nvSpPr>
        <p:spPr>
          <a:xfrm>
            <a:off x="1295400" y="990600"/>
            <a:ext cx="7947025" cy="5135563"/>
          </a:xfrm>
        </p:spPr>
        <p:txBody>
          <a:bodyPr/>
          <a:lstStyle/>
          <a:p>
            <a:r>
              <a:rPr lang="en-US" altLang="zh-CN" sz="2000" dirty="0">
                <a:solidFill>
                  <a:srgbClr val="000000"/>
                </a:solidFill>
                <a:latin typeface="Times New Roman" panose="02020603050405020304" pitchFamily="18" charset="0"/>
                <a:cs typeface="Times New Roman" panose="02020603050405020304" pitchFamily="18" charset="0"/>
              </a:rPr>
              <a:t>1.</a:t>
            </a:r>
            <a:r>
              <a:rPr lang="zh-CN" altLang="en-US" sz="2000" dirty="0">
                <a:solidFill>
                  <a:srgbClr val="000000"/>
                </a:solidFill>
                <a:latin typeface="Times New Roman" panose="02020603050405020304" pitchFamily="18" charset="0"/>
                <a:cs typeface="Times New Roman" panose="02020603050405020304" pitchFamily="18" charset="0"/>
              </a:rPr>
              <a:t>确定要发送给服务器的程序的名</a:t>
            </a:r>
            <a:r>
              <a:rPr lang="en-US" altLang="zh-CN" sz="2000" dirty="0">
                <a:solidFill>
                  <a:srgbClr val="000000"/>
                </a:solidFill>
                <a:latin typeface="Times New Roman" panose="02020603050405020304" pitchFamily="18" charset="0"/>
                <a:cs typeface="Times New Roman" panose="02020603050405020304" pitchFamily="18" charset="0"/>
              </a:rPr>
              <a:t>-</a:t>
            </a:r>
            <a:r>
              <a:rPr lang="zh-CN" altLang="en-US" sz="2000" dirty="0">
                <a:solidFill>
                  <a:srgbClr val="000000"/>
                </a:solidFill>
                <a:latin typeface="Times New Roman" panose="02020603050405020304" pitchFamily="18" charset="0"/>
                <a:cs typeface="Times New Roman" panose="02020603050405020304" pitchFamily="18" charset="0"/>
              </a:rPr>
              <a:t>值对</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2.</a:t>
            </a:r>
            <a:r>
              <a:rPr lang="zh-CN" altLang="en-US" sz="2000" dirty="0">
                <a:solidFill>
                  <a:srgbClr val="000000"/>
                </a:solidFill>
                <a:latin typeface="Times New Roman" panose="02020603050405020304" pitchFamily="18" charset="0"/>
                <a:cs typeface="Times New Roman" panose="02020603050405020304" pitchFamily="18" charset="0"/>
              </a:rPr>
              <a:t>编写接受和处理请求的服务器端程序。如果没有使用定制数据编码，可以使用普通的</a:t>
            </a:r>
            <a:r>
              <a:rPr lang="en-US" altLang="zh-CN" sz="2000" dirty="0">
                <a:solidFill>
                  <a:srgbClr val="000000"/>
                </a:solidFill>
                <a:latin typeface="Times New Roman" panose="02020603050405020304" pitchFamily="18" charset="0"/>
                <a:cs typeface="Times New Roman" panose="02020603050405020304" pitchFamily="18" charset="0"/>
              </a:rPr>
              <a:t>HTML</a:t>
            </a:r>
            <a:r>
              <a:rPr lang="zh-CN" altLang="en-US" sz="2000" dirty="0">
                <a:solidFill>
                  <a:srgbClr val="000000"/>
                </a:solidFill>
                <a:latin typeface="Times New Roman" panose="02020603050405020304" pitchFamily="18" charset="0"/>
                <a:cs typeface="Times New Roman" panose="02020603050405020304" pitchFamily="18" charset="0"/>
              </a:rPr>
              <a:t>表单和</a:t>
            </a:r>
            <a:r>
              <a:rPr lang="en-US" altLang="zh-CN" sz="2000" dirty="0">
                <a:solidFill>
                  <a:srgbClr val="000000"/>
                </a:solidFill>
                <a:latin typeface="Times New Roman" panose="02020603050405020304" pitchFamily="18" charset="0"/>
                <a:cs typeface="Times New Roman" panose="02020603050405020304" pitchFamily="18" charset="0"/>
              </a:rPr>
              <a:t>Web</a:t>
            </a:r>
            <a:r>
              <a:rPr lang="zh-CN" altLang="en-US" sz="2000" dirty="0">
                <a:solidFill>
                  <a:srgbClr val="000000"/>
                </a:solidFill>
                <a:latin typeface="Times New Roman" panose="02020603050405020304" pitchFamily="18" charset="0"/>
                <a:cs typeface="Times New Roman" panose="02020603050405020304" pitchFamily="18" charset="0"/>
              </a:rPr>
              <a:t>浏览器测试此程序</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3.</a:t>
            </a:r>
            <a:r>
              <a:rPr lang="zh-CN" altLang="en-US" sz="2000" dirty="0">
                <a:solidFill>
                  <a:srgbClr val="000000"/>
                </a:solidFill>
                <a:latin typeface="Times New Roman" panose="02020603050405020304" pitchFamily="18" charset="0"/>
                <a:cs typeface="Times New Roman" panose="02020603050405020304" pitchFamily="18" charset="0"/>
              </a:rPr>
              <a:t>在</a:t>
            </a:r>
            <a:r>
              <a:rPr lang="en-US" altLang="zh-CN" sz="2000" dirty="0">
                <a:solidFill>
                  <a:srgbClr val="000000"/>
                </a:solidFill>
                <a:latin typeface="Times New Roman" panose="02020603050405020304" pitchFamily="18" charset="0"/>
                <a:cs typeface="Times New Roman" panose="02020603050405020304" pitchFamily="18" charset="0"/>
              </a:rPr>
              <a:t>java</a:t>
            </a:r>
            <a:r>
              <a:rPr lang="zh-CN" altLang="en-US" sz="2000" dirty="0">
                <a:solidFill>
                  <a:srgbClr val="000000"/>
                </a:solidFill>
                <a:latin typeface="Times New Roman" panose="02020603050405020304" pitchFamily="18" charset="0"/>
                <a:cs typeface="Times New Roman" panose="02020603050405020304" pitchFamily="18" charset="0"/>
              </a:rPr>
              <a:t>程序中创建一个查询字符串。字符串形式：</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name1=value1&amp;name2=value2&amp;name3=value3 </a:t>
            </a:r>
            <a:r>
              <a:rPr lang="zh-CN" altLang="en-US" sz="2000" dirty="0">
                <a:solidFill>
                  <a:srgbClr val="000000"/>
                </a:solidFill>
                <a:latin typeface="Times New Roman" panose="02020603050405020304" pitchFamily="18" charset="0"/>
                <a:cs typeface="Times New Roman" panose="02020603050405020304" pitchFamily="18" charset="0"/>
              </a:rPr>
              <a:t>在增加到查询字符串之前，先将各个名和值传递到</a:t>
            </a:r>
            <a:r>
              <a:rPr lang="en-US" altLang="zh-CN" sz="2000" dirty="0" err="1">
                <a:solidFill>
                  <a:srgbClr val="000000"/>
                </a:solidFill>
                <a:latin typeface="Times New Roman" panose="02020603050405020304" pitchFamily="18" charset="0"/>
                <a:cs typeface="Times New Roman" panose="02020603050405020304" pitchFamily="18" charset="0"/>
              </a:rPr>
              <a:t>URLEncoder.encode</a:t>
            </a:r>
            <a:r>
              <a:rPr lang="en-US" altLang="zh-CN" sz="2000" dirty="0">
                <a:solidFill>
                  <a:srgbClr val="000000"/>
                </a:solidFill>
                <a:latin typeface="Times New Roman" panose="02020603050405020304" pitchFamily="18" charset="0"/>
                <a:cs typeface="Times New Roman" panose="02020603050405020304" pitchFamily="18" charset="0"/>
              </a:rPr>
              <a:t>()</a:t>
            </a:r>
            <a:r>
              <a:rPr lang="zh-CN" altLang="en-US" sz="2000" dirty="0">
                <a:solidFill>
                  <a:srgbClr val="000000"/>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4.</a:t>
            </a:r>
            <a:r>
              <a:rPr lang="zh-CN" altLang="en-US" sz="2000" dirty="0">
                <a:solidFill>
                  <a:srgbClr val="000000"/>
                </a:solidFill>
                <a:latin typeface="Times New Roman" panose="02020603050405020304" pitchFamily="18" charset="0"/>
                <a:cs typeface="Times New Roman" panose="02020603050405020304" pitchFamily="18" charset="0"/>
              </a:rPr>
              <a:t>打开一个</a:t>
            </a:r>
            <a:r>
              <a:rPr lang="en-US" altLang="zh-CN" sz="2000" dirty="0" err="1">
                <a:solidFill>
                  <a:srgbClr val="000000"/>
                </a:solidFill>
                <a:latin typeface="Times New Roman" panose="02020603050405020304" pitchFamily="18" charset="0"/>
                <a:cs typeface="Times New Roman" panose="02020603050405020304" pitchFamily="18" charset="0"/>
              </a:rPr>
              <a:t>URLConnection</a:t>
            </a:r>
            <a:r>
              <a:rPr lang="zh-CN" altLang="en-US" sz="2000" dirty="0">
                <a:solidFill>
                  <a:srgbClr val="000000"/>
                </a:solidFill>
                <a:latin typeface="Times New Roman" panose="02020603050405020304" pitchFamily="18" charset="0"/>
                <a:cs typeface="Times New Roman" panose="02020603050405020304" pitchFamily="18" charset="0"/>
              </a:rPr>
              <a:t>，指向将接受数据的程序的</a:t>
            </a:r>
            <a:r>
              <a:rPr lang="en-US" altLang="zh-CN" sz="2000" dirty="0">
                <a:solidFill>
                  <a:srgbClr val="000000"/>
                </a:solidFill>
                <a:latin typeface="Times New Roman" panose="02020603050405020304" pitchFamily="18" charset="0"/>
                <a:cs typeface="Times New Roman" panose="02020603050405020304" pitchFamily="18" charset="0"/>
              </a:rPr>
              <a:t>URL</a:t>
            </a:r>
          </a:p>
          <a:p>
            <a:r>
              <a:rPr lang="en-US" altLang="zh-CN" sz="2000" dirty="0">
                <a:solidFill>
                  <a:srgbClr val="000000"/>
                </a:solidFill>
                <a:latin typeface="Times New Roman" panose="02020603050405020304" pitchFamily="18" charset="0"/>
                <a:cs typeface="Times New Roman" panose="02020603050405020304" pitchFamily="18" charset="0"/>
              </a:rPr>
              <a:t>5.</a:t>
            </a:r>
            <a:r>
              <a:rPr lang="zh-CN" altLang="en-US" sz="2000" dirty="0">
                <a:solidFill>
                  <a:srgbClr val="000000"/>
                </a:solidFill>
                <a:latin typeface="Times New Roman" panose="02020603050405020304" pitchFamily="18" charset="0"/>
                <a:cs typeface="Times New Roman" panose="02020603050405020304" pitchFamily="18" charset="0"/>
              </a:rPr>
              <a:t>调用</a:t>
            </a:r>
            <a:r>
              <a:rPr lang="en-US" altLang="zh-CN" sz="2000" dirty="0" err="1">
                <a:solidFill>
                  <a:srgbClr val="000000"/>
                </a:solidFill>
                <a:latin typeface="Times New Roman" panose="02020603050405020304" pitchFamily="18" charset="0"/>
                <a:cs typeface="Times New Roman" panose="02020603050405020304" pitchFamily="18" charset="0"/>
              </a:rPr>
              <a:t>setDoOutput</a:t>
            </a:r>
            <a:r>
              <a:rPr lang="en-US" altLang="zh-CN" sz="2000" dirty="0">
                <a:solidFill>
                  <a:srgbClr val="000000"/>
                </a:solidFill>
                <a:latin typeface="Times New Roman" panose="02020603050405020304" pitchFamily="18" charset="0"/>
                <a:cs typeface="Times New Roman" panose="02020603050405020304" pitchFamily="18" charset="0"/>
              </a:rPr>
              <a:t>(true)</a:t>
            </a:r>
            <a:r>
              <a:rPr lang="zh-CN" altLang="en-US" sz="2000" dirty="0">
                <a:solidFill>
                  <a:srgbClr val="000000"/>
                </a:solidFill>
                <a:latin typeface="Times New Roman" panose="02020603050405020304" pitchFamily="18" charset="0"/>
                <a:cs typeface="Times New Roman" panose="02020603050405020304" pitchFamily="18" charset="0"/>
              </a:rPr>
              <a:t>设置</a:t>
            </a:r>
            <a:r>
              <a:rPr lang="en-US" altLang="zh-CN" sz="2000" dirty="0" err="1">
                <a:solidFill>
                  <a:srgbClr val="000000"/>
                </a:solidFill>
                <a:latin typeface="Times New Roman" panose="02020603050405020304" pitchFamily="18" charset="0"/>
                <a:cs typeface="Times New Roman" panose="02020603050405020304" pitchFamily="18" charset="0"/>
              </a:rPr>
              <a:t>doOutput</a:t>
            </a:r>
            <a:r>
              <a:rPr lang="zh-CN" altLang="en-US" sz="2000" dirty="0">
                <a:solidFill>
                  <a:srgbClr val="000000"/>
                </a:solidFill>
                <a:latin typeface="Times New Roman" panose="02020603050405020304" pitchFamily="18" charset="0"/>
                <a:cs typeface="Times New Roman" panose="02020603050405020304" pitchFamily="18" charset="0"/>
              </a:rPr>
              <a:t>为</a:t>
            </a:r>
            <a:r>
              <a:rPr lang="en-US" altLang="zh-CN" sz="2000" dirty="0">
                <a:solidFill>
                  <a:srgbClr val="000000"/>
                </a:solidFill>
                <a:latin typeface="Times New Roman" panose="02020603050405020304" pitchFamily="18" charset="0"/>
                <a:cs typeface="Times New Roman" panose="02020603050405020304" pitchFamily="18" charset="0"/>
              </a:rPr>
              <a:t>true</a:t>
            </a:r>
          </a:p>
          <a:p>
            <a:r>
              <a:rPr lang="en-US" altLang="zh-CN" sz="2000" dirty="0">
                <a:solidFill>
                  <a:srgbClr val="000000"/>
                </a:solidFill>
                <a:latin typeface="Times New Roman" panose="02020603050405020304" pitchFamily="18" charset="0"/>
                <a:cs typeface="Times New Roman" panose="02020603050405020304" pitchFamily="18" charset="0"/>
              </a:rPr>
              <a:t>6.</a:t>
            </a:r>
            <a:r>
              <a:rPr lang="zh-CN" altLang="en-US" sz="2000" dirty="0">
                <a:solidFill>
                  <a:srgbClr val="000000"/>
                </a:solidFill>
                <a:latin typeface="Times New Roman" panose="02020603050405020304" pitchFamily="18" charset="0"/>
                <a:cs typeface="Times New Roman" panose="02020603050405020304" pitchFamily="18" charset="0"/>
              </a:rPr>
              <a:t>将查询字符串写入到</a:t>
            </a:r>
            <a:r>
              <a:rPr lang="en-US" altLang="zh-CN" sz="2000" dirty="0" err="1">
                <a:solidFill>
                  <a:srgbClr val="000000"/>
                </a:solidFill>
                <a:latin typeface="Times New Roman" panose="02020603050405020304" pitchFamily="18" charset="0"/>
                <a:cs typeface="Times New Roman" panose="02020603050405020304" pitchFamily="18" charset="0"/>
              </a:rPr>
              <a:t>URLConnection</a:t>
            </a:r>
            <a:r>
              <a:rPr lang="zh-CN" altLang="en-US" sz="2000" dirty="0">
                <a:solidFill>
                  <a:srgbClr val="000000"/>
                </a:solidFill>
                <a:latin typeface="Times New Roman" panose="02020603050405020304" pitchFamily="18" charset="0"/>
                <a:cs typeface="Times New Roman" panose="02020603050405020304" pitchFamily="18" charset="0"/>
              </a:rPr>
              <a:t>的</a:t>
            </a:r>
            <a:r>
              <a:rPr lang="en-US" altLang="zh-CN" sz="2000" dirty="0" err="1">
                <a:solidFill>
                  <a:srgbClr val="000000"/>
                </a:solidFill>
                <a:latin typeface="Times New Roman" panose="02020603050405020304" pitchFamily="18" charset="0"/>
                <a:cs typeface="Times New Roman" panose="02020603050405020304" pitchFamily="18" charset="0"/>
              </a:rPr>
              <a:t>OutputStream</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7.</a:t>
            </a:r>
            <a:r>
              <a:rPr lang="zh-CN" altLang="en-US" sz="2000" dirty="0">
                <a:solidFill>
                  <a:srgbClr val="000000"/>
                </a:solidFill>
                <a:latin typeface="Times New Roman" panose="02020603050405020304" pitchFamily="18" charset="0"/>
                <a:cs typeface="Times New Roman" panose="02020603050405020304" pitchFamily="18" charset="0"/>
              </a:rPr>
              <a:t>关闭</a:t>
            </a:r>
            <a:r>
              <a:rPr lang="en-US" altLang="zh-CN" sz="2000" dirty="0" err="1">
                <a:solidFill>
                  <a:srgbClr val="000000"/>
                </a:solidFill>
                <a:latin typeface="Times New Roman" panose="02020603050405020304" pitchFamily="18" charset="0"/>
                <a:cs typeface="Times New Roman" panose="02020603050405020304" pitchFamily="18" charset="0"/>
              </a:rPr>
              <a:t>URLConnection</a:t>
            </a:r>
            <a:r>
              <a:rPr lang="zh-CN" altLang="en-US" sz="2000" dirty="0">
                <a:solidFill>
                  <a:srgbClr val="000000"/>
                </a:solidFill>
                <a:latin typeface="Times New Roman" panose="02020603050405020304" pitchFamily="18" charset="0"/>
                <a:cs typeface="Times New Roman" panose="02020603050405020304" pitchFamily="18" charset="0"/>
              </a:rPr>
              <a:t>的</a:t>
            </a:r>
            <a:r>
              <a:rPr lang="en-US" altLang="zh-CN" sz="2000" dirty="0" err="1">
                <a:solidFill>
                  <a:srgbClr val="000000"/>
                </a:solidFill>
                <a:latin typeface="Times New Roman" panose="02020603050405020304" pitchFamily="18" charset="0"/>
                <a:cs typeface="Times New Roman" panose="02020603050405020304" pitchFamily="18" charset="0"/>
              </a:rPr>
              <a:t>OutputStream</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8.</a:t>
            </a:r>
            <a:r>
              <a:rPr lang="zh-CN" altLang="en-US" sz="2000" dirty="0">
                <a:solidFill>
                  <a:srgbClr val="000000"/>
                </a:solidFill>
                <a:latin typeface="Times New Roman" panose="02020603050405020304" pitchFamily="18" charset="0"/>
                <a:cs typeface="Times New Roman" panose="02020603050405020304" pitchFamily="18" charset="0"/>
              </a:rPr>
              <a:t>从</a:t>
            </a:r>
            <a:r>
              <a:rPr lang="en-US" altLang="zh-CN" sz="2000" dirty="0" err="1">
                <a:solidFill>
                  <a:srgbClr val="000000"/>
                </a:solidFill>
                <a:latin typeface="Times New Roman" panose="02020603050405020304" pitchFamily="18" charset="0"/>
                <a:cs typeface="Times New Roman" panose="02020603050405020304" pitchFamily="18" charset="0"/>
              </a:rPr>
              <a:t>URLConnection</a:t>
            </a:r>
            <a:r>
              <a:rPr lang="zh-CN" altLang="en-US" sz="2000" dirty="0">
                <a:solidFill>
                  <a:srgbClr val="000000"/>
                </a:solidFill>
                <a:latin typeface="Times New Roman" panose="02020603050405020304" pitchFamily="18" charset="0"/>
                <a:cs typeface="Times New Roman" panose="02020603050405020304" pitchFamily="18" charset="0"/>
              </a:rPr>
              <a:t>的</a:t>
            </a:r>
            <a:r>
              <a:rPr lang="en-US" altLang="zh-CN" sz="2000" dirty="0" err="1">
                <a:solidFill>
                  <a:srgbClr val="000000"/>
                </a:solidFill>
                <a:latin typeface="Times New Roman" panose="02020603050405020304" pitchFamily="18" charset="0"/>
                <a:cs typeface="Times New Roman" panose="02020603050405020304" pitchFamily="18" charset="0"/>
              </a:rPr>
              <a:t>InputStream</a:t>
            </a:r>
            <a:r>
              <a:rPr lang="zh-CN" altLang="en-US" sz="2000" dirty="0">
                <a:solidFill>
                  <a:srgbClr val="000000"/>
                </a:solidFill>
                <a:latin typeface="Times New Roman" panose="02020603050405020304" pitchFamily="18" charset="0"/>
                <a:cs typeface="Times New Roman" panose="02020603050405020304" pitchFamily="18" charset="0"/>
              </a:rPr>
              <a:t>读取服务器响应</a:t>
            </a:r>
            <a:endParaRPr lang="en-US" altLang="zh-CN"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a:extLst>
              <a:ext uri="{FF2B5EF4-FFF2-40B4-BE49-F238E27FC236}">
                <a16:creationId xmlns:a16="http://schemas.microsoft.com/office/drawing/2014/main" id="{EDDE2E07-B894-4C6A-8515-A5CA8BDF1F98}"/>
              </a:ext>
            </a:extLst>
          </p:cNvPr>
          <p:cNvSpPr>
            <a:spLocks noGrp="1"/>
          </p:cNvSpPr>
          <p:nvPr>
            <p:ph type="title"/>
          </p:nvPr>
        </p:nvSpPr>
        <p:spPr>
          <a:xfrm>
            <a:off x="1825625" y="228600"/>
            <a:ext cx="8540750" cy="838200"/>
          </a:xfrm>
        </p:spPr>
        <p:txBody>
          <a:bodyPr/>
          <a:lstStyle/>
          <a:p>
            <a:pPr algn="l"/>
            <a:r>
              <a:rPr lang="zh-CN" altLang="en-US" sz="3200"/>
              <a:t>猜测</a:t>
            </a:r>
            <a:r>
              <a:rPr lang="en-US" altLang="zh-CN" sz="3200"/>
              <a:t>MIME</a:t>
            </a:r>
            <a:r>
              <a:rPr lang="zh-CN" altLang="en-US" sz="3200"/>
              <a:t>媒体类型</a:t>
            </a:r>
          </a:p>
        </p:txBody>
      </p:sp>
      <p:sp>
        <p:nvSpPr>
          <p:cNvPr id="103427" name="内容占位符 2">
            <a:extLst>
              <a:ext uri="{FF2B5EF4-FFF2-40B4-BE49-F238E27FC236}">
                <a16:creationId xmlns:a16="http://schemas.microsoft.com/office/drawing/2014/main" id="{4DAB4107-B9D2-4804-A3D5-3DD677ED304B}"/>
              </a:ext>
            </a:extLst>
          </p:cNvPr>
          <p:cNvSpPr>
            <a:spLocks noGrp="1"/>
          </p:cNvSpPr>
          <p:nvPr>
            <p:ph idx="1"/>
          </p:nvPr>
        </p:nvSpPr>
        <p:spPr>
          <a:xfrm>
            <a:off x="304800" y="1143000"/>
            <a:ext cx="11582400" cy="5257800"/>
          </a:xfrm>
        </p:spPr>
        <p:txBody>
          <a:bodyPr/>
          <a:lstStyle/>
          <a:p>
            <a:r>
              <a:rPr lang="zh-CN" altLang="en-US" sz="2400" dirty="0">
                <a:latin typeface="Times New Roman" panose="02020603050405020304" pitchFamily="18" charset="0"/>
                <a:cs typeface="Times New Roman" panose="02020603050405020304" pitchFamily="18" charset="0"/>
              </a:rPr>
              <a:t>异构的网络环境，并非所有协议和服务器都会使用标准</a:t>
            </a:r>
            <a:r>
              <a:rPr lang="en-US" altLang="zh-CN" sz="2400" dirty="0">
                <a:latin typeface="Times New Roman" panose="02020603050405020304" pitchFamily="18" charset="0"/>
                <a:cs typeface="Times New Roman" panose="02020603050405020304" pitchFamily="18" charset="0"/>
              </a:rPr>
              <a:t>MIME</a:t>
            </a:r>
            <a:r>
              <a:rPr lang="zh-CN" altLang="en-US" sz="2400" dirty="0">
                <a:latin typeface="Times New Roman" panose="02020603050405020304" pitchFamily="18" charset="0"/>
                <a:cs typeface="Times New Roman" panose="02020603050405020304" pitchFamily="18" charset="0"/>
              </a:rPr>
              <a:t>类型正确地指定所传输的文件的类型。</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FTP</a:t>
            </a:r>
            <a:r>
              <a:rPr lang="zh-CN" altLang="en-US" sz="2400" dirty="0">
                <a:latin typeface="Times New Roman" panose="02020603050405020304" pitchFamily="18" charset="0"/>
                <a:cs typeface="Times New Roman" panose="02020603050405020304" pitchFamily="18" charset="0"/>
              </a:rPr>
              <a:t>协议比</a:t>
            </a:r>
            <a:r>
              <a:rPr lang="en-US" altLang="zh-CN" sz="2400" dirty="0">
                <a:latin typeface="Times New Roman" panose="02020603050405020304" pitchFamily="18" charset="0"/>
                <a:cs typeface="Times New Roman" panose="02020603050405020304" pitchFamily="18" charset="0"/>
              </a:rPr>
              <a:t>MIME</a:t>
            </a:r>
            <a:r>
              <a:rPr lang="zh-CN" altLang="en-US" sz="2400" dirty="0">
                <a:latin typeface="Times New Roman" panose="02020603050405020304" pitchFamily="18" charset="0"/>
                <a:cs typeface="Times New Roman" panose="02020603050405020304" pitchFamily="18" charset="0"/>
              </a:rPr>
              <a:t>标准出现的早，这些老协议如何处理？</a:t>
            </a:r>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有些使用了</a:t>
            </a:r>
            <a:r>
              <a:rPr lang="en-US" altLang="zh-CN" sz="2400" dirty="0">
                <a:latin typeface="Times New Roman" panose="02020603050405020304" pitchFamily="18" charset="0"/>
                <a:cs typeface="Times New Roman" panose="02020603050405020304" pitchFamily="18" charset="0"/>
              </a:rPr>
              <a:t>MIME</a:t>
            </a:r>
            <a:r>
              <a:rPr lang="zh-CN" altLang="en-US" sz="2400" dirty="0">
                <a:latin typeface="Times New Roman" panose="02020603050405020304" pitchFamily="18" charset="0"/>
                <a:cs typeface="Times New Roman" panose="02020603050405020304" pitchFamily="18" charset="0"/>
              </a:rPr>
              <a:t>的</a:t>
            </a:r>
            <a:r>
              <a:rPr lang="en-US" altLang="zh-CN" sz="2400" dirty="0">
                <a:latin typeface="Times New Roman" panose="02020603050405020304" pitchFamily="18" charset="0"/>
                <a:cs typeface="Times New Roman" panose="02020603050405020304" pitchFamily="18" charset="0"/>
              </a:rPr>
              <a:t>HTTP</a:t>
            </a:r>
            <a:r>
              <a:rPr lang="zh-CN" altLang="en-US" sz="2400" dirty="0">
                <a:latin typeface="Times New Roman" panose="02020603050405020304" pitchFamily="18" charset="0"/>
                <a:cs typeface="Times New Roman" panose="02020603050405020304" pitchFamily="18" charset="0"/>
              </a:rPr>
              <a:t>服务器不提供</a:t>
            </a:r>
            <a:r>
              <a:rPr lang="en-US" altLang="zh-CN" sz="2400" dirty="0">
                <a:latin typeface="Times New Roman" panose="02020603050405020304" pitchFamily="18" charset="0"/>
                <a:cs typeface="Times New Roman" panose="02020603050405020304" pitchFamily="18" charset="0"/>
              </a:rPr>
              <a:t>MIME</a:t>
            </a:r>
            <a:r>
              <a:rPr lang="zh-CN" altLang="en-US" sz="2400" dirty="0">
                <a:latin typeface="Times New Roman" panose="02020603050405020304" pitchFamily="18" charset="0"/>
                <a:cs typeface="Times New Roman" panose="02020603050405020304" pitchFamily="18" charset="0"/>
              </a:rPr>
              <a:t>首部</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或者提供了不正确的首部。</a:t>
            </a:r>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我们</a:t>
            </a:r>
            <a:r>
              <a:rPr lang="zh-CN" altLang="en-US" sz="2400" dirty="0">
                <a:solidFill>
                  <a:srgbClr val="FF0000"/>
                </a:solidFill>
                <a:latin typeface="Times New Roman" panose="02020603050405020304" pitchFamily="18" charset="0"/>
                <a:cs typeface="Times New Roman" panose="02020603050405020304" pitchFamily="18" charset="0"/>
              </a:rPr>
              <a:t>在编程时需要确定数据的</a:t>
            </a:r>
            <a:r>
              <a:rPr lang="en-US" altLang="zh-CN" sz="2400" dirty="0">
                <a:solidFill>
                  <a:srgbClr val="FF0000"/>
                </a:solidFill>
                <a:latin typeface="Times New Roman" panose="02020603050405020304" pitchFamily="18" charset="0"/>
                <a:cs typeface="Times New Roman" panose="02020603050405020304" pitchFamily="18" charset="0"/>
              </a:rPr>
              <a:t>MIME</a:t>
            </a:r>
            <a:r>
              <a:rPr lang="zh-CN" altLang="en-US" sz="2400" dirty="0">
                <a:solidFill>
                  <a:srgbClr val="FF0000"/>
                </a:solidFill>
                <a:latin typeface="Times New Roman" panose="02020603050405020304" pitchFamily="18" charset="0"/>
                <a:cs typeface="Times New Roman" panose="02020603050405020304" pitchFamily="18" charset="0"/>
              </a:rPr>
              <a:t>类型。有两个方法可调用</a:t>
            </a:r>
            <a:endParaRPr lang="en-US" altLang="zh-CN" sz="2400" dirty="0">
              <a:solidFill>
                <a:srgbClr val="FF0000"/>
              </a:solidFill>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public static String </a:t>
            </a:r>
            <a:r>
              <a:rPr lang="en-US" altLang="zh-CN" sz="2400" dirty="0" err="1">
                <a:solidFill>
                  <a:schemeClr val="tx2"/>
                </a:solidFill>
                <a:latin typeface="Times New Roman" panose="02020603050405020304" pitchFamily="18" charset="0"/>
                <a:cs typeface="Times New Roman" panose="02020603050405020304" pitchFamily="18" charset="0"/>
              </a:rPr>
              <a:t>guessContentTypeFromName</a:t>
            </a:r>
            <a:r>
              <a:rPr lang="en-US" altLang="zh-CN" sz="2400" dirty="0">
                <a:latin typeface="Times New Roman" panose="02020603050405020304" pitchFamily="18" charset="0"/>
                <a:cs typeface="Times New Roman" panose="02020603050405020304" pitchFamily="18" charset="0"/>
              </a:rPr>
              <a:t>(String name)</a:t>
            </a:r>
          </a:p>
          <a:p>
            <a:pPr marL="457200" lvl="1" indent="0">
              <a:buNone/>
            </a:pPr>
            <a:r>
              <a:rPr lang="zh-CN" altLang="en-US" sz="2000" dirty="0">
                <a:latin typeface="Times New Roman" panose="02020603050405020304" pitchFamily="18" charset="0"/>
                <a:cs typeface="Times New Roman" panose="02020603050405020304" pitchFamily="18" charset="0"/>
              </a:rPr>
              <a:t> 根据文件名猜测类型</a:t>
            </a:r>
            <a:endParaRPr lang="en-US" altLang="zh-CN" sz="20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public static String </a:t>
            </a:r>
            <a:r>
              <a:rPr lang="en-US" altLang="zh-CN" sz="2400" dirty="0" err="1">
                <a:solidFill>
                  <a:schemeClr val="tx2"/>
                </a:solidFill>
                <a:latin typeface="Times New Roman" panose="02020603050405020304" pitchFamily="18" charset="0"/>
                <a:cs typeface="Times New Roman" panose="02020603050405020304" pitchFamily="18" charset="0"/>
              </a:rPr>
              <a:t>guessContentTypeFromStream</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InputStream</a:t>
            </a:r>
            <a:r>
              <a:rPr lang="en-US" altLang="zh-CN" sz="2400" dirty="0">
                <a:latin typeface="Times New Roman" panose="02020603050405020304" pitchFamily="18" charset="0"/>
                <a:cs typeface="Times New Roman" panose="02020603050405020304" pitchFamily="18" charset="0"/>
              </a:rPr>
              <a:t> in)</a:t>
            </a:r>
          </a:p>
          <a:p>
            <a:pPr marL="457200" lvl="1" indent="0">
              <a:buNone/>
            </a:pPr>
            <a:r>
              <a:rPr lang="zh-CN" altLang="en-US" sz="2400" dirty="0">
                <a:latin typeface="Times New Roman" panose="02020603050405020304" pitchFamily="18" charset="0"/>
                <a:cs typeface="Times New Roman" panose="02020603050405020304" pitchFamily="18" charset="0"/>
              </a:rPr>
              <a:t> 根据流中前几字节数据猜测内容类型（</a:t>
            </a:r>
            <a:r>
              <a:rPr lang="en-US" altLang="zh-CN" sz="2400" dirty="0">
                <a:latin typeface="Times New Roman" panose="02020603050405020304" pitchFamily="18" charset="0"/>
                <a:cs typeface="Times New Roman" panose="02020603050405020304" pitchFamily="18" charset="0"/>
              </a:rPr>
              <a:t>in</a:t>
            </a:r>
            <a:r>
              <a:rPr lang="zh-CN" altLang="en-US" sz="2400" dirty="0">
                <a:latin typeface="Times New Roman" panose="02020603050405020304" pitchFamily="18" charset="0"/>
                <a:cs typeface="Times New Roman" panose="02020603050405020304" pitchFamily="18" charset="0"/>
              </a:rPr>
              <a:t>必须支持标记，读取了前面的字节之后，可以返回流开始处）</a:t>
            </a:r>
            <a:endParaRPr lang="en-US" altLang="zh-CN" sz="2400" dirty="0">
              <a:latin typeface="Times New Roman" panose="02020603050405020304" pitchFamily="18" charset="0"/>
              <a:cs typeface="Times New Roman" panose="02020603050405020304" pitchFamily="18" charset="0"/>
            </a:endParaRPr>
          </a:p>
          <a:p>
            <a:pPr marL="457200" lvl="1" indent="0">
              <a:buNone/>
            </a:pPr>
            <a:r>
              <a:rPr lang="zh-CN" altLang="en-US" sz="2400" dirty="0">
                <a:solidFill>
                  <a:schemeClr val="tx2"/>
                </a:solidFill>
                <a:latin typeface="Times New Roman" panose="02020603050405020304" pitchFamily="18" charset="0"/>
                <a:cs typeface="Times New Roman" panose="02020603050405020304" pitchFamily="18" charset="0"/>
              </a:rPr>
              <a:t>优先采用第一个方法</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a:extLst>
              <a:ext uri="{FF2B5EF4-FFF2-40B4-BE49-F238E27FC236}">
                <a16:creationId xmlns:a16="http://schemas.microsoft.com/office/drawing/2014/main" id="{04B6E63B-1464-4A3E-81F6-F085F678FDEE}"/>
              </a:ext>
            </a:extLst>
          </p:cNvPr>
          <p:cNvSpPr>
            <a:spLocks noGrp="1"/>
          </p:cNvSpPr>
          <p:nvPr>
            <p:ph type="title"/>
          </p:nvPr>
        </p:nvSpPr>
        <p:spPr>
          <a:xfrm>
            <a:off x="1825625" y="228600"/>
            <a:ext cx="8540750" cy="685800"/>
          </a:xfrm>
        </p:spPr>
        <p:txBody>
          <a:bodyPr/>
          <a:lstStyle/>
          <a:p>
            <a:pPr algn="l"/>
            <a:r>
              <a:rPr lang="en-US" altLang="zh-CN" sz="3200"/>
              <a:t>HttpURLConnection</a:t>
            </a:r>
            <a:r>
              <a:rPr lang="zh-CN" altLang="en-US" sz="3200"/>
              <a:t>类</a:t>
            </a:r>
          </a:p>
        </p:txBody>
      </p:sp>
      <p:sp>
        <p:nvSpPr>
          <p:cNvPr id="3" name="内容占位符 2">
            <a:extLst>
              <a:ext uri="{FF2B5EF4-FFF2-40B4-BE49-F238E27FC236}">
                <a16:creationId xmlns:a16="http://schemas.microsoft.com/office/drawing/2014/main" id="{02C13DD3-828E-41E0-A237-52D5D743E94D}"/>
              </a:ext>
            </a:extLst>
          </p:cNvPr>
          <p:cNvSpPr>
            <a:spLocks noGrp="1"/>
          </p:cNvSpPr>
          <p:nvPr>
            <p:ph idx="1"/>
          </p:nvPr>
        </p:nvSpPr>
        <p:spPr>
          <a:xfrm>
            <a:off x="457200" y="1143000"/>
            <a:ext cx="11277599" cy="4953000"/>
          </a:xfrm>
        </p:spPr>
        <p:txBody>
          <a:bodyPr/>
          <a:lstStyle/>
          <a:p>
            <a:r>
              <a:rPr lang="en-US" altLang="zh-CN" sz="2400" dirty="0" err="1">
                <a:latin typeface="Times New Roman" panose="02020603050405020304" pitchFamily="18" charset="0"/>
                <a:cs typeface="Times New Roman" panose="02020603050405020304" pitchFamily="18" charset="0"/>
              </a:rPr>
              <a:t>Java.net.HttpURLConnection</a:t>
            </a:r>
            <a:r>
              <a:rPr lang="zh-CN" altLang="en-US" sz="2400" dirty="0">
                <a:latin typeface="Times New Roman" panose="02020603050405020304" pitchFamily="18" charset="0"/>
                <a:cs typeface="Times New Roman" panose="02020603050405020304" pitchFamily="18" charset="0"/>
              </a:rPr>
              <a:t>类是</a:t>
            </a:r>
            <a:r>
              <a:rPr lang="en-US" altLang="zh-CN" sz="2400" dirty="0" err="1">
                <a:latin typeface="Times New Roman" panose="02020603050405020304" pitchFamily="18" charset="0"/>
                <a:cs typeface="Times New Roman" panose="02020603050405020304" pitchFamily="18" charset="0"/>
              </a:rPr>
              <a:t>URLConnection</a:t>
            </a:r>
            <a:r>
              <a:rPr lang="zh-CN" altLang="en-US" sz="2400" dirty="0">
                <a:latin typeface="Times New Roman" panose="02020603050405020304" pitchFamily="18" charset="0"/>
                <a:cs typeface="Times New Roman" panose="02020603050405020304" pitchFamily="18" charset="0"/>
              </a:rPr>
              <a:t>类的抽象子类。</a:t>
            </a:r>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包含更多处理</a:t>
            </a:r>
            <a:r>
              <a:rPr lang="en-US" altLang="zh-CN" sz="2400" dirty="0">
                <a:latin typeface="Times New Roman" panose="02020603050405020304" pitchFamily="18" charset="0"/>
                <a:cs typeface="Times New Roman" panose="02020603050405020304" pitchFamily="18" charset="0"/>
              </a:rPr>
              <a:t>HTTP</a:t>
            </a:r>
            <a:r>
              <a:rPr lang="zh-CN" altLang="en-US" sz="2400" dirty="0">
                <a:latin typeface="Times New Roman" panose="02020603050405020304" pitchFamily="18" charset="0"/>
                <a:cs typeface="Times New Roman" panose="02020603050405020304" pitchFamily="18" charset="0"/>
              </a:rPr>
              <a:t>请求方法和</a:t>
            </a:r>
            <a:r>
              <a:rPr lang="en-US" altLang="zh-CN" sz="2400" dirty="0">
                <a:latin typeface="Times New Roman" panose="02020603050405020304" pitchFamily="18" charset="0"/>
                <a:cs typeface="Times New Roman" panose="02020603050405020304" pitchFamily="18" charset="0"/>
              </a:rPr>
              <a:t>HTTP</a:t>
            </a:r>
            <a:r>
              <a:rPr lang="zh-CN" altLang="en-US" sz="2400" dirty="0">
                <a:latin typeface="Times New Roman" panose="02020603050405020304" pitchFamily="18" charset="0"/>
                <a:cs typeface="Times New Roman" panose="02020603050405020304" pitchFamily="18" charset="0"/>
              </a:rPr>
              <a:t>响应码常量，</a:t>
            </a:r>
            <a:r>
              <a:rPr lang="zh-CN" altLang="en-US" sz="2000" dirty="0">
                <a:latin typeface="Times New Roman" panose="02020603050405020304" pitchFamily="18" charset="0"/>
                <a:cs typeface="Times New Roman" panose="02020603050405020304" pitchFamily="18" charset="0"/>
              </a:rPr>
              <a:t>如获得和设置请求方法、确定是否重定向、获得响应码和消息、确定是否使用了代理服务器</a:t>
            </a:r>
            <a:endParaRPr lang="en-US" altLang="zh-CN" sz="20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是抽象类</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不能直接创建其对象</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需使用强制转换方式</a:t>
            </a:r>
            <a:r>
              <a:rPr lang="en-US" altLang="zh-CN" sz="2400" dirty="0">
                <a:latin typeface="Times New Roman" panose="02020603050405020304" pitchFamily="18" charset="0"/>
                <a:cs typeface="Times New Roman" panose="02020603050405020304" pitchFamily="18" charset="0"/>
              </a:rPr>
              <a:t>:</a:t>
            </a:r>
          </a:p>
          <a:p>
            <a:pPr>
              <a:buFont typeface="Wingdings 2" panose="05020102010507070707" pitchFamily="18" charset="2"/>
              <a:buNone/>
            </a:pPr>
            <a:r>
              <a:rPr lang="en-US" altLang="zh-CN" sz="1800" dirty="0">
                <a:solidFill>
                  <a:srgbClr val="000088"/>
                </a:solidFill>
                <a:latin typeface="Times New Roman" panose="02020603050405020304" pitchFamily="18" charset="0"/>
                <a:cs typeface="Times New Roman" panose="02020603050405020304" pitchFamily="18" charset="0"/>
              </a:rPr>
              <a:t>URL</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dirty="0">
                <a:solidFill>
                  <a:srgbClr val="000088"/>
                </a:solidFill>
                <a:latin typeface="Times New Roman" panose="02020603050405020304" pitchFamily="18" charset="0"/>
                <a:cs typeface="Times New Roman" panose="02020603050405020304" pitchFamily="18" charset="0"/>
              </a:rPr>
              <a:t>u</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dirty="0">
                <a:solidFill>
                  <a:srgbClr val="555555"/>
                </a:solidFill>
                <a:latin typeface="Times New Roman" panose="02020603050405020304" pitchFamily="18" charset="0"/>
                <a:cs typeface="Times New Roman" panose="02020603050405020304" pitchFamily="18" charset="0"/>
              </a:rPr>
              <a:t>=</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b="1" dirty="0">
                <a:solidFill>
                  <a:srgbClr val="006699"/>
                </a:solidFill>
                <a:latin typeface="Times New Roman" panose="02020603050405020304" pitchFamily="18" charset="0"/>
                <a:cs typeface="Times New Roman" panose="02020603050405020304" pitchFamily="18" charset="0"/>
              </a:rPr>
              <a:t>new</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dirty="0">
                <a:solidFill>
                  <a:srgbClr val="000088"/>
                </a:solidFill>
                <a:latin typeface="Times New Roman" panose="02020603050405020304" pitchFamily="18" charset="0"/>
                <a:cs typeface="Times New Roman" panose="02020603050405020304" pitchFamily="18" charset="0"/>
              </a:rPr>
              <a:t>URL</a:t>
            </a:r>
            <a:r>
              <a:rPr lang="en-US" altLang="zh-CN" sz="1800" dirty="0">
                <a:solidFill>
                  <a:srgbClr val="555555"/>
                </a:solidFill>
                <a:latin typeface="Times New Roman" panose="02020603050405020304" pitchFamily="18" charset="0"/>
                <a:cs typeface="Times New Roman" panose="02020603050405020304" pitchFamily="18" charset="0"/>
              </a:rPr>
              <a:t>(</a:t>
            </a:r>
            <a:r>
              <a:rPr lang="en-US" altLang="zh-CN" sz="1800" dirty="0">
                <a:solidFill>
                  <a:srgbClr val="CC3300"/>
                </a:solidFill>
                <a:latin typeface="Times New Roman" panose="02020603050405020304" pitchFamily="18" charset="0"/>
                <a:cs typeface="Times New Roman" panose="02020603050405020304" pitchFamily="18" charset="0"/>
              </a:rPr>
              <a:t>"http://lesswrong.com/"</a:t>
            </a:r>
            <a:r>
              <a:rPr lang="en-US" altLang="zh-CN" sz="1800" dirty="0">
                <a:solidFill>
                  <a:srgbClr val="555555"/>
                </a:solidFill>
                <a:latin typeface="Times New Roman" panose="02020603050405020304" pitchFamily="18" charset="0"/>
                <a:cs typeface="Times New Roman" panose="02020603050405020304" pitchFamily="18" charset="0"/>
              </a:rPr>
              <a:t>);</a:t>
            </a:r>
            <a:endParaRPr lang="en-US" altLang="zh-CN" sz="1800" dirty="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800" dirty="0" err="1">
                <a:solidFill>
                  <a:srgbClr val="000088"/>
                </a:solidFill>
                <a:latin typeface="Times New Roman" panose="02020603050405020304" pitchFamily="18" charset="0"/>
                <a:cs typeface="Times New Roman" panose="02020603050405020304" pitchFamily="18" charset="0"/>
              </a:rPr>
              <a:t>URLConnection</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dirty="0" err="1">
                <a:solidFill>
                  <a:srgbClr val="000088"/>
                </a:solidFill>
                <a:latin typeface="Times New Roman" panose="02020603050405020304" pitchFamily="18" charset="0"/>
                <a:cs typeface="Times New Roman" panose="02020603050405020304" pitchFamily="18" charset="0"/>
              </a:rPr>
              <a:t>uc</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dirty="0">
                <a:solidFill>
                  <a:srgbClr val="555555"/>
                </a:solidFill>
                <a:latin typeface="Times New Roman" panose="02020603050405020304" pitchFamily="18" charset="0"/>
                <a:cs typeface="Times New Roman" panose="02020603050405020304" pitchFamily="18" charset="0"/>
              </a:rPr>
              <a:t>=</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dirty="0" err="1">
                <a:solidFill>
                  <a:srgbClr val="000088"/>
                </a:solidFill>
                <a:latin typeface="Times New Roman" panose="02020603050405020304" pitchFamily="18" charset="0"/>
                <a:cs typeface="Times New Roman" panose="02020603050405020304" pitchFamily="18" charset="0"/>
              </a:rPr>
              <a:t>u</a:t>
            </a:r>
            <a:r>
              <a:rPr lang="en-US" altLang="zh-CN" sz="1800" dirty="0" err="1">
                <a:solidFill>
                  <a:srgbClr val="555555"/>
                </a:solidFill>
                <a:latin typeface="Times New Roman" panose="02020603050405020304" pitchFamily="18" charset="0"/>
                <a:cs typeface="Times New Roman" panose="02020603050405020304" pitchFamily="18" charset="0"/>
              </a:rPr>
              <a:t>.</a:t>
            </a:r>
            <a:r>
              <a:rPr lang="en-US" altLang="zh-CN" sz="1800" dirty="0" err="1">
                <a:solidFill>
                  <a:srgbClr val="330099"/>
                </a:solidFill>
                <a:latin typeface="Times New Roman" panose="02020603050405020304" pitchFamily="18" charset="0"/>
                <a:cs typeface="Times New Roman" panose="02020603050405020304" pitchFamily="18" charset="0"/>
              </a:rPr>
              <a:t>openConnection</a:t>
            </a:r>
            <a:r>
              <a:rPr lang="en-US" altLang="zh-CN" sz="1800" dirty="0">
                <a:solidFill>
                  <a:srgbClr val="555555"/>
                </a:solidFill>
                <a:latin typeface="Times New Roman" panose="02020603050405020304" pitchFamily="18" charset="0"/>
                <a:cs typeface="Times New Roman" panose="02020603050405020304" pitchFamily="18" charset="0"/>
              </a:rPr>
              <a:t>();</a:t>
            </a:r>
            <a:endParaRPr lang="en-US" altLang="zh-CN" sz="1800" dirty="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800" dirty="0" err="1">
                <a:solidFill>
                  <a:srgbClr val="FF0000"/>
                </a:solidFill>
                <a:latin typeface="Times New Roman" panose="02020603050405020304" pitchFamily="18" charset="0"/>
                <a:cs typeface="Times New Roman" panose="02020603050405020304" pitchFamily="18" charset="0"/>
              </a:rPr>
              <a:t>HttpURLConnection</a:t>
            </a:r>
            <a:r>
              <a:rPr lang="en-US" altLang="zh-CN" sz="1800" dirty="0">
                <a:solidFill>
                  <a:srgbClr val="FF0000"/>
                </a:solidFill>
                <a:latin typeface="Times New Roman" panose="02020603050405020304" pitchFamily="18" charset="0"/>
                <a:cs typeface="Times New Roman" panose="02020603050405020304" pitchFamily="18" charset="0"/>
              </a:rPr>
              <a:t> http = (</a:t>
            </a:r>
            <a:r>
              <a:rPr lang="en-US" altLang="zh-CN" sz="1800" dirty="0" err="1">
                <a:solidFill>
                  <a:srgbClr val="FF0000"/>
                </a:solidFill>
                <a:latin typeface="Times New Roman" panose="02020603050405020304" pitchFamily="18" charset="0"/>
                <a:cs typeface="Times New Roman" panose="02020603050405020304" pitchFamily="18" charset="0"/>
              </a:rPr>
              <a:t>HttpURLConnection</a:t>
            </a:r>
            <a:r>
              <a:rPr lang="en-US" altLang="zh-CN" sz="1800" dirty="0">
                <a:solidFill>
                  <a:srgbClr val="FF0000"/>
                </a:solidFill>
                <a:latin typeface="Times New Roman" panose="02020603050405020304" pitchFamily="18" charset="0"/>
                <a:cs typeface="Times New Roman" panose="02020603050405020304" pitchFamily="18" charset="0"/>
              </a:rPr>
              <a:t>) </a:t>
            </a:r>
            <a:r>
              <a:rPr lang="en-US" altLang="zh-CN" sz="1800" dirty="0" err="1">
                <a:solidFill>
                  <a:srgbClr val="FF0000"/>
                </a:solidFill>
                <a:latin typeface="Times New Roman" panose="02020603050405020304" pitchFamily="18" charset="0"/>
                <a:cs typeface="Times New Roman" panose="02020603050405020304" pitchFamily="18" charset="0"/>
              </a:rPr>
              <a:t>uc</a:t>
            </a:r>
            <a:r>
              <a:rPr lang="en-US" altLang="zh-CN" sz="1800" dirty="0">
                <a:solidFill>
                  <a:srgbClr val="FF0000"/>
                </a:solidFill>
                <a:latin typeface="Times New Roman" panose="02020603050405020304" pitchFamily="18" charset="0"/>
                <a:cs typeface="Times New Roman" panose="02020603050405020304" pitchFamily="18" charset="0"/>
              </a:rPr>
              <a:t>;</a:t>
            </a:r>
          </a:p>
          <a:p>
            <a:r>
              <a:rPr lang="en-US" altLang="zh-CN" sz="2400" dirty="0">
                <a:latin typeface="Times New Roman" panose="02020603050405020304" pitchFamily="18" charset="0"/>
                <a:cs typeface="Times New Roman" panose="02020603050405020304" pitchFamily="18" charset="0"/>
              </a:rPr>
              <a:t>public void </a:t>
            </a:r>
            <a:r>
              <a:rPr lang="en-US" altLang="zh-CN" sz="2400" dirty="0" err="1">
                <a:latin typeface="Times New Roman" panose="02020603050405020304" pitchFamily="18" charset="0"/>
                <a:cs typeface="Times New Roman" panose="02020603050405020304" pitchFamily="18" charset="0"/>
              </a:rPr>
              <a:t>setRequestMethod</a:t>
            </a:r>
            <a:r>
              <a:rPr lang="en-US" altLang="zh-CN" sz="2400" dirty="0">
                <a:latin typeface="Times New Roman" panose="02020603050405020304" pitchFamily="18" charset="0"/>
                <a:cs typeface="Times New Roman" panose="02020603050405020304" pitchFamily="18" charset="0"/>
              </a:rPr>
              <a:t>(String method) throws </a:t>
            </a:r>
            <a:r>
              <a:rPr lang="en-US" altLang="zh-CN" sz="2400" dirty="0" err="1">
                <a:latin typeface="Times New Roman" panose="02020603050405020304" pitchFamily="18" charset="0"/>
                <a:cs typeface="Times New Roman" panose="02020603050405020304" pitchFamily="18" charset="0"/>
              </a:rPr>
              <a:t>ProtocolException</a:t>
            </a:r>
            <a:endParaRPr lang="en-US" altLang="zh-CN"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zh-CN" altLang="en-US" sz="2400" dirty="0">
                <a:latin typeface="Times New Roman" panose="02020603050405020304" pitchFamily="18" charset="0"/>
                <a:cs typeface="Times New Roman" panose="02020603050405020304" pitchFamily="18" charset="0"/>
              </a:rPr>
              <a:t>设置请求方法：</a:t>
            </a:r>
            <a:r>
              <a:rPr lang="en-US" altLang="zh-CN" sz="2400" dirty="0">
                <a:latin typeface="Times New Roman" panose="02020603050405020304" pitchFamily="18" charset="0"/>
                <a:cs typeface="Times New Roman" panose="02020603050405020304" pitchFamily="18" charset="0"/>
              </a:rPr>
              <a:t>GET</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POST</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HEAD</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PUT</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DELETE</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OPTIONS</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TRACE</a:t>
            </a:r>
          </a:p>
          <a:p>
            <a:pPr lvl="1">
              <a:buFont typeface="Wingdings" panose="05000000000000000000" pitchFamily="2" charset="2"/>
              <a:buChar char="Ø"/>
            </a:pPr>
            <a:r>
              <a:rPr lang="zh-CN" altLang="en-US" sz="2400" b="1" dirty="0">
                <a:solidFill>
                  <a:srgbClr val="FF0000"/>
                </a:solidFill>
                <a:latin typeface="Times New Roman" panose="02020603050405020304" pitchFamily="18" charset="0"/>
                <a:cs typeface="Times New Roman" panose="02020603050405020304" pitchFamily="18" charset="0"/>
              </a:rPr>
              <a:t>需要全大写</a:t>
            </a:r>
            <a:endParaRPr lang="en-US" altLang="zh-CN" sz="2400" b="1" dirty="0">
              <a:solidFill>
                <a:srgbClr val="FF0000"/>
              </a:solidFill>
              <a:latin typeface="Times New Roman" panose="02020603050405020304" pitchFamily="18" charset="0"/>
              <a:cs typeface="Times New Roman" panose="02020603050405020304" pitchFamily="18" charset="0"/>
            </a:endParaRPr>
          </a:p>
          <a:p>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a:extLst>
              <a:ext uri="{FF2B5EF4-FFF2-40B4-BE49-F238E27FC236}">
                <a16:creationId xmlns:a16="http://schemas.microsoft.com/office/drawing/2014/main" id="{C25ACAC7-8182-411A-B4AA-FBC8457A0B2A}"/>
              </a:ext>
            </a:extLst>
          </p:cNvPr>
          <p:cNvSpPr>
            <a:spLocks noGrp="1"/>
          </p:cNvSpPr>
          <p:nvPr>
            <p:ph type="title"/>
          </p:nvPr>
        </p:nvSpPr>
        <p:spPr>
          <a:xfrm>
            <a:off x="1825625" y="228600"/>
            <a:ext cx="8540750" cy="685800"/>
          </a:xfrm>
        </p:spPr>
        <p:txBody>
          <a:bodyPr/>
          <a:lstStyle/>
          <a:p>
            <a:pPr algn="l"/>
            <a:r>
              <a:rPr lang="en-US" altLang="zh-CN" sz="3200"/>
              <a:t>HttpURLConnection</a:t>
            </a:r>
            <a:r>
              <a:rPr lang="zh-CN" altLang="en-US" sz="3200"/>
              <a:t>与</a:t>
            </a:r>
            <a:r>
              <a:rPr lang="en-US" altLang="zh-CN" sz="3200"/>
              <a:t>URLConnection</a:t>
            </a:r>
            <a:endParaRPr lang="zh-CN" altLang="en-US" sz="3200"/>
          </a:p>
        </p:txBody>
      </p:sp>
      <p:sp>
        <p:nvSpPr>
          <p:cNvPr id="105475" name="内容占位符 2">
            <a:extLst>
              <a:ext uri="{FF2B5EF4-FFF2-40B4-BE49-F238E27FC236}">
                <a16:creationId xmlns:a16="http://schemas.microsoft.com/office/drawing/2014/main" id="{A11A3505-A3BD-4841-9B5B-8420EFE1E9E3}"/>
              </a:ext>
            </a:extLst>
          </p:cNvPr>
          <p:cNvSpPr>
            <a:spLocks noGrp="1"/>
          </p:cNvSpPr>
          <p:nvPr>
            <p:ph idx="1"/>
          </p:nvPr>
        </p:nvSpPr>
        <p:spPr>
          <a:xfrm>
            <a:off x="190500" y="1143000"/>
            <a:ext cx="11811000" cy="4800600"/>
          </a:xfrm>
        </p:spPr>
        <p:txBody>
          <a:bodyPr/>
          <a:lstStyle/>
          <a:p>
            <a:r>
              <a:rPr lang="en-US" altLang="zh-CN" sz="2400" dirty="0" err="1">
                <a:latin typeface="Times New Roman" panose="02020603050405020304" pitchFamily="18" charset="0"/>
                <a:cs typeface="Times New Roman" panose="02020603050405020304" pitchFamily="18" charset="0"/>
              </a:rPr>
              <a:t>URLConnection</a:t>
            </a:r>
            <a:r>
              <a:rPr lang="zh-CN" altLang="en-US" sz="2400" dirty="0">
                <a:latin typeface="Times New Roman" panose="02020603050405020304" pitchFamily="18" charset="0"/>
                <a:cs typeface="Times New Roman" panose="02020603050405020304" pitchFamily="18" charset="0"/>
              </a:rPr>
              <a:t>与</a:t>
            </a:r>
            <a:r>
              <a:rPr lang="en-US" altLang="zh-CN" sz="2400" dirty="0" err="1">
                <a:latin typeface="Times New Roman" panose="02020603050405020304" pitchFamily="18" charset="0"/>
                <a:cs typeface="Times New Roman" panose="02020603050405020304" pitchFamily="18" charset="0"/>
              </a:rPr>
              <a:t>HttpURLConnection</a:t>
            </a:r>
            <a:r>
              <a:rPr lang="zh-CN" altLang="en-US" sz="2400" dirty="0">
                <a:latin typeface="Times New Roman" panose="02020603050405020304" pitchFamily="18" charset="0"/>
                <a:cs typeface="Times New Roman" panose="02020603050405020304" pitchFamily="18" charset="0"/>
              </a:rPr>
              <a:t>都是抽象类，无法直接实例化对象。</a:t>
            </a:r>
            <a:r>
              <a:rPr lang="zh-CN" altLang="en-US" sz="2400" dirty="0">
                <a:solidFill>
                  <a:srgbClr val="FF0000"/>
                </a:solidFill>
                <a:latin typeface="Times New Roman" panose="02020603050405020304" pitchFamily="18" charset="0"/>
                <a:cs typeface="Times New Roman" panose="02020603050405020304" pitchFamily="18" charset="0"/>
              </a:rPr>
              <a:t>其对象主要通过</a:t>
            </a:r>
            <a:r>
              <a:rPr lang="en-US" altLang="zh-CN" sz="2400" dirty="0">
                <a:solidFill>
                  <a:srgbClr val="FF0000"/>
                </a:solidFill>
                <a:latin typeface="Times New Roman" panose="02020603050405020304" pitchFamily="18" charset="0"/>
                <a:cs typeface="Times New Roman" panose="02020603050405020304" pitchFamily="18" charset="0"/>
              </a:rPr>
              <a:t>URL</a:t>
            </a:r>
            <a:r>
              <a:rPr lang="zh-CN" altLang="en-US" sz="2400" dirty="0">
                <a:solidFill>
                  <a:srgbClr val="FF0000"/>
                </a:solidFill>
                <a:latin typeface="Times New Roman" panose="02020603050405020304" pitchFamily="18" charset="0"/>
                <a:cs typeface="Times New Roman" panose="02020603050405020304" pitchFamily="18" charset="0"/>
              </a:rPr>
              <a:t>的</a:t>
            </a:r>
            <a:r>
              <a:rPr lang="en-US" altLang="zh-CN" sz="2400" dirty="0" err="1">
                <a:solidFill>
                  <a:srgbClr val="FF0000"/>
                </a:solidFill>
                <a:latin typeface="Times New Roman" panose="02020603050405020304" pitchFamily="18" charset="0"/>
                <a:cs typeface="Times New Roman" panose="02020603050405020304" pitchFamily="18" charset="0"/>
              </a:rPr>
              <a:t>openconnection</a:t>
            </a:r>
            <a:r>
              <a:rPr lang="zh-CN" altLang="en-US" sz="2400" dirty="0">
                <a:solidFill>
                  <a:srgbClr val="FF0000"/>
                </a:solidFill>
                <a:latin typeface="Times New Roman" panose="02020603050405020304" pitchFamily="18" charset="0"/>
                <a:cs typeface="Times New Roman" panose="02020603050405020304" pitchFamily="18" charset="0"/>
              </a:rPr>
              <a:t>方法获得</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openConnection</a:t>
            </a:r>
            <a:r>
              <a:rPr lang="zh-CN" altLang="en-US" sz="2400" dirty="0">
                <a:latin typeface="Times New Roman" panose="02020603050405020304" pitchFamily="18" charset="0"/>
                <a:cs typeface="Times New Roman" panose="02020603050405020304" pitchFamily="18" charset="0"/>
              </a:rPr>
              <a:t>方法</a:t>
            </a:r>
            <a:r>
              <a:rPr lang="zh-CN" altLang="en-US" sz="2400" u="sng" dirty="0">
                <a:latin typeface="Times New Roman" panose="02020603050405020304" pitchFamily="18" charset="0"/>
                <a:cs typeface="Times New Roman" panose="02020603050405020304" pitchFamily="18" charset="0"/>
              </a:rPr>
              <a:t>只创建</a:t>
            </a:r>
            <a:r>
              <a:rPr lang="en-US" altLang="zh-CN" sz="2400" dirty="0" err="1">
                <a:latin typeface="Times New Roman" panose="02020603050405020304" pitchFamily="18" charset="0"/>
                <a:cs typeface="Times New Roman" panose="02020603050405020304" pitchFamily="18" charset="0"/>
              </a:rPr>
              <a:t>URLConnection</a:t>
            </a:r>
            <a:r>
              <a:rPr lang="zh-CN" altLang="en-US" sz="2400" dirty="0">
                <a:latin typeface="Times New Roman" panose="02020603050405020304" pitchFamily="18" charset="0"/>
                <a:cs typeface="Times New Roman" panose="02020603050405020304" pitchFamily="18" charset="0"/>
              </a:rPr>
              <a:t>或者</a:t>
            </a:r>
            <a:r>
              <a:rPr lang="en-US" altLang="zh-CN" sz="2400" dirty="0" err="1">
                <a:latin typeface="Times New Roman" panose="02020603050405020304" pitchFamily="18" charset="0"/>
                <a:cs typeface="Times New Roman" panose="02020603050405020304" pitchFamily="18" charset="0"/>
              </a:rPr>
              <a:t>HttpURLConnection</a:t>
            </a:r>
            <a:r>
              <a:rPr lang="zh-CN" altLang="en-US" sz="2400" u="sng" dirty="0">
                <a:latin typeface="Times New Roman" panose="02020603050405020304" pitchFamily="18" charset="0"/>
                <a:cs typeface="Times New Roman" panose="02020603050405020304" pitchFamily="18" charset="0"/>
              </a:rPr>
              <a:t>实例</a:t>
            </a:r>
            <a:r>
              <a:rPr lang="zh-CN" altLang="en-US" sz="2400" dirty="0">
                <a:latin typeface="Times New Roman" panose="02020603050405020304" pitchFamily="18" charset="0"/>
                <a:cs typeface="Times New Roman" panose="02020603050405020304" pitchFamily="18" charset="0"/>
              </a:rPr>
              <a:t>，</a:t>
            </a:r>
            <a:r>
              <a:rPr lang="zh-CN" altLang="en-US" sz="2400" u="sng" dirty="0">
                <a:latin typeface="Times New Roman" panose="02020603050405020304" pitchFamily="18" charset="0"/>
                <a:cs typeface="Times New Roman" panose="02020603050405020304" pitchFamily="18" charset="0"/>
              </a:rPr>
              <a:t>并不进行真正的连接操作</a:t>
            </a:r>
            <a:r>
              <a:rPr lang="zh-CN" altLang="en-US" sz="2400" dirty="0">
                <a:latin typeface="Times New Roman" panose="02020603050405020304" pitchFamily="18" charset="0"/>
                <a:cs typeface="Times New Roman" panose="02020603050405020304" pitchFamily="18" charset="0"/>
              </a:rPr>
              <a:t>。并且，</a:t>
            </a:r>
            <a:r>
              <a:rPr lang="zh-CN" altLang="en-US" sz="2400" u="sng" dirty="0">
                <a:latin typeface="Times New Roman" panose="02020603050405020304" pitchFamily="18" charset="0"/>
                <a:cs typeface="Times New Roman" panose="02020603050405020304" pitchFamily="18" charset="0"/>
              </a:rPr>
              <a:t>每次</a:t>
            </a:r>
            <a:r>
              <a:rPr lang="en-US" altLang="zh-CN" sz="2400" u="sng" dirty="0" err="1">
                <a:latin typeface="Times New Roman" panose="02020603050405020304" pitchFamily="18" charset="0"/>
                <a:cs typeface="Times New Roman" panose="02020603050405020304" pitchFamily="18" charset="0"/>
              </a:rPr>
              <a:t>openConnection</a:t>
            </a:r>
            <a:r>
              <a:rPr lang="zh-CN" altLang="en-US" sz="2400" u="sng" dirty="0">
                <a:latin typeface="Times New Roman" panose="02020603050405020304" pitchFamily="18" charset="0"/>
                <a:cs typeface="Times New Roman" panose="02020603050405020304" pitchFamily="18" charset="0"/>
              </a:rPr>
              <a:t>都将创建一个新的实例</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openConnection</a:t>
            </a:r>
            <a:r>
              <a:rPr lang="zh-CN" altLang="en-US" sz="2400" dirty="0">
                <a:latin typeface="Times New Roman" panose="02020603050405020304" pitchFamily="18" charset="0"/>
                <a:cs typeface="Times New Roman" panose="02020603050405020304" pitchFamily="18" charset="0"/>
              </a:rPr>
              <a:t>不进行的连接操作的原因在于，可以在</a:t>
            </a:r>
            <a:r>
              <a:rPr lang="zh-CN" altLang="en-US" sz="2400" u="sng" dirty="0">
                <a:latin typeface="Times New Roman" panose="02020603050405020304" pitchFamily="18" charset="0"/>
                <a:cs typeface="Times New Roman" panose="02020603050405020304" pitchFamily="18" charset="0"/>
              </a:rPr>
              <a:t>连接操作进行之前，对</a:t>
            </a:r>
            <a:r>
              <a:rPr lang="en-US" altLang="zh-CN" sz="2400" dirty="0" err="1">
                <a:latin typeface="Times New Roman" panose="02020603050405020304" pitchFamily="18" charset="0"/>
                <a:cs typeface="Times New Roman" panose="02020603050405020304" pitchFamily="18" charset="0"/>
              </a:rPr>
              <a:t>URLConnection</a:t>
            </a:r>
            <a:r>
              <a:rPr lang="zh-CN" altLang="en-US" sz="2400" dirty="0">
                <a:latin typeface="Times New Roman" panose="02020603050405020304" pitchFamily="18" charset="0"/>
                <a:cs typeface="Times New Roman" panose="02020603050405020304" pitchFamily="18" charset="0"/>
              </a:rPr>
              <a:t>或者</a:t>
            </a:r>
            <a:r>
              <a:rPr lang="en-US" altLang="zh-CN" sz="2400" dirty="0" err="1">
                <a:latin typeface="Times New Roman" panose="02020603050405020304" pitchFamily="18" charset="0"/>
                <a:cs typeface="Times New Roman" panose="02020603050405020304" pitchFamily="18" charset="0"/>
              </a:rPr>
              <a:t>HttpURLConnection</a:t>
            </a:r>
            <a:r>
              <a:rPr lang="zh-CN" altLang="en-US" sz="2400" u="sng" dirty="0">
                <a:latin typeface="Times New Roman" panose="02020603050405020304" pitchFamily="18" charset="0"/>
                <a:cs typeface="Times New Roman" panose="02020603050405020304" pitchFamily="18" charset="0"/>
              </a:rPr>
              <a:t>实例的某些属性进行设置</a:t>
            </a:r>
            <a:r>
              <a:rPr lang="zh-CN" altLang="en-US" sz="2400" dirty="0">
                <a:latin typeface="Times New Roman" panose="02020603050405020304" pitchFamily="18" charset="0"/>
                <a:cs typeface="Times New Roman" panose="02020603050405020304" pitchFamily="18" charset="0"/>
              </a:rPr>
              <a:t>，如设置超时值等。</a:t>
            </a:r>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无论</a:t>
            </a:r>
            <a:r>
              <a:rPr lang="en-US" altLang="zh-CN" sz="2400" dirty="0" err="1">
                <a:latin typeface="Times New Roman" panose="02020603050405020304" pitchFamily="18" charset="0"/>
                <a:cs typeface="Times New Roman" panose="02020603050405020304" pitchFamily="18" charset="0"/>
              </a:rPr>
              <a:t>URLConnection</a:t>
            </a:r>
            <a:r>
              <a:rPr lang="zh-CN" altLang="en-US" sz="2400" dirty="0">
                <a:latin typeface="Times New Roman" panose="02020603050405020304" pitchFamily="18" charset="0"/>
                <a:cs typeface="Times New Roman" panose="02020603050405020304" pitchFamily="18" charset="0"/>
              </a:rPr>
              <a:t>或者</a:t>
            </a:r>
            <a:r>
              <a:rPr lang="en-US" altLang="zh-CN" sz="2400" dirty="0" err="1">
                <a:latin typeface="Times New Roman" panose="02020603050405020304" pitchFamily="18" charset="0"/>
                <a:cs typeface="Times New Roman" panose="02020603050405020304" pitchFamily="18" charset="0"/>
              </a:rPr>
              <a:t>HttPURLConnection</a:t>
            </a:r>
            <a:r>
              <a:rPr lang="zh-CN" altLang="en-US" sz="2400" dirty="0">
                <a:latin typeface="Times New Roman" panose="02020603050405020304" pitchFamily="18" charset="0"/>
                <a:cs typeface="Times New Roman" panose="02020603050405020304" pitchFamily="18" charset="0"/>
              </a:rPr>
              <a:t>实例，其</a:t>
            </a:r>
            <a:r>
              <a:rPr lang="en-US" altLang="zh-CN" sz="2400" dirty="0" err="1">
                <a:latin typeface="Times New Roman" panose="02020603050405020304" pitchFamily="18" charset="0"/>
                <a:cs typeface="Times New Roman" panose="02020603050405020304" pitchFamily="18" charset="0"/>
              </a:rPr>
              <a:t>getInputStream</a:t>
            </a:r>
            <a:r>
              <a:rPr lang="zh-CN" altLang="en-US" sz="2400" dirty="0">
                <a:latin typeface="Times New Roman" panose="02020603050405020304" pitchFamily="18" charset="0"/>
                <a:cs typeface="Times New Roman" panose="02020603050405020304" pitchFamily="18" charset="0"/>
              </a:rPr>
              <a:t>之类属于应用层的操作，都会调用</a:t>
            </a:r>
            <a:r>
              <a:rPr lang="en-US" altLang="zh-CN" sz="2400" dirty="0">
                <a:latin typeface="Times New Roman" panose="02020603050405020304" pitchFamily="18" charset="0"/>
                <a:cs typeface="Times New Roman" panose="02020603050405020304" pitchFamily="18" charset="0"/>
              </a:rPr>
              <a:t>connect</a:t>
            </a:r>
            <a:r>
              <a:rPr lang="zh-CN" altLang="en-US" sz="2400" dirty="0">
                <a:latin typeface="Times New Roman" panose="02020603050405020304" pitchFamily="18" charset="0"/>
                <a:cs typeface="Times New Roman" panose="02020603050405020304" pitchFamily="18" charset="0"/>
              </a:rPr>
              <a:t>操作。但是，</a:t>
            </a:r>
            <a:r>
              <a:rPr lang="en-US" altLang="zh-CN" sz="2400" dirty="0" err="1">
                <a:latin typeface="Times New Roman" panose="02020603050405020304" pitchFamily="18" charset="0"/>
                <a:cs typeface="Times New Roman" panose="02020603050405020304" pitchFamily="18" charset="0"/>
              </a:rPr>
              <a:t>connectTimeout</a:t>
            </a:r>
            <a:r>
              <a:rPr lang="zh-CN" altLang="en-US" sz="2400" dirty="0">
                <a:latin typeface="Times New Roman" panose="02020603050405020304" pitchFamily="18" charset="0"/>
                <a:cs typeface="Times New Roman" panose="02020603050405020304" pitchFamily="18" charset="0"/>
              </a:rPr>
              <a:t>与</a:t>
            </a:r>
            <a:r>
              <a:rPr lang="en-US" altLang="zh-CN" sz="2400" dirty="0" err="1">
                <a:latin typeface="Times New Roman" panose="02020603050405020304" pitchFamily="18" charset="0"/>
                <a:cs typeface="Times New Roman" panose="02020603050405020304" pitchFamily="18" charset="0"/>
              </a:rPr>
              <a:t>ReaderTimeout</a:t>
            </a:r>
            <a:r>
              <a:rPr lang="zh-CN" altLang="en-US" sz="2400" dirty="0">
                <a:latin typeface="Times New Roman" panose="02020603050405020304" pitchFamily="18" charset="0"/>
                <a:cs typeface="Times New Roman" panose="02020603050405020304" pitchFamily="18" charset="0"/>
              </a:rPr>
              <a:t>并不相同。有可能在已连接的情况下，仍然</a:t>
            </a:r>
            <a:r>
              <a:rPr lang="en-US" altLang="zh-CN" sz="2400" dirty="0">
                <a:latin typeface="Times New Roman" panose="02020603050405020304" pitchFamily="18" charset="0"/>
                <a:cs typeface="Times New Roman" panose="02020603050405020304" pitchFamily="18" charset="0"/>
              </a:rPr>
              <a:t>Reader</a:t>
            </a:r>
            <a:r>
              <a:rPr lang="zh-CN" altLang="en-US" sz="2400" dirty="0">
                <a:latin typeface="Times New Roman" panose="02020603050405020304" pitchFamily="18" charset="0"/>
                <a:cs typeface="Times New Roman" panose="02020603050405020304" pitchFamily="18" charset="0"/>
              </a:rPr>
              <a:t>超时</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a:extLst>
              <a:ext uri="{FF2B5EF4-FFF2-40B4-BE49-F238E27FC236}">
                <a16:creationId xmlns:a16="http://schemas.microsoft.com/office/drawing/2014/main" id="{969B522B-0702-4389-9460-76325FAB7205}"/>
              </a:ext>
            </a:extLst>
          </p:cNvPr>
          <p:cNvSpPr>
            <a:spLocks noGrp="1"/>
          </p:cNvSpPr>
          <p:nvPr>
            <p:ph type="title"/>
          </p:nvPr>
        </p:nvSpPr>
        <p:spPr>
          <a:xfrm>
            <a:off x="1825625" y="228600"/>
            <a:ext cx="8540750" cy="685800"/>
          </a:xfrm>
        </p:spPr>
        <p:txBody>
          <a:bodyPr/>
          <a:lstStyle/>
          <a:p>
            <a:pPr algn="l"/>
            <a:r>
              <a:rPr lang="zh-CN" altLang="en-US" sz="3200"/>
              <a:t>请求方法</a:t>
            </a:r>
          </a:p>
        </p:txBody>
      </p:sp>
      <p:sp>
        <p:nvSpPr>
          <p:cNvPr id="106499" name="内容占位符 2">
            <a:extLst>
              <a:ext uri="{FF2B5EF4-FFF2-40B4-BE49-F238E27FC236}">
                <a16:creationId xmlns:a16="http://schemas.microsoft.com/office/drawing/2014/main" id="{A298CA0A-0C88-4321-87C3-927232E97655}"/>
              </a:ext>
            </a:extLst>
          </p:cNvPr>
          <p:cNvSpPr>
            <a:spLocks noGrp="1"/>
          </p:cNvSpPr>
          <p:nvPr>
            <p:ph idx="1"/>
          </p:nvPr>
        </p:nvSpPr>
        <p:spPr>
          <a:xfrm>
            <a:off x="533400" y="914400"/>
            <a:ext cx="11048999" cy="5029200"/>
          </a:xfrm>
        </p:spPr>
        <p:txBody>
          <a:bodyPr/>
          <a:lstStyle/>
          <a:p>
            <a:r>
              <a:rPr lang="en-US" altLang="zh-CN" sz="2400" dirty="0">
                <a:latin typeface="Times New Roman" panose="02020603050405020304" pitchFamily="18" charset="0"/>
                <a:cs typeface="Times New Roman" panose="02020603050405020304" pitchFamily="18" charset="0"/>
              </a:rPr>
              <a:t>Web</a:t>
            </a:r>
            <a:r>
              <a:rPr lang="zh-CN" altLang="en-US" sz="2400" dirty="0">
                <a:latin typeface="Times New Roman" panose="02020603050405020304" pitchFamily="18" charset="0"/>
                <a:cs typeface="Times New Roman" panose="02020603050405020304" pitchFamily="18" charset="0"/>
              </a:rPr>
              <a:t>客户端与</a:t>
            </a:r>
            <a:r>
              <a:rPr lang="en-US" altLang="zh-CN" sz="2400" dirty="0">
                <a:latin typeface="Times New Roman" panose="02020603050405020304" pitchFamily="18" charset="0"/>
                <a:cs typeface="Times New Roman" panose="02020603050405020304" pitchFamily="18" charset="0"/>
              </a:rPr>
              <a:t>Web</a:t>
            </a:r>
            <a:r>
              <a:rPr lang="zh-CN" altLang="en-US" sz="2400" dirty="0">
                <a:latin typeface="Times New Roman" panose="02020603050405020304" pitchFamily="18" charset="0"/>
                <a:cs typeface="Times New Roman" panose="02020603050405020304" pitchFamily="18" charset="0"/>
              </a:rPr>
              <a:t>服务器联系时，发送的第一个内容是请求行。如：</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GET catalog/</a:t>
            </a:r>
            <a:r>
              <a:rPr lang="en-US" altLang="zh-CN" sz="2400" dirty="0" err="1">
                <a:latin typeface="Times New Roman" panose="02020603050405020304" pitchFamily="18" charset="0"/>
                <a:cs typeface="Times New Roman" panose="02020603050405020304" pitchFamily="18" charset="0"/>
              </a:rPr>
              <a:t>jfcnut</a:t>
            </a:r>
            <a:r>
              <a:rPr lang="en-US" altLang="zh-CN" sz="2400" dirty="0">
                <a:latin typeface="Times New Roman" panose="02020603050405020304" pitchFamily="18" charset="0"/>
                <a:cs typeface="Times New Roman" panose="02020603050405020304" pitchFamily="18" charset="0"/>
              </a:rPr>
              <a:t>/index.html  HTTP/1.0</a:t>
            </a:r>
          </a:p>
          <a:p>
            <a:pPr lvl="1">
              <a:buFont typeface="Wingdings" panose="05000000000000000000" pitchFamily="2" charset="2"/>
              <a:buChar char="p"/>
            </a:pPr>
            <a:r>
              <a:rPr lang="en-US" altLang="zh-CN" sz="2000" dirty="0">
                <a:latin typeface="Times New Roman" panose="02020603050405020304" pitchFamily="18" charset="0"/>
                <a:cs typeface="Times New Roman" panose="02020603050405020304" pitchFamily="18" charset="0"/>
              </a:rPr>
              <a:t>GET</a:t>
            </a:r>
            <a:r>
              <a:rPr lang="zh-CN" altLang="en-US" sz="2000" dirty="0">
                <a:latin typeface="Times New Roman" panose="02020603050405020304" pitchFamily="18" charset="0"/>
                <a:cs typeface="Times New Roman" panose="02020603050405020304" pitchFamily="18" charset="0"/>
              </a:rPr>
              <a:t>方法：</a:t>
            </a:r>
            <a:r>
              <a:rPr lang="en-US" altLang="zh-CN" sz="2000" dirty="0">
                <a:latin typeface="Times New Roman" panose="02020603050405020304" pitchFamily="18" charset="0"/>
                <a:cs typeface="Times New Roman" panose="02020603050405020304" pitchFamily="18" charset="0"/>
              </a:rPr>
              <a:t>Web</a:t>
            </a:r>
            <a:r>
              <a:rPr lang="zh-CN" altLang="en-US" sz="2000" dirty="0">
                <a:latin typeface="Times New Roman" panose="02020603050405020304" pitchFamily="18" charset="0"/>
                <a:cs typeface="Times New Roman" panose="02020603050405020304" pitchFamily="18" charset="0"/>
              </a:rPr>
              <a:t>客户端从服务器获取文件</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US" altLang="zh-CN" sz="2000" dirty="0">
                <a:latin typeface="Times New Roman" panose="02020603050405020304" pitchFamily="18" charset="0"/>
                <a:cs typeface="Times New Roman" panose="02020603050405020304" pitchFamily="18" charset="0"/>
              </a:rPr>
              <a:t>POST</a:t>
            </a:r>
            <a:r>
              <a:rPr lang="zh-CN" altLang="en-US" sz="2000" dirty="0">
                <a:latin typeface="Times New Roman" panose="02020603050405020304" pitchFamily="18" charset="0"/>
                <a:cs typeface="Times New Roman" panose="02020603050405020304" pitchFamily="18" charset="0"/>
              </a:rPr>
              <a:t>方法</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客户端向表单提交数据发送请求并获得响应</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US" altLang="zh-CN" sz="2000" dirty="0">
                <a:latin typeface="Times New Roman" panose="02020603050405020304" pitchFamily="18" charset="0"/>
                <a:cs typeface="Times New Roman" panose="02020603050405020304" pitchFamily="18" charset="0"/>
              </a:rPr>
              <a:t>PUT</a:t>
            </a:r>
            <a:r>
              <a:rPr lang="zh-CN" altLang="en-US" sz="2000" dirty="0">
                <a:latin typeface="Times New Roman" panose="02020603050405020304" pitchFamily="18" charset="0"/>
                <a:cs typeface="Times New Roman" panose="02020603050405020304" pitchFamily="18" charset="0"/>
              </a:rPr>
              <a:t>方法</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将文件上传到服务器</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US" altLang="zh-CN" sz="2000" dirty="0">
                <a:latin typeface="Times New Roman" panose="02020603050405020304" pitchFamily="18" charset="0"/>
                <a:cs typeface="Times New Roman" panose="02020603050405020304" pitchFamily="18" charset="0"/>
              </a:rPr>
              <a:t>DELETE</a:t>
            </a:r>
            <a:r>
              <a:rPr lang="zh-CN" altLang="en-US" sz="2000" dirty="0">
                <a:latin typeface="Times New Roman" panose="02020603050405020304" pitchFamily="18" charset="0"/>
                <a:cs typeface="Times New Roman" panose="02020603050405020304" pitchFamily="18" charset="0"/>
              </a:rPr>
              <a:t>方法</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删除服务器的文件</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US" altLang="zh-CN" sz="2000" dirty="0">
                <a:latin typeface="Times New Roman" panose="02020603050405020304" pitchFamily="18" charset="0"/>
                <a:cs typeface="Times New Roman" panose="02020603050405020304" pitchFamily="18" charset="0"/>
              </a:rPr>
              <a:t>HEAD</a:t>
            </a:r>
            <a:r>
              <a:rPr lang="zh-CN" altLang="en-US" sz="2000" dirty="0">
                <a:latin typeface="Times New Roman" panose="02020603050405020304" pitchFamily="18" charset="0"/>
                <a:cs typeface="Times New Roman" panose="02020603050405020304" pitchFamily="18" charset="0"/>
              </a:rPr>
              <a:t>方法</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只请求文档的首部</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US" altLang="zh-CN" sz="2000" dirty="0">
                <a:latin typeface="Times New Roman" panose="02020603050405020304" pitchFamily="18" charset="0"/>
                <a:cs typeface="Times New Roman" panose="02020603050405020304" pitchFamily="18" charset="0"/>
              </a:rPr>
              <a:t>OPTIONS</a:t>
            </a:r>
            <a:r>
              <a:rPr lang="zh-CN" altLang="en-US" sz="2000" dirty="0">
                <a:latin typeface="Times New Roman" panose="02020603050405020304" pitchFamily="18" charset="0"/>
                <a:cs typeface="Times New Roman" panose="02020603050405020304" pitchFamily="18" charset="0"/>
              </a:rPr>
              <a:t>方法</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向服务器询问一个指定</a:t>
            </a:r>
            <a:r>
              <a:rPr lang="en-US" altLang="zh-CN" sz="2000" dirty="0">
                <a:latin typeface="Times New Roman" panose="02020603050405020304" pitchFamily="18" charset="0"/>
                <a:cs typeface="Times New Roman" panose="02020603050405020304" pitchFamily="18" charset="0"/>
              </a:rPr>
              <a:t>URL</a:t>
            </a:r>
            <a:r>
              <a:rPr lang="zh-CN" altLang="en-US" sz="2000" dirty="0">
                <a:latin typeface="Times New Roman" panose="02020603050405020304" pitchFamily="18" charset="0"/>
                <a:cs typeface="Times New Roman" panose="02020603050405020304" pitchFamily="18" charset="0"/>
              </a:rPr>
              <a:t>支持的选项列表</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US" altLang="zh-CN" sz="2000" dirty="0">
                <a:latin typeface="Times New Roman" panose="02020603050405020304" pitchFamily="18" charset="0"/>
                <a:cs typeface="Times New Roman" panose="02020603050405020304" pitchFamily="18" charset="0"/>
              </a:rPr>
              <a:t>TRACE</a:t>
            </a:r>
            <a:r>
              <a:rPr lang="zh-CN" altLang="en-US" sz="2000" dirty="0">
                <a:latin typeface="Times New Roman" panose="02020603050405020304" pitchFamily="18" charset="0"/>
                <a:cs typeface="Times New Roman" panose="02020603050405020304" pitchFamily="18" charset="0"/>
              </a:rPr>
              <a:t>方法</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跟踪请求本身</a:t>
            </a:r>
            <a:endParaRPr lang="en-US" altLang="zh-CN" sz="20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public void </a:t>
            </a:r>
            <a:r>
              <a:rPr lang="en-US" altLang="zh-CN" sz="2400" dirty="0" err="1">
                <a:latin typeface="Times New Roman" panose="02020603050405020304" pitchFamily="18" charset="0"/>
                <a:cs typeface="Times New Roman" panose="02020603050405020304" pitchFamily="18" charset="0"/>
              </a:rPr>
              <a:t>setRequestMethod</a:t>
            </a:r>
            <a:r>
              <a:rPr lang="en-US" altLang="zh-CN" sz="2400" dirty="0">
                <a:latin typeface="Times New Roman" panose="02020603050405020304" pitchFamily="18" charset="0"/>
                <a:cs typeface="Times New Roman" panose="02020603050405020304" pitchFamily="18" charset="0"/>
              </a:rPr>
              <a:t>(String method) throws </a:t>
            </a:r>
            <a:r>
              <a:rPr lang="en-US" altLang="zh-CN" sz="2400" dirty="0" err="1">
                <a:latin typeface="Times New Roman" panose="02020603050405020304" pitchFamily="18" charset="0"/>
                <a:cs typeface="Times New Roman" panose="02020603050405020304" pitchFamily="18" charset="0"/>
              </a:rPr>
              <a:t>ProtocolException</a:t>
            </a:r>
            <a:endParaRPr lang="en-US" altLang="zh-CN"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zh-CN" altLang="en-US" sz="2000" dirty="0">
                <a:latin typeface="Times New Roman" panose="02020603050405020304" pitchFamily="18" charset="0"/>
                <a:cs typeface="Times New Roman" panose="02020603050405020304" pitchFamily="18" charset="0"/>
              </a:rPr>
              <a:t>设置请求方法：</a:t>
            </a:r>
            <a:r>
              <a:rPr lang="en-US" altLang="zh-CN" sz="2000" dirty="0">
                <a:latin typeface="Times New Roman" panose="02020603050405020304" pitchFamily="18" charset="0"/>
                <a:cs typeface="Times New Roman" panose="02020603050405020304" pitchFamily="18" charset="0"/>
              </a:rPr>
              <a:t>GET</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POST</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HEAD</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PUT</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DELETE</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OPTIONS</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TRACE</a:t>
            </a:r>
          </a:p>
          <a:p>
            <a:pPr lvl="1">
              <a:buFont typeface="Wingdings" panose="05000000000000000000" pitchFamily="2" charset="2"/>
              <a:buChar char="p"/>
            </a:pPr>
            <a:r>
              <a:rPr lang="zh-CN" altLang="en-US" sz="2000" dirty="0">
                <a:latin typeface="Times New Roman" panose="02020603050405020304" pitchFamily="18" charset="0"/>
                <a:cs typeface="Times New Roman" panose="02020603050405020304" pitchFamily="18" charset="0"/>
              </a:rPr>
              <a:t>需要全大写</a:t>
            </a:r>
            <a:endParaRPr lang="en-US" altLang="zh-CN" sz="2000" dirty="0">
              <a:latin typeface="Times New Roman" panose="02020603050405020304" pitchFamily="18" charset="0"/>
              <a:cs typeface="Times New Roman" panose="02020603050405020304" pitchFamily="18" charset="0"/>
            </a:endParaRPr>
          </a:p>
          <a:p>
            <a:endParaRPr lang="zh-CN" altLang="en-US" dirty="0"/>
          </a:p>
        </p:txBody>
      </p:sp>
      <p:sp>
        <p:nvSpPr>
          <p:cNvPr id="106500" name="椭圆 1">
            <a:extLst>
              <a:ext uri="{FF2B5EF4-FFF2-40B4-BE49-F238E27FC236}">
                <a16:creationId xmlns:a16="http://schemas.microsoft.com/office/drawing/2014/main" id="{DD4D90E2-A82A-4884-B73E-FD2C15256CF1}"/>
              </a:ext>
            </a:extLst>
          </p:cNvPr>
          <p:cNvSpPr>
            <a:spLocks noChangeArrowheads="1"/>
          </p:cNvSpPr>
          <p:nvPr/>
        </p:nvSpPr>
        <p:spPr bwMode="auto">
          <a:xfrm>
            <a:off x="2362200" y="1676400"/>
            <a:ext cx="685800" cy="53340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a:extLst>
              <a:ext uri="{FF2B5EF4-FFF2-40B4-BE49-F238E27FC236}">
                <a16:creationId xmlns:a16="http://schemas.microsoft.com/office/drawing/2014/main" id="{CAE3E953-547E-438E-B0E5-C3B1D11282FD}"/>
              </a:ext>
            </a:extLst>
          </p:cNvPr>
          <p:cNvSpPr>
            <a:spLocks noGrp="1"/>
          </p:cNvSpPr>
          <p:nvPr>
            <p:ph type="title"/>
          </p:nvPr>
        </p:nvSpPr>
        <p:spPr>
          <a:xfrm>
            <a:off x="1524000" y="0"/>
            <a:ext cx="8540750" cy="609600"/>
          </a:xfrm>
        </p:spPr>
        <p:txBody>
          <a:bodyPr/>
          <a:lstStyle/>
          <a:p>
            <a:pPr algn="l"/>
            <a:r>
              <a:rPr lang="en-US" altLang="zh-CN" sz="3200"/>
              <a:t>HEAD</a:t>
            </a:r>
            <a:r>
              <a:rPr lang="zh-CN" altLang="en-US" sz="3200"/>
              <a:t>方法</a:t>
            </a:r>
          </a:p>
        </p:txBody>
      </p:sp>
      <p:sp>
        <p:nvSpPr>
          <p:cNvPr id="107523" name="内容占位符 2">
            <a:extLst>
              <a:ext uri="{FF2B5EF4-FFF2-40B4-BE49-F238E27FC236}">
                <a16:creationId xmlns:a16="http://schemas.microsoft.com/office/drawing/2014/main" id="{402DFE23-3112-42E7-A8D5-985ACA5D0844}"/>
              </a:ext>
            </a:extLst>
          </p:cNvPr>
          <p:cNvSpPr>
            <a:spLocks noGrp="1"/>
          </p:cNvSpPr>
          <p:nvPr>
            <p:ph idx="1"/>
          </p:nvPr>
        </p:nvSpPr>
        <p:spPr>
          <a:xfrm>
            <a:off x="304800" y="1179512"/>
            <a:ext cx="11582400" cy="4498975"/>
          </a:xfrm>
        </p:spPr>
        <p:txBody>
          <a:bodyPr/>
          <a:lstStyle/>
          <a:p>
            <a:r>
              <a:rPr lang="zh-CN" altLang="en-US" sz="2800" dirty="0"/>
              <a:t>请求信息跟</a:t>
            </a:r>
            <a:r>
              <a:rPr lang="en-US" altLang="zh-CN" sz="2800" dirty="0"/>
              <a:t>GET</a:t>
            </a:r>
            <a:r>
              <a:rPr lang="zh-CN" altLang="en-US" sz="2800" dirty="0"/>
              <a:t>同，告诉服务器只返回</a:t>
            </a:r>
            <a:r>
              <a:rPr lang="en-US" altLang="zh-CN" sz="2800" dirty="0"/>
              <a:t>HTTP</a:t>
            </a:r>
            <a:r>
              <a:rPr lang="zh-CN" altLang="en-US" sz="2800" dirty="0"/>
              <a:t>头部</a:t>
            </a:r>
            <a:r>
              <a:rPr lang="en-US" altLang="zh-CN" sz="2800" dirty="0"/>
              <a:t>,</a:t>
            </a:r>
            <a:r>
              <a:rPr lang="zh-CN" altLang="en-US" sz="2800" dirty="0"/>
              <a:t>不用实际发送文件</a:t>
            </a:r>
            <a:endParaRPr lang="en-US" altLang="zh-CN" sz="2800" dirty="0"/>
          </a:p>
          <a:p>
            <a:r>
              <a:rPr lang="zh-CN" altLang="en-US" sz="2800" dirty="0"/>
              <a:t>服务器只返回头信息</a:t>
            </a:r>
            <a:endParaRPr lang="en-US" altLang="zh-CN" sz="2800" dirty="0"/>
          </a:p>
          <a:p>
            <a:r>
              <a:rPr lang="zh-CN" altLang="en-US" sz="2800" dirty="0"/>
              <a:t>此方法常用于检查文件在最后一次缓存之后是否有修改。</a:t>
            </a:r>
            <a:endParaRPr lang="en-US" altLang="zh-CN" sz="2800" dirty="0"/>
          </a:p>
          <a:p>
            <a:r>
              <a:rPr lang="zh-CN" altLang="en-US" sz="2800" dirty="0"/>
              <a:t>减少不必要信息的获取和传输，使程序高效</a:t>
            </a:r>
            <a:endParaRPr lang="en-US" altLang="zh-CN" sz="2800" dirty="0"/>
          </a:p>
          <a:p>
            <a:r>
              <a:rPr lang="zh-CN" altLang="en-US" sz="2400" dirty="0"/>
              <a:t>编程使用</a:t>
            </a:r>
            <a:r>
              <a:rPr lang="en-US" altLang="zh-CN" sz="2400" dirty="0"/>
              <a:t>HEAD</a:t>
            </a:r>
            <a:r>
              <a:rPr lang="zh-CN" altLang="en-US" sz="2400" dirty="0"/>
              <a:t>请求方法</a:t>
            </a:r>
            <a:r>
              <a:rPr lang="en-US" altLang="zh-CN" sz="2400" dirty="0"/>
              <a:t>,</a:t>
            </a:r>
            <a:r>
              <a:rPr lang="zh-CN" altLang="en-US" sz="2400" dirty="0"/>
              <a:t>获得和显示</a:t>
            </a:r>
            <a:r>
              <a:rPr lang="en-US" altLang="zh-CN" sz="2400" dirty="0"/>
              <a:t>URL</a:t>
            </a:r>
            <a:r>
              <a:rPr lang="zh-CN" altLang="en-US" sz="2400" dirty="0"/>
              <a:t>文件在服务器上的最后一次修改时间</a:t>
            </a:r>
            <a:r>
              <a:rPr lang="en-US" altLang="zh-CN" sz="2400" dirty="0"/>
              <a:t>.</a:t>
            </a:r>
          </a:p>
          <a:p>
            <a:r>
              <a:rPr lang="zh-CN" altLang="en-US" sz="2400" dirty="0"/>
              <a:t>编程示例</a:t>
            </a:r>
            <a:r>
              <a:rPr lang="en-US" altLang="zh-CN" sz="2400" dirty="0"/>
              <a:t>ch7.LastModified.java</a:t>
            </a:r>
            <a:endParaRPr lang="zh-CN" altLang="en-US" sz="2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EBFEC684-2074-424A-A27E-0673C818A0E8}"/>
              </a:ext>
            </a:extLst>
          </p:cNvPr>
          <p:cNvSpPr>
            <a:spLocks noGrp="1"/>
          </p:cNvSpPr>
          <p:nvPr>
            <p:ph type="title"/>
          </p:nvPr>
        </p:nvSpPr>
        <p:spPr>
          <a:xfrm>
            <a:off x="1524000" y="0"/>
            <a:ext cx="8540750" cy="609600"/>
          </a:xfrm>
        </p:spPr>
        <p:txBody>
          <a:bodyPr/>
          <a:lstStyle/>
          <a:p>
            <a:pPr algn="l"/>
            <a:r>
              <a:rPr lang="en-US" altLang="zh-CN" sz="3200"/>
              <a:t>HEAD</a:t>
            </a:r>
            <a:r>
              <a:rPr lang="zh-CN" altLang="en-US" sz="3200"/>
              <a:t>方法</a:t>
            </a:r>
          </a:p>
        </p:txBody>
      </p:sp>
      <p:pic>
        <p:nvPicPr>
          <p:cNvPr id="108547" name="图片 2">
            <a:extLst>
              <a:ext uri="{FF2B5EF4-FFF2-40B4-BE49-F238E27FC236}">
                <a16:creationId xmlns:a16="http://schemas.microsoft.com/office/drawing/2014/main" id="{3F75623C-9305-4421-8F6C-F611EB6A5BC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03362" y="0"/>
            <a:ext cx="9012238" cy="648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a:extLst>
              <a:ext uri="{FF2B5EF4-FFF2-40B4-BE49-F238E27FC236}">
                <a16:creationId xmlns:a16="http://schemas.microsoft.com/office/drawing/2014/main" id="{B373F26D-D2F6-4224-B191-BD25AC94FF85}"/>
              </a:ext>
            </a:extLst>
          </p:cNvPr>
          <p:cNvSpPr>
            <a:spLocks noGrp="1"/>
          </p:cNvSpPr>
          <p:nvPr>
            <p:ph type="title"/>
          </p:nvPr>
        </p:nvSpPr>
        <p:spPr>
          <a:xfrm>
            <a:off x="1538288" y="152400"/>
            <a:ext cx="8540750" cy="457200"/>
          </a:xfrm>
        </p:spPr>
        <p:txBody>
          <a:bodyPr/>
          <a:lstStyle/>
          <a:p>
            <a:pPr algn="l"/>
            <a:r>
              <a:rPr lang="en-US" altLang="zh-CN" sz="3200"/>
              <a:t>DELETE</a:t>
            </a:r>
            <a:r>
              <a:rPr lang="zh-CN" altLang="en-US" sz="3200"/>
              <a:t>方法</a:t>
            </a:r>
          </a:p>
        </p:txBody>
      </p:sp>
      <p:sp>
        <p:nvSpPr>
          <p:cNvPr id="109571" name="内容占位符 2">
            <a:extLst>
              <a:ext uri="{FF2B5EF4-FFF2-40B4-BE49-F238E27FC236}">
                <a16:creationId xmlns:a16="http://schemas.microsoft.com/office/drawing/2014/main" id="{3A87D300-95E2-42EB-805F-27F8B9038B91}"/>
              </a:ext>
            </a:extLst>
          </p:cNvPr>
          <p:cNvSpPr>
            <a:spLocks noGrp="1"/>
          </p:cNvSpPr>
          <p:nvPr>
            <p:ph idx="1"/>
          </p:nvPr>
        </p:nvSpPr>
        <p:spPr>
          <a:xfrm>
            <a:off x="1925638" y="1166813"/>
            <a:ext cx="8742362" cy="5135562"/>
          </a:xfrm>
        </p:spPr>
        <p:txBody>
          <a:bodyPr/>
          <a:lstStyle/>
          <a:p>
            <a:r>
              <a:rPr lang="en-US" altLang="zh-CN" sz="2400">
                <a:solidFill>
                  <a:srgbClr val="1B1C20"/>
                </a:solidFill>
                <a:latin typeface="Times New Roman" panose="02020603050405020304" pitchFamily="18" charset="0"/>
                <a:cs typeface="Times New Roman" panose="02020603050405020304" pitchFamily="18" charset="0"/>
              </a:rPr>
              <a:t>DELETE</a:t>
            </a:r>
            <a:r>
              <a:rPr lang="zh-CN" altLang="en-US" sz="2400">
                <a:solidFill>
                  <a:srgbClr val="1B1C20"/>
                </a:solidFill>
                <a:latin typeface="Times New Roman" panose="02020603050405020304" pitchFamily="18" charset="0"/>
                <a:cs typeface="Times New Roman" panose="02020603050405020304" pitchFamily="18" charset="0"/>
              </a:rPr>
              <a:t>方法用于删除</a:t>
            </a:r>
            <a:r>
              <a:rPr lang="en-US" altLang="zh-CN" sz="2400">
                <a:solidFill>
                  <a:srgbClr val="1B1C20"/>
                </a:solidFill>
                <a:latin typeface="Times New Roman" panose="02020603050405020304" pitchFamily="18" charset="0"/>
                <a:cs typeface="Times New Roman" panose="02020603050405020304" pitchFamily="18" charset="0"/>
              </a:rPr>
              <a:t>web</a:t>
            </a:r>
            <a:r>
              <a:rPr lang="zh-CN" altLang="en-US" sz="2400">
                <a:solidFill>
                  <a:srgbClr val="1B1C20"/>
                </a:solidFill>
                <a:latin typeface="Times New Roman" panose="02020603050405020304" pitchFamily="18" charset="0"/>
                <a:cs typeface="Times New Roman" panose="02020603050405020304" pitchFamily="18" charset="0"/>
              </a:rPr>
              <a:t>服务器上位于指定</a:t>
            </a:r>
            <a:r>
              <a:rPr lang="en-US" altLang="zh-CN" sz="2400">
                <a:solidFill>
                  <a:srgbClr val="1B1C20"/>
                </a:solidFill>
                <a:latin typeface="Times New Roman" panose="02020603050405020304" pitchFamily="18" charset="0"/>
                <a:cs typeface="Times New Roman" panose="02020603050405020304" pitchFamily="18" charset="0"/>
              </a:rPr>
              <a:t>URL</a:t>
            </a:r>
            <a:r>
              <a:rPr lang="zh-CN" altLang="en-US" sz="2400">
                <a:solidFill>
                  <a:srgbClr val="1B1C20"/>
                </a:solidFill>
                <a:latin typeface="Times New Roman" panose="02020603050405020304" pitchFamily="18" charset="0"/>
                <a:cs typeface="Times New Roman" panose="02020603050405020304" pitchFamily="18" charset="0"/>
              </a:rPr>
              <a:t>的文件</a:t>
            </a:r>
            <a:endParaRPr lang="en-US" altLang="zh-CN" sz="2400">
              <a:solidFill>
                <a:srgbClr val="1B1C20"/>
              </a:solidFill>
              <a:latin typeface="Times New Roman" panose="02020603050405020304" pitchFamily="18" charset="0"/>
              <a:cs typeface="Times New Roman" panose="02020603050405020304" pitchFamily="18" charset="0"/>
            </a:endParaRPr>
          </a:p>
          <a:p>
            <a:r>
              <a:rPr lang="zh-CN" altLang="en-US" sz="2400">
                <a:solidFill>
                  <a:srgbClr val="1B1C20"/>
                </a:solidFill>
                <a:latin typeface="Times New Roman" panose="02020603050405020304" pitchFamily="18" charset="0"/>
                <a:cs typeface="Times New Roman" panose="02020603050405020304" pitchFamily="18" charset="0"/>
              </a:rPr>
              <a:t>该方法存在安全风险</a:t>
            </a:r>
            <a:r>
              <a:rPr lang="en-US" altLang="zh-CN" sz="2400">
                <a:solidFill>
                  <a:srgbClr val="1B1C20"/>
                </a:solidFill>
                <a:latin typeface="Times New Roman" panose="02020603050405020304" pitchFamily="18" charset="0"/>
                <a:cs typeface="Times New Roman" panose="02020603050405020304" pitchFamily="18" charset="0"/>
              </a:rPr>
              <a:t>,</a:t>
            </a:r>
            <a:r>
              <a:rPr lang="zh-CN" altLang="en-US" sz="2400">
                <a:solidFill>
                  <a:srgbClr val="1B1C20"/>
                </a:solidFill>
                <a:latin typeface="Times New Roman" panose="02020603050405020304" pitchFamily="18" charset="0"/>
                <a:cs typeface="Times New Roman" panose="02020603050405020304" pitchFamily="18" charset="0"/>
              </a:rPr>
              <a:t>不少服务器的配置可能不支持此方法</a:t>
            </a:r>
            <a:r>
              <a:rPr lang="en-US" altLang="zh-CN" sz="2400">
                <a:solidFill>
                  <a:srgbClr val="1B1C20"/>
                </a:solidFill>
                <a:latin typeface="Times New Roman" panose="02020603050405020304" pitchFamily="18" charset="0"/>
                <a:cs typeface="Times New Roman" panose="02020603050405020304" pitchFamily="18" charset="0"/>
              </a:rPr>
              <a:t>.</a:t>
            </a:r>
          </a:p>
          <a:p>
            <a:r>
              <a:rPr lang="zh-CN" altLang="en-US" sz="2400">
                <a:solidFill>
                  <a:srgbClr val="1B1C20"/>
                </a:solidFill>
                <a:latin typeface="Times New Roman" panose="02020603050405020304" pitchFamily="18" charset="0"/>
                <a:cs typeface="Times New Roman" panose="02020603050405020304" pitchFamily="18" charset="0"/>
              </a:rPr>
              <a:t>通常要求完成身份认证才支持</a:t>
            </a:r>
            <a:r>
              <a:rPr lang="en-US" altLang="zh-CN" sz="2400">
                <a:solidFill>
                  <a:srgbClr val="1B1C20"/>
                </a:solidFill>
                <a:latin typeface="Times New Roman" panose="02020603050405020304" pitchFamily="18" charset="0"/>
                <a:cs typeface="Times New Roman" panose="02020603050405020304" pitchFamily="18" charset="0"/>
              </a:rPr>
              <a:t>.  </a:t>
            </a:r>
          </a:p>
          <a:p>
            <a:r>
              <a:rPr lang="zh-CN" altLang="en-US" sz="2400">
                <a:solidFill>
                  <a:srgbClr val="1B1C20"/>
                </a:solidFill>
                <a:latin typeface="Times New Roman" panose="02020603050405020304" pitchFamily="18" charset="0"/>
                <a:cs typeface="Times New Roman" panose="02020603050405020304" pitchFamily="18" charset="0"/>
              </a:rPr>
              <a:t>典型的</a:t>
            </a:r>
            <a:r>
              <a:rPr lang="en-US" altLang="zh-CN" sz="2400">
                <a:solidFill>
                  <a:srgbClr val="1B1C20"/>
                </a:solidFill>
                <a:latin typeface="Times New Roman" panose="02020603050405020304" pitchFamily="18" charset="0"/>
                <a:cs typeface="Times New Roman" panose="02020603050405020304" pitchFamily="18" charset="0"/>
              </a:rPr>
              <a:t>DELETE</a:t>
            </a:r>
            <a:r>
              <a:rPr lang="zh-CN" altLang="en-US" sz="2400">
                <a:solidFill>
                  <a:srgbClr val="1B1C20"/>
                </a:solidFill>
                <a:latin typeface="Times New Roman" panose="02020603050405020304" pitchFamily="18" charset="0"/>
                <a:cs typeface="Times New Roman" panose="02020603050405020304" pitchFamily="18" charset="0"/>
              </a:rPr>
              <a:t>请求：</a:t>
            </a:r>
            <a:endParaRPr lang="en-US" altLang="zh-CN" sz="2400">
              <a:solidFill>
                <a:srgbClr val="1B1C20"/>
              </a:solidFill>
              <a:latin typeface="Times New Roman" panose="02020603050405020304" pitchFamily="18" charset="0"/>
              <a:cs typeface="Times New Roman" panose="02020603050405020304" pitchFamily="18" charset="0"/>
            </a:endParaRPr>
          </a:p>
          <a:p>
            <a:pPr marL="400050" lvl="1" indent="0">
              <a:buNone/>
            </a:pPr>
            <a:r>
              <a:rPr lang="en-US" altLang="zh-CN" sz="2400">
                <a:solidFill>
                  <a:schemeClr val="tx2"/>
                </a:solidFill>
                <a:latin typeface="Times New Roman" panose="02020603050405020304" pitchFamily="18" charset="0"/>
                <a:cs typeface="Times New Roman" panose="02020603050405020304" pitchFamily="18" charset="0"/>
              </a:rPr>
              <a:t>DELETE /javafaq/2008march.html HTTP/1.1</a:t>
            </a:r>
          </a:p>
          <a:p>
            <a:pPr marL="400050" lvl="1" indent="0">
              <a:buNone/>
            </a:pPr>
            <a:r>
              <a:rPr lang="en-US" altLang="zh-CN" sz="2400">
                <a:solidFill>
                  <a:schemeClr val="tx2"/>
                </a:solidFill>
                <a:latin typeface="Times New Roman" panose="02020603050405020304" pitchFamily="18" charset="0"/>
                <a:cs typeface="Times New Roman" panose="02020603050405020304" pitchFamily="18" charset="0"/>
              </a:rPr>
              <a:t>Host: www.ibiblio.org</a:t>
            </a:r>
          </a:p>
          <a:p>
            <a:pPr marL="400050" lvl="1" indent="0">
              <a:buNone/>
            </a:pPr>
            <a:r>
              <a:rPr lang="en-US" altLang="zh-CN" sz="2400">
                <a:solidFill>
                  <a:schemeClr val="tx2"/>
                </a:solidFill>
                <a:latin typeface="Times New Roman" panose="02020603050405020304" pitchFamily="18" charset="0"/>
                <a:cs typeface="Times New Roman" panose="02020603050405020304" pitchFamily="18" charset="0"/>
              </a:rPr>
              <a:t>Accept: text/html, image/gif, image/jpeg, *; q=.2, */*; q=.2</a:t>
            </a:r>
          </a:p>
          <a:p>
            <a:pPr marL="400050" lvl="1" indent="0">
              <a:buNone/>
            </a:pPr>
            <a:r>
              <a:rPr lang="en-US" altLang="zh-CN" sz="2400">
                <a:solidFill>
                  <a:schemeClr val="tx2"/>
                </a:solidFill>
                <a:latin typeface="Times New Roman" panose="02020603050405020304" pitchFamily="18" charset="0"/>
                <a:cs typeface="Times New Roman" panose="02020603050405020304" pitchFamily="18" charset="0"/>
              </a:rPr>
              <a:t>Connection: close</a:t>
            </a:r>
          </a:p>
          <a:p>
            <a:endParaRPr lang="en-US" altLang="zh-CN" sz="2400"/>
          </a:p>
          <a:p>
            <a:endParaRPr lang="zh-CN" altLang="en-US" sz="24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
            <a:extLst>
              <a:ext uri="{FF2B5EF4-FFF2-40B4-BE49-F238E27FC236}">
                <a16:creationId xmlns:a16="http://schemas.microsoft.com/office/drawing/2014/main" id="{3A8C739B-1DC6-4C01-90FA-8C772BBC8890}"/>
              </a:ext>
            </a:extLst>
          </p:cNvPr>
          <p:cNvSpPr>
            <a:spLocks noGrp="1"/>
          </p:cNvSpPr>
          <p:nvPr>
            <p:ph type="title"/>
          </p:nvPr>
        </p:nvSpPr>
        <p:spPr>
          <a:xfrm>
            <a:off x="1530350" y="58738"/>
            <a:ext cx="8540750" cy="609600"/>
          </a:xfrm>
        </p:spPr>
        <p:txBody>
          <a:bodyPr/>
          <a:lstStyle/>
          <a:p>
            <a:pPr algn="l"/>
            <a:r>
              <a:rPr lang="zh-CN" altLang="en-US" sz="3200"/>
              <a:t>对服务器</a:t>
            </a:r>
            <a:r>
              <a:rPr lang="en-US" altLang="zh-CN" sz="3200"/>
              <a:t>DELETE</a:t>
            </a:r>
            <a:r>
              <a:rPr lang="zh-CN" altLang="en-US" sz="3200"/>
              <a:t>的响应</a:t>
            </a:r>
          </a:p>
        </p:txBody>
      </p:sp>
      <p:sp>
        <p:nvSpPr>
          <p:cNvPr id="110595" name="内容占位符 2">
            <a:extLst>
              <a:ext uri="{FF2B5EF4-FFF2-40B4-BE49-F238E27FC236}">
                <a16:creationId xmlns:a16="http://schemas.microsoft.com/office/drawing/2014/main" id="{AF345587-5FC1-4B46-ADB1-AAE88D9753E3}"/>
              </a:ext>
            </a:extLst>
          </p:cNvPr>
          <p:cNvSpPr>
            <a:spLocks noGrp="1"/>
          </p:cNvSpPr>
          <p:nvPr>
            <p:ph idx="1"/>
          </p:nvPr>
        </p:nvSpPr>
        <p:spPr>
          <a:xfrm>
            <a:off x="228600" y="738188"/>
            <a:ext cx="11734799" cy="1471612"/>
          </a:xfrm>
        </p:spPr>
        <p:txBody>
          <a:bodyPr/>
          <a:lstStyle/>
          <a:p>
            <a:r>
              <a:rPr lang="zh-CN" altLang="en-US" sz="2000" dirty="0">
                <a:solidFill>
                  <a:srgbClr val="1B1C20"/>
                </a:solidFill>
                <a:latin typeface="Times New Roman" panose="02020603050405020304" pitchFamily="18" charset="0"/>
                <a:cs typeface="Times New Roman" panose="02020603050405020304" pitchFamily="18" charset="0"/>
              </a:rPr>
              <a:t>服务器可以拒绝此请求，或要求提供身份认证。</a:t>
            </a:r>
            <a:endParaRPr lang="en-US" altLang="zh-CN" sz="2000" dirty="0">
              <a:solidFill>
                <a:srgbClr val="1B1C20"/>
              </a:solidFill>
              <a:latin typeface="Times New Roman" panose="02020603050405020304" pitchFamily="18" charset="0"/>
              <a:cs typeface="Times New Roman" panose="02020603050405020304" pitchFamily="18" charset="0"/>
            </a:endParaRPr>
          </a:p>
          <a:p>
            <a:r>
              <a:rPr lang="zh-CN" altLang="en-US" sz="2000" dirty="0">
                <a:solidFill>
                  <a:srgbClr val="1B1C20"/>
                </a:solidFill>
                <a:latin typeface="Times New Roman" panose="02020603050405020304" pitchFamily="18" charset="0"/>
                <a:cs typeface="Times New Roman" panose="02020603050405020304" pitchFamily="18" charset="0"/>
              </a:rPr>
              <a:t>若接受请求，如何响应删除取决于服务器厂商的实现细节，可能会删除文件、或将文件移到回收站中、或将文件标记为不可读。</a:t>
            </a:r>
            <a:endParaRPr lang="en-US" altLang="zh-CN" sz="2000" dirty="0">
              <a:solidFill>
                <a:srgbClr val="1B1C20"/>
              </a:solidFill>
              <a:latin typeface="Times New Roman" panose="02020603050405020304" pitchFamily="18" charset="0"/>
              <a:cs typeface="Times New Roman" panose="02020603050405020304" pitchFamily="18" charset="0"/>
            </a:endParaRPr>
          </a:p>
          <a:p>
            <a:r>
              <a:rPr lang="zh-CN" altLang="en-US" sz="2000" dirty="0">
                <a:solidFill>
                  <a:srgbClr val="1B1C20"/>
                </a:solidFill>
                <a:latin typeface="Times New Roman" panose="02020603050405020304" pitchFamily="18" charset="0"/>
                <a:cs typeface="Times New Roman" panose="02020603050405020304" pitchFamily="18" charset="0"/>
              </a:rPr>
              <a:t>拒绝请求响应：</a:t>
            </a:r>
            <a:endParaRPr lang="en-US" altLang="zh-CN" sz="2000" dirty="0">
              <a:solidFill>
                <a:srgbClr val="1B1C20"/>
              </a:solidFill>
              <a:latin typeface="Times New Roman" panose="02020603050405020304" pitchFamily="18" charset="0"/>
              <a:cs typeface="Times New Roman" panose="02020603050405020304" pitchFamily="18" charset="0"/>
            </a:endParaRPr>
          </a:p>
          <a:p>
            <a:endParaRPr lang="en-US" altLang="zh-CN" sz="2400" dirty="0"/>
          </a:p>
          <a:p>
            <a:endParaRPr lang="zh-CN" altLang="en-US" sz="2400" dirty="0"/>
          </a:p>
        </p:txBody>
      </p:sp>
      <p:sp>
        <p:nvSpPr>
          <p:cNvPr id="110596" name="矩形 4">
            <a:extLst>
              <a:ext uri="{FF2B5EF4-FFF2-40B4-BE49-F238E27FC236}">
                <a16:creationId xmlns:a16="http://schemas.microsoft.com/office/drawing/2014/main" id="{C75CEAE0-0C51-4250-BE01-512C109E25A9}"/>
              </a:ext>
            </a:extLst>
          </p:cNvPr>
          <p:cNvSpPr>
            <a:spLocks noChangeArrowheads="1"/>
          </p:cNvSpPr>
          <p:nvPr/>
        </p:nvSpPr>
        <p:spPr bwMode="auto">
          <a:xfrm>
            <a:off x="1814514" y="2362201"/>
            <a:ext cx="8853487"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HTTP/1.1 405 Method Not Allowed</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Date: Sat, 04 May 2013 13:22:12 GMT</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Server: Apache</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Allow: GET,HEAD,POST,OPTIONS,TRACE</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Content-Length: 334</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Connection: close</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Content-Type: text/html; charset=iso-8859-1</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&lt;!DOCTYPE HTML PUBLIC "-//IETF//DTD HTML 2.0//EN"&gt;</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&lt;html&gt;</a:t>
            </a: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	&lt;head&gt;</a:t>
            </a: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		&lt;title&gt;405 Method Not Allowed&lt;/title&gt;</a:t>
            </a: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	&lt;/head&gt;&lt;body&gt;</a:t>
            </a: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   		… </a:t>
            </a: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	&lt;/body&gt;</a:t>
            </a:r>
          </a:p>
          <a:p>
            <a:pPr>
              <a:spcBef>
                <a:spcPct val="0"/>
              </a:spcBef>
              <a:buClrTx/>
              <a:buSzTx/>
              <a:buFontTx/>
              <a:buNone/>
            </a:pPr>
            <a:r>
              <a:rPr lang="en-US" altLang="zh-CN" sz="1800" dirty="0">
                <a:solidFill>
                  <a:srgbClr val="1B1C20"/>
                </a:solidFill>
                <a:latin typeface="Times New Roman" panose="02020603050405020304" pitchFamily="18" charset="0"/>
                <a:cs typeface="Times New Roman" panose="02020603050405020304" pitchFamily="18" charset="0"/>
              </a:rPr>
              <a:t>&lt;/html&gt;</a:t>
            </a:r>
            <a:endParaRPr lang="en-US" altLang="zh-CN"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a:extLst>
              <a:ext uri="{FF2B5EF4-FFF2-40B4-BE49-F238E27FC236}">
                <a16:creationId xmlns:a16="http://schemas.microsoft.com/office/drawing/2014/main" id="{3AE4A16A-AC80-464D-9E79-F8AA1D78CC5C}"/>
              </a:ext>
            </a:extLst>
          </p:cNvPr>
          <p:cNvSpPr>
            <a:spLocks noGrp="1"/>
          </p:cNvSpPr>
          <p:nvPr>
            <p:ph type="title"/>
          </p:nvPr>
        </p:nvSpPr>
        <p:spPr>
          <a:xfrm>
            <a:off x="1524000" y="0"/>
            <a:ext cx="8540750" cy="762000"/>
          </a:xfrm>
        </p:spPr>
        <p:txBody>
          <a:bodyPr/>
          <a:lstStyle/>
          <a:p>
            <a:pPr algn="l"/>
            <a:r>
              <a:rPr lang="en-US" altLang="zh-CN" sz="3200"/>
              <a:t>PUT</a:t>
            </a:r>
            <a:r>
              <a:rPr lang="zh-CN" altLang="en-US" sz="3200"/>
              <a:t>方法</a:t>
            </a:r>
          </a:p>
        </p:txBody>
      </p:sp>
      <p:sp>
        <p:nvSpPr>
          <p:cNvPr id="68611" name="内容占位符 2">
            <a:extLst>
              <a:ext uri="{FF2B5EF4-FFF2-40B4-BE49-F238E27FC236}">
                <a16:creationId xmlns:a16="http://schemas.microsoft.com/office/drawing/2014/main" id="{009D53D9-37B9-4220-9600-4B764FC49C26}"/>
              </a:ext>
            </a:extLst>
          </p:cNvPr>
          <p:cNvSpPr>
            <a:spLocks noGrp="1"/>
          </p:cNvSpPr>
          <p:nvPr>
            <p:ph idx="1"/>
          </p:nvPr>
        </p:nvSpPr>
        <p:spPr>
          <a:xfrm>
            <a:off x="228600" y="762000"/>
            <a:ext cx="11887200" cy="5791200"/>
          </a:xfrm>
        </p:spPr>
        <p:txBody>
          <a:bodyPr/>
          <a:lstStyle/>
          <a:p>
            <a:pPr>
              <a:buFont typeface="Wingdings" panose="05000000000000000000" pitchFamily="2" charset="2"/>
              <a:buChar char="n"/>
            </a:pPr>
            <a:r>
              <a:rPr lang="zh-CN" altLang="en-US" sz="2000" dirty="0">
                <a:solidFill>
                  <a:srgbClr val="1B1C20"/>
                </a:solidFill>
                <a:latin typeface="Times New Roman" panose="02020603050405020304" pitchFamily="18" charset="0"/>
                <a:cs typeface="Times New Roman" panose="02020603050405020304" pitchFamily="18" charset="0"/>
              </a:rPr>
              <a:t>此方法允许客户端</a:t>
            </a:r>
            <a:r>
              <a:rPr lang="zh-CN" altLang="en-US" sz="2000" dirty="0">
                <a:solidFill>
                  <a:srgbClr val="FF0000"/>
                </a:solidFill>
                <a:latin typeface="Times New Roman" panose="02020603050405020304" pitchFamily="18" charset="0"/>
                <a:cs typeface="Times New Roman" panose="02020603050405020304" pitchFamily="18" charset="0"/>
              </a:rPr>
              <a:t>将文档放在网站的抽象层次结构中</a:t>
            </a:r>
            <a:r>
              <a:rPr lang="zh-CN" altLang="en-US" sz="2000" dirty="0">
                <a:solidFill>
                  <a:srgbClr val="1B1C20"/>
                </a:solidFill>
                <a:latin typeface="Times New Roman" panose="02020603050405020304" pitchFamily="18" charset="0"/>
                <a:cs typeface="Times New Roman" panose="02020603050405020304" pitchFamily="18" charset="0"/>
              </a:rPr>
              <a:t>，但不需要知道网站如何映射到实际的本地文件系统。</a:t>
            </a:r>
            <a:endParaRPr lang="en-US" altLang="zh-CN" sz="2000" dirty="0">
              <a:solidFill>
                <a:srgbClr val="1B1C2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n"/>
            </a:pPr>
            <a:r>
              <a:rPr lang="en-US" altLang="zh-CN" sz="2000" dirty="0">
                <a:solidFill>
                  <a:srgbClr val="1B1C20"/>
                </a:solidFill>
                <a:latin typeface="Times New Roman" panose="02020603050405020304" pitchFamily="18" charset="0"/>
                <a:cs typeface="Times New Roman" panose="02020603050405020304" pitchFamily="18" charset="0"/>
              </a:rPr>
              <a:t>PUT</a:t>
            </a:r>
            <a:r>
              <a:rPr lang="zh-CN" altLang="en-US" sz="2000" dirty="0">
                <a:solidFill>
                  <a:srgbClr val="1B1C20"/>
                </a:solidFill>
                <a:latin typeface="Times New Roman" panose="02020603050405020304" pitchFamily="18" charset="0"/>
                <a:cs typeface="Times New Roman" panose="02020603050405020304" pitchFamily="18" charset="0"/>
              </a:rPr>
              <a:t>方法的使用通常需要身份认证</a:t>
            </a:r>
            <a:r>
              <a:rPr lang="en-US" altLang="zh-CN" sz="2000" dirty="0">
                <a:solidFill>
                  <a:srgbClr val="1B1C20"/>
                </a:solidFill>
                <a:latin typeface="Times New Roman" panose="02020603050405020304" pitchFamily="18" charset="0"/>
                <a:cs typeface="Times New Roman" panose="02020603050405020304" pitchFamily="18" charset="0"/>
              </a:rPr>
              <a:t>,</a:t>
            </a:r>
            <a:r>
              <a:rPr lang="zh-CN" altLang="en-US" sz="2000" dirty="0">
                <a:solidFill>
                  <a:srgbClr val="1B1C20"/>
                </a:solidFill>
                <a:latin typeface="Times New Roman" panose="02020603050405020304" pitchFamily="18" charset="0"/>
                <a:cs typeface="Times New Roman" panose="02020603050405020304" pitchFamily="18" charset="0"/>
              </a:rPr>
              <a:t>且服务器必须特别配置支持</a:t>
            </a:r>
            <a:r>
              <a:rPr lang="en-US" altLang="zh-CN" sz="2000" dirty="0">
                <a:solidFill>
                  <a:srgbClr val="1B1C20"/>
                </a:solidFill>
                <a:latin typeface="Times New Roman" panose="02020603050405020304" pitchFamily="18" charset="0"/>
                <a:cs typeface="Times New Roman" panose="02020603050405020304" pitchFamily="18" charset="0"/>
              </a:rPr>
              <a:t>PUT</a:t>
            </a:r>
            <a:r>
              <a:rPr lang="zh-CN" altLang="en-US" sz="2000" dirty="0">
                <a:solidFill>
                  <a:srgbClr val="1B1C20"/>
                </a:solidFill>
                <a:latin typeface="Times New Roman" panose="02020603050405020304" pitchFamily="18" charset="0"/>
                <a:cs typeface="Times New Roman" panose="02020603050405020304" pitchFamily="18" charset="0"/>
              </a:rPr>
              <a:t>方法，多数服务器不直接支持</a:t>
            </a:r>
            <a:r>
              <a:rPr lang="en-US" altLang="zh-CN" sz="2000" dirty="0">
                <a:solidFill>
                  <a:srgbClr val="1B1C20"/>
                </a:solidFill>
                <a:latin typeface="Times New Roman" panose="02020603050405020304" pitchFamily="18" charset="0"/>
                <a:cs typeface="Times New Roman" panose="02020603050405020304" pitchFamily="18" charset="0"/>
              </a:rPr>
              <a:t>PUT</a:t>
            </a:r>
            <a:r>
              <a:rPr lang="zh-CN" altLang="en-US" sz="2000" dirty="0">
                <a:solidFill>
                  <a:srgbClr val="1B1C20"/>
                </a:solidFill>
                <a:latin typeface="Times New Roman" panose="02020603050405020304" pitchFamily="18" charset="0"/>
                <a:cs typeface="Times New Roman" panose="02020603050405020304" pitchFamily="18" charset="0"/>
              </a:rPr>
              <a:t>方法</a:t>
            </a:r>
            <a:endParaRPr lang="en-US" altLang="zh-CN" sz="2000" dirty="0">
              <a:solidFill>
                <a:srgbClr val="1B1C2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n"/>
            </a:pPr>
            <a:r>
              <a:rPr lang="zh-CN" altLang="en-US" sz="2000" dirty="0">
                <a:solidFill>
                  <a:srgbClr val="1B1C20"/>
                </a:solidFill>
                <a:latin typeface="Times New Roman" panose="02020603050405020304" pitchFamily="18" charset="0"/>
                <a:cs typeface="Times New Roman" panose="02020603050405020304" pitchFamily="18" charset="0"/>
              </a:rPr>
              <a:t>一个编辑器如何用</a:t>
            </a:r>
            <a:r>
              <a:rPr lang="en-US" altLang="zh-CN" sz="2000" dirty="0">
                <a:solidFill>
                  <a:srgbClr val="1B1C20"/>
                </a:solidFill>
                <a:latin typeface="Times New Roman" panose="02020603050405020304" pitchFamily="18" charset="0"/>
                <a:cs typeface="Times New Roman" panose="02020603050405020304" pitchFamily="18" charset="0"/>
              </a:rPr>
              <a:t>PUT</a:t>
            </a:r>
            <a:r>
              <a:rPr lang="zh-CN" altLang="en-US" sz="2000" dirty="0">
                <a:solidFill>
                  <a:srgbClr val="1B1C20"/>
                </a:solidFill>
                <a:latin typeface="Times New Roman" panose="02020603050405020304" pitchFamily="18" charset="0"/>
                <a:cs typeface="Times New Roman" panose="02020603050405020304" pitchFamily="18" charset="0"/>
              </a:rPr>
              <a:t>将一个文件存放在</a:t>
            </a:r>
            <a:r>
              <a:rPr lang="en-US" altLang="zh-CN" sz="2000" dirty="0">
                <a:solidFill>
                  <a:srgbClr val="1B1C20"/>
                </a:solidFill>
                <a:latin typeface="Times New Roman" panose="02020603050405020304" pitchFamily="18" charset="0"/>
                <a:cs typeface="Times New Roman" panose="02020603050405020304" pitchFamily="18" charset="0"/>
              </a:rPr>
              <a:t>Web</a:t>
            </a:r>
            <a:r>
              <a:rPr lang="zh-CN" altLang="en-US" sz="2000" dirty="0">
                <a:solidFill>
                  <a:srgbClr val="1B1C20"/>
                </a:solidFill>
                <a:latin typeface="Times New Roman" panose="02020603050405020304" pitchFamily="18" charset="0"/>
                <a:cs typeface="Times New Roman" panose="02020603050405020304" pitchFamily="18" charset="0"/>
              </a:rPr>
              <a:t>服务器上：</a:t>
            </a:r>
            <a:endParaRPr lang="en-US" altLang="zh-CN" sz="2000" dirty="0">
              <a:solidFill>
                <a:srgbClr val="1B1C2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800" dirty="0">
                <a:solidFill>
                  <a:srgbClr val="1B1C20"/>
                </a:solidFill>
                <a:latin typeface="Times New Roman" panose="02020603050405020304" pitchFamily="18" charset="0"/>
                <a:cs typeface="Times New Roman" panose="02020603050405020304" pitchFamily="18" charset="0"/>
              </a:rPr>
              <a:t>PUT /blog/wp-</a:t>
            </a:r>
            <a:r>
              <a:rPr lang="en-US" altLang="zh-CN" sz="1800" dirty="0" err="1">
                <a:solidFill>
                  <a:srgbClr val="1B1C20"/>
                </a:solidFill>
                <a:latin typeface="Times New Roman" panose="02020603050405020304" pitchFamily="18" charset="0"/>
                <a:cs typeface="Times New Roman" panose="02020603050405020304" pitchFamily="18" charset="0"/>
              </a:rPr>
              <a:t>app.php</a:t>
            </a:r>
            <a:r>
              <a:rPr lang="en-US" altLang="zh-CN" sz="1800" dirty="0">
                <a:solidFill>
                  <a:srgbClr val="1B1C20"/>
                </a:solidFill>
                <a:latin typeface="Times New Roman" panose="02020603050405020304" pitchFamily="18" charset="0"/>
                <a:cs typeface="Times New Roman" panose="02020603050405020304" pitchFamily="18" charset="0"/>
              </a:rPr>
              <a:t>/service/pomdoros.html HTTP/1.1</a:t>
            </a:r>
            <a:endParaRPr lang="en-US" altLang="zh-CN" sz="1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800" dirty="0">
                <a:solidFill>
                  <a:srgbClr val="1B1C20"/>
                </a:solidFill>
                <a:latin typeface="Times New Roman" panose="02020603050405020304" pitchFamily="18" charset="0"/>
                <a:cs typeface="Times New Roman" panose="02020603050405020304" pitchFamily="18" charset="0"/>
              </a:rPr>
              <a:t>Host: www.elharo.com</a:t>
            </a:r>
            <a:endParaRPr lang="en-US" altLang="zh-CN" sz="1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800" dirty="0">
                <a:solidFill>
                  <a:srgbClr val="1B1C20"/>
                </a:solidFill>
                <a:latin typeface="Times New Roman" panose="02020603050405020304" pitchFamily="18" charset="0"/>
                <a:cs typeface="Times New Roman" panose="02020603050405020304" pitchFamily="18" charset="0"/>
              </a:rPr>
              <a:t>Authorization: Basic ZGFmZnk6c2VjZXJldA==</a:t>
            </a:r>
            <a:endParaRPr lang="en-US" altLang="zh-CN" sz="1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800" dirty="0">
                <a:solidFill>
                  <a:srgbClr val="1B1C20"/>
                </a:solidFill>
                <a:latin typeface="Times New Roman" panose="02020603050405020304" pitchFamily="18" charset="0"/>
                <a:cs typeface="Times New Roman" panose="02020603050405020304" pitchFamily="18" charset="0"/>
              </a:rPr>
              <a:t>Content-Type: application/</a:t>
            </a:r>
            <a:r>
              <a:rPr lang="en-US" altLang="zh-CN" sz="1800" dirty="0" err="1">
                <a:solidFill>
                  <a:srgbClr val="1B1C20"/>
                </a:solidFill>
                <a:latin typeface="Times New Roman" panose="02020603050405020304" pitchFamily="18" charset="0"/>
                <a:cs typeface="Times New Roman" panose="02020603050405020304" pitchFamily="18" charset="0"/>
              </a:rPr>
              <a:t>atom+xml;type</a:t>
            </a:r>
            <a:r>
              <a:rPr lang="en-US" altLang="zh-CN" sz="1800" dirty="0">
                <a:solidFill>
                  <a:srgbClr val="1B1C20"/>
                </a:solidFill>
                <a:latin typeface="Times New Roman" panose="02020603050405020304" pitchFamily="18" charset="0"/>
                <a:cs typeface="Times New Roman" panose="02020603050405020304" pitchFamily="18" charset="0"/>
              </a:rPr>
              <a:t>=entry</a:t>
            </a:r>
            <a:endParaRPr lang="en-US" altLang="zh-CN" sz="1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800" dirty="0">
                <a:solidFill>
                  <a:srgbClr val="1B1C20"/>
                </a:solidFill>
                <a:latin typeface="Times New Roman" panose="02020603050405020304" pitchFamily="18" charset="0"/>
                <a:cs typeface="Times New Roman" panose="02020603050405020304" pitchFamily="18" charset="0"/>
              </a:rPr>
              <a:t>Content-Length: 329</a:t>
            </a:r>
            <a:endParaRPr lang="en-US" altLang="zh-CN" sz="1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800" dirty="0">
                <a:solidFill>
                  <a:srgbClr val="1B1C20"/>
                </a:solidFill>
                <a:latin typeface="Times New Roman" panose="02020603050405020304" pitchFamily="18" charset="0"/>
                <a:cs typeface="Times New Roman" panose="02020603050405020304" pitchFamily="18" charset="0"/>
              </a:rPr>
              <a:t>If-Match: "e180ee84f0671b1"</a:t>
            </a:r>
            <a:endParaRPr lang="en-US" altLang="zh-CN" sz="1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600" dirty="0">
                <a:solidFill>
                  <a:srgbClr val="1B1C20"/>
                </a:solidFill>
                <a:latin typeface="Times New Roman" panose="02020603050405020304" pitchFamily="18" charset="0"/>
                <a:cs typeface="Times New Roman" panose="02020603050405020304" pitchFamily="18" charset="0"/>
              </a:rPr>
              <a:t>&lt;?xml version="1.0" ?&gt;</a:t>
            </a:r>
            <a:endParaRPr lang="en-US" altLang="zh-CN" sz="16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600" dirty="0">
                <a:solidFill>
                  <a:srgbClr val="1B1C20"/>
                </a:solidFill>
                <a:latin typeface="Times New Roman" panose="02020603050405020304" pitchFamily="18" charset="0"/>
                <a:cs typeface="Times New Roman" panose="02020603050405020304" pitchFamily="18" charset="0"/>
              </a:rPr>
              <a:t>&lt;entry </a:t>
            </a:r>
            <a:r>
              <a:rPr lang="en-US" altLang="zh-CN" sz="1600" dirty="0" err="1">
                <a:solidFill>
                  <a:srgbClr val="1B1C20"/>
                </a:solidFill>
                <a:latin typeface="Times New Roman" panose="02020603050405020304" pitchFamily="18" charset="0"/>
                <a:cs typeface="Times New Roman" panose="02020603050405020304" pitchFamily="18" charset="0"/>
              </a:rPr>
              <a:t>xmlns</a:t>
            </a:r>
            <a:r>
              <a:rPr lang="en-US" altLang="zh-CN" sz="1600" dirty="0">
                <a:solidFill>
                  <a:srgbClr val="1B1C20"/>
                </a:solidFill>
                <a:latin typeface="Times New Roman" panose="02020603050405020304" pitchFamily="18" charset="0"/>
                <a:cs typeface="Times New Roman" panose="02020603050405020304" pitchFamily="18" charset="0"/>
              </a:rPr>
              <a:t>="http://www.w3.org/2005/Atom"&gt;</a:t>
            </a:r>
            <a:endParaRPr lang="en-US" altLang="zh-CN" sz="16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600" dirty="0">
                <a:solidFill>
                  <a:srgbClr val="1B1C20"/>
                </a:solidFill>
                <a:latin typeface="Times New Roman" panose="02020603050405020304" pitchFamily="18" charset="0"/>
                <a:cs typeface="Times New Roman" panose="02020603050405020304" pitchFamily="18" charset="0"/>
              </a:rPr>
              <a:t>	&lt;title&gt;The Power of </a:t>
            </a:r>
            <a:r>
              <a:rPr lang="en-US" altLang="zh-CN" sz="1600" dirty="0" err="1">
                <a:solidFill>
                  <a:srgbClr val="1B1C20"/>
                </a:solidFill>
                <a:latin typeface="Times New Roman" panose="02020603050405020304" pitchFamily="18" charset="0"/>
                <a:cs typeface="Times New Roman" panose="02020603050405020304" pitchFamily="18" charset="0"/>
              </a:rPr>
              <a:t>Pomodoros</a:t>
            </a:r>
            <a:r>
              <a:rPr lang="en-US" altLang="zh-CN" sz="1600" dirty="0">
                <a:solidFill>
                  <a:srgbClr val="1B1C20"/>
                </a:solidFill>
                <a:latin typeface="Times New Roman" panose="02020603050405020304" pitchFamily="18" charset="0"/>
                <a:cs typeface="Times New Roman" panose="02020603050405020304" pitchFamily="18" charset="0"/>
              </a:rPr>
              <a:t>&lt;/title&gt;</a:t>
            </a:r>
            <a:endParaRPr lang="en-US" altLang="zh-CN" sz="16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600" dirty="0">
                <a:solidFill>
                  <a:srgbClr val="1B1C20"/>
                </a:solidFill>
                <a:latin typeface="Times New Roman" panose="02020603050405020304" pitchFamily="18" charset="0"/>
                <a:cs typeface="Times New Roman" panose="02020603050405020304" pitchFamily="18" charset="0"/>
              </a:rPr>
              <a:t>	&lt;id&gt;urn:uuid:1225c695-cfb8-4ebb-aaaa-80da344efa6a&lt;/id&gt;</a:t>
            </a:r>
            <a:endParaRPr lang="en-US" altLang="zh-CN" sz="16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600" dirty="0">
                <a:solidFill>
                  <a:srgbClr val="1B1C20"/>
                </a:solidFill>
                <a:latin typeface="Times New Roman" panose="02020603050405020304" pitchFamily="18" charset="0"/>
                <a:cs typeface="Times New Roman" panose="02020603050405020304" pitchFamily="18" charset="0"/>
              </a:rPr>
              <a:t>	&lt;updated&gt;2013-02-23T19:22:11Z&lt;/updated&gt;</a:t>
            </a:r>
            <a:endParaRPr lang="en-US" altLang="zh-CN" sz="16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altLang="zh-CN" sz="1600" dirty="0">
                <a:solidFill>
                  <a:srgbClr val="1B1C20"/>
                </a:solidFill>
                <a:latin typeface="Times New Roman" panose="02020603050405020304" pitchFamily="18" charset="0"/>
                <a:cs typeface="Times New Roman" panose="02020603050405020304" pitchFamily="18" charset="0"/>
              </a:rPr>
              <a:t>	&lt;author&gt;&lt;name&gt;</a:t>
            </a:r>
            <a:r>
              <a:rPr lang="en-US" altLang="zh-CN" sz="1600" dirty="0" err="1">
                <a:solidFill>
                  <a:srgbClr val="1B1C20"/>
                </a:solidFill>
                <a:latin typeface="Times New Roman" panose="02020603050405020304" pitchFamily="18" charset="0"/>
                <a:cs typeface="Times New Roman" panose="02020603050405020304" pitchFamily="18" charset="0"/>
              </a:rPr>
              <a:t>Elliotte</a:t>
            </a:r>
            <a:r>
              <a:rPr lang="en-US" altLang="zh-CN" sz="1600" dirty="0">
                <a:solidFill>
                  <a:srgbClr val="1B1C20"/>
                </a:solidFill>
                <a:latin typeface="Times New Roman" panose="02020603050405020304" pitchFamily="18" charset="0"/>
                <a:cs typeface="Times New Roman" panose="02020603050405020304" pitchFamily="18" charset="0"/>
              </a:rPr>
              <a:t> Harold&lt;/name&gt;&lt;/author&gt; &lt;content&gt;Until recently…. &lt;/content&gt;</a:t>
            </a:r>
          </a:p>
          <a:p>
            <a:pPr>
              <a:buFont typeface="Wingdings 2" panose="05020102010507070707" pitchFamily="18" charset="2"/>
              <a:buNone/>
            </a:pPr>
            <a:r>
              <a:rPr lang="en-US" altLang="zh-CN" sz="1600" dirty="0">
                <a:solidFill>
                  <a:srgbClr val="1B1C20"/>
                </a:solidFill>
                <a:latin typeface="Times New Roman" panose="02020603050405020304" pitchFamily="18" charset="0"/>
                <a:cs typeface="Times New Roman" panose="02020603050405020304" pitchFamily="18" charset="0"/>
              </a:rPr>
              <a:t>&lt;/entry&gt;</a:t>
            </a:r>
          </a:p>
          <a:p>
            <a:pPr>
              <a:buFont typeface="Wingdings 2" panose="05020102010507070707" pitchFamily="18" charset="2"/>
              <a:buNone/>
            </a:pPr>
            <a:endParaRPr lang="en-US" altLang="zh-C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a:extLst>
              <a:ext uri="{FF2B5EF4-FFF2-40B4-BE49-F238E27FC236}">
                <a16:creationId xmlns:a16="http://schemas.microsoft.com/office/drawing/2014/main" id="{5FA6B965-CA04-449D-B1A3-6AB08B07BCF1}"/>
              </a:ext>
            </a:extLst>
          </p:cNvPr>
          <p:cNvSpPr>
            <a:spLocks noGrp="1"/>
          </p:cNvSpPr>
          <p:nvPr>
            <p:ph type="title"/>
          </p:nvPr>
        </p:nvSpPr>
        <p:spPr>
          <a:xfrm>
            <a:off x="1906588" y="76200"/>
            <a:ext cx="8540750" cy="609600"/>
          </a:xfrm>
        </p:spPr>
        <p:txBody>
          <a:bodyPr/>
          <a:lstStyle/>
          <a:p>
            <a:pPr algn="l"/>
            <a:r>
              <a:rPr lang="en-US" altLang="zh-CN" sz="3200"/>
              <a:t>OPTIONS</a:t>
            </a:r>
            <a:r>
              <a:rPr lang="zh-CN" altLang="en-US" sz="3200"/>
              <a:t>方法</a:t>
            </a:r>
          </a:p>
        </p:txBody>
      </p:sp>
      <p:sp>
        <p:nvSpPr>
          <p:cNvPr id="69635" name="内容占位符 2">
            <a:extLst>
              <a:ext uri="{FF2B5EF4-FFF2-40B4-BE49-F238E27FC236}">
                <a16:creationId xmlns:a16="http://schemas.microsoft.com/office/drawing/2014/main" id="{5A992D14-2F03-40C1-A0F0-4B9D68089DE6}"/>
              </a:ext>
            </a:extLst>
          </p:cNvPr>
          <p:cNvSpPr>
            <a:spLocks noGrp="1"/>
          </p:cNvSpPr>
          <p:nvPr>
            <p:ph idx="1"/>
          </p:nvPr>
        </p:nvSpPr>
        <p:spPr>
          <a:xfrm>
            <a:off x="228600" y="855664"/>
            <a:ext cx="11811000" cy="2822575"/>
          </a:xfrm>
        </p:spPr>
        <p:txBody>
          <a:bodyPr/>
          <a:lstStyle/>
          <a:p>
            <a:pPr>
              <a:buFont typeface="Wingdings" panose="05000000000000000000" pitchFamily="2" charset="2"/>
              <a:buChar char="n"/>
            </a:pPr>
            <a:r>
              <a:rPr lang="en-US" altLang="zh-CN" sz="2400" dirty="0">
                <a:solidFill>
                  <a:srgbClr val="1B1C20"/>
                </a:solidFill>
                <a:latin typeface="Times New Roman" panose="02020603050405020304" pitchFamily="18" charset="0"/>
                <a:cs typeface="Times New Roman" panose="02020603050405020304" pitchFamily="18" charset="0"/>
              </a:rPr>
              <a:t>OPTIONS</a:t>
            </a:r>
            <a:r>
              <a:rPr lang="zh-CN" altLang="en-US" sz="2400" dirty="0">
                <a:solidFill>
                  <a:srgbClr val="1B1C20"/>
                </a:solidFill>
                <a:latin typeface="Times New Roman" panose="02020603050405020304" pitchFamily="18" charset="0"/>
                <a:cs typeface="Times New Roman" panose="02020603050405020304" pitchFamily="18" charset="0"/>
              </a:rPr>
              <a:t>请求方法</a:t>
            </a:r>
            <a:r>
              <a:rPr lang="zh-CN" altLang="en-US" sz="2400" dirty="0">
                <a:solidFill>
                  <a:srgbClr val="FF0000"/>
                </a:solidFill>
                <a:latin typeface="Times New Roman" panose="02020603050405020304" pitchFamily="18" charset="0"/>
                <a:cs typeface="Times New Roman" panose="02020603050405020304" pitchFamily="18" charset="0"/>
              </a:rPr>
              <a:t>询问某个特定的</a:t>
            </a:r>
            <a:r>
              <a:rPr lang="en-US" altLang="zh-CN" sz="2400" dirty="0">
                <a:solidFill>
                  <a:srgbClr val="FF0000"/>
                </a:solidFill>
                <a:latin typeface="Times New Roman" panose="02020603050405020304" pitchFamily="18" charset="0"/>
                <a:cs typeface="Times New Roman" panose="02020603050405020304" pitchFamily="18" charset="0"/>
              </a:rPr>
              <a:t>URL</a:t>
            </a:r>
            <a:r>
              <a:rPr lang="zh-CN" altLang="en-US" sz="2400" dirty="0">
                <a:solidFill>
                  <a:srgbClr val="FF0000"/>
                </a:solidFill>
                <a:latin typeface="Times New Roman" panose="02020603050405020304" pitchFamily="18" charset="0"/>
                <a:cs typeface="Times New Roman" panose="02020603050405020304" pitchFamily="18" charset="0"/>
              </a:rPr>
              <a:t>支持哪些选项</a:t>
            </a:r>
            <a:endParaRPr lang="en-US" altLang="zh-CN" sz="240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n"/>
            </a:pPr>
            <a:r>
              <a:rPr lang="zh-CN" altLang="en-US" sz="2400" dirty="0">
                <a:solidFill>
                  <a:srgbClr val="1B1C20"/>
                </a:solidFill>
                <a:latin typeface="Times New Roman" panose="02020603050405020304" pitchFamily="18" charset="0"/>
                <a:cs typeface="Times New Roman" panose="02020603050405020304" pitchFamily="18" charset="0"/>
              </a:rPr>
              <a:t>如果请求的</a:t>
            </a:r>
            <a:r>
              <a:rPr lang="en-US" altLang="zh-CN" sz="2400" dirty="0">
                <a:solidFill>
                  <a:srgbClr val="1B1C20"/>
                </a:solidFill>
                <a:latin typeface="Times New Roman" panose="02020603050405020304" pitchFamily="18" charset="0"/>
                <a:cs typeface="Times New Roman" panose="02020603050405020304" pitchFamily="18" charset="0"/>
              </a:rPr>
              <a:t>URL</a:t>
            </a:r>
            <a:r>
              <a:rPr lang="zh-CN" altLang="en-US" sz="2400" dirty="0">
                <a:solidFill>
                  <a:srgbClr val="1B1C20"/>
                </a:solidFill>
                <a:latin typeface="Times New Roman" panose="02020603050405020304" pitchFamily="18" charset="0"/>
                <a:cs typeface="Times New Roman" panose="02020603050405020304" pitchFamily="18" charset="0"/>
              </a:rPr>
              <a:t>是星号</a:t>
            </a:r>
            <a:r>
              <a:rPr lang="en-US" altLang="zh-CN" sz="2400" dirty="0">
                <a:solidFill>
                  <a:srgbClr val="1B1C20"/>
                </a:solidFill>
                <a:latin typeface="Times New Roman" panose="02020603050405020304" pitchFamily="18" charset="0"/>
                <a:cs typeface="Times New Roman" panose="02020603050405020304" pitchFamily="18" charset="0"/>
              </a:rPr>
              <a:t>(</a:t>
            </a:r>
            <a:r>
              <a:rPr lang="zh-CN" altLang="en-US" sz="2400" dirty="0">
                <a:solidFill>
                  <a:srgbClr val="1B1C20"/>
                </a:solidFill>
                <a:latin typeface="Times New Roman" panose="02020603050405020304" pitchFamily="18" charset="0"/>
                <a:cs typeface="Times New Roman" panose="02020603050405020304" pitchFamily="18" charset="0"/>
              </a:rPr>
              <a:t>*</a:t>
            </a:r>
            <a:r>
              <a:rPr lang="en-US" altLang="zh-CN" sz="2400" dirty="0">
                <a:solidFill>
                  <a:srgbClr val="1B1C20"/>
                </a:solidFill>
                <a:latin typeface="Times New Roman" panose="02020603050405020304" pitchFamily="18" charset="0"/>
                <a:cs typeface="Times New Roman" panose="02020603050405020304" pitchFamily="18" charset="0"/>
              </a:rPr>
              <a:t>),</a:t>
            </a:r>
            <a:r>
              <a:rPr lang="zh-CN" altLang="en-US" sz="2400" dirty="0">
                <a:solidFill>
                  <a:srgbClr val="1B1C20"/>
                </a:solidFill>
                <a:latin typeface="Times New Roman" panose="02020603050405020304" pitchFamily="18" charset="0"/>
                <a:cs typeface="Times New Roman" panose="02020603050405020304" pitchFamily="18" charset="0"/>
              </a:rPr>
              <a:t>此请求将应用于整个服务器而不是服务器上的某个</a:t>
            </a:r>
            <a:r>
              <a:rPr lang="en-US" altLang="zh-CN" sz="2400" dirty="0">
                <a:solidFill>
                  <a:srgbClr val="1B1C20"/>
                </a:solidFill>
                <a:latin typeface="Times New Roman" panose="02020603050405020304" pitchFamily="18" charset="0"/>
                <a:cs typeface="Times New Roman" panose="02020603050405020304" pitchFamily="18" charset="0"/>
              </a:rPr>
              <a:t>URL. </a:t>
            </a:r>
            <a:r>
              <a:rPr lang="zh-CN" altLang="en-US" sz="2400" dirty="0">
                <a:solidFill>
                  <a:srgbClr val="1B1C20"/>
                </a:solidFill>
                <a:latin typeface="Times New Roman" panose="02020603050405020304" pitchFamily="18" charset="0"/>
                <a:cs typeface="Times New Roman" panose="02020603050405020304" pitchFamily="18" charset="0"/>
              </a:rPr>
              <a:t>例如请求</a:t>
            </a:r>
            <a:r>
              <a:rPr lang="en-US" altLang="zh-CN" sz="2400" dirty="0">
                <a:solidFill>
                  <a:srgbClr val="1B1C20"/>
                </a:solidFill>
                <a:latin typeface="Times New Roman" panose="02020603050405020304" pitchFamily="18" charset="0"/>
                <a:cs typeface="Times New Roman" panose="02020603050405020304" pitchFamily="18" charset="0"/>
              </a:rPr>
              <a:t>:</a:t>
            </a:r>
          </a:p>
          <a:p>
            <a:pPr>
              <a:buFont typeface="Wingdings 2" panose="05020102010507070707" pitchFamily="18" charset="2"/>
              <a:buNone/>
            </a:pPr>
            <a:r>
              <a:rPr lang="en-US" altLang="zh-CN" sz="2000" dirty="0">
                <a:solidFill>
                  <a:schemeClr val="tx2"/>
                </a:solidFill>
                <a:latin typeface="Times New Roman" panose="02020603050405020304" pitchFamily="18" charset="0"/>
                <a:cs typeface="Times New Roman" panose="02020603050405020304" pitchFamily="18" charset="0"/>
              </a:rPr>
              <a:t>OPTIONS /xml/ HTTP/1.1</a:t>
            </a:r>
          </a:p>
          <a:p>
            <a:pPr>
              <a:buFont typeface="Wingdings 2" panose="05020102010507070707" pitchFamily="18" charset="2"/>
              <a:buNone/>
            </a:pPr>
            <a:r>
              <a:rPr lang="en-US" altLang="zh-CN" sz="2000" dirty="0">
                <a:solidFill>
                  <a:schemeClr val="tx2"/>
                </a:solidFill>
                <a:latin typeface="Times New Roman" panose="02020603050405020304" pitchFamily="18" charset="0"/>
                <a:cs typeface="Times New Roman" panose="02020603050405020304" pitchFamily="18" charset="0"/>
              </a:rPr>
              <a:t>Host: www.ibiblio.org</a:t>
            </a:r>
          </a:p>
          <a:p>
            <a:pPr>
              <a:buFont typeface="Wingdings 2" panose="05020102010507070707" pitchFamily="18" charset="2"/>
              <a:buNone/>
            </a:pPr>
            <a:r>
              <a:rPr lang="en-US" altLang="zh-CN" sz="2000" dirty="0">
                <a:solidFill>
                  <a:schemeClr val="tx2"/>
                </a:solidFill>
                <a:latin typeface="Times New Roman" panose="02020603050405020304" pitchFamily="18" charset="0"/>
                <a:cs typeface="Times New Roman" panose="02020603050405020304" pitchFamily="18" charset="0"/>
              </a:rPr>
              <a:t>Accept: text/html, image/gif, image/jpeg, *; q=.2, */*; q=.2</a:t>
            </a:r>
          </a:p>
          <a:p>
            <a:pPr>
              <a:buFont typeface="Wingdings 2" panose="05020102010507070707" pitchFamily="18" charset="2"/>
              <a:buNone/>
            </a:pPr>
            <a:r>
              <a:rPr lang="en-US" altLang="zh-CN" sz="2000" dirty="0">
                <a:solidFill>
                  <a:schemeClr val="tx2"/>
                </a:solidFill>
                <a:latin typeface="Times New Roman" panose="02020603050405020304" pitchFamily="18" charset="0"/>
                <a:cs typeface="Times New Roman" panose="02020603050405020304" pitchFamily="18" charset="0"/>
              </a:rPr>
              <a:t>Connection: close</a:t>
            </a:r>
          </a:p>
          <a:p>
            <a:pPr>
              <a:buFont typeface="Wingdings 2" panose="05020102010507070707" pitchFamily="18" charset="2"/>
              <a:buNone/>
            </a:pPr>
            <a:endParaRPr lang="zh-CN" altLang="en-US" dirty="0"/>
          </a:p>
        </p:txBody>
      </p:sp>
      <p:sp>
        <p:nvSpPr>
          <p:cNvPr id="69636" name="矩形 3">
            <a:extLst>
              <a:ext uri="{FF2B5EF4-FFF2-40B4-BE49-F238E27FC236}">
                <a16:creationId xmlns:a16="http://schemas.microsoft.com/office/drawing/2014/main" id="{2641EED5-57B4-4F88-89F6-624B41AB22DC}"/>
              </a:ext>
            </a:extLst>
          </p:cNvPr>
          <p:cNvSpPr>
            <a:spLocks noChangeArrowheads="1"/>
          </p:cNvSpPr>
          <p:nvPr/>
        </p:nvSpPr>
        <p:spPr bwMode="auto">
          <a:xfrm>
            <a:off x="381000" y="3657601"/>
            <a:ext cx="112776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服务器对</a:t>
            </a:r>
            <a:r>
              <a:rPr lang="en-US" altLang="zh-CN" sz="2400" dirty="0">
                <a:latin typeface="Times New Roman" panose="02020603050405020304" pitchFamily="18" charset="0"/>
                <a:cs typeface="Times New Roman" panose="02020603050405020304" pitchFamily="18" charset="0"/>
              </a:rPr>
              <a:t>OPTIONS</a:t>
            </a:r>
            <a:r>
              <a:rPr lang="zh-CN" altLang="en-US" sz="2400" dirty="0">
                <a:latin typeface="Times New Roman" panose="02020603050405020304" pitchFamily="18" charset="0"/>
                <a:cs typeface="Times New Roman" panose="02020603050405020304" pitchFamily="18" charset="0"/>
              </a:rPr>
              <a:t>请求的响应</a:t>
            </a:r>
            <a:r>
              <a:rPr lang="en-US" altLang="zh-CN" sz="2400" dirty="0">
                <a:latin typeface="Times New Roman" panose="02020603050405020304" pitchFamily="18" charset="0"/>
                <a:cs typeface="Times New Roman" panose="02020603050405020304" pitchFamily="18" charset="0"/>
              </a:rPr>
              <a:t>:</a:t>
            </a:r>
          </a:p>
          <a:p>
            <a:pPr>
              <a:spcBef>
                <a:spcPct val="0"/>
              </a:spcBef>
              <a:buClrTx/>
              <a:buSzTx/>
              <a:buFontTx/>
              <a:buNone/>
            </a:pPr>
            <a:r>
              <a:rPr lang="en-US" altLang="zh-CN" sz="2000" dirty="0">
                <a:solidFill>
                  <a:schemeClr val="tx2"/>
                </a:solidFill>
                <a:latin typeface="Times New Roman" panose="02020603050405020304" pitchFamily="18" charset="0"/>
                <a:cs typeface="Times New Roman" panose="02020603050405020304" pitchFamily="18" charset="0"/>
              </a:rPr>
              <a:t>HTTP/1.1 200 OK</a:t>
            </a:r>
          </a:p>
          <a:p>
            <a:pPr>
              <a:spcBef>
                <a:spcPct val="0"/>
              </a:spcBef>
              <a:buClrTx/>
              <a:buSzTx/>
              <a:buFontTx/>
              <a:buNone/>
            </a:pPr>
            <a:r>
              <a:rPr lang="en-US" altLang="zh-CN" sz="2000" dirty="0">
                <a:solidFill>
                  <a:schemeClr val="tx2"/>
                </a:solidFill>
                <a:latin typeface="Times New Roman" panose="02020603050405020304" pitchFamily="18" charset="0"/>
                <a:cs typeface="Times New Roman" panose="02020603050405020304" pitchFamily="18" charset="0"/>
              </a:rPr>
              <a:t>Date: Sat, 04 May 2013 13:52:53 GMT</a:t>
            </a:r>
          </a:p>
          <a:p>
            <a:pPr>
              <a:spcBef>
                <a:spcPct val="0"/>
              </a:spcBef>
              <a:buClrTx/>
              <a:buSzTx/>
              <a:buFontTx/>
              <a:buNone/>
            </a:pPr>
            <a:r>
              <a:rPr lang="en-US" altLang="zh-CN" sz="2000" dirty="0">
                <a:solidFill>
                  <a:schemeClr val="tx2"/>
                </a:solidFill>
                <a:latin typeface="Times New Roman" panose="02020603050405020304" pitchFamily="18" charset="0"/>
                <a:cs typeface="Times New Roman" panose="02020603050405020304" pitchFamily="18" charset="0"/>
              </a:rPr>
              <a:t>Server: Apache</a:t>
            </a:r>
          </a:p>
          <a:p>
            <a:pPr>
              <a:spcBef>
                <a:spcPct val="0"/>
              </a:spcBef>
              <a:buClrTx/>
              <a:buSzTx/>
              <a:buFontTx/>
              <a:buNone/>
            </a:pPr>
            <a:r>
              <a:rPr lang="en-US" altLang="zh-CN" sz="2000" dirty="0">
                <a:solidFill>
                  <a:srgbClr val="FF0000"/>
                </a:solidFill>
                <a:latin typeface="Times New Roman" panose="02020603050405020304" pitchFamily="18" charset="0"/>
                <a:cs typeface="Times New Roman" panose="02020603050405020304" pitchFamily="18" charset="0"/>
              </a:rPr>
              <a:t>Allow: GET,HEAD,POST,OPTIONS,TRACE</a:t>
            </a:r>
          </a:p>
          <a:p>
            <a:pPr>
              <a:spcBef>
                <a:spcPct val="0"/>
              </a:spcBef>
              <a:buClrTx/>
              <a:buSzTx/>
              <a:buFontTx/>
              <a:buNone/>
            </a:pPr>
            <a:r>
              <a:rPr lang="en-US" altLang="zh-CN" sz="2000" dirty="0">
                <a:solidFill>
                  <a:schemeClr val="tx2"/>
                </a:solidFill>
                <a:latin typeface="Times New Roman" panose="02020603050405020304" pitchFamily="18" charset="0"/>
                <a:cs typeface="Times New Roman" panose="02020603050405020304" pitchFamily="18" charset="0"/>
              </a:rPr>
              <a:t>Content-Style-Type: text/</a:t>
            </a:r>
            <a:r>
              <a:rPr lang="en-US" altLang="zh-CN" sz="2000" dirty="0" err="1">
                <a:solidFill>
                  <a:schemeClr val="tx2"/>
                </a:solidFill>
                <a:latin typeface="Times New Roman" panose="02020603050405020304" pitchFamily="18" charset="0"/>
                <a:cs typeface="Times New Roman" panose="02020603050405020304" pitchFamily="18" charset="0"/>
              </a:rPr>
              <a:t>css</a:t>
            </a:r>
            <a:endParaRPr lang="en-US" altLang="zh-CN" sz="2000" dirty="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2000" dirty="0">
                <a:solidFill>
                  <a:schemeClr val="tx2"/>
                </a:solidFill>
                <a:latin typeface="Times New Roman" panose="02020603050405020304" pitchFamily="18" charset="0"/>
                <a:cs typeface="Times New Roman" panose="02020603050405020304" pitchFamily="18" charset="0"/>
              </a:rPr>
              <a:t>Content-Length: 0</a:t>
            </a:r>
          </a:p>
          <a:p>
            <a:pPr>
              <a:spcBef>
                <a:spcPct val="0"/>
              </a:spcBef>
              <a:buClrTx/>
              <a:buSzTx/>
              <a:buFontTx/>
              <a:buNone/>
            </a:pPr>
            <a:r>
              <a:rPr lang="en-US" altLang="zh-CN" sz="2000" dirty="0">
                <a:solidFill>
                  <a:schemeClr val="tx2"/>
                </a:solidFill>
                <a:latin typeface="Times New Roman" panose="02020603050405020304" pitchFamily="18" charset="0"/>
                <a:cs typeface="Times New Roman" panose="02020603050405020304" pitchFamily="18" charset="0"/>
              </a:rPr>
              <a:t>Connection: close</a:t>
            </a:r>
          </a:p>
          <a:p>
            <a:pPr>
              <a:spcBef>
                <a:spcPct val="0"/>
              </a:spcBef>
              <a:buClrTx/>
              <a:buSzTx/>
              <a:buFontTx/>
              <a:buNone/>
            </a:pPr>
            <a:r>
              <a:rPr lang="en-US" altLang="zh-CN" sz="2000" dirty="0">
                <a:solidFill>
                  <a:schemeClr val="tx2"/>
                </a:solidFill>
                <a:latin typeface="Times New Roman" panose="02020603050405020304" pitchFamily="18" charset="0"/>
                <a:cs typeface="Times New Roman" panose="02020603050405020304" pitchFamily="18" charset="0"/>
              </a:rPr>
              <a:t>Content-Type: text/html; charset=utf-8</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a:extLst>
              <a:ext uri="{FF2B5EF4-FFF2-40B4-BE49-F238E27FC236}">
                <a16:creationId xmlns:a16="http://schemas.microsoft.com/office/drawing/2014/main" id="{BDEB5188-4643-4323-9AA8-20314D9ED2B7}"/>
              </a:ext>
            </a:extLst>
          </p:cNvPr>
          <p:cNvSpPr>
            <a:spLocks noGrp="1"/>
          </p:cNvSpPr>
          <p:nvPr>
            <p:ph type="title"/>
          </p:nvPr>
        </p:nvSpPr>
        <p:spPr>
          <a:xfrm>
            <a:off x="1825625" y="228600"/>
            <a:ext cx="8540750" cy="609600"/>
          </a:xfrm>
        </p:spPr>
        <p:txBody>
          <a:bodyPr/>
          <a:lstStyle/>
          <a:p>
            <a:pPr algn="l"/>
            <a:r>
              <a:rPr lang="en-US" altLang="zh-CN" sz="3200"/>
              <a:t>TRACE</a:t>
            </a:r>
            <a:r>
              <a:rPr lang="zh-CN" altLang="en-US" sz="3200"/>
              <a:t>方法</a:t>
            </a:r>
          </a:p>
        </p:txBody>
      </p:sp>
      <p:sp>
        <p:nvSpPr>
          <p:cNvPr id="70659" name="矩形 3">
            <a:extLst>
              <a:ext uri="{FF2B5EF4-FFF2-40B4-BE49-F238E27FC236}">
                <a16:creationId xmlns:a16="http://schemas.microsoft.com/office/drawing/2014/main" id="{49EEF2CF-E612-40BA-811E-2C0B13A4A7EF}"/>
              </a:ext>
            </a:extLst>
          </p:cNvPr>
          <p:cNvSpPr>
            <a:spLocks noChangeArrowheads="1"/>
          </p:cNvSpPr>
          <p:nvPr/>
        </p:nvSpPr>
        <p:spPr bwMode="auto">
          <a:xfrm>
            <a:off x="1825625" y="939800"/>
            <a:ext cx="82296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panose="05000000000000000000" pitchFamily="2" charset="2"/>
              <a:buChar char="n"/>
            </a:pPr>
            <a:r>
              <a:rPr lang="en-US" altLang="zh-CN" sz="2000" dirty="0">
                <a:latin typeface="Times New Roman" panose="02020603050405020304" pitchFamily="18" charset="0"/>
                <a:cs typeface="Times New Roman" panose="02020603050405020304" pitchFamily="18" charset="0"/>
              </a:rPr>
              <a:t>TRACE</a:t>
            </a:r>
            <a:r>
              <a:rPr lang="zh-CN" altLang="en-US" sz="2000" dirty="0">
                <a:latin typeface="Times New Roman" panose="02020603050405020304" pitchFamily="18" charset="0"/>
                <a:cs typeface="Times New Roman" panose="02020603050405020304" pitchFamily="18" charset="0"/>
              </a:rPr>
              <a:t>方法会发送</a:t>
            </a:r>
            <a:r>
              <a:rPr lang="en-US" altLang="zh-CN" sz="2000" dirty="0">
                <a:latin typeface="Times New Roman" panose="02020603050405020304" pitchFamily="18" charset="0"/>
                <a:cs typeface="Times New Roman" panose="02020603050405020304" pitchFamily="18" charset="0"/>
              </a:rPr>
              <a:t>HTTP</a:t>
            </a:r>
            <a:r>
              <a:rPr lang="zh-CN" altLang="en-US" sz="2000" dirty="0">
                <a:latin typeface="Times New Roman" panose="02020603050405020304" pitchFamily="18" charset="0"/>
                <a:cs typeface="Times New Roman" panose="02020603050405020304" pitchFamily="18" charset="0"/>
              </a:rPr>
              <a:t>头部</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服务器从客户端接收此</a:t>
            </a:r>
            <a:r>
              <a:rPr lang="en-US" altLang="zh-CN" sz="2000" dirty="0">
                <a:latin typeface="Times New Roman" panose="02020603050405020304" pitchFamily="18" charset="0"/>
                <a:cs typeface="Times New Roman" panose="02020603050405020304" pitchFamily="18" charset="0"/>
              </a:rPr>
              <a:t>HTTP</a:t>
            </a:r>
            <a:r>
              <a:rPr lang="zh-CN" altLang="en-US" sz="2000" dirty="0">
                <a:latin typeface="Times New Roman" panose="02020603050405020304" pitchFamily="18" charset="0"/>
                <a:cs typeface="Times New Roman" panose="02020603050405020304" pitchFamily="18" charset="0"/>
              </a:rPr>
              <a:t>头部</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用于查看服务器和客户端之间的代理服务器做了哪些修改</a:t>
            </a:r>
            <a:r>
              <a:rPr lang="en-US" altLang="zh-CN" sz="2000" dirty="0">
                <a:latin typeface="Times New Roman" panose="02020603050405020304" pitchFamily="18" charset="0"/>
                <a:cs typeface="Times New Roman" panose="02020603050405020304" pitchFamily="18" charset="0"/>
              </a:rPr>
              <a:t>.</a:t>
            </a:r>
          </a:p>
          <a:p>
            <a:pPr>
              <a:spcBef>
                <a:spcPct val="0"/>
              </a:spcBef>
              <a:buClrTx/>
              <a:buSzTx/>
              <a:buFont typeface="Wingdings" panose="05000000000000000000" pitchFamily="2" charset="2"/>
              <a:buChar char="n"/>
            </a:pPr>
            <a:r>
              <a:rPr lang="en-US" altLang="zh-CN" sz="2000" dirty="0">
                <a:latin typeface="Times New Roman" panose="02020603050405020304" pitchFamily="18" charset="0"/>
                <a:cs typeface="Times New Roman" panose="02020603050405020304" pitchFamily="18" charset="0"/>
              </a:rPr>
              <a:t>TRACE</a:t>
            </a:r>
            <a:r>
              <a:rPr lang="zh-CN" altLang="en-US" sz="2000" dirty="0">
                <a:latin typeface="Times New Roman" panose="02020603050405020304" pitchFamily="18" charset="0"/>
                <a:cs typeface="Times New Roman" panose="02020603050405020304" pitchFamily="18" charset="0"/>
              </a:rPr>
              <a:t>请求</a:t>
            </a:r>
            <a:r>
              <a:rPr lang="en-US" altLang="zh-CN" sz="2000" dirty="0">
                <a:latin typeface="Times New Roman" panose="02020603050405020304" pitchFamily="18" charset="0"/>
                <a:cs typeface="Times New Roman" panose="02020603050405020304" pitchFamily="18" charset="0"/>
              </a:rPr>
              <a:t>:</a:t>
            </a:r>
          </a:p>
          <a:p>
            <a:pPr>
              <a:spcBef>
                <a:spcPct val="0"/>
              </a:spcBef>
              <a:buClrTx/>
              <a:buSzTx/>
              <a:buFontTx/>
              <a:buNone/>
            </a:pPr>
            <a:r>
              <a:rPr lang="en-US" altLang="zh-CN" sz="1800" dirty="0">
                <a:solidFill>
                  <a:schemeClr val="tx2"/>
                </a:solidFill>
                <a:latin typeface="Times New Roman" panose="02020603050405020304" pitchFamily="18" charset="0"/>
                <a:cs typeface="Times New Roman" panose="02020603050405020304" pitchFamily="18" charset="0"/>
              </a:rPr>
              <a:t>TRACE /xml/ HTTP/1.1</a:t>
            </a:r>
          </a:p>
          <a:p>
            <a:pPr>
              <a:spcBef>
                <a:spcPct val="0"/>
              </a:spcBef>
              <a:buClrTx/>
              <a:buSzTx/>
              <a:buFontTx/>
              <a:buNone/>
            </a:pPr>
            <a:r>
              <a:rPr lang="en-US" altLang="zh-CN" sz="1800" dirty="0">
                <a:solidFill>
                  <a:schemeClr val="tx2"/>
                </a:solidFill>
                <a:latin typeface="Times New Roman" panose="02020603050405020304" pitchFamily="18" charset="0"/>
                <a:cs typeface="Times New Roman" panose="02020603050405020304" pitchFamily="18" charset="0"/>
              </a:rPr>
              <a:t>Hello: Push me</a:t>
            </a:r>
          </a:p>
          <a:p>
            <a:pPr>
              <a:spcBef>
                <a:spcPct val="0"/>
              </a:spcBef>
              <a:buClrTx/>
              <a:buSzTx/>
              <a:buFontTx/>
              <a:buNone/>
            </a:pPr>
            <a:r>
              <a:rPr lang="en-US" altLang="zh-CN" sz="1800" dirty="0">
                <a:solidFill>
                  <a:schemeClr val="tx2"/>
                </a:solidFill>
                <a:latin typeface="Times New Roman" panose="02020603050405020304" pitchFamily="18" charset="0"/>
                <a:cs typeface="Times New Roman" panose="02020603050405020304" pitchFamily="18" charset="0"/>
              </a:rPr>
              <a:t>Host: www.ibiblio.org</a:t>
            </a:r>
          </a:p>
          <a:p>
            <a:pPr>
              <a:spcBef>
                <a:spcPct val="0"/>
              </a:spcBef>
              <a:buClrTx/>
              <a:buSzTx/>
              <a:buFontTx/>
              <a:buNone/>
            </a:pPr>
            <a:r>
              <a:rPr lang="en-US" altLang="zh-CN" sz="1800" dirty="0">
                <a:solidFill>
                  <a:schemeClr val="tx2"/>
                </a:solidFill>
                <a:latin typeface="Times New Roman" panose="02020603050405020304" pitchFamily="18" charset="0"/>
                <a:cs typeface="Times New Roman" panose="02020603050405020304" pitchFamily="18" charset="0"/>
              </a:rPr>
              <a:t>Accept: text/html, image/gif, image/jpeg, *; q=.2, */*; q=.2</a:t>
            </a:r>
          </a:p>
          <a:p>
            <a:pPr>
              <a:spcBef>
                <a:spcPct val="0"/>
              </a:spcBef>
              <a:buClrTx/>
              <a:buSzTx/>
              <a:buFontTx/>
              <a:buNone/>
            </a:pPr>
            <a:r>
              <a:rPr lang="en-US" altLang="zh-CN" sz="1800" dirty="0">
                <a:solidFill>
                  <a:schemeClr val="tx2"/>
                </a:solidFill>
                <a:latin typeface="Times New Roman" panose="02020603050405020304" pitchFamily="18" charset="0"/>
                <a:cs typeface="Times New Roman" panose="02020603050405020304" pitchFamily="18" charset="0"/>
              </a:rPr>
              <a:t>Connection: close</a:t>
            </a:r>
          </a:p>
        </p:txBody>
      </p:sp>
      <p:sp>
        <p:nvSpPr>
          <p:cNvPr id="70660" name="矩形 4">
            <a:extLst>
              <a:ext uri="{FF2B5EF4-FFF2-40B4-BE49-F238E27FC236}">
                <a16:creationId xmlns:a16="http://schemas.microsoft.com/office/drawing/2014/main" id="{E80079BF-B713-4CE8-9124-2568DC71F960}"/>
              </a:ext>
            </a:extLst>
          </p:cNvPr>
          <p:cNvSpPr>
            <a:spLocks noChangeArrowheads="1"/>
          </p:cNvSpPr>
          <p:nvPr/>
        </p:nvSpPr>
        <p:spPr bwMode="auto">
          <a:xfrm>
            <a:off x="1825626" y="3441700"/>
            <a:ext cx="67341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panose="05000000000000000000" pitchFamily="2" charset="2"/>
              <a:buChar char="n"/>
            </a:pPr>
            <a:r>
              <a:rPr lang="zh-CN" altLang="en-US" sz="2000">
                <a:latin typeface="Times New Roman" panose="02020603050405020304" pitchFamily="18" charset="0"/>
                <a:cs typeface="Times New Roman" panose="02020603050405020304" pitchFamily="18" charset="0"/>
              </a:rPr>
              <a:t>服务器对</a:t>
            </a:r>
            <a:r>
              <a:rPr lang="en-US" altLang="zh-CN" sz="2000">
                <a:latin typeface="Times New Roman" panose="02020603050405020304" pitchFamily="18" charset="0"/>
                <a:cs typeface="Times New Roman" panose="02020603050405020304" pitchFamily="18" charset="0"/>
              </a:rPr>
              <a:t>TRACE</a:t>
            </a:r>
            <a:r>
              <a:rPr lang="zh-CN" altLang="en-US" sz="2000">
                <a:latin typeface="Times New Roman" panose="02020603050405020304" pitchFamily="18" charset="0"/>
                <a:cs typeface="Times New Roman" panose="02020603050405020304" pitchFamily="18" charset="0"/>
              </a:rPr>
              <a:t>请求的响应</a:t>
            </a:r>
            <a:endParaRPr lang="en-US" altLang="zh-CN" sz="2000">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800">
                <a:solidFill>
                  <a:schemeClr val="tx2"/>
                </a:solidFill>
                <a:latin typeface="Times New Roman" panose="02020603050405020304" pitchFamily="18" charset="0"/>
                <a:cs typeface="Times New Roman" panose="02020603050405020304" pitchFamily="18" charset="0"/>
              </a:rPr>
              <a:t>HTTP/1.1 200 OK</a:t>
            </a:r>
          </a:p>
          <a:p>
            <a:pPr>
              <a:spcBef>
                <a:spcPct val="0"/>
              </a:spcBef>
              <a:buClrTx/>
              <a:buSzTx/>
              <a:buFontTx/>
              <a:buNone/>
            </a:pPr>
            <a:r>
              <a:rPr lang="en-US" altLang="zh-CN" sz="1800">
                <a:solidFill>
                  <a:schemeClr val="tx2"/>
                </a:solidFill>
                <a:latin typeface="Times New Roman" panose="02020603050405020304" pitchFamily="18" charset="0"/>
                <a:cs typeface="Times New Roman" panose="02020603050405020304" pitchFamily="18" charset="0"/>
              </a:rPr>
              <a:t>Date: Sat, 04 May 2013 14:41:40 GMT</a:t>
            </a:r>
          </a:p>
          <a:p>
            <a:pPr>
              <a:spcBef>
                <a:spcPct val="0"/>
              </a:spcBef>
              <a:buClrTx/>
              <a:buSzTx/>
              <a:buFontTx/>
              <a:buNone/>
            </a:pPr>
            <a:r>
              <a:rPr lang="en-US" altLang="zh-CN" sz="1800">
                <a:solidFill>
                  <a:schemeClr val="tx2"/>
                </a:solidFill>
                <a:latin typeface="Times New Roman" panose="02020603050405020304" pitchFamily="18" charset="0"/>
                <a:cs typeface="Times New Roman" panose="02020603050405020304" pitchFamily="18" charset="0"/>
              </a:rPr>
              <a:t>Server: Apache</a:t>
            </a:r>
          </a:p>
          <a:p>
            <a:pPr>
              <a:spcBef>
                <a:spcPct val="0"/>
              </a:spcBef>
              <a:buClrTx/>
              <a:buSzTx/>
              <a:buFontTx/>
              <a:buNone/>
            </a:pPr>
            <a:r>
              <a:rPr lang="en-US" altLang="zh-CN" sz="1800">
                <a:solidFill>
                  <a:schemeClr val="tx2"/>
                </a:solidFill>
                <a:latin typeface="Times New Roman" panose="02020603050405020304" pitchFamily="18" charset="0"/>
                <a:cs typeface="Times New Roman" panose="02020603050405020304" pitchFamily="18" charset="0"/>
              </a:rPr>
              <a:t>Connection: close</a:t>
            </a:r>
          </a:p>
          <a:p>
            <a:pPr>
              <a:spcBef>
                <a:spcPct val="0"/>
              </a:spcBef>
              <a:buClrTx/>
              <a:buSzTx/>
              <a:buFontTx/>
              <a:buNone/>
            </a:pPr>
            <a:r>
              <a:rPr lang="en-US" altLang="zh-CN" sz="1800">
                <a:solidFill>
                  <a:schemeClr val="tx2"/>
                </a:solidFill>
                <a:latin typeface="Times New Roman" panose="02020603050405020304" pitchFamily="18" charset="0"/>
                <a:cs typeface="Times New Roman" panose="02020603050405020304" pitchFamily="18" charset="0"/>
              </a:rPr>
              <a:t>Content-Type: message/http</a:t>
            </a:r>
          </a:p>
          <a:p>
            <a:pPr>
              <a:spcBef>
                <a:spcPct val="0"/>
              </a:spcBef>
              <a:buClrTx/>
              <a:buSzTx/>
              <a:buFontTx/>
              <a:buNone/>
            </a:pPr>
            <a:endParaRPr lang="en-US" altLang="zh-CN" sz="1800">
              <a:latin typeface="Times New Roman" panose="02020603050405020304" pitchFamily="18" charset="0"/>
              <a:cs typeface="Times New Roman" panose="02020603050405020304" pitchFamily="18" charset="0"/>
            </a:endParaRPr>
          </a:p>
          <a:p>
            <a:pPr>
              <a:spcBef>
                <a:spcPct val="0"/>
              </a:spcBef>
              <a:buClrTx/>
              <a:buSzTx/>
              <a:buFontTx/>
              <a:buNone/>
            </a:pPr>
            <a:r>
              <a:rPr lang="en-US" altLang="zh-CN" sz="1800">
                <a:solidFill>
                  <a:srgbClr val="FF0000"/>
                </a:solidFill>
                <a:latin typeface="Times New Roman" panose="02020603050405020304" pitchFamily="18" charset="0"/>
                <a:cs typeface="Times New Roman" panose="02020603050405020304" pitchFamily="18" charset="0"/>
              </a:rPr>
              <a:t>TRACE /xml/ HTTP/1.1</a:t>
            </a:r>
          </a:p>
          <a:p>
            <a:pPr>
              <a:spcBef>
                <a:spcPct val="0"/>
              </a:spcBef>
              <a:buClrTx/>
              <a:buSzTx/>
              <a:buFontTx/>
              <a:buNone/>
            </a:pPr>
            <a:r>
              <a:rPr lang="en-US" altLang="zh-CN" sz="1800">
                <a:solidFill>
                  <a:srgbClr val="FF0000"/>
                </a:solidFill>
                <a:latin typeface="Times New Roman" panose="02020603050405020304" pitchFamily="18" charset="0"/>
                <a:cs typeface="Times New Roman" panose="02020603050405020304" pitchFamily="18" charset="0"/>
              </a:rPr>
              <a:t>Hello: Push me</a:t>
            </a:r>
          </a:p>
          <a:p>
            <a:pPr>
              <a:spcBef>
                <a:spcPct val="0"/>
              </a:spcBef>
              <a:buClrTx/>
              <a:buSzTx/>
              <a:buFontTx/>
              <a:buNone/>
            </a:pPr>
            <a:r>
              <a:rPr lang="en-US" altLang="zh-CN" sz="1800">
                <a:solidFill>
                  <a:srgbClr val="FF0000"/>
                </a:solidFill>
                <a:latin typeface="Times New Roman" panose="02020603050405020304" pitchFamily="18" charset="0"/>
                <a:cs typeface="Times New Roman" panose="02020603050405020304" pitchFamily="18" charset="0"/>
              </a:rPr>
              <a:t>Host: www.ibiblio.org</a:t>
            </a:r>
          </a:p>
          <a:p>
            <a:pPr>
              <a:spcBef>
                <a:spcPct val="0"/>
              </a:spcBef>
              <a:buClrTx/>
              <a:buSzTx/>
              <a:buFontTx/>
              <a:buNone/>
            </a:pPr>
            <a:r>
              <a:rPr lang="en-US" altLang="zh-CN" sz="1800">
                <a:solidFill>
                  <a:srgbClr val="FF0000"/>
                </a:solidFill>
                <a:latin typeface="Times New Roman" panose="02020603050405020304" pitchFamily="18" charset="0"/>
                <a:cs typeface="Times New Roman" panose="02020603050405020304" pitchFamily="18" charset="0"/>
              </a:rPr>
              <a:t>Accept: text/html, image/gif, image/jpeg, *; q=.2, */*; q=.2</a:t>
            </a:r>
          </a:p>
          <a:p>
            <a:pPr>
              <a:spcBef>
                <a:spcPct val="0"/>
              </a:spcBef>
              <a:buClrTx/>
              <a:buSzTx/>
              <a:buFontTx/>
              <a:buNone/>
            </a:pPr>
            <a:r>
              <a:rPr lang="en-US" altLang="zh-CN" sz="1800">
                <a:solidFill>
                  <a:srgbClr val="FF0000"/>
                </a:solidFill>
                <a:latin typeface="Times New Roman" panose="02020603050405020304" pitchFamily="18" charset="0"/>
                <a:cs typeface="Times New Roman" panose="02020603050405020304" pitchFamily="18" charset="0"/>
              </a:rPr>
              <a:t>Connection: close</a:t>
            </a:r>
          </a:p>
        </p:txBody>
      </p:sp>
      <p:sp>
        <p:nvSpPr>
          <p:cNvPr id="113669" name="椭圆形标注 1">
            <a:extLst>
              <a:ext uri="{FF2B5EF4-FFF2-40B4-BE49-F238E27FC236}">
                <a16:creationId xmlns:a16="http://schemas.microsoft.com/office/drawing/2014/main" id="{5C972BE0-83DA-4311-99E2-F5971B5430E6}"/>
              </a:ext>
            </a:extLst>
          </p:cNvPr>
          <p:cNvSpPr>
            <a:spLocks noChangeArrowheads="1"/>
          </p:cNvSpPr>
          <p:nvPr/>
        </p:nvSpPr>
        <p:spPr bwMode="auto">
          <a:xfrm>
            <a:off x="6705600" y="3411538"/>
            <a:ext cx="3149600" cy="749300"/>
          </a:xfrm>
          <a:prstGeom prst="wedgeEllipseCallout">
            <a:avLst>
              <a:gd name="adj1" fmla="val -107931"/>
              <a:gd name="adj2" fmla="val 118963"/>
            </a:avLst>
          </a:prstGeom>
          <a:solidFill>
            <a:schemeClr val="tx2"/>
          </a:solidFill>
          <a:ln w="9525" algn="ctr">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a:solidFill>
                  <a:srgbClr val="FF0000"/>
                </a:solidFill>
              </a:rPr>
              <a:t>前</a:t>
            </a:r>
            <a:r>
              <a:rPr lang="en-US" altLang="zh-CN" sz="1800">
                <a:solidFill>
                  <a:srgbClr val="FF0000"/>
                </a:solidFill>
              </a:rPr>
              <a:t>5</a:t>
            </a:r>
            <a:r>
              <a:rPr lang="zh-CN" altLang="en-US" sz="1800">
                <a:solidFill>
                  <a:srgbClr val="FF0000"/>
                </a:solidFill>
              </a:rPr>
              <a:t>行是服务器正常的响应</a:t>
            </a:r>
            <a:r>
              <a:rPr lang="en-US" altLang="zh-CN" sz="1800">
                <a:solidFill>
                  <a:srgbClr val="FF0000"/>
                </a:solidFill>
              </a:rPr>
              <a:t>HTTP</a:t>
            </a:r>
            <a:r>
              <a:rPr lang="zh-CN" altLang="en-US" sz="1800">
                <a:solidFill>
                  <a:srgbClr val="FF0000"/>
                </a:solidFill>
              </a:rPr>
              <a:t>头部</a:t>
            </a:r>
          </a:p>
        </p:txBody>
      </p:sp>
      <p:sp>
        <p:nvSpPr>
          <p:cNvPr id="6" name="椭圆形标注 5">
            <a:extLst>
              <a:ext uri="{FF2B5EF4-FFF2-40B4-BE49-F238E27FC236}">
                <a16:creationId xmlns:a16="http://schemas.microsoft.com/office/drawing/2014/main" id="{07E3545A-13D9-46FC-B2E5-17833C0EA1A1}"/>
              </a:ext>
            </a:extLst>
          </p:cNvPr>
          <p:cNvSpPr/>
          <p:nvPr/>
        </p:nvSpPr>
        <p:spPr bwMode="auto">
          <a:xfrm>
            <a:off x="6985000" y="4991100"/>
            <a:ext cx="3606800" cy="1333500"/>
          </a:xfrm>
          <a:prstGeom prst="wedgeEllipseCallout">
            <a:avLst>
              <a:gd name="adj1" fmla="val -110578"/>
              <a:gd name="adj2" fmla="val 29957"/>
            </a:avLst>
          </a:prstGeom>
          <a:solidFill>
            <a:srgbClr val="FF0000"/>
          </a:solidFill>
          <a:ln w="9525" cap="flat" cmpd="sng" algn="ctr">
            <a:solidFill>
              <a:schemeClr val="tx1"/>
            </a:solidFill>
            <a:prstDash val="solid"/>
            <a:round/>
            <a:headEnd type="none" w="med" len="med"/>
            <a:tailEnd type="none" w="med" len="med"/>
          </a:ln>
          <a:effectLs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rgbClr val="060606"/>
                </a:solidFill>
              </a:rPr>
              <a:t>后面是原客户端请求的回显</a:t>
            </a:r>
            <a:r>
              <a:rPr lang="en-US" altLang="zh-CN">
                <a:solidFill>
                  <a:srgbClr val="060606"/>
                </a:solidFill>
              </a:rPr>
              <a:t>.</a:t>
            </a:r>
            <a:r>
              <a:rPr lang="zh-CN" altLang="en-US">
                <a:solidFill>
                  <a:srgbClr val="060606"/>
                </a:solidFill>
              </a:rPr>
              <a:t>若存在代理</a:t>
            </a:r>
            <a:r>
              <a:rPr lang="en-US" altLang="zh-CN">
                <a:solidFill>
                  <a:srgbClr val="060606"/>
                </a:solidFill>
              </a:rPr>
              <a:t>,</a:t>
            </a:r>
            <a:r>
              <a:rPr lang="zh-CN" altLang="en-US">
                <a:solidFill>
                  <a:srgbClr val="060606"/>
                </a:solidFill>
              </a:rPr>
              <a:t>可能回显与原请求不一样</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
            <a:extLst>
              <a:ext uri="{FF2B5EF4-FFF2-40B4-BE49-F238E27FC236}">
                <a16:creationId xmlns:a16="http://schemas.microsoft.com/office/drawing/2014/main" id="{685D6C8C-91AA-4866-B142-960A87302A49}"/>
              </a:ext>
            </a:extLst>
          </p:cNvPr>
          <p:cNvSpPr>
            <a:spLocks noGrp="1"/>
          </p:cNvSpPr>
          <p:nvPr>
            <p:ph type="title"/>
          </p:nvPr>
        </p:nvSpPr>
        <p:spPr>
          <a:xfrm>
            <a:off x="1524000" y="0"/>
            <a:ext cx="8540750" cy="533400"/>
          </a:xfrm>
        </p:spPr>
        <p:txBody>
          <a:bodyPr/>
          <a:lstStyle/>
          <a:p>
            <a:pPr algn="l"/>
            <a:r>
              <a:rPr lang="zh-CN" altLang="en-US" sz="3200"/>
              <a:t>断开与服务器的连接</a:t>
            </a:r>
          </a:p>
        </p:txBody>
      </p:sp>
      <p:sp>
        <p:nvSpPr>
          <p:cNvPr id="114691" name="内容占位符 2">
            <a:extLst>
              <a:ext uri="{FF2B5EF4-FFF2-40B4-BE49-F238E27FC236}">
                <a16:creationId xmlns:a16="http://schemas.microsoft.com/office/drawing/2014/main" id="{0ECB9897-1862-4F0D-917E-FF9148BDF458}"/>
              </a:ext>
            </a:extLst>
          </p:cNvPr>
          <p:cNvSpPr>
            <a:spLocks noGrp="1"/>
          </p:cNvSpPr>
          <p:nvPr>
            <p:ph idx="1"/>
          </p:nvPr>
        </p:nvSpPr>
        <p:spPr>
          <a:xfrm>
            <a:off x="1676400" y="762000"/>
            <a:ext cx="8540750" cy="5486400"/>
          </a:xfrm>
        </p:spPr>
        <p:txBody>
          <a:bodyPr/>
          <a:lstStyle/>
          <a:p>
            <a:r>
              <a:rPr lang="en-US" altLang="zh-CN" sz="2400">
                <a:latin typeface="Times New Roman" panose="02020603050405020304" pitchFamily="18" charset="0"/>
                <a:cs typeface="Times New Roman" panose="02020603050405020304" pitchFamily="18" charset="0"/>
              </a:rPr>
              <a:t>HTTP1.1</a:t>
            </a:r>
            <a:r>
              <a:rPr lang="zh-CN" altLang="en-US" sz="2400">
                <a:latin typeface="Times New Roman" panose="02020603050405020304" pitchFamily="18" charset="0"/>
                <a:cs typeface="Times New Roman" panose="02020603050405020304" pitchFamily="18" charset="0"/>
              </a:rPr>
              <a:t>支持持久连接</a:t>
            </a:r>
            <a:r>
              <a:rPr lang="en-US" altLang="zh-CN" sz="24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使用</a:t>
            </a:r>
            <a:r>
              <a:rPr lang="en-US" altLang="zh-CN" sz="2400">
                <a:latin typeface="Times New Roman" panose="02020603050405020304" pitchFamily="18" charset="0"/>
                <a:cs typeface="Times New Roman" panose="02020603050405020304" pitchFamily="18" charset="0"/>
              </a:rPr>
              <a:t>Keep-Alive</a:t>
            </a:r>
            <a:r>
              <a:rPr lang="zh-CN" altLang="en-US" sz="2400">
                <a:latin typeface="Times New Roman" panose="02020603050405020304" pitchFamily="18" charset="0"/>
                <a:cs typeface="Times New Roman" panose="02020603050405020304" pitchFamily="18" charset="0"/>
              </a:rPr>
              <a:t>时，服务器</a:t>
            </a:r>
            <a:r>
              <a:rPr lang="zh-CN" altLang="en-US" sz="2400">
                <a:solidFill>
                  <a:srgbClr val="FF0000"/>
                </a:solidFill>
                <a:latin typeface="Times New Roman" panose="02020603050405020304" pitchFamily="18" charset="0"/>
                <a:cs typeface="Times New Roman" panose="02020603050405020304" pitchFamily="18" charset="0"/>
              </a:rPr>
              <a:t>不会</a:t>
            </a:r>
            <a:r>
              <a:rPr lang="zh-CN" altLang="en-US" sz="2400">
                <a:latin typeface="Times New Roman" panose="02020603050405020304" pitchFamily="18" charset="0"/>
                <a:cs typeface="Times New Roman" panose="02020603050405020304" pitchFamily="18" charset="0"/>
              </a:rPr>
              <a:t>因为已经向客户端发送了最后一个字节的数据就</a:t>
            </a:r>
            <a:r>
              <a:rPr lang="zh-CN" altLang="en-US" sz="2400">
                <a:solidFill>
                  <a:srgbClr val="FF0000"/>
                </a:solidFill>
                <a:latin typeface="Times New Roman" panose="02020603050405020304" pitchFamily="18" charset="0"/>
                <a:cs typeface="Times New Roman" panose="02020603050405020304" pitchFamily="18" charset="0"/>
              </a:rPr>
              <a:t>立即关闭连接</a:t>
            </a:r>
            <a:r>
              <a:rPr lang="zh-CN" altLang="en-US" sz="2400">
                <a:latin typeface="Times New Roman" panose="02020603050405020304" pitchFamily="18" charset="0"/>
                <a:cs typeface="Times New Roman" panose="02020603050405020304" pitchFamily="18" charset="0"/>
              </a:rPr>
              <a:t>。</a:t>
            </a:r>
            <a:endParaRPr lang="en-US" altLang="zh-CN" sz="24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最好</a:t>
            </a:r>
            <a:r>
              <a:rPr lang="zh-CN" altLang="en-US" sz="2400">
                <a:solidFill>
                  <a:srgbClr val="FF0000"/>
                </a:solidFill>
                <a:latin typeface="Times New Roman" panose="02020603050405020304" pitchFamily="18" charset="0"/>
                <a:cs typeface="Times New Roman" panose="02020603050405020304" pitchFamily="18" charset="0"/>
              </a:rPr>
              <a:t>由客户端在确认工作结束时关闭连接</a:t>
            </a:r>
            <a:endParaRPr lang="en-US" altLang="zh-CN" sz="2400">
              <a:solidFill>
                <a:srgbClr val="FF0000"/>
              </a:solidFill>
              <a:latin typeface="Times New Roman" panose="02020603050405020304" pitchFamily="18" charset="0"/>
              <a:cs typeface="Times New Roman" panose="02020603050405020304" pitchFamily="18" charset="0"/>
            </a:endParaRPr>
          </a:p>
          <a:p>
            <a:r>
              <a:rPr lang="zh-CN" altLang="en-US" sz="2400">
                <a:solidFill>
                  <a:srgbClr val="FF0000"/>
                </a:solidFill>
                <a:latin typeface="Times New Roman" panose="02020603050405020304" pitchFamily="18" charset="0"/>
                <a:cs typeface="Times New Roman" panose="02020603050405020304" pitchFamily="18" charset="0"/>
              </a:rPr>
              <a:t>在服务器关闭连接之前</a:t>
            </a:r>
            <a:r>
              <a:rPr lang="zh-CN" altLang="en-US" sz="2400">
                <a:latin typeface="Times New Roman" panose="02020603050405020304" pitchFamily="18" charset="0"/>
                <a:cs typeface="Times New Roman" panose="02020603050405020304" pitchFamily="18" charset="0"/>
              </a:rPr>
              <a:t>，如果再次连接同一个服务器，</a:t>
            </a:r>
            <a:r>
              <a:rPr lang="en-US" altLang="zh-CN" sz="2400">
                <a:latin typeface="Times New Roman" panose="02020603050405020304" pitchFamily="18" charset="0"/>
                <a:cs typeface="Times New Roman" panose="02020603050405020304" pitchFamily="18" charset="0"/>
              </a:rPr>
              <a:t>HttpURLConnection</a:t>
            </a:r>
            <a:r>
              <a:rPr lang="zh-CN" altLang="en-US" sz="2400">
                <a:latin typeface="Times New Roman" panose="02020603050405020304" pitchFamily="18" charset="0"/>
                <a:cs typeface="Times New Roman" panose="02020603050405020304" pitchFamily="18" charset="0"/>
              </a:rPr>
              <a:t>类会重用</a:t>
            </a:r>
            <a:r>
              <a:rPr lang="en-US" altLang="zh-CN" sz="2400">
                <a:latin typeface="Times New Roman" panose="02020603050405020304" pitchFamily="18" charset="0"/>
                <a:cs typeface="Times New Roman" panose="02020603050405020304" pitchFamily="18" charset="0"/>
              </a:rPr>
              <a:t>socket</a:t>
            </a:r>
            <a:r>
              <a:rPr lang="zh-CN" altLang="en-US" sz="2400">
                <a:latin typeface="Times New Roman" panose="02020603050405020304" pitchFamily="18" charset="0"/>
                <a:cs typeface="Times New Roman" panose="02020603050405020304" pitchFamily="18" charset="0"/>
              </a:rPr>
              <a:t>。</a:t>
            </a:r>
            <a:endParaRPr lang="en-US" altLang="zh-CN" sz="24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客户端需调用方法显式断开连接：</a:t>
            </a:r>
            <a:endParaRPr lang="en-US" altLang="zh-CN" sz="2400">
              <a:latin typeface="Times New Roman" panose="02020603050405020304" pitchFamily="18" charset="0"/>
              <a:cs typeface="Times New Roman" panose="02020603050405020304" pitchFamily="18" charset="0"/>
            </a:endParaRPr>
          </a:p>
          <a:p>
            <a:r>
              <a:rPr lang="en-US" altLang="zh-CN" sz="2800">
                <a:solidFill>
                  <a:schemeClr val="tx2"/>
                </a:solidFill>
                <a:latin typeface="Times New Roman" panose="02020603050405020304" pitchFamily="18" charset="0"/>
                <a:cs typeface="Times New Roman" panose="02020603050405020304" pitchFamily="18" charset="0"/>
              </a:rPr>
              <a:t>public void HttpURLConnection.disconnect()</a:t>
            </a:r>
          </a:p>
          <a:p>
            <a:r>
              <a:rPr lang="zh-CN" altLang="en-US" sz="2400">
                <a:latin typeface="Times New Roman" panose="02020603050405020304" pitchFamily="18" charset="0"/>
                <a:cs typeface="Times New Roman" panose="02020603050405020304" pitchFamily="18" charset="0"/>
              </a:rPr>
              <a:t>若连接上有打开的流：</a:t>
            </a:r>
            <a:endParaRPr lang="en-US" altLang="zh-CN" sz="240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zh-CN" altLang="en-US" sz="2200">
                <a:solidFill>
                  <a:srgbClr val="FF0000"/>
                </a:solidFill>
                <a:latin typeface="Times New Roman" panose="02020603050405020304" pitchFamily="18" charset="0"/>
                <a:cs typeface="Times New Roman" panose="02020603050405020304" pitchFamily="18" charset="0"/>
              </a:rPr>
              <a:t>断开连接可以关闭流</a:t>
            </a:r>
            <a:endParaRPr lang="en-US" altLang="zh-CN" sz="2200">
              <a:solidFill>
                <a:srgbClr val="FF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zh-CN" altLang="en-US" sz="2200">
                <a:solidFill>
                  <a:srgbClr val="FF0000"/>
                </a:solidFill>
                <a:latin typeface="Times New Roman" panose="02020603050405020304" pitchFamily="18" charset="0"/>
                <a:cs typeface="Times New Roman" panose="02020603050405020304" pitchFamily="18" charset="0"/>
              </a:rPr>
              <a:t>关闭流不会断开连接</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a:extLst>
              <a:ext uri="{FF2B5EF4-FFF2-40B4-BE49-F238E27FC236}">
                <a16:creationId xmlns:a16="http://schemas.microsoft.com/office/drawing/2014/main" id="{A35162D5-6DDF-4F79-8468-95B53AD5596E}"/>
              </a:ext>
            </a:extLst>
          </p:cNvPr>
          <p:cNvSpPr>
            <a:spLocks noGrp="1"/>
          </p:cNvSpPr>
          <p:nvPr>
            <p:ph type="title"/>
          </p:nvPr>
        </p:nvSpPr>
        <p:spPr>
          <a:xfrm>
            <a:off x="1535113" y="30163"/>
            <a:ext cx="8540750" cy="685800"/>
          </a:xfrm>
        </p:spPr>
        <p:txBody>
          <a:bodyPr/>
          <a:lstStyle/>
          <a:p>
            <a:pPr algn="l"/>
            <a:r>
              <a:rPr lang="zh-CN" altLang="en-US" sz="3200"/>
              <a:t>处理服务器的响应</a:t>
            </a:r>
          </a:p>
        </p:txBody>
      </p:sp>
      <p:sp>
        <p:nvSpPr>
          <p:cNvPr id="115715" name="内容占位符 2">
            <a:extLst>
              <a:ext uri="{FF2B5EF4-FFF2-40B4-BE49-F238E27FC236}">
                <a16:creationId xmlns:a16="http://schemas.microsoft.com/office/drawing/2014/main" id="{29531BEF-2484-47F2-BD69-A6E586FAFE22}"/>
              </a:ext>
            </a:extLst>
          </p:cNvPr>
          <p:cNvSpPr>
            <a:spLocks noGrp="1"/>
          </p:cNvSpPr>
          <p:nvPr>
            <p:ph idx="1"/>
          </p:nvPr>
        </p:nvSpPr>
        <p:spPr>
          <a:xfrm>
            <a:off x="1825625" y="938214"/>
            <a:ext cx="8027988" cy="890587"/>
          </a:xfrm>
        </p:spPr>
        <p:txBody>
          <a:bodyPr/>
          <a:lstStyle/>
          <a:p>
            <a:r>
              <a:rPr lang="zh-CN" altLang="en-US" sz="2400">
                <a:latin typeface="Times New Roman" panose="02020603050405020304" pitchFamily="18" charset="0"/>
                <a:cs typeface="Times New Roman" panose="02020603050405020304" pitchFamily="18" charset="0"/>
              </a:rPr>
              <a:t>不同的响应</a:t>
            </a:r>
          </a:p>
        </p:txBody>
      </p:sp>
      <p:pic>
        <p:nvPicPr>
          <p:cNvPr id="115716" name="图片 1">
            <a:extLst>
              <a:ext uri="{FF2B5EF4-FFF2-40B4-BE49-F238E27FC236}">
                <a16:creationId xmlns:a16="http://schemas.microsoft.com/office/drawing/2014/main" id="{10430860-CFF3-4C0C-91BE-81D738E761A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1"/>
            <a:ext cx="3625850"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17" name="图片 2">
            <a:extLst>
              <a:ext uri="{FF2B5EF4-FFF2-40B4-BE49-F238E27FC236}">
                <a16:creationId xmlns:a16="http://schemas.microsoft.com/office/drawing/2014/main" id="{185AE4C9-3EC7-4B72-B746-B801A4200A8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99138" y="1620839"/>
            <a:ext cx="4017962" cy="2600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15718" name="线形标注 1 3">
            <a:extLst>
              <a:ext uri="{FF2B5EF4-FFF2-40B4-BE49-F238E27FC236}">
                <a16:creationId xmlns:a16="http://schemas.microsoft.com/office/drawing/2014/main" id="{D415B2C8-B564-442C-8D4A-FB3375452F68}"/>
              </a:ext>
            </a:extLst>
          </p:cNvPr>
          <p:cNvSpPr>
            <a:spLocks/>
          </p:cNvSpPr>
          <p:nvPr/>
        </p:nvSpPr>
        <p:spPr bwMode="auto">
          <a:xfrm>
            <a:off x="4151314" y="935038"/>
            <a:ext cx="1570037" cy="812800"/>
          </a:xfrm>
          <a:prstGeom prst="borderCallout1">
            <a:avLst>
              <a:gd name="adj1" fmla="val 46611"/>
              <a:gd name="adj2" fmla="val -2032"/>
              <a:gd name="adj3" fmla="val 79139"/>
              <a:gd name="adj4" fmla="val -94181"/>
            </a:avLst>
          </a:prstGeom>
          <a:solidFill>
            <a:schemeClr val="accent1"/>
          </a:solidFill>
          <a:ln w="952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600">
                <a:solidFill>
                  <a:srgbClr val="FF0000"/>
                </a:solidFill>
              </a:rPr>
              <a:t>200 OK</a:t>
            </a:r>
            <a:r>
              <a:rPr lang="zh-CN" altLang="en-US" sz="1600">
                <a:solidFill>
                  <a:srgbClr val="FF0000"/>
                </a:solidFill>
              </a:rPr>
              <a:t>响应，表示所请求的文档已找到</a:t>
            </a:r>
          </a:p>
        </p:txBody>
      </p:sp>
      <p:sp>
        <p:nvSpPr>
          <p:cNvPr id="115719" name="线形标注 1 6">
            <a:extLst>
              <a:ext uri="{FF2B5EF4-FFF2-40B4-BE49-F238E27FC236}">
                <a16:creationId xmlns:a16="http://schemas.microsoft.com/office/drawing/2014/main" id="{9EE23BCB-8B88-46AF-A99F-0314B6D4F6D3}"/>
              </a:ext>
            </a:extLst>
          </p:cNvPr>
          <p:cNvSpPr>
            <a:spLocks/>
          </p:cNvSpPr>
          <p:nvPr/>
        </p:nvSpPr>
        <p:spPr bwMode="auto">
          <a:xfrm>
            <a:off x="7847013" y="912813"/>
            <a:ext cx="2557462" cy="857250"/>
          </a:xfrm>
          <a:prstGeom prst="borderCallout1">
            <a:avLst>
              <a:gd name="adj1" fmla="val 51995"/>
              <a:gd name="adj2" fmla="val -486"/>
              <a:gd name="adj3" fmla="val 103324"/>
              <a:gd name="adj4" fmla="val -21778"/>
            </a:avLst>
          </a:prstGeom>
          <a:solidFill>
            <a:schemeClr val="accent1"/>
          </a:solidFill>
          <a:ln w="952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600">
                <a:solidFill>
                  <a:srgbClr val="FF0000"/>
                </a:solidFill>
              </a:rPr>
              <a:t>404 NotFound</a:t>
            </a:r>
            <a:r>
              <a:rPr lang="zh-CN" altLang="en-US" sz="1600">
                <a:solidFill>
                  <a:srgbClr val="FF0000"/>
                </a:solidFill>
              </a:rPr>
              <a:t>响应，表示所请求的</a:t>
            </a:r>
            <a:r>
              <a:rPr lang="en-US" altLang="zh-CN" sz="1600">
                <a:solidFill>
                  <a:srgbClr val="FF0000"/>
                </a:solidFill>
              </a:rPr>
              <a:t>URL</a:t>
            </a:r>
            <a:r>
              <a:rPr lang="zh-CN" altLang="en-US" sz="1600">
                <a:solidFill>
                  <a:srgbClr val="FF0000"/>
                </a:solidFill>
              </a:rPr>
              <a:t>不再指向一个文档</a:t>
            </a:r>
          </a:p>
        </p:txBody>
      </p:sp>
      <p:pic>
        <p:nvPicPr>
          <p:cNvPr id="115720" name="图片 4">
            <a:extLst>
              <a:ext uri="{FF2B5EF4-FFF2-40B4-BE49-F238E27FC236}">
                <a16:creationId xmlns:a16="http://schemas.microsoft.com/office/drawing/2014/main" id="{31D9E6DF-F995-415D-934E-F768CBC4354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783263" y="4197350"/>
            <a:ext cx="51435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21" name="图片 5">
            <a:extLst>
              <a:ext uri="{FF2B5EF4-FFF2-40B4-BE49-F238E27FC236}">
                <a16:creationId xmlns:a16="http://schemas.microsoft.com/office/drawing/2014/main" id="{402FEE8A-1ADD-44E3-947C-59581309E43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541464" y="4791076"/>
            <a:ext cx="4097337"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22" name="线形标注 1 9">
            <a:extLst>
              <a:ext uri="{FF2B5EF4-FFF2-40B4-BE49-F238E27FC236}">
                <a16:creationId xmlns:a16="http://schemas.microsoft.com/office/drawing/2014/main" id="{9E2976A8-B88C-4E33-86A8-405304D08B9A}"/>
              </a:ext>
            </a:extLst>
          </p:cNvPr>
          <p:cNvSpPr>
            <a:spLocks/>
          </p:cNvSpPr>
          <p:nvPr/>
        </p:nvSpPr>
        <p:spPr bwMode="auto">
          <a:xfrm>
            <a:off x="6019801" y="5730875"/>
            <a:ext cx="4384675" cy="857250"/>
          </a:xfrm>
          <a:prstGeom prst="borderCallout1">
            <a:avLst>
              <a:gd name="adj1" fmla="val 51995"/>
              <a:gd name="adj2" fmla="val -486"/>
              <a:gd name="adj3" fmla="val -81324"/>
              <a:gd name="adj4" fmla="val -69921"/>
            </a:avLst>
          </a:prstGeom>
          <a:solidFill>
            <a:schemeClr val="accent1"/>
          </a:solidFill>
          <a:ln w="952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600">
                <a:solidFill>
                  <a:srgbClr val="FF0000"/>
                </a:solidFill>
              </a:rPr>
              <a:t>301 </a:t>
            </a:r>
            <a:r>
              <a:rPr lang="zh-CN" altLang="en-US" sz="1600">
                <a:solidFill>
                  <a:srgbClr val="FF0000"/>
                </a:solidFill>
              </a:rPr>
              <a:t>响应码表示所请求的资源已经永久移动到一个新位置，浏览器应当重定向到这个新位置，并更新所有指向老位置的书签。</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a:extLst>
              <a:ext uri="{FF2B5EF4-FFF2-40B4-BE49-F238E27FC236}">
                <a16:creationId xmlns:a16="http://schemas.microsoft.com/office/drawing/2014/main" id="{F3638CE1-D48E-4479-B94D-6694DED5B29C}"/>
              </a:ext>
            </a:extLst>
          </p:cNvPr>
          <p:cNvSpPr>
            <a:spLocks noGrp="1"/>
          </p:cNvSpPr>
          <p:nvPr>
            <p:ph type="title"/>
          </p:nvPr>
        </p:nvSpPr>
        <p:spPr>
          <a:xfrm>
            <a:off x="1503363" y="6350"/>
            <a:ext cx="8540751" cy="685800"/>
          </a:xfrm>
        </p:spPr>
        <p:txBody>
          <a:bodyPr/>
          <a:lstStyle/>
          <a:p>
            <a:pPr algn="l"/>
            <a:r>
              <a:rPr lang="zh-CN" altLang="en-US" sz="3200"/>
              <a:t>处理服务器的响应</a:t>
            </a:r>
          </a:p>
        </p:txBody>
      </p:sp>
      <p:sp>
        <p:nvSpPr>
          <p:cNvPr id="116739" name="内容占位符 2">
            <a:extLst>
              <a:ext uri="{FF2B5EF4-FFF2-40B4-BE49-F238E27FC236}">
                <a16:creationId xmlns:a16="http://schemas.microsoft.com/office/drawing/2014/main" id="{DC5C78AF-0274-4DE0-8F5D-A59BF124522A}"/>
              </a:ext>
            </a:extLst>
          </p:cNvPr>
          <p:cNvSpPr>
            <a:spLocks noGrp="1"/>
          </p:cNvSpPr>
          <p:nvPr>
            <p:ph idx="1"/>
          </p:nvPr>
        </p:nvSpPr>
        <p:spPr>
          <a:xfrm>
            <a:off x="1524001" y="914401"/>
            <a:ext cx="8963025" cy="5135563"/>
          </a:xfrm>
        </p:spPr>
        <p:txBody>
          <a:bodyPr/>
          <a:lstStyle/>
          <a:p>
            <a:r>
              <a:rPr lang="zh-CN" altLang="en-US" sz="2400">
                <a:latin typeface="Times New Roman" panose="02020603050405020304" pitchFamily="18" charset="0"/>
                <a:cs typeface="Times New Roman" panose="02020603050405020304" pitchFamily="18" charset="0"/>
              </a:rPr>
              <a:t>获得响应码</a:t>
            </a:r>
            <a:r>
              <a:rPr lang="zh-CN" altLang="en-US" sz="2400" b="1">
                <a:solidFill>
                  <a:srgbClr val="006699"/>
                </a:solidFill>
                <a:latin typeface="Times New Roman" panose="02020603050405020304" pitchFamily="18" charset="0"/>
                <a:cs typeface="Times New Roman" panose="02020603050405020304" pitchFamily="18" charset="0"/>
              </a:rPr>
              <a:t>：</a:t>
            </a:r>
            <a:endParaRPr lang="en-US" altLang="zh-CN" sz="2400" b="1">
              <a:solidFill>
                <a:srgbClr val="006699"/>
              </a:solidFill>
              <a:latin typeface="Times New Roman" panose="02020603050405020304" pitchFamily="18" charset="0"/>
              <a:cs typeface="Times New Roman" panose="02020603050405020304" pitchFamily="18" charset="0"/>
            </a:endParaRPr>
          </a:p>
          <a:p>
            <a:r>
              <a:rPr lang="en-US" altLang="zh-CN" sz="2400" b="1">
                <a:solidFill>
                  <a:srgbClr val="006699"/>
                </a:solidFill>
                <a:latin typeface="Times New Roman" panose="02020603050405020304" pitchFamily="18" charset="0"/>
                <a:cs typeface="Times New Roman" panose="02020603050405020304" pitchFamily="18" charset="0"/>
              </a:rPr>
              <a:t>public</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b="1">
                <a:solidFill>
                  <a:srgbClr val="007788"/>
                </a:solidFill>
                <a:latin typeface="Times New Roman" panose="02020603050405020304" pitchFamily="18" charset="0"/>
                <a:cs typeface="Times New Roman" panose="02020603050405020304" pitchFamily="18" charset="0"/>
              </a:rPr>
              <a:t>int</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a:solidFill>
                  <a:srgbClr val="CC00FF"/>
                </a:solidFill>
                <a:latin typeface="Times New Roman" panose="02020603050405020304" pitchFamily="18" charset="0"/>
                <a:cs typeface="Times New Roman" panose="02020603050405020304" pitchFamily="18" charset="0"/>
              </a:rPr>
              <a:t>getResponseCode</a:t>
            </a:r>
            <a:r>
              <a:rPr lang="en-US" altLang="zh-CN" sz="2400">
                <a:solidFill>
                  <a:srgbClr val="555555"/>
                </a:solidFill>
                <a:latin typeface="Times New Roman" panose="02020603050405020304" pitchFamily="18" charset="0"/>
                <a:cs typeface="Times New Roman" panose="02020603050405020304" pitchFamily="18" charset="0"/>
              </a:rPr>
              <a:t>()</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b="1">
                <a:solidFill>
                  <a:srgbClr val="006699"/>
                </a:solidFill>
                <a:latin typeface="Times New Roman" panose="02020603050405020304" pitchFamily="18" charset="0"/>
                <a:cs typeface="Times New Roman" panose="02020603050405020304" pitchFamily="18" charset="0"/>
              </a:rPr>
              <a:t>throws</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a:solidFill>
                  <a:srgbClr val="000088"/>
                </a:solidFill>
                <a:latin typeface="Times New Roman" panose="02020603050405020304" pitchFamily="18" charset="0"/>
                <a:cs typeface="Times New Roman" panose="02020603050405020304" pitchFamily="18" charset="0"/>
              </a:rPr>
              <a:t>IOException</a:t>
            </a:r>
          </a:p>
          <a:p>
            <a:pPr lvl="1">
              <a:buFont typeface="Wingdings" panose="05000000000000000000" pitchFamily="2" charset="2"/>
              <a:buChar char="p"/>
            </a:pPr>
            <a:r>
              <a:rPr lang="zh-CN" altLang="en-US" sz="2400">
                <a:solidFill>
                  <a:srgbClr val="000088"/>
                </a:solidFill>
                <a:latin typeface="Times New Roman" panose="02020603050405020304" pitchFamily="18" charset="0"/>
                <a:cs typeface="Times New Roman" panose="02020603050405020304" pitchFamily="18" charset="0"/>
              </a:rPr>
              <a:t>获取响应码</a:t>
            </a:r>
            <a:endParaRPr lang="en-US" altLang="zh-CN" sz="2400">
              <a:solidFill>
                <a:srgbClr val="000088"/>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n"/>
            </a:pPr>
            <a:r>
              <a:rPr lang="zh-CN" altLang="en-US" sz="2400">
                <a:latin typeface="Times New Roman" panose="02020603050405020304" pitchFamily="18" charset="0"/>
                <a:cs typeface="Times New Roman" panose="02020603050405020304" pitchFamily="18" charset="0"/>
              </a:rPr>
              <a:t>响应码后面的文本字符串称为响应消息（</a:t>
            </a:r>
            <a:r>
              <a:rPr lang="en-US" altLang="zh-CN" sz="2400">
                <a:latin typeface="Times New Roman" panose="02020603050405020304" pitchFamily="18" charset="0"/>
                <a:cs typeface="Times New Roman" panose="02020603050405020304" pitchFamily="18" charset="0"/>
              </a:rPr>
              <a:t>response message) </a:t>
            </a:r>
          </a:p>
          <a:p>
            <a:pPr>
              <a:buFont typeface="Wingdings" panose="05000000000000000000" pitchFamily="2" charset="2"/>
              <a:buChar char="n"/>
            </a:pPr>
            <a:r>
              <a:rPr lang="en-US" altLang="zh-CN" sz="2400" b="1">
                <a:solidFill>
                  <a:srgbClr val="006699"/>
                </a:solidFill>
                <a:latin typeface="Times New Roman" panose="02020603050405020304" pitchFamily="18" charset="0"/>
                <a:cs typeface="Times New Roman" panose="02020603050405020304" pitchFamily="18" charset="0"/>
              </a:rPr>
              <a:t>public</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a:solidFill>
                  <a:srgbClr val="000088"/>
                </a:solidFill>
                <a:latin typeface="Times New Roman" panose="02020603050405020304" pitchFamily="18" charset="0"/>
                <a:cs typeface="Times New Roman" panose="02020603050405020304" pitchFamily="18" charset="0"/>
              </a:rPr>
              <a:t>String</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a:solidFill>
                  <a:srgbClr val="CC00FF"/>
                </a:solidFill>
                <a:latin typeface="Times New Roman" panose="02020603050405020304" pitchFamily="18" charset="0"/>
                <a:cs typeface="Times New Roman" panose="02020603050405020304" pitchFamily="18" charset="0"/>
              </a:rPr>
              <a:t>getResponseMessage</a:t>
            </a:r>
            <a:r>
              <a:rPr lang="en-US" altLang="zh-CN" sz="2400">
                <a:solidFill>
                  <a:srgbClr val="555555"/>
                </a:solidFill>
                <a:latin typeface="Times New Roman" panose="02020603050405020304" pitchFamily="18" charset="0"/>
                <a:cs typeface="Times New Roman" panose="02020603050405020304" pitchFamily="18" charset="0"/>
              </a:rPr>
              <a:t>()</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b="1">
                <a:solidFill>
                  <a:srgbClr val="006699"/>
                </a:solidFill>
                <a:latin typeface="Times New Roman" panose="02020603050405020304" pitchFamily="18" charset="0"/>
                <a:cs typeface="Times New Roman" panose="02020603050405020304" pitchFamily="18" charset="0"/>
              </a:rPr>
              <a:t>throws</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a:solidFill>
                  <a:srgbClr val="000088"/>
                </a:solidFill>
                <a:latin typeface="Times New Roman" panose="02020603050405020304" pitchFamily="18" charset="0"/>
                <a:cs typeface="Times New Roman" panose="02020603050405020304" pitchFamily="18" charset="0"/>
              </a:rPr>
              <a:t>IOException</a:t>
            </a:r>
          </a:p>
          <a:p>
            <a:pPr lvl="1">
              <a:buFont typeface="Wingdings" panose="05000000000000000000" pitchFamily="2" charset="2"/>
              <a:buChar char="p"/>
            </a:pPr>
            <a:r>
              <a:rPr lang="zh-CN" altLang="en-US" sz="2400">
                <a:solidFill>
                  <a:srgbClr val="000088"/>
                </a:solidFill>
                <a:latin typeface="Times New Roman" panose="02020603050405020304" pitchFamily="18" charset="0"/>
                <a:cs typeface="Times New Roman" panose="02020603050405020304" pitchFamily="18" charset="0"/>
              </a:rPr>
              <a:t>获取响应消息</a:t>
            </a:r>
            <a:endParaRPr lang="en-US" altLang="zh-CN" sz="2400">
              <a:solidFill>
                <a:srgbClr val="000088"/>
              </a:solidFill>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默认情况下，</a:t>
            </a:r>
            <a:r>
              <a:rPr lang="en-US" altLang="zh-CN" sz="2400">
                <a:latin typeface="Times New Roman" panose="02020603050405020304" pitchFamily="18" charset="0"/>
                <a:cs typeface="Times New Roman" panose="02020603050405020304" pitchFamily="18" charset="0"/>
              </a:rPr>
              <a:t>HttpURLConnection</a:t>
            </a:r>
            <a:r>
              <a:rPr lang="zh-CN" altLang="en-US" sz="2400">
                <a:latin typeface="Times New Roman" panose="02020603050405020304" pitchFamily="18" charset="0"/>
                <a:cs typeface="Times New Roman" panose="02020603050405020304" pitchFamily="18" charset="0"/>
              </a:rPr>
              <a:t>会跟随重定向，遇到</a:t>
            </a:r>
            <a:r>
              <a:rPr lang="en-US" altLang="zh-CN" sz="2400">
                <a:latin typeface="Times New Roman" panose="02020603050405020304" pitchFamily="18" charset="0"/>
                <a:cs typeface="Times New Roman" panose="02020603050405020304" pitchFamily="18" charset="0"/>
              </a:rPr>
              <a:t>300</a:t>
            </a:r>
            <a:r>
              <a:rPr lang="zh-CN" altLang="en-US" sz="2400">
                <a:latin typeface="Times New Roman" panose="02020603050405020304" pitchFamily="18" charset="0"/>
                <a:cs typeface="Times New Roman" panose="02020603050405020304" pitchFamily="18" charset="0"/>
              </a:rPr>
              <a:t>级响应码时，浏览器自动从新位置加载文档。为防止安全风险，可以调用方法确定是否跟随重定向：</a:t>
            </a:r>
            <a:endParaRPr lang="en-US" altLang="zh-CN" sz="2400">
              <a:latin typeface="Times New Roman" panose="02020603050405020304" pitchFamily="18" charset="0"/>
              <a:cs typeface="Times New Roman" panose="02020603050405020304" pitchFamily="18" charset="0"/>
            </a:endParaRPr>
          </a:p>
          <a:p>
            <a:r>
              <a:rPr lang="en-US" altLang="zh-CN" sz="2400" b="1">
                <a:solidFill>
                  <a:srgbClr val="006699"/>
                </a:solidFill>
                <a:latin typeface="Times New Roman" panose="02020603050405020304" pitchFamily="18" charset="0"/>
                <a:cs typeface="Times New Roman" panose="02020603050405020304" pitchFamily="18" charset="0"/>
              </a:rPr>
              <a:t>public</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b="1">
                <a:solidFill>
                  <a:srgbClr val="006699"/>
                </a:solidFill>
                <a:latin typeface="Times New Roman" panose="02020603050405020304" pitchFamily="18" charset="0"/>
                <a:cs typeface="Times New Roman" panose="02020603050405020304" pitchFamily="18" charset="0"/>
              </a:rPr>
              <a:t>static</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b="1">
                <a:solidFill>
                  <a:srgbClr val="007788"/>
                </a:solidFill>
                <a:latin typeface="Times New Roman" panose="02020603050405020304" pitchFamily="18" charset="0"/>
                <a:cs typeface="Times New Roman" panose="02020603050405020304" pitchFamily="18" charset="0"/>
              </a:rPr>
              <a:t>boolean</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a:solidFill>
                  <a:srgbClr val="CC00FF"/>
                </a:solidFill>
                <a:latin typeface="Times New Roman" panose="02020603050405020304" pitchFamily="18" charset="0"/>
                <a:cs typeface="Times New Roman" panose="02020603050405020304" pitchFamily="18" charset="0"/>
              </a:rPr>
              <a:t>getFollowRedirects</a:t>
            </a:r>
            <a:r>
              <a:rPr lang="en-US" altLang="zh-CN" sz="2400">
                <a:solidFill>
                  <a:srgbClr val="555555"/>
                </a:solidFill>
                <a:latin typeface="Times New Roman" panose="02020603050405020304" pitchFamily="18" charset="0"/>
                <a:cs typeface="Times New Roman" panose="02020603050405020304" pitchFamily="18" charset="0"/>
              </a:rPr>
              <a:t>()</a:t>
            </a:r>
          </a:p>
          <a:p>
            <a:pPr lvl="1">
              <a:buFont typeface="Wingdings" panose="05000000000000000000" pitchFamily="2" charset="2"/>
              <a:buChar char="p"/>
            </a:pPr>
            <a:r>
              <a:rPr lang="zh-CN" altLang="en-US" sz="2000">
                <a:latin typeface="Times New Roman" panose="02020603050405020304" pitchFamily="18" charset="0"/>
                <a:cs typeface="Times New Roman" panose="02020603050405020304" pitchFamily="18" charset="0"/>
              </a:rPr>
              <a:t>返回</a:t>
            </a:r>
            <a:r>
              <a:rPr lang="en-US" altLang="zh-CN" sz="2000">
                <a:latin typeface="Times New Roman" panose="02020603050405020304" pitchFamily="18" charset="0"/>
                <a:cs typeface="Times New Roman" panose="02020603050405020304" pitchFamily="18" charset="0"/>
              </a:rPr>
              <a:t>true</a:t>
            </a:r>
            <a:r>
              <a:rPr lang="zh-CN" altLang="en-US" sz="2000">
                <a:latin typeface="Times New Roman" panose="02020603050405020304" pitchFamily="18" charset="0"/>
                <a:cs typeface="Times New Roman" panose="02020603050405020304" pitchFamily="18" charset="0"/>
              </a:rPr>
              <a:t>表示跟随重定向，否则返回</a:t>
            </a:r>
            <a:r>
              <a:rPr lang="en-US" altLang="zh-CN" sz="2000">
                <a:latin typeface="Times New Roman" panose="02020603050405020304" pitchFamily="18" charset="0"/>
                <a:cs typeface="Times New Roman" panose="02020603050405020304" pitchFamily="18" charset="0"/>
              </a:rPr>
              <a:t>false</a:t>
            </a:r>
          </a:p>
          <a:p>
            <a:r>
              <a:rPr lang="en-US" altLang="zh-CN" sz="2400" b="1">
                <a:solidFill>
                  <a:srgbClr val="006699"/>
                </a:solidFill>
                <a:latin typeface="Times New Roman" panose="02020603050405020304" pitchFamily="18" charset="0"/>
                <a:cs typeface="Times New Roman" panose="02020603050405020304" pitchFamily="18" charset="0"/>
              </a:rPr>
              <a:t>public</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b="1">
                <a:solidFill>
                  <a:srgbClr val="006699"/>
                </a:solidFill>
                <a:latin typeface="Times New Roman" panose="02020603050405020304" pitchFamily="18" charset="0"/>
                <a:cs typeface="Times New Roman" panose="02020603050405020304" pitchFamily="18" charset="0"/>
              </a:rPr>
              <a:t>static</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b="1">
                <a:solidFill>
                  <a:srgbClr val="007788"/>
                </a:solidFill>
                <a:latin typeface="Times New Roman" panose="02020603050405020304" pitchFamily="18" charset="0"/>
                <a:cs typeface="Times New Roman" panose="02020603050405020304" pitchFamily="18" charset="0"/>
              </a:rPr>
              <a:t>void </a:t>
            </a:r>
            <a:r>
              <a:rPr lang="en-US" altLang="zh-CN" sz="2400">
                <a:solidFill>
                  <a:srgbClr val="CC00FF"/>
                </a:solidFill>
                <a:latin typeface="Times New Roman" panose="02020603050405020304" pitchFamily="18" charset="0"/>
                <a:cs typeface="Times New Roman" panose="02020603050405020304" pitchFamily="18" charset="0"/>
              </a:rPr>
              <a:t>setFollowRedirects</a:t>
            </a:r>
            <a:r>
              <a:rPr lang="en-US" altLang="zh-CN" sz="2400">
                <a:solidFill>
                  <a:srgbClr val="555555"/>
                </a:solidFill>
                <a:latin typeface="Times New Roman" panose="02020603050405020304" pitchFamily="18" charset="0"/>
                <a:cs typeface="Times New Roman" panose="02020603050405020304" pitchFamily="18" charset="0"/>
              </a:rPr>
              <a:t>(</a:t>
            </a:r>
            <a:r>
              <a:rPr lang="en-US" altLang="zh-CN" sz="2400" b="1">
                <a:solidFill>
                  <a:srgbClr val="007788"/>
                </a:solidFill>
                <a:latin typeface="Times New Roman" panose="02020603050405020304" pitchFamily="18" charset="0"/>
                <a:cs typeface="Times New Roman" panose="02020603050405020304" pitchFamily="18" charset="0"/>
              </a:rPr>
              <a:t>boolean</a:t>
            </a:r>
            <a:r>
              <a:rPr lang="en-US" altLang="zh-CN" sz="2400">
                <a:solidFill>
                  <a:srgbClr val="1B1C20"/>
                </a:solidFill>
                <a:latin typeface="Times New Roman" panose="02020603050405020304" pitchFamily="18" charset="0"/>
                <a:cs typeface="Times New Roman" panose="02020603050405020304" pitchFamily="18" charset="0"/>
              </a:rPr>
              <a:t> </a:t>
            </a:r>
            <a:r>
              <a:rPr lang="en-US" altLang="zh-CN" sz="2400">
                <a:solidFill>
                  <a:srgbClr val="000088"/>
                </a:solidFill>
                <a:latin typeface="Times New Roman" panose="02020603050405020304" pitchFamily="18" charset="0"/>
                <a:cs typeface="Times New Roman" panose="02020603050405020304" pitchFamily="18" charset="0"/>
              </a:rPr>
              <a:t>follow</a:t>
            </a:r>
            <a:r>
              <a:rPr lang="en-US" altLang="zh-CN" sz="2400">
                <a:solidFill>
                  <a:srgbClr val="555555"/>
                </a:solidFill>
                <a:latin typeface="Times New Roman" panose="02020603050405020304" pitchFamily="18" charset="0"/>
                <a:cs typeface="Times New Roman" panose="02020603050405020304" pitchFamily="18" charset="0"/>
              </a:rPr>
              <a:t>)</a:t>
            </a:r>
          </a:p>
          <a:p>
            <a:pPr lvl="1">
              <a:buFont typeface="Wingdings" panose="05000000000000000000" pitchFamily="2" charset="2"/>
              <a:buChar char="p"/>
            </a:pPr>
            <a:r>
              <a:rPr lang="zh-CN" altLang="en-US" sz="2000">
                <a:latin typeface="Times New Roman" panose="02020603050405020304" pitchFamily="18" charset="0"/>
                <a:cs typeface="Times New Roman" panose="02020603050405020304" pitchFamily="18" charset="0"/>
              </a:rPr>
              <a:t>设置为</a:t>
            </a:r>
            <a:r>
              <a:rPr lang="en-US" altLang="zh-CN" sz="2000">
                <a:latin typeface="Times New Roman" panose="02020603050405020304" pitchFamily="18" charset="0"/>
                <a:cs typeface="Times New Roman" panose="02020603050405020304" pitchFamily="18" charset="0"/>
              </a:rPr>
              <a:t>true</a:t>
            </a:r>
            <a:r>
              <a:rPr lang="zh-CN" altLang="en-US" sz="2000">
                <a:latin typeface="Times New Roman" panose="02020603050405020304" pitchFamily="18" charset="0"/>
                <a:cs typeface="Times New Roman" panose="02020603050405020304" pitchFamily="18" charset="0"/>
              </a:rPr>
              <a:t>表示允许</a:t>
            </a:r>
            <a:r>
              <a:rPr lang="en-US" altLang="zh-CN" sz="2000">
                <a:latin typeface="Times New Roman" panose="02020603050405020304" pitchFamily="18" charset="0"/>
                <a:cs typeface="Times New Roman" panose="02020603050405020304" pitchFamily="18" charset="0"/>
              </a:rPr>
              <a:t>HttpURLConnection</a:t>
            </a:r>
            <a:r>
              <a:rPr lang="zh-CN" altLang="en-US" sz="2000">
                <a:latin typeface="Times New Roman" panose="02020603050405020304" pitchFamily="18" charset="0"/>
                <a:cs typeface="Times New Roman" panose="02020603050405020304" pitchFamily="18" charset="0"/>
              </a:rPr>
              <a:t>对象跟随重定向，设置为</a:t>
            </a:r>
            <a:r>
              <a:rPr lang="en-US" altLang="zh-CN" sz="2000">
                <a:latin typeface="Times New Roman" panose="02020603050405020304" pitchFamily="18" charset="0"/>
                <a:cs typeface="Times New Roman" panose="02020603050405020304" pitchFamily="18" charset="0"/>
              </a:rPr>
              <a:t>false</a:t>
            </a:r>
            <a:r>
              <a:rPr lang="zh-CN" altLang="en-US" sz="2000">
                <a:latin typeface="Times New Roman" panose="02020603050405020304" pitchFamily="18" charset="0"/>
                <a:cs typeface="Times New Roman" panose="02020603050405020304" pitchFamily="18" charset="0"/>
              </a:rPr>
              <a:t>表示阻止跟随。</a:t>
            </a:r>
            <a:endParaRPr lang="en-US" altLang="zh-CN"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a:extLst>
              <a:ext uri="{FF2B5EF4-FFF2-40B4-BE49-F238E27FC236}">
                <a16:creationId xmlns:a16="http://schemas.microsoft.com/office/drawing/2014/main" id="{ED3B3632-723B-4B7E-817B-02CA0E62313F}"/>
              </a:ext>
            </a:extLst>
          </p:cNvPr>
          <p:cNvSpPr>
            <a:spLocks noGrp="1"/>
          </p:cNvSpPr>
          <p:nvPr>
            <p:ph type="title"/>
          </p:nvPr>
        </p:nvSpPr>
        <p:spPr>
          <a:xfrm>
            <a:off x="1825625" y="228600"/>
            <a:ext cx="8540750" cy="685800"/>
          </a:xfrm>
        </p:spPr>
        <p:txBody>
          <a:bodyPr/>
          <a:lstStyle/>
          <a:p>
            <a:pPr algn="l"/>
            <a:r>
              <a:rPr lang="zh-CN" altLang="en-US" sz="3200"/>
              <a:t>处理服务器的响应</a:t>
            </a:r>
          </a:p>
        </p:txBody>
      </p:sp>
      <p:sp>
        <p:nvSpPr>
          <p:cNvPr id="117763" name="内容占位符 2">
            <a:extLst>
              <a:ext uri="{FF2B5EF4-FFF2-40B4-BE49-F238E27FC236}">
                <a16:creationId xmlns:a16="http://schemas.microsoft.com/office/drawing/2014/main" id="{19BB4033-0E5A-444D-8C0F-EF673342C5C4}"/>
              </a:ext>
            </a:extLst>
          </p:cNvPr>
          <p:cNvSpPr>
            <a:spLocks noGrp="1"/>
          </p:cNvSpPr>
          <p:nvPr>
            <p:ph idx="1"/>
          </p:nvPr>
        </p:nvSpPr>
        <p:spPr>
          <a:xfrm>
            <a:off x="1825626" y="946151"/>
            <a:ext cx="8613775" cy="5135563"/>
          </a:xfrm>
        </p:spPr>
        <p:txBody>
          <a:bodyPr/>
          <a:lstStyle/>
          <a:p>
            <a:r>
              <a:rPr lang="en-US" altLang="zh-CN" sz="2400">
                <a:latin typeface="Times New Roman" panose="02020603050405020304" pitchFamily="18" charset="0"/>
                <a:cs typeface="Times New Roman" panose="02020603050405020304" pitchFamily="18" charset="0"/>
              </a:rPr>
              <a:t>HttpURLConnection</a:t>
            </a:r>
            <a:r>
              <a:rPr lang="zh-CN" altLang="en-US" sz="2400">
                <a:latin typeface="Times New Roman" panose="02020603050405020304" pitchFamily="18" charset="0"/>
                <a:cs typeface="Times New Roman" panose="02020603050405020304" pitchFamily="18" charset="0"/>
              </a:rPr>
              <a:t>类包括</a:t>
            </a:r>
            <a:r>
              <a:rPr lang="en-US" altLang="zh-CN" sz="2400">
                <a:latin typeface="Times New Roman" panose="02020603050405020304" pitchFamily="18" charset="0"/>
                <a:cs typeface="Times New Roman" panose="02020603050405020304" pitchFamily="18" charset="0"/>
              </a:rPr>
              <a:t>36</a:t>
            </a:r>
            <a:r>
              <a:rPr lang="zh-CN" altLang="en-US" sz="2400">
                <a:latin typeface="Times New Roman" panose="02020603050405020304" pitchFamily="18" charset="0"/>
                <a:cs typeface="Times New Roman" panose="02020603050405020304" pitchFamily="18" charset="0"/>
              </a:rPr>
              <a:t>个命名常量，表示常见的响应码</a:t>
            </a:r>
            <a:endParaRPr lang="en-US" altLang="zh-CN" sz="240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zh-CN" altLang="en-US" sz="2000">
                <a:latin typeface="Times New Roman" panose="02020603050405020304" pitchFamily="18" charset="0"/>
                <a:cs typeface="Times New Roman" panose="02020603050405020304" pitchFamily="18" charset="0"/>
              </a:rPr>
              <a:t>例如  </a:t>
            </a:r>
            <a:r>
              <a:rPr lang="en-US" altLang="zh-CN" sz="2000">
                <a:latin typeface="Times New Roman" panose="02020603050405020304" pitchFamily="18" charset="0"/>
                <a:cs typeface="Times New Roman" panose="02020603050405020304" pitchFamily="18" charset="0"/>
              </a:rPr>
              <a:t>HttpURLConnection.OK,</a:t>
            </a:r>
          </a:p>
          <a:p>
            <a:pPr lvl="1">
              <a:buFont typeface="Wingdings" panose="05000000000000000000" pitchFamily="2" charset="2"/>
              <a:buChar char="p"/>
            </a:pPr>
            <a:r>
              <a:rPr lang="zh-CN" altLang="en-US" sz="2000">
                <a:latin typeface="Times New Roman" panose="02020603050405020304" pitchFamily="18" charset="0"/>
                <a:cs typeface="Times New Roman" panose="02020603050405020304" pitchFamily="18" charset="0"/>
              </a:rPr>
              <a:t>例如 </a:t>
            </a:r>
            <a:r>
              <a:rPr lang="en-US" altLang="zh-CN" sz="2000">
                <a:latin typeface="Times New Roman" panose="02020603050405020304" pitchFamily="18" charset="0"/>
                <a:cs typeface="Times New Roman" panose="02020603050405020304" pitchFamily="18" charset="0"/>
              </a:rPr>
              <a:t>HttpURLConnection.NOT_FOUND</a:t>
            </a:r>
          </a:p>
          <a:p>
            <a:r>
              <a:rPr lang="zh-CN" altLang="en-US" sz="2400">
                <a:latin typeface="Times New Roman" panose="02020603050405020304" pitchFamily="18" charset="0"/>
                <a:cs typeface="Times New Roman" panose="02020603050405020304" pitchFamily="18" charset="0"/>
              </a:rPr>
              <a:t>演示例子程序</a:t>
            </a:r>
            <a:r>
              <a:rPr lang="en-US" altLang="zh-CN" sz="2400">
                <a:latin typeface="Times New Roman" panose="02020603050405020304" pitchFamily="18" charset="0"/>
                <a:cs typeface="Times New Roman" panose="02020603050405020304" pitchFamily="18" charset="0"/>
              </a:rPr>
              <a:t>ch7.SourceViewer3.java</a:t>
            </a:r>
            <a:r>
              <a:rPr lang="zh-CN" altLang="en-US" sz="2400">
                <a:latin typeface="Times New Roman" panose="02020603050405020304" pitchFamily="18" charset="0"/>
                <a:cs typeface="Times New Roman" panose="02020603050405020304" pitchFamily="18" charset="0"/>
              </a:rPr>
              <a:t>， 修改了之前的源码查看程序，可以查看响应消息。</a:t>
            </a:r>
            <a:endParaRPr lang="en-US" altLang="zh-CN" sz="2400">
              <a:latin typeface="Times New Roman" panose="02020603050405020304" pitchFamily="18" charset="0"/>
              <a:cs typeface="Times New Roman" panose="02020603050405020304" pitchFamily="18" charset="0"/>
            </a:endParaRPr>
          </a:p>
          <a:p>
            <a:endParaRPr lang="en-US" altLang="zh-CN"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B1C69D12-794A-47AD-A5D9-D81DF98CBDB3}"/>
              </a:ext>
            </a:extLst>
          </p:cNvPr>
          <p:cNvSpPr>
            <a:spLocks noGrp="1"/>
          </p:cNvSpPr>
          <p:nvPr>
            <p:ph type="title"/>
          </p:nvPr>
        </p:nvSpPr>
        <p:spPr>
          <a:xfrm>
            <a:off x="1825625" y="228600"/>
            <a:ext cx="8540750" cy="685800"/>
          </a:xfrm>
        </p:spPr>
        <p:txBody>
          <a:bodyPr/>
          <a:lstStyle/>
          <a:p>
            <a:pPr algn="l"/>
            <a:r>
              <a:rPr lang="zh-CN" altLang="en-US" sz="3200"/>
              <a:t>处理服务器的响应</a:t>
            </a:r>
          </a:p>
        </p:txBody>
      </p:sp>
      <p:pic>
        <p:nvPicPr>
          <p:cNvPr id="118787" name="图片 2">
            <a:extLst>
              <a:ext uri="{FF2B5EF4-FFF2-40B4-BE49-F238E27FC236}">
                <a16:creationId xmlns:a16="http://schemas.microsoft.com/office/drawing/2014/main" id="{121521EE-9E75-436A-A885-5E5BFD7BFB8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8991600"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a:extLst>
              <a:ext uri="{FF2B5EF4-FFF2-40B4-BE49-F238E27FC236}">
                <a16:creationId xmlns:a16="http://schemas.microsoft.com/office/drawing/2014/main" id="{73ED16E5-B029-4EE0-8AFD-54FE0F4F65A3}"/>
              </a:ext>
            </a:extLst>
          </p:cNvPr>
          <p:cNvSpPr>
            <a:spLocks noGrp="1"/>
          </p:cNvSpPr>
          <p:nvPr>
            <p:ph type="title"/>
          </p:nvPr>
        </p:nvSpPr>
        <p:spPr>
          <a:xfrm>
            <a:off x="1825625" y="228600"/>
            <a:ext cx="8540750" cy="685800"/>
          </a:xfrm>
        </p:spPr>
        <p:txBody>
          <a:bodyPr/>
          <a:lstStyle/>
          <a:p>
            <a:pPr algn="l"/>
            <a:r>
              <a:rPr lang="zh-CN" altLang="en-US" sz="3200"/>
              <a:t>处理服务器的响应</a:t>
            </a:r>
          </a:p>
        </p:txBody>
      </p:sp>
      <p:pic>
        <p:nvPicPr>
          <p:cNvPr id="119811" name="图片 1">
            <a:extLst>
              <a:ext uri="{FF2B5EF4-FFF2-40B4-BE49-F238E27FC236}">
                <a16:creationId xmlns:a16="http://schemas.microsoft.com/office/drawing/2014/main" id="{761EACFF-E028-41C6-A20A-B3D36879311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87514" y="1295401"/>
            <a:ext cx="881697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a:extLst>
              <a:ext uri="{FF2B5EF4-FFF2-40B4-BE49-F238E27FC236}">
                <a16:creationId xmlns:a16="http://schemas.microsoft.com/office/drawing/2014/main" id="{38C54634-979A-4DCB-8026-93017328371C}"/>
              </a:ext>
            </a:extLst>
          </p:cNvPr>
          <p:cNvSpPr>
            <a:spLocks noGrp="1"/>
          </p:cNvSpPr>
          <p:nvPr>
            <p:ph type="title"/>
          </p:nvPr>
        </p:nvSpPr>
        <p:spPr>
          <a:xfrm>
            <a:off x="1538288" y="12700"/>
            <a:ext cx="8540750" cy="685800"/>
          </a:xfrm>
        </p:spPr>
        <p:txBody>
          <a:bodyPr/>
          <a:lstStyle/>
          <a:p>
            <a:pPr algn="l"/>
            <a:r>
              <a:rPr lang="zh-CN" altLang="en-US" sz="3200"/>
              <a:t>错误流的读取</a:t>
            </a:r>
          </a:p>
        </p:txBody>
      </p:sp>
      <p:sp>
        <p:nvSpPr>
          <p:cNvPr id="120835" name="内容占位符 2">
            <a:extLst>
              <a:ext uri="{FF2B5EF4-FFF2-40B4-BE49-F238E27FC236}">
                <a16:creationId xmlns:a16="http://schemas.microsoft.com/office/drawing/2014/main" id="{8DF6E5CE-BB17-4525-BE67-F3D4CE009269}"/>
              </a:ext>
            </a:extLst>
          </p:cNvPr>
          <p:cNvSpPr>
            <a:spLocks noGrp="1"/>
          </p:cNvSpPr>
          <p:nvPr>
            <p:ph idx="1"/>
          </p:nvPr>
        </p:nvSpPr>
        <p:spPr>
          <a:xfrm>
            <a:off x="1674814" y="698500"/>
            <a:ext cx="8556625" cy="3035300"/>
          </a:xfrm>
        </p:spPr>
        <p:txBody>
          <a:bodyPr/>
          <a:lstStyle/>
          <a:p>
            <a:r>
              <a:rPr lang="zh-CN" altLang="en-US" sz="2400" dirty="0">
                <a:latin typeface="Times New Roman" panose="02020603050405020304" pitchFamily="18" charset="0"/>
                <a:cs typeface="Times New Roman" panose="02020603050405020304" pitchFamily="18" charset="0"/>
              </a:rPr>
              <a:t>服务器遇到一个错误，仍会在消息主体中返回有用的信息</a:t>
            </a:r>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例如客户端向网站请求的页面</a:t>
            </a:r>
            <a:r>
              <a:rPr lang="en-US" altLang="zh-CN" sz="2400" dirty="0">
                <a:latin typeface="Times New Roman" panose="02020603050405020304" pitchFamily="18" charset="0"/>
                <a:cs typeface="Times New Roman" panose="02020603050405020304" pitchFamily="18" charset="0"/>
                <a:hlinkClick r:id="rId2"/>
              </a:rPr>
              <a:t>http://www.cafeaulait.org/sliders</a:t>
            </a:r>
            <a:r>
              <a:rPr lang="zh-CN" altLang="en-US" sz="2400" dirty="0">
                <a:latin typeface="Times New Roman" panose="02020603050405020304" pitchFamily="18" charset="0"/>
                <a:cs typeface="Times New Roman" panose="02020603050405020304" pitchFamily="18" charset="0"/>
                <a:hlinkClick r:id="rId2"/>
              </a:rPr>
              <a:t>不存在时，服务器返回</a:t>
            </a:r>
            <a:r>
              <a:rPr lang="en-US" altLang="zh-CN" sz="2400" dirty="0">
                <a:latin typeface="Times New Roman" panose="02020603050405020304" pitchFamily="18" charset="0"/>
                <a:cs typeface="Times New Roman" panose="02020603050405020304" pitchFamily="18" charset="0"/>
                <a:hlinkClick r:id="rId2"/>
              </a:rPr>
              <a:t>404</a:t>
            </a:r>
            <a:r>
              <a:rPr lang="zh-CN" altLang="en-US" sz="2400" dirty="0">
                <a:latin typeface="Times New Roman" panose="02020603050405020304" pitchFamily="18" charset="0"/>
                <a:cs typeface="Times New Roman" panose="02020603050405020304" pitchFamily="18" charset="0"/>
              </a:rPr>
              <a:t>错误码的同时，会发送一个搜索页面，帮助用户确定缺少的页面可能在哪里。</a:t>
            </a:r>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2132E782-8646-4861-B9FC-D79E396D1BC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73851" y="2638426"/>
            <a:ext cx="4291012" cy="379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FBE14E71-675E-4ED4-94FC-03851278B6C8}"/>
              </a:ext>
            </a:extLst>
          </p:cNvPr>
          <p:cNvSpPr txBox="1">
            <a:spLocks noChangeArrowheads="1"/>
          </p:cNvSpPr>
          <p:nvPr/>
        </p:nvSpPr>
        <p:spPr bwMode="auto">
          <a:xfrm>
            <a:off x="1695450" y="3875089"/>
            <a:ext cx="34290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2000">
                <a:solidFill>
                  <a:schemeClr val="tx2"/>
                </a:solidFill>
              </a:rPr>
              <a:t>演示编码例子：</a:t>
            </a:r>
            <a:r>
              <a:rPr lang="en-US" altLang="zh-CN" sz="2000">
                <a:solidFill>
                  <a:schemeClr val="tx2"/>
                </a:solidFill>
              </a:rPr>
              <a:t>ch7.SourceView4.java</a:t>
            </a:r>
            <a:r>
              <a:rPr lang="zh-CN" altLang="en-US" sz="2000">
                <a:solidFill>
                  <a:schemeClr val="tx2"/>
                </a:solidFill>
              </a:rPr>
              <a:t>，程序从输入流读取数据，若读取失败，则读取错误流。</a:t>
            </a:r>
          </a:p>
        </p:txBody>
      </p:sp>
      <p:sp>
        <p:nvSpPr>
          <p:cNvPr id="4" name="文本框 3">
            <a:extLst>
              <a:ext uri="{FF2B5EF4-FFF2-40B4-BE49-F238E27FC236}">
                <a16:creationId xmlns:a16="http://schemas.microsoft.com/office/drawing/2014/main" id="{83603B7E-0CF9-422D-AD11-59027321CF5C}"/>
              </a:ext>
            </a:extLst>
          </p:cNvPr>
          <p:cNvSpPr txBox="1">
            <a:spLocks noChangeArrowheads="1"/>
          </p:cNvSpPr>
          <p:nvPr/>
        </p:nvSpPr>
        <p:spPr bwMode="auto">
          <a:xfrm>
            <a:off x="1660525" y="2657475"/>
            <a:ext cx="48768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dirty="0"/>
              <a:t>Public </a:t>
            </a:r>
            <a:r>
              <a:rPr lang="en-US" altLang="zh-CN" sz="1800" dirty="0" err="1"/>
              <a:t>InputStream</a:t>
            </a:r>
            <a:r>
              <a:rPr lang="en-US" altLang="zh-CN" sz="1800" dirty="0"/>
              <a:t> </a:t>
            </a:r>
            <a:r>
              <a:rPr lang="en-US" altLang="zh-CN" sz="1800" dirty="0" err="1"/>
              <a:t>getErrorStream</a:t>
            </a:r>
            <a:r>
              <a:rPr lang="en-US" altLang="zh-CN" sz="1800" dirty="0"/>
              <a:t>()</a:t>
            </a:r>
          </a:p>
          <a:p>
            <a:pPr>
              <a:spcBef>
                <a:spcPct val="0"/>
              </a:spcBef>
              <a:buClrTx/>
              <a:buSzTx/>
              <a:buFontTx/>
              <a:buNone/>
            </a:pPr>
            <a:r>
              <a:rPr lang="en-US" altLang="zh-CN" sz="1800" dirty="0" err="1"/>
              <a:t>getInputStream</a:t>
            </a:r>
            <a:r>
              <a:rPr lang="zh-CN" altLang="en-US" sz="1800" dirty="0"/>
              <a:t>失败后，</a:t>
            </a:r>
            <a:endParaRPr lang="en-US" altLang="zh-CN" sz="1800" dirty="0"/>
          </a:p>
          <a:p>
            <a:pPr>
              <a:spcBef>
                <a:spcPct val="0"/>
              </a:spcBef>
              <a:buClrTx/>
              <a:buSzTx/>
              <a:buFontTx/>
              <a:buNone/>
            </a:pPr>
            <a:r>
              <a:rPr lang="zh-CN" altLang="en-US" sz="1800" dirty="0"/>
              <a:t>可在</a:t>
            </a:r>
            <a:r>
              <a:rPr lang="en-US" altLang="zh-CN" sz="1800" dirty="0"/>
              <a:t>catch</a:t>
            </a:r>
            <a:r>
              <a:rPr lang="zh-CN" altLang="en-US" sz="1800" dirty="0"/>
              <a:t>块中调用此方法获得错误流。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Effect transition="in" filter="fade">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1">
            <a:extLst>
              <a:ext uri="{FF2B5EF4-FFF2-40B4-BE49-F238E27FC236}">
                <a16:creationId xmlns:a16="http://schemas.microsoft.com/office/drawing/2014/main" id="{FD479F05-8115-4761-8A8D-08681A54A91F}"/>
              </a:ext>
            </a:extLst>
          </p:cNvPr>
          <p:cNvSpPr>
            <a:spLocks noGrp="1"/>
          </p:cNvSpPr>
          <p:nvPr>
            <p:ph type="title"/>
          </p:nvPr>
        </p:nvSpPr>
        <p:spPr>
          <a:xfrm>
            <a:off x="1538288" y="12700"/>
            <a:ext cx="8540750" cy="685800"/>
          </a:xfrm>
        </p:spPr>
        <p:txBody>
          <a:bodyPr/>
          <a:lstStyle/>
          <a:p>
            <a:pPr algn="l"/>
            <a:r>
              <a:rPr lang="zh-CN" altLang="en-US" sz="3200"/>
              <a:t>错误流的读取</a:t>
            </a:r>
          </a:p>
        </p:txBody>
      </p:sp>
      <p:pic>
        <p:nvPicPr>
          <p:cNvPr id="121859" name="图片 5">
            <a:extLst>
              <a:ext uri="{FF2B5EF4-FFF2-40B4-BE49-F238E27FC236}">
                <a16:creationId xmlns:a16="http://schemas.microsoft.com/office/drawing/2014/main" id="{AF0A91DD-521F-4E58-892F-371B8D03DD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
            <a:ext cx="7848600" cy="459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860" name="图片 6">
            <a:extLst>
              <a:ext uri="{FF2B5EF4-FFF2-40B4-BE49-F238E27FC236}">
                <a16:creationId xmlns:a16="http://schemas.microsoft.com/office/drawing/2014/main" id="{91FC6947-C923-4B5C-BF98-7E58A161A36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629150"/>
            <a:ext cx="82359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
            <a:extLst>
              <a:ext uri="{FF2B5EF4-FFF2-40B4-BE49-F238E27FC236}">
                <a16:creationId xmlns:a16="http://schemas.microsoft.com/office/drawing/2014/main" id="{91FF2361-A7EA-48E5-A695-BEF4E428B7D2}"/>
              </a:ext>
            </a:extLst>
          </p:cNvPr>
          <p:cNvSpPr>
            <a:spLocks noGrp="1"/>
          </p:cNvSpPr>
          <p:nvPr>
            <p:ph type="title"/>
          </p:nvPr>
        </p:nvSpPr>
        <p:spPr>
          <a:xfrm>
            <a:off x="1825625" y="228600"/>
            <a:ext cx="8540750" cy="685800"/>
          </a:xfrm>
        </p:spPr>
        <p:txBody>
          <a:bodyPr/>
          <a:lstStyle/>
          <a:p>
            <a:r>
              <a:rPr lang="zh-CN" altLang="en-US" sz="3200"/>
              <a:t>其它参考资源</a:t>
            </a:r>
          </a:p>
        </p:txBody>
      </p:sp>
      <p:sp>
        <p:nvSpPr>
          <p:cNvPr id="122883" name="内容占位符 2">
            <a:extLst>
              <a:ext uri="{FF2B5EF4-FFF2-40B4-BE49-F238E27FC236}">
                <a16:creationId xmlns:a16="http://schemas.microsoft.com/office/drawing/2014/main" id="{C6159A4B-1EDD-47AD-A202-1C494C5277C0}"/>
              </a:ext>
            </a:extLst>
          </p:cNvPr>
          <p:cNvSpPr>
            <a:spLocks noGrp="1"/>
          </p:cNvSpPr>
          <p:nvPr>
            <p:ph idx="1"/>
          </p:nvPr>
        </p:nvSpPr>
        <p:spPr>
          <a:xfrm>
            <a:off x="1828800" y="1295401"/>
            <a:ext cx="82296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2400">
                <a:latin typeface="Times New Roman" panose="02020603050405020304" pitchFamily="18" charset="0"/>
                <a:cs typeface="Times New Roman" panose="02020603050405020304" pitchFamily="18" charset="0"/>
              </a:rPr>
              <a:t>URLConnection</a:t>
            </a:r>
            <a:r>
              <a:rPr lang="zh-CN" altLang="en-US" sz="2400">
                <a:latin typeface="Times New Roman" panose="02020603050405020304" pitchFamily="18" charset="0"/>
                <a:cs typeface="Times New Roman" panose="02020603050405020304" pitchFamily="18" charset="0"/>
              </a:rPr>
              <a:t>类</a:t>
            </a:r>
            <a:r>
              <a:rPr lang="en-US" altLang="zh-CN" sz="2400">
                <a:latin typeface="Times New Roman" panose="02020603050405020304" pitchFamily="18" charset="0"/>
                <a:cs typeface="Times New Roman" panose="02020603050405020304" pitchFamily="18" charset="0"/>
                <a:hlinkClick r:id="rId2"/>
              </a:rPr>
              <a:t>http://download.oracle.com/technetwork/java/javase/6/docs/zh/api/java/net/URLConnection.html</a:t>
            </a:r>
            <a:endParaRPr lang="en-US" altLang="zh-CN" sz="2400">
              <a:latin typeface="Times New Roman" panose="02020603050405020304" pitchFamily="18" charset="0"/>
              <a:cs typeface="Times New Roman" panose="02020603050405020304" pitchFamily="18" charset="0"/>
            </a:endParaRPr>
          </a:p>
          <a:p>
            <a:endParaRPr lang="en-US" altLang="zh-CN"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a:extLst>
              <a:ext uri="{FF2B5EF4-FFF2-40B4-BE49-F238E27FC236}">
                <a16:creationId xmlns:a16="http://schemas.microsoft.com/office/drawing/2014/main" id="{FE35FF6D-AFA5-4B88-9C67-F826F89070C9}"/>
              </a:ext>
            </a:extLst>
          </p:cNvPr>
          <p:cNvSpPr>
            <a:spLocks noGrp="1"/>
          </p:cNvSpPr>
          <p:nvPr>
            <p:ph type="title"/>
          </p:nvPr>
        </p:nvSpPr>
        <p:spPr>
          <a:xfrm>
            <a:off x="1825625" y="228600"/>
            <a:ext cx="8540750" cy="685800"/>
          </a:xfrm>
        </p:spPr>
        <p:txBody>
          <a:bodyPr/>
          <a:lstStyle/>
          <a:p>
            <a:pPr algn="l"/>
            <a:r>
              <a:rPr lang="zh-CN" altLang="en-US" sz="3200"/>
              <a:t>利用</a:t>
            </a:r>
            <a:r>
              <a:rPr lang="en-US" altLang="zh-CN" sz="3200"/>
              <a:t>HttpURLConnection</a:t>
            </a:r>
            <a:r>
              <a:rPr lang="zh-CN" altLang="en-US" sz="3200"/>
              <a:t>对象和</a:t>
            </a:r>
            <a:r>
              <a:rPr lang="en-US" altLang="zh-CN" sz="3200"/>
              <a:t>Internet</a:t>
            </a:r>
            <a:r>
              <a:rPr lang="zh-CN" altLang="en-US" sz="3200"/>
              <a:t>交互 </a:t>
            </a:r>
          </a:p>
        </p:txBody>
      </p:sp>
      <p:sp>
        <p:nvSpPr>
          <p:cNvPr id="123907" name="内容占位符 2">
            <a:extLst>
              <a:ext uri="{FF2B5EF4-FFF2-40B4-BE49-F238E27FC236}">
                <a16:creationId xmlns:a16="http://schemas.microsoft.com/office/drawing/2014/main" id="{02F4A6F3-CE5E-4090-B1F9-C65C96DF1E0B}"/>
              </a:ext>
            </a:extLst>
          </p:cNvPr>
          <p:cNvSpPr>
            <a:spLocks noGrp="1"/>
          </p:cNvSpPr>
          <p:nvPr>
            <p:ph idx="1"/>
          </p:nvPr>
        </p:nvSpPr>
        <p:spPr>
          <a:xfrm>
            <a:off x="381000" y="990601"/>
            <a:ext cx="11506200" cy="5135563"/>
          </a:xfrm>
        </p:spPr>
        <p:txBody>
          <a:bodyPr/>
          <a:lstStyle/>
          <a:p>
            <a:r>
              <a:rPr lang="zh-CN" altLang="en-US" sz="2800" b="1" dirty="0">
                <a:latin typeface="Times New Roman" panose="02020603050405020304" pitchFamily="18" charset="0"/>
                <a:cs typeface="Times New Roman" panose="02020603050405020304" pitchFamily="18" charset="0"/>
              </a:rPr>
              <a:t>从</a:t>
            </a:r>
            <a:r>
              <a:rPr lang="en-US" altLang="zh-CN" sz="2800" b="1" dirty="0">
                <a:latin typeface="Times New Roman" panose="02020603050405020304" pitchFamily="18" charset="0"/>
                <a:cs typeface="Times New Roman" panose="02020603050405020304" pitchFamily="18" charset="0"/>
              </a:rPr>
              <a:t>Internet</a:t>
            </a:r>
            <a:r>
              <a:rPr lang="zh-CN" altLang="en-US" sz="2800" b="1" dirty="0">
                <a:latin typeface="Times New Roman" panose="02020603050405020304" pitchFamily="18" charset="0"/>
                <a:cs typeface="Times New Roman" panose="02020603050405020304" pitchFamily="18" charset="0"/>
              </a:rPr>
              <a:t>获取网页</a:t>
            </a:r>
            <a:endParaRPr lang="en-US" altLang="zh-CN" sz="2800" b="1" dirty="0">
              <a:latin typeface="Times New Roman" panose="02020603050405020304" pitchFamily="18" charset="0"/>
              <a:cs typeface="Times New Roman" panose="02020603050405020304" pitchFamily="18" charset="0"/>
            </a:endParaRPr>
          </a:p>
          <a:p>
            <a:r>
              <a:rPr lang="zh-CN" altLang="en-US" sz="2400" dirty="0"/>
              <a:t>发送请求</a:t>
            </a:r>
            <a:r>
              <a:rPr lang="en-US" altLang="zh-CN" sz="2400" dirty="0"/>
              <a:t>,</a:t>
            </a:r>
            <a:r>
              <a:rPr lang="zh-CN" altLang="en-US" sz="2400" dirty="0">
                <a:solidFill>
                  <a:srgbClr val="FF0000"/>
                </a:solidFill>
              </a:rPr>
              <a:t>将网页以流的形式读回来</a:t>
            </a:r>
            <a:r>
              <a:rPr lang="en-US" altLang="zh-CN" sz="2400" dirty="0"/>
              <a:t>.</a:t>
            </a:r>
            <a:br>
              <a:rPr lang="zh-CN" altLang="en-US" sz="1800" dirty="0"/>
            </a:br>
            <a:r>
              <a:rPr lang="en-US" altLang="zh-CN" sz="2400" dirty="0"/>
              <a:t>1)</a:t>
            </a:r>
            <a:r>
              <a:rPr lang="zh-CN" altLang="en-US" sz="2400" dirty="0"/>
              <a:t>创建一个</a:t>
            </a:r>
            <a:r>
              <a:rPr lang="en-US" altLang="zh-CN" sz="2400" dirty="0"/>
              <a:t>URL</a:t>
            </a:r>
            <a:r>
              <a:rPr lang="zh-CN" altLang="en-US" sz="2400" dirty="0"/>
              <a:t>对象</a:t>
            </a:r>
            <a:r>
              <a:rPr lang="en-US" altLang="zh-CN" sz="2400" dirty="0"/>
              <a:t>:URL </a:t>
            </a:r>
            <a:r>
              <a:rPr lang="en-US" altLang="zh-CN" sz="2400" dirty="0" err="1"/>
              <a:t>url</a:t>
            </a:r>
            <a:r>
              <a:rPr lang="en-US" altLang="zh-CN" sz="2400" dirty="0"/>
              <a:t> = new URL("http://www.sohu.com");</a:t>
            </a:r>
            <a:br>
              <a:rPr lang="en-US" altLang="zh-CN" sz="1800" dirty="0"/>
            </a:br>
            <a:r>
              <a:rPr lang="en-US" altLang="zh-CN" sz="2400" dirty="0"/>
              <a:t>2)</a:t>
            </a:r>
            <a:r>
              <a:rPr lang="zh-CN" altLang="en-US" sz="2400" dirty="0"/>
              <a:t>利用</a:t>
            </a:r>
            <a:r>
              <a:rPr lang="en-US" altLang="zh-CN" sz="2400" dirty="0" err="1"/>
              <a:t>HttpURLConnection</a:t>
            </a:r>
            <a:r>
              <a:rPr lang="zh-CN" altLang="en-US" sz="2400" dirty="0"/>
              <a:t>对象从网络中获取网页数据</a:t>
            </a:r>
            <a:r>
              <a:rPr lang="en-US" altLang="zh-CN" sz="2400" dirty="0"/>
              <a:t>:</a:t>
            </a:r>
            <a:r>
              <a:rPr lang="en-US" altLang="zh-CN" sz="2400" dirty="0" err="1"/>
              <a:t>HttpURLConnection</a:t>
            </a:r>
            <a:r>
              <a:rPr lang="en-US" altLang="zh-CN" sz="2400" dirty="0"/>
              <a:t> conn = (</a:t>
            </a:r>
            <a:r>
              <a:rPr lang="en-US" altLang="zh-CN" sz="2400" dirty="0" err="1"/>
              <a:t>HttpURLConnection</a:t>
            </a:r>
            <a:r>
              <a:rPr lang="en-US" altLang="zh-CN" sz="2400" dirty="0"/>
              <a:t>) </a:t>
            </a:r>
            <a:r>
              <a:rPr lang="en-US" altLang="zh-CN" sz="2400" dirty="0" err="1"/>
              <a:t>url.openConnection</a:t>
            </a:r>
            <a:r>
              <a:rPr lang="en-US" altLang="zh-CN" sz="2400" dirty="0"/>
              <a:t>();</a:t>
            </a:r>
            <a:br>
              <a:rPr lang="en-US" altLang="zh-CN" sz="1800" dirty="0"/>
            </a:br>
            <a:r>
              <a:rPr lang="en-US" altLang="zh-CN" sz="2400" dirty="0"/>
              <a:t>3)</a:t>
            </a:r>
            <a:r>
              <a:rPr lang="zh-CN" altLang="en-US" sz="2400" dirty="0"/>
              <a:t>设置连接超时</a:t>
            </a:r>
            <a:r>
              <a:rPr lang="en-US" altLang="zh-CN" sz="2400" dirty="0"/>
              <a:t>:</a:t>
            </a:r>
            <a:r>
              <a:rPr lang="en-US" altLang="zh-CN" sz="2400" dirty="0" err="1"/>
              <a:t>conn.setConnectTimeout</a:t>
            </a:r>
            <a:r>
              <a:rPr lang="en-US" altLang="zh-CN" sz="2400" dirty="0"/>
              <a:t>(6* 1000);</a:t>
            </a:r>
            <a:br>
              <a:rPr lang="en-US" altLang="zh-CN" sz="1800" dirty="0"/>
            </a:br>
            <a:r>
              <a:rPr lang="en-US" altLang="zh-CN" sz="2400" dirty="0"/>
              <a:t>4)</a:t>
            </a:r>
            <a:r>
              <a:rPr lang="zh-CN" altLang="en-US" sz="2400" dirty="0"/>
              <a:t>对响应码进行判断</a:t>
            </a:r>
            <a:r>
              <a:rPr lang="en-US" altLang="zh-CN" sz="2400" dirty="0"/>
              <a:t>:if (</a:t>
            </a:r>
            <a:r>
              <a:rPr lang="en-US" altLang="zh-CN" sz="2400" dirty="0" err="1"/>
              <a:t>conn.getResponseCode</a:t>
            </a:r>
            <a:r>
              <a:rPr lang="en-US" altLang="zh-CN" sz="2400" dirty="0"/>
              <a:t>() != 200) throw new </a:t>
            </a:r>
            <a:r>
              <a:rPr lang="en-US" altLang="zh-CN" sz="2400" dirty="0" err="1"/>
              <a:t>RuntimeException</a:t>
            </a:r>
            <a:r>
              <a:rPr lang="en-US" altLang="zh-CN" sz="2400" dirty="0"/>
              <a:t>("</a:t>
            </a:r>
            <a:r>
              <a:rPr lang="zh-CN" altLang="en-US" sz="2400" dirty="0"/>
              <a:t>请求</a:t>
            </a:r>
            <a:r>
              <a:rPr lang="en-US" altLang="zh-CN" sz="2400" dirty="0" err="1"/>
              <a:t>url</a:t>
            </a:r>
            <a:r>
              <a:rPr lang="zh-CN" altLang="en-US" sz="2400" dirty="0"/>
              <a:t>失败</a:t>
            </a:r>
            <a:r>
              <a:rPr lang="en-US" altLang="zh-CN" sz="2400" dirty="0"/>
              <a:t>");</a:t>
            </a:r>
            <a:br>
              <a:rPr lang="zh-CN" altLang="en-US" sz="1800" dirty="0"/>
            </a:br>
            <a:r>
              <a:rPr lang="en-US" altLang="zh-CN" sz="2400" dirty="0"/>
              <a:t>5)</a:t>
            </a:r>
            <a:r>
              <a:rPr lang="zh-CN" altLang="en-US" sz="2400" dirty="0"/>
              <a:t>得到网络返回的输入流</a:t>
            </a:r>
            <a:r>
              <a:rPr lang="en-US" altLang="zh-CN" sz="2400" dirty="0"/>
              <a:t>:</a:t>
            </a:r>
            <a:r>
              <a:rPr lang="en-US" altLang="zh-CN" sz="2400" dirty="0" err="1"/>
              <a:t>InputStream</a:t>
            </a:r>
            <a:r>
              <a:rPr lang="en-US" altLang="zh-CN" sz="2400" dirty="0"/>
              <a:t> is = </a:t>
            </a:r>
            <a:r>
              <a:rPr lang="en-US" altLang="zh-CN" sz="2400" dirty="0" err="1"/>
              <a:t>conn.getInputStream</a:t>
            </a:r>
            <a:r>
              <a:rPr lang="en-US" altLang="zh-CN" sz="2400" dirty="0"/>
              <a:t>();</a:t>
            </a:r>
            <a:br>
              <a:rPr lang="en-US" altLang="zh-CN" sz="1800" dirty="0"/>
            </a:br>
            <a:r>
              <a:rPr lang="en-US" altLang="zh-CN" sz="2400" dirty="0"/>
              <a:t>6)String result = </a:t>
            </a:r>
            <a:r>
              <a:rPr lang="en-US" altLang="zh-CN" sz="2400" dirty="0" err="1"/>
              <a:t>readData</a:t>
            </a:r>
            <a:r>
              <a:rPr lang="en-US" altLang="zh-CN" sz="2400" dirty="0"/>
              <a:t>(is, "GBK");</a:t>
            </a:r>
            <a:br>
              <a:rPr lang="en-US" altLang="zh-CN" sz="1800" dirty="0"/>
            </a:br>
            <a:r>
              <a:rPr lang="en-US" altLang="zh-CN" sz="2400" dirty="0" err="1"/>
              <a:t>conn.disconnect</a:t>
            </a:r>
            <a:r>
              <a:rPr lang="en-US" altLang="zh-CN" sz="2400" dirty="0"/>
              <a:t>();</a:t>
            </a:r>
            <a:endParaRPr lang="zh-CN"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a:extLst>
              <a:ext uri="{FF2B5EF4-FFF2-40B4-BE49-F238E27FC236}">
                <a16:creationId xmlns:a16="http://schemas.microsoft.com/office/drawing/2014/main" id="{0810402B-0755-467B-8E63-D375D502EC44}"/>
              </a:ext>
            </a:extLst>
          </p:cNvPr>
          <p:cNvSpPr>
            <a:spLocks noGrp="1"/>
          </p:cNvSpPr>
          <p:nvPr>
            <p:ph type="title"/>
          </p:nvPr>
        </p:nvSpPr>
        <p:spPr>
          <a:xfrm>
            <a:off x="1524000" y="152400"/>
            <a:ext cx="8540750" cy="685800"/>
          </a:xfrm>
        </p:spPr>
        <p:txBody>
          <a:bodyPr/>
          <a:lstStyle/>
          <a:p>
            <a:pPr algn="l"/>
            <a:r>
              <a:rPr lang="zh-CN" altLang="en-US" sz="3200"/>
              <a:t>利用</a:t>
            </a:r>
            <a:r>
              <a:rPr lang="en-US" altLang="zh-CN" sz="3200"/>
              <a:t>HttpURLConnection</a:t>
            </a:r>
            <a:r>
              <a:rPr lang="zh-CN" altLang="en-US" sz="3200"/>
              <a:t>对象和</a:t>
            </a:r>
            <a:r>
              <a:rPr lang="en-US" altLang="zh-CN" sz="3200"/>
              <a:t>Internet</a:t>
            </a:r>
            <a:r>
              <a:rPr lang="zh-CN" altLang="en-US" sz="3200"/>
              <a:t>交互 </a:t>
            </a:r>
          </a:p>
        </p:txBody>
      </p:sp>
      <p:sp>
        <p:nvSpPr>
          <p:cNvPr id="124931" name="内容占位符 2">
            <a:extLst>
              <a:ext uri="{FF2B5EF4-FFF2-40B4-BE49-F238E27FC236}">
                <a16:creationId xmlns:a16="http://schemas.microsoft.com/office/drawing/2014/main" id="{B766D6EE-EB3C-4D1B-9B0A-F38537F18EF9}"/>
              </a:ext>
            </a:extLst>
          </p:cNvPr>
          <p:cNvSpPr>
            <a:spLocks noGrp="1"/>
          </p:cNvSpPr>
          <p:nvPr>
            <p:ph idx="1"/>
          </p:nvPr>
        </p:nvSpPr>
        <p:spPr>
          <a:xfrm>
            <a:off x="190500" y="1066800"/>
            <a:ext cx="11811000" cy="5105400"/>
          </a:xfrm>
        </p:spPr>
        <p:txBody>
          <a:bodyPr/>
          <a:lstStyle/>
          <a:p>
            <a:r>
              <a:rPr lang="zh-CN" altLang="en-US" sz="2800" b="1" dirty="0">
                <a:latin typeface="Times New Roman" panose="02020603050405020304" pitchFamily="18" charset="0"/>
                <a:cs typeface="Times New Roman" panose="02020603050405020304" pitchFamily="18" charset="0"/>
              </a:rPr>
              <a:t>从</a:t>
            </a:r>
            <a:r>
              <a:rPr lang="en-US" altLang="zh-CN" sz="2800" b="1" dirty="0">
                <a:latin typeface="Times New Roman" panose="02020603050405020304" pitchFamily="18" charset="0"/>
                <a:cs typeface="Times New Roman" panose="02020603050405020304" pitchFamily="18" charset="0"/>
              </a:rPr>
              <a:t>Internet</a:t>
            </a:r>
            <a:r>
              <a:rPr lang="zh-CN" altLang="en-US" sz="2800" b="1" dirty="0">
                <a:latin typeface="Times New Roman" panose="02020603050405020304" pitchFamily="18" charset="0"/>
                <a:cs typeface="Times New Roman" panose="02020603050405020304" pitchFamily="18" charset="0"/>
              </a:rPr>
              <a:t>获取文件</a:t>
            </a:r>
            <a:endParaRPr lang="en-US" altLang="zh-CN" sz="2800" b="1" dirty="0">
              <a:latin typeface="Times New Roman" panose="02020603050405020304" pitchFamily="18" charset="0"/>
              <a:cs typeface="Times New Roman" panose="02020603050405020304" pitchFamily="18" charset="0"/>
            </a:endParaRPr>
          </a:p>
          <a:p>
            <a:r>
              <a:rPr lang="zh-CN" altLang="en-US" sz="2400" dirty="0"/>
              <a:t>利用</a:t>
            </a:r>
            <a:r>
              <a:rPr lang="en-US" altLang="zh-CN" sz="2400" dirty="0" err="1"/>
              <a:t>HttpURLConnection</a:t>
            </a:r>
            <a:r>
              <a:rPr lang="zh-CN" altLang="en-US" sz="2400" dirty="0"/>
              <a:t>对象</a:t>
            </a:r>
            <a:r>
              <a:rPr lang="en-US" altLang="zh-CN" sz="2400" dirty="0"/>
              <a:t>,</a:t>
            </a:r>
            <a:r>
              <a:rPr lang="zh-CN" altLang="en-US" sz="2400" dirty="0"/>
              <a:t>我们可以</a:t>
            </a:r>
            <a:r>
              <a:rPr lang="zh-CN" altLang="en-US" sz="2400" dirty="0">
                <a:solidFill>
                  <a:srgbClr val="FF0000"/>
                </a:solidFill>
              </a:rPr>
              <a:t>从网络中获取文件数据</a:t>
            </a:r>
            <a:endParaRPr lang="en-US" altLang="zh-CN" sz="2400" dirty="0">
              <a:solidFill>
                <a:srgbClr val="FF0000"/>
              </a:solidFill>
            </a:endParaRPr>
          </a:p>
          <a:p>
            <a:r>
              <a:rPr lang="en-US" altLang="zh-CN" sz="2400" dirty="0"/>
              <a:t>1)</a:t>
            </a:r>
            <a:r>
              <a:rPr lang="zh-CN" altLang="en-US" sz="2400" dirty="0"/>
              <a:t>创建</a:t>
            </a:r>
            <a:r>
              <a:rPr lang="en-US" altLang="zh-CN" sz="2400" dirty="0"/>
              <a:t>URL</a:t>
            </a:r>
            <a:r>
              <a:rPr lang="zh-CN" altLang="en-US" sz="2400" dirty="0"/>
              <a:t>对象</a:t>
            </a:r>
            <a:r>
              <a:rPr lang="en-US" altLang="zh-CN" sz="2400" dirty="0"/>
              <a:t>,</a:t>
            </a:r>
            <a:r>
              <a:rPr lang="zh-CN" altLang="en-US" sz="2400" dirty="0"/>
              <a:t>并将文件路径传入</a:t>
            </a:r>
            <a:r>
              <a:rPr lang="en-US" altLang="zh-CN" sz="2400" dirty="0"/>
              <a:t>:URL </a:t>
            </a:r>
            <a:r>
              <a:rPr lang="en-US" altLang="zh-CN" sz="2400" dirty="0" err="1"/>
              <a:t>url</a:t>
            </a:r>
            <a:r>
              <a:rPr lang="en-US" altLang="zh-CN" sz="2400" dirty="0"/>
              <a:t> = new URL("http://photocdn.sohu.com/20100125/Img269812337.jpg");</a:t>
            </a:r>
          </a:p>
          <a:p>
            <a:r>
              <a:rPr lang="en-US" altLang="zh-CN" sz="2400" dirty="0"/>
              <a:t>2)</a:t>
            </a:r>
            <a:r>
              <a:rPr lang="zh-CN" altLang="en-US" sz="2400" dirty="0"/>
              <a:t>创建</a:t>
            </a:r>
            <a:r>
              <a:rPr lang="en-US" altLang="zh-CN" sz="2400" dirty="0" err="1"/>
              <a:t>HttpURLConnection</a:t>
            </a:r>
            <a:r>
              <a:rPr lang="zh-CN" altLang="en-US" sz="2400" dirty="0"/>
              <a:t>对象</a:t>
            </a:r>
            <a:r>
              <a:rPr lang="en-US" altLang="zh-CN" sz="2400" dirty="0"/>
              <a:t>,</a:t>
            </a:r>
            <a:r>
              <a:rPr lang="zh-CN" altLang="en-US" sz="2400" dirty="0"/>
              <a:t>从网络中获取文件数据</a:t>
            </a:r>
            <a:r>
              <a:rPr lang="en-US" altLang="zh-CN" sz="2400" dirty="0"/>
              <a:t>:</a:t>
            </a:r>
            <a:r>
              <a:rPr lang="en-US" altLang="zh-CN" sz="2400" dirty="0" err="1"/>
              <a:t>HttpURLConnection</a:t>
            </a:r>
            <a:r>
              <a:rPr lang="en-US" altLang="zh-CN" sz="2400" dirty="0"/>
              <a:t> conn = (</a:t>
            </a:r>
            <a:r>
              <a:rPr lang="en-US" altLang="zh-CN" sz="2400" dirty="0" err="1"/>
              <a:t>HttpURLConnection</a:t>
            </a:r>
            <a:r>
              <a:rPr lang="en-US" altLang="zh-CN" sz="2400" dirty="0"/>
              <a:t>) </a:t>
            </a:r>
            <a:r>
              <a:rPr lang="en-US" altLang="zh-CN" sz="2400" dirty="0" err="1"/>
              <a:t>url.openConnection</a:t>
            </a:r>
            <a:r>
              <a:rPr lang="en-US" altLang="zh-CN" sz="2400" dirty="0"/>
              <a:t>();</a:t>
            </a:r>
          </a:p>
          <a:p>
            <a:r>
              <a:rPr lang="en-US" altLang="zh-CN" sz="2400" dirty="0"/>
              <a:t>3)</a:t>
            </a:r>
            <a:r>
              <a:rPr lang="zh-CN" altLang="en-US" sz="2400" dirty="0"/>
              <a:t>设置连接超时</a:t>
            </a:r>
            <a:r>
              <a:rPr lang="en-US" altLang="zh-CN" sz="2400" dirty="0"/>
              <a:t>:</a:t>
            </a:r>
            <a:r>
              <a:rPr lang="en-US" altLang="zh-CN" sz="2400" dirty="0" err="1"/>
              <a:t>conn.setConnectTimeout</a:t>
            </a:r>
            <a:r>
              <a:rPr lang="en-US" altLang="zh-CN" sz="2400" dirty="0"/>
              <a:t>(6* 1000);</a:t>
            </a:r>
          </a:p>
          <a:p>
            <a:r>
              <a:rPr lang="en-US" altLang="zh-CN" sz="2400" dirty="0"/>
              <a:t>4)</a:t>
            </a:r>
            <a:r>
              <a:rPr lang="zh-CN" altLang="en-US" sz="2400" dirty="0"/>
              <a:t>对响应码进行判断</a:t>
            </a:r>
            <a:r>
              <a:rPr lang="en-US" altLang="zh-CN" sz="2400" dirty="0"/>
              <a:t>:if (</a:t>
            </a:r>
            <a:r>
              <a:rPr lang="en-US" altLang="zh-CN" sz="2400" dirty="0" err="1"/>
              <a:t>conn.getResponseCode</a:t>
            </a:r>
            <a:r>
              <a:rPr lang="en-US" altLang="zh-CN" sz="2400" dirty="0"/>
              <a:t>() != 200) throw new </a:t>
            </a:r>
            <a:r>
              <a:rPr lang="en-US" altLang="zh-CN" sz="2400" dirty="0" err="1"/>
              <a:t>RuntimeException</a:t>
            </a:r>
            <a:r>
              <a:rPr lang="en-US" altLang="zh-CN" sz="2400" dirty="0"/>
              <a:t>("</a:t>
            </a:r>
            <a:r>
              <a:rPr lang="zh-CN" altLang="en-US" sz="2400" dirty="0"/>
              <a:t>请求</a:t>
            </a:r>
            <a:r>
              <a:rPr lang="en-US" altLang="zh-CN" sz="2400" dirty="0" err="1"/>
              <a:t>url</a:t>
            </a:r>
            <a:r>
              <a:rPr lang="zh-CN" altLang="en-US" sz="2400" dirty="0"/>
              <a:t>失败</a:t>
            </a:r>
            <a:r>
              <a:rPr lang="en-US" altLang="zh-CN" sz="2400" dirty="0"/>
              <a:t>");</a:t>
            </a:r>
          </a:p>
          <a:p>
            <a:r>
              <a:rPr lang="en-US" altLang="zh-CN" sz="2400" dirty="0"/>
              <a:t>5)</a:t>
            </a:r>
            <a:r>
              <a:rPr lang="zh-CN" altLang="en-US" sz="2400" dirty="0"/>
              <a:t>得到网络返回的输入流</a:t>
            </a:r>
            <a:r>
              <a:rPr lang="en-US" altLang="zh-CN" sz="2400" dirty="0"/>
              <a:t>:</a:t>
            </a:r>
            <a:r>
              <a:rPr lang="en-US" altLang="zh-CN" sz="2400" dirty="0" err="1"/>
              <a:t>InputStream</a:t>
            </a:r>
            <a:r>
              <a:rPr lang="en-US" altLang="zh-CN" sz="2400" dirty="0"/>
              <a:t> is = </a:t>
            </a:r>
            <a:r>
              <a:rPr lang="en-US" altLang="zh-CN" sz="2400" dirty="0" err="1"/>
              <a:t>conn.getInputStream</a:t>
            </a:r>
            <a:r>
              <a:rPr lang="en-US" altLang="zh-CN" sz="2400" dirty="0"/>
              <a:t>();</a:t>
            </a:r>
          </a:p>
          <a:p>
            <a:r>
              <a:rPr lang="en-US" altLang="zh-CN" sz="2400" dirty="0"/>
              <a:t>6)</a:t>
            </a:r>
            <a:r>
              <a:rPr lang="zh-CN" altLang="en-US" sz="2400" dirty="0"/>
              <a:t>将得到的文件流写出</a:t>
            </a:r>
            <a:r>
              <a:rPr lang="en-US" altLang="zh-CN" sz="2400" dirty="0"/>
              <a:t>:</a:t>
            </a:r>
            <a:r>
              <a:rPr lang="en-US" altLang="zh-CN" sz="2400" dirty="0" err="1"/>
              <a:t>outStream.write</a:t>
            </a:r>
            <a:r>
              <a:rPr lang="en-US" altLang="zh-CN" sz="2400" dirty="0"/>
              <a:t>(buffer, 0, </a:t>
            </a:r>
            <a:r>
              <a:rPr lang="en-US" altLang="zh-CN" sz="2400" dirty="0" err="1"/>
              <a:t>len</a:t>
            </a:r>
            <a:r>
              <a:rPr lang="en-US" altLang="zh-CN" sz="2400" dirty="0"/>
              <a:t>);</a:t>
            </a:r>
            <a:endParaRPr lang="zh-CN"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a:extLst>
              <a:ext uri="{FF2B5EF4-FFF2-40B4-BE49-F238E27FC236}">
                <a16:creationId xmlns:a16="http://schemas.microsoft.com/office/drawing/2014/main" id="{6112DBD6-A255-479D-903F-5C872C3B9795}"/>
              </a:ext>
            </a:extLst>
          </p:cNvPr>
          <p:cNvSpPr>
            <a:spLocks noGrp="1"/>
          </p:cNvSpPr>
          <p:nvPr>
            <p:ph type="title"/>
          </p:nvPr>
        </p:nvSpPr>
        <p:spPr>
          <a:xfrm>
            <a:off x="1825625" y="228600"/>
            <a:ext cx="8540750" cy="685800"/>
          </a:xfrm>
        </p:spPr>
        <p:txBody>
          <a:bodyPr/>
          <a:lstStyle/>
          <a:p>
            <a:r>
              <a:rPr lang="zh-CN" altLang="en-US" sz="3200"/>
              <a:t>利用</a:t>
            </a:r>
            <a:r>
              <a:rPr lang="en-US" altLang="zh-CN" sz="3200"/>
              <a:t>HttpURLConnection</a:t>
            </a:r>
            <a:r>
              <a:rPr lang="zh-CN" altLang="en-US" sz="3200"/>
              <a:t>对象和</a:t>
            </a:r>
            <a:r>
              <a:rPr lang="en-US" altLang="zh-CN" sz="3200"/>
              <a:t>Internet</a:t>
            </a:r>
            <a:r>
              <a:rPr lang="zh-CN" altLang="en-US" sz="3200"/>
              <a:t>交互 </a:t>
            </a:r>
          </a:p>
        </p:txBody>
      </p:sp>
      <p:sp>
        <p:nvSpPr>
          <p:cNvPr id="125955" name="内容占位符 2">
            <a:extLst>
              <a:ext uri="{FF2B5EF4-FFF2-40B4-BE49-F238E27FC236}">
                <a16:creationId xmlns:a16="http://schemas.microsoft.com/office/drawing/2014/main" id="{43AB3BA1-943F-4ABC-B2C4-B6524FF8CB51}"/>
              </a:ext>
            </a:extLst>
          </p:cNvPr>
          <p:cNvSpPr>
            <a:spLocks noGrp="1"/>
          </p:cNvSpPr>
          <p:nvPr>
            <p:ph idx="1"/>
          </p:nvPr>
        </p:nvSpPr>
        <p:spPr>
          <a:xfrm>
            <a:off x="381000" y="990600"/>
            <a:ext cx="11582400" cy="5486400"/>
          </a:xfrm>
        </p:spPr>
        <p:txBody>
          <a:bodyPr/>
          <a:lstStyle/>
          <a:p>
            <a:r>
              <a:rPr lang="zh-CN" altLang="en-US" sz="2400" b="1" dirty="0">
                <a:latin typeface="Times New Roman" panose="02020603050405020304" pitchFamily="18" charset="0"/>
                <a:cs typeface="Times New Roman" panose="02020603050405020304" pitchFamily="18" charset="0"/>
              </a:rPr>
              <a:t>向</a:t>
            </a:r>
            <a:r>
              <a:rPr lang="en-US" altLang="zh-CN" sz="2400" b="1" dirty="0">
                <a:latin typeface="Times New Roman" panose="02020603050405020304" pitchFamily="18" charset="0"/>
                <a:cs typeface="Times New Roman" panose="02020603050405020304" pitchFamily="18" charset="0"/>
              </a:rPr>
              <a:t>Internet</a:t>
            </a:r>
            <a:r>
              <a:rPr lang="zh-CN" altLang="en-US" sz="2400" b="1" dirty="0">
                <a:latin typeface="Times New Roman" panose="02020603050405020304" pitchFamily="18" charset="0"/>
                <a:cs typeface="Times New Roman" panose="02020603050405020304" pitchFamily="18" charset="0"/>
              </a:rPr>
              <a:t>发送请求参数</a:t>
            </a:r>
            <a:endParaRPr lang="en-US" altLang="zh-CN" sz="2400" b="1" dirty="0">
              <a:latin typeface="Times New Roman" panose="02020603050405020304" pitchFamily="18" charset="0"/>
              <a:cs typeface="Times New Roman" panose="02020603050405020304" pitchFamily="18" charset="0"/>
            </a:endParaRPr>
          </a:p>
          <a:p>
            <a:r>
              <a:rPr lang="en-US" altLang="zh-CN" sz="1800" dirty="0"/>
              <a:t>1)</a:t>
            </a:r>
            <a:r>
              <a:rPr lang="zh-CN" altLang="en-US" sz="1800" dirty="0"/>
              <a:t>将地址和参数存到</a:t>
            </a:r>
            <a:r>
              <a:rPr lang="en-US" altLang="zh-CN" sz="1800" dirty="0"/>
              <a:t>byte</a:t>
            </a:r>
            <a:r>
              <a:rPr lang="zh-CN" altLang="en-US" sz="1800" dirty="0"/>
              <a:t>数组中</a:t>
            </a:r>
            <a:r>
              <a:rPr lang="en-US" altLang="zh-CN" sz="1800" dirty="0"/>
              <a:t>:byte[] data = </a:t>
            </a:r>
            <a:r>
              <a:rPr lang="en-US" altLang="zh-CN" sz="1800" dirty="0" err="1"/>
              <a:t>params.toString</a:t>
            </a:r>
            <a:r>
              <a:rPr lang="en-US" altLang="zh-CN" sz="1800" dirty="0"/>
              <a:t>().</a:t>
            </a:r>
            <a:r>
              <a:rPr lang="en-US" altLang="zh-CN" sz="1800" dirty="0" err="1"/>
              <a:t>getBytes</a:t>
            </a:r>
            <a:r>
              <a:rPr lang="en-US" altLang="zh-CN" sz="1800" dirty="0"/>
              <a:t>();</a:t>
            </a:r>
          </a:p>
          <a:p>
            <a:r>
              <a:rPr lang="en-US" altLang="zh-CN" sz="1800" dirty="0"/>
              <a:t>2)</a:t>
            </a:r>
            <a:r>
              <a:rPr lang="zh-CN" altLang="en-US" sz="1800" dirty="0"/>
              <a:t>创建</a:t>
            </a:r>
            <a:r>
              <a:rPr lang="en-US" altLang="zh-CN" sz="1800" dirty="0"/>
              <a:t>URL</a:t>
            </a:r>
            <a:r>
              <a:rPr lang="zh-CN" altLang="en-US" sz="1800" dirty="0"/>
              <a:t>对象</a:t>
            </a:r>
            <a:r>
              <a:rPr lang="en-US" altLang="zh-CN" sz="1800" dirty="0"/>
              <a:t>:URL </a:t>
            </a:r>
            <a:r>
              <a:rPr lang="en-US" altLang="zh-CN" sz="1800" dirty="0" err="1"/>
              <a:t>realUrl</a:t>
            </a:r>
            <a:r>
              <a:rPr lang="en-US" altLang="zh-CN" sz="1800" dirty="0"/>
              <a:t> = new URL(</a:t>
            </a:r>
            <a:r>
              <a:rPr lang="en-US" altLang="zh-CN" sz="1800" dirty="0" err="1"/>
              <a:t>requestUrl</a:t>
            </a:r>
            <a:r>
              <a:rPr lang="en-US" altLang="zh-CN" sz="1800" dirty="0"/>
              <a:t>);</a:t>
            </a:r>
          </a:p>
          <a:p>
            <a:r>
              <a:rPr lang="en-US" altLang="zh-CN" sz="1800" dirty="0"/>
              <a:t>3)</a:t>
            </a:r>
            <a:r>
              <a:rPr lang="zh-CN" altLang="en-US" sz="1800" dirty="0"/>
              <a:t>通过</a:t>
            </a:r>
            <a:r>
              <a:rPr lang="en-US" altLang="zh-CN" sz="1800" dirty="0" err="1"/>
              <a:t>HttpURLConnection</a:t>
            </a:r>
            <a:r>
              <a:rPr lang="zh-CN" altLang="en-US" sz="1800" dirty="0"/>
              <a:t>对象</a:t>
            </a:r>
            <a:r>
              <a:rPr lang="en-US" altLang="zh-CN" sz="1800" dirty="0"/>
              <a:t>,</a:t>
            </a:r>
            <a:r>
              <a:rPr lang="zh-CN" altLang="en-US" sz="1800" dirty="0"/>
              <a:t>向网络地址发送请求</a:t>
            </a:r>
            <a:r>
              <a:rPr lang="en-US" altLang="zh-CN" sz="1800" dirty="0"/>
              <a:t>:</a:t>
            </a:r>
            <a:r>
              <a:rPr lang="en-US" altLang="zh-CN" sz="1800" dirty="0" err="1"/>
              <a:t>HttpURLConnection</a:t>
            </a:r>
            <a:r>
              <a:rPr lang="en-US" altLang="zh-CN" sz="1800" dirty="0"/>
              <a:t> conn = (</a:t>
            </a:r>
            <a:r>
              <a:rPr lang="en-US" altLang="zh-CN" sz="1800" dirty="0" err="1"/>
              <a:t>HttpURLConnection</a:t>
            </a:r>
            <a:r>
              <a:rPr lang="en-US" altLang="zh-CN" sz="1800" dirty="0"/>
              <a:t>) </a:t>
            </a:r>
            <a:r>
              <a:rPr lang="en-US" altLang="zh-CN" sz="1800" dirty="0" err="1"/>
              <a:t>realUrl.openConnection</a:t>
            </a:r>
            <a:r>
              <a:rPr lang="en-US" altLang="zh-CN" sz="1800" dirty="0"/>
              <a:t>();</a:t>
            </a:r>
          </a:p>
          <a:p>
            <a:r>
              <a:rPr lang="en-US" altLang="zh-CN" sz="1800" dirty="0"/>
              <a:t>4)</a:t>
            </a:r>
            <a:r>
              <a:rPr lang="zh-CN" altLang="en-US" sz="1800" dirty="0"/>
              <a:t>设置容许输出</a:t>
            </a:r>
            <a:r>
              <a:rPr lang="en-US" altLang="zh-CN" sz="1800" dirty="0"/>
              <a:t>:</a:t>
            </a:r>
            <a:r>
              <a:rPr lang="en-US" altLang="zh-CN" sz="1800" dirty="0" err="1"/>
              <a:t>conn.setDoOutput</a:t>
            </a:r>
            <a:r>
              <a:rPr lang="en-US" altLang="zh-CN" sz="1800" dirty="0"/>
              <a:t>(true);</a:t>
            </a:r>
          </a:p>
          <a:p>
            <a:r>
              <a:rPr lang="en-US" altLang="zh-CN" sz="1800" dirty="0"/>
              <a:t>5)</a:t>
            </a:r>
            <a:r>
              <a:rPr lang="zh-CN" altLang="en-US" sz="1800" dirty="0"/>
              <a:t>设置不使用缓存</a:t>
            </a:r>
            <a:r>
              <a:rPr lang="en-US" altLang="zh-CN" sz="1800" dirty="0"/>
              <a:t>:</a:t>
            </a:r>
            <a:r>
              <a:rPr lang="en-US" altLang="zh-CN" sz="1800" dirty="0" err="1"/>
              <a:t>conn.setUseCaches</a:t>
            </a:r>
            <a:r>
              <a:rPr lang="en-US" altLang="zh-CN" sz="1800" dirty="0"/>
              <a:t>(false);</a:t>
            </a:r>
          </a:p>
          <a:p>
            <a:r>
              <a:rPr lang="en-US" altLang="zh-CN" sz="1800" dirty="0"/>
              <a:t>6)</a:t>
            </a:r>
            <a:r>
              <a:rPr lang="zh-CN" altLang="en-US" sz="1800" dirty="0"/>
              <a:t>设置使用</a:t>
            </a:r>
            <a:r>
              <a:rPr lang="en-US" altLang="zh-CN" sz="1800" dirty="0"/>
              <a:t>POST</a:t>
            </a:r>
            <a:r>
              <a:rPr lang="zh-CN" altLang="en-US" sz="1800" dirty="0"/>
              <a:t>的方式发送</a:t>
            </a:r>
            <a:r>
              <a:rPr lang="en-US" altLang="zh-CN" sz="1800" dirty="0"/>
              <a:t>:</a:t>
            </a:r>
            <a:r>
              <a:rPr lang="en-US" altLang="zh-CN" sz="1800" dirty="0" err="1"/>
              <a:t>conn.setRequestMethod</a:t>
            </a:r>
            <a:r>
              <a:rPr lang="en-US" altLang="zh-CN" sz="1800" dirty="0"/>
              <a:t>("POST");            </a:t>
            </a:r>
          </a:p>
          <a:p>
            <a:r>
              <a:rPr lang="en-US" altLang="zh-CN" sz="1800" dirty="0"/>
              <a:t>7)</a:t>
            </a:r>
            <a:r>
              <a:rPr lang="zh-CN" altLang="en-US" sz="1800" dirty="0"/>
              <a:t>设置维持长连接</a:t>
            </a:r>
            <a:r>
              <a:rPr lang="en-US" altLang="zh-CN" sz="1800" dirty="0"/>
              <a:t>:</a:t>
            </a:r>
            <a:r>
              <a:rPr lang="en-US" altLang="zh-CN" sz="1800" dirty="0" err="1"/>
              <a:t>conn.setRequestProperty</a:t>
            </a:r>
            <a:r>
              <a:rPr lang="en-US" altLang="zh-CN" sz="1800" dirty="0"/>
              <a:t>("Connection", "Keep-Alive");</a:t>
            </a:r>
          </a:p>
          <a:p>
            <a:r>
              <a:rPr lang="en-US" altLang="zh-CN" sz="1800" dirty="0"/>
              <a:t>8)</a:t>
            </a:r>
            <a:r>
              <a:rPr lang="zh-CN" altLang="en-US" sz="1800" dirty="0"/>
              <a:t>设置文件字符集</a:t>
            </a:r>
            <a:r>
              <a:rPr lang="en-US" altLang="zh-CN" sz="1800" dirty="0"/>
              <a:t>:</a:t>
            </a:r>
            <a:r>
              <a:rPr lang="en-US" altLang="zh-CN" sz="1800" dirty="0" err="1"/>
              <a:t>conn.setRequestProperty</a:t>
            </a:r>
            <a:r>
              <a:rPr lang="en-US" altLang="zh-CN" sz="1800" dirty="0"/>
              <a:t>("Charset", "UTF-8");</a:t>
            </a:r>
          </a:p>
          <a:p>
            <a:r>
              <a:rPr lang="en-US" altLang="zh-CN" sz="1800" dirty="0"/>
              <a:t>9)</a:t>
            </a:r>
            <a:r>
              <a:rPr lang="zh-CN" altLang="en-US" sz="1800" dirty="0"/>
              <a:t>设置文件长度</a:t>
            </a:r>
            <a:r>
              <a:rPr lang="en-US" altLang="zh-CN" sz="1800" dirty="0"/>
              <a:t>:</a:t>
            </a:r>
            <a:r>
              <a:rPr lang="en-US" altLang="zh-CN" sz="1800" dirty="0" err="1"/>
              <a:t>conn.setRequestProperty</a:t>
            </a:r>
            <a:r>
              <a:rPr lang="en-US" altLang="zh-CN" sz="1800" dirty="0"/>
              <a:t>("Content-Length", </a:t>
            </a:r>
            <a:r>
              <a:rPr lang="en-US" altLang="zh-CN" sz="1800" dirty="0" err="1"/>
              <a:t>String.valueOf</a:t>
            </a:r>
            <a:r>
              <a:rPr lang="en-US" altLang="zh-CN" sz="1800" dirty="0"/>
              <a:t>(</a:t>
            </a:r>
            <a:r>
              <a:rPr lang="en-US" altLang="zh-CN" sz="1800" dirty="0" err="1"/>
              <a:t>data.length</a:t>
            </a:r>
            <a:r>
              <a:rPr lang="en-US" altLang="zh-CN" sz="1800" dirty="0"/>
              <a:t>));</a:t>
            </a:r>
          </a:p>
          <a:p>
            <a:r>
              <a:rPr lang="en-US" altLang="zh-CN" sz="1800" dirty="0"/>
              <a:t>10)</a:t>
            </a:r>
            <a:r>
              <a:rPr lang="zh-CN" altLang="en-US" sz="1800" dirty="0"/>
              <a:t>设置文件类型</a:t>
            </a:r>
            <a:r>
              <a:rPr lang="en-US" altLang="zh-CN" sz="1800" dirty="0"/>
              <a:t>:</a:t>
            </a:r>
            <a:r>
              <a:rPr lang="en-US" altLang="zh-CN" sz="1800" dirty="0" err="1"/>
              <a:t>conn.setRequestProperty</a:t>
            </a:r>
            <a:r>
              <a:rPr lang="en-US" altLang="zh-CN" sz="1800" dirty="0"/>
              <a:t>("Content-</a:t>
            </a:r>
            <a:r>
              <a:rPr lang="en-US" altLang="zh-CN" sz="1800" dirty="0" err="1"/>
              <a:t>Type","application</a:t>
            </a:r>
            <a:r>
              <a:rPr lang="en-US" altLang="zh-CN" sz="1800" dirty="0"/>
              <a:t>/x-www-form-</a:t>
            </a:r>
            <a:r>
              <a:rPr lang="en-US" altLang="zh-CN" sz="1800" dirty="0" err="1"/>
              <a:t>urlencoded</a:t>
            </a:r>
            <a:r>
              <a:rPr lang="en-US" altLang="zh-CN" sz="1800" dirty="0"/>
              <a:t>");</a:t>
            </a:r>
          </a:p>
          <a:p>
            <a:r>
              <a:rPr lang="en-US" altLang="zh-CN" sz="1800" dirty="0"/>
              <a:t>11)</a:t>
            </a:r>
            <a:r>
              <a:rPr lang="zh-CN" altLang="en-US" sz="1800" dirty="0"/>
              <a:t>以流的方式输出</a:t>
            </a:r>
            <a:r>
              <a:rPr lang="en-US" altLang="zh-CN" sz="1800" dirty="0"/>
              <a:t>.</a:t>
            </a:r>
          </a:p>
          <a:p>
            <a:r>
              <a:rPr lang="zh-CN" altLang="en-US" sz="1800" dirty="0"/>
              <a:t>总结</a:t>
            </a:r>
            <a:r>
              <a:rPr lang="en-US" altLang="zh-CN" sz="1800" dirty="0"/>
              <a:t>:--</a:t>
            </a:r>
            <a:r>
              <a:rPr lang="zh-CN" altLang="en-US" sz="1800" dirty="0"/>
              <a:t>发送</a:t>
            </a:r>
            <a:r>
              <a:rPr lang="en-US" altLang="zh-CN" sz="1800" dirty="0"/>
              <a:t>POST</a:t>
            </a:r>
            <a:r>
              <a:rPr lang="zh-CN" altLang="en-US" sz="1800" dirty="0"/>
              <a:t>请求必须设置允许输出</a:t>
            </a:r>
          </a:p>
          <a:p>
            <a:r>
              <a:rPr lang="en-US" altLang="zh-CN" sz="1800" dirty="0"/>
              <a:t>--</a:t>
            </a:r>
            <a:r>
              <a:rPr lang="zh-CN" altLang="en-US" sz="1800" dirty="0"/>
              <a:t>不要使用缓存</a:t>
            </a:r>
            <a:r>
              <a:rPr lang="en-US" altLang="zh-CN" sz="1800" dirty="0"/>
              <a:t>,</a:t>
            </a:r>
            <a:r>
              <a:rPr lang="zh-CN" altLang="en-US" sz="1800" dirty="0"/>
              <a:t>容易出现问题</a:t>
            </a:r>
            <a:r>
              <a:rPr lang="en-US" altLang="zh-CN" sz="1800" dirty="0"/>
              <a:t>.</a:t>
            </a:r>
          </a:p>
          <a:p>
            <a:r>
              <a:rPr lang="en-US" altLang="zh-CN" sz="1800" dirty="0"/>
              <a:t>--</a:t>
            </a:r>
            <a:r>
              <a:rPr lang="zh-CN" altLang="en-US" sz="1800" dirty="0"/>
              <a:t>在开始用</a:t>
            </a:r>
            <a:r>
              <a:rPr lang="en-US" altLang="zh-CN" sz="1800" dirty="0" err="1"/>
              <a:t>HttpURLConnection</a:t>
            </a:r>
            <a:r>
              <a:rPr lang="zh-CN" altLang="en-US" sz="1800" dirty="0"/>
              <a:t>对象的</a:t>
            </a:r>
            <a:r>
              <a:rPr lang="en-US" altLang="zh-CN" sz="1800" dirty="0" err="1"/>
              <a:t>setRequestProperty</a:t>
            </a:r>
            <a:r>
              <a:rPr lang="en-US" altLang="zh-CN" sz="1800" dirty="0"/>
              <a:t>()</a:t>
            </a:r>
            <a:r>
              <a:rPr lang="zh-CN" altLang="en-US" sz="1800" dirty="0"/>
              <a:t>设置</a:t>
            </a:r>
            <a:r>
              <a:rPr lang="en-US" altLang="zh-CN" sz="1800" dirty="0"/>
              <a:t>,</a:t>
            </a:r>
            <a:r>
              <a:rPr lang="zh-CN" altLang="en-US" sz="1800" dirty="0"/>
              <a:t>就是生成</a:t>
            </a:r>
            <a:r>
              <a:rPr lang="en-US" altLang="zh-CN" sz="1800" dirty="0"/>
              <a:t>HTML</a:t>
            </a:r>
            <a:r>
              <a:rPr lang="zh-CN" altLang="en-US" sz="1800" dirty="0"/>
              <a:t>文件头</a:t>
            </a:r>
            <a:r>
              <a:rPr lang="en-US" altLang="zh-CN" sz="1800" dirty="0"/>
              <a:t>.</a:t>
            </a:r>
            <a:endParaRPr lang="zh-CN" alt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标题 1">
            <a:extLst>
              <a:ext uri="{FF2B5EF4-FFF2-40B4-BE49-F238E27FC236}">
                <a16:creationId xmlns:a16="http://schemas.microsoft.com/office/drawing/2014/main" id="{2F3A1011-E9A4-4236-99D6-18AC8532698B}"/>
              </a:ext>
            </a:extLst>
          </p:cNvPr>
          <p:cNvSpPr>
            <a:spLocks noGrp="1"/>
          </p:cNvSpPr>
          <p:nvPr>
            <p:ph type="title"/>
          </p:nvPr>
        </p:nvSpPr>
        <p:spPr>
          <a:xfrm>
            <a:off x="1825625" y="228600"/>
            <a:ext cx="8540750" cy="685800"/>
          </a:xfrm>
        </p:spPr>
        <p:txBody>
          <a:bodyPr/>
          <a:lstStyle/>
          <a:p>
            <a:r>
              <a:rPr lang="zh-CN" altLang="en-US" sz="3200"/>
              <a:t>小结</a:t>
            </a:r>
          </a:p>
        </p:txBody>
      </p:sp>
      <p:sp>
        <p:nvSpPr>
          <p:cNvPr id="126979" name="内容占位符 2">
            <a:extLst>
              <a:ext uri="{FF2B5EF4-FFF2-40B4-BE49-F238E27FC236}">
                <a16:creationId xmlns:a16="http://schemas.microsoft.com/office/drawing/2014/main" id="{85F3B407-23AD-42C9-8AC9-14774B98BD62}"/>
              </a:ext>
            </a:extLst>
          </p:cNvPr>
          <p:cNvSpPr>
            <a:spLocks noGrp="1"/>
          </p:cNvSpPr>
          <p:nvPr>
            <p:ph idx="1"/>
          </p:nvPr>
        </p:nvSpPr>
        <p:spPr>
          <a:xfrm>
            <a:off x="1662114" y="990600"/>
            <a:ext cx="9005887" cy="5867400"/>
          </a:xfrm>
        </p:spPr>
        <p:txBody>
          <a:bodyPr/>
          <a:lstStyle/>
          <a:p>
            <a:r>
              <a:rPr lang="zh-CN" altLang="en-US" sz="1800">
                <a:latin typeface="Times New Roman" panose="02020603050405020304" pitchFamily="18" charset="0"/>
                <a:cs typeface="Times New Roman" panose="02020603050405020304" pitchFamily="18" charset="0"/>
              </a:rPr>
              <a:t>重难点</a:t>
            </a:r>
            <a:endParaRPr lang="en-US" altLang="zh-CN" sz="1800">
              <a:latin typeface="Times New Roman" panose="02020603050405020304" pitchFamily="18" charset="0"/>
              <a:cs typeface="Times New Roman" panose="02020603050405020304" pitchFamily="18" charset="0"/>
            </a:endParaRPr>
          </a:p>
          <a:p>
            <a:r>
              <a:rPr lang="en-US" altLang="zh-CN" sz="1800">
                <a:latin typeface="Times New Roman" panose="02020603050405020304" pitchFamily="18" charset="0"/>
                <a:cs typeface="Times New Roman" panose="02020603050405020304" pitchFamily="18" charset="0"/>
              </a:rPr>
              <a:t>URLConnection</a:t>
            </a:r>
            <a:r>
              <a:rPr lang="zh-CN" altLang="en-US" sz="1800">
                <a:latin typeface="Times New Roman" panose="02020603050405020304" pitchFamily="18" charset="0"/>
                <a:cs typeface="Times New Roman" panose="02020603050405020304" pitchFamily="18" charset="0"/>
              </a:rPr>
              <a:t>及其应用</a:t>
            </a:r>
            <a:endParaRPr lang="en-US" altLang="zh-CN" sz="1800">
              <a:latin typeface="Times New Roman" panose="02020603050405020304" pitchFamily="18" charset="0"/>
              <a:cs typeface="Times New Roman" panose="02020603050405020304" pitchFamily="18" charset="0"/>
            </a:endParaRPr>
          </a:p>
          <a:p>
            <a:r>
              <a:rPr lang="en-US" altLang="zh-CN" sz="1800">
                <a:latin typeface="Times New Roman" panose="02020603050405020304" pitchFamily="18" charset="0"/>
                <a:cs typeface="Times New Roman" panose="02020603050405020304" pitchFamily="18" charset="0"/>
              </a:rPr>
              <a:t>HttpURLConnection</a:t>
            </a:r>
            <a:r>
              <a:rPr lang="zh-CN" altLang="en-US" sz="1800">
                <a:latin typeface="Times New Roman" panose="02020603050405020304" pitchFamily="18" charset="0"/>
                <a:cs typeface="Times New Roman" panose="02020603050405020304" pitchFamily="18" charset="0"/>
              </a:rPr>
              <a:t>及其应用</a:t>
            </a:r>
            <a:endParaRPr lang="en-US" altLang="zh-CN"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2">
            <a:extLst>
              <a:ext uri="{FF2B5EF4-FFF2-40B4-BE49-F238E27FC236}">
                <a16:creationId xmlns:a16="http://schemas.microsoft.com/office/drawing/2014/main" id="{6D51BAE4-4398-4331-AAD7-DF5D289AC57B}"/>
              </a:ext>
            </a:extLst>
          </p:cNvPr>
          <p:cNvSpPr>
            <a:spLocks noChangeArrowheads="1"/>
          </p:cNvSpPr>
          <p:nvPr/>
        </p:nvSpPr>
        <p:spPr bwMode="auto">
          <a:xfrm>
            <a:off x="1524001" y="21299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128003" name="Rectangle 6">
            <a:extLst>
              <a:ext uri="{FF2B5EF4-FFF2-40B4-BE49-F238E27FC236}">
                <a16:creationId xmlns:a16="http://schemas.microsoft.com/office/drawing/2014/main" id="{C2D600E8-D8DA-4649-AD95-D815842D6B43}"/>
              </a:ext>
            </a:extLst>
          </p:cNvPr>
          <p:cNvSpPr>
            <a:spLocks noRot="1" noChangeArrowheads="1"/>
          </p:cNvSpPr>
          <p:nvPr/>
        </p:nvSpPr>
        <p:spPr bwMode="auto">
          <a:xfrm>
            <a:off x="2514600" y="1628775"/>
            <a:ext cx="64833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zh-CN" altLang="en-US" sz="8000" b="1">
                <a:solidFill>
                  <a:srgbClr val="FF0000"/>
                </a:solidFill>
                <a:latin typeface="华文行楷" panose="02010800040101010101" pitchFamily="2" charset="-122"/>
                <a:ea typeface="华文行楷" panose="02010800040101010101" pitchFamily="2" charset="-122"/>
              </a:rPr>
              <a:t>谢谢</a:t>
            </a:r>
            <a:endParaRPr lang="en-US" altLang="zh-CN" sz="8000" b="1">
              <a:solidFill>
                <a:srgbClr val="FF0000"/>
              </a:solidFill>
              <a:latin typeface="华文行楷" panose="02010800040101010101" pitchFamily="2" charset="-122"/>
              <a:ea typeface="华文行楷" panose="02010800040101010101" pitchFamily="2" charset="-122"/>
            </a:endParaRPr>
          </a:p>
        </p:txBody>
      </p:sp>
    </p:spTree>
  </p:cSld>
  <p:clrMapOvr>
    <a:masterClrMapping/>
  </p:clrMapOvr>
</p:sld>
</file>

<file path=ppt/theme/theme1.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6224</TotalTime>
  <Words>9746</Words>
  <Application>Microsoft Office PowerPoint</Application>
  <PresentationFormat>Widescreen</PresentationFormat>
  <Paragraphs>807</Paragraphs>
  <Slides>92</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92</vt:i4>
      </vt:variant>
    </vt:vector>
  </HeadingPairs>
  <TitlesOfParts>
    <vt:vector size="101" baseType="lpstr">
      <vt:lpstr>黑体</vt:lpstr>
      <vt:lpstr>宋体</vt:lpstr>
      <vt:lpstr>宋体</vt:lpstr>
      <vt:lpstr>华文行楷</vt:lpstr>
      <vt:lpstr>Arial</vt:lpstr>
      <vt:lpstr>Times New Roman</vt:lpstr>
      <vt:lpstr>Wingdings</vt:lpstr>
      <vt:lpstr>Wingdings 2</vt:lpstr>
      <vt:lpstr>砖雕艺术</vt:lpstr>
      <vt:lpstr>PowerPoint Presentation</vt:lpstr>
      <vt:lpstr>主要内容</vt:lpstr>
      <vt:lpstr>1.URLConnection简介</vt:lpstr>
      <vt:lpstr>URLConnection类的使用步骤</vt:lpstr>
      <vt:lpstr>创建URLConnection对象</vt:lpstr>
      <vt:lpstr>2.读取服务器的数据</vt:lpstr>
      <vt:lpstr>读取服务器的数据</vt:lpstr>
      <vt:lpstr>读取服务器的数据</vt:lpstr>
      <vt:lpstr>读取服务器的数据</vt:lpstr>
      <vt:lpstr>读取服务器的数据</vt:lpstr>
      <vt:lpstr>URL与URLConnection区别</vt:lpstr>
      <vt:lpstr>读取HTTP首部</vt:lpstr>
      <vt:lpstr>头字段信息获取的方法（2个）</vt:lpstr>
      <vt:lpstr>头字段</vt:lpstr>
      <vt:lpstr>头字段</vt:lpstr>
      <vt:lpstr>头字段</vt:lpstr>
      <vt:lpstr>头字段</vt:lpstr>
      <vt:lpstr>头字段</vt:lpstr>
      <vt:lpstr>头字段信息获取的方法（4个）</vt:lpstr>
      <vt:lpstr>头部方法使用例子</vt:lpstr>
      <vt:lpstr>头部方法使用例子</vt:lpstr>
      <vt:lpstr>头部方法使用例子</vt:lpstr>
      <vt:lpstr>获取任意头字段方法</vt:lpstr>
      <vt:lpstr>使用获取任意首部字段方法显示整个HTTP请求</vt:lpstr>
      <vt:lpstr>使用获取任意首部字段方法显示整个HTTP请求</vt:lpstr>
      <vt:lpstr>获得任意头字段的方法</vt:lpstr>
      <vt:lpstr>3.Web缓存</vt:lpstr>
      <vt:lpstr>Web缓存</vt:lpstr>
      <vt:lpstr>Web缓存</vt:lpstr>
      <vt:lpstr>Web缓存</vt:lpstr>
      <vt:lpstr>Web缓存</vt:lpstr>
      <vt:lpstr>Java的Web缓存</vt:lpstr>
      <vt:lpstr>Java的Web缓存-- CacheRequest类</vt:lpstr>
      <vt:lpstr>自定义CacheRequest子类</vt:lpstr>
      <vt:lpstr>Java的Web缓存-- CacheResponse类</vt:lpstr>
      <vt:lpstr>自定义CacheResponse子类</vt:lpstr>
      <vt:lpstr>自定义CacheResponse子类</vt:lpstr>
      <vt:lpstr>Java的Web缓存-- ResponseCache类</vt:lpstr>
      <vt:lpstr>Java的Web缓存-- ResponseCache类</vt:lpstr>
      <vt:lpstr>自定义ResponseCache子类</vt:lpstr>
      <vt:lpstr>自定义ResponseCache子类</vt:lpstr>
      <vt:lpstr>自定义ResponseCache子类</vt:lpstr>
      <vt:lpstr>4.配置URLConnection连接</vt:lpstr>
      <vt:lpstr>配置URLConnection连接</vt:lpstr>
      <vt:lpstr>Protected URL url 字段</vt:lpstr>
      <vt:lpstr>Protected boolean connected</vt:lpstr>
      <vt:lpstr>Protected boolean allowUserInteraction</vt:lpstr>
      <vt:lpstr>Protected boolean doInput</vt:lpstr>
      <vt:lpstr>Protected boolean doOutput</vt:lpstr>
      <vt:lpstr>Protected boolean ifModifiedSince</vt:lpstr>
      <vt:lpstr>ifModifiedSince应用例子</vt:lpstr>
      <vt:lpstr>ifModifiedSince应用例子</vt:lpstr>
      <vt:lpstr>Protected boolean useCaches</vt:lpstr>
      <vt:lpstr>配置HTTP客户端请求头信息</vt:lpstr>
      <vt:lpstr>配置HTTP客户端请求头信息</vt:lpstr>
      <vt:lpstr>5.向服务器写入数据</vt:lpstr>
      <vt:lpstr>如何写？</vt:lpstr>
      <vt:lpstr>POST请求</vt:lpstr>
      <vt:lpstr>服务器的响应</vt:lpstr>
      <vt:lpstr>POST请求编程例子</vt:lpstr>
      <vt:lpstr>POST请求编程例子</vt:lpstr>
      <vt:lpstr>POST请求编程例子</vt:lpstr>
      <vt:lpstr>POST请求编程例子</vt:lpstr>
      <vt:lpstr>POST请求编程例子</vt:lpstr>
      <vt:lpstr>POST请求编程例子</vt:lpstr>
      <vt:lpstr>POST请求例子分析与测试</vt:lpstr>
      <vt:lpstr>提交表单数据编程总结</vt:lpstr>
      <vt:lpstr>猜测MIME媒体类型</vt:lpstr>
      <vt:lpstr>HttpURLConnection类</vt:lpstr>
      <vt:lpstr>HttpURLConnection与URLConnection</vt:lpstr>
      <vt:lpstr>请求方法</vt:lpstr>
      <vt:lpstr>HEAD方法</vt:lpstr>
      <vt:lpstr>HEAD方法</vt:lpstr>
      <vt:lpstr>DELETE方法</vt:lpstr>
      <vt:lpstr>对服务器DELETE的响应</vt:lpstr>
      <vt:lpstr>PUT方法</vt:lpstr>
      <vt:lpstr>OPTIONS方法</vt:lpstr>
      <vt:lpstr>TRACE方法</vt:lpstr>
      <vt:lpstr>断开与服务器的连接</vt:lpstr>
      <vt:lpstr>处理服务器的响应</vt:lpstr>
      <vt:lpstr>处理服务器的响应</vt:lpstr>
      <vt:lpstr>处理服务器的响应</vt:lpstr>
      <vt:lpstr>处理服务器的响应</vt:lpstr>
      <vt:lpstr>处理服务器的响应</vt:lpstr>
      <vt:lpstr>错误流的读取</vt:lpstr>
      <vt:lpstr>错误流的读取</vt:lpstr>
      <vt:lpstr>其它参考资源</vt:lpstr>
      <vt:lpstr>利用HttpURLConnection对象和Internet交互 </vt:lpstr>
      <vt:lpstr>利用HttpURLConnection对象和Internet交互 </vt:lpstr>
      <vt:lpstr>利用HttpURLConnection对象和Internet交互 </vt:lpstr>
      <vt:lpstr>小结</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Basker George</dc:creator>
  <cp:lastModifiedBy>Basker George</cp:lastModifiedBy>
  <cp:revision>1257</cp:revision>
  <cp:lastPrinted>1601-01-01T00:00:00Z</cp:lastPrinted>
  <dcterms:created xsi:type="dcterms:W3CDTF">1601-01-01T00:00:00Z</dcterms:created>
  <dcterms:modified xsi:type="dcterms:W3CDTF">2025-05-29T10:38:34Z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