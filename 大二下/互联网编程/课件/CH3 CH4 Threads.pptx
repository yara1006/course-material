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handoutMasterIdLst>
    <p:handoutMasterId r:id="rId107"/>
  </p:handoutMasterIdLst>
  <p:sldIdLst>
    <p:sldId id="256" r:id="rId4"/>
    <p:sldId id="392" r:id="rId6"/>
    <p:sldId id="393" r:id="rId7"/>
    <p:sldId id="394" r:id="rId8"/>
    <p:sldId id="395" r:id="rId9"/>
    <p:sldId id="396" r:id="rId10"/>
    <p:sldId id="397" r:id="rId11"/>
    <p:sldId id="398" r:id="rId12"/>
    <p:sldId id="399" r:id="rId13"/>
    <p:sldId id="400" r:id="rId14"/>
    <p:sldId id="401" r:id="rId15"/>
    <p:sldId id="402" r:id="rId16"/>
    <p:sldId id="403" r:id="rId17"/>
    <p:sldId id="404" r:id="rId18"/>
    <p:sldId id="359" r:id="rId19"/>
    <p:sldId id="405" r:id="rId20"/>
    <p:sldId id="429" r:id="rId21"/>
    <p:sldId id="406" r:id="rId22"/>
    <p:sldId id="411" r:id="rId23"/>
    <p:sldId id="407" r:id="rId24"/>
    <p:sldId id="431" r:id="rId25"/>
    <p:sldId id="420" r:id="rId26"/>
    <p:sldId id="432" r:id="rId27"/>
    <p:sldId id="421" r:id="rId28"/>
    <p:sldId id="360" r:id="rId29"/>
    <p:sldId id="415" r:id="rId30"/>
    <p:sldId id="412" r:id="rId31"/>
    <p:sldId id="408" r:id="rId32"/>
    <p:sldId id="409" r:id="rId33"/>
    <p:sldId id="433" r:id="rId34"/>
    <p:sldId id="413" r:id="rId35"/>
    <p:sldId id="435" r:id="rId36"/>
    <p:sldId id="434" r:id="rId37"/>
    <p:sldId id="416" r:id="rId38"/>
    <p:sldId id="417" r:id="rId39"/>
    <p:sldId id="418" r:id="rId40"/>
    <p:sldId id="419" r:id="rId41"/>
    <p:sldId id="414" r:id="rId42"/>
    <p:sldId id="410" r:id="rId43"/>
    <p:sldId id="428" r:id="rId44"/>
    <p:sldId id="422" r:id="rId45"/>
    <p:sldId id="423" r:id="rId46"/>
    <p:sldId id="424" r:id="rId47"/>
    <p:sldId id="425" r:id="rId48"/>
    <p:sldId id="426" r:id="rId49"/>
    <p:sldId id="427" r:id="rId50"/>
    <p:sldId id="458" r:id="rId51"/>
    <p:sldId id="446" r:id="rId52"/>
    <p:sldId id="447" r:id="rId53"/>
    <p:sldId id="448" r:id="rId54"/>
    <p:sldId id="449" r:id="rId55"/>
    <p:sldId id="450" r:id="rId56"/>
    <p:sldId id="451" r:id="rId57"/>
    <p:sldId id="452" r:id="rId58"/>
    <p:sldId id="436" r:id="rId59"/>
    <p:sldId id="437" r:id="rId60"/>
    <p:sldId id="438" r:id="rId61"/>
    <p:sldId id="439" r:id="rId62"/>
    <p:sldId id="440" r:id="rId63"/>
    <p:sldId id="441" r:id="rId64"/>
    <p:sldId id="442" r:id="rId65"/>
    <p:sldId id="443" r:id="rId66"/>
    <p:sldId id="444" r:id="rId67"/>
    <p:sldId id="453" r:id="rId68"/>
    <p:sldId id="454" r:id="rId69"/>
    <p:sldId id="455" r:id="rId70"/>
    <p:sldId id="379" r:id="rId71"/>
    <p:sldId id="391" r:id="rId72"/>
    <p:sldId id="456" r:id="rId73"/>
    <p:sldId id="457" r:id="rId74"/>
    <p:sldId id="386" r:id="rId75"/>
    <p:sldId id="387" r:id="rId76"/>
    <p:sldId id="459" r:id="rId77"/>
    <p:sldId id="460" r:id="rId78"/>
    <p:sldId id="388" r:id="rId79"/>
    <p:sldId id="389" r:id="rId80"/>
    <p:sldId id="461" r:id="rId81"/>
    <p:sldId id="469" r:id="rId82"/>
    <p:sldId id="470" r:id="rId83"/>
    <p:sldId id="471" r:id="rId84"/>
    <p:sldId id="462" r:id="rId85"/>
    <p:sldId id="361" r:id="rId86"/>
    <p:sldId id="472" r:id="rId87"/>
    <p:sldId id="463" r:id="rId88"/>
    <p:sldId id="464" r:id="rId89"/>
    <p:sldId id="465" r:id="rId90"/>
    <p:sldId id="363" r:id="rId91"/>
    <p:sldId id="362" r:id="rId92"/>
    <p:sldId id="364" r:id="rId93"/>
    <p:sldId id="466" r:id="rId94"/>
    <p:sldId id="467" r:id="rId95"/>
    <p:sldId id="365" r:id="rId96"/>
    <p:sldId id="366" r:id="rId97"/>
    <p:sldId id="367" r:id="rId98"/>
    <p:sldId id="368" r:id="rId99"/>
    <p:sldId id="369" r:id="rId100"/>
    <p:sldId id="468" r:id="rId101"/>
    <p:sldId id="370" r:id="rId102"/>
    <p:sldId id="371" r:id="rId103"/>
    <p:sldId id="390" r:id="rId104"/>
    <p:sldId id="445" r:id="rId105"/>
    <p:sldId id="383" r:id="rId106"/>
  </p:sldIdLst>
  <p:sldSz cx="12192000" cy="6858000"/>
  <p:notesSz cx="7099300" cy="10234295"/>
  <p:custDataLst>
    <p:tags r:id="rId111"/>
  </p:custDataLst>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CC00CC"/>
    <a:srgbClr val="FF00FF"/>
    <a:srgbClr val="006600"/>
    <a:srgbClr val="003300"/>
    <a:srgbClr val="990099"/>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2" autoAdjust="0"/>
    <p:restoredTop sz="94728" autoAdjust="0"/>
  </p:normalViewPr>
  <p:slideViewPr>
    <p:cSldViewPr>
      <p:cViewPr varScale="1">
        <p:scale>
          <a:sx n="113" d="100"/>
          <a:sy n="113" d="100"/>
        </p:scale>
        <p:origin x="474" y="120"/>
      </p:cViewPr>
      <p:guideLst>
        <p:guide orient="horz" pos="2160"/>
        <p:guide pos="384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1" Type="http://schemas.openxmlformats.org/officeDocument/2006/relationships/tags" Target="tags/tag1.xml"/><Relationship Id="rId110" Type="http://schemas.openxmlformats.org/officeDocument/2006/relationships/tableStyles" Target="tableStyles.xml"/><Relationship Id="rId11" Type="http://schemas.openxmlformats.org/officeDocument/2006/relationships/slide" Target="slides/slide7.xml"/><Relationship Id="rId109" Type="http://schemas.openxmlformats.org/officeDocument/2006/relationships/viewProps" Target="viewProps.xml"/><Relationship Id="rId108" Type="http://schemas.openxmlformats.org/officeDocument/2006/relationships/presProps" Target="presProps.xml"/><Relationship Id="rId107" Type="http://schemas.openxmlformats.org/officeDocument/2006/relationships/handoutMaster" Target="handoutMasters/handoutMaster1.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74755"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a:defRPr/>
            </a:pPr>
            <a:fld id="{6C2A8FDD-48E0-4255-A558-390EF8DD3C2B}" type="datetime1">
              <a:rPr lang="zh-CN" altLang="en-US"/>
            </a:fld>
            <a:endParaRPr lang="en-US" altLang="zh-CN"/>
          </a:p>
        </p:txBody>
      </p:sp>
      <p:sp>
        <p:nvSpPr>
          <p:cNvPr id="74756"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74757"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vl1pPr>
          </a:lstStyle>
          <a:p>
            <a:pPr>
              <a:defRPr/>
            </a:pPr>
            <a:fld id="{FCF24FEA-0179-4FDE-95A8-7EFEF6914BE6}"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71683"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defRPr sz="1300">
                <a:latin typeface="Arial" panose="020B0604020202020204" pitchFamily="34" charset="0"/>
                <a:ea typeface="宋体" panose="02010600030101010101" pitchFamily="2" charset="-122"/>
              </a:defRPr>
            </a:lvl1pPr>
          </a:lstStyle>
          <a:p>
            <a:pPr>
              <a:defRPr/>
            </a:pPr>
            <a:fld id="{814057F5-0DB7-4B8A-8203-3AC672024A26}" type="datetime1">
              <a:rPr lang="zh-CN" altLang="en-US"/>
            </a:fld>
            <a:endParaRPr lang="en-US" altLang="zh-CN"/>
          </a:p>
        </p:txBody>
      </p:sp>
      <p:sp>
        <p:nvSpPr>
          <p:cNvPr id="3076" name="Rectangle 4"/>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685"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1686"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71687"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defRPr sz="1300"/>
            </a:lvl1pPr>
          </a:lstStyle>
          <a:p>
            <a:pPr>
              <a:defRPr/>
            </a:pPr>
            <a:fld id="{D9E49607-FAA8-49C8-B18B-84E66BA615AE}"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359C571-0598-4BB9-8A82-E15C34AC80D3}" type="slidenum">
              <a:rPr lang="en-US" altLang="zh-CN" smtClean="0"/>
            </a:fld>
            <a:endParaRPr lang="en-US" altLang="zh-CN"/>
          </a:p>
        </p:txBody>
      </p:sp>
      <p:sp>
        <p:nvSpPr>
          <p:cNvPr id="6147" name="Rectangle 2"/>
          <p:cNvSpPr>
            <a:spLocks noGrp="1" noRot="1" noChangeAspect="1" noChangeArrowheads="1" noTextEdit="1"/>
          </p:cNvSpPr>
          <p:nvPr>
            <p:ph type="sldImg"/>
          </p:nvPr>
        </p:nvSpPr>
        <p:spPr>
          <a:xfrm>
            <a:off x="139700" y="768350"/>
            <a:ext cx="6819900" cy="3836988"/>
          </a:xfrm>
        </p:spPr>
      </p:sp>
      <p:sp>
        <p:nvSpPr>
          <p:cNvPr id="614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New--</a:t>
            </a:r>
            <a:r>
              <a:rPr lang="zh-CN" altLang="en-US"/>
              <a:t>被创建尚未启动</a:t>
            </a:r>
            <a:endParaRPr lang="zh-CN" altLang="en-US"/>
          </a:p>
          <a:p>
            <a:r>
              <a:rPr lang="en-US" altLang="zh-CN"/>
              <a:t>runnable--</a:t>
            </a:r>
            <a:r>
              <a:rPr lang="zh-CN" altLang="en-US"/>
              <a:t>线程已准备好运行并正在等待</a:t>
            </a:r>
            <a:r>
              <a:rPr lang="en-US" altLang="zh-CN"/>
              <a:t>CPU</a:t>
            </a:r>
            <a:r>
              <a:rPr lang="zh-CN" altLang="en-US"/>
              <a:t>时间运行</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1.DigestInputStream 是 Java 中一个专门的输入流，它在读取数据时计算消息摘要（加密哈希）。</a:t>
            </a:r>
            <a:endParaRPr lang="en-US" altLang="zh-CN"/>
          </a:p>
          <a:p>
            <a:r>
              <a:rPr lang="en-US" altLang="zh-CN"/>
              <a:t>2.</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D9E49607-FAA8-49C8-B18B-84E66BA615AE}"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D9E49607-FAA8-49C8-B18B-84E66BA615AE}"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69634" name="Rectangle 2"/>
          <p:cNvSpPr>
            <a:spLocks noGrp="1" noRot="1" noChangeArrowheads="1"/>
          </p:cNvSpPr>
          <p:nvPr>
            <p:ph type="ctrTitle"/>
          </p:nvPr>
        </p:nvSpPr>
        <p:spPr>
          <a:xfrm>
            <a:off x="914400" y="2286000"/>
            <a:ext cx="10363200" cy="1143000"/>
          </a:xfrm>
        </p:spPr>
        <p:txBody>
          <a:bodyPr/>
          <a:lstStyle>
            <a:lvl1pPr>
              <a:defRPr/>
            </a:lvl1pPr>
          </a:lstStyle>
          <a:p>
            <a:pPr lvl="0"/>
            <a:r>
              <a:rPr lang="zh-CN" altLang="en-US" noProof="0"/>
              <a:t>单击此处编辑母版标题样式</a:t>
            </a:r>
            <a:endParaRPr lang="zh-CN" altLang="en-US" noProof="0"/>
          </a:p>
        </p:txBody>
      </p:sp>
      <p:sp>
        <p:nvSpPr>
          <p:cNvPr id="69635" name="Rectangle 3"/>
          <p:cNvSpPr>
            <a:spLocks noGrp="1" noRot="1" noChangeArrowheads="1"/>
          </p:cNvSpPr>
          <p:nvPr>
            <p:ph type="subTitle" idx="1"/>
          </p:nvPr>
        </p:nvSpPr>
        <p:spPr>
          <a:xfrm>
            <a:off x="1828800" y="3886200"/>
            <a:ext cx="8534400" cy="1752600"/>
          </a:xfrm>
        </p:spPr>
        <p:txBody>
          <a:bodyPr/>
          <a:lstStyle>
            <a:lvl1pPr marL="0" indent="0" algn="ctr">
              <a:buFont typeface="Wingdings 2" panose="05020102010507070707" pitchFamily="18" charset="2"/>
              <a:buNone/>
              <a:defRPr/>
            </a:lvl1pPr>
          </a:lstStyle>
          <a:p>
            <a:pPr lvl="0"/>
            <a:r>
              <a:rPr lang="zh-CN" altLang="en-US" noProof="0"/>
              <a:t>单击此处编辑母版副标题样式</a:t>
            </a:r>
            <a:endParaRPr lang="zh-CN" altLang="en-US" noProof="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EEEC468D-644B-445B-BE59-512C3BF5EE8A}"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3A3FFDD3-2B0D-44D7-99EE-06B473210877}"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FB0EFFF5-802E-4364-9AB0-DAAFC41FD709}"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02168" y="1600200"/>
            <a:ext cx="5592233"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1" y="1600200"/>
            <a:ext cx="5592233"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54316273-4E60-496A-9064-E8D2F4891C8F}"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0F0B3235-BD66-4AFE-AED4-76865595EC42}"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2ABAE808-FB4E-406A-8BBE-A8B53B9BD748}"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2A3D18EF-D51D-484C-8228-C24B98894CF7}"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F4047DCD-F175-40DD-B41A-78DE69C79858}"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ADA28611-B5B2-44D4-8F02-CC43F34BA987}"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25ABD3A-1CAB-4EF5-8526-8E164F8E4C52}"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2918" y="228601"/>
            <a:ext cx="2846916" cy="58705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02167" y="228601"/>
            <a:ext cx="8337551" cy="587057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6E62C9A1-6BD3-42A9-99EB-99BFE9C181D7}"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02167" y="228600"/>
            <a:ext cx="11387667"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02168" y="1600200"/>
            <a:ext cx="5592233" cy="44989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1" y="1600200"/>
            <a:ext cx="5592233" cy="44989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F2DDDA1D-D244-44C4-8A0F-16F972BED73D}"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4" name="AutoShape 4"/>
          <p:cNvSpPr>
            <a:spLocks noChangeArrowheads="1"/>
          </p:cNvSpPr>
          <p:nvPr/>
        </p:nvSpPr>
        <p:spPr bwMode="auto">
          <a:xfrm>
            <a:off x="130909" y="100014"/>
            <a:ext cx="11930185" cy="6657975"/>
          </a:xfrm>
          <a:prstGeom prst="roundRect">
            <a:avLst>
              <a:gd name="adj" fmla="val 12495"/>
            </a:avLst>
          </a:prstGeom>
          <a:noFill/>
          <a:ln w="47625" cmpd="thickThin">
            <a:solidFill>
              <a:schemeClr val="tx1"/>
            </a:solidFill>
            <a:round/>
          </a:ln>
          <a:effectLst/>
        </p:spPr>
        <p:txBody>
          <a:bodyPr wrap="none" anchor="ctr"/>
          <a:lstStyle/>
          <a:p>
            <a:pPr>
              <a:defRPr/>
            </a:pPr>
            <a:endParaRPr lang="zh-TW" altLang="en-US">
              <a:latin typeface="Arial" panose="020B0604020202020204" pitchFamily="34" charset="0"/>
            </a:endParaRPr>
          </a:p>
        </p:txBody>
      </p:sp>
      <p:sp useBgFill="1">
        <p:nvSpPr>
          <p:cNvPr id="5" name="Rectangle 5"/>
          <p:cNvSpPr>
            <a:spLocks noChangeArrowheads="1"/>
          </p:cNvSpPr>
          <p:nvPr/>
        </p:nvSpPr>
        <p:spPr bwMode="auto">
          <a:xfrm>
            <a:off x="9003324" y="0"/>
            <a:ext cx="2950308" cy="242888"/>
          </a:xfrm>
          <a:prstGeom prst="rect">
            <a:avLst/>
          </a:prstGeom>
          <a:ln w="9525">
            <a:noFill/>
            <a:miter lim="800000"/>
          </a:ln>
          <a:effectLst/>
        </p:spPr>
        <p:txBody>
          <a:bodyPr lIns="63500" tIns="25400" rIns="63500" bIns="25400">
            <a:spAutoFit/>
          </a:bodyPr>
          <a:lstStyle/>
          <a:p>
            <a:pPr>
              <a:lnSpc>
                <a:spcPct val="90000"/>
              </a:lnSpc>
              <a:defRPr/>
            </a:pPr>
            <a:r>
              <a:rPr lang="en-US" altLang="zh-TW" sz="1400" b="1">
                <a:latin typeface="Arial" panose="020B0604020202020204" pitchFamily="34" charset="0"/>
              </a:rPr>
              <a:t>      Java Programming</a:t>
            </a:r>
            <a:endParaRPr lang="en-US" altLang="zh-TW" sz="1400" b="1">
              <a:latin typeface="Arial" panose="020B0604020202020204" pitchFamily="34" charset="0"/>
            </a:endParaRPr>
          </a:p>
        </p:txBody>
      </p:sp>
      <p:sp useBgFill="1">
        <p:nvSpPr>
          <p:cNvPr id="6" name="Rectangle 6"/>
          <p:cNvSpPr>
            <a:spLocks noChangeArrowheads="1"/>
          </p:cNvSpPr>
          <p:nvPr/>
        </p:nvSpPr>
        <p:spPr bwMode="auto">
          <a:xfrm>
            <a:off x="9284678" y="6629400"/>
            <a:ext cx="1778885" cy="230448"/>
          </a:xfrm>
          <a:prstGeom prst="rect">
            <a:avLst/>
          </a:prstGeom>
          <a:ln w="9525">
            <a:noFill/>
            <a:miter lim="800000"/>
          </a:ln>
          <a:effectLst/>
        </p:spPr>
        <p:txBody>
          <a:bodyPr wrap="none" lIns="63500" tIns="25400" rIns="63500" bIns="25400">
            <a:spAutoFit/>
          </a:bodyPr>
          <a:lstStyle>
            <a:lvl1pPr>
              <a:defRPr kumimoji="1" sz="2000">
                <a:solidFill>
                  <a:schemeClr val="tx1"/>
                </a:solidFill>
                <a:latin typeface="Arial" panose="020B0604020202020204" pitchFamily="34" charset="0"/>
                <a:ea typeface="PMingLiU" pitchFamily="18" charset="-120"/>
              </a:defRPr>
            </a:lvl1pPr>
            <a:lvl2pPr marL="742950" indent="-285750">
              <a:defRPr kumimoji="1" sz="2000">
                <a:solidFill>
                  <a:schemeClr val="tx1"/>
                </a:solidFill>
                <a:latin typeface="Arial" panose="020B0604020202020204" pitchFamily="34" charset="0"/>
                <a:ea typeface="PMingLiU" pitchFamily="18" charset="-120"/>
              </a:defRPr>
            </a:lvl2pPr>
            <a:lvl3pPr marL="1143000" indent="-228600">
              <a:defRPr kumimoji="1" sz="2000">
                <a:solidFill>
                  <a:schemeClr val="tx1"/>
                </a:solidFill>
                <a:latin typeface="Arial" panose="020B0604020202020204" pitchFamily="34" charset="0"/>
                <a:ea typeface="PMingLiU" pitchFamily="18" charset="-120"/>
              </a:defRPr>
            </a:lvl3pPr>
            <a:lvl4pPr marL="1600200" indent="-228600">
              <a:defRPr kumimoji="1" sz="2000">
                <a:solidFill>
                  <a:schemeClr val="tx1"/>
                </a:solidFill>
                <a:latin typeface="Arial" panose="020B0604020202020204" pitchFamily="34" charset="0"/>
                <a:ea typeface="PMingLiU" pitchFamily="18" charset="-120"/>
              </a:defRPr>
            </a:lvl4pPr>
            <a:lvl5pPr marL="2057400" indent="-228600">
              <a:defRPr kumimoji="1" sz="2000">
                <a:solidFill>
                  <a:schemeClr val="tx1"/>
                </a:solidFill>
                <a:latin typeface="Arial" panose="020B0604020202020204" pitchFamily="34" charset="0"/>
                <a:ea typeface="PMingLiU" pitchFamily="18" charset="-120"/>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9pPr>
          </a:lstStyle>
          <a:p>
            <a:pPr>
              <a:lnSpc>
                <a:spcPct val="97000"/>
              </a:lnSpc>
            </a:pPr>
            <a:r>
              <a:rPr lang="en-US" altLang="zh-TW" sz="1200" b="1"/>
              <a:t>   Transparency No. </a:t>
            </a:r>
            <a:fld id="{F313236A-5653-4C83-8623-099D3404BDEC}" type="slidenum">
              <a:rPr lang="en-US" altLang="zh-TW" sz="1200" b="1"/>
            </a:fld>
            <a:endParaRPr lang="en-US" altLang="zh-TW" sz="1200" b="1"/>
          </a:p>
        </p:txBody>
      </p:sp>
      <p:sp>
        <p:nvSpPr>
          <p:cNvPr id="3074" name="Rectangle 2"/>
          <p:cNvSpPr>
            <a:spLocks noGrp="1" noChangeArrowheads="1"/>
          </p:cNvSpPr>
          <p:nvPr>
            <p:ph type="ctrTitle" sz="quarter" hasCustomPrompt="1"/>
          </p:nvPr>
        </p:nvSpPr>
        <p:spPr>
          <a:xfrm>
            <a:off x="914400" y="2286000"/>
            <a:ext cx="10363200" cy="1143000"/>
          </a:xfrm>
        </p:spPr>
        <p:txBody>
          <a:bodyPr/>
          <a:lstStyle>
            <a:lvl1pPr algn="ctr">
              <a:defRPr sz="4400"/>
            </a:lvl1pPr>
          </a:lstStyle>
          <a:p>
            <a:r>
              <a:rPr lang="zh-TW" altLang="en-US"/>
              <a:t>按一下以編輯母片次標題樣式</a:t>
            </a:r>
            <a:endParaRPr lang="zh-TW" altLang="en-US"/>
          </a:p>
        </p:txBody>
      </p:sp>
      <p:sp>
        <p:nvSpPr>
          <p:cNvPr id="3075" name="Rectangle 3"/>
          <p:cNvSpPr>
            <a:spLocks noGrp="1" noChangeArrowheads="1"/>
          </p:cNvSpPr>
          <p:nvPr>
            <p:ph type="subTitle" sz="quarter" idx="1" hasCustomPrompt="1"/>
          </p:nvPr>
        </p:nvSpPr>
        <p:spPr>
          <a:xfrm>
            <a:off x="1781908" y="3886200"/>
            <a:ext cx="8534400" cy="1752600"/>
          </a:xfrm>
        </p:spPr>
        <p:txBody>
          <a:bodyPr/>
          <a:lstStyle>
            <a:lvl1pPr marL="0" indent="0" algn="ctr">
              <a:buFont typeface="Symbol" panose="05050102010706020507" pitchFamily="18" charset="2"/>
              <a:buNone/>
              <a:defRPr>
                <a:solidFill>
                  <a:schemeClr val="accent2"/>
                </a:solidFill>
              </a:defRPr>
            </a:lvl1pPr>
          </a:lstStyle>
          <a:p>
            <a:r>
              <a:rPr lang="zh-TW" altLang="en-US"/>
              <a:t>按一下以編輯母片次標題樣式</a:t>
            </a:r>
            <a:endParaRPr lang="zh-TW"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TW"/>
          </a:p>
        </p:txBody>
      </p:sp>
      <p:sp>
        <p:nvSpPr>
          <p:cNvPr id="5" name="Rectangle 7"/>
          <p:cNvSpPr>
            <a:spLocks noGrp="1" noChangeArrowheads="1"/>
          </p:cNvSpPr>
          <p:nvPr>
            <p:ph type="sldNum" sz="quarter" idx="11"/>
          </p:nvPr>
        </p:nvSpPr>
        <p:spPr/>
        <p:txBody>
          <a:bodyPr/>
          <a:lstStyle>
            <a:lvl1pPr>
              <a:defRPr/>
            </a:lvl1pPr>
          </a:lstStyle>
          <a:p>
            <a:fld id="{4AD71FE6-E10B-4199-BAFD-F0772A50DD64}" type="slidenum">
              <a:rPr lang="en-US" altLang="zh-TW"/>
            </a:fld>
            <a:endParaRPr lang="en-US" altLang="zh-TW"/>
          </a:p>
        </p:txBody>
      </p:sp>
      <p:sp>
        <p:nvSpPr>
          <p:cNvPr id="6" name="Rectangle 8"/>
          <p:cNvSpPr>
            <a:spLocks noGrp="1" noChangeArrowheads="1"/>
          </p:cNvSpPr>
          <p:nvPr>
            <p:ph type="ftr" sz="quarter" idx="12"/>
          </p:nvPr>
        </p:nvSpPr>
        <p:spPr/>
        <p:txBody>
          <a:bodyPr/>
          <a:lstStyle>
            <a:lvl1pPr>
              <a:defRPr/>
            </a:lvl1pPr>
          </a:lstStyle>
          <a:p>
            <a:pPr>
              <a:defRPr/>
            </a:pPr>
            <a:endParaRPr lang="en-US" altLang="zh-TW"/>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247" y="4406901"/>
            <a:ext cx="10363200" cy="1362075"/>
          </a:xfrm>
        </p:spPr>
        <p:txBody>
          <a:bodyPr anchor="t"/>
          <a:lstStyle>
            <a:lvl1pPr algn="l">
              <a:defRPr sz="4000" b="1" cap="all"/>
            </a:lvl1pPr>
          </a:lstStyle>
          <a:p>
            <a:r>
              <a:rPr lang="zh-TW" altLang="en-US"/>
              <a:t>按一下以編輯母片標題樣式</a:t>
            </a:r>
            <a:endParaRPr lang="zh-TW" altLang="en-US"/>
          </a:p>
        </p:txBody>
      </p:sp>
      <p:sp>
        <p:nvSpPr>
          <p:cNvPr id="3" name="文字版面配置區 2"/>
          <p:cNvSpPr>
            <a:spLocks noGrp="1"/>
          </p:cNvSpPr>
          <p:nvPr>
            <p:ph type="body" idx="1"/>
          </p:nvPr>
        </p:nvSpPr>
        <p:spPr>
          <a:xfrm>
            <a:off x="963247"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endParaRPr lang="zh-TW"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TW"/>
          </a:p>
        </p:txBody>
      </p:sp>
      <p:sp>
        <p:nvSpPr>
          <p:cNvPr id="5" name="Rectangle 7"/>
          <p:cNvSpPr>
            <a:spLocks noGrp="1" noChangeArrowheads="1"/>
          </p:cNvSpPr>
          <p:nvPr>
            <p:ph type="sldNum" sz="quarter" idx="11"/>
          </p:nvPr>
        </p:nvSpPr>
        <p:spPr/>
        <p:txBody>
          <a:bodyPr/>
          <a:lstStyle>
            <a:lvl1pPr>
              <a:defRPr/>
            </a:lvl1pPr>
          </a:lstStyle>
          <a:p>
            <a:fld id="{3BECAB93-407D-4C9A-AAB7-2468B5EC0D2A}" type="slidenum">
              <a:rPr lang="en-US" altLang="zh-TW"/>
            </a:fld>
            <a:endParaRPr lang="en-US" altLang="zh-TW"/>
          </a:p>
        </p:txBody>
      </p:sp>
      <p:sp>
        <p:nvSpPr>
          <p:cNvPr id="6" name="Rectangle 8"/>
          <p:cNvSpPr>
            <a:spLocks noGrp="1" noChangeArrowheads="1"/>
          </p:cNvSpPr>
          <p:nvPr>
            <p:ph type="ftr" sz="quarter" idx="12"/>
          </p:nvPr>
        </p:nvSpPr>
        <p:spPr/>
        <p:txBody>
          <a:bodyPr/>
          <a:lstStyle>
            <a:lvl1pPr>
              <a:defRPr/>
            </a:lvl1pPr>
          </a:lstStyle>
          <a:p>
            <a:pPr>
              <a:defRPr/>
            </a:pPr>
            <a:endParaRPr lang="en-US" altLang="zh-TW"/>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內容版面配置區 2"/>
          <p:cNvSpPr>
            <a:spLocks noGrp="1"/>
          </p:cNvSpPr>
          <p:nvPr>
            <p:ph sz="half" idx="1"/>
          </p:nvPr>
        </p:nvSpPr>
        <p:spPr>
          <a:xfrm>
            <a:off x="281354" y="609600"/>
            <a:ext cx="5720862"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內容版面配置區 3"/>
          <p:cNvSpPr>
            <a:spLocks noGrp="1"/>
          </p:cNvSpPr>
          <p:nvPr>
            <p:ph sz="half" idx="2"/>
          </p:nvPr>
        </p:nvSpPr>
        <p:spPr>
          <a:xfrm>
            <a:off x="6189784" y="609600"/>
            <a:ext cx="5720862"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TW"/>
          </a:p>
        </p:txBody>
      </p:sp>
      <p:sp>
        <p:nvSpPr>
          <p:cNvPr id="6" name="Rectangle 7"/>
          <p:cNvSpPr>
            <a:spLocks noGrp="1" noChangeArrowheads="1"/>
          </p:cNvSpPr>
          <p:nvPr>
            <p:ph type="sldNum" sz="quarter" idx="11"/>
          </p:nvPr>
        </p:nvSpPr>
        <p:spPr/>
        <p:txBody>
          <a:bodyPr/>
          <a:lstStyle>
            <a:lvl1pPr>
              <a:defRPr/>
            </a:lvl1pPr>
          </a:lstStyle>
          <a:p>
            <a:fld id="{BE7636E6-7C06-4862-A03D-794FA536EC73}" type="slidenum">
              <a:rPr lang="en-US" altLang="zh-TW"/>
            </a:fld>
            <a:endParaRPr lang="en-US" altLang="zh-TW"/>
          </a:p>
        </p:txBody>
      </p:sp>
      <p:sp>
        <p:nvSpPr>
          <p:cNvPr id="7" name="Rectangle 8"/>
          <p:cNvSpPr>
            <a:spLocks noGrp="1" noChangeArrowheads="1"/>
          </p:cNvSpPr>
          <p:nvPr>
            <p:ph type="ftr" sz="quarter" idx="12"/>
          </p:nvPr>
        </p:nvSpPr>
        <p:spPr/>
        <p:txBody>
          <a:bodyPr/>
          <a:lstStyle>
            <a:lvl1pPr>
              <a:defRPr/>
            </a:lvl1pPr>
          </a:lstStyle>
          <a:p>
            <a:pPr>
              <a:defRPr/>
            </a:pPr>
            <a:endParaRPr lang="en-US" altLang="zh-TW"/>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09600" y="274638"/>
            <a:ext cx="10972800" cy="1143000"/>
          </a:xfrm>
        </p:spPr>
        <p:txBody>
          <a:bodyPr/>
          <a:lstStyle>
            <a:lvl1pPr>
              <a:defRPr/>
            </a:lvl1pPr>
          </a:lstStyle>
          <a:p>
            <a:r>
              <a:rPr lang="zh-TW" altLang="en-US"/>
              <a:t>按一下以編輯母片標題樣式</a:t>
            </a:r>
            <a:endParaRPr lang="zh-TW" altLang="en-US"/>
          </a:p>
        </p:txBody>
      </p:sp>
      <p:sp>
        <p:nvSpPr>
          <p:cNvPr id="3" name="文字版面配置區 2"/>
          <p:cNvSpPr>
            <a:spLocks noGrp="1"/>
          </p:cNvSpPr>
          <p:nvPr>
            <p:ph type="body" idx="1"/>
          </p:nvPr>
        </p:nvSpPr>
        <p:spPr>
          <a:xfrm>
            <a:off x="609600" y="1535113"/>
            <a:ext cx="538675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endParaRPr lang="zh-TW" altLang="en-US"/>
          </a:p>
        </p:txBody>
      </p:sp>
      <p:sp>
        <p:nvSpPr>
          <p:cNvPr id="4" name="內容版面配置區 3"/>
          <p:cNvSpPr>
            <a:spLocks noGrp="1"/>
          </p:cNvSpPr>
          <p:nvPr>
            <p:ph sz="half" idx="2"/>
          </p:nvPr>
        </p:nvSpPr>
        <p:spPr>
          <a:xfrm>
            <a:off x="609600" y="2174875"/>
            <a:ext cx="538675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5" name="文字版面配置區 4"/>
          <p:cNvSpPr>
            <a:spLocks noGrp="1"/>
          </p:cNvSpPr>
          <p:nvPr>
            <p:ph type="body" sz="quarter" idx="3"/>
          </p:nvPr>
        </p:nvSpPr>
        <p:spPr>
          <a:xfrm>
            <a:off x="6193693" y="1535113"/>
            <a:ext cx="538870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endParaRPr lang="zh-TW" altLang="en-US"/>
          </a:p>
        </p:txBody>
      </p:sp>
      <p:sp>
        <p:nvSpPr>
          <p:cNvPr id="6" name="內容版面配置區 5"/>
          <p:cNvSpPr>
            <a:spLocks noGrp="1"/>
          </p:cNvSpPr>
          <p:nvPr>
            <p:ph sz="quarter" idx="4"/>
          </p:nvPr>
        </p:nvSpPr>
        <p:spPr>
          <a:xfrm>
            <a:off x="6193693" y="2174875"/>
            <a:ext cx="538870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7" name="Rectangle 6"/>
          <p:cNvSpPr>
            <a:spLocks noGrp="1" noChangeArrowheads="1"/>
          </p:cNvSpPr>
          <p:nvPr>
            <p:ph type="dt" sz="half" idx="10"/>
          </p:nvPr>
        </p:nvSpPr>
        <p:spPr/>
        <p:txBody>
          <a:bodyPr/>
          <a:lstStyle>
            <a:lvl1pPr>
              <a:defRPr/>
            </a:lvl1pPr>
          </a:lstStyle>
          <a:p>
            <a:pPr>
              <a:defRPr/>
            </a:pPr>
            <a:endParaRPr lang="en-US" altLang="zh-TW"/>
          </a:p>
        </p:txBody>
      </p:sp>
      <p:sp>
        <p:nvSpPr>
          <p:cNvPr id="8" name="Rectangle 7"/>
          <p:cNvSpPr>
            <a:spLocks noGrp="1" noChangeArrowheads="1"/>
          </p:cNvSpPr>
          <p:nvPr>
            <p:ph type="sldNum" sz="quarter" idx="11"/>
          </p:nvPr>
        </p:nvSpPr>
        <p:spPr/>
        <p:txBody>
          <a:bodyPr/>
          <a:lstStyle>
            <a:lvl1pPr>
              <a:defRPr/>
            </a:lvl1pPr>
          </a:lstStyle>
          <a:p>
            <a:fld id="{ACFC6856-85E2-4280-B1D4-94FAC1A74F78}" type="slidenum">
              <a:rPr lang="en-US" altLang="zh-TW"/>
            </a:fld>
            <a:endParaRPr lang="en-US" altLang="zh-TW"/>
          </a:p>
        </p:txBody>
      </p:sp>
      <p:sp>
        <p:nvSpPr>
          <p:cNvPr id="9" name="Rectangle 8"/>
          <p:cNvSpPr>
            <a:spLocks noGrp="1" noChangeArrowheads="1"/>
          </p:cNvSpPr>
          <p:nvPr>
            <p:ph type="ftr" sz="quarter" idx="12"/>
          </p:nvPr>
        </p:nvSpPr>
        <p:spPr/>
        <p:txBody>
          <a:bodyPr/>
          <a:lstStyle>
            <a:lvl1pPr>
              <a:defRPr/>
            </a:lvl1pPr>
          </a:lstStyle>
          <a:p>
            <a:pPr>
              <a:defRPr/>
            </a:pPr>
            <a:endParaRPr lang="en-US" altLang="zh-TW"/>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Rectangle 6"/>
          <p:cNvSpPr>
            <a:spLocks noGrp="1" noChangeArrowheads="1"/>
          </p:cNvSpPr>
          <p:nvPr>
            <p:ph type="dt" sz="half" idx="10"/>
          </p:nvPr>
        </p:nvSpPr>
        <p:spPr/>
        <p:txBody>
          <a:bodyPr/>
          <a:lstStyle>
            <a:lvl1pPr>
              <a:defRPr/>
            </a:lvl1pPr>
          </a:lstStyle>
          <a:p>
            <a:pPr>
              <a:defRPr/>
            </a:pPr>
            <a:endParaRPr lang="en-US" altLang="zh-TW"/>
          </a:p>
        </p:txBody>
      </p:sp>
      <p:sp>
        <p:nvSpPr>
          <p:cNvPr id="4" name="Rectangle 7"/>
          <p:cNvSpPr>
            <a:spLocks noGrp="1" noChangeArrowheads="1"/>
          </p:cNvSpPr>
          <p:nvPr>
            <p:ph type="sldNum" sz="quarter" idx="11"/>
          </p:nvPr>
        </p:nvSpPr>
        <p:spPr/>
        <p:txBody>
          <a:bodyPr/>
          <a:lstStyle>
            <a:lvl1pPr>
              <a:defRPr/>
            </a:lvl1pPr>
          </a:lstStyle>
          <a:p>
            <a:fld id="{5B31720B-FD5B-4AF9-AB16-7A1F8FB5F224}" type="slidenum">
              <a:rPr lang="en-US" altLang="zh-TW"/>
            </a:fld>
            <a:endParaRPr lang="en-US" altLang="zh-TW"/>
          </a:p>
        </p:txBody>
      </p:sp>
      <p:sp>
        <p:nvSpPr>
          <p:cNvPr id="5" name="Rectangle 8"/>
          <p:cNvSpPr>
            <a:spLocks noGrp="1" noChangeArrowheads="1"/>
          </p:cNvSpPr>
          <p:nvPr>
            <p:ph type="ftr" sz="quarter" idx="12"/>
          </p:nvPr>
        </p:nvSpPr>
        <p:spPr/>
        <p:txBody>
          <a:bodyPr/>
          <a:lstStyle>
            <a:lvl1pPr>
              <a:defRPr/>
            </a:lvl1pPr>
          </a:lstStyle>
          <a:p>
            <a:pPr>
              <a:defRPr/>
            </a:pPr>
            <a:endParaRPr lang="en-US" altLang="zh-TW"/>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endParaRPr lang="en-US" altLang="zh-TW"/>
          </a:p>
        </p:txBody>
      </p:sp>
      <p:sp>
        <p:nvSpPr>
          <p:cNvPr id="3" name="Rectangle 7"/>
          <p:cNvSpPr>
            <a:spLocks noGrp="1" noChangeArrowheads="1"/>
          </p:cNvSpPr>
          <p:nvPr>
            <p:ph type="sldNum" sz="quarter" idx="11"/>
          </p:nvPr>
        </p:nvSpPr>
        <p:spPr/>
        <p:txBody>
          <a:bodyPr/>
          <a:lstStyle>
            <a:lvl1pPr>
              <a:defRPr/>
            </a:lvl1pPr>
          </a:lstStyle>
          <a:p>
            <a:fld id="{0F5157E2-6E2B-44BF-8EBB-9157CB8E5A6B}" type="slidenum">
              <a:rPr lang="en-US" altLang="zh-TW"/>
            </a:fld>
            <a:endParaRPr lang="en-US" altLang="zh-TW"/>
          </a:p>
        </p:txBody>
      </p:sp>
      <p:sp>
        <p:nvSpPr>
          <p:cNvPr id="4" name="Rectangle 8"/>
          <p:cNvSpPr>
            <a:spLocks noGrp="1" noChangeArrowheads="1"/>
          </p:cNvSpPr>
          <p:nvPr>
            <p:ph type="ftr" sz="quarter" idx="12"/>
          </p:nvPr>
        </p:nvSpPr>
        <p:spPr/>
        <p:txBody>
          <a:bodyPr/>
          <a:lstStyle>
            <a:lvl1pPr>
              <a:defRPr/>
            </a:lvl1pPr>
          </a:lstStyle>
          <a:p>
            <a:pPr>
              <a:defRPr/>
            </a:pPr>
            <a:endParaRPr lang="en-US" altLang="zh-TW"/>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0" y="273050"/>
            <a:ext cx="4011247" cy="1162050"/>
          </a:xfrm>
        </p:spPr>
        <p:txBody>
          <a:bodyPr anchor="b"/>
          <a:lstStyle>
            <a:lvl1pPr algn="l">
              <a:defRPr sz="2000" b="1"/>
            </a:lvl1pPr>
          </a:lstStyle>
          <a:p>
            <a:r>
              <a:rPr lang="zh-TW" altLang="en-US"/>
              <a:t>按一下以編輯母片標題樣式</a:t>
            </a:r>
            <a:endParaRPr lang="zh-TW" altLang="en-US"/>
          </a:p>
        </p:txBody>
      </p:sp>
      <p:sp>
        <p:nvSpPr>
          <p:cNvPr id="3" name="內容版面配置區 2"/>
          <p:cNvSpPr>
            <a:spLocks noGrp="1"/>
          </p:cNvSpPr>
          <p:nvPr>
            <p:ph idx="1"/>
          </p:nvPr>
        </p:nvSpPr>
        <p:spPr>
          <a:xfrm>
            <a:off x="4767385" y="273051"/>
            <a:ext cx="681501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文字版面配置區 3"/>
          <p:cNvSpPr>
            <a:spLocks noGrp="1"/>
          </p:cNvSpPr>
          <p:nvPr>
            <p:ph type="body" sz="half" idx="2"/>
          </p:nvPr>
        </p:nvSpPr>
        <p:spPr>
          <a:xfrm>
            <a:off x="609600" y="1435101"/>
            <a:ext cx="401124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endParaRPr lang="zh-TW"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TW"/>
          </a:p>
        </p:txBody>
      </p:sp>
      <p:sp>
        <p:nvSpPr>
          <p:cNvPr id="6" name="Rectangle 7"/>
          <p:cNvSpPr>
            <a:spLocks noGrp="1" noChangeArrowheads="1"/>
          </p:cNvSpPr>
          <p:nvPr>
            <p:ph type="sldNum" sz="quarter" idx="11"/>
          </p:nvPr>
        </p:nvSpPr>
        <p:spPr/>
        <p:txBody>
          <a:bodyPr/>
          <a:lstStyle>
            <a:lvl1pPr>
              <a:defRPr/>
            </a:lvl1pPr>
          </a:lstStyle>
          <a:p>
            <a:fld id="{50D0E216-A003-4840-8FD7-B04FA26B5B77}" type="slidenum">
              <a:rPr lang="en-US" altLang="zh-TW"/>
            </a:fld>
            <a:endParaRPr lang="en-US" altLang="zh-TW"/>
          </a:p>
        </p:txBody>
      </p:sp>
      <p:sp>
        <p:nvSpPr>
          <p:cNvPr id="7" name="Rectangle 8"/>
          <p:cNvSpPr>
            <a:spLocks noGrp="1" noChangeArrowheads="1"/>
          </p:cNvSpPr>
          <p:nvPr>
            <p:ph type="ftr" sz="quarter" idx="12"/>
          </p:nvPr>
        </p:nvSpPr>
        <p:spPr/>
        <p:txBody>
          <a:bodyPr/>
          <a:lstStyle>
            <a:lvl1pPr>
              <a:defRPr/>
            </a:lvl1pPr>
          </a:lstStyle>
          <a:p>
            <a:pPr>
              <a:defRPr/>
            </a:pPr>
            <a:endParaRPr lang="en-US" altLang="zh-TW"/>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554" y="4800600"/>
            <a:ext cx="7315200" cy="566738"/>
          </a:xfrm>
        </p:spPr>
        <p:txBody>
          <a:bodyPr anchor="b"/>
          <a:lstStyle>
            <a:lvl1pPr algn="l">
              <a:defRPr sz="2000" b="1"/>
            </a:lvl1pPr>
          </a:lstStyle>
          <a:p>
            <a:r>
              <a:rPr lang="zh-TW" altLang="en-US"/>
              <a:t>按一下以編輯母片標題樣式</a:t>
            </a:r>
            <a:endParaRPr lang="zh-TW" altLang="en-US"/>
          </a:p>
        </p:txBody>
      </p:sp>
      <p:sp>
        <p:nvSpPr>
          <p:cNvPr id="3" name="圖片版面配置區 2"/>
          <p:cNvSpPr>
            <a:spLocks noGrp="1"/>
          </p:cNvSpPr>
          <p:nvPr>
            <p:ph type="pic" idx="1"/>
          </p:nvPr>
        </p:nvSpPr>
        <p:spPr>
          <a:xfrm>
            <a:off x="2389554"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2389554"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endParaRPr lang="zh-TW"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TW"/>
          </a:p>
        </p:txBody>
      </p:sp>
      <p:sp>
        <p:nvSpPr>
          <p:cNvPr id="6" name="Rectangle 7"/>
          <p:cNvSpPr>
            <a:spLocks noGrp="1" noChangeArrowheads="1"/>
          </p:cNvSpPr>
          <p:nvPr>
            <p:ph type="sldNum" sz="quarter" idx="11"/>
          </p:nvPr>
        </p:nvSpPr>
        <p:spPr/>
        <p:txBody>
          <a:bodyPr/>
          <a:lstStyle>
            <a:lvl1pPr>
              <a:defRPr/>
            </a:lvl1pPr>
          </a:lstStyle>
          <a:p>
            <a:fld id="{04AE8A47-9CFD-4AE6-92FF-CCD2C94EC51C}" type="slidenum">
              <a:rPr lang="en-US" altLang="zh-TW"/>
            </a:fld>
            <a:endParaRPr lang="en-US" altLang="zh-TW"/>
          </a:p>
        </p:txBody>
      </p:sp>
      <p:sp>
        <p:nvSpPr>
          <p:cNvPr id="7" name="Rectangle 8"/>
          <p:cNvSpPr>
            <a:spLocks noGrp="1" noChangeArrowheads="1"/>
          </p:cNvSpPr>
          <p:nvPr>
            <p:ph type="ftr" sz="quarter" idx="12"/>
          </p:nvPr>
        </p:nvSpPr>
        <p:spPr/>
        <p:txBody>
          <a:bodyPr/>
          <a:lstStyle>
            <a:lvl1pPr>
              <a:defRPr/>
            </a:lvl1pPr>
          </a:lstStyle>
          <a:p>
            <a:pPr>
              <a:defRPr/>
            </a:pPr>
            <a:endParaRPr lang="en-US" altLang="zh-TW"/>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TW"/>
          </a:p>
        </p:txBody>
      </p:sp>
      <p:sp>
        <p:nvSpPr>
          <p:cNvPr id="5" name="Rectangle 7"/>
          <p:cNvSpPr>
            <a:spLocks noGrp="1" noChangeArrowheads="1"/>
          </p:cNvSpPr>
          <p:nvPr>
            <p:ph type="sldNum" sz="quarter" idx="11"/>
          </p:nvPr>
        </p:nvSpPr>
        <p:spPr/>
        <p:txBody>
          <a:bodyPr/>
          <a:lstStyle>
            <a:lvl1pPr>
              <a:defRPr/>
            </a:lvl1pPr>
          </a:lstStyle>
          <a:p>
            <a:fld id="{7186983D-16CB-4E0C-9D73-28F3E8C721F8}" type="slidenum">
              <a:rPr lang="en-US" altLang="zh-TW"/>
            </a:fld>
            <a:endParaRPr lang="en-US" altLang="zh-TW"/>
          </a:p>
        </p:txBody>
      </p:sp>
      <p:sp>
        <p:nvSpPr>
          <p:cNvPr id="6" name="Rectangle 8"/>
          <p:cNvSpPr>
            <a:spLocks noGrp="1" noChangeArrowheads="1"/>
          </p:cNvSpPr>
          <p:nvPr>
            <p:ph type="ftr" sz="quarter" idx="12"/>
          </p:nvPr>
        </p:nvSpPr>
        <p:spPr/>
        <p:txBody>
          <a:bodyPr/>
          <a:lstStyle>
            <a:lvl1pPr>
              <a:defRPr/>
            </a:lvl1pPr>
          </a:lstStyle>
          <a:p>
            <a:pPr>
              <a:defRPr/>
            </a:pPr>
            <a:endParaRPr lang="en-US" altLang="zh-TW"/>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9003323" y="228600"/>
            <a:ext cx="2907323" cy="6324600"/>
          </a:xfrm>
        </p:spPr>
        <p:txBody>
          <a:bodyPr vert="eaVert"/>
          <a:lstStyle/>
          <a:p>
            <a:r>
              <a:rPr lang="zh-TW" altLang="en-US"/>
              <a:t>按一下以編輯母片標題樣式</a:t>
            </a:r>
            <a:endParaRPr lang="zh-TW" altLang="en-US"/>
          </a:p>
        </p:txBody>
      </p:sp>
      <p:sp>
        <p:nvSpPr>
          <p:cNvPr id="3" name="直排文字版面配置區 2"/>
          <p:cNvSpPr>
            <a:spLocks noGrp="1"/>
          </p:cNvSpPr>
          <p:nvPr>
            <p:ph type="body" orient="vert" idx="1"/>
          </p:nvPr>
        </p:nvSpPr>
        <p:spPr>
          <a:xfrm>
            <a:off x="281354" y="228600"/>
            <a:ext cx="8534400" cy="6324600"/>
          </a:xfrm>
        </p:spPr>
        <p:txBody>
          <a:bodyPr vert="eaVert"/>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Rectangle 6"/>
          <p:cNvSpPr>
            <a:spLocks noGrp="1" noChangeArrowheads="1"/>
          </p:cNvSpPr>
          <p:nvPr>
            <p:ph type="dt" sz="half" idx="10"/>
          </p:nvPr>
        </p:nvSpPr>
        <p:spPr/>
        <p:txBody>
          <a:bodyPr/>
          <a:lstStyle>
            <a:lvl1pPr>
              <a:defRPr/>
            </a:lvl1pPr>
          </a:lstStyle>
          <a:p>
            <a:pPr>
              <a:defRPr/>
            </a:pPr>
            <a:endParaRPr lang="en-US" altLang="zh-TW"/>
          </a:p>
        </p:txBody>
      </p:sp>
      <p:sp>
        <p:nvSpPr>
          <p:cNvPr id="5" name="Rectangle 7"/>
          <p:cNvSpPr>
            <a:spLocks noGrp="1" noChangeArrowheads="1"/>
          </p:cNvSpPr>
          <p:nvPr>
            <p:ph type="sldNum" sz="quarter" idx="11"/>
          </p:nvPr>
        </p:nvSpPr>
        <p:spPr/>
        <p:txBody>
          <a:bodyPr/>
          <a:lstStyle>
            <a:lvl1pPr>
              <a:defRPr/>
            </a:lvl1pPr>
          </a:lstStyle>
          <a:p>
            <a:fld id="{FC9C1F90-02CA-4D8A-B57F-1F19F1629F95}" type="slidenum">
              <a:rPr lang="en-US" altLang="zh-TW"/>
            </a:fld>
            <a:endParaRPr lang="en-US" altLang="zh-TW"/>
          </a:p>
        </p:txBody>
      </p:sp>
      <p:sp>
        <p:nvSpPr>
          <p:cNvPr id="6" name="Rectangle 8"/>
          <p:cNvSpPr>
            <a:spLocks noGrp="1" noChangeArrowheads="1"/>
          </p:cNvSpPr>
          <p:nvPr>
            <p:ph type="ftr" sz="quarter" idx="12"/>
          </p:nvPr>
        </p:nvSpPr>
        <p:spPr/>
        <p:txBody>
          <a:bodyPr/>
          <a:lstStyle>
            <a:lvl1pPr>
              <a:defRPr/>
            </a:lvl1pPr>
          </a:lstStyle>
          <a:p>
            <a:pPr>
              <a:defRPr/>
            </a:pPr>
            <a:endParaRPr lang="en-US" altLang="zh-TW"/>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Rot="1" noChangeArrowheads="1"/>
          </p:cNvSpPr>
          <p:nvPr>
            <p:ph type="title"/>
          </p:nvPr>
        </p:nvSpPr>
        <p:spPr bwMode="auto">
          <a:xfrm>
            <a:off x="402167" y="228600"/>
            <a:ext cx="1138766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Rectangle 3"/>
          <p:cNvSpPr>
            <a:spLocks noGrp="1" noRot="1" noChangeArrowheads="1"/>
          </p:cNvSpPr>
          <p:nvPr>
            <p:ph type="body" idx="1"/>
          </p:nvPr>
        </p:nvSpPr>
        <p:spPr bwMode="auto">
          <a:xfrm>
            <a:off x="402167" y="1600200"/>
            <a:ext cx="11387667" cy="449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8612" name="Rectangle 4"/>
          <p:cNvSpPr>
            <a:spLocks noGrp="1" noChangeArrowheads="1"/>
          </p:cNvSpPr>
          <p:nvPr>
            <p:ph type="dt" sz="half" idx="2"/>
          </p:nvPr>
        </p:nvSpPr>
        <p:spPr bwMode="auto">
          <a:xfrm>
            <a:off x="402167" y="6245225"/>
            <a:ext cx="305223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a:defRPr/>
            </a:pPr>
            <a:endParaRPr lang="en-US" altLang="zh-CN"/>
          </a:p>
        </p:txBody>
      </p:sp>
      <p:sp>
        <p:nvSpPr>
          <p:cNvPr id="68613"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a:defRPr/>
            </a:pPr>
            <a:r>
              <a:rPr lang="en-US" altLang="zh-CN"/>
              <a:t>CSASC</a:t>
            </a:r>
            <a:endParaRPr lang="en-US" altLang="zh-CN"/>
          </a:p>
        </p:txBody>
      </p:sp>
      <p:sp>
        <p:nvSpPr>
          <p:cNvPr id="68614" name="Rectangle 6"/>
          <p:cNvSpPr>
            <a:spLocks noGrp="1" noChangeArrowheads="1"/>
          </p:cNvSpPr>
          <p:nvPr>
            <p:ph type="sldNum" sz="quarter" idx="4"/>
          </p:nvPr>
        </p:nvSpPr>
        <p:spPr bwMode="auto">
          <a:xfrm>
            <a:off x="8737601" y="6245225"/>
            <a:ext cx="305223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a:lvl1pPr>
          </a:lstStyle>
          <a:p>
            <a:pPr>
              <a:defRPr/>
            </a:pPr>
            <a:fld id="{CA10B237-3227-4903-9EE1-8883CDC01AE0}"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228600"/>
            <a:ext cx="7518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lstStyle/>
          <a:p>
            <a:pPr lvl="0"/>
            <a:r>
              <a:rPr lang="zh-TW" altLang="en-US"/>
              <a:t>按一下以編輯母片標題樣式</a:t>
            </a:r>
            <a:endParaRPr lang="zh-TW" altLang="en-US"/>
          </a:p>
        </p:txBody>
      </p:sp>
      <p:sp>
        <p:nvSpPr>
          <p:cNvPr id="1027" name="Rectangle 3"/>
          <p:cNvSpPr>
            <a:spLocks noGrp="1" noChangeArrowheads="1"/>
          </p:cNvSpPr>
          <p:nvPr>
            <p:ph type="body" idx="1"/>
          </p:nvPr>
        </p:nvSpPr>
        <p:spPr bwMode="auto">
          <a:xfrm>
            <a:off x="281354" y="609600"/>
            <a:ext cx="11629292"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lstStyle/>
          <a:p>
            <a:pPr lvl="0"/>
            <a:r>
              <a:rPr lang="zh-TW" altLang="en-US"/>
              <a:t>按一下以編輯母片本文樣式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1028" name="AutoShape 4"/>
          <p:cNvSpPr>
            <a:spLocks noChangeArrowheads="1"/>
          </p:cNvSpPr>
          <p:nvPr/>
        </p:nvSpPr>
        <p:spPr bwMode="auto">
          <a:xfrm>
            <a:off x="130909" y="100014"/>
            <a:ext cx="11930185" cy="6657975"/>
          </a:xfrm>
          <a:prstGeom prst="roundRect">
            <a:avLst>
              <a:gd name="adj" fmla="val 12495"/>
            </a:avLst>
          </a:prstGeom>
          <a:noFill/>
          <a:ln w="47625" cmpd="thickThin">
            <a:solidFill>
              <a:schemeClr val="tx1"/>
            </a:solidFill>
            <a:round/>
          </a:ln>
          <a:effectLst/>
        </p:spPr>
        <p:txBody>
          <a:bodyPr wrap="none" anchor="ctr"/>
          <a:lstStyle/>
          <a:p>
            <a:pPr>
              <a:defRPr/>
            </a:pPr>
            <a:endParaRPr lang="zh-TW" altLang="en-US">
              <a:latin typeface="Arial" panose="020B0604020202020204" pitchFamily="34" charset="0"/>
            </a:endParaRPr>
          </a:p>
        </p:txBody>
      </p:sp>
      <p:sp useBgFill="1">
        <p:nvSpPr>
          <p:cNvPr id="1029" name="Rectangle 5"/>
          <p:cNvSpPr>
            <a:spLocks noChangeArrowheads="1"/>
          </p:cNvSpPr>
          <p:nvPr/>
        </p:nvSpPr>
        <p:spPr bwMode="auto">
          <a:xfrm>
            <a:off x="9566031" y="38100"/>
            <a:ext cx="2157046" cy="242888"/>
          </a:xfrm>
          <a:prstGeom prst="rect">
            <a:avLst/>
          </a:prstGeom>
          <a:ln w="9525">
            <a:noFill/>
            <a:miter lim="800000"/>
          </a:ln>
          <a:effectLst/>
        </p:spPr>
        <p:txBody>
          <a:bodyPr lIns="63500" tIns="25400" rIns="63500" bIns="25400">
            <a:spAutoFit/>
          </a:bodyPr>
          <a:lstStyle/>
          <a:p>
            <a:pPr algn="ctr">
              <a:lnSpc>
                <a:spcPct val="90000"/>
              </a:lnSpc>
              <a:defRPr/>
            </a:pPr>
            <a:r>
              <a:rPr lang="en-US" altLang="zh-TW" sz="1400" b="1">
                <a:latin typeface="Arial" panose="020B0604020202020204" pitchFamily="34" charset="0"/>
              </a:rPr>
              <a:t>Java Threads</a:t>
            </a:r>
            <a:endParaRPr lang="en-US" altLang="zh-TW" sz="1400" b="1">
              <a:latin typeface="Arial" panose="020B0604020202020204" pitchFamily="34" charset="0"/>
            </a:endParaRPr>
          </a:p>
        </p:txBody>
      </p:sp>
      <p:sp>
        <p:nvSpPr>
          <p:cNvPr id="1030" name="Rectangle 6"/>
          <p:cNvSpPr>
            <a:spLocks noGrp="1" noChangeArrowheads="1"/>
          </p:cNvSpPr>
          <p:nvPr>
            <p:ph type="dt" sz="half" idx="2"/>
          </p:nvPr>
        </p:nvSpPr>
        <p:spPr bwMode="auto">
          <a:xfrm>
            <a:off x="937846" y="6248400"/>
            <a:ext cx="2532185" cy="457200"/>
          </a:xfrm>
          <a:prstGeom prst="rect">
            <a:avLst/>
          </a:prstGeom>
          <a:noFill/>
          <a:ln w="9525">
            <a:noFill/>
            <a:miter lim="800000"/>
          </a:ln>
          <a:effectLst/>
        </p:spPr>
        <p:txBody>
          <a:bodyPr vert="horz" wrap="none" lIns="92075" tIns="46038" rIns="92075" bIns="46038" numCol="1" anchor="ctr" anchorCtr="0" compatLnSpc="1"/>
          <a:lstStyle>
            <a:lvl1pPr>
              <a:defRPr sz="1400">
                <a:latin typeface="Arial" panose="020B0604020202020204" pitchFamily="34" charset="0"/>
              </a:defRPr>
            </a:lvl1pPr>
          </a:lstStyle>
          <a:p>
            <a:pPr>
              <a:defRPr/>
            </a:pPr>
            <a:endParaRPr lang="en-US" altLang="zh-TW"/>
          </a:p>
        </p:txBody>
      </p:sp>
      <p:sp>
        <p:nvSpPr>
          <p:cNvPr id="1031" name="Rectangle 7"/>
          <p:cNvSpPr>
            <a:spLocks noGrp="1" noChangeArrowheads="1"/>
          </p:cNvSpPr>
          <p:nvPr>
            <p:ph type="sldNum" sz="quarter" idx="4"/>
          </p:nvPr>
        </p:nvSpPr>
        <p:spPr bwMode="auto">
          <a:xfrm>
            <a:off x="8721969" y="6248400"/>
            <a:ext cx="2532185" cy="457200"/>
          </a:xfrm>
          <a:prstGeom prst="rect">
            <a:avLst/>
          </a:prstGeom>
          <a:noFill/>
          <a:ln w="9525">
            <a:noFill/>
            <a:miter lim="800000"/>
          </a:ln>
          <a:effectLst/>
        </p:spPr>
        <p:txBody>
          <a:bodyPr vert="horz" wrap="none" lIns="92075" tIns="46038" rIns="92075" bIns="46038" numCol="1" anchor="ctr" anchorCtr="0" compatLnSpc="1"/>
          <a:lstStyle>
            <a:lvl1pPr algn="r">
              <a:defRPr sz="1400">
                <a:latin typeface="Times New Roman" panose="02020603050405020304" pitchFamily="18" charset="0"/>
              </a:defRPr>
            </a:lvl1pPr>
          </a:lstStyle>
          <a:p>
            <a:fld id="{0D447F4F-559A-4CB4-B3ED-C3BE48537114}" type="slidenum">
              <a:rPr lang="en-US" altLang="zh-TW"/>
            </a:fld>
            <a:endParaRPr lang="en-US" altLang="zh-TW"/>
          </a:p>
        </p:txBody>
      </p:sp>
      <p:sp>
        <p:nvSpPr>
          <p:cNvPr id="1032" name="Rectangle 8"/>
          <p:cNvSpPr>
            <a:spLocks noGrp="1" noChangeArrowheads="1"/>
          </p:cNvSpPr>
          <p:nvPr>
            <p:ph type="ftr" sz="quarter" idx="3"/>
          </p:nvPr>
        </p:nvSpPr>
        <p:spPr bwMode="auto">
          <a:xfrm>
            <a:off x="4220308" y="6248400"/>
            <a:ext cx="3751385" cy="457200"/>
          </a:xfrm>
          <a:prstGeom prst="rect">
            <a:avLst/>
          </a:prstGeom>
          <a:noFill/>
          <a:ln w="9525">
            <a:noFill/>
            <a:miter lim="800000"/>
          </a:ln>
          <a:effectLst/>
        </p:spPr>
        <p:txBody>
          <a:bodyPr vert="horz" wrap="none" lIns="92075" tIns="46038" rIns="92075" bIns="46038" numCol="1" anchor="ctr" anchorCtr="0" compatLnSpc="1"/>
          <a:lstStyle>
            <a:lvl1pPr algn="ctr">
              <a:defRPr sz="1400">
                <a:latin typeface="Arial" panose="020B0604020202020204" pitchFamily="34" charset="0"/>
              </a:defRPr>
            </a:lvl1pPr>
          </a:lstStyle>
          <a:p>
            <a:pPr>
              <a:defRPr/>
            </a:pPr>
            <a:endParaRPr lang="en-US" altLang="zh-TW"/>
          </a:p>
        </p:txBody>
      </p:sp>
      <p:sp useBgFill="1">
        <p:nvSpPr>
          <p:cNvPr id="1033" name="Rectangle 9"/>
          <p:cNvSpPr>
            <a:spLocks noChangeArrowheads="1"/>
          </p:cNvSpPr>
          <p:nvPr/>
        </p:nvSpPr>
        <p:spPr bwMode="auto">
          <a:xfrm>
            <a:off x="8776677" y="6627813"/>
            <a:ext cx="1735603" cy="230448"/>
          </a:xfrm>
          <a:prstGeom prst="rect">
            <a:avLst/>
          </a:prstGeom>
          <a:ln w="9525">
            <a:noFill/>
            <a:miter lim="800000"/>
          </a:ln>
          <a:effectLst/>
        </p:spPr>
        <p:txBody>
          <a:bodyPr wrap="none" lIns="63500" tIns="25400" rIns="63500" bIns="25400">
            <a:spAutoFit/>
          </a:bodyPr>
          <a:lstStyle>
            <a:lvl1pPr>
              <a:defRPr kumimoji="1" sz="2000">
                <a:solidFill>
                  <a:schemeClr val="tx1"/>
                </a:solidFill>
                <a:latin typeface="Arial" panose="020B0604020202020204" pitchFamily="34" charset="0"/>
                <a:ea typeface="PMingLiU" pitchFamily="18" charset="-120"/>
              </a:defRPr>
            </a:lvl1pPr>
            <a:lvl2pPr marL="742950" indent="-285750">
              <a:defRPr kumimoji="1" sz="2000">
                <a:solidFill>
                  <a:schemeClr val="tx1"/>
                </a:solidFill>
                <a:latin typeface="Arial" panose="020B0604020202020204" pitchFamily="34" charset="0"/>
                <a:ea typeface="PMingLiU" pitchFamily="18" charset="-120"/>
              </a:defRPr>
            </a:lvl2pPr>
            <a:lvl3pPr marL="1143000" indent="-228600">
              <a:defRPr kumimoji="1" sz="2000">
                <a:solidFill>
                  <a:schemeClr val="tx1"/>
                </a:solidFill>
                <a:latin typeface="Arial" panose="020B0604020202020204" pitchFamily="34" charset="0"/>
                <a:ea typeface="PMingLiU" pitchFamily="18" charset="-120"/>
              </a:defRPr>
            </a:lvl3pPr>
            <a:lvl4pPr marL="1600200" indent="-228600">
              <a:defRPr kumimoji="1" sz="2000">
                <a:solidFill>
                  <a:schemeClr val="tx1"/>
                </a:solidFill>
                <a:latin typeface="Arial" panose="020B0604020202020204" pitchFamily="34" charset="0"/>
                <a:ea typeface="PMingLiU" pitchFamily="18" charset="-120"/>
              </a:defRPr>
            </a:lvl4pPr>
            <a:lvl5pPr marL="2057400" indent="-228600">
              <a:defRPr kumimoji="1" sz="2000">
                <a:solidFill>
                  <a:schemeClr val="tx1"/>
                </a:solidFill>
                <a:latin typeface="Arial" panose="020B0604020202020204" pitchFamily="34" charset="0"/>
                <a:ea typeface="PMingLiU" pitchFamily="18" charset="-120"/>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9pPr>
          </a:lstStyle>
          <a:p>
            <a:pPr>
              <a:lnSpc>
                <a:spcPct val="97000"/>
              </a:lnSpc>
            </a:pPr>
            <a:r>
              <a:rPr lang="en-US" altLang="zh-TW" sz="1200" b="1"/>
              <a:t>  Transparency No. </a:t>
            </a:r>
            <a:fld id="{5469F26B-DD34-4C2D-A957-79356572C568}" type="slidenum">
              <a:rPr lang="en-US" altLang="zh-TW" sz="1200" b="1"/>
            </a:fld>
            <a:endParaRPr lang="en-US" altLang="zh-TW" sz="1200" b="1"/>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rtl="0" eaLnBrk="0" fontAlgn="base" hangingPunct="0">
        <a:spcBef>
          <a:spcPct val="0"/>
        </a:spcBef>
        <a:spcAft>
          <a:spcPct val="0"/>
        </a:spcAft>
        <a:defRPr kumimoji="1" sz="2000" b="1" u="sng">
          <a:solidFill>
            <a:srgbClr val="FF0033"/>
          </a:solidFill>
          <a:latin typeface="+mj-lt"/>
          <a:ea typeface="+mj-ea"/>
          <a:cs typeface="+mj-cs"/>
        </a:defRPr>
      </a:lvl1pPr>
      <a:lvl2pPr algn="l" rtl="0" eaLnBrk="0" fontAlgn="base" hangingPunct="0">
        <a:spcBef>
          <a:spcPct val="0"/>
        </a:spcBef>
        <a:spcAft>
          <a:spcPct val="0"/>
        </a:spcAft>
        <a:defRPr kumimoji="1" sz="2000" b="1" u="sng">
          <a:solidFill>
            <a:srgbClr val="FF0033"/>
          </a:solidFill>
          <a:latin typeface="Arial" panose="020B0604020202020204" pitchFamily="34" charset="0"/>
          <a:ea typeface="全真楷書" pitchFamily="49" charset="-120"/>
        </a:defRPr>
      </a:lvl2pPr>
      <a:lvl3pPr algn="l" rtl="0" eaLnBrk="0" fontAlgn="base" hangingPunct="0">
        <a:spcBef>
          <a:spcPct val="0"/>
        </a:spcBef>
        <a:spcAft>
          <a:spcPct val="0"/>
        </a:spcAft>
        <a:defRPr kumimoji="1" sz="2000" b="1" u="sng">
          <a:solidFill>
            <a:srgbClr val="FF0033"/>
          </a:solidFill>
          <a:latin typeface="Arial" panose="020B0604020202020204" pitchFamily="34" charset="0"/>
          <a:ea typeface="全真楷書" pitchFamily="49" charset="-120"/>
        </a:defRPr>
      </a:lvl3pPr>
      <a:lvl4pPr algn="l" rtl="0" eaLnBrk="0" fontAlgn="base" hangingPunct="0">
        <a:spcBef>
          <a:spcPct val="0"/>
        </a:spcBef>
        <a:spcAft>
          <a:spcPct val="0"/>
        </a:spcAft>
        <a:defRPr kumimoji="1" sz="2000" b="1" u="sng">
          <a:solidFill>
            <a:srgbClr val="FF0033"/>
          </a:solidFill>
          <a:latin typeface="Arial" panose="020B0604020202020204" pitchFamily="34" charset="0"/>
          <a:ea typeface="全真楷書" pitchFamily="49" charset="-120"/>
        </a:defRPr>
      </a:lvl4pPr>
      <a:lvl5pPr algn="l" rtl="0" eaLnBrk="0" fontAlgn="base" hangingPunct="0">
        <a:spcBef>
          <a:spcPct val="0"/>
        </a:spcBef>
        <a:spcAft>
          <a:spcPct val="0"/>
        </a:spcAft>
        <a:defRPr kumimoji="1" sz="2000" b="1" u="sng">
          <a:solidFill>
            <a:srgbClr val="FF0033"/>
          </a:solidFill>
          <a:latin typeface="Arial" panose="020B0604020202020204" pitchFamily="34" charset="0"/>
          <a:ea typeface="全真楷書" pitchFamily="49" charset="-120"/>
        </a:defRPr>
      </a:lvl5pPr>
      <a:lvl6pPr marL="457200" algn="l" rtl="0" fontAlgn="base">
        <a:spcBef>
          <a:spcPct val="0"/>
        </a:spcBef>
        <a:spcAft>
          <a:spcPct val="0"/>
        </a:spcAft>
        <a:defRPr kumimoji="1" sz="2000" b="1" u="sng">
          <a:solidFill>
            <a:srgbClr val="FF0033"/>
          </a:solidFill>
          <a:latin typeface="Arial" panose="020B0604020202020204" pitchFamily="34" charset="0"/>
          <a:ea typeface="全真楷書" pitchFamily="49" charset="-120"/>
        </a:defRPr>
      </a:lvl6pPr>
      <a:lvl7pPr marL="914400" algn="l" rtl="0" fontAlgn="base">
        <a:spcBef>
          <a:spcPct val="0"/>
        </a:spcBef>
        <a:spcAft>
          <a:spcPct val="0"/>
        </a:spcAft>
        <a:defRPr kumimoji="1" sz="2000" b="1" u="sng">
          <a:solidFill>
            <a:srgbClr val="FF0033"/>
          </a:solidFill>
          <a:latin typeface="Arial" panose="020B0604020202020204" pitchFamily="34" charset="0"/>
          <a:ea typeface="全真楷書" pitchFamily="49" charset="-120"/>
        </a:defRPr>
      </a:lvl7pPr>
      <a:lvl8pPr marL="1371600" algn="l" rtl="0" fontAlgn="base">
        <a:spcBef>
          <a:spcPct val="0"/>
        </a:spcBef>
        <a:spcAft>
          <a:spcPct val="0"/>
        </a:spcAft>
        <a:defRPr kumimoji="1" sz="2000" b="1" u="sng">
          <a:solidFill>
            <a:srgbClr val="FF0033"/>
          </a:solidFill>
          <a:latin typeface="Arial" panose="020B0604020202020204" pitchFamily="34" charset="0"/>
          <a:ea typeface="全真楷書" pitchFamily="49" charset="-120"/>
        </a:defRPr>
      </a:lvl8pPr>
      <a:lvl9pPr marL="1828800" algn="l" rtl="0" fontAlgn="base">
        <a:spcBef>
          <a:spcPct val="0"/>
        </a:spcBef>
        <a:spcAft>
          <a:spcPct val="0"/>
        </a:spcAft>
        <a:defRPr kumimoji="1" sz="2000" b="1" u="sng">
          <a:solidFill>
            <a:srgbClr val="FF0033"/>
          </a:solidFill>
          <a:latin typeface="Arial" panose="020B0604020202020204" pitchFamily="34" charset="0"/>
          <a:ea typeface="全真楷書" pitchFamily="49" charset="-120"/>
        </a:defRPr>
      </a:lvl9pPr>
    </p:titleStyle>
    <p:bodyStyle>
      <a:lvl1pPr marL="342900" indent="-342900" algn="l" rtl="0" eaLnBrk="0" fontAlgn="base" hangingPunct="0">
        <a:spcBef>
          <a:spcPct val="20000"/>
        </a:spcBef>
        <a:spcAft>
          <a:spcPct val="0"/>
        </a:spcAft>
        <a:buFont typeface="Symbol" panose="05050102010706020507" pitchFamily="18"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anose="05000000000000000000"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Font typeface="Wingdings" panose="05000000000000000000" pitchFamily="2" charset="2"/>
        <a:buChar char="µ"/>
        <a:defRPr kumimoji="1" sz="20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har char="•"/>
        <a:defRPr kumimoji="1" sz="1600" b="1">
          <a:solidFill>
            <a:schemeClr val="tx1"/>
          </a:solidFill>
          <a:latin typeface="+mn-lt"/>
          <a:ea typeface="+mn-ea"/>
        </a:defRPr>
      </a:lvl5pPr>
      <a:lvl6pPr marL="2514600" indent="-228600" algn="l" rtl="0" fontAlgn="base">
        <a:spcBef>
          <a:spcPct val="20000"/>
        </a:spcBef>
        <a:spcAft>
          <a:spcPct val="0"/>
        </a:spcAft>
        <a:buChar char="•"/>
        <a:defRPr kumimoji="1" sz="1600" b="1">
          <a:solidFill>
            <a:schemeClr val="tx1"/>
          </a:solidFill>
          <a:latin typeface="+mn-lt"/>
          <a:ea typeface="+mn-ea"/>
        </a:defRPr>
      </a:lvl6pPr>
      <a:lvl7pPr marL="2971800" indent="-228600" algn="l" rtl="0" fontAlgn="base">
        <a:spcBef>
          <a:spcPct val="20000"/>
        </a:spcBef>
        <a:spcAft>
          <a:spcPct val="0"/>
        </a:spcAft>
        <a:buChar char="•"/>
        <a:defRPr kumimoji="1" sz="1600" b="1">
          <a:solidFill>
            <a:schemeClr val="tx1"/>
          </a:solidFill>
          <a:latin typeface="+mn-lt"/>
          <a:ea typeface="+mn-ea"/>
        </a:defRPr>
      </a:lvl7pPr>
      <a:lvl8pPr marL="3429000" indent="-228600" algn="l" rtl="0" fontAlgn="base">
        <a:spcBef>
          <a:spcPct val="20000"/>
        </a:spcBef>
        <a:spcAft>
          <a:spcPct val="0"/>
        </a:spcAft>
        <a:buChar char="•"/>
        <a:defRPr kumimoji="1" sz="1600" b="1">
          <a:solidFill>
            <a:schemeClr val="tx1"/>
          </a:solidFill>
          <a:latin typeface="+mn-lt"/>
          <a:ea typeface="+mn-ea"/>
        </a:defRPr>
      </a:lvl8pPr>
      <a:lvl9pPr marL="3886200" indent="-228600" algn="l" rtl="0" fontAlgn="base">
        <a:spcBef>
          <a:spcPct val="20000"/>
        </a:spcBef>
        <a:spcAft>
          <a:spcPct val="0"/>
        </a:spcAft>
        <a:buChar char="•"/>
        <a:defRPr kumimoji="1" sz="1600" b="1">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hyperlink" Target="http://java.sun.com/javase/6/docs/api/java/lang/Thread.html#isInterrupted%28%29" TargetMode="External"/><Relationship Id="rId2" Type="http://schemas.openxmlformats.org/officeDocument/2006/relationships/hyperlink" Target="http://java.sun.com/javase/6/docs/api/java/lang/Thread.html#isDaemon%28%29" TargetMode="External"/><Relationship Id="rId1" Type="http://schemas.openxmlformats.org/officeDocument/2006/relationships/hyperlink" Target="http://java.sun.com/javase/6/docs/api/java/lang/Thread.html#isAlive%28%29" TargetMode="Externa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14.xml"/><Relationship Id="rId7" Type="http://schemas.openxmlformats.org/officeDocument/2006/relationships/hyperlink" Target="http://java.sun.com/javase/6/docs/api/java/lang/Thread.html#yield%28%29" TargetMode="External"/><Relationship Id="rId6" Type="http://schemas.openxmlformats.org/officeDocument/2006/relationships/hyperlink" Target="http://java.sun.com/javase/6/docs/api/java/lang/Thread.html#sleep%28long,%20int%29" TargetMode="External"/><Relationship Id="rId5" Type="http://schemas.openxmlformats.org/officeDocument/2006/relationships/hyperlink" Target="http://java.sun.com/javase/6/docs/api/java/lang/Thread.html#interrupted%28%29" TargetMode="External"/><Relationship Id="rId4" Type="http://schemas.openxmlformats.org/officeDocument/2006/relationships/hyperlink" Target="http://java.sun.com/javase/6/docs/api/java/lang/Object.html" TargetMode="External"/><Relationship Id="rId3" Type="http://schemas.openxmlformats.org/officeDocument/2006/relationships/hyperlink" Target="http://java.sun.com/javase/6/docs/api/java/lang/Thread.html#holdsLock%28java.lang.Object%29" TargetMode="External"/><Relationship Id="rId2" Type="http://schemas.openxmlformats.org/officeDocument/2006/relationships/hyperlink" Target="http://java.sun.com/javase/6/docs/api/java/lang/Thread.html#currentThread%28%29" TargetMode="External"/><Relationship Id="rId1" Type="http://schemas.openxmlformats.org/officeDocument/2006/relationships/hyperlink" Target="http://java.sun.com/javase/6/docs/api/java/lang/Thread.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AsyncFileCompressor.java"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Grp="1" noChangeArrowheads="1"/>
          </p:cNvSpPr>
          <p:nvPr>
            <p:ph type="sldNum" sz="quarter" idx="12"/>
          </p:nvPr>
        </p:nvSpPr>
        <p:spPr>
          <a:noFill/>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EC6225C2-F8CE-448F-B243-FD3C11D2DB27}" type="slidenum">
              <a:rPr lang="en-US" altLang="zh-CN" sz="1400"/>
            </a:fld>
            <a:endParaRPr lang="en-US" altLang="zh-CN" sz="1400"/>
          </a:p>
        </p:txBody>
      </p:sp>
      <p:sp>
        <p:nvSpPr>
          <p:cNvPr id="5123" name="Rectangle 6"/>
          <p:cNvSpPr>
            <a:spLocks noRot="1" noChangeArrowheads="1"/>
          </p:cNvSpPr>
          <p:nvPr/>
        </p:nvSpPr>
        <p:spPr bwMode="auto">
          <a:xfrm>
            <a:off x="1676400" y="1295400"/>
            <a:ext cx="854075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2" panose="05020102010507070707" pitchFamily="18" charset="2"/>
              <a:buNone/>
            </a:pPr>
            <a:r>
              <a:rPr lang="en-GB" altLang="en-US" sz="4800" b="1">
                <a:solidFill>
                  <a:srgbClr val="FF0000"/>
                </a:solidFill>
                <a:latin typeface="华文行楷" panose="02010800040101010101" pitchFamily="2" charset="-122"/>
                <a:ea typeface="华文行楷" panose="02010800040101010101" pitchFamily="2" charset="-122"/>
              </a:rPr>
              <a:t>Internet Programming</a:t>
            </a:r>
            <a:endParaRPr lang="en-US" altLang="zh-CN" sz="4800" b="1">
              <a:solidFill>
                <a:srgbClr val="FF0000"/>
              </a:solidFill>
              <a:latin typeface="华文行楷" panose="02010800040101010101" pitchFamily="2" charset="-122"/>
              <a:ea typeface="华文行楷" panose="02010800040101010101" pitchFamily="2" charset="-122"/>
            </a:endParaRPr>
          </a:p>
          <a:p>
            <a:pPr algn="ctr" eaLnBrk="1" hangingPunct="1">
              <a:buFont typeface="Wingdings 2" panose="05020102010507070707" pitchFamily="18" charset="2"/>
              <a:buNone/>
            </a:pPr>
            <a:r>
              <a:rPr lang="en-GB" altLang="en-US" sz="4800" b="1">
                <a:latin typeface="华文行楷" panose="02010800040101010101" pitchFamily="2" charset="-122"/>
                <a:ea typeface="华文行楷" panose="02010800040101010101" pitchFamily="2" charset="-122"/>
              </a:rPr>
              <a:t>Chapter </a:t>
            </a:r>
            <a:r>
              <a:rPr lang="en-GB" altLang="zh-CN" sz="4800" b="1">
                <a:latin typeface="华文行楷" panose="02010800040101010101" pitchFamily="2" charset="-122"/>
                <a:ea typeface="华文行楷" panose="02010800040101010101" pitchFamily="2" charset="-122"/>
              </a:rPr>
              <a:t>3</a:t>
            </a:r>
            <a:r>
              <a:rPr lang="en-GB" altLang="en-US" sz="4800" b="1">
                <a:latin typeface="华文行楷" panose="02010800040101010101" pitchFamily="2" charset="-122"/>
                <a:ea typeface="华文行楷" panose="02010800040101010101" pitchFamily="2" charset="-122"/>
              </a:rPr>
              <a:t>​</a:t>
            </a:r>
            <a:endParaRPr lang="en-US" altLang="zh-CN" sz="4800" b="1">
              <a:latin typeface="华文行楷" panose="02010800040101010101" pitchFamily="2" charset="-122"/>
              <a:ea typeface="华文行楷" panose="02010800040101010101" pitchFamily="2" charset="-122"/>
            </a:endParaRPr>
          </a:p>
          <a:p>
            <a:pPr algn="ctr" eaLnBrk="1" hangingPunct="1">
              <a:buFont typeface="Wingdings 2" panose="05020102010507070707" pitchFamily="18" charset="2"/>
              <a:buNone/>
            </a:pPr>
            <a:r>
              <a:rPr lang="en-GB" altLang="en-US" sz="4800">
                <a:latin typeface="Garamond" panose="02020404030301010803" pitchFamily="18" charset="0"/>
                <a:ea typeface="仿宋" panose="02010609060101010101" pitchFamily="49" charset="-122"/>
              </a:rPr>
              <a:t>Threads</a:t>
            </a:r>
            <a:endParaRPr lang="en-US" altLang="zh-CN" sz="4800">
              <a:latin typeface="Garamond" panose="02020404030301010803" pitchFamily="18" charset="0"/>
              <a:ea typeface="仿宋" panose="02010609060101010101" pitchFamily="49" charset="-122"/>
            </a:endParaRPr>
          </a:p>
        </p:txBody>
      </p:sp>
      <p:sp>
        <p:nvSpPr>
          <p:cNvPr id="5124" name="Rectangle 8"/>
          <p:cNvSpPr>
            <a:spLocks noRot="1" noChangeArrowheads="1"/>
          </p:cNvSpPr>
          <p:nvPr/>
        </p:nvSpPr>
        <p:spPr bwMode="auto">
          <a:xfrm>
            <a:off x="6477000" y="5715000"/>
            <a:ext cx="396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2" panose="05020102010507070707" pitchFamily="18" charset="2"/>
              <a:buNone/>
            </a:pPr>
            <a:r>
              <a:rPr lang="en-GB" altLang="en-US" sz="2000" b="1">
                <a:solidFill>
                  <a:schemeClr val="tx2"/>
                </a:solidFill>
              </a:rPr>
              <a:t>School of Computer and Software, Shenzhen University</a:t>
            </a:r>
            <a:endParaRPr lang="zh-CN" altLang="en-US" sz="2000" b="1" i="1">
              <a:solidFill>
                <a:schemeClr val="tx2"/>
              </a:solidFill>
            </a:endParaRPr>
          </a:p>
        </p:txBody>
      </p:sp>
      <p:pic>
        <p:nvPicPr>
          <p:cNvPr id="5125" name="Picture 10" descr="szu"/>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5000" y="228601"/>
            <a:ext cx="2514600"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dir="l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ltLang="zh-TW"/>
              <a:t>Contents</a:t>
            </a:r>
            <a:endParaRPr lang="en-US" altLang="zh-TW"/>
          </a:p>
        </p:txBody>
      </p:sp>
      <p:sp>
        <p:nvSpPr>
          <p:cNvPr id="4099" name="Rectangle 3"/>
          <p:cNvSpPr>
            <a:spLocks noGrp="1" noChangeArrowheads="1"/>
          </p:cNvSpPr>
          <p:nvPr>
            <p:ph type="body" idx="1"/>
          </p:nvPr>
        </p:nvSpPr>
        <p:spPr>
          <a:xfrm>
            <a:off x="1447800" y="685800"/>
            <a:ext cx="9448800" cy="5943600"/>
          </a:xfrm>
        </p:spPr>
        <p:txBody>
          <a:bodyPr/>
          <a:lstStyle/>
          <a:p>
            <a:pPr marL="533400" indent="-533400" eaLnBrk="1" hangingPunct="1">
              <a:buFont typeface="Symbol" panose="05050102010706020507" pitchFamily="18" charset="2"/>
              <a:buAutoNum type="arabicPeriod"/>
            </a:pPr>
            <a:r>
              <a:rPr lang="en-US" altLang="zh-TW"/>
              <a:t>What is a thread ?  </a:t>
            </a:r>
            <a:endParaRPr lang="en-US" altLang="zh-TW"/>
          </a:p>
          <a:p>
            <a:pPr marL="533400" indent="-533400" eaLnBrk="1" hangingPunct="1">
              <a:buFont typeface="Symbol" panose="05050102010706020507" pitchFamily="18" charset="2"/>
              <a:buAutoNum type="arabicPeriod"/>
            </a:pPr>
            <a:r>
              <a:rPr lang="en-US" altLang="zh-TW"/>
              <a:t>Define and launch a thread</a:t>
            </a:r>
            <a:endParaRPr lang="en-US" altLang="zh-TW"/>
          </a:p>
          <a:p>
            <a:pPr marL="533400" indent="-533400" eaLnBrk="1" hangingPunct="1">
              <a:buFont typeface="Symbol" panose="05050102010706020507" pitchFamily="18" charset="2"/>
              <a:buAutoNum type="arabicPeriod"/>
            </a:pPr>
            <a:r>
              <a:rPr lang="en-US" altLang="zh-TW"/>
              <a:t>The life-cycle of a thread</a:t>
            </a:r>
            <a:endParaRPr lang="en-US" altLang="zh-TW"/>
          </a:p>
          <a:p>
            <a:pPr marL="533400" indent="-533400" eaLnBrk="1" hangingPunct="1">
              <a:buFont typeface="Symbol" panose="05050102010706020507" pitchFamily="18" charset="2"/>
              <a:buAutoNum type="arabicPeriod"/>
            </a:pPr>
            <a:r>
              <a:rPr lang="en-US" altLang="zh-TW"/>
              <a:t>interrupt a thread</a:t>
            </a:r>
            <a:endParaRPr lang="en-US" altLang="zh-TW"/>
          </a:p>
          <a:p>
            <a:pPr marL="533400" indent="-533400" eaLnBrk="1" hangingPunct="1">
              <a:buFont typeface="Symbol" panose="05050102010706020507" pitchFamily="18" charset="2"/>
              <a:buAutoNum type="arabicPeriod"/>
            </a:pPr>
            <a:r>
              <a:rPr lang="en-US" altLang="zh-TW"/>
              <a:t>thread synchronization</a:t>
            </a:r>
            <a:endParaRPr lang="en-US" altLang="zh-TW"/>
          </a:p>
          <a:p>
            <a:pPr marL="533400" indent="-533400" eaLnBrk="1" hangingPunct="1">
              <a:buFont typeface="Symbol" panose="05050102010706020507" pitchFamily="18" charset="2"/>
              <a:buAutoNum type="arabicPeriod"/>
            </a:pPr>
            <a:r>
              <a:rPr lang="en-US" altLang="zh-TW"/>
              <a:t>other issues</a:t>
            </a:r>
            <a:endParaRPr lang="en-US" altLang="zh-TW"/>
          </a:p>
          <a:p>
            <a:pPr marL="533400" indent="-533400" eaLnBrk="1" hangingPunct="1">
              <a:buFont typeface="Symbol" panose="05050102010706020507" pitchFamily="18" charset="2"/>
              <a:buAutoNum type="arabicPeriod"/>
            </a:pPr>
            <a:endParaRPr lang="en-US" altLang="zh-TW"/>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zh-TW"/>
              <a:t>What is a thread ?</a:t>
            </a:r>
            <a:endParaRPr lang="en-US" altLang="zh-TW"/>
          </a:p>
        </p:txBody>
      </p:sp>
      <p:sp>
        <p:nvSpPr>
          <p:cNvPr id="5123" name="Rectangle 3"/>
          <p:cNvSpPr>
            <a:spLocks noGrp="1" noChangeArrowheads="1"/>
          </p:cNvSpPr>
          <p:nvPr>
            <p:ph type="body" idx="1"/>
          </p:nvPr>
        </p:nvSpPr>
        <p:spPr/>
        <p:txBody>
          <a:bodyPr/>
          <a:lstStyle/>
          <a:p>
            <a:pPr eaLnBrk="1" hangingPunct="1">
              <a:lnSpc>
                <a:spcPct val="90000"/>
              </a:lnSpc>
            </a:pPr>
            <a:r>
              <a:rPr lang="en-US" altLang="zh-TW"/>
              <a:t>A sequential (or single-threaded) program is one that, when executed,  </a:t>
            </a:r>
            <a:r>
              <a:rPr lang="en-US" altLang="zh-TW">
                <a:solidFill>
                  <a:schemeClr val="accent2"/>
                </a:solidFill>
              </a:rPr>
              <a:t>has only one single flow of control</a:t>
            </a:r>
            <a:r>
              <a:rPr lang="en-US" altLang="zh-TW"/>
              <a:t>.</a:t>
            </a:r>
            <a:endParaRPr lang="en-US" altLang="zh-TW"/>
          </a:p>
          <a:p>
            <a:pPr lvl="1" eaLnBrk="1" hangingPunct="1">
              <a:lnSpc>
                <a:spcPct val="90000"/>
              </a:lnSpc>
            </a:pPr>
            <a:r>
              <a:rPr lang="en-US" altLang="zh-TW"/>
              <a:t>i.e., at any time instant, there is at most only one instruction (or statement or execution point) that is being executed in the program.</a:t>
            </a:r>
            <a:endParaRPr lang="en-US" altLang="zh-TW"/>
          </a:p>
          <a:p>
            <a:pPr eaLnBrk="1" hangingPunct="1">
              <a:lnSpc>
                <a:spcPct val="90000"/>
              </a:lnSpc>
            </a:pPr>
            <a:r>
              <a:rPr lang="en-US" altLang="zh-TW"/>
              <a:t>A </a:t>
            </a:r>
            <a:r>
              <a:rPr lang="en-US" altLang="zh-TW">
                <a:solidFill>
                  <a:srgbClr val="FF0000"/>
                </a:solidFill>
              </a:rPr>
              <a:t>multi-threaded program</a:t>
            </a:r>
            <a:r>
              <a:rPr lang="en-US" altLang="zh-TW"/>
              <a:t> is one that can have </a:t>
            </a:r>
            <a:r>
              <a:rPr lang="en-US" altLang="zh-TW">
                <a:solidFill>
                  <a:schemeClr val="accent2"/>
                </a:solidFill>
              </a:rPr>
              <a:t>multiple flows of control </a:t>
            </a:r>
            <a:r>
              <a:rPr lang="en-US" altLang="zh-TW"/>
              <a:t>when executed.</a:t>
            </a:r>
            <a:endParaRPr lang="en-US" altLang="zh-TW"/>
          </a:p>
          <a:p>
            <a:pPr lvl="1" eaLnBrk="1" hangingPunct="1">
              <a:lnSpc>
                <a:spcPct val="90000"/>
              </a:lnSpc>
            </a:pPr>
            <a:r>
              <a:rPr lang="en-US" altLang="zh-TW"/>
              <a:t>At some time instance, </a:t>
            </a:r>
            <a:r>
              <a:rPr lang="en-US" altLang="zh-TW">
                <a:solidFill>
                  <a:srgbClr val="B3172D"/>
                </a:solidFill>
              </a:rPr>
              <a:t>there may exist </a:t>
            </a:r>
            <a:r>
              <a:rPr lang="en-US" altLang="zh-TW">
                <a:solidFill>
                  <a:srgbClr val="FF0000"/>
                </a:solidFill>
              </a:rPr>
              <a:t>multiple instructions</a:t>
            </a:r>
            <a:r>
              <a:rPr lang="en-US" altLang="zh-TW">
                <a:solidFill>
                  <a:srgbClr val="B3172D"/>
                </a:solidFill>
              </a:rPr>
              <a:t> or execution points) that are being </a:t>
            </a:r>
            <a:r>
              <a:rPr lang="en-US" altLang="zh-TW">
                <a:solidFill>
                  <a:srgbClr val="FF0000"/>
                </a:solidFill>
              </a:rPr>
              <a:t>executed</a:t>
            </a:r>
            <a:r>
              <a:rPr lang="en-US" altLang="zh-TW">
                <a:solidFill>
                  <a:srgbClr val="B3172D"/>
                </a:solidFill>
              </a:rPr>
              <a:t> in the program</a:t>
            </a:r>
            <a:r>
              <a:rPr lang="en-US" altLang="zh-TW"/>
              <a:t> </a:t>
            </a:r>
            <a:endParaRPr lang="en-US" altLang="zh-TW"/>
          </a:p>
          <a:p>
            <a:pPr lvl="1" eaLnBrk="1" hangingPunct="1">
              <a:lnSpc>
                <a:spcPct val="90000"/>
              </a:lnSpc>
            </a:pPr>
            <a:r>
              <a:rPr lang="en-US" altLang="zh-TW"/>
              <a:t>Ex: in a Web browser we may do the following tasks at the same time:</a:t>
            </a:r>
            <a:endParaRPr lang="en-US" altLang="zh-TW"/>
          </a:p>
          <a:p>
            <a:pPr lvl="1" eaLnBrk="1" hangingPunct="1">
              <a:lnSpc>
                <a:spcPct val="90000"/>
              </a:lnSpc>
            </a:pPr>
            <a:r>
              <a:rPr lang="en-US" altLang="zh-TW"/>
              <a:t> 1. scroll a page,</a:t>
            </a:r>
            <a:endParaRPr lang="en-US" altLang="zh-TW"/>
          </a:p>
          <a:p>
            <a:pPr lvl="1" eaLnBrk="1" hangingPunct="1">
              <a:lnSpc>
                <a:spcPct val="90000"/>
              </a:lnSpc>
            </a:pPr>
            <a:r>
              <a:rPr lang="en-US" altLang="zh-TW"/>
              <a:t> 2. download an applet or image, </a:t>
            </a:r>
            <a:endParaRPr lang="en-US" altLang="zh-TW"/>
          </a:p>
          <a:p>
            <a:pPr lvl="1" eaLnBrk="1" hangingPunct="1">
              <a:lnSpc>
                <a:spcPct val="90000"/>
              </a:lnSpc>
            </a:pPr>
            <a:r>
              <a:rPr lang="en-US" altLang="zh-TW"/>
              <a:t> 3. play sound, </a:t>
            </a:r>
            <a:endParaRPr lang="en-US" altLang="zh-TW"/>
          </a:p>
          <a:p>
            <a:pPr lvl="1" eaLnBrk="1" hangingPunct="1">
              <a:lnSpc>
                <a:spcPct val="90000"/>
              </a:lnSpc>
            </a:pPr>
            <a:r>
              <a:rPr lang="en-US" altLang="zh-TW"/>
              <a:t> 4  print a page. </a:t>
            </a:r>
            <a:endParaRPr lang="en-US" altLang="zh-TW"/>
          </a:p>
          <a:p>
            <a:pPr eaLnBrk="1" hangingPunct="1">
              <a:lnSpc>
                <a:spcPct val="90000"/>
              </a:lnSpc>
            </a:pPr>
            <a:r>
              <a:rPr lang="en-US" altLang="zh-TW"/>
              <a:t>A thread is </a:t>
            </a:r>
            <a:r>
              <a:rPr lang="en-US" altLang="zh-TW">
                <a:solidFill>
                  <a:schemeClr val="accent2"/>
                </a:solidFill>
              </a:rPr>
              <a:t>a single sequential flow of control</a:t>
            </a:r>
            <a:r>
              <a:rPr lang="en-US" altLang="zh-TW"/>
              <a:t> within a program. </a:t>
            </a:r>
            <a:endParaRPr lang="en-US" altLang="zh-TW"/>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zh-TW"/>
              <a:t>single-threaded vs multithreaded programs</a:t>
            </a:r>
            <a:endParaRPr lang="en-US" altLang="zh-TW"/>
          </a:p>
        </p:txBody>
      </p:sp>
      <p:sp>
        <p:nvSpPr>
          <p:cNvPr id="6147" name="Rectangle 3"/>
          <p:cNvSpPr>
            <a:spLocks noGrp="1" noChangeArrowheads="1"/>
          </p:cNvSpPr>
          <p:nvPr>
            <p:ph type="body" idx="1"/>
          </p:nvPr>
        </p:nvSpPr>
        <p:spPr>
          <a:ln w="38100">
            <a:solidFill>
              <a:schemeClr val="tx1"/>
            </a:solidFill>
            <a:miter lim="800000"/>
          </a:ln>
        </p:spPr>
        <p:txBody>
          <a:bodyPr/>
          <a:lstStyle/>
          <a:p>
            <a:pPr eaLnBrk="1" hangingPunct="1"/>
            <a:endParaRPr lang="en-US" altLang="zh-TW"/>
          </a:p>
        </p:txBody>
      </p:sp>
      <p:pic>
        <p:nvPicPr>
          <p:cNvPr id="6148" name="Picture 4" descr="11thread"/>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95400" y="685800"/>
            <a:ext cx="44958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5" descr="12thre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609600"/>
            <a:ext cx="46482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0" name="Text Box 6"/>
          <p:cNvSpPr txBox="1">
            <a:spLocks noChangeArrowheads="1"/>
          </p:cNvSpPr>
          <p:nvPr/>
        </p:nvSpPr>
        <p:spPr bwMode="auto">
          <a:xfrm>
            <a:off x="2117725" y="4354514"/>
            <a:ext cx="2851150" cy="1349375"/>
          </a:xfrm>
          <a:prstGeom prst="rect">
            <a:avLst/>
          </a:prstGeom>
          <a:noFill/>
          <a:ln w="381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a:defRPr kumimoji="1" sz="2000">
                <a:solidFill>
                  <a:schemeClr val="tx1"/>
                </a:solidFill>
                <a:latin typeface="Arial" panose="020B0604020202020204" pitchFamily="34" charset="0"/>
                <a:ea typeface="PMingLiU" pitchFamily="18" charset="-120"/>
              </a:defRPr>
            </a:lvl1pPr>
            <a:lvl2pPr marL="742950" indent="-285750">
              <a:defRPr kumimoji="1" sz="2000">
                <a:solidFill>
                  <a:schemeClr val="tx1"/>
                </a:solidFill>
                <a:latin typeface="Arial" panose="020B0604020202020204" pitchFamily="34" charset="0"/>
                <a:ea typeface="PMingLiU" pitchFamily="18" charset="-120"/>
              </a:defRPr>
            </a:lvl2pPr>
            <a:lvl3pPr marL="1143000" indent="-228600">
              <a:defRPr kumimoji="1" sz="2000">
                <a:solidFill>
                  <a:schemeClr val="tx1"/>
                </a:solidFill>
                <a:latin typeface="Arial" panose="020B0604020202020204" pitchFamily="34" charset="0"/>
                <a:ea typeface="PMingLiU" pitchFamily="18" charset="-120"/>
              </a:defRPr>
            </a:lvl3pPr>
            <a:lvl4pPr marL="1600200" indent="-228600">
              <a:defRPr kumimoji="1" sz="2000">
                <a:solidFill>
                  <a:schemeClr val="tx1"/>
                </a:solidFill>
                <a:latin typeface="Arial" panose="020B0604020202020204" pitchFamily="34" charset="0"/>
                <a:ea typeface="PMingLiU" pitchFamily="18" charset="-120"/>
              </a:defRPr>
            </a:lvl4pPr>
            <a:lvl5pPr marL="2057400" indent="-228600">
              <a:defRPr kumimoji="1" sz="2000">
                <a:solidFill>
                  <a:schemeClr val="tx1"/>
                </a:solidFill>
                <a:latin typeface="Arial" panose="020B0604020202020204" pitchFamily="34" charset="0"/>
                <a:ea typeface="PMingLiU" pitchFamily="18" charset="-120"/>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9pPr>
          </a:lstStyle>
          <a:p>
            <a:r>
              <a:rPr lang="en-US" altLang="zh-TW">
                <a:solidFill>
                  <a:srgbClr val="000000"/>
                </a:solidFill>
              </a:rPr>
              <a:t>{ A(); A1();  A2();   A3();</a:t>
            </a:r>
            <a:endParaRPr lang="en-US" altLang="zh-TW">
              <a:solidFill>
                <a:srgbClr val="000000"/>
              </a:solidFill>
            </a:endParaRPr>
          </a:p>
          <a:p>
            <a:r>
              <a:rPr lang="en-US" altLang="zh-TW">
                <a:solidFill>
                  <a:srgbClr val="000000"/>
                </a:solidFill>
              </a:rPr>
              <a:t>  B1();  B2();  }</a:t>
            </a:r>
            <a:endParaRPr lang="en-US" altLang="zh-TW">
              <a:solidFill>
                <a:srgbClr val="000000"/>
              </a:solidFill>
            </a:endParaRPr>
          </a:p>
          <a:p>
            <a:endParaRPr lang="en-US" altLang="zh-TW">
              <a:solidFill>
                <a:srgbClr val="000000"/>
              </a:solidFill>
            </a:endParaRPr>
          </a:p>
          <a:p>
            <a:endParaRPr lang="en-US" altLang="zh-TW">
              <a:solidFill>
                <a:srgbClr val="000000"/>
              </a:solidFill>
            </a:endParaRPr>
          </a:p>
        </p:txBody>
      </p:sp>
      <p:sp>
        <p:nvSpPr>
          <p:cNvPr id="6151" name="Text Box 7"/>
          <p:cNvSpPr txBox="1">
            <a:spLocks noChangeArrowheads="1"/>
          </p:cNvSpPr>
          <p:nvPr/>
        </p:nvSpPr>
        <p:spPr bwMode="auto">
          <a:xfrm>
            <a:off x="6918325" y="3973514"/>
            <a:ext cx="2736850" cy="1958975"/>
          </a:xfrm>
          <a:prstGeom prst="rect">
            <a:avLst/>
          </a:prstGeom>
          <a:noFill/>
          <a:ln w="381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a:defRPr kumimoji="1" sz="2000">
                <a:solidFill>
                  <a:schemeClr val="tx1"/>
                </a:solidFill>
                <a:latin typeface="Arial" panose="020B0604020202020204" pitchFamily="34" charset="0"/>
                <a:ea typeface="PMingLiU" pitchFamily="18" charset="-120"/>
              </a:defRPr>
            </a:lvl1pPr>
            <a:lvl2pPr marL="742950" indent="-285750">
              <a:defRPr kumimoji="1" sz="2000">
                <a:solidFill>
                  <a:schemeClr val="tx1"/>
                </a:solidFill>
                <a:latin typeface="Arial" panose="020B0604020202020204" pitchFamily="34" charset="0"/>
                <a:ea typeface="PMingLiU" pitchFamily="18" charset="-120"/>
              </a:defRPr>
            </a:lvl2pPr>
            <a:lvl3pPr marL="1143000" indent="-228600">
              <a:defRPr kumimoji="1" sz="2000">
                <a:solidFill>
                  <a:schemeClr val="tx1"/>
                </a:solidFill>
                <a:latin typeface="Arial" panose="020B0604020202020204" pitchFamily="34" charset="0"/>
                <a:ea typeface="PMingLiU" pitchFamily="18" charset="-120"/>
              </a:defRPr>
            </a:lvl3pPr>
            <a:lvl4pPr marL="1600200" indent="-228600">
              <a:defRPr kumimoji="1" sz="2000">
                <a:solidFill>
                  <a:schemeClr val="tx1"/>
                </a:solidFill>
                <a:latin typeface="Arial" panose="020B0604020202020204" pitchFamily="34" charset="0"/>
                <a:ea typeface="PMingLiU" pitchFamily="18" charset="-120"/>
              </a:defRPr>
            </a:lvl4pPr>
            <a:lvl5pPr marL="2057400" indent="-228600">
              <a:defRPr kumimoji="1" sz="2000">
                <a:solidFill>
                  <a:schemeClr val="tx1"/>
                </a:solidFill>
                <a:latin typeface="Arial" panose="020B0604020202020204" pitchFamily="34" charset="0"/>
                <a:ea typeface="PMingLiU" pitchFamily="18" charset="-120"/>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9pPr>
          </a:lstStyle>
          <a:p>
            <a:r>
              <a:rPr lang="en-US" altLang="zh-TW">
                <a:solidFill>
                  <a:srgbClr val="000000"/>
                </a:solidFill>
              </a:rPr>
              <a:t>{  A();</a:t>
            </a:r>
            <a:endParaRPr lang="en-US" altLang="zh-TW">
              <a:solidFill>
                <a:srgbClr val="000000"/>
              </a:solidFill>
            </a:endParaRPr>
          </a:p>
          <a:p>
            <a:r>
              <a:rPr lang="en-US" altLang="zh-TW">
                <a:solidFill>
                  <a:srgbClr val="000000"/>
                </a:solidFill>
              </a:rPr>
              <a:t>   newThreads { </a:t>
            </a:r>
            <a:endParaRPr lang="en-US" altLang="zh-TW">
              <a:solidFill>
                <a:srgbClr val="000000"/>
              </a:solidFill>
            </a:endParaRPr>
          </a:p>
          <a:p>
            <a:r>
              <a:rPr lang="en-US" altLang="zh-TW">
                <a:solidFill>
                  <a:srgbClr val="000000"/>
                </a:solidFill>
              </a:rPr>
              <a:t>      { A1(); A2(); A3() };</a:t>
            </a:r>
            <a:endParaRPr lang="en-US" altLang="zh-TW">
              <a:solidFill>
                <a:srgbClr val="000000"/>
              </a:solidFill>
            </a:endParaRPr>
          </a:p>
          <a:p>
            <a:r>
              <a:rPr lang="en-US" altLang="zh-TW">
                <a:solidFill>
                  <a:srgbClr val="000000"/>
                </a:solidFill>
              </a:rPr>
              <a:t>      {B1(); B2() }</a:t>
            </a:r>
            <a:endParaRPr lang="en-US" altLang="zh-TW">
              <a:solidFill>
                <a:srgbClr val="000000"/>
              </a:solidFill>
            </a:endParaRPr>
          </a:p>
          <a:p>
            <a:r>
              <a:rPr lang="en-US" altLang="zh-TW">
                <a:solidFill>
                  <a:srgbClr val="000000"/>
                </a:solidFill>
              </a:rPr>
              <a:t>   }</a:t>
            </a:r>
            <a:endParaRPr lang="en-US" altLang="zh-TW">
              <a:solidFill>
                <a:srgbClr val="000000"/>
              </a:solidFill>
            </a:endParaRPr>
          </a:p>
          <a:p>
            <a:r>
              <a:rPr lang="en-US" altLang="zh-TW">
                <a:solidFill>
                  <a:srgbClr val="000000"/>
                </a:solidFill>
              </a:rPr>
              <a:t>}</a:t>
            </a:r>
            <a:endParaRPr lang="en-US" altLang="zh-TW">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0" name="Group 21"/>
          <p:cNvGrpSpPr/>
          <p:nvPr/>
        </p:nvGrpSpPr>
        <p:grpSpPr bwMode="auto">
          <a:xfrm>
            <a:off x="1676400" y="685800"/>
            <a:ext cx="9018588" cy="6019800"/>
            <a:chOff x="336" y="336"/>
            <a:chExt cx="5681" cy="3792"/>
          </a:xfrm>
        </p:grpSpPr>
        <p:pic>
          <p:nvPicPr>
            <p:cNvPr id="7172" name="Picture 4" descr="Thread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28" y="336"/>
              <a:ext cx="2799" cy="3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Text Box 5"/>
            <p:cNvSpPr txBox="1">
              <a:spLocks noChangeArrowheads="1"/>
            </p:cNvSpPr>
            <p:nvPr/>
          </p:nvSpPr>
          <p:spPr bwMode="auto">
            <a:xfrm>
              <a:off x="2880" y="480"/>
              <a:ext cx="2529" cy="258"/>
            </a:xfrm>
            <a:prstGeom prst="rect">
              <a:avLst/>
            </a:prstGeom>
            <a:noFill/>
            <a:ln w="127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a:defRPr kumimoji="1" sz="2000">
                  <a:solidFill>
                    <a:schemeClr val="tx1"/>
                  </a:solidFill>
                  <a:latin typeface="Arial" panose="020B0604020202020204" pitchFamily="34" charset="0"/>
                  <a:ea typeface="PMingLiU" pitchFamily="18" charset="-120"/>
                </a:defRPr>
              </a:lvl1pPr>
              <a:lvl2pPr marL="742950" indent="-285750">
                <a:defRPr kumimoji="1" sz="2000">
                  <a:solidFill>
                    <a:schemeClr val="tx1"/>
                  </a:solidFill>
                  <a:latin typeface="Arial" panose="020B0604020202020204" pitchFamily="34" charset="0"/>
                  <a:ea typeface="PMingLiU" pitchFamily="18" charset="-120"/>
                </a:defRPr>
              </a:lvl2pPr>
              <a:lvl3pPr marL="1143000" indent="-228600">
                <a:defRPr kumimoji="1" sz="2000">
                  <a:solidFill>
                    <a:schemeClr val="tx1"/>
                  </a:solidFill>
                  <a:latin typeface="Arial" panose="020B0604020202020204" pitchFamily="34" charset="0"/>
                  <a:ea typeface="PMingLiU" pitchFamily="18" charset="-120"/>
                </a:defRPr>
              </a:lvl3pPr>
              <a:lvl4pPr marL="1600200" indent="-228600">
                <a:defRPr kumimoji="1" sz="2000">
                  <a:solidFill>
                    <a:schemeClr val="tx1"/>
                  </a:solidFill>
                  <a:latin typeface="Arial" panose="020B0604020202020204" pitchFamily="34" charset="0"/>
                  <a:ea typeface="PMingLiU" pitchFamily="18" charset="-120"/>
                </a:defRPr>
              </a:lvl4pPr>
              <a:lvl5pPr marL="2057400" indent="-228600">
                <a:defRPr kumimoji="1" sz="2000">
                  <a:solidFill>
                    <a:schemeClr val="tx1"/>
                  </a:solidFill>
                  <a:latin typeface="Arial" panose="020B0604020202020204" pitchFamily="34" charset="0"/>
                  <a:ea typeface="PMingLiU" pitchFamily="18" charset="-120"/>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9pPr>
            </a:lstStyle>
            <a:p>
              <a:r>
                <a:rPr lang="en-US" altLang="zh-TW">
                  <a:solidFill>
                    <a:srgbClr val="000000"/>
                  </a:solidFill>
                </a:rPr>
                <a:t>started by java from main(String[])</a:t>
              </a:r>
              <a:endParaRPr lang="en-US" altLang="zh-TW">
                <a:solidFill>
                  <a:srgbClr val="000000"/>
                </a:solidFill>
              </a:endParaRPr>
            </a:p>
          </p:txBody>
        </p:sp>
        <p:sp>
          <p:nvSpPr>
            <p:cNvPr id="7174" name="Text Box 10"/>
            <p:cNvSpPr txBox="1">
              <a:spLocks noChangeArrowheads="1"/>
            </p:cNvSpPr>
            <p:nvPr/>
          </p:nvSpPr>
          <p:spPr bwMode="auto">
            <a:xfrm>
              <a:off x="336" y="1056"/>
              <a:ext cx="1713" cy="258"/>
            </a:xfrm>
            <a:prstGeom prst="rect">
              <a:avLst/>
            </a:prstGeom>
            <a:noFill/>
            <a:ln w="127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a:defRPr kumimoji="1" sz="2000">
                  <a:solidFill>
                    <a:schemeClr val="tx1"/>
                  </a:solidFill>
                  <a:latin typeface="Arial" panose="020B0604020202020204" pitchFamily="34" charset="0"/>
                  <a:ea typeface="PMingLiU" pitchFamily="18" charset="-120"/>
                </a:defRPr>
              </a:lvl1pPr>
              <a:lvl2pPr marL="742950" indent="-285750">
                <a:defRPr kumimoji="1" sz="2000">
                  <a:solidFill>
                    <a:schemeClr val="tx1"/>
                  </a:solidFill>
                  <a:latin typeface="Arial" panose="020B0604020202020204" pitchFamily="34" charset="0"/>
                  <a:ea typeface="PMingLiU" pitchFamily="18" charset="-120"/>
                </a:defRPr>
              </a:lvl2pPr>
              <a:lvl3pPr marL="1143000" indent="-228600">
                <a:defRPr kumimoji="1" sz="2000">
                  <a:solidFill>
                    <a:schemeClr val="tx1"/>
                  </a:solidFill>
                  <a:latin typeface="Arial" panose="020B0604020202020204" pitchFamily="34" charset="0"/>
                  <a:ea typeface="PMingLiU" pitchFamily="18" charset="-120"/>
                </a:defRPr>
              </a:lvl3pPr>
              <a:lvl4pPr marL="1600200" indent="-228600">
                <a:defRPr kumimoji="1" sz="2000">
                  <a:solidFill>
                    <a:schemeClr val="tx1"/>
                  </a:solidFill>
                  <a:latin typeface="Arial" panose="020B0604020202020204" pitchFamily="34" charset="0"/>
                  <a:ea typeface="PMingLiU" pitchFamily="18" charset="-120"/>
                </a:defRPr>
              </a:lvl4pPr>
              <a:lvl5pPr marL="2057400" indent="-228600">
                <a:defRPr kumimoji="1" sz="2000">
                  <a:solidFill>
                    <a:schemeClr val="tx1"/>
                  </a:solidFill>
                  <a:latin typeface="Arial" panose="020B0604020202020204" pitchFamily="34" charset="0"/>
                  <a:ea typeface="PMingLiU" pitchFamily="18" charset="-120"/>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9pPr>
            </a:lstStyle>
            <a:p>
              <a:r>
                <a:rPr lang="en-US" altLang="zh-TW">
                  <a:solidFill>
                    <a:srgbClr val="000000"/>
                  </a:solidFill>
                </a:rPr>
                <a:t>started by main thread</a:t>
              </a:r>
              <a:endParaRPr lang="en-US" altLang="zh-TW">
                <a:solidFill>
                  <a:srgbClr val="000000"/>
                </a:solidFill>
              </a:endParaRPr>
            </a:p>
          </p:txBody>
        </p:sp>
        <p:sp>
          <p:nvSpPr>
            <p:cNvPr id="7175" name="Line 13"/>
            <p:cNvSpPr>
              <a:spLocks noChangeShapeType="1"/>
            </p:cNvSpPr>
            <p:nvPr/>
          </p:nvSpPr>
          <p:spPr bwMode="auto">
            <a:xfrm>
              <a:off x="1440" y="1344"/>
              <a:ext cx="720" cy="432"/>
            </a:xfrm>
            <a:prstGeom prst="line">
              <a:avLst/>
            </a:prstGeom>
            <a:noFill/>
            <a:ln w="28575">
              <a:solidFill>
                <a:srgbClr val="CC66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kumimoji="1" lang="en-US" sz="2000">
                <a:solidFill>
                  <a:srgbClr val="000000"/>
                </a:solidFill>
                <a:ea typeface="PMingLiU" pitchFamily="18" charset="-120"/>
              </a:endParaRPr>
            </a:p>
          </p:txBody>
        </p:sp>
        <p:sp>
          <p:nvSpPr>
            <p:cNvPr id="7176" name="Line 14"/>
            <p:cNvSpPr>
              <a:spLocks noChangeShapeType="1"/>
            </p:cNvSpPr>
            <p:nvPr/>
          </p:nvSpPr>
          <p:spPr bwMode="auto">
            <a:xfrm>
              <a:off x="2112" y="1200"/>
              <a:ext cx="912" cy="480"/>
            </a:xfrm>
            <a:prstGeom prst="line">
              <a:avLst/>
            </a:prstGeom>
            <a:noFill/>
            <a:ln w="28575">
              <a:solidFill>
                <a:srgbClr val="CC66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kumimoji="1" lang="en-US" sz="2000">
                <a:solidFill>
                  <a:srgbClr val="000000"/>
                </a:solidFill>
                <a:ea typeface="PMingLiU" pitchFamily="18" charset="-120"/>
              </a:endParaRPr>
            </a:p>
          </p:txBody>
        </p:sp>
        <p:sp>
          <p:nvSpPr>
            <p:cNvPr id="7177" name="Line 15"/>
            <p:cNvSpPr>
              <a:spLocks noChangeShapeType="1"/>
            </p:cNvSpPr>
            <p:nvPr/>
          </p:nvSpPr>
          <p:spPr bwMode="auto">
            <a:xfrm flipH="1" flipV="1">
              <a:off x="2688" y="432"/>
              <a:ext cx="192" cy="192"/>
            </a:xfrm>
            <a:prstGeom prst="line">
              <a:avLst/>
            </a:prstGeom>
            <a:noFill/>
            <a:ln w="28575">
              <a:solidFill>
                <a:srgbClr val="CC66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kumimoji="1" lang="en-US" sz="2000">
                <a:solidFill>
                  <a:srgbClr val="000000"/>
                </a:solidFill>
                <a:ea typeface="PMingLiU" pitchFamily="18" charset="-120"/>
              </a:endParaRPr>
            </a:p>
          </p:txBody>
        </p:sp>
        <p:sp>
          <p:nvSpPr>
            <p:cNvPr id="7178" name="Text Box 17"/>
            <p:cNvSpPr txBox="1">
              <a:spLocks noChangeArrowheads="1"/>
            </p:cNvSpPr>
            <p:nvPr/>
          </p:nvSpPr>
          <p:spPr bwMode="auto">
            <a:xfrm>
              <a:off x="3648" y="1680"/>
              <a:ext cx="1473" cy="258"/>
            </a:xfrm>
            <a:prstGeom prst="rect">
              <a:avLst/>
            </a:prstGeom>
            <a:noFill/>
            <a:ln w="127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a:defRPr kumimoji="1" sz="2000">
                  <a:solidFill>
                    <a:schemeClr val="tx1"/>
                  </a:solidFill>
                  <a:latin typeface="Arial" panose="020B0604020202020204" pitchFamily="34" charset="0"/>
                  <a:ea typeface="PMingLiU" pitchFamily="18" charset="-120"/>
                </a:defRPr>
              </a:lvl1pPr>
              <a:lvl2pPr marL="742950" indent="-285750">
                <a:defRPr kumimoji="1" sz="2000">
                  <a:solidFill>
                    <a:schemeClr val="tx1"/>
                  </a:solidFill>
                  <a:latin typeface="Arial" panose="020B0604020202020204" pitchFamily="34" charset="0"/>
                  <a:ea typeface="PMingLiU" pitchFamily="18" charset="-120"/>
                </a:defRPr>
              </a:lvl2pPr>
              <a:lvl3pPr marL="1143000" indent="-228600">
                <a:defRPr kumimoji="1" sz="2000">
                  <a:solidFill>
                    <a:schemeClr val="tx1"/>
                  </a:solidFill>
                  <a:latin typeface="Arial" panose="020B0604020202020204" pitchFamily="34" charset="0"/>
                  <a:ea typeface="PMingLiU" pitchFamily="18" charset="-120"/>
                </a:defRPr>
              </a:lvl3pPr>
              <a:lvl4pPr marL="1600200" indent="-228600">
                <a:defRPr kumimoji="1" sz="2000">
                  <a:solidFill>
                    <a:schemeClr val="tx1"/>
                  </a:solidFill>
                  <a:latin typeface="Arial" panose="020B0604020202020204" pitchFamily="34" charset="0"/>
                  <a:ea typeface="PMingLiU" pitchFamily="18" charset="-120"/>
                </a:defRPr>
              </a:lvl4pPr>
              <a:lvl5pPr marL="2057400" indent="-228600">
                <a:defRPr kumimoji="1" sz="2000">
                  <a:solidFill>
                    <a:schemeClr val="tx1"/>
                  </a:solidFill>
                  <a:latin typeface="Arial" panose="020B0604020202020204" pitchFamily="34" charset="0"/>
                  <a:ea typeface="PMingLiU" pitchFamily="18" charset="-120"/>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9pPr>
            </a:lstStyle>
            <a:p>
              <a:r>
                <a:rPr lang="en-US" altLang="zh-TW">
                  <a:solidFill>
                    <a:srgbClr val="000000"/>
                  </a:solidFill>
                </a:rPr>
                <a:t>started by B thread</a:t>
              </a:r>
              <a:endParaRPr lang="en-US" altLang="zh-TW">
                <a:solidFill>
                  <a:srgbClr val="000000"/>
                </a:solidFill>
              </a:endParaRPr>
            </a:p>
          </p:txBody>
        </p:sp>
        <p:sp>
          <p:nvSpPr>
            <p:cNvPr id="7179" name="Line 18"/>
            <p:cNvSpPr>
              <a:spLocks noChangeShapeType="1"/>
            </p:cNvSpPr>
            <p:nvPr/>
          </p:nvSpPr>
          <p:spPr bwMode="auto">
            <a:xfrm flipH="1">
              <a:off x="3456" y="1968"/>
              <a:ext cx="384" cy="288"/>
            </a:xfrm>
            <a:prstGeom prst="line">
              <a:avLst/>
            </a:prstGeom>
            <a:noFill/>
            <a:ln w="28575">
              <a:solidFill>
                <a:srgbClr val="CC66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kumimoji="1" lang="en-US" sz="2000">
                <a:solidFill>
                  <a:srgbClr val="000000"/>
                </a:solidFill>
                <a:ea typeface="PMingLiU" pitchFamily="18" charset="-120"/>
              </a:endParaRPr>
            </a:p>
          </p:txBody>
        </p:sp>
        <p:sp>
          <p:nvSpPr>
            <p:cNvPr id="7180" name="AutoShape 19"/>
            <p:cNvSpPr/>
            <p:nvPr/>
          </p:nvSpPr>
          <p:spPr bwMode="auto">
            <a:xfrm>
              <a:off x="4224" y="2304"/>
              <a:ext cx="288" cy="576"/>
            </a:xfrm>
            <a:prstGeom prst="rightBrace">
              <a:avLst>
                <a:gd name="adj1" fmla="val 16667"/>
                <a:gd name="adj2" fmla="val 50000"/>
              </a:avLst>
            </a:prstGeom>
            <a:noFill/>
            <a:ln w="57150">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2000">
                  <a:solidFill>
                    <a:schemeClr val="tx1"/>
                  </a:solidFill>
                  <a:latin typeface="Arial" panose="020B0604020202020204" pitchFamily="34" charset="0"/>
                  <a:ea typeface="PMingLiU" pitchFamily="18" charset="-120"/>
                </a:defRPr>
              </a:lvl1pPr>
              <a:lvl2pPr marL="742950" indent="-285750">
                <a:defRPr kumimoji="1" sz="2000">
                  <a:solidFill>
                    <a:schemeClr val="tx1"/>
                  </a:solidFill>
                  <a:latin typeface="Arial" panose="020B0604020202020204" pitchFamily="34" charset="0"/>
                  <a:ea typeface="PMingLiU" pitchFamily="18" charset="-120"/>
                </a:defRPr>
              </a:lvl2pPr>
              <a:lvl3pPr marL="1143000" indent="-228600">
                <a:defRPr kumimoji="1" sz="2000">
                  <a:solidFill>
                    <a:schemeClr val="tx1"/>
                  </a:solidFill>
                  <a:latin typeface="Arial" panose="020B0604020202020204" pitchFamily="34" charset="0"/>
                  <a:ea typeface="PMingLiU" pitchFamily="18" charset="-120"/>
                </a:defRPr>
              </a:lvl3pPr>
              <a:lvl4pPr marL="1600200" indent="-228600">
                <a:defRPr kumimoji="1" sz="2000">
                  <a:solidFill>
                    <a:schemeClr val="tx1"/>
                  </a:solidFill>
                  <a:latin typeface="Arial" panose="020B0604020202020204" pitchFamily="34" charset="0"/>
                  <a:ea typeface="PMingLiU" pitchFamily="18" charset="-120"/>
                </a:defRPr>
              </a:lvl4pPr>
              <a:lvl5pPr marL="2057400" indent="-228600">
                <a:defRPr kumimoji="1" sz="2000">
                  <a:solidFill>
                    <a:schemeClr val="tx1"/>
                  </a:solidFill>
                  <a:latin typeface="Arial" panose="020B0604020202020204" pitchFamily="34" charset="0"/>
                  <a:ea typeface="PMingLiU" pitchFamily="18" charset="-120"/>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9pPr>
            </a:lstStyle>
            <a:p>
              <a:pPr algn="ctr"/>
              <a:endParaRPr lang="en-US" altLang="zh-TW">
                <a:solidFill>
                  <a:srgbClr val="000000"/>
                </a:solidFill>
              </a:endParaRPr>
            </a:p>
          </p:txBody>
        </p:sp>
        <p:sp>
          <p:nvSpPr>
            <p:cNvPr id="7181" name="Text Box 20"/>
            <p:cNvSpPr txBox="1">
              <a:spLocks noChangeArrowheads="1"/>
            </p:cNvSpPr>
            <p:nvPr/>
          </p:nvSpPr>
          <p:spPr bwMode="auto">
            <a:xfrm>
              <a:off x="4560" y="2448"/>
              <a:ext cx="14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kumimoji="1" sz="2000">
                  <a:solidFill>
                    <a:schemeClr val="tx1"/>
                  </a:solidFill>
                  <a:latin typeface="Arial" panose="020B0604020202020204" pitchFamily="34" charset="0"/>
                  <a:ea typeface="PMingLiU" pitchFamily="18" charset="-120"/>
                </a:defRPr>
              </a:lvl1pPr>
              <a:lvl2pPr marL="742950" indent="-285750">
                <a:defRPr kumimoji="1" sz="2000">
                  <a:solidFill>
                    <a:schemeClr val="tx1"/>
                  </a:solidFill>
                  <a:latin typeface="Arial" panose="020B0604020202020204" pitchFamily="34" charset="0"/>
                  <a:ea typeface="PMingLiU" pitchFamily="18" charset="-120"/>
                </a:defRPr>
              </a:lvl2pPr>
              <a:lvl3pPr marL="1143000" indent="-228600">
                <a:defRPr kumimoji="1" sz="2000">
                  <a:solidFill>
                    <a:schemeClr val="tx1"/>
                  </a:solidFill>
                  <a:latin typeface="Arial" panose="020B0604020202020204" pitchFamily="34" charset="0"/>
                  <a:ea typeface="PMingLiU" pitchFamily="18" charset="-120"/>
                </a:defRPr>
              </a:lvl3pPr>
              <a:lvl4pPr marL="1600200" indent="-228600">
                <a:defRPr kumimoji="1" sz="2000">
                  <a:solidFill>
                    <a:schemeClr val="tx1"/>
                  </a:solidFill>
                  <a:latin typeface="Arial" panose="020B0604020202020204" pitchFamily="34" charset="0"/>
                  <a:ea typeface="PMingLiU" pitchFamily="18" charset="-120"/>
                </a:defRPr>
              </a:lvl4pPr>
              <a:lvl5pPr marL="2057400" indent="-228600">
                <a:defRPr kumimoji="1" sz="2000">
                  <a:solidFill>
                    <a:schemeClr val="tx1"/>
                  </a:solidFill>
                  <a:latin typeface="Arial" panose="020B0604020202020204" pitchFamily="34" charset="0"/>
                  <a:ea typeface="PMingLiU" pitchFamily="18" charset="-120"/>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9pPr>
            </a:lstStyle>
            <a:p>
              <a:r>
                <a:rPr lang="en-US" altLang="zh-TW">
                  <a:solidFill>
                    <a:srgbClr val="000000"/>
                  </a:solidFill>
                </a:rPr>
                <a:t>lifetime of C thread</a:t>
              </a:r>
              <a:endParaRPr lang="en-US" altLang="zh-TW">
                <a:solidFill>
                  <a:srgbClr val="000000"/>
                </a:solidFill>
              </a:endParaRPr>
            </a:p>
          </p:txBody>
        </p:sp>
      </p:grpSp>
      <p:sp>
        <p:nvSpPr>
          <p:cNvPr id="7171" name="Rectangle 2"/>
          <p:cNvSpPr>
            <a:spLocks noGrp="1" noChangeArrowheads="1"/>
          </p:cNvSpPr>
          <p:nvPr>
            <p:ph type="title"/>
          </p:nvPr>
        </p:nvSpPr>
        <p:spPr/>
        <p:txBody>
          <a:bodyPr/>
          <a:lstStyle/>
          <a:p>
            <a:pPr eaLnBrk="1" hangingPunct="1"/>
            <a:r>
              <a:rPr lang="en-US" altLang="zh-TW"/>
              <a:t>Thread ecology in a java program</a:t>
            </a:r>
            <a:endParaRPr lang="en-US" altLang="zh-TW"/>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zh-TW"/>
              <a:t>2. Define and launch a java thread</a:t>
            </a:r>
            <a:endParaRPr lang="en-US" altLang="zh-TW"/>
          </a:p>
        </p:txBody>
      </p:sp>
      <p:sp>
        <p:nvSpPr>
          <p:cNvPr id="8195" name="Rectangle 3"/>
          <p:cNvSpPr>
            <a:spLocks noGrp="1" noChangeArrowheads="1"/>
          </p:cNvSpPr>
          <p:nvPr>
            <p:ph type="body" idx="1"/>
          </p:nvPr>
        </p:nvSpPr>
        <p:spPr/>
        <p:txBody>
          <a:bodyPr/>
          <a:lstStyle/>
          <a:p>
            <a:pPr marL="457200" indent="-457200" eaLnBrk="1" hangingPunct="1"/>
            <a:r>
              <a:rPr lang="en-US" altLang="zh-TW"/>
              <a:t>Each Java Run time thread is encapsulated in a  </a:t>
            </a:r>
            <a:r>
              <a:rPr lang="en-US" altLang="zh-TW">
                <a:solidFill>
                  <a:schemeClr val="accent2"/>
                </a:solidFill>
              </a:rPr>
              <a:t>java.lang.Thread</a:t>
            </a:r>
            <a:r>
              <a:rPr lang="en-US" altLang="zh-TW"/>
              <a:t> instance.</a:t>
            </a:r>
            <a:endParaRPr lang="en-US" altLang="zh-TW"/>
          </a:p>
          <a:p>
            <a:pPr marL="457200" indent="-457200" eaLnBrk="1" hangingPunct="1"/>
            <a:r>
              <a:rPr lang="en-US" altLang="zh-TW"/>
              <a:t>Two ways to define a thread:</a:t>
            </a:r>
            <a:endParaRPr lang="en-US" altLang="zh-TW"/>
          </a:p>
          <a:p>
            <a:pPr marL="457200" indent="-457200" eaLnBrk="1" hangingPunct="1">
              <a:buNone/>
            </a:pPr>
            <a:r>
              <a:rPr lang="en-US" altLang="zh-TW"/>
              <a:t>	1. Extend the Thread class</a:t>
            </a:r>
            <a:endParaRPr lang="en-US" altLang="zh-TW"/>
          </a:p>
          <a:p>
            <a:pPr marL="457200" indent="-457200" eaLnBrk="1" hangingPunct="1">
              <a:buNone/>
            </a:pPr>
            <a:r>
              <a:rPr lang="en-US" altLang="zh-TW"/>
              <a:t>	2. Implement the Runnable interface :</a:t>
            </a:r>
            <a:endParaRPr lang="en-US" altLang="zh-TW">
              <a:solidFill>
                <a:srgbClr val="008080"/>
              </a:solidFill>
            </a:endParaRPr>
          </a:p>
          <a:p>
            <a:pPr marL="457200" indent="-457200" eaLnBrk="1" hangingPunct="1">
              <a:buNone/>
            </a:pPr>
            <a:r>
              <a:rPr lang="en-US" altLang="zh-TW">
                <a:solidFill>
                  <a:srgbClr val="008080"/>
                </a:solidFill>
              </a:rPr>
              <a:t> 		package java.lang;</a:t>
            </a:r>
            <a:endParaRPr lang="en-US" altLang="zh-TW">
              <a:solidFill>
                <a:srgbClr val="008080"/>
              </a:solidFill>
            </a:endParaRPr>
          </a:p>
          <a:p>
            <a:pPr marL="457200" indent="-457200" eaLnBrk="1" hangingPunct="1">
              <a:buNone/>
            </a:pPr>
            <a:r>
              <a:rPr lang="en-US" altLang="zh-TW">
                <a:solidFill>
                  <a:srgbClr val="008080"/>
                </a:solidFill>
              </a:rPr>
              <a:t> 		public interface Runnable {  </a:t>
            </a:r>
            <a:r>
              <a:rPr lang="en-US" altLang="zh-TW">
                <a:solidFill>
                  <a:schemeClr val="accent2"/>
                </a:solidFill>
              </a:rPr>
              <a:t>public void run() ;</a:t>
            </a:r>
            <a:r>
              <a:rPr lang="en-US" altLang="zh-TW">
                <a:solidFill>
                  <a:srgbClr val="008080"/>
                </a:solidFill>
              </a:rPr>
              <a:t> }</a:t>
            </a:r>
            <a:endParaRPr lang="en-US" altLang="zh-TW">
              <a:solidFill>
                <a:srgbClr val="008080"/>
              </a:solidFill>
            </a:endParaRPr>
          </a:p>
          <a:p>
            <a:pPr marL="457200" indent="-457200" eaLnBrk="1" hangingPunct="1"/>
            <a:r>
              <a:rPr lang="en-US" altLang="zh-TW"/>
              <a:t>Steps  for extending the Thread class:</a:t>
            </a:r>
            <a:endParaRPr lang="en-US" altLang="zh-TW"/>
          </a:p>
          <a:p>
            <a:pPr marL="838200" lvl="1" indent="-381000" eaLnBrk="1" hangingPunct="1">
              <a:buFont typeface="Wingdings" panose="05000000000000000000" pitchFamily="2" charset="2"/>
              <a:buAutoNum type="arabicPeriod"/>
            </a:pPr>
            <a:r>
              <a:rPr lang="en-US" altLang="zh-TW"/>
              <a:t>Subclass the Thread class;</a:t>
            </a:r>
            <a:endParaRPr lang="en-US" altLang="zh-TW"/>
          </a:p>
          <a:p>
            <a:pPr marL="838200" lvl="1" indent="-381000" eaLnBrk="1" hangingPunct="1">
              <a:buFont typeface="Wingdings" panose="05000000000000000000" pitchFamily="2" charset="2"/>
              <a:buAutoNum type="arabicPeriod"/>
            </a:pPr>
            <a:r>
              <a:rPr lang="en-US" altLang="zh-TW"/>
              <a:t>Override the default Thread method </a:t>
            </a:r>
            <a:r>
              <a:rPr lang="en-US" altLang="zh-TW">
                <a:solidFill>
                  <a:srgbClr val="FF0000"/>
                </a:solidFill>
              </a:rPr>
              <a:t>run()</a:t>
            </a:r>
            <a:r>
              <a:rPr lang="en-US" altLang="zh-TW"/>
              <a:t>, which is </a:t>
            </a:r>
            <a:r>
              <a:rPr lang="en-US" altLang="zh-TW">
                <a:solidFill>
                  <a:schemeClr val="accent2"/>
                </a:solidFill>
              </a:rPr>
              <a:t>the entry point of the thread</a:t>
            </a:r>
            <a:r>
              <a:rPr lang="en-US" altLang="zh-TW"/>
              <a:t>, like the </a:t>
            </a:r>
            <a:r>
              <a:rPr lang="en-US" altLang="zh-TW">
                <a:solidFill>
                  <a:schemeClr val="accent2"/>
                </a:solidFill>
              </a:rPr>
              <a:t>main(String[])</a:t>
            </a:r>
            <a:r>
              <a:rPr lang="en-US" altLang="zh-TW"/>
              <a:t> method in a java program. </a:t>
            </a:r>
            <a:endParaRPr lang="en-US" altLang="zh-TW">
              <a:solidFill>
                <a:srgbClr val="008080"/>
              </a:solidFill>
            </a:endParaRPr>
          </a:p>
          <a:p>
            <a:pPr marL="457200" indent="-457200" eaLnBrk="1" hangingPunct="1">
              <a:buNone/>
            </a:pPr>
            <a:endParaRPr lang="en-US" altLang="zh-TW">
              <a:solidFill>
                <a:srgbClr val="00808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zh-TW"/>
              <a:t>Define a thread </a:t>
            </a:r>
            <a:endParaRPr lang="en-US" altLang="zh-TW"/>
          </a:p>
        </p:txBody>
      </p:sp>
      <p:sp>
        <p:nvSpPr>
          <p:cNvPr id="9219" name="Rectangle 3"/>
          <p:cNvSpPr>
            <a:spLocks noGrp="1" noChangeArrowheads="1"/>
          </p:cNvSpPr>
          <p:nvPr>
            <p:ph type="body" idx="1"/>
          </p:nvPr>
        </p:nvSpPr>
        <p:spPr/>
        <p:txBody>
          <a:bodyPr/>
          <a:lstStyle/>
          <a:p>
            <a:pPr marL="533400" indent="-533400" eaLnBrk="1" hangingPunct="1">
              <a:buNone/>
            </a:pPr>
            <a:r>
              <a:rPr lang="en-US" altLang="zh-TW">
                <a:solidFill>
                  <a:srgbClr val="CC6600"/>
                </a:solidFill>
              </a:rPr>
              <a:t>// Example:</a:t>
            </a:r>
            <a:endParaRPr lang="en-US" altLang="zh-TW">
              <a:solidFill>
                <a:srgbClr val="CC6600"/>
              </a:solidFill>
            </a:endParaRPr>
          </a:p>
          <a:p>
            <a:pPr marL="533400" indent="-533400" eaLnBrk="1" hangingPunct="1">
              <a:buNone/>
            </a:pPr>
            <a:r>
              <a:rPr lang="en-US" altLang="zh-TW">
                <a:solidFill>
                  <a:srgbClr val="008080"/>
                </a:solidFill>
              </a:rPr>
              <a:t>public class Print2Console extends Thread {</a:t>
            </a:r>
            <a:endParaRPr lang="en-US" altLang="zh-TW">
              <a:solidFill>
                <a:srgbClr val="008080"/>
              </a:solidFill>
            </a:endParaRPr>
          </a:p>
          <a:p>
            <a:pPr marL="914400" lvl="1" indent="-457200" eaLnBrk="1" hangingPunct="1">
              <a:buNone/>
            </a:pPr>
            <a:r>
              <a:rPr lang="en-US" altLang="zh-TW">
                <a:solidFill>
                  <a:srgbClr val="008080"/>
                </a:solidFill>
              </a:rPr>
              <a:t>public void run() {  </a:t>
            </a:r>
            <a:r>
              <a:rPr lang="en-US" altLang="zh-TW">
                <a:solidFill>
                  <a:srgbClr val="FF0000"/>
                </a:solidFill>
              </a:rPr>
              <a:t>// run() is to a thread what main() is to a java program</a:t>
            </a:r>
            <a:endParaRPr lang="en-US" altLang="zh-TW">
              <a:solidFill>
                <a:srgbClr val="FF0000"/>
              </a:solidFill>
            </a:endParaRPr>
          </a:p>
          <a:p>
            <a:pPr marL="914400" lvl="1" indent="-457200" eaLnBrk="1" hangingPunct="1">
              <a:buNone/>
            </a:pPr>
            <a:r>
              <a:rPr lang="en-US" altLang="zh-TW">
                <a:solidFill>
                  <a:srgbClr val="008080"/>
                </a:solidFill>
              </a:rPr>
              <a:t>    for (int b = -128; b &lt; 128; b++)  out.println(b);  }  </a:t>
            </a:r>
            <a:endParaRPr lang="en-US" altLang="zh-TW">
              <a:solidFill>
                <a:srgbClr val="008080"/>
              </a:solidFill>
            </a:endParaRPr>
          </a:p>
          <a:p>
            <a:pPr marL="914400" lvl="1" indent="-457200" eaLnBrk="1" hangingPunct="1">
              <a:buNone/>
            </a:pPr>
            <a:r>
              <a:rPr lang="en-US" altLang="zh-TW">
                <a:solidFill>
                  <a:srgbClr val="008080"/>
                </a:solidFill>
              </a:rPr>
              <a:t>… </a:t>
            </a:r>
            <a:r>
              <a:rPr lang="en-US" altLang="zh-TW">
                <a:solidFill>
                  <a:srgbClr val="CC6600"/>
                </a:solidFill>
              </a:rPr>
              <a:t>// additional methods, fields …</a:t>
            </a:r>
            <a:endParaRPr lang="en-US" altLang="zh-TW">
              <a:solidFill>
                <a:srgbClr val="CC6600"/>
              </a:solidFill>
            </a:endParaRPr>
          </a:p>
          <a:p>
            <a:pPr marL="914400" lvl="1" indent="-457200" eaLnBrk="1" hangingPunct="1">
              <a:buNone/>
            </a:pPr>
            <a:r>
              <a:rPr lang="en-US" altLang="zh-TW">
                <a:solidFill>
                  <a:srgbClr val="008080"/>
                </a:solidFill>
              </a:rPr>
              <a:t>  } </a:t>
            </a:r>
            <a:endParaRPr lang="en-US" altLang="zh-TW"/>
          </a:p>
          <a:p>
            <a:pPr marL="533400" indent="-533400" eaLnBrk="1" hangingPunct="1"/>
            <a:r>
              <a:rPr lang="en-US" altLang="zh-TW"/>
              <a:t>Impement the Runnable interface if you need a parent class:</a:t>
            </a:r>
            <a:endParaRPr lang="en-US" altLang="zh-TW"/>
          </a:p>
          <a:p>
            <a:pPr marL="533400" indent="-533400" eaLnBrk="1" hangingPunct="1">
              <a:buNone/>
            </a:pPr>
            <a:r>
              <a:rPr lang="en-US" altLang="zh-TW" sz="2400">
                <a:solidFill>
                  <a:srgbClr val="CC6600"/>
                </a:solidFill>
              </a:rPr>
              <a:t>// by extending JTextArea we can reuse all existing code of JTextArea</a:t>
            </a:r>
            <a:endParaRPr lang="en-US" altLang="zh-TW" sz="2400">
              <a:solidFill>
                <a:srgbClr val="CC6600"/>
              </a:solidFill>
            </a:endParaRPr>
          </a:p>
          <a:p>
            <a:pPr marL="533400" indent="-533400" eaLnBrk="1" hangingPunct="1">
              <a:buNone/>
            </a:pPr>
            <a:r>
              <a:rPr lang="en-US" altLang="zh-TW">
                <a:solidFill>
                  <a:srgbClr val="008080"/>
                </a:solidFill>
              </a:rPr>
              <a:t>public class Print2GUI </a:t>
            </a:r>
            <a:r>
              <a:rPr lang="en-US" altLang="zh-TW">
                <a:solidFill>
                  <a:schemeClr val="accent2"/>
                </a:solidFill>
              </a:rPr>
              <a:t>extend JTextArea</a:t>
            </a:r>
            <a:r>
              <a:rPr lang="en-US" altLang="zh-TW">
                <a:solidFill>
                  <a:srgbClr val="008080"/>
                </a:solidFill>
              </a:rPr>
              <a:t> </a:t>
            </a:r>
            <a:r>
              <a:rPr lang="en-US" altLang="zh-TW">
                <a:solidFill>
                  <a:srgbClr val="FF0000"/>
                </a:solidFill>
              </a:rPr>
              <a:t>implement Runnable</a:t>
            </a:r>
            <a:r>
              <a:rPr lang="en-US" altLang="zh-TW">
                <a:solidFill>
                  <a:srgbClr val="008080"/>
                </a:solidFill>
              </a:rPr>
              <a:t> {</a:t>
            </a:r>
            <a:endParaRPr lang="en-US" altLang="zh-TW">
              <a:solidFill>
                <a:srgbClr val="008080"/>
              </a:solidFill>
            </a:endParaRPr>
          </a:p>
          <a:p>
            <a:pPr marL="914400" lvl="1" indent="-457200" eaLnBrk="1" hangingPunct="1">
              <a:buNone/>
            </a:pPr>
            <a:r>
              <a:rPr lang="en-US" altLang="zh-TW">
                <a:solidFill>
                  <a:srgbClr val="008080"/>
                </a:solidFill>
              </a:rPr>
              <a:t>public void run() { </a:t>
            </a:r>
            <a:endParaRPr lang="en-US" altLang="zh-TW">
              <a:solidFill>
                <a:srgbClr val="CC6600"/>
              </a:solidFill>
            </a:endParaRPr>
          </a:p>
          <a:p>
            <a:pPr marL="914400" lvl="1" indent="-457200" eaLnBrk="1" hangingPunct="1">
              <a:buNone/>
            </a:pPr>
            <a:r>
              <a:rPr lang="en-US" altLang="zh-TW">
                <a:solidFill>
                  <a:srgbClr val="008080"/>
                </a:solidFill>
              </a:rPr>
              <a:t>    for (int b = -128; b &lt; 128; b++)  </a:t>
            </a:r>
            <a:r>
              <a:rPr lang="en-US" altLang="zh-TW">
                <a:solidFill>
                  <a:schemeClr val="accent2"/>
                </a:solidFill>
              </a:rPr>
              <a:t>append</a:t>
            </a:r>
            <a:r>
              <a:rPr lang="en-US" altLang="zh-TW">
                <a:solidFill>
                  <a:srgbClr val="008080"/>
                </a:solidFill>
              </a:rPr>
              <a:t>( Integer.toString(b) + “\n” );  }  </a:t>
            </a:r>
            <a:endParaRPr lang="en-US" altLang="zh-TW">
              <a:solidFill>
                <a:srgbClr val="008080"/>
              </a:solidFill>
            </a:endParaRPr>
          </a:p>
          <a:p>
            <a:pPr marL="914400" lvl="1" indent="-457200" eaLnBrk="1" hangingPunct="1">
              <a:buNone/>
            </a:pPr>
            <a:r>
              <a:rPr lang="en-US" altLang="zh-TW">
                <a:solidFill>
                  <a:srgbClr val="008080"/>
                </a:solidFill>
              </a:rPr>
              <a:t>  } </a:t>
            </a:r>
            <a:endParaRPr lang="en-US" altLang="zh-TW"/>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TW"/>
              <a:t>How to launch a thread</a:t>
            </a:r>
            <a:endParaRPr lang="en-US" altLang="zh-TW"/>
          </a:p>
        </p:txBody>
      </p:sp>
      <p:sp>
        <p:nvSpPr>
          <p:cNvPr id="10243" name="Rectangle 3"/>
          <p:cNvSpPr>
            <a:spLocks noGrp="1" noChangeArrowheads="1"/>
          </p:cNvSpPr>
          <p:nvPr>
            <p:ph type="body" idx="1"/>
          </p:nvPr>
        </p:nvSpPr>
        <p:spPr/>
        <p:txBody>
          <a:bodyPr/>
          <a:lstStyle/>
          <a:p>
            <a:pPr marL="533400" indent="-533400" eaLnBrk="1" hangingPunct="1">
              <a:lnSpc>
                <a:spcPct val="90000"/>
              </a:lnSpc>
              <a:buFont typeface="Symbol" panose="05050102010706020507" pitchFamily="18" charset="2"/>
              <a:buAutoNum type="arabicPeriod"/>
            </a:pPr>
            <a:r>
              <a:rPr lang="en-US" altLang="zh-TW"/>
              <a:t>create an instance of [ a subclass of ] of Thread, say </a:t>
            </a:r>
            <a:r>
              <a:rPr lang="en-US" altLang="zh-TW">
                <a:solidFill>
                  <a:srgbClr val="008080"/>
                </a:solidFill>
              </a:rPr>
              <a:t>thread</a:t>
            </a:r>
            <a:r>
              <a:rPr lang="en-US" altLang="zh-TW"/>
              <a:t>.</a:t>
            </a:r>
            <a:endParaRPr lang="en-US" altLang="zh-TW">
              <a:solidFill>
                <a:srgbClr val="008080"/>
              </a:solidFill>
            </a:endParaRPr>
          </a:p>
          <a:p>
            <a:pPr marL="914400" lvl="1" indent="-457200" eaLnBrk="1" hangingPunct="1">
              <a:lnSpc>
                <a:spcPct val="90000"/>
              </a:lnSpc>
              <a:buFont typeface="Symbol" panose="05050102010706020507" pitchFamily="18" charset="2"/>
              <a:buAutoNum type="arabicPeriod"/>
            </a:pPr>
            <a:r>
              <a:rPr lang="en-US" altLang="zh-TW">
                <a:solidFill>
                  <a:srgbClr val="008080"/>
                </a:solidFill>
              </a:rPr>
              <a:t>Thread thread = new Print2Console();</a:t>
            </a:r>
            <a:endParaRPr lang="en-US" altLang="zh-TW">
              <a:solidFill>
                <a:srgbClr val="008080"/>
              </a:solidFill>
            </a:endParaRPr>
          </a:p>
          <a:p>
            <a:pPr marL="914400" lvl="1" indent="-457200" eaLnBrk="1" hangingPunct="1">
              <a:lnSpc>
                <a:spcPct val="90000"/>
              </a:lnSpc>
              <a:buFont typeface="Symbol" panose="05050102010706020507" pitchFamily="18" charset="2"/>
              <a:buAutoNum type="arabicPeriod"/>
            </a:pPr>
            <a:r>
              <a:rPr lang="en-US" altLang="zh-TW">
                <a:solidFill>
                  <a:srgbClr val="008080"/>
                </a:solidFill>
              </a:rPr>
              <a:t>Thread thread = new Thread( new Print2GUI( .. ) );</a:t>
            </a:r>
            <a:endParaRPr lang="en-US" altLang="zh-TW">
              <a:solidFill>
                <a:srgbClr val="008080"/>
              </a:solidFill>
            </a:endParaRPr>
          </a:p>
          <a:p>
            <a:pPr marL="533400" indent="-533400" eaLnBrk="1" hangingPunct="1">
              <a:lnSpc>
                <a:spcPct val="90000"/>
              </a:lnSpc>
              <a:buNone/>
            </a:pPr>
            <a:r>
              <a:rPr lang="en-US" altLang="zh-TW"/>
              <a:t>2. call its </a:t>
            </a:r>
            <a:r>
              <a:rPr lang="en-US" altLang="zh-TW">
                <a:solidFill>
                  <a:srgbClr val="008080"/>
                </a:solidFill>
              </a:rPr>
              <a:t>start()</a:t>
            </a:r>
            <a:r>
              <a:rPr lang="en-US" altLang="zh-TW"/>
              <a:t> method, </a:t>
            </a:r>
            <a:r>
              <a:rPr lang="en-US" altLang="zh-TW">
                <a:solidFill>
                  <a:srgbClr val="008080"/>
                </a:solidFill>
              </a:rPr>
              <a:t>thread.start();</a:t>
            </a:r>
            <a:r>
              <a:rPr lang="en-US" altLang="zh-TW"/>
              <a:t>. </a:t>
            </a:r>
            <a:r>
              <a:rPr lang="en-US" altLang="zh-TW">
                <a:solidFill>
                  <a:srgbClr val="CC6600"/>
                </a:solidFill>
              </a:rPr>
              <a:t>// note: </a:t>
            </a:r>
            <a:r>
              <a:rPr lang="en-US" altLang="zh-TW">
                <a:solidFill>
                  <a:srgbClr val="FF0000"/>
                </a:solidFill>
              </a:rPr>
              <a:t>not call run() !!</a:t>
            </a:r>
            <a:endParaRPr lang="en-US" altLang="zh-TW">
              <a:solidFill>
                <a:srgbClr val="FF0000"/>
              </a:solidFill>
            </a:endParaRPr>
          </a:p>
          <a:p>
            <a:pPr marL="533400" indent="-533400" eaLnBrk="1" hangingPunct="1">
              <a:lnSpc>
                <a:spcPct val="90000"/>
              </a:lnSpc>
              <a:buNone/>
            </a:pPr>
            <a:r>
              <a:rPr lang="en-US" altLang="zh-TW"/>
              <a:t>Ex:</a:t>
            </a:r>
            <a:endParaRPr lang="en-US" altLang="zh-TW">
              <a:solidFill>
                <a:srgbClr val="008080"/>
              </a:solidFill>
            </a:endParaRPr>
          </a:p>
          <a:p>
            <a:pPr marL="914400" lvl="1" indent="-457200" eaLnBrk="1" hangingPunct="1">
              <a:lnSpc>
                <a:spcPct val="90000"/>
              </a:lnSpc>
            </a:pPr>
            <a:r>
              <a:rPr lang="en-US" altLang="zh-TW">
                <a:solidFill>
                  <a:srgbClr val="008080"/>
                </a:solidFill>
              </a:rPr>
              <a:t>Printer2Console t1 = new Print2Console();</a:t>
            </a:r>
            <a:r>
              <a:rPr lang="en-US" altLang="zh-TW"/>
              <a:t>  </a:t>
            </a:r>
            <a:r>
              <a:rPr lang="en-US" altLang="zh-TW">
                <a:solidFill>
                  <a:srgbClr val="CC6600"/>
                </a:solidFill>
              </a:rPr>
              <a:t>// t1 is a thread instance !</a:t>
            </a:r>
            <a:endParaRPr lang="en-US" altLang="zh-TW">
              <a:solidFill>
                <a:srgbClr val="CC6600"/>
              </a:solidFill>
            </a:endParaRPr>
          </a:p>
          <a:p>
            <a:pPr marL="914400" lvl="1" indent="-457200" eaLnBrk="1" hangingPunct="1">
              <a:lnSpc>
                <a:spcPct val="90000"/>
              </a:lnSpc>
            </a:pPr>
            <a:r>
              <a:rPr lang="en-US" altLang="zh-TW">
                <a:solidFill>
                  <a:srgbClr val="008080"/>
                </a:solidFill>
              </a:rPr>
              <a:t>t1.start() ;</a:t>
            </a:r>
            <a:r>
              <a:rPr lang="en-US" altLang="zh-TW"/>
              <a:t> </a:t>
            </a:r>
            <a:r>
              <a:rPr lang="en-US" altLang="zh-TW">
                <a:solidFill>
                  <a:srgbClr val="CC6600"/>
                </a:solidFill>
              </a:rPr>
              <a:t>// this will start a new thread, which begins its execution by calling t1.run()</a:t>
            </a:r>
            <a:endParaRPr lang="en-US" altLang="zh-TW">
              <a:solidFill>
                <a:srgbClr val="CC6600"/>
              </a:solidFill>
            </a:endParaRPr>
          </a:p>
          <a:p>
            <a:pPr marL="914400" lvl="1" indent="-457200" eaLnBrk="1" hangingPunct="1">
              <a:lnSpc>
                <a:spcPct val="90000"/>
              </a:lnSpc>
            </a:pPr>
            <a:r>
              <a:rPr lang="en-US" altLang="zh-TW">
                <a:solidFill>
                  <a:srgbClr val="008080"/>
                </a:solidFill>
              </a:rPr>
              <a:t>… </a:t>
            </a:r>
            <a:r>
              <a:rPr lang="en-US" altLang="zh-TW">
                <a:solidFill>
                  <a:srgbClr val="CC6600"/>
                </a:solidFill>
              </a:rPr>
              <a:t> // parent thread continue immediately here </a:t>
            </a:r>
            <a:r>
              <a:rPr lang="en-US" altLang="zh-TW">
                <a:solidFill>
                  <a:srgbClr val="FF0000"/>
                </a:solidFill>
              </a:rPr>
              <a:t>without waiting for the child thread to complete its execution</a:t>
            </a:r>
            <a:r>
              <a:rPr lang="en-US" altLang="zh-TW">
                <a:solidFill>
                  <a:srgbClr val="CC6600"/>
                </a:solidFill>
              </a:rPr>
              <a:t>. cf:  </a:t>
            </a:r>
            <a:r>
              <a:rPr lang="en-US" altLang="zh-TW">
                <a:solidFill>
                  <a:srgbClr val="008080"/>
                </a:solidFill>
              </a:rPr>
              <a:t>t1.run();</a:t>
            </a:r>
            <a:endParaRPr lang="en-US" altLang="zh-TW">
              <a:solidFill>
                <a:srgbClr val="008080"/>
              </a:solidFill>
            </a:endParaRPr>
          </a:p>
          <a:p>
            <a:pPr marL="914400" lvl="1" indent="-457200" eaLnBrk="1" hangingPunct="1">
              <a:lnSpc>
                <a:spcPct val="90000"/>
              </a:lnSpc>
            </a:pPr>
            <a:r>
              <a:rPr lang="en-US" altLang="zh-TW">
                <a:solidFill>
                  <a:srgbClr val="008080"/>
                </a:solidFill>
              </a:rPr>
              <a:t>Print2GUI jtext = new Print2GUI();  </a:t>
            </a:r>
            <a:endParaRPr lang="en-US" altLang="zh-TW">
              <a:solidFill>
                <a:srgbClr val="008080"/>
              </a:solidFill>
            </a:endParaRPr>
          </a:p>
          <a:p>
            <a:pPr marL="914400" lvl="1" indent="-457200" eaLnBrk="1" hangingPunct="1">
              <a:lnSpc>
                <a:spcPct val="90000"/>
              </a:lnSpc>
            </a:pPr>
            <a:r>
              <a:rPr lang="en-US" altLang="zh-TW">
                <a:solidFill>
                  <a:srgbClr val="008080"/>
                </a:solidFill>
              </a:rPr>
              <a:t>Thread t2 = new Thread( jtext); </a:t>
            </a:r>
            <a:endParaRPr lang="en-US" altLang="zh-TW">
              <a:solidFill>
                <a:srgbClr val="008080"/>
              </a:solidFill>
            </a:endParaRPr>
          </a:p>
          <a:p>
            <a:pPr marL="914400" lvl="1" indent="-457200" eaLnBrk="1" hangingPunct="1">
              <a:lnSpc>
                <a:spcPct val="90000"/>
              </a:lnSpc>
            </a:pPr>
            <a:r>
              <a:rPr lang="en-US" altLang="zh-TW">
                <a:solidFill>
                  <a:srgbClr val="008080"/>
                </a:solidFill>
              </a:rPr>
              <a:t>t2.start();</a:t>
            </a:r>
            <a:endParaRPr lang="en-US" altLang="zh-TW">
              <a:solidFill>
                <a:srgbClr val="008080"/>
              </a:solidFill>
            </a:endParaRPr>
          </a:p>
          <a:p>
            <a:pPr marL="914400" lvl="1" indent="-457200" eaLnBrk="1" hangingPunct="1">
              <a:lnSpc>
                <a:spcPct val="90000"/>
              </a:lnSpc>
            </a:pPr>
            <a:r>
              <a:rPr lang="en-US" altLang="zh-TW">
                <a:solidFill>
                  <a:srgbClr val="008080"/>
                </a:solidFill>
              </a:rPr>
              <a:t>…</a:t>
            </a:r>
            <a:endParaRPr lang="en-US" altLang="zh-TW"/>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zh-TW"/>
              <a:t>The java.lang.Thread constructors</a:t>
            </a:r>
            <a:endParaRPr lang="en-US" altLang="zh-TW"/>
          </a:p>
        </p:txBody>
      </p:sp>
      <p:sp>
        <p:nvSpPr>
          <p:cNvPr id="11267" name="Rectangle 3"/>
          <p:cNvSpPr>
            <a:spLocks noGrp="1" noChangeArrowheads="1"/>
          </p:cNvSpPr>
          <p:nvPr>
            <p:ph type="body" idx="1"/>
          </p:nvPr>
        </p:nvSpPr>
        <p:spPr/>
        <p:txBody>
          <a:bodyPr/>
          <a:lstStyle/>
          <a:p>
            <a:pPr eaLnBrk="1" hangingPunct="1">
              <a:lnSpc>
                <a:spcPct val="90000"/>
              </a:lnSpc>
              <a:buFont typeface="Symbol" panose="05050102010706020507" pitchFamily="18" charset="2"/>
              <a:buNone/>
            </a:pPr>
            <a:r>
              <a:rPr lang="en-US" altLang="zh-TW">
                <a:solidFill>
                  <a:srgbClr val="CC6600"/>
                </a:solidFill>
              </a:rPr>
              <a:t>// Public Constructors</a:t>
            </a:r>
            <a:endParaRPr lang="en-US" altLang="zh-TW">
              <a:solidFill>
                <a:srgbClr val="CC6600"/>
              </a:solidFill>
            </a:endParaRPr>
          </a:p>
          <a:p>
            <a:pPr eaLnBrk="1" hangingPunct="1">
              <a:lnSpc>
                <a:spcPct val="90000"/>
              </a:lnSpc>
            </a:pPr>
            <a:r>
              <a:rPr lang="en-US" altLang="zh-TW">
                <a:solidFill>
                  <a:srgbClr val="008080"/>
                </a:solidFill>
              </a:rPr>
              <a:t>Thread(</a:t>
            </a:r>
            <a:r>
              <a:rPr lang="en-US" altLang="zh-TW">
                <a:solidFill>
                  <a:schemeClr val="accent2"/>
                </a:solidFill>
              </a:rPr>
              <a:t>[</a:t>
            </a:r>
            <a:r>
              <a:rPr lang="en-US" altLang="zh-TW">
                <a:solidFill>
                  <a:srgbClr val="008080"/>
                </a:solidFill>
              </a:rPr>
              <a:t> ThreadGroup group,</a:t>
            </a:r>
            <a:r>
              <a:rPr lang="en-US" altLang="zh-TW">
                <a:solidFill>
                  <a:schemeClr val="accent2"/>
                </a:solidFill>
              </a:rPr>
              <a:t>]</a:t>
            </a:r>
            <a:r>
              <a:rPr lang="en-US" altLang="zh-TW">
                <a:solidFill>
                  <a:srgbClr val="008080"/>
                </a:solidFill>
              </a:rPr>
              <a:t> </a:t>
            </a:r>
            <a:r>
              <a:rPr lang="en-US" altLang="zh-TW">
                <a:solidFill>
                  <a:schemeClr val="accent2"/>
                </a:solidFill>
              </a:rPr>
              <a:t>[ </a:t>
            </a:r>
            <a:r>
              <a:rPr lang="en-US" altLang="zh-TW">
                <a:solidFill>
                  <a:srgbClr val="008080"/>
                </a:solidFill>
              </a:rPr>
              <a:t>Runnable target, </a:t>
            </a:r>
            <a:r>
              <a:rPr lang="en-US" altLang="zh-TW">
                <a:solidFill>
                  <a:schemeClr val="accent2"/>
                </a:solidFill>
              </a:rPr>
              <a:t>]</a:t>
            </a:r>
            <a:endParaRPr lang="en-US" altLang="zh-TW">
              <a:solidFill>
                <a:schemeClr val="accent2"/>
              </a:solidFill>
            </a:endParaRPr>
          </a:p>
          <a:p>
            <a:pPr eaLnBrk="1" hangingPunct="1">
              <a:lnSpc>
                <a:spcPct val="90000"/>
              </a:lnSpc>
              <a:buFont typeface="Symbol" panose="05050102010706020507" pitchFamily="18" charset="2"/>
              <a:buNone/>
            </a:pPr>
            <a:r>
              <a:rPr lang="en-US" altLang="zh-TW">
                <a:solidFill>
                  <a:schemeClr val="accent2"/>
                </a:solidFill>
              </a:rPr>
              <a:t>                  [ </a:t>
            </a:r>
            <a:r>
              <a:rPr lang="en-US" altLang="zh-TW">
                <a:solidFill>
                  <a:srgbClr val="008080"/>
                </a:solidFill>
              </a:rPr>
              <a:t>String name </a:t>
            </a:r>
            <a:r>
              <a:rPr lang="en-US" altLang="zh-TW">
                <a:solidFill>
                  <a:schemeClr val="accent2"/>
                </a:solidFill>
              </a:rPr>
              <a:t>] </a:t>
            </a:r>
            <a:r>
              <a:rPr lang="en-US" altLang="zh-TW">
                <a:solidFill>
                  <a:srgbClr val="008080"/>
                </a:solidFill>
              </a:rPr>
              <a:t>);</a:t>
            </a:r>
            <a:endParaRPr lang="en-US" altLang="zh-TW">
              <a:solidFill>
                <a:srgbClr val="008080"/>
              </a:solidFill>
            </a:endParaRPr>
          </a:p>
          <a:p>
            <a:pPr lvl="1" eaLnBrk="1" hangingPunct="1">
              <a:lnSpc>
                <a:spcPct val="90000"/>
              </a:lnSpc>
            </a:pPr>
            <a:r>
              <a:rPr lang="en-US" altLang="zh-TW">
                <a:solidFill>
                  <a:schemeClr val="accent2"/>
                </a:solidFill>
              </a:rPr>
              <a:t>Instances :</a:t>
            </a:r>
            <a:endParaRPr lang="en-US" altLang="zh-TW">
              <a:solidFill>
                <a:schemeClr val="accent2"/>
              </a:solidFill>
            </a:endParaRPr>
          </a:p>
          <a:p>
            <a:pPr lvl="1" eaLnBrk="1" hangingPunct="1">
              <a:lnSpc>
                <a:spcPct val="90000"/>
              </a:lnSpc>
            </a:pPr>
            <a:r>
              <a:rPr lang="en-US" altLang="zh-TW">
                <a:solidFill>
                  <a:srgbClr val="008080"/>
                </a:solidFill>
              </a:rPr>
              <a:t>Thread();</a:t>
            </a:r>
            <a:endParaRPr lang="en-US" altLang="zh-TW">
              <a:solidFill>
                <a:srgbClr val="008080"/>
              </a:solidFill>
            </a:endParaRPr>
          </a:p>
          <a:p>
            <a:pPr lvl="1" eaLnBrk="1" hangingPunct="1">
              <a:lnSpc>
                <a:spcPct val="90000"/>
              </a:lnSpc>
            </a:pPr>
            <a:r>
              <a:rPr lang="en-US" altLang="zh-TW">
                <a:solidFill>
                  <a:srgbClr val="008080"/>
                </a:solidFill>
              </a:rPr>
              <a:t>Thread(Runnable target);</a:t>
            </a:r>
            <a:endParaRPr lang="en-US" altLang="zh-TW">
              <a:solidFill>
                <a:srgbClr val="008080"/>
              </a:solidFill>
            </a:endParaRPr>
          </a:p>
          <a:p>
            <a:pPr lvl="1" eaLnBrk="1" hangingPunct="1">
              <a:lnSpc>
                <a:spcPct val="90000"/>
              </a:lnSpc>
            </a:pPr>
            <a:r>
              <a:rPr lang="en-US" altLang="zh-TW">
                <a:solidFill>
                  <a:srgbClr val="008080"/>
                </a:solidFill>
              </a:rPr>
              <a:t>Thread(Runnable target, String name);</a:t>
            </a:r>
            <a:endParaRPr lang="en-US" altLang="zh-TW">
              <a:solidFill>
                <a:srgbClr val="008080"/>
              </a:solidFill>
            </a:endParaRPr>
          </a:p>
          <a:p>
            <a:pPr lvl="1" eaLnBrk="1" hangingPunct="1">
              <a:lnSpc>
                <a:spcPct val="90000"/>
              </a:lnSpc>
            </a:pPr>
            <a:r>
              <a:rPr lang="en-US" altLang="zh-TW">
                <a:solidFill>
                  <a:srgbClr val="008080"/>
                </a:solidFill>
              </a:rPr>
              <a:t>Thread(String name);</a:t>
            </a:r>
            <a:endParaRPr lang="en-US" altLang="zh-TW">
              <a:solidFill>
                <a:srgbClr val="008080"/>
              </a:solidFill>
            </a:endParaRPr>
          </a:p>
          <a:p>
            <a:pPr lvl="1" eaLnBrk="1" hangingPunct="1">
              <a:lnSpc>
                <a:spcPct val="90000"/>
              </a:lnSpc>
            </a:pPr>
            <a:r>
              <a:rPr lang="en-US" altLang="zh-TW">
                <a:solidFill>
                  <a:srgbClr val="008080"/>
                </a:solidFill>
              </a:rPr>
              <a:t>Thread(ThreadGroup group, Runnable target);</a:t>
            </a:r>
            <a:endParaRPr lang="en-US" altLang="zh-TW">
              <a:solidFill>
                <a:srgbClr val="008080"/>
              </a:solidFill>
            </a:endParaRPr>
          </a:p>
          <a:p>
            <a:pPr lvl="1" eaLnBrk="1" hangingPunct="1">
              <a:lnSpc>
                <a:spcPct val="90000"/>
              </a:lnSpc>
            </a:pPr>
            <a:r>
              <a:rPr lang="en-US" altLang="zh-TW">
                <a:solidFill>
                  <a:srgbClr val="008080"/>
                </a:solidFill>
              </a:rPr>
              <a:t>Thread(ThreadGroup group, Runnable target, String name);</a:t>
            </a:r>
            <a:endParaRPr lang="en-US" altLang="zh-TW">
              <a:solidFill>
                <a:srgbClr val="008080"/>
              </a:solidFill>
            </a:endParaRPr>
          </a:p>
          <a:p>
            <a:pPr lvl="1" eaLnBrk="1" hangingPunct="1">
              <a:lnSpc>
                <a:spcPct val="90000"/>
              </a:lnSpc>
            </a:pPr>
            <a:r>
              <a:rPr lang="en-US" altLang="zh-TW">
                <a:solidFill>
                  <a:srgbClr val="008080"/>
                </a:solidFill>
              </a:rPr>
              <a:t>Thread(ThreadGroup group, String name);</a:t>
            </a:r>
            <a:endParaRPr lang="en-US" altLang="zh-TW">
              <a:solidFill>
                <a:srgbClr val="008080"/>
              </a:solidFill>
            </a:endParaRPr>
          </a:p>
          <a:p>
            <a:pPr eaLnBrk="1" hangingPunct="1">
              <a:lnSpc>
                <a:spcPct val="90000"/>
              </a:lnSpc>
              <a:buFont typeface="Symbol" panose="05050102010706020507" pitchFamily="18" charset="2"/>
              <a:buNone/>
            </a:pPr>
            <a:r>
              <a:rPr lang="en-US" altLang="zh-TW">
                <a:solidFill>
                  <a:srgbClr val="CC6600"/>
                </a:solidFill>
              </a:rPr>
              <a:t>//  </a:t>
            </a:r>
            <a:r>
              <a:rPr lang="en-US" altLang="zh-TW">
                <a:solidFill>
                  <a:schemeClr val="accent2"/>
                </a:solidFill>
              </a:rPr>
              <a:t>name</a:t>
            </a:r>
            <a:r>
              <a:rPr lang="en-US" altLang="zh-TW">
                <a:solidFill>
                  <a:srgbClr val="CC6600"/>
                </a:solidFill>
              </a:rPr>
              <a:t> is a string used to identify the thread instance</a:t>
            </a:r>
            <a:endParaRPr lang="en-US" altLang="zh-TW">
              <a:solidFill>
                <a:srgbClr val="CC6600"/>
              </a:solidFill>
            </a:endParaRPr>
          </a:p>
          <a:p>
            <a:pPr eaLnBrk="1" hangingPunct="1">
              <a:lnSpc>
                <a:spcPct val="90000"/>
              </a:lnSpc>
              <a:buFont typeface="Symbol" panose="05050102010706020507" pitchFamily="18" charset="2"/>
              <a:buNone/>
            </a:pPr>
            <a:r>
              <a:rPr lang="en-US" altLang="zh-TW">
                <a:solidFill>
                  <a:srgbClr val="CC6600"/>
                </a:solidFill>
              </a:rPr>
              <a:t>//  </a:t>
            </a:r>
            <a:r>
              <a:rPr lang="en-US" altLang="zh-TW">
                <a:solidFill>
                  <a:schemeClr val="accent2"/>
                </a:solidFill>
              </a:rPr>
              <a:t>group</a:t>
            </a:r>
            <a:r>
              <a:rPr lang="en-US" altLang="zh-TW">
                <a:solidFill>
                  <a:srgbClr val="CC6600"/>
                </a:solidFill>
              </a:rPr>
              <a:t> is the thread group to which this thred belongs.</a:t>
            </a:r>
            <a:endParaRPr lang="en-US" altLang="zh-TW">
              <a:solidFill>
                <a:srgbClr val="CC6600"/>
              </a:solidFill>
            </a:endParaRPr>
          </a:p>
          <a:p>
            <a:pPr eaLnBrk="1" hangingPunct="1">
              <a:lnSpc>
                <a:spcPct val="90000"/>
              </a:lnSpc>
              <a:buFont typeface="Symbol" panose="05050102010706020507" pitchFamily="18" charset="2"/>
              <a:buNone/>
            </a:pPr>
            <a:endParaRPr lang="en-US" altLang="zh-TW">
              <a:solidFill>
                <a:srgbClr val="CC66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zh-TW" sz="1800"/>
              <a:t>Some thread property access methods</a:t>
            </a:r>
            <a:endParaRPr lang="en-US" altLang="zh-TW" sz="1800"/>
          </a:p>
        </p:txBody>
      </p:sp>
      <p:sp>
        <p:nvSpPr>
          <p:cNvPr id="12291" name="Rectangle 3"/>
          <p:cNvSpPr>
            <a:spLocks noGrp="1" noChangeArrowheads="1"/>
          </p:cNvSpPr>
          <p:nvPr>
            <p:ph type="body" idx="1"/>
          </p:nvPr>
        </p:nvSpPr>
        <p:spPr/>
        <p:txBody>
          <a:bodyPr/>
          <a:lstStyle/>
          <a:p>
            <a:pPr eaLnBrk="1" hangingPunct="1">
              <a:lnSpc>
                <a:spcPct val="90000"/>
              </a:lnSpc>
            </a:pPr>
            <a:r>
              <a:rPr lang="en-US" altLang="zh-TW">
                <a:solidFill>
                  <a:srgbClr val="008080"/>
                </a:solidFill>
              </a:rPr>
              <a:t>int getID() </a:t>
            </a:r>
            <a:r>
              <a:rPr lang="en-US" altLang="zh-TW">
                <a:solidFill>
                  <a:srgbClr val="CC6600"/>
                </a:solidFill>
              </a:rPr>
              <a:t>// every thread has a unique ID, since jdk1.5</a:t>
            </a:r>
            <a:endParaRPr lang="en-US" altLang="zh-TW">
              <a:solidFill>
                <a:srgbClr val="CC6600"/>
              </a:solidFill>
            </a:endParaRPr>
          </a:p>
          <a:p>
            <a:pPr eaLnBrk="1" hangingPunct="1">
              <a:lnSpc>
                <a:spcPct val="90000"/>
              </a:lnSpc>
            </a:pPr>
            <a:r>
              <a:rPr lang="en-US" altLang="zh-TW">
                <a:solidFill>
                  <a:srgbClr val="008080"/>
                </a:solidFill>
              </a:rPr>
              <a:t>String getName(); setName(String)</a:t>
            </a:r>
            <a:endParaRPr lang="en-US" altLang="zh-TW">
              <a:solidFill>
                <a:srgbClr val="008080"/>
              </a:solidFill>
            </a:endParaRPr>
          </a:p>
          <a:p>
            <a:pPr lvl="1" eaLnBrk="1" hangingPunct="1">
              <a:lnSpc>
                <a:spcPct val="90000"/>
              </a:lnSpc>
            </a:pPr>
            <a:r>
              <a:rPr lang="en-US" altLang="zh-TW">
                <a:solidFill>
                  <a:srgbClr val="CC6600"/>
                </a:solidFill>
              </a:rPr>
              <a:t>// get/set the name of the thread</a:t>
            </a:r>
            <a:endParaRPr lang="en-US" altLang="zh-TW">
              <a:solidFill>
                <a:srgbClr val="CC6600"/>
              </a:solidFill>
            </a:endParaRPr>
          </a:p>
          <a:p>
            <a:pPr eaLnBrk="1" hangingPunct="1">
              <a:lnSpc>
                <a:spcPct val="90000"/>
              </a:lnSpc>
            </a:pPr>
            <a:r>
              <a:rPr lang="en-US" altLang="zh-TW">
                <a:solidFill>
                  <a:srgbClr val="008080"/>
                </a:solidFill>
              </a:rPr>
              <a:t>ThreadGroup getThreadGroup();</a:t>
            </a:r>
            <a:endParaRPr lang="en-US" altLang="zh-TW">
              <a:solidFill>
                <a:srgbClr val="008080"/>
              </a:solidFill>
            </a:endParaRPr>
          </a:p>
          <a:p>
            <a:pPr eaLnBrk="1" hangingPunct="1">
              <a:lnSpc>
                <a:spcPct val="90000"/>
              </a:lnSpc>
            </a:pPr>
            <a:r>
              <a:rPr lang="en-US" altLang="zh-TW">
                <a:solidFill>
                  <a:srgbClr val="008080"/>
                </a:solidFill>
              </a:rPr>
              <a:t>int getPriority() ; setPriority(int) </a:t>
            </a:r>
            <a:r>
              <a:rPr lang="en-US" altLang="zh-TW">
                <a:solidFill>
                  <a:srgbClr val="CC6600"/>
                </a:solidFill>
              </a:rPr>
              <a:t>// thread has priority in [0, 31]</a:t>
            </a:r>
            <a:endParaRPr lang="en-US" altLang="zh-TW">
              <a:solidFill>
                <a:srgbClr val="CC6600"/>
              </a:solidFill>
            </a:endParaRPr>
          </a:p>
          <a:p>
            <a:pPr eaLnBrk="1" hangingPunct="1">
              <a:lnSpc>
                <a:spcPct val="90000"/>
              </a:lnSpc>
            </a:pPr>
            <a:r>
              <a:rPr lang="en-US" altLang="zh-TW">
                <a:solidFill>
                  <a:srgbClr val="008080"/>
                </a:solidFill>
              </a:rPr>
              <a:t>Thread.State getState() </a:t>
            </a:r>
            <a:r>
              <a:rPr lang="en-US" altLang="zh-TW">
                <a:solidFill>
                  <a:srgbClr val="CC6600"/>
                </a:solidFill>
              </a:rPr>
              <a:t>// return current state of this thread</a:t>
            </a:r>
            <a:endParaRPr lang="en-US" altLang="zh-TW">
              <a:solidFill>
                <a:srgbClr val="CC6600"/>
              </a:solidFill>
            </a:endParaRPr>
          </a:p>
          <a:p>
            <a:pPr eaLnBrk="1" hangingPunct="1">
              <a:lnSpc>
                <a:spcPct val="90000"/>
              </a:lnSpc>
            </a:pPr>
            <a:endParaRPr lang="en-US" altLang="zh-TW">
              <a:solidFill>
                <a:srgbClr val="CC6600"/>
              </a:solidFill>
            </a:endParaRPr>
          </a:p>
          <a:p>
            <a:pPr eaLnBrk="1" hangingPunct="1">
              <a:lnSpc>
                <a:spcPct val="90000"/>
              </a:lnSpc>
            </a:pPr>
            <a:r>
              <a:rPr lang="en-US" altLang="zh-TW">
                <a:solidFill>
                  <a:srgbClr val="008080"/>
                </a:solidFill>
              </a:rPr>
              <a:t>boolean </a:t>
            </a:r>
            <a:r>
              <a:rPr lang="en-US" altLang="zh-TW">
                <a:solidFill>
                  <a:srgbClr val="008080"/>
                </a:solidFill>
                <a:hlinkClick r:id="rId1"/>
              </a:rPr>
              <a:t>isAlive</a:t>
            </a:r>
            <a:r>
              <a:rPr lang="en-US" altLang="zh-TW">
                <a:solidFill>
                  <a:srgbClr val="008080"/>
                </a:solidFill>
              </a:rPr>
              <a:t>()</a:t>
            </a:r>
            <a:endParaRPr lang="en-US" altLang="zh-TW">
              <a:solidFill>
                <a:srgbClr val="008080"/>
              </a:solidFill>
            </a:endParaRPr>
          </a:p>
          <a:p>
            <a:pPr lvl="1" eaLnBrk="1" hangingPunct="1">
              <a:lnSpc>
                <a:spcPct val="90000"/>
              </a:lnSpc>
            </a:pPr>
            <a:r>
              <a:rPr lang="en-US" altLang="zh-TW">
                <a:solidFill>
                  <a:srgbClr val="CC6600"/>
                </a:solidFill>
              </a:rPr>
              <a:t>Tests if this thread has been started and has not yet died.</a:t>
            </a:r>
            <a:r>
              <a:rPr lang="en-US" altLang="zh-TW"/>
              <a:t> </a:t>
            </a:r>
            <a:r>
              <a:rPr lang="en-US" altLang="zh-TW">
                <a:solidFill>
                  <a:srgbClr val="CC6600"/>
                </a:solidFill>
              </a:rPr>
              <a:t>. </a:t>
            </a:r>
            <a:endParaRPr lang="en-US" altLang="zh-TW">
              <a:solidFill>
                <a:srgbClr val="CC6600"/>
              </a:solidFill>
            </a:endParaRPr>
          </a:p>
          <a:p>
            <a:pPr eaLnBrk="1" hangingPunct="1">
              <a:lnSpc>
                <a:spcPct val="90000"/>
              </a:lnSpc>
            </a:pPr>
            <a:r>
              <a:rPr lang="en-US" altLang="zh-TW">
                <a:solidFill>
                  <a:srgbClr val="008080"/>
                </a:solidFill>
              </a:rPr>
              <a:t>boolean </a:t>
            </a:r>
            <a:r>
              <a:rPr lang="en-US" altLang="zh-TW">
                <a:solidFill>
                  <a:srgbClr val="008080"/>
                </a:solidFill>
                <a:hlinkClick r:id="rId2"/>
              </a:rPr>
              <a:t>isDaemon</a:t>
            </a:r>
            <a:r>
              <a:rPr lang="en-US" altLang="zh-TW">
                <a:solidFill>
                  <a:srgbClr val="008080"/>
                </a:solidFill>
              </a:rPr>
              <a:t>()</a:t>
            </a:r>
            <a:endParaRPr lang="en-US" altLang="zh-TW">
              <a:solidFill>
                <a:srgbClr val="008080"/>
              </a:solidFill>
            </a:endParaRPr>
          </a:p>
          <a:p>
            <a:pPr lvl="1" eaLnBrk="1" hangingPunct="1">
              <a:lnSpc>
                <a:spcPct val="90000"/>
              </a:lnSpc>
            </a:pPr>
            <a:r>
              <a:rPr lang="en-US" altLang="zh-TW">
                <a:solidFill>
                  <a:srgbClr val="CC6600"/>
                </a:solidFill>
              </a:rPr>
              <a:t>Tests if this thread is a daemon thread. </a:t>
            </a:r>
            <a:endParaRPr lang="en-US" altLang="zh-TW">
              <a:solidFill>
                <a:srgbClr val="CC6600"/>
              </a:solidFill>
            </a:endParaRPr>
          </a:p>
          <a:p>
            <a:pPr eaLnBrk="1" hangingPunct="1">
              <a:lnSpc>
                <a:spcPct val="90000"/>
              </a:lnSpc>
            </a:pPr>
            <a:r>
              <a:rPr lang="en-US" altLang="zh-TW">
                <a:solidFill>
                  <a:srgbClr val="008080"/>
                </a:solidFill>
              </a:rPr>
              <a:t>boolean </a:t>
            </a:r>
            <a:r>
              <a:rPr lang="en-US" altLang="zh-TW">
                <a:solidFill>
                  <a:srgbClr val="008080"/>
                </a:solidFill>
                <a:hlinkClick r:id="rId3"/>
              </a:rPr>
              <a:t>isInterrupted</a:t>
            </a:r>
            <a:r>
              <a:rPr lang="en-US" altLang="zh-TW">
                <a:solidFill>
                  <a:srgbClr val="008080"/>
                </a:solidFill>
              </a:rPr>
              <a:t>()</a:t>
            </a:r>
            <a:endParaRPr lang="en-US" altLang="zh-TW">
              <a:solidFill>
                <a:srgbClr val="008080"/>
              </a:solidFill>
            </a:endParaRPr>
          </a:p>
          <a:p>
            <a:pPr lvl="1" eaLnBrk="1" hangingPunct="1">
              <a:lnSpc>
                <a:spcPct val="90000"/>
              </a:lnSpc>
            </a:pPr>
            <a:r>
              <a:rPr lang="en-US" altLang="zh-TW">
                <a:solidFill>
                  <a:srgbClr val="CC6600"/>
                </a:solidFill>
              </a:rPr>
              <a:t>Tests whether this thread has been interrupted.</a:t>
            </a:r>
            <a:endParaRPr lang="en-US" altLang="zh-TW">
              <a:solidFill>
                <a:srgbClr val="CC66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zh-TW" sz="1800"/>
              <a:t>State methods for current thread accesses</a:t>
            </a:r>
            <a:endParaRPr lang="en-US" altLang="zh-TW" sz="1800"/>
          </a:p>
        </p:txBody>
      </p:sp>
      <p:sp>
        <p:nvSpPr>
          <p:cNvPr id="13315" name="Rectangle 3"/>
          <p:cNvSpPr>
            <a:spLocks noGrp="1" noChangeArrowheads="1"/>
          </p:cNvSpPr>
          <p:nvPr>
            <p:ph type="body" idx="1"/>
          </p:nvPr>
        </p:nvSpPr>
        <p:spPr/>
        <p:txBody>
          <a:bodyPr/>
          <a:lstStyle/>
          <a:p>
            <a:pPr eaLnBrk="1" hangingPunct="1"/>
            <a:r>
              <a:rPr lang="en-US" altLang="zh-TW">
                <a:solidFill>
                  <a:srgbClr val="008080"/>
                </a:solidFill>
              </a:rPr>
              <a:t>static </a:t>
            </a:r>
            <a:r>
              <a:rPr lang="en-US" altLang="zh-TW">
                <a:solidFill>
                  <a:srgbClr val="008080"/>
                </a:solidFill>
                <a:hlinkClick r:id="rId1" tooltip="class in java.lang"/>
              </a:rPr>
              <a:t>Thread</a:t>
            </a:r>
            <a:r>
              <a:rPr lang="en-US" altLang="zh-TW">
                <a:solidFill>
                  <a:srgbClr val="008080"/>
                </a:solidFill>
              </a:rPr>
              <a:t> </a:t>
            </a:r>
            <a:r>
              <a:rPr lang="en-US" altLang="zh-TW">
                <a:solidFill>
                  <a:srgbClr val="008080"/>
                </a:solidFill>
                <a:hlinkClick r:id="rId2"/>
              </a:rPr>
              <a:t>currentThread</a:t>
            </a:r>
            <a:r>
              <a:rPr lang="en-US" altLang="zh-TW">
                <a:solidFill>
                  <a:srgbClr val="008080"/>
                </a:solidFill>
              </a:rPr>
              <a:t>()</a:t>
            </a:r>
            <a:endParaRPr lang="en-US" altLang="zh-TW">
              <a:solidFill>
                <a:srgbClr val="008080"/>
              </a:solidFill>
            </a:endParaRPr>
          </a:p>
          <a:p>
            <a:pPr lvl="1" eaLnBrk="1" hangingPunct="1"/>
            <a:r>
              <a:rPr lang="en-US" altLang="zh-TW"/>
              <a:t>Returns a reference to the currently executing thread object.</a:t>
            </a:r>
            <a:endParaRPr lang="en-US" altLang="zh-TW"/>
          </a:p>
          <a:p>
            <a:pPr eaLnBrk="1" hangingPunct="1"/>
            <a:r>
              <a:rPr lang="en-US" altLang="zh-TW">
                <a:solidFill>
                  <a:srgbClr val="008080"/>
                </a:solidFill>
              </a:rPr>
              <a:t>static boolean </a:t>
            </a:r>
            <a:r>
              <a:rPr lang="en-US" altLang="zh-TW">
                <a:solidFill>
                  <a:srgbClr val="008080"/>
                </a:solidFill>
                <a:hlinkClick r:id="rId3"/>
              </a:rPr>
              <a:t>holdsLock</a:t>
            </a:r>
            <a:r>
              <a:rPr lang="en-US" altLang="zh-TW">
                <a:solidFill>
                  <a:srgbClr val="008080"/>
                </a:solidFill>
              </a:rPr>
              <a:t>(</a:t>
            </a:r>
            <a:r>
              <a:rPr lang="en-US" altLang="zh-TW">
                <a:solidFill>
                  <a:srgbClr val="008080"/>
                </a:solidFill>
                <a:hlinkClick r:id="rId4" tooltip="class in java.lang"/>
              </a:rPr>
              <a:t>Object</a:t>
            </a:r>
            <a:r>
              <a:rPr lang="en-US" altLang="zh-TW">
                <a:solidFill>
                  <a:srgbClr val="008080"/>
                </a:solidFill>
              </a:rPr>
              <a:t> obj)</a:t>
            </a:r>
            <a:endParaRPr lang="en-US" altLang="zh-TW">
              <a:solidFill>
                <a:srgbClr val="008080"/>
              </a:solidFill>
            </a:endParaRPr>
          </a:p>
          <a:p>
            <a:pPr lvl="1" eaLnBrk="1" hangingPunct="1"/>
            <a:r>
              <a:rPr lang="en-US" altLang="zh-TW"/>
              <a:t>Returns true if and only if the current thread holds the monitor lock on the specified object.</a:t>
            </a:r>
            <a:endParaRPr lang="en-US" altLang="zh-TW"/>
          </a:p>
          <a:p>
            <a:pPr eaLnBrk="1" hangingPunct="1"/>
            <a:r>
              <a:rPr lang="en-US" altLang="zh-TW">
                <a:solidFill>
                  <a:srgbClr val="008080"/>
                </a:solidFill>
              </a:rPr>
              <a:t>static boolean </a:t>
            </a:r>
            <a:r>
              <a:rPr lang="en-US" altLang="zh-TW">
                <a:solidFill>
                  <a:srgbClr val="008080"/>
                </a:solidFill>
                <a:hlinkClick r:id="rId5"/>
              </a:rPr>
              <a:t>interrupted</a:t>
            </a:r>
            <a:r>
              <a:rPr lang="en-US" altLang="zh-TW">
                <a:solidFill>
                  <a:srgbClr val="008080"/>
                </a:solidFill>
              </a:rPr>
              <a:t>()</a:t>
            </a:r>
            <a:endParaRPr lang="en-US" altLang="zh-TW">
              <a:solidFill>
                <a:srgbClr val="008080"/>
              </a:solidFill>
            </a:endParaRPr>
          </a:p>
          <a:p>
            <a:pPr lvl="1" eaLnBrk="1" hangingPunct="1"/>
            <a:r>
              <a:rPr lang="en-US" altLang="zh-TW"/>
              <a:t>Tests whether the current thread has been interrupted.</a:t>
            </a:r>
            <a:endParaRPr lang="en-US" altLang="zh-TW"/>
          </a:p>
          <a:p>
            <a:pPr eaLnBrk="1" hangingPunct="1"/>
            <a:r>
              <a:rPr lang="en-US" altLang="zh-TW">
                <a:solidFill>
                  <a:srgbClr val="008080"/>
                </a:solidFill>
              </a:rPr>
              <a:t>static void </a:t>
            </a:r>
            <a:r>
              <a:rPr lang="en-US" altLang="zh-TW">
                <a:solidFill>
                  <a:srgbClr val="008080"/>
                </a:solidFill>
                <a:hlinkClick r:id="rId6"/>
              </a:rPr>
              <a:t>sleep</a:t>
            </a:r>
            <a:r>
              <a:rPr lang="en-US" altLang="zh-TW">
                <a:solidFill>
                  <a:srgbClr val="008080"/>
                </a:solidFill>
              </a:rPr>
              <a:t>( [ long millis [, int nanos ]] )</a:t>
            </a:r>
            <a:endParaRPr lang="en-US" altLang="zh-TW">
              <a:solidFill>
                <a:srgbClr val="008080"/>
              </a:solidFill>
            </a:endParaRPr>
          </a:p>
          <a:p>
            <a:pPr lvl="1" eaLnBrk="1" hangingPunct="1"/>
            <a:r>
              <a:rPr lang="en-US" altLang="zh-TW"/>
              <a:t>Causes the currently executing thread to sleep (cease execution) for the specified time.</a:t>
            </a:r>
            <a:endParaRPr lang="en-US" altLang="zh-TW"/>
          </a:p>
          <a:p>
            <a:pPr eaLnBrk="1" hangingPunct="1"/>
            <a:r>
              <a:rPr lang="en-US" altLang="zh-TW">
                <a:solidFill>
                  <a:srgbClr val="008080"/>
                </a:solidFill>
              </a:rPr>
              <a:t>static void </a:t>
            </a:r>
            <a:r>
              <a:rPr lang="en-US" altLang="zh-TW">
                <a:solidFill>
                  <a:srgbClr val="008080"/>
                </a:solidFill>
                <a:hlinkClick r:id="rId7"/>
              </a:rPr>
              <a:t>yield</a:t>
            </a:r>
            <a:r>
              <a:rPr lang="en-US" altLang="zh-TW">
                <a:solidFill>
                  <a:srgbClr val="008080"/>
                </a:solidFill>
              </a:rPr>
              <a:t>()</a:t>
            </a:r>
            <a:endParaRPr lang="en-US" altLang="zh-TW">
              <a:solidFill>
                <a:srgbClr val="008080"/>
              </a:solidFill>
            </a:endParaRPr>
          </a:p>
          <a:p>
            <a:pPr lvl="1" eaLnBrk="1" hangingPunct="1"/>
            <a:r>
              <a:rPr lang="en-US" altLang="zh-TW"/>
              <a:t>Causes the currently executing thread object to temporarily pause and allow other threads to execute.</a:t>
            </a:r>
            <a:endParaRPr lang="en-US" altLang="zh-TW"/>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zh-TW"/>
              <a:t>An example</a:t>
            </a:r>
            <a:endParaRPr lang="en-US" altLang="zh-TW"/>
          </a:p>
        </p:txBody>
      </p:sp>
      <p:sp>
        <p:nvSpPr>
          <p:cNvPr id="14339" name="Rectangle 3"/>
          <p:cNvSpPr>
            <a:spLocks noGrp="1" noChangeArrowheads="1"/>
          </p:cNvSpPr>
          <p:nvPr>
            <p:ph type="body" idx="1"/>
          </p:nvPr>
        </p:nvSpPr>
        <p:spPr/>
        <p:txBody>
          <a:bodyPr/>
          <a:lstStyle/>
          <a:p>
            <a:pPr eaLnBrk="1" hangingPunct="1">
              <a:buFont typeface="Symbol" panose="05050102010706020507" pitchFamily="18" charset="2"/>
              <a:buNone/>
            </a:pPr>
            <a:r>
              <a:rPr lang="en-US" altLang="zh-TW" dirty="0">
                <a:solidFill>
                  <a:srgbClr val="008080"/>
                </a:solidFill>
              </a:rPr>
              <a:t>public class </a:t>
            </a:r>
            <a:r>
              <a:rPr lang="en-US" altLang="zh-TW" dirty="0" err="1">
                <a:solidFill>
                  <a:srgbClr val="008080"/>
                </a:solidFill>
              </a:rPr>
              <a:t>SimpleThread</a:t>
            </a:r>
            <a:r>
              <a:rPr lang="en-US" altLang="zh-TW" dirty="0">
                <a:solidFill>
                  <a:srgbClr val="008080"/>
                </a:solidFill>
              </a:rPr>
              <a:t> extends Thread {</a:t>
            </a:r>
            <a:endParaRPr lang="en-US" altLang="zh-TW" dirty="0">
              <a:solidFill>
                <a:srgbClr val="008080"/>
              </a:solidFill>
            </a:endParaRPr>
          </a:p>
          <a:p>
            <a:pPr eaLnBrk="1" hangingPunct="1">
              <a:buFont typeface="Symbol" panose="05050102010706020507" pitchFamily="18" charset="2"/>
              <a:buNone/>
            </a:pPr>
            <a:r>
              <a:rPr lang="en-US" altLang="zh-TW" dirty="0">
                <a:solidFill>
                  <a:srgbClr val="008080"/>
                </a:solidFill>
              </a:rPr>
              <a:t>            public </a:t>
            </a:r>
            <a:r>
              <a:rPr lang="en-US" altLang="zh-TW" dirty="0" err="1">
                <a:solidFill>
                  <a:srgbClr val="008080"/>
                </a:solidFill>
              </a:rPr>
              <a:t>SimpleThread</a:t>
            </a:r>
            <a:r>
              <a:rPr lang="en-US" altLang="zh-TW" dirty="0">
                <a:solidFill>
                  <a:srgbClr val="008080"/>
                </a:solidFill>
              </a:rPr>
              <a:t>(String </a:t>
            </a:r>
            <a:r>
              <a:rPr lang="en-US" altLang="zh-TW" dirty="0">
                <a:solidFill>
                  <a:schemeClr val="accent2"/>
                </a:solidFill>
              </a:rPr>
              <a:t>str</a:t>
            </a:r>
            <a:r>
              <a:rPr lang="en-US" altLang="zh-TW" dirty="0">
                <a:solidFill>
                  <a:srgbClr val="008080"/>
                </a:solidFill>
              </a:rPr>
              <a:t>) { super(str);  } </a:t>
            </a:r>
            <a:endParaRPr lang="en-US" altLang="zh-TW" dirty="0">
              <a:solidFill>
                <a:srgbClr val="008080"/>
              </a:solidFill>
            </a:endParaRPr>
          </a:p>
          <a:p>
            <a:pPr eaLnBrk="1" hangingPunct="1">
              <a:buNone/>
            </a:pPr>
            <a:r>
              <a:rPr lang="en-US" altLang="zh-TW" dirty="0">
                <a:solidFill>
                  <a:srgbClr val="008080"/>
                </a:solidFill>
              </a:rPr>
              <a:t> </a:t>
            </a:r>
            <a:r>
              <a:rPr lang="en-US" altLang="zh-TW" sz="1600" dirty="0">
                <a:solidFill>
                  <a:srgbClr val="008080"/>
                </a:solidFill>
              </a:rPr>
              <a:t>// The constructor takes a String parameter (str) and passes it to the parent Thread class constructor, This sets the thread's name, which can be retrieved later with </a:t>
            </a:r>
            <a:r>
              <a:rPr lang="en-US" altLang="zh-TW" sz="1600" dirty="0" err="1">
                <a:solidFill>
                  <a:srgbClr val="008080"/>
                </a:solidFill>
              </a:rPr>
              <a:t>getName</a:t>
            </a:r>
            <a:r>
              <a:rPr lang="en-US" altLang="zh-TW" sz="1600" dirty="0">
                <a:solidFill>
                  <a:srgbClr val="008080"/>
                </a:solidFill>
              </a:rPr>
              <a:t>()</a:t>
            </a:r>
            <a:endParaRPr lang="en-US" altLang="zh-TW" sz="1600" dirty="0">
              <a:solidFill>
                <a:srgbClr val="008080"/>
              </a:solidFill>
            </a:endParaRPr>
          </a:p>
          <a:p>
            <a:pPr eaLnBrk="1" hangingPunct="1">
              <a:buFont typeface="Symbol" panose="05050102010706020507" pitchFamily="18" charset="2"/>
              <a:buNone/>
            </a:pPr>
            <a:r>
              <a:rPr lang="en-US" altLang="zh-TW" dirty="0">
                <a:solidFill>
                  <a:srgbClr val="008080"/>
                </a:solidFill>
              </a:rPr>
              <a:t>            public void run() {</a:t>
            </a:r>
            <a:endParaRPr lang="en-US" altLang="zh-TW" dirty="0">
              <a:solidFill>
                <a:srgbClr val="008080"/>
              </a:solidFill>
            </a:endParaRPr>
          </a:p>
          <a:p>
            <a:pPr eaLnBrk="1" hangingPunct="1">
              <a:buFont typeface="Symbol" panose="05050102010706020507" pitchFamily="18" charset="2"/>
              <a:buNone/>
            </a:pPr>
            <a:r>
              <a:rPr lang="en-US" altLang="zh-TW" dirty="0">
                <a:solidFill>
                  <a:srgbClr val="008080"/>
                </a:solidFill>
              </a:rPr>
              <a:t>                for (int </a:t>
            </a:r>
            <a:r>
              <a:rPr lang="en-US" altLang="zh-TW" dirty="0" err="1">
                <a:solidFill>
                  <a:srgbClr val="008080"/>
                </a:solidFill>
              </a:rPr>
              <a:t>i</a:t>
            </a:r>
            <a:r>
              <a:rPr lang="en-US" altLang="zh-TW" dirty="0">
                <a:solidFill>
                  <a:srgbClr val="008080"/>
                </a:solidFill>
              </a:rPr>
              <a:t> = 0; </a:t>
            </a:r>
            <a:r>
              <a:rPr lang="en-US" altLang="zh-TW" dirty="0" err="1">
                <a:solidFill>
                  <a:srgbClr val="008080"/>
                </a:solidFill>
              </a:rPr>
              <a:t>i</a:t>
            </a:r>
            <a:r>
              <a:rPr lang="en-US" altLang="zh-TW" dirty="0">
                <a:solidFill>
                  <a:srgbClr val="008080"/>
                </a:solidFill>
              </a:rPr>
              <a:t> &lt; 10; </a:t>
            </a:r>
            <a:r>
              <a:rPr lang="en-US" altLang="zh-TW" dirty="0" err="1">
                <a:solidFill>
                  <a:srgbClr val="008080"/>
                </a:solidFill>
              </a:rPr>
              <a:t>i</a:t>
            </a:r>
            <a:r>
              <a:rPr lang="en-US" altLang="zh-TW" dirty="0">
                <a:solidFill>
                  <a:srgbClr val="008080"/>
                </a:solidFill>
              </a:rPr>
              <a:t>++) {</a:t>
            </a:r>
            <a:endParaRPr lang="en-US" altLang="zh-TW" dirty="0">
              <a:solidFill>
                <a:srgbClr val="008080"/>
              </a:solidFill>
            </a:endParaRPr>
          </a:p>
          <a:p>
            <a:pPr eaLnBrk="1" hangingPunct="1">
              <a:buFont typeface="Symbol" panose="05050102010706020507" pitchFamily="18" charset="2"/>
              <a:buNone/>
            </a:pPr>
            <a:r>
              <a:rPr lang="en-US" altLang="zh-TW" dirty="0">
                <a:solidFill>
                  <a:srgbClr val="008080"/>
                </a:solidFill>
              </a:rPr>
              <a:t>                    </a:t>
            </a:r>
            <a:r>
              <a:rPr lang="en-US" altLang="zh-TW" dirty="0" err="1">
                <a:solidFill>
                  <a:srgbClr val="008080"/>
                </a:solidFill>
              </a:rPr>
              <a:t>System.out.println</a:t>
            </a:r>
            <a:r>
              <a:rPr lang="en-US" altLang="zh-TW" dirty="0">
                <a:solidFill>
                  <a:srgbClr val="008080"/>
                </a:solidFill>
              </a:rPr>
              <a:t>(</a:t>
            </a:r>
            <a:r>
              <a:rPr lang="en-US" altLang="zh-TW" dirty="0" err="1">
                <a:solidFill>
                  <a:srgbClr val="008080"/>
                </a:solidFill>
              </a:rPr>
              <a:t>i</a:t>
            </a:r>
            <a:r>
              <a:rPr lang="en-US" altLang="zh-TW" dirty="0">
                <a:solidFill>
                  <a:srgbClr val="008080"/>
                </a:solidFill>
              </a:rPr>
              <a:t> + " " + </a:t>
            </a:r>
            <a:r>
              <a:rPr lang="en-US" altLang="zh-TW" dirty="0" err="1">
                <a:solidFill>
                  <a:schemeClr val="accent2"/>
                </a:solidFill>
              </a:rPr>
              <a:t>getName</a:t>
            </a:r>
            <a:r>
              <a:rPr lang="en-US" altLang="zh-TW" dirty="0">
                <a:solidFill>
                  <a:srgbClr val="008080"/>
                </a:solidFill>
              </a:rPr>
              <a:t>());</a:t>
            </a:r>
            <a:endParaRPr lang="en-US" altLang="zh-TW" dirty="0">
              <a:solidFill>
                <a:srgbClr val="008080"/>
              </a:solidFill>
            </a:endParaRPr>
          </a:p>
          <a:p>
            <a:pPr eaLnBrk="1" hangingPunct="1">
              <a:buFont typeface="Symbol" panose="05050102010706020507" pitchFamily="18" charset="2"/>
              <a:buNone/>
            </a:pPr>
            <a:r>
              <a:rPr lang="en-US" altLang="zh-TW" dirty="0">
                <a:solidFill>
                  <a:srgbClr val="008080"/>
                </a:solidFill>
              </a:rPr>
              <a:t>                    try { </a:t>
            </a:r>
            <a:r>
              <a:rPr lang="en-US" altLang="zh-TW" dirty="0">
                <a:solidFill>
                  <a:srgbClr val="CC6600"/>
                </a:solidFill>
              </a:rPr>
              <a:t>// at this point, current thread is ‘this’.</a:t>
            </a:r>
            <a:endParaRPr lang="en-US" altLang="zh-TW" dirty="0">
              <a:solidFill>
                <a:srgbClr val="CC6600"/>
              </a:solidFill>
            </a:endParaRPr>
          </a:p>
          <a:p>
            <a:pPr eaLnBrk="1" hangingPunct="1">
              <a:buFont typeface="Symbol" panose="05050102010706020507" pitchFamily="18" charset="2"/>
              <a:buNone/>
            </a:pPr>
            <a:r>
              <a:rPr lang="en-US" altLang="zh-TW" dirty="0">
                <a:solidFill>
                  <a:srgbClr val="008080"/>
                </a:solidFill>
              </a:rPr>
              <a:t>                        </a:t>
            </a:r>
            <a:r>
              <a:rPr lang="en-US" altLang="zh-TW" dirty="0" err="1">
                <a:solidFill>
                  <a:schemeClr val="accent2"/>
                </a:solidFill>
              </a:rPr>
              <a:t>Thread.</a:t>
            </a:r>
            <a:r>
              <a:rPr lang="en-US" altLang="zh-TW" dirty="0" err="1">
                <a:solidFill>
                  <a:srgbClr val="FF0000"/>
                </a:solidFill>
              </a:rPr>
              <a:t>sleep</a:t>
            </a:r>
            <a:r>
              <a:rPr lang="en-US" altLang="zh-TW" dirty="0">
                <a:solidFill>
                  <a:srgbClr val="008080"/>
                </a:solidFill>
              </a:rPr>
              <a:t>((long)(</a:t>
            </a:r>
            <a:r>
              <a:rPr lang="en-US" altLang="zh-TW" dirty="0" err="1">
                <a:solidFill>
                  <a:srgbClr val="008080"/>
                </a:solidFill>
              </a:rPr>
              <a:t>Math.random</a:t>
            </a:r>
            <a:r>
              <a:rPr lang="en-US" altLang="zh-TW" dirty="0">
                <a:solidFill>
                  <a:srgbClr val="008080"/>
                </a:solidFill>
              </a:rPr>
              <a:t>() * 1000));</a:t>
            </a:r>
            <a:endParaRPr lang="en-US" altLang="zh-TW" dirty="0">
              <a:solidFill>
                <a:srgbClr val="008080"/>
              </a:solidFill>
            </a:endParaRPr>
          </a:p>
          <a:p>
            <a:pPr eaLnBrk="1" hangingPunct="1">
              <a:buFont typeface="Symbol" panose="05050102010706020507" pitchFamily="18" charset="2"/>
              <a:buNone/>
            </a:pPr>
            <a:r>
              <a:rPr lang="en-US" altLang="zh-TW" dirty="0">
                <a:solidFill>
                  <a:srgbClr val="008080"/>
                </a:solidFill>
              </a:rPr>
              <a:t>                    } catch (</a:t>
            </a:r>
            <a:r>
              <a:rPr lang="en-US" altLang="zh-TW" dirty="0" err="1">
                <a:solidFill>
                  <a:srgbClr val="008080"/>
                </a:solidFill>
              </a:rPr>
              <a:t>InterruptedException</a:t>
            </a:r>
            <a:r>
              <a:rPr lang="en-US" altLang="zh-TW" dirty="0">
                <a:solidFill>
                  <a:srgbClr val="008080"/>
                </a:solidFill>
              </a:rPr>
              <a:t> e) {}</a:t>
            </a:r>
            <a:endParaRPr lang="en-US" altLang="zh-TW" dirty="0">
              <a:solidFill>
                <a:srgbClr val="008080"/>
              </a:solidFill>
            </a:endParaRPr>
          </a:p>
          <a:p>
            <a:pPr eaLnBrk="1" hangingPunct="1">
              <a:buFont typeface="Symbol" panose="05050102010706020507" pitchFamily="18" charset="2"/>
              <a:buNone/>
            </a:pPr>
            <a:r>
              <a:rPr lang="en-US" altLang="zh-TW" dirty="0">
                <a:solidFill>
                  <a:srgbClr val="008080"/>
                </a:solidFill>
              </a:rPr>
              <a:t>                }</a:t>
            </a:r>
            <a:endParaRPr lang="en-US" altLang="zh-TW" dirty="0">
              <a:solidFill>
                <a:srgbClr val="008080"/>
              </a:solidFill>
            </a:endParaRPr>
          </a:p>
          <a:p>
            <a:pPr eaLnBrk="1" hangingPunct="1">
              <a:buFont typeface="Symbol" panose="05050102010706020507" pitchFamily="18" charset="2"/>
              <a:buNone/>
            </a:pPr>
            <a:r>
              <a:rPr lang="en-US" altLang="zh-TW" dirty="0">
                <a:solidFill>
                  <a:srgbClr val="008080"/>
                </a:solidFill>
              </a:rPr>
              <a:t>                </a:t>
            </a:r>
            <a:r>
              <a:rPr lang="en-US" altLang="zh-TW" dirty="0" err="1">
                <a:solidFill>
                  <a:srgbClr val="008080"/>
                </a:solidFill>
              </a:rPr>
              <a:t>System.out.println</a:t>
            </a:r>
            <a:r>
              <a:rPr lang="en-US" altLang="zh-TW" dirty="0">
                <a:solidFill>
                  <a:srgbClr val="008080"/>
                </a:solidFill>
              </a:rPr>
              <a:t>("DONE! " + </a:t>
            </a:r>
            <a:r>
              <a:rPr lang="en-US" altLang="zh-TW" dirty="0" err="1">
                <a:solidFill>
                  <a:srgbClr val="008080"/>
                </a:solidFill>
              </a:rPr>
              <a:t>getName</a:t>
            </a:r>
            <a:r>
              <a:rPr lang="en-US" altLang="zh-TW" dirty="0">
                <a:solidFill>
                  <a:srgbClr val="008080"/>
                </a:solidFill>
              </a:rPr>
              <a:t>());          }        }</a:t>
            </a:r>
            <a:endParaRPr lang="en-US" altLang="zh-TW" dirty="0">
              <a:solidFill>
                <a:srgbClr val="00808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zh-TW"/>
              <a:t>main program</a:t>
            </a:r>
            <a:endParaRPr lang="en-US" altLang="zh-TW"/>
          </a:p>
        </p:txBody>
      </p:sp>
      <p:sp>
        <p:nvSpPr>
          <p:cNvPr id="15363" name="Rectangle 3"/>
          <p:cNvSpPr>
            <a:spLocks noGrp="1" noChangeArrowheads="1"/>
          </p:cNvSpPr>
          <p:nvPr>
            <p:ph type="body" idx="1"/>
          </p:nvPr>
        </p:nvSpPr>
        <p:spPr/>
        <p:txBody>
          <a:bodyPr/>
          <a:lstStyle/>
          <a:p>
            <a:pPr eaLnBrk="1" hangingPunct="1">
              <a:buFont typeface="Symbol" panose="05050102010706020507" pitchFamily="18" charset="2"/>
              <a:buNone/>
            </a:pPr>
            <a:r>
              <a:rPr lang="en-US" altLang="zh-TW" dirty="0">
                <a:solidFill>
                  <a:srgbClr val="008080"/>
                </a:solidFill>
              </a:rPr>
              <a:t>public class </a:t>
            </a:r>
            <a:r>
              <a:rPr lang="en-US" altLang="zh-TW" dirty="0" err="1">
                <a:solidFill>
                  <a:srgbClr val="008080"/>
                </a:solidFill>
              </a:rPr>
              <a:t>TwoThreadsTest</a:t>
            </a:r>
            <a:r>
              <a:rPr lang="en-US" altLang="zh-TW" dirty="0">
                <a:solidFill>
                  <a:srgbClr val="008080"/>
                </a:solidFill>
              </a:rPr>
              <a:t> {</a:t>
            </a:r>
            <a:endParaRPr lang="en-US" altLang="zh-TW" dirty="0">
              <a:solidFill>
                <a:srgbClr val="008080"/>
              </a:solidFill>
            </a:endParaRPr>
          </a:p>
          <a:p>
            <a:pPr eaLnBrk="1" hangingPunct="1">
              <a:buFont typeface="Symbol" panose="05050102010706020507" pitchFamily="18" charset="2"/>
              <a:buNone/>
            </a:pPr>
            <a:r>
              <a:rPr lang="en-US" altLang="zh-TW" dirty="0">
                <a:solidFill>
                  <a:srgbClr val="008080"/>
                </a:solidFill>
              </a:rPr>
              <a:t>            public static void main (String[] </a:t>
            </a:r>
            <a:r>
              <a:rPr lang="en-US" altLang="zh-TW" dirty="0" err="1">
                <a:solidFill>
                  <a:srgbClr val="008080"/>
                </a:solidFill>
              </a:rPr>
              <a:t>args</a:t>
            </a:r>
            <a:r>
              <a:rPr lang="en-US" altLang="zh-TW" dirty="0">
                <a:solidFill>
                  <a:srgbClr val="008080"/>
                </a:solidFill>
              </a:rPr>
              <a:t>) {</a:t>
            </a:r>
            <a:endParaRPr lang="en-US" altLang="zh-TW" dirty="0">
              <a:solidFill>
                <a:srgbClr val="008080"/>
              </a:solidFill>
            </a:endParaRPr>
          </a:p>
          <a:p>
            <a:pPr eaLnBrk="1" hangingPunct="1">
              <a:buFont typeface="Symbol" panose="05050102010706020507" pitchFamily="18" charset="2"/>
              <a:buNone/>
            </a:pPr>
            <a:r>
              <a:rPr lang="en-US" altLang="zh-TW" dirty="0">
                <a:solidFill>
                  <a:srgbClr val="008080"/>
                </a:solidFill>
              </a:rPr>
              <a:t>                new </a:t>
            </a:r>
            <a:r>
              <a:rPr lang="en-US" altLang="zh-TW" dirty="0" err="1">
                <a:solidFill>
                  <a:srgbClr val="008080"/>
                </a:solidFill>
              </a:rPr>
              <a:t>SimpleThread</a:t>
            </a:r>
            <a:r>
              <a:rPr lang="en-US" altLang="zh-TW" dirty="0">
                <a:solidFill>
                  <a:srgbClr val="008080"/>
                </a:solidFill>
              </a:rPr>
              <a:t>(“Thread1").start();</a:t>
            </a:r>
            <a:endParaRPr lang="en-US" altLang="zh-TW" dirty="0">
              <a:solidFill>
                <a:srgbClr val="008080"/>
              </a:solidFill>
            </a:endParaRPr>
          </a:p>
          <a:p>
            <a:pPr eaLnBrk="1" hangingPunct="1">
              <a:buFont typeface="Symbol" panose="05050102010706020507" pitchFamily="18" charset="2"/>
              <a:buNone/>
            </a:pPr>
            <a:r>
              <a:rPr lang="en-US" altLang="zh-TW" dirty="0">
                <a:solidFill>
                  <a:srgbClr val="008080"/>
                </a:solidFill>
              </a:rPr>
              <a:t>                new </a:t>
            </a:r>
            <a:r>
              <a:rPr lang="en-US" altLang="zh-TW" dirty="0" err="1">
                <a:solidFill>
                  <a:srgbClr val="008080"/>
                </a:solidFill>
              </a:rPr>
              <a:t>SimpleThread</a:t>
            </a:r>
            <a:r>
              <a:rPr lang="en-US" altLang="zh-TW" dirty="0">
                <a:solidFill>
                  <a:srgbClr val="008080"/>
                </a:solidFill>
              </a:rPr>
              <a:t>(“Thread2").start();            } }</a:t>
            </a:r>
            <a:endParaRPr lang="en-US" altLang="zh-TW" dirty="0"/>
          </a:p>
          <a:p>
            <a:pPr eaLnBrk="1" hangingPunct="1">
              <a:buFont typeface="Symbol" panose="05050102010706020507" pitchFamily="18" charset="2"/>
              <a:buNone/>
            </a:pPr>
            <a:r>
              <a:rPr lang="en-US" altLang="zh-TW" dirty="0"/>
              <a:t>possible output:</a:t>
            </a:r>
            <a:endParaRPr lang="en-US" altLang="zh-TW" dirty="0">
              <a:solidFill>
                <a:srgbClr val="008080"/>
              </a:solidFill>
            </a:endParaRPr>
          </a:p>
        </p:txBody>
      </p:sp>
      <p:grpSp>
        <p:nvGrpSpPr>
          <p:cNvPr id="15364" name="Group 8"/>
          <p:cNvGrpSpPr/>
          <p:nvPr/>
        </p:nvGrpSpPr>
        <p:grpSpPr bwMode="auto">
          <a:xfrm>
            <a:off x="3810000" y="2420938"/>
            <a:ext cx="7239000" cy="4487862"/>
            <a:chOff x="1680" y="1525"/>
            <a:chExt cx="4560" cy="2827"/>
          </a:xfrm>
        </p:grpSpPr>
        <p:sp>
          <p:nvSpPr>
            <p:cNvPr id="15365" name="Text Box 4"/>
            <p:cNvSpPr txBox="1">
              <a:spLocks noChangeArrowheads="1"/>
            </p:cNvSpPr>
            <p:nvPr/>
          </p:nvSpPr>
          <p:spPr bwMode="auto">
            <a:xfrm>
              <a:off x="3974" y="1776"/>
              <a:ext cx="2266" cy="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000">
                  <a:solidFill>
                    <a:schemeClr val="tx1"/>
                  </a:solidFill>
                  <a:latin typeface="Arial" panose="020B0604020202020204" pitchFamily="34" charset="0"/>
                  <a:ea typeface="PMingLiU" pitchFamily="18" charset="-120"/>
                </a:defRPr>
              </a:lvl1pPr>
              <a:lvl2pPr marL="742950" indent="-285750">
                <a:defRPr kumimoji="1" sz="2000">
                  <a:solidFill>
                    <a:schemeClr val="tx1"/>
                  </a:solidFill>
                  <a:latin typeface="Arial" panose="020B0604020202020204" pitchFamily="34" charset="0"/>
                  <a:ea typeface="PMingLiU" pitchFamily="18" charset="-120"/>
                </a:defRPr>
              </a:lvl2pPr>
              <a:lvl3pPr marL="1143000" indent="-228600">
                <a:defRPr kumimoji="1" sz="2000">
                  <a:solidFill>
                    <a:schemeClr val="tx1"/>
                  </a:solidFill>
                  <a:latin typeface="Arial" panose="020B0604020202020204" pitchFamily="34" charset="0"/>
                  <a:ea typeface="PMingLiU" pitchFamily="18" charset="-120"/>
                </a:defRPr>
              </a:lvl3pPr>
              <a:lvl4pPr marL="1600200" indent="-228600">
                <a:defRPr kumimoji="1" sz="2000">
                  <a:solidFill>
                    <a:schemeClr val="tx1"/>
                  </a:solidFill>
                  <a:latin typeface="Arial" panose="020B0604020202020204" pitchFamily="34" charset="0"/>
                  <a:ea typeface="PMingLiU" pitchFamily="18" charset="-120"/>
                </a:defRPr>
              </a:lvl4pPr>
              <a:lvl5pPr marL="2057400" indent="-228600">
                <a:defRPr kumimoji="1" sz="2000">
                  <a:solidFill>
                    <a:schemeClr val="tx1"/>
                  </a:solidFill>
                  <a:latin typeface="Arial" panose="020B0604020202020204" pitchFamily="34" charset="0"/>
                  <a:ea typeface="PMingLiU" pitchFamily="18" charset="-120"/>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9pPr>
            </a:lstStyle>
            <a:p>
              <a:pPr eaLnBrk="1" hangingPunct="1">
                <a:lnSpc>
                  <a:spcPct val="90000"/>
                </a:lnSpc>
                <a:spcBef>
                  <a:spcPct val="20000"/>
                </a:spcBef>
              </a:pPr>
              <a:r>
                <a:rPr lang="en-US" altLang="zh-TW" sz="2400" b="1">
                  <a:solidFill>
                    <a:srgbClr val="6E9DB0"/>
                  </a:solidFill>
                  <a:latin typeface="Arial Narrow" panose="020B0606020202030204" pitchFamily="34" charset="0"/>
                </a:rPr>
                <a:t>DONE! Thread2</a:t>
              </a:r>
              <a:endParaRPr lang="en-US" altLang="zh-TW" sz="2400" b="1">
                <a:solidFill>
                  <a:srgbClr val="6E9DB0"/>
                </a:solidFill>
                <a:latin typeface="Arial Narrow" panose="020B0606020202030204" pitchFamily="34" charset="0"/>
              </a:endParaRPr>
            </a:p>
            <a:p>
              <a:pPr eaLnBrk="1" hangingPunct="1">
                <a:lnSpc>
                  <a:spcPct val="90000"/>
                </a:lnSpc>
                <a:spcBef>
                  <a:spcPct val="20000"/>
                </a:spcBef>
              </a:pPr>
              <a:r>
                <a:rPr lang="en-US" altLang="zh-TW" sz="2400" b="1">
                  <a:solidFill>
                    <a:srgbClr val="6600CC"/>
                  </a:solidFill>
                  <a:latin typeface="Arial Narrow" panose="020B0606020202030204" pitchFamily="34" charset="0"/>
                </a:rPr>
                <a:t>9 Thread1</a:t>
              </a:r>
              <a:endParaRPr lang="en-US" altLang="zh-TW" sz="2400" b="1">
                <a:solidFill>
                  <a:srgbClr val="6600CC"/>
                </a:solidFill>
                <a:latin typeface="Arial Narrow" panose="020B0606020202030204" pitchFamily="34" charset="0"/>
              </a:endParaRPr>
            </a:p>
            <a:p>
              <a:pPr eaLnBrk="1" hangingPunct="1">
                <a:lnSpc>
                  <a:spcPct val="90000"/>
                </a:lnSpc>
                <a:spcBef>
                  <a:spcPct val="20000"/>
                </a:spcBef>
              </a:pPr>
              <a:r>
                <a:rPr lang="en-US" altLang="zh-TW" sz="2400" b="1">
                  <a:solidFill>
                    <a:srgbClr val="6600CC"/>
                  </a:solidFill>
                  <a:latin typeface="Arial Narrow" panose="020B0606020202030204" pitchFamily="34" charset="0"/>
                </a:rPr>
                <a:t> DONE! Thread1</a:t>
              </a:r>
              <a:endParaRPr lang="en-US" altLang="zh-TW" sz="2400" b="1">
                <a:solidFill>
                  <a:srgbClr val="6600CC"/>
                </a:solidFill>
                <a:latin typeface="Arial Narrow" panose="020B0606020202030204" pitchFamily="34" charset="0"/>
              </a:endParaRPr>
            </a:p>
            <a:p>
              <a:endParaRPr lang="en-US" altLang="zh-TW">
                <a:solidFill>
                  <a:srgbClr val="6E9DB0"/>
                </a:solidFill>
              </a:endParaRPr>
            </a:p>
          </p:txBody>
        </p:sp>
        <p:sp>
          <p:nvSpPr>
            <p:cNvPr id="15366" name="Text Box 5"/>
            <p:cNvSpPr txBox="1">
              <a:spLocks noChangeArrowheads="1"/>
            </p:cNvSpPr>
            <p:nvPr/>
          </p:nvSpPr>
          <p:spPr bwMode="auto">
            <a:xfrm>
              <a:off x="2640" y="1728"/>
              <a:ext cx="1224" cy="2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kumimoji="1" sz="2000">
                  <a:solidFill>
                    <a:schemeClr val="tx1"/>
                  </a:solidFill>
                  <a:latin typeface="Arial" panose="020B0604020202020204" pitchFamily="34" charset="0"/>
                  <a:ea typeface="PMingLiU" pitchFamily="18" charset="-120"/>
                </a:defRPr>
              </a:lvl1pPr>
              <a:lvl2pPr marL="742950" indent="-285750">
                <a:defRPr kumimoji="1" sz="2000">
                  <a:solidFill>
                    <a:schemeClr val="tx1"/>
                  </a:solidFill>
                  <a:latin typeface="Arial" panose="020B0604020202020204" pitchFamily="34" charset="0"/>
                  <a:ea typeface="PMingLiU" pitchFamily="18" charset="-120"/>
                </a:defRPr>
              </a:lvl2pPr>
              <a:lvl3pPr marL="1143000" indent="-228600">
                <a:defRPr kumimoji="1" sz="2000">
                  <a:solidFill>
                    <a:schemeClr val="tx1"/>
                  </a:solidFill>
                  <a:latin typeface="Arial" panose="020B0604020202020204" pitchFamily="34" charset="0"/>
                  <a:ea typeface="PMingLiU" pitchFamily="18" charset="-120"/>
                </a:defRPr>
              </a:lvl3pPr>
              <a:lvl4pPr marL="1600200" indent="-228600">
                <a:defRPr kumimoji="1" sz="2000">
                  <a:solidFill>
                    <a:schemeClr val="tx1"/>
                  </a:solidFill>
                  <a:latin typeface="Arial" panose="020B0604020202020204" pitchFamily="34" charset="0"/>
                  <a:ea typeface="PMingLiU" pitchFamily="18" charset="-120"/>
                </a:defRPr>
              </a:lvl4pPr>
              <a:lvl5pPr marL="2057400" indent="-228600">
                <a:defRPr kumimoji="1" sz="2000">
                  <a:solidFill>
                    <a:schemeClr val="tx1"/>
                  </a:solidFill>
                  <a:latin typeface="Arial" panose="020B0604020202020204" pitchFamily="34" charset="0"/>
                  <a:ea typeface="PMingLiU" pitchFamily="18" charset="-120"/>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9pPr>
            </a:lstStyle>
            <a:p>
              <a:pPr eaLnBrk="1" hangingPunct="1">
                <a:lnSpc>
                  <a:spcPct val="90000"/>
                </a:lnSpc>
                <a:spcBef>
                  <a:spcPct val="20000"/>
                </a:spcBef>
              </a:pPr>
              <a:r>
                <a:rPr lang="en-US" altLang="zh-TW" sz="2400" b="1">
                  <a:solidFill>
                    <a:srgbClr val="6E9DB0"/>
                  </a:solidFill>
                  <a:latin typeface="Arial Narrow" panose="020B0606020202030204" pitchFamily="34" charset="0"/>
                </a:rPr>
                <a:t>        </a:t>
              </a:r>
              <a:r>
                <a:rPr lang="en-US" altLang="zh-TW" sz="2400" b="1">
                  <a:solidFill>
                    <a:srgbClr val="6600CC"/>
                  </a:solidFill>
                  <a:latin typeface="Arial Narrow" panose="020B0606020202030204" pitchFamily="34" charset="0"/>
                </a:rPr>
                <a:t>5 Thread1</a:t>
              </a:r>
              <a:endParaRPr lang="en-US" altLang="zh-TW" sz="2400" b="1">
                <a:solidFill>
                  <a:srgbClr val="6600CC"/>
                </a:solidFill>
                <a:latin typeface="Arial Narrow" panose="020B0606020202030204" pitchFamily="34" charset="0"/>
              </a:endParaRPr>
            </a:p>
            <a:p>
              <a:pPr eaLnBrk="1" hangingPunct="1">
                <a:lnSpc>
                  <a:spcPct val="90000"/>
                </a:lnSpc>
                <a:spcBef>
                  <a:spcPct val="20000"/>
                </a:spcBef>
              </a:pPr>
              <a:r>
                <a:rPr lang="en-US" altLang="zh-TW" sz="2400" b="1">
                  <a:solidFill>
                    <a:srgbClr val="6E9DB0"/>
                  </a:solidFill>
                  <a:latin typeface="Arial Narrow" panose="020B0606020202030204" pitchFamily="34" charset="0"/>
                </a:rPr>
                <a:t>        5 Thread2</a:t>
              </a:r>
              <a:endParaRPr lang="en-US" altLang="zh-TW" sz="2400" b="1">
                <a:solidFill>
                  <a:srgbClr val="6E9DB0"/>
                </a:solidFill>
                <a:latin typeface="Arial Narrow" panose="020B0606020202030204" pitchFamily="34" charset="0"/>
              </a:endParaRPr>
            </a:p>
            <a:p>
              <a:pPr eaLnBrk="1" hangingPunct="1">
                <a:lnSpc>
                  <a:spcPct val="90000"/>
                </a:lnSpc>
                <a:spcBef>
                  <a:spcPct val="20000"/>
                </a:spcBef>
              </a:pPr>
              <a:r>
                <a:rPr lang="en-US" altLang="zh-TW" sz="2400" b="1">
                  <a:solidFill>
                    <a:srgbClr val="6E9DB0"/>
                  </a:solidFill>
                  <a:latin typeface="Arial Narrow" panose="020B0606020202030204" pitchFamily="34" charset="0"/>
                </a:rPr>
                <a:t>        6 Thread2</a:t>
              </a:r>
              <a:endParaRPr lang="en-US" altLang="zh-TW" sz="2400" b="1">
                <a:solidFill>
                  <a:srgbClr val="6E9DB0"/>
                </a:solidFill>
                <a:latin typeface="Arial Narrow" panose="020B0606020202030204" pitchFamily="34" charset="0"/>
              </a:endParaRPr>
            </a:p>
            <a:p>
              <a:pPr eaLnBrk="1" hangingPunct="1">
                <a:lnSpc>
                  <a:spcPct val="90000"/>
                </a:lnSpc>
                <a:spcBef>
                  <a:spcPct val="20000"/>
                </a:spcBef>
              </a:pPr>
              <a:r>
                <a:rPr lang="en-US" altLang="zh-TW" sz="2400" b="1">
                  <a:solidFill>
                    <a:srgbClr val="6E9DB0"/>
                  </a:solidFill>
                  <a:latin typeface="Arial Narrow" panose="020B0606020202030204" pitchFamily="34" charset="0"/>
                </a:rPr>
                <a:t>        </a:t>
              </a:r>
              <a:r>
                <a:rPr lang="en-US" altLang="zh-TW" sz="2400" b="1">
                  <a:solidFill>
                    <a:srgbClr val="6600CC"/>
                  </a:solidFill>
                  <a:latin typeface="Arial Narrow" panose="020B0606020202030204" pitchFamily="34" charset="0"/>
                </a:rPr>
                <a:t>6 Thread1</a:t>
              </a:r>
              <a:endParaRPr lang="en-US" altLang="zh-TW" sz="2400" b="1">
                <a:solidFill>
                  <a:srgbClr val="6600CC"/>
                </a:solidFill>
                <a:latin typeface="Arial Narrow" panose="020B0606020202030204" pitchFamily="34" charset="0"/>
              </a:endParaRPr>
            </a:p>
            <a:p>
              <a:pPr eaLnBrk="1" hangingPunct="1">
                <a:lnSpc>
                  <a:spcPct val="90000"/>
                </a:lnSpc>
                <a:spcBef>
                  <a:spcPct val="20000"/>
                </a:spcBef>
              </a:pPr>
              <a:r>
                <a:rPr lang="en-US" altLang="zh-TW" sz="2400" b="1">
                  <a:solidFill>
                    <a:srgbClr val="6E9DB0"/>
                  </a:solidFill>
                  <a:latin typeface="Arial Narrow" panose="020B0606020202030204" pitchFamily="34" charset="0"/>
                </a:rPr>
                <a:t>        </a:t>
              </a:r>
              <a:r>
                <a:rPr lang="en-US" altLang="zh-TW" sz="2400" b="1">
                  <a:solidFill>
                    <a:srgbClr val="6600CC"/>
                  </a:solidFill>
                  <a:latin typeface="Arial Narrow" panose="020B0606020202030204" pitchFamily="34" charset="0"/>
                </a:rPr>
                <a:t>7 Thread1</a:t>
              </a:r>
              <a:endParaRPr lang="en-US" altLang="zh-TW" sz="2400" b="1">
                <a:solidFill>
                  <a:srgbClr val="6600CC"/>
                </a:solidFill>
                <a:latin typeface="Arial Narrow" panose="020B0606020202030204" pitchFamily="34" charset="0"/>
              </a:endParaRPr>
            </a:p>
            <a:p>
              <a:pPr eaLnBrk="1" hangingPunct="1">
                <a:lnSpc>
                  <a:spcPct val="90000"/>
                </a:lnSpc>
                <a:spcBef>
                  <a:spcPct val="20000"/>
                </a:spcBef>
              </a:pPr>
              <a:r>
                <a:rPr lang="en-US" altLang="zh-TW" sz="2400" b="1">
                  <a:solidFill>
                    <a:srgbClr val="6E9DB0"/>
                  </a:solidFill>
                  <a:latin typeface="Arial Narrow" panose="020B0606020202030204" pitchFamily="34" charset="0"/>
                </a:rPr>
                <a:t>        7 Thread2</a:t>
              </a:r>
              <a:endParaRPr lang="en-US" altLang="zh-TW" sz="2400" b="1">
                <a:solidFill>
                  <a:srgbClr val="6E9DB0"/>
                </a:solidFill>
                <a:latin typeface="Arial Narrow" panose="020B0606020202030204" pitchFamily="34" charset="0"/>
              </a:endParaRPr>
            </a:p>
            <a:p>
              <a:pPr eaLnBrk="1" hangingPunct="1">
                <a:lnSpc>
                  <a:spcPct val="90000"/>
                </a:lnSpc>
                <a:spcBef>
                  <a:spcPct val="20000"/>
                </a:spcBef>
              </a:pPr>
              <a:r>
                <a:rPr lang="en-US" altLang="zh-TW" sz="2400" b="1">
                  <a:solidFill>
                    <a:srgbClr val="6E9DB0"/>
                  </a:solidFill>
                  <a:latin typeface="Arial Narrow" panose="020B0606020202030204" pitchFamily="34" charset="0"/>
                </a:rPr>
                <a:t>        8 Thread2</a:t>
              </a:r>
              <a:endParaRPr lang="en-US" altLang="zh-TW" sz="2400" b="1">
                <a:solidFill>
                  <a:srgbClr val="6E9DB0"/>
                </a:solidFill>
                <a:latin typeface="Arial Narrow" panose="020B0606020202030204" pitchFamily="34" charset="0"/>
              </a:endParaRPr>
            </a:p>
            <a:p>
              <a:pPr eaLnBrk="1" hangingPunct="1">
                <a:lnSpc>
                  <a:spcPct val="90000"/>
                </a:lnSpc>
                <a:spcBef>
                  <a:spcPct val="20000"/>
                </a:spcBef>
              </a:pPr>
              <a:r>
                <a:rPr lang="en-US" altLang="zh-TW" sz="2400" b="1">
                  <a:solidFill>
                    <a:srgbClr val="6E9DB0"/>
                  </a:solidFill>
                  <a:latin typeface="Arial Narrow" panose="020B0606020202030204" pitchFamily="34" charset="0"/>
                </a:rPr>
                <a:t>        9 Thread2</a:t>
              </a:r>
              <a:endParaRPr lang="en-US" altLang="zh-TW" sz="2400" b="1">
                <a:solidFill>
                  <a:srgbClr val="6E9DB0"/>
                </a:solidFill>
                <a:latin typeface="Arial Narrow" panose="020B0606020202030204" pitchFamily="34" charset="0"/>
              </a:endParaRPr>
            </a:p>
            <a:p>
              <a:pPr eaLnBrk="1" hangingPunct="1">
                <a:lnSpc>
                  <a:spcPct val="90000"/>
                </a:lnSpc>
                <a:spcBef>
                  <a:spcPct val="20000"/>
                </a:spcBef>
              </a:pPr>
              <a:r>
                <a:rPr lang="en-US" altLang="zh-TW" sz="2400" b="1">
                  <a:solidFill>
                    <a:srgbClr val="6E9DB0"/>
                  </a:solidFill>
                  <a:latin typeface="Arial Narrow" panose="020B0606020202030204" pitchFamily="34" charset="0"/>
                </a:rPr>
                <a:t>        </a:t>
              </a:r>
              <a:r>
                <a:rPr lang="en-US" altLang="zh-TW" sz="2400" b="1">
                  <a:solidFill>
                    <a:srgbClr val="6600CC"/>
                  </a:solidFill>
                  <a:latin typeface="Arial Narrow" panose="020B0606020202030204" pitchFamily="34" charset="0"/>
                </a:rPr>
                <a:t>8 Thread1</a:t>
              </a:r>
              <a:endParaRPr lang="en-US" altLang="zh-TW" sz="2400" b="1">
                <a:solidFill>
                  <a:srgbClr val="6600CC"/>
                </a:solidFill>
                <a:latin typeface="Arial Narrow" panose="020B0606020202030204" pitchFamily="34" charset="0"/>
              </a:endParaRPr>
            </a:p>
            <a:p>
              <a:endParaRPr lang="en-US" altLang="zh-TW">
                <a:solidFill>
                  <a:srgbClr val="6E9DB0"/>
                </a:solidFill>
              </a:endParaRPr>
            </a:p>
          </p:txBody>
        </p:sp>
        <p:sp>
          <p:nvSpPr>
            <p:cNvPr id="15367" name="Text Box 6"/>
            <p:cNvSpPr txBox="1">
              <a:spLocks noChangeArrowheads="1"/>
            </p:cNvSpPr>
            <p:nvPr/>
          </p:nvSpPr>
          <p:spPr bwMode="auto">
            <a:xfrm>
              <a:off x="1824" y="1525"/>
              <a:ext cx="912" cy="2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000">
                  <a:solidFill>
                    <a:schemeClr val="tx1"/>
                  </a:solidFill>
                  <a:latin typeface="Arial" panose="020B0604020202020204" pitchFamily="34" charset="0"/>
                  <a:ea typeface="PMingLiU" pitchFamily="18" charset="-120"/>
                </a:defRPr>
              </a:lvl1pPr>
              <a:lvl2pPr marL="742950" indent="-285750">
                <a:defRPr kumimoji="1" sz="2000">
                  <a:solidFill>
                    <a:schemeClr val="tx1"/>
                  </a:solidFill>
                  <a:latin typeface="Arial" panose="020B0604020202020204" pitchFamily="34" charset="0"/>
                  <a:ea typeface="PMingLiU" pitchFamily="18" charset="-120"/>
                </a:defRPr>
              </a:lvl2pPr>
              <a:lvl3pPr marL="1143000" indent="-228600">
                <a:defRPr kumimoji="1" sz="2000">
                  <a:solidFill>
                    <a:schemeClr val="tx1"/>
                  </a:solidFill>
                  <a:latin typeface="Arial" panose="020B0604020202020204" pitchFamily="34" charset="0"/>
                  <a:ea typeface="PMingLiU" pitchFamily="18" charset="-120"/>
                </a:defRPr>
              </a:lvl3pPr>
              <a:lvl4pPr marL="1600200" indent="-228600">
                <a:defRPr kumimoji="1" sz="2000">
                  <a:solidFill>
                    <a:schemeClr val="tx1"/>
                  </a:solidFill>
                  <a:latin typeface="Arial" panose="020B0604020202020204" pitchFamily="34" charset="0"/>
                  <a:ea typeface="PMingLiU" pitchFamily="18" charset="-120"/>
                </a:defRPr>
              </a:lvl4pPr>
              <a:lvl5pPr marL="2057400" indent="-228600">
                <a:defRPr kumimoji="1" sz="2000">
                  <a:solidFill>
                    <a:schemeClr val="tx1"/>
                  </a:solidFill>
                  <a:latin typeface="Arial" panose="020B0604020202020204" pitchFamily="34" charset="0"/>
                  <a:ea typeface="PMingLiU" pitchFamily="18" charset="-120"/>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9pPr>
            </a:lstStyle>
            <a:p>
              <a:pPr eaLnBrk="1" hangingPunct="1">
                <a:lnSpc>
                  <a:spcPct val="90000"/>
                </a:lnSpc>
                <a:spcBef>
                  <a:spcPct val="20000"/>
                </a:spcBef>
              </a:pPr>
              <a:endParaRPr lang="en-US" altLang="zh-TW" sz="2400" b="1">
                <a:solidFill>
                  <a:srgbClr val="6E9DB0"/>
                </a:solidFill>
                <a:latin typeface="Arial Narrow" panose="020B0606020202030204" pitchFamily="34" charset="0"/>
              </a:endParaRPr>
            </a:p>
            <a:p>
              <a:pPr eaLnBrk="1" hangingPunct="1">
                <a:lnSpc>
                  <a:spcPct val="90000"/>
                </a:lnSpc>
                <a:spcBef>
                  <a:spcPct val="20000"/>
                </a:spcBef>
              </a:pPr>
              <a:r>
                <a:rPr lang="en-US" altLang="zh-TW" sz="2400" b="1">
                  <a:solidFill>
                    <a:srgbClr val="6600CC"/>
                  </a:solidFill>
                  <a:latin typeface="Arial Narrow" panose="020B0606020202030204" pitchFamily="34" charset="0"/>
                </a:rPr>
                <a:t>0 Thread1</a:t>
              </a:r>
              <a:endParaRPr lang="en-US" altLang="zh-TW" sz="2400" b="1">
                <a:solidFill>
                  <a:srgbClr val="6600CC"/>
                </a:solidFill>
                <a:latin typeface="Arial Narrow" panose="020B0606020202030204" pitchFamily="34" charset="0"/>
              </a:endParaRPr>
            </a:p>
            <a:p>
              <a:pPr eaLnBrk="1" hangingPunct="1">
                <a:lnSpc>
                  <a:spcPct val="90000"/>
                </a:lnSpc>
                <a:spcBef>
                  <a:spcPct val="20000"/>
                </a:spcBef>
              </a:pPr>
              <a:r>
                <a:rPr lang="en-US" altLang="zh-TW" sz="2400" b="1">
                  <a:solidFill>
                    <a:srgbClr val="6E9DB0"/>
                  </a:solidFill>
                  <a:latin typeface="Arial Narrow" panose="020B0606020202030204" pitchFamily="34" charset="0"/>
                </a:rPr>
                <a:t>0 Thread2</a:t>
              </a:r>
              <a:endParaRPr lang="en-US" altLang="zh-TW" sz="2400" b="1">
                <a:solidFill>
                  <a:srgbClr val="6E9DB0"/>
                </a:solidFill>
                <a:latin typeface="Arial Narrow" panose="020B0606020202030204" pitchFamily="34" charset="0"/>
              </a:endParaRPr>
            </a:p>
            <a:p>
              <a:pPr eaLnBrk="1" hangingPunct="1">
                <a:lnSpc>
                  <a:spcPct val="90000"/>
                </a:lnSpc>
                <a:spcBef>
                  <a:spcPct val="20000"/>
                </a:spcBef>
              </a:pPr>
              <a:r>
                <a:rPr lang="en-US" altLang="zh-TW" sz="2400" b="1">
                  <a:solidFill>
                    <a:srgbClr val="6E9DB0"/>
                  </a:solidFill>
                  <a:latin typeface="Arial Narrow" panose="020B0606020202030204" pitchFamily="34" charset="0"/>
                </a:rPr>
                <a:t>1 Thread2</a:t>
              </a:r>
              <a:endParaRPr lang="en-US" altLang="zh-TW" sz="2400" b="1">
                <a:solidFill>
                  <a:srgbClr val="6E9DB0"/>
                </a:solidFill>
                <a:latin typeface="Arial Narrow" panose="020B0606020202030204" pitchFamily="34" charset="0"/>
              </a:endParaRPr>
            </a:p>
            <a:p>
              <a:pPr eaLnBrk="1" hangingPunct="1">
                <a:lnSpc>
                  <a:spcPct val="90000"/>
                </a:lnSpc>
                <a:spcBef>
                  <a:spcPct val="20000"/>
                </a:spcBef>
              </a:pPr>
              <a:r>
                <a:rPr lang="en-US" altLang="zh-TW" sz="2400" b="1">
                  <a:solidFill>
                    <a:srgbClr val="6600CC"/>
                  </a:solidFill>
                  <a:latin typeface="Arial Narrow" panose="020B0606020202030204" pitchFamily="34" charset="0"/>
                </a:rPr>
                <a:t>1 Thread1</a:t>
              </a:r>
              <a:endParaRPr lang="en-US" altLang="zh-TW" sz="2400" b="1">
                <a:solidFill>
                  <a:srgbClr val="6600CC"/>
                </a:solidFill>
                <a:latin typeface="Arial Narrow" panose="020B0606020202030204" pitchFamily="34" charset="0"/>
              </a:endParaRPr>
            </a:p>
            <a:p>
              <a:pPr eaLnBrk="1" hangingPunct="1">
                <a:lnSpc>
                  <a:spcPct val="90000"/>
                </a:lnSpc>
                <a:spcBef>
                  <a:spcPct val="20000"/>
                </a:spcBef>
              </a:pPr>
              <a:r>
                <a:rPr lang="en-US" altLang="zh-TW" sz="2400" b="1">
                  <a:solidFill>
                    <a:srgbClr val="6600CC"/>
                  </a:solidFill>
                  <a:latin typeface="Arial Narrow" panose="020B0606020202030204" pitchFamily="34" charset="0"/>
                </a:rPr>
                <a:t>2 Thread1</a:t>
              </a:r>
              <a:endParaRPr lang="en-US" altLang="zh-TW" sz="2400" b="1">
                <a:solidFill>
                  <a:srgbClr val="6600CC"/>
                </a:solidFill>
                <a:latin typeface="Arial Narrow" panose="020B0606020202030204" pitchFamily="34" charset="0"/>
              </a:endParaRPr>
            </a:p>
            <a:p>
              <a:pPr eaLnBrk="1" hangingPunct="1">
                <a:lnSpc>
                  <a:spcPct val="90000"/>
                </a:lnSpc>
                <a:spcBef>
                  <a:spcPct val="20000"/>
                </a:spcBef>
              </a:pPr>
              <a:r>
                <a:rPr lang="en-US" altLang="zh-TW" sz="2400" b="1">
                  <a:solidFill>
                    <a:srgbClr val="6E9DB0"/>
                  </a:solidFill>
                  <a:latin typeface="Arial Narrow" panose="020B0606020202030204" pitchFamily="34" charset="0"/>
                </a:rPr>
                <a:t>2 Thread2</a:t>
              </a:r>
              <a:endParaRPr lang="en-US" altLang="zh-TW" sz="2400" b="1">
                <a:solidFill>
                  <a:srgbClr val="6E9DB0"/>
                </a:solidFill>
                <a:latin typeface="Arial Narrow" panose="020B0606020202030204" pitchFamily="34" charset="0"/>
              </a:endParaRPr>
            </a:p>
            <a:p>
              <a:pPr eaLnBrk="1" hangingPunct="1">
                <a:lnSpc>
                  <a:spcPct val="90000"/>
                </a:lnSpc>
                <a:spcBef>
                  <a:spcPct val="20000"/>
                </a:spcBef>
              </a:pPr>
              <a:r>
                <a:rPr lang="en-US" altLang="zh-TW" sz="2400" b="1">
                  <a:solidFill>
                    <a:srgbClr val="6E9DB0"/>
                  </a:solidFill>
                  <a:latin typeface="Arial Narrow" panose="020B0606020202030204" pitchFamily="34" charset="0"/>
                </a:rPr>
                <a:t>3 Thread2</a:t>
              </a:r>
              <a:endParaRPr lang="en-US" altLang="zh-TW" sz="2400" b="1">
                <a:solidFill>
                  <a:srgbClr val="6E9DB0"/>
                </a:solidFill>
                <a:latin typeface="Arial Narrow" panose="020B0606020202030204" pitchFamily="34" charset="0"/>
              </a:endParaRPr>
            </a:p>
            <a:p>
              <a:pPr eaLnBrk="1" hangingPunct="1">
                <a:lnSpc>
                  <a:spcPct val="90000"/>
                </a:lnSpc>
                <a:spcBef>
                  <a:spcPct val="20000"/>
                </a:spcBef>
              </a:pPr>
              <a:r>
                <a:rPr lang="en-US" altLang="zh-TW" sz="2400" b="1">
                  <a:solidFill>
                    <a:srgbClr val="6600CC"/>
                  </a:solidFill>
                  <a:latin typeface="Arial Narrow" panose="020B0606020202030204" pitchFamily="34" charset="0"/>
                </a:rPr>
                <a:t>3 Thread1</a:t>
              </a:r>
              <a:endParaRPr lang="en-US" altLang="zh-TW" sz="2400" b="1">
                <a:solidFill>
                  <a:srgbClr val="6600CC"/>
                </a:solidFill>
                <a:latin typeface="Arial Narrow" panose="020B0606020202030204" pitchFamily="34" charset="0"/>
              </a:endParaRPr>
            </a:p>
            <a:p>
              <a:pPr eaLnBrk="1" hangingPunct="1">
                <a:lnSpc>
                  <a:spcPct val="90000"/>
                </a:lnSpc>
                <a:spcBef>
                  <a:spcPct val="20000"/>
                </a:spcBef>
              </a:pPr>
              <a:r>
                <a:rPr lang="en-US" altLang="zh-TW" sz="2400" b="1">
                  <a:solidFill>
                    <a:srgbClr val="6600CC"/>
                  </a:solidFill>
                  <a:latin typeface="Arial Narrow" panose="020B0606020202030204" pitchFamily="34" charset="0"/>
                </a:rPr>
                <a:t>4 Thread1</a:t>
              </a:r>
              <a:endParaRPr lang="en-US" altLang="zh-TW" sz="2400" b="1">
                <a:solidFill>
                  <a:srgbClr val="6600CC"/>
                </a:solidFill>
                <a:latin typeface="Arial Narrow" panose="020B0606020202030204" pitchFamily="34" charset="0"/>
              </a:endParaRPr>
            </a:p>
            <a:p>
              <a:pPr eaLnBrk="1" hangingPunct="1">
                <a:lnSpc>
                  <a:spcPct val="90000"/>
                </a:lnSpc>
                <a:spcBef>
                  <a:spcPct val="20000"/>
                </a:spcBef>
              </a:pPr>
              <a:r>
                <a:rPr lang="en-US" altLang="zh-TW" sz="2400" b="1">
                  <a:solidFill>
                    <a:srgbClr val="6E9DB0"/>
                  </a:solidFill>
                  <a:latin typeface="Arial Narrow" panose="020B0606020202030204" pitchFamily="34" charset="0"/>
                </a:rPr>
                <a:t>4 Thread2 </a:t>
              </a:r>
              <a:endParaRPr lang="en-US" altLang="zh-TW" sz="2400" b="1">
                <a:solidFill>
                  <a:srgbClr val="6E9DB0"/>
                </a:solidFill>
                <a:latin typeface="Arial Narrow" panose="020B0606020202030204" pitchFamily="34" charset="0"/>
              </a:endParaRPr>
            </a:p>
          </p:txBody>
        </p:sp>
        <p:sp>
          <p:nvSpPr>
            <p:cNvPr id="15368" name="Rectangle 7"/>
            <p:cNvSpPr>
              <a:spLocks noChangeArrowheads="1"/>
            </p:cNvSpPr>
            <p:nvPr/>
          </p:nvSpPr>
          <p:spPr bwMode="auto">
            <a:xfrm>
              <a:off x="1680" y="1728"/>
              <a:ext cx="4080" cy="2496"/>
            </a:xfrm>
            <a:prstGeom prst="rect">
              <a:avLst/>
            </a:prstGeom>
            <a:noFill/>
            <a:ln w="381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2000">
                  <a:solidFill>
                    <a:schemeClr val="tx1"/>
                  </a:solidFill>
                  <a:latin typeface="Arial" panose="020B0604020202020204" pitchFamily="34" charset="0"/>
                  <a:ea typeface="PMingLiU" pitchFamily="18" charset="-120"/>
                </a:defRPr>
              </a:lvl1pPr>
              <a:lvl2pPr marL="742950" indent="-285750">
                <a:defRPr kumimoji="1" sz="2000">
                  <a:solidFill>
                    <a:schemeClr val="tx1"/>
                  </a:solidFill>
                  <a:latin typeface="Arial" panose="020B0604020202020204" pitchFamily="34" charset="0"/>
                  <a:ea typeface="PMingLiU" pitchFamily="18" charset="-120"/>
                </a:defRPr>
              </a:lvl2pPr>
              <a:lvl3pPr marL="1143000" indent="-228600">
                <a:defRPr kumimoji="1" sz="2000">
                  <a:solidFill>
                    <a:schemeClr val="tx1"/>
                  </a:solidFill>
                  <a:latin typeface="Arial" panose="020B0604020202020204" pitchFamily="34" charset="0"/>
                  <a:ea typeface="PMingLiU" pitchFamily="18" charset="-120"/>
                </a:defRPr>
              </a:lvl3pPr>
              <a:lvl4pPr marL="1600200" indent="-228600">
                <a:defRPr kumimoji="1" sz="2000">
                  <a:solidFill>
                    <a:schemeClr val="tx1"/>
                  </a:solidFill>
                  <a:latin typeface="Arial" panose="020B0604020202020204" pitchFamily="34" charset="0"/>
                  <a:ea typeface="PMingLiU" pitchFamily="18" charset="-120"/>
                </a:defRPr>
              </a:lvl4pPr>
              <a:lvl5pPr marL="2057400" indent="-228600">
                <a:defRPr kumimoji="1" sz="2000">
                  <a:solidFill>
                    <a:schemeClr val="tx1"/>
                  </a:solidFill>
                  <a:latin typeface="Arial" panose="020B0604020202020204" pitchFamily="34" charset="0"/>
                  <a:ea typeface="PMingLiU" pitchFamily="18" charset="-120"/>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PMingLiU" pitchFamily="18" charset="-120"/>
                </a:defRPr>
              </a:lvl9pPr>
            </a:lstStyle>
            <a:p>
              <a:endParaRPr lang="zh-TW" altLang="en-US">
                <a:solidFill>
                  <a:srgbClr val="000000"/>
                </a:solidFil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zh-TW"/>
              <a:t>3. The Life Cycle of a  Java Thread </a:t>
            </a:r>
            <a:r>
              <a:rPr lang="zh-CN" altLang="en-US"/>
              <a:t>线程的生命周期</a:t>
            </a:r>
            <a:endParaRPr lang="zh-CN" altLang="en-US"/>
          </a:p>
        </p:txBody>
      </p:sp>
      <p:sp>
        <p:nvSpPr>
          <p:cNvPr id="16387" name="Rectangle 3"/>
          <p:cNvSpPr>
            <a:spLocks noGrp="1" noChangeArrowheads="1"/>
          </p:cNvSpPr>
          <p:nvPr>
            <p:ph type="body" idx="1"/>
          </p:nvPr>
        </p:nvSpPr>
        <p:spPr/>
        <p:txBody>
          <a:bodyPr/>
          <a:lstStyle/>
          <a:p>
            <a:pPr eaLnBrk="1" hangingPunct="1">
              <a:lnSpc>
                <a:spcPct val="90000"/>
              </a:lnSpc>
              <a:buFont typeface="Symbol" panose="05050102010706020507" pitchFamily="18" charset="2"/>
              <a:buNone/>
            </a:pPr>
            <a:r>
              <a:rPr lang="en-US" altLang="zh-TW" dirty="0"/>
              <a:t>New </a:t>
            </a:r>
            <a:r>
              <a:rPr lang="en-US" altLang="zh-TW" dirty="0">
                <a:sym typeface="Wingdings" panose="05000000000000000000" pitchFamily="2" charset="2"/>
              </a:rPr>
              <a:t> ( </a:t>
            </a:r>
            <a:r>
              <a:rPr lang="en-US" altLang="zh-TW" dirty="0"/>
              <a:t>Runnable </a:t>
            </a:r>
            <a:r>
              <a:rPr lang="en-US" altLang="zh-TW" dirty="0">
                <a:sym typeface="Wingdings" panose="05000000000000000000" pitchFamily="2" charset="2"/>
              </a:rPr>
              <a:t> blocked/waiting ) *  Runnable  dead(terminated)</a:t>
            </a:r>
            <a:endParaRPr lang="en-US" altLang="zh-TW" dirty="0">
              <a:solidFill>
                <a:srgbClr val="008080"/>
              </a:solidFill>
              <a:sym typeface="Wingdings" panose="05000000000000000000" pitchFamily="2" charset="2"/>
            </a:endParaRPr>
          </a:p>
          <a:p>
            <a:pPr eaLnBrk="1" hangingPunct="1">
              <a:lnSpc>
                <a:spcPct val="90000"/>
              </a:lnSpc>
            </a:pPr>
            <a:r>
              <a:rPr lang="en-US" altLang="zh-TW" dirty="0">
                <a:solidFill>
                  <a:srgbClr val="008080"/>
                </a:solidFill>
              </a:rPr>
              <a:t>sleep(long </a:t>
            </a:r>
            <a:r>
              <a:rPr lang="en-US" altLang="zh-TW" dirty="0" err="1">
                <a:solidFill>
                  <a:srgbClr val="008080"/>
                </a:solidFill>
              </a:rPr>
              <a:t>ms</a:t>
            </a:r>
            <a:r>
              <a:rPr lang="en-US" altLang="zh-TW" dirty="0">
                <a:solidFill>
                  <a:srgbClr val="008080"/>
                </a:solidFill>
              </a:rPr>
              <a:t> [,int ns])   </a:t>
            </a:r>
            <a:endParaRPr lang="en-US" altLang="zh-TW" dirty="0">
              <a:solidFill>
                <a:srgbClr val="008080"/>
              </a:solidFill>
            </a:endParaRPr>
          </a:p>
          <a:p>
            <a:pPr eaLnBrk="1" hangingPunct="1">
              <a:lnSpc>
                <a:spcPct val="90000"/>
              </a:lnSpc>
            </a:pPr>
            <a:r>
              <a:rPr lang="en-US" altLang="zh-TW" dirty="0"/>
              <a:t>   </a:t>
            </a:r>
            <a:r>
              <a:rPr lang="en-US" altLang="zh-TW" dirty="0">
                <a:solidFill>
                  <a:srgbClr val="CC6600"/>
                </a:solidFill>
              </a:rPr>
              <a:t>// sleep (</a:t>
            </a:r>
            <a:r>
              <a:rPr lang="en-US" altLang="zh-TW" dirty="0" err="1">
                <a:solidFill>
                  <a:srgbClr val="CC6600"/>
                </a:solidFill>
              </a:rPr>
              <a:t>ms</a:t>
            </a:r>
            <a:r>
              <a:rPr lang="en-US" altLang="zh-TW" dirty="0">
                <a:solidFill>
                  <a:srgbClr val="CC6600"/>
                </a:solidFill>
              </a:rPr>
              <a:t> + ns x 10</a:t>
            </a:r>
            <a:r>
              <a:rPr lang="en-US" altLang="zh-TW" baseline="30000" dirty="0">
                <a:solidFill>
                  <a:srgbClr val="CC6600"/>
                </a:solidFill>
              </a:rPr>
              <a:t>–3)</a:t>
            </a:r>
            <a:r>
              <a:rPr lang="en-US" altLang="zh-TW" dirty="0">
                <a:solidFill>
                  <a:srgbClr val="CC6600"/>
                </a:solidFill>
              </a:rPr>
              <a:t> milliseconds and then continue</a:t>
            </a:r>
            <a:endParaRPr lang="en-US" altLang="zh-TW" dirty="0"/>
          </a:p>
          <a:p>
            <a:pPr eaLnBrk="1" hangingPunct="1">
              <a:lnSpc>
                <a:spcPct val="90000"/>
              </a:lnSpc>
            </a:pPr>
            <a:r>
              <a:rPr lang="en-US" altLang="zh-TW" dirty="0">
                <a:solidFill>
                  <a:srgbClr val="008080"/>
                </a:solidFill>
              </a:rPr>
              <a:t>[ IO ] blocked  by synchronized method/block</a:t>
            </a:r>
            <a:r>
              <a:rPr lang="en-US" altLang="zh-TW" dirty="0"/>
              <a:t> </a:t>
            </a:r>
            <a:endParaRPr lang="en-US" altLang="zh-TW" dirty="0"/>
          </a:p>
          <a:p>
            <a:pPr lvl="1" eaLnBrk="1" hangingPunct="1">
              <a:lnSpc>
                <a:spcPct val="90000"/>
              </a:lnSpc>
            </a:pPr>
            <a:r>
              <a:rPr lang="en-US" altLang="zh-TW" dirty="0"/>
              <a:t> synchronized( obj ) { …  }      </a:t>
            </a:r>
            <a:r>
              <a:rPr lang="en-US" altLang="zh-TW" dirty="0">
                <a:solidFill>
                  <a:srgbClr val="C00000"/>
                </a:solidFill>
              </a:rPr>
              <a:t>// synchronized statement</a:t>
            </a:r>
            <a:endParaRPr lang="en-US" altLang="zh-TW" dirty="0">
              <a:solidFill>
                <a:srgbClr val="C00000"/>
              </a:solidFill>
            </a:endParaRPr>
          </a:p>
          <a:p>
            <a:pPr lvl="1" eaLnBrk="1" hangingPunct="1">
              <a:lnSpc>
                <a:spcPct val="90000"/>
              </a:lnSpc>
            </a:pPr>
            <a:r>
              <a:rPr lang="en-US" altLang="zh-TW" dirty="0"/>
              <a:t> synchronized m(… ) { …  }    </a:t>
            </a:r>
            <a:r>
              <a:rPr lang="en-US" altLang="zh-TW" dirty="0">
                <a:solidFill>
                  <a:srgbClr val="C00000"/>
                </a:solidFill>
              </a:rPr>
              <a:t>// synchronized method</a:t>
            </a:r>
            <a:endParaRPr lang="en-US" altLang="zh-TW" dirty="0">
              <a:solidFill>
                <a:srgbClr val="C00000"/>
              </a:solidFill>
            </a:endParaRPr>
          </a:p>
          <a:p>
            <a:pPr lvl="1" eaLnBrk="1" hangingPunct="1">
              <a:lnSpc>
                <a:spcPct val="90000"/>
              </a:lnSpc>
            </a:pPr>
            <a:r>
              <a:rPr lang="en-US" altLang="zh-TW" dirty="0">
                <a:solidFill>
                  <a:srgbClr val="CC6600"/>
                </a:solidFill>
              </a:rPr>
              <a:t>// return to runnable if IO complete</a:t>
            </a:r>
            <a:endParaRPr lang="en-US" altLang="zh-TW" dirty="0">
              <a:solidFill>
                <a:srgbClr val="008080"/>
              </a:solidFill>
            </a:endParaRPr>
          </a:p>
          <a:p>
            <a:pPr eaLnBrk="1" hangingPunct="1">
              <a:lnSpc>
                <a:spcPct val="90000"/>
              </a:lnSpc>
            </a:pPr>
            <a:r>
              <a:rPr lang="en-US" altLang="zh-TW" dirty="0" err="1">
                <a:solidFill>
                  <a:srgbClr val="008080"/>
                </a:solidFill>
              </a:rPr>
              <a:t>obj.wait</a:t>
            </a:r>
            <a:r>
              <a:rPr lang="en-US" altLang="zh-TW" dirty="0">
                <a:solidFill>
                  <a:srgbClr val="008080"/>
                </a:solidFill>
              </a:rPr>
              <a:t>()  </a:t>
            </a:r>
            <a:endParaRPr lang="en-US" altLang="zh-TW" dirty="0">
              <a:solidFill>
                <a:srgbClr val="008080"/>
              </a:solidFill>
            </a:endParaRPr>
          </a:p>
          <a:p>
            <a:pPr eaLnBrk="1" hangingPunct="1">
              <a:lnSpc>
                <a:spcPct val="90000"/>
              </a:lnSpc>
            </a:pPr>
            <a:r>
              <a:rPr lang="en-US" altLang="zh-TW" dirty="0"/>
              <a:t> 	</a:t>
            </a:r>
            <a:r>
              <a:rPr lang="en-US" altLang="zh-TW" dirty="0">
                <a:solidFill>
                  <a:srgbClr val="CC6600"/>
                </a:solidFill>
              </a:rPr>
              <a:t>// </a:t>
            </a:r>
            <a:r>
              <a:rPr lang="en-US" altLang="zh-TW" dirty="0" err="1">
                <a:solidFill>
                  <a:srgbClr val="CC6600"/>
                </a:solidFill>
              </a:rPr>
              <a:t>retrun</a:t>
            </a:r>
            <a:r>
              <a:rPr lang="en-US" altLang="zh-TW" dirty="0">
                <a:solidFill>
                  <a:srgbClr val="CC6600"/>
                </a:solidFill>
              </a:rPr>
              <a:t> to runnable by </a:t>
            </a:r>
            <a:r>
              <a:rPr lang="en-US" altLang="zh-TW" dirty="0" err="1">
                <a:solidFill>
                  <a:srgbClr val="CC6600"/>
                </a:solidFill>
              </a:rPr>
              <a:t>obj.notify</a:t>
            </a:r>
            <a:r>
              <a:rPr lang="en-US" altLang="zh-TW" dirty="0">
                <a:solidFill>
                  <a:srgbClr val="CC6600"/>
                </a:solidFill>
              </a:rPr>
              <a:t>() or </a:t>
            </a:r>
            <a:r>
              <a:rPr lang="en-US" altLang="zh-TW" dirty="0" err="1">
                <a:solidFill>
                  <a:srgbClr val="CC6600"/>
                </a:solidFill>
              </a:rPr>
              <a:t>obj.notifyAll</a:t>
            </a:r>
            <a:r>
              <a:rPr lang="en-US" altLang="zh-TW" dirty="0">
                <a:solidFill>
                  <a:srgbClr val="CC6600"/>
                </a:solidFill>
              </a:rPr>
              <a:t>()</a:t>
            </a:r>
            <a:endParaRPr lang="en-US" altLang="zh-TW" dirty="0">
              <a:solidFill>
                <a:srgbClr val="008080"/>
              </a:solidFill>
              <a:sym typeface="Wingdings" panose="05000000000000000000" pitchFamily="2" charset="2"/>
            </a:endParaRPr>
          </a:p>
          <a:p>
            <a:pPr eaLnBrk="1" hangingPunct="1">
              <a:lnSpc>
                <a:spcPct val="90000"/>
              </a:lnSpc>
            </a:pPr>
            <a:r>
              <a:rPr lang="en-US" altLang="zh-TW" dirty="0">
                <a:solidFill>
                  <a:srgbClr val="008080"/>
                </a:solidFill>
              </a:rPr>
              <a:t>join(long </a:t>
            </a:r>
            <a:r>
              <a:rPr lang="en-US" altLang="zh-TW" dirty="0" err="1">
                <a:solidFill>
                  <a:srgbClr val="008080"/>
                </a:solidFill>
              </a:rPr>
              <a:t>ms</a:t>
            </a:r>
            <a:r>
              <a:rPr lang="en-US" altLang="zh-TW" dirty="0">
                <a:solidFill>
                  <a:srgbClr val="008080"/>
                </a:solidFill>
              </a:rPr>
              <a:t> [,int ns])</a:t>
            </a:r>
            <a:r>
              <a:rPr lang="en-US" altLang="zh-TW" dirty="0"/>
              <a:t> </a:t>
            </a:r>
            <a:endParaRPr lang="en-US" altLang="zh-TW" dirty="0"/>
          </a:p>
          <a:p>
            <a:pPr eaLnBrk="1" hangingPunct="1">
              <a:lnSpc>
                <a:spcPct val="90000"/>
              </a:lnSpc>
            </a:pPr>
            <a:r>
              <a:rPr lang="en-US" altLang="zh-TW" dirty="0"/>
              <a:t>   </a:t>
            </a:r>
            <a:r>
              <a:rPr lang="en-US" altLang="zh-TW" dirty="0">
                <a:solidFill>
                  <a:srgbClr val="CC6600"/>
                </a:solidFill>
              </a:rPr>
              <a:t>// Waits at most </a:t>
            </a:r>
            <a:r>
              <a:rPr lang="en-US" altLang="zh-TW" dirty="0" err="1">
                <a:solidFill>
                  <a:srgbClr val="CC6600"/>
                </a:solidFill>
                <a:latin typeface="Arial Unicode MS" panose="020B0604020202020204" pitchFamily="34" charset="-128"/>
              </a:rPr>
              <a:t>ms</a:t>
            </a:r>
            <a:r>
              <a:rPr lang="en-US" altLang="zh-TW" dirty="0">
                <a:solidFill>
                  <a:srgbClr val="CC6600"/>
                </a:solidFill>
              </a:rPr>
              <a:t> milliseconds plus </a:t>
            </a:r>
            <a:r>
              <a:rPr lang="en-US" altLang="zh-TW" dirty="0">
                <a:solidFill>
                  <a:srgbClr val="CC6600"/>
                </a:solidFill>
                <a:latin typeface="Arial Unicode MS" panose="020B0604020202020204" pitchFamily="34" charset="-128"/>
              </a:rPr>
              <a:t>ns</a:t>
            </a:r>
            <a:r>
              <a:rPr lang="en-US" altLang="zh-TW" dirty="0">
                <a:solidFill>
                  <a:srgbClr val="CC6600"/>
                </a:solidFill>
              </a:rPr>
              <a:t> nanoseconds for this thread to die.</a:t>
            </a:r>
            <a:r>
              <a:rPr lang="en-US" altLang="zh-TW" dirty="0"/>
              <a:t> </a:t>
            </a:r>
            <a:endParaRPr lang="en-US" altLang="zh-TW"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1752600" y="457200"/>
            <a:ext cx="8229600" cy="431800"/>
          </a:xfrm>
        </p:spPr>
        <p:txBody>
          <a:bodyPr/>
          <a:lstStyle/>
          <a:p>
            <a:pPr algn="l"/>
            <a:r>
              <a:rPr lang="en-GB" altLang="en-US" sz="3200" dirty="0"/>
              <a:t>Programming Demonstration Example</a:t>
            </a:r>
            <a:endParaRPr lang="en-GB" altLang="en-US" sz="3200" dirty="0"/>
          </a:p>
        </p:txBody>
      </p:sp>
      <p:sp>
        <p:nvSpPr>
          <p:cNvPr id="5123" name="内容占位符 2"/>
          <p:cNvSpPr>
            <a:spLocks noGrp="1"/>
          </p:cNvSpPr>
          <p:nvPr>
            <p:ph idx="1"/>
          </p:nvPr>
        </p:nvSpPr>
        <p:spPr>
          <a:xfrm>
            <a:off x="304800" y="1104106"/>
            <a:ext cx="11658600" cy="567769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zh-CN" sz="2800" dirty="0"/>
              <a:t>1. </a:t>
            </a:r>
            <a:r>
              <a:rPr lang="en-GB" altLang="en-US" sz="2800" dirty="0"/>
              <a:t>File security algorithm summary generation programming: </a:t>
            </a:r>
            <a:endParaRPr lang="en-GB" altLang="en-US" sz="2800" dirty="0"/>
          </a:p>
          <a:p>
            <a:pPr lvl="1">
              <a:buFont typeface="Wingdings" panose="05000000000000000000" pitchFamily="2" charset="2"/>
              <a:buChar char="Ø"/>
            </a:pPr>
            <a:r>
              <a:rPr lang="en-US" altLang="zh-CN" sz="2400" dirty="0"/>
              <a:t>C</a:t>
            </a:r>
            <a:r>
              <a:rPr lang="en-US" sz="2400" dirty="0"/>
              <a:t>ompute the SHA (Secure Hash Algorithm) hash value (like SHA-256) for multiple files? I want to apply the SHA algorithm to each file individually and generate its unique cryptographic hash summary.</a:t>
            </a:r>
            <a:endParaRPr lang="en-US" altLang="zh-CN" sz="2400" dirty="0"/>
          </a:p>
          <a:p>
            <a:pPr>
              <a:buFont typeface="Wingdings 2" panose="05020102010507070707" pitchFamily="18" charset="2"/>
              <a:buNone/>
            </a:pPr>
            <a:endParaRPr lang="en-US" altLang="zh-CN" sz="2800" dirty="0"/>
          </a:p>
          <a:p>
            <a:pPr>
              <a:buFont typeface="Wingdings 2" panose="05020102010507070707" pitchFamily="18" charset="2"/>
              <a:buNone/>
            </a:pPr>
            <a:endParaRPr lang="en-US" altLang="zh-CN" sz="2800" dirty="0"/>
          </a:p>
          <a:p>
            <a:pPr>
              <a:buFont typeface="Wingdings" panose="05000000000000000000" pitchFamily="2" charset="2"/>
              <a:buChar char="Ø"/>
            </a:pPr>
            <a:endParaRPr lang="en-US" altLang="zh-CN" sz="2800" dirty="0"/>
          </a:p>
          <a:p>
            <a:pPr marL="0" indent="0">
              <a:buNone/>
            </a:pPr>
            <a:endParaRPr lang="en-US" altLang="zh-CN" sz="2800" dirty="0"/>
          </a:p>
        </p:txBody>
      </p:sp>
      <p:sp>
        <p:nvSpPr>
          <p:cNvPr id="12292" name="TextBox 1"/>
          <p:cNvSpPr txBox="1">
            <a:spLocks noChangeArrowheads="1"/>
          </p:cNvSpPr>
          <p:nvPr/>
        </p:nvSpPr>
        <p:spPr bwMode="auto">
          <a:xfrm>
            <a:off x="6115883" y="4469591"/>
            <a:ext cx="6000750" cy="166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600" b="1" dirty="0">
                <a:solidFill>
                  <a:srgbClr val="FF0000"/>
                </a:solidFill>
              </a:rPr>
              <a:t>Think about it: What are the main factors that affect the performance of this program?</a:t>
            </a:r>
            <a:endParaRPr lang="en-US" altLang="zh-CN" sz="1600" b="1" dirty="0">
              <a:solidFill>
                <a:srgbClr val="FF0000"/>
              </a:solidFill>
            </a:endParaRPr>
          </a:p>
          <a:p>
            <a:pPr marL="285750" indent="-285750">
              <a:spcBef>
                <a:spcPct val="0"/>
              </a:spcBef>
              <a:buClrTx/>
              <a:buSzTx/>
            </a:pPr>
            <a:r>
              <a:rPr lang="en-GB" altLang="en-US" sz="1400" b="1" dirty="0">
                <a:solidFill>
                  <a:srgbClr val="0070C0"/>
                </a:solidFill>
              </a:rPr>
              <a:t>File Access </a:t>
            </a:r>
            <a:r>
              <a:rPr lang="en-GB" altLang="zh-CN" sz="1400" b="1" dirty="0">
                <a:solidFill>
                  <a:srgbClr val="0070C0"/>
                </a:solidFill>
              </a:rPr>
              <a:t>I/O </a:t>
            </a:r>
            <a:r>
              <a:rPr lang="en-GB" altLang="en-US" sz="1400" b="1" dirty="0">
                <a:solidFill>
                  <a:srgbClr val="0070C0"/>
                </a:solidFill>
              </a:rPr>
              <a:t>read and write</a:t>
            </a:r>
            <a:endParaRPr lang="en-US" altLang="zh-CN" sz="1400" b="1" dirty="0">
              <a:solidFill>
                <a:srgbClr val="0070C0"/>
              </a:solidFill>
            </a:endParaRPr>
          </a:p>
          <a:p>
            <a:pPr marL="285750" indent="-285750">
              <a:spcBef>
                <a:spcPct val="0"/>
              </a:spcBef>
              <a:buClrTx/>
              <a:buSzTx/>
            </a:pPr>
            <a:r>
              <a:rPr lang="en-GB" altLang="en-US" sz="1400" b="1" dirty="0"/>
              <a:t>Program running speed </a:t>
            </a:r>
            <a:r>
              <a:rPr lang="en-GB" altLang="zh-CN" sz="1400" b="1" dirty="0"/>
              <a:t>&gt;&gt; </a:t>
            </a:r>
            <a:r>
              <a:rPr lang="en-GB" altLang="en-US" sz="1400" b="1" dirty="0"/>
              <a:t>file data reading and writing speed</a:t>
            </a:r>
            <a:endParaRPr lang="en-US" altLang="zh-CN" sz="1400" b="1" dirty="0"/>
          </a:p>
          <a:p>
            <a:pPr marL="285750" indent="-285750">
              <a:spcBef>
                <a:spcPct val="0"/>
              </a:spcBef>
              <a:buClrTx/>
              <a:buSzTx/>
            </a:pPr>
            <a:r>
              <a:rPr lang="en-GB" altLang="en-US" sz="1400" b="1" dirty="0"/>
              <a:t>Waiting, program blocking, </a:t>
            </a:r>
            <a:r>
              <a:rPr lang="en-US" altLang="en-US" sz="1400" b="1" dirty="0"/>
              <a:t>this </a:t>
            </a:r>
            <a:r>
              <a:rPr lang="en-GB" altLang="en-US" sz="1400" b="1" dirty="0"/>
              <a:t>slow</a:t>
            </a:r>
            <a:r>
              <a:rPr lang="en-US" altLang="en-US" sz="1400" b="1" dirty="0"/>
              <a:t>s</a:t>
            </a:r>
            <a:r>
              <a:rPr lang="en-GB" altLang="en-US" sz="1400" b="1" dirty="0"/>
              <a:t> down program execution</a:t>
            </a:r>
            <a:endParaRPr lang="en-US" altLang="zh-CN" sz="1400" b="1" dirty="0"/>
          </a:p>
          <a:p>
            <a:pPr marL="285750" indent="-285750">
              <a:spcBef>
                <a:spcPct val="0"/>
              </a:spcBef>
              <a:buClrTx/>
              <a:buSzTx/>
            </a:pPr>
            <a:r>
              <a:rPr lang="en-GB" altLang="en-US" sz="1400" b="1" dirty="0"/>
              <a:t>Use multi-threaded programming to alleviate program waiting situations.</a:t>
            </a:r>
            <a:endParaRPr lang="en-GB" altLang="en-US" sz="1400" b="1" dirty="0"/>
          </a:p>
        </p:txBody>
      </p:sp>
      <p:pic>
        <p:nvPicPr>
          <p:cNvPr id="1229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94353" y="2747710"/>
            <a:ext cx="1509324" cy="1195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94" name="矩形 2"/>
          <p:cNvSpPr>
            <a:spLocks noChangeArrowheads="1"/>
          </p:cNvSpPr>
          <p:nvPr/>
        </p:nvSpPr>
        <p:spPr bwMode="auto">
          <a:xfrm>
            <a:off x="8547675" y="2715743"/>
            <a:ext cx="1295400" cy="131162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Secure algorithm digest generator</a:t>
            </a:r>
            <a:endParaRPr lang="en-GB" altLang="en-US" sz="1800" dirty="0"/>
          </a:p>
        </p:txBody>
      </p:sp>
      <p:sp>
        <p:nvSpPr>
          <p:cNvPr id="12295" name="右箭头 4"/>
          <p:cNvSpPr>
            <a:spLocks noChangeArrowheads="1"/>
          </p:cNvSpPr>
          <p:nvPr/>
        </p:nvSpPr>
        <p:spPr bwMode="auto">
          <a:xfrm>
            <a:off x="7890664" y="3208327"/>
            <a:ext cx="838200" cy="304800"/>
          </a:xfrm>
          <a:prstGeom prst="rightArrow">
            <a:avLst>
              <a:gd name="adj1" fmla="val 50000"/>
              <a:gd name="adj2" fmla="val 4999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6" name="流程图: 多文档 5"/>
          <p:cNvSpPr/>
          <p:nvPr/>
        </p:nvSpPr>
        <p:spPr bwMode="auto">
          <a:xfrm>
            <a:off x="10605655" y="2845268"/>
            <a:ext cx="1295400" cy="1000125"/>
          </a:xfrm>
          <a:prstGeom prst="flowChartMultidocument">
            <a:avLst/>
          </a:prstGeom>
          <a:solidFill>
            <a:schemeClr val="tx2">
              <a:lumMod val="60000"/>
              <a:lumOff val="40000"/>
            </a:schemeClr>
          </a:solidFill>
          <a:ln w="9525" cap="flat" cmpd="sng" algn="ctr">
            <a:solidFill>
              <a:schemeClr val="tx1"/>
            </a:solidFill>
            <a:prstDash val="solid"/>
            <a:round/>
            <a:headEnd type="none" w="med" len="med"/>
            <a:tailEnd type="none" w="med" len="med"/>
          </a:ln>
          <a:effectLst/>
        </p:spPr>
        <p:txBody>
          <a:bodyPr/>
          <a:lstStyle/>
          <a:p>
            <a:pPr>
              <a:defRPr/>
            </a:pPr>
            <a:endParaRPr lang="zh-CN" altLang="en-US">
              <a:latin typeface="Arial" panose="020B0604020202020204" pitchFamily="34" charset="0"/>
            </a:endParaRPr>
          </a:p>
        </p:txBody>
      </p:sp>
      <p:sp>
        <p:nvSpPr>
          <p:cNvPr id="12297" name="右箭头 6"/>
          <p:cNvSpPr>
            <a:spLocks noChangeArrowheads="1"/>
          </p:cNvSpPr>
          <p:nvPr/>
        </p:nvSpPr>
        <p:spPr bwMode="auto">
          <a:xfrm>
            <a:off x="9829509" y="3192931"/>
            <a:ext cx="762000" cy="304800"/>
          </a:xfrm>
          <a:prstGeom prst="rightArrow">
            <a:avLst>
              <a:gd name="adj1" fmla="val 50000"/>
              <a:gd name="adj2" fmla="val 50000"/>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2" name="Rectangle 1"/>
          <p:cNvSpPr/>
          <p:nvPr/>
        </p:nvSpPr>
        <p:spPr>
          <a:xfrm>
            <a:off x="318657" y="3046372"/>
            <a:ext cx="5858494" cy="2585323"/>
          </a:xfrm>
          <a:prstGeom prst="rect">
            <a:avLst/>
          </a:prstGeom>
        </p:spPr>
        <p:txBody>
          <a:bodyPr wrap="square">
            <a:spAutoFit/>
          </a:bodyPr>
          <a:lstStyle/>
          <a:p>
            <a:pPr marL="285750" indent="-285750">
              <a:buFont typeface="Arial" panose="020B0604020202020204" pitchFamily="34" charset="0"/>
              <a:buChar char="•"/>
            </a:pPr>
            <a:r>
              <a:rPr lang="en-US" dirty="0"/>
              <a:t>Objective: Calculate SHA hashes for multiple files.</a:t>
            </a:r>
            <a:endParaRPr lang="en-US" dirty="0"/>
          </a:p>
          <a:p>
            <a:pPr marL="285750" indent="-285750">
              <a:buFont typeface="Arial" panose="020B0604020202020204" pitchFamily="34" charset="0"/>
              <a:buChar char="•"/>
            </a:pPr>
            <a:r>
              <a:rPr lang="en-US" dirty="0"/>
              <a:t>Algorithm: Use Secure Hash Algorithm (SHA variants like SHA-1, SHA-256, etc.).</a:t>
            </a:r>
            <a:endParaRPr lang="en-US" dirty="0"/>
          </a:p>
          <a:p>
            <a:pPr marL="285750" indent="-285750">
              <a:buFont typeface="Arial" panose="020B0604020202020204" pitchFamily="34" charset="0"/>
              <a:buChar char="•"/>
            </a:pPr>
            <a:r>
              <a:rPr lang="en-US" dirty="0"/>
              <a:t>Output: A unique hash/digest for each file to verify integrity or uniqueness.</a:t>
            </a:r>
            <a:endParaRPr lang="en-US" dirty="0"/>
          </a:p>
          <a:p>
            <a:pPr marL="285750" indent="-285750">
              <a:buFont typeface="Arial" panose="020B0604020202020204" pitchFamily="34" charset="0"/>
              <a:buChar char="•"/>
            </a:pPr>
            <a:r>
              <a:rPr lang="en-US" dirty="0"/>
              <a:t>SHA Summary: The fixed-size hash value (e.g., 64 chars for SHA-256).</a:t>
            </a:r>
            <a:endParaRPr lang="en-US" dirty="0"/>
          </a:p>
          <a:p>
            <a:pPr marL="285750" indent="-285750">
              <a:buFont typeface="Arial" panose="020B0604020202020204" pitchFamily="34" charset="0"/>
              <a:buChar char="•"/>
            </a:pPr>
            <a:r>
              <a:rPr lang="en-US" dirty="0"/>
              <a:t>Cryptographic Hash: A unique fingerprint of the file's content (changes if the file is modified).</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228600" y="157307"/>
            <a:ext cx="11277600" cy="3959225"/>
          </a:xfrm>
          <a:prstGeom prst="rect">
            <a:avLst/>
          </a:prstGeom>
        </p:spPr>
        <p:txBody>
          <a:bodyPr wrap="square">
            <a:spAutoFit/>
          </a:bodyPr>
          <a:lstStyle/>
          <a:p>
            <a:pPr algn="ctr"/>
            <a:r>
              <a:rPr lang="en-US" sz="2800" b="1" u="sng" dirty="0" err="1">
                <a:solidFill>
                  <a:srgbClr val="FF0000"/>
                </a:solidFill>
              </a:rPr>
              <a:t>DigestInputStream</a:t>
            </a:r>
            <a:r>
              <a:rPr lang="en-US" sz="2800" b="1" u="sng" dirty="0">
                <a:solidFill>
                  <a:srgbClr val="FF0000"/>
                </a:solidFill>
              </a:rPr>
              <a:t> in Java</a:t>
            </a:r>
            <a:endParaRPr lang="en-US" sz="2800" b="1" u="sng" dirty="0">
              <a:solidFill>
                <a:srgbClr val="FF0000"/>
              </a:solidFill>
            </a:endParaRPr>
          </a:p>
          <a:p>
            <a:pPr algn="ctr"/>
            <a:endParaRPr lang="en-US" sz="2800" b="1" u="sng" dirty="0">
              <a:solidFill>
                <a:srgbClr val="FF0000"/>
              </a:solidFill>
            </a:endParaRPr>
          </a:p>
          <a:p>
            <a:pPr marL="342900" indent="-342900">
              <a:spcAft>
                <a:spcPts val="1000"/>
              </a:spcAft>
              <a:buFont typeface="+mj-lt"/>
              <a:buAutoNum type="arabicPeriod"/>
            </a:pPr>
            <a:r>
              <a:rPr lang="en-US" dirty="0" err="1"/>
              <a:t>DigestInputStream</a:t>
            </a:r>
            <a:r>
              <a:rPr lang="en-US" dirty="0"/>
              <a:t> is a specialized input stream in Java that calculates a message digest </a:t>
            </a:r>
            <a:r>
              <a:rPr lang="en-US" b="1" dirty="0">
                <a:solidFill>
                  <a:srgbClr val="FF0000"/>
                </a:solidFill>
              </a:rPr>
              <a:t>(cryptographic hash) </a:t>
            </a:r>
            <a:r>
              <a:rPr lang="en-US" dirty="0"/>
              <a:t>while reading data. </a:t>
            </a:r>
            <a:endParaRPr lang="en-US" dirty="0"/>
          </a:p>
          <a:p>
            <a:pPr marL="342900" indent="-342900">
              <a:spcAft>
                <a:spcPts val="1000"/>
              </a:spcAft>
              <a:buFont typeface="+mj-lt"/>
              <a:buAutoNum type="arabicPeriod"/>
            </a:pPr>
            <a:r>
              <a:rPr lang="en-US" dirty="0"/>
              <a:t>It's part of Java's security package (</a:t>
            </a:r>
            <a:r>
              <a:rPr lang="en-US" dirty="0" err="1"/>
              <a:t>java.security</a:t>
            </a:r>
            <a:r>
              <a:rPr lang="en-US" dirty="0"/>
              <a:t>) and is used to compute hash values like MD5, SHA-1, SHA-256, etc., as you process input data.</a:t>
            </a:r>
            <a:endParaRPr lang="en-US" dirty="0"/>
          </a:p>
          <a:p>
            <a:endParaRPr lang="en-US" dirty="0"/>
          </a:p>
          <a:p>
            <a:r>
              <a:rPr lang="en-US" b="1" u="sng" dirty="0">
                <a:solidFill>
                  <a:srgbClr val="FF0000"/>
                </a:solidFill>
              </a:rPr>
              <a:t>Key Features</a:t>
            </a:r>
            <a:endParaRPr lang="en-US" b="1" u="sng" dirty="0">
              <a:solidFill>
                <a:srgbClr val="FF0000"/>
              </a:solidFill>
            </a:endParaRPr>
          </a:p>
          <a:p>
            <a:pPr marL="342900" indent="-342900">
              <a:spcAft>
                <a:spcPts val="1000"/>
              </a:spcAft>
              <a:buFont typeface="+mj-lt"/>
              <a:buAutoNum type="arabicPeriod"/>
            </a:pPr>
            <a:r>
              <a:rPr lang="en-US" dirty="0"/>
              <a:t>Combines</a:t>
            </a:r>
            <a:r>
              <a:rPr lang="en-US" u="sng" dirty="0"/>
              <a:t> input streaming</a:t>
            </a:r>
            <a:r>
              <a:rPr lang="en-US" dirty="0"/>
              <a:t> with message digest calculation</a:t>
            </a:r>
            <a:endParaRPr lang="en-US" dirty="0"/>
          </a:p>
          <a:p>
            <a:pPr marL="342900" indent="-342900">
              <a:spcAft>
                <a:spcPts val="1000"/>
              </a:spcAft>
              <a:buFont typeface="+mj-lt"/>
              <a:buAutoNum type="arabicPeriod"/>
            </a:pPr>
            <a:r>
              <a:rPr lang="en-US" dirty="0"/>
              <a:t>Transparent operation - computes digest without changing the data flow</a:t>
            </a:r>
            <a:endParaRPr lang="en-US" dirty="0"/>
          </a:p>
          <a:p>
            <a:pPr marL="342900" indent="-342900">
              <a:spcAft>
                <a:spcPts val="1000"/>
              </a:spcAft>
              <a:buFont typeface="+mj-lt"/>
              <a:buAutoNum type="arabicPeriod"/>
            </a:pPr>
            <a:r>
              <a:rPr lang="en-US" dirty="0"/>
              <a:t>Part of Java Security API (</a:t>
            </a:r>
            <a:r>
              <a:rPr lang="en-US" dirty="0" err="1"/>
              <a:t>java.security</a:t>
            </a:r>
            <a:r>
              <a:rPr lang="en-US" dirty="0"/>
              <a:t> package)</a:t>
            </a:r>
            <a:endParaRPr lang="en-US" dirty="0"/>
          </a:p>
        </p:txBody>
      </p:sp>
      <p:sp>
        <p:nvSpPr>
          <p:cNvPr id="4" name="Rectangle 3"/>
          <p:cNvSpPr/>
          <p:nvPr/>
        </p:nvSpPr>
        <p:spPr>
          <a:xfrm>
            <a:off x="353483" y="4383177"/>
            <a:ext cx="11485034" cy="1862048"/>
          </a:xfrm>
          <a:prstGeom prst="rect">
            <a:avLst/>
          </a:prstGeom>
        </p:spPr>
        <p:txBody>
          <a:bodyPr wrap="square">
            <a:spAutoFit/>
          </a:bodyPr>
          <a:lstStyle/>
          <a:p>
            <a:r>
              <a:rPr lang="en-US" b="1" u="sng" dirty="0">
                <a:solidFill>
                  <a:srgbClr val="FF0000"/>
                </a:solidFill>
              </a:rPr>
              <a:t>Common Use Cases</a:t>
            </a:r>
            <a:endParaRPr lang="en-US" b="1" u="sng" dirty="0">
              <a:solidFill>
                <a:srgbClr val="FF0000"/>
              </a:solidFill>
            </a:endParaRPr>
          </a:p>
          <a:p>
            <a:pPr marL="342900" indent="-342900">
              <a:spcAft>
                <a:spcPts val="1000"/>
              </a:spcAft>
              <a:buFont typeface="+mj-lt"/>
              <a:buAutoNum type="arabicPeriod"/>
            </a:pPr>
            <a:r>
              <a:rPr lang="en-US" dirty="0"/>
              <a:t>Verifying file integrity (checksums)</a:t>
            </a:r>
            <a:endParaRPr lang="en-US" dirty="0"/>
          </a:p>
          <a:p>
            <a:pPr marL="342900" indent="-342900">
              <a:spcAft>
                <a:spcPts val="1000"/>
              </a:spcAft>
              <a:buFont typeface="+mj-lt"/>
              <a:buAutoNum type="arabicPeriod"/>
            </a:pPr>
            <a:r>
              <a:rPr lang="en-US" dirty="0"/>
              <a:t>Digital signatures</a:t>
            </a:r>
            <a:endParaRPr lang="en-US" dirty="0"/>
          </a:p>
          <a:p>
            <a:pPr marL="342900" indent="-342900">
              <a:spcAft>
                <a:spcPts val="1000"/>
              </a:spcAft>
              <a:buFont typeface="+mj-lt"/>
              <a:buAutoNum type="arabicPeriod"/>
            </a:pPr>
            <a:r>
              <a:rPr lang="en-US" dirty="0"/>
              <a:t>Data authentication</a:t>
            </a:r>
            <a:endParaRPr lang="en-US" dirty="0"/>
          </a:p>
          <a:p>
            <a:pPr marL="342900" indent="-342900">
              <a:spcAft>
                <a:spcPts val="1000"/>
              </a:spcAft>
              <a:buFont typeface="+mj-lt"/>
              <a:buAutoNum type="arabicPeriod"/>
            </a:pPr>
            <a:r>
              <a:rPr lang="en-US" dirty="0"/>
              <a:t>Password hashing (though you'd typically use this for streams, not direct password hashing)</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46567" y="457200"/>
            <a:ext cx="6172200" cy="6340197"/>
          </a:xfrm>
          <a:prstGeom prst="rect">
            <a:avLst/>
          </a:prstGeom>
        </p:spPr>
        <p:txBody>
          <a:bodyPr wrap="square">
            <a:spAutoFit/>
          </a:bodyPr>
          <a:lstStyle/>
          <a:p>
            <a:r>
              <a:rPr lang="en-US" sz="1400" b="1" u="sng" dirty="0">
                <a:solidFill>
                  <a:srgbClr val="FF0000"/>
                </a:solidFill>
              </a:rPr>
              <a:t>1. Data Integrity Verification</a:t>
            </a:r>
            <a:endParaRPr lang="en-US" sz="1400" b="1" u="sng" dirty="0">
              <a:solidFill>
                <a:srgbClr val="FF0000"/>
              </a:solidFill>
            </a:endParaRPr>
          </a:p>
          <a:p>
            <a:r>
              <a:rPr lang="en-US" sz="1400" dirty="0"/>
              <a:t>File/Download Verification: Ensure files haven't been corrupted or tampered with</a:t>
            </a:r>
            <a:endParaRPr lang="en-US" sz="1400" dirty="0"/>
          </a:p>
          <a:p>
            <a:r>
              <a:rPr lang="en-US" sz="1400" dirty="0"/>
              <a:t>Software Distribution: Verify installer authenticity (e.g., checksums on download pages)</a:t>
            </a:r>
            <a:endParaRPr lang="en-US" sz="1400" dirty="0"/>
          </a:p>
          <a:p>
            <a:r>
              <a:rPr lang="en-US" sz="1400" dirty="0"/>
              <a:t>Blockchain: Each block contains hash of previous block to maintain chain integrity</a:t>
            </a:r>
            <a:endParaRPr lang="en-US" sz="1400" dirty="0"/>
          </a:p>
          <a:p>
            <a:endParaRPr lang="en-US" sz="1400" dirty="0"/>
          </a:p>
          <a:p>
            <a:r>
              <a:rPr lang="en-US" sz="1400" b="1" u="sng" dirty="0">
                <a:solidFill>
                  <a:srgbClr val="FF0000"/>
                </a:solidFill>
              </a:rPr>
              <a:t>2. Password Storage</a:t>
            </a:r>
            <a:endParaRPr lang="en-US" sz="1400" b="1" u="sng" dirty="0">
              <a:solidFill>
                <a:srgbClr val="FF0000"/>
              </a:solidFill>
            </a:endParaRPr>
          </a:p>
          <a:p>
            <a:r>
              <a:rPr lang="en-US" sz="1400" dirty="0"/>
              <a:t>Hashed Storage: Store password hashes instead of plaintext</a:t>
            </a:r>
            <a:endParaRPr lang="en-US" sz="1400" dirty="0"/>
          </a:p>
          <a:p>
            <a:r>
              <a:rPr lang="en-US" sz="1400" dirty="0"/>
              <a:t>// Java password hashing</a:t>
            </a:r>
            <a:endParaRPr lang="en-US" sz="1400" dirty="0"/>
          </a:p>
          <a:p>
            <a:r>
              <a:rPr lang="en-US" sz="1400" dirty="0" err="1"/>
              <a:t>MessageDigest</a:t>
            </a:r>
            <a:r>
              <a:rPr lang="en-US" sz="1400" dirty="0"/>
              <a:t> md = </a:t>
            </a:r>
            <a:r>
              <a:rPr lang="en-US" sz="1400" dirty="0" err="1"/>
              <a:t>MessageDigest.getInstance</a:t>
            </a:r>
            <a:r>
              <a:rPr lang="en-US" sz="1400" dirty="0"/>
              <a:t>("SHA-256");</a:t>
            </a:r>
            <a:endParaRPr lang="en-US" sz="1400" dirty="0"/>
          </a:p>
          <a:p>
            <a:r>
              <a:rPr lang="en-US" sz="1400" dirty="0"/>
              <a:t>byte[] </a:t>
            </a:r>
            <a:r>
              <a:rPr lang="en-US" sz="1400" dirty="0" err="1"/>
              <a:t>hashedPassword</a:t>
            </a:r>
            <a:r>
              <a:rPr lang="en-US" sz="1400" dirty="0"/>
              <a:t> = </a:t>
            </a:r>
            <a:r>
              <a:rPr lang="en-US" sz="1400" dirty="0" err="1"/>
              <a:t>md.digest</a:t>
            </a:r>
            <a:r>
              <a:rPr lang="en-US" sz="1400" dirty="0"/>
              <a:t>(</a:t>
            </a:r>
            <a:r>
              <a:rPr lang="en-US" sz="1400" dirty="0" err="1"/>
              <a:t>password.getBytes</a:t>
            </a:r>
            <a:r>
              <a:rPr lang="en-US" sz="1400" dirty="0"/>
              <a:t>(StandardCharsets.UTF_8));</a:t>
            </a:r>
            <a:endParaRPr lang="en-US" sz="1400" dirty="0"/>
          </a:p>
          <a:p>
            <a:r>
              <a:rPr lang="en-US" sz="1400" dirty="0"/>
              <a:t>Salting: Adds random data before hashing to prevent rainbow table attacks</a:t>
            </a:r>
            <a:endParaRPr lang="en-US" sz="1400" dirty="0"/>
          </a:p>
          <a:p>
            <a:r>
              <a:rPr lang="en-US" sz="1400" dirty="0"/>
              <a:t>Key Derivation: PBKDF2, </a:t>
            </a:r>
            <a:r>
              <a:rPr lang="en-US" sz="1400" dirty="0" err="1"/>
              <a:t>bcrypt</a:t>
            </a:r>
            <a:r>
              <a:rPr lang="en-US" sz="1400" dirty="0"/>
              <a:t>, </a:t>
            </a:r>
            <a:r>
              <a:rPr lang="en-US" sz="1400" dirty="0" err="1"/>
              <a:t>scrypt</a:t>
            </a:r>
            <a:r>
              <a:rPr lang="en-US" sz="1400" dirty="0"/>
              <a:t> use hashing for slow password verification</a:t>
            </a:r>
            <a:endParaRPr lang="en-US" sz="1400" dirty="0"/>
          </a:p>
          <a:p>
            <a:endParaRPr lang="en-US" sz="1400" dirty="0"/>
          </a:p>
          <a:p>
            <a:r>
              <a:rPr lang="en-US" sz="1400" b="1" u="sng" dirty="0">
                <a:solidFill>
                  <a:srgbClr val="FF0000"/>
                </a:solidFill>
              </a:rPr>
              <a:t>3. Digital Signatures</a:t>
            </a:r>
            <a:endParaRPr lang="en-US" sz="1400" b="1" u="sng" dirty="0">
              <a:solidFill>
                <a:srgbClr val="FF0000"/>
              </a:solidFill>
            </a:endParaRPr>
          </a:p>
          <a:p>
            <a:r>
              <a:rPr lang="en-US" sz="1400" dirty="0"/>
              <a:t>Document Signing: Hash documents before signing (more efficient than signing entire content)</a:t>
            </a:r>
            <a:endParaRPr lang="en-US" sz="1400" dirty="0"/>
          </a:p>
          <a:p>
            <a:r>
              <a:rPr lang="en-US" sz="1400" dirty="0"/>
              <a:t>[Document] → Hash → [Signed Hash] → Digital Signature</a:t>
            </a:r>
            <a:endParaRPr lang="en-US" sz="1400" dirty="0"/>
          </a:p>
          <a:p>
            <a:r>
              <a:rPr lang="en-US" sz="1400" dirty="0"/>
              <a:t>Code Signing: Verify software authenticity (e.g., Authenticode for Windows executables)</a:t>
            </a:r>
            <a:endParaRPr lang="en-US" sz="1400" dirty="0"/>
          </a:p>
          <a:p>
            <a:endParaRPr lang="en-US" sz="1400" dirty="0"/>
          </a:p>
          <a:p>
            <a:r>
              <a:rPr lang="en-US" sz="1400" b="1" u="sng" dirty="0">
                <a:solidFill>
                  <a:srgbClr val="FF0000"/>
                </a:solidFill>
              </a:rPr>
              <a:t>4. Forensic Analysis</a:t>
            </a:r>
            <a:endParaRPr lang="en-US" sz="1400" b="1" u="sng" dirty="0">
              <a:solidFill>
                <a:srgbClr val="FF0000"/>
              </a:solidFill>
            </a:endParaRPr>
          </a:p>
          <a:p>
            <a:r>
              <a:rPr lang="en-US" sz="1400" dirty="0"/>
              <a:t>Evidence Hashing: Create tamper-proof hashes of digital evidence</a:t>
            </a:r>
            <a:endParaRPr lang="en-US" sz="1400" dirty="0"/>
          </a:p>
          <a:p>
            <a:r>
              <a:rPr lang="en-US" sz="1400" dirty="0"/>
              <a:t>Chain of Custody: Track evidence integrity throughout investigations</a:t>
            </a:r>
            <a:endParaRPr lang="en-US" sz="1400" dirty="0"/>
          </a:p>
          <a:p>
            <a:r>
              <a:rPr lang="en-US" sz="1400" dirty="0"/>
              <a:t>Disk Imaging: Verify forensic copies (e.g., md5deep for whole disk hashing)</a:t>
            </a:r>
            <a:endParaRPr lang="en-US" sz="1400" dirty="0"/>
          </a:p>
        </p:txBody>
      </p:sp>
      <p:sp>
        <p:nvSpPr>
          <p:cNvPr id="4" name="Rectangle 3"/>
          <p:cNvSpPr/>
          <p:nvPr/>
        </p:nvSpPr>
        <p:spPr>
          <a:xfrm>
            <a:off x="6477000" y="365403"/>
            <a:ext cx="5562600" cy="6340197"/>
          </a:xfrm>
          <a:prstGeom prst="rect">
            <a:avLst/>
          </a:prstGeom>
        </p:spPr>
        <p:txBody>
          <a:bodyPr wrap="square">
            <a:spAutoFit/>
          </a:bodyPr>
          <a:lstStyle/>
          <a:p>
            <a:r>
              <a:rPr lang="en-US" sz="1400" b="1" u="sng" dirty="0">
                <a:solidFill>
                  <a:srgbClr val="FF0000"/>
                </a:solidFill>
              </a:rPr>
              <a:t>5. Blockchain &amp; Cryptocurrencies</a:t>
            </a:r>
            <a:endParaRPr lang="en-US" sz="1400" b="1" u="sng" dirty="0">
              <a:solidFill>
                <a:srgbClr val="FF0000"/>
              </a:solidFill>
            </a:endParaRPr>
          </a:p>
          <a:p>
            <a:r>
              <a:rPr lang="en-US" sz="1400" dirty="0"/>
              <a:t>Transaction Hashing: Bitcoin uses SHA-256 for transaction IDs</a:t>
            </a:r>
            <a:endParaRPr lang="en-US" sz="1400" dirty="0"/>
          </a:p>
          <a:p>
            <a:r>
              <a:rPr lang="en-US" sz="1400" dirty="0"/>
              <a:t>Merkle Trees: Efficiently verify large datasets (used in Bitcoin blocks)</a:t>
            </a:r>
            <a:endParaRPr lang="en-US" sz="1400" dirty="0"/>
          </a:p>
          <a:p>
            <a:r>
              <a:rPr lang="en-US" sz="1400" dirty="0"/>
              <a:t>Proof-of-Work: Miners find hashes with specific patterns (leading zeros)</a:t>
            </a:r>
            <a:endParaRPr lang="en-US" sz="1400" dirty="0"/>
          </a:p>
          <a:p>
            <a:endParaRPr lang="en-US" sz="1400" dirty="0"/>
          </a:p>
          <a:p>
            <a:r>
              <a:rPr lang="en-US" sz="1400" b="1" u="sng" dirty="0">
                <a:solidFill>
                  <a:srgbClr val="FF0000"/>
                </a:solidFill>
              </a:rPr>
              <a:t>6. Secure Communication</a:t>
            </a:r>
            <a:endParaRPr lang="en-US" sz="1400" b="1" u="sng" dirty="0">
              <a:solidFill>
                <a:srgbClr val="FF0000"/>
              </a:solidFill>
            </a:endParaRPr>
          </a:p>
          <a:p>
            <a:r>
              <a:rPr lang="en-US" sz="1400" dirty="0"/>
              <a:t>TLS/SSL: Hashes used in certificate verification and session keys</a:t>
            </a:r>
            <a:endParaRPr lang="en-US" sz="1400" dirty="0"/>
          </a:p>
          <a:p>
            <a:r>
              <a:rPr lang="en-US" sz="1400" dirty="0"/>
              <a:t>HMAC: Hash-based Message Authentication Codes verify message authenticity</a:t>
            </a:r>
            <a:endParaRPr lang="en-US" sz="1400" dirty="0"/>
          </a:p>
          <a:p>
            <a:endParaRPr lang="en-US" sz="1400" dirty="0"/>
          </a:p>
          <a:p>
            <a:r>
              <a:rPr lang="en-US" sz="1400" b="1" u="sng" dirty="0">
                <a:solidFill>
                  <a:srgbClr val="FF0000"/>
                </a:solidFill>
              </a:rPr>
              <a:t>7. Deduplication</a:t>
            </a:r>
            <a:endParaRPr lang="en-US" sz="1400" b="1" u="sng" dirty="0">
              <a:solidFill>
                <a:srgbClr val="FF0000"/>
              </a:solidFill>
            </a:endParaRPr>
          </a:p>
          <a:p>
            <a:r>
              <a:rPr lang="en-US" sz="1400" dirty="0"/>
              <a:t>Storage Systems: Identify duplicate files via hashes (Dropbox, ZFS)</a:t>
            </a:r>
            <a:endParaRPr lang="en-US" sz="1400" dirty="0"/>
          </a:p>
          <a:p>
            <a:r>
              <a:rPr lang="en-US" sz="1400" dirty="0"/>
              <a:t>Database Indexing: Hash unique values for faster lookups</a:t>
            </a:r>
            <a:endParaRPr lang="en-US" sz="1400" dirty="0"/>
          </a:p>
          <a:p>
            <a:r>
              <a:rPr lang="en-US" sz="1400" dirty="0"/>
              <a:t>Malware Detection: Identify known malware by hash (</a:t>
            </a:r>
            <a:r>
              <a:rPr lang="en-US" sz="1400" dirty="0" err="1"/>
              <a:t>VirusTotal</a:t>
            </a:r>
            <a:r>
              <a:rPr lang="en-US" sz="1400" dirty="0"/>
              <a:t> uses SHA-256)</a:t>
            </a:r>
            <a:endParaRPr lang="en-US" sz="1400" dirty="0"/>
          </a:p>
          <a:p>
            <a:endParaRPr lang="en-US" sz="1400" dirty="0"/>
          </a:p>
          <a:p>
            <a:r>
              <a:rPr lang="en-US" sz="1400" b="1" u="sng" dirty="0">
                <a:solidFill>
                  <a:srgbClr val="FF0000"/>
                </a:solidFill>
              </a:rPr>
              <a:t>8. Commitment Schemes</a:t>
            </a:r>
            <a:endParaRPr lang="en-US" sz="1400" b="1" u="sng" dirty="0">
              <a:solidFill>
                <a:srgbClr val="FF0000"/>
              </a:solidFill>
            </a:endParaRPr>
          </a:p>
          <a:p>
            <a:r>
              <a:rPr lang="en-US" sz="1400" dirty="0"/>
              <a:t>Sealed Bids: Submit hashed bids before reveal time</a:t>
            </a:r>
            <a:endParaRPr lang="en-US" sz="1400" dirty="0"/>
          </a:p>
          <a:p>
            <a:r>
              <a:rPr lang="en-US" sz="1400" dirty="0"/>
              <a:t>Password Hints: Store hashes of security question answers</a:t>
            </a:r>
            <a:endParaRPr lang="en-US" sz="1400" dirty="0"/>
          </a:p>
          <a:p>
            <a:endParaRPr lang="en-US" sz="1400" dirty="0"/>
          </a:p>
          <a:p>
            <a:r>
              <a:rPr lang="en-US" sz="1400" b="1" u="sng" dirty="0">
                <a:solidFill>
                  <a:srgbClr val="FF0000"/>
                </a:solidFill>
              </a:rPr>
              <a:t>9. Peer-to-Peer Networks</a:t>
            </a:r>
            <a:endParaRPr lang="en-US" sz="1400" b="1" u="sng" dirty="0">
              <a:solidFill>
                <a:srgbClr val="FF0000"/>
              </a:solidFill>
            </a:endParaRPr>
          </a:p>
          <a:p>
            <a:r>
              <a:rPr lang="en-US" sz="1400" dirty="0"/>
              <a:t>Torrents: Verify file chunks via hashes (SHA-1 in BitTorrent)</a:t>
            </a:r>
            <a:endParaRPr lang="en-US" sz="1400" dirty="0"/>
          </a:p>
          <a:p>
            <a:r>
              <a:rPr lang="en-US" sz="1400" dirty="0"/>
              <a:t>IPFS: Content-addressed storage using </a:t>
            </a:r>
            <a:r>
              <a:rPr lang="en-US" sz="1400" dirty="0" err="1"/>
              <a:t>multihash</a:t>
            </a:r>
            <a:endParaRPr lang="en-US" sz="1400" dirty="0"/>
          </a:p>
          <a:p>
            <a:endParaRPr lang="en-US" sz="1400" dirty="0"/>
          </a:p>
          <a:p>
            <a:r>
              <a:rPr lang="en-US" sz="1400" b="1" u="sng" dirty="0">
                <a:solidFill>
                  <a:srgbClr val="FF0000"/>
                </a:solidFill>
              </a:rPr>
              <a:t>10. Authentication Tokens</a:t>
            </a:r>
            <a:endParaRPr lang="en-US" sz="1400" b="1" u="sng" dirty="0">
              <a:solidFill>
                <a:srgbClr val="FF0000"/>
              </a:solidFill>
            </a:endParaRPr>
          </a:p>
          <a:p>
            <a:r>
              <a:rPr lang="en-US" sz="1400" dirty="0"/>
              <a:t>API Keys: Hashed before storage (like GitHub tokens)</a:t>
            </a:r>
            <a:endParaRPr lang="en-US" sz="1400" dirty="0"/>
          </a:p>
          <a:p>
            <a:r>
              <a:rPr lang="en-US" sz="1400" dirty="0"/>
              <a:t>Session IDs: Derived from hashed user attributes</a:t>
            </a:r>
            <a:endParaRPr lang="en-US" sz="1400" dirty="0"/>
          </a:p>
        </p:txBody>
      </p:sp>
      <p:sp>
        <p:nvSpPr>
          <p:cNvPr id="5" name="TextBox 4"/>
          <p:cNvSpPr txBox="1"/>
          <p:nvPr/>
        </p:nvSpPr>
        <p:spPr>
          <a:xfrm>
            <a:off x="3352800" y="53473"/>
            <a:ext cx="4028016" cy="645160"/>
          </a:xfrm>
          <a:prstGeom prst="rect">
            <a:avLst/>
          </a:prstGeom>
          <a:noFill/>
        </p:spPr>
        <p:txBody>
          <a:bodyPr wrap="square" rtlCol="0">
            <a:spAutoFit/>
          </a:bodyPr>
          <a:lstStyle/>
          <a:p>
            <a:r>
              <a:rPr lang="en-US" b="1" u="sng" dirty="0">
                <a:solidFill>
                  <a:srgbClr val="FF0000"/>
                </a:solidFill>
              </a:rPr>
              <a:t>Application of Cryptographic Hash</a:t>
            </a:r>
            <a:r>
              <a:rPr lang="zh-CN" altLang="en-US" b="1" u="sng" dirty="0">
                <a:solidFill>
                  <a:srgbClr val="FF0000"/>
                </a:solidFill>
              </a:rPr>
              <a:t>加密哈希的应用</a:t>
            </a:r>
            <a:endParaRPr lang="zh-CN" altLang="en-US" b="1" u="sng"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dirty="0"/>
          </a:p>
        </p:txBody>
      </p:sp>
      <p:sp>
        <p:nvSpPr>
          <p:cNvPr id="3" name="Rectangle 2"/>
          <p:cNvSpPr/>
          <p:nvPr/>
        </p:nvSpPr>
        <p:spPr>
          <a:xfrm>
            <a:off x="228600" y="117693"/>
            <a:ext cx="5943600" cy="5847755"/>
          </a:xfrm>
          <a:prstGeom prst="rect">
            <a:avLst/>
          </a:prstGeom>
        </p:spPr>
        <p:txBody>
          <a:bodyPr wrap="square">
            <a:spAutoFit/>
          </a:bodyPr>
          <a:lstStyle/>
          <a:p>
            <a:r>
              <a:rPr lang="en-US" sz="2000" dirty="0"/>
              <a:t>import java.io.*;</a:t>
            </a:r>
            <a:endParaRPr lang="en-US" sz="2000" dirty="0"/>
          </a:p>
          <a:p>
            <a:r>
              <a:rPr lang="en-US" sz="2000" dirty="0"/>
              <a:t>import </a:t>
            </a:r>
            <a:r>
              <a:rPr lang="en-US" sz="2000" dirty="0" err="1"/>
              <a:t>java.security</a:t>
            </a:r>
            <a:r>
              <a:rPr lang="en-US" sz="2000" dirty="0"/>
              <a:t>.*;</a:t>
            </a:r>
            <a:endParaRPr lang="en-US" sz="2000" dirty="0"/>
          </a:p>
          <a:p>
            <a:endParaRPr lang="en-US" sz="2000" dirty="0"/>
          </a:p>
          <a:p>
            <a:r>
              <a:rPr lang="en-US" sz="2000" dirty="0"/>
              <a:t>public class </a:t>
            </a:r>
            <a:r>
              <a:rPr lang="en-US" sz="2000" dirty="0" err="1"/>
              <a:t>DigestExample</a:t>
            </a:r>
            <a:r>
              <a:rPr lang="en-US" sz="2000" dirty="0"/>
              <a:t> {</a:t>
            </a:r>
            <a:endParaRPr lang="en-US" sz="2000" dirty="0"/>
          </a:p>
          <a:p>
            <a:r>
              <a:rPr lang="en-US" sz="2000" dirty="0"/>
              <a:t>    public static void main(String[] </a:t>
            </a:r>
            <a:r>
              <a:rPr lang="en-US" sz="2000" dirty="0" err="1"/>
              <a:t>args</a:t>
            </a:r>
            <a:r>
              <a:rPr lang="en-US" sz="2000" dirty="0"/>
              <a:t>) throws Exception {</a:t>
            </a:r>
            <a:endParaRPr lang="en-US" sz="2000" dirty="0"/>
          </a:p>
          <a:p>
            <a:r>
              <a:rPr lang="en-US" dirty="0">
                <a:solidFill>
                  <a:srgbClr val="FF0000"/>
                </a:solidFill>
              </a:rPr>
              <a:t>//1. Choose a digest algorithm (eg:SHA-256 in this case)</a:t>
            </a:r>
            <a:endParaRPr lang="en-US" dirty="0">
              <a:solidFill>
                <a:srgbClr val="FF0000"/>
              </a:solidFill>
            </a:endParaRPr>
          </a:p>
          <a:p>
            <a:r>
              <a:rPr lang="en-US" sz="2000" dirty="0"/>
              <a:t>        </a:t>
            </a:r>
            <a:r>
              <a:rPr lang="en-US" sz="2000" dirty="0" err="1"/>
              <a:t>MessageDigest</a:t>
            </a:r>
            <a:r>
              <a:rPr lang="en-US" sz="2000" dirty="0"/>
              <a:t> md = </a:t>
            </a:r>
            <a:r>
              <a:rPr lang="en-US" sz="2000" dirty="0" err="1"/>
              <a:t>MessageDigest.getInstance</a:t>
            </a:r>
            <a:r>
              <a:rPr lang="en-US" sz="2000" dirty="0"/>
              <a:t>("SHA-256");</a:t>
            </a:r>
            <a:endParaRPr lang="en-US" sz="2000" dirty="0"/>
          </a:p>
          <a:p>
            <a:r>
              <a:rPr lang="en-US" sz="2000" dirty="0"/>
              <a:t>        </a:t>
            </a:r>
            <a:endParaRPr lang="en-US" sz="2000" dirty="0"/>
          </a:p>
          <a:p>
            <a:r>
              <a:rPr lang="en-US" sz="2000" dirty="0"/>
              <a:t>        try (</a:t>
            </a:r>
            <a:r>
              <a:rPr lang="en-US" sz="2000" dirty="0" err="1"/>
              <a:t>InputStream</a:t>
            </a:r>
            <a:r>
              <a:rPr lang="en-US" sz="2000" dirty="0"/>
              <a:t> is = new </a:t>
            </a:r>
            <a:r>
              <a:rPr lang="en-US" sz="2000" dirty="0" err="1"/>
              <a:t>FileInputStream</a:t>
            </a:r>
            <a:r>
              <a:rPr lang="en-US" sz="2000" dirty="0"/>
              <a:t>("example.txt");</a:t>
            </a:r>
            <a:endParaRPr lang="en-US" sz="2000" dirty="0"/>
          </a:p>
          <a:p>
            <a:r>
              <a:rPr lang="en-US" sz="2000" dirty="0"/>
              <a:t>             </a:t>
            </a:r>
            <a:r>
              <a:rPr lang="en-US" sz="2000" dirty="0" err="1"/>
              <a:t>DigestInputStream</a:t>
            </a:r>
            <a:r>
              <a:rPr lang="en-US" sz="2000" dirty="0"/>
              <a:t> dis = new </a:t>
            </a:r>
            <a:r>
              <a:rPr lang="en-US" sz="2000" dirty="0" err="1"/>
              <a:t>DigestInputStream</a:t>
            </a:r>
            <a:r>
              <a:rPr lang="en-US" sz="2000" dirty="0"/>
              <a:t>(is, md)) {</a:t>
            </a:r>
            <a:endParaRPr lang="en-US" sz="2000" dirty="0"/>
          </a:p>
          <a:p>
            <a:r>
              <a:rPr lang="en-US" sz="2000" dirty="0"/>
              <a:t> </a:t>
            </a:r>
            <a:r>
              <a:rPr lang="en-US" sz="1600" dirty="0">
                <a:solidFill>
                  <a:srgbClr val="FF0000"/>
                </a:solidFill>
              </a:rPr>
              <a:t>//2.  Read through the stream - digest is updated automatically</a:t>
            </a:r>
            <a:endParaRPr lang="en-US" sz="1600" dirty="0">
              <a:solidFill>
                <a:srgbClr val="FF0000"/>
              </a:solidFill>
            </a:endParaRPr>
          </a:p>
          <a:p>
            <a:r>
              <a:rPr lang="en-US" sz="1600" dirty="0">
                <a:solidFill>
                  <a:srgbClr val="FF0000"/>
                </a:solidFill>
              </a:rPr>
              <a:t>// Just reading - digest is updated in background</a:t>
            </a:r>
            <a:endParaRPr lang="en-US" sz="1600" dirty="0">
              <a:solidFill>
                <a:srgbClr val="FF0000"/>
              </a:solidFill>
            </a:endParaRPr>
          </a:p>
          <a:p>
            <a:r>
              <a:rPr lang="en-US" sz="2000" dirty="0"/>
              <a:t>            while (</a:t>
            </a:r>
            <a:r>
              <a:rPr lang="en-US" sz="2000" dirty="0" err="1"/>
              <a:t>dis.read</a:t>
            </a:r>
            <a:r>
              <a:rPr lang="en-US" sz="2000" dirty="0"/>
              <a:t>() != -1) {</a:t>
            </a:r>
            <a:endParaRPr lang="en-US" sz="2000" dirty="0"/>
          </a:p>
          <a:p>
            <a:r>
              <a:rPr lang="en-US" sz="2000" dirty="0"/>
              <a:t>}</a:t>
            </a:r>
            <a:endParaRPr lang="en-US" sz="2000" dirty="0"/>
          </a:p>
          <a:p>
            <a:r>
              <a:rPr lang="en-US" sz="2000" dirty="0"/>
              <a:t>            </a:t>
            </a:r>
            <a:endParaRPr lang="en-US" sz="2000" dirty="0"/>
          </a:p>
        </p:txBody>
      </p:sp>
      <p:sp>
        <p:nvSpPr>
          <p:cNvPr id="4" name="Rectangle 3"/>
          <p:cNvSpPr/>
          <p:nvPr/>
        </p:nvSpPr>
        <p:spPr>
          <a:xfrm>
            <a:off x="6248402" y="1600200"/>
            <a:ext cx="5714998" cy="4708981"/>
          </a:xfrm>
          <a:prstGeom prst="rect">
            <a:avLst/>
          </a:prstGeom>
        </p:spPr>
        <p:txBody>
          <a:bodyPr wrap="square">
            <a:spAutoFit/>
          </a:bodyPr>
          <a:lstStyle/>
          <a:p>
            <a:r>
              <a:rPr lang="en-US" sz="2000" dirty="0">
                <a:solidFill>
                  <a:srgbClr val="FF0000"/>
                </a:solidFill>
              </a:rPr>
              <a:t>// 3. Get the digest value</a:t>
            </a:r>
            <a:endParaRPr lang="en-US" sz="2000" dirty="0">
              <a:solidFill>
                <a:srgbClr val="FF0000"/>
              </a:solidFill>
            </a:endParaRPr>
          </a:p>
          <a:p>
            <a:r>
              <a:rPr lang="en-US" sz="2000" dirty="0"/>
              <a:t>            byte[] digest = </a:t>
            </a:r>
            <a:r>
              <a:rPr lang="en-US" sz="2000" dirty="0" err="1"/>
              <a:t>md.digest</a:t>
            </a:r>
            <a:r>
              <a:rPr lang="en-US" sz="2000" dirty="0"/>
              <a:t>();</a:t>
            </a:r>
            <a:endParaRPr lang="en-US" sz="2000" dirty="0"/>
          </a:p>
          <a:p>
            <a:r>
              <a:rPr lang="en-US" sz="2000" dirty="0"/>
              <a:t>            </a:t>
            </a:r>
            <a:endParaRPr lang="en-US" sz="2000" dirty="0"/>
          </a:p>
          <a:p>
            <a:r>
              <a:rPr lang="en-US" sz="2000" dirty="0"/>
              <a:t> </a:t>
            </a:r>
            <a:r>
              <a:rPr lang="en-US" sz="2000" dirty="0">
                <a:solidFill>
                  <a:srgbClr val="FF0000"/>
                </a:solidFill>
              </a:rPr>
              <a:t>// 4. Convert to hexadecimal representation</a:t>
            </a:r>
            <a:endParaRPr lang="en-US" sz="2000" dirty="0">
              <a:solidFill>
                <a:srgbClr val="FF0000"/>
              </a:solidFill>
            </a:endParaRPr>
          </a:p>
          <a:p>
            <a:r>
              <a:rPr lang="en-US" sz="2000" dirty="0"/>
              <a:t>            StringBuilder </a:t>
            </a:r>
            <a:r>
              <a:rPr lang="en-US" sz="2000" dirty="0" err="1"/>
              <a:t>hexString</a:t>
            </a:r>
            <a:r>
              <a:rPr lang="en-US" sz="2000" dirty="0"/>
              <a:t> = new StringBuilder();</a:t>
            </a:r>
            <a:endParaRPr lang="en-US" sz="2000" dirty="0"/>
          </a:p>
          <a:p>
            <a:r>
              <a:rPr lang="en-US" sz="2000" dirty="0"/>
              <a:t>            for (byte b : digest) {</a:t>
            </a:r>
            <a:endParaRPr lang="en-US" sz="2000" dirty="0"/>
          </a:p>
          <a:p>
            <a:r>
              <a:rPr lang="en-US" sz="2000" dirty="0"/>
              <a:t>        </a:t>
            </a:r>
            <a:r>
              <a:rPr lang="en-US" sz="2000" dirty="0" err="1"/>
              <a:t>hexString.append</a:t>
            </a:r>
            <a:r>
              <a:rPr lang="en-US" sz="2000" dirty="0"/>
              <a:t>(</a:t>
            </a:r>
            <a:r>
              <a:rPr lang="en-US" sz="2000" dirty="0" err="1"/>
              <a:t>String.format</a:t>
            </a:r>
            <a:r>
              <a:rPr lang="en-US" sz="2000" dirty="0"/>
              <a:t>("%02x", b));</a:t>
            </a:r>
            <a:endParaRPr lang="en-US" sz="2000" dirty="0"/>
          </a:p>
          <a:p>
            <a:r>
              <a:rPr lang="en-US" sz="2000" dirty="0"/>
              <a:t>            }</a:t>
            </a:r>
            <a:endParaRPr lang="en-US" sz="2000" dirty="0"/>
          </a:p>
          <a:p>
            <a:r>
              <a:rPr lang="en-US" sz="2000" dirty="0"/>
              <a:t>            </a:t>
            </a:r>
            <a:endParaRPr lang="en-US" sz="2000" dirty="0"/>
          </a:p>
          <a:p>
            <a:r>
              <a:rPr lang="en-US" sz="2000" dirty="0"/>
              <a:t>            </a:t>
            </a:r>
            <a:r>
              <a:rPr lang="en-US" sz="2000" dirty="0" err="1"/>
              <a:t>System.out.println</a:t>
            </a:r>
            <a:r>
              <a:rPr lang="en-US" sz="2000" dirty="0"/>
              <a:t>("SHA-256 Digest: " + </a:t>
            </a:r>
            <a:r>
              <a:rPr lang="en-US" sz="2000" dirty="0" err="1"/>
              <a:t>hexString.toString</a:t>
            </a:r>
            <a:r>
              <a:rPr lang="en-US" sz="2000" dirty="0"/>
              <a:t>());</a:t>
            </a:r>
            <a:endParaRPr lang="en-US" sz="2000" dirty="0"/>
          </a:p>
          <a:p>
            <a:r>
              <a:rPr lang="en-US" sz="2000" dirty="0"/>
              <a:t>        }</a:t>
            </a:r>
            <a:endParaRPr lang="en-US" sz="2000" dirty="0"/>
          </a:p>
          <a:p>
            <a:r>
              <a:rPr lang="en-US" sz="2000" dirty="0"/>
              <a:t>    }</a:t>
            </a:r>
            <a:endParaRPr lang="en-US" sz="2000" dirty="0"/>
          </a:p>
          <a:p>
            <a:r>
              <a:rPr lang="en-US" sz="2000" dirty="0"/>
              <a:t>}</a:t>
            </a:r>
            <a:endParaRPr lang="en-US" sz="2000" dirty="0"/>
          </a:p>
        </p:txBody>
      </p:sp>
      <p:sp>
        <p:nvSpPr>
          <p:cNvPr id="5" name="Rectangle 4"/>
          <p:cNvSpPr/>
          <p:nvPr/>
        </p:nvSpPr>
        <p:spPr>
          <a:xfrm>
            <a:off x="2994507" y="241042"/>
            <a:ext cx="8763000" cy="461665"/>
          </a:xfrm>
          <a:prstGeom prst="rect">
            <a:avLst/>
          </a:prstGeom>
        </p:spPr>
        <p:txBody>
          <a:bodyPr wrap="square">
            <a:spAutoFit/>
          </a:bodyPr>
          <a:lstStyle/>
          <a:p>
            <a:pPr algn="ctr"/>
            <a:r>
              <a:rPr lang="en-US" sz="2400" b="1" u="sng" dirty="0">
                <a:solidFill>
                  <a:srgbClr val="FF0000"/>
                </a:solidFill>
              </a:rPr>
              <a:t>Compute SHA hash value (like SHA-256) for single file </a:t>
            </a:r>
            <a:endParaRPr lang="en-US" sz="2400" b="1" u="sng"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152400" y="242455"/>
            <a:ext cx="5562600" cy="5015865"/>
          </a:xfrm>
          <a:prstGeom prst="rect">
            <a:avLst/>
          </a:prstGeom>
        </p:spPr>
        <p:txBody>
          <a:bodyPr wrap="square">
            <a:spAutoFit/>
          </a:bodyPr>
          <a:lstStyle/>
          <a:p>
            <a:pPr marL="342900" indent="-342900">
              <a:buFont typeface="+mj-lt"/>
              <a:buAutoNum type="arabicPeriod"/>
            </a:pPr>
            <a:r>
              <a:rPr lang="en-US" sz="2000" b="1" u="sng" dirty="0">
                <a:solidFill>
                  <a:srgbClr val="FF0000"/>
                </a:solidFill>
              </a:rPr>
              <a:t>Important Methods</a:t>
            </a:r>
            <a:endParaRPr lang="en-US" sz="2000" b="1" u="sng" dirty="0">
              <a:solidFill>
                <a:srgbClr val="FF0000"/>
              </a:solidFill>
            </a:endParaRPr>
          </a:p>
          <a:p>
            <a:endParaRPr lang="en-US" sz="2000" b="1" u="sng" dirty="0">
              <a:solidFill>
                <a:srgbClr val="FF0000"/>
              </a:solidFill>
            </a:endParaRPr>
          </a:p>
          <a:p>
            <a:pPr marL="285750" indent="-285750">
              <a:buFont typeface="Wingdings" panose="05000000000000000000" pitchFamily="2" charset="2"/>
              <a:buChar char="q"/>
            </a:pPr>
            <a:r>
              <a:rPr lang="en-US" sz="2000" dirty="0" err="1"/>
              <a:t>DigestInputStream</a:t>
            </a:r>
            <a:r>
              <a:rPr lang="en-US" sz="2000" dirty="0"/>
              <a:t>(</a:t>
            </a:r>
            <a:r>
              <a:rPr lang="en-US" sz="2000" dirty="0" err="1"/>
              <a:t>InputStream</a:t>
            </a:r>
            <a:r>
              <a:rPr lang="en-US" sz="2000" dirty="0"/>
              <a:t> stream, </a:t>
            </a:r>
            <a:r>
              <a:rPr lang="en-US" sz="2000" dirty="0" err="1"/>
              <a:t>MessageDigest</a:t>
            </a:r>
            <a:r>
              <a:rPr lang="en-US" sz="2000" dirty="0"/>
              <a:t> digest) : Constructor that wraps an existing input stream</a:t>
            </a:r>
            <a:endParaRPr lang="en-US" sz="2000" dirty="0"/>
          </a:p>
          <a:p>
            <a:endParaRPr lang="en-US" sz="2000" dirty="0"/>
          </a:p>
          <a:p>
            <a:pPr marL="285750" indent="-285750">
              <a:buFont typeface="Wingdings" panose="05000000000000000000" pitchFamily="2" charset="2"/>
              <a:buChar char="q"/>
            </a:pPr>
            <a:r>
              <a:rPr lang="en-US" sz="2000" dirty="0" err="1"/>
              <a:t>MessageDigest</a:t>
            </a:r>
            <a:r>
              <a:rPr lang="en-US" sz="2000" dirty="0"/>
              <a:t> </a:t>
            </a:r>
            <a:r>
              <a:rPr lang="en-US" sz="2000" dirty="0" err="1"/>
              <a:t>getMessageDigest</a:t>
            </a:r>
            <a:r>
              <a:rPr lang="en-US" sz="2000" dirty="0"/>
              <a:t>(): Returns the associated message digest object</a:t>
            </a:r>
            <a:endParaRPr lang="en-US" sz="2000" dirty="0"/>
          </a:p>
          <a:p>
            <a:endParaRPr lang="en-US" sz="2000" dirty="0"/>
          </a:p>
          <a:p>
            <a:pPr marL="285750" indent="-285750">
              <a:buFont typeface="Wingdings" panose="05000000000000000000" pitchFamily="2" charset="2"/>
              <a:buChar char="q"/>
            </a:pPr>
            <a:r>
              <a:rPr lang="en-US" sz="2000" dirty="0"/>
              <a:t>void </a:t>
            </a:r>
            <a:r>
              <a:rPr lang="en-US" sz="2000" dirty="0" err="1"/>
              <a:t>setMessageDigest</a:t>
            </a:r>
            <a:r>
              <a:rPr lang="en-US" sz="2000" dirty="0"/>
              <a:t>(</a:t>
            </a:r>
            <a:r>
              <a:rPr lang="en-US" sz="2000" dirty="0" err="1"/>
              <a:t>MessageDigest</a:t>
            </a:r>
            <a:r>
              <a:rPr lang="en-US" sz="2000" dirty="0"/>
              <a:t> digest) : Associates a different digest with the stream</a:t>
            </a:r>
            <a:endParaRPr lang="en-US" sz="2000" dirty="0"/>
          </a:p>
          <a:p>
            <a:endParaRPr lang="en-US" sz="2000" dirty="0"/>
          </a:p>
          <a:p>
            <a:pPr marL="285750" indent="-285750">
              <a:buFont typeface="Wingdings" panose="05000000000000000000" pitchFamily="2" charset="2"/>
              <a:buChar char="q"/>
            </a:pPr>
            <a:r>
              <a:rPr lang="en-US" sz="2000" dirty="0"/>
              <a:t>void on(</a:t>
            </a:r>
            <a:r>
              <a:rPr lang="en-US" sz="2000" dirty="0" err="1"/>
              <a:t>boolean</a:t>
            </a:r>
            <a:r>
              <a:rPr lang="en-US" sz="2000" dirty="0"/>
              <a:t> on): </a:t>
            </a:r>
            <a:endParaRPr lang="en-US" sz="2000" dirty="0"/>
          </a:p>
          <a:p>
            <a:pPr marL="0" indent="0">
              <a:buFont typeface="Wingdings" panose="05000000000000000000" pitchFamily="2" charset="2"/>
              <a:buNone/>
            </a:pPr>
            <a:r>
              <a:rPr lang="en-US" sz="2000" dirty="0"/>
              <a:t>Turns digest functionality on/off (default is on)</a:t>
            </a:r>
            <a:endParaRPr lang="en-US" sz="2000" dirty="0"/>
          </a:p>
        </p:txBody>
      </p:sp>
      <p:sp>
        <p:nvSpPr>
          <p:cNvPr id="4" name="Rectangle 3"/>
          <p:cNvSpPr/>
          <p:nvPr/>
        </p:nvSpPr>
        <p:spPr>
          <a:xfrm>
            <a:off x="6019800" y="90905"/>
            <a:ext cx="6019800" cy="4862870"/>
          </a:xfrm>
          <a:prstGeom prst="rect">
            <a:avLst/>
          </a:prstGeom>
        </p:spPr>
        <p:txBody>
          <a:bodyPr wrap="square">
            <a:spAutoFit/>
          </a:bodyPr>
          <a:lstStyle/>
          <a:p>
            <a:pPr marL="342900" indent="-342900">
              <a:buFont typeface="+mj-lt"/>
              <a:buAutoNum type="arabicPeriod" startAt="2"/>
            </a:pPr>
            <a:r>
              <a:rPr lang="en-US" sz="2000" b="1" u="sng" dirty="0">
                <a:solidFill>
                  <a:srgbClr val="FF0000"/>
                </a:solidFill>
              </a:rPr>
              <a:t>Performance Considerations</a:t>
            </a:r>
            <a:endParaRPr lang="en-US" sz="2000" b="1" u="sng" dirty="0">
              <a:solidFill>
                <a:srgbClr val="FF0000"/>
              </a:solidFill>
            </a:endParaRPr>
          </a:p>
          <a:p>
            <a:endParaRPr lang="en-US" sz="2000" b="1" u="sng" dirty="0">
              <a:solidFill>
                <a:srgbClr val="FF0000"/>
              </a:solidFill>
            </a:endParaRPr>
          </a:p>
          <a:p>
            <a:pPr marL="342900" indent="-342900">
              <a:buFont typeface="+mj-lt"/>
              <a:buAutoNum type="alphaLcParenR"/>
            </a:pPr>
            <a:r>
              <a:rPr lang="en-US" dirty="0"/>
              <a:t>Adds minimal overhead to stream processing</a:t>
            </a:r>
            <a:endParaRPr lang="en-US" dirty="0"/>
          </a:p>
          <a:p>
            <a:pPr marL="342900" indent="-342900">
              <a:buFont typeface="+mj-lt"/>
              <a:buAutoNum type="alphaLcParenR"/>
            </a:pPr>
            <a:endParaRPr lang="en-US" dirty="0"/>
          </a:p>
          <a:p>
            <a:pPr marL="342900" indent="-342900">
              <a:buFont typeface="+mj-lt"/>
              <a:buAutoNum type="alphaLcParenR"/>
            </a:pPr>
            <a:r>
              <a:rPr lang="en-US" dirty="0"/>
              <a:t>Digest is computed incrementally as data is read</a:t>
            </a:r>
            <a:endParaRPr lang="en-US" dirty="0"/>
          </a:p>
          <a:p>
            <a:pPr marL="342900" indent="-342900">
              <a:buFont typeface="+mj-lt"/>
              <a:buAutoNum type="alphaLcParenR"/>
            </a:pPr>
            <a:endParaRPr lang="en-US" dirty="0"/>
          </a:p>
          <a:p>
            <a:pPr marL="342900" indent="-342900">
              <a:buFont typeface="+mj-lt"/>
              <a:buAutoNum type="alphaLcParenR"/>
            </a:pPr>
            <a:r>
              <a:rPr lang="en-US" dirty="0"/>
              <a:t>More efficient than reading the stream first and then computing digest separately</a:t>
            </a:r>
            <a:endParaRPr lang="en-US" dirty="0"/>
          </a:p>
          <a:p>
            <a:pPr marL="342900" indent="-342900">
              <a:buFont typeface="+mj-lt"/>
              <a:buAutoNum type="alphaLcParenR"/>
            </a:pPr>
            <a:endParaRPr lang="en-US" dirty="0"/>
          </a:p>
          <a:p>
            <a:pPr marL="342900" indent="-342900">
              <a:buFont typeface="+mj-lt"/>
              <a:buAutoNum type="alphaLcParenR"/>
            </a:pPr>
            <a:r>
              <a:rPr lang="en-US" dirty="0"/>
              <a:t>Security Algorithms Available that you can use with </a:t>
            </a:r>
            <a:r>
              <a:rPr lang="en-US" dirty="0" err="1"/>
              <a:t>DigestInputStream</a:t>
            </a:r>
            <a:r>
              <a:rPr lang="en-US" dirty="0"/>
              <a:t>:</a:t>
            </a:r>
            <a:endParaRPr lang="en-US" dirty="0"/>
          </a:p>
          <a:p>
            <a:pPr marL="342900" indent="-342900">
              <a:buFont typeface="+mj-lt"/>
              <a:buAutoNum type="alphaLcParenR"/>
            </a:pPr>
            <a:endParaRPr lang="en-US" dirty="0"/>
          </a:p>
          <a:p>
            <a:pPr marL="857250" lvl="1" indent="-400050">
              <a:buFont typeface="+mj-lt"/>
              <a:buAutoNum type="romanLcPeriod"/>
            </a:pPr>
            <a:r>
              <a:rPr lang="en-US" dirty="0"/>
              <a:t>MD5 (not recommended for security purposes)</a:t>
            </a:r>
            <a:endParaRPr lang="en-US" dirty="0"/>
          </a:p>
          <a:p>
            <a:pPr marL="857250" lvl="1" indent="-400050">
              <a:buFont typeface="+mj-lt"/>
              <a:buAutoNum type="romanLcPeriod"/>
            </a:pPr>
            <a:r>
              <a:rPr lang="en-US" dirty="0"/>
              <a:t>SHA-1 (being phased out)</a:t>
            </a:r>
            <a:endParaRPr lang="en-US" dirty="0"/>
          </a:p>
          <a:p>
            <a:pPr marL="857250" lvl="1" indent="-400050">
              <a:buFont typeface="+mj-lt"/>
              <a:buAutoNum type="romanLcPeriod"/>
            </a:pPr>
            <a:r>
              <a:rPr lang="en-US" dirty="0"/>
              <a:t>SHA-256 (recommended)</a:t>
            </a:r>
            <a:endParaRPr lang="en-US" dirty="0"/>
          </a:p>
          <a:p>
            <a:pPr marL="857250" lvl="1" indent="-400050">
              <a:buFont typeface="+mj-lt"/>
              <a:buAutoNum type="romanLcPeriod"/>
            </a:pPr>
            <a:r>
              <a:rPr lang="en-US" dirty="0"/>
              <a:t>SHA-384</a:t>
            </a:r>
            <a:endParaRPr lang="en-US" dirty="0"/>
          </a:p>
          <a:p>
            <a:pPr marL="857250" lvl="1" indent="-400050">
              <a:buFont typeface="+mj-lt"/>
              <a:buAutoNum type="romanLcPeriod"/>
            </a:pPr>
            <a:r>
              <a:rPr lang="en-US" dirty="0"/>
              <a:t>SHA-512</a:t>
            </a:r>
            <a:endParaRPr lang="en-US" dirty="0"/>
          </a:p>
        </p:txBody>
      </p:sp>
      <p:sp>
        <p:nvSpPr>
          <p:cNvPr id="5" name="Rectangle 4"/>
          <p:cNvSpPr/>
          <p:nvPr/>
        </p:nvSpPr>
        <p:spPr>
          <a:xfrm>
            <a:off x="4191000" y="5562600"/>
            <a:ext cx="7696200" cy="646331"/>
          </a:xfrm>
          <a:prstGeom prst="rect">
            <a:avLst/>
          </a:prstGeom>
        </p:spPr>
        <p:txBody>
          <a:bodyPr wrap="square">
            <a:spAutoFit/>
          </a:bodyPr>
          <a:lstStyle/>
          <a:p>
            <a:r>
              <a:rPr lang="en-US" b="1" dirty="0">
                <a:solidFill>
                  <a:srgbClr val="FF0000"/>
                </a:solidFill>
              </a:rPr>
              <a:t>You'd specify these algorithms when creating the </a:t>
            </a:r>
            <a:r>
              <a:rPr lang="en-US" b="1" dirty="0" err="1">
                <a:solidFill>
                  <a:srgbClr val="FF0000"/>
                </a:solidFill>
              </a:rPr>
              <a:t>MessageDigest</a:t>
            </a:r>
            <a:r>
              <a:rPr lang="en-US" b="1" dirty="0">
                <a:solidFill>
                  <a:srgbClr val="FF0000"/>
                </a:solidFill>
              </a:rPr>
              <a:t> instance (e.g., </a:t>
            </a:r>
            <a:r>
              <a:rPr lang="en-US" b="1" dirty="0" err="1">
                <a:solidFill>
                  <a:srgbClr val="FF0000"/>
                </a:solidFill>
              </a:rPr>
              <a:t>MessageDigest.getInstance</a:t>
            </a:r>
            <a:r>
              <a:rPr lang="en-US" b="1" dirty="0">
                <a:solidFill>
                  <a:srgbClr val="FF0000"/>
                </a:solidFill>
              </a:rPr>
              <a:t>("SHA-256")).</a:t>
            </a:r>
            <a:endParaRPr lang="en-US" b="1" dirty="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118533" y="152400"/>
            <a:ext cx="6324600" cy="6185535"/>
          </a:xfrm>
          <a:prstGeom prst="rect">
            <a:avLst/>
          </a:prstGeom>
        </p:spPr>
        <p:txBody>
          <a:bodyPr wrap="square">
            <a:spAutoFit/>
          </a:bodyPr>
          <a:lstStyle/>
          <a:p>
            <a:r>
              <a:rPr lang="en-US" dirty="0">
                <a:solidFill>
                  <a:srgbClr val="002060"/>
                </a:solidFill>
              </a:rPr>
              <a:t>import java.io.*;</a:t>
            </a:r>
            <a:endParaRPr lang="en-US" dirty="0">
              <a:solidFill>
                <a:srgbClr val="002060"/>
              </a:solidFill>
            </a:endParaRPr>
          </a:p>
          <a:p>
            <a:r>
              <a:rPr lang="en-US" dirty="0">
                <a:solidFill>
                  <a:srgbClr val="002060"/>
                </a:solidFill>
              </a:rPr>
              <a:t>import </a:t>
            </a:r>
            <a:r>
              <a:rPr lang="en-US" dirty="0" err="1">
                <a:solidFill>
                  <a:srgbClr val="002060"/>
                </a:solidFill>
              </a:rPr>
              <a:t>java.security</a:t>
            </a:r>
            <a:r>
              <a:rPr lang="en-US" dirty="0">
                <a:solidFill>
                  <a:srgbClr val="002060"/>
                </a:solidFill>
              </a:rPr>
              <a:t>.*;</a:t>
            </a:r>
            <a:endParaRPr lang="en-US" dirty="0">
              <a:solidFill>
                <a:srgbClr val="002060"/>
              </a:solidFill>
            </a:endParaRPr>
          </a:p>
          <a:p>
            <a:r>
              <a:rPr lang="en-US" dirty="0">
                <a:solidFill>
                  <a:srgbClr val="002060"/>
                </a:solidFill>
              </a:rPr>
              <a:t>public class </a:t>
            </a:r>
            <a:r>
              <a:rPr lang="en-US" dirty="0" err="1">
                <a:solidFill>
                  <a:srgbClr val="002060"/>
                </a:solidFill>
              </a:rPr>
              <a:t>FileHashCalculator</a:t>
            </a:r>
            <a:r>
              <a:rPr lang="en-US" dirty="0">
                <a:solidFill>
                  <a:srgbClr val="002060"/>
                </a:solidFill>
              </a:rPr>
              <a:t> {</a:t>
            </a:r>
            <a:endParaRPr lang="en-US" dirty="0">
              <a:solidFill>
                <a:srgbClr val="002060"/>
              </a:solidFill>
            </a:endParaRPr>
          </a:p>
          <a:p>
            <a:r>
              <a:rPr lang="en-US" dirty="0">
                <a:solidFill>
                  <a:srgbClr val="002060"/>
                </a:solidFill>
              </a:rPr>
              <a:t>    public static void main(String[] </a:t>
            </a:r>
            <a:r>
              <a:rPr lang="en-US" dirty="0" err="1">
                <a:solidFill>
                  <a:srgbClr val="002060"/>
                </a:solidFill>
              </a:rPr>
              <a:t>args</a:t>
            </a:r>
            <a:r>
              <a:rPr lang="en-US" dirty="0">
                <a:solidFill>
                  <a:srgbClr val="002060"/>
                </a:solidFill>
              </a:rPr>
              <a:t>) {</a:t>
            </a:r>
            <a:endParaRPr lang="en-US" dirty="0">
              <a:solidFill>
                <a:srgbClr val="002060"/>
              </a:solidFill>
            </a:endParaRPr>
          </a:p>
          <a:p>
            <a:r>
              <a:rPr lang="en-US" dirty="0">
                <a:solidFill>
                  <a:srgbClr val="002060"/>
                </a:solidFill>
              </a:rPr>
              <a:t>        String[] files = {"file1.txt", "file2.txt", "file3.txt"};</a:t>
            </a:r>
            <a:endParaRPr lang="en-US" dirty="0">
              <a:solidFill>
                <a:srgbClr val="002060"/>
              </a:solidFill>
            </a:endParaRPr>
          </a:p>
          <a:p>
            <a:r>
              <a:rPr lang="en-US" dirty="0">
                <a:solidFill>
                  <a:srgbClr val="002060"/>
                </a:solidFill>
              </a:rPr>
              <a:t>        String algorithm = "SHA-256"; </a:t>
            </a:r>
            <a:endParaRPr lang="en-US" dirty="0">
              <a:solidFill>
                <a:srgbClr val="002060"/>
              </a:solidFill>
            </a:endParaRPr>
          </a:p>
          <a:p>
            <a:r>
              <a:rPr lang="en-US" dirty="0">
                <a:solidFill>
                  <a:srgbClr val="FF0000"/>
                </a:solidFill>
              </a:rPr>
              <a:t>// Choose SHA-1, SHA-384, etc.</a:t>
            </a:r>
            <a:endParaRPr lang="en-US" dirty="0">
              <a:solidFill>
                <a:srgbClr val="FF0000"/>
              </a:solidFill>
            </a:endParaRPr>
          </a:p>
          <a:p>
            <a:r>
              <a:rPr lang="en-US" dirty="0">
                <a:solidFill>
                  <a:srgbClr val="002060"/>
                </a:solidFill>
              </a:rPr>
              <a:t>        for (String file : files) {</a:t>
            </a:r>
            <a:endParaRPr lang="en-US" dirty="0">
              <a:solidFill>
                <a:srgbClr val="002060"/>
              </a:solidFill>
            </a:endParaRPr>
          </a:p>
          <a:p>
            <a:r>
              <a:rPr lang="en-US" dirty="0">
                <a:solidFill>
                  <a:srgbClr val="002060"/>
                </a:solidFill>
              </a:rPr>
              <a:t>            try {</a:t>
            </a:r>
            <a:endParaRPr lang="en-US" dirty="0">
              <a:solidFill>
                <a:srgbClr val="002060"/>
              </a:solidFill>
            </a:endParaRPr>
          </a:p>
          <a:p>
            <a:r>
              <a:rPr lang="en-US" dirty="0">
                <a:solidFill>
                  <a:srgbClr val="002060"/>
                </a:solidFill>
              </a:rPr>
              <a:t>                byte[] </a:t>
            </a:r>
            <a:r>
              <a:rPr lang="en-US" dirty="0" err="1">
                <a:solidFill>
                  <a:srgbClr val="002060"/>
                </a:solidFill>
              </a:rPr>
              <a:t>fileHash</a:t>
            </a:r>
            <a:r>
              <a:rPr lang="en-US" dirty="0">
                <a:solidFill>
                  <a:srgbClr val="002060"/>
                </a:solidFill>
              </a:rPr>
              <a:t> = </a:t>
            </a:r>
            <a:r>
              <a:rPr lang="en-US" dirty="0" err="1">
                <a:solidFill>
                  <a:srgbClr val="002060"/>
                </a:solidFill>
              </a:rPr>
              <a:t>calculateSHA</a:t>
            </a:r>
            <a:r>
              <a:rPr lang="en-US" dirty="0">
                <a:solidFill>
                  <a:srgbClr val="002060"/>
                </a:solidFill>
              </a:rPr>
              <a:t>(new File(file), algorithm);</a:t>
            </a:r>
            <a:endParaRPr lang="en-US" dirty="0">
              <a:solidFill>
                <a:srgbClr val="002060"/>
              </a:solidFill>
            </a:endParaRPr>
          </a:p>
          <a:p>
            <a:r>
              <a:rPr lang="en-US" dirty="0">
                <a:solidFill>
                  <a:srgbClr val="002060"/>
                </a:solidFill>
              </a:rPr>
              <a:t>                </a:t>
            </a:r>
            <a:r>
              <a:rPr lang="en-US" dirty="0" err="1">
                <a:solidFill>
                  <a:srgbClr val="002060"/>
                </a:solidFill>
              </a:rPr>
              <a:t>System.out.println</a:t>
            </a:r>
            <a:r>
              <a:rPr lang="en-US" dirty="0">
                <a:solidFill>
                  <a:srgbClr val="002060"/>
                </a:solidFill>
              </a:rPr>
              <a:t>(file + ": " + </a:t>
            </a:r>
            <a:r>
              <a:rPr lang="en-US" dirty="0" err="1">
                <a:solidFill>
                  <a:srgbClr val="002060"/>
                </a:solidFill>
              </a:rPr>
              <a:t>bytesToHex</a:t>
            </a:r>
            <a:r>
              <a:rPr lang="en-US" dirty="0">
                <a:solidFill>
                  <a:srgbClr val="002060"/>
                </a:solidFill>
              </a:rPr>
              <a:t>(</a:t>
            </a:r>
            <a:r>
              <a:rPr lang="en-US" dirty="0" err="1">
                <a:solidFill>
                  <a:srgbClr val="002060"/>
                </a:solidFill>
              </a:rPr>
              <a:t>fileHash</a:t>
            </a:r>
            <a:r>
              <a:rPr lang="en-US" dirty="0">
                <a:solidFill>
                  <a:srgbClr val="002060"/>
                </a:solidFill>
              </a:rPr>
              <a:t>));</a:t>
            </a:r>
            <a:endParaRPr lang="en-US" dirty="0">
              <a:solidFill>
                <a:srgbClr val="002060"/>
              </a:solidFill>
            </a:endParaRPr>
          </a:p>
          <a:p>
            <a:r>
              <a:rPr lang="en-US" dirty="0">
                <a:solidFill>
                  <a:srgbClr val="002060"/>
                </a:solidFill>
              </a:rPr>
              <a:t>            } catch (Exception e) {</a:t>
            </a:r>
            <a:endParaRPr lang="en-US" dirty="0">
              <a:solidFill>
                <a:srgbClr val="002060"/>
              </a:solidFill>
            </a:endParaRPr>
          </a:p>
          <a:p>
            <a:r>
              <a:rPr lang="en-US" dirty="0">
                <a:solidFill>
                  <a:srgbClr val="002060"/>
                </a:solidFill>
              </a:rPr>
              <a:t>                </a:t>
            </a:r>
            <a:r>
              <a:rPr lang="en-US" dirty="0" err="1">
                <a:solidFill>
                  <a:srgbClr val="002060"/>
                </a:solidFill>
              </a:rPr>
              <a:t>System.err.println</a:t>
            </a:r>
            <a:r>
              <a:rPr lang="en-US" dirty="0">
                <a:solidFill>
                  <a:srgbClr val="002060"/>
                </a:solidFill>
              </a:rPr>
              <a:t>("Error processing " + file + ": " + </a:t>
            </a:r>
            <a:r>
              <a:rPr lang="en-US" dirty="0" err="1">
                <a:solidFill>
                  <a:srgbClr val="002060"/>
                </a:solidFill>
              </a:rPr>
              <a:t>e.getMessage</a:t>
            </a:r>
            <a:r>
              <a:rPr lang="en-US" dirty="0">
                <a:solidFill>
                  <a:srgbClr val="002060"/>
                </a:solidFill>
              </a:rPr>
              <a:t>());</a:t>
            </a:r>
            <a:endParaRPr lang="en-US" dirty="0">
              <a:solidFill>
                <a:srgbClr val="002060"/>
              </a:solidFill>
            </a:endParaRPr>
          </a:p>
          <a:p>
            <a:r>
              <a:rPr lang="en-US" dirty="0">
                <a:solidFill>
                  <a:srgbClr val="002060"/>
                </a:solidFill>
              </a:rPr>
              <a:t>            }     }</a:t>
            </a:r>
            <a:endParaRPr lang="en-US" dirty="0">
              <a:solidFill>
                <a:srgbClr val="002060"/>
              </a:solidFill>
            </a:endParaRPr>
          </a:p>
          <a:p>
            <a:r>
              <a:rPr lang="en-US" dirty="0">
                <a:solidFill>
                  <a:srgbClr val="002060"/>
                </a:solidFill>
              </a:rPr>
              <a:t>    }</a:t>
            </a:r>
            <a:endParaRPr lang="en-US" dirty="0">
              <a:solidFill>
                <a:srgbClr val="002060"/>
              </a:solidFill>
            </a:endParaRPr>
          </a:p>
          <a:p>
            <a:r>
              <a:rPr lang="en-US" dirty="0">
                <a:solidFill>
                  <a:srgbClr val="FF0000"/>
                </a:solidFill>
              </a:rPr>
              <a:t> // Computes SHA hash of a file</a:t>
            </a:r>
            <a:endParaRPr lang="en-US" dirty="0">
              <a:solidFill>
                <a:srgbClr val="FF0000"/>
              </a:solidFill>
            </a:endParaRPr>
          </a:p>
          <a:p>
            <a:r>
              <a:rPr lang="en-US" dirty="0">
                <a:solidFill>
                  <a:srgbClr val="002060"/>
                </a:solidFill>
              </a:rPr>
              <a:t>   private static byte[] </a:t>
            </a:r>
            <a:r>
              <a:rPr lang="en-US" dirty="0" err="1">
                <a:solidFill>
                  <a:srgbClr val="002060"/>
                </a:solidFill>
              </a:rPr>
              <a:t>calculateSHA</a:t>
            </a:r>
            <a:r>
              <a:rPr lang="en-US" dirty="0">
                <a:solidFill>
                  <a:srgbClr val="002060"/>
                </a:solidFill>
              </a:rPr>
              <a:t>(File </a:t>
            </a:r>
            <a:r>
              <a:rPr lang="en-US" dirty="0" err="1">
                <a:solidFill>
                  <a:srgbClr val="002060"/>
                </a:solidFill>
              </a:rPr>
              <a:t>file</a:t>
            </a:r>
            <a:r>
              <a:rPr lang="en-US" dirty="0">
                <a:solidFill>
                  <a:srgbClr val="002060"/>
                </a:solidFill>
              </a:rPr>
              <a:t>, String algorithm) </a:t>
            </a:r>
            <a:endParaRPr lang="en-US" dirty="0">
              <a:solidFill>
                <a:srgbClr val="002060"/>
              </a:solidFill>
            </a:endParaRPr>
          </a:p>
          <a:p>
            <a:r>
              <a:rPr lang="en-US" dirty="0">
                <a:solidFill>
                  <a:srgbClr val="002060"/>
                </a:solidFill>
              </a:rPr>
              <a:t>            throws </a:t>
            </a:r>
            <a:r>
              <a:rPr lang="en-US" dirty="0" err="1">
                <a:solidFill>
                  <a:srgbClr val="002060"/>
                </a:solidFill>
              </a:rPr>
              <a:t>IOException</a:t>
            </a:r>
            <a:r>
              <a:rPr lang="en-US" dirty="0">
                <a:solidFill>
                  <a:srgbClr val="002060"/>
                </a:solidFill>
              </a:rPr>
              <a:t>, </a:t>
            </a:r>
            <a:r>
              <a:rPr lang="en-US" dirty="0" err="1">
                <a:solidFill>
                  <a:srgbClr val="002060"/>
                </a:solidFill>
              </a:rPr>
              <a:t>NoSuchAlgorithmException</a:t>
            </a:r>
            <a:r>
              <a:rPr lang="en-US" dirty="0">
                <a:solidFill>
                  <a:srgbClr val="002060"/>
                </a:solidFill>
              </a:rPr>
              <a:t> {</a:t>
            </a:r>
            <a:endParaRPr lang="en-US" dirty="0">
              <a:solidFill>
                <a:srgbClr val="002060"/>
              </a:solidFill>
            </a:endParaRPr>
          </a:p>
          <a:p>
            <a:r>
              <a:rPr lang="en-US" dirty="0"/>
              <a:t>        </a:t>
            </a:r>
            <a:endParaRPr lang="en-US" dirty="0"/>
          </a:p>
        </p:txBody>
      </p:sp>
      <p:sp>
        <p:nvSpPr>
          <p:cNvPr id="4" name="Rectangle 3"/>
          <p:cNvSpPr/>
          <p:nvPr/>
        </p:nvSpPr>
        <p:spPr>
          <a:xfrm>
            <a:off x="6637867" y="706398"/>
            <a:ext cx="5410200" cy="5632311"/>
          </a:xfrm>
          <a:prstGeom prst="rect">
            <a:avLst/>
          </a:prstGeom>
        </p:spPr>
        <p:txBody>
          <a:bodyPr wrap="square">
            <a:spAutoFit/>
          </a:bodyPr>
          <a:lstStyle/>
          <a:p>
            <a:r>
              <a:rPr lang="en-US" dirty="0" err="1">
                <a:solidFill>
                  <a:srgbClr val="7030A0"/>
                </a:solidFill>
              </a:rPr>
              <a:t>MessageDigest</a:t>
            </a:r>
            <a:r>
              <a:rPr lang="en-US" dirty="0">
                <a:solidFill>
                  <a:srgbClr val="7030A0"/>
                </a:solidFill>
              </a:rPr>
              <a:t> digest = </a:t>
            </a:r>
            <a:r>
              <a:rPr lang="en-US" dirty="0" err="1">
                <a:solidFill>
                  <a:srgbClr val="7030A0"/>
                </a:solidFill>
              </a:rPr>
              <a:t>MessageDigest.getInstance</a:t>
            </a:r>
            <a:r>
              <a:rPr lang="en-US" dirty="0">
                <a:solidFill>
                  <a:srgbClr val="7030A0"/>
                </a:solidFill>
              </a:rPr>
              <a:t>(algorithm);</a:t>
            </a:r>
            <a:endParaRPr lang="en-US" dirty="0">
              <a:solidFill>
                <a:srgbClr val="7030A0"/>
              </a:solidFill>
            </a:endParaRPr>
          </a:p>
          <a:p>
            <a:r>
              <a:rPr lang="en-US" dirty="0">
                <a:solidFill>
                  <a:srgbClr val="7030A0"/>
                </a:solidFill>
              </a:rPr>
              <a:t>try (</a:t>
            </a:r>
            <a:r>
              <a:rPr lang="en-US" dirty="0" err="1">
                <a:solidFill>
                  <a:srgbClr val="7030A0"/>
                </a:solidFill>
              </a:rPr>
              <a:t>InputStream</a:t>
            </a:r>
            <a:r>
              <a:rPr lang="en-US" dirty="0">
                <a:solidFill>
                  <a:srgbClr val="7030A0"/>
                </a:solidFill>
              </a:rPr>
              <a:t> is = new </a:t>
            </a:r>
            <a:r>
              <a:rPr lang="en-US" dirty="0" err="1">
                <a:solidFill>
                  <a:srgbClr val="7030A0"/>
                </a:solidFill>
              </a:rPr>
              <a:t>FileInputStream</a:t>
            </a:r>
            <a:r>
              <a:rPr lang="en-US" dirty="0">
                <a:solidFill>
                  <a:srgbClr val="7030A0"/>
                </a:solidFill>
              </a:rPr>
              <a:t>(file);</a:t>
            </a:r>
            <a:endParaRPr lang="en-US" dirty="0">
              <a:solidFill>
                <a:srgbClr val="7030A0"/>
              </a:solidFill>
            </a:endParaRPr>
          </a:p>
          <a:p>
            <a:r>
              <a:rPr lang="en-US" dirty="0">
                <a:solidFill>
                  <a:srgbClr val="7030A0"/>
                </a:solidFill>
              </a:rPr>
              <a:t>             </a:t>
            </a:r>
            <a:r>
              <a:rPr lang="en-US" dirty="0" err="1">
                <a:solidFill>
                  <a:srgbClr val="7030A0"/>
                </a:solidFill>
              </a:rPr>
              <a:t>DigestInputStream</a:t>
            </a:r>
            <a:r>
              <a:rPr lang="en-US" dirty="0">
                <a:solidFill>
                  <a:srgbClr val="7030A0"/>
                </a:solidFill>
              </a:rPr>
              <a:t> dis = new </a:t>
            </a:r>
            <a:r>
              <a:rPr lang="en-US" dirty="0" err="1">
                <a:solidFill>
                  <a:srgbClr val="7030A0"/>
                </a:solidFill>
              </a:rPr>
              <a:t>DigestInputStream</a:t>
            </a:r>
            <a:r>
              <a:rPr lang="en-US" dirty="0">
                <a:solidFill>
                  <a:srgbClr val="7030A0"/>
                </a:solidFill>
              </a:rPr>
              <a:t>(is, digest)) {</a:t>
            </a:r>
            <a:endParaRPr lang="en-US" dirty="0">
              <a:solidFill>
                <a:srgbClr val="7030A0"/>
              </a:solidFill>
            </a:endParaRPr>
          </a:p>
          <a:p>
            <a:r>
              <a:rPr lang="en-US" dirty="0">
                <a:solidFill>
                  <a:srgbClr val="7030A0"/>
                </a:solidFill>
              </a:rPr>
              <a:t>            while (</a:t>
            </a:r>
            <a:r>
              <a:rPr lang="en-US" dirty="0" err="1">
                <a:solidFill>
                  <a:srgbClr val="7030A0"/>
                </a:solidFill>
              </a:rPr>
              <a:t>dis.read</a:t>
            </a:r>
            <a:r>
              <a:rPr lang="en-US" dirty="0">
                <a:solidFill>
                  <a:srgbClr val="7030A0"/>
                </a:solidFill>
              </a:rPr>
              <a:t>() != -1); // Read entire file to update digest</a:t>
            </a:r>
            <a:endParaRPr lang="en-US" dirty="0">
              <a:solidFill>
                <a:srgbClr val="7030A0"/>
              </a:solidFill>
            </a:endParaRPr>
          </a:p>
          <a:p>
            <a:r>
              <a:rPr lang="en-US" dirty="0">
                <a:solidFill>
                  <a:srgbClr val="7030A0"/>
                </a:solidFill>
              </a:rPr>
              <a:t>        }</a:t>
            </a:r>
            <a:endParaRPr lang="en-US" dirty="0">
              <a:solidFill>
                <a:srgbClr val="7030A0"/>
              </a:solidFill>
            </a:endParaRPr>
          </a:p>
          <a:p>
            <a:r>
              <a:rPr lang="en-US" dirty="0">
                <a:solidFill>
                  <a:srgbClr val="7030A0"/>
                </a:solidFill>
              </a:rPr>
              <a:t>        return </a:t>
            </a:r>
            <a:r>
              <a:rPr lang="en-US" dirty="0" err="1">
                <a:solidFill>
                  <a:srgbClr val="7030A0"/>
                </a:solidFill>
              </a:rPr>
              <a:t>digest.digest</a:t>
            </a:r>
            <a:r>
              <a:rPr lang="en-US" dirty="0">
                <a:solidFill>
                  <a:srgbClr val="7030A0"/>
                </a:solidFill>
              </a:rPr>
              <a:t>();</a:t>
            </a:r>
            <a:endParaRPr lang="en-US" dirty="0">
              <a:solidFill>
                <a:srgbClr val="7030A0"/>
              </a:solidFill>
            </a:endParaRPr>
          </a:p>
          <a:p>
            <a:r>
              <a:rPr lang="en-US" dirty="0">
                <a:solidFill>
                  <a:srgbClr val="7030A0"/>
                </a:solidFill>
              </a:rPr>
              <a:t>    }</a:t>
            </a:r>
            <a:endParaRPr lang="en-US" dirty="0">
              <a:solidFill>
                <a:srgbClr val="7030A0"/>
              </a:solidFill>
            </a:endParaRPr>
          </a:p>
          <a:p>
            <a:endParaRPr lang="en-US" dirty="0">
              <a:solidFill>
                <a:srgbClr val="7030A0"/>
              </a:solidFill>
            </a:endParaRPr>
          </a:p>
          <a:p>
            <a:r>
              <a:rPr lang="en-US" dirty="0">
                <a:solidFill>
                  <a:srgbClr val="7030A0"/>
                </a:solidFill>
              </a:rPr>
              <a:t>   </a:t>
            </a:r>
            <a:r>
              <a:rPr lang="en-US" dirty="0">
                <a:solidFill>
                  <a:srgbClr val="FF0000"/>
                </a:solidFill>
              </a:rPr>
              <a:t> // Converts byte array to hexadecimal string</a:t>
            </a:r>
            <a:endParaRPr lang="en-US" dirty="0">
              <a:solidFill>
                <a:srgbClr val="FF0000"/>
              </a:solidFill>
            </a:endParaRPr>
          </a:p>
          <a:p>
            <a:r>
              <a:rPr lang="en-US" dirty="0">
                <a:solidFill>
                  <a:srgbClr val="7030A0"/>
                </a:solidFill>
              </a:rPr>
              <a:t>    private static String </a:t>
            </a:r>
            <a:r>
              <a:rPr lang="en-US" dirty="0" err="1">
                <a:solidFill>
                  <a:srgbClr val="7030A0"/>
                </a:solidFill>
              </a:rPr>
              <a:t>bytesToHex</a:t>
            </a:r>
            <a:r>
              <a:rPr lang="en-US" dirty="0">
                <a:solidFill>
                  <a:srgbClr val="7030A0"/>
                </a:solidFill>
              </a:rPr>
              <a:t>(byte[] bytes) {</a:t>
            </a:r>
            <a:endParaRPr lang="en-US" dirty="0">
              <a:solidFill>
                <a:srgbClr val="7030A0"/>
              </a:solidFill>
            </a:endParaRPr>
          </a:p>
          <a:p>
            <a:r>
              <a:rPr lang="en-US" dirty="0">
                <a:solidFill>
                  <a:srgbClr val="7030A0"/>
                </a:solidFill>
              </a:rPr>
              <a:t>        StringBuilder </a:t>
            </a:r>
            <a:r>
              <a:rPr lang="en-US" dirty="0" err="1">
                <a:solidFill>
                  <a:srgbClr val="7030A0"/>
                </a:solidFill>
              </a:rPr>
              <a:t>hexString</a:t>
            </a:r>
            <a:r>
              <a:rPr lang="en-US" dirty="0">
                <a:solidFill>
                  <a:srgbClr val="7030A0"/>
                </a:solidFill>
              </a:rPr>
              <a:t> = new StringBuilder();</a:t>
            </a:r>
            <a:endParaRPr lang="en-US" dirty="0">
              <a:solidFill>
                <a:srgbClr val="7030A0"/>
              </a:solidFill>
            </a:endParaRPr>
          </a:p>
          <a:p>
            <a:r>
              <a:rPr lang="en-US" dirty="0">
                <a:solidFill>
                  <a:srgbClr val="7030A0"/>
                </a:solidFill>
              </a:rPr>
              <a:t>        for (byte b : bytes) {</a:t>
            </a:r>
            <a:endParaRPr lang="en-US" dirty="0">
              <a:solidFill>
                <a:srgbClr val="7030A0"/>
              </a:solidFill>
            </a:endParaRPr>
          </a:p>
          <a:p>
            <a:r>
              <a:rPr lang="en-US" dirty="0">
                <a:solidFill>
                  <a:srgbClr val="7030A0"/>
                </a:solidFill>
              </a:rPr>
              <a:t>            </a:t>
            </a:r>
            <a:r>
              <a:rPr lang="en-US" dirty="0" err="1">
                <a:solidFill>
                  <a:srgbClr val="7030A0"/>
                </a:solidFill>
              </a:rPr>
              <a:t>hexString.append</a:t>
            </a:r>
            <a:r>
              <a:rPr lang="en-US" dirty="0">
                <a:solidFill>
                  <a:srgbClr val="7030A0"/>
                </a:solidFill>
              </a:rPr>
              <a:t>(</a:t>
            </a:r>
            <a:r>
              <a:rPr lang="en-US" dirty="0" err="1">
                <a:solidFill>
                  <a:srgbClr val="7030A0"/>
                </a:solidFill>
              </a:rPr>
              <a:t>String.format</a:t>
            </a:r>
            <a:r>
              <a:rPr lang="en-US" dirty="0">
                <a:solidFill>
                  <a:srgbClr val="7030A0"/>
                </a:solidFill>
              </a:rPr>
              <a:t>("%02x", b));</a:t>
            </a:r>
            <a:endParaRPr lang="en-US" dirty="0">
              <a:solidFill>
                <a:srgbClr val="7030A0"/>
              </a:solidFill>
            </a:endParaRPr>
          </a:p>
          <a:p>
            <a:r>
              <a:rPr lang="en-US" dirty="0">
                <a:solidFill>
                  <a:srgbClr val="7030A0"/>
                </a:solidFill>
              </a:rPr>
              <a:t>        }</a:t>
            </a:r>
            <a:endParaRPr lang="en-US" dirty="0">
              <a:solidFill>
                <a:srgbClr val="7030A0"/>
              </a:solidFill>
            </a:endParaRPr>
          </a:p>
          <a:p>
            <a:r>
              <a:rPr lang="en-US" dirty="0">
                <a:solidFill>
                  <a:srgbClr val="7030A0"/>
                </a:solidFill>
              </a:rPr>
              <a:t>        return </a:t>
            </a:r>
            <a:r>
              <a:rPr lang="en-US" dirty="0" err="1">
                <a:solidFill>
                  <a:srgbClr val="7030A0"/>
                </a:solidFill>
              </a:rPr>
              <a:t>hexString.toString</a:t>
            </a:r>
            <a:r>
              <a:rPr lang="en-US" dirty="0">
                <a:solidFill>
                  <a:srgbClr val="7030A0"/>
                </a:solidFill>
              </a:rPr>
              <a:t>();</a:t>
            </a:r>
            <a:endParaRPr lang="en-US" dirty="0">
              <a:solidFill>
                <a:srgbClr val="7030A0"/>
              </a:solidFill>
            </a:endParaRPr>
          </a:p>
          <a:p>
            <a:r>
              <a:rPr lang="en-US" dirty="0">
                <a:solidFill>
                  <a:srgbClr val="7030A0"/>
                </a:solidFill>
              </a:rPr>
              <a:t>    }</a:t>
            </a:r>
            <a:endParaRPr lang="en-US" dirty="0">
              <a:solidFill>
                <a:srgbClr val="7030A0"/>
              </a:solidFill>
            </a:endParaRPr>
          </a:p>
          <a:p>
            <a:r>
              <a:rPr lang="en-US" dirty="0">
                <a:solidFill>
                  <a:srgbClr val="7030A0"/>
                </a:solidFill>
              </a:rPr>
              <a:t>}</a:t>
            </a:r>
            <a:endParaRPr lang="en-US" dirty="0">
              <a:solidFill>
                <a:srgbClr val="7030A0"/>
              </a:solidFill>
            </a:endParaRPr>
          </a:p>
        </p:txBody>
      </p:sp>
      <p:sp>
        <p:nvSpPr>
          <p:cNvPr id="5" name="Rectangle 4"/>
          <p:cNvSpPr/>
          <p:nvPr/>
        </p:nvSpPr>
        <p:spPr>
          <a:xfrm>
            <a:off x="1828799" y="136525"/>
            <a:ext cx="10219267" cy="400110"/>
          </a:xfrm>
          <a:prstGeom prst="rect">
            <a:avLst/>
          </a:prstGeom>
        </p:spPr>
        <p:txBody>
          <a:bodyPr wrap="square">
            <a:spAutoFit/>
          </a:bodyPr>
          <a:lstStyle/>
          <a:p>
            <a:pPr algn="ctr"/>
            <a:r>
              <a:rPr lang="en-US" sz="2000" b="1" u="sng" dirty="0">
                <a:solidFill>
                  <a:srgbClr val="FF0000"/>
                </a:solidFill>
              </a:rPr>
              <a:t>Compute SHA hash value (like SHA-256) for Multiple Files without using THREADS  </a:t>
            </a:r>
            <a:endParaRPr lang="en-US" sz="2000" b="1" u="sng"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sz="quarter"/>
          </p:nvPr>
        </p:nvSpPr>
        <p:spPr/>
        <p:txBody>
          <a:bodyPr/>
          <a:lstStyle/>
          <a:p>
            <a:r>
              <a:rPr lang="en-US" dirty="0">
                <a:solidFill>
                  <a:srgbClr val="FF0000"/>
                </a:solidFill>
              </a:rPr>
              <a:t>Multiple Threads Using Anonymous Thread Objects</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dirty="0"/>
          </a:p>
        </p:txBody>
      </p:sp>
      <p:sp>
        <p:nvSpPr>
          <p:cNvPr id="3" name="Rectangle 2"/>
          <p:cNvSpPr/>
          <p:nvPr/>
        </p:nvSpPr>
        <p:spPr>
          <a:xfrm>
            <a:off x="457022" y="76507"/>
            <a:ext cx="11678005" cy="461665"/>
          </a:xfrm>
          <a:prstGeom prst="rect">
            <a:avLst/>
          </a:prstGeom>
        </p:spPr>
        <p:txBody>
          <a:bodyPr wrap="none">
            <a:spAutoFit/>
          </a:bodyPr>
          <a:lstStyle/>
          <a:p>
            <a:r>
              <a:rPr lang="en-US" sz="2400" b="1" dirty="0">
                <a:solidFill>
                  <a:srgbClr val="FF0000"/>
                </a:solidFill>
              </a:rPr>
              <a:t>Java Class Demonstrating Multiple Threads Using Anonymous Thread Objects</a:t>
            </a:r>
            <a:endParaRPr lang="en-US" sz="2400" b="1" dirty="0">
              <a:solidFill>
                <a:srgbClr val="FF0000"/>
              </a:solidFill>
            </a:endParaRPr>
          </a:p>
        </p:txBody>
      </p:sp>
      <p:sp>
        <p:nvSpPr>
          <p:cNvPr id="4" name="Rectangle 3"/>
          <p:cNvSpPr/>
          <p:nvPr/>
        </p:nvSpPr>
        <p:spPr>
          <a:xfrm>
            <a:off x="159230" y="640494"/>
            <a:ext cx="7134403" cy="5816977"/>
          </a:xfrm>
          <a:prstGeom prst="rect">
            <a:avLst/>
          </a:prstGeom>
        </p:spPr>
        <p:txBody>
          <a:bodyPr wrap="square">
            <a:spAutoFit/>
          </a:bodyPr>
          <a:lstStyle/>
          <a:p>
            <a:r>
              <a:rPr lang="en-US" sz="1200" b="1" dirty="0"/>
              <a:t>public class </a:t>
            </a:r>
            <a:r>
              <a:rPr lang="en-US" sz="1200" b="1" dirty="0" err="1"/>
              <a:t>AnonymousThreadDemo</a:t>
            </a:r>
            <a:r>
              <a:rPr lang="en-US" sz="1200" b="1" dirty="0"/>
              <a:t> {</a:t>
            </a:r>
            <a:endParaRPr lang="en-US" sz="1200" b="1" dirty="0"/>
          </a:p>
          <a:p>
            <a:endParaRPr lang="en-US" sz="1200" b="1" dirty="0"/>
          </a:p>
          <a:p>
            <a:r>
              <a:rPr lang="en-US" sz="1200" b="1" dirty="0"/>
              <a:t>    public static void main(String[] </a:t>
            </a:r>
            <a:r>
              <a:rPr lang="en-US" sz="1200" b="1" dirty="0" err="1"/>
              <a:t>args</a:t>
            </a:r>
            <a:r>
              <a:rPr lang="en-US" sz="1200" b="1" dirty="0"/>
              <a:t>) {</a:t>
            </a:r>
            <a:endParaRPr lang="en-US" sz="1200" b="1" dirty="0"/>
          </a:p>
          <a:p>
            <a:r>
              <a:rPr lang="en-US" sz="1200" b="1" dirty="0"/>
              <a:t>        </a:t>
            </a:r>
            <a:r>
              <a:rPr lang="en-US" sz="1200" b="1" dirty="0" err="1"/>
              <a:t>System.out.println</a:t>
            </a:r>
            <a:r>
              <a:rPr lang="en-US" sz="1200" b="1" dirty="0"/>
              <a:t>("Main thread started. Creating 5 worker threads...");</a:t>
            </a:r>
            <a:endParaRPr lang="en-US" sz="1200" b="1" dirty="0"/>
          </a:p>
          <a:p>
            <a:endParaRPr lang="en-US" sz="1200" b="1" dirty="0"/>
          </a:p>
          <a:p>
            <a:r>
              <a:rPr lang="en-US" sz="1200" b="1" dirty="0"/>
              <a:t>        // Create and start 5 threads using a for loop</a:t>
            </a:r>
            <a:endParaRPr lang="en-US" sz="1200" b="1" dirty="0"/>
          </a:p>
          <a:p>
            <a:r>
              <a:rPr lang="en-US" sz="1200" b="1" dirty="0"/>
              <a:t>        for (int </a:t>
            </a:r>
            <a:r>
              <a:rPr lang="en-US" sz="1200" b="1" dirty="0" err="1"/>
              <a:t>i</a:t>
            </a:r>
            <a:r>
              <a:rPr lang="en-US" sz="1200" b="1" dirty="0"/>
              <a:t> = 1; </a:t>
            </a:r>
            <a:r>
              <a:rPr lang="en-US" sz="1200" b="1" dirty="0" err="1"/>
              <a:t>i</a:t>
            </a:r>
            <a:r>
              <a:rPr lang="en-US" sz="1200" b="1" dirty="0"/>
              <a:t> &lt;= 5; </a:t>
            </a:r>
            <a:r>
              <a:rPr lang="en-US" sz="1200" b="1" dirty="0" err="1"/>
              <a:t>i</a:t>
            </a:r>
            <a:r>
              <a:rPr lang="en-US" sz="1200" b="1" dirty="0"/>
              <a:t>++) {</a:t>
            </a:r>
            <a:endParaRPr lang="en-US" sz="1200" b="1" dirty="0"/>
          </a:p>
          <a:p>
            <a:r>
              <a:rPr lang="en-US" sz="1200" b="1" dirty="0"/>
              <a:t>            // Create anonymous Thread object</a:t>
            </a:r>
            <a:endParaRPr lang="en-US" sz="1200" b="1" dirty="0"/>
          </a:p>
          <a:p>
            <a:r>
              <a:rPr lang="en-US" sz="1200" b="1" dirty="0"/>
              <a:t>            new Thread() {</a:t>
            </a:r>
            <a:endParaRPr lang="en-US" sz="1200" b="1" dirty="0"/>
          </a:p>
          <a:p>
            <a:r>
              <a:rPr lang="en-US" sz="1200" b="1" dirty="0"/>
              <a:t>               </a:t>
            </a:r>
            <a:r>
              <a:rPr lang="en-US" sz="1200" b="1" dirty="0">
                <a:solidFill>
                  <a:srgbClr val="FF0000"/>
                </a:solidFill>
              </a:rPr>
              <a:t> @Override</a:t>
            </a:r>
            <a:endParaRPr lang="en-US" sz="1200" b="1" dirty="0">
              <a:solidFill>
                <a:srgbClr val="FF0000"/>
              </a:solidFill>
            </a:endParaRPr>
          </a:p>
          <a:p>
            <a:r>
              <a:rPr lang="en-US" sz="1200" b="1" dirty="0">
                <a:solidFill>
                  <a:srgbClr val="FF0000"/>
                </a:solidFill>
              </a:rPr>
              <a:t>                public void run() {</a:t>
            </a:r>
            <a:endParaRPr lang="en-US" sz="1200" b="1" dirty="0">
              <a:solidFill>
                <a:srgbClr val="FF0000"/>
              </a:solidFill>
            </a:endParaRPr>
          </a:p>
          <a:p>
            <a:r>
              <a:rPr lang="en-US" sz="1200" b="1" dirty="0"/>
              <a:t>                    // Thread's task</a:t>
            </a:r>
            <a:endParaRPr lang="en-US" sz="1200" b="1" dirty="0"/>
          </a:p>
          <a:p>
            <a:r>
              <a:rPr lang="en-US" sz="1200" b="1" dirty="0"/>
              <a:t>                    </a:t>
            </a:r>
            <a:r>
              <a:rPr lang="en-US" sz="1200" b="1" dirty="0" err="1"/>
              <a:t>System.out.println</a:t>
            </a:r>
            <a:r>
              <a:rPr lang="en-US" sz="1200" b="1" dirty="0"/>
              <a:t>("Thread " + </a:t>
            </a:r>
            <a:r>
              <a:rPr lang="en-US" sz="1200" b="1" dirty="0" err="1"/>
              <a:t>Thread.currentThread</a:t>
            </a:r>
            <a:r>
              <a:rPr lang="en-US" sz="1200" b="1" dirty="0"/>
              <a:t>().</a:t>
            </a:r>
            <a:r>
              <a:rPr lang="en-US" sz="1200" b="1" dirty="0" err="1"/>
              <a:t>getId</a:t>
            </a:r>
            <a:r>
              <a:rPr lang="en-US" sz="1200" b="1" dirty="0"/>
              <a:t>() +  " is running");</a:t>
            </a:r>
            <a:endParaRPr lang="en-US" sz="1200" b="1" dirty="0"/>
          </a:p>
          <a:p>
            <a:r>
              <a:rPr lang="en-US" sz="1200" b="1" dirty="0"/>
              <a:t>                    </a:t>
            </a:r>
            <a:endParaRPr lang="en-US" sz="1200" b="1" dirty="0"/>
          </a:p>
          <a:p>
            <a:r>
              <a:rPr lang="en-US" sz="1200" b="1" dirty="0"/>
              <a:t>                    // Simulate some work</a:t>
            </a:r>
            <a:endParaRPr lang="en-US" sz="1200" b="1" dirty="0"/>
          </a:p>
          <a:p>
            <a:r>
              <a:rPr lang="en-US" sz="1200" b="1" dirty="0"/>
              <a:t>                    try {</a:t>
            </a:r>
            <a:endParaRPr lang="en-US" sz="1200" b="1" dirty="0"/>
          </a:p>
          <a:p>
            <a:r>
              <a:rPr lang="en-US" sz="1200" b="1" dirty="0"/>
              <a:t>                        </a:t>
            </a:r>
            <a:r>
              <a:rPr lang="en-US" sz="1200" b="1" dirty="0" err="1"/>
              <a:t>Thread.sleep</a:t>
            </a:r>
            <a:r>
              <a:rPr lang="en-US" sz="1200" b="1" dirty="0"/>
              <a:t>(1000); // Sleep for 1 second</a:t>
            </a:r>
            <a:endParaRPr lang="en-US" sz="1200" b="1" dirty="0"/>
          </a:p>
          <a:p>
            <a:r>
              <a:rPr lang="en-US" sz="1200" b="1" dirty="0"/>
              <a:t>                    } catch (</a:t>
            </a:r>
            <a:r>
              <a:rPr lang="en-US" sz="1200" b="1" dirty="0" err="1"/>
              <a:t>InterruptedException</a:t>
            </a:r>
            <a:r>
              <a:rPr lang="en-US" sz="1200" b="1" dirty="0"/>
              <a:t> e) {</a:t>
            </a:r>
            <a:endParaRPr lang="en-US" sz="1200" b="1" dirty="0"/>
          </a:p>
          <a:p>
            <a:r>
              <a:rPr lang="en-US" sz="1200" b="1" dirty="0"/>
              <a:t>                        </a:t>
            </a:r>
            <a:r>
              <a:rPr lang="en-US" sz="1200" b="1" dirty="0" err="1"/>
              <a:t>System.out.println</a:t>
            </a:r>
            <a:r>
              <a:rPr lang="en-US" sz="1200" b="1" dirty="0"/>
              <a:t>("Thread interrupted");</a:t>
            </a:r>
            <a:endParaRPr lang="en-US" sz="1200" b="1" dirty="0"/>
          </a:p>
          <a:p>
            <a:r>
              <a:rPr lang="en-US" sz="1200" b="1" dirty="0"/>
              <a:t>                    }</a:t>
            </a:r>
            <a:endParaRPr lang="en-US" sz="1200" b="1" dirty="0"/>
          </a:p>
          <a:p>
            <a:r>
              <a:rPr lang="en-US" sz="1200" b="1" dirty="0"/>
              <a:t>                    </a:t>
            </a:r>
            <a:endParaRPr lang="en-US" sz="1200" b="1" dirty="0"/>
          </a:p>
          <a:p>
            <a:r>
              <a:rPr lang="en-US" sz="1200" b="1" dirty="0"/>
              <a:t>                    </a:t>
            </a:r>
            <a:r>
              <a:rPr lang="en-US" sz="1200" b="1" dirty="0" err="1"/>
              <a:t>System.out.println</a:t>
            </a:r>
            <a:r>
              <a:rPr lang="en-US" sz="1200" b="1" dirty="0"/>
              <a:t>("Thread " + </a:t>
            </a:r>
            <a:r>
              <a:rPr lang="en-US" sz="1200" b="1" dirty="0" err="1"/>
              <a:t>Thread.currentThread</a:t>
            </a:r>
            <a:r>
              <a:rPr lang="en-US" sz="1200" b="1" dirty="0"/>
              <a:t>().</a:t>
            </a:r>
            <a:r>
              <a:rPr lang="en-US" sz="1200" b="1" dirty="0" err="1"/>
              <a:t>getId</a:t>
            </a:r>
            <a:r>
              <a:rPr lang="en-US" sz="1200" b="1" dirty="0"/>
              <a:t>() + </a:t>
            </a:r>
            <a:endParaRPr lang="en-US" sz="1200" b="1" dirty="0"/>
          </a:p>
          <a:p>
            <a:r>
              <a:rPr lang="en-US" sz="1200" b="1" dirty="0"/>
              <a:t>                                     " completed");</a:t>
            </a:r>
            <a:endParaRPr lang="en-US" sz="1200" b="1" dirty="0"/>
          </a:p>
          <a:p>
            <a:r>
              <a:rPr lang="en-US" sz="1200" b="1" dirty="0"/>
              <a:t>                }</a:t>
            </a:r>
            <a:endParaRPr lang="en-US" sz="1200" b="1" dirty="0"/>
          </a:p>
          <a:p>
            <a:r>
              <a:rPr lang="en-US" sz="1200" b="1" dirty="0"/>
              <a:t>            }.start(); // Start the thread immediately</a:t>
            </a:r>
            <a:endParaRPr lang="en-US" sz="1200" b="1" dirty="0"/>
          </a:p>
          <a:p>
            <a:r>
              <a:rPr lang="en-US" sz="1200" b="1" dirty="0"/>
              <a:t>        }</a:t>
            </a:r>
            <a:endParaRPr lang="en-US" sz="1200" b="1" dirty="0"/>
          </a:p>
          <a:p>
            <a:endParaRPr lang="en-US" sz="1200" b="1" dirty="0"/>
          </a:p>
          <a:p>
            <a:r>
              <a:rPr lang="en-US" sz="1200" b="1" dirty="0"/>
              <a:t>        </a:t>
            </a:r>
            <a:r>
              <a:rPr lang="en-US" sz="1200" b="1" dirty="0" err="1"/>
              <a:t>System.out.println</a:t>
            </a:r>
            <a:r>
              <a:rPr lang="en-US" sz="1200" b="1" dirty="0"/>
              <a:t>("Main thread completed (but worker threads may still be running)");</a:t>
            </a:r>
            <a:endParaRPr lang="en-US" sz="1200" b="1" dirty="0"/>
          </a:p>
          <a:p>
            <a:r>
              <a:rPr lang="en-US" sz="1200" b="1" dirty="0"/>
              <a:t>    }</a:t>
            </a:r>
            <a:endParaRPr lang="en-US" sz="1200" b="1" dirty="0"/>
          </a:p>
          <a:p>
            <a:r>
              <a:rPr lang="en-US" sz="1200" b="1" dirty="0"/>
              <a:t>}</a:t>
            </a:r>
            <a:endParaRPr lang="en-US" sz="1200" b="1" dirty="0"/>
          </a:p>
        </p:txBody>
      </p:sp>
      <p:sp>
        <p:nvSpPr>
          <p:cNvPr id="5" name="Rectangle 4"/>
          <p:cNvSpPr/>
          <p:nvPr/>
        </p:nvSpPr>
        <p:spPr>
          <a:xfrm>
            <a:off x="6934201" y="705177"/>
            <a:ext cx="5105400" cy="4585871"/>
          </a:xfrm>
          <a:prstGeom prst="rect">
            <a:avLst/>
          </a:prstGeom>
        </p:spPr>
        <p:txBody>
          <a:bodyPr wrap="square">
            <a:spAutoFit/>
          </a:bodyPr>
          <a:lstStyle/>
          <a:p>
            <a:r>
              <a:rPr lang="en-US" sz="1600" b="1" u="sng" dirty="0">
                <a:solidFill>
                  <a:srgbClr val="002060"/>
                </a:solidFill>
              </a:rPr>
              <a:t>Key Features </a:t>
            </a:r>
            <a:endParaRPr lang="en-US" sz="1600" b="1" u="sng" dirty="0">
              <a:solidFill>
                <a:srgbClr val="002060"/>
              </a:solidFill>
            </a:endParaRPr>
          </a:p>
          <a:p>
            <a:pPr marL="228600" indent="-228600">
              <a:buFont typeface="+mj-lt"/>
              <a:buAutoNum type="arabicPeriod"/>
            </a:pPr>
            <a:r>
              <a:rPr lang="en-US" sz="1200" b="1" dirty="0">
                <a:solidFill>
                  <a:srgbClr val="002060"/>
                </a:solidFill>
              </a:rPr>
              <a:t>Anonymous Thread Creation:</a:t>
            </a:r>
            <a:endParaRPr lang="en-US" sz="1200" b="1" dirty="0">
              <a:solidFill>
                <a:srgbClr val="002060"/>
              </a:solidFill>
            </a:endParaRPr>
          </a:p>
          <a:p>
            <a:pPr marL="228600" indent="-228600">
              <a:buFont typeface="+mj-lt"/>
              <a:buAutoNum type="arabicPeriod"/>
            </a:pPr>
            <a:r>
              <a:rPr lang="en-US" sz="1200" b="1" dirty="0">
                <a:solidFill>
                  <a:srgbClr val="002060"/>
                </a:solidFill>
              </a:rPr>
              <a:t>Each thread is created anonymously inside the loop, The Thread class is extended and run() is overridden inline</a:t>
            </a:r>
            <a:endParaRPr lang="en-US" sz="1200" b="1" dirty="0">
              <a:solidFill>
                <a:srgbClr val="002060"/>
              </a:solidFill>
            </a:endParaRPr>
          </a:p>
          <a:p>
            <a:pPr marL="228600" indent="-228600">
              <a:buFont typeface="+mj-lt"/>
              <a:buAutoNum type="arabicPeriod"/>
            </a:pPr>
            <a:r>
              <a:rPr lang="en-US" sz="1200" b="1" dirty="0">
                <a:solidFill>
                  <a:srgbClr val="002060"/>
                </a:solidFill>
              </a:rPr>
              <a:t>Thread Identification: Uses </a:t>
            </a:r>
            <a:r>
              <a:rPr lang="en-US" sz="1200" b="1" dirty="0" err="1">
                <a:solidFill>
                  <a:srgbClr val="002060"/>
                </a:solidFill>
              </a:rPr>
              <a:t>Thread.currentThread</a:t>
            </a:r>
            <a:r>
              <a:rPr lang="en-US" sz="1200" b="1" dirty="0">
                <a:solidFill>
                  <a:srgbClr val="002060"/>
                </a:solidFill>
              </a:rPr>
              <a:t>().</a:t>
            </a:r>
            <a:r>
              <a:rPr lang="en-US" sz="1200" b="1" dirty="0" err="1">
                <a:solidFill>
                  <a:srgbClr val="002060"/>
                </a:solidFill>
              </a:rPr>
              <a:t>getId</a:t>
            </a:r>
            <a:r>
              <a:rPr lang="en-US" sz="1200" b="1" dirty="0">
                <a:solidFill>
                  <a:srgbClr val="002060"/>
                </a:solidFill>
              </a:rPr>
              <a:t>() to identify each thread Each thread gets a unique ID number</a:t>
            </a:r>
            <a:endParaRPr lang="en-US" sz="1200" b="1" dirty="0">
              <a:solidFill>
                <a:srgbClr val="002060"/>
              </a:solidFill>
            </a:endParaRPr>
          </a:p>
          <a:p>
            <a:pPr marL="228600" indent="-228600">
              <a:buFont typeface="+mj-lt"/>
              <a:buAutoNum type="arabicPeriod"/>
            </a:pPr>
            <a:r>
              <a:rPr lang="en-US" sz="1200" b="1" dirty="0">
                <a:solidFill>
                  <a:srgbClr val="002060"/>
                </a:solidFill>
              </a:rPr>
              <a:t>Simulated Work: </a:t>
            </a:r>
            <a:r>
              <a:rPr lang="en-US" sz="1200" b="1" dirty="0" err="1">
                <a:solidFill>
                  <a:srgbClr val="002060"/>
                </a:solidFill>
              </a:rPr>
              <a:t>Thread.sleep</a:t>
            </a:r>
            <a:r>
              <a:rPr lang="en-US" sz="1200" b="1" dirty="0">
                <a:solidFill>
                  <a:srgbClr val="002060"/>
                </a:solidFill>
              </a:rPr>
              <a:t>(1000) simulates 1 second of work</a:t>
            </a:r>
            <a:endParaRPr lang="en-US" sz="1200" b="1" dirty="0">
              <a:solidFill>
                <a:srgbClr val="002060"/>
              </a:solidFill>
            </a:endParaRPr>
          </a:p>
          <a:p>
            <a:pPr marL="228600" indent="-228600">
              <a:buFont typeface="+mj-lt"/>
              <a:buAutoNum type="arabicPeriod"/>
            </a:pPr>
            <a:r>
              <a:rPr lang="en-US" sz="1200" b="1" dirty="0">
                <a:solidFill>
                  <a:srgbClr val="002060"/>
                </a:solidFill>
              </a:rPr>
              <a:t>Includes basic exception handling</a:t>
            </a:r>
            <a:endParaRPr lang="en-US" sz="1200" b="1" dirty="0">
              <a:solidFill>
                <a:srgbClr val="002060"/>
              </a:solidFill>
            </a:endParaRPr>
          </a:p>
          <a:p>
            <a:pPr marL="228600" indent="-228600">
              <a:buFont typeface="+mj-lt"/>
              <a:buAutoNum type="arabicPeriod"/>
            </a:pPr>
            <a:r>
              <a:rPr lang="en-US" sz="1200" b="1" dirty="0">
                <a:solidFill>
                  <a:srgbClr val="002060"/>
                </a:solidFill>
              </a:rPr>
              <a:t>Output: Shows when each thread starts and completes, Main thread continues independently</a:t>
            </a:r>
            <a:endParaRPr lang="en-US" sz="1200" b="1" dirty="0">
              <a:solidFill>
                <a:srgbClr val="002060"/>
              </a:solidFill>
            </a:endParaRPr>
          </a:p>
          <a:p>
            <a:pPr marL="228600" indent="-228600">
              <a:buFont typeface="+mj-lt"/>
              <a:buAutoNum type="arabicPeriod"/>
            </a:pPr>
            <a:endParaRPr lang="en-US" sz="1200" b="1" dirty="0">
              <a:solidFill>
                <a:srgbClr val="002060"/>
              </a:solidFill>
            </a:endParaRPr>
          </a:p>
          <a:p>
            <a:pPr marL="228600" indent="-228600">
              <a:buFont typeface="+mj-lt"/>
              <a:buAutoNum type="arabicPeriod"/>
            </a:pPr>
            <a:r>
              <a:rPr lang="en-US" sz="1200" b="1" dirty="0">
                <a:solidFill>
                  <a:srgbClr val="002060"/>
                </a:solidFill>
              </a:rPr>
              <a:t>Sample Output:</a:t>
            </a:r>
            <a:endParaRPr lang="en-US" sz="1200" b="1" dirty="0">
              <a:solidFill>
                <a:srgbClr val="002060"/>
              </a:solidFill>
            </a:endParaRPr>
          </a:p>
          <a:p>
            <a:r>
              <a:rPr lang="en-US" sz="1200" b="1" dirty="0">
                <a:solidFill>
                  <a:srgbClr val="002060"/>
                </a:solidFill>
              </a:rPr>
              <a:t>Main thread started. Creating 5 worker threads...</a:t>
            </a:r>
            <a:endParaRPr lang="en-US" sz="1200" b="1" dirty="0">
              <a:solidFill>
                <a:srgbClr val="002060"/>
              </a:solidFill>
            </a:endParaRPr>
          </a:p>
          <a:p>
            <a:r>
              <a:rPr lang="en-US" sz="1200" b="1" dirty="0">
                <a:solidFill>
                  <a:srgbClr val="002060"/>
                </a:solidFill>
              </a:rPr>
              <a:t>Main thread completed (but worker threads may still be running)</a:t>
            </a:r>
            <a:endParaRPr lang="en-US" sz="1200" b="1" dirty="0">
              <a:solidFill>
                <a:srgbClr val="002060"/>
              </a:solidFill>
            </a:endParaRPr>
          </a:p>
          <a:p>
            <a:r>
              <a:rPr lang="en-US" sz="1200" b="1" dirty="0">
                <a:solidFill>
                  <a:srgbClr val="002060"/>
                </a:solidFill>
              </a:rPr>
              <a:t>Thread 14 is running</a:t>
            </a:r>
            <a:endParaRPr lang="en-US" sz="1200" b="1" dirty="0">
              <a:solidFill>
                <a:srgbClr val="002060"/>
              </a:solidFill>
            </a:endParaRPr>
          </a:p>
          <a:p>
            <a:r>
              <a:rPr lang="en-US" sz="1200" b="1" dirty="0">
                <a:solidFill>
                  <a:srgbClr val="002060"/>
                </a:solidFill>
              </a:rPr>
              <a:t>Thread 15 is running</a:t>
            </a:r>
            <a:endParaRPr lang="en-US" sz="1200" b="1" dirty="0">
              <a:solidFill>
                <a:srgbClr val="002060"/>
              </a:solidFill>
            </a:endParaRPr>
          </a:p>
          <a:p>
            <a:r>
              <a:rPr lang="en-US" sz="1200" b="1" dirty="0">
                <a:solidFill>
                  <a:srgbClr val="002060"/>
                </a:solidFill>
              </a:rPr>
              <a:t>Thread 16 is running</a:t>
            </a:r>
            <a:endParaRPr lang="en-US" sz="1200" b="1" dirty="0">
              <a:solidFill>
                <a:srgbClr val="002060"/>
              </a:solidFill>
            </a:endParaRPr>
          </a:p>
          <a:p>
            <a:r>
              <a:rPr lang="en-US" sz="1200" b="1" dirty="0">
                <a:solidFill>
                  <a:srgbClr val="002060"/>
                </a:solidFill>
              </a:rPr>
              <a:t>Thread 17 is running</a:t>
            </a:r>
            <a:endParaRPr lang="en-US" sz="1200" b="1" dirty="0">
              <a:solidFill>
                <a:srgbClr val="002060"/>
              </a:solidFill>
            </a:endParaRPr>
          </a:p>
          <a:p>
            <a:r>
              <a:rPr lang="en-US" sz="1200" b="1" dirty="0">
                <a:solidFill>
                  <a:srgbClr val="002060"/>
                </a:solidFill>
              </a:rPr>
              <a:t>Thread 18 is running</a:t>
            </a:r>
            <a:endParaRPr lang="en-US" sz="1200" b="1" dirty="0">
              <a:solidFill>
                <a:srgbClr val="002060"/>
              </a:solidFill>
            </a:endParaRPr>
          </a:p>
          <a:p>
            <a:r>
              <a:rPr lang="en-US" sz="1200" b="1" dirty="0">
                <a:solidFill>
                  <a:srgbClr val="002060"/>
                </a:solidFill>
              </a:rPr>
              <a:t>Thread 14 completed</a:t>
            </a:r>
            <a:endParaRPr lang="en-US" sz="1200" b="1" dirty="0">
              <a:solidFill>
                <a:srgbClr val="002060"/>
              </a:solidFill>
            </a:endParaRPr>
          </a:p>
          <a:p>
            <a:r>
              <a:rPr lang="en-US" sz="1200" b="1" dirty="0">
                <a:solidFill>
                  <a:srgbClr val="002060"/>
                </a:solidFill>
              </a:rPr>
              <a:t>Thread 15 completed</a:t>
            </a:r>
            <a:endParaRPr lang="en-US" sz="1200" b="1" dirty="0">
              <a:solidFill>
                <a:srgbClr val="002060"/>
              </a:solidFill>
            </a:endParaRPr>
          </a:p>
          <a:p>
            <a:r>
              <a:rPr lang="en-US" sz="1200" b="1" dirty="0">
                <a:solidFill>
                  <a:srgbClr val="002060"/>
                </a:solidFill>
              </a:rPr>
              <a:t>Thread 16 completed</a:t>
            </a:r>
            <a:endParaRPr lang="en-US" sz="1200" b="1" dirty="0">
              <a:solidFill>
                <a:srgbClr val="002060"/>
              </a:solidFill>
            </a:endParaRPr>
          </a:p>
          <a:p>
            <a:r>
              <a:rPr lang="en-US" sz="1200" b="1" dirty="0">
                <a:solidFill>
                  <a:srgbClr val="002060"/>
                </a:solidFill>
              </a:rPr>
              <a:t>Thread 17 completed</a:t>
            </a:r>
            <a:endParaRPr lang="en-US" sz="1200" b="1" dirty="0">
              <a:solidFill>
                <a:srgbClr val="002060"/>
              </a:solidFill>
            </a:endParaRPr>
          </a:p>
          <a:p>
            <a:r>
              <a:rPr lang="en-US" sz="1200" b="1" dirty="0">
                <a:solidFill>
                  <a:srgbClr val="002060"/>
                </a:solidFill>
              </a:rPr>
              <a:t>Thread 18 completed</a:t>
            </a:r>
            <a:endParaRPr lang="en-US" sz="1200" b="1" dirty="0">
              <a:solidFill>
                <a:srgbClr val="00206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914400" y="2286000"/>
            <a:ext cx="10363200" cy="1524000"/>
          </a:xfrm>
        </p:spPr>
        <p:txBody>
          <a:bodyPr/>
          <a:lstStyle/>
          <a:p>
            <a:r>
              <a:rPr lang="en-US" dirty="0">
                <a:solidFill>
                  <a:srgbClr val="FF0000"/>
                </a:solidFill>
              </a:rPr>
              <a:t>Multiple Threads </a:t>
            </a:r>
            <a:r>
              <a:rPr lang="en-US" b="1" dirty="0">
                <a:solidFill>
                  <a:srgbClr val="FF0000"/>
                </a:solidFill>
              </a:rPr>
              <a:t>Using Lambda Expression (Java 8+):</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dirty="0"/>
          </a:p>
        </p:txBody>
      </p:sp>
      <p:sp>
        <p:nvSpPr>
          <p:cNvPr id="3" name="Rectangle 2"/>
          <p:cNvSpPr/>
          <p:nvPr/>
        </p:nvSpPr>
        <p:spPr>
          <a:xfrm>
            <a:off x="914400" y="43190"/>
            <a:ext cx="9826151" cy="523220"/>
          </a:xfrm>
          <a:prstGeom prst="rect">
            <a:avLst/>
          </a:prstGeom>
        </p:spPr>
        <p:txBody>
          <a:bodyPr wrap="none">
            <a:spAutoFit/>
          </a:bodyPr>
          <a:lstStyle/>
          <a:p>
            <a:r>
              <a:rPr lang="en-US" sz="2800" b="1" dirty="0">
                <a:solidFill>
                  <a:srgbClr val="FF0000"/>
                </a:solidFill>
              </a:rPr>
              <a:t>Alternative Version Using Lambda Expression (Java 8+):</a:t>
            </a:r>
            <a:endParaRPr lang="en-US" sz="2800" b="1" dirty="0">
              <a:solidFill>
                <a:srgbClr val="FF0000"/>
              </a:solidFill>
            </a:endParaRPr>
          </a:p>
        </p:txBody>
      </p:sp>
      <p:sp>
        <p:nvSpPr>
          <p:cNvPr id="4" name="Rectangle 3"/>
          <p:cNvSpPr/>
          <p:nvPr/>
        </p:nvSpPr>
        <p:spPr>
          <a:xfrm>
            <a:off x="533400" y="566410"/>
            <a:ext cx="6096000" cy="6186309"/>
          </a:xfrm>
          <a:prstGeom prst="rect">
            <a:avLst/>
          </a:prstGeom>
        </p:spPr>
        <p:txBody>
          <a:bodyPr>
            <a:spAutoFit/>
          </a:bodyPr>
          <a:lstStyle/>
          <a:p>
            <a:r>
              <a:rPr lang="en-US" b="1" dirty="0"/>
              <a:t>public class </a:t>
            </a:r>
            <a:r>
              <a:rPr lang="en-US" b="1" dirty="0" err="1"/>
              <a:t>AnonymousThreadLambdaDemo</a:t>
            </a:r>
            <a:r>
              <a:rPr lang="en-US" b="1" dirty="0"/>
              <a:t> {</a:t>
            </a:r>
            <a:endParaRPr lang="en-US" b="1" dirty="0"/>
          </a:p>
          <a:p>
            <a:r>
              <a:rPr lang="en-US" b="1" dirty="0"/>
              <a:t>    public static void main(String[] </a:t>
            </a:r>
            <a:r>
              <a:rPr lang="en-US" b="1" dirty="0" err="1"/>
              <a:t>args</a:t>
            </a:r>
            <a:r>
              <a:rPr lang="en-US" b="1" dirty="0"/>
              <a:t>) {</a:t>
            </a:r>
            <a:endParaRPr lang="en-US" b="1" dirty="0"/>
          </a:p>
          <a:p>
            <a:r>
              <a:rPr lang="en-US" b="1" dirty="0"/>
              <a:t>        </a:t>
            </a:r>
            <a:r>
              <a:rPr lang="en-US" b="1" dirty="0" err="1"/>
              <a:t>System.out.println</a:t>
            </a:r>
            <a:r>
              <a:rPr lang="en-US" b="1" dirty="0"/>
              <a:t>("Main thread started. Creating 5 worker threads...");</a:t>
            </a:r>
            <a:endParaRPr lang="en-US" b="1" dirty="0"/>
          </a:p>
          <a:p>
            <a:endParaRPr lang="en-US" b="1" dirty="0"/>
          </a:p>
          <a:p>
            <a:r>
              <a:rPr lang="en-US" b="1" dirty="0"/>
              <a:t>        for (int </a:t>
            </a:r>
            <a:r>
              <a:rPr lang="en-US" b="1" dirty="0" err="1"/>
              <a:t>i</a:t>
            </a:r>
            <a:r>
              <a:rPr lang="en-US" b="1" dirty="0"/>
              <a:t> = 1; </a:t>
            </a:r>
            <a:r>
              <a:rPr lang="en-US" b="1" dirty="0" err="1"/>
              <a:t>i</a:t>
            </a:r>
            <a:r>
              <a:rPr lang="en-US" b="1" dirty="0"/>
              <a:t> &lt;= 5; </a:t>
            </a:r>
            <a:r>
              <a:rPr lang="en-US" b="1" dirty="0" err="1"/>
              <a:t>i</a:t>
            </a:r>
            <a:r>
              <a:rPr lang="en-US" b="1" dirty="0"/>
              <a:t>++) {</a:t>
            </a:r>
            <a:endParaRPr lang="en-US" b="1" dirty="0"/>
          </a:p>
          <a:p>
            <a:r>
              <a:rPr lang="en-US" b="1" dirty="0"/>
              <a:t>           </a:t>
            </a:r>
            <a:r>
              <a:rPr lang="en-US" b="1" dirty="0">
                <a:solidFill>
                  <a:srgbClr val="FF0000"/>
                </a:solidFill>
              </a:rPr>
              <a:t> new Thread(() -&gt; {</a:t>
            </a:r>
            <a:endParaRPr lang="en-US" b="1" dirty="0">
              <a:solidFill>
                <a:srgbClr val="FF0000"/>
              </a:solidFill>
            </a:endParaRPr>
          </a:p>
          <a:p>
            <a:r>
              <a:rPr lang="en-US" b="1" dirty="0">
                <a:solidFill>
                  <a:srgbClr val="FF0000"/>
                </a:solidFill>
              </a:rPr>
              <a:t>                </a:t>
            </a:r>
            <a:r>
              <a:rPr lang="en-US" b="1" dirty="0" err="1">
                <a:solidFill>
                  <a:srgbClr val="FF0000"/>
                </a:solidFill>
              </a:rPr>
              <a:t>System.out.println</a:t>
            </a:r>
            <a:r>
              <a:rPr lang="en-US" b="1" dirty="0">
                <a:solidFill>
                  <a:srgbClr val="FF0000"/>
                </a:solidFill>
              </a:rPr>
              <a:t>("Thread " + </a:t>
            </a:r>
            <a:r>
              <a:rPr lang="en-US" b="1" dirty="0" err="1">
                <a:solidFill>
                  <a:srgbClr val="FF0000"/>
                </a:solidFill>
              </a:rPr>
              <a:t>Thread.currentThread</a:t>
            </a:r>
            <a:r>
              <a:rPr lang="en-US" b="1" dirty="0">
                <a:solidFill>
                  <a:srgbClr val="FF0000"/>
                </a:solidFill>
              </a:rPr>
              <a:t>().</a:t>
            </a:r>
            <a:r>
              <a:rPr lang="en-US" b="1" dirty="0" err="1">
                <a:solidFill>
                  <a:srgbClr val="FF0000"/>
                </a:solidFill>
              </a:rPr>
              <a:t>getId</a:t>
            </a:r>
            <a:r>
              <a:rPr lang="en-US" b="1" dirty="0">
                <a:solidFill>
                  <a:srgbClr val="FF0000"/>
                </a:solidFill>
              </a:rPr>
              <a:t>() + " is running");</a:t>
            </a:r>
            <a:endParaRPr lang="en-US" b="1" dirty="0">
              <a:solidFill>
                <a:srgbClr val="FF0000"/>
              </a:solidFill>
            </a:endParaRPr>
          </a:p>
          <a:p>
            <a:r>
              <a:rPr lang="en-US" b="1" dirty="0"/>
              <a:t>                try {</a:t>
            </a:r>
            <a:endParaRPr lang="en-US" b="1" dirty="0"/>
          </a:p>
          <a:p>
            <a:r>
              <a:rPr lang="en-US" b="1" dirty="0"/>
              <a:t>                    </a:t>
            </a:r>
            <a:r>
              <a:rPr lang="en-US" b="1" dirty="0" err="1"/>
              <a:t>Thread.sleep</a:t>
            </a:r>
            <a:r>
              <a:rPr lang="en-US" b="1" dirty="0"/>
              <a:t>(1000);</a:t>
            </a:r>
            <a:endParaRPr lang="en-US" b="1" dirty="0"/>
          </a:p>
          <a:p>
            <a:r>
              <a:rPr lang="en-US" b="1" dirty="0"/>
              <a:t>                } catch (</a:t>
            </a:r>
            <a:r>
              <a:rPr lang="en-US" b="1" dirty="0" err="1"/>
              <a:t>InterruptedException</a:t>
            </a:r>
            <a:r>
              <a:rPr lang="en-US" b="1" dirty="0"/>
              <a:t> e) {</a:t>
            </a:r>
            <a:endParaRPr lang="en-US" b="1" dirty="0"/>
          </a:p>
          <a:p>
            <a:r>
              <a:rPr lang="en-US" b="1" dirty="0"/>
              <a:t>                    </a:t>
            </a:r>
            <a:r>
              <a:rPr lang="en-US" b="1" dirty="0" err="1"/>
              <a:t>System.out.println</a:t>
            </a:r>
            <a:r>
              <a:rPr lang="en-US" b="1" dirty="0"/>
              <a:t>("Thread interrupted");</a:t>
            </a:r>
            <a:endParaRPr lang="en-US" b="1" dirty="0"/>
          </a:p>
          <a:p>
            <a:r>
              <a:rPr lang="en-US" b="1" dirty="0"/>
              <a:t>                }</a:t>
            </a:r>
            <a:endParaRPr lang="en-US" b="1" dirty="0"/>
          </a:p>
          <a:p>
            <a:r>
              <a:rPr lang="en-US" b="1" dirty="0"/>
              <a:t>                </a:t>
            </a:r>
            <a:r>
              <a:rPr lang="en-US" b="1" dirty="0" err="1"/>
              <a:t>System.out.println</a:t>
            </a:r>
            <a:r>
              <a:rPr lang="en-US" b="1" dirty="0"/>
              <a:t>("Thread " + </a:t>
            </a:r>
            <a:r>
              <a:rPr lang="en-US" b="1" dirty="0" err="1"/>
              <a:t>Thread.currentThread</a:t>
            </a:r>
            <a:r>
              <a:rPr lang="en-US" b="1" dirty="0"/>
              <a:t>().</a:t>
            </a:r>
            <a:r>
              <a:rPr lang="en-US" b="1" dirty="0" err="1"/>
              <a:t>getId</a:t>
            </a:r>
            <a:r>
              <a:rPr lang="en-US" b="1" dirty="0"/>
              <a:t>() + " completed");</a:t>
            </a:r>
            <a:endParaRPr lang="en-US" b="1" dirty="0"/>
          </a:p>
          <a:p>
            <a:r>
              <a:rPr lang="en-US" b="1" dirty="0"/>
              <a:t>           </a:t>
            </a:r>
            <a:r>
              <a:rPr lang="en-US" b="1" dirty="0">
                <a:solidFill>
                  <a:srgbClr val="FF0000"/>
                </a:solidFill>
              </a:rPr>
              <a:t> }).start();</a:t>
            </a:r>
            <a:endParaRPr lang="en-US" b="1" dirty="0"/>
          </a:p>
          <a:p>
            <a:r>
              <a:rPr lang="en-US" b="1" dirty="0"/>
              <a:t>        }</a:t>
            </a:r>
            <a:endParaRPr lang="en-US" b="1" dirty="0"/>
          </a:p>
          <a:p>
            <a:endParaRPr lang="en-US" b="1" dirty="0"/>
          </a:p>
          <a:p>
            <a:r>
              <a:rPr lang="en-US" b="1" dirty="0"/>
              <a:t>        </a:t>
            </a:r>
            <a:r>
              <a:rPr lang="en-US" b="1" dirty="0" err="1"/>
              <a:t>System.out.println</a:t>
            </a:r>
            <a:r>
              <a:rPr lang="en-US" b="1" dirty="0"/>
              <a:t>("Main thread completed");</a:t>
            </a:r>
            <a:endParaRPr lang="en-US" b="1" dirty="0"/>
          </a:p>
          <a:p>
            <a:r>
              <a:rPr lang="en-US" b="1" dirty="0"/>
              <a:t>    }</a:t>
            </a:r>
            <a:endParaRPr lang="en-US" b="1" dirty="0"/>
          </a:p>
          <a:p>
            <a:r>
              <a:rPr lang="en-US" b="1" dirty="0"/>
              <a:t>}</a:t>
            </a:r>
            <a:endParaRPr lang="en-US" b="1" dirty="0"/>
          </a:p>
        </p:txBody>
      </p:sp>
      <p:sp>
        <p:nvSpPr>
          <p:cNvPr id="5" name="Rectangle 4"/>
          <p:cNvSpPr/>
          <p:nvPr/>
        </p:nvSpPr>
        <p:spPr>
          <a:xfrm>
            <a:off x="7162800" y="685800"/>
            <a:ext cx="4724400" cy="5355312"/>
          </a:xfrm>
          <a:prstGeom prst="rect">
            <a:avLst/>
          </a:prstGeom>
        </p:spPr>
        <p:txBody>
          <a:bodyPr wrap="square">
            <a:spAutoFit/>
          </a:bodyPr>
          <a:lstStyle/>
          <a:p>
            <a:r>
              <a:rPr lang="en-US" b="1" dirty="0">
                <a:solidFill>
                  <a:srgbClr val="7030A0"/>
                </a:solidFill>
              </a:rPr>
              <a:t>Key Features:</a:t>
            </a:r>
            <a:endParaRPr lang="en-US" b="1" dirty="0">
              <a:solidFill>
                <a:srgbClr val="7030A0"/>
              </a:solidFill>
            </a:endParaRPr>
          </a:p>
          <a:p>
            <a:pPr marL="342900" indent="-342900">
              <a:buFont typeface="+mj-lt"/>
              <a:buAutoNum type="arabicPeriod"/>
            </a:pPr>
            <a:r>
              <a:rPr lang="en-US" dirty="0">
                <a:solidFill>
                  <a:srgbClr val="7030A0"/>
                </a:solidFill>
              </a:rPr>
              <a:t>Thread Scheduling:</a:t>
            </a:r>
            <a:endParaRPr lang="en-US" dirty="0">
              <a:solidFill>
                <a:srgbClr val="7030A0"/>
              </a:solidFill>
            </a:endParaRPr>
          </a:p>
          <a:p>
            <a:pPr marL="800100" lvl="1" indent="-342900">
              <a:buFont typeface="Wingdings" panose="05000000000000000000" pitchFamily="2" charset="2"/>
              <a:buChar char="q"/>
            </a:pPr>
            <a:r>
              <a:rPr lang="en-US" dirty="0">
                <a:solidFill>
                  <a:srgbClr val="7030A0"/>
                </a:solidFill>
              </a:rPr>
              <a:t>The order of thread execution is not guaranteed</a:t>
            </a:r>
            <a:endParaRPr lang="en-US" dirty="0">
              <a:solidFill>
                <a:srgbClr val="7030A0"/>
              </a:solidFill>
            </a:endParaRPr>
          </a:p>
          <a:p>
            <a:pPr marL="800100" lvl="1" indent="-342900">
              <a:buFont typeface="Wingdings" panose="05000000000000000000" pitchFamily="2" charset="2"/>
              <a:buChar char="q"/>
            </a:pPr>
            <a:r>
              <a:rPr lang="en-US" dirty="0">
                <a:solidFill>
                  <a:srgbClr val="7030A0"/>
                </a:solidFill>
              </a:rPr>
              <a:t>Threads may complete in any order</a:t>
            </a:r>
            <a:endParaRPr lang="en-US" dirty="0">
              <a:solidFill>
                <a:srgbClr val="7030A0"/>
              </a:solidFill>
            </a:endParaRPr>
          </a:p>
          <a:p>
            <a:pPr marL="342900" indent="-342900">
              <a:buFont typeface="+mj-lt"/>
              <a:buAutoNum type="arabicPeriod"/>
            </a:pPr>
            <a:r>
              <a:rPr lang="en-US" dirty="0">
                <a:solidFill>
                  <a:srgbClr val="7030A0"/>
                </a:solidFill>
              </a:rPr>
              <a:t>Main Thread Behavior:</a:t>
            </a:r>
            <a:endParaRPr lang="en-US" dirty="0">
              <a:solidFill>
                <a:srgbClr val="7030A0"/>
              </a:solidFill>
            </a:endParaRPr>
          </a:p>
          <a:p>
            <a:pPr marL="800100" lvl="1" indent="-342900">
              <a:buFont typeface="Wingdings" panose="05000000000000000000" pitchFamily="2" charset="2"/>
              <a:buChar char="q"/>
            </a:pPr>
            <a:r>
              <a:rPr lang="en-US" dirty="0">
                <a:solidFill>
                  <a:srgbClr val="7030A0"/>
                </a:solidFill>
              </a:rPr>
              <a:t>The main thread may complete before worker threads finish</a:t>
            </a:r>
            <a:endParaRPr lang="en-US" dirty="0">
              <a:solidFill>
                <a:srgbClr val="7030A0"/>
              </a:solidFill>
            </a:endParaRPr>
          </a:p>
          <a:p>
            <a:pPr marL="800100" lvl="1" indent="-342900">
              <a:buFont typeface="Wingdings" panose="05000000000000000000" pitchFamily="2" charset="2"/>
              <a:buChar char="q"/>
            </a:pPr>
            <a:r>
              <a:rPr lang="en-US" dirty="0">
                <a:solidFill>
                  <a:srgbClr val="7030A0"/>
                </a:solidFill>
              </a:rPr>
              <a:t>To wait for all threads, you'd need to track them and use join()</a:t>
            </a:r>
            <a:endParaRPr lang="en-US" dirty="0">
              <a:solidFill>
                <a:srgbClr val="7030A0"/>
              </a:solidFill>
            </a:endParaRPr>
          </a:p>
          <a:p>
            <a:pPr marL="342900" indent="-342900">
              <a:buFont typeface="+mj-lt"/>
              <a:buAutoNum type="arabicPeriod"/>
            </a:pPr>
            <a:r>
              <a:rPr lang="en-US" dirty="0">
                <a:solidFill>
                  <a:srgbClr val="7030A0"/>
                </a:solidFill>
              </a:rPr>
              <a:t>Anonymous Thread Limitations:</a:t>
            </a:r>
            <a:endParaRPr lang="en-US" dirty="0">
              <a:solidFill>
                <a:srgbClr val="7030A0"/>
              </a:solidFill>
            </a:endParaRPr>
          </a:p>
          <a:p>
            <a:pPr marL="800100" lvl="1" indent="-342900">
              <a:buFont typeface="Wingdings" panose="05000000000000000000" pitchFamily="2" charset="2"/>
              <a:buChar char="q"/>
            </a:pPr>
            <a:r>
              <a:rPr lang="en-US" dirty="0">
                <a:solidFill>
                  <a:srgbClr val="7030A0"/>
                </a:solidFill>
              </a:rPr>
              <a:t>Can't directly access loop variable </a:t>
            </a:r>
            <a:r>
              <a:rPr lang="en-US" dirty="0" err="1">
                <a:solidFill>
                  <a:srgbClr val="7030A0"/>
                </a:solidFill>
              </a:rPr>
              <a:t>i</a:t>
            </a:r>
            <a:r>
              <a:rPr lang="en-US" dirty="0">
                <a:solidFill>
                  <a:srgbClr val="7030A0"/>
                </a:solidFill>
              </a:rPr>
              <a:t> (must be effectively final)</a:t>
            </a:r>
            <a:endParaRPr lang="en-US" dirty="0">
              <a:solidFill>
                <a:srgbClr val="7030A0"/>
              </a:solidFill>
            </a:endParaRPr>
          </a:p>
          <a:p>
            <a:pPr marL="800100" lvl="1" indent="-342900">
              <a:buFont typeface="Wingdings" panose="05000000000000000000" pitchFamily="2" charset="2"/>
              <a:buChar char="q"/>
            </a:pPr>
            <a:r>
              <a:rPr lang="en-US" dirty="0">
                <a:solidFill>
                  <a:srgbClr val="7030A0"/>
                </a:solidFill>
              </a:rPr>
              <a:t>Harder to manage individual threads compared to named instances</a:t>
            </a:r>
            <a:endParaRPr lang="en-US" dirty="0">
              <a:solidFill>
                <a:srgbClr val="7030A0"/>
              </a:solidFill>
            </a:endParaRPr>
          </a:p>
          <a:p>
            <a:r>
              <a:rPr lang="en-US" dirty="0">
                <a:solidFill>
                  <a:srgbClr val="7030A0"/>
                </a:solidFill>
              </a:rPr>
              <a:t>4. Lambda Syntax:</a:t>
            </a:r>
            <a:endParaRPr lang="en-US" dirty="0">
              <a:solidFill>
                <a:srgbClr val="7030A0"/>
              </a:solidFill>
            </a:endParaRPr>
          </a:p>
          <a:p>
            <a:r>
              <a:rPr lang="en-US" dirty="0">
                <a:solidFill>
                  <a:srgbClr val="7030A0"/>
                </a:solidFill>
              </a:rPr>
              <a:t>() -&gt; { ... } represents the run() method.</a:t>
            </a:r>
            <a:endParaRPr lang="en-US" dirty="0">
              <a:solidFill>
                <a:srgbClr val="7030A0"/>
              </a:solidFill>
            </a:endParaRPr>
          </a:p>
          <a:p>
            <a:r>
              <a:rPr lang="en-US" dirty="0">
                <a:solidFill>
                  <a:srgbClr val="7030A0"/>
                </a:solidFill>
              </a:rPr>
              <a:t>No need to explicitly write new Runnable() or @Override public void run().</a:t>
            </a:r>
            <a:endParaRPr lang="en-US" dirty="0">
              <a:solidFill>
                <a:srgbClr val="7030A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1752600" y="457200"/>
            <a:ext cx="8229600" cy="431800"/>
          </a:xfrm>
        </p:spPr>
        <p:txBody>
          <a:bodyPr/>
          <a:lstStyle/>
          <a:p>
            <a:pPr algn="l"/>
            <a:r>
              <a:rPr lang="en-GB" altLang="en-US" sz="3200"/>
              <a:t>Programming Demonstration Example</a:t>
            </a:r>
            <a:endParaRPr lang="en-GB" altLang="en-US" sz="3200"/>
          </a:p>
        </p:txBody>
      </p:sp>
      <p:sp>
        <p:nvSpPr>
          <p:cNvPr id="5123" name="内容占位符 2"/>
          <p:cNvSpPr>
            <a:spLocks noGrp="1"/>
          </p:cNvSpPr>
          <p:nvPr>
            <p:ph idx="1"/>
          </p:nvPr>
        </p:nvSpPr>
        <p:spPr>
          <a:xfrm>
            <a:off x="1828800" y="1066800"/>
            <a:ext cx="8229600" cy="44973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dirty="0"/>
              <a:t>Use </a:t>
            </a:r>
            <a:r>
              <a:rPr lang="en-GB" altLang="zh-CN" sz="2800" dirty="0"/>
              <a:t>Thread</a:t>
            </a:r>
            <a:r>
              <a:rPr lang="en-US" altLang="zh-CN" sz="2800" dirty="0"/>
              <a:t>s</a:t>
            </a:r>
            <a:r>
              <a:rPr lang="en-GB" altLang="zh-CN" sz="2800" dirty="0"/>
              <a:t> </a:t>
            </a:r>
            <a:r>
              <a:rPr lang="en-US" altLang="zh-CN" sz="2800" dirty="0"/>
              <a:t>for multiple files</a:t>
            </a:r>
            <a:r>
              <a:rPr lang="en-GB" altLang="en-US" sz="2800" dirty="0"/>
              <a:t>.</a:t>
            </a:r>
            <a:endParaRPr lang="en-US" altLang="zh-CN" sz="2800" dirty="0"/>
          </a:p>
          <a:p>
            <a:pPr>
              <a:buFont typeface="Wingdings 2" panose="05020102010507070707" pitchFamily="18" charset="2"/>
              <a:buNone/>
            </a:pPr>
            <a:endParaRPr lang="en-US" altLang="zh-CN" sz="2800" dirty="0"/>
          </a:p>
          <a:p>
            <a:pPr>
              <a:buFont typeface="Wingdings 2" panose="05020102010507070707" pitchFamily="18" charset="2"/>
              <a:buNone/>
            </a:pPr>
            <a:endParaRPr lang="en-US" altLang="zh-CN" sz="2800" dirty="0"/>
          </a:p>
          <a:p>
            <a:pPr>
              <a:buFont typeface="Wingdings" panose="05000000000000000000" pitchFamily="2" charset="2"/>
              <a:buChar char="Ø"/>
            </a:pPr>
            <a:endParaRPr lang="en-US" altLang="zh-CN" sz="2800" dirty="0"/>
          </a:p>
          <a:p>
            <a:pPr>
              <a:buFont typeface="Wingdings" panose="05000000000000000000" pitchFamily="2" charset="2"/>
              <a:buChar char="Ø"/>
            </a:pPr>
            <a:endParaRPr lang="en-US" altLang="zh-CN" sz="2800" dirty="0"/>
          </a:p>
        </p:txBody>
      </p:sp>
      <p:sp>
        <p:nvSpPr>
          <p:cNvPr id="13316" name="TextBox 1"/>
          <p:cNvSpPr txBox="1">
            <a:spLocks noChangeArrowheads="1"/>
          </p:cNvSpPr>
          <p:nvPr/>
        </p:nvSpPr>
        <p:spPr bwMode="auto">
          <a:xfrm>
            <a:off x="876300" y="4451736"/>
            <a:ext cx="99822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400" dirty="0"/>
              <a:t>Coding example demonstration:</a:t>
            </a:r>
            <a:endParaRPr lang="en-GB" altLang="zh-CN" sz="2400" dirty="0"/>
          </a:p>
          <a:p>
            <a:pPr>
              <a:spcBef>
                <a:spcPct val="0"/>
              </a:spcBef>
              <a:buClrTx/>
              <a:buSzTx/>
              <a:buFontTx/>
              <a:buNone/>
            </a:pPr>
            <a:r>
              <a:rPr lang="en-US" altLang="zh-CN" sz="2400" dirty="0"/>
              <a:t>MultithreadedFileHashCalculator.java</a:t>
            </a:r>
            <a:endParaRPr lang="en-US" altLang="zh-CN" sz="2400" dirty="0"/>
          </a:p>
          <a:p>
            <a:pPr>
              <a:spcBef>
                <a:spcPct val="0"/>
              </a:spcBef>
              <a:buClrTx/>
              <a:buSzTx/>
              <a:buFontTx/>
              <a:buNone/>
            </a:pPr>
            <a:r>
              <a:rPr lang="en-US" altLang="zh-CN" sz="2400" dirty="0" err="1"/>
              <a:t>MultithreadedFileHashCalculator</a:t>
            </a:r>
            <a:r>
              <a:rPr lang="en-US" altLang="zh-CN" sz="2400" dirty="0"/>
              <a:t> file1.txt file2.txt file3.txt file4.txt</a:t>
            </a:r>
            <a:endParaRPr lang="en-GB" altLang="zh-CN" sz="2400" dirty="0"/>
          </a:p>
          <a:p>
            <a:pPr>
              <a:spcBef>
                <a:spcPct val="0"/>
              </a:spcBef>
              <a:buClrTx/>
              <a:buSzTx/>
              <a:buFontTx/>
              <a:buNone/>
            </a:pPr>
            <a:r>
              <a:rPr lang="en-GB" altLang="en-US" sz="2400" dirty="0"/>
              <a:t>Generate security algorithm digests for the </a:t>
            </a:r>
            <a:r>
              <a:rPr lang="en-US" altLang="en-US" sz="2400" dirty="0"/>
              <a:t>FOUR </a:t>
            </a:r>
            <a:r>
              <a:rPr lang="en-GB" altLang="en-US" sz="2400" dirty="0"/>
              <a:t> files </a:t>
            </a:r>
            <a:r>
              <a:rPr lang="en-US" altLang="zh-CN" sz="2400" dirty="0"/>
              <a:t> file1.txt file2.txt file3.txt AND file4.txt</a:t>
            </a:r>
            <a:endParaRPr lang="en-US" altLang="zh-CN" sz="2400" dirty="0"/>
          </a:p>
          <a:p>
            <a:pPr>
              <a:spcBef>
                <a:spcPct val="0"/>
              </a:spcBef>
              <a:buClrTx/>
              <a:buSzTx/>
              <a:buFontTx/>
              <a:buNone/>
            </a:pPr>
            <a:endParaRPr lang="en-US" altLang="zh-CN" sz="2400" dirty="0"/>
          </a:p>
        </p:txBody>
      </p:sp>
      <p:pic>
        <p:nvPicPr>
          <p:cNvPr id="1331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51001" y="2808288"/>
            <a:ext cx="2105025"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8" name="矩形 2"/>
          <p:cNvSpPr>
            <a:spLocks noChangeArrowheads="1"/>
          </p:cNvSpPr>
          <p:nvPr/>
        </p:nvSpPr>
        <p:spPr bwMode="auto">
          <a:xfrm>
            <a:off x="5257800" y="2354264"/>
            <a:ext cx="1600200" cy="1836737"/>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6" name="流程图: 多文档 5"/>
          <p:cNvSpPr/>
          <p:nvPr/>
        </p:nvSpPr>
        <p:spPr bwMode="auto">
          <a:xfrm>
            <a:off x="8305800" y="2582864"/>
            <a:ext cx="1295400" cy="1000125"/>
          </a:xfrm>
          <a:prstGeom prst="flowChartMultidocument">
            <a:avLst/>
          </a:prstGeom>
          <a:solidFill>
            <a:schemeClr val="tx2">
              <a:lumMod val="60000"/>
              <a:lumOff val="40000"/>
            </a:schemeClr>
          </a:solidFill>
          <a:ln w="9525" cap="flat" cmpd="sng" algn="ctr">
            <a:solidFill>
              <a:schemeClr val="tx1"/>
            </a:solidFill>
            <a:prstDash val="solid"/>
            <a:round/>
            <a:headEnd type="none" w="med" len="med"/>
            <a:tailEnd type="none" w="med" len="med"/>
          </a:ln>
          <a:effectLst/>
        </p:spPr>
        <p:txBody>
          <a:bodyPr/>
          <a:lstStyle/>
          <a:p>
            <a:pPr>
              <a:defRPr/>
            </a:pPr>
            <a:endParaRPr lang="zh-CN" altLang="en-US">
              <a:latin typeface="Arial" panose="020B0604020202020204" pitchFamily="34" charset="0"/>
            </a:endParaRPr>
          </a:p>
        </p:txBody>
      </p:sp>
      <p:sp>
        <p:nvSpPr>
          <p:cNvPr id="7" name="右箭头 6"/>
          <p:cNvSpPr/>
          <p:nvPr/>
        </p:nvSpPr>
        <p:spPr bwMode="auto">
          <a:xfrm>
            <a:off x="7595656" y="2691368"/>
            <a:ext cx="609600" cy="149225"/>
          </a:xfrm>
          <a:prstGeom prst="rightArrow">
            <a:avLst/>
          </a:prstGeom>
          <a:solidFill>
            <a:schemeClr val="tx2">
              <a:lumMod val="60000"/>
              <a:lumOff val="40000"/>
            </a:schemeClr>
          </a:solidFill>
          <a:ln w="9525" cap="flat" cmpd="sng" algn="ctr">
            <a:solidFill>
              <a:schemeClr val="tx1"/>
            </a:solidFill>
            <a:prstDash val="solid"/>
            <a:round/>
            <a:headEnd type="none" w="med" len="med"/>
            <a:tailEnd type="none" w="med" len="med"/>
          </a:ln>
          <a:effectLst/>
        </p:spPr>
        <p:txBody>
          <a:bodyPr/>
          <a:lstStyle/>
          <a:p>
            <a:pPr>
              <a:defRPr/>
            </a:pPr>
            <a:endParaRPr lang="zh-CN" altLang="en-US">
              <a:latin typeface="Arial" panose="020B0604020202020204" pitchFamily="34" charset="0"/>
            </a:endParaRPr>
          </a:p>
        </p:txBody>
      </p:sp>
      <p:sp>
        <p:nvSpPr>
          <p:cNvPr id="13321" name="TextBox 7"/>
          <p:cNvSpPr txBox="1">
            <a:spLocks noChangeArrowheads="1"/>
          </p:cNvSpPr>
          <p:nvPr/>
        </p:nvSpPr>
        <p:spPr bwMode="auto">
          <a:xfrm>
            <a:off x="4521200" y="1827769"/>
            <a:ext cx="3733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Secure algorithm digest generator</a:t>
            </a:r>
            <a:endParaRPr lang="en-GB" altLang="en-US" sz="1800" dirty="0"/>
          </a:p>
        </p:txBody>
      </p:sp>
      <p:sp>
        <p:nvSpPr>
          <p:cNvPr id="9" name="圆角矩形 8"/>
          <p:cNvSpPr/>
          <p:nvPr/>
        </p:nvSpPr>
        <p:spPr bwMode="auto">
          <a:xfrm>
            <a:off x="4752974" y="2550846"/>
            <a:ext cx="2895600" cy="379413"/>
          </a:xfrm>
          <a:prstGeom prst="roundRect">
            <a:avLst/>
          </a:prstGeom>
          <a:solidFill>
            <a:schemeClr val="tx2">
              <a:lumMod val="60000"/>
              <a:lumOff val="40000"/>
            </a:schemeClr>
          </a:solidFill>
          <a:ln w="9525" cap="flat" cmpd="sng" algn="ctr">
            <a:solidFill>
              <a:schemeClr val="tx1"/>
            </a:solidFill>
            <a:prstDash val="solid"/>
            <a:round/>
            <a:headEnd type="none" w="med" len="med"/>
            <a:tailEnd type="none" w="med" len="med"/>
          </a:ln>
          <a:effec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GB" altLang="en-US" sz="1600" dirty="0"/>
              <a:t>Computational Threads</a:t>
            </a:r>
            <a:endParaRPr lang="en-GB" altLang="en-US" sz="1600" dirty="0"/>
          </a:p>
        </p:txBody>
      </p:sp>
      <p:sp>
        <p:nvSpPr>
          <p:cNvPr id="13" name="圆角矩形 12"/>
          <p:cNvSpPr/>
          <p:nvPr/>
        </p:nvSpPr>
        <p:spPr bwMode="auto">
          <a:xfrm>
            <a:off x="4752974" y="3117057"/>
            <a:ext cx="2552700" cy="379413"/>
          </a:xfrm>
          <a:prstGeom prst="roundRect">
            <a:avLst/>
          </a:prstGeom>
          <a:solidFill>
            <a:schemeClr val="tx2">
              <a:lumMod val="60000"/>
              <a:lumOff val="40000"/>
            </a:schemeClr>
          </a:solidFill>
          <a:ln w="9525" cap="flat" cmpd="sng" algn="ctr">
            <a:solidFill>
              <a:schemeClr val="tx1"/>
            </a:solidFill>
            <a:prstDash val="solid"/>
            <a:round/>
            <a:headEnd type="none" w="med" len="med"/>
            <a:tailEnd type="none" w="med" len="med"/>
          </a:ln>
          <a:effec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GB" altLang="en-US" sz="1600"/>
              <a:t>Computational Threads</a:t>
            </a:r>
            <a:endParaRPr lang="en-GB" altLang="en-US" sz="1600"/>
          </a:p>
        </p:txBody>
      </p:sp>
      <p:sp>
        <p:nvSpPr>
          <p:cNvPr id="14" name="圆角矩形 13"/>
          <p:cNvSpPr/>
          <p:nvPr/>
        </p:nvSpPr>
        <p:spPr bwMode="auto">
          <a:xfrm>
            <a:off x="4685241" y="3563436"/>
            <a:ext cx="3048000" cy="379412"/>
          </a:xfrm>
          <a:prstGeom prst="roundRect">
            <a:avLst/>
          </a:prstGeom>
          <a:solidFill>
            <a:schemeClr val="tx2">
              <a:lumMod val="60000"/>
              <a:lumOff val="40000"/>
            </a:schemeClr>
          </a:solidFill>
          <a:ln w="9525" cap="flat" cmpd="sng" algn="ctr">
            <a:solidFill>
              <a:schemeClr val="tx1"/>
            </a:solidFill>
            <a:prstDash val="solid"/>
            <a:round/>
            <a:headEnd type="none" w="med" len="med"/>
            <a:tailEnd type="none" w="med" len="med"/>
          </a:ln>
          <a:effec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GB" altLang="en-US" sz="1600" dirty="0"/>
              <a:t>Computational Threads</a:t>
            </a:r>
            <a:endParaRPr lang="en-GB" altLang="en-US" sz="1600" dirty="0"/>
          </a:p>
        </p:txBody>
      </p:sp>
      <p:sp>
        <p:nvSpPr>
          <p:cNvPr id="15" name="右箭头 14"/>
          <p:cNvSpPr/>
          <p:nvPr/>
        </p:nvSpPr>
        <p:spPr bwMode="auto">
          <a:xfrm>
            <a:off x="7500937" y="3101328"/>
            <a:ext cx="609600" cy="138113"/>
          </a:xfrm>
          <a:prstGeom prst="rightArrow">
            <a:avLst/>
          </a:prstGeom>
          <a:solidFill>
            <a:schemeClr val="tx2">
              <a:lumMod val="60000"/>
              <a:lumOff val="40000"/>
            </a:schemeClr>
          </a:solidFill>
          <a:ln w="9525" cap="flat" cmpd="sng" algn="ctr">
            <a:solidFill>
              <a:schemeClr val="tx1"/>
            </a:solidFill>
            <a:prstDash val="solid"/>
            <a:round/>
            <a:headEnd type="none" w="med" len="med"/>
            <a:tailEnd type="none" w="med" len="med"/>
          </a:ln>
          <a:effectLst/>
        </p:spPr>
        <p:txBody>
          <a:bodyPr/>
          <a:lstStyle/>
          <a:p>
            <a:pPr>
              <a:defRPr/>
            </a:pPr>
            <a:endParaRPr lang="zh-CN" altLang="en-US">
              <a:latin typeface="Arial" panose="020B0604020202020204" pitchFamily="34" charset="0"/>
            </a:endParaRPr>
          </a:p>
        </p:txBody>
      </p:sp>
      <p:sp>
        <p:nvSpPr>
          <p:cNvPr id="16" name="右箭头 15"/>
          <p:cNvSpPr/>
          <p:nvPr/>
        </p:nvSpPr>
        <p:spPr bwMode="auto">
          <a:xfrm>
            <a:off x="7509933" y="3638290"/>
            <a:ext cx="609600" cy="138112"/>
          </a:xfrm>
          <a:prstGeom prst="rightArrow">
            <a:avLst/>
          </a:prstGeom>
          <a:solidFill>
            <a:schemeClr val="tx2">
              <a:lumMod val="60000"/>
              <a:lumOff val="40000"/>
            </a:schemeClr>
          </a:solidFill>
          <a:ln w="9525" cap="flat" cmpd="sng" algn="ctr">
            <a:solidFill>
              <a:schemeClr val="tx1"/>
            </a:solidFill>
            <a:prstDash val="solid"/>
            <a:round/>
            <a:headEnd type="none" w="med" len="med"/>
            <a:tailEnd type="none" w="med" len="med"/>
          </a:ln>
          <a:effectLst/>
        </p:spPr>
        <p:txBody>
          <a:bodyPr/>
          <a:lstStyle/>
          <a:p>
            <a:pPr>
              <a:defRPr/>
            </a:pPr>
            <a:endParaRPr lang="zh-CN" altLang="en-US">
              <a:latin typeface="Arial" panose="020B0604020202020204" pitchFamily="34" charset="0"/>
            </a:endParaRPr>
          </a:p>
        </p:txBody>
      </p:sp>
      <p:sp>
        <p:nvSpPr>
          <p:cNvPr id="17" name="右箭头 16"/>
          <p:cNvSpPr/>
          <p:nvPr/>
        </p:nvSpPr>
        <p:spPr bwMode="auto">
          <a:xfrm>
            <a:off x="4191000" y="2716213"/>
            <a:ext cx="609600" cy="138112"/>
          </a:xfrm>
          <a:prstGeom prst="rightArrow">
            <a:avLst/>
          </a:prstGeom>
          <a:solidFill>
            <a:schemeClr val="tx2">
              <a:lumMod val="60000"/>
              <a:lumOff val="40000"/>
            </a:schemeClr>
          </a:solidFill>
          <a:ln w="9525" cap="flat" cmpd="sng" algn="ctr">
            <a:solidFill>
              <a:schemeClr val="tx1"/>
            </a:solidFill>
            <a:prstDash val="solid"/>
            <a:round/>
            <a:headEnd type="none" w="med" len="med"/>
            <a:tailEnd type="none" w="med" len="med"/>
          </a:ln>
          <a:effectLst/>
        </p:spPr>
        <p:txBody>
          <a:bodyPr/>
          <a:lstStyle/>
          <a:p>
            <a:pPr>
              <a:defRPr/>
            </a:pPr>
            <a:endParaRPr lang="zh-CN" altLang="en-US">
              <a:latin typeface="Arial" panose="020B0604020202020204" pitchFamily="34" charset="0"/>
            </a:endParaRPr>
          </a:p>
        </p:txBody>
      </p:sp>
      <p:sp>
        <p:nvSpPr>
          <p:cNvPr id="18" name="右箭头 17"/>
          <p:cNvSpPr/>
          <p:nvPr/>
        </p:nvSpPr>
        <p:spPr bwMode="auto">
          <a:xfrm>
            <a:off x="4191000" y="3214688"/>
            <a:ext cx="609600" cy="138112"/>
          </a:xfrm>
          <a:prstGeom prst="rightArrow">
            <a:avLst/>
          </a:prstGeom>
          <a:solidFill>
            <a:schemeClr val="tx2">
              <a:lumMod val="60000"/>
              <a:lumOff val="40000"/>
            </a:schemeClr>
          </a:solidFill>
          <a:ln w="9525" cap="flat" cmpd="sng" algn="ctr">
            <a:solidFill>
              <a:schemeClr val="tx1"/>
            </a:solidFill>
            <a:prstDash val="solid"/>
            <a:round/>
            <a:headEnd type="none" w="med" len="med"/>
            <a:tailEnd type="none" w="med" len="med"/>
          </a:ln>
          <a:effectLst/>
        </p:spPr>
        <p:txBody>
          <a:bodyPr/>
          <a:lstStyle/>
          <a:p>
            <a:pPr>
              <a:defRPr/>
            </a:pPr>
            <a:endParaRPr lang="zh-CN" altLang="en-US">
              <a:latin typeface="Arial" panose="020B0604020202020204" pitchFamily="34" charset="0"/>
            </a:endParaRPr>
          </a:p>
        </p:txBody>
      </p:sp>
      <p:sp>
        <p:nvSpPr>
          <p:cNvPr id="19" name="右箭头 18"/>
          <p:cNvSpPr/>
          <p:nvPr/>
        </p:nvSpPr>
        <p:spPr bwMode="auto">
          <a:xfrm>
            <a:off x="4191000" y="3595688"/>
            <a:ext cx="609600" cy="138112"/>
          </a:xfrm>
          <a:prstGeom prst="rightArrow">
            <a:avLst/>
          </a:prstGeom>
          <a:solidFill>
            <a:schemeClr val="tx2">
              <a:lumMod val="60000"/>
              <a:lumOff val="40000"/>
            </a:schemeClr>
          </a:solidFill>
          <a:ln w="9525" cap="flat" cmpd="sng" algn="ctr">
            <a:solidFill>
              <a:schemeClr val="tx1"/>
            </a:solidFill>
            <a:prstDash val="solid"/>
            <a:round/>
            <a:headEnd type="none" w="med" len="med"/>
            <a:tailEnd type="none" w="med" len="med"/>
          </a:ln>
          <a:effectLst/>
        </p:spPr>
        <p:txBody>
          <a:bodyPr/>
          <a:lstStyle/>
          <a:p>
            <a:pPr>
              <a:defRPr/>
            </a:pPr>
            <a:endParaRPr lang="zh-CN" altLang="en-US">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165101" y="738664"/>
            <a:ext cx="5160434" cy="6001643"/>
          </a:xfrm>
          <a:prstGeom prst="rect">
            <a:avLst/>
          </a:prstGeom>
        </p:spPr>
        <p:txBody>
          <a:bodyPr wrap="square">
            <a:spAutoFit/>
          </a:bodyPr>
          <a:lstStyle/>
          <a:p>
            <a:r>
              <a:rPr lang="en-US" dirty="0"/>
              <a:t>import java.io.*;</a:t>
            </a:r>
            <a:endParaRPr lang="en-US" dirty="0"/>
          </a:p>
          <a:p>
            <a:r>
              <a:rPr lang="en-US" dirty="0"/>
              <a:t>import </a:t>
            </a:r>
            <a:r>
              <a:rPr lang="en-US" dirty="0" err="1"/>
              <a:t>java.security</a:t>
            </a:r>
            <a:r>
              <a:rPr lang="en-US" dirty="0"/>
              <a:t>.*;</a:t>
            </a:r>
            <a:endParaRPr lang="en-US" dirty="0"/>
          </a:p>
          <a:p>
            <a:endParaRPr lang="en-US" dirty="0"/>
          </a:p>
          <a:p>
            <a:r>
              <a:rPr lang="en-US" dirty="0"/>
              <a:t>public class </a:t>
            </a:r>
            <a:r>
              <a:rPr lang="en-US" altLang="zh-CN" dirty="0" err="1"/>
              <a:t>Multit</a:t>
            </a:r>
            <a:r>
              <a:rPr lang="en-US" dirty="0" err="1"/>
              <a:t>hreadedFileHashCalculator</a:t>
            </a:r>
            <a:r>
              <a:rPr lang="en-US" dirty="0"/>
              <a:t> {</a:t>
            </a:r>
            <a:endParaRPr lang="en-US" dirty="0"/>
          </a:p>
          <a:p>
            <a:r>
              <a:rPr lang="en-US" dirty="0"/>
              <a:t>    public static void main(String[] </a:t>
            </a:r>
            <a:r>
              <a:rPr lang="en-US" dirty="0" err="1"/>
              <a:t>args</a:t>
            </a:r>
            <a:r>
              <a:rPr lang="en-US" dirty="0"/>
              <a:t>) {</a:t>
            </a:r>
            <a:endParaRPr lang="en-US" dirty="0"/>
          </a:p>
          <a:p>
            <a:r>
              <a:rPr lang="en-US" dirty="0"/>
              <a:t>        String[] files = {"file1.txt", "file2.txt", "file3.txt"};</a:t>
            </a:r>
            <a:endParaRPr lang="en-US" dirty="0"/>
          </a:p>
          <a:p>
            <a:r>
              <a:rPr lang="en-US" dirty="0"/>
              <a:t>        </a:t>
            </a:r>
            <a:endParaRPr lang="en-US" dirty="0"/>
          </a:p>
          <a:p>
            <a:r>
              <a:rPr lang="en-US" dirty="0"/>
              <a:t>        for (String file : files) {</a:t>
            </a:r>
            <a:endParaRPr lang="en-US" dirty="0"/>
          </a:p>
          <a:p>
            <a:r>
              <a:rPr lang="en-US" dirty="0"/>
              <a:t>            new Thread(() -&gt; {</a:t>
            </a:r>
            <a:endParaRPr lang="en-US" dirty="0"/>
          </a:p>
          <a:p>
            <a:r>
              <a:rPr lang="en-US" dirty="0"/>
              <a:t>                try {</a:t>
            </a:r>
            <a:endParaRPr lang="en-US" dirty="0"/>
          </a:p>
          <a:p>
            <a:r>
              <a:rPr lang="en-US" dirty="0"/>
              <a:t>                    String </a:t>
            </a:r>
            <a:r>
              <a:rPr lang="en-US" dirty="0">
                <a:solidFill>
                  <a:srgbClr val="FF0000"/>
                </a:solidFill>
              </a:rPr>
              <a:t>hash</a:t>
            </a:r>
            <a:r>
              <a:rPr lang="en-US" dirty="0"/>
              <a:t> = </a:t>
            </a:r>
            <a:r>
              <a:rPr lang="en-US" dirty="0" err="1">
                <a:solidFill>
                  <a:srgbClr val="00B050"/>
                </a:solidFill>
              </a:rPr>
              <a:t>calculateFileHash</a:t>
            </a:r>
            <a:r>
              <a:rPr lang="en-US" dirty="0"/>
              <a:t>(file, "SHA-256");</a:t>
            </a:r>
            <a:endParaRPr lang="en-US" dirty="0"/>
          </a:p>
          <a:p>
            <a:r>
              <a:rPr lang="en-US" dirty="0"/>
              <a:t>                    </a:t>
            </a:r>
            <a:r>
              <a:rPr lang="en-US" dirty="0" err="1"/>
              <a:t>System.out.println</a:t>
            </a:r>
            <a:r>
              <a:rPr lang="en-US" dirty="0"/>
              <a:t>(file + ": " + </a:t>
            </a:r>
            <a:r>
              <a:rPr lang="en-US" dirty="0">
                <a:solidFill>
                  <a:srgbClr val="FF0000"/>
                </a:solidFill>
              </a:rPr>
              <a:t>hash</a:t>
            </a:r>
            <a:r>
              <a:rPr lang="en-US" dirty="0"/>
              <a:t>);</a:t>
            </a:r>
            <a:endParaRPr lang="en-US" dirty="0"/>
          </a:p>
          <a:p>
            <a:r>
              <a:rPr lang="en-US" dirty="0"/>
              <a:t>                } catch (Exception e) {</a:t>
            </a:r>
            <a:endParaRPr lang="en-US" dirty="0"/>
          </a:p>
          <a:p>
            <a:r>
              <a:rPr lang="en-US" dirty="0"/>
              <a:t>                    </a:t>
            </a:r>
            <a:r>
              <a:rPr lang="en-US" dirty="0" err="1"/>
              <a:t>System.err.println</a:t>
            </a:r>
            <a:r>
              <a:rPr lang="en-US" dirty="0"/>
              <a:t>("Error in " + file + ": " + </a:t>
            </a:r>
            <a:r>
              <a:rPr lang="en-US" dirty="0" err="1"/>
              <a:t>e.getMessage</a:t>
            </a:r>
            <a:r>
              <a:rPr lang="en-US" dirty="0"/>
              <a:t>());</a:t>
            </a:r>
            <a:endParaRPr lang="en-US" dirty="0"/>
          </a:p>
          <a:p>
            <a:r>
              <a:rPr lang="en-US" dirty="0"/>
              <a:t>                }</a:t>
            </a:r>
            <a:endParaRPr lang="en-US" dirty="0"/>
          </a:p>
          <a:p>
            <a:r>
              <a:rPr lang="en-US" dirty="0"/>
              <a:t>            }).start();</a:t>
            </a:r>
            <a:endParaRPr lang="en-US" dirty="0"/>
          </a:p>
          <a:p>
            <a:r>
              <a:rPr lang="en-US" dirty="0"/>
              <a:t>        }</a:t>
            </a:r>
            <a:endParaRPr lang="en-US" dirty="0"/>
          </a:p>
          <a:p>
            <a:r>
              <a:rPr lang="en-US" dirty="0"/>
              <a:t>    }</a:t>
            </a:r>
            <a:endParaRPr lang="en-US" dirty="0"/>
          </a:p>
        </p:txBody>
      </p:sp>
      <p:sp>
        <p:nvSpPr>
          <p:cNvPr id="4" name="Rectangle 3"/>
          <p:cNvSpPr/>
          <p:nvPr/>
        </p:nvSpPr>
        <p:spPr>
          <a:xfrm>
            <a:off x="5791200" y="41493"/>
            <a:ext cx="6096000" cy="6740307"/>
          </a:xfrm>
          <a:prstGeom prst="rect">
            <a:avLst/>
          </a:prstGeom>
        </p:spPr>
        <p:txBody>
          <a:bodyPr>
            <a:spAutoFit/>
          </a:bodyPr>
          <a:lstStyle/>
          <a:p>
            <a:r>
              <a:rPr lang="en-US" dirty="0"/>
              <a:t> private static String </a:t>
            </a:r>
            <a:r>
              <a:rPr lang="en-US" dirty="0" err="1">
                <a:solidFill>
                  <a:srgbClr val="00B050"/>
                </a:solidFill>
              </a:rPr>
              <a:t>calculateFileHash</a:t>
            </a:r>
            <a:r>
              <a:rPr lang="en-US" dirty="0"/>
              <a:t>(String filename, String algorithm) </a:t>
            </a:r>
            <a:endParaRPr lang="en-US" dirty="0"/>
          </a:p>
          <a:p>
            <a:r>
              <a:rPr lang="en-US" dirty="0"/>
              <a:t>            throws </a:t>
            </a:r>
            <a:r>
              <a:rPr lang="en-US" dirty="0" err="1"/>
              <a:t>IOException</a:t>
            </a:r>
            <a:r>
              <a:rPr lang="en-US" dirty="0"/>
              <a:t>, </a:t>
            </a:r>
            <a:r>
              <a:rPr lang="en-US" dirty="0" err="1"/>
              <a:t>NoSuchAlgorithmException</a:t>
            </a:r>
            <a:r>
              <a:rPr lang="en-US" dirty="0"/>
              <a:t> {</a:t>
            </a:r>
            <a:endParaRPr lang="en-US" dirty="0"/>
          </a:p>
          <a:p>
            <a:r>
              <a:rPr lang="en-US" dirty="0"/>
              <a:t>        </a:t>
            </a:r>
            <a:r>
              <a:rPr lang="en-US" dirty="0" err="1"/>
              <a:t>MessageDigest</a:t>
            </a:r>
            <a:r>
              <a:rPr lang="en-US" dirty="0"/>
              <a:t> digest = </a:t>
            </a:r>
            <a:r>
              <a:rPr lang="en-US" dirty="0" err="1"/>
              <a:t>MessageDigest.getInstance</a:t>
            </a:r>
            <a:r>
              <a:rPr lang="en-US" dirty="0"/>
              <a:t>(algorithm);</a:t>
            </a:r>
            <a:endParaRPr lang="en-US" dirty="0"/>
          </a:p>
          <a:p>
            <a:r>
              <a:rPr lang="en-US" dirty="0"/>
              <a:t>        try (</a:t>
            </a:r>
            <a:r>
              <a:rPr lang="en-US" dirty="0" err="1"/>
              <a:t>InputStream</a:t>
            </a:r>
            <a:r>
              <a:rPr lang="en-US" dirty="0"/>
              <a:t> is = new </a:t>
            </a:r>
            <a:r>
              <a:rPr lang="en-US" dirty="0" err="1"/>
              <a:t>BufferedInputStream</a:t>
            </a:r>
            <a:r>
              <a:rPr lang="en-US" dirty="0"/>
              <a:t>(new </a:t>
            </a:r>
            <a:r>
              <a:rPr lang="en-US" dirty="0" err="1"/>
              <a:t>FileInputStream</a:t>
            </a:r>
            <a:r>
              <a:rPr lang="en-US" dirty="0"/>
              <a:t>(filename));</a:t>
            </a:r>
            <a:endParaRPr lang="en-US" dirty="0"/>
          </a:p>
          <a:p>
            <a:r>
              <a:rPr lang="en-US" dirty="0"/>
              <a:t>             </a:t>
            </a:r>
            <a:r>
              <a:rPr lang="en-US" dirty="0" err="1"/>
              <a:t>DigestInputStream</a:t>
            </a:r>
            <a:r>
              <a:rPr lang="en-US" dirty="0"/>
              <a:t> dis = new </a:t>
            </a:r>
            <a:r>
              <a:rPr lang="en-US" dirty="0" err="1"/>
              <a:t>DigestInputStream</a:t>
            </a:r>
            <a:r>
              <a:rPr lang="en-US" dirty="0"/>
              <a:t>(is, digest)) {</a:t>
            </a:r>
            <a:endParaRPr lang="en-US" dirty="0"/>
          </a:p>
          <a:p>
            <a:r>
              <a:rPr lang="en-US" dirty="0"/>
              <a:t>             </a:t>
            </a:r>
            <a:endParaRPr lang="en-US" dirty="0"/>
          </a:p>
          <a:p>
            <a:r>
              <a:rPr lang="en-US" dirty="0"/>
              <a:t>            while (</a:t>
            </a:r>
            <a:r>
              <a:rPr lang="en-US" dirty="0" err="1"/>
              <a:t>dis.read</a:t>
            </a:r>
            <a:r>
              <a:rPr lang="en-US" dirty="0"/>
              <a:t>() != -1); // Auto-updates digest during read</a:t>
            </a:r>
            <a:endParaRPr lang="en-US" dirty="0"/>
          </a:p>
          <a:p>
            <a:r>
              <a:rPr lang="en-US" dirty="0"/>
              <a:t>            </a:t>
            </a:r>
            <a:r>
              <a:rPr lang="en-US" dirty="0">
                <a:solidFill>
                  <a:srgbClr val="00B050"/>
                </a:solidFill>
              </a:rPr>
              <a:t>return </a:t>
            </a:r>
            <a:r>
              <a:rPr lang="en-US" dirty="0" err="1">
                <a:solidFill>
                  <a:srgbClr val="CC00CC"/>
                </a:solidFill>
              </a:rPr>
              <a:t>bytesToHex</a:t>
            </a:r>
            <a:r>
              <a:rPr lang="en-US" dirty="0">
                <a:solidFill>
                  <a:srgbClr val="00B050"/>
                </a:solidFill>
              </a:rPr>
              <a:t>(</a:t>
            </a:r>
            <a:r>
              <a:rPr lang="en-US" dirty="0" err="1">
                <a:solidFill>
                  <a:srgbClr val="00B050"/>
                </a:solidFill>
              </a:rPr>
              <a:t>digest.digest</a:t>
            </a:r>
            <a:r>
              <a:rPr lang="en-US" dirty="0">
                <a:solidFill>
                  <a:srgbClr val="00B050"/>
                </a:solidFill>
              </a:rPr>
              <a:t>());</a:t>
            </a:r>
            <a:endParaRPr lang="en-US" dirty="0">
              <a:solidFill>
                <a:srgbClr val="00B050"/>
              </a:solidFill>
            </a:endParaRPr>
          </a:p>
          <a:p>
            <a:r>
              <a:rPr lang="en-US" dirty="0"/>
              <a:t>        }</a:t>
            </a:r>
            <a:endParaRPr lang="en-US" dirty="0"/>
          </a:p>
          <a:p>
            <a:r>
              <a:rPr lang="en-US" dirty="0"/>
              <a:t>    }</a:t>
            </a:r>
            <a:endParaRPr lang="en-US" dirty="0"/>
          </a:p>
          <a:p>
            <a:endParaRPr lang="en-US" dirty="0">
              <a:solidFill>
                <a:srgbClr val="00B050"/>
              </a:solidFill>
            </a:endParaRPr>
          </a:p>
          <a:p>
            <a:r>
              <a:rPr lang="en-US" dirty="0"/>
              <a:t>    private static String </a:t>
            </a:r>
            <a:r>
              <a:rPr lang="en-US" dirty="0" err="1">
                <a:solidFill>
                  <a:srgbClr val="CC00CC"/>
                </a:solidFill>
              </a:rPr>
              <a:t>bytesToHex</a:t>
            </a:r>
            <a:r>
              <a:rPr lang="en-US" dirty="0"/>
              <a:t>(byte[] bytes) {</a:t>
            </a:r>
            <a:endParaRPr lang="en-US" dirty="0"/>
          </a:p>
          <a:p>
            <a:r>
              <a:rPr lang="en-US" dirty="0"/>
              <a:t>        StringBuilder hex = new StringBuilder();</a:t>
            </a:r>
            <a:endParaRPr lang="en-US" dirty="0"/>
          </a:p>
          <a:p>
            <a:r>
              <a:rPr lang="en-US" dirty="0"/>
              <a:t>        for (byte b : bytes) {</a:t>
            </a:r>
            <a:endParaRPr lang="en-US" dirty="0"/>
          </a:p>
          <a:p>
            <a:r>
              <a:rPr lang="en-US" dirty="0"/>
              <a:t>            </a:t>
            </a:r>
            <a:r>
              <a:rPr lang="en-US" dirty="0" err="1"/>
              <a:t>hex.append</a:t>
            </a:r>
            <a:r>
              <a:rPr lang="en-US" dirty="0"/>
              <a:t>(</a:t>
            </a:r>
            <a:r>
              <a:rPr lang="en-US" dirty="0" err="1"/>
              <a:t>String.format</a:t>
            </a:r>
            <a:r>
              <a:rPr lang="en-US" dirty="0"/>
              <a:t>("%02x", b));</a:t>
            </a:r>
            <a:endParaRPr lang="en-US" dirty="0"/>
          </a:p>
          <a:p>
            <a:r>
              <a:rPr lang="en-US" dirty="0"/>
              <a:t>        }</a:t>
            </a:r>
            <a:endParaRPr lang="en-US" dirty="0"/>
          </a:p>
          <a:p>
            <a:r>
              <a:rPr lang="en-US" dirty="0"/>
              <a:t>        return </a:t>
            </a:r>
            <a:r>
              <a:rPr lang="en-US" dirty="0" err="1"/>
              <a:t>hex.toString</a:t>
            </a:r>
            <a:r>
              <a:rPr lang="en-US" dirty="0"/>
              <a:t>();</a:t>
            </a:r>
            <a:endParaRPr lang="en-US" dirty="0"/>
          </a:p>
          <a:p>
            <a:r>
              <a:rPr lang="en-US" dirty="0"/>
              <a:t>    }</a:t>
            </a:r>
            <a:endParaRPr lang="en-US" dirty="0"/>
          </a:p>
          <a:p>
            <a:r>
              <a:rPr lang="en-US" dirty="0"/>
              <a:t>}</a:t>
            </a:r>
            <a:endParaRPr lang="en-US" dirty="0"/>
          </a:p>
        </p:txBody>
      </p:sp>
      <p:sp>
        <p:nvSpPr>
          <p:cNvPr id="6" name="Rectangle 5"/>
          <p:cNvSpPr/>
          <p:nvPr/>
        </p:nvSpPr>
        <p:spPr>
          <a:xfrm>
            <a:off x="152400" y="76200"/>
            <a:ext cx="5160434" cy="646331"/>
          </a:xfrm>
          <a:prstGeom prst="rect">
            <a:avLst/>
          </a:prstGeom>
        </p:spPr>
        <p:txBody>
          <a:bodyPr wrap="square">
            <a:spAutoFit/>
          </a:bodyPr>
          <a:lstStyle/>
          <a:p>
            <a:r>
              <a:rPr lang="en-US" b="1" u="sng" dirty="0">
                <a:solidFill>
                  <a:srgbClr val="FF0000"/>
                </a:solidFill>
              </a:rPr>
              <a:t>Compute SHA hash value (like SHA-256) for Multiple Files using THREADS </a:t>
            </a:r>
            <a:endParaRPr lang="en-US" b="1" u="sng" dirty="0">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154325" y="151179"/>
            <a:ext cx="11658600" cy="3508653"/>
          </a:xfrm>
          <a:prstGeom prst="rect">
            <a:avLst/>
          </a:prstGeom>
        </p:spPr>
        <p:txBody>
          <a:bodyPr wrap="square">
            <a:spAutoFit/>
          </a:bodyPr>
          <a:lstStyle/>
          <a:p>
            <a:pPr algn="ctr"/>
            <a:r>
              <a:rPr lang="en-US" sz="2400" b="1" u="sng" dirty="0">
                <a:solidFill>
                  <a:srgbClr val="FF0000"/>
                </a:solidFill>
              </a:rPr>
              <a:t>Performance Factors and Optimization for Multi-File SHA Calculation</a:t>
            </a:r>
            <a:endParaRPr lang="en-US" sz="2400" b="1" u="sng" dirty="0">
              <a:solidFill>
                <a:srgbClr val="FF0000"/>
              </a:solidFill>
            </a:endParaRPr>
          </a:p>
          <a:p>
            <a:pPr marL="342900" indent="-342900">
              <a:buFont typeface="+mj-lt"/>
              <a:buAutoNum type="arabicPeriod"/>
            </a:pPr>
            <a:r>
              <a:rPr lang="en-US" sz="2000" dirty="0"/>
              <a:t>When calculating SHA hashes for multiple files (especially with ≥4 files), several factors can impact performance. </a:t>
            </a:r>
            <a:endParaRPr lang="en-US" sz="2000" dirty="0"/>
          </a:p>
          <a:p>
            <a:pPr marL="342900" indent="-342900">
              <a:buFont typeface="+mj-lt"/>
              <a:buAutoNum type="arabicPeriod"/>
            </a:pPr>
            <a:r>
              <a:rPr lang="en-US" sz="2000" dirty="0"/>
              <a:t>Here are the key considerations that impact performance </a:t>
            </a:r>
            <a:endParaRPr lang="en-US" sz="2000" dirty="0"/>
          </a:p>
          <a:p>
            <a:pPr marL="742950" lvl="1" indent="-285750">
              <a:buFont typeface="Arial" panose="020B0604020202020204" pitchFamily="34" charset="0"/>
              <a:buChar char="•"/>
            </a:pPr>
            <a:r>
              <a:rPr lang="en-US" sz="2000" dirty="0"/>
              <a:t>I/O Bottleneck: Reading multiple files sequentially from disk Slow storage devices (HDD vs SSD)</a:t>
            </a:r>
            <a:endParaRPr lang="en-US" sz="2000" dirty="0"/>
          </a:p>
          <a:p>
            <a:pPr marL="742950" lvl="1" indent="-285750">
              <a:buFont typeface="Arial" panose="020B0604020202020204" pitchFamily="34" charset="0"/>
              <a:buChar char="•"/>
            </a:pPr>
            <a:r>
              <a:rPr lang="en-US" sz="2000" dirty="0"/>
              <a:t>CPU Utilization: SHA computation is CPU-intensive and Single-threaded processing underutilizes modern multi-core CPUs</a:t>
            </a:r>
            <a:endParaRPr lang="en-US" sz="2000" dirty="0"/>
          </a:p>
          <a:p>
            <a:pPr marL="742950" lvl="1" indent="-285750">
              <a:buFont typeface="Arial" panose="020B0604020202020204" pitchFamily="34" charset="0"/>
              <a:buChar char="•"/>
            </a:pPr>
            <a:r>
              <a:rPr lang="en-US" sz="2000" dirty="0"/>
              <a:t>Memory Constraints: Large files consuming significant memory, causing unnecessary buffering of file contents</a:t>
            </a:r>
            <a:endParaRPr lang="en-US" sz="2000" dirty="0"/>
          </a:p>
          <a:p>
            <a:pPr marL="742950" lvl="1" indent="-285750">
              <a:buFont typeface="Arial" panose="020B0604020202020204" pitchFamily="34" charset="0"/>
              <a:buChar char="•"/>
            </a:pPr>
            <a:r>
              <a:rPr lang="en-US" sz="2000" dirty="0"/>
              <a:t>File Characteristics Number of files, Individual file sizes, File system fragmentation</a:t>
            </a:r>
            <a:endParaRPr lang="en-US" sz="2000" dirty="0"/>
          </a:p>
        </p:txBody>
      </p:sp>
      <p:sp>
        <p:nvSpPr>
          <p:cNvPr id="4" name="Rectangle 3"/>
          <p:cNvSpPr/>
          <p:nvPr/>
        </p:nvSpPr>
        <p:spPr>
          <a:xfrm>
            <a:off x="135852" y="3929846"/>
            <a:ext cx="11827548" cy="1846659"/>
          </a:xfrm>
          <a:prstGeom prst="rect">
            <a:avLst/>
          </a:prstGeom>
        </p:spPr>
        <p:txBody>
          <a:bodyPr wrap="square">
            <a:spAutoFit/>
          </a:bodyPr>
          <a:lstStyle/>
          <a:p>
            <a:r>
              <a:rPr lang="en-US" sz="2400" b="1" dirty="0">
                <a:solidFill>
                  <a:srgbClr val="FF0000"/>
                </a:solidFill>
              </a:rPr>
              <a:t>Optimization Strategies</a:t>
            </a:r>
            <a:endParaRPr lang="en-US" sz="2400" b="1" dirty="0">
              <a:solidFill>
                <a:srgbClr val="FF0000"/>
              </a:solidFill>
            </a:endParaRPr>
          </a:p>
          <a:p>
            <a:pPr marL="342900" indent="-342900">
              <a:buAutoNum type="arabicPeriod"/>
            </a:pPr>
            <a:r>
              <a:rPr lang="en-US" dirty="0"/>
              <a:t>Parallel Processing (Multi-threading)</a:t>
            </a:r>
            <a:endParaRPr lang="en-US" dirty="0"/>
          </a:p>
          <a:p>
            <a:pPr marL="342900" indent="-342900">
              <a:buAutoNum type="arabicPeriod"/>
            </a:pPr>
            <a:r>
              <a:rPr lang="en-US" dirty="0"/>
              <a:t>I/O Optimization by using buffered streams:</a:t>
            </a:r>
            <a:endParaRPr lang="en-US" dirty="0"/>
          </a:p>
          <a:p>
            <a:pPr marL="342900" indent="-342900">
              <a:buAutoNum type="arabicPeriod"/>
            </a:pPr>
            <a:r>
              <a:rPr lang="en-US" dirty="0"/>
              <a:t>Memory-mapped files for very large files:</a:t>
            </a:r>
            <a:endParaRPr lang="en-US" dirty="0"/>
          </a:p>
          <a:p>
            <a:r>
              <a:rPr lang="en-US" dirty="0"/>
              <a:t>	</a:t>
            </a:r>
            <a:r>
              <a:rPr lang="en-US" b="1" dirty="0" err="1"/>
              <a:t>FileChannel</a:t>
            </a:r>
            <a:r>
              <a:rPr lang="en-US" b="1" dirty="0"/>
              <a:t> channel = </a:t>
            </a:r>
            <a:r>
              <a:rPr lang="en-US" b="1" dirty="0" err="1"/>
              <a:t>FileChannel.open</a:t>
            </a:r>
            <a:r>
              <a:rPr lang="en-US" b="1" dirty="0"/>
              <a:t>(</a:t>
            </a:r>
            <a:r>
              <a:rPr lang="en-US" b="1" dirty="0" err="1"/>
              <a:t>file.toPath</a:t>
            </a:r>
            <a:r>
              <a:rPr lang="en-US" b="1" dirty="0"/>
              <a:t>());</a:t>
            </a:r>
            <a:endParaRPr lang="en-US" b="1" dirty="0"/>
          </a:p>
          <a:p>
            <a:r>
              <a:rPr lang="en-US" b="1" dirty="0"/>
              <a:t>	</a:t>
            </a:r>
            <a:r>
              <a:rPr lang="en-US" b="1" dirty="0" err="1"/>
              <a:t>MappedByteBuffer</a:t>
            </a:r>
            <a:r>
              <a:rPr lang="en-US" b="1" dirty="0"/>
              <a:t> buffer = </a:t>
            </a:r>
            <a:r>
              <a:rPr lang="en-US" b="1" dirty="0" err="1"/>
              <a:t>channel.map</a:t>
            </a:r>
            <a:r>
              <a:rPr lang="en-US" b="1" dirty="0"/>
              <a:t>(</a:t>
            </a:r>
            <a:r>
              <a:rPr lang="en-US" b="1" dirty="0" err="1"/>
              <a:t>FileChannel.MapMode.READ_ONLY</a:t>
            </a:r>
            <a:r>
              <a:rPr lang="en-US" b="1" dirty="0"/>
              <a:t>, 0, </a:t>
            </a:r>
            <a:r>
              <a:rPr lang="en-US" b="1" dirty="0" err="1"/>
              <a:t>channel.size</a:t>
            </a:r>
            <a:r>
              <a:rPr lang="en-US" b="1" dirty="0"/>
              <a:t>());</a:t>
            </a:r>
            <a:endParaRPr lang="en-US"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685800" y="1143000"/>
            <a:ext cx="10820400" cy="4909036"/>
          </a:xfrm>
          <a:prstGeom prst="rect">
            <a:avLst/>
          </a:prstGeom>
        </p:spPr>
        <p:txBody>
          <a:bodyPr wrap="square">
            <a:spAutoFit/>
          </a:bodyPr>
          <a:lstStyle/>
          <a:p>
            <a:pPr marL="285750" indent="-285750">
              <a:spcAft>
                <a:spcPts val="1000"/>
              </a:spcAft>
              <a:buFont typeface="Arial" panose="020B0604020202020204" pitchFamily="34" charset="0"/>
              <a:buChar char="•"/>
            </a:pPr>
            <a:r>
              <a:rPr lang="en-US" sz="3200" dirty="0">
                <a:solidFill>
                  <a:srgbClr val="404040"/>
                </a:solidFill>
                <a:latin typeface="DeepSeek-CJK-patch"/>
              </a:rPr>
              <a:t>Threads are essential in Java socket programming to handle multiple client connections simultaneously. </a:t>
            </a:r>
            <a:endParaRPr lang="en-US" sz="3200" dirty="0">
              <a:solidFill>
                <a:srgbClr val="404040"/>
              </a:solidFill>
              <a:latin typeface="DeepSeek-CJK-patch"/>
            </a:endParaRPr>
          </a:p>
          <a:p>
            <a:pPr marL="285750" indent="-285750">
              <a:spcAft>
                <a:spcPts val="1000"/>
              </a:spcAft>
              <a:buFont typeface="Arial" panose="020B0604020202020204" pitchFamily="34" charset="0"/>
              <a:buChar char="•"/>
            </a:pPr>
            <a:r>
              <a:rPr lang="en-US" sz="3200" dirty="0">
                <a:solidFill>
                  <a:srgbClr val="404040"/>
                </a:solidFill>
                <a:latin typeface="DeepSeek-CJK-patch"/>
              </a:rPr>
              <a:t>Here's an overview of how threads are used in socket programming:</a:t>
            </a:r>
            <a:endParaRPr lang="en-US" sz="3200" dirty="0">
              <a:solidFill>
                <a:srgbClr val="404040"/>
              </a:solidFill>
              <a:latin typeface="DeepSeek-CJK-patch"/>
            </a:endParaRPr>
          </a:p>
          <a:p>
            <a:pPr marL="285750" indent="-285750">
              <a:spcAft>
                <a:spcPts val="1000"/>
              </a:spcAft>
              <a:buFont typeface="Arial" panose="020B0604020202020204" pitchFamily="34" charset="0"/>
              <a:buChar char="•"/>
            </a:pPr>
            <a:r>
              <a:rPr lang="en-US" sz="3200" dirty="0">
                <a:solidFill>
                  <a:srgbClr val="404040"/>
                </a:solidFill>
                <a:latin typeface="DeepSeek-CJK-patch"/>
              </a:rPr>
              <a:t>In server applications, the main thread typically listens for incoming connections. </a:t>
            </a:r>
            <a:endParaRPr lang="en-US" sz="3200" dirty="0">
              <a:solidFill>
                <a:srgbClr val="404040"/>
              </a:solidFill>
              <a:latin typeface="DeepSeek-CJK-patch"/>
            </a:endParaRPr>
          </a:p>
          <a:p>
            <a:pPr marL="285750" indent="-285750">
              <a:spcAft>
                <a:spcPts val="1000"/>
              </a:spcAft>
              <a:buFont typeface="Arial" panose="020B0604020202020204" pitchFamily="34" charset="0"/>
              <a:buChar char="•"/>
            </a:pPr>
            <a:r>
              <a:rPr lang="en-US" sz="3200" dirty="0">
                <a:solidFill>
                  <a:srgbClr val="404040"/>
                </a:solidFill>
                <a:latin typeface="DeepSeek-CJK-patch"/>
              </a:rPr>
              <a:t>When a new client connects, a new thread is spawned to handle that client's communication, allowing the server to continue listening for other connections.</a:t>
            </a:r>
            <a:endParaRPr lang="en-US" sz="3200" b="0" i="0" dirty="0">
              <a:solidFill>
                <a:srgbClr val="404040"/>
              </a:solidFill>
              <a:effectLst/>
              <a:latin typeface="DeepSeek-CJK-patch"/>
            </a:endParaRPr>
          </a:p>
        </p:txBody>
      </p:sp>
      <p:sp>
        <p:nvSpPr>
          <p:cNvPr id="4" name="Rectangle 3"/>
          <p:cNvSpPr/>
          <p:nvPr/>
        </p:nvSpPr>
        <p:spPr>
          <a:xfrm>
            <a:off x="838200" y="226622"/>
            <a:ext cx="10668000" cy="707886"/>
          </a:xfrm>
          <a:prstGeom prst="rect">
            <a:avLst/>
          </a:prstGeom>
        </p:spPr>
        <p:txBody>
          <a:bodyPr wrap="square">
            <a:spAutoFit/>
          </a:bodyPr>
          <a:lstStyle/>
          <a:p>
            <a:pPr marL="342900" lvl="0" indent="-342900" algn="ctr">
              <a:buFont typeface="+mj-lt"/>
              <a:buAutoNum type="arabicPeriod"/>
            </a:pPr>
            <a:r>
              <a:rPr lang="en-US" sz="4000" b="1" dirty="0">
                <a:solidFill>
                  <a:srgbClr val="FF0000"/>
                </a:solidFill>
                <a:latin typeface="DeepSeek-CJK-patch"/>
              </a:rPr>
              <a:t>Threads in Java for Socket Programming</a:t>
            </a:r>
            <a:endParaRPr lang="en-US" sz="4000" b="1" dirty="0">
              <a:solidFill>
                <a:srgbClr val="FF0000"/>
              </a:solidFill>
              <a:latin typeface="DeepSeek-CJK-patch"/>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609600" y="228600"/>
            <a:ext cx="10515600" cy="523220"/>
          </a:xfrm>
          <a:prstGeom prst="rect">
            <a:avLst/>
          </a:prstGeom>
        </p:spPr>
        <p:txBody>
          <a:bodyPr wrap="square">
            <a:spAutoFit/>
          </a:bodyPr>
          <a:lstStyle/>
          <a:p>
            <a:r>
              <a:rPr lang="en-US" sz="2800" b="1" dirty="0">
                <a:solidFill>
                  <a:srgbClr val="FF0000"/>
                </a:solidFill>
              </a:rPr>
              <a:t>1. Thread-per-Client Model</a:t>
            </a:r>
            <a:endParaRPr lang="en-US" sz="2800" b="1" dirty="0">
              <a:solidFill>
                <a:srgbClr val="FF0000"/>
              </a:solidFill>
            </a:endParaRPr>
          </a:p>
        </p:txBody>
      </p:sp>
      <p:sp>
        <p:nvSpPr>
          <p:cNvPr id="4" name="Rectangle 3"/>
          <p:cNvSpPr/>
          <p:nvPr/>
        </p:nvSpPr>
        <p:spPr>
          <a:xfrm>
            <a:off x="207434" y="962453"/>
            <a:ext cx="6324600" cy="5632311"/>
          </a:xfrm>
          <a:prstGeom prst="rect">
            <a:avLst/>
          </a:prstGeom>
        </p:spPr>
        <p:txBody>
          <a:bodyPr wrap="square">
            <a:spAutoFit/>
          </a:bodyPr>
          <a:lstStyle/>
          <a:p>
            <a:r>
              <a:rPr lang="en-US" dirty="0"/>
              <a:t>import java.net.*;</a:t>
            </a:r>
            <a:endParaRPr lang="en-US" dirty="0"/>
          </a:p>
          <a:p>
            <a:r>
              <a:rPr lang="en-US" dirty="0"/>
              <a:t>import java.io.*;</a:t>
            </a:r>
            <a:endParaRPr lang="en-US" dirty="0"/>
          </a:p>
          <a:p>
            <a:endParaRPr lang="en-US" dirty="0"/>
          </a:p>
          <a:p>
            <a:r>
              <a:rPr lang="en-US" dirty="0"/>
              <a:t>public class </a:t>
            </a:r>
            <a:r>
              <a:rPr lang="en-US" dirty="0" err="1"/>
              <a:t>MultiThreadedServer</a:t>
            </a:r>
            <a:r>
              <a:rPr lang="en-US" dirty="0"/>
              <a:t> {</a:t>
            </a:r>
            <a:endParaRPr lang="en-US" dirty="0"/>
          </a:p>
          <a:p>
            <a:r>
              <a:rPr lang="en-US" dirty="0"/>
              <a:t>    public static void main(String[] </a:t>
            </a:r>
            <a:r>
              <a:rPr lang="en-US" dirty="0" err="1"/>
              <a:t>args</a:t>
            </a:r>
            <a:r>
              <a:rPr lang="en-US" dirty="0"/>
              <a:t>) throws </a:t>
            </a:r>
            <a:r>
              <a:rPr lang="en-US" dirty="0" err="1"/>
              <a:t>IOException</a:t>
            </a:r>
            <a:r>
              <a:rPr lang="en-US" dirty="0"/>
              <a:t> {</a:t>
            </a:r>
            <a:endParaRPr lang="en-US" dirty="0"/>
          </a:p>
          <a:p>
            <a:r>
              <a:rPr lang="en-US" dirty="0"/>
              <a:t>        </a:t>
            </a:r>
            <a:r>
              <a:rPr lang="en-US" dirty="0" err="1"/>
              <a:t>ServerSocket</a:t>
            </a:r>
            <a:r>
              <a:rPr lang="en-US" dirty="0"/>
              <a:t> </a:t>
            </a:r>
            <a:r>
              <a:rPr lang="en-US" dirty="0" err="1"/>
              <a:t>serverSocket</a:t>
            </a:r>
            <a:r>
              <a:rPr lang="en-US" dirty="0"/>
              <a:t> = new </a:t>
            </a:r>
            <a:r>
              <a:rPr lang="en-US" dirty="0" err="1"/>
              <a:t>ServerSocket</a:t>
            </a:r>
            <a:r>
              <a:rPr lang="en-US" dirty="0"/>
              <a:t>(8080);</a:t>
            </a:r>
            <a:endParaRPr lang="en-US" dirty="0"/>
          </a:p>
          <a:p>
            <a:r>
              <a:rPr lang="en-US" dirty="0"/>
              <a:t>        </a:t>
            </a:r>
            <a:endParaRPr lang="en-US" dirty="0"/>
          </a:p>
          <a:p>
            <a:r>
              <a:rPr lang="en-US" dirty="0"/>
              <a:t>        while (true) {</a:t>
            </a:r>
            <a:endParaRPr lang="en-US" dirty="0"/>
          </a:p>
          <a:p>
            <a:r>
              <a:rPr lang="en-US" dirty="0"/>
              <a:t>            Socket </a:t>
            </a:r>
            <a:r>
              <a:rPr lang="en-US" dirty="0" err="1"/>
              <a:t>clientSocket</a:t>
            </a:r>
            <a:r>
              <a:rPr lang="en-US" dirty="0"/>
              <a:t> = </a:t>
            </a:r>
            <a:r>
              <a:rPr lang="en-US" dirty="0" err="1"/>
              <a:t>serverSocket.accept</a:t>
            </a:r>
            <a:r>
              <a:rPr lang="en-US" dirty="0"/>
              <a:t>();</a:t>
            </a:r>
            <a:endParaRPr lang="en-US" dirty="0"/>
          </a:p>
          <a:p>
            <a:r>
              <a:rPr lang="en-US" dirty="0"/>
              <a:t>            // Create a new thread for each client</a:t>
            </a:r>
            <a:endParaRPr lang="en-US" dirty="0"/>
          </a:p>
          <a:p>
            <a:r>
              <a:rPr lang="en-US" dirty="0"/>
              <a:t>            new Thread(new </a:t>
            </a:r>
            <a:r>
              <a:rPr lang="en-US" dirty="0" err="1"/>
              <a:t>ClientHandler</a:t>
            </a:r>
            <a:r>
              <a:rPr lang="en-US" dirty="0"/>
              <a:t>(</a:t>
            </a:r>
            <a:r>
              <a:rPr lang="en-US" dirty="0" err="1"/>
              <a:t>clientSocket</a:t>
            </a:r>
            <a:r>
              <a:rPr lang="en-US" dirty="0"/>
              <a:t>)).start();</a:t>
            </a:r>
            <a:endParaRPr lang="en-US" dirty="0"/>
          </a:p>
          <a:p>
            <a:r>
              <a:rPr lang="en-US" dirty="0"/>
              <a:t>        }</a:t>
            </a:r>
            <a:endParaRPr lang="en-US" dirty="0"/>
          </a:p>
          <a:p>
            <a:r>
              <a:rPr lang="en-US" dirty="0"/>
              <a:t>    }</a:t>
            </a:r>
            <a:endParaRPr lang="en-US" dirty="0"/>
          </a:p>
          <a:p>
            <a:r>
              <a:rPr lang="en-US" dirty="0"/>
              <a:t>}</a:t>
            </a:r>
            <a:endParaRPr lang="en-US" dirty="0"/>
          </a:p>
          <a:p>
            <a:r>
              <a:rPr lang="en-US" dirty="0"/>
              <a:t>class </a:t>
            </a:r>
            <a:r>
              <a:rPr lang="en-US" dirty="0" err="1"/>
              <a:t>ClientHandler</a:t>
            </a:r>
            <a:r>
              <a:rPr lang="en-US" dirty="0"/>
              <a:t> implements Runnable {</a:t>
            </a:r>
            <a:endParaRPr lang="en-US" dirty="0"/>
          </a:p>
          <a:p>
            <a:r>
              <a:rPr lang="en-US" dirty="0"/>
              <a:t>    private final Socket </a:t>
            </a:r>
            <a:r>
              <a:rPr lang="en-US" dirty="0" err="1"/>
              <a:t>clientSocket</a:t>
            </a:r>
            <a:r>
              <a:rPr lang="en-US" dirty="0"/>
              <a:t>;</a:t>
            </a:r>
            <a:endParaRPr lang="en-US" dirty="0"/>
          </a:p>
          <a:p>
            <a:r>
              <a:rPr lang="en-US" dirty="0"/>
              <a:t>    </a:t>
            </a:r>
            <a:endParaRPr lang="en-US" dirty="0"/>
          </a:p>
          <a:p>
            <a:r>
              <a:rPr lang="en-US" dirty="0"/>
              <a:t>    public </a:t>
            </a:r>
            <a:r>
              <a:rPr lang="en-US" dirty="0" err="1"/>
              <a:t>ClientHandler</a:t>
            </a:r>
            <a:r>
              <a:rPr lang="en-US" dirty="0"/>
              <a:t>(Socket socket) {</a:t>
            </a:r>
            <a:endParaRPr lang="en-US" dirty="0"/>
          </a:p>
          <a:p>
            <a:r>
              <a:rPr lang="en-US" dirty="0"/>
              <a:t>        </a:t>
            </a:r>
            <a:r>
              <a:rPr lang="en-US" dirty="0" err="1"/>
              <a:t>this.clientSocket</a:t>
            </a:r>
            <a:r>
              <a:rPr lang="en-US" dirty="0"/>
              <a:t> = socket;</a:t>
            </a:r>
            <a:endParaRPr lang="en-US" dirty="0"/>
          </a:p>
          <a:p>
            <a:r>
              <a:rPr lang="en-US" dirty="0"/>
              <a:t>    }</a:t>
            </a:r>
            <a:endParaRPr lang="en-US" dirty="0"/>
          </a:p>
        </p:txBody>
      </p:sp>
      <p:sp>
        <p:nvSpPr>
          <p:cNvPr id="5" name="Rectangle 4"/>
          <p:cNvSpPr/>
          <p:nvPr/>
        </p:nvSpPr>
        <p:spPr>
          <a:xfrm>
            <a:off x="6498166" y="651590"/>
            <a:ext cx="5486400" cy="5693866"/>
          </a:xfrm>
          <a:prstGeom prst="rect">
            <a:avLst/>
          </a:prstGeom>
        </p:spPr>
        <p:txBody>
          <a:bodyPr wrap="square">
            <a:spAutoFit/>
          </a:bodyPr>
          <a:lstStyle/>
          <a:p>
            <a:r>
              <a:rPr lang="en-US" sz="1600" dirty="0"/>
              <a:t>    </a:t>
            </a:r>
            <a:endParaRPr lang="en-US" sz="1600" dirty="0"/>
          </a:p>
          <a:p>
            <a:r>
              <a:rPr lang="en-US" sz="1600" dirty="0"/>
              <a:t>    public void run() {</a:t>
            </a:r>
            <a:endParaRPr lang="en-US" sz="1600" dirty="0"/>
          </a:p>
          <a:p>
            <a:r>
              <a:rPr lang="en-US" sz="1600" dirty="0"/>
              <a:t>        try (</a:t>
            </a:r>
            <a:endParaRPr lang="en-US" sz="1600" dirty="0"/>
          </a:p>
          <a:p>
            <a:r>
              <a:rPr lang="en-US" sz="1600" dirty="0"/>
              <a:t>            </a:t>
            </a:r>
            <a:r>
              <a:rPr lang="en-US" sz="1600" dirty="0" err="1"/>
              <a:t>PrintWriter</a:t>
            </a:r>
            <a:r>
              <a:rPr lang="en-US" sz="1600" dirty="0"/>
              <a:t> out = new </a:t>
            </a:r>
            <a:r>
              <a:rPr lang="en-US" sz="1600" dirty="0" err="1"/>
              <a:t>PrintWriter</a:t>
            </a:r>
            <a:r>
              <a:rPr lang="en-US" sz="1600" dirty="0"/>
              <a:t>(</a:t>
            </a:r>
            <a:r>
              <a:rPr lang="en-US" sz="1600" dirty="0" err="1"/>
              <a:t>clientSocket.getOutputStream</a:t>
            </a:r>
            <a:r>
              <a:rPr lang="en-US" sz="1600" dirty="0"/>
              <a:t>(), true);</a:t>
            </a:r>
            <a:endParaRPr lang="en-US" sz="1600" dirty="0"/>
          </a:p>
          <a:p>
            <a:r>
              <a:rPr lang="en-US" sz="1600" dirty="0"/>
              <a:t>            </a:t>
            </a:r>
            <a:r>
              <a:rPr lang="en-US" sz="1600" dirty="0" err="1"/>
              <a:t>BufferedReader</a:t>
            </a:r>
            <a:r>
              <a:rPr lang="en-US" sz="1600" dirty="0"/>
              <a:t> in = new </a:t>
            </a:r>
            <a:r>
              <a:rPr lang="en-US" sz="1600" dirty="0" err="1"/>
              <a:t>BufferedReader</a:t>
            </a:r>
            <a:r>
              <a:rPr lang="en-US" sz="1600" dirty="0"/>
              <a:t>(</a:t>
            </a:r>
            <a:endParaRPr lang="en-US" sz="1600" dirty="0"/>
          </a:p>
          <a:p>
            <a:r>
              <a:rPr lang="en-US" sz="1600" dirty="0"/>
              <a:t>                new </a:t>
            </a:r>
            <a:r>
              <a:rPr lang="en-US" sz="1600" dirty="0" err="1"/>
              <a:t>InputStreamReader</a:t>
            </a:r>
            <a:r>
              <a:rPr lang="en-US" sz="1600" dirty="0"/>
              <a:t>(</a:t>
            </a:r>
            <a:r>
              <a:rPr lang="en-US" sz="1600" dirty="0" err="1"/>
              <a:t>clientSocket.getInputStream</a:t>
            </a:r>
            <a:r>
              <a:rPr lang="en-US" sz="1600" dirty="0"/>
              <a:t>()))</a:t>
            </a:r>
            <a:endParaRPr lang="en-US" sz="1600" dirty="0"/>
          </a:p>
          <a:p>
            <a:r>
              <a:rPr lang="en-US" sz="1600" dirty="0"/>
              <a:t>        ) {</a:t>
            </a:r>
            <a:endParaRPr lang="en-US" sz="1600" dirty="0"/>
          </a:p>
          <a:p>
            <a:r>
              <a:rPr lang="en-US" sz="1600" dirty="0"/>
              <a:t>            String </a:t>
            </a:r>
            <a:r>
              <a:rPr lang="en-US" sz="1600" dirty="0" err="1"/>
              <a:t>inputLine</a:t>
            </a:r>
            <a:r>
              <a:rPr lang="en-US" sz="1600" dirty="0"/>
              <a:t>;</a:t>
            </a:r>
            <a:endParaRPr lang="en-US" sz="1600" dirty="0"/>
          </a:p>
          <a:p>
            <a:r>
              <a:rPr lang="en-US" sz="1600" dirty="0"/>
              <a:t>            while ((</a:t>
            </a:r>
            <a:r>
              <a:rPr lang="en-US" sz="1600" dirty="0" err="1"/>
              <a:t>inputLine</a:t>
            </a:r>
            <a:r>
              <a:rPr lang="en-US" sz="1600" dirty="0"/>
              <a:t> = </a:t>
            </a:r>
            <a:r>
              <a:rPr lang="en-US" sz="1600" dirty="0" err="1"/>
              <a:t>in.readLine</a:t>
            </a:r>
            <a:r>
              <a:rPr lang="en-US" sz="1600" dirty="0"/>
              <a:t>()) != null) {</a:t>
            </a:r>
            <a:endParaRPr lang="en-US" sz="1600" dirty="0"/>
          </a:p>
          <a:p>
            <a:r>
              <a:rPr lang="en-US" sz="1600" dirty="0"/>
              <a:t>                // Process client request</a:t>
            </a:r>
            <a:endParaRPr lang="en-US" sz="1600" dirty="0"/>
          </a:p>
          <a:p>
            <a:r>
              <a:rPr lang="en-US" sz="1600" dirty="0"/>
              <a:t>                </a:t>
            </a:r>
            <a:r>
              <a:rPr lang="en-US" sz="1600" dirty="0" err="1"/>
              <a:t>out.println</a:t>
            </a:r>
            <a:r>
              <a:rPr lang="en-US" sz="1600" dirty="0"/>
              <a:t>("Server: " + </a:t>
            </a:r>
            <a:r>
              <a:rPr lang="en-US" sz="1600" dirty="0" err="1"/>
              <a:t>inputLine</a:t>
            </a:r>
            <a:r>
              <a:rPr lang="en-US" sz="1600" dirty="0"/>
              <a:t>);</a:t>
            </a:r>
            <a:endParaRPr lang="en-US" sz="1600" dirty="0"/>
          </a:p>
          <a:p>
            <a:r>
              <a:rPr lang="en-US" sz="1600" dirty="0"/>
              <a:t>            }</a:t>
            </a:r>
            <a:endParaRPr lang="en-US" sz="1600" dirty="0"/>
          </a:p>
          <a:p>
            <a:r>
              <a:rPr lang="en-US" sz="1600" dirty="0"/>
              <a:t>        } catch (</a:t>
            </a:r>
            <a:r>
              <a:rPr lang="en-US" sz="1600" dirty="0" err="1"/>
              <a:t>IOException</a:t>
            </a:r>
            <a:r>
              <a:rPr lang="en-US" sz="1600" dirty="0"/>
              <a:t> e) {</a:t>
            </a:r>
            <a:endParaRPr lang="en-US" sz="1600" dirty="0"/>
          </a:p>
          <a:p>
            <a:r>
              <a:rPr lang="en-US" sz="1600" dirty="0"/>
              <a:t>            </a:t>
            </a:r>
            <a:r>
              <a:rPr lang="en-US" sz="1600" dirty="0" err="1"/>
              <a:t>System.out.println</a:t>
            </a:r>
            <a:r>
              <a:rPr lang="en-US" sz="1600" dirty="0"/>
              <a:t>("Exception in client handler");</a:t>
            </a:r>
            <a:endParaRPr lang="en-US" sz="1600" dirty="0"/>
          </a:p>
          <a:p>
            <a:r>
              <a:rPr lang="en-US" sz="1600" dirty="0"/>
              <a:t>        } finally {</a:t>
            </a:r>
            <a:endParaRPr lang="en-US" sz="1600" dirty="0"/>
          </a:p>
          <a:p>
            <a:r>
              <a:rPr lang="en-US" sz="1600" dirty="0"/>
              <a:t>            try {</a:t>
            </a:r>
            <a:endParaRPr lang="en-US" sz="1600" dirty="0"/>
          </a:p>
          <a:p>
            <a:r>
              <a:rPr lang="en-US" sz="1600" dirty="0"/>
              <a:t>                </a:t>
            </a:r>
            <a:r>
              <a:rPr lang="en-US" sz="1600" dirty="0" err="1"/>
              <a:t>clientSocket.close</a:t>
            </a:r>
            <a:r>
              <a:rPr lang="en-US" sz="1600" dirty="0"/>
              <a:t>();</a:t>
            </a:r>
            <a:endParaRPr lang="en-US" sz="1600" dirty="0"/>
          </a:p>
          <a:p>
            <a:r>
              <a:rPr lang="en-US" sz="1600" dirty="0"/>
              <a:t>            } catch (</a:t>
            </a:r>
            <a:r>
              <a:rPr lang="en-US" sz="1600" dirty="0" err="1"/>
              <a:t>IOException</a:t>
            </a:r>
            <a:r>
              <a:rPr lang="en-US" sz="1600" dirty="0"/>
              <a:t> e) {</a:t>
            </a:r>
            <a:endParaRPr lang="en-US" sz="1600" dirty="0"/>
          </a:p>
          <a:p>
            <a:r>
              <a:rPr lang="en-US" sz="1600" dirty="0"/>
              <a:t>                // Handle close exception</a:t>
            </a:r>
            <a:endParaRPr lang="en-US" sz="1600" dirty="0"/>
          </a:p>
          <a:p>
            <a:r>
              <a:rPr lang="en-US" sz="1600" dirty="0"/>
              <a:t>            }        }     } }</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4" name="Rectangle 3"/>
          <p:cNvSpPr/>
          <p:nvPr/>
        </p:nvSpPr>
        <p:spPr>
          <a:xfrm>
            <a:off x="228600" y="140378"/>
            <a:ext cx="11734800" cy="6346609"/>
          </a:xfrm>
          <a:prstGeom prst="rect">
            <a:avLst/>
          </a:prstGeom>
        </p:spPr>
        <p:txBody>
          <a:bodyPr wrap="square">
            <a:spAutoFit/>
          </a:bodyPr>
          <a:lstStyle/>
          <a:p>
            <a:pPr marL="0" marR="0">
              <a:lnSpc>
                <a:spcPct val="107000"/>
              </a:lnSpc>
              <a:spcBef>
                <a:spcPts val="0"/>
              </a:spcBef>
              <a:spcAft>
                <a:spcPts val="800"/>
              </a:spcAft>
            </a:pPr>
            <a:r>
              <a:rPr lang="en-US" b="1" dirty="0">
                <a:solidFill>
                  <a:srgbClr val="FF0000"/>
                </a:solidFill>
                <a:latin typeface="Calibri" panose="020F0502020204030204" pitchFamily="34" charset="0"/>
                <a:ea typeface="宋体" panose="02010600030101010101" pitchFamily="2" charset="-122"/>
                <a:cs typeface="Times New Roman" panose="02020603050405020304" pitchFamily="18" charset="0"/>
              </a:rPr>
              <a:t>What is a Thread Pool? : </a:t>
            </a:r>
            <a:r>
              <a:rPr lang="en-US" sz="1600" b="1" dirty="0">
                <a:latin typeface="Calibri" panose="020F0502020204030204" pitchFamily="34" charset="0"/>
                <a:ea typeface="宋体" panose="02010600030101010101" pitchFamily="2" charset="-122"/>
                <a:cs typeface="Times New Roman" panose="02020603050405020304" pitchFamily="18" charset="0"/>
              </a:rPr>
              <a:t>A thread pool is a programming technique used to limit the number of threads running concurrently in an application. Its primary function is to manage a pool of threads that can be reused to execute multiple tasks, reducing the overhead of thread creation and improving system performance.</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 </a:t>
            </a:r>
            <a:r>
              <a:rPr lang="en-US" b="1" u="sng" dirty="0">
                <a:solidFill>
                  <a:srgbClr val="FF0000"/>
                </a:solidFill>
                <a:latin typeface="Calibri" panose="020F0502020204030204" pitchFamily="34" charset="0"/>
                <a:ea typeface="宋体" panose="02010600030101010101" pitchFamily="2" charset="-122"/>
                <a:cs typeface="Times New Roman" panose="02020603050405020304" pitchFamily="18" charset="0"/>
              </a:rPr>
              <a:t>How Thread Pools Work : </a:t>
            </a:r>
            <a:r>
              <a:rPr lang="en-US" sz="1600" b="1" dirty="0">
                <a:latin typeface="Calibri" panose="020F0502020204030204" pitchFamily="34" charset="0"/>
                <a:ea typeface="宋体" panose="02010600030101010101" pitchFamily="2" charset="-122"/>
                <a:cs typeface="Times New Roman" panose="02020603050405020304" pitchFamily="18" charset="0"/>
              </a:rPr>
              <a:t>Here's a step-by-step explanation of the thread pool process:</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 1. Task Submission: Concurrently executed tasks are submitted to a thread pool.</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2. Task Queueing: Tasks are inserted into a blocking queue within the thread pool.</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3. Thread Assignment: When an idle thread is available in the pool, it takes a task from the queue and executes it.</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4. Thread Reuse: After completing a task, the thread returns to the pool, ready to execute another task.</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b="1" u="sng" dirty="0">
                <a:solidFill>
                  <a:srgbClr val="FF0000"/>
                </a:solidFill>
                <a:latin typeface="Calibri" panose="020F0502020204030204" pitchFamily="34" charset="0"/>
                <a:ea typeface="宋体" panose="02010600030101010101" pitchFamily="2" charset="-122"/>
                <a:cs typeface="Times New Roman" panose="02020603050405020304" pitchFamily="18" charset="0"/>
              </a:rPr>
              <a:t> Benefits of Thread Pools : </a:t>
            </a:r>
            <a:r>
              <a:rPr lang="en-US" sz="1600" b="1" dirty="0">
                <a:latin typeface="Calibri" panose="020F0502020204030204" pitchFamily="34" charset="0"/>
                <a:ea typeface="宋体" panose="02010600030101010101" pitchFamily="2" charset="-122"/>
                <a:cs typeface="Times New Roman" panose="02020603050405020304" pitchFamily="18" charset="0"/>
              </a:rPr>
              <a:t>Thread pools offer several advantages:</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 - Improved Performance: By reusing existing threads, thread pools reduce the overhead of thread creation and termination.</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 Resource Conservation: Thread pools conserve system resources by limiting the number of threads running concurrently.</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 Simplified Thread Management: Thread pools simplify thread management by providing a centralized pool of threads that can be easily managed.</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 </a:t>
            </a:r>
            <a:r>
              <a:rPr lang="en-US" b="1" u="sng" dirty="0">
                <a:solidFill>
                  <a:srgbClr val="FF0000"/>
                </a:solidFill>
                <a:latin typeface="Calibri" panose="020F0502020204030204" pitchFamily="34" charset="0"/>
                <a:ea typeface="宋体" panose="02010600030101010101" pitchFamily="2" charset="-122"/>
                <a:cs typeface="Times New Roman" panose="02020603050405020304" pitchFamily="18" charset="0"/>
              </a:rPr>
              <a:t>Java Support for Thread Pools: </a:t>
            </a:r>
            <a:r>
              <a:rPr lang="en-US" sz="1600" b="1" dirty="0">
                <a:latin typeface="Calibri" panose="020F0502020204030204" pitchFamily="34" charset="0"/>
                <a:ea typeface="宋体" panose="02010600030101010101" pitchFamily="2" charset="-122"/>
                <a:cs typeface="Times New Roman" panose="02020603050405020304" pitchFamily="18" charset="0"/>
              </a:rPr>
              <a:t>Java 5 and later versions provide built-in support for thread pool programming through the </a:t>
            </a:r>
            <a:r>
              <a:rPr lang="en-US" sz="1600" b="1" dirty="0" err="1">
                <a:latin typeface="Calibri" panose="020F0502020204030204" pitchFamily="34" charset="0"/>
                <a:ea typeface="宋体" panose="02010600030101010101" pitchFamily="2" charset="-122"/>
                <a:cs typeface="Times New Roman" panose="02020603050405020304" pitchFamily="18" charset="0"/>
              </a:rPr>
              <a:t>java.util.concurrent</a:t>
            </a:r>
            <a:r>
              <a:rPr lang="en-US" sz="1600" b="1" dirty="0">
                <a:latin typeface="Calibri" panose="020F0502020204030204" pitchFamily="34" charset="0"/>
                <a:ea typeface="宋体" panose="02010600030101010101" pitchFamily="2" charset="-122"/>
                <a:cs typeface="Times New Roman" panose="02020603050405020304" pitchFamily="18" charset="0"/>
              </a:rPr>
              <a:t> package. This package includes classes such as </a:t>
            </a:r>
            <a:r>
              <a:rPr lang="en-US" sz="1600" b="1" dirty="0" err="1">
                <a:latin typeface="Calibri" panose="020F0502020204030204" pitchFamily="34" charset="0"/>
                <a:ea typeface="宋体" panose="02010600030101010101" pitchFamily="2" charset="-122"/>
                <a:cs typeface="Times New Roman" panose="02020603050405020304" pitchFamily="18" charset="0"/>
              </a:rPr>
              <a:t>ExecutorService</a:t>
            </a:r>
            <a:r>
              <a:rPr lang="en-US" sz="1600" b="1" dirty="0">
                <a:latin typeface="Calibri" panose="020F0502020204030204" pitchFamily="34" charset="0"/>
                <a:ea typeface="宋体" panose="02010600030101010101" pitchFamily="2" charset="-122"/>
                <a:cs typeface="Times New Roman" panose="02020603050405020304" pitchFamily="18" charset="0"/>
              </a:rPr>
              <a:t> and </a:t>
            </a:r>
            <a:r>
              <a:rPr lang="en-US" sz="1600" b="1" dirty="0" err="1">
                <a:latin typeface="Calibri" panose="020F0502020204030204" pitchFamily="34" charset="0"/>
                <a:ea typeface="宋体" panose="02010600030101010101" pitchFamily="2" charset="-122"/>
                <a:cs typeface="Times New Roman" panose="02020603050405020304" pitchFamily="18" charset="0"/>
              </a:rPr>
              <a:t>ThreadPoolExecutor</a:t>
            </a:r>
            <a:r>
              <a:rPr lang="en-US" sz="1600" b="1" dirty="0">
                <a:latin typeface="Calibri" panose="020F0502020204030204" pitchFamily="34" charset="0"/>
                <a:ea typeface="宋体" panose="02010600030101010101" pitchFamily="2" charset="-122"/>
                <a:cs typeface="Times New Roman" panose="02020603050405020304" pitchFamily="18" charset="0"/>
              </a:rPr>
              <a:t> that can be used to create and manage thread pools.</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 </a:t>
            </a:r>
            <a:r>
              <a:rPr lang="en-US" b="1" u="sng" dirty="0">
                <a:solidFill>
                  <a:srgbClr val="FF0000"/>
                </a:solidFill>
                <a:latin typeface="Calibri" panose="020F0502020204030204" pitchFamily="34" charset="0"/>
                <a:ea typeface="宋体" panose="02010600030101010101" pitchFamily="2" charset="-122"/>
                <a:cs typeface="Times New Roman" panose="02020603050405020304" pitchFamily="18" charset="0"/>
              </a:rPr>
              <a:t>Use Cases for Thread Pools : </a:t>
            </a:r>
            <a:r>
              <a:rPr lang="en-US" sz="1600" b="1" dirty="0">
                <a:latin typeface="Calibri" panose="020F0502020204030204" pitchFamily="34" charset="0"/>
                <a:ea typeface="宋体" panose="02010600030101010101" pitchFamily="2" charset="-122"/>
                <a:cs typeface="Times New Roman" panose="02020603050405020304" pitchFamily="18" charset="0"/>
              </a:rPr>
              <a:t>Thread pools are commonly used in multi-threaded server programming, where each incoming connection is packaged as a task and submitted to a thread pool for concurrent processing. This approach allows servers to handle multiple requests efficiently and scale to meet increasing demands.</a:t>
            </a:r>
            <a:endParaRPr lang="en-US" sz="1600" b="1" dirty="0">
              <a:effectLst/>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228600" y="859506"/>
            <a:ext cx="11434618" cy="5632311"/>
          </a:xfrm>
          <a:prstGeom prst="rect">
            <a:avLst/>
          </a:prstGeom>
        </p:spPr>
        <p:txBody>
          <a:bodyPr wrap="square">
            <a:spAutoFit/>
          </a:bodyPr>
          <a:lstStyle/>
          <a:p>
            <a:pPr marL="228600" indent="-228600">
              <a:buFont typeface="+mj-lt"/>
              <a:buAutoNum type="arabicPeriod"/>
            </a:pPr>
            <a:r>
              <a:rPr lang="en-US" sz="2000" dirty="0"/>
              <a:t>A thread pool is a collection of pre-initialized worker threads that stand ready to execute tasks, providing a more efficient way to manage multiple threads in concurrent applications.</a:t>
            </a:r>
            <a:endParaRPr lang="en-US" sz="2000" dirty="0"/>
          </a:p>
          <a:p>
            <a:pPr marL="228600" indent="-228600">
              <a:buFont typeface="+mj-lt"/>
              <a:buAutoNum type="arabicPeriod"/>
            </a:pPr>
            <a:r>
              <a:rPr lang="en-US" sz="2000" dirty="0"/>
              <a:t> How Thread Pools Work</a:t>
            </a:r>
            <a:endParaRPr lang="en-US" sz="2000" dirty="0"/>
          </a:p>
          <a:p>
            <a:pPr marL="914400" lvl="1" indent="-457200">
              <a:buFont typeface="Wingdings" panose="05000000000000000000" pitchFamily="2" charset="2"/>
              <a:buChar char="q"/>
            </a:pPr>
            <a:r>
              <a:rPr lang="en-US" sz="2000" dirty="0"/>
              <a:t>Pool Creation: When you create a thread pool, it initializes a set of worker threads</a:t>
            </a:r>
            <a:endParaRPr lang="en-US" sz="2000" dirty="0"/>
          </a:p>
          <a:p>
            <a:pPr marL="914400" lvl="1" indent="-457200">
              <a:buFont typeface="Wingdings" panose="05000000000000000000" pitchFamily="2" charset="2"/>
              <a:buChar char="q"/>
            </a:pPr>
            <a:r>
              <a:rPr lang="en-US" sz="2000" dirty="0"/>
              <a:t>Task Submission: You submit tasks (as Runnable or Callable objects) to the pool</a:t>
            </a:r>
            <a:endParaRPr lang="en-US" sz="2000" dirty="0"/>
          </a:p>
          <a:p>
            <a:pPr marL="914400" lvl="1" indent="-457200">
              <a:buFont typeface="Wingdings" panose="05000000000000000000" pitchFamily="2" charset="2"/>
              <a:buChar char="q"/>
            </a:pPr>
            <a:r>
              <a:rPr lang="en-US" sz="2000" dirty="0"/>
              <a:t>Task Execution: The pool assigns tasks to available worker threads</a:t>
            </a:r>
            <a:endParaRPr lang="en-US" sz="2000" dirty="0"/>
          </a:p>
          <a:p>
            <a:pPr marL="914400" lvl="1" indent="-457200">
              <a:buFont typeface="Wingdings" panose="05000000000000000000" pitchFamily="2" charset="2"/>
              <a:buChar char="q"/>
            </a:pPr>
            <a:r>
              <a:rPr lang="en-US" sz="2000" dirty="0"/>
              <a:t>Thread Reuse: After completing a task, threads return to the pool for reuse</a:t>
            </a:r>
            <a:endParaRPr lang="en-US" sz="2000" dirty="0"/>
          </a:p>
          <a:p>
            <a:pPr marL="457200" indent="-457200">
              <a:buFont typeface="+mj-lt"/>
              <a:buAutoNum type="arabicPeriod"/>
            </a:pPr>
            <a:r>
              <a:rPr lang="en-US" sz="2000" dirty="0"/>
              <a:t>Key Components</a:t>
            </a:r>
            <a:endParaRPr lang="en-US" sz="2000" dirty="0"/>
          </a:p>
          <a:p>
            <a:r>
              <a:rPr lang="en-US" sz="2000" dirty="0"/>
              <a:t>      1. Executor Framework Interfaces</a:t>
            </a:r>
            <a:endParaRPr lang="en-US" sz="2000" dirty="0"/>
          </a:p>
          <a:p>
            <a:r>
              <a:rPr lang="en-US" sz="2000" dirty="0"/>
              <a:t>	Executor          // Basic interface</a:t>
            </a:r>
            <a:endParaRPr lang="en-US" sz="2000" dirty="0"/>
          </a:p>
          <a:p>
            <a:r>
              <a:rPr lang="en-US" sz="2000" dirty="0"/>
              <a:t>	</a:t>
            </a:r>
            <a:r>
              <a:rPr lang="en-US" sz="2000" dirty="0" err="1"/>
              <a:t>ExecutorService</a:t>
            </a:r>
            <a:r>
              <a:rPr lang="en-US" sz="2000" dirty="0"/>
              <a:t>   // Extended interface with lifecycle methods</a:t>
            </a:r>
            <a:endParaRPr lang="en-US" sz="2000" dirty="0"/>
          </a:p>
          <a:p>
            <a:r>
              <a:rPr lang="en-US" sz="2000" dirty="0"/>
              <a:t>	</a:t>
            </a:r>
            <a:r>
              <a:rPr lang="en-US" sz="2000" dirty="0" err="1"/>
              <a:t>ScheduledExecutorService</a:t>
            </a:r>
            <a:r>
              <a:rPr lang="en-US" sz="2000" dirty="0"/>
              <a:t> // For delayed or periodic execution</a:t>
            </a:r>
            <a:endParaRPr lang="en-US" sz="2000" dirty="0"/>
          </a:p>
          <a:p>
            <a:r>
              <a:rPr lang="en-US" sz="2000" dirty="0"/>
              <a:t>     2. Common Implementations</a:t>
            </a:r>
            <a:endParaRPr lang="en-US" sz="2000" dirty="0"/>
          </a:p>
          <a:p>
            <a:pPr lvl="1"/>
            <a:r>
              <a:rPr lang="en-US" sz="2000" dirty="0"/>
              <a:t>	</a:t>
            </a:r>
            <a:r>
              <a:rPr lang="en-US" sz="2000" dirty="0" err="1"/>
              <a:t>Executors.newFixedThreadPool</a:t>
            </a:r>
            <a:r>
              <a:rPr lang="en-US" sz="2000" dirty="0"/>
              <a:t>(int n)     // Fixed number of threads</a:t>
            </a:r>
            <a:endParaRPr lang="en-US" sz="2000" dirty="0"/>
          </a:p>
          <a:p>
            <a:pPr lvl="1"/>
            <a:r>
              <a:rPr lang="en-US" sz="2000" dirty="0"/>
              <a:t>	</a:t>
            </a:r>
            <a:r>
              <a:rPr lang="en-US" sz="2000" dirty="0" err="1"/>
              <a:t>Executors.newCachedThreadPool</a:t>
            </a:r>
            <a:r>
              <a:rPr lang="en-US" sz="2000" dirty="0"/>
              <a:t>()         // Expands as needed</a:t>
            </a:r>
            <a:endParaRPr lang="en-US" sz="2000" dirty="0"/>
          </a:p>
          <a:p>
            <a:pPr lvl="1"/>
            <a:r>
              <a:rPr lang="en-US" sz="2000" dirty="0"/>
              <a:t>	</a:t>
            </a:r>
            <a:r>
              <a:rPr lang="en-US" sz="2000" dirty="0" err="1"/>
              <a:t>Executors.newSingleThreadExecutor</a:t>
            </a:r>
            <a:r>
              <a:rPr lang="en-US" sz="2000" dirty="0"/>
              <a:t>()     // Single worker thread</a:t>
            </a:r>
            <a:endParaRPr lang="en-US" sz="2000" dirty="0"/>
          </a:p>
          <a:p>
            <a:pPr lvl="1"/>
            <a:r>
              <a:rPr lang="en-US" sz="2000" dirty="0"/>
              <a:t>	</a:t>
            </a:r>
            <a:r>
              <a:rPr lang="en-US" sz="2000" dirty="0" err="1"/>
              <a:t>Executors.newScheduledThreadPool</a:t>
            </a:r>
            <a:r>
              <a:rPr lang="en-US" sz="2000" dirty="0"/>
              <a:t>(int n) // For scheduled tasks</a:t>
            </a:r>
            <a:endParaRPr lang="en-US" sz="2000" dirty="0"/>
          </a:p>
          <a:p>
            <a:pPr lvl="1"/>
            <a:r>
              <a:rPr lang="en-US" sz="2000" dirty="0"/>
              <a:t>	</a:t>
            </a:r>
            <a:r>
              <a:rPr lang="en-US" sz="2000" dirty="0" err="1"/>
              <a:t>Executors.newWorkStealingPool</a:t>
            </a:r>
            <a:r>
              <a:rPr lang="en-US" sz="2000" dirty="0"/>
              <a:t>()         // </a:t>
            </a:r>
            <a:r>
              <a:rPr lang="en-US" sz="2000" dirty="0" err="1"/>
              <a:t>ForkJoinPool</a:t>
            </a:r>
            <a:r>
              <a:rPr lang="en-US" sz="2000" dirty="0"/>
              <a:t> for parallel tasks</a:t>
            </a:r>
            <a:endParaRPr lang="en-US" sz="2000" dirty="0"/>
          </a:p>
        </p:txBody>
      </p:sp>
      <p:sp>
        <p:nvSpPr>
          <p:cNvPr id="4" name="Rectangle 3"/>
          <p:cNvSpPr/>
          <p:nvPr/>
        </p:nvSpPr>
        <p:spPr>
          <a:xfrm>
            <a:off x="2362200" y="136525"/>
            <a:ext cx="7010400" cy="523220"/>
          </a:xfrm>
          <a:prstGeom prst="rect">
            <a:avLst/>
          </a:prstGeom>
        </p:spPr>
        <p:txBody>
          <a:bodyPr wrap="square">
            <a:spAutoFit/>
          </a:bodyPr>
          <a:lstStyle/>
          <a:p>
            <a:pPr lvl="0" algn="ctr"/>
            <a:r>
              <a:rPr lang="en-US" sz="2800" b="1" u="sng" dirty="0">
                <a:solidFill>
                  <a:srgbClr val="FF0000"/>
                </a:solidFill>
              </a:rPr>
              <a:t>Understanding Thread Pools in Java</a:t>
            </a:r>
            <a:endParaRPr lang="en-US" sz="2800" b="1" u="sng" dirty="0">
              <a:solidFill>
                <a:srgbClr val="FF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131234" y="136525"/>
            <a:ext cx="11658600" cy="6361934"/>
          </a:xfrm>
          <a:prstGeom prst="rect">
            <a:avLst/>
          </a:prstGeom>
        </p:spPr>
        <p:txBody>
          <a:bodyPr wrap="square">
            <a:spAutoFit/>
          </a:bodyPr>
          <a:lstStyle/>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The Executor Framework is a Java framework for managing threads and executing tasks asynchronously. It provides a high-level API for decoupling task submission from task execution, allowing developers to focus on writing business logic rather than worrying about low-level threading details.</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 Key Features of Executor Framework:</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1. Thread Pooling: provides a thread pool, which is a group of threads that can be reused to execute multiple tasks.</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2. Task Submission: Tasks can be submitted to the executor for execution, without worrying about creating or managing threads.</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3. Asynchronous Execution: Tasks are executed asynchronously, allowing the submitting thread to continue executing other tasks.</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4. Future Objects: Future objects represents the result of a task and can be used to retrieve the result or cancel the task.</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 </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Benefits of Executor Framework:</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1. Improved Performance:  by reusing threads and reducing the overhead of thread creation and termination.</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2. Simplified Thread Management:  by providing a high-level API for managing threads and executing tasks.</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3. Scalability: Executor Framework makes it easy to scale applications by adding more threads to the pool as needed.</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 </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Common Use Cases of Executor Framework:</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1. Server Applications: used in server applications, such as web servers, to handle multiple client requests concurrently.</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2. Background Tasks: used to execute background tasks, such as data processing or file I/O, without blocking the main thread.</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3. Parallel Processing: used to execute tasks in parallel, taking advantage of multi-core processors.</a:t>
            </a:r>
            <a:endParaRPr lang="en-US" sz="1600" b="1" dirty="0">
              <a:effectLst/>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76200" y="76200"/>
            <a:ext cx="11963400" cy="6586418"/>
          </a:xfrm>
          <a:prstGeom prst="rect">
            <a:avLst/>
          </a:prstGeom>
        </p:spPr>
        <p:txBody>
          <a:bodyPr wrap="square">
            <a:spAutoFit/>
          </a:bodyPr>
          <a:lstStyle/>
          <a:p>
            <a:r>
              <a:rPr lang="en-US" b="1" u="sng" dirty="0">
                <a:solidFill>
                  <a:srgbClr val="FF0000"/>
                </a:solidFill>
              </a:rPr>
              <a:t>Executor Framework Components: </a:t>
            </a:r>
            <a:endParaRPr lang="en-US" b="1" u="sng" dirty="0">
              <a:solidFill>
                <a:srgbClr val="FF0000"/>
              </a:solidFill>
            </a:endParaRPr>
          </a:p>
          <a:p>
            <a:r>
              <a:rPr lang="en-US" b="1" dirty="0"/>
              <a:t>The Executor framework consists of several key components:</a:t>
            </a:r>
            <a:endParaRPr lang="en-US" b="1" dirty="0"/>
          </a:p>
          <a:p>
            <a:endParaRPr lang="en-US" b="1" dirty="0"/>
          </a:p>
          <a:p>
            <a:r>
              <a:rPr lang="en-US" sz="1600" b="1" u="sng" dirty="0">
                <a:solidFill>
                  <a:srgbClr val="FF0000"/>
                </a:solidFill>
              </a:rPr>
              <a:t>1. Callable Interface: </a:t>
            </a:r>
            <a:r>
              <a:rPr lang="en-US" sz="1600" dirty="0"/>
              <a:t>Similar to the Runnable interface, Callable is designed for classes that can be executed by another thread. It provides a call() method, which is more powerful than the run() method, as it has a return value and can throw exceptions. When a Callable object is submitted to a thread pool, a Future object is returned with the same generic type.</a:t>
            </a:r>
            <a:endParaRPr lang="en-US" sz="1600" dirty="0"/>
          </a:p>
          <a:p>
            <a:r>
              <a:rPr lang="en-US" sz="1600" b="1" u="sng" dirty="0">
                <a:solidFill>
                  <a:srgbClr val="FF0000"/>
                </a:solidFill>
              </a:rPr>
              <a:t>2. Future Interface: </a:t>
            </a:r>
            <a:r>
              <a:rPr lang="en-US" sz="1600" dirty="0"/>
              <a:t>Used to cancel, check the status, and retrieve the result of a specific Runnable or Callable task. The get() method blocks until the task returns a result.</a:t>
            </a:r>
            <a:endParaRPr lang="en-US" sz="1600" dirty="0"/>
          </a:p>
          <a:p>
            <a:r>
              <a:rPr lang="en-US" sz="1600" b="1" u="sng" dirty="0">
                <a:solidFill>
                  <a:srgbClr val="FF0000"/>
                </a:solidFill>
              </a:rPr>
              <a:t>3. Executor Interface: </a:t>
            </a:r>
            <a:r>
              <a:rPr lang="en-US" sz="1600" dirty="0"/>
              <a:t>The base interface in the Executor framework, which separates task submission from task execution. It defines a single method, execute(), that receives a Runnable object.</a:t>
            </a:r>
            <a:endParaRPr lang="en-US" sz="1600" dirty="0"/>
          </a:p>
          <a:p>
            <a:r>
              <a:rPr lang="en-US" sz="1600" b="1" u="sng" dirty="0">
                <a:solidFill>
                  <a:srgbClr val="FF0000"/>
                </a:solidFill>
              </a:rPr>
              <a:t>4. </a:t>
            </a:r>
            <a:r>
              <a:rPr lang="en-US" sz="1600" b="1" u="sng" dirty="0" err="1">
                <a:solidFill>
                  <a:srgbClr val="FF0000"/>
                </a:solidFill>
              </a:rPr>
              <a:t>ExecutorService</a:t>
            </a:r>
            <a:r>
              <a:rPr lang="en-US" sz="1600" b="1" u="sng" dirty="0">
                <a:solidFill>
                  <a:srgbClr val="FF0000"/>
                </a:solidFill>
              </a:rPr>
              <a:t> Interface: </a:t>
            </a:r>
            <a:r>
              <a:rPr lang="en-US" sz="1600" dirty="0"/>
              <a:t>A subclass of Executor, which provides methods for operating Executor, such as terminating tasks, submitting tasks, and tracking task return results. Once an </a:t>
            </a:r>
            <a:r>
              <a:rPr lang="en-US" sz="1600" dirty="0" err="1"/>
              <a:t>ExecutorService</a:t>
            </a:r>
            <a:r>
              <a:rPr lang="en-US" sz="1600" dirty="0"/>
              <a:t> is closed, the thread pool will no longer receive tasks.</a:t>
            </a:r>
            <a:endParaRPr lang="en-US" sz="1600" dirty="0"/>
          </a:p>
          <a:p>
            <a:r>
              <a:rPr lang="en-US" sz="1600" b="1" u="sng" dirty="0">
                <a:solidFill>
                  <a:srgbClr val="FF0000"/>
                </a:solidFill>
              </a:rPr>
              <a:t>5. Executors Class: </a:t>
            </a:r>
            <a:r>
              <a:rPr lang="en-US" sz="1600" dirty="0"/>
              <a:t>Provides factory methods for creating thread pools, which implement the </a:t>
            </a:r>
            <a:r>
              <a:rPr lang="en-US" sz="1600" dirty="0" err="1"/>
              <a:t>ExecutorService</a:t>
            </a:r>
            <a:r>
              <a:rPr lang="en-US" sz="1600" dirty="0"/>
              <a:t> interface.</a:t>
            </a:r>
            <a:endParaRPr lang="en-US" sz="1600" dirty="0"/>
          </a:p>
          <a:p>
            <a:endParaRPr lang="en-US" sz="1600" dirty="0"/>
          </a:p>
          <a:p>
            <a:r>
              <a:rPr lang="en-US" sz="1600" b="1" u="sng" dirty="0" err="1">
                <a:solidFill>
                  <a:srgbClr val="FF0000"/>
                </a:solidFill>
              </a:rPr>
              <a:t>CompletionService</a:t>
            </a:r>
            <a:r>
              <a:rPr lang="en-US" sz="1600" b="1" u="sng" dirty="0">
                <a:solidFill>
                  <a:srgbClr val="FF0000"/>
                </a:solidFill>
              </a:rPr>
              <a:t>:</a:t>
            </a:r>
            <a:endParaRPr lang="en-US" sz="1600" b="1" u="sng" dirty="0">
              <a:solidFill>
                <a:srgbClr val="FF0000"/>
              </a:solidFill>
            </a:endParaRPr>
          </a:p>
          <a:p>
            <a:r>
              <a:rPr lang="en-US" sz="1600" dirty="0" err="1"/>
              <a:t>CompletionService</a:t>
            </a:r>
            <a:r>
              <a:rPr lang="en-US" sz="1600" dirty="0"/>
              <a:t> is a variation of </a:t>
            </a:r>
            <a:r>
              <a:rPr lang="en-US" sz="1600" dirty="0" err="1"/>
              <a:t>ExecutorService</a:t>
            </a:r>
            <a:r>
              <a:rPr lang="en-US" sz="1600" dirty="0"/>
              <a:t> that maintains a </a:t>
            </a:r>
            <a:r>
              <a:rPr lang="en-US" sz="1600" dirty="0" err="1"/>
              <a:t>BlockingQueue</a:t>
            </a:r>
            <a:r>
              <a:rPr lang="en-US" sz="1600" dirty="0"/>
              <a:t> of Future objects. Tasks are added to the queue only when their status is completed. This allows for efficient retrieval of completed tasks, regardless of the order in which they were submitted.</a:t>
            </a:r>
            <a:endParaRPr lang="en-US" sz="1600" dirty="0"/>
          </a:p>
          <a:p>
            <a:endParaRPr lang="en-US" sz="1600" dirty="0"/>
          </a:p>
          <a:p>
            <a:r>
              <a:rPr lang="en-US" sz="1600" dirty="0"/>
              <a:t>Key Concepts</a:t>
            </a:r>
            <a:endParaRPr lang="en-US" sz="1600" dirty="0"/>
          </a:p>
          <a:p>
            <a:r>
              <a:rPr lang="en-US" sz="1600" b="1" u="sng" dirty="0">
                <a:solidFill>
                  <a:srgbClr val="FF0000"/>
                </a:solidFill>
              </a:rPr>
              <a:t>- Thread Pool: </a:t>
            </a:r>
            <a:r>
              <a:rPr lang="en-US" sz="1600" dirty="0"/>
              <a:t>A group of threads that can be reused to execute multiple tasks, reducing the overhead of thread creation and termination.</a:t>
            </a:r>
            <a:endParaRPr lang="en-US" sz="1600" dirty="0"/>
          </a:p>
          <a:p>
            <a:r>
              <a:rPr lang="en-US" sz="1600" b="1" u="sng" dirty="0">
                <a:solidFill>
                  <a:srgbClr val="FF0000"/>
                </a:solidFill>
              </a:rPr>
              <a:t>- Task Submission: </a:t>
            </a:r>
            <a:r>
              <a:rPr lang="en-US" sz="1600" dirty="0"/>
              <a:t>The process of submitting a task to a thread pool for execution.</a:t>
            </a:r>
            <a:endParaRPr lang="en-US" sz="1600" dirty="0"/>
          </a:p>
          <a:p>
            <a:r>
              <a:rPr lang="en-US" sz="1600" b="1" u="sng" dirty="0">
                <a:solidFill>
                  <a:srgbClr val="FF0000"/>
                </a:solidFill>
              </a:rPr>
              <a:t>- Task Execution: </a:t>
            </a:r>
            <a:r>
              <a:rPr lang="en-US" sz="1600" dirty="0"/>
              <a:t>The process of executing a task by a thread in the thread pool.</a:t>
            </a:r>
            <a:endParaRPr lang="en-US" sz="1600" dirty="0"/>
          </a:p>
          <a:p>
            <a:r>
              <a:rPr lang="en-US" sz="1600" b="1" u="sng" dirty="0">
                <a:solidFill>
                  <a:srgbClr val="FF0000"/>
                </a:solidFill>
              </a:rPr>
              <a:t>- Future Object: </a:t>
            </a:r>
            <a:r>
              <a:rPr lang="en-US" sz="1600" dirty="0"/>
              <a:t>A representation of a task's result, which can be used to retrieve the result or cancel the task.</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266700" y="876069"/>
            <a:ext cx="11658600" cy="1107996"/>
          </a:xfrm>
          <a:prstGeom prst="rect">
            <a:avLst/>
          </a:prstGeom>
        </p:spPr>
        <p:txBody>
          <a:bodyPr wrap="square">
            <a:spAutoFit/>
          </a:bodyPr>
          <a:lstStyle/>
          <a:p>
            <a:r>
              <a:rPr lang="en-US" sz="2200" b="1" dirty="0"/>
              <a:t>A </a:t>
            </a:r>
            <a:r>
              <a:rPr lang="en-US" sz="2200" b="1" dirty="0" err="1"/>
              <a:t>ThreadPool</a:t>
            </a:r>
            <a:r>
              <a:rPr lang="en-US" sz="2200" b="1" dirty="0"/>
              <a:t> is a group of pre-initialized worker threads that efficiently execute multiple tasks concurrently.  Instead of creating a new thread for every task, we reuse existing threads from the pool, improving performance and resource management.</a:t>
            </a:r>
            <a:endParaRPr lang="en-US" sz="2200" b="1" dirty="0"/>
          </a:p>
        </p:txBody>
      </p:sp>
      <p:sp>
        <p:nvSpPr>
          <p:cNvPr id="4" name="Rectangle 3"/>
          <p:cNvSpPr/>
          <p:nvPr/>
        </p:nvSpPr>
        <p:spPr>
          <a:xfrm>
            <a:off x="249767" y="2213723"/>
            <a:ext cx="11772900" cy="4555093"/>
          </a:xfrm>
          <a:prstGeom prst="rect">
            <a:avLst/>
          </a:prstGeom>
        </p:spPr>
        <p:txBody>
          <a:bodyPr wrap="square">
            <a:spAutoFit/>
          </a:bodyPr>
          <a:lstStyle/>
          <a:p>
            <a:pPr algn="ctr"/>
            <a:r>
              <a:rPr lang="en-US" sz="2000" b="1" u="sng" dirty="0">
                <a:solidFill>
                  <a:srgbClr val="FF0000"/>
                </a:solidFill>
              </a:rPr>
              <a:t>Steps to Create a </a:t>
            </a:r>
            <a:r>
              <a:rPr lang="en-US" sz="2000" b="1" u="sng" dirty="0" err="1">
                <a:solidFill>
                  <a:srgbClr val="FF0000"/>
                </a:solidFill>
              </a:rPr>
              <a:t>ThreadPool</a:t>
            </a:r>
            <a:r>
              <a:rPr lang="en-US" sz="2000" b="1" u="sng" dirty="0">
                <a:solidFill>
                  <a:srgbClr val="FF0000"/>
                </a:solidFill>
              </a:rPr>
              <a:t> in Java</a:t>
            </a:r>
            <a:endParaRPr lang="en-US" sz="2000" b="1" u="sng" dirty="0">
              <a:solidFill>
                <a:srgbClr val="FF0000"/>
              </a:solidFill>
            </a:endParaRPr>
          </a:p>
          <a:p>
            <a:r>
              <a:rPr lang="en-US" b="1" dirty="0"/>
              <a:t>1. Import Classes: </a:t>
            </a:r>
            <a:r>
              <a:rPr lang="en-US" dirty="0"/>
              <a:t>Java provides the </a:t>
            </a:r>
            <a:r>
              <a:rPr lang="en-US" dirty="0" err="1"/>
              <a:t>ExecutorService</a:t>
            </a:r>
            <a:r>
              <a:rPr lang="en-US" dirty="0"/>
              <a:t> interface and Executors class to create thread pools.</a:t>
            </a:r>
            <a:endParaRPr lang="en-US" dirty="0"/>
          </a:p>
          <a:p>
            <a:r>
              <a:rPr lang="en-US" dirty="0">
                <a:solidFill>
                  <a:srgbClr val="FF00FF"/>
                </a:solidFill>
              </a:rPr>
              <a:t>import </a:t>
            </a:r>
            <a:r>
              <a:rPr lang="en-US" dirty="0" err="1">
                <a:solidFill>
                  <a:srgbClr val="FF00FF"/>
                </a:solidFill>
              </a:rPr>
              <a:t>java.util.concurrent.ExecutorService</a:t>
            </a:r>
            <a:r>
              <a:rPr lang="en-US" dirty="0">
                <a:solidFill>
                  <a:srgbClr val="FF00FF"/>
                </a:solidFill>
              </a:rPr>
              <a:t>;</a:t>
            </a:r>
            <a:endParaRPr lang="en-US" dirty="0">
              <a:solidFill>
                <a:srgbClr val="FF00FF"/>
              </a:solidFill>
            </a:endParaRPr>
          </a:p>
          <a:p>
            <a:r>
              <a:rPr lang="en-US" dirty="0">
                <a:solidFill>
                  <a:srgbClr val="FF00FF"/>
                </a:solidFill>
              </a:rPr>
              <a:t>import </a:t>
            </a:r>
            <a:r>
              <a:rPr lang="en-US" dirty="0" err="1">
                <a:solidFill>
                  <a:srgbClr val="FF00FF"/>
                </a:solidFill>
              </a:rPr>
              <a:t>java.util.concurrent.Executors</a:t>
            </a:r>
            <a:r>
              <a:rPr lang="en-US" dirty="0">
                <a:solidFill>
                  <a:srgbClr val="FF00FF"/>
                </a:solidFill>
              </a:rPr>
              <a:t>;</a:t>
            </a:r>
            <a:endParaRPr lang="en-US" dirty="0">
              <a:solidFill>
                <a:srgbClr val="FF00FF"/>
              </a:solidFill>
            </a:endParaRPr>
          </a:p>
          <a:p>
            <a:endParaRPr lang="en-US" dirty="0"/>
          </a:p>
          <a:p>
            <a:r>
              <a:rPr lang="en-US" b="1" dirty="0"/>
              <a:t>2. Create a </a:t>
            </a:r>
            <a:r>
              <a:rPr lang="en-US" b="1" dirty="0" err="1"/>
              <a:t>ThreadPool</a:t>
            </a:r>
            <a:r>
              <a:rPr lang="en-US" b="1" dirty="0"/>
              <a:t> Using Executors: </a:t>
            </a:r>
            <a:r>
              <a:rPr lang="en-US" dirty="0"/>
              <a:t>Java offers different types of thread pools. </a:t>
            </a:r>
            <a:endParaRPr lang="en-US" dirty="0"/>
          </a:p>
          <a:p>
            <a:r>
              <a:rPr lang="en-US" dirty="0"/>
              <a:t>The most common are:</a:t>
            </a:r>
            <a:endParaRPr lang="en-US" dirty="0"/>
          </a:p>
          <a:p>
            <a:r>
              <a:rPr lang="en-US" u="sng" dirty="0">
                <a:solidFill>
                  <a:srgbClr val="FF0000"/>
                </a:solidFill>
              </a:rPr>
              <a:t>a)Fixed-Size </a:t>
            </a:r>
            <a:r>
              <a:rPr lang="en-US" u="sng" dirty="0" err="1">
                <a:solidFill>
                  <a:srgbClr val="FF0000"/>
                </a:solidFill>
              </a:rPr>
              <a:t>ThreadPool</a:t>
            </a:r>
            <a:r>
              <a:rPr lang="en-US" dirty="0"/>
              <a:t>: It Has a fixed number of threads. If all threads are busy, new tasks wait in a queue.</a:t>
            </a:r>
            <a:endParaRPr lang="en-US" dirty="0"/>
          </a:p>
          <a:p>
            <a:r>
              <a:rPr lang="en-US" dirty="0" err="1">
                <a:solidFill>
                  <a:srgbClr val="FF00FF"/>
                </a:solidFill>
              </a:rPr>
              <a:t>ExecutorService</a:t>
            </a:r>
            <a:r>
              <a:rPr lang="en-US" dirty="0">
                <a:solidFill>
                  <a:srgbClr val="FF00FF"/>
                </a:solidFill>
              </a:rPr>
              <a:t> </a:t>
            </a:r>
            <a:r>
              <a:rPr lang="en-US" dirty="0" err="1">
                <a:solidFill>
                  <a:srgbClr val="FF00FF"/>
                </a:solidFill>
              </a:rPr>
              <a:t>threadPool</a:t>
            </a:r>
            <a:r>
              <a:rPr lang="en-US" dirty="0">
                <a:solidFill>
                  <a:srgbClr val="FF00FF"/>
                </a:solidFill>
              </a:rPr>
              <a:t> = </a:t>
            </a:r>
            <a:r>
              <a:rPr lang="en-US" dirty="0" err="1">
                <a:solidFill>
                  <a:srgbClr val="FF00FF"/>
                </a:solidFill>
              </a:rPr>
              <a:t>Executors.newFixedThreadPool</a:t>
            </a:r>
            <a:r>
              <a:rPr lang="en-US" dirty="0">
                <a:solidFill>
                  <a:srgbClr val="FF00FF"/>
                </a:solidFill>
              </a:rPr>
              <a:t>(4); // creates 4 threads</a:t>
            </a:r>
            <a:endParaRPr lang="en-US" dirty="0">
              <a:solidFill>
                <a:srgbClr val="FF00FF"/>
              </a:solidFill>
            </a:endParaRPr>
          </a:p>
          <a:p>
            <a:endParaRPr lang="en-US" dirty="0"/>
          </a:p>
          <a:p>
            <a:r>
              <a:rPr lang="en-US" u="sng" dirty="0">
                <a:solidFill>
                  <a:srgbClr val="FF0000"/>
                </a:solidFill>
              </a:rPr>
              <a:t>b) Cached </a:t>
            </a:r>
            <a:r>
              <a:rPr lang="en-US" u="sng" dirty="0" err="1">
                <a:solidFill>
                  <a:srgbClr val="FF0000"/>
                </a:solidFill>
              </a:rPr>
              <a:t>ThreadPool</a:t>
            </a:r>
            <a:r>
              <a:rPr lang="en-US" u="sng" dirty="0">
                <a:solidFill>
                  <a:srgbClr val="FF0000"/>
                </a:solidFill>
              </a:rPr>
              <a:t>: </a:t>
            </a:r>
            <a:r>
              <a:rPr lang="en-US" dirty="0"/>
              <a:t>Creates new threads as needed. Reuses idle threads. Good for short-lived tasks.</a:t>
            </a:r>
            <a:endParaRPr lang="en-US" dirty="0"/>
          </a:p>
          <a:p>
            <a:r>
              <a:rPr lang="en-US" dirty="0" err="1">
                <a:solidFill>
                  <a:srgbClr val="FF00FF"/>
                </a:solidFill>
              </a:rPr>
              <a:t>ExecutorService</a:t>
            </a:r>
            <a:r>
              <a:rPr lang="en-US" dirty="0">
                <a:solidFill>
                  <a:srgbClr val="FF00FF"/>
                </a:solidFill>
              </a:rPr>
              <a:t> </a:t>
            </a:r>
            <a:r>
              <a:rPr lang="en-US" dirty="0" err="1">
                <a:solidFill>
                  <a:srgbClr val="FF00FF"/>
                </a:solidFill>
              </a:rPr>
              <a:t>threadPool</a:t>
            </a:r>
            <a:r>
              <a:rPr lang="en-US" dirty="0">
                <a:solidFill>
                  <a:srgbClr val="FF00FF"/>
                </a:solidFill>
              </a:rPr>
              <a:t> = </a:t>
            </a:r>
            <a:r>
              <a:rPr lang="en-US" dirty="0" err="1">
                <a:solidFill>
                  <a:srgbClr val="FF00FF"/>
                </a:solidFill>
              </a:rPr>
              <a:t>Executors.newCachedThreadPool</a:t>
            </a:r>
            <a:r>
              <a:rPr lang="en-US" dirty="0">
                <a:solidFill>
                  <a:srgbClr val="FF00FF"/>
                </a:solidFill>
              </a:rPr>
              <a:t>();</a:t>
            </a:r>
            <a:endParaRPr lang="en-US" dirty="0">
              <a:solidFill>
                <a:srgbClr val="FF00FF"/>
              </a:solidFill>
            </a:endParaRPr>
          </a:p>
          <a:p>
            <a:endParaRPr lang="en-US" dirty="0">
              <a:solidFill>
                <a:srgbClr val="FF00FF"/>
              </a:solidFill>
            </a:endParaRPr>
          </a:p>
          <a:p>
            <a:r>
              <a:rPr lang="en-US" u="sng" dirty="0">
                <a:solidFill>
                  <a:srgbClr val="FF0000"/>
                </a:solidFill>
              </a:rPr>
              <a:t>c) Single-Threaded Pool: </a:t>
            </a:r>
            <a:r>
              <a:rPr lang="en-US" dirty="0"/>
              <a:t>Only one thread executes tasks sequentially.</a:t>
            </a:r>
            <a:endParaRPr lang="en-US" dirty="0"/>
          </a:p>
          <a:p>
            <a:r>
              <a:rPr lang="en-US" dirty="0" err="1">
                <a:solidFill>
                  <a:srgbClr val="FF00FF"/>
                </a:solidFill>
              </a:rPr>
              <a:t>ExecutorService</a:t>
            </a:r>
            <a:r>
              <a:rPr lang="en-US" dirty="0">
                <a:solidFill>
                  <a:srgbClr val="FF00FF"/>
                </a:solidFill>
              </a:rPr>
              <a:t> </a:t>
            </a:r>
            <a:r>
              <a:rPr lang="en-US" dirty="0" err="1">
                <a:solidFill>
                  <a:srgbClr val="FF00FF"/>
                </a:solidFill>
              </a:rPr>
              <a:t>threadPool</a:t>
            </a:r>
            <a:r>
              <a:rPr lang="en-US" dirty="0">
                <a:solidFill>
                  <a:srgbClr val="FF00FF"/>
                </a:solidFill>
              </a:rPr>
              <a:t> = </a:t>
            </a:r>
            <a:r>
              <a:rPr lang="en-US" dirty="0" err="1">
                <a:solidFill>
                  <a:srgbClr val="FF00FF"/>
                </a:solidFill>
              </a:rPr>
              <a:t>Executors.newSingleThreadExecutor</a:t>
            </a:r>
            <a:r>
              <a:rPr lang="en-US" dirty="0">
                <a:solidFill>
                  <a:srgbClr val="FF00FF"/>
                </a:solidFill>
              </a:rPr>
              <a:t>();</a:t>
            </a:r>
            <a:endParaRPr lang="en-US" dirty="0">
              <a:solidFill>
                <a:srgbClr val="FF00FF"/>
              </a:solidFill>
            </a:endParaRPr>
          </a:p>
          <a:p>
            <a:endParaRPr lang="en-US" dirty="0">
              <a:solidFill>
                <a:srgbClr val="FF00FF"/>
              </a:solidFill>
            </a:endParaRPr>
          </a:p>
        </p:txBody>
      </p:sp>
      <p:sp>
        <p:nvSpPr>
          <p:cNvPr id="5" name="Rectangle 4"/>
          <p:cNvSpPr/>
          <p:nvPr/>
        </p:nvSpPr>
        <p:spPr>
          <a:xfrm>
            <a:off x="381000" y="222631"/>
            <a:ext cx="10896600" cy="584775"/>
          </a:xfrm>
          <a:prstGeom prst="rect">
            <a:avLst/>
          </a:prstGeom>
        </p:spPr>
        <p:txBody>
          <a:bodyPr wrap="square">
            <a:spAutoFit/>
          </a:bodyPr>
          <a:lstStyle/>
          <a:p>
            <a:pPr lvl="0" algn="ctr"/>
            <a:r>
              <a:rPr lang="en-US" sz="3200" b="1" dirty="0">
                <a:solidFill>
                  <a:srgbClr val="FF0000"/>
                </a:solidFill>
              </a:rPr>
              <a:t>Creating a </a:t>
            </a:r>
            <a:r>
              <a:rPr lang="en-US" sz="3200" b="1" dirty="0" err="1">
                <a:solidFill>
                  <a:srgbClr val="FF0000"/>
                </a:solidFill>
              </a:rPr>
              <a:t>ThreadPool</a:t>
            </a:r>
            <a:r>
              <a:rPr lang="en-US" sz="3200" b="1" dirty="0">
                <a:solidFill>
                  <a:srgbClr val="FF0000"/>
                </a:solidFill>
              </a:rPr>
              <a:t> – Four Step by Step Guide</a:t>
            </a:r>
            <a:endParaRPr lang="en-US" sz="3200" b="1" dirty="0">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304531" y="228600"/>
            <a:ext cx="11277600" cy="6739255"/>
          </a:xfrm>
          <a:prstGeom prst="rect">
            <a:avLst/>
          </a:prstGeom>
        </p:spPr>
        <p:txBody>
          <a:bodyPr wrap="square">
            <a:spAutoFit/>
          </a:bodyPr>
          <a:lstStyle/>
          <a:p>
            <a:r>
              <a:rPr lang="en-US" sz="2400" b="1" dirty="0"/>
              <a:t>3. Submit Tasks to the </a:t>
            </a:r>
            <a:r>
              <a:rPr lang="en-US" sz="2400" b="1" dirty="0" err="1"/>
              <a:t>ThreadPool</a:t>
            </a:r>
            <a:r>
              <a:rPr lang="zh-CN" altLang="en-US" sz="2400" b="1" dirty="0" err="1"/>
              <a:t>向线程池提交任务</a:t>
            </a:r>
            <a:r>
              <a:rPr lang="en-US" sz="2400" b="1" dirty="0"/>
              <a:t> : </a:t>
            </a:r>
            <a:r>
              <a:rPr lang="en-US" sz="2400" dirty="0"/>
              <a:t>Tasks can be submitted using:</a:t>
            </a:r>
            <a:endParaRPr lang="en-US" sz="2400" dirty="0"/>
          </a:p>
          <a:p>
            <a:endParaRPr lang="en-US" sz="2400" dirty="0"/>
          </a:p>
          <a:p>
            <a:r>
              <a:rPr lang="en-US" sz="2400" dirty="0">
                <a:solidFill>
                  <a:srgbClr val="FF00FF"/>
                </a:solidFill>
              </a:rPr>
              <a:t>execute(Runnable task) → </a:t>
            </a:r>
            <a:r>
              <a:rPr lang="en-US" sz="2400" dirty="0"/>
              <a:t>For tasks that don't return results.</a:t>
            </a:r>
            <a:r>
              <a:rPr lang="zh-CN" altLang="en-US" sz="2400" dirty="0"/>
              <a:t>适用于不返回结果的任务</a:t>
            </a:r>
            <a:endParaRPr lang="en-US" sz="2400" dirty="0"/>
          </a:p>
          <a:p>
            <a:r>
              <a:rPr lang="en-US" sz="2400" dirty="0">
                <a:solidFill>
                  <a:srgbClr val="FF00FF"/>
                </a:solidFill>
              </a:rPr>
              <a:t>submit(Callable task) → </a:t>
            </a:r>
            <a:r>
              <a:rPr lang="en-US" sz="2400" dirty="0"/>
              <a:t>For tasks that return results (as a Future).</a:t>
            </a:r>
            <a:r>
              <a:rPr lang="zh-CN" altLang="en-US" sz="2400" dirty="0"/>
              <a:t>适用于返回结果</a:t>
            </a:r>
            <a:endParaRPr lang="zh-CN" altLang="en-US" sz="2400" dirty="0"/>
          </a:p>
          <a:p>
            <a:endParaRPr lang="en-US" sz="2400" dirty="0"/>
          </a:p>
          <a:p>
            <a:r>
              <a:rPr lang="en-US" sz="2400" dirty="0">
                <a:solidFill>
                  <a:srgbClr val="FF0000"/>
                </a:solidFill>
              </a:rPr>
              <a:t>Example: Using execute()</a:t>
            </a:r>
            <a:endParaRPr lang="en-US" sz="2400" dirty="0">
              <a:solidFill>
                <a:srgbClr val="FF0000"/>
              </a:solidFill>
            </a:endParaRPr>
          </a:p>
          <a:p>
            <a:r>
              <a:rPr lang="en-US" sz="2400" dirty="0" err="1"/>
              <a:t>threadPool.execute</a:t>
            </a:r>
            <a:r>
              <a:rPr lang="en-US" sz="2400" dirty="0"/>
              <a:t>(() -&gt; {</a:t>
            </a:r>
            <a:endParaRPr lang="en-US" sz="2400" dirty="0"/>
          </a:p>
          <a:p>
            <a:r>
              <a:rPr lang="en-US" sz="2400" dirty="0"/>
              <a:t>    </a:t>
            </a:r>
            <a:r>
              <a:rPr lang="en-US" sz="2400" dirty="0" err="1"/>
              <a:t>System.out.println</a:t>
            </a:r>
            <a:r>
              <a:rPr lang="en-US" sz="2400" dirty="0"/>
              <a:t>("Task running in: " + </a:t>
            </a:r>
            <a:r>
              <a:rPr lang="en-US" sz="2400" dirty="0" err="1"/>
              <a:t>Thread.currentThread</a:t>
            </a:r>
            <a:r>
              <a:rPr lang="en-US" sz="2400" dirty="0"/>
              <a:t>().</a:t>
            </a:r>
            <a:r>
              <a:rPr lang="en-US" sz="2400" dirty="0" err="1"/>
              <a:t>getName</a:t>
            </a:r>
            <a:r>
              <a:rPr lang="en-US" sz="2400" dirty="0"/>
              <a:t>());</a:t>
            </a:r>
            <a:endParaRPr lang="en-US" sz="2400" dirty="0"/>
          </a:p>
          <a:p>
            <a:r>
              <a:rPr lang="en-US" sz="2400" dirty="0"/>
              <a:t>});</a:t>
            </a:r>
            <a:endParaRPr lang="en-US" sz="2400" dirty="0"/>
          </a:p>
          <a:p>
            <a:endParaRPr lang="en-US" sz="2400" dirty="0"/>
          </a:p>
          <a:p>
            <a:r>
              <a:rPr lang="en-US" sz="2400" dirty="0">
                <a:solidFill>
                  <a:srgbClr val="FF0000"/>
                </a:solidFill>
              </a:rPr>
              <a:t>Example: Using submit()</a:t>
            </a:r>
            <a:endParaRPr lang="en-US" sz="2400" dirty="0">
              <a:solidFill>
                <a:srgbClr val="FF0000"/>
              </a:solidFill>
            </a:endParaRPr>
          </a:p>
          <a:p>
            <a:r>
              <a:rPr lang="en-US" sz="2400" dirty="0"/>
              <a:t>Future&lt;String&gt; </a:t>
            </a:r>
            <a:r>
              <a:rPr lang="en-US" sz="2400" dirty="0" err="1"/>
              <a:t>futureResult</a:t>
            </a:r>
            <a:r>
              <a:rPr lang="en-US" sz="2400" dirty="0"/>
              <a:t> = </a:t>
            </a:r>
            <a:r>
              <a:rPr lang="en-US" sz="2400" dirty="0" err="1"/>
              <a:t>threadPool.submit</a:t>
            </a:r>
            <a:r>
              <a:rPr lang="en-US" sz="2400" dirty="0"/>
              <a:t>(() -&gt; {</a:t>
            </a:r>
            <a:endParaRPr lang="en-US" sz="2400" dirty="0"/>
          </a:p>
          <a:p>
            <a:r>
              <a:rPr lang="en-US" sz="2400" dirty="0"/>
              <a:t>    return "Task completed!";</a:t>
            </a:r>
            <a:endParaRPr lang="en-US" sz="2400" dirty="0"/>
          </a:p>
          <a:p>
            <a:r>
              <a:rPr lang="en-US" sz="2400" dirty="0"/>
              <a:t>});</a:t>
            </a:r>
            <a:endParaRPr lang="en-US" sz="2400" dirty="0"/>
          </a:p>
          <a:p>
            <a:r>
              <a:rPr lang="en-US" sz="2400" dirty="0" err="1"/>
              <a:t>System.out.println</a:t>
            </a:r>
            <a:r>
              <a:rPr lang="en-US" sz="2400" dirty="0"/>
              <a:t>(</a:t>
            </a:r>
            <a:r>
              <a:rPr lang="en-US" sz="2400" dirty="0" err="1"/>
              <a:t>futureResult.get</a:t>
            </a:r>
            <a:r>
              <a:rPr lang="en-US" sz="2400" dirty="0"/>
              <a:t>()); // Waits for result</a:t>
            </a:r>
            <a:endParaRPr lang="en-US" sz="2400" dirty="0"/>
          </a:p>
          <a:p>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762000" y="751344"/>
            <a:ext cx="10287000" cy="5692775"/>
          </a:xfrm>
          <a:prstGeom prst="rect">
            <a:avLst/>
          </a:prstGeom>
        </p:spPr>
        <p:txBody>
          <a:bodyPr wrap="square">
            <a:spAutoFit/>
          </a:bodyPr>
          <a:lstStyle/>
          <a:p>
            <a:r>
              <a:rPr lang="en-US" sz="2800" b="1" dirty="0"/>
              <a:t>4. Shutdown the </a:t>
            </a:r>
            <a:r>
              <a:rPr lang="en-US" sz="2800" b="1" dirty="0" err="1"/>
              <a:t>ThreadPool</a:t>
            </a:r>
            <a:r>
              <a:rPr lang="en-US" sz="2800" b="1" dirty="0"/>
              <a:t> Properly</a:t>
            </a:r>
            <a:r>
              <a:rPr lang="zh-CN" altLang="en-US" sz="2800" b="1" dirty="0"/>
              <a:t>正确关闭线程池</a:t>
            </a:r>
            <a:endParaRPr lang="en-US" sz="2800" b="1" dirty="0"/>
          </a:p>
          <a:p>
            <a:r>
              <a:rPr lang="en-US" sz="2800" dirty="0">
                <a:solidFill>
                  <a:srgbClr val="FF00FF"/>
                </a:solidFill>
              </a:rPr>
              <a:t>shutdown() → </a:t>
            </a:r>
            <a:r>
              <a:rPr lang="en-US" sz="2800" dirty="0"/>
              <a:t>Stops accepting new tasks but completes pending ones.</a:t>
            </a:r>
            <a:endParaRPr lang="en-US" sz="2800" dirty="0"/>
          </a:p>
          <a:p>
            <a:r>
              <a:rPr lang="en-US" sz="2800" dirty="0" err="1">
                <a:solidFill>
                  <a:srgbClr val="FF00FF"/>
                </a:solidFill>
              </a:rPr>
              <a:t>shutdownNow</a:t>
            </a:r>
            <a:r>
              <a:rPr lang="en-US" sz="2800" dirty="0">
                <a:solidFill>
                  <a:srgbClr val="FF00FF"/>
                </a:solidFill>
              </a:rPr>
              <a:t>() → </a:t>
            </a:r>
            <a:r>
              <a:rPr lang="en-US" sz="2800" dirty="0"/>
              <a:t>Attempts to stop all running tasks immediately.</a:t>
            </a:r>
            <a:endParaRPr lang="en-US" sz="2800" dirty="0"/>
          </a:p>
          <a:p>
            <a:r>
              <a:rPr lang="en-US" sz="2800" dirty="0" err="1">
                <a:solidFill>
                  <a:srgbClr val="FF00FF"/>
                </a:solidFill>
              </a:rPr>
              <a:t>awaitTermination</a:t>
            </a:r>
            <a:r>
              <a:rPr lang="en-US" sz="2800" dirty="0">
                <a:solidFill>
                  <a:srgbClr val="FF00FF"/>
                </a:solidFill>
              </a:rPr>
              <a:t>() → </a:t>
            </a:r>
            <a:r>
              <a:rPr lang="en-US" sz="2800" dirty="0"/>
              <a:t>Waits for tasks to finish (with timeout).</a:t>
            </a:r>
            <a:endParaRPr lang="en-US" sz="2800" dirty="0"/>
          </a:p>
          <a:p>
            <a:endParaRPr lang="en-US" sz="2800" dirty="0"/>
          </a:p>
          <a:p>
            <a:r>
              <a:rPr lang="en-US" sz="2800" dirty="0" err="1"/>
              <a:t>threadPool.shutdown</a:t>
            </a:r>
            <a:r>
              <a:rPr lang="en-US" sz="2800" dirty="0"/>
              <a:t>(); // Graceful shutdown</a:t>
            </a:r>
            <a:endParaRPr lang="en-US" sz="2800" dirty="0"/>
          </a:p>
          <a:p>
            <a:endParaRPr lang="en-US" sz="2800" dirty="0"/>
          </a:p>
          <a:p>
            <a:r>
              <a:rPr lang="en-US" sz="2800" dirty="0"/>
              <a:t>// Force shutdown if tasks take too long</a:t>
            </a:r>
            <a:endParaRPr lang="en-US" sz="2800" dirty="0"/>
          </a:p>
          <a:p>
            <a:r>
              <a:rPr lang="en-US" sz="2800" dirty="0"/>
              <a:t>if (!</a:t>
            </a:r>
            <a:r>
              <a:rPr lang="en-US" sz="2800" dirty="0" err="1"/>
              <a:t>threadPool.awaitTermination</a:t>
            </a:r>
            <a:r>
              <a:rPr lang="en-US" sz="2800" dirty="0"/>
              <a:t>(60, </a:t>
            </a:r>
            <a:r>
              <a:rPr lang="en-US" sz="2800" dirty="0" err="1"/>
              <a:t>TimeUnit.SECONDS</a:t>
            </a:r>
            <a:r>
              <a:rPr lang="en-US" sz="2800" dirty="0"/>
              <a:t>)) {</a:t>
            </a:r>
            <a:endParaRPr lang="en-US" sz="2800" dirty="0"/>
          </a:p>
          <a:p>
            <a:r>
              <a:rPr lang="en-US" sz="2800" dirty="0"/>
              <a:t>    </a:t>
            </a:r>
            <a:r>
              <a:rPr lang="en-US" sz="2800" dirty="0" err="1"/>
              <a:t>threadPool.shutdownNow</a:t>
            </a:r>
            <a:r>
              <a:rPr lang="en-US" sz="2800" dirty="0"/>
              <a:t>();</a:t>
            </a:r>
            <a:endParaRPr lang="en-US" sz="2800" dirty="0"/>
          </a:p>
          <a:p>
            <a:r>
              <a:rPr lang="en-US" sz="2800" dirty="0"/>
              <a:t>}</a:t>
            </a:r>
            <a:endParaRPr lang="en-US" sz="2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402166" y="595491"/>
            <a:ext cx="8458200" cy="8462645"/>
          </a:xfrm>
          <a:prstGeom prst="rect">
            <a:avLst/>
          </a:prstGeom>
        </p:spPr>
        <p:txBody>
          <a:bodyPr wrap="square">
            <a:spAutoFit/>
          </a:bodyPr>
          <a:lstStyle/>
          <a:p>
            <a:r>
              <a:rPr lang="en-US" sz="1600" b="1" dirty="0"/>
              <a:t>import </a:t>
            </a:r>
            <a:r>
              <a:rPr lang="en-US" sz="1600" b="1" dirty="0" err="1"/>
              <a:t>java.util.concurrent.ExecutorService</a:t>
            </a:r>
            <a:r>
              <a:rPr lang="en-US" sz="1600" b="1" dirty="0"/>
              <a:t>;</a:t>
            </a:r>
            <a:endParaRPr lang="en-US" sz="1600" b="1" dirty="0"/>
          </a:p>
          <a:p>
            <a:r>
              <a:rPr lang="en-US" sz="1600" b="1" dirty="0"/>
              <a:t>import </a:t>
            </a:r>
            <a:r>
              <a:rPr lang="en-US" sz="1600" b="1" dirty="0" err="1"/>
              <a:t>java.util.concurrent.Executors</a:t>
            </a:r>
            <a:r>
              <a:rPr lang="en-US" sz="1600" b="1" dirty="0"/>
              <a:t>;</a:t>
            </a:r>
            <a:endParaRPr lang="en-US" sz="1600" b="1" dirty="0"/>
          </a:p>
          <a:p>
            <a:r>
              <a:rPr lang="en-US" sz="1600" b="1" dirty="0"/>
              <a:t>import </a:t>
            </a:r>
            <a:r>
              <a:rPr lang="en-US" sz="1600" b="1" dirty="0" err="1"/>
              <a:t>java.util.concurrent.TimeUnit</a:t>
            </a:r>
            <a:r>
              <a:rPr lang="en-US" sz="1600" b="1" dirty="0"/>
              <a:t>;</a:t>
            </a:r>
            <a:endParaRPr lang="en-US" sz="1600" b="1" dirty="0"/>
          </a:p>
          <a:p>
            <a:endParaRPr lang="en-US" sz="1600" b="1" dirty="0"/>
          </a:p>
          <a:p>
            <a:r>
              <a:rPr lang="en-US" sz="1600" b="1" dirty="0"/>
              <a:t>public class </a:t>
            </a:r>
            <a:r>
              <a:rPr lang="en-US" sz="1600" b="1" dirty="0" err="1"/>
              <a:t>ThreadPoolExample</a:t>
            </a:r>
            <a:r>
              <a:rPr lang="en-US" sz="1600" b="1" dirty="0"/>
              <a:t> {</a:t>
            </a:r>
            <a:endParaRPr lang="en-US" sz="1600" b="1" dirty="0"/>
          </a:p>
          <a:p>
            <a:r>
              <a:rPr lang="en-US" sz="1600" b="1" dirty="0"/>
              <a:t>    public static void main(String[] </a:t>
            </a:r>
            <a:r>
              <a:rPr lang="en-US" sz="1600" b="1" dirty="0" err="1"/>
              <a:t>args</a:t>
            </a:r>
            <a:r>
              <a:rPr lang="en-US" sz="1600" b="1" dirty="0"/>
              <a:t>) {</a:t>
            </a:r>
            <a:endParaRPr lang="en-US" sz="1600" b="1" dirty="0"/>
          </a:p>
          <a:p>
            <a:r>
              <a:rPr lang="en-US" sz="1600" b="1" dirty="0">
                <a:solidFill>
                  <a:srgbClr val="FF0000"/>
                </a:solidFill>
              </a:rPr>
              <a:t>        // Step 1: Create a </a:t>
            </a:r>
            <a:r>
              <a:rPr lang="en-US" sz="1600" b="1" dirty="0" err="1">
                <a:solidFill>
                  <a:srgbClr val="FF0000"/>
                </a:solidFill>
              </a:rPr>
              <a:t>ThreadPool</a:t>
            </a:r>
            <a:r>
              <a:rPr lang="en-US" sz="1600" b="1" dirty="0">
                <a:solidFill>
                  <a:srgbClr val="FF0000"/>
                </a:solidFill>
              </a:rPr>
              <a:t> with 3 threads</a:t>
            </a:r>
            <a:endParaRPr lang="en-US" sz="1600" b="1" dirty="0">
              <a:solidFill>
                <a:srgbClr val="FF0000"/>
              </a:solidFill>
            </a:endParaRPr>
          </a:p>
          <a:p>
            <a:r>
              <a:rPr lang="en-US" sz="1600" b="1" dirty="0"/>
              <a:t>        </a:t>
            </a:r>
            <a:r>
              <a:rPr lang="en-US" sz="1600" b="1" dirty="0" err="1"/>
              <a:t>ExecutorService</a:t>
            </a:r>
            <a:r>
              <a:rPr lang="en-US" sz="1600" b="1" dirty="0"/>
              <a:t> </a:t>
            </a:r>
            <a:r>
              <a:rPr lang="en-US" sz="1600" b="1" dirty="0" err="1"/>
              <a:t>threadPool</a:t>
            </a:r>
            <a:r>
              <a:rPr lang="en-US" sz="1600" b="1" dirty="0"/>
              <a:t> = </a:t>
            </a:r>
            <a:r>
              <a:rPr lang="en-US" sz="1600" b="1" dirty="0" err="1"/>
              <a:t>Executors.newFixedThreadPool</a:t>
            </a:r>
            <a:r>
              <a:rPr lang="en-US" sz="1600" b="1" dirty="0"/>
              <a:t>(3);</a:t>
            </a:r>
            <a:endParaRPr lang="en-US" sz="1600" b="1" dirty="0"/>
          </a:p>
          <a:p>
            <a:endParaRPr lang="en-US" sz="1600" b="1" dirty="0"/>
          </a:p>
          <a:p>
            <a:r>
              <a:rPr lang="en-US" sz="1600" b="1" dirty="0">
                <a:solidFill>
                  <a:srgbClr val="FF0000"/>
                </a:solidFill>
              </a:rPr>
              <a:t>        // Step 2: Submit tasks</a:t>
            </a:r>
            <a:endParaRPr lang="en-US" sz="1600" b="1" dirty="0">
              <a:solidFill>
                <a:srgbClr val="FF0000"/>
              </a:solidFill>
            </a:endParaRPr>
          </a:p>
          <a:p>
            <a:r>
              <a:rPr lang="en-US" sz="1600" b="1" dirty="0"/>
              <a:t>        for (int </a:t>
            </a:r>
            <a:r>
              <a:rPr lang="en-US" sz="1600" b="1" dirty="0" err="1"/>
              <a:t>i</a:t>
            </a:r>
            <a:r>
              <a:rPr lang="en-US" sz="1600" b="1" dirty="0"/>
              <a:t> = 1; </a:t>
            </a:r>
            <a:r>
              <a:rPr lang="en-US" sz="1600" b="1" dirty="0" err="1"/>
              <a:t>i</a:t>
            </a:r>
            <a:r>
              <a:rPr lang="en-US" sz="1600" b="1" dirty="0"/>
              <a:t> &lt;= 5; </a:t>
            </a:r>
            <a:r>
              <a:rPr lang="en-US" sz="1600" b="1" dirty="0" err="1"/>
              <a:t>i</a:t>
            </a:r>
            <a:r>
              <a:rPr lang="en-US" sz="1600" b="1" dirty="0"/>
              <a:t>++) {</a:t>
            </a:r>
            <a:endParaRPr lang="en-US" sz="1600" b="1" dirty="0"/>
          </a:p>
          <a:p>
            <a:r>
              <a:rPr lang="en-US" sz="1600" b="1" dirty="0"/>
              <a:t>            int </a:t>
            </a:r>
            <a:r>
              <a:rPr lang="en-US" sz="1600" b="1" dirty="0" err="1"/>
              <a:t>taskId</a:t>
            </a:r>
            <a:r>
              <a:rPr lang="en-US" sz="1600" b="1" dirty="0"/>
              <a:t> = </a:t>
            </a:r>
            <a:r>
              <a:rPr lang="en-US" sz="1600" b="1" dirty="0" err="1"/>
              <a:t>i</a:t>
            </a:r>
            <a:r>
              <a:rPr lang="en-US" sz="1600" b="1" dirty="0"/>
              <a:t>;</a:t>
            </a:r>
            <a:endParaRPr lang="en-US" sz="1600" b="1" dirty="0"/>
          </a:p>
          <a:p>
            <a:r>
              <a:rPr lang="en-US" sz="1600" b="1" dirty="0"/>
              <a:t>            </a:t>
            </a:r>
            <a:r>
              <a:rPr lang="en-US" sz="1600" b="1" dirty="0" err="1"/>
              <a:t>threadPool.execute</a:t>
            </a:r>
            <a:r>
              <a:rPr lang="en-US" sz="1600" b="1" dirty="0"/>
              <a:t>(() -&gt; {</a:t>
            </a:r>
            <a:endParaRPr lang="en-US" sz="1600" b="1" dirty="0"/>
          </a:p>
          <a:p>
            <a:r>
              <a:rPr lang="en-US" sz="1600" b="1" dirty="0"/>
              <a:t>                </a:t>
            </a:r>
            <a:r>
              <a:rPr lang="en-US" sz="1600" b="1" dirty="0" err="1"/>
              <a:t>System.out.println</a:t>
            </a:r>
            <a:r>
              <a:rPr lang="en-US" sz="1600" b="1" dirty="0"/>
              <a:t>("Task " + </a:t>
            </a:r>
            <a:r>
              <a:rPr lang="en-US" sz="1600" b="1" dirty="0" err="1"/>
              <a:t>taskId</a:t>
            </a:r>
            <a:r>
              <a:rPr lang="en-US" sz="1600" b="1" dirty="0"/>
              <a:t> + " running in " + </a:t>
            </a:r>
            <a:r>
              <a:rPr lang="en-US" sz="1600" b="1" dirty="0" err="1"/>
              <a:t>Thread.currentThread</a:t>
            </a:r>
            <a:r>
              <a:rPr lang="en-US" sz="1600" b="1" dirty="0"/>
              <a:t>().</a:t>
            </a:r>
            <a:r>
              <a:rPr lang="en-US" sz="1600" b="1" dirty="0" err="1"/>
              <a:t>getName</a:t>
            </a:r>
            <a:r>
              <a:rPr lang="en-US" sz="1600" b="1" dirty="0"/>
              <a:t>());</a:t>
            </a:r>
            <a:endParaRPr lang="en-US" sz="1600" b="1" dirty="0"/>
          </a:p>
          <a:p>
            <a:r>
              <a:rPr lang="en-US" sz="1600" b="1" dirty="0"/>
              <a:t>                try {</a:t>
            </a:r>
            <a:endParaRPr lang="en-US" sz="1600" b="1" dirty="0"/>
          </a:p>
          <a:p>
            <a:r>
              <a:rPr lang="en-US" sz="1600" b="1" dirty="0"/>
              <a:t>                    </a:t>
            </a:r>
            <a:r>
              <a:rPr lang="en-US" sz="1600" b="1" dirty="0" err="1"/>
              <a:t>Thread.sleep</a:t>
            </a:r>
            <a:r>
              <a:rPr lang="en-US" sz="1600" b="1" dirty="0"/>
              <a:t>(1000); // Simulate work</a:t>
            </a:r>
            <a:endParaRPr lang="en-US" sz="1600" b="1" dirty="0"/>
          </a:p>
          <a:p>
            <a:r>
              <a:rPr lang="en-US" sz="1600" b="1" dirty="0"/>
              <a:t>                } catch (</a:t>
            </a:r>
            <a:r>
              <a:rPr lang="en-US" sz="1600" b="1" dirty="0" err="1"/>
              <a:t>InterruptedException</a:t>
            </a:r>
            <a:r>
              <a:rPr lang="en-US" sz="1600" b="1" dirty="0"/>
              <a:t> e) {</a:t>
            </a:r>
            <a:endParaRPr lang="en-US" sz="1600" b="1" dirty="0"/>
          </a:p>
          <a:p>
            <a:r>
              <a:rPr lang="en-US" sz="1600" b="1" dirty="0"/>
              <a:t>                    </a:t>
            </a:r>
            <a:r>
              <a:rPr lang="en-US" sz="1600" b="1" dirty="0" err="1"/>
              <a:t>e.printStackTrace</a:t>
            </a:r>
            <a:r>
              <a:rPr lang="en-US" sz="1600" b="1" dirty="0"/>
              <a:t>();</a:t>
            </a:r>
            <a:endParaRPr lang="en-US" sz="1600" b="1" dirty="0"/>
          </a:p>
          <a:p>
            <a:r>
              <a:rPr lang="en-US" sz="1600" b="1" dirty="0"/>
              <a:t>                }</a:t>
            </a:r>
            <a:endParaRPr lang="en-US" sz="1600" b="1" dirty="0"/>
          </a:p>
          <a:p>
            <a:r>
              <a:rPr lang="en-US" sz="1600" b="1" dirty="0"/>
              <a:t>            });</a:t>
            </a:r>
            <a:endParaRPr lang="en-US" sz="1600" b="1" dirty="0"/>
          </a:p>
          <a:p>
            <a:r>
              <a:rPr lang="en-US" sz="1600" b="1" dirty="0"/>
              <a:t>        }</a:t>
            </a:r>
            <a:endParaRPr lang="en-US" sz="1600" b="1" dirty="0"/>
          </a:p>
          <a:p>
            <a:endParaRPr lang="en-US" sz="1600" b="1" dirty="0"/>
          </a:p>
          <a:p>
            <a:r>
              <a:rPr lang="en-US" sz="1600" b="1" dirty="0"/>
              <a:t>        </a:t>
            </a:r>
            <a:r>
              <a:rPr lang="en-US" sz="1600" b="1" dirty="0">
                <a:solidFill>
                  <a:srgbClr val="FF0000"/>
                </a:solidFill>
              </a:rPr>
              <a:t>// Step 3: Shutdown properly</a:t>
            </a:r>
            <a:endParaRPr lang="en-US" sz="1600" b="1" dirty="0">
              <a:solidFill>
                <a:srgbClr val="FF0000"/>
              </a:solidFill>
            </a:endParaRPr>
          </a:p>
          <a:p>
            <a:r>
              <a:rPr lang="en-US" sz="1600" b="1" dirty="0"/>
              <a:t>        </a:t>
            </a:r>
            <a:r>
              <a:rPr lang="en-US" sz="1600" b="1" dirty="0" err="1"/>
              <a:t>threadPool.shutdown</a:t>
            </a:r>
            <a:r>
              <a:rPr lang="en-US" sz="1600" b="1" dirty="0"/>
              <a:t>();</a:t>
            </a:r>
            <a:endParaRPr lang="en-US" sz="1600" b="1" dirty="0"/>
          </a:p>
          <a:p>
            <a:r>
              <a:rPr lang="en-US" sz="1600" b="1" dirty="0"/>
              <a:t>        try {</a:t>
            </a:r>
            <a:endParaRPr lang="en-US" sz="1600" b="1" dirty="0"/>
          </a:p>
          <a:p>
            <a:r>
              <a:rPr lang="en-US" sz="1600" b="1" dirty="0"/>
              <a:t>            if (!</a:t>
            </a:r>
            <a:r>
              <a:rPr lang="en-US" sz="1600" b="1" dirty="0" err="1"/>
              <a:t>threadPool.awaitTermination</a:t>
            </a:r>
            <a:r>
              <a:rPr lang="en-US" sz="1600" b="1" dirty="0"/>
              <a:t>(5, </a:t>
            </a:r>
            <a:r>
              <a:rPr lang="en-US" sz="1600" b="1" dirty="0" err="1"/>
              <a:t>TimeUnit.SECONDS</a:t>
            </a:r>
            <a:r>
              <a:rPr lang="en-US" sz="1600" b="1" dirty="0"/>
              <a:t>)) {</a:t>
            </a:r>
            <a:endParaRPr lang="en-US" sz="1600" b="1" dirty="0"/>
          </a:p>
          <a:p>
            <a:r>
              <a:rPr lang="en-US" sz="1600" b="1" dirty="0"/>
              <a:t>                </a:t>
            </a:r>
            <a:r>
              <a:rPr lang="en-US" sz="1600" b="1" dirty="0" err="1"/>
              <a:t>threadPool.shutdownNow</a:t>
            </a:r>
            <a:r>
              <a:rPr lang="en-US" sz="1600" b="1" dirty="0"/>
              <a:t>();</a:t>
            </a:r>
            <a:endParaRPr lang="en-US" sz="1600" b="1" dirty="0"/>
          </a:p>
          <a:p>
            <a:r>
              <a:rPr lang="en-US" sz="1600" b="1" dirty="0"/>
              <a:t>            }</a:t>
            </a:r>
            <a:endParaRPr lang="en-US" sz="1600" b="1" dirty="0"/>
          </a:p>
          <a:p>
            <a:r>
              <a:rPr lang="en-US" sz="1600" b="1" dirty="0"/>
              <a:t>        } catch (</a:t>
            </a:r>
            <a:r>
              <a:rPr lang="en-US" sz="1600" b="1" dirty="0" err="1"/>
              <a:t>InterruptedException</a:t>
            </a:r>
            <a:r>
              <a:rPr lang="en-US" sz="1600" b="1" dirty="0"/>
              <a:t> e) {</a:t>
            </a:r>
            <a:endParaRPr lang="en-US" sz="1600" b="1" dirty="0"/>
          </a:p>
          <a:p>
            <a:r>
              <a:rPr lang="en-US" sz="1600" b="1" dirty="0"/>
              <a:t>            </a:t>
            </a:r>
            <a:r>
              <a:rPr lang="en-US" sz="1600" b="1" dirty="0" err="1"/>
              <a:t>threadPool.shutdownNow</a:t>
            </a:r>
            <a:r>
              <a:rPr lang="en-US" sz="1600" b="1" dirty="0"/>
              <a:t>();</a:t>
            </a:r>
            <a:endParaRPr lang="en-US" sz="1600" b="1" dirty="0"/>
          </a:p>
          <a:p>
            <a:r>
              <a:rPr lang="en-US" sz="1600" b="1" dirty="0"/>
              <a:t>        }</a:t>
            </a:r>
            <a:endParaRPr lang="en-US" sz="1600" b="1" dirty="0"/>
          </a:p>
          <a:p>
            <a:r>
              <a:rPr lang="en-US" sz="1600" b="1" dirty="0"/>
              <a:t>    }</a:t>
            </a:r>
            <a:endParaRPr lang="en-US" sz="1600" b="1" dirty="0"/>
          </a:p>
          <a:p>
            <a:r>
              <a:rPr lang="en-US" sz="1600" b="1" dirty="0"/>
              <a:t>}</a:t>
            </a:r>
            <a:endParaRPr lang="en-US" sz="1600" b="1" dirty="0"/>
          </a:p>
        </p:txBody>
      </p:sp>
      <p:sp>
        <p:nvSpPr>
          <p:cNvPr id="4" name="Rectangle 3"/>
          <p:cNvSpPr/>
          <p:nvPr/>
        </p:nvSpPr>
        <p:spPr>
          <a:xfrm>
            <a:off x="7239000" y="793963"/>
            <a:ext cx="4267200" cy="1754326"/>
          </a:xfrm>
          <a:prstGeom prst="rect">
            <a:avLst/>
          </a:prstGeom>
        </p:spPr>
        <p:txBody>
          <a:bodyPr wrap="square">
            <a:spAutoFit/>
          </a:bodyPr>
          <a:lstStyle/>
          <a:p>
            <a:r>
              <a:rPr lang="en-US" dirty="0"/>
              <a:t>Output Example</a:t>
            </a:r>
            <a:endParaRPr lang="en-US" dirty="0"/>
          </a:p>
          <a:p>
            <a:r>
              <a:rPr lang="en-US" dirty="0"/>
              <a:t>Task 1 running in pool-1-thread-1  </a:t>
            </a:r>
            <a:endParaRPr lang="en-US" dirty="0"/>
          </a:p>
          <a:p>
            <a:r>
              <a:rPr lang="en-US" dirty="0"/>
              <a:t>Task 2 running in pool-1-thread-2  </a:t>
            </a:r>
            <a:endParaRPr lang="en-US" dirty="0"/>
          </a:p>
          <a:p>
            <a:r>
              <a:rPr lang="en-US" dirty="0"/>
              <a:t>Task 3 running in pool-1-thread-3  </a:t>
            </a:r>
            <a:endParaRPr lang="en-US" dirty="0"/>
          </a:p>
          <a:p>
            <a:r>
              <a:rPr lang="en-US" dirty="0"/>
              <a:t>Task 4 running in pool-1-thread-1  </a:t>
            </a:r>
            <a:endParaRPr lang="en-US" dirty="0"/>
          </a:p>
          <a:p>
            <a:r>
              <a:rPr lang="en-US" dirty="0"/>
              <a:t>Task 5 running in pool-1-thread-2 </a:t>
            </a:r>
            <a:endParaRPr lang="en-US" dirty="0"/>
          </a:p>
        </p:txBody>
      </p:sp>
      <p:sp>
        <p:nvSpPr>
          <p:cNvPr id="5" name="Rectangle 4"/>
          <p:cNvSpPr/>
          <p:nvPr/>
        </p:nvSpPr>
        <p:spPr>
          <a:xfrm>
            <a:off x="5812366" y="3769312"/>
            <a:ext cx="6096000" cy="1754326"/>
          </a:xfrm>
          <a:prstGeom prst="rect">
            <a:avLst/>
          </a:prstGeom>
        </p:spPr>
        <p:txBody>
          <a:bodyPr>
            <a:spAutoFit/>
          </a:bodyPr>
          <a:lstStyle/>
          <a:p>
            <a:r>
              <a:rPr lang="en-US" dirty="0">
                <a:solidFill>
                  <a:srgbClr val="FF0000"/>
                </a:solidFill>
              </a:rPr>
              <a:t>Key Takeaways</a:t>
            </a:r>
            <a:endParaRPr lang="en-US" dirty="0">
              <a:solidFill>
                <a:srgbClr val="FF0000"/>
              </a:solidFill>
            </a:endParaRPr>
          </a:p>
          <a:p>
            <a:r>
              <a:rPr lang="en-US" dirty="0">
                <a:solidFill>
                  <a:srgbClr val="FF0000"/>
                </a:solidFill>
              </a:rPr>
              <a:t>✅ </a:t>
            </a:r>
            <a:r>
              <a:rPr lang="en-US" dirty="0" err="1">
                <a:solidFill>
                  <a:srgbClr val="FF0000"/>
                </a:solidFill>
              </a:rPr>
              <a:t>ThreadPool</a:t>
            </a:r>
            <a:r>
              <a:rPr lang="en-US" dirty="0">
                <a:solidFill>
                  <a:srgbClr val="FF0000"/>
                </a:solidFill>
              </a:rPr>
              <a:t> improves performance by reusing threads.</a:t>
            </a:r>
            <a:endParaRPr lang="en-US" dirty="0">
              <a:solidFill>
                <a:srgbClr val="FF0000"/>
              </a:solidFill>
            </a:endParaRPr>
          </a:p>
          <a:p>
            <a:r>
              <a:rPr lang="en-US" dirty="0">
                <a:solidFill>
                  <a:srgbClr val="FF0000"/>
                </a:solidFill>
              </a:rPr>
              <a:t>✅ Use </a:t>
            </a:r>
            <a:r>
              <a:rPr lang="en-US" dirty="0" err="1">
                <a:solidFill>
                  <a:srgbClr val="FF0000"/>
                </a:solidFill>
              </a:rPr>
              <a:t>Executors.newFixedThreadPool</a:t>
            </a:r>
            <a:r>
              <a:rPr lang="en-US" dirty="0">
                <a:solidFill>
                  <a:srgbClr val="FF0000"/>
                </a:solidFill>
              </a:rPr>
              <a:t>(n) for controlled concurrency.</a:t>
            </a:r>
            <a:endParaRPr lang="en-US" dirty="0">
              <a:solidFill>
                <a:srgbClr val="FF0000"/>
              </a:solidFill>
            </a:endParaRPr>
          </a:p>
          <a:p>
            <a:r>
              <a:rPr lang="en-US" dirty="0">
                <a:solidFill>
                  <a:srgbClr val="FF0000"/>
                </a:solidFill>
              </a:rPr>
              <a:t>✅ Submit tasks using execute() or submit().</a:t>
            </a:r>
            <a:endParaRPr lang="en-US" dirty="0">
              <a:solidFill>
                <a:srgbClr val="FF0000"/>
              </a:solidFill>
            </a:endParaRPr>
          </a:p>
          <a:p>
            <a:r>
              <a:rPr lang="en-US" dirty="0">
                <a:solidFill>
                  <a:srgbClr val="FF0000"/>
                </a:solidFill>
              </a:rPr>
              <a:t>✅ Always shut down the pool to avoid resource leaks.</a:t>
            </a:r>
            <a:endParaRPr lang="en-US" dirty="0">
              <a:solidFill>
                <a:srgbClr val="FF0000"/>
              </a:solidFill>
            </a:endParaRPr>
          </a:p>
        </p:txBody>
      </p:sp>
      <p:sp>
        <p:nvSpPr>
          <p:cNvPr id="6" name="Rectangle 5"/>
          <p:cNvSpPr/>
          <p:nvPr/>
        </p:nvSpPr>
        <p:spPr>
          <a:xfrm>
            <a:off x="1981200" y="64680"/>
            <a:ext cx="6951134" cy="461665"/>
          </a:xfrm>
          <a:prstGeom prst="rect">
            <a:avLst/>
          </a:prstGeom>
        </p:spPr>
        <p:txBody>
          <a:bodyPr wrap="square">
            <a:spAutoFit/>
          </a:bodyPr>
          <a:lstStyle/>
          <a:p>
            <a:pPr lvl="0" algn="ctr"/>
            <a:r>
              <a:rPr lang="en-US" sz="2400" b="1" dirty="0">
                <a:solidFill>
                  <a:srgbClr val="FF0000"/>
                </a:solidFill>
              </a:rPr>
              <a:t>Creating a </a:t>
            </a:r>
            <a:r>
              <a:rPr lang="en-US" sz="2400" b="1" dirty="0" err="1">
                <a:solidFill>
                  <a:srgbClr val="FF0000"/>
                </a:solidFill>
              </a:rPr>
              <a:t>ThreadPool</a:t>
            </a:r>
            <a:r>
              <a:rPr lang="en-US" sz="2400" b="1" dirty="0">
                <a:solidFill>
                  <a:srgbClr val="FF0000"/>
                </a:solidFill>
              </a:rPr>
              <a:t> – Step by Step Guide</a:t>
            </a:r>
            <a:endParaRPr lang="en-US" sz="2400" b="1" dirty="0">
              <a:solidFill>
                <a:srgbClr val="FF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588434" y="136525"/>
            <a:ext cx="11374966" cy="1231106"/>
          </a:xfrm>
          <a:prstGeom prst="rect">
            <a:avLst/>
          </a:prstGeom>
        </p:spPr>
        <p:txBody>
          <a:bodyPr wrap="square">
            <a:spAutoFit/>
          </a:bodyPr>
          <a:lstStyle/>
          <a:p>
            <a:r>
              <a:rPr lang="en-US" sz="2000" b="1" dirty="0">
                <a:solidFill>
                  <a:srgbClr val="FF0000"/>
                </a:solidFill>
              </a:rPr>
              <a:t>Why Use Thread Pools?</a:t>
            </a:r>
            <a:endParaRPr lang="en-US" sz="2000" b="1" dirty="0">
              <a:solidFill>
                <a:srgbClr val="FF0000"/>
              </a:solidFill>
            </a:endParaRPr>
          </a:p>
          <a:p>
            <a:pPr marL="342900" indent="-342900">
              <a:buFont typeface="+mj-lt"/>
              <a:buAutoNum type="arabicPeriod"/>
            </a:pPr>
            <a:r>
              <a:rPr lang="en-US" dirty="0"/>
              <a:t>Performance Benefits: Eliminates thread creation overhead and avoids creating too many threads</a:t>
            </a:r>
            <a:endParaRPr lang="en-US" dirty="0"/>
          </a:p>
          <a:p>
            <a:pPr marL="342900" indent="-342900">
              <a:buFont typeface="+mj-lt"/>
              <a:buAutoNum type="arabicPeriod"/>
            </a:pPr>
            <a:r>
              <a:rPr lang="en-US" dirty="0"/>
              <a:t>Resource Management: Prevents system overload by limiting concurrent threads</a:t>
            </a:r>
            <a:endParaRPr lang="en-US" dirty="0"/>
          </a:p>
          <a:p>
            <a:pPr marL="342900" indent="-342900">
              <a:buFont typeface="+mj-lt"/>
              <a:buAutoNum type="arabicPeriod"/>
            </a:pPr>
            <a:r>
              <a:rPr lang="en-US" dirty="0"/>
              <a:t>Simplified Programming: Separates task submission from execution, Built-in task queueing and scheduling</a:t>
            </a:r>
            <a:endParaRPr lang="en-US" dirty="0"/>
          </a:p>
        </p:txBody>
      </p:sp>
      <p:graphicFrame>
        <p:nvGraphicFramePr>
          <p:cNvPr id="4" name="Table 3"/>
          <p:cNvGraphicFramePr>
            <a:graphicFrameLocks noGrp="1"/>
          </p:cNvGraphicFramePr>
          <p:nvPr/>
        </p:nvGraphicFramePr>
        <p:xfrm>
          <a:off x="420639" y="1752600"/>
          <a:ext cx="11374966" cy="4865308"/>
        </p:xfrm>
        <a:graphic>
          <a:graphicData uri="http://schemas.openxmlformats.org/drawingml/2006/table">
            <a:tbl>
              <a:tblPr/>
              <a:tblGrid>
                <a:gridCol w="2158623"/>
                <a:gridCol w="4637043"/>
                <a:gridCol w="4579300"/>
              </a:tblGrid>
              <a:tr h="321355">
                <a:tc>
                  <a:txBody>
                    <a:bodyPr/>
                    <a:lstStyle/>
                    <a:p>
                      <a:pPr algn="l"/>
                      <a:r>
                        <a:rPr lang="en-US" sz="1800" b="1">
                          <a:effectLst/>
                        </a:rPr>
                        <a:t>Feature</a:t>
                      </a:r>
                      <a:endParaRPr lang="en-US" sz="1800" b="1">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800" b="1" dirty="0">
                          <a:effectLst/>
                        </a:rPr>
                        <a:t>Single Thread</a:t>
                      </a:r>
                      <a:endParaRPr lang="en-US" sz="1800" b="1" dirty="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800" b="1">
                          <a:effectLst/>
                        </a:rPr>
                        <a:t>Thread Pool</a:t>
                      </a:r>
                      <a:endParaRPr lang="en-US" sz="1800" b="1">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803388">
                <a:tc>
                  <a:txBody>
                    <a:bodyPr/>
                    <a:lstStyle/>
                    <a:p>
                      <a:r>
                        <a:rPr lang="en-US" sz="1800" b="1" dirty="0">
                          <a:effectLst/>
                        </a:rPr>
                        <a:t>Definition</a:t>
                      </a:r>
                      <a:endParaRPr lang="en-US" sz="1800" dirty="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a:effectLst/>
                        </a:rPr>
                        <a:t>A single unit of execution that runs tasks sequentially.</a:t>
                      </a:r>
                      <a:endParaRPr lang="en-US" sz="180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a:effectLst/>
                        </a:rPr>
                        <a:t>A managed group of reusable threads for executing multiple tasks concurrently.</a:t>
                      </a:r>
                      <a:endParaRPr lang="en-US" sz="180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62372">
                <a:tc>
                  <a:txBody>
                    <a:bodyPr/>
                    <a:lstStyle/>
                    <a:p>
                      <a:r>
                        <a:rPr lang="en-US" sz="1800" b="1">
                          <a:effectLst/>
                        </a:rPr>
                        <a:t>Creation Cost</a:t>
                      </a:r>
                      <a:endParaRPr lang="en-US" sz="180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a:effectLst/>
                        </a:rPr>
                        <a:t>High (OS resources required per thread).</a:t>
                      </a:r>
                      <a:endParaRPr lang="en-US" sz="180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a:effectLst/>
                        </a:rPr>
                        <a:t>Low (threads are reused, reducing overhead).</a:t>
                      </a:r>
                      <a:endParaRPr lang="en-US" sz="180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62372">
                <a:tc>
                  <a:txBody>
                    <a:bodyPr/>
                    <a:lstStyle/>
                    <a:p>
                      <a:r>
                        <a:rPr lang="en-US" sz="1800" b="1" dirty="0">
                          <a:effectLst/>
                        </a:rPr>
                        <a:t>Management</a:t>
                      </a:r>
                      <a:endParaRPr lang="en-US" sz="1800" dirty="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effectLst/>
                        </a:rPr>
                        <a:t>Manual (create/start/join threads).</a:t>
                      </a:r>
                      <a:endParaRPr lang="en-US" sz="1800" dirty="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a:effectLst/>
                        </a:rPr>
                        <a:t>Automatic (pool manages thread lifecycle).</a:t>
                      </a:r>
                      <a:endParaRPr lang="en-US" sz="180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62372">
                <a:tc>
                  <a:txBody>
                    <a:bodyPr/>
                    <a:lstStyle/>
                    <a:p>
                      <a:r>
                        <a:rPr lang="en-US" sz="1800" b="1">
                          <a:effectLst/>
                        </a:rPr>
                        <a:t>Resource Usage</a:t>
                      </a:r>
                      <a:endParaRPr lang="en-US" sz="180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a:effectLst/>
                        </a:rPr>
                        <a:t>Each thread consumes memory (~1MB stack).</a:t>
                      </a:r>
                      <a:endParaRPr lang="en-US" sz="180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effectLst/>
                        </a:rPr>
                        <a:t>Limits active threads, reducing memory waste.</a:t>
                      </a:r>
                      <a:endParaRPr lang="en-US" sz="1800" dirty="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62372">
                <a:tc>
                  <a:txBody>
                    <a:bodyPr/>
                    <a:lstStyle/>
                    <a:p>
                      <a:r>
                        <a:rPr lang="en-US" sz="1800" b="1">
                          <a:effectLst/>
                        </a:rPr>
                        <a:t>Task Handling</a:t>
                      </a:r>
                      <a:endParaRPr lang="en-US" sz="180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a:effectLst/>
                        </a:rPr>
                        <a:t>One task per thread.</a:t>
                      </a:r>
                      <a:endParaRPr lang="en-US" sz="180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a:effectLst/>
                        </a:rPr>
                        <a:t>Queues tasks and assigns them to available threads.</a:t>
                      </a:r>
                      <a:endParaRPr lang="en-US" sz="180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62372">
                <a:tc>
                  <a:txBody>
                    <a:bodyPr/>
                    <a:lstStyle/>
                    <a:p>
                      <a:r>
                        <a:rPr lang="en-US" sz="1800" b="1">
                          <a:effectLst/>
                        </a:rPr>
                        <a:t>Scalability</a:t>
                      </a:r>
                      <a:endParaRPr lang="en-US" sz="180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a:effectLst/>
                        </a:rPr>
                        <a:t>Poor (too many threads → crashes).</a:t>
                      </a:r>
                      <a:endParaRPr lang="en-US" sz="180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a:effectLst/>
                        </a:rPr>
                        <a:t>Better (controls max threads, avoids overload).</a:t>
                      </a:r>
                      <a:endParaRPr lang="en-US" sz="180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62372">
                <a:tc>
                  <a:txBody>
                    <a:bodyPr/>
                    <a:lstStyle/>
                    <a:p>
                      <a:r>
                        <a:rPr lang="en-US" sz="1800" b="1">
                          <a:effectLst/>
                        </a:rPr>
                        <a:t>Use Case</a:t>
                      </a:r>
                      <a:endParaRPr lang="en-US" sz="180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effectLst/>
                        </a:rPr>
                        <a:t>Simple, short-lived tasks.</a:t>
                      </a:r>
                      <a:endParaRPr lang="en-US" sz="1800" dirty="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effectLst/>
                        </a:rPr>
                        <a:t>High-volume/concurrent tasks (e.g., web servers).</a:t>
                      </a:r>
                      <a:endParaRPr lang="en-US" sz="1800" dirty="0">
                        <a:effectLst/>
                      </a:endParaRPr>
                    </a:p>
                  </a:txBody>
                  <a:tcPr marL="80339" marR="80339" marT="40169" marB="401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9875" y="58846"/>
            <a:ext cx="11260668" cy="6740307"/>
          </a:xfrm>
          <a:prstGeom prst="rect">
            <a:avLst/>
          </a:prstGeom>
        </p:spPr>
        <p:txBody>
          <a:bodyPr wrap="square">
            <a:spAutoFit/>
          </a:bodyPr>
          <a:lstStyle/>
          <a:p>
            <a:r>
              <a:rPr lang="en-US" sz="2400" dirty="0"/>
              <a:t>import java.net.*;</a:t>
            </a:r>
            <a:endParaRPr lang="en-US" sz="2400" dirty="0"/>
          </a:p>
          <a:p>
            <a:r>
              <a:rPr lang="en-US" sz="2400" dirty="0"/>
              <a:t>import java.io.*;</a:t>
            </a:r>
            <a:endParaRPr lang="en-US" sz="2400" dirty="0"/>
          </a:p>
          <a:p>
            <a:r>
              <a:rPr lang="en-US" sz="2400" dirty="0"/>
              <a:t>import </a:t>
            </a:r>
            <a:r>
              <a:rPr lang="en-US" sz="2400" dirty="0" err="1"/>
              <a:t>java.util.concurrent</a:t>
            </a:r>
            <a:r>
              <a:rPr lang="en-US" sz="2400" dirty="0"/>
              <a:t>.*;</a:t>
            </a:r>
            <a:endParaRPr lang="en-US" sz="2400" dirty="0"/>
          </a:p>
          <a:p>
            <a:endParaRPr lang="en-US" sz="2400" dirty="0"/>
          </a:p>
          <a:p>
            <a:r>
              <a:rPr lang="en-US" sz="2400" dirty="0"/>
              <a:t>public class </a:t>
            </a:r>
            <a:r>
              <a:rPr lang="en-US" sz="2400" dirty="0" err="1"/>
              <a:t>ThreadPoolServer</a:t>
            </a:r>
            <a:r>
              <a:rPr lang="en-US" sz="2400" dirty="0"/>
              <a:t> {</a:t>
            </a:r>
            <a:endParaRPr lang="en-US" sz="2400" dirty="0"/>
          </a:p>
          <a:p>
            <a:r>
              <a:rPr lang="en-US" sz="2400" dirty="0"/>
              <a:t>    private static final int THREAD_POOL_SIZE = 10;</a:t>
            </a:r>
            <a:endParaRPr lang="en-US" sz="2400" dirty="0"/>
          </a:p>
          <a:p>
            <a:r>
              <a:rPr lang="en-US" sz="2400" dirty="0"/>
              <a:t>    </a:t>
            </a:r>
            <a:endParaRPr lang="en-US" sz="2400" dirty="0"/>
          </a:p>
          <a:p>
            <a:r>
              <a:rPr lang="en-US" sz="2400" dirty="0"/>
              <a:t>    public static void main(String[] </a:t>
            </a:r>
            <a:r>
              <a:rPr lang="en-US" sz="2400" dirty="0" err="1"/>
              <a:t>args</a:t>
            </a:r>
            <a:r>
              <a:rPr lang="en-US" sz="2400" dirty="0"/>
              <a:t>) throws </a:t>
            </a:r>
            <a:r>
              <a:rPr lang="en-US" sz="2400" dirty="0" err="1"/>
              <a:t>IOException</a:t>
            </a:r>
            <a:r>
              <a:rPr lang="en-US" sz="2400" dirty="0"/>
              <a:t> {</a:t>
            </a:r>
            <a:endParaRPr lang="en-US" sz="2400" dirty="0"/>
          </a:p>
          <a:p>
            <a:r>
              <a:rPr lang="en-US" sz="2400" dirty="0"/>
              <a:t>        </a:t>
            </a:r>
            <a:r>
              <a:rPr lang="en-US" sz="2400" dirty="0" err="1"/>
              <a:t>ExecutorService</a:t>
            </a:r>
            <a:r>
              <a:rPr lang="en-US" sz="2400" dirty="0"/>
              <a:t> executor = </a:t>
            </a:r>
            <a:r>
              <a:rPr lang="en-US" sz="2400" dirty="0" err="1"/>
              <a:t>Executors.newFixedThreadPool</a:t>
            </a:r>
            <a:r>
              <a:rPr lang="en-US" sz="2400" dirty="0"/>
              <a:t>(THREAD_POOL_SIZE);</a:t>
            </a:r>
            <a:endParaRPr lang="en-US" sz="2400" dirty="0"/>
          </a:p>
          <a:p>
            <a:r>
              <a:rPr lang="en-US" sz="2400" dirty="0"/>
              <a:t>        </a:t>
            </a:r>
            <a:r>
              <a:rPr lang="en-US" sz="2400" dirty="0" err="1"/>
              <a:t>ServerSocket</a:t>
            </a:r>
            <a:r>
              <a:rPr lang="en-US" sz="2400" dirty="0"/>
              <a:t> </a:t>
            </a:r>
            <a:r>
              <a:rPr lang="en-US" sz="2400" dirty="0" err="1"/>
              <a:t>serverSocket</a:t>
            </a:r>
            <a:r>
              <a:rPr lang="en-US" sz="2400" dirty="0"/>
              <a:t> = new </a:t>
            </a:r>
            <a:r>
              <a:rPr lang="en-US" sz="2400" dirty="0" err="1"/>
              <a:t>ServerSocket</a:t>
            </a:r>
            <a:r>
              <a:rPr lang="en-US" sz="2400" dirty="0"/>
              <a:t>(8080);</a:t>
            </a:r>
            <a:endParaRPr lang="en-US" sz="2400" dirty="0"/>
          </a:p>
          <a:p>
            <a:r>
              <a:rPr lang="en-US" sz="2400" dirty="0"/>
              <a:t>        </a:t>
            </a:r>
            <a:endParaRPr lang="en-US" sz="2400" dirty="0"/>
          </a:p>
          <a:p>
            <a:r>
              <a:rPr lang="en-US" sz="2400" dirty="0"/>
              <a:t>        while (true) {</a:t>
            </a:r>
            <a:endParaRPr lang="en-US" sz="2400" dirty="0"/>
          </a:p>
          <a:p>
            <a:r>
              <a:rPr lang="en-US" sz="2400" dirty="0"/>
              <a:t>            Socket </a:t>
            </a:r>
            <a:r>
              <a:rPr lang="en-US" sz="2400" dirty="0" err="1"/>
              <a:t>clientSocket</a:t>
            </a:r>
            <a:r>
              <a:rPr lang="en-US" sz="2400" dirty="0"/>
              <a:t> = </a:t>
            </a:r>
            <a:r>
              <a:rPr lang="en-US" sz="2400" dirty="0" err="1"/>
              <a:t>serverSocket.accept</a:t>
            </a:r>
            <a:r>
              <a:rPr lang="en-US" sz="2400" dirty="0"/>
              <a:t>();</a:t>
            </a:r>
            <a:endParaRPr lang="en-US" sz="2400" dirty="0"/>
          </a:p>
          <a:p>
            <a:r>
              <a:rPr lang="en-US" sz="2400" dirty="0"/>
              <a:t>            </a:t>
            </a:r>
            <a:r>
              <a:rPr lang="en-US" sz="2400" dirty="0" err="1"/>
              <a:t>executor.execute</a:t>
            </a:r>
            <a:r>
              <a:rPr lang="en-US" sz="2400" dirty="0"/>
              <a:t>(new </a:t>
            </a:r>
            <a:r>
              <a:rPr lang="en-US" sz="2400" dirty="0" err="1"/>
              <a:t>ClientHandler</a:t>
            </a:r>
            <a:r>
              <a:rPr lang="en-US" sz="2400" dirty="0"/>
              <a:t>(</a:t>
            </a:r>
            <a:r>
              <a:rPr lang="en-US" sz="2400" dirty="0" err="1"/>
              <a:t>clientSocket</a:t>
            </a:r>
            <a:r>
              <a:rPr lang="en-US" sz="2400" dirty="0"/>
              <a:t>));</a:t>
            </a:r>
            <a:endParaRPr lang="en-US" sz="2400" dirty="0"/>
          </a:p>
          <a:p>
            <a:r>
              <a:rPr lang="en-US" sz="2400" dirty="0"/>
              <a:t>        }</a:t>
            </a:r>
            <a:endParaRPr lang="en-US" sz="2400" dirty="0"/>
          </a:p>
          <a:p>
            <a:r>
              <a:rPr lang="en-US" sz="2400" dirty="0"/>
              <a:t>    }</a:t>
            </a:r>
            <a:endParaRPr lang="en-US" sz="2400" dirty="0"/>
          </a:p>
          <a:p>
            <a:r>
              <a:rPr lang="en-US" sz="2400" dirty="0"/>
              <a:t>}</a:t>
            </a:r>
            <a:endParaRPr lang="en-US" sz="2400" dirty="0"/>
          </a:p>
        </p:txBody>
      </p:sp>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5562600" y="381000"/>
            <a:ext cx="6248400" cy="954107"/>
          </a:xfrm>
          <a:prstGeom prst="rect">
            <a:avLst/>
          </a:prstGeom>
        </p:spPr>
        <p:txBody>
          <a:bodyPr wrap="square">
            <a:spAutoFit/>
          </a:bodyPr>
          <a:lstStyle/>
          <a:p>
            <a:r>
              <a:rPr lang="en-US" sz="2800" b="1" dirty="0">
                <a:solidFill>
                  <a:srgbClr val="FF0000"/>
                </a:solidFill>
              </a:rPr>
              <a:t>2. Socket </a:t>
            </a:r>
            <a:r>
              <a:rPr lang="en-US" sz="2800" b="1" dirty="0" err="1">
                <a:solidFill>
                  <a:srgbClr val="FF0000"/>
                </a:solidFill>
              </a:rPr>
              <a:t>programmingThread</a:t>
            </a:r>
            <a:r>
              <a:rPr lang="en-US" sz="2800" b="1" dirty="0">
                <a:solidFill>
                  <a:srgbClr val="FF0000"/>
                </a:solidFill>
              </a:rPr>
              <a:t> Pool Approach (More Efficient)</a:t>
            </a:r>
            <a:endParaRPr lang="en-US" sz="2800" b="1" dirty="0">
              <a:solidFill>
                <a:srgbClr val="FF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sz="quarter"/>
          </p:nvPr>
        </p:nvSpPr>
        <p:spPr/>
        <p:txBody>
          <a:bodyPr/>
          <a:lstStyle/>
          <a:p>
            <a:r>
              <a:rPr lang="en-US" dirty="0">
                <a:solidFill>
                  <a:srgbClr val="FF0000"/>
                </a:solidFill>
              </a:rPr>
              <a:t>Memory-Mapped I/O  </a:t>
            </a:r>
            <a:br>
              <a:rPr lang="en-US" dirty="0">
                <a:solidFill>
                  <a:srgbClr val="FF0000"/>
                </a:solidFill>
              </a:rPr>
            </a:br>
            <a:endParaRPr lang="en-US" dirty="0"/>
          </a:p>
        </p:txBody>
      </p:sp>
      <p:sp>
        <p:nvSpPr>
          <p:cNvPr id="3" name="Subtitle 2"/>
          <p:cNvSpPr>
            <a:spLocks noGrp="1"/>
          </p:cNvSpPr>
          <p:nvPr>
            <p:ph type="subTitle" sz="quarter" idx="1"/>
          </p:nvPr>
        </p:nvSpPr>
        <p:spPr>
          <a:xfrm>
            <a:off x="1905000" y="3429000"/>
            <a:ext cx="8534400" cy="1752600"/>
          </a:xfrm>
        </p:spPr>
        <p:txBody>
          <a:bodyPr/>
          <a:lstStyle/>
          <a:p>
            <a:r>
              <a:rPr lang="en-US" sz="4800" dirty="0"/>
              <a:t>for Processing Large File in Java</a:t>
            </a:r>
            <a:endParaRPr lang="en-US" sz="4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304800" y="1166842"/>
            <a:ext cx="11485034" cy="5262979"/>
          </a:xfrm>
          <a:prstGeom prst="rect">
            <a:avLst/>
          </a:prstGeom>
        </p:spPr>
        <p:txBody>
          <a:bodyPr wrap="square">
            <a:spAutoFit/>
          </a:bodyPr>
          <a:lstStyle/>
          <a:p>
            <a:pPr marL="342900" indent="-342900">
              <a:buFont typeface="+mj-lt"/>
              <a:buAutoNum type="arabicPeriod"/>
            </a:pPr>
            <a:r>
              <a:rPr lang="en-US" sz="2800" dirty="0"/>
              <a:t>Memory-mapped I/O is a powerful technique for efficiently processing large files by mapping file contents directly into memory. </a:t>
            </a:r>
            <a:endParaRPr lang="en-US" sz="2800" dirty="0"/>
          </a:p>
          <a:p>
            <a:pPr marL="342900" indent="-342900">
              <a:buFont typeface="+mj-lt"/>
              <a:buAutoNum type="arabicPeriod"/>
            </a:pPr>
            <a:r>
              <a:rPr lang="en-US" sz="2800" dirty="0"/>
              <a:t>Let us see How Memory-Mapping Works</a:t>
            </a:r>
            <a:endParaRPr lang="en-US" sz="2800" dirty="0"/>
          </a:p>
          <a:p>
            <a:pPr marL="342900" indent="-342900">
              <a:buFont typeface="+mj-lt"/>
              <a:buAutoNum type="arabicPeriod"/>
            </a:pPr>
            <a:r>
              <a:rPr lang="en-US" sz="2800" dirty="0"/>
              <a:t>Concept: Instead of reading/writing files through traditional I/O operations, the file is mapped to a region of virtual memory</a:t>
            </a:r>
            <a:endParaRPr lang="en-US" sz="2800" dirty="0"/>
          </a:p>
          <a:p>
            <a:pPr marL="342900" indent="-342900">
              <a:buFont typeface="+mj-lt"/>
              <a:buAutoNum type="arabicPeriod"/>
            </a:pPr>
            <a:r>
              <a:rPr lang="en-US" sz="2800" dirty="0"/>
              <a:t>Mechanism: The operating system handles loading/unloading file chunks as needed</a:t>
            </a:r>
            <a:endParaRPr lang="en-US" sz="2800" dirty="0"/>
          </a:p>
          <a:p>
            <a:pPr marL="342900" indent="-342900">
              <a:buFont typeface="+mj-lt"/>
              <a:buAutoNum type="arabicPeriod"/>
            </a:pPr>
            <a:r>
              <a:rPr lang="en-US" sz="2800" dirty="0"/>
              <a:t>Benefits:</a:t>
            </a:r>
            <a:endParaRPr lang="en-US" sz="2800" dirty="0"/>
          </a:p>
          <a:p>
            <a:pPr marL="800100" lvl="1" indent="-342900">
              <a:buFont typeface="Wingdings" panose="05000000000000000000" pitchFamily="2" charset="2"/>
              <a:buChar char="v"/>
            </a:pPr>
            <a:r>
              <a:rPr lang="en-US" sz="2800" dirty="0"/>
              <a:t>Avoids costly read()/write() system calls</a:t>
            </a:r>
            <a:endParaRPr lang="en-US" sz="2800" dirty="0"/>
          </a:p>
          <a:p>
            <a:pPr marL="800100" lvl="1" indent="-342900">
              <a:buFont typeface="Wingdings" panose="05000000000000000000" pitchFamily="2" charset="2"/>
              <a:buChar char="v"/>
            </a:pPr>
            <a:r>
              <a:rPr lang="en-US" sz="2800" dirty="0"/>
              <a:t>Enables random access to file contents</a:t>
            </a:r>
            <a:endParaRPr lang="en-US" sz="2800" dirty="0"/>
          </a:p>
          <a:p>
            <a:pPr marL="800100" lvl="1" indent="-342900">
              <a:buFont typeface="Wingdings" panose="05000000000000000000" pitchFamily="2" charset="2"/>
              <a:buChar char="v"/>
            </a:pPr>
            <a:r>
              <a:rPr lang="en-US" sz="2800" dirty="0"/>
              <a:t>Can dramatically improve performance for large files</a:t>
            </a:r>
            <a:endParaRPr lang="en-US" sz="2800" dirty="0"/>
          </a:p>
          <a:p>
            <a:pPr marL="514350" indent="-514350">
              <a:buFont typeface="+mj-lt"/>
              <a:buAutoNum type="arabicPeriod"/>
            </a:pPr>
            <a:r>
              <a:rPr lang="en-US" sz="2800" dirty="0"/>
              <a:t>Implementation by Using </a:t>
            </a:r>
            <a:r>
              <a:rPr lang="en-US" sz="2800" dirty="0" err="1"/>
              <a:t>FileChannel</a:t>
            </a:r>
            <a:endParaRPr lang="en-US" sz="2800" dirty="0"/>
          </a:p>
        </p:txBody>
      </p:sp>
      <p:sp>
        <p:nvSpPr>
          <p:cNvPr id="4" name="Rectangle 3"/>
          <p:cNvSpPr/>
          <p:nvPr/>
        </p:nvSpPr>
        <p:spPr>
          <a:xfrm>
            <a:off x="778678" y="351367"/>
            <a:ext cx="10634643" cy="584775"/>
          </a:xfrm>
          <a:prstGeom prst="rect">
            <a:avLst/>
          </a:prstGeom>
        </p:spPr>
        <p:txBody>
          <a:bodyPr wrap="none">
            <a:spAutoFit/>
          </a:bodyPr>
          <a:lstStyle/>
          <a:p>
            <a:r>
              <a:rPr lang="en-US" sz="3200" b="1" dirty="0">
                <a:solidFill>
                  <a:srgbClr val="FF0000"/>
                </a:solidFill>
              </a:rPr>
              <a:t>Memory-Mapped I/O for Large File Processing in Java</a:t>
            </a:r>
            <a:endParaRPr lang="en-US" sz="3200" b="1" dirty="0">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385233" y="474345"/>
            <a:ext cx="5786967" cy="8401685"/>
          </a:xfrm>
          <a:prstGeom prst="rect">
            <a:avLst/>
          </a:prstGeom>
        </p:spPr>
        <p:txBody>
          <a:bodyPr wrap="square">
            <a:spAutoFit/>
          </a:bodyPr>
          <a:lstStyle/>
          <a:p>
            <a:r>
              <a:rPr lang="en-US" sz="1800" b="1" dirty="0"/>
              <a:t>import </a:t>
            </a:r>
            <a:r>
              <a:rPr lang="en-US" sz="1800" b="1" dirty="0" err="1"/>
              <a:t>java.io.RandomAccessFile</a:t>
            </a:r>
            <a:r>
              <a:rPr lang="en-US" sz="1800" b="1" dirty="0"/>
              <a:t>;</a:t>
            </a:r>
            <a:endParaRPr lang="en-US" sz="1800" b="1" dirty="0"/>
          </a:p>
          <a:p>
            <a:r>
              <a:rPr lang="en-US" sz="1800" b="1" dirty="0"/>
              <a:t>import </a:t>
            </a:r>
            <a:r>
              <a:rPr lang="en-US" sz="1800" b="1" dirty="0" err="1"/>
              <a:t>java.nio.MappedByteBuffer</a:t>
            </a:r>
            <a:r>
              <a:rPr lang="en-US" sz="1800" b="1" dirty="0"/>
              <a:t>;</a:t>
            </a:r>
            <a:endParaRPr lang="en-US" sz="1800" b="1" dirty="0"/>
          </a:p>
          <a:p>
            <a:r>
              <a:rPr lang="en-US" sz="1800" b="1" dirty="0"/>
              <a:t>import </a:t>
            </a:r>
            <a:r>
              <a:rPr lang="en-US" sz="1800" b="1" dirty="0" err="1"/>
              <a:t>java.nio.channels.FileChannel</a:t>
            </a:r>
            <a:r>
              <a:rPr lang="en-US" sz="1800" b="1" dirty="0"/>
              <a:t>;</a:t>
            </a:r>
            <a:endParaRPr lang="en-US" sz="1800" b="1" dirty="0"/>
          </a:p>
          <a:p>
            <a:endParaRPr lang="en-US" sz="1800" b="1" dirty="0"/>
          </a:p>
          <a:p>
            <a:r>
              <a:rPr lang="en-US" sz="1800" b="1" dirty="0"/>
              <a:t>public class </a:t>
            </a:r>
            <a:r>
              <a:rPr lang="en-US" sz="1800" b="1" dirty="0" err="1"/>
              <a:t>MemoryMappedFileReader</a:t>
            </a:r>
            <a:r>
              <a:rPr lang="en-US" sz="1800" b="1" dirty="0"/>
              <a:t> {</a:t>
            </a:r>
            <a:endParaRPr lang="en-US" sz="1800" b="1" dirty="0"/>
          </a:p>
          <a:p>
            <a:r>
              <a:rPr lang="en-US" sz="1800" b="1" dirty="0"/>
              <a:t>    public static void main(String[] </a:t>
            </a:r>
            <a:r>
              <a:rPr lang="en-US" sz="1800" b="1" dirty="0" err="1"/>
              <a:t>args</a:t>
            </a:r>
            <a:r>
              <a:rPr lang="en-US" sz="1800" b="1" dirty="0"/>
              <a:t>) throws Exception {</a:t>
            </a:r>
            <a:endParaRPr lang="en-US" sz="1800" b="1" dirty="0"/>
          </a:p>
          <a:p>
            <a:r>
              <a:rPr lang="en-US" sz="1800" b="1" dirty="0"/>
              <a:t>        String </a:t>
            </a:r>
            <a:r>
              <a:rPr lang="en-US" sz="1800" b="1" dirty="0" err="1"/>
              <a:t>filePath</a:t>
            </a:r>
            <a:r>
              <a:rPr lang="en-US" sz="1800" b="1" dirty="0"/>
              <a:t> = "large_file.dat";</a:t>
            </a:r>
            <a:endParaRPr lang="en-US" sz="1800" b="1" dirty="0"/>
          </a:p>
          <a:p>
            <a:r>
              <a:rPr lang="en-US" sz="1800" b="1" dirty="0"/>
              <a:t>        long </a:t>
            </a:r>
            <a:r>
              <a:rPr lang="en-US" sz="1800" b="1" dirty="0" err="1"/>
              <a:t>fileSize</a:t>
            </a:r>
            <a:r>
              <a:rPr lang="en-US" sz="1800" b="1" dirty="0"/>
              <a:t> = 1024 * 1024 * 1024; // 1GB file</a:t>
            </a:r>
            <a:endParaRPr lang="en-US" sz="1800" b="1" dirty="0"/>
          </a:p>
          <a:p>
            <a:r>
              <a:rPr lang="en-US" sz="1800" b="1" dirty="0"/>
              <a:t>        </a:t>
            </a:r>
            <a:endParaRPr lang="en-US" sz="1800" b="1" dirty="0"/>
          </a:p>
          <a:p>
            <a:r>
              <a:rPr lang="en-US" sz="1800" b="1" dirty="0"/>
              <a:t>        try (</a:t>
            </a:r>
            <a:r>
              <a:rPr lang="en-US" sz="1800" b="1" dirty="0" err="1"/>
              <a:t>RandomAccessFile</a:t>
            </a:r>
            <a:r>
              <a:rPr lang="en-US" sz="1800" b="1" dirty="0"/>
              <a:t> file = new </a:t>
            </a:r>
            <a:r>
              <a:rPr lang="en-US" sz="1800" b="1" dirty="0" err="1"/>
              <a:t>RandomAccessFile</a:t>
            </a:r>
            <a:r>
              <a:rPr lang="en-US" sz="1800" b="1" dirty="0"/>
              <a:t>(</a:t>
            </a:r>
            <a:r>
              <a:rPr lang="en-US" sz="1800" b="1" dirty="0" err="1"/>
              <a:t>filePath</a:t>
            </a:r>
            <a:r>
              <a:rPr lang="en-US" sz="1800" b="1" dirty="0"/>
              <a:t>, "</a:t>
            </a:r>
            <a:r>
              <a:rPr lang="en-US" sz="1800" b="1" dirty="0" err="1"/>
              <a:t>rw</a:t>
            </a:r>
            <a:r>
              <a:rPr lang="en-US" sz="1800" b="1" dirty="0"/>
              <a:t>");</a:t>
            </a:r>
            <a:endParaRPr lang="en-US" sz="1800" b="1" dirty="0"/>
          </a:p>
          <a:p>
            <a:r>
              <a:rPr lang="en-US" sz="1800" b="1" dirty="0"/>
              <a:t>             </a:t>
            </a:r>
            <a:r>
              <a:rPr lang="en-US" sz="1800" b="1" dirty="0" err="1"/>
              <a:t>FileChannel</a:t>
            </a:r>
            <a:r>
              <a:rPr lang="en-US" sz="1800" b="1" dirty="0"/>
              <a:t> channel = </a:t>
            </a:r>
            <a:r>
              <a:rPr lang="en-US" sz="1800" b="1" dirty="0" err="1"/>
              <a:t>file.getChannel</a:t>
            </a:r>
            <a:r>
              <a:rPr lang="en-US" sz="1800" b="1" dirty="0"/>
              <a:t>()) {</a:t>
            </a:r>
            <a:endParaRPr lang="en-US" sz="1800" b="1" dirty="0"/>
          </a:p>
          <a:p>
            <a:r>
              <a:rPr lang="en-US" sz="1800" b="1" dirty="0"/>
              <a:t>            </a:t>
            </a:r>
            <a:endParaRPr lang="en-US" sz="1800" b="1" dirty="0"/>
          </a:p>
          <a:p>
            <a:r>
              <a:rPr lang="en-US" sz="1800" b="1" dirty="0"/>
              <a:t>            // Map the entire file into memory</a:t>
            </a:r>
            <a:endParaRPr lang="en-US" sz="1800" b="1" dirty="0"/>
          </a:p>
          <a:p>
            <a:r>
              <a:rPr lang="en-US" sz="1800" b="1" dirty="0"/>
              <a:t>            </a:t>
            </a:r>
            <a:r>
              <a:rPr lang="en-US" sz="1800" b="1" dirty="0" err="1"/>
              <a:t>MappedByteBuffer</a:t>
            </a:r>
            <a:r>
              <a:rPr lang="en-US" sz="1800" b="1" dirty="0"/>
              <a:t> buffer = </a:t>
            </a:r>
            <a:r>
              <a:rPr lang="en-US" sz="1800" b="1" dirty="0" err="1"/>
              <a:t>channel.map</a:t>
            </a:r>
            <a:r>
              <a:rPr lang="en-US" sz="1800" b="1" dirty="0"/>
              <a:t>(</a:t>
            </a:r>
            <a:endParaRPr lang="en-US" sz="1800" b="1" dirty="0"/>
          </a:p>
          <a:p>
            <a:r>
              <a:rPr lang="en-US" sz="1800" b="1" dirty="0"/>
              <a:t>                </a:t>
            </a:r>
            <a:r>
              <a:rPr lang="en-US" sz="1800" b="1" dirty="0" err="1"/>
              <a:t>FileChannel.MapMode.READ_WRITE</a:t>
            </a:r>
            <a:r>
              <a:rPr lang="en-US" sz="1800" b="1" dirty="0"/>
              <a:t>, // Access mode</a:t>
            </a:r>
            <a:endParaRPr lang="en-US" sz="1800" b="1" dirty="0"/>
          </a:p>
          <a:p>
            <a:r>
              <a:rPr lang="en-US" sz="1800" b="1" dirty="0"/>
              <a:t>                0,                             // Starting position</a:t>
            </a:r>
            <a:endParaRPr lang="en-US" sz="1800" b="1" dirty="0"/>
          </a:p>
          <a:p>
            <a:r>
              <a:rPr lang="en-US" sz="1800" b="1" dirty="0"/>
              <a:t>                </a:t>
            </a:r>
            <a:r>
              <a:rPr lang="en-US" sz="1800" b="1" dirty="0" err="1"/>
              <a:t>fileSize</a:t>
            </a:r>
            <a:r>
              <a:rPr lang="en-US" sz="1800" b="1" dirty="0"/>
              <a:t>                       // Size to map</a:t>
            </a:r>
            <a:endParaRPr lang="en-US" sz="1800" b="1" dirty="0"/>
          </a:p>
          <a:p>
            <a:r>
              <a:rPr lang="en-US" sz="1800" b="1" dirty="0"/>
              <a:t>            );</a:t>
            </a:r>
            <a:endParaRPr lang="en-US" sz="1800" b="1" dirty="0"/>
          </a:p>
          <a:p>
            <a:r>
              <a:rPr lang="en-US" sz="1800" b="1" dirty="0"/>
              <a:t>            </a:t>
            </a:r>
            <a:endParaRPr lang="en-US" sz="1800" b="1" dirty="0"/>
          </a:p>
          <a:p>
            <a:r>
              <a:rPr lang="en-US" sz="1800" b="1" dirty="0"/>
              <a:t>            // Process the buffer</a:t>
            </a:r>
            <a:endParaRPr lang="en-US" sz="1800" b="1" dirty="0"/>
          </a:p>
          <a:p>
            <a:r>
              <a:rPr lang="en-US" sz="1800" b="1" dirty="0"/>
              <a:t>            while (</a:t>
            </a:r>
            <a:r>
              <a:rPr lang="en-US" sz="1800" b="1" dirty="0" err="1"/>
              <a:t>buffer.hasRemaining</a:t>
            </a:r>
            <a:r>
              <a:rPr lang="en-US" sz="1800" b="1" dirty="0"/>
              <a:t>()) {</a:t>
            </a:r>
            <a:endParaRPr lang="en-US" sz="1800" b="1" dirty="0"/>
          </a:p>
          <a:p>
            <a:r>
              <a:rPr lang="en-US" sz="1800" b="1" dirty="0"/>
              <a:t>                byte b = </a:t>
            </a:r>
            <a:r>
              <a:rPr lang="en-US" sz="1800" b="1" dirty="0" err="1"/>
              <a:t>buffer.get</a:t>
            </a:r>
            <a:r>
              <a:rPr lang="en-US" sz="1800" b="1" dirty="0"/>
              <a:t>();</a:t>
            </a:r>
            <a:endParaRPr lang="en-US" sz="1800" b="1" dirty="0"/>
          </a:p>
          <a:p>
            <a:r>
              <a:rPr lang="en-US" sz="1800" b="1" dirty="0"/>
              <a:t>                // Process each byte</a:t>
            </a:r>
            <a:endParaRPr lang="en-US" sz="1800" b="1" dirty="0"/>
          </a:p>
          <a:p>
            <a:r>
              <a:rPr lang="en-US" sz="1800" b="1" dirty="0"/>
              <a:t>            }</a:t>
            </a:r>
            <a:endParaRPr lang="en-US" sz="1800" b="1" dirty="0"/>
          </a:p>
          <a:p>
            <a:r>
              <a:rPr lang="en-US" sz="1800" b="1" dirty="0"/>
              <a:t>        }</a:t>
            </a:r>
            <a:endParaRPr lang="en-US" sz="1800" b="1" dirty="0"/>
          </a:p>
          <a:p>
            <a:r>
              <a:rPr lang="en-US" sz="1800" b="1" dirty="0"/>
              <a:t>    }</a:t>
            </a:r>
            <a:endParaRPr lang="en-US" sz="1800" b="1" dirty="0"/>
          </a:p>
          <a:p>
            <a:r>
              <a:rPr lang="en-US" sz="1800" b="1" dirty="0"/>
              <a:t>}</a:t>
            </a:r>
            <a:endParaRPr lang="en-US" sz="1800" b="1" dirty="0"/>
          </a:p>
        </p:txBody>
      </p:sp>
      <p:sp>
        <p:nvSpPr>
          <p:cNvPr id="4" name="Rectangle 3"/>
          <p:cNvSpPr/>
          <p:nvPr/>
        </p:nvSpPr>
        <p:spPr>
          <a:xfrm>
            <a:off x="6019800" y="1143000"/>
            <a:ext cx="5867400" cy="3139321"/>
          </a:xfrm>
          <a:prstGeom prst="rect">
            <a:avLst/>
          </a:prstGeom>
        </p:spPr>
        <p:txBody>
          <a:bodyPr wrap="square">
            <a:spAutoFit/>
          </a:bodyPr>
          <a:lstStyle/>
          <a:p>
            <a:r>
              <a:rPr lang="en-US" b="1" dirty="0">
                <a:solidFill>
                  <a:srgbClr val="FF0000"/>
                </a:solidFill>
              </a:rPr>
              <a:t>Key Components</a:t>
            </a:r>
            <a:endParaRPr lang="en-US" b="1" dirty="0">
              <a:solidFill>
                <a:srgbClr val="FF0000"/>
              </a:solidFill>
            </a:endParaRPr>
          </a:p>
          <a:p>
            <a:r>
              <a:rPr lang="en-US" b="1" dirty="0" err="1">
                <a:solidFill>
                  <a:srgbClr val="FF0000"/>
                </a:solidFill>
              </a:rPr>
              <a:t>FileChannel</a:t>
            </a:r>
            <a:r>
              <a:rPr lang="en-US" b="1" dirty="0">
                <a:solidFill>
                  <a:srgbClr val="FF0000"/>
                </a:solidFill>
              </a:rPr>
              <a:t>: Provides the mapping capability</a:t>
            </a:r>
            <a:endParaRPr lang="en-US" b="1" dirty="0">
              <a:solidFill>
                <a:srgbClr val="FF0000"/>
              </a:solidFill>
            </a:endParaRPr>
          </a:p>
          <a:p>
            <a:endParaRPr lang="en-US" b="1" dirty="0">
              <a:solidFill>
                <a:srgbClr val="FF0000"/>
              </a:solidFill>
            </a:endParaRPr>
          </a:p>
          <a:p>
            <a:r>
              <a:rPr lang="en-US" b="1" dirty="0">
                <a:solidFill>
                  <a:srgbClr val="FF0000"/>
                </a:solidFill>
              </a:rPr>
              <a:t>Map Modes:</a:t>
            </a:r>
            <a:endParaRPr lang="en-US" b="1" dirty="0">
              <a:solidFill>
                <a:srgbClr val="FF0000"/>
              </a:solidFill>
            </a:endParaRPr>
          </a:p>
          <a:p>
            <a:pPr marL="342900" indent="-342900">
              <a:buFont typeface="+mj-lt"/>
              <a:buAutoNum type="arabicPeriod"/>
            </a:pPr>
            <a:r>
              <a:rPr lang="en-US" b="1" dirty="0">
                <a:solidFill>
                  <a:srgbClr val="FF0000"/>
                </a:solidFill>
              </a:rPr>
              <a:t>READ_ONLY: Read-only mapping</a:t>
            </a:r>
            <a:endParaRPr lang="en-US" b="1" dirty="0">
              <a:solidFill>
                <a:srgbClr val="FF0000"/>
              </a:solidFill>
            </a:endParaRPr>
          </a:p>
          <a:p>
            <a:pPr marL="342900" indent="-342900">
              <a:buFont typeface="+mj-lt"/>
              <a:buAutoNum type="arabicPeriod"/>
            </a:pPr>
            <a:r>
              <a:rPr lang="en-US" b="1" dirty="0">
                <a:solidFill>
                  <a:srgbClr val="FF0000"/>
                </a:solidFill>
              </a:rPr>
              <a:t>READ_WRITE: Read/write mapping (changes written back to file)</a:t>
            </a:r>
            <a:endParaRPr lang="en-US" b="1" dirty="0">
              <a:solidFill>
                <a:srgbClr val="FF0000"/>
              </a:solidFill>
            </a:endParaRPr>
          </a:p>
          <a:p>
            <a:pPr marL="342900" indent="-342900">
              <a:buFont typeface="+mj-lt"/>
              <a:buAutoNum type="arabicPeriod"/>
            </a:pPr>
            <a:r>
              <a:rPr lang="en-US" b="1" dirty="0">
                <a:solidFill>
                  <a:srgbClr val="FF0000"/>
                </a:solidFill>
              </a:rPr>
              <a:t>PRIVATE: Copy-on-write (changes not written to file)</a:t>
            </a:r>
            <a:endParaRPr lang="en-US" b="1" dirty="0">
              <a:solidFill>
                <a:srgbClr val="FF0000"/>
              </a:solidFill>
            </a:endParaRPr>
          </a:p>
          <a:p>
            <a:pPr marL="342900" indent="-342900">
              <a:buFont typeface="+mj-lt"/>
              <a:buAutoNum type="arabicPeriod"/>
            </a:pPr>
            <a:r>
              <a:rPr lang="en-US" b="1" dirty="0" err="1">
                <a:solidFill>
                  <a:srgbClr val="FF0000"/>
                </a:solidFill>
              </a:rPr>
              <a:t>MappedByteBuffer</a:t>
            </a:r>
            <a:r>
              <a:rPr lang="en-US" b="1" dirty="0">
                <a:solidFill>
                  <a:srgbClr val="FF0000"/>
                </a:solidFill>
              </a:rPr>
              <a:t>: Acts like a direct memory array of the file contents</a:t>
            </a:r>
            <a:endParaRPr lang="en-US" b="1" dirty="0">
              <a:solidFill>
                <a:srgbClr val="FF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685800" y="304800"/>
            <a:ext cx="9067800" cy="646331"/>
          </a:xfrm>
          <a:prstGeom prst="rect">
            <a:avLst/>
          </a:prstGeom>
        </p:spPr>
        <p:txBody>
          <a:bodyPr wrap="square">
            <a:spAutoFit/>
          </a:bodyPr>
          <a:lstStyle/>
          <a:p>
            <a:r>
              <a:rPr lang="en-US" b="1" dirty="0">
                <a:solidFill>
                  <a:srgbClr val="FF0000"/>
                </a:solidFill>
              </a:rPr>
              <a:t>Processing Large Files in Chunks</a:t>
            </a:r>
            <a:endParaRPr lang="en-US" b="1" dirty="0">
              <a:solidFill>
                <a:srgbClr val="FF0000"/>
              </a:solidFill>
            </a:endParaRPr>
          </a:p>
          <a:p>
            <a:r>
              <a:rPr lang="en-US" b="1" dirty="0">
                <a:solidFill>
                  <a:srgbClr val="FF0000"/>
                </a:solidFill>
              </a:rPr>
              <a:t>For very large files (larger than 2GB), map portions sequentially:</a:t>
            </a:r>
            <a:endParaRPr lang="en-US" b="1" dirty="0">
              <a:solidFill>
                <a:srgbClr val="FF0000"/>
              </a:solidFill>
            </a:endParaRPr>
          </a:p>
        </p:txBody>
      </p:sp>
      <p:sp>
        <p:nvSpPr>
          <p:cNvPr id="4" name="Rectangle 3"/>
          <p:cNvSpPr/>
          <p:nvPr/>
        </p:nvSpPr>
        <p:spPr>
          <a:xfrm>
            <a:off x="1066800" y="1163654"/>
            <a:ext cx="9372600" cy="4524315"/>
          </a:xfrm>
          <a:prstGeom prst="rect">
            <a:avLst/>
          </a:prstGeom>
        </p:spPr>
        <p:txBody>
          <a:bodyPr wrap="square">
            <a:spAutoFit/>
          </a:bodyPr>
          <a:lstStyle/>
          <a:p>
            <a:r>
              <a:rPr lang="en-US" b="1" dirty="0"/>
              <a:t>final long CHUNK_SIZE = 1024 * 1024 * 100; // 100MB chunks</a:t>
            </a:r>
            <a:endParaRPr lang="en-US" b="1" dirty="0"/>
          </a:p>
          <a:p>
            <a:endParaRPr lang="en-US" b="1" dirty="0"/>
          </a:p>
          <a:p>
            <a:r>
              <a:rPr lang="en-US" b="1" dirty="0"/>
              <a:t>long position = 0;</a:t>
            </a:r>
            <a:endParaRPr lang="en-US" b="1" dirty="0"/>
          </a:p>
          <a:p>
            <a:r>
              <a:rPr lang="en-US" b="1" dirty="0"/>
              <a:t>while (position &lt; </a:t>
            </a:r>
            <a:r>
              <a:rPr lang="en-US" b="1" dirty="0" err="1"/>
              <a:t>fileSize</a:t>
            </a:r>
            <a:r>
              <a:rPr lang="en-US" b="1" dirty="0"/>
              <a:t>) {</a:t>
            </a:r>
            <a:endParaRPr lang="en-US" b="1" dirty="0"/>
          </a:p>
          <a:p>
            <a:r>
              <a:rPr lang="en-US" b="1" dirty="0"/>
              <a:t>    long remaining = </a:t>
            </a:r>
            <a:r>
              <a:rPr lang="en-US" b="1" dirty="0" err="1"/>
              <a:t>fileSize</a:t>
            </a:r>
            <a:r>
              <a:rPr lang="en-US" b="1" dirty="0"/>
              <a:t> - position;</a:t>
            </a:r>
            <a:endParaRPr lang="en-US" b="1" dirty="0"/>
          </a:p>
          <a:p>
            <a:r>
              <a:rPr lang="en-US" b="1" dirty="0"/>
              <a:t>    long </a:t>
            </a:r>
            <a:r>
              <a:rPr lang="en-US" b="1" dirty="0" err="1"/>
              <a:t>chunkSize</a:t>
            </a:r>
            <a:r>
              <a:rPr lang="en-US" b="1" dirty="0"/>
              <a:t> = </a:t>
            </a:r>
            <a:r>
              <a:rPr lang="en-US" b="1" dirty="0" err="1"/>
              <a:t>Math.min</a:t>
            </a:r>
            <a:r>
              <a:rPr lang="en-US" b="1" dirty="0"/>
              <a:t>(CHUNK_SIZE, remaining);</a:t>
            </a:r>
            <a:endParaRPr lang="en-US" b="1" dirty="0"/>
          </a:p>
          <a:p>
            <a:r>
              <a:rPr lang="en-US" b="1" dirty="0"/>
              <a:t>    </a:t>
            </a:r>
            <a:endParaRPr lang="en-US" b="1" dirty="0"/>
          </a:p>
          <a:p>
            <a:r>
              <a:rPr lang="en-US" b="1" dirty="0"/>
              <a:t>    </a:t>
            </a:r>
            <a:r>
              <a:rPr lang="en-US" b="1" dirty="0" err="1"/>
              <a:t>MappedByteBuffer</a:t>
            </a:r>
            <a:r>
              <a:rPr lang="en-US" b="1" dirty="0"/>
              <a:t> chunk = </a:t>
            </a:r>
            <a:r>
              <a:rPr lang="en-US" b="1" dirty="0" err="1"/>
              <a:t>channel.map</a:t>
            </a:r>
            <a:r>
              <a:rPr lang="en-US" b="1" dirty="0"/>
              <a:t>(</a:t>
            </a:r>
            <a:endParaRPr lang="en-US" b="1" dirty="0"/>
          </a:p>
          <a:p>
            <a:r>
              <a:rPr lang="en-US" b="1" dirty="0"/>
              <a:t>        </a:t>
            </a:r>
            <a:r>
              <a:rPr lang="en-US" b="1" dirty="0" err="1"/>
              <a:t>FileChannel.MapMode.READ_ONLY</a:t>
            </a:r>
            <a:r>
              <a:rPr lang="en-US" b="1" dirty="0"/>
              <a:t>,</a:t>
            </a:r>
            <a:endParaRPr lang="en-US" b="1" dirty="0"/>
          </a:p>
          <a:p>
            <a:r>
              <a:rPr lang="en-US" b="1" dirty="0"/>
              <a:t>        position,</a:t>
            </a:r>
            <a:endParaRPr lang="en-US" b="1" dirty="0"/>
          </a:p>
          <a:p>
            <a:r>
              <a:rPr lang="en-US" b="1" dirty="0"/>
              <a:t>        </a:t>
            </a:r>
            <a:r>
              <a:rPr lang="en-US" b="1" dirty="0" err="1"/>
              <a:t>chunkSize</a:t>
            </a:r>
            <a:endParaRPr lang="en-US" b="1" dirty="0"/>
          </a:p>
          <a:p>
            <a:r>
              <a:rPr lang="en-US" b="1" dirty="0"/>
              <a:t>    );</a:t>
            </a:r>
            <a:endParaRPr lang="en-US" b="1" dirty="0"/>
          </a:p>
          <a:p>
            <a:r>
              <a:rPr lang="en-US" b="1" dirty="0"/>
              <a:t>    </a:t>
            </a:r>
            <a:endParaRPr lang="en-US" b="1" dirty="0"/>
          </a:p>
          <a:p>
            <a:r>
              <a:rPr lang="en-US" b="1" dirty="0"/>
              <a:t>    </a:t>
            </a:r>
            <a:r>
              <a:rPr lang="en-US" b="1" dirty="0" err="1"/>
              <a:t>processChunk</a:t>
            </a:r>
            <a:r>
              <a:rPr lang="en-US" b="1" dirty="0"/>
              <a:t>(chunk);</a:t>
            </a:r>
            <a:endParaRPr lang="en-US" b="1" dirty="0"/>
          </a:p>
          <a:p>
            <a:r>
              <a:rPr lang="en-US" b="1" dirty="0"/>
              <a:t>    position += </a:t>
            </a:r>
            <a:r>
              <a:rPr lang="en-US" b="1" dirty="0" err="1"/>
              <a:t>chunkSize</a:t>
            </a:r>
            <a:r>
              <a:rPr lang="en-US" b="1" dirty="0"/>
              <a:t>;</a:t>
            </a:r>
            <a:endParaRPr lang="en-US" b="1" dirty="0"/>
          </a:p>
          <a:p>
            <a:r>
              <a:rPr lang="en-US" b="1" dirty="0"/>
              <a:t>}</a:t>
            </a:r>
            <a:endParaRPr lang="en-US"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609600" y="136525"/>
            <a:ext cx="10972800" cy="6001643"/>
          </a:xfrm>
          <a:prstGeom prst="rect">
            <a:avLst/>
          </a:prstGeom>
        </p:spPr>
        <p:txBody>
          <a:bodyPr wrap="square">
            <a:spAutoFit/>
          </a:bodyPr>
          <a:lstStyle/>
          <a:p>
            <a:pPr algn="ctr"/>
            <a:r>
              <a:rPr lang="en-US" sz="3200" b="1" u="sng" dirty="0">
                <a:solidFill>
                  <a:srgbClr val="FF0000"/>
                </a:solidFill>
              </a:rPr>
              <a:t>Performance Considerations</a:t>
            </a:r>
            <a:endParaRPr lang="en-US" sz="3200" b="1" u="sng" dirty="0">
              <a:solidFill>
                <a:srgbClr val="FF0000"/>
              </a:solidFill>
            </a:endParaRPr>
          </a:p>
          <a:p>
            <a:r>
              <a:rPr lang="en-US" sz="3200" b="1" u="sng" dirty="0">
                <a:solidFill>
                  <a:srgbClr val="FF0000"/>
                </a:solidFill>
              </a:rPr>
              <a:t>Advantages:</a:t>
            </a:r>
            <a:endParaRPr lang="en-US" sz="3200" b="1" u="sng" dirty="0">
              <a:solidFill>
                <a:srgbClr val="FF0000"/>
              </a:solidFill>
            </a:endParaRPr>
          </a:p>
          <a:p>
            <a:pPr marL="457200" indent="-457200">
              <a:buFont typeface="+mj-lt"/>
              <a:buAutoNum type="arabicPeriod"/>
            </a:pPr>
            <a:r>
              <a:rPr lang="en-US" sz="3200" dirty="0"/>
              <a:t>30-50% faster than traditional I/O for large files</a:t>
            </a:r>
            <a:endParaRPr lang="en-US" sz="3200" dirty="0"/>
          </a:p>
          <a:p>
            <a:pPr marL="457200" indent="-457200">
              <a:buFont typeface="+mj-lt"/>
              <a:buAutoNum type="arabicPeriod"/>
            </a:pPr>
            <a:r>
              <a:rPr lang="en-US" sz="3200" dirty="0"/>
              <a:t>OS handles paging automatically</a:t>
            </a:r>
            <a:endParaRPr lang="en-US" sz="3200" dirty="0"/>
          </a:p>
          <a:p>
            <a:pPr marL="457200" indent="-457200">
              <a:buFont typeface="+mj-lt"/>
              <a:buAutoNum type="arabicPeriod"/>
            </a:pPr>
            <a:r>
              <a:rPr lang="en-US" sz="3200" dirty="0"/>
              <a:t>Enables direct access like working with memory</a:t>
            </a:r>
            <a:endParaRPr lang="en-US" sz="3200" dirty="0"/>
          </a:p>
          <a:p>
            <a:endParaRPr lang="en-US" sz="3200" dirty="0"/>
          </a:p>
          <a:p>
            <a:r>
              <a:rPr lang="en-US" sz="3200" b="1" u="sng" dirty="0">
                <a:solidFill>
                  <a:srgbClr val="FF0000"/>
                </a:solidFill>
              </a:rPr>
              <a:t>Limitations:</a:t>
            </a:r>
            <a:endParaRPr lang="en-US" sz="3200" b="1" u="sng" dirty="0">
              <a:solidFill>
                <a:srgbClr val="FF0000"/>
              </a:solidFill>
            </a:endParaRPr>
          </a:p>
          <a:p>
            <a:pPr marL="457200" indent="-457200">
              <a:buFont typeface="+mj-lt"/>
              <a:buAutoNum type="arabicPeriod"/>
            </a:pPr>
            <a:r>
              <a:rPr lang="en-US" sz="3200" dirty="0"/>
              <a:t>Mapping very large files consumes virtual memory</a:t>
            </a:r>
            <a:endParaRPr lang="en-US" sz="3200" dirty="0"/>
          </a:p>
          <a:p>
            <a:pPr marL="457200" indent="-457200">
              <a:buFont typeface="+mj-lt"/>
              <a:buAutoNum type="arabicPeriod"/>
            </a:pPr>
            <a:r>
              <a:rPr lang="en-US" sz="3200" dirty="0"/>
              <a:t>Changes may not be immediately visible to other processes</a:t>
            </a:r>
            <a:endParaRPr lang="en-US" sz="3200" dirty="0"/>
          </a:p>
          <a:p>
            <a:pPr marL="457200" indent="-457200">
              <a:buFont typeface="+mj-lt"/>
              <a:buAutoNum type="arabicPeriod"/>
            </a:pPr>
            <a:r>
              <a:rPr lang="en-US" sz="3200" dirty="0" err="1"/>
              <a:t>Unmapping</a:t>
            </a:r>
            <a:r>
              <a:rPr lang="en-US" sz="3200" dirty="0"/>
              <a:t> requires garbage collection (or using cleaner APIs in Java 9+)</a:t>
            </a:r>
            <a:endParaRPr lang="en-US" sz="3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457200" y="533400"/>
            <a:ext cx="10744200" cy="4647426"/>
          </a:xfrm>
          <a:prstGeom prst="rect">
            <a:avLst/>
          </a:prstGeom>
        </p:spPr>
        <p:txBody>
          <a:bodyPr wrap="square">
            <a:spAutoFit/>
          </a:bodyPr>
          <a:lstStyle/>
          <a:p>
            <a:r>
              <a:rPr lang="en-US" sz="2800" b="1" u="sng" dirty="0">
                <a:solidFill>
                  <a:srgbClr val="FF0000"/>
                </a:solidFill>
              </a:rPr>
              <a:t>Real-World Use Cases</a:t>
            </a:r>
            <a:endParaRPr lang="en-US" sz="2800" b="1" u="sng" dirty="0">
              <a:solidFill>
                <a:srgbClr val="FF0000"/>
              </a:solidFill>
            </a:endParaRPr>
          </a:p>
          <a:p>
            <a:pPr marL="342900" indent="-342900">
              <a:buFont typeface="+mj-lt"/>
              <a:buAutoNum type="arabicPeriod"/>
            </a:pPr>
            <a:r>
              <a:rPr lang="en-US" sz="2400" dirty="0"/>
              <a:t>Database Systems: Fast random access to data files</a:t>
            </a:r>
            <a:endParaRPr lang="en-US" sz="2400" dirty="0"/>
          </a:p>
          <a:p>
            <a:pPr marL="342900" indent="-342900">
              <a:buFont typeface="+mj-lt"/>
              <a:buAutoNum type="arabicPeriod"/>
            </a:pPr>
            <a:r>
              <a:rPr lang="en-US" sz="2400" dirty="0"/>
              <a:t>Log Processing: Efficient scanning of large log files</a:t>
            </a:r>
            <a:endParaRPr lang="en-US" sz="2400" dirty="0"/>
          </a:p>
          <a:p>
            <a:pPr marL="342900" indent="-342900">
              <a:buFont typeface="+mj-lt"/>
              <a:buAutoNum type="arabicPeriod"/>
            </a:pPr>
            <a:r>
              <a:rPr lang="en-US" sz="2400" dirty="0"/>
              <a:t>Binary Data Analysis: Working with large binary formats</a:t>
            </a:r>
            <a:endParaRPr lang="en-US" sz="2400" dirty="0"/>
          </a:p>
          <a:p>
            <a:pPr marL="342900" indent="-342900">
              <a:buFont typeface="+mj-lt"/>
              <a:buAutoNum type="arabicPeriod"/>
            </a:pPr>
            <a:r>
              <a:rPr lang="en-US" sz="2400" dirty="0"/>
              <a:t>In-Memory Caching: Memory-mapped cache files</a:t>
            </a:r>
            <a:endParaRPr lang="en-US" sz="2400" dirty="0"/>
          </a:p>
          <a:p>
            <a:endParaRPr lang="en-US" sz="2400" dirty="0"/>
          </a:p>
          <a:p>
            <a:r>
              <a:rPr lang="en-US" sz="2800" b="1" u="sng" dirty="0">
                <a:solidFill>
                  <a:srgbClr val="FF0000"/>
                </a:solidFill>
              </a:rPr>
              <a:t>Best Practices</a:t>
            </a:r>
            <a:endParaRPr lang="en-US" sz="2800" b="1" u="sng" dirty="0">
              <a:solidFill>
                <a:srgbClr val="FF0000"/>
              </a:solidFill>
            </a:endParaRPr>
          </a:p>
          <a:p>
            <a:pPr marL="342900" indent="-342900">
              <a:buFont typeface="+mj-lt"/>
              <a:buAutoNum type="arabicPeriod"/>
            </a:pPr>
            <a:r>
              <a:rPr lang="en-US" sz="2400" dirty="0"/>
              <a:t>Always close resources (use try-with-resources)</a:t>
            </a:r>
            <a:endParaRPr lang="en-US" sz="2400" dirty="0"/>
          </a:p>
          <a:p>
            <a:pPr marL="342900" indent="-342900">
              <a:buFont typeface="+mj-lt"/>
              <a:buAutoNum type="arabicPeriod"/>
            </a:pPr>
            <a:r>
              <a:rPr lang="en-US" sz="2400" dirty="0"/>
              <a:t>Use appropriate mapping modes (READ_ONLY when possible)</a:t>
            </a:r>
            <a:endParaRPr lang="en-US" sz="2400" dirty="0"/>
          </a:p>
          <a:p>
            <a:pPr marL="342900" indent="-342900">
              <a:buFont typeface="+mj-lt"/>
              <a:buAutoNum type="arabicPeriod"/>
            </a:pPr>
            <a:r>
              <a:rPr lang="en-US" sz="2400" dirty="0"/>
              <a:t>Process in reasonable chunk sizes (balance memory usage and performance)</a:t>
            </a:r>
            <a:endParaRPr lang="en-US" sz="2400" dirty="0"/>
          </a:p>
          <a:p>
            <a:pPr marL="342900" indent="-342900">
              <a:buFont typeface="+mj-lt"/>
              <a:buAutoNum type="arabicPeriod"/>
            </a:pPr>
            <a:r>
              <a:rPr lang="en-US" sz="2400" dirty="0"/>
              <a:t>Handle byte ordering (use </a:t>
            </a:r>
            <a:r>
              <a:rPr lang="en-US" sz="2400" dirty="0" err="1"/>
              <a:t>buffer.order</a:t>
            </a:r>
            <a:r>
              <a:rPr lang="en-US" sz="2400" dirty="0"/>
              <a:t>(</a:t>
            </a:r>
            <a:r>
              <a:rPr lang="en-US" sz="2400" dirty="0" err="1"/>
              <a:t>ByteOrder.nativeOrder</a:t>
            </a:r>
            <a:r>
              <a:rPr lang="en-US" sz="2400" dirty="0"/>
              <a:t>()))</a:t>
            </a:r>
            <a:endParaRPr 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2075461" y="228600"/>
            <a:ext cx="8222123" cy="584775"/>
          </a:xfrm>
          <a:prstGeom prst="rect">
            <a:avLst/>
          </a:prstGeom>
        </p:spPr>
        <p:txBody>
          <a:bodyPr wrap="none">
            <a:spAutoFit/>
          </a:bodyPr>
          <a:lstStyle/>
          <a:p>
            <a:r>
              <a:rPr lang="en-US" sz="3200" b="1" dirty="0">
                <a:solidFill>
                  <a:srgbClr val="FF0000"/>
                </a:solidFill>
              </a:rPr>
              <a:t>Advanced Example (Search in Large File)</a:t>
            </a:r>
            <a:endParaRPr lang="en-US" sz="3200" b="1" dirty="0">
              <a:solidFill>
                <a:srgbClr val="FF0000"/>
              </a:solidFill>
            </a:endParaRPr>
          </a:p>
        </p:txBody>
      </p:sp>
      <p:sp>
        <p:nvSpPr>
          <p:cNvPr id="4" name="Rectangle 3"/>
          <p:cNvSpPr/>
          <p:nvPr/>
        </p:nvSpPr>
        <p:spPr>
          <a:xfrm>
            <a:off x="353483" y="1066800"/>
            <a:ext cx="11485034" cy="9017000"/>
          </a:xfrm>
          <a:prstGeom prst="rect">
            <a:avLst/>
          </a:prstGeom>
        </p:spPr>
        <p:txBody>
          <a:bodyPr wrap="square">
            <a:spAutoFit/>
          </a:bodyPr>
          <a:lstStyle/>
          <a:p>
            <a:r>
              <a:rPr lang="en-US" sz="2000" b="1" dirty="0"/>
              <a:t>public </a:t>
            </a:r>
            <a:r>
              <a:rPr lang="en-US" sz="2000" b="1" dirty="0" err="1"/>
              <a:t>boolean</a:t>
            </a:r>
            <a:r>
              <a:rPr lang="en-US" sz="2000" b="1" dirty="0"/>
              <a:t> </a:t>
            </a:r>
            <a:r>
              <a:rPr lang="en-US" sz="2000" b="1" dirty="0" err="1"/>
              <a:t>searchInLargeFile</a:t>
            </a:r>
            <a:r>
              <a:rPr lang="en-US" sz="2000" b="1" dirty="0"/>
              <a:t>(Path file, byte[] pattern) throws </a:t>
            </a:r>
            <a:r>
              <a:rPr lang="en-US" sz="2000" b="1" dirty="0" err="1"/>
              <a:t>IOException</a:t>
            </a:r>
            <a:r>
              <a:rPr lang="en-US" sz="2000" b="1" dirty="0"/>
              <a:t> {</a:t>
            </a:r>
            <a:endParaRPr lang="en-US" sz="2000" b="1" dirty="0"/>
          </a:p>
          <a:p>
            <a:r>
              <a:rPr lang="en-US" sz="2000" b="1" dirty="0"/>
              <a:t>    try (</a:t>
            </a:r>
            <a:r>
              <a:rPr lang="en-US" sz="2000" b="1" dirty="0" err="1"/>
              <a:t>FileChannel</a:t>
            </a:r>
            <a:r>
              <a:rPr lang="en-US" sz="2000" b="1" dirty="0"/>
              <a:t> channel = </a:t>
            </a:r>
            <a:r>
              <a:rPr lang="en-US" sz="2000" b="1" dirty="0" err="1"/>
              <a:t>FileChannel.open</a:t>
            </a:r>
            <a:r>
              <a:rPr lang="en-US" sz="2000" b="1" dirty="0"/>
              <a:t>(file, </a:t>
            </a:r>
            <a:r>
              <a:rPr lang="en-US" sz="2000" b="1" dirty="0" err="1"/>
              <a:t>StandardOpenOption.READ</a:t>
            </a:r>
            <a:r>
              <a:rPr lang="en-US" sz="2000" b="1" dirty="0"/>
              <a:t>)) {</a:t>
            </a:r>
            <a:endParaRPr lang="en-US" sz="2000" b="1" dirty="0"/>
          </a:p>
          <a:p>
            <a:r>
              <a:rPr lang="en-US" sz="2000" b="1" dirty="0"/>
              <a:t>        long </a:t>
            </a:r>
            <a:r>
              <a:rPr lang="en-US" sz="2000" b="1" dirty="0" err="1"/>
              <a:t>fileSize</a:t>
            </a:r>
            <a:r>
              <a:rPr lang="en-US" sz="2000" b="1" dirty="0"/>
              <a:t> = </a:t>
            </a:r>
            <a:r>
              <a:rPr lang="en-US" sz="2000" b="1" dirty="0" err="1"/>
              <a:t>channel.size</a:t>
            </a:r>
            <a:r>
              <a:rPr lang="en-US" sz="2000" b="1" dirty="0"/>
              <a:t>();</a:t>
            </a:r>
            <a:endParaRPr lang="en-US" sz="2000" b="1" dirty="0"/>
          </a:p>
          <a:p>
            <a:r>
              <a:rPr lang="en-US" sz="2000" b="1" dirty="0"/>
              <a:t>        long position = 0;</a:t>
            </a:r>
            <a:endParaRPr lang="en-US" sz="2000" b="1" dirty="0"/>
          </a:p>
          <a:p>
            <a:r>
              <a:rPr lang="en-US" sz="2000" b="1" dirty="0"/>
              <a:t>        </a:t>
            </a:r>
            <a:endParaRPr lang="en-US" sz="2000" b="1" dirty="0"/>
          </a:p>
          <a:p>
            <a:r>
              <a:rPr lang="en-US" sz="2000" b="1" dirty="0"/>
              <a:t>        while (position &lt; </a:t>
            </a:r>
            <a:r>
              <a:rPr lang="en-US" sz="2000" b="1" dirty="0" err="1"/>
              <a:t>fileSize</a:t>
            </a:r>
            <a:r>
              <a:rPr lang="en-US" sz="2000" b="1" dirty="0"/>
              <a:t>) {</a:t>
            </a:r>
            <a:endParaRPr lang="en-US" sz="2000" b="1" dirty="0"/>
          </a:p>
          <a:p>
            <a:r>
              <a:rPr lang="en-US" sz="2000" b="1" dirty="0"/>
              <a:t>            long remaining = </a:t>
            </a:r>
            <a:r>
              <a:rPr lang="en-US" sz="2000" b="1" dirty="0" err="1"/>
              <a:t>fileSize</a:t>
            </a:r>
            <a:r>
              <a:rPr lang="en-US" sz="2000" b="1" dirty="0"/>
              <a:t> - position;</a:t>
            </a:r>
            <a:endParaRPr lang="en-US" sz="2000" b="1" dirty="0"/>
          </a:p>
          <a:p>
            <a:r>
              <a:rPr lang="en-US" sz="2000" b="1" dirty="0"/>
              <a:t>            long </a:t>
            </a:r>
            <a:r>
              <a:rPr lang="en-US" sz="2000" b="1" dirty="0" err="1"/>
              <a:t>chunkSize</a:t>
            </a:r>
            <a:r>
              <a:rPr lang="en-US" sz="2000" b="1" dirty="0"/>
              <a:t> = </a:t>
            </a:r>
            <a:r>
              <a:rPr lang="en-US" sz="2000" b="1" dirty="0" err="1"/>
              <a:t>Math.min</a:t>
            </a:r>
            <a:r>
              <a:rPr lang="en-US" sz="2000" b="1" dirty="0"/>
              <a:t>(256 * 1024 * 1024, remaining); // 256MB chunks</a:t>
            </a:r>
            <a:endParaRPr lang="en-US" sz="2000" b="1" dirty="0"/>
          </a:p>
          <a:p>
            <a:r>
              <a:rPr lang="en-US" sz="2000" b="1" dirty="0"/>
              <a:t>            </a:t>
            </a:r>
            <a:endParaRPr lang="en-US" sz="2000" b="1" dirty="0"/>
          </a:p>
          <a:p>
            <a:r>
              <a:rPr lang="en-US" sz="2000" b="1" dirty="0"/>
              <a:t>            </a:t>
            </a:r>
            <a:r>
              <a:rPr lang="en-US" sz="2000" b="1" dirty="0" err="1"/>
              <a:t>MappedByteBuffer</a:t>
            </a:r>
            <a:r>
              <a:rPr lang="en-US" sz="2000" b="1" dirty="0"/>
              <a:t> buffer = </a:t>
            </a:r>
            <a:r>
              <a:rPr lang="en-US" sz="2000" b="1" dirty="0" err="1"/>
              <a:t>channel.map</a:t>
            </a:r>
            <a:r>
              <a:rPr lang="en-US" sz="2000" b="1" dirty="0"/>
              <a:t>(</a:t>
            </a:r>
            <a:endParaRPr lang="en-US" sz="2000" b="1" dirty="0"/>
          </a:p>
          <a:p>
            <a:r>
              <a:rPr lang="en-US" sz="2000" b="1" dirty="0"/>
              <a:t>                </a:t>
            </a:r>
            <a:r>
              <a:rPr lang="en-US" sz="2000" b="1" dirty="0" err="1"/>
              <a:t>FileChannel.MapMode.READ_ONLY</a:t>
            </a:r>
            <a:r>
              <a:rPr lang="en-US" sz="2000" b="1" dirty="0"/>
              <a:t>,</a:t>
            </a:r>
            <a:endParaRPr lang="en-US" sz="2000" b="1" dirty="0"/>
          </a:p>
          <a:p>
            <a:r>
              <a:rPr lang="en-US" sz="2000" b="1" dirty="0"/>
              <a:t>                position,</a:t>
            </a:r>
            <a:endParaRPr lang="en-US" sz="2000" b="1" dirty="0"/>
          </a:p>
          <a:p>
            <a:r>
              <a:rPr lang="en-US" sz="2000" b="1" dirty="0"/>
              <a:t>                </a:t>
            </a:r>
            <a:r>
              <a:rPr lang="en-US" sz="2000" b="1" dirty="0" err="1"/>
              <a:t>chunkSize</a:t>
            </a:r>
            <a:endParaRPr lang="en-US" sz="2000" b="1" dirty="0"/>
          </a:p>
          <a:p>
            <a:r>
              <a:rPr lang="en-US" sz="2000" b="1" dirty="0"/>
              <a:t>            );</a:t>
            </a:r>
            <a:endParaRPr lang="en-US" sz="2000" b="1" dirty="0"/>
          </a:p>
          <a:p>
            <a:r>
              <a:rPr lang="en-US" sz="2000" b="1" dirty="0"/>
              <a:t>            </a:t>
            </a:r>
            <a:endParaRPr lang="en-US" sz="2000" b="1" dirty="0"/>
          </a:p>
          <a:p>
            <a:r>
              <a:rPr lang="en-US" sz="2000" b="1" dirty="0"/>
              <a:t>            if (</a:t>
            </a:r>
            <a:r>
              <a:rPr lang="en-US" sz="2000" b="1" dirty="0" err="1"/>
              <a:t>findPattern</a:t>
            </a:r>
            <a:r>
              <a:rPr lang="en-US" sz="2000" b="1" dirty="0"/>
              <a:t>(buffer, pattern)) {</a:t>
            </a:r>
            <a:endParaRPr lang="en-US" sz="2000" b="1" dirty="0"/>
          </a:p>
          <a:p>
            <a:r>
              <a:rPr lang="en-US" sz="2000" b="1" dirty="0"/>
              <a:t>                return true;</a:t>
            </a:r>
            <a:endParaRPr lang="en-US" sz="2000" b="1" dirty="0"/>
          </a:p>
          <a:p>
            <a:r>
              <a:rPr lang="en-US" sz="2000" b="1" dirty="0"/>
              <a:t>            }</a:t>
            </a:r>
            <a:endParaRPr lang="en-US" sz="2000" b="1" dirty="0"/>
          </a:p>
          <a:p>
            <a:r>
              <a:rPr lang="en-US" sz="2000" b="1" dirty="0"/>
              <a:t>            </a:t>
            </a:r>
            <a:endParaRPr lang="en-US" sz="2000" b="1" dirty="0"/>
          </a:p>
          <a:p>
            <a:r>
              <a:rPr lang="en-US" sz="2000" b="1" dirty="0"/>
              <a:t>            position += </a:t>
            </a:r>
            <a:r>
              <a:rPr lang="en-US" sz="2000" b="1" dirty="0" err="1"/>
              <a:t>chunkSize</a:t>
            </a:r>
            <a:r>
              <a:rPr lang="en-US" sz="2000" b="1" dirty="0"/>
              <a:t> - (</a:t>
            </a:r>
            <a:r>
              <a:rPr lang="en-US" sz="2000" b="1" dirty="0" err="1"/>
              <a:t>pattern.length</a:t>
            </a:r>
            <a:r>
              <a:rPr lang="en-US" sz="2000" b="1" dirty="0"/>
              <a:t> - 1);</a:t>
            </a:r>
            <a:endParaRPr lang="en-US" sz="2000" b="1" dirty="0"/>
          </a:p>
          <a:p>
            <a:r>
              <a:rPr lang="en-US" sz="2000" b="1" dirty="0"/>
              <a:t>        }</a:t>
            </a:r>
            <a:endParaRPr lang="en-US" sz="2000" b="1" dirty="0"/>
          </a:p>
          <a:p>
            <a:r>
              <a:rPr lang="en-US" sz="2000" b="1" dirty="0"/>
              <a:t>    }</a:t>
            </a:r>
            <a:endParaRPr lang="en-US" sz="2000" b="1" dirty="0"/>
          </a:p>
          <a:p>
            <a:r>
              <a:rPr lang="en-US" sz="2000" b="1" dirty="0"/>
              <a:t>    return false;</a:t>
            </a:r>
            <a:endParaRPr lang="en-US" sz="2000" b="1" dirty="0"/>
          </a:p>
          <a:p>
            <a:r>
              <a:rPr lang="en-US" sz="2000" b="1" dirty="0"/>
              <a:t>}</a:t>
            </a:r>
            <a:endParaRPr lang="en-US" sz="2000" b="1" dirty="0"/>
          </a:p>
          <a:p>
            <a:endParaRPr lang="en-US" sz="2000" b="1" dirty="0"/>
          </a:p>
          <a:p>
            <a:r>
              <a:rPr lang="en-US" sz="2000" b="1" dirty="0"/>
              <a:t>private </a:t>
            </a:r>
            <a:r>
              <a:rPr lang="en-US" sz="2000" b="1" dirty="0" err="1"/>
              <a:t>boolean</a:t>
            </a:r>
            <a:r>
              <a:rPr lang="en-US" sz="2000" b="1" dirty="0"/>
              <a:t> </a:t>
            </a:r>
            <a:r>
              <a:rPr lang="en-US" sz="2000" b="1" dirty="0" err="1"/>
              <a:t>findPattern</a:t>
            </a:r>
            <a:r>
              <a:rPr lang="en-US" sz="2000" b="1" dirty="0"/>
              <a:t>(</a:t>
            </a:r>
            <a:r>
              <a:rPr lang="en-US" sz="2000" b="1" dirty="0" err="1"/>
              <a:t>MappedByteBuffer</a:t>
            </a:r>
            <a:r>
              <a:rPr lang="en-US" sz="2000" b="1" dirty="0"/>
              <a:t> buffer, byte[] pattern) {</a:t>
            </a:r>
            <a:endParaRPr lang="en-US" sz="2000" b="1" dirty="0"/>
          </a:p>
          <a:p>
            <a:r>
              <a:rPr lang="en-US" sz="2000" b="1" dirty="0"/>
              <a:t>    // Boyer-Moore or other efficient search algorithm</a:t>
            </a:r>
            <a:endParaRPr lang="en-US" sz="2000" b="1" dirty="0"/>
          </a:p>
          <a:p>
            <a:r>
              <a:rPr lang="en-US" sz="2000" b="1" dirty="0"/>
              <a:t>    // ...</a:t>
            </a:r>
            <a:endParaRPr lang="en-US" sz="2000" b="1" dirty="0"/>
          </a:p>
          <a:p>
            <a:r>
              <a:rPr lang="en-US" sz="2000" b="1" dirty="0"/>
              <a:t>}</a:t>
            </a:r>
            <a:endParaRPr lang="en-US" sz="2000" b="1"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101600" y="86478"/>
            <a:ext cx="11480800" cy="523220"/>
          </a:xfrm>
          <a:prstGeom prst="rect">
            <a:avLst/>
          </a:prstGeom>
        </p:spPr>
        <p:txBody>
          <a:bodyPr wrap="square">
            <a:spAutoFit/>
          </a:bodyPr>
          <a:lstStyle/>
          <a:p>
            <a:r>
              <a:rPr lang="en-US" sz="2800" b="1" dirty="0">
                <a:solidFill>
                  <a:srgbClr val="FF0000"/>
                </a:solidFill>
              </a:rPr>
              <a:t>Generics : </a:t>
            </a:r>
            <a:r>
              <a:rPr lang="en-US" dirty="0"/>
              <a:t>are one of Java's most powerful features, enabling type-safe code while maintaining flexibility. </a:t>
            </a:r>
            <a:endParaRPr lang="en-US" dirty="0"/>
          </a:p>
        </p:txBody>
      </p:sp>
      <p:sp>
        <p:nvSpPr>
          <p:cNvPr id="4" name="Rectangle 3"/>
          <p:cNvSpPr/>
          <p:nvPr/>
        </p:nvSpPr>
        <p:spPr>
          <a:xfrm>
            <a:off x="381000" y="659745"/>
            <a:ext cx="4191000" cy="4801314"/>
          </a:xfrm>
          <a:prstGeom prst="rect">
            <a:avLst/>
          </a:prstGeom>
        </p:spPr>
        <p:txBody>
          <a:bodyPr wrap="square">
            <a:spAutoFit/>
          </a:bodyPr>
          <a:lstStyle/>
          <a:p>
            <a:r>
              <a:rPr lang="en-US" b="1" u="sng" dirty="0">
                <a:solidFill>
                  <a:srgbClr val="FF0000"/>
                </a:solidFill>
              </a:rPr>
              <a:t>1. Core Concepts</a:t>
            </a:r>
            <a:endParaRPr lang="en-US" b="1" u="sng" dirty="0">
              <a:solidFill>
                <a:srgbClr val="FF0000"/>
              </a:solidFill>
            </a:endParaRPr>
          </a:p>
          <a:p>
            <a:r>
              <a:rPr lang="en-US" dirty="0"/>
              <a:t>Type Parameters</a:t>
            </a:r>
            <a:endParaRPr lang="en-US" dirty="0"/>
          </a:p>
          <a:p>
            <a:r>
              <a:rPr lang="en-US" dirty="0"/>
              <a:t>Defined using angle brackets &lt;T&gt;</a:t>
            </a:r>
            <a:endParaRPr lang="en-US" dirty="0"/>
          </a:p>
          <a:p>
            <a:endParaRPr lang="en-US" dirty="0"/>
          </a:p>
          <a:p>
            <a:r>
              <a:rPr lang="en-US" dirty="0"/>
              <a:t>Act as placeholders for actual types</a:t>
            </a:r>
            <a:endParaRPr lang="en-US" dirty="0"/>
          </a:p>
          <a:p>
            <a:endParaRPr lang="en-US" dirty="0"/>
          </a:p>
          <a:p>
            <a:r>
              <a:rPr lang="en-US" dirty="0"/>
              <a:t>Common type parameter names:</a:t>
            </a:r>
            <a:endParaRPr lang="en-US" dirty="0"/>
          </a:p>
          <a:p>
            <a:endParaRPr lang="en-US" dirty="0"/>
          </a:p>
          <a:p>
            <a:r>
              <a:rPr lang="en-US" dirty="0"/>
              <a:t>T - Type</a:t>
            </a:r>
            <a:endParaRPr lang="en-US" dirty="0"/>
          </a:p>
          <a:p>
            <a:endParaRPr lang="en-US" dirty="0"/>
          </a:p>
          <a:p>
            <a:r>
              <a:rPr lang="en-US" dirty="0"/>
              <a:t>E - Element (collections)</a:t>
            </a:r>
            <a:endParaRPr lang="en-US" dirty="0"/>
          </a:p>
          <a:p>
            <a:endParaRPr lang="en-US" dirty="0"/>
          </a:p>
          <a:p>
            <a:r>
              <a:rPr lang="en-US" dirty="0"/>
              <a:t>K - Key</a:t>
            </a:r>
            <a:endParaRPr lang="en-US" dirty="0"/>
          </a:p>
          <a:p>
            <a:endParaRPr lang="en-US" dirty="0"/>
          </a:p>
          <a:p>
            <a:r>
              <a:rPr lang="en-US" dirty="0"/>
              <a:t>V - Value</a:t>
            </a:r>
            <a:endParaRPr lang="en-US" dirty="0"/>
          </a:p>
          <a:p>
            <a:endParaRPr lang="en-US" dirty="0"/>
          </a:p>
          <a:p>
            <a:r>
              <a:rPr lang="en-US" dirty="0"/>
              <a:t>N - Number</a:t>
            </a:r>
            <a:endParaRPr lang="en-US" dirty="0"/>
          </a:p>
        </p:txBody>
      </p:sp>
      <p:sp>
        <p:nvSpPr>
          <p:cNvPr id="5" name="Rectangle 4"/>
          <p:cNvSpPr/>
          <p:nvPr/>
        </p:nvSpPr>
        <p:spPr>
          <a:xfrm>
            <a:off x="152400" y="5486459"/>
            <a:ext cx="4648200" cy="1235016"/>
          </a:xfrm>
          <a:prstGeom prst="rect">
            <a:avLst/>
          </a:prstGeom>
        </p:spPr>
        <p:txBody>
          <a:bodyPr wrap="square">
            <a:spAutoFit/>
          </a:bodyPr>
          <a:lstStyle/>
          <a:p>
            <a:r>
              <a:rPr lang="en-US" dirty="0"/>
              <a:t>List&lt;String&gt; names = new </a:t>
            </a:r>
            <a:r>
              <a:rPr lang="en-US" dirty="0" err="1"/>
              <a:t>ArrayList</a:t>
            </a:r>
            <a:r>
              <a:rPr lang="en-US" dirty="0"/>
              <a:t>&lt;&gt;();</a:t>
            </a:r>
            <a:endParaRPr lang="en-US" dirty="0"/>
          </a:p>
          <a:p>
            <a:r>
              <a:rPr lang="en-US" dirty="0" err="1"/>
              <a:t>names.add</a:t>
            </a:r>
            <a:r>
              <a:rPr lang="en-US" dirty="0"/>
              <a:t>("Alice");  // OK</a:t>
            </a:r>
            <a:endParaRPr lang="en-US" dirty="0"/>
          </a:p>
          <a:p>
            <a:r>
              <a:rPr lang="en-US" dirty="0" err="1"/>
              <a:t>names.add</a:t>
            </a:r>
            <a:r>
              <a:rPr lang="en-US" dirty="0"/>
              <a:t>(123);      </a:t>
            </a:r>
            <a:endParaRPr lang="en-US" dirty="0"/>
          </a:p>
          <a:p>
            <a:r>
              <a:rPr lang="en-US" dirty="0"/>
              <a:t>// Compile-time error (not String)</a:t>
            </a:r>
            <a:endParaRPr lang="en-US" dirty="0"/>
          </a:p>
        </p:txBody>
      </p:sp>
      <p:sp>
        <p:nvSpPr>
          <p:cNvPr id="6" name="Rectangle 5"/>
          <p:cNvSpPr/>
          <p:nvPr/>
        </p:nvSpPr>
        <p:spPr>
          <a:xfrm>
            <a:off x="5359400" y="843677"/>
            <a:ext cx="6477000" cy="2585323"/>
          </a:xfrm>
          <a:prstGeom prst="rect">
            <a:avLst/>
          </a:prstGeom>
        </p:spPr>
        <p:txBody>
          <a:bodyPr wrap="square">
            <a:spAutoFit/>
          </a:bodyPr>
          <a:lstStyle/>
          <a:p>
            <a:r>
              <a:rPr lang="en-US" dirty="0"/>
              <a:t>// Works with any type</a:t>
            </a:r>
            <a:endParaRPr lang="en-US" dirty="0"/>
          </a:p>
          <a:p>
            <a:r>
              <a:rPr lang="en-US" dirty="0"/>
              <a:t>public class Box&lt;T&gt; {</a:t>
            </a:r>
            <a:endParaRPr lang="en-US" dirty="0"/>
          </a:p>
          <a:p>
            <a:r>
              <a:rPr lang="en-US" dirty="0"/>
              <a:t>    private T content;</a:t>
            </a:r>
            <a:endParaRPr lang="en-US" dirty="0"/>
          </a:p>
          <a:p>
            <a:r>
              <a:rPr lang="en-US" dirty="0"/>
              <a:t>    public void set(T content) { </a:t>
            </a:r>
            <a:r>
              <a:rPr lang="en-US" dirty="0" err="1"/>
              <a:t>this.content</a:t>
            </a:r>
            <a:r>
              <a:rPr lang="en-US" dirty="0"/>
              <a:t> = content; }</a:t>
            </a:r>
            <a:endParaRPr lang="en-US" dirty="0"/>
          </a:p>
          <a:p>
            <a:r>
              <a:rPr lang="en-US" dirty="0"/>
              <a:t>    public T get() { return content; }</a:t>
            </a:r>
            <a:endParaRPr lang="en-US" dirty="0"/>
          </a:p>
          <a:p>
            <a:r>
              <a:rPr lang="en-US" dirty="0"/>
              <a:t>}</a:t>
            </a:r>
            <a:endParaRPr lang="en-US" dirty="0"/>
          </a:p>
          <a:p>
            <a:endParaRPr lang="en-US" dirty="0"/>
          </a:p>
          <a:p>
            <a:r>
              <a:rPr lang="en-US" dirty="0"/>
              <a:t>Box&lt;String&gt; </a:t>
            </a:r>
            <a:r>
              <a:rPr lang="en-US" dirty="0" err="1"/>
              <a:t>stringBox</a:t>
            </a:r>
            <a:r>
              <a:rPr lang="en-US" dirty="0"/>
              <a:t> = new Box&lt;&gt;();</a:t>
            </a:r>
            <a:endParaRPr lang="en-US" dirty="0"/>
          </a:p>
          <a:p>
            <a:r>
              <a:rPr lang="en-US" dirty="0"/>
              <a:t>Box&lt;Integer&gt; </a:t>
            </a:r>
            <a:r>
              <a:rPr lang="en-US" dirty="0" err="1"/>
              <a:t>intBox</a:t>
            </a:r>
            <a:r>
              <a:rPr lang="en-US" dirty="0"/>
              <a:t> = new Box&lt;&gt;();</a:t>
            </a:r>
            <a:endParaRPr lang="en-US" dirty="0"/>
          </a:p>
        </p:txBody>
      </p:sp>
      <p:sp>
        <p:nvSpPr>
          <p:cNvPr id="7" name="Rectangle 6"/>
          <p:cNvSpPr/>
          <p:nvPr/>
        </p:nvSpPr>
        <p:spPr>
          <a:xfrm>
            <a:off x="5380567" y="3923427"/>
            <a:ext cx="6096000" cy="2585323"/>
          </a:xfrm>
          <a:prstGeom prst="rect">
            <a:avLst/>
          </a:prstGeom>
        </p:spPr>
        <p:txBody>
          <a:bodyPr>
            <a:spAutoFit/>
          </a:bodyPr>
          <a:lstStyle/>
          <a:p>
            <a:r>
              <a:rPr lang="en-US" dirty="0"/>
              <a:t>// Without generics (old way)</a:t>
            </a:r>
            <a:endParaRPr lang="en-US" dirty="0"/>
          </a:p>
          <a:p>
            <a:r>
              <a:rPr lang="en-US" dirty="0"/>
              <a:t>List </a:t>
            </a:r>
            <a:r>
              <a:rPr lang="en-US" dirty="0" err="1"/>
              <a:t>rawList</a:t>
            </a:r>
            <a:r>
              <a:rPr lang="en-US" dirty="0"/>
              <a:t> = new </a:t>
            </a:r>
            <a:r>
              <a:rPr lang="en-US" dirty="0" err="1"/>
              <a:t>ArrayList</a:t>
            </a:r>
            <a:r>
              <a:rPr lang="en-US" dirty="0"/>
              <a:t>();</a:t>
            </a:r>
            <a:endParaRPr lang="en-US" dirty="0"/>
          </a:p>
          <a:p>
            <a:r>
              <a:rPr lang="en-US" dirty="0" err="1"/>
              <a:t>rawList.add</a:t>
            </a:r>
            <a:r>
              <a:rPr lang="en-US" dirty="0"/>
              <a:t>("Hello");</a:t>
            </a:r>
            <a:endParaRPr lang="en-US" dirty="0"/>
          </a:p>
          <a:p>
            <a:r>
              <a:rPr lang="en-US" dirty="0"/>
              <a:t>String s = (String) </a:t>
            </a:r>
            <a:r>
              <a:rPr lang="en-US" dirty="0" err="1"/>
              <a:t>rawList.get</a:t>
            </a:r>
            <a:r>
              <a:rPr lang="en-US" dirty="0"/>
              <a:t>(0);  // Casting required</a:t>
            </a:r>
            <a:endParaRPr lang="en-US" dirty="0"/>
          </a:p>
          <a:p>
            <a:endParaRPr lang="en-US" dirty="0"/>
          </a:p>
          <a:p>
            <a:r>
              <a:rPr lang="en-US" dirty="0"/>
              <a:t>// With generics</a:t>
            </a:r>
            <a:endParaRPr lang="en-US" dirty="0"/>
          </a:p>
          <a:p>
            <a:r>
              <a:rPr lang="en-US" dirty="0"/>
              <a:t>List&lt;String&gt; </a:t>
            </a:r>
            <a:r>
              <a:rPr lang="en-US" dirty="0" err="1"/>
              <a:t>genericList</a:t>
            </a:r>
            <a:r>
              <a:rPr lang="en-US" dirty="0"/>
              <a:t> = new </a:t>
            </a:r>
            <a:r>
              <a:rPr lang="en-US" dirty="0" err="1"/>
              <a:t>ArrayList</a:t>
            </a:r>
            <a:r>
              <a:rPr lang="en-US" dirty="0"/>
              <a:t>&lt;&gt;();</a:t>
            </a:r>
            <a:endParaRPr lang="en-US" dirty="0"/>
          </a:p>
          <a:p>
            <a:r>
              <a:rPr lang="en-US" dirty="0" err="1"/>
              <a:t>genericList.add</a:t>
            </a:r>
            <a:r>
              <a:rPr lang="en-US" dirty="0"/>
              <a:t>("Hello");</a:t>
            </a:r>
            <a:endParaRPr lang="en-US" dirty="0"/>
          </a:p>
          <a:p>
            <a:r>
              <a:rPr lang="en-US" dirty="0"/>
              <a:t>String s = </a:t>
            </a:r>
            <a:r>
              <a:rPr lang="en-US" dirty="0" err="1"/>
              <a:t>genericList.get</a:t>
            </a:r>
            <a:r>
              <a:rPr lang="en-US" dirty="0"/>
              <a:t>(0);  // No casting</a:t>
            </a:r>
            <a:endParaRPr lang="en-US" dirty="0"/>
          </a:p>
        </p:txBody>
      </p:sp>
      <p:sp>
        <p:nvSpPr>
          <p:cNvPr id="8" name="Rectangle 7"/>
          <p:cNvSpPr/>
          <p:nvPr/>
        </p:nvSpPr>
        <p:spPr bwMode="auto">
          <a:xfrm>
            <a:off x="152400" y="5461059"/>
            <a:ext cx="4572000" cy="1235016"/>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Rectangle 8"/>
          <p:cNvSpPr/>
          <p:nvPr/>
        </p:nvSpPr>
        <p:spPr bwMode="auto">
          <a:xfrm>
            <a:off x="76200" y="736722"/>
            <a:ext cx="4648200" cy="4597278"/>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 name="Rectangle 9"/>
          <p:cNvSpPr/>
          <p:nvPr/>
        </p:nvSpPr>
        <p:spPr bwMode="auto">
          <a:xfrm>
            <a:off x="5257799" y="3830168"/>
            <a:ext cx="6400799" cy="2799232"/>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1" name="Rectangle 10"/>
          <p:cNvSpPr/>
          <p:nvPr/>
        </p:nvSpPr>
        <p:spPr bwMode="auto">
          <a:xfrm>
            <a:off x="76201" y="76587"/>
            <a:ext cx="11506200" cy="564733"/>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2" name="Rectangle 11"/>
          <p:cNvSpPr/>
          <p:nvPr/>
        </p:nvSpPr>
        <p:spPr bwMode="auto">
          <a:xfrm>
            <a:off x="5257799" y="734579"/>
            <a:ext cx="6324601" cy="2953775"/>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4" name="Rectangle 3"/>
          <p:cNvSpPr/>
          <p:nvPr/>
        </p:nvSpPr>
        <p:spPr>
          <a:xfrm>
            <a:off x="5875867" y="1745493"/>
            <a:ext cx="5922434" cy="4855240"/>
          </a:xfrm>
          <a:prstGeom prst="rect">
            <a:avLst/>
          </a:prstGeom>
        </p:spPr>
        <p:txBody>
          <a:bodyPr wrap="square">
            <a:spAutoFit/>
          </a:bodyPr>
          <a:lstStyle/>
          <a:p>
            <a:pPr marL="0" marR="0">
              <a:lnSpc>
                <a:spcPct val="107000"/>
              </a:lnSpc>
              <a:spcBef>
                <a:spcPts val="0"/>
              </a:spcBef>
              <a:spcAft>
                <a:spcPts val="800"/>
              </a:spcAft>
            </a:pPr>
            <a:r>
              <a:rPr lang="en-US" b="1" dirty="0">
                <a:latin typeface="Calibri" panose="020F0502020204030204" pitchFamily="34" charset="0"/>
                <a:ea typeface="宋体" panose="02010600030101010101" pitchFamily="2" charset="-122"/>
                <a:cs typeface="Times New Roman" panose="02020603050405020304" pitchFamily="18" charset="0"/>
              </a:rPr>
              <a:t>Drawbacks of Multithreading</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b="1" dirty="0">
                <a:latin typeface="Calibri" panose="020F0502020204030204" pitchFamily="34" charset="0"/>
                <a:ea typeface="宋体" panose="02010600030101010101" pitchFamily="2" charset="-122"/>
                <a:cs typeface="Times New Roman" panose="02020603050405020304" pitchFamily="18" charset="0"/>
              </a:rPr>
              <a:t>Thread Management Overhead</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i="1" dirty="0">
                <a:latin typeface="Calibri" panose="020F0502020204030204" pitchFamily="34" charset="0"/>
                <a:ea typeface="宋体" panose="02010600030101010101" pitchFamily="2" charset="-122"/>
                <a:cs typeface="Times New Roman" panose="02020603050405020304" pitchFamily="18" charset="0"/>
              </a:rPr>
              <a:t>Creation</a:t>
            </a:r>
            <a:r>
              <a:rPr lang="en-US" dirty="0">
                <a:latin typeface="Calibri" panose="020F0502020204030204" pitchFamily="34" charset="0"/>
                <a:ea typeface="宋体" panose="02010600030101010101" pitchFamily="2" charset="-122"/>
                <a:cs typeface="Times New Roman" panose="02020603050405020304" pitchFamily="18" charset="0"/>
              </a:rPr>
              <a:t>: Kernel resources required for each thread (</a:t>
            </a:r>
            <a:r>
              <a:rPr lang="en-US" dirty="0" err="1">
                <a:latin typeface="Calibri" panose="020F0502020204030204" pitchFamily="34" charset="0"/>
                <a:ea typeface="宋体" panose="02010600030101010101" pitchFamily="2" charset="-122"/>
                <a:cs typeface="Times New Roman" panose="02020603050405020304" pitchFamily="18" charset="0"/>
              </a:rPr>
              <a:t>i,e</a:t>
            </a:r>
            <a:r>
              <a:rPr lang="en-US" dirty="0">
                <a:latin typeface="Calibri" panose="020F0502020204030204" pitchFamily="34" charset="0"/>
                <a:ea typeface="宋体" panose="02010600030101010101" pitchFamily="2" charset="-122"/>
                <a:cs typeface="Times New Roman" panose="02020603050405020304" pitchFamily="18" charset="0"/>
              </a:rPr>
              <a:t> stack memory, TCB).</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i="1" dirty="0">
                <a:latin typeface="Calibri" panose="020F0502020204030204" pitchFamily="34" charset="0"/>
                <a:ea typeface="宋体" panose="02010600030101010101" pitchFamily="2" charset="-122"/>
                <a:cs typeface="Times New Roman" panose="02020603050405020304" pitchFamily="18" charset="0"/>
              </a:rPr>
              <a:t>Context switching</a:t>
            </a:r>
            <a:r>
              <a:rPr lang="en-US" dirty="0">
                <a:latin typeface="Calibri" panose="020F0502020204030204" pitchFamily="34" charset="0"/>
                <a:ea typeface="宋体" panose="02010600030101010101" pitchFamily="2" charset="-122"/>
                <a:cs typeface="Times New Roman" panose="02020603050405020304" pitchFamily="18" charset="0"/>
              </a:rPr>
              <a:t>: ~1–10µs per switch (scales poorly with excessive threads).</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i="1" dirty="0">
                <a:latin typeface="Calibri" panose="020F0502020204030204" pitchFamily="34" charset="0"/>
                <a:ea typeface="宋体" panose="02010600030101010101" pitchFamily="2" charset="-122"/>
                <a:cs typeface="Times New Roman" panose="02020603050405020304" pitchFamily="18" charset="0"/>
              </a:rPr>
              <a:t>Cleanup</a:t>
            </a:r>
            <a:r>
              <a:rPr lang="en-US" dirty="0">
                <a:latin typeface="Calibri" panose="020F0502020204030204" pitchFamily="34" charset="0"/>
                <a:ea typeface="宋体" panose="02010600030101010101" pitchFamily="2" charset="-122"/>
                <a:cs typeface="Times New Roman" panose="02020603050405020304" pitchFamily="18" charset="0"/>
              </a:rPr>
              <a:t>: Garbage collection costs for terminated threads.</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b="1" dirty="0">
                <a:latin typeface="Calibri" panose="020F0502020204030204" pitchFamily="34" charset="0"/>
                <a:ea typeface="宋体" panose="02010600030101010101" pitchFamily="2" charset="-122"/>
                <a:cs typeface="Times New Roman" panose="02020603050405020304" pitchFamily="18" charset="0"/>
              </a:rPr>
              <a:t>Resource Contention</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dirty="0">
                <a:latin typeface="Calibri" panose="020F0502020204030204" pitchFamily="34" charset="0"/>
                <a:ea typeface="宋体" panose="02010600030101010101" pitchFamily="2" charset="-122"/>
                <a:cs typeface="Times New Roman" panose="02020603050405020304" pitchFamily="18" charset="0"/>
              </a:rPr>
              <a:t>Threads competing for:</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dirty="0">
                <a:latin typeface="Calibri" panose="020F0502020204030204" pitchFamily="34" charset="0"/>
                <a:ea typeface="宋体" panose="02010600030101010101" pitchFamily="2" charset="-122"/>
                <a:cs typeface="Times New Roman" panose="02020603050405020304" pitchFamily="18" charset="0"/>
              </a:rPr>
              <a:t>CPU cycles (thrashing if #threads </a:t>
            </a:r>
            <a:r>
              <a:rPr lang="en-US" dirty="0">
                <a:latin typeface="Cambria Math" panose="02040503050406030204" pitchFamily="18" charset="0"/>
                <a:ea typeface="宋体" panose="02010600030101010101" pitchFamily="2" charset="-122"/>
                <a:cs typeface="Cambria Math" panose="02040503050406030204" pitchFamily="18" charset="0"/>
              </a:rPr>
              <a:t>≫</a:t>
            </a:r>
            <a:r>
              <a:rPr lang="en-US" dirty="0">
                <a:latin typeface="Calibri" panose="020F0502020204030204" pitchFamily="34" charset="0"/>
                <a:ea typeface="宋体" panose="02010600030101010101" pitchFamily="2" charset="-122"/>
                <a:cs typeface="Times New Roman" panose="02020603050405020304" pitchFamily="18" charset="0"/>
              </a:rPr>
              <a:t> #cores)</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dirty="0">
                <a:latin typeface="Calibri" panose="020F0502020204030204" pitchFamily="34" charset="0"/>
                <a:ea typeface="宋体" panose="02010600030101010101" pitchFamily="2" charset="-122"/>
                <a:cs typeface="Times New Roman" panose="02020603050405020304" pitchFamily="18" charset="0"/>
              </a:rPr>
              <a:t>Shared memory (requiring synchronization locks)</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dirty="0">
                <a:latin typeface="Calibri" panose="020F0502020204030204" pitchFamily="34" charset="0"/>
                <a:ea typeface="宋体" panose="02010600030101010101" pitchFamily="2" charset="-122"/>
                <a:cs typeface="Times New Roman" panose="02020603050405020304" pitchFamily="18" charset="0"/>
              </a:rPr>
              <a:t>I/O bandwidth (disk/network saturation).</a:t>
            </a:r>
            <a:endParaRPr lang="en-US" dirty="0">
              <a:latin typeface="Calibri" panose="020F0502020204030204" pitchFamily="34" charset="0"/>
              <a:ea typeface="宋体" panose="02010600030101010101" pitchFamily="2" charset="-122"/>
              <a:cs typeface="Times New Roman" panose="02020603050405020304" pitchFamily="18" charset="0"/>
            </a:endParaRPr>
          </a:p>
        </p:txBody>
      </p:sp>
      <p:sp>
        <p:nvSpPr>
          <p:cNvPr id="5" name="Rectangle 4"/>
          <p:cNvSpPr/>
          <p:nvPr/>
        </p:nvSpPr>
        <p:spPr>
          <a:xfrm>
            <a:off x="945094" y="0"/>
            <a:ext cx="9861546" cy="595932"/>
          </a:xfrm>
          <a:prstGeom prst="rect">
            <a:avLst/>
          </a:prstGeom>
        </p:spPr>
        <p:txBody>
          <a:bodyPr wrap="none">
            <a:spAutoFit/>
          </a:bodyPr>
          <a:lstStyle/>
          <a:p>
            <a:pPr marL="0" marR="0">
              <a:lnSpc>
                <a:spcPct val="107000"/>
              </a:lnSpc>
              <a:spcBef>
                <a:spcPts val="0"/>
              </a:spcBef>
              <a:spcAft>
                <a:spcPts val="800"/>
              </a:spcAft>
            </a:pPr>
            <a:r>
              <a:rPr lang="en-US" sz="3200" b="1" dirty="0">
                <a:solidFill>
                  <a:srgbClr val="FF0000"/>
                </a:solidFill>
                <a:latin typeface="Calibri" panose="020F0502020204030204" pitchFamily="34" charset="0"/>
                <a:ea typeface="宋体" panose="02010600030101010101" pitchFamily="2" charset="-122"/>
                <a:cs typeface="Times New Roman" panose="02020603050405020304" pitchFamily="18" charset="0"/>
              </a:rPr>
              <a:t>Effective Use of Multithreading in Network Programming</a:t>
            </a:r>
            <a:endParaRPr lang="en-US" sz="3200" dirty="0">
              <a:solidFill>
                <a:srgbClr val="FF0000"/>
              </a:solidFill>
              <a:latin typeface="Calibri" panose="020F0502020204030204" pitchFamily="34" charset="0"/>
              <a:ea typeface="宋体" panose="02010600030101010101" pitchFamily="2" charset="-122"/>
              <a:cs typeface="Times New Roman" panose="02020603050405020304" pitchFamily="18" charset="0"/>
            </a:endParaRPr>
          </a:p>
        </p:txBody>
      </p:sp>
      <p:sp>
        <p:nvSpPr>
          <p:cNvPr id="6" name="Rectangle 5"/>
          <p:cNvSpPr/>
          <p:nvPr/>
        </p:nvSpPr>
        <p:spPr>
          <a:xfrm>
            <a:off x="228600" y="1648607"/>
            <a:ext cx="5465234" cy="5049011"/>
          </a:xfrm>
          <a:prstGeom prst="rect">
            <a:avLst/>
          </a:prstGeom>
        </p:spPr>
        <p:txBody>
          <a:bodyPr wrap="square">
            <a:spAutoFit/>
          </a:bodyPr>
          <a:lstStyle/>
          <a:p>
            <a:pPr marL="0" marR="0">
              <a:lnSpc>
                <a:spcPct val="107000"/>
              </a:lnSpc>
              <a:spcBef>
                <a:spcPts val="0"/>
              </a:spcBef>
              <a:spcAft>
                <a:spcPts val="800"/>
              </a:spcAft>
            </a:pPr>
            <a:r>
              <a:rPr lang="en-US" b="1" dirty="0">
                <a:latin typeface="Calibri" panose="020F0502020204030204" pitchFamily="34" charset="0"/>
                <a:ea typeface="宋体" panose="02010600030101010101" pitchFamily="2" charset="-122"/>
                <a:cs typeface="Times New Roman" panose="02020603050405020304" pitchFamily="18" charset="0"/>
              </a:rPr>
              <a:t>Benefits of Multithreading</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b="1" dirty="0">
                <a:latin typeface="Calibri" panose="020F0502020204030204" pitchFamily="34" charset="0"/>
                <a:ea typeface="宋体" panose="02010600030101010101" pitchFamily="2" charset="-122"/>
                <a:cs typeface="Times New Roman" panose="02020603050405020304" pitchFamily="18" charset="0"/>
              </a:rPr>
              <a:t>Enhanced Concurrency</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dirty="0">
                <a:latin typeface="Calibri" panose="020F0502020204030204" pitchFamily="34" charset="0"/>
                <a:ea typeface="宋体" panose="02010600030101010101" pitchFamily="2" charset="-122"/>
                <a:cs typeface="Times New Roman" panose="02020603050405020304" pitchFamily="18" charset="0"/>
              </a:rPr>
              <a:t>Ideal for network programs constrained by:</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i="1" dirty="0">
                <a:latin typeface="Calibri" panose="020F0502020204030204" pitchFamily="34" charset="0"/>
                <a:ea typeface="宋体" panose="02010600030101010101" pitchFamily="2" charset="-122"/>
                <a:cs typeface="Times New Roman" panose="02020603050405020304" pitchFamily="18" charset="0"/>
              </a:rPr>
              <a:t>I/O bottlenecks</a:t>
            </a:r>
            <a:r>
              <a:rPr lang="en-US" dirty="0">
                <a:latin typeface="Calibri" panose="020F0502020204030204" pitchFamily="34" charset="0"/>
                <a:ea typeface="宋体" panose="02010600030101010101" pitchFamily="2" charset="-122"/>
                <a:cs typeface="Times New Roman" panose="02020603050405020304" pitchFamily="18" charset="0"/>
              </a:rPr>
              <a:t> (e.g., high-latency requests, file/DB operations)</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i="1" dirty="0">
                <a:latin typeface="Calibri" panose="020F0502020204030204" pitchFamily="34" charset="0"/>
                <a:ea typeface="宋体" panose="02010600030101010101" pitchFamily="2" charset="-122"/>
                <a:cs typeface="Times New Roman" panose="02020603050405020304" pitchFamily="18" charset="0"/>
              </a:rPr>
              <a:t>CPU-bound tasks</a:t>
            </a:r>
            <a:r>
              <a:rPr lang="en-US" dirty="0">
                <a:latin typeface="Calibri" panose="020F0502020204030204" pitchFamily="34" charset="0"/>
                <a:ea typeface="宋体" panose="02010600030101010101" pitchFamily="2" charset="-122"/>
                <a:cs typeface="Times New Roman" panose="02020603050405020304" pitchFamily="18" charset="0"/>
              </a:rPr>
              <a:t> (e.g., encryption, data compression)</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dirty="0">
                <a:latin typeface="Calibri" panose="020F0502020204030204" pitchFamily="34" charset="0"/>
                <a:ea typeface="宋体" panose="02010600030101010101" pitchFamily="2" charset="-122"/>
                <a:cs typeface="Times New Roman" panose="02020603050405020304" pitchFamily="18" charset="0"/>
              </a:rPr>
              <a:t>Enables parallel task execution, improving throughput and resource utilization.</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b="1" dirty="0">
                <a:latin typeface="Calibri" panose="020F0502020204030204" pitchFamily="34" charset="0"/>
                <a:ea typeface="宋体" panose="02010600030101010101" pitchFamily="2" charset="-122"/>
                <a:cs typeface="Times New Roman" panose="02020603050405020304" pitchFamily="18" charset="0"/>
              </a:rPr>
              <a:t>Performance Optimization</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dirty="0">
                <a:latin typeface="Calibri" panose="020F0502020204030204" pitchFamily="34" charset="0"/>
                <a:ea typeface="宋体" panose="02010600030101010101" pitchFamily="2" charset="-122"/>
                <a:cs typeface="Times New Roman" panose="02020603050405020304" pitchFamily="18" charset="0"/>
              </a:rPr>
              <a:t>Overlaps I/O wait times with computation (e.g., serving multiple clients simultaneously).</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dirty="0">
                <a:latin typeface="Calibri" panose="020F0502020204030204" pitchFamily="34" charset="0"/>
                <a:ea typeface="宋体" panose="02010600030101010101" pitchFamily="2" charset="-122"/>
                <a:cs typeface="Times New Roman" panose="02020603050405020304" pitchFamily="18" charset="0"/>
              </a:rPr>
              <a:t>Maximizes CPU core usage for computationally intensive workloads.</a:t>
            </a:r>
            <a:endParaRPr lang="en-US" dirty="0">
              <a:latin typeface="Calibri" panose="020F0502020204030204" pitchFamily="34" charset="0"/>
              <a:ea typeface="宋体" panose="02010600030101010101" pitchFamily="2" charset="-122"/>
              <a:cs typeface="Times New Roman" panose="02020603050405020304" pitchFamily="18" charset="0"/>
            </a:endParaRPr>
          </a:p>
        </p:txBody>
      </p:sp>
      <p:sp>
        <p:nvSpPr>
          <p:cNvPr id="7" name="Rectangle 6"/>
          <p:cNvSpPr/>
          <p:nvPr/>
        </p:nvSpPr>
        <p:spPr>
          <a:xfrm>
            <a:off x="173566" y="568379"/>
            <a:ext cx="11844867" cy="923330"/>
          </a:xfrm>
          <a:prstGeom prst="rect">
            <a:avLst/>
          </a:prstGeom>
        </p:spPr>
        <p:txBody>
          <a:bodyPr wrap="square">
            <a:spAutoFit/>
          </a:bodyPr>
          <a:lstStyle/>
          <a:p>
            <a:r>
              <a:rPr lang="en-US" b="1" dirty="0"/>
              <a:t>Multithreading can significantly improve the performance of network programs, especially those that are I/O-bound or CPU-bound. However, it's essential to use multithreading judiciously to avoid performance degradation.</a:t>
            </a:r>
            <a:endParaRPr lang="en-US" b="1"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381000" y="152400"/>
            <a:ext cx="11408834" cy="5937844"/>
          </a:xfrm>
          <a:prstGeom prst="rect">
            <a:avLst/>
          </a:prstGeom>
        </p:spPr>
        <p:txBody>
          <a:bodyPr wrap="square">
            <a:spAutoFit/>
          </a:bodyPr>
          <a:lstStyle/>
          <a:p>
            <a:pPr marL="0" marR="0">
              <a:lnSpc>
                <a:spcPct val="107000"/>
              </a:lnSpc>
              <a:spcBef>
                <a:spcPts val="0"/>
              </a:spcBef>
              <a:spcAft>
                <a:spcPts val="800"/>
              </a:spcAft>
            </a:pPr>
            <a:r>
              <a:rPr lang="en-US" sz="3600" b="1" u="sng" dirty="0">
                <a:solidFill>
                  <a:srgbClr val="FF0000"/>
                </a:solidFill>
                <a:latin typeface="Calibri" panose="020F0502020204030204" pitchFamily="34" charset="0"/>
                <a:ea typeface="宋体" panose="02010600030101010101" pitchFamily="2" charset="-122"/>
                <a:cs typeface="Times New Roman" panose="02020603050405020304" pitchFamily="18" charset="0"/>
              </a:rPr>
              <a:t>Optimal Multithreading Approach</a:t>
            </a:r>
            <a:endParaRPr lang="en-US" sz="3600" b="1" u="sng" dirty="0">
              <a:solidFill>
                <a:srgbClr val="FF0000"/>
              </a:solidFill>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dirty="0">
                <a:latin typeface="Calibri" panose="020F0502020204030204" pitchFamily="34" charset="0"/>
                <a:ea typeface="宋体" panose="02010600030101010101" pitchFamily="2" charset="-122"/>
                <a:cs typeface="Times New Roman" panose="02020603050405020304" pitchFamily="18" charset="0"/>
              </a:rPr>
              <a:t>To get the most out of multithreading, it's crucial to find the optimal balance:</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dirty="0">
                <a:latin typeface="Calibri" panose="020F0502020204030204" pitchFamily="34" charset="0"/>
                <a:ea typeface="宋体" panose="02010600030101010101" pitchFamily="2" charset="-122"/>
                <a:cs typeface="Times New Roman" panose="02020603050405020304" pitchFamily="18" charset="0"/>
              </a:rPr>
              <a:t> - Moderate Number of Threads: Create enough threads to utilize available idle time on the computer, but avoid creating too many threads that can lead to performance degradation.</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285750" marR="0" indent="-285750">
              <a:lnSpc>
                <a:spcPct val="107000"/>
              </a:lnSpc>
              <a:spcBef>
                <a:spcPts val="0"/>
              </a:spcBef>
              <a:spcAft>
                <a:spcPts val="800"/>
              </a:spcAft>
              <a:buFontTx/>
              <a:buChar char="-"/>
            </a:pPr>
            <a:r>
              <a:rPr lang="en-US" sz="2400" dirty="0">
                <a:latin typeface="Calibri" panose="020F0502020204030204" pitchFamily="34" charset="0"/>
                <a:ea typeface="宋体" panose="02010600030101010101" pitchFamily="2" charset="-122"/>
                <a:cs typeface="Times New Roman" panose="02020603050405020304" pitchFamily="18" charset="0"/>
              </a:rPr>
              <a:t>Efficient Thread Management: Implement efficient thread management strategies to minimize performance overhead and resource waste.</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R="0">
              <a:lnSpc>
                <a:spcPct val="107000"/>
              </a:lnSpc>
              <a:spcBef>
                <a:spcPts val="0"/>
              </a:spcBef>
              <a:spcAft>
                <a:spcPts val="800"/>
              </a:spcAft>
            </a:pPr>
            <a:r>
              <a:rPr lang="en-US" sz="2400" dirty="0">
                <a:latin typeface="Calibri" panose="020F0502020204030204" pitchFamily="34" charset="0"/>
                <a:ea typeface="宋体" panose="02010600030101010101" pitchFamily="2" charset="-122"/>
                <a:cs typeface="Times New Roman" panose="02020603050405020304" pitchFamily="18" charset="0"/>
              </a:rPr>
              <a:t>Key Principles:</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nSpc>
                <a:spcPct val="107000"/>
              </a:lnSpc>
              <a:spcBef>
                <a:spcPts val="0"/>
              </a:spcBef>
              <a:spcAft>
                <a:spcPts val="800"/>
              </a:spcAft>
              <a:buFont typeface="Wingdings" panose="05000000000000000000" pitchFamily="2" charset="2"/>
              <a:buChar char="q"/>
            </a:pPr>
            <a:r>
              <a:rPr lang="en-US" sz="2400" dirty="0">
                <a:latin typeface="Calibri" panose="020F0502020204030204" pitchFamily="34" charset="0"/>
                <a:ea typeface="宋体" panose="02010600030101010101" pitchFamily="2" charset="-122"/>
                <a:cs typeface="Times New Roman" panose="02020603050405020304" pitchFamily="18" charset="0"/>
              </a:rPr>
              <a:t>Thread Pools &gt; Ad-hoc threads (reuse reduces creation overhead).</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nSpc>
                <a:spcPct val="107000"/>
              </a:lnSpc>
              <a:spcBef>
                <a:spcPts val="0"/>
              </a:spcBef>
              <a:spcAft>
                <a:spcPts val="800"/>
              </a:spcAft>
              <a:buFont typeface="Wingdings" panose="05000000000000000000" pitchFamily="2" charset="2"/>
              <a:buChar char="q"/>
            </a:pPr>
            <a:r>
              <a:rPr lang="en-US" sz="2400" dirty="0">
                <a:latin typeface="Calibri" panose="020F0502020204030204" pitchFamily="34" charset="0"/>
                <a:ea typeface="宋体" panose="02010600030101010101" pitchFamily="2" charset="-122"/>
                <a:cs typeface="Times New Roman" panose="02020603050405020304" pitchFamily="18" charset="0"/>
              </a:rPr>
              <a:t>Async I/O (e.g., Java NIO) complements threading for high-concurrency I/O.</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R="0">
              <a:lnSpc>
                <a:spcPct val="107000"/>
              </a:lnSpc>
              <a:spcBef>
                <a:spcPts val="0"/>
              </a:spcBef>
              <a:spcAft>
                <a:spcPts val="800"/>
              </a:spcAft>
            </a:pPr>
            <a:r>
              <a:rPr lang="en-US" sz="2400" dirty="0">
                <a:latin typeface="Calibri" panose="020F0502020204030204" pitchFamily="34" charset="0"/>
                <a:ea typeface="宋体" panose="02010600030101010101" pitchFamily="2" charset="-122"/>
                <a:cs typeface="Times New Roman" panose="02020603050405020304" pitchFamily="18" charset="0"/>
              </a:rPr>
              <a:t>Monitor Utilization:</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nSpc>
                <a:spcPct val="107000"/>
              </a:lnSpc>
              <a:spcBef>
                <a:spcPts val="0"/>
              </a:spcBef>
              <a:spcAft>
                <a:spcPts val="800"/>
              </a:spcAft>
              <a:buFont typeface="Wingdings" panose="05000000000000000000" pitchFamily="2" charset="2"/>
              <a:buChar char="q"/>
            </a:pPr>
            <a:r>
              <a:rPr lang="en-US" sz="2400" dirty="0">
                <a:latin typeface="Calibri" panose="020F0502020204030204" pitchFamily="34" charset="0"/>
                <a:ea typeface="宋体" panose="02010600030101010101" pitchFamily="2" charset="-122"/>
                <a:cs typeface="Times New Roman" panose="02020603050405020304" pitchFamily="18" charset="0"/>
              </a:rPr>
              <a:t>CPU usage &gt;70% → Likely need more threads (I/O-bound).</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lnSpc>
                <a:spcPct val="107000"/>
              </a:lnSpc>
              <a:spcBef>
                <a:spcPts val="0"/>
              </a:spcBef>
              <a:spcAft>
                <a:spcPts val="800"/>
              </a:spcAft>
              <a:buFont typeface="Wingdings" panose="05000000000000000000" pitchFamily="2" charset="2"/>
              <a:buChar char="q"/>
            </a:pPr>
            <a:r>
              <a:rPr lang="en-US" sz="2400" dirty="0">
                <a:latin typeface="Calibri" panose="020F0502020204030204" pitchFamily="34" charset="0"/>
                <a:ea typeface="宋体" panose="02010600030101010101" pitchFamily="2" charset="-122"/>
                <a:cs typeface="Times New Roman" panose="02020603050405020304" pitchFamily="18" charset="0"/>
              </a:rPr>
              <a:t>CPU usage ≈100% → Reduce threads (CPU-bound).</a:t>
            </a:r>
            <a:endParaRPr lang="en-US" sz="2400" dirty="0">
              <a:effectLst/>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dirty="0"/>
          </a:p>
        </p:txBody>
      </p:sp>
      <p:sp>
        <p:nvSpPr>
          <p:cNvPr id="3" name="Rectangle 2"/>
          <p:cNvSpPr/>
          <p:nvPr/>
        </p:nvSpPr>
        <p:spPr>
          <a:xfrm>
            <a:off x="533400" y="136525"/>
            <a:ext cx="11027834" cy="523220"/>
          </a:xfrm>
          <a:prstGeom prst="rect">
            <a:avLst/>
          </a:prstGeom>
        </p:spPr>
        <p:txBody>
          <a:bodyPr wrap="square">
            <a:spAutoFit/>
          </a:bodyPr>
          <a:lstStyle/>
          <a:p>
            <a:r>
              <a:rPr lang="en-US" sz="2800" b="1" dirty="0">
                <a:solidFill>
                  <a:srgbClr val="FF0000"/>
                </a:solidFill>
              </a:rPr>
              <a:t>Traditional Multithreading Method: Limitations and Drawbacks</a:t>
            </a:r>
            <a:endParaRPr lang="en-US" sz="2800" b="1" dirty="0">
              <a:solidFill>
                <a:srgbClr val="FF0000"/>
              </a:solidFill>
            </a:endParaRPr>
          </a:p>
        </p:txBody>
      </p:sp>
      <p:sp>
        <p:nvSpPr>
          <p:cNvPr id="4" name="Rectangle 3"/>
          <p:cNvSpPr/>
          <p:nvPr/>
        </p:nvSpPr>
        <p:spPr>
          <a:xfrm>
            <a:off x="228600" y="762000"/>
            <a:ext cx="11734799" cy="5693866"/>
          </a:xfrm>
          <a:prstGeom prst="rect">
            <a:avLst/>
          </a:prstGeom>
        </p:spPr>
        <p:txBody>
          <a:bodyPr wrap="square">
            <a:spAutoFit/>
          </a:bodyPr>
          <a:lstStyle/>
          <a:p>
            <a:r>
              <a:rPr lang="en-US" sz="2000" b="1" dirty="0">
                <a:solidFill>
                  <a:srgbClr val="FF0000"/>
                </a:solidFill>
              </a:rPr>
              <a:t>The traditional multithreading method using new Thread(...).start() has several limitations and drawbacks:</a:t>
            </a:r>
            <a:endParaRPr lang="en-US" sz="2000" b="1" dirty="0">
              <a:solidFill>
                <a:srgbClr val="FF0000"/>
              </a:solidFill>
            </a:endParaRPr>
          </a:p>
          <a:p>
            <a:endParaRPr lang="en-US" sz="2000" dirty="0"/>
          </a:p>
          <a:p>
            <a:r>
              <a:rPr lang="en-US" sz="2000" dirty="0"/>
              <a:t>1. High Overhead: Creating and destroying threads incurs significant overhead, wasting machine resources (MIPS and memory) on thread management.</a:t>
            </a:r>
            <a:endParaRPr lang="en-US" sz="2000" dirty="0"/>
          </a:p>
          <a:p>
            <a:r>
              <a:rPr lang="en-US" sz="2000" dirty="0"/>
              <a:t>2. Lack of Thread Management: No thread pool or limit on the number of threads, leading to potential thread competition, excessive system resource consumption, and system instability.</a:t>
            </a:r>
            <a:endParaRPr lang="en-US" sz="2000" dirty="0"/>
          </a:p>
          <a:p>
            <a:endParaRPr lang="en-US" sz="2000" dirty="0"/>
          </a:p>
          <a:p>
            <a:r>
              <a:rPr lang="en-US" sz="2400" b="1" u="sng" dirty="0">
                <a:solidFill>
                  <a:srgbClr val="FF0000"/>
                </a:solidFill>
              </a:rPr>
              <a:t>Executor Framework: A Solution to Traditional Multithreading Limitations</a:t>
            </a:r>
            <a:endParaRPr lang="en-US" sz="2400" b="1" u="sng" dirty="0">
              <a:solidFill>
                <a:srgbClr val="FF0000"/>
              </a:solidFill>
            </a:endParaRPr>
          </a:p>
          <a:p>
            <a:r>
              <a:rPr lang="en-US" dirty="0"/>
              <a:t>Java 5 and above provides the Executor framework, which encapsulates and hides the details of multi-threaded asynchronous control, making callbacks easier to handle. The Executor framework includes:</a:t>
            </a:r>
            <a:endParaRPr lang="en-US" dirty="0"/>
          </a:p>
          <a:p>
            <a:r>
              <a:rPr lang="en-US" dirty="0"/>
              <a:t> </a:t>
            </a:r>
            <a:endParaRPr lang="en-US" dirty="0"/>
          </a:p>
          <a:p>
            <a:r>
              <a:rPr lang="en-US" dirty="0"/>
              <a:t>- Thread Pool: A mechanism to limit the number of threads running concurrently, improving system performance and resource utilization.</a:t>
            </a:r>
            <a:endParaRPr lang="en-US" dirty="0"/>
          </a:p>
          <a:p>
            <a:r>
              <a:rPr lang="en-US" dirty="0"/>
              <a:t>- Executor: An interface for executing tasks asynchronously.</a:t>
            </a:r>
            <a:endParaRPr lang="en-US" dirty="0"/>
          </a:p>
          <a:p>
            <a:r>
              <a:rPr lang="en-US" dirty="0"/>
              <a:t>- Executors: A utility class for creating and managing thread pools.</a:t>
            </a:r>
            <a:endParaRPr lang="en-US" dirty="0"/>
          </a:p>
          <a:p>
            <a:r>
              <a:rPr lang="en-US" dirty="0"/>
              <a:t>- </a:t>
            </a:r>
            <a:r>
              <a:rPr lang="en-US" dirty="0" err="1"/>
              <a:t>ExecutorService</a:t>
            </a:r>
            <a:r>
              <a:rPr lang="en-US" dirty="0"/>
              <a:t>: An interface for managing thread pools and executing tasks.</a:t>
            </a:r>
            <a:endParaRPr lang="en-US" dirty="0"/>
          </a:p>
          <a:p>
            <a:r>
              <a:rPr lang="en-US" dirty="0"/>
              <a:t>- Future: An interface for representing the result of an asynchronous computation.</a:t>
            </a:r>
            <a:endParaRPr lang="en-US" dirty="0"/>
          </a:p>
          <a:p>
            <a:r>
              <a:rPr lang="en-US" dirty="0"/>
              <a:t>- Callable: An interface for tasks that can be executed asynchronously.</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6BEC37CF-EADA-4AE2-91F4-65AEE4122EBE}" type="slidenum">
              <a:rPr lang="en-US" altLang="zh-CN" smtClean="0"/>
            </a:fld>
            <a:endParaRPr lang="en-US" altLang="zh-CN"/>
          </a:p>
        </p:txBody>
      </p:sp>
      <p:pic>
        <p:nvPicPr>
          <p:cNvPr id="3" name="Picture 2"/>
          <p:cNvPicPr>
            <a:picLocks noChangeAspect="1"/>
          </p:cNvPicPr>
          <p:nvPr/>
        </p:nvPicPr>
        <p:blipFill>
          <a:blip r:embed="rId1"/>
          <a:stretch>
            <a:fillRect/>
          </a:stretch>
        </p:blipFill>
        <p:spPr>
          <a:xfrm>
            <a:off x="533400" y="228600"/>
            <a:ext cx="11256434" cy="601662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4" name="Rectangle 3"/>
          <p:cNvSpPr/>
          <p:nvPr/>
        </p:nvSpPr>
        <p:spPr>
          <a:xfrm>
            <a:off x="381000" y="990600"/>
            <a:ext cx="11506200" cy="5583067"/>
          </a:xfrm>
          <a:prstGeom prst="rect">
            <a:avLst/>
          </a:prstGeom>
        </p:spPr>
        <p:txBody>
          <a:bodyPr wrap="square">
            <a:spAutoFit/>
          </a:bodyPr>
          <a:lstStyle/>
          <a:p>
            <a:pPr marL="0" marR="0">
              <a:lnSpc>
                <a:spcPct val="107000"/>
              </a:lnSpc>
              <a:spcBef>
                <a:spcPts val="0"/>
              </a:spcBef>
              <a:spcAft>
                <a:spcPts val="800"/>
              </a:spcAft>
            </a:pPr>
            <a:r>
              <a:rPr lang="en-US" sz="2000" b="1" u="sng" dirty="0">
                <a:latin typeface="Calibri" panose="020F0502020204030204" pitchFamily="34" charset="0"/>
                <a:ea typeface="宋体" panose="02010600030101010101" pitchFamily="2" charset="-122"/>
                <a:cs typeface="Times New Roman" panose="02020603050405020304" pitchFamily="18" charset="0"/>
              </a:rPr>
              <a:t>The Executor framework consists of several key components:</a:t>
            </a:r>
            <a:endParaRPr lang="en-US" sz="2000" b="1" u="sng"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000" dirty="0">
                <a:latin typeface="Calibri" panose="020F0502020204030204" pitchFamily="34" charset="0"/>
                <a:ea typeface="宋体" panose="02010600030101010101" pitchFamily="2" charset="-122"/>
                <a:cs typeface="Times New Roman" panose="02020603050405020304" pitchFamily="18" charset="0"/>
              </a:rPr>
              <a:t> 1. Callable Interface: Similar to Runnable, Callable is designed for classes that can be executed by another thread. It provides a call() method, which has a return value and can throw exceptions. When a Callable object is submitted to a thread pool, a Future object is returned with the same generic type.</a:t>
            </a:r>
            <a:endParaRPr lang="en-US" sz="20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000" dirty="0">
                <a:latin typeface="Calibri" panose="020F0502020204030204" pitchFamily="34" charset="0"/>
                <a:ea typeface="宋体" panose="02010600030101010101" pitchFamily="2" charset="-122"/>
                <a:cs typeface="Times New Roman" panose="02020603050405020304" pitchFamily="18" charset="0"/>
              </a:rPr>
              <a:t>2. Future Interface: Used to cancel, check the status, and retrieve the result of a specific Runnable or Callable task. The get() method blocks until the task returns a result.</a:t>
            </a:r>
            <a:endParaRPr lang="en-US" sz="20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000" dirty="0">
                <a:latin typeface="Calibri" panose="020F0502020204030204" pitchFamily="34" charset="0"/>
                <a:ea typeface="宋体" panose="02010600030101010101" pitchFamily="2" charset="-122"/>
                <a:cs typeface="Times New Roman" panose="02020603050405020304" pitchFamily="18" charset="0"/>
              </a:rPr>
              <a:t>3. Executor Interface: Separates task submission from task execution and defines a method called execute() that receives a Runnable object.</a:t>
            </a:r>
            <a:endParaRPr lang="en-US" sz="20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000" dirty="0">
                <a:latin typeface="Calibri" panose="020F0502020204030204" pitchFamily="34" charset="0"/>
                <a:ea typeface="宋体" panose="02010600030101010101" pitchFamily="2" charset="-122"/>
                <a:cs typeface="Times New Roman" panose="02020603050405020304" pitchFamily="18" charset="0"/>
              </a:rPr>
              <a:t>4. </a:t>
            </a:r>
            <a:r>
              <a:rPr lang="en-US" sz="2000" dirty="0" err="1">
                <a:latin typeface="Calibri" panose="020F0502020204030204" pitchFamily="34" charset="0"/>
                <a:ea typeface="宋体" panose="02010600030101010101" pitchFamily="2" charset="-122"/>
                <a:cs typeface="Times New Roman" panose="02020603050405020304" pitchFamily="18" charset="0"/>
              </a:rPr>
              <a:t>ExecutorService</a:t>
            </a:r>
            <a:r>
              <a:rPr lang="en-US" sz="2000" dirty="0">
                <a:latin typeface="Calibri" panose="020F0502020204030204" pitchFamily="34" charset="0"/>
                <a:ea typeface="宋体" panose="02010600030101010101" pitchFamily="2" charset="-122"/>
                <a:cs typeface="Times New Roman" panose="02020603050405020304" pitchFamily="18" charset="0"/>
              </a:rPr>
              <a:t> Interface: A subclass of Executor, which defines methods for operating Executor, such as terminating tasks, submitting tasks, and tracking task return results.</a:t>
            </a:r>
            <a:endParaRPr lang="en-US" sz="20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000" dirty="0">
                <a:latin typeface="Calibri" panose="020F0502020204030204" pitchFamily="34" charset="0"/>
                <a:ea typeface="宋体" panose="02010600030101010101" pitchFamily="2" charset="-122"/>
                <a:cs typeface="Times New Roman" panose="02020603050405020304" pitchFamily="18" charset="0"/>
              </a:rPr>
              <a:t>5. Executors Class: Provides factory methods for creating thread pools, which implement the </a:t>
            </a:r>
            <a:r>
              <a:rPr lang="en-US" sz="2000" dirty="0" err="1">
                <a:latin typeface="Calibri" panose="020F0502020204030204" pitchFamily="34" charset="0"/>
                <a:ea typeface="宋体" panose="02010600030101010101" pitchFamily="2" charset="-122"/>
                <a:cs typeface="Times New Roman" panose="02020603050405020304" pitchFamily="18" charset="0"/>
              </a:rPr>
              <a:t>ExecutorService</a:t>
            </a:r>
            <a:r>
              <a:rPr lang="en-US" sz="2000" dirty="0">
                <a:latin typeface="Calibri" panose="020F0502020204030204" pitchFamily="34" charset="0"/>
                <a:ea typeface="宋体" panose="02010600030101010101" pitchFamily="2" charset="-122"/>
                <a:cs typeface="Times New Roman" panose="02020603050405020304" pitchFamily="18" charset="0"/>
              </a:rPr>
              <a:t> interface.</a:t>
            </a:r>
            <a:endParaRPr lang="en-US" sz="2000" dirty="0">
              <a:latin typeface="Calibri" panose="020F0502020204030204" pitchFamily="34" charset="0"/>
              <a:ea typeface="宋体" panose="02010600030101010101" pitchFamily="2" charset="-122"/>
              <a:cs typeface="Times New Roman" panose="02020603050405020304" pitchFamily="18" charset="0"/>
            </a:endParaRPr>
          </a:p>
          <a:p>
            <a:r>
              <a:rPr lang="en-US" sz="2000" dirty="0"/>
              <a:t>6. </a:t>
            </a:r>
            <a:r>
              <a:rPr lang="en-US" sz="2000" dirty="0" err="1"/>
              <a:t>CompletionService</a:t>
            </a:r>
            <a:r>
              <a:rPr lang="en-US" sz="2000" dirty="0"/>
              <a:t>: </a:t>
            </a:r>
            <a:r>
              <a:rPr lang="en-US" sz="2000" dirty="0" err="1"/>
              <a:t>CompletionService</a:t>
            </a:r>
            <a:r>
              <a:rPr lang="en-US" sz="2000" dirty="0"/>
              <a:t> is a variation of </a:t>
            </a:r>
            <a:r>
              <a:rPr lang="en-US" sz="2000" dirty="0" err="1"/>
              <a:t>ExecutorService</a:t>
            </a:r>
            <a:r>
              <a:rPr lang="en-US" sz="2000" dirty="0"/>
              <a:t> that maintains a </a:t>
            </a:r>
            <a:r>
              <a:rPr lang="en-US" sz="2000" dirty="0" err="1"/>
              <a:t>BlockingQueue</a:t>
            </a:r>
            <a:r>
              <a:rPr lang="en-US" sz="2000" dirty="0"/>
              <a:t> of Future objects. Tasks are added to the queue only when their status is completed, allowing for efficient retrieval of completed tasks.</a:t>
            </a:r>
            <a:endParaRPr lang="en-US" sz="2000" dirty="0"/>
          </a:p>
        </p:txBody>
      </p:sp>
      <p:sp>
        <p:nvSpPr>
          <p:cNvPr id="5" name="Rectangle 4"/>
          <p:cNvSpPr/>
          <p:nvPr/>
        </p:nvSpPr>
        <p:spPr>
          <a:xfrm>
            <a:off x="2667016" y="196450"/>
            <a:ext cx="6857968" cy="584775"/>
          </a:xfrm>
          <a:prstGeom prst="rect">
            <a:avLst/>
          </a:prstGeom>
        </p:spPr>
        <p:txBody>
          <a:bodyPr wrap="none">
            <a:spAutoFit/>
          </a:bodyPr>
          <a:lstStyle/>
          <a:p>
            <a:r>
              <a:rPr lang="en-US" sz="3200" b="1" dirty="0">
                <a:solidFill>
                  <a:srgbClr val="FF0000"/>
                </a:solidFill>
              </a:rPr>
              <a:t>Executor Framework Components</a:t>
            </a:r>
            <a:endParaRPr lang="en-US" sz="3200" b="1" dirty="0">
              <a:solidFill>
                <a:srgbClr val="FF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609600" y="609600"/>
            <a:ext cx="11125200" cy="4631461"/>
          </a:xfrm>
          <a:prstGeom prst="rect">
            <a:avLst/>
          </a:prstGeom>
        </p:spPr>
        <p:txBody>
          <a:bodyPr wrap="square">
            <a:spAutoFit/>
          </a:bodyPr>
          <a:lstStyle/>
          <a:p>
            <a:pPr marL="0" marR="0">
              <a:lnSpc>
                <a:spcPct val="107000"/>
              </a:lnSpc>
              <a:spcBef>
                <a:spcPts val="0"/>
              </a:spcBef>
              <a:spcAft>
                <a:spcPts val="800"/>
              </a:spcAft>
            </a:pPr>
            <a:r>
              <a:rPr lang="en-US" sz="2800" b="1" dirty="0">
                <a:latin typeface="Calibri" panose="020F0502020204030204" pitchFamily="34" charset="0"/>
                <a:ea typeface="宋体" panose="02010600030101010101" pitchFamily="2" charset="-122"/>
                <a:cs typeface="Times New Roman" panose="02020603050405020304" pitchFamily="18" charset="0"/>
              </a:rPr>
              <a:t>Key Concepts</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800" b="1" dirty="0">
                <a:latin typeface="Calibri" panose="020F0502020204030204" pitchFamily="34" charset="0"/>
                <a:ea typeface="宋体" panose="02010600030101010101" pitchFamily="2" charset="-122"/>
                <a:cs typeface="Times New Roman" panose="02020603050405020304" pitchFamily="18" charset="0"/>
              </a:rPr>
              <a:t>- Thread Pool: A group of threads that can be reused to execute multiple tasks, reducing the overhead of thread creation and termination.</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800" b="1" dirty="0">
                <a:latin typeface="Calibri" panose="020F0502020204030204" pitchFamily="34" charset="0"/>
                <a:ea typeface="宋体" panose="02010600030101010101" pitchFamily="2" charset="-122"/>
                <a:cs typeface="Times New Roman" panose="02020603050405020304" pitchFamily="18" charset="0"/>
              </a:rPr>
              <a:t>- Task Submission: The process of submitting a task to a thread pool for execution.</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800" b="1" dirty="0">
                <a:latin typeface="Calibri" panose="020F0502020204030204" pitchFamily="34" charset="0"/>
                <a:ea typeface="宋体" panose="02010600030101010101" pitchFamily="2" charset="-122"/>
                <a:cs typeface="Times New Roman" panose="02020603050405020304" pitchFamily="18" charset="0"/>
              </a:rPr>
              <a:t>- Task Execution: The process of executing a task by a thread in the thread pool.</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800" b="1" dirty="0">
                <a:latin typeface="Calibri" panose="020F0502020204030204" pitchFamily="34" charset="0"/>
                <a:ea typeface="宋体" panose="02010600030101010101" pitchFamily="2" charset="-122"/>
                <a:cs typeface="Times New Roman" panose="02020603050405020304" pitchFamily="18" charset="0"/>
              </a:rPr>
              <a:t>- Future Object: A representation of a task's result, which can be used to retrieve the result or cancel the task.</a:t>
            </a:r>
            <a:endParaRPr lang="en-US" sz="2800" b="1" dirty="0">
              <a:effectLst/>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228600" y="609600"/>
            <a:ext cx="11658600" cy="6017609"/>
          </a:xfrm>
          <a:prstGeom prst="rect">
            <a:avLst/>
          </a:prstGeom>
        </p:spPr>
        <p:txBody>
          <a:bodyPr wrap="square">
            <a:spAutoFit/>
          </a:bodyPr>
          <a:lstStyle/>
          <a:p>
            <a:pPr marL="0" marR="0">
              <a:lnSpc>
                <a:spcPct val="107000"/>
              </a:lnSpc>
              <a:spcBef>
                <a:spcPts val="0"/>
              </a:spcBef>
              <a:spcAft>
                <a:spcPts val="800"/>
              </a:spcAft>
            </a:pPr>
            <a:r>
              <a:rPr lang="en-US" sz="2400" b="1" dirty="0">
                <a:latin typeface="Calibri" panose="020F0502020204030204" pitchFamily="34" charset="0"/>
                <a:ea typeface="宋体" panose="02010600030101010101" pitchFamily="2" charset="-122"/>
                <a:cs typeface="Times New Roman" panose="02020603050405020304" pitchFamily="18" charset="0"/>
              </a:rPr>
              <a:t>In multi-threaded programming, obtaining the results of asynchronous computing threads can be challenging. To address this issue, the Executor framework provides the Future interface, which allows for tracking the results of asynchronous computing. By using Future, a well-structured asynchronous computing program can be designed.</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b="1" dirty="0">
                <a:latin typeface="Calibri" panose="020F0502020204030204" pitchFamily="34" charset="0"/>
                <a:ea typeface="宋体" panose="02010600030101010101" pitchFamily="2" charset="-122"/>
                <a:cs typeface="Times New Roman" panose="02020603050405020304" pitchFamily="18" charset="0"/>
              </a:rPr>
              <a:t> </a:t>
            </a:r>
            <a:r>
              <a:rPr lang="en-US" sz="2400" b="1" dirty="0">
                <a:solidFill>
                  <a:srgbClr val="FF0000"/>
                </a:solidFill>
                <a:latin typeface="Calibri" panose="020F0502020204030204" pitchFamily="34" charset="0"/>
                <a:ea typeface="宋体" panose="02010600030101010101" pitchFamily="2" charset="-122"/>
                <a:cs typeface="Times New Roman" panose="02020603050405020304" pitchFamily="18" charset="0"/>
              </a:rPr>
              <a:t>Based on Divide and Conquer Approach, The asynchronous computing threads can be divided into three categories based on their responsibilities:</a:t>
            </a:r>
            <a:endParaRPr lang="en-US" sz="2400" b="1" dirty="0">
              <a:solidFill>
                <a:srgbClr val="FF0000"/>
              </a:solidFill>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b="1" dirty="0">
                <a:latin typeface="Calibri" panose="020F0502020204030204" pitchFamily="34" charset="0"/>
                <a:ea typeface="宋体" panose="02010600030101010101" pitchFamily="2" charset="-122"/>
                <a:cs typeface="Times New Roman" panose="02020603050405020304" pitchFamily="18" charset="0"/>
              </a:rPr>
              <a:t> 1. Initiating Thread (Control Thread): Responsible for decomposing and initiating asynchronous computing tasks, assigning tasks to worker threads, and obtaining a collection of Futures to track the results of asynchronous computing.</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b="1" dirty="0">
                <a:latin typeface="Calibri" panose="020F0502020204030204" pitchFamily="34" charset="0"/>
                <a:ea typeface="宋体" panose="02010600030101010101" pitchFamily="2" charset="-122"/>
                <a:cs typeface="Times New Roman" panose="02020603050405020304" pitchFamily="18" charset="0"/>
              </a:rPr>
              <a:t>2. Asynchronous Computing Work Thread: Responsible for executing specific computing tasks.</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b="1" dirty="0">
                <a:latin typeface="Calibri" panose="020F0502020204030204" pitchFamily="34" charset="0"/>
                <a:ea typeface="宋体" panose="02010600030101010101" pitchFamily="2" charset="-122"/>
                <a:cs typeface="Times New Roman" panose="02020603050405020304" pitchFamily="18" charset="0"/>
              </a:rPr>
              <a:t>3. Asynchronous Calculation Result Collection Thread: Obtains the Future collection from the initiating thread, monitors the status of Futures, and processes the results of asynchronous calculation based on the status.</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Rectangle 3"/>
          <p:cNvSpPr/>
          <p:nvPr/>
        </p:nvSpPr>
        <p:spPr>
          <a:xfrm>
            <a:off x="1143000" y="6818"/>
            <a:ext cx="8949438" cy="532903"/>
          </a:xfrm>
          <a:prstGeom prst="rect">
            <a:avLst/>
          </a:prstGeom>
        </p:spPr>
        <p:txBody>
          <a:bodyPr wrap="none">
            <a:spAutoFit/>
          </a:bodyPr>
          <a:lstStyle/>
          <a:p>
            <a:pPr marL="0" marR="0" algn="ctr">
              <a:lnSpc>
                <a:spcPct val="107000"/>
              </a:lnSpc>
              <a:spcBef>
                <a:spcPts val="0"/>
              </a:spcBef>
              <a:spcAft>
                <a:spcPts val="800"/>
              </a:spcAft>
            </a:pPr>
            <a:r>
              <a:rPr lang="en-US" sz="2800" b="1" u="sng" dirty="0">
                <a:solidFill>
                  <a:srgbClr val="FF0000"/>
                </a:solidFill>
                <a:latin typeface="Calibri" panose="020F0502020204030204" pitchFamily="34" charset="0"/>
                <a:ea typeface="宋体" panose="02010600030101010101" pitchFamily="2" charset="-122"/>
                <a:cs typeface="Times New Roman" panose="02020603050405020304" pitchFamily="18" charset="0"/>
              </a:rPr>
              <a:t>Asynchronous Computing Program Structure Design Model</a:t>
            </a:r>
            <a:endParaRPr lang="en-US" sz="2800" b="1" u="sng" dirty="0">
              <a:solidFill>
                <a:srgbClr val="FF0000"/>
              </a:solidFill>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4" name="Rectangle 3"/>
          <p:cNvSpPr/>
          <p:nvPr/>
        </p:nvSpPr>
        <p:spPr>
          <a:xfrm>
            <a:off x="152400" y="136525"/>
            <a:ext cx="11811000" cy="6325386"/>
          </a:xfrm>
          <a:prstGeom prst="rect">
            <a:avLst/>
          </a:prstGeom>
        </p:spPr>
        <p:txBody>
          <a:bodyPr wrap="square">
            <a:spAutoFit/>
          </a:bodyPr>
          <a:lstStyle/>
          <a:p>
            <a:pPr marL="0" marR="0">
              <a:lnSpc>
                <a:spcPct val="107000"/>
              </a:lnSpc>
              <a:spcBef>
                <a:spcPts val="0"/>
              </a:spcBef>
              <a:spcAft>
                <a:spcPts val="800"/>
              </a:spcAft>
            </a:pPr>
            <a:r>
              <a:rPr lang="en-US" sz="2400" b="1" u="sng" dirty="0">
                <a:solidFill>
                  <a:srgbClr val="FF0000"/>
                </a:solidFill>
                <a:latin typeface="Calibri" panose="020F0502020204030204" pitchFamily="34" charset="0"/>
                <a:ea typeface="宋体" panose="02010600030101010101" pitchFamily="2" charset="-122"/>
                <a:cs typeface="Times New Roman" panose="02020603050405020304" pitchFamily="18" charset="0"/>
              </a:rPr>
              <a:t> Benefits: This program structure design model provides several benefits:</a:t>
            </a:r>
            <a:endParaRPr lang="en-US" sz="2400" b="1" u="sng" dirty="0">
              <a:solidFill>
                <a:srgbClr val="FF0000"/>
              </a:solidFill>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b="1" dirty="0">
                <a:latin typeface="Calibri" panose="020F0502020204030204" pitchFamily="34" charset="0"/>
                <a:ea typeface="宋体" panose="02010600030101010101" pitchFamily="2" charset="-122"/>
                <a:cs typeface="Times New Roman" panose="02020603050405020304" pitchFamily="18" charset="0"/>
              </a:rPr>
              <a:t> - Simplified Asynchronous Computing: The use of Future and the division of responsibilities among threads simplify the process of asynchronous computing.</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b="1" dirty="0">
                <a:latin typeface="Calibri" panose="020F0502020204030204" pitchFamily="34" charset="0"/>
                <a:ea typeface="宋体" panose="02010600030101010101" pitchFamily="2" charset="-122"/>
                <a:cs typeface="Times New Roman" panose="02020603050405020304" pitchFamily="18" charset="0"/>
              </a:rPr>
              <a:t>- Improved Error Handling: The separate thread for collecting results allows for better error handling and processing of asynchronous calculation results.</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b="1" dirty="0">
                <a:latin typeface="Calibri" panose="020F0502020204030204" pitchFamily="34" charset="0"/>
                <a:ea typeface="宋体" panose="02010600030101010101" pitchFamily="2" charset="-122"/>
                <a:cs typeface="Times New Roman" panose="02020603050405020304" pitchFamily="18" charset="0"/>
              </a:rPr>
              <a:t>- Increased Scalability: The divide and conquer approach enables the program to scale more efficiently, as each thread can focus on its specific responsibility.</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a:lnSpc>
                <a:spcPct val="107000"/>
              </a:lnSpc>
              <a:spcBef>
                <a:spcPts val="0"/>
              </a:spcBef>
              <a:spcAft>
                <a:spcPts val="800"/>
              </a:spcAft>
            </a:pPr>
            <a:r>
              <a:rPr lang="en-US" sz="2400" b="1" dirty="0">
                <a:latin typeface="Calibri" panose="020F0502020204030204" pitchFamily="34" charset="0"/>
                <a:ea typeface="宋体" panose="02010600030101010101" pitchFamily="2" charset="-122"/>
                <a:cs typeface="Times New Roman" panose="02020603050405020304" pitchFamily="18" charset="0"/>
              </a:rPr>
              <a:t> </a:t>
            </a:r>
            <a:r>
              <a:rPr lang="en-US" sz="2400" b="1" u="sng" dirty="0">
                <a:solidFill>
                  <a:srgbClr val="FF0000"/>
                </a:solidFill>
                <a:latin typeface="Calibri" panose="020F0502020204030204" pitchFamily="34" charset="0"/>
                <a:ea typeface="宋体" panose="02010600030101010101" pitchFamily="2" charset="-122"/>
                <a:cs typeface="Times New Roman" panose="02020603050405020304" pitchFamily="18" charset="0"/>
              </a:rPr>
              <a:t>Best Practices: To implement this program structure design model effectively:</a:t>
            </a:r>
            <a:endParaRPr lang="en-US" sz="2400" b="1" u="sng" dirty="0">
              <a:solidFill>
                <a:srgbClr val="FF0000"/>
              </a:solidFill>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b="1" dirty="0">
                <a:latin typeface="Calibri" panose="020F0502020204030204" pitchFamily="34" charset="0"/>
                <a:ea typeface="宋体" panose="02010600030101010101" pitchFamily="2" charset="-122"/>
                <a:cs typeface="Times New Roman" panose="02020603050405020304" pitchFamily="18" charset="0"/>
              </a:rPr>
              <a:t> - Use Executor Framework: Leverage the Executor framework to manage threads and execute tasks asynchronously.</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b="1" dirty="0">
                <a:latin typeface="Calibri" panose="020F0502020204030204" pitchFamily="34" charset="0"/>
                <a:ea typeface="宋体" panose="02010600030101010101" pitchFamily="2" charset="-122"/>
                <a:cs typeface="Times New Roman" panose="02020603050405020304" pitchFamily="18" charset="0"/>
              </a:rPr>
              <a:t>- Design Clear Thread Responsibilities: Ensure that each thread has a clear and specific responsibility to avoid confusion and errors.</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b="1" dirty="0">
                <a:latin typeface="Calibri" panose="020F0502020204030204" pitchFamily="34" charset="0"/>
                <a:ea typeface="宋体" panose="02010600030101010101" pitchFamily="2" charset="-122"/>
                <a:cs typeface="Times New Roman" panose="02020603050405020304" pitchFamily="18" charset="0"/>
              </a:rPr>
              <a:t>- Monitor and Process Results: Implement a robust mechanism for monitoring and processing the results of asynchronous calculation to ensure accurate and timely results.</a:t>
            </a:r>
            <a:endParaRPr lang="en-US" sz="2400" b="1" dirty="0">
              <a:effectLst/>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457200" y="381000"/>
            <a:ext cx="11332634" cy="1200329"/>
          </a:xfrm>
          <a:prstGeom prst="rect">
            <a:avLst/>
          </a:prstGeom>
        </p:spPr>
        <p:txBody>
          <a:bodyPr wrap="square">
            <a:spAutoFit/>
          </a:bodyPr>
          <a:lstStyle/>
          <a:p>
            <a:r>
              <a:rPr lang="en-US" dirty="0"/>
              <a:t>Here's a well-structured design pattern for asynchronous computing using Java's </a:t>
            </a:r>
            <a:r>
              <a:rPr lang="en-US" dirty="0" err="1"/>
              <a:t>ExecutorService</a:t>
            </a:r>
            <a:r>
              <a:rPr lang="en-US" dirty="0"/>
              <a:t> and Future framework, following the divide-and-conquer approach with three distinct thread responsibilities:</a:t>
            </a:r>
            <a:endParaRPr lang="en-US" dirty="0"/>
          </a:p>
          <a:p>
            <a:endParaRPr lang="en-US" dirty="0"/>
          </a:p>
          <a:p>
            <a:r>
              <a:rPr lang="en-US" b="1" dirty="0"/>
              <a:t>I. Class Diagram Overview</a:t>
            </a:r>
            <a:endParaRPr lang="en-US" dirty="0"/>
          </a:p>
        </p:txBody>
      </p:sp>
      <p:pic>
        <p:nvPicPr>
          <p:cNvPr id="4" name="Picture 3"/>
          <p:cNvPicPr>
            <a:picLocks noChangeAspect="1"/>
          </p:cNvPicPr>
          <p:nvPr/>
        </p:nvPicPr>
        <p:blipFill>
          <a:blip r:embed="rId1"/>
          <a:stretch>
            <a:fillRect/>
          </a:stretch>
        </p:blipFill>
        <p:spPr>
          <a:xfrm>
            <a:off x="685800" y="1703477"/>
            <a:ext cx="10591800" cy="44196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224368" y="10699"/>
            <a:ext cx="11891432" cy="461665"/>
          </a:xfrm>
          <a:prstGeom prst="rect">
            <a:avLst/>
          </a:prstGeom>
        </p:spPr>
        <p:txBody>
          <a:bodyPr wrap="square">
            <a:spAutoFit/>
          </a:bodyPr>
          <a:lstStyle/>
          <a:p>
            <a:r>
              <a:rPr lang="en-US" sz="2400" b="1" u="sng" dirty="0" err="1">
                <a:solidFill>
                  <a:srgbClr val="FF0000"/>
                </a:solidFill>
                <a:latin typeface="DeepSeek-CJK-patch"/>
              </a:rPr>
              <a:t>Implemenation</a:t>
            </a:r>
            <a:r>
              <a:rPr lang="en-US" sz="2400" b="1" u="sng" dirty="0">
                <a:solidFill>
                  <a:srgbClr val="FF0000"/>
                </a:solidFill>
                <a:latin typeface="DeepSeek-CJK-patch"/>
              </a:rPr>
              <a:t> </a:t>
            </a:r>
            <a:r>
              <a:rPr lang="en-US" sz="2400" b="1" dirty="0">
                <a:solidFill>
                  <a:srgbClr val="FF0000"/>
                </a:solidFill>
                <a:latin typeface="DeepSeek-CJK-patch"/>
              </a:rPr>
              <a:t>:   (1) Control Thread (Task Decomposition, Task submit, Get Future)</a:t>
            </a:r>
            <a:endParaRPr lang="en-US" sz="2400" b="0" i="0" dirty="0">
              <a:solidFill>
                <a:srgbClr val="FF0000"/>
              </a:solidFill>
              <a:effectLst/>
              <a:latin typeface="DeepSeek-CJK-patch"/>
            </a:endParaRPr>
          </a:p>
        </p:txBody>
      </p:sp>
      <p:sp>
        <p:nvSpPr>
          <p:cNvPr id="4" name="Rectangle 3"/>
          <p:cNvSpPr/>
          <p:nvPr/>
        </p:nvSpPr>
        <p:spPr>
          <a:xfrm>
            <a:off x="224367" y="561032"/>
            <a:ext cx="5566833" cy="5909310"/>
          </a:xfrm>
          <a:prstGeom prst="rect">
            <a:avLst/>
          </a:prstGeom>
        </p:spPr>
        <p:txBody>
          <a:bodyPr wrap="square">
            <a:spAutoFit/>
          </a:bodyPr>
          <a:lstStyle/>
          <a:p>
            <a:r>
              <a:rPr lang="en-US" dirty="0"/>
              <a:t>import </a:t>
            </a:r>
            <a:r>
              <a:rPr lang="en-US" dirty="0" err="1"/>
              <a:t>java.util</a:t>
            </a:r>
            <a:r>
              <a:rPr lang="en-US" dirty="0"/>
              <a:t>.*;</a:t>
            </a:r>
            <a:endParaRPr lang="en-US" dirty="0"/>
          </a:p>
          <a:p>
            <a:r>
              <a:rPr lang="en-US" dirty="0"/>
              <a:t>import </a:t>
            </a:r>
            <a:r>
              <a:rPr lang="en-US" dirty="0" err="1"/>
              <a:t>java.util.concurrent</a:t>
            </a:r>
            <a:r>
              <a:rPr lang="en-US" dirty="0"/>
              <a:t>.*;</a:t>
            </a:r>
            <a:endParaRPr lang="en-US" dirty="0"/>
          </a:p>
          <a:p>
            <a:endParaRPr lang="en-US" dirty="0"/>
          </a:p>
          <a:p>
            <a:r>
              <a:rPr lang="en-US" dirty="0"/>
              <a:t>public class </a:t>
            </a:r>
            <a:r>
              <a:rPr lang="en-US" dirty="0" err="1"/>
              <a:t>ControlThread</a:t>
            </a:r>
            <a:r>
              <a:rPr lang="en-US" dirty="0"/>
              <a:t> {</a:t>
            </a:r>
            <a:endParaRPr lang="en-US" dirty="0"/>
          </a:p>
          <a:p>
            <a:r>
              <a:rPr lang="en-US" dirty="0"/>
              <a:t>    private final </a:t>
            </a:r>
            <a:r>
              <a:rPr lang="en-US" dirty="0" err="1"/>
              <a:t>ExecutorService</a:t>
            </a:r>
            <a:r>
              <a:rPr lang="en-US" dirty="0"/>
              <a:t> executor;</a:t>
            </a:r>
            <a:endParaRPr lang="en-US" dirty="0"/>
          </a:p>
          <a:p>
            <a:r>
              <a:rPr lang="en-US" dirty="0"/>
              <a:t>    private List&lt;Future&lt;Result&gt;&gt; futures = new </a:t>
            </a:r>
            <a:r>
              <a:rPr lang="en-US" dirty="0" err="1"/>
              <a:t>ArrayList</a:t>
            </a:r>
            <a:r>
              <a:rPr lang="en-US" dirty="0"/>
              <a:t>&lt;&gt;();</a:t>
            </a:r>
            <a:endParaRPr lang="en-US" dirty="0"/>
          </a:p>
          <a:p>
            <a:endParaRPr lang="en-US" dirty="0"/>
          </a:p>
          <a:p>
            <a:r>
              <a:rPr lang="en-US" dirty="0"/>
              <a:t>    public </a:t>
            </a:r>
            <a:r>
              <a:rPr lang="en-US" dirty="0" err="1"/>
              <a:t>ControlThread</a:t>
            </a:r>
            <a:r>
              <a:rPr lang="en-US" dirty="0"/>
              <a:t>(int </a:t>
            </a:r>
            <a:r>
              <a:rPr lang="en-US" dirty="0" err="1"/>
              <a:t>threadPoolSize</a:t>
            </a:r>
            <a:r>
              <a:rPr lang="en-US" dirty="0"/>
              <a:t>) {</a:t>
            </a:r>
            <a:endParaRPr lang="en-US" dirty="0"/>
          </a:p>
          <a:p>
            <a:r>
              <a:rPr lang="en-US" dirty="0"/>
              <a:t>        </a:t>
            </a:r>
            <a:r>
              <a:rPr lang="en-US" dirty="0" err="1"/>
              <a:t>this.executor</a:t>
            </a:r>
            <a:r>
              <a:rPr lang="en-US" dirty="0"/>
              <a:t> = </a:t>
            </a:r>
            <a:r>
              <a:rPr lang="en-US" dirty="0" err="1"/>
              <a:t>Executors.newFixedThreadPool</a:t>
            </a:r>
            <a:r>
              <a:rPr lang="en-US" dirty="0"/>
              <a:t>(</a:t>
            </a:r>
            <a:r>
              <a:rPr lang="en-US" dirty="0" err="1"/>
              <a:t>threadPoolSize</a:t>
            </a:r>
            <a:r>
              <a:rPr lang="en-US" dirty="0"/>
              <a:t>);</a:t>
            </a:r>
            <a:endParaRPr lang="en-US" dirty="0"/>
          </a:p>
          <a:p>
            <a:r>
              <a:rPr lang="en-US" dirty="0"/>
              <a:t>    }</a:t>
            </a:r>
            <a:endParaRPr lang="en-US" dirty="0"/>
          </a:p>
          <a:p>
            <a:endParaRPr lang="en-US" dirty="0"/>
          </a:p>
          <a:p>
            <a:r>
              <a:rPr lang="en-US" dirty="0"/>
              <a:t>    </a:t>
            </a:r>
            <a:r>
              <a:rPr lang="en-US" b="1" dirty="0">
                <a:solidFill>
                  <a:srgbClr val="FF0000"/>
                </a:solidFill>
              </a:rPr>
              <a:t>// Decompose main task and submit subtasks</a:t>
            </a:r>
            <a:endParaRPr lang="en-US" b="1" dirty="0">
              <a:solidFill>
                <a:srgbClr val="FF0000"/>
              </a:solidFill>
            </a:endParaRPr>
          </a:p>
          <a:p>
            <a:r>
              <a:rPr lang="en-US" dirty="0"/>
              <a:t>    public void </a:t>
            </a:r>
            <a:r>
              <a:rPr lang="en-US" dirty="0" err="1"/>
              <a:t>startProcessing</a:t>
            </a:r>
            <a:r>
              <a:rPr lang="en-US" dirty="0"/>
              <a:t>(List&lt;Task&gt; subtasks) {</a:t>
            </a:r>
            <a:endParaRPr lang="en-US" dirty="0"/>
          </a:p>
          <a:p>
            <a:r>
              <a:rPr lang="en-US" dirty="0"/>
              <a:t>        for (Task subtask : subtasks) {</a:t>
            </a:r>
            <a:endParaRPr lang="en-US" dirty="0"/>
          </a:p>
          <a:p>
            <a:r>
              <a:rPr lang="en-US" dirty="0"/>
              <a:t>            Future&lt;Result&gt; future = </a:t>
            </a:r>
            <a:r>
              <a:rPr lang="en-US" dirty="0" err="1"/>
              <a:t>executor.submit</a:t>
            </a:r>
            <a:r>
              <a:rPr lang="en-US" dirty="0"/>
              <a:t>(new </a:t>
            </a:r>
            <a:r>
              <a:rPr lang="en-US" dirty="0" err="1"/>
              <a:t>WorkerThread</a:t>
            </a:r>
            <a:r>
              <a:rPr lang="en-US" dirty="0"/>
              <a:t>(subtask));</a:t>
            </a:r>
            <a:endParaRPr lang="en-US" dirty="0"/>
          </a:p>
          <a:p>
            <a:r>
              <a:rPr lang="en-US" dirty="0"/>
              <a:t>            </a:t>
            </a:r>
            <a:r>
              <a:rPr lang="en-US" dirty="0" err="1"/>
              <a:t>futures.add</a:t>
            </a:r>
            <a:r>
              <a:rPr lang="en-US" dirty="0"/>
              <a:t>(future);</a:t>
            </a:r>
            <a:endParaRPr lang="en-US" dirty="0"/>
          </a:p>
          <a:p>
            <a:r>
              <a:rPr lang="en-US" dirty="0"/>
              <a:t>        }</a:t>
            </a:r>
            <a:endParaRPr lang="en-US" dirty="0"/>
          </a:p>
          <a:p>
            <a:r>
              <a:rPr lang="en-US" dirty="0"/>
              <a:t>    }</a:t>
            </a:r>
            <a:endParaRPr lang="en-US" dirty="0"/>
          </a:p>
        </p:txBody>
      </p:sp>
      <p:sp>
        <p:nvSpPr>
          <p:cNvPr id="5" name="Rectangle 4"/>
          <p:cNvSpPr/>
          <p:nvPr/>
        </p:nvSpPr>
        <p:spPr>
          <a:xfrm>
            <a:off x="6400800" y="2514600"/>
            <a:ext cx="5566833" cy="2862322"/>
          </a:xfrm>
          <a:prstGeom prst="rect">
            <a:avLst/>
          </a:prstGeom>
        </p:spPr>
        <p:txBody>
          <a:bodyPr wrap="square">
            <a:spAutoFit/>
          </a:bodyPr>
          <a:lstStyle/>
          <a:p>
            <a:r>
              <a:rPr lang="en-US" dirty="0"/>
              <a:t> </a:t>
            </a:r>
            <a:r>
              <a:rPr lang="en-US" b="1" dirty="0">
                <a:solidFill>
                  <a:srgbClr val="FF0000"/>
                </a:solidFill>
              </a:rPr>
              <a:t>// Get Futures for monitoring</a:t>
            </a:r>
            <a:endParaRPr lang="en-US" b="1" dirty="0">
              <a:solidFill>
                <a:srgbClr val="FF0000"/>
              </a:solidFill>
            </a:endParaRPr>
          </a:p>
          <a:p>
            <a:r>
              <a:rPr lang="en-US" dirty="0"/>
              <a:t>    public List&lt;Future&lt;Result&gt;&gt; </a:t>
            </a:r>
            <a:r>
              <a:rPr lang="en-US" dirty="0" err="1"/>
              <a:t>getFutureCollection</a:t>
            </a:r>
            <a:r>
              <a:rPr lang="en-US" dirty="0"/>
              <a:t>() {</a:t>
            </a:r>
            <a:endParaRPr lang="en-US" dirty="0"/>
          </a:p>
          <a:p>
            <a:r>
              <a:rPr lang="en-US" dirty="0"/>
              <a:t>        return </a:t>
            </a:r>
            <a:r>
              <a:rPr lang="en-US" dirty="0" err="1"/>
              <a:t>Collections.unmodifiableList</a:t>
            </a:r>
            <a:r>
              <a:rPr lang="en-US" dirty="0"/>
              <a:t>(futures);</a:t>
            </a:r>
            <a:endParaRPr lang="en-US" dirty="0"/>
          </a:p>
          <a:p>
            <a:r>
              <a:rPr lang="en-US" dirty="0"/>
              <a:t>    }</a:t>
            </a:r>
            <a:endParaRPr lang="en-US" dirty="0"/>
          </a:p>
          <a:p>
            <a:endParaRPr lang="en-US" dirty="0"/>
          </a:p>
          <a:p>
            <a:r>
              <a:rPr lang="en-US" dirty="0"/>
              <a:t>    public void shutdown() {</a:t>
            </a:r>
            <a:endParaRPr lang="en-US" dirty="0"/>
          </a:p>
          <a:p>
            <a:r>
              <a:rPr lang="en-US" dirty="0"/>
              <a:t>        </a:t>
            </a:r>
            <a:r>
              <a:rPr lang="en-US" dirty="0" err="1"/>
              <a:t>executor.shutdown</a:t>
            </a:r>
            <a:r>
              <a:rPr lang="en-US" dirty="0"/>
              <a:t>();</a:t>
            </a:r>
            <a:endParaRPr lang="en-US" dirty="0"/>
          </a:p>
          <a:p>
            <a:r>
              <a:rPr lang="en-US" dirty="0"/>
              <a:t>    }</a:t>
            </a:r>
            <a:endParaRPr lang="en-US" dirty="0"/>
          </a:p>
          <a:p>
            <a:r>
              <a:rPr lang="en-US" dirty="0"/>
              <a:t>}</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3429000" y="381000"/>
            <a:ext cx="4639347" cy="461665"/>
          </a:xfrm>
          <a:prstGeom prst="rect">
            <a:avLst/>
          </a:prstGeom>
        </p:spPr>
        <p:txBody>
          <a:bodyPr wrap="none">
            <a:spAutoFit/>
          </a:bodyPr>
          <a:lstStyle/>
          <a:p>
            <a:r>
              <a:rPr lang="en-US" sz="2400" b="1" u="sng" dirty="0">
                <a:solidFill>
                  <a:srgbClr val="FF0000"/>
                </a:solidFill>
                <a:latin typeface="DeepSeek-CJK-patch"/>
              </a:rPr>
              <a:t>(2) Worker Thread (Task Execution)</a:t>
            </a:r>
            <a:endParaRPr lang="en-US" sz="2400" b="0" i="0" u="sng" dirty="0">
              <a:solidFill>
                <a:srgbClr val="FF0000"/>
              </a:solidFill>
              <a:effectLst/>
              <a:latin typeface="DeepSeek-CJK-patch"/>
            </a:endParaRPr>
          </a:p>
        </p:txBody>
      </p:sp>
      <p:sp>
        <p:nvSpPr>
          <p:cNvPr id="4" name="Rectangle 3"/>
          <p:cNvSpPr/>
          <p:nvPr/>
        </p:nvSpPr>
        <p:spPr>
          <a:xfrm>
            <a:off x="838200" y="914400"/>
            <a:ext cx="9067800" cy="5632311"/>
          </a:xfrm>
          <a:prstGeom prst="rect">
            <a:avLst/>
          </a:prstGeom>
        </p:spPr>
        <p:txBody>
          <a:bodyPr wrap="square">
            <a:spAutoFit/>
          </a:bodyPr>
          <a:lstStyle/>
          <a:p>
            <a:r>
              <a:rPr lang="en-US" sz="2400" dirty="0"/>
              <a:t>import </a:t>
            </a:r>
            <a:r>
              <a:rPr lang="en-US" sz="2400" dirty="0" err="1"/>
              <a:t>java.util.concurrent.Callable</a:t>
            </a:r>
            <a:r>
              <a:rPr lang="en-US" sz="2400" dirty="0"/>
              <a:t>;</a:t>
            </a:r>
            <a:endParaRPr lang="en-US" sz="2400" dirty="0"/>
          </a:p>
          <a:p>
            <a:endParaRPr lang="en-US" sz="2400" dirty="0"/>
          </a:p>
          <a:p>
            <a:r>
              <a:rPr lang="en-US" sz="2400" dirty="0"/>
              <a:t>public class </a:t>
            </a:r>
            <a:r>
              <a:rPr lang="en-US" sz="2400" dirty="0" err="1"/>
              <a:t>WorkerThread</a:t>
            </a:r>
            <a:r>
              <a:rPr lang="en-US" sz="2400" dirty="0"/>
              <a:t> implements Callable&lt;Result&gt; {</a:t>
            </a:r>
            <a:endParaRPr lang="en-US" sz="2400" dirty="0"/>
          </a:p>
          <a:p>
            <a:r>
              <a:rPr lang="en-US" sz="2400" dirty="0"/>
              <a:t>    private final Task </a:t>
            </a:r>
            <a:r>
              <a:rPr lang="en-US" sz="2400" dirty="0" err="1"/>
              <a:t>task</a:t>
            </a:r>
            <a:r>
              <a:rPr lang="en-US" sz="2400" dirty="0"/>
              <a:t>;</a:t>
            </a:r>
            <a:endParaRPr lang="en-US" sz="2400" dirty="0"/>
          </a:p>
          <a:p>
            <a:endParaRPr lang="en-US" sz="2400" dirty="0"/>
          </a:p>
          <a:p>
            <a:r>
              <a:rPr lang="en-US" sz="2400" dirty="0"/>
              <a:t>    public </a:t>
            </a:r>
            <a:r>
              <a:rPr lang="en-US" sz="2400" dirty="0" err="1"/>
              <a:t>WorkerThread</a:t>
            </a:r>
            <a:r>
              <a:rPr lang="en-US" sz="2400" dirty="0"/>
              <a:t>(Task task) {</a:t>
            </a:r>
            <a:endParaRPr lang="en-US" sz="2400" dirty="0"/>
          </a:p>
          <a:p>
            <a:r>
              <a:rPr lang="en-US" sz="2400" dirty="0"/>
              <a:t>        </a:t>
            </a:r>
            <a:r>
              <a:rPr lang="en-US" sz="2400" dirty="0" err="1"/>
              <a:t>this.task</a:t>
            </a:r>
            <a:r>
              <a:rPr lang="en-US" sz="2400" dirty="0"/>
              <a:t> = task;</a:t>
            </a:r>
            <a:endParaRPr lang="en-US" sz="2400" dirty="0"/>
          </a:p>
          <a:p>
            <a:r>
              <a:rPr lang="en-US" sz="2400" dirty="0"/>
              <a:t>    }</a:t>
            </a:r>
            <a:endParaRPr lang="en-US" sz="2400" dirty="0"/>
          </a:p>
          <a:p>
            <a:endParaRPr lang="en-US" sz="2400" dirty="0"/>
          </a:p>
          <a:p>
            <a:r>
              <a:rPr lang="en-US" sz="2400" dirty="0"/>
              <a:t>    @Override</a:t>
            </a:r>
            <a:endParaRPr lang="en-US" sz="2400" dirty="0"/>
          </a:p>
          <a:p>
            <a:r>
              <a:rPr lang="en-US" sz="2400" dirty="0"/>
              <a:t>    public Result call() throws Exception {</a:t>
            </a:r>
            <a:endParaRPr lang="en-US" sz="2400" dirty="0"/>
          </a:p>
          <a:p>
            <a:r>
              <a:rPr lang="en-US" sz="2400" dirty="0"/>
              <a:t>        // Perform actual computation</a:t>
            </a:r>
            <a:endParaRPr lang="en-US" sz="2400" dirty="0"/>
          </a:p>
          <a:p>
            <a:r>
              <a:rPr lang="en-US" sz="2400" dirty="0"/>
              <a:t>        return </a:t>
            </a:r>
            <a:r>
              <a:rPr lang="en-US" sz="2400" dirty="0" err="1"/>
              <a:t>task.execute</a:t>
            </a:r>
            <a:r>
              <a:rPr lang="en-US" sz="2400" dirty="0"/>
              <a:t>();</a:t>
            </a:r>
            <a:endParaRPr lang="en-US" sz="2400" dirty="0"/>
          </a:p>
          <a:p>
            <a:r>
              <a:rPr lang="en-US" sz="2400" dirty="0"/>
              <a:t>    }</a:t>
            </a:r>
            <a:endParaRPr lang="en-US" sz="2400" dirty="0"/>
          </a:p>
          <a:p>
            <a:r>
              <a:rPr lang="en-US" sz="2400" dirty="0"/>
              <a:t>}</a:t>
            </a:r>
            <a:endParaRPr lang="en-US"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2667000" y="58112"/>
            <a:ext cx="5849294" cy="400110"/>
          </a:xfrm>
          <a:prstGeom prst="rect">
            <a:avLst/>
          </a:prstGeom>
        </p:spPr>
        <p:txBody>
          <a:bodyPr wrap="none">
            <a:spAutoFit/>
          </a:bodyPr>
          <a:lstStyle/>
          <a:p>
            <a:r>
              <a:rPr lang="en-US" sz="2000" b="1" u="sng" dirty="0">
                <a:solidFill>
                  <a:srgbClr val="FF0000"/>
                </a:solidFill>
                <a:latin typeface="DeepSeek-CJK-patch"/>
              </a:rPr>
              <a:t>(3) Result Collector Thread (Monitoring &amp; Processing)</a:t>
            </a:r>
            <a:endParaRPr lang="en-US" sz="2000" b="0" i="0" u="sng" dirty="0">
              <a:solidFill>
                <a:srgbClr val="FF0000"/>
              </a:solidFill>
              <a:effectLst/>
              <a:latin typeface="DeepSeek-CJK-patch"/>
            </a:endParaRPr>
          </a:p>
        </p:txBody>
      </p:sp>
      <p:sp>
        <p:nvSpPr>
          <p:cNvPr id="4" name="Rectangle 3"/>
          <p:cNvSpPr/>
          <p:nvPr/>
        </p:nvSpPr>
        <p:spPr>
          <a:xfrm>
            <a:off x="427566" y="258167"/>
            <a:ext cx="9884834" cy="6463308"/>
          </a:xfrm>
          <a:prstGeom prst="rect">
            <a:avLst/>
          </a:prstGeom>
        </p:spPr>
        <p:txBody>
          <a:bodyPr wrap="square">
            <a:spAutoFit/>
          </a:bodyPr>
          <a:lstStyle/>
          <a:p>
            <a:r>
              <a:rPr lang="en-US" dirty="0"/>
              <a:t>import </a:t>
            </a:r>
            <a:r>
              <a:rPr lang="en-US" dirty="0" err="1"/>
              <a:t>java.util</a:t>
            </a:r>
            <a:r>
              <a:rPr lang="en-US" dirty="0"/>
              <a:t>.*;</a:t>
            </a:r>
            <a:endParaRPr lang="en-US" dirty="0"/>
          </a:p>
          <a:p>
            <a:r>
              <a:rPr lang="en-US" dirty="0"/>
              <a:t>import </a:t>
            </a:r>
            <a:r>
              <a:rPr lang="en-US" dirty="0" err="1"/>
              <a:t>java.util.concurrent</a:t>
            </a:r>
            <a:r>
              <a:rPr lang="en-US" dirty="0"/>
              <a:t>.*;</a:t>
            </a:r>
            <a:endParaRPr lang="en-US" dirty="0"/>
          </a:p>
          <a:p>
            <a:endParaRPr lang="en-US" dirty="0"/>
          </a:p>
          <a:p>
            <a:r>
              <a:rPr lang="en-US" dirty="0"/>
              <a:t>public class </a:t>
            </a:r>
            <a:r>
              <a:rPr lang="en-US" dirty="0" err="1"/>
              <a:t>ResultCollectorThread</a:t>
            </a:r>
            <a:r>
              <a:rPr lang="en-US" dirty="0"/>
              <a:t> implements Runnable {</a:t>
            </a:r>
            <a:endParaRPr lang="en-US" dirty="0"/>
          </a:p>
          <a:p>
            <a:r>
              <a:rPr lang="en-US" dirty="0"/>
              <a:t>    private final List&lt;Future&lt;Result&gt;&gt; futures;</a:t>
            </a:r>
            <a:endParaRPr lang="en-US" dirty="0"/>
          </a:p>
          <a:p>
            <a:endParaRPr lang="en-US" dirty="0"/>
          </a:p>
          <a:p>
            <a:r>
              <a:rPr lang="en-US" dirty="0"/>
              <a:t>    public </a:t>
            </a:r>
            <a:r>
              <a:rPr lang="en-US" dirty="0" err="1"/>
              <a:t>ResultCollectorThread</a:t>
            </a:r>
            <a:r>
              <a:rPr lang="en-US" dirty="0"/>
              <a:t>(List&lt;Future&lt;Result&gt;&gt; futures) {</a:t>
            </a:r>
            <a:endParaRPr lang="en-US" dirty="0"/>
          </a:p>
          <a:p>
            <a:r>
              <a:rPr lang="en-US" dirty="0"/>
              <a:t>        </a:t>
            </a:r>
            <a:r>
              <a:rPr lang="en-US" dirty="0" err="1"/>
              <a:t>this.futures</a:t>
            </a:r>
            <a:r>
              <a:rPr lang="en-US" dirty="0"/>
              <a:t> = futures;</a:t>
            </a:r>
            <a:endParaRPr lang="en-US" dirty="0"/>
          </a:p>
          <a:p>
            <a:r>
              <a:rPr lang="en-US" dirty="0"/>
              <a:t>    }</a:t>
            </a:r>
            <a:endParaRPr lang="en-US" dirty="0"/>
          </a:p>
          <a:p>
            <a:endParaRPr lang="en-US" dirty="0"/>
          </a:p>
          <a:p>
            <a:r>
              <a:rPr lang="en-US" dirty="0"/>
              <a:t>    @Override</a:t>
            </a:r>
            <a:endParaRPr lang="en-US" dirty="0"/>
          </a:p>
          <a:p>
            <a:r>
              <a:rPr lang="en-US" dirty="0"/>
              <a:t>    public void run() {</a:t>
            </a:r>
            <a:endParaRPr lang="en-US" dirty="0"/>
          </a:p>
          <a:p>
            <a:r>
              <a:rPr lang="en-US" dirty="0"/>
              <a:t>        while (!</a:t>
            </a:r>
            <a:r>
              <a:rPr lang="en-US" dirty="0" err="1"/>
              <a:t>allTasksCompleted</a:t>
            </a:r>
            <a:r>
              <a:rPr lang="en-US" dirty="0"/>
              <a:t>()) {</a:t>
            </a:r>
            <a:endParaRPr lang="en-US" dirty="0"/>
          </a:p>
          <a:p>
            <a:r>
              <a:rPr lang="en-US" dirty="0"/>
              <a:t>            try {</a:t>
            </a:r>
            <a:endParaRPr lang="en-US" dirty="0"/>
          </a:p>
          <a:p>
            <a:r>
              <a:rPr lang="en-US" dirty="0"/>
              <a:t>                </a:t>
            </a:r>
            <a:r>
              <a:rPr lang="en-US" dirty="0" err="1"/>
              <a:t>processCompletedTasks</a:t>
            </a:r>
            <a:r>
              <a:rPr lang="en-US" dirty="0"/>
              <a:t>();</a:t>
            </a:r>
            <a:endParaRPr lang="en-US" dirty="0"/>
          </a:p>
          <a:p>
            <a:r>
              <a:rPr lang="en-US" dirty="0"/>
              <a:t>                </a:t>
            </a:r>
            <a:r>
              <a:rPr lang="en-US" dirty="0" err="1"/>
              <a:t>Thread.sleep</a:t>
            </a:r>
            <a:r>
              <a:rPr lang="en-US" dirty="0"/>
              <a:t>(100); // Prevent busy waiting</a:t>
            </a:r>
            <a:endParaRPr lang="en-US" dirty="0"/>
          </a:p>
          <a:p>
            <a:r>
              <a:rPr lang="en-US" dirty="0"/>
              <a:t>            } catch (</a:t>
            </a:r>
            <a:r>
              <a:rPr lang="en-US" dirty="0" err="1"/>
              <a:t>InterruptedException</a:t>
            </a:r>
            <a:r>
              <a:rPr lang="en-US" dirty="0"/>
              <a:t> e) {</a:t>
            </a:r>
            <a:endParaRPr lang="en-US" dirty="0"/>
          </a:p>
          <a:p>
            <a:r>
              <a:rPr lang="en-US" dirty="0"/>
              <a:t>                </a:t>
            </a:r>
            <a:r>
              <a:rPr lang="en-US" dirty="0" err="1"/>
              <a:t>Thread.currentThread</a:t>
            </a:r>
            <a:r>
              <a:rPr lang="en-US" dirty="0"/>
              <a:t>().interrupt();</a:t>
            </a:r>
            <a:endParaRPr lang="en-US" dirty="0"/>
          </a:p>
          <a:p>
            <a:r>
              <a:rPr lang="en-US" dirty="0"/>
              <a:t>                break;</a:t>
            </a:r>
            <a:endParaRPr lang="en-US" dirty="0"/>
          </a:p>
          <a:p>
            <a:r>
              <a:rPr lang="en-US" dirty="0"/>
              <a:t>            }</a:t>
            </a:r>
            <a:endParaRPr lang="en-US" dirty="0"/>
          </a:p>
          <a:p>
            <a:r>
              <a:rPr lang="en-US" dirty="0"/>
              <a:t>        }</a:t>
            </a:r>
            <a:endParaRPr lang="en-US" dirty="0"/>
          </a:p>
          <a:p>
            <a:r>
              <a:rPr lang="en-US" dirty="0"/>
              <a:t>        </a:t>
            </a:r>
            <a:r>
              <a:rPr lang="en-US" dirty="0" err="1"/>
              <a:t>processRemainingTasks</a:t>
            </a:r>
            <a:r>
              <a:rPr lang="en-US" dirty="0"/>
              <a:t>();</a:t>
            </a:r>
            <a:endParaRPr lang="en-US" dirty="0"/>
          </a:p>
          <a:p>
            <a:r>
              <a:rPr lang="en-US" dirty="0"/>
              <a:t>    }</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1143000" y="258901"/>
            <a:ext cx="8720667" cy="9017000"/>
          </a:xfrm>
          <a:prstGeom prst="rect">
            <a:avLst/>
          </a:prstGeom>
        </p:spPr>
        <p:txBody>
          <a:bodyPr wrap="square">
            <a:spAutoFit/>
          </a:bodyPr>
          <a:lstStyle/>
          <a:p>
            <a:r>
              <a:rPr lang="en-US" sz="2000" dirty="0"/>
              <a:t> private </a:t>
            </a:r>
            <a:r>
              <a:rPr lang="en-US" sz="2000" dirty="0" err="1"/>
              <a:t>boolean</a:t>
            </a:r>
            <a:r>
              <a:rPr lang="en-US" sz="2000" dirty="0"/>
              <a:t> </a:t>
            </a:r>
            <a:r>
              <a:rPr lang="en-US" sz="2000" dirty="0" err="1"/>
              <a:t>allTasksCompleted</a:t>
            </a:r>
            <a:r>
              <a:rPr lang="en-US" sz="2000" dirty="0"/>
              <a:t>() {</a:t>
            </a:r>
            <a:endParaRPr lang="en-US" sz="2000" dirty="0"/>
          </a:p>
          <a:p>
            <a:r>
              <a:rPr lang="en-US" sz="2000" dirty="0"/>
              <a:t>        for (Future&lt;Result&gt; future : futures) {</a:t>
            </a:r>
            <a:endParaRPr lang="en-US" sz="2000" dirty="0"/>
          </a:p>
          <a:p>
            <a:r>
              <a:rPr lang="en-US" sz="2000" dirty="0"/>
              <a:t>            if (!</a:t>
            </a:r>
            <a:r>
              <a:rPr lang="en-US" sz="2000" dirty="0" err="1"/>
              <a:t>future.isDone</a:t>
            </a:r>
            <a:r>
              <a:rPr lang="en-US" sz="2000" dirty="0"/>
              <a:t>()) return false;</a:t>
            </a:r>
            <a:endParaRPr lang="en-US" sz="2000" dirty="0"/>
          </a:p>
          <a:p>
            <a:r>
              <a:rPr lang="en-US" sz="2000" dirty="0"/>
              <a:t>        }</a:t>
            </a:r>
            <a:endParaRPr lang="en-US" sz="2000" dirty="0"/>
          </a:p>
          <a:p>
            <a:r>
              <a:rPr lang="en-US" sz="2000" dirty="0"/>
              <a:t>        return true;</a:t>
            </a:r>
            <a:endParaRPr lang="en-US" sz="2000" dirty="0"/>
          </a:p>
          <a:p>
            <a:r>
              <a:rPr lang="en-US" sz="2000" dirty="0"/>
              <a:t>    }</a:t>
            </a:r>
            <a:endParaRPr lang="en-US" sz="2000" dirty="0"/>
          </a:p>
          <a:p>
            <a:endParaRPr lang="en-US" sz="2000" dirty="0"/>
          </a:p>
          <a:p>
            <a:r>
              <a:rPr lang="en-US" sz="2000" dirty="0"/>
              <a:t>    private void </a:t>
            </a:r>
            <a:r>
              <a:rPr lang="en-US" sz="2000" dirty="0" err="1"/>
              <a:t>processCompletedTasks</a:t>
            </a:r>
            <a:r>
              <a:rPr lang="en-US" sz="2000" dirty="0"/>
              <a:t>() {</a:t>
            </a:r>
            <a:endParaRPr lang="en-US" sz="2000" dirty="0"/>
          </a:p>
          <a:p>
            <a:r>
              <a:rPr lang="en-US" sz="2000" dirty="0"/>
              <a:t>        for (Future&lt;Result&gt; future : futures) {</a:t>
            </a:r>
            <a:endParaRPr lang="en-US" sz="2000" dirty="0"/>
          </a:p>
          <a:p>
            <a:r>
              <a:rPr lang="en-US" sz="2000" dirty="0"/>
              <a:t>            if (</a:t>
            </a:r>
            <a:r>
              <a:rPr lang="en-US" sz="2000" dirty="0" err="1"/>
              <a:t>future.isDone</a:t>
            </a:r>
            <a:r>
              <a:rPr lang="en-US" sz="2000" dirty="0"/>
              <a:t>()) {</a:t>
            </a:r>
            <a:endParaRPr lang="en-US" sz="2000" dirty="0"/>
          </a:p>
          <a:p>
            <a:r>
              <a:rPr lang="en-US" sz="2000" dirty="0"/>
              <a:t>                try {</a:t>
            </a:r>
            <a:endParaRPr lang="en-US" sz="2000" dirty="0"/>
          </a:p>
          <a:p>
            <a:r>
              <a:rPr lang="en-US" sz="2000" dirty="0"/>
              <a:t>                    Result </a:t>
            </a:r>
            <a:r>
              <a:rPr lang="en-US" sz="2000" dirty="0" err="1"/>
              <a:t>result</a:t>
            </a:r>
            <a:r>
              <a:rPr lang="en-US" sz="2000" dirty="0"/>
              <a:t> = </a:t>
            </a:r>
            <a:r>
              <a:rPr lang="en-US" sz="2000" dirty="0" err="1"/>
              <a:t>future.get</a:t>
            </a:r>
            <a:r>
              <a:rPr lang="en-US" sz="2000" dirty="0"/>
              <a:t>();</a:t>
            </a:r>
            <a:endParaRPr lang="en-US" sz="2000" dirty="0"/>
          </a:p>
          <a:p>
            <a:r>
              <a:rPr lang="en-US" sz="2000" dirty="0"/>
              <a:t>                    // Handle successful completion</a:t>
            </a:r>
            <a:endParaRPr lang="en-US" sz="2000" dirty="0"/>
          </a:p>
          <a:p>
            <a:r>
              <a:rPr lang="en-US" sz="2000" dirty="0"/>
              <a:t>                    </a:t>
            </a:r>
            <a:r>
              <a:rPr lang="en-US" sz="2000" dirty="0" err="1"/>
              <a:t>System.out.println</a:t>
            </a:r>
            <a:r>
              <a:rPr lang="en-US" sz="2000" dirty="0"/>
              <a:t>("Task completed: " + result);</a:t>
            </a:r>
            <a:endParaRPr lang="en-US" sz="2000" dirty="0"/>
          </a:p>
          <a:p>
            <a:r>
              <a:rPr lang="en-US" sz="2000" dirty="0"/>
              <a:t>                } catch (</a:t>
            </a:r>
            <a:r>
              <a:rPr lang="en-US" sz="2000" dirty="0" err="1"/>
              <a:t>InterruptedException</a:t>
            </a:r>
            <a:r>
              <a:rPr lang="en-US" sz="2000" dirty="0"/>
              <a:t> e) {</a:t>
            </a:r>
            <a:endParaRPr lang="en-US" sz="2000" dirty="0"/>
          </a:p>
          <a:p>
            <a:r>
              <a:rPr lang="en-US" sz="2000" dirty="0"/>
              <a:t>                    </a:t>
            </a:r>
            <a:r>
              <a:rPr lang="en-US" sz="2000" dirty="0" err="1"/>
              <a:t>Thread.currentThread</a:t>
            </a:r>
            <a:r>
              <a:rPr lang="en-US" sz="2000" dirty="0"/>
              <a:t>().interrupt();</a:t>
            </a:r>
            <a:endParaRPr lang="en-US" sz="2000" dirty="0"/>
          </a:p>
          <a:p>
            <a:r>
              <a:rPr lang="en-US" sz="2000" dirty="0"/>
              <a:t>                } catch (</a:t>
            </a:r>
            <a:r>
              <a:rPr lang="en-US" sz="2000" dirty="0" err="1"/>
              <a:t>ExecutionException</a:t>
            </a:r>
            <a:r>
              <a:rPr lang="en-US" sz="2000" dirty="0"/>
              <a:t> e) {</a:t>
            </a:r>
            <a:endParaRPr lang="en-US" sz="2000" dirty="0"/>
          </a:p>
          <a:p>
            <a:r>
              <a:rPr lang="en-US" sz="2000" dirty="0"/>
              <a:t>                    // Handle task failure</a:t>
            </a:r>
            <a:endParaRPr lang="en-US" sz="2000" dirty="0"/>
          </a:p>
          <a:p>
            <a:r>
              <a:rPr lang="en-US" sz="2000" dirty="0"/>
              <a:t>                    </a:t>
            </a:r>
            <a:r>
              <a:rPr lang="en-US" sz="2000" dirty="0" err="1"/>
              <a:t>System.err.println</a:t>
            </a:r>
            <a:r>
              <a:rPr lang="en-US" sz="2000" dirty="0"/>
              <a:t>("Task failed: " + </a:t>
            </a:r>
            <a:r>
              <a:rPr lang="en-US" sz="2000" dirty="0" err="1"/>
              <a:t>e.getCause</a:t>
            </a:r>
            <a:r>
              <a:rPr lang="en-US" sz="2000" dirty="0"/>
              <a:t>());</a:t>
            </a:r>
            <a:endParaRPr lang="en-US" sz="2000" dirty="0"/>
          </a:p>
          <a:p>
            <a:r>
              <a:rPr lang="en-US" sz="2000" dirty="0"/>
              <a:t>                }</a:t>
            </a:r>
            <a:endParaRPr lang="en-US" sz="2000" dirty="0"/>
          </a:p>
          <a:p>
            <a:r>
              <a:rPr lang="en-US" sz="2000" dirty="0"/>
              <a:t>            }</a:t>
            </a:r>
            <a:endParaRPr lang="en-US" sz="2000" dirty="0"/>
          </a:p>
          <a:p>
            <a:r>
              <a:rPr lang="en-US" sz="2000" dirty="0"/>
              <a:t>        }</a:t>
            </a:r>
            <a:endParaRPr lang="en-US" sz="2000" dirty="0"/>
          </a:p>
          <a:p>
            <a:r>
              <a:rPr lang="en-US" sz="2000" dirty="0"/>
              <a:t>    }</a:t>
            </a:r>
            <a:endParaRPr lang="en-US" sz="2000" dirty="0"/>
          </a:p>
          <a:p>
            <a:endParaRPr lang="en-US" sz="2000" dirty="0"/>
          </a:p>
          <a:p>
            <a:r>
              <a:rPr lang="en-US" sz="2000" dirty="0"/>
              <a:t>    private void </a:t>
            </a:r>
            <a:r>
              <a:rPr lang="en-US" sz="2000" dirty="0" err="1"/>
              <a:t>processRemainingTasks</a:t>
            </a:r>
            <a:r>
              <a:rPr lang="en-US" sz="2000" dirty="0"/>
              <a:t>() {</a:t>
            </a:r>
            <a:endParaRPr lang="en-US" sz="2000" dirty="0"/>
          </a:p>
          <a:p>
            <a:r>
              <a:rPr lang="en-US" sz="2000" dirty="0"/>
              <a:t>        // Process any remaining tasks after interruption</a:t>
            </a:r>
            <a:endParaRPr lang="en-US" sz="2000" dirty="0"/>
          </a:p>
          <a:p>
            <a:r>
              <a:rPr lang="en-US" sz="2000" dirty="0"/>
              <a:t>        </a:t>
            </a:r>
            <a:r>
              <a:rPr lang="en-US" sz="2000" dirty="0" err="1"/>
              <a:t>processCompletedTasks</a:t>
            </a:r>
            <a:r>
              <a:rPr lang="en-US" sz="2000" dirty="0"/>
              <a:t>();</a:t>
            </a:r>
            <a:endParaRPr lang="en-US" sz="2000" dirty="0"/>
          </a:p>
          <a:p>
            <a:r>
              <a:rPr lang="en-US" sz="2000" dirty="0"/>
              <a:t>    }</a:t>
            </a:r>
            <a:endParaRPr lang="en-US" sz="2000" dirty="0"/>
          </a:p>
          <a:p>
            <a:r>
              <a:rPr lang="en-US" sz="2000" dirty="0"/>
              <a:t>}</a:t>
            </a:r>
            <a:endParaRPr lang="en-US" sz="2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4" name="Rectangle 3"/>
          <p:cNvSpPr/>
          <p:nvPr/>
        </p:nvSpPr>
        <p:spPr>
          <a:xfrm>
            <a:off x="402166" y="483936"/>
            <a:ext cx="11277600" cy="9017000"/>
          </a:xfrm>
          <a:prstGeom prst="rect">
            <a:avLst/>
          </a:prstGeom>
        </p:spPr>
        <p:txBody>
          <a:bodyPr wrap="square">
            <a:spAutoFit/>
          </a:bodyPr>
          <a:lstStyle/>
          <a:p>
            <a:r>
              <a:rPr lang="en-US" sz="2000" dirty="0"/>
              <a:t>public class Main {</a:t>
            </a:r>
            <a:endParaRPr lang="en-US" sz="2000" dirty="0"/>
          </a:p>
          <a:p>
            <a:r>
              <a:rPr lang="en-US" sz="2000" dirty="0"/>
              <a:t>    public static void main(String[] </a:t>
            </a:r>
            <a:r>
              <a:rPr lang="en-US" sz="2000" dirty="0" err="1"/>
              <a:t>args</a:t>
            </a:r>
            <a:r>
              <a:rPr lang="en-US" sz="2000" dirty="0"/>
              <a:t>) {</a:t>
            </a:r>
            <a:endParaRPr lang="en-US" sz="2000" dirty="0"/>
          </a:p>
          <a:p>
            <a:r>
              <a:rPr lang="en-US" sz="2000" dirty="0"/>
              <a:t>        // 1. Prepare tasks</a:t>
            </a:r>
            <a:endParaRPr lang="en-US" sz="2000" dirty="0"/>
          </a:p>
          <a:p>
            <a:r>
              <a:rPr lang="en-US" sz="2000" dirty="0"/>
              <a:t>        List&lt;Task&gt; tasks = </a:t>
            </a:r>
            <a:r>
              <a:rPr lang="en-US" sz="2000" dirty="0" err="1"/>
              <a:t>prepareTasks</a:t>
            </a:r>
            <a:r>
              <a:rPr lang="en-US" sz="2000" dirty="0"/>
              <a:t>();</a:t>
            </a:r>
            <a:endParaRPr lang="en-US" sz="2000" dirty="0"/>
          </a:p>
          <a:p>
            <a:endParaRPr lang="en-US" sz="2000" dirty="0"/>
          </a:p>
          <a:p>
            <a:r>
              <a:rPr lang="en-US" sz="2000" dirty="0"/>
              <a:t>        // 2. Initialize control thread</a:t>
            </a:r>
            <a:endParaRPr lang="en-US" sz="2000" dirty="0"/>
          </a:p>
          <a:p>
            <a:r>
              <a:rPr lang="en-US" sz="2000" dirty="0"/>
              <a:t>        </a:t>
            </a:r>
            <a:r>
              <a:rPr lang="en-US" sz="2000" dirty="0" err="1"/>
              <a:t>ControlThread</a:t>
            </a:r>
            <a:r>
              <a:rPr lang="en-US" sz="2000" dirty="0"/>
              <a:t> controller = new </a:t>
            </a:r>
            <a:r>
              <a:rPr lang="en-US" sz="2000" dirty="0" err="1"/>
              <a:t>ControlThread</a:t>
            </a:r>
            <a:r>
              <a:rPr lang="en-US" sz="2000" dirty="0"/>
              <a:t>(4);</a:t>
            </a:r>
            <a:endParaRPr lang="en-US" sz="2000" dirty="0"/>
          </a:p>
          <a:p>
            <a:endParaRPr lang="en-US" sz="2000" dirty="0"/>
          </a:p>
          <a:p>
            <a:r>
              <a:rPr lang="en-US" sz="2000" dirty="0"/>
              <a:t>        // 3. Start processing</a:t>
            </a:r>
            <a:endParaRPr lang="en-US" sz="2000" dirty="0"/>
          </a:p>
          <a:p>
            <a:r>
              <a:rPr lang="en-US" sz="2000" dirty="0"/>
              <a:t>        </a:t>
            </a:r>
            <a:r>
              <a:rPr lang="en-US" sz="2000" dirty="0" err="1"/>
              <a:t>controller.startProcessing</a:t>
            </a:r>
            <a:r>
              <a:rPr lang="en-US" sz="2000" dirty="0"/>
              <a:t>(tasks);</a:t>
            </a:r>
            <a:endParaRPr lang="en-US" sz="2000" dirty="0"/>
          </a:p>
          <a:p>
            <a:endParaRPr lang="en-US" sz="2000" dirty="0"/>
          </a:p>
          <a:p>
            <a:r>
              <a:rPr lang="en-US" sz="2000" dirty="0"/>
              <a:t>        // 4. Start result collector</a:t>
            </a:r>
            <a:endParaRPr lang="en-US" sz="2000" dirty="0"/>
          </a:p>
          <a:p>
            <a:r>
              <a:rPr lang="en-US" sz="2000" dirty="0"/>
              <a:t>        new Thread(new </a:t>
            </a:r>
            <a:r>
              <a:rPr lang="en-US" sz="2000" dirty="0" err="1"/>
              <a:t>ResultCollectorThread</a:t>
            </a:r>
            <a:r>
              <a:rPr lang="en-US" sz="2000" dirty="0"/>
              <a:t>(</a:t>
            </a:r>
            <a:r>
              <a:rPr lang="en-US" sz="2000" dirty="0" err="1"/>
              <a:t>controller.getFutureCollection</a:t>
            </a:r>
            <a:r>
              <a:rPr lang="en-US" sz="2000" dirty="0"/>
              <a:t>())).start();</a:t>
            </a:r>
            <a:endParaRPr lang="en-US" sz="2000" dirty="0"/>
          </a:p>
          <a:p>
            <a:endParaRPr lang="en-US" sz="2000" dirty="0"/>
          </a:p>
          <a:p>
            <a:r>
              <a:rPr lang="en-US" sz="2000" dirty="0"/>
              <a:t>        // 5. Proper shutdown</a:t>
            </a:r>
            <a:endParaRPr lang="en-US" sz="2000" dirty="0"/>
          </a:p>
          <a:p>
            <a:r>
              <a:rPr lang="en-US" sz="2000" dirty="0"/>
              <a:t>        </a:t>
            </a:r>
            <a:r>
              <a:rPr lang="en-US" sz="2000" dirty="0" err="1"/>
              <a:t>Runtime.getRuntime</a:t>
            </a:r>
            <a:r>
              <a:rPr lang="en-US" sz="2000" dirty="0"/>
              <a:t>().</a:t>
            </a:r>
            <a:r>
              <a:rPr lang="en-US" sz="2000" dirty="0" err="1"/>
              <a:t>addShutdownHook</a:t>
            </a:r>
            <a:r>
              <a:rPr lang="en-US" sz="2000" dirty="0"/>
              <a:t>(new Thread(() -&gt; {</a:t>
            </a:r>
            <a:endParaRPr lang="en-US" sz="2000" dirty="0"/>
          </a:p>
          <a:p>
            <a:r>
              <a:rPr lang="en-US" sz="2000" dirty="0"/>
              <a:t>            </a:t>
            </a:r>
            <a:r>
              <a:rPr lang="en-US" sz="2000" dirty="0" err="1"/>
              <a:t>controller.shutdown</a:t>
            </a:r>
            <a:r>
              <a:rPr lang="en-US" sz="2000" dirty="0"/>
              <a:t>();</a:t>
            </a:r>
            <a:endParaRPr lang="en-US" sz="2000" dirty="0"/>
          </a:p>
          <a:p>
            <a:r>
              <a:rPr lang="en-US" sz="2000" dirty="0"/>
              <a:t>        }));</a:t>
            </a:r>
            <a:endParaRPr lang="en-US" sz="2000" dirty="0"/>
          </a:p>
          <a:p>
            <a:r>
              <a:rPr lang="en-US" sz="2000" dirty="0"/>
              <a:t>    }</a:t>
            </a:r>
            <a:endParaRPr lang="en-US" sz="2000" dirty="0"/>
          </a:p>
          <a:p>
            <a:endParaRPr lang="en-US" sz="2000" dirty="0"/>
          </a:p>
          <a:p>
            <a:r>
              <a:rPr lang="en-US" sz="2000" dirty="0"/>
              <a:t>    private static List&lt;Task&gt; </a:t>
            </a:r>
            <a:r>
              <a:rPr lang="en-US" sz="2000" dirty="0" err="1"/>
              <a:t>prepareTasks</a:t>
            </a:r>
            <a:r>
              <a:rPr lang="en-US" sz="2000" dirty="0"/>
              <a:t>() {</a:t>
            </a:r>
            <a:endParaRPr lang="en-US" sz="2000" dirty="0"/>
          </a:p>
          <a:p>
            <a:r>
              <a:rPr lang="en-US" sz="2000" dirty="0"/>
              <a:t>        // Return list of tasks to execute</a:t>
            </a:r>
            <a:endParaRPr lang="en-US" sz="2000" dirty="0"/>
          </a:p>
          <a:p>
            <a:r>
              <a:rPr lang="en-US" sz="2000" dirty="0"/>
              <a:t>        return </a:t>
            </a:r>
            <a:r>
              <a:rPr lang="en-US" sz="2000" dirty="0" err="1"/>
              <a:t>Arrays.asList</a:t>
            </a:r>
            <a:r>
              <a:rPr lang="en-US" sz="2000" dirty="0"/>
              <a:t>(</a:t>
            </a:r>
            <a:endParaRPr lang="en-US" sz="2000" dirty="0"/>
          </a:p>
          <a:p>
            <a:r>
              <a:rPr lang="en-US" sz="2000" dirty="0"/>
              <a:t>            new Task("Task1"),</a:t>
            </a:r>
            <a:endParaRPr lang="en-US" sz="2000" dirty="0"/>
          </a:p>
          <a:p>
            <a:r>
              <a:rPr lang="en-US" sz="2000" dirty="0"/>
              <a:t>            new Task("Task2"),</a:t>
            </a:r>
            <a:endParaRPr lang="en-US" sz="2000" dirty="0"/>
          </a:p>
          <a:p>
            <a:r>
              <a:rPr lang="en-US" sz="2000" dirty="0"/>
              <a:t>            new Task("Task3")</a:t>
            </a:r>
            <a:endParaRPr lang="en-US" sz="2000" dirty="0"/>
          </a:p>
          <a:p>
            <a:r>
              <a:rPr lang="en-US" sz="2000" dirty="0"/>
              <a:t>        );</a:t>
            </a:r>
            <a:endParaRPr lang="en-US" sz="2000" dirty="0"/>
          </a:p>
          <a:p>
            <a:r>
              <a:rPr lang="en-US" sz="2000" dirty="0"/>
              <a:t>    }</a:t>
            </a:r>
            <a:endParaRPr lang="en-US" sz="2000" dirty="0"/>
          </a:p>
          <a:p>
            <a:r>
              <a:rPr lang="en-US" sz="2000" dirty="0"/>
              <a:t>}</a:t>
            </a:r>
            <a:endParaRPr lang="en-US" sz="2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graphicFrame>
        <p:nvGraphicFramePr>
          <p:cNvPr id="5" name="Table 4"/>
          <p:cNvGraphicFramePr>
            <a:graphicFrameLocks noGrp="1"/>
          </p:cNvGraphicFramePr>
          <p:nvPr/>
        </p:nvGraphicFramePr>
        <p:xfrm>
          <a:off x="304800" y="2133600"/>
          <a:ext cx="11388725" cy="3344184"/>
        </p:xfrm>
        <a:graphic>
          <a:graphicData uri="http://schemas.openxmlformats.org/drawingml/2006/table">
            <a:tbl>
              <a:tblPr/>
              <a:tblGrid>
                <a:gridCol w="4191000"/>
                <a:gridCol w="7197725"/>
              </a:tblGrid>
              <a:tr h="0">
                <a:tc>
                  <a:txBody>
                    <a:bodyPr/>
                    <a:lstStyle/>
                    <a:p>
                      <a:pPr algn="l"/>
                      <a:r>
                        <a:rPr lang="en-US" sz="2400" b="1" dirty="0">
                          <a:solidFill>
                            <a:srgbClr val="404040"/>
                          </a:solidFill>
                          <a:effectLst/>
                        </a:rPr>
                        <a:t>Feature</a:t>
                      </a:r>
                      <a:endParaRPr lang="en-US" sz="2400" b="1" dirty="0">
                        <a:solidFill>
                          <a:srgbClr val="404040"/>
                        </a:solidFill>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400" b="1">
                          <a:solidFill>
                            <a:srgbClr val="404040"/>
                          </a:solidFill>
                          <a:effectLst/>
                        </a:rPr>
                        <a:t>Implementation</a:t>
                      </a:r>
                      <a:endParaRPr lang="en-US" sz="2400" b="1">
                        <a:solidFill>
                          <a:srgbClr val="404040"/>
                        </a:solidFill>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sz="2400" b="1">
                          <a:effectLst/>
                        </a:rPr>
                        <a:t>Separation of Concerns</a:t>
                      </a:r>
                      <a:endParaRPr lang="en-US" sz="240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effectLst/>
                        </a:rPr>
                        <a:t>Clear division between control, work, and collection</a:t>
                      </a:r>
                      <a:endParaRPr lang="en-US" sz="240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sz="2400" b="1">
                          <a:effectLst/>
                        </a:rPr>
                        <a:t>Non-blocking Monitoring</a:t>
                      </a:r>
                      <a:endParaRPr lang="en-US" sz="240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effectLst/>
                        </a:rPr>
                        <a:t>Result collector checks status without blocking main thread</a:t>
                      </a:r>
                      <a:endParaRPr lang="en-US" sz="240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sz="2400" b="1">
                          <a:effectLst/>
                        </a:rPr>
                        <a:t>Error Handling</a:t>
                      </a:r>
                      <a:endParaRPr lang="en-US" sz="240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effectLst/>
                        </a:rPr>
                        <a:t>Proper exception handling in result collector</a:t>
                      </a:r>
                      <a:endParaRPr lang="en-US" sz="240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sz="2400" b="1">
                          <a:effectLst/>
                        </a:rPr>
                        <a:t>Resource Management</a:t>
                      </a:r>
                      <a:endParaRPr lang="en-US" sz="240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effectLst/>
                        </a:rPr>
                        <a:t>ExecutorService lifecycle management</a:t>
                      </a:r>
                      <a:endParaRPr lang="en-US" sz="240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sz="2400" b="1" dirty="0">
                          <a:effectLst/>
                        </a:rPr>
                        <a:t>Thread Safety</a:t>
                      </a:r>
                      <a:endParaRPr lang="en-US" sz="2400" dirty="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effectLst/>
                        </a:rPr>
                        <a:t>Unmodifiable future collection for safe sharing</a:t>
                      </a:r>
                      <a:endParaRPr lang="en-US" sz="2400" dirty="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7" name="Rectangle 6"/>
          <p:cNvSpPr/>
          <p:nvPr/>
        </p:nvSpPr>
        <p:spPr>
          <a:xfrm>
            <a:off x="3200400" y="533400"/>
            <a:ext cx="4247381" cy="523220"/>
          </a:xfrm>
          <a:prstGeom prst="rect">
            <a:avLst/>
          </a:prstGeom>
        </p:spPr>
        <p:txBody>
          <a:bodyPr wrap="none">
            <a:spAutoFit/>
          </a:bodyPr>
          <a:lstStyle/>
          <a:p>
            <a:r>
              <a:rPr lang="en-US" sz="2800" b="1" dirty="0">
                <a:solidFill>
                  <a:srgbClr val="FF0000"/>
                </a:solidFill>
              </a:rPr>
              <a:t>IV. Key Design Features</a:t>
            </a:r>
            <a:endParaRPr lang="en-US" sz="2800" b="1" dirty="0">
              <a:solidFill>
                <a:srgbClr val="FF0000"/>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3048000" y="457200"/>
            <a:ext cx="5731056" cy="523220"/>
          </a:xfrm>
          <a:prstGeom prst="rect">
            <a:avLst/>
          </a:prstGeom>
        </p:spPr>
        <p:txBody>
          <a:bodyPr wrap="none">
            <a:spAutoFit/>
          </a:bodyPr>
          <a:lstStyle/>
          <a:p>
            <a:r>
              <a:rPr lang="en-US" sz="2800" b="1" dirty="0">
                <a:solidFill>
                  <a:srgbClr val="FF0000"/>
                </a:solidFill>
                <a:latin typeface="DeepSeek-CJK-patch"/>
              </a:rPr>
              <a:t>V. Performance Optimization Options</a:t>
            </a:r>
            <a:endParaRPr lang="en-US" sz="2800" b="0" i="0" dirty="0">
              <a:solidFill>
                <a:srgbClr val="FF0000"/>
              </a:solidFill>
              <a:effectLst/>
              <a:latin typeface="DeepSeek-CJK-patch"/>
            </a:endParaRPr>
          </a:p>
        </p:txBody>
      </p:sp>
      <p:sp>
        <p:nvSpPr>
          <p:cNvPr id="4" name="Rectangle 3"/>
          <p:cNvSpPr/>
          <p:nvPr/>
        </p:nvSpPr>
        <p:spPr>
          <a:xfrm>
            <a:off x="381000" y="1443841"/>
            <a:ext cx="10820400" cy="4399915"/>
          </a:xfrm>
          <a:prstGeom prst="rect">
            <a:avLst/>
          </a:prstGeom>
        </p:spPr>
        <p:txBody>
          <a:bodyPr wrap="square">
            <a:spAutoFit/>
          </a:bodyPr>
          <a:lstStyle/>
          <a:p>
            <a:pPr marL="342900" indent="-342900">
              <a:buFont typeface="+mj-lt"/>
              <a:buAutoNum type="arabicPeriod"/>
            </a:pPr>
            <a:r>
              <a:rPr lang="en-US" sz="2000" b="1" u="sng" dirty="0"/>
              <a:t>Callback Mechanism (Alternative to polling)</a:t>
            </a:r>
            <a:r>
              <a:rPr lang="zh-CN" altLang="en-US" sz="2000" b="1" u="sng" dirty="0"/>
              <a:t>回调机制，轮询的替代方案</a:t>
            </a:r>
            <a:endParaRPr lang="en-US" sz="2000" b="1" u="sng" dirty="0"/>
          </a:p>
          <a:p>
            <a:r>
              <a:rPr lang="en-US" sz="2000" dirty="0" err="1"/>
              <a:t>future.thenAccept</a:t>
            </a:r>
            <a:r>
              <a:rPr lang="en-US" sz="2000" dirty="0"/>
              <a:t>(result -&gt; </a:t>
            </a:r>
            <a:r>
              <a:rPr lang="en-US" sz="2000" dirty="0" err="1"/>
              <a:t>handleCompletion</a:t>
            </a:r>
            <a:r>
              <a:rPr lang="en-US" sz="2000" dirty="0"/>
              <a:t>(result));</a:t>
            </a:r>
            <a:endParaRPr lang="en-US" sz="2000" dirty="0"/>
          </a:p>
          <a:p>
            <a:endParaRPr lang="en-US" sz="2000" dirty="0"/>
          </a:p>
          <a:p>
            <a:r>
              <a:rPr lang="en-US" sz="2000" b="1" dirty="0"/>
              <a:t>2. </a:t>
            </a:r>
            <a:r>
              <a:rPr lang="en-US" sz="2000" b="1" u="sng" dirty="0" err="1"/>
              <a:t>CompletionService</a:t>
            </a:r>
            <a:r>
              <a:rPr lang="en-US" sz="2000" b="1" u="sng" dirty="0"/>
              <a:t> (For result ordering):</a:t>
            </a:r>
            <a:r>
              <a:rPr lang="zh-CN" altLang="en-US" sz="2000" b="1" u="sng" dirty="0"/>
              <a:t>用于结果排序</a:t>
            </a:r>
            <a:endParaRPr lang="en-US" sz="2000" b="1" u="sng" dirty="0"/>
          </a:p>
          <a:p>
            <a:r>
              <a:rPr lang="en-US" sz="2000" dirty="0" err="1"/>
              <a:t>CompletionService</a:t>
            </a:r>
            <a:r>
              <a:rPr lang="en-US" sz="2000" dirty="0"/>
              <a:t>&lt;Result&gt; cs = new </a:t>
            </a:r>
            <a:r>
              <a:rPr lang="en-US" sz="2000" dirty="0" err="1"/>
              <a:t>ExecutorCompletionService</a:t>
            </a:r>
            <a:r>
              <a:rPr lang="en-US" sz="2000" dirty="0"/>
              <a:t>&lt;&gt;(executor);</a:t>
            </a:r>
            <a:endParaRPr lang="en-US" sz="2000" dirty="0"/>
          </a:p>
          <a:p>
            <a:r>
              <a:rPr lang="en-US" sz="2000" dirty="0"/>
              <a:t>Future&lt;Result&gt; future = </a:t>
            </a:r>
            <a:r>
              <a:rPr lang="en-US" sz="2000" dirty="0" err="1"/>
              <a:t>cs.submit</a:t>
            </a:r>
            <a:r>
              <a:rPr lang="en-US" sz="2000" dirty="0"/>
              <a:t>(new </a:t>
            </a:r>
            <a:r>
              <a:rPr lang="en-US" sz="2000" dirty="0" err="1"/>
              <a:t>WorkerThread</a:t>
            </a:r>
            <a:r>
              <a:rPr lang="en-US" sz="2000" dirty="0"/>
              <a:t>(task));</a:t>
            </a:r>
            <a:endParaRPr lang="en-US" sz="2000" dirty="0"/>
          </a:p>
          <a:p>
            <a:r>
              <a:rPr lang="en-US" sz="2000" dirty="0"/>
              <a:t>Result </a:t>
            </a:r>
            <a:r>
              <a:rPr lang="en-US" sz="2000" dirty="0" err="1"/>
              <a:t>result</a:t>
            </a:r>
            <a:r>
              <a:rPr lang="en-US" sz="2000" dirty="0"/>
              <a:t> = </a:t>
            </a:r>
            <a:r>
              <a:rPr lang="en-US" sz="2000" dirty="0" err="1"/>
              <a:t>cs.take</a:t>
            </a:r>
            <a:r>
              <a:rPr lang="en-US" sz="2000" dirty="0"/>
              <a:t>().get(); // Gets results in completion order</a:t>
            </a:r>
            <a:endParaRPr lang="en-US" sz="2000" dirty="0"/>
          </a:p>
          <a:p>
            <a:endParaRPr lang="en-US" sz="2000" dirty="0"/>
          </a:p>
          <a:p>
            <a:r>
              <a:rPr lang="en-US" sz="2000" b="1" dirty="0"/>
              <a:t>3. </a:t>
            </a:r>
            <a:r>
              <a:rPr lang="en-US" sz="2000" b="1" u="sng" dirty="0"/>
              <a:t>Timeout Handling:</a:t>
            </a:r>
            <a:r>
              <a:rPr lang="zh-CN" altLang="en-US" sz="2000" b="1" u="sng" dirty="0"/>
              <a:t>按顺序获取返回的结果</a:t>
            </a:r>
            <a:endParaRPr lang="en-US" sz="2000" b="1" u="sng" dirty="0"/>
          </a:p>
          <a:p>
            <a:r>
              <a:rPr lang="en-US" sz="2000" dirty="0"/>
              <a:t>try {</a:t>
            </a:r>
            <a:endParaRPr lang="en-US" sz="2000" dirty="0"/>
          </a:p>
          <a:p>
            <a:r>
              <a:rPr lang="en-US" sz="2000" dirty="0"/>
              <a:t>    Result </a:t>
            </a:r>
            <a:r>
              <a:rPr lang="en-US" sz="2000" dirty="0" err="1"/>
              <a:t>result</a:t>
            </a:r>
            <a:r>
              <a:rPr lang="en-US" sz="2000" dirty="0"/>
              <a:t> = </a:t>
            </a:r>
            <a:r>
              <a:rPr lang="en-US" sz="2000" dirty="0" err="1"/>
              <a:t>future.get</a:t>
            </a:r>
            <a:r>
              <a:rPr lang="en-US" sz="2000" dirty="0"/>
              <a:t>(1, </a:t>
            </a:r>
            <a:r>
              <a:rPr lang="en-US" sz="2000" dirty="0" err="1"/>
              <a:t>TimeUnit.SECONDS</a:t>
            </a:r>
            <a:r>
              <a:rPr lang="en-US" sz="2000" dirty="0"/>
              <a:t>);</a:t>
            </a:r>
            <a:endParaRPr lang="en-US" sz="2000" dirty="0"/>
          </a:p>
          <a:p>
            <a:r>
              <a:rPr lang="en-US" sz="2000" dirty="0"/>
              <a:t>} catch (</a:t>
            </a:r>
            <a:r>
              <a:rPr lang="en-US" sz="2000" dirty="0" err="1"/>
              <a:t>TimeoutException</a:t>
            </a:r>
            <a:r>
              <a:rPr lang="en-US" sz="2000" dirty="0"/>
              <a:t> e) {</a:t>
            </a:r>
            <a:endParaRPr lang="en-US" sz="2000" dirty="0"/>
          </a:p>
          <a:p>
            <a:r>
              <a:rPr lang="en-US" sz="2000" dirty="0"/>
              <a:t>    </a:t>
            </a:r>
            <a:r>
              <a:rPr lang="en-US" sz="2000" dirty="0" err="1"/>
              <a:t>future.cancel</a:t>
            </a:r>
            <a:r>
              <a:rPr lang="en-US" sz="2000" dirty="0"/>
              <a:t>(true);</a:t>
            </a:r>
            <a:endParaRPr lang="en-US" sz="2000" dirty="0"/>
          </a:p>
          <a:p>
            <a:r>
              <a:rPr lang="en-US" sz="2000" dirty="0"/>
              <a:t>}</a:t>
            </a:r>
            <a:endParaRPr lang="en-US" sz="2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4" name="Rectangle 3"/>
          <p:cNvSpPr/>
          <p:nvPr/>
        </p:nvSpPr>
        <p:spPr>
          <a:xfrm>
            <a:off x="152399" y="76199"/>
            <a:ext cx="5181602" cy="6494085"/>
          </a:xfrm>
          <a:prstGeom prst="rect">
            <a:avLst/>
          </a:prstGeom>
        </p:spPr>
        <p:txBody>
          <a:bodyPr wrap="square">
            <a:spAutoFit/>
          </a:bodyPr>
          <a:lstStyle/>
          <a:p>
            <a:r>
              <a:rPr lang="en-US" sz="1600" dirty="0"/>
              <a:t>import </a:t>
            </a:r>
            <a:r>
              <a:rPr lang="en-US" sz="1600" dirty="0" err="1"/>
              <a:t>java.util.concurrent.Callable</a:t>
            </a:r>
            <a:r>
              <a:rPr lang="en-US" sz="1600" dirty="0"/>
              <a:t>;</a:t>
            </a:r>
            <a:endParaRPr lang="en-US" sz="1600" dirty="0"/>
          </a:p>
          <a:p>
            <a:r>
              <a:rPr lang="en-US" sz="1600" dirty="0"/>
              <a:t>import </a:t>
            </a:r>
            <a:r>
              <a:rPr lang="en-US" sz="1600" dirty="0" err="1"/>
              <a:t>java.util.concurrent.ExecutionException</a:t>
            </a:r>
            <a:r>
              <a:rPr lang="en-US" sz="1600" dirty="0"/>
              <a:t>;</a:t>
            </a:r>
            <a:endParaRPr lang="en-US" sz="1600" dirty="0"/>
          </a:p>
          <a:p>
            <a:r>
              <a:rPr lang="en-US" sz="1600" dirty="0"/>
              <a:t>import </a:t>
            </a:r>
            <a:r>
              <a:rPr lang="en-US" sz="1600" dirty="0" err="1"/>
              <a:t>java.util.concurrent.ExecutorService</a:t>
            </a:r>
            <a:r>
              <a:rPr lang="en-US" sz="1600" dirty="0"/>
              <a:t>;</a:t>
            </a:r>
            <a:endParaRPr lang="en-US" sz="1600" dirty="0"/>
          </a:p>
          <a:p>
            <a:r>
              <a:rPr lang="en-US" sz="1600" dirty="0"/>
              <a:t>import </a:t>
            </a:r>
            <a:r>
              <a:rPr lang="en-US" sz="1600" dirty="0" err="1"/>
              <a:t>java.util.concurrent.Executors</a:t>
            </a:r>
            <a:r>
              <a:rPr lang="en-US" sz="1600" dirty="0"/>
              <a:t>;</a:t>
            </a:r>
            <a:endParaRPr lang="en-US" sz="1600" dirty="0"/>
          </a:p>
          <a:p>
            <a:r>
              <a:rPr lang="en-US" sz="1600" dirty="0"/>
              <a:t>import </a:t>
            </a:r>
            <a:r>
              <a:rPr lang="en-US" sz="1600" dirty="0" err="1"/>
              <a:t>java.util.concurrent.Future</a:t>
            </a:r>
            <a:r>
              <a:rPr lang="en-US" sz="1600" dirty="0"/>
              <a:t>;</a:t>
            </a:r>
            <a:endParaRPr lang="en-US" sz="1600" dirty="0"/>
          </a:p>
          <a:p>
            <a:endParaRPr lang="en-US" sz="1600" dirty="0"/>
          </a:p>
          <a:p>
            <a:r>
              <a:rPr lang="en-US" sz="1600" b="1" dirty="0">
                <a:solidFill>
                  <a:srgbClr val="FF0000"/>
                </a:solidFill>
              </a:rPr>
              <a:t>// Asynchronous computing work thread</a:t>
            </a:r>
            <a:endParaRPr lang="en-US" sz="1600" b="1" dirty="0">
              <a:solidFill>
                <a:srgbClr val="FF0000"/>
              </a:solidFill>
            </a:endParaRPr>
          </a:p>
          <a:p>
            <a:r>
              <a:rPr lang="en-US" sz="1600" dirty="0"/>
              <a:t>class </a:t>
            </a:r>
            <a:r>
              <a:rPr lang="en-US" sz="1600" dirty="0" err="1"/>
              <a:t>ComputingTask</a:t>
            </a:r>
            <a:r>
              <a:rPr lang="en-US" sz="1600" dirty="0"/>
              <a:t> implements Callable&lt;Integer&gt; {</a:t>
            </a:r>
            <a:endParaRPr lang="en-US" sz="1600" dirty="0"/>
          </a:p>
          <a:p>
            <a:r>
              <a:rPr lang="en-US" sz="1600" dirty="0">
                <a:solidFill>
                  <a:srgbClr val="00B050"/>
                </a:solidFill>
              </a:rPr>
              <a:t>    private int </a:t>
            </a:r>
            <a:r>
              <a:rPr lang="en-US" sz="1600" dirty="0" err="1">
                <a:solidFill>
                  <a:srgbClr val="00B050"/>
                </a:solidFill>
              </a:rPr>
              <a:t>taskId</a:t>
            </a:r>
            <a:r>
              <a:rPr lang="en-US" sz="1600" dirty="0">
                <a:solidFill>
                  <a:srgbClr val="00B050"/>
                </a:solidFill>
              </a:rPr>
              <a:t>;</a:t>
            </a:r>
            <a:endParaRPr lang="en-US" sz="1600" dirty="0">
              <a:solidFill>
                <a:srgbClr val="00B050"/>
              </a:solidFill>
            </a:endParaRPr>
          </a:p>
          <a:p>
            <a:endParaRPr lang="en-US" sz="1600" dirty="0">
              <a:solidFill>
                <a:srgbClr val="00B050"/>
              </a:solidFill>
            </a:endParaRPr>
          </a:p>
          <a:p>
            <a:r>
              <a:rPr lang="en-US" sz="1600" dirty="0">
                <a:solidFill>
                  <a:srgbClr val="00B050"/>
                </a:solidFill>
              </a:rPr>
              <a:t>    public </a:t>
            </a:r>
            <a:r>
              <a:rPr lang="en-US" sz="1600" dirty="0" err="1">
                <a:solidFill>
                  <a:srgbClr val="00B050"/>
                </a:solidFill>
              </a:rPr>
              <a:t>ComputingTask</a:t>
            </a:r>
            <a:r>
              <a:rPr lang="en-US" sz="1600" dirty="0">
                <a:solidFill>
                  <a:srgbClr val="00B050"/>
                </a:solidFill>
              </a:rPr>
              <a:t>(int </a:t>
            </a:r>
            <a:r>
              <a:rPr lang="en-US" sz="1600" dirty="0" err="1">
                <a:solidFill>
                  <a:srgbClr val="00B050"/>
                </a:solidFill>
              </a:rPr>
              <a:t>taskId</a:t>
            </a:r>
            <a:r>
              <a:rPr lang="en-US" sz="1600" dirty="0">
                <a:solidFill>
                  <a:srgbClr val="00B050"/>
                </a:solidFill>
              </a:rPr>
              <a:t>) {</a:t>
            </a:r>
            <a:endParaRPr lang="en-US" sz="1600" dirty="0">
              <a:solidFill>
                <a:srgbClr val="00B050"/>
              </a:solidFill>
            </a:endParaRPr>
          </a:p>
          <a:p>
            <a:r>
              <a:rPr lang="en-US" sz="1600" dirty="0">
                <a:solidFill>
                  <a:srgbClr val="00B050"/>
                </a:solidFill>
              </a:rPr>
              <a:t>        </a:t>
            </a:r>
            <a:r>
              <a:rPr lang="en-US" sz="1600" dirty="0" err="1">
                <a:solidFill>
                  <a:srgbClr val="00B050"/>
                </a:solidFill>
              </a:rPr>
              <a:t>this.taskId</a:t>
            </a:r>
            <a:r>
              <a:rPr lang="en-US" sz="1600" dirty="0">
                <a:solidFill>
                  <a:srgbClr val="00B050"/>
                </a:solidFill>
              </a:rPr>
              <a:t> = </a:t>
            </a:r>
            <a:r>
              <a:rPr lang="en-US" sz="1600" dirty="0" err="1">
                <a:solidFill>
                  <a:srgbClr val="00B050"/>
                </a:solidFill>
              </a:rPr>
              <a:t>taskId</a:t>
            </a:r>
            <a:r>
              <a:rPr lang="en-US" sz="1600" dirty="0">
                <a:solidFill>
                  <a:srgbClr val="00B050"/>
                </a:solidFill>
              </a:rPr>
              <a:t>;</a:t>
            </a:r>
            <a:endParaRPr lang="en-US" sz="1600" dirty="0">
              <a:solidFill>
                <a:srgbClr val="00B050"/>
              </a:solidFill>
            </a:endParaRPr>
          </a:p>
          <a:p>
            <a:r>
              <a:rPr lang="en-US" sz="1600" dirty="0">
                <a:solidFill>
                  <a:srgbClr val="00B050"/>
                </a:solidFill>
              </a:rPr>
              <a:t>    }</a:t>
            </a:r>
            <a:endParaRPr lang="en-US" sz="1600" dirty="0">
              <a:solidFill>
                <a:srgbClr val="00B050"/>
              </a:solidFill>
            </a:endParaRPr>
          </a:p>
          <a:p>
            <a:endParaRPr lang="en-US" sz="1600" dirty="0">
              <a:solidFill>
                <a:srgbClr val="00B050"/>
              </a:solidFill>
            </a:endParaRPr>
          </a:p>
          <a:p>
            <a:r>
              <a:rPr lang="en-US" sz="1600" dirty="0">
                <a:solidFill>
                  <a:srgbClr val="00B050"/>
                </a:solidFill>
              </a:rPr>
              <a:t>    @Override</a:t>
            </a:r>
            <a:endParaRPr lang="en-US" sz="1600" dirty="0">
              <a:solidFill>
                <a:srgbClr val="00B050"/>
              </a:solidFill>
            </a:endParaRPr>
          </a:p>
          <a:p>
            <a:r>
              <a:rPr lang="en-US" sz="1600" dirty="0">
                <a:solidFill>
                  <a:srgbClr val="00B050"/>
                </a:solidFill>
              </a:rPr>
              <a:t>    public Integer call() {</a:t>
            </a:r>
            <a:endParaRPr lang="en-US" sz="1600" dirty="0">
              <a:solidFill>
                <a:srgbClr val="00B050"/>
              </a:solidFill>
            </a:endParaRPr>
          </a:p>
          <a:p>
            <a:r>
              <a:rPr lang="en-US" sz="1600" dirty="0">
                <a:solidFill>
                  <a:srgbClr val="00B050"/>
                </a:solidFill>
              </a:rPr>
              <a:t>        // Simulate some computation</a:t>
            </a:r>
            <a:endParaRPr lang="en-US" sz="1600" dirty="0">
              <a:solidFill>
                <a:srgbClr val="00B050"/>
              </a:solidFill>
            </a:endParaRPr>
          </a:p>
          <a:p>
            <a:r>
              <a:rPr lang="en-US" sz="1600" dirty="0">
                <a:solidFill>
                  <a:srgbClr val="00B050"/>
                </a:solidFill>
              </a:rPr>
              <a:t>        </a:t>
            </a:r>
            <a:r>
              <a:rPr lang="en-US" sz="1600" dirty="0" err="1">
                <a:solidFill>
                  <a:srgbClr val="00B050"/>
                </a:solidFill>
              </a:rPr>
              <a:t>System.out.println</a:t>
            </a:r>
            <a:r>
              <a:rPr lang="en-US" sz="1600" dirty="0">
                <a:solidFill>
                  <a:srgbClr val="00B050"/>
                </a:solidFill>
              </a:rPr>
              <a:t>("Computing task " + </a:t>
            </a:r>
            <a:r>
              <a:rPr lang="en-US" sz="1600" dirty="0" err="1">
                <a:solidFill>
                  <a:srgbClr val="00B050"/>
                </a:solidFill>
              </a:rPr>
              <a:t>taskId</a:t>
            </a:r>
            <a:r>
              <a:rPr lang="en-US" sz="1600" dirty="0">
                <a:solidFill>
                  <a:srgbClr val="00B050"/>
                </a:solidFill>
              </a:rPr>
              <a:t>);</a:t>
            </a:r>
            <a:endParaRPr lang="en-US" sz="1600" dirty="0">
              <a:solidFill>
                <a:srgbClr val="00B050"/>
              </a:solidFill>
            </a:endParaRPr>
          </a:p>
          <a:p>
            <a:r>
              <a:rPr lang="en-US" sz="1600" dirty="0">
                <a:solidFill>
                  <a:srgbClr val="00B050"/>
                </a:solidFill>
              </a:rPr>
              <a:t>        try {</a:t>
            </a:r>
            <a:endParaRPr lang="en-US" sz="1600" dirty="0">
              <a:solidFill>
                <a:srgbClr val="00B050"/>
              </a:solidFill>
            </a:endParaRPr>
          </a:p>
          <a:p>
            <a:r>
              <a:rPr lang="en-US" sz="1600" dirty="0">
                <a:solidFill>
                  <a:srgbClr val="00B050"/>
                </a:solidFill>
              </a:rPr>
              <a:t>            </a:t>
            </a:r>
            <a:r>
              <a:rPr lang="en-US" sz="1600" dirty="0" err="1">
                <a:solidFill>
                  <a:srgbClr val="00B050"/>
                </a:solidFill>
              </a:rPr>
              <a:t>Thread.sleep</a:t>
            </a:r>
            <a:r>
              <a:rPr lang="en-US" sz="1600" dirty="0">
                <a:solidFill>
                  <a:srgbClr val="00B050"/>
                </a:solidFill>
              </a:rPr>
              <a:t>(1000);</a:t>
            </a:r>
            <a:endParaRPr lang="en-US" sz="1600" dirty="0">
              <a:solidFill>
                <a:srgbClr val="00B050"/>
              </a:solidFill>
            </a:endParaRPr>
          </a:p>
          <a:p>
            <a:r>
              <a:rPr lang="en-US" sz="1600" dirty="0">
                <a:solidFill>
                  <a:srgbClr val="00B050"/>
                </a:solidFill>
              </a:rPr>
              <a:t>        } catch (</a:t>
            </a:r>
            <a:r>
              <a:rPr lang="en-US" sz="1600" dirty="0" err="1">
                <a:solidFill>
                  <a:srgbClr val="00B050"/>
                </a:solidFill>
              </a:rPr>
              <a:t>InterruptedException</a:t>
            </a:r>
            <a:r>
              <a:rPr lang="en-US" sz="1600" dirty="0">
                <a:solidFill>
                  <a:srgbClr val="00B050"/>
                </a:solidFill>
              </a:rPr>
              <a:t> e) {</a:t>
            </a:r>
            <a:endParaRPr lang="en-US" sz="1600" dirty="0">
              <a:solidFill>
                <a:srgbClr val="00B050"/>
              </a:solidFill>
            </a:endParaRPr>
          </a:p>
          <a:p>
            <a:r>
              <a:rPr lang="en-US" sz="1600" dirty="0">
                <a:solidFill>
                  <a:srgbClr val="00B050"/>
                </a:solidFill>
              </a:rPr>
              <a:t>            </a:t>
            </a:r>
            <a:r>
              <a:rPr lang="en-US" sz="1600" dirty="0" err="1">
                <a:solidFill>
                  <a:srgbClr val="00B050"/>
                </a:solidFill>
              </a:rPr>
              <a:t>Thread.currentThread</a:t>
            </a:r>
            <a:r>
              <a:rPr lang="en-US" sz="1600" dirty="0">
                <a:solidFill>
                  <a:srgbClr val="00B050"/>
                </a:solidFill>
              </a:rPr>
              <a:t>().interrupt();</a:t>
            </a:r>
            <a:endParaRPr lang="en-US" sz="1600" dirty="0">
              <a:solidFill>
                <a:srgbClr val="00B050"/>
              </a:solidFill>
            </a:endParaRPr>
          </a:p>
          <a:p>
            <a:r>
              <a:rPr lang="en-US" sz="1600" dirty="0">
                <a:solidFill>
                  <a:srgbClr val="00B050"/>
                </a:solidFill>
              </a:rPr>
              <a:t>        }</a:t>
            </a:r>
            <a:endParaRPr lang="en-US" sz="1600" dirty="0">
              <a:solidFill>
                <a:srgbClr val="00B050"/>
              </a:solidFill>
            </a:endParaRPr>
          </a:p>
          <a:p>
            <a:r>
              <a:rPr lang="en-US" sz="1600" dirty="0">
                <a:solidFill>
                  <a:srgbClr val="00B050"/>
                </a:solidFill>
              </a:rPr>
              <a:t>        return </a:t>
            </a:r>
            <a:r>
              <a:rPr lang="en-US" sz="1600" dirty="0" err="1">
                <a:solidFill>
                  <a:srgbClr val="00B050"/>
                </a:solidFill>
              </a:rPr>
              <a:t>taskId</a:t>
            </a:r>
            <a:r>
              <a:rPr lang="en-US" sz="1600" dirty="0">
                <a:solidFill>
                  <a:srgbClr val="00B050"/>
                </a:solidFill>
              </a:rPr>
              <a:t> * 10;</a:t>
            </a:r>
            <a:endParaRPr lang="en-US" sz="1600" dirty="0">
              <a:solidFill>
                <a:srgbClr val="00B050"/>
              </a:solidFill>
            </a:endParaRPr>
          </a:p>
          <a:p>
            <a:r>
              <a:rPr lang="en-US" sz="1600" dirty="0">
                <a:solidFill>
                  <a:srgbClr val="00B050"/>
                </a:solidFill>
              </a:rPr>
              <a:t>    }</a:t>
            </a:r>
            <a:endParaRPr lang="en-US" sz="1600" dirty="0">
              <a:solidFill>
                <a:srgbClr val="00B050"/>
              </a:solidFill>
            </a:endParaRPr>
          </a:p>
          <a:p>
            <a:r>
              <a:rPr lang="en-US" sz="1600" dirty="0"/>
              <a:t>}</a:t>
            </a:r>
            <a:endParaRPr lang="en-US" sz="1600" dirty="0"/>
          </a:p>
        </p:txBody>
      </p:sp>
      <p:sp>
        <p:nvSpPr>
          <p:cNvPr id="5" name="Rectangle 4"/>
          <p:cNvSpPr/>
          <p:nvPr/>
        </p:nvSpPr>
        <p:spPr>
          <a:xfrm>
            <a:off x="5422900" y="1447800"/>
            <a:ext cx="6629402" cy="3139321"/>
          </a:xfrm>
          <a:prstGeom prst="rect">
            <a:avLst/>
          </a:prstGeom>
        </p:spPr>
        <p:txBody>
          <a:bodyPr wrap="square">
            <a:spAutoFit/>
          </a:bodyPr>
          <a:lstStyle/>
          <a:p>
            <a:r>
              <a:rPr lang="en-US" b="1" dirty="0">
                <a:solidFill>
                  <a:srgbClr val="FF0000"/>
                </a:solidFill>
              </a:rPr>
              <a:t>// Asynchronous calculation result collection thread</a:t>
            </a:r>
            <a:endParaRPr lang="en-US" b="1" dirty="0">
              <a:solidFill>
                <a:srgbClr val="FF0000"/>
              </a:solidFill>
            </a:endParaRPr>
          </a:p>
          <a:p>
            <a:r>
              <a:rPr lang="en-US" dirty="0"/>
              <a:t>class </a:t>
            </a:r>
            <a:r>
              <a:rPr lang="en-US" dirty="0" err="1"/>
              <a:t>ResultCollector</a:t>
            </a:r>
            <a:r>
              <a:rPr lang="en-US" dirty="0"/>
              <a:t> {</a:t>
            </a:r>
            <a:endParaRPr lang="en-US" dirty="0"/>
          </a:p>
          <a:p>
            <a:r>
              <a:rPr lang="en-US" dirty="0"/>
              <a:t>    </a:t>
            </a:r>
            <a:r>
              <a:rPr lang="en-US" dirty="0">
                <a:solidFill>
                  <a:srgbClr val="00B050"/>
                </a:solidFill>
              </a:rPr>
              <a:t>public void </a:t>
            </a:r>
            <a:r>
              <a:rPr lang="en-US" dirty="0" err="1">
                <a:solidFill>
                  <a:srgbClr val="00B050"/>
                </a:solidFill>
              </a:rPr>
              <a:t>collectResults</a:t>
            </a:r>
            <a:r>
              <a:rPr lang="en-US" dirty="0">
                <a:solidFill>
                  <a:srgbClr val="00B050"/>
                </a:solidFill>
              </a:rPr>
              <a:t>(Future&lt;Integer&gt; future) {</a:t>
            </a:r>
            <a:endParaRPr lang="en-US" dirty="0">
              <a:solidFill>
                <a:srgbClr val="00B050"/>
              </a:solidFill>
            </a:endParaRPr>
          </a:p>
          <a:p>
            <a:r>
              <a:rPr lang="en-US" dirty="0">
                <a:solidFill>
                  <a:srgbClr val="00B050"/>
                </a:solidFill>
              </a:rPr>
              <a:t>        try {</a:t>
            </a:r>
            <a:endParaRPr lang="en-US" dirty="0">
              <a:solidFill>
                <a:srgbClr val="00B050"/>
              </a:solidFill>
            </a:endParaRPr>
          </a:p>
          <a:p>
            <a:r>
              <a:rPr lang="en-US" dirty="0">
                <a:solidFill>
                  <a:srgbClr val="00B050"/>
                </a:solidFill>
              </a:rPr>
              <a:t>            int result = </a:t>
            </a:r>
            <a:r>
              <a:rPr lang="en-US" dirty="0" err="1">
                <a:solidFill>
                  <a:srgbClr val="00B050"/>
                </a:solidFill>
              </a:rPr>
              <a:t>future.get</a:t>
            </a:r>
            <a:r>
              <a:rPr lang="en-US" dirty="0">
                <a:solidFill>
                  <a:srgbClr val="00B050"/>
                </a:solidFill>
              </a:rPr>
              <a:t>();</a:t>
            </a:r>
            <a:endParaRPr lang="en-US" dirty="0">
              <a:solidFill>
                <a:srgbClr val="00B050"/>
              </a:solidFill>
            </a:endParaRPr>
          </a:p>
          <a:p>
            <a:r>
              <a:rPr lang="en-US" dirty="0">
                <a:solidFill>
                  <a:srgbClr val="00B050"/>
                </a:solidFill>
              </a:rPr>
              <a:t>            </a:t>
            </a:r>
            <a:r>
              <a:rPr lang="en-US" dirty="0" err="1">
                <a:solidFill>
                  <a:srgbClr val="00B050"/>
                </a:solidFill>
              </a:rPr>
              <a:t>System.out.println</a:t>
            </a:r>
            <a:r>
              <a:rPr lang="en-US" dirty="0">
                <a:solidFill>
                  <a:srgbClr val="00B050"/>
                </a:solidFill>
              </a:rPr>
              <a:t>("Result: " + result);</a:t>
            </a:r>
            <a:endParaRPr lang="en-US" dirty="0">
              <a:solidFill>
                <a:srgbClr val="00B050"/>
              </a:solidFill>
            </a:endParaRPr>
          </a:p>
          <a:p>
            <a:r>
              <a:rPr lang="en-US" dirty="0">
                <a:solidFill>
                  <a:srgbClr val="00B050"/>
                </a:solidFill>
              </a:rPr>
              <a:t>        } catch (</a:t>
            </a:r>
            <a:r>
              <a:rPr lang="en-US" dirty="0" err="1">
                <a:solidFill>
                  <a:srgbClr val="00B050"/>
                </a:solidFill>
              </a:rPr>
              <a:t>InterruptedException</a:t>
            </a:r>
            <a:r>
              <a:rPr lang="en-US" dirty="0">
                <a:solidFill>
                  <a:srgbClr val="00B050"/>
                </a:solidFill>
              </a:rPr>
              <a:t> | </a:t>
            </a:r>
            <a:r>
              <a:rPr lang="en-US" dirty="0" err="1">
                <a:solidFill>
                  <a:srgbClr val="00B050"/>
                </a:solidFill>
              </a:rPr>
              <a:t>ExecutionException</a:t>
            </a:r>
            <a:r>
              <a:rPr lang="en-US" dirty="0">
                <a:solidFill>
                  <a:srgbClr val="00B050"/>
                </a:solidFill>
              </a:rPr>
              <a:t> e) {</a:t>
            </a:r>
            <a:endParaRPr lang="en-US" dirty="0">
              <a:solidFill>
                <a:srgbClr val="00B050"/>
              </a:solidFill>
            </a:endParaRPr>
          </a:p>
          <a:p>
            <a:r>
              <a:rPr lang="en-US" dirty="0">
                <a:solidFill>
                  <a:srgbClr val="00B050"/>
                </a:solidFill>
              </a:rPr>
              <a:t>            </a:t>
            </a:r>
            <a:r>
              <a:rPr lang="en-US" dirty="0" err="1">
                <a:solidFill>
                  <a:srgbClr val="00B050"/>
                </a:solidFill>
              </a:rPr>
              <a:t>Thread.currentThread</a:t>
            </a:r>
            <a:r>
              <a:rPr lang="en-US" dirty="0">
                <a:solidFill>
                  <a:srgbClr val="00B050"/>
                </a:solidFill>
              </a:rPr>
              <a:t>().interrupt();</a:t>
            </a:r>
            <a:endParaRPr lang="en-US" dirty="0">
              <a:solidFill>
                <a:srgbClr val="00B050"/>
              </a:solidFill>
            </a:endParaRPr>
          </a:p>
          <a:p>
            <a:r>
              <a:rPr lang="en-US" dirty="0">
                <a:solidFill>
                  <a:srgbClr val="00B050"/>
                </a:solidFill>
              </a:rPr>
              <a:t>        }</a:t>
            </a:r>
            <a:endParaRPr lang="en-US" dirty="0">
              <a:solidFill>
                <a:srgbClr val="00B050"/>
              </a:solidFill>
            </a:endParaRPr>
          </a:p>
          <a:p>
            <a:r>
              <a:rPr lang="en-US" dirty="0">
                <a:solidFill>
                  <a:srgbClr val="00B050"/>
                </a:solidFill>
              </a:rPr>
              <a:t>    }</a:t>
            </a:r>
            <a:endParaRPr lang="en-US" dirty="0">
              <a:solidFill>
                <a:srgbClr val="00B050"/>
              </a:solidFill>
            </a:endParaRPr>
          </a:p>
          <a:p>
            <a:r>
              <a:rPr lang="en-US" dirty="0"/>
              <a:t>}</a:t>
            </a:r>
            <a:endParaRPr lang="en-US" dirty="0"/>
          </a:p>
        </p:txBody>
      </p:sp>
      <p:sp>
        <p:nvSpPr>
          <p:cNvPr id="7" name="Rectangle 6"/>
          <p:cNvSpPr/>
          <p:nvPr/>
        </p:nvSpPr>
        <p:spPr bwMode="auto">
          <a:xfrm>
            <a:off x="76200" y="76199"/>
            <a:ext cx="5105400" cy="6494085"/>
          </a:xfrm>
          <a:prstGeom prst="rect">
            <a:avLst/>
          </a:prstGeom>
          <a:noFill/>
          <a:ln w="9525" cap="flat" cmpd="sng" algn="ctr">
            <a:solidFill>
              <a:srgbClr val="CC00CC"/>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8" name="Rectangle 7"/>
          <p:cNvSpPr/>
          <p:nvPr/>
        </p:nvSpPr>
        <p:spPr bwMode="auto">
          <a:xfrm>
            <a:off x="5410200" y="1044422"/>
            <a:ext cx="6379634" cy="3673475"/>
          </a:xfrm>
          <a:prstGeom prst="rect">
            <a:avLst/>
          </a:prstGeom>
          <a:noFill/>
          <a:ln w="9525" cap="flat" cmpd="sng" algn="ctr">
            <a:solidFill>
              <a:srgbClr val="CC00CC"/>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9" name="Rectangle 8"/>
          <p:cNvSpPr/>
          <p:nvPr/>
        </p:nvSpPr>
        <p:spPr>
          <a:xfrm>
            <a:off x="762000" y="6038618"/>
            <a:ext cx="4318745" cy="461665"/>
          </a:xfrm>
          <a:prstGeom prst="rect">
            <a:avLst/>
          </a:prstGeom>
        </p:spPr>
        <p:txBody>
          <a:bodyPr wrap="square">
            <a:spAutoFit/>
          </a:bodyPr>
          <a:lstStyle/>
          <a:p>
            <a:r>
              <a:rPr lang="en-US" sz="2400" b="1" u="sng" dirty="0">
                <a:solidFill>
                  <a:srgbClr val="FF0000"/>
                </a:solidFill>
                <a:latin typeface="DeepSeek-CJK-patch"/>
              </a:rPr>
              <a:t>Worker Thread (Task Execution)</a:t>
            </a:r>
            <a:endParaRPr lang="en-US" sz="2400" b="0" i="0" u="sng" dirty="0">
              <a:solidFill>
                <a:srgbClr val="FF0000"/>
              </a:solidFill>
              <a:effectLst/>
              <a:latin typeface="DeepSeek-CJK-patch"/>
            </a:endParaRPr>
          </a:p>
        </p:txBody>
      </p:sp>
      <p:sp>
        <p:nvSpPr>
          <p:cNvPr id="6" name="Rectangle 5"/>
          <p:cNvSpPr/>
          <p:nvPr/>
        </p:nvSpPr>
        <p:spPr>
          <a:xfrm>
            <a:off x="6087534" y="314804"/>
            <a:ext cx="5501442" cy="400110"/>
          </a:xfrm>
          <a:prstGeom prst="rect">
            <a:avLst/>
          </a:prstGeom>
        </p:spPr>
        <p:txBody>
          <a:bodyPr wrap="none">
            <a:spAutoFit/>
          </a:bodyPr>
          <a:lstStyle/>
          <a:p>
            <a:r>
              <a:rPr lang="en-US" sz="2000" b="1" u="sng" dirty="0">
                <a:solidFill>
                  <a:srgbClr val="FF0000"/>
                </a:solidFill>
                <a:latin typeface="DeepSeek-CJK-patch"/>
              </a:rPr>
              <a:t>Result Collector Thread (Monitoring &amp; Processing)</a:t>
            </a:r>
            <a:endParaRPr lang="en-US" sz="2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723900" y="1128038"/>
            <a:ext cx="8013701" cy="5355312"/>
          </a:xfrm>
          <a:prstGeom prst="rect">
            <a:avLst/>
          </a:prstGeom>
        </p:spPr>
        <p:txBody>
          <a:bodyPr wrap="square">
            <a:spAutoFit/>
          </a:bodyPr>
          <a:lstStyle/>
          <a:p>
            <a:r>
              <a:rPr lang="en-US" dirty="0"/>
              <a:t>public class </a:t>
            </a:r>
            <a:r>
              <a:rPr lang="en-US" dirty="0" err="1"/>
              <a:t>AsynchronousComputingExample</a:t>
            </a:r>
            <a:r>
              <a:rPr lang="en-US" dirty="0"/>
              <a:t> {</a:t>
            </a:r>
            <a:endParaRPr lang="en-US" dirty="0"/>
          </a:p>
          <a:p>
            <a:r>
              <a:rPr lang="en-US" dirty="0"/>
              <a:t>    public static void main(String[] </a:t>
            </a:r>
            <a:r>
              <a:rPr lang="en-US" dirty="0" err="1"/>
              <a:t>args</a:t>
            </a:r>
            <a:r>
              <a:rPr lang="en-US" dirty="0"/>
              <a:t>) {</a:t>
            </a:r>
            <a:endParaRPr lang="en-US" dirty="0"/>
          </a:p>
          <a:p>
            <a:r>
              <a:rPr lang="en-US" dirty="0"/>
              <a:t>        // Create an executor with a fixed thread pool size</a:t>
            </a:r>
            <a:endParaRPr lang="en-US" dirty="0"/>
          </a:p>
          <a:p>
            <a:r>
              <a:rPr lang="en-US" dirty="0"/>
              <a:t>        </a:t>
            </a:r>
            <a:r>
              <a:rPr lang="en-US" dirty="0" err="1"/>
              <a:t>ExecutorService</a:t>
            </a:r>
            <a:r>
              <a:rPr lang="en-US" dirty="0"/>
              <a:t> executor = </a:t>
            </a:r>
            <a:r>
              <a:rPr lang="en-US" dirty="0" err="1"/>
              <a:t>Executors.newFixedThreadPool</a:t>
            </a:r>
            <a:r>
              <a:rPr lang="en-US" dirty="0"/>
              <a:t>(5);</a:t>
            </a:r>
            <a:endParaRPr lang="en-US" dirty="0"/>
          </a:p>
          <a:p>
            <a:endParaRPr lang="en-US" dirty="0"/>
          </a:p>
          <a:p>
            <a:r>
              <a:rPr lang="en-US" dirty="0"/>
              <a:t>        // Initiating thread (control thread)</a:t>
            </a:r>
            <a:endParaRPr lang="en-US" dirty="0"/>
          </a:p>
          <a:p>
            <a:r>
              <a:rPr lang="en-US" dirty="0"/>
              <a:t>        for (int </a:t>
            </a:r>
            <a:r>
              <a:rPr lang="en-US" dirty="0" err="1"/>
              <a:t>i</a:t>
            </a:r>
            <a:r>
              <a:rPr lang="en-US" dirty="0"/>
              <a:t> = 0; </a:t>
            </a:r>
            <a:r>
              <a:rPr lang="en-US" dirty="0" err="1"/>
              <a:t>i</a:t>
            </a:r>
            <a:r>
              <a:rPr lang="en-US" dirty="0"/>
              <a:t> &lt; 10; </a:t>
            </a:r>
            <a:r>
              <a:rPr lang="en-US" dirty="0" err="1"/>
              <a:t>i</a:t>
            </a:r>
            <a:r>
              <a:rPr lang="en-US" dirty="0"/>
              <a:t>++) {</a:t>
            </a:r>
            <a:endParaRPr lang="en-US" dirty="0"/>
          </a:p>
          <a:p>
            <a:r>
              <a:rPr lang="en-US" dirty="0"/>
              <a:t>            </a:t>
            </a:r>
            <a:r>
              <a:rPr lang="en-US" dirty="0" err="1"/>
              <a:t>ComputingTask</a:t>
            </a:r>
            <a:r>
              <a:rPr lang="en-US" dirty="0"/>
              <a:t> task = new </a:t>
            </a:r>
            <a:r>
              <a:rPr lang="en-US" dirty="0" err="1"/>
              <a:t>ComputingTask</a:t>
            </a:r>
            <a:r>
              <a:rPr lang="en-US" dirty="0"/>
              <a:t>(</a:t>
            </a:r>
            <a:r>
              <a:rPr lang="en-US" dirty="0" err="1"/>
              <a:t>i</a:t>
            </a:r>
            <a:r>
              <a:rPr lang="en-US" dirty="0"/>
              <a:t>);</a:t>
            </a:r>
            <a:endParaRPr lang="en-US" dirty="0"/>
          </a:p>
          <a:p>
            <a:r>
              <a:rPr lang="en-US" dirty="0"/>
              <a:t>            Future&lt;Integer&gt; future = </a:t>
            </a:r>
            <a:r>
              <a:rPr lang="en-US" dirty="0" err="1"/>
              <a:t>executor.submit</a:t>
            </a:r>
            <a:r>
              <a:rPr lang="en-US" dirty="0"/>
              <a:t>(task);</a:t>
            </a:r>
            <a:endParaRPr lang="en-US" dirty="0"/>
          </a:p>
          <a:p>
            <a:endParaRPr lang="en-US" dirty="0"/>
          </a:p>
          <a:p>
            <a:r>
              <a:rPr lang="en-US" dirty="0"/>
              <a:t>            // Asynchronous calculation result collection thread</a:t>
            </a:r>
            <a:endParaRPr lang="en-US" dirty="0"/>
          </a:p>
          <a:p>
            <a:r>
              <a:rPr lang="en-US" dirty="0"/>
              <a:t>            </a:t>
            </a:r>
            <a:r>
              <a:rPr lang="en-US" dirty="0" err="1"/>
              <a:t>ResultCollector</a:t>
            </a:r>
            <a:r>
              <a:rPr lang="en-US" dirty="0"/>
              <a:t> collector = new </a:t>
            </a:r>
            <a:r>
              <a:rPr lang="en-US" dirty="0" err="1"/>
              <a:t>ResultCollector</a:t>
            </a:r>
            <a:r>
              <a:rPr lang="en-US" dirty="0"/>
              <a:t>();</a:t>
            </a:r>
            <a:endParaRPr lang="en-US" dirty="0"/>
          </a:p>
          <a:p>
            <a:r>
              <a:rPr lang="en-US" dirty="0"/>
              <a:t>            </a:t>
            </a:r>
            <a:r>
              <a:rPr lang="en-US" dirty="0" err="1"/>
              <a:t>collector.collectResults</a:t>
            </a:r>
            <a:r>
              <a:rPr lang="en-US" dirty="0"/>
              <a:t>(future);</a:t>
            </a:r>
            <a:endParaRPr lang="en-US" dirty="0"/>
          </a:p>
          <a:p>
            <a:r>
              <a:rPr lang="en-US" dirty="0"/>
              <a:t>        }</a:t>
            </a:r>
            <a:endParaRPr lang="en-US" dirty="0"/>
          </a:p>
          <a:p>
            <a:endParaRPr lang="en-US" dirty="0"/>
          </a:p>
          <a:p>
            <a:r>
              <a:rPr lang="en-US" dirty="0"/>
              <a:t>        // Shut down the executor</a:t>
            </a:r>
            <a:endParaRPr lang="en-US" dirty="0"/>
          </a:p>
          <a:p>
            <a:r>
              <a:rPr lang="en-US" dirty="0"/>
              <a:t>        </a:t>
            </a:r>
            <a:r>
              <a:rPr lang="en-US" dirty="0" err="1"/>
              <a:t>executor.shutdown</a:t>
            </a:r>
            <a:r>
              <a:rPr lang="en-US" dirty="0"/>
              <a:t>();</a:t>
            </a:r>
            <a:endParaRPr lang="en-US" dirty="0"/>
          </a:p>
          <a:p>
            <a:r>
              <a:rPr lang="en-US" dirty="0"/>
              <a:t>    }</a:t>
            </a:r>
            <a:endParaRPr lang="en-US" dirty="0"/>
          </a:p>
          <a:p>
            <a:r>
              <a:rPr lang="en-US" dirty="0"/>
              <a:t>}</a:t>
            </a:r>
            <a:endParaRPr lang="en-US" dirty="0"/>
          </a:p>
        </p:txBody>
      </p:sp>
      <p:sp>
        <p:nvSpPr>
          <p:cNvPr id="4" name="Rectangle 3"/>
          <p:cNvSpPr/>
          <p:nvPr/>
        </p:nvSpPr>
        <p:spPr bwMode="auto">
          <a:xfrm>
            <a:off x="402166" y="930275"/>
            <a:ext cx="8610600" cy="5791200"/>
          </a:xfrm>
          <a:prstGeom prst="rect">
            <a:avLst/>
          </a:prstGeom>
          <a:noFill/>
          <a:ln w="9525" cap="flat" cmpd="sng" algn="ctr">
            <a:solidFill>
              <a:srgbClr val="CC00CC"/>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5" name="Rectangle 4"/>
          <p:cNvSpPr/>
          <p:nvPr/>
        </p:nvSpPr>
        <p:spPr>
          <a:xfrm>
            <a:off x="1225549" y="374650"/>
            <a:ext cx="7010401" cy="369332"/>
          </a:xfrm>
          <a:prstGeom prst="rect">
            <a:avLst/>
          </a:prstGeom>
        </p:spPr>
        <p:txBody>
          <a:bodyPr wrap="square">
            <a:spAutoFit/>
          </a:bodyPr>
          <a:lstStyle/>
          <a:p>
            <a:r>
              <a:rPr lang="en-US" b="1" dirty="0">
                <a:solidFill>
                  <a:srgbClr val="FF0000"/>
                </a:solidFill>
              </a:rPr>
              <a:t>Control Thread (Task Decomposition, Task submit, Get Future)</a:t>
            </a:r>
            <a:endParaRPr lang="en-US" b="1" dirty="0">
              <a:solidFill>
                <a:srgbClr val="FF0000"/>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304800" y="180231"/>
            <a:ext cx="11125200" cy="6167586"/>
          </a:xfrm>
          <a:prstGeom prst="rect">
            <a:avLst/>
          </a:prstGeom>
        </p:spPr>
        <p:txBody>
          <a:bodyPr wrap="square">
            <a:spAutoFit/>
          </a:bodyPr>
          <a:lstStyle/>
          <a:p>
            <a:pPr marL="0" marR="0">
              <a:lnSpc>
                <a:spcPct val="107000"/>
              </a:lnSpc>
              <a:spcBef>
                <a:spcPts val="0"/>
              </a:spcBef>
              <a:spcAft>
                <a:spcPts val="800"/>
              </a:spcAft>
            </a:pPr>
            <a:r>
              <a:rPr lang="en-US" sz="2000" b="1" dirty="0">
                <a:latin typeface="Calibri" panose="020F0502020204030204" pitchFamily="34" charset="0"/>
                <a:ea typeface="宋体" panose="02010600030101010101" pitchFamily="2" charset="-122"/>
                <a:cs typeface="Times New Roman" panose="02020603050405020304" pitchFamily="18" charset="0"/>
              </a:rPr>
              <a:t>Explanation: This example demonstrates the use of the Executor framework to design a well-structured asynchronous computing program. The program consists of three categories of threads:</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000" b="1" dirty="0">
                <a:latin typeface="Calibri" panose="020F0502020204030204" pitchFamily="34" charset="0"/>
                <a:ea typeface="宋体" panose="02010600030101010101" pitchFamily="2" charset="-122"/>
                <a:cs typeface="Times New Roman" panose="02020603050405020304" pitchFamily="18" charset="0"/>
              </a:rPr>
              <a:t> </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000" b="1" dirty="0">
                <a:latin typeface="Calibri" panose="020F0502020204030204" pitchFamily="34" charset="0"/>
                <a:ea typeface="宋体" panose="02010600030101010101" pitchFamily="2" charset="-122"/>
                <a:cs typeface="Times New Roman" panose="02020603050405020304" pitchFamily="18" charset="0"/>
              </a:rPr>
              <a:t>1. Initiating Thread (Control Thread): The main thread decomposes and initiates asynchronous computing tasks, assigns tasks to worker threads, and obtains a collection of Futures to track the results of asynchronous computing.</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000" b="1" dirty="0">
                <a:latin typeface="Calibri" panose="020F0502020204030204" pitchFamily="34" charset="0"/>
                <a:ea typeface="宋体" panose="02010600030101010101" pitchFamily="2" charset="-122"/>
                <a:cs typeface="Times New Roman" panose="02020603050405020304" pitchFamily="18" charset="0"/>
              </a:rPr>
              <a:t>2. Asynchronous Computing Work Thread: The </a:t>
            </a:r>
            <a:r>
              <a:rPr lang="en-US" sz="2000" b="1" dirty="0" err="1">
                <a:latin typeface="Calibri" panose="020F0502020204030204" pitchFamily="34" charset="0"/>
                <a:ea typeface="宋体" panose="02010600030101010101" pitchFamily="2" charset="-122"/>
                <a:cs typeface="Times New Roman" panose="02020603050405020304" pitchFamily="18" charset="0"/>
              </a:rPr>
              <a:t>ComputingTask</a:t>
            </a:r>
            <a:r>
              <a:rPr lang="en-US" sz="2000" b="1" dirty="0">
                <a:latin typeface="Calibri" panose="020F0502020204030204" pitchFamily="34" charset="0"/>
                <a:ea typeface="宋体" panose="02010600030101010101" pitchFamily="2" charset="-122"/>
                <a:cs typeface="Times New Roman" panose="02020603050405020304" pitchFamily="18" charset="0"/>
              </a:rPr>
              <a:t> class implements the Callable interface and executes specific computing tasks.</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000" b="1" dirty="0">
                <a:latin typeface="Calibri" panose="020F0502020204030204" pitchFamily="34" charset="0"/>
                <a:ea typeface="宋体" panose="02010600030101010101" pitchFamily="2" charset="-122"/>
                <a:cs typeface="Times New Roman" panose="02020603050405020304" pitchFamily="18" charset="0"/>
              </a:rPr>
              <a:t>3. Asynchronous Calculation Result Collection Thread: The </a:t>
            </a:r>
            <a:r>
              <a:rPr lang="en-US" sz="2000" b="1" dirty="0" err="1">
                <a:latin typeface="Calibri" panose="020F0502020204030204" pitchFamily="34" charset="0"/>
                <a:ea typeface="宋体" panose="02010600030101010101" pitchFamily="2" charset="-122"/>
                <a:cs typeface="Times New Roman" panose="02020603050405020304" pitchFamily="18" charset="0"/>
              </a:rPr>
              <a:t>ResultCollector</a:t>
            </a:r>
            <a:r>
              <a:rPr lang="en-US" sz="2000" b="1" dirty="0">
                <a:latin typeface="Calibri" panose="020F0502020204030204" pitchFamily="34" charset="0"/>
                <a:ea typeface="宋体" panose="02010600030101010101" pitchFamily="2" charset="-122"/>
                <a:cs typeface="Times New Roman" panose="02020603050405020304" pitchFamily="18" charset="0"/>
              </a:rPr>
              <a:t> class collects the results of asynchronous calculation based on the status of the Futures.</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000" b="1" dirty="0">
                <a:latin typeface="Calibri" panose="020F0502020204030204" pitchFamily="34" charset="0"/>
                <a:ea typeface="宋体" panose="02010600030101010101" pitchFamily="2" charset="-122"/>
                <a:cs typeface="Times New Roman" panose="02020603050405020304" pitchFamily="18" charset="0"/>
              </a:rPr>
              <a:t> </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342900" marR="0" indent="-342900">
              <a:lnSpc>
                <a:spcPct val="107000"/>
              </a:lnSpc>
              <a:spcBef>
                <a:spcPts val="0"/>
              </a:spcBef>
              <a:spcAft>
                <a:spcPts val="800"/>
              </a:spcAft>
              <a:buFont typeface="Arial" panose="020B0604020202020204" pitchFamily="34" charset="0"/>
              <a:buChar char="•"/>
            </a:pPr>
            <a:r>
              <a:rPr lang="en-US" sz="2000" b="1" dirty="0">
                <a:latin typeface="Calibri" panose="020F0502020204030204" pitchFamily="34" charset="0"/>
                <a:ea typeface="宋体" panose="02010600030101010101" pitchFamily="2" charset="-122"/>
                <a:cs typeface="Times New Roman" panose="02020603050405020304" pitchFamily="18" charset="0"/>
              </a:rPr>
              <a:t>The program uses the Executor framework to manage threads and execute tasks asynchronously. </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342900" marR="0" indent="-342900">
              <a:lnSpc>
                <a:spcPct val="107000"/>
              </a:lnSpc>
              <a:spcBef>
                <a:spcPts val="0"/>
              </a:spcBef>
              <a:spcAft>
                <a:spcPts val="800"/>
              </a:spcAft>
              <a:buFont typeface="Arial" panose="020B0604020202020204" pitchFamily="34" charset="0"/>
              <a:buChar char="•"/>
            </a:pPr>
            <a:r>
              <a:rPr lang="en-US" sz="2000" b="1" dirty="0">
                <a:latin typeface="Calibri" panose="020F0502020204030204" pitchFamily="34" charset="0"/>
                <a:ea typeface="宋体" panose="02010600030101010101" pitchFamily="2" charset="-122"/>
                <a:cs typeface="Times New Roman" panose="02020603050405020304" pitchFamily="18" charset="0"/>
              </a:rPr>
              <a:t>The </a:t>
            </a:r>
            <a:r>
              <a:rPr lang="en-US" sz="2000" b="1" dirty="0" err="1">
                <a:latin typeface="Calibri" panose="020F0502020204030204" pitchFamily="34" charset="0"/>
                <a:ea typeface="宋体" panose="02010600030101010101" pitchFamily="2" charset="-122"/>
                <a:cs typeface="Times New Roman" panose="02020603050405020304" pitchFamily="18" charset="0"/>
              </a:rPr>
              <a:t>ExecutorService</a:t>
            </a:r>
            <a:r>
              <a:rPr lang="en-US" sz="2000" b="1" dirty="0">
                <a:latin typeface="Calibri" panose="020F0502020204030204" pitchFamily="34" charset="0"/>
                <a:ea typeface="宋体" panose="02010600030101010101" pitchFamily="2" charset="-122"/>
                <a:cs typeface="Times New Roman" panose="02020603050405020304" pitchFamily="18" charset="0"/>
              </a:rPr>
              <a:t> interface is used to create an executor with a fixed thread pool size, and the submit() method is used to submit tasks to the executor. </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342900" marR="0" indent="-342900">
              <a:lnSpc>
                <a:spcPct val="107000"/>
              </a:lnSpc>
              <a:spcBef>
                <a:spcPts val="0"/>
              </a:spcBef>
              <a:spcAft>
                <a:spcPts val="800"/>
              </a:spcAft>
              <a:buFont typeface="Arial" panose="020B0604020202020204" pitchFamily="34" charset="0"/>
              <a:buChar char="•"/>
            </a:pPr>
            <a:r>
              <a:rPr lang="en-US" sz="2000" b="1" dirty="0">
                <a:latin typeface="Calibri" panose="020F0502020204030204" pitchFamily="34" charset="0"/>
                <a:ea typeface="宋体" panose="02010600030101010101" pitchFamily="2" charset="-122"/>
                <a:cs typeface="Times New Roman" panose="02020603050405020304" pitchFamily="18" charset="0"/>
              </a:rPr>
              <a:t>The Future interface is used to track the results of asynchronous computing, and the get() method is used to retrieve the result of a task.</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685800" y="330200"/>
            <a:ext cx="9753600" cy="431800"/>
          </a:xfrm>
        </p:spPr>
        <p:txBody>
          <a:bodyPr/>
          <a:lstStyle/>
          <a:p>
            <a:pPr algn="l"/>
            <a:r>
              <a:rPr lang="en-GB" altLang="en-US" sz="3200" dirty="0"/>
              <a:t>Asynchronous computing program structure example</a:t>
            </a:r>
            <a:endParaRPr lang="en-GB" altLang="en-US" sz="3200" dirty="0"/>
          </a:p>
        </p:txBody>
      </p:sp>
      <p:sp>
        <p:nvSpPr>
          <p:cNvPr id="15363" name="内容占位符 2"/>
          <p:cNvSpPr>
            <a:spLocks noGrp="1"/>
          </p:cNvSpPr>
          <p:nvPr>
            <p:ph idx="1"/>
          </p:nvPr>
        </p:nvSpPr>
        <p:spPr>
          <a:xfrm>
            <a:off x="304800" y="1143000"/>
            <a:ext cx="11734800" cy="4953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400" dirty="0"/>
              <a:t>Application </a:t>
            </a:r>
            <a:r>
              <a:rPr lang="en-US" altLang="zh-CN" sz="2400" dirty="0"/>
              <a:t>E</a:t>
            </a:r>
            <a:r>
              <a:rPr lang="en-GB" altLang="en-US" sz="2400" dirty="0"/>
              <a:t>xample: Use </a:t>
            </a:r>
            <a:r>
              <a:rPr lang="en-GB" altLang="zh-CN" sz="2400" dirty="0"/>
              <a:t>Executor </a:t>
            </a:r>
            <a:r>
              <a:rPr lang="en-GB" altLang="en-US" sz="2400" dirty="0"/>
              <a:t>framework multithreaded programming to find the maximum value in a large array of numbers. </a:t>
            </a:r>
            <a:endParaRPr lang="en-GB" altLang="zh-CN" sz="2400" dirty="0"/>
          </a:p>
          <a:p>
            <a:pPr>
              <a:buFont typeface="Wingdings" panose="05000000000000000000" pitchFamily="2" charset="2"/>
              <a:buChar char="Ø"/>
            </a:pPr>
            <a:r>
              <a:rPr lang="en-GB" altLang="zh-CN" sz="2400" dirty="0"/>
              <a:t>Ch3.FindMaxInteger.FindMaxTask.java</a:t>
            </a:r>
            <a:endParaRPr lang="en-GB" altLang="zh-CN" sz="2400" dirty="0"/>
          </a:p>
          <a:p>
            <a:pPr>
              <a:buFont typeface="Wingdings" panose="05000000000000000000" pitchFamily="2" charset="2"/>
              <a:buChar char="Ø"/>
            </a:pPr>
            <a:r>
              <a:rPr lang="en-GB" altLang="zh-CN" sz="2400" dirty="0"/>
              <a:t>Ch3.FindMaxInteger.MultithreadedMaxFinder.java</a:t>
            </a:r>
            <a:endParaRPr lang="en-GB" altLang="zh-CN" sz="2400" dirty="0"/>
          </a:p>
          <a:p>
            <a:pPr>
              <a:buFont typeface="Wingdings" panose="05000000000000000000" pitchFamily="2" charset="2"/>
              <a:buChar char="Ø"/>
            </a:pPr>
            <a:r>
              <a:rPr lang="en-US" altLang="zh-CN" sz="2400" dirty="0"/>
              <a:t>C</a:t>
            </a:r>
            <a:r>
              <a:rPr lang="en-GB" altLang="zh-CN" sz="2400" dirty="0"/>
              <a:t>h3.FindMaxInteger.StartClass.java</a:t>
            </a:r>
            <a:endParaRPr lang="en-GB" altLang="zh-CN" sz="2400" dirty="0"/>
          </a:p>
          <a:p>
            <a:pPr>
              <a:buFont typeface="Wingdings" panose="05000000000000000000" pitchFamily="2" charset="2"/>
              <a:buChar char="Ø"/>
            </a:pPr>
            <a:endParaRPr lang="en-US" altLang="zh-CN" sz="2400" dirty="0"/>
          </a:p>
          <a:p>
            <a:pPr>
              <a:buFont typeface="Wingdings" panose="05000000000000000000" pitchFamily="2" charset="2"/>
              <a:buChar char="Ø"/>
            </a:pPr>
            <a:r>
              <a:rPr lang="en-GB" altLang="en-US" sz="2400" dirty="0"/>
              <a:t>Mainly use </a:t>
            </a:r>
            <a:r>
              <a:rPr lang="en-GB" altLang="zh-CN" sz="2400" dirty="0"/>
              <a:t>Future </a:t>
            </a:r>
            <a:r>
              <a:rPr lang="en-GB" altLang="en-US" sz="2400" dirty="0"/>
              <a:t>, </a:t>
            </a:r>
            <a:r>
              <a:rPr lang="en-GB" altLang="zh-CN" sz="2400" dirty="0"/>
              <a:t>Callable </a:t>
            </a:r>
            <a:r>
              <a:rPr lang="en-GB" altLang="en-US" sz="2400" dirty="0"/>
              <a:t>and </a:t>
            </a:r>
            <a:r>
              <a:rPr lang="en-GB" altLang="zh-CN" sz="2400" dirty="0"/>
              <a:t>Executor </a:t>
            </a:r>
            <a:r>
              <a:rPr lang="en-GB" altLang="en-US" sz="2400" dirty="0"/>
              <a:t>classes</a:t>
            </a:r>
            <a:endParaRPr lang="en-US" altLang="zh-CN"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381000" y="123824"/>
            <a:ext cx="11125200" cy="431800"/>
          </a:xfrm>
        </p:spPr>
        <p:txBody>
          <a:bodyPr/>
          <a:lstStyle/>
          <a:p>
            <a:pPr algn="l"/>
            <a:r>
              <a:rPr lang="en-GB" altLang="zh-CN" sz="3200" dirty="0"/>
              <a:t>FindMaxTask.java: </a:t>
            </a:r>
            <a:r>
              <a:rPr lang="en-US" sz="3200" b="1" dirty="0">
                <a:solidFill>
                  <a:srgbClr val="FF0000"/>
                </a:solidFill>
                <a:latin typeface="Calibri" panose="020F0502020204030204" pitchFamily="34" charset="0"/>
                <a:ea typeface="宋体" panose="02010600030101010101" pitchFamily="2" charset="-122"/>
                <a:cs typeface="Times New Roman" panose="02020603050405020304" pitchFamily="18" charset="0"/>
              </a:rPr>
              <a:t>Asynchronous Computing Worker Thread</a:t>
            </a:r>
            <a:endParaRPr lang="en-GB" altLang="zh-CN" sz="3200" dirty="0">
              <a:solidFill>
                <a:srgbClr val="FF0000"/>
              </a:solidFill>
            </a:endParaRPr>
          </a:p>
        </p:txBody>
      </p:sp>
      <p:pic>
        <p:nvPicPr>
          <p:cNvPr id="16387"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2400" y="762000"/>
            <a:ext cx="11125200" cy="590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457200" y="101600"/>
            <a:ext cx="11582400" cy="431800"/>
          </a:xfrm>
        </p:spPr>
        <p:txBody>
          <a:bodyPr/>
          <a:lstStyle/>
          <a:p>
            <a:pPr algn="l"/>
            <a:r>
              <a:rPr lang="en-GB" altLang="zh-CN" sz="3200" dirty="0"/>
              <a:t>MultithreadedMaxFinder.java: </a:t>
            </a:r>
            <a:r>
              <a:rPr lang="en-US" altLang="zh-CN" sz="2800" b="1" dirty="0">
                <a:solidFill>
                  <a:srgbClr val="FF0000"/>
                </a:solidFill>
              </a:rPr>
              <a:t>Initiating Thread (Control Thread)</a:t>
            </a:r>
            <a:endParaRPr lang="en-GB" altLang="zh-CN" sz="3200" b="1" dirty="0">
              <a:solidFill>
                <a:srgbClr val="FF0000"/>
              </a:solidFill>
            </a:endParaRPr>
          </a:p>
        </p:txBody>
      </p:sp>
      <p:pic>
        <p:nvPicPr>
          <p:cNvPr id="17411"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23333" y="685800"/>
            <a:ext cx="10972799"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5795357" y="609600"/>
            <a:ext cx="5177443" cy="369332"/>
          </a:xfrm>
          <a:prstGeom prst="rect">
            <a:avLst/>
          </a:prstGeom>
        </p:spPr>
        <p:txBody>
          <a:bodyPr wrap="none">
            <a:spAutoFit/>
          </a:bodyPr>
          <a:lstStyle/>
          <a:p>
            <a:r>
              <a:rPr lang="en-US" b="1" dirty="0">
                <a:solidFill>
                  <a:srgbClr val="FF0000"/>
                </a:solidFill>
              </a:rPr>
              <a:t>Task Decomposition, Task submit, Get Future</a:t>
            </a: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a:xfrm>
            <a:off x="1517650" y="26988"/>
            <a:ext cx="8229600" cy="431800"/>
          </a:xfrm>
        </p:spPr>
        <p:txBody>
          <a:bodyPr/>
          <a:lstStyle/>
          <a:p>
            <a:pPr algn="l"/>
            <a:r>
              <a:rPr lang="en-GB" altLang="zh-CN" sz="3200"/>
              <a:t>StartClass.java</a:t>
            </a:r>
            <a:endParaRPr lang="en-GB" altLang="zh-CN" sz="3200"/>
          </a:p>
        </p:txBody>
      </p:sp>
      <p:pic>
        <p:nvPicPr>
          <p:cNvPr id="18435"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28600" y="458788"/>
            <a:ext cx="10744200" cy="606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6087534" y="314804"/>
            <a:ext cx="5501442" cy="400110"/>
          </a:xfrm>
          <a:prstGeom prst="rect">
            <a:avLst/>
          </a:prstGeom>
        </p:spPr>
        <p:txBody>
          <a:bodyPr wrap="none">
            <a:spAutoFit/>
          </a:bodyPr>
          <a:lstStyle/>
          <a:p>
            <a:r>
              <a:rPr lang="en-US" sz="2000" b="1" u="sng" dirty="0">
                <a:solidFill>
                  <a:srgbClr val="FF0000"/>
                </a:solidFill>
                <a:latin typeface="DeepSeek-CJK-patch"/>
              </a:rPr>
              <a:t>Result Collector Thread (Monitoring &amp; Processing)</a:t>
            </a:r>
            <a:endParaRPr lang="en-US" sz="2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228600" y="457200"/>
            <a:ext cx="11582400" cy="431800"/>
          </a:xfrm>
        </p:spPr>
        <p:txBody>
          <a:bodyPr/>
          <a:lstStyle/>
          <a:p>
            <a:pPr algn="l"/>
            <a:r>
              <a:rPr lang="en-GB" altLang="en-US" sz="3200" dirty="0"/>
              <a:t>Programming application problem scenario </a:t>
            </a:r>
            <a:r>
              <a:rPr lang="en-GB" altLang="zh-CN" sz="3200" dirty="0"/>
              <a:t>: </a:t>
            </a:r>
            <a:r>
              <a:rPr lang="en-GB" altLang="en-US" sz="3200" dirty="0"/>
              <a:t>compressed files</a:t>
            </a:r>
            <a:endParaRPr lang="en-GB" altLang="en-US" sz="3200" dirty="0"/>
          </a:p>
        </p:txBody>
      </p:sp>
      <p:sp>
        <p:nvSpPr>
          <p:cNvPr id="19459" name="内容占位符 2"/>
          <p:cNvSpPr>
            <a:spLocks noGrp="1"/>
          </p:cNvSpPr>
          <p:nvPr>
            <p:ph idx="1"/>
          </p:nvPr>
        </p:nvSpPr>
        <p:spPr>
          <a:xfrm>
            <a:off x="457200" y="1676400"/>
            <a:ext cx="9753600" cy="3886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zh-CN" sz="2800" dirty="0"/>
              <a:t>gzip </a:t>
            </a:r>
            <a:r>
              <a:rPr lang="en-GB" altLang="en-US" sz="2800" dirty="0"/>
              <a:t>compression </a:t>
            </a:r>
            <a:endParaRPr lang="en-US" altLang="zh-CN" sz="2800" dirty="0"/>
          </a:p>
          <a:p>
            <a:pPr>
              <a:buFont typeface="Wingdings" panose="05000000000000000000" pitchFamily="2" charset="2"/>
              <a:buChar char="Ø"/>
            </a:pPr>
            <a:r>
              <a:rPr lang="en-GB" altLang="en-US" sz="2800" dirty="0"/>
              <a:t>Application features: large number of </a:t>
            </a:r>
            <a:r>
              <a:rPr lang="en-GB" altLang="zh-CN" sz="2800" dirty="0"/>
              <a:t>I/O </a:t>
            </a:r>
            <a:r>
              <a:rPr lang="en-GB" altLang="en-US" sz="2800" dirty="0"/>
              <a:t>operations</a:t>
            </a:r>
            <a:endParaRPr lang="en-US" altLang="zh-CN" sz="2800" dirty="0"/>
          </a:p>
          <a:p>
            <a:pPr>
              <a:buFont typeface="Wingdings" panose="05000000000000000000" pitchFamily="2" charset="2"/>
              <a:buChar char="Ø"/>
            </a:pPr>
            <a:r>
              <a:rPr lang="en-GB" altLang="en-US" sz="2800" dirty="0"/>
              <a:t>Application characteristics: Data compression is high </a:t>
            </a:r>
            <a:endParaRPr lang="en-US" altLang="zh-CN" sz="2800" dirty="0"/>
          </a:p>
          <a:p>
            <a:pPr>
              <a:buFont typeface="Wingdings" panose="05000000000000000000" pitchFamily="2" charset="2"/>
              <a:buChar char="Ø"/>
            </a:pPr>
            <a:r>
              <a:rPr lang="en-GB" altLang="en-US" sz="2800" dirty="0"/>
              <a:t>Don't run too many threads at the same time</a:t>
            </a:r>
            <a:endParaRPr lang="en-US" altLang="zh-CN" sz="2800" dirty="0"/>
          </a:p>
          <a:p>
            <a:pPr>
              <a:buFont typeface="Wingdings" panose="05000000000000000000" pitchFamily="2" charset="2"/>
              <a:buChar char="Ø"/>
            </a:pPr>
            <a:r>
              <a:rPr lang="en-GB" altLang="en-US" sz="2800" dirty="0"/>
              <a:t>Programming with thread pools</a:t>
            </a:r>
            <a:endParaRPr lang="en-US" altLang="zh-CN" sz="2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xfrm>
            <a:off x="419100" y="140655"/>
            <a:ext cx="11353800" cy="431800"/>
          </a:xfrm>
        </p:spPr>
        <p:txBody>
          <a:bodyPr/>
          <a:lstStyle/>
          <a:p>
            <a:pPr algn="l"/>
            <a:r>
              <a:rPr lang="en-GB" altLang="en-US" sz="3200" dirty="0"/>
              <a:t>Using thread pool to implement compressed file programming</a:t>
            </a:r>
            <a:endParaRPr lang="en-GB" altLang="en-US" sz="3200" dirty="0"/>
          </a:p>
        </p:txBody>
      </p:sp>
      <p:sp>
        <p:nvSpPr>
          <p:cNvPr id="20483" name="内容占位符 2"/>
          <p:cNvSpPr>
            <a:spLocks noGrp="1"/>
          </p:cNvSpPr>
          <p:nvPr>
            <p:ph idx="1"/>
          </p:nvPr>
        </p:nvSpPr>
        <p:spPr>
          <a:xfrm>
            <a:off x="1606550" y="1123950"/>
            <a:ext cx="4260850" cy="62865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dirty="0"/>
              <a:t>Programming Ideas</a:t>
            </a:r>
            <a:endParaRPr lang="en-US" altLang="zh-CN" sz="2800" dirty="0"/>
          </a:p>
        </p:txBody>
      </p:sp>
      <p:sp>
        <p:nvSpPr>
          <p:cNvPr id="20484" name="矩形 7"/>
          <p:cNvSpPr>
            <a:spLocks noChangeArrowheads="1"/>
          </p:cNvSpPr>
          <p:nvPr/>
        </p:nvSpPr>
        <p:spPr bwMode="auto">
          <a:xfrm>
            <a:off x="914399" y="1905000"/>
            <a:ext cx="3916363" cy="19050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a:t>Main program:</a:t>
            </a:r>
            <a:endParaRPr lang="en-US" altLang="zh-CN" sz="2000"/>
          </a:p>
          <a:p>
            <a:pPr>
              <a:spcBef>
                <a:spcPct val="0"/>
              </a:spcBef>
              <a:buClrTx/>
              <a:buSzTx/>
              <a:buFontTx/>
              <a:buNone/>
            </a:pPr>
            <a:r>
              <a:rPr lang="en-GB" altLang="en-US" sz="2000"/>
              <a:t>List the files in a directory and determine which file to compress</a:t>
            </a:r>
            <a:endParaRPr lang="en-US" altLang="zh-CN" sz="2000"/>
          </a:p>
          <a:p>
            <a:pPr>
              <a:spcBef>
                <a:spcPct val="0"/>
              </a:spcBef>
              <a:buClrTx/>
              <a:buSzTx/>
              <a:buFontTx/>
              <a:buNone/>
            </a:pPr>
            <a:endParaRPr lang="en-US" altLang="zh-CN" sz="1800"/>
          </a:p>
          <a:p>
            <a:pPr>
              <a:spcBef>
                <a:spcPct val="0"/>
              </a:spcBef>
              <a:buClrTx/>
              <a:buSzTx/>
              <a:buFontTx/>
              <a:buNone/>
            </a:pPr>
            <a:r>
              <a:rPr lang="en-GB" altLang="en-US" sz="1800">
                <a:solidFill>
                  <a:srgbClr val="FF0000"/>
                </a:solidFill>
              </a:rPr>
              <a:t>Fast execution speed</a:t>
            </a:r>
            <a:endParaRPr lang="en-GB" altLang="en-US" sz="1800">
              <a:solidFill>
                <a:srgbClr val="FF0000"/>
              </a:solidFill>
            </a:endParaRPr>
          </a:p>
        </p:txBody>
      </p:sp>
      <p:sp>
        <p:nvSpPr>
          <p:cNvPr id="20485" name="矩形 7"/>
          <p:cNvSpPr>
            <a:spLocks noChangeArrowheads="1"/>
          </p:cNvSpPr>
          <p:nvPr/>
        </p:nvSpPr>
        <p:spPr bwMode="auto">
          <a:xfrm>
            <a:off x="6134629" y="2057400"/>
            <a:ext cx="4191000" cy="17526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dirty="0"/>
              <a:t>Compression Thread:</a:t>
            </a:r>
            <a:endParaRPr lang="en-US" altLang="zh-CN" sz="2000" dirty="0"/>
          </a:p>
          <a:p>
            <a:pPr>
              <a:spcBef>
                <a:spcPct val="0"/>
              </a:spcBef>
              <a:buClrTx/>
              <a:buSzTx/>
              <a:buFontTx/>
              <a:buNone/>
            </a:pPr>
            <a:r>
              <a:rPr lang="en-GB" altLang="en-US" sz="2000" dirty="0"/>
              <a:t>Compressed files</a:t>
            </a:r>
            <a:endParaRPr lang="en-US" altLang="zh-CN" sz="2000" dirty="0"/>
          </a:p>
          <a:p>
            <a:pPr>
              <a:spcBef>
                <a:spcPct val="0"/>
              </a:spcBef>
              <a:buClrTx/>
              <a:buSzTx/>
              <a:buFontTx/>
              <a:buNone/>
            </a:pPr>
            <a:endParaRPr lang="en-US" altLang="zh-CN" sz="2000" dirty="0"/>
          </a:p>
          <a:p>
            <a:pPr>
              <a:spcBef>
                <a:spcPct val="0"/>
              </a:spcBef>
              <a:buClrTx/>
              <a:buSzTx/>
              <a:buFontTx/>
              <a:buNone/>
            </a:pPr>
            <a:r>
              <a:rPr lang="en-GB" altLang="en-US" sz="2000" dirty="0">
                <a:solidFill>
                  <a:srgbClr val="FF0000"/>
                </a:solidFill>
              </a:rPr>
              <a:t>Slow execution speed</a:t>
            </a:r>
            <a:endParaRPr lang="en-US" altLang="zh-CN" sz="2000" dirty="0">
              <a:solidFill>
                <a:srgbClr val="FF0000"/>
              </a:solidFill>
            </a:endParaRPr>
          </a:p>
          <a:p>
            <a:pPr>
              <a:spcBef>
                <a:spcPct val="0"/>
              </a:spcBef>
              <a:buClrTx/>
              <a:buSzTx/>
              <a:buFontTx/>
              <a:buNone/>
            </a:pPr>
            <a:r>
              <a:rPr lang="en-GB" altLang="en-US" sz="2000" dirty="0">
                <a:solidFill>
                  <a:srgbClr val="FF0000"/>
                </a:solidFill>
              </a:rPr>
              <a:t>Limited number of </a:t>
            </a:r>
            <a:r>
              <a:rPr lang="en-US" altLang="en-US" sz="2000" dirty="0">
                <a:solidFill>
                  <a:srgbClr val="FF0000"/>
                </a:solidFill>
              </a:rPr>
              <a:t>thread</a:t>
            </a:r>
            <a:endParaRPr lang="en-US" altLang="zh-CN" sz="2000" dirty="0">
              <a:solidFill>
                <a:srgbClr val="FF0000"/>
              </a:solidFill>
            </a:endParaRPr>
          </a:p>
        </p:txBody>
      </p:sp>
      <p:sp>
        <p:nvSpPr>
          <p:cNvPr id="20486" name="流程图: 可选过程 2"/>
          <p:cNvSpPr>
            <a:spLocks noChangeArrowheads="1"/>
          </p:cNvSpPr>
          <p:nvPr/>
        </p:nvSpPr>
        <p:spPr bwMode="auto">
          <a:xfrm>
            <a:off x="1984907" y="4296833"/>
            <a:ext cx="4525431" cy="1447800"/>
          </a:xfrm>
          <a:prstGeom prst="flowChartAlternateProcess">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dirty="0"/>
              <a:t>ExecutorServiece</a:t>
            </a:r>
            <a:endParaRPr lang="en-GB" altLang="zh-CN" sz="2000" dirty="0"/>
          </a:p>
          <a:p>
            <a:pPr>
              <a:spcBef>
                <a:spcPct val="0"/>
              </a:spcBef>
              <a:buClrTx/>
              <a:buSzTx/>
              <a:buFontTx/>
              <a:buNone/>
            </a:pPr>
            <a:r>
              <a:rPr lang="en-GB" altLang="en-US" sz="2000" dirty="0"/>
              <a:t>Thread Pool</a:t>
            </a:r>
            <a:endParaRPr lang="en-US" altLang="zh-CN" sz="2000" dirty="0"/>
          </a:p>
          <a:p>
            <a:pPr>
              <a:spcBef>
                <a:spcPct val="0"/>
              </a:spcBef>
              <a:buClrTx/>
              <a:buSzTx/>
              <a:buFontTx/>
              <a:buNone/>
            </a:pPr>
            <a:r>
              <a:rPr lang="en-GB" altLang="en-US" sz="2000" dirty="0">
                <a:solidFill>
                  <a:srgbClr val="FF0000"/>
                </a:solidFill>
              </a:rPr>
              <a:t>Run the main program in parallel with the compression thread</a:t>
            </a:r>
            <a:endParaRPr lang="en-GB" altLang="en-US" sz="2000" dirty="0">
              <a:solidFill>
                <a:srgbClr val="FF0000"/>
              </a:solidFill>
            </a:endParaRPr>
          </a:p>
        </p:txBody>
      </p:sp>
      <p:sp>
        <p:nvSpPr>
          <p:cNvPr id="20487" name="左弧形箭头 3"/>
          <p:cNvSpPr>
            <a:spLocks noChangeArrowheads="1"/>
          </p:cNvSpPr>
          <p:nvPr/>
        </p:nvSpPr>
        <p:spPr bwMode="auto">
          <a:xfrm>
            <a:off x="1305190" y="3867150"/>
            <a:ext cx="609600" cy="1447800"/>
          </a:xfrm>
          <a:prstGeom prst="curvedRightArrow">
            <a:avLst>
              <a:gd name="adj1" fmla="val 24992"/>
              <a:gd name="adj2" fmla="val 49996"/>
              <a:gd name="adj3" fmla="val 25000"/>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20488" name="右弧形箭头 10"/>
          <p:cNvSpPr>
            <a:spLocks noChangeArrowheads="1"/>
          </p:cNvSpPr>
          <p:nvPr/>
        </p:nvSpPr>
        <p:spPr bwMode="auto">
          <a:xfrm>
            <a:off x="6510338" y="3810000"/>
            <a:ext cx="965200" cy="1295400"/>
          </a:xfrm>
          <a:prstGeom prst="curvedLeftArrow">
            <a:avLst>
              <a:gd name="adj1" fmla="val 25028"/>
              <a:gd name="adj2" fmla="val 50043"/>
              <a:gd name="adj3" fmla="val 25000"/>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20489" name="TextBox 11"/>
          <p:cNvSpPr txBox="1">
            <a:spLocks noChangeArrowheads="1"/>
          </p:cNvSpPr>
          <p:nvPr/>
        </p:nvSpPr>
        <p:spPr bwMode="auto">
          <a:xfrm>
            <a:off x="7110412" y="636588"/>
            <a:ext cx="5005387"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solidFill>
                  <a:srgbClr val="FF0000"/>
                </a:solidFill>
              </a:rPr>
              <a:t>Demonstration running sample code:</a:t>
            </a:r>
            <a:endParaRPr lang="en-US" altLang="zh-CN" sz="1800" dirty="0">
              <a:solidFill>
                <a:srgbClr val="FF0000"/>
              </a:solidFill>
            </a:endParaRPr>
          </a:p>
          <a:p>
            <a:pPr>
              <a:spcBef>
                <a:spcPct val="0"/>
              </a:spcBef>
              <a:buClrTx/>
              <a:buSzTx/>
              <a:buFontTx/>
              <a:buNone/>
            </a:pPr>
            <a:r>
              <a:rPr lang="en-GB" altLang="zh-CN" sz="1800" dirty="0">
                <a:solidFill>
                  <a:srgbClr val="FF0000"/>
                </a:solidFill>
              </a:rPr>
              <a:t>Ch3.threadPool.GZipAllFiles.java, GZipRunnable.java</a:t>
            </a:r>
            <a:endParaRPr lang="en-GB" altLang="zh-CN" sz="1800" dirty="0">
              <a:solidFill>
                <a:srgbClr val="FF0000"/>
              </a:solidFill>
            </a:endParaRPr>
          </a:p>
          <a:p>
            <a:pPr>
              <a:spcBef>
                <a:spcPct val="0"/>
              </a:spcBef>
              <a:buClrTx/>
              <a:buSzTx/>
              <a:buFontTx/>
              <a:buNone/>
            </a:pPr>
            <a:r>
              <a:rPr lang="en-GB" altLang="en-US" sz="1800" dirty="0">
                <a:solidFill>
                  <a:srgbClr val="FF0000"/>
                </a:solidFill>
              </a:rPr>
              <a:t>Explain the program structure</a:t>
            </a:r>
            <a:endParaRPr lang="en-US" altLang="zh-CN" sz="1800" dirty="0">
              <a:solidFill>
                <a:srgbClr val="FF0000"/>
              </a:solidFill>
            </a:endParaRPr>
          </a:p>
          <a:p>
            <a:pPr>
              <a:spcBef>
                <a:spcPct val="0"/>
              </a:spcBef>
              <a:buClrTx/>
              <a:buSzTx/>
              <a:buFontTx/>
              <a:buNone/>
            </a:pPr>
            <a:endParaRPr lang="zh-CN" altLang="en-US" sz="1800" dirty="0"/>
          </a:p>
        </p:txBody>
      </p:sp>
      <p:sp>
        <p:nvSpPr>
          <p:cNvPr id="20490" name="文本框 1"/>
          <p:cNvSpPr txBox="1">
            <a:spLocks noChangeArrowheads="1"/>
          </p:cNvSpPr>
          <p:nvPr/>
        </p:nvSpPr>
        <p:spPr bwMode="auto">
          <a:xfrm>
            <a:off x="7821879" y="4438650"/>
            <a:ext cx="416877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Run parameters:</a:t>
            </a:r>
            <a:endParaRPr lang="en-US" altLang="zh-CN" sz="1800" dirty="0"/>
          </a:p>
          <a:p>
            <a:pPr>
              <a:spcBef>
                <a:spcPct val="0"/>
              </a:spcBef>
              <a:buClrTx/>
              <a:buSzTx/>
              <a:buFontTx/>
              <a:buNone/>
            </a:pPr>
            <a:r>
              <a:rPr lang="en-GB" altLang="zh-CN" sz="1800" dirty="0"/>
              <a:t>C:\temp\ch3data\zip\</a:t>
            </a:r>
            <a:r>
              <a:rPr lang="en-US" altLang="zh-CN" sz="1800" dirty="0"/>
              <a:t>File1</a:t>
            </a:r>
            <a:endParaRPr lang="en-GB" altLang="zh-CN" sz="1800" dirty="0"/>
          </a:p>
          <a:p>
            <a:pPr>
              <a:spcBef>
                <a:spcPct val="0"/>
              </a:spcBef>
              <a:buClrTx/>
              <a:buSzTx/>
              <a:buFontTx/>
              <a:buNone/>
            </a:pPr>
            <a:r>
              <a:rPr lang="en-GB" altLang="zh-CN" sz="1800" dirty="0"/>
              <a:t>C:\temp\ch3data\zip\</a:t>
            </a:r>
            <a:r>
              <a:rPr lang="en-US" altLang="zh-CN" sz="1800" dirty="0"/>
              <a:t>File2</a:t>
            </a:r>
            <a:endParaRPr lang="en-GB" altLang="zh-CN" sz="1800" dirty="0"/>
          </a:p>
          <a:p>
            <a:pPr>
              <a:spcBef>
                <a:spcPct val="0"/>
              </a:spcBef>
              <a:buClrTx/>
              <a:buSzTx/>
              <a:buFontTx/>
              <a:buNone/>
            </a:pPr>
            <a:r>
              <a:rPr lang="en-GB" altLang="zh-CN" sz="1800" dirty="0"/>
              <a:t>C:\temp\ch3data\zip\ </a:t>
            </a:r>
            <a:r>
              <a:rPr lang="en-US" altLang="en-US" sz="1800" dirty="0"/>
              <a:t>File3</a:t>
            </a:r>
            <a:endParaRPr lang="zh-CN" altLang="en-US" sz="1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xfrm>
            <a:off x="1517650" y="26988"/>
            <a:ext cx="8229600" cy="431800"/>
          </a:xfrm>
        </p:spPr>
        <p:txBody>
          <a:bodyPr/>
          <a:lstStyle/>
          <a:p>
            <a:pPr algn="l"/>
            <a:r>
              <a:rPr lang="en-GB" altLang="zh-CN" sz="3200"/>
              <a:t>GZipAllFiles.java</a:t>
            </a:r>
            <a:endParaRPr lang="en-GB" altLang="zh-CN" sz="3200"/>
          </a:p>
        </p:txBody>
      </p:sp>
      <p:pic>
        <p:nvPicPr>
          <p:cNvPr id="21507"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04800" y="609600"/>
            <a:ext cx="11702415" cy="7533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xfrm>
            <a:off x="1517650" y="26988"/>
            <a:ext cx="8229600" cy="431800"/>
          </a:xfrm>
        </p:spPr>
        <p:txBody>
          <a:bodyPr/>
          <a:lstStyle/>
          <a:p>
            <a:pPr algn="l"/>
            <a:r>
              <a:rPr lang="en-GB" altLang="zh-CN" sz="3200"/>
              <a:t>GZipRunnable.java</a:t>
            </a:r>
            <a:endParaRPr lang="en-GB" altLang="zh-CN" sz="3200"/>
          </a:p>
        </p:txBody>
      </p:sp>
      <p:pic>
        <p:nvPicPr>
          <p:cNvPr id="22531"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33400" y="152400"/>
            <a:ext cx="10657840" cy="8053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381000" y="457200"/>
            <a:ext cx="11506200" cy="431800"/>
          </a:xfrm>
        </p:spPr>
        <p:txBody>
          <a:bodyPr/>
          <a:lstStyle/>
          <a:p>
            <a:pPr algn="l"/>
            <a:r>
              <a:rPr lang="en-GB" altLang="en-US" sz="3200" dirty="0"/>
              <a:t>Using thread pool to implement compressed file programming</a:t>
            </a:r>
            <a:endParaRPr lang="en-GB" altLang="en-US" sz="3200" dirty="0"/>
          </a:p>
        </p:txBody>
      </p:sp>
      <p:sp>
        <p:nvSpPr>
          <p:cNvPr id="23555" name="内容占位符 2"/>
          <p:cNvSpPr>
            <a:spLocks noGrp="1"/>
          </p:cNvSpPr>
          <p:nvPr>
            <p:ph idx="1"/>
          </p:nvPr>
        </p:nvSpPr>
        <p:spPr>
          <a:xfrm>
            <a:off x="1524000" y="1028700"/>
            <a:ext cx="8229600" cy="9525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a:t>Program Structure</a:t>
            </a:r>
            <a:endParaRPr lang="en-US" altLang="zh-CN" sz="2800"/>
          </a:p>
        </p:txBody>
      </p:sp>
      <p:grpSp>
        <p:nvGrpSpPr>
          <p:cNvPr id="5" name="组合 12"/>
          <p:cNvGrpSpPr/>
          <p:nvPr/>
        </p:nvGrpSpPr>
        <p:grpSpPr bwMode="auto">
          <a:xfrm>
            <a:off x="304800" y="3678502"/>
            <a:ext cx="2788558" cy="1614044"/>
            <a:chOff x="914400" y="3124200"/>
            <a:chExt cx="1905000" cy="1132548"/>
          </a:xfrm>
          <a:solidFill>
            <a:srgbClr val="00B0F0"/>
          </a:solidFill>
        </p:grpSpPr>
        <p:sp>
          <p:nvSpPr>
            <p:cNvPr id="6" name="矩形 7"/>
            <p:cNvSpPr>
              <a:spLocks noChangeArrowheads="1"/>
            </p:cNvSpPr>
            <p:nvPr/>
          </p:nvSpPr>
          <p:spPr bwMode="auto">
            <a:xfrm>
              <a:off x="914400" y="3124200"/>
              <a:ext cx="1905000" cy="457200"/>
            </a:xfrm>
            <a:prstGeom prst="rect">
              <a:avLst/>
            </a:prstGeom>
            <a:grp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GB" altLang="zh-CN" dirty="0" err="1">
                  <a:latin typeface="Arial" panose="020B0604020202020204" pitchFamily="34" charset="0"/>
                </a:rPr>
                <a:t>GZipRunnable </a:t>
              </a:r>
              <a:r>
                <a:rPr lang="en-GB" altLang="en-US" dirty="0">
                  <a:latin typeface="Arial" panose="020B0604020202020204" pitchFamily="34" charset="0"/>
                </a:rPr>
                <a:t>Class</a:t>
              </a:r>
              <a:endParaRPr lang="en-GB" altLang="en-US" dirty="0">
                <a:latin typeface="Arial" panose="020B0604020202020204" pitchFamily="34" charset="0"/>
              </a:endParaRPr>
            </a:p>
          </p:txBody>
        </p:sp>
        <p:sp>
          <p:nvSpPr>
            <p:cNvPr id="7" name="矩形 8"/>
            <p:cNvSpPr>
              <a:spLocks noChangeArrowheads="1"/>
            </p:cNvSpPr>
            <p:nvPr/>
          </p:nvSpPr>
          <p:spPr bwMode="auto">
            <a:xfrm>
              <a:off x="914400" y="3519714"/>
              <a:ext cx="1905000" cy="324644"/>
            </a:xfrm>
            <a:prstGeom prst="rect">
              <a:avLst/>
            </a:prstGeom>
            <a:grp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GB" altLang="zh-CN" dirty="0">
                  <a:latin typeface="Arial" panose="020B0604020202020204" pitchFamily="34" charset="0"/>
                </a:rPr>
                <a:t>input: File</a:t>
              </a:r>
              <a:endParaRPr lang="zh-CN" altLang="en-US" dirty="0">
                <a:latin typeface="Arial" panose="020B0604020202020204" pitchFamily="34" charset="0"/>
              </a:endParaRPr>
            </a:p>
          </p:txBody>
        </p:sp>
        <p:sp>
          <p:nvSpPr>
            <p:cNvPr id="8" name="矩形 9"/>
            <p:cNvSpPr>
              <a:spLocks noChangeArrowheads="1"/>
            </p:cNvSpPr>
            <p:nvPr/>
          </p:nvSpPr>
          <p:spPr bwMode="auto">
            <a:xfrm>
              <a:off x="914400" y="3830793"/>
              <a:ext cx="1905000" cy="425955"/>
            </a:xfrm>
            <a:prstGeom prst="rect">
              <a:avLst/>
            </a:prstGeom>
            <a:grp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GB" altLang="zh-CN" dirty="0">
                  <a:latin typeface="Arial" panose="020B0604020202020204" pitchFamily="34" charset="0"/>
                </a:rPr>
                <a:t>run( )</a:t>
              </a:r>
              <a:endParaRPr lang="en-GB" altLang="zh-CN" dirty="0">
                <a:latin typeface="Arial" panose="020B0604020202020204" pitchFamily="34" charset="0"/>
              </a:endParaRPr>
            </a:p>
          </p:txBody>
        </p:sp>
      </p:grpSp>
      <p:grpSp>
        <p:nvGrpSpPr>
          <p:cNvPr id="23557" name="组合 12"/>
          <p:cNvGrpSpPr/>
          <p:nvPr/>
        </p:nvGrpSpPr>
        <p:grpSpPr bwMode="auto">
          <a:xfrm>
            <a:off x="1981200" y="1613427"/>
            <a:ext cx="1905000" cy="1197083"/>
            <a:chOff x="914400" y="3124200"/>
            <a:chExt cx="1905000" cy="782611"/>
          </a:xfrm>
        </p:grpSpPr>
        <p:sp>
          <p:nvSpPr>
            <p:cNvPr id="23574" name="矩形 7"/>
            <p:cNvSpPr>
              <a:spLocks noChangeArrowheads="1"/>
            </p:cNvSpPr>
            <p:nvPr/>
          </p:nvSpPr>
          <p:spPr bwMode="auto">
            <a:xfrm>
              <a:off x="914400" y="3124200"/>
              <a:ext cx="1905000" cy="4572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Runnable </a:t>
              </a:r>
              <a:r>
                <a:rPr lang="en-GB" altLang="en-US" sz="1800"/>
                <a:t>Interface</a:t>
              </a:r>
              <a:endParaRPr lang="en-GB" altLang="en-US" sz="1800"/>
            </a:p>
          </p:txBody>
        </p:sp>
        <p:sp>
          <p:nvSpPr>
            <p:cNvPr id="23575" name="矩形 9"/>
            <p:cNvSpPr>
              <a:spLocks noChangeArrowheads="1"/>
            </p:cNvSpPr>
            <p:nvPr/>
          </p:nvSpPr>
          <p:spPr bwMode="auto">
            <a:xfrm>
              <a:off x="914400" y="3525344"/>
              <a:ext cx="1905000" cy="381467"/>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run( )</a:t>
              </a:r>
              <a:endParaRPr lang="en-GB" altLang="zh-CN" sz="1800"/>
            </a:p>
          </p:txBody>
        </p:sp>
      </p:grpSp>
      <p:cxnSp>
        <p:nvCxnSpPr>
          <p:cNvPr id="23558" name="直接箭头连接符 2"/>
          <p:cNvCxnSpPr>
            <a:cxnSpLocks noChangeShapeType="1"/>
            <a:endCxn id="23575" idx="2"/>
          </p:cNvCxnSpPr>
          <p:nvPr/>
        </p:nvCxnSpPr>
        <p:spPr bwMode="auto">
          <a:xfrm flipV="1">
            <a:off x="2705100" y="2810510"/>
            <a:ext cx="228600" cy="806450"/>
          </a:xfrm>
          <a:prstGeom prst="straightConnector1">
            <a:avLst/>
          </a:prstGeom>
          <a:noFill/>
          <a:ln w="9525" algn="ctr">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 name="组合 12"/>
          <p:cNvGrpSpPr/>
          <p:nvPr/>
        </p:nvGrpSpPr>
        <p:grpSpPr bwMode="auto">
          <a:xfrm>
            <a:off x="4862286" y="5113145"/>
            <a:ext cx="2895600" cy="1242333"/>
            <a:chOff x="914400" y="3124200"/>
            <a:chExt cx="1905000" cy="1056815"/>
          </a:xfrm>
          <a:solidFill>
            <a:srgbClr val="00B0F0"/>
          </a:solidFill>
        </p:grpSpPr>
        <p:sp>
          <p:nvSpPr>
            <p:cNvPr id="15" name="矩形 7"/>
            <p:cNvSpPr>
              <a:spLocks noChangeArrowheads="1"/>
            </p:cNvSpPr>
            <p:nvPr/>
          </p:nvSpPr>
          <p:spPr bwMode="auto">
            <a:xfrm>
              <a:off x="914400" y="3124200"/>
              <a:ext cx="1905000" cy="457200"/>
            </a:xfrm>
            <a:prstGeom prst="rect">
              <a:avLst/>
            </a:prstGeom>
            <a:grp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GB" altLang="zh-CN" dirty="0" err="1">
                  <a:latin typeface="Arial" panose="020B0604020202020204" pitchFamily="34" charset="0"/>
                </a:rPr>
                <a:t>GZipAllFiles </a:t>
              </a:r>
              <a:r>
                <a:rPr lang="en-GB" altLang="en-US" dirty="0">
                  <a:latin typeface="Arial" panose="020B0604020202020204" pitchFamily="34" charset="0"/>
                </a:rPr>
                <a:t>Class</a:t>
              </a:r>
              <a:endParaRPr lang="en-GB" altLang="en-US" dirty="0">
                <a:latin typeface="Arial" panose="020B0604020202020204" pitchFamily="34" charset="0"/>
              </a:endParaRPr>
            </a:p>
          </p:txBody>
        </p:sp>
        <p:sp>
          <p:nvSpPr>
            <p:cNvPr id="16" name="矩形 8"/>
            <p:cNvSpPr>
              <a:spLocks noChangeArrowheads="1"/>
            </p:cNvSpPr>
            <p:nvPr/>
          </p:nvSpPr>
          <p:spPr bwMode="auto">
            <a:xfrm>
              <a:off x="914400" y="3519714"/>
              <a:ext cx="1905000" cy="324644"/>
            </a:xfrm>
            <a:prstGeom prst="rect">
              <a:avLst/>
            </a:prstGeom>
            <a:grp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GB" altLang="zh-CN" sz="1600" dirty="0">
                  <a:latin typeface="Arial" panose="020B0604020202020204" pitchFamily="34" charset="0"/>
                </a:rPr>
                <a:t>THREAD_COUNT=4</a:t>
              </a:r>
              <a:r>
                <a:rPr lang="en-GB" altLang="zh-CN" dirty="0">
                  <a:latin typeface="Arial" panose="020B0604020202020204" pitchFamily="34" charset="0"/>
                </a:rPr>
                <a:t> </a:t>
              </a:r>
              <a:endParaRPr lang="zh-CN" altLang="en-US" dirty="0">
                <a:latin typeface="Arial" panose="020B0604020202020204" pitchFamily="34" charset="0"/>
              </a:endParaRPr>
            </a:p>
          </p:txBody>
        </p:sp>
        <p:sp>
          <p:nvSpPr>
            <p:cNvPr id="17" name="矩形 9"/>
            <p:cNvSpPr>
              <a:spLocks noChangeArrowheads="1"/>
            </p:cNvSpPr>
            <p:nvPr/>
          </p:nvSpPr>
          <p:spPr bwMode="auto">
            <a:xfrm>
              <a:off x="914400" y="3799548"/>
              <a:ext cx="1905000" cy="381467"/>
            </a:xfrm>
            <a:prstGeom prst="rect">
              <a:avLst/>
            </a:prstGeom>
            <a:grp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GB" altLang="zh-CN" dirty="0">
                  <a:latin typeface="Arial" panose="020B0604020202020204" pitchFamily="34" charset="0"/>
                </a:rPr>
                <a:t>main( )</a:t>
              </a:r>
              <a:endParaRPr lang="en-GB" altLang="zh-CN" dirty="0">
                <a:latin typeface="Arial" panose="020B0604020202020204" pitchFamily="34" charset="0"/>
              </a:endParaRPr>
            </a:p>
          </p:txBody>
        </p:sp>
      </p:grpSp>
      <p:grpSp>
        <p:nvGrpSpPr>
          <p:cNvPr id="23560" name="组合 12"/>
          <p:cNvGrpSpPr/>
          <p:nvPr/>
        </p:nvGrpSpPr>
        <p:grpSpPr bwMode="auto">
          <a:xfrm>
            <a:off x="4800601" y="1536592"/>
            <a:ext cx="2362200" cy="1665395"/>
            <a:chOff x="914400" y="3124200"/>
            <a:chExt cx="1905000" cy="989412"/>
          </a:xfrm>
        </p:grpSpPr>
        <p:sp>
          <p:nvSpPr>
            <p:cNvPr id="23572" name="矩形 7"/>
            <p:cNvSpPr>
              <a:spLocks noChangeArrowheads="1"/>
            </p:cNvSpPr>
            <p:nvPr/>
          </p:nvSpPr>
          <p:spPr bwMode="auto">
            <a:xfrm>
              <a:off x="914400" y="3124200"/>
              <a:ext cx="1905000" cy="4572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dirty="0"/>
                <a:t>ExecutorService </a:t>
              </a:r>
              <a:r>
                <a:rPr lang="en-GB" altLang="en-US" sz="1800" dirty="0"/>
                <a:t>Interface</a:t>
              </a:r>
              <a:endParaRPr lang="en-GB" altLang="en-US" sz="1800" dirty="0"/>
            </a:p>
          </p:txBody>
        </p:sp>
        <p:sp>
          <p:nvSpPr>
            <p:cNvPr id="23573" name="矩形 9"/>
            <p:cNvSpPr>
              <a:spLocks noChangeArrowheads="1"/>
            </p:cNvSpPr>
            <p:nvPr/>
          </p:nvSpPr>
          <p:spPr bwMode="auto">
            <a:xfrm>
              <a:off x="914400" y="3531729"/>
              <a:ext cx="1905000" cy="581883"/>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shutdown( )</a:t>
              </a:r>
              <a:endParaRPr lang="en-GB" altLang="zh-CN" sz="1800"/>
            </a:p>
            <a:p>
              <a:pPr>
                <a:spcBef>
                  <a:spcPct val="0"/>
                </a:spcBef>
                <a:buClrTx/>
                <a:buSzTx/>
                <a:buFontTx/>
                <a:buNone/>
              </a:pPr>
              <a:r>
                <a:rPr lang="en-GB" altLang="zh-CN" sz="1800"/>
                <a:t>submit( )</a:t>
              </a:r>
              <a:endParaRPr lang="en-GB" altLang="zh-CN" sz="1800"/>
            </a:p>
          </p:txBody>
        </p:sp>
      </p:grpSp>
      <p:cxnSp>
        <p:nvCxnSpPr>
          <p:cNvPr id="23561" name="直接箭头连接符 12"/>
          <p:cNvCxnSpPr>
            <a:cxnSpLocks noChangeShapeType="1"/>
            <a:stCxn id="15" idx="0"/>
            <a:endCxn id="23573" idx="2"/>
          </p:cNvCxnSpPr>
          <p:nvPr/>
        </p:nvCxnSpPr>
        <p:spPr bwMode="auto">
          <a:xfrm flipH="1" flipV="1">
            <a:off x="5981701" y="3201987"/>
            <a:ext cx="328385" cy="1911158"/>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562" name="TextBox 21"/>
          <p:cNvSpPr txBox="1">
            <a:spLocks noChangeArrowheads="1"/>
          </p:cNvSpPr>
          <p:nvPr/>
        </p:nvSpPr>
        <p:spPr bwMode="auto">
          <a:xfrm>
            <a:off x="4876800" y="3502025"/>
            <a:ext cx="2743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pool: ExecutorService</a:t>
            </a:r>
            <a:endParaRPr lang="zh-CN" altLang="en-US" sz="1800"/>
          </a:p>
        </p:txBody>
      </p:sp>
      <p:grpSp>
        <p:nvGrpSpPr>
          <p:cNvPr id="23563" name="组合 12"/>
          <p:cNvGrpSpPr/>
          <p:nvPr/>
        </p:nvGrpSpPr>
        <p:grpSpPr bwMode="auto">
          <a:xfrm>
            <a:off x="7780338" y="1824038"/>
            <a:ext cx="2743200" cy="1243012"/>
            <a:chOff x="914400" y="3124200"/>
            <a:chExt cx="1905000" cy="1056815"/>
          </a:xfrm>
        </p:grpSpPr>
        <p:sp>
          <p:nvSpPr>
            <p:cNvPr id="23569" name="矩形 7"/>
            <p:cNvSpPr>
              <a:spLocks noChangeArrowheads="1"/>
            </p:cNvSpPr>
            <p:nvPr/>
          </p:nvSpPr>
          <p:spPr bwMode="auto">
            <a:xfrm>
              <a:off x="914400" y="3124200"/>
              <a:ext cx="1905000" cy="4572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Executor </a:t>
              </a:r>
              <a:r>
                <a:rPr lang="en-GB" altLang="en-US" sz="1800"/>
                <a:t>Class</a:t>
              </a:r>
              <a:endParaRPr lang="en-GB" altLang="en-US" sz="1800"/>
            </a:p>
          </p:txBody>
        </p:sp>
        <p:sp>
          <p:nvSpPr>
            <p:cNvPr id="23570" name="矩形 8"/>
            <p:cNvSpPr>
              <a:spLocks noChangeArrowheads="1"/>
            </p:cNvSpPr>
            <p:nvPr/>
          </p:nvSpPr>
          <p:spPr bwMode="auto">
            <a:xfrm>
              <a:off x="914400" y="3519714"/>
              <a:ext cx="1905000" cy="324644"/>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 </a:t>
              </a:r>
              <a:endParaRPr lang="zh-CN" altLang="en-US" sz="1800"/>
            </a:p>
          </p:txBody>
        </p:sp>
        <p:sp>
          <p:nvSpPr>
            <p:cNvPr id="23571" name="矩形 9"/>
            <p:cNvSpPr>
              <a:spLocks noChangeArrowheads="1"/>
            </p:cNvSpPr>
            <p:nvPr/>
          </p:nvSpPr>
          <p:spPr bwMode="auto">
            <a:xfrm>
              <a:off x="914400" y="3799548"/>
              <a:ext cx="1905000" cy="381467"/>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newFixedThreadPool()</a:t>
              </a:r>
              <a:endParaRPr lang="en-GB" altLang="zh-CN" sz="1800"/>
            </a:p>
          </p:txBody>
        </p:sp>
      </p:grpSp>
      <p:cxnSp>
        <p:nvCxnSpPr>
          <p:cNvPr id="23564" name="直接箭头连接符 29"/>
          <p:cNvCxnSpPr>
            <a:cxnSpLocks noChangeShapeType="1"/>
          </p:cNvCxnSpPr>
          <p:nvPr/>
        </p:nvCxnSpPr>
        <p:spPr bwMode="auto">
          <a:xfrm flipV="1">
            <a:off x="7315200" y="3070226"/>
            <a:ext cx="838200" cy="2011363"/>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65" name="直接箭头连接符 17407"/>
          <p:cNvCxnSpPr>
            <a:cxnSpLocks noChangeShapeType="1"/>
          </p:cNvCxnSpPr>
          <p:nvPr/>
        </p:nvCxnSpPr>
        <p:spPr bwMode="auto">
          <a:xfrm flipH="1" flipV="1">
            <a:off x="3276601" y="4783139"/>
            <a:ext cx="1585913" cy="598487"/>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66" name="直接箭头连接符 17412"/>
          <p:cNvCxnSpPr>
            <a:cxnSpLocks noChangeShapeType="1"/>
          </p:cNvCxnSpPr>
          <p:nvPr/>
        </p:nvCxnSpPr>
        <p:spPr bwMode="auto">
          <a:xfrm flipH="1" flipV="1">
            <a:off x="3886200" y="2733676"/>
            <a:ext cx="990600" cy="2347913"/>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567" name="TextBox 17413"/>
          <p:cNvSpPr txBox="1">
            <a:spLocks noChangeArrowheads="1"/>
          </p:cNvSpPr>
          <p:nvPr/>
        </p:nvSpPr>
        <p:spPr bwMode="auto">
          <a:xfrm>
            <a:off x="3467100" y="3136900"/>
            <a:ext cx="1752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Task:Runnable</a:t>
            </a:r>
            <a:endParaRPr lang="zh-CN" altLang="en-US" sz="1800"/>
          </a:p>
        </p:txBody>
      </p:sp>
      <p:cxnSp>
        <p:nvCxnSpPr>
          <p:cNvPr id="23568" name="直接箭头连接符 42"/>
          <p:cNvCxnSpPr>
            <a:cxnSpLocks noChangeShapeType="1"/>
          </p:cNvCxnSpPr>
          <p:nvPr/>
        </p:nvCxnSpPr>
        <p:spPr bwMode="auto">
          <a:xfrm flipH="1" flipV="1">
            <a:off x="7162801" y="2362200"/>
            <a:ext cx="595313" cy="255588"/>
          </a:xfrm>
          <a:prstGeom prst="straightConnector1">
            <a:avLst/>
          </a:prstGeom>
          <a:noFill/>
          <a:ln w="9525" algn="ctr">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xfrm>
            <a:off x="914400" y="533400"/>
            <a:ext cx="8229600" cy="431800"/>
          </a:xfrm>
        </p:spPr>
        <p:txBody>
          <a:bodyPr/>
          <a:lstStyle/>
          <a:p>
            <a:pPr algn="l"/>
            <a:r>
              <a:rPr lang="en-GB" altLang="en-US" sz="3200" dirty="0"/>
              <a:t>Thinking extension:</a:t>
            </a:r>
            <a:endParaRPr lang="en-GB" altLang="en-US" sz="3200" dirty="0"/>
          </a:p>
        </p:txBody>
      </p:sp>
      <p:sp>
        <p:nvSpPr>
          <p:cNvPr id="24579" name="内容占位符 2"/>
          <p:cNvSpPr>
            <a:spLocks noGrp="1"/>
          </p:cNvSpPr>
          <p:nvPr>
            <p:ph idx="1"/>
          </p:nvPr>
        </p:nvSpPr>
        <p:spPr>
          <a:xfrm>
            <a:off x="762000" y="1371600"/>
            <a:ext cx="9829800" cy="24765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dirty="0"/>
              <a:t>What classes are there to implement thread pools </a:t>
            </a:r>
            <a:endParaRPr lang="en-US" altLang="zh-CN" sz="2800" dirty="0"/>
          </a:p>
          <a:p>
            <a:pPr>
              <a:buFont typeface="Wingdings" panose="05000000000000000000" pitchFamily="2" charset="2"/>
              <a:buChar char="Ø"/>
            </a:pPr>
            <a:r>
              <a:rPr lang="en-GB" altLang="zh-CN" sz="2800" dirty="0"/>
              <a:t>Java </a:t>
            </a:r>
            <a:r>
              <a:rPr lang="en-GB" altLang="en-US" sz="2800" dirty="0"/>
              <a:t>implements thread pool using factory pattern. What is factory pattern?</a:t>
            </a:r>
            <a:endParaRPr lang="en-US" altLang="zh-CN" sz="2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838200" y="214843"/>
            <a:ext cx="9982200" cy="431800"/>
          </a:xfrm>
        </p:spPr>
        <p:txBody>
          <a:bodyPr/>
          <a:lstStyle/>
          <a:p>
            <a:r>
              <a:rPr lang="en-GB" altLang="en-US" sz="3200" b="1" dirty="0"/>
              <a:t>Multiple threads accessing the same resource</a:t>
            </a:r>
            <a:endParaRPr lang="en-GB" altLang="en-US" sz="3200" b="1" dirty="0"/>
          </a:p>
        </p:txBody>
      </p:sp>
      <p:sp>
        <p:nvSpPr>
          <p:cNvPr id="25603" name="内容占位符 2"/>
          <p:cNvSpPr>
            <a:spLocks noGrp="1"/>
          </p:cNvSpPr>
          <p:nvPr>
            <p:ph idx="1"/>
          </p:nvPr>
        </p:nvSpPr>
        <p:spPr>
          <a:xfrm>
            <a:off x="-76200" y="646643"/>
            <a:ext cx="12115800" cy="369834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dirty="0"/>
              <a:t>Resources shared by multiple threads include memory, file handles, </a:t>
            </a:r>
            <a:r>
              <a:rPr lang="en-GB" altLang="zh-CN" sz="2800" dirty="0"/>
              <a:t>sockets </a:t>
            </a:r>
            <a:r>
              <a:rPr lang="en-GB" altLang="en-US" sz="2800" dirty="0"/>
              <a:t>, etc.</a:t>
            </a:r>
            <a:endParaRPr lang="en-US" altLang="zh-CN" sz="2800" dirty="0"/>
          </a:p>
          <a:p>
            <a:pPr>
              <a:buFont typeface="Wingdings" panose="05000000000000000000" pitchFamily="2" charset="2"/>
              <a:buChar char="Ø"/>
            </a:pPr>
            <a:r>
              <a:rPr lang="en-GB" altLang="en-US" sz="2800" dirty="0"/>
              <a:t>Multithreading shares resources. If the shared resources are not used at the same time, the program efficiency can be improved.</a:t>
            </a:r>
            <a:endParaRPr lang="en-US" altLang="zh-CN" sz="2800" dirty="0">
              <a:solidFill>
                <a:srgbClr val="FF0000"/>
              </a:solidFill>
            </a:endParaRPr>
          </a:p>
          <a:p>
            <a:pPr>
              <a:buFont typeface="Wingdings" panose="05000000000000000000" pitchFamily="2" charset="2"/>
              <a:buChar char="Ø"/>
            </a:pPr>
            <a:r>
              <a:rPr lang="en-GB" altLang="en-US" sz="2800" dirty="0"/>
              <a:t>If shared resources are used simultaneously, they must be shared mutually exclusively. Only one thread is allowed to use them at a time, and the other threads have to wait. Otherwise, the resources will be destroyed and the program may be in chaos.</a:t>
            </a:r>
            <a:endParaRPr lang="en-US" altLang="zh-CN" sz="2800" dirty="0"/>
          </a:p>
        </p:txBody>
      </p:sp>
      <p:sp>
        <p:nvSpPr>
          <p:cNvPr id="25604" name="椭圆 1"/>
          <p:cNvSpPr>
            <a:spLocks noChangeArrowheads="1"/>
          </p:cNvSpPr>
          <p:nvPr/>
        </p:nvSpPr>
        <p:spPr bwMode="auto">
          <a:xfrm>
            <a:off x="4038600" y="4419600"/>
            <a:ext cx="2438400" cy="1600200"/>
          </a:xfrm>
          <a:prstGeom prst="ellipse">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Shared resources</a:t>
            </a:r>
            <a:endParaRPr lang="en-US" altLang="zh-CN" sz="1800" dirty="0"/>
          </a:p>
          <a:p>
            <a:pPr>
              <a:spcBef>
                <a:spcPct val="0"/>
              </a:spcBef>
              <a:buClrTx/>
              <a:buSzTx/>
              <a:buFontTx/>
              <a:buNone/>
            </a:pPr>
            <a:r>
              <a:rPr lang="en-GB" altLang="zh-CN" sz="1800" dirty="0"/>
              <a:t>System.out</a:t>
            </a:r>
            <a:endParaRPr lang="zh-CN" altLang="en-US" sz="1800" dirty="0"/>
          </a:p>
        </p:txBody>
      </p:sp>
      <p:sp>
        <p:nvSpPr>
          <p:cNvPr id="25605" name="圆角矩形 2"/>
          <p:cNvSpPr>
            <a:spLocks noChangeArrowheads="1"/>
          </p:cNvSpPr>
          <p:nvPr/>
        </p:nvSpPr>
        <p:spPr bwMode="auto">
          <a:xfrm>
            <a:off x="7467600" y="4610100"/>
            <a:ext cx="1219200" cy="381000"/>
          </a:xfrm>
          <a:prstGeom prst="roundRect">
            <a:avLst>
              <a:gd name="adj" fmla="val 16667"/>
            </a:avLst>
          </a:prstGeom>
          <a:solidFill>
            <a:srgbClr val="FF0000"/>
          </a:solidFill>
          <a:ln w="9525" algn="ctr">
            <a:solidFill>
              <a:schemeClr val="tx1"/>
            </a:solidFill>
            <a:rou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Thread </a:t>
            </a:r>
            <a:r>
              <a:rPr lang="en-GB" altLang="zh-CN" sz="1800"/>
              <a:t>1</a:t>
            </a:r>
            <a:endParaRPr lang="zh-CN" altLang="en-US" sz="1800"/>
          </a:p>
        </p:txBody>
      </p:sp>
      <p:cxnSp>
        <p:nvCxnSpPr>
          <p:cNvPr id="25606" name="直接箭头连接符 4"/>
          <p:cNvCxnSpPr>
            <a:cxnSpLocks noChangeShapeType="1"/>
          </p:cNvCxnSpPr>
          <p:nvPr/>
        </p:nvCxnSpPr>
        <p:spPr bwMode="auto">
          <a:xfrm>
            <a:off x="6324600" y="4800600"/>
            <a:ext cx="1143000" cy="0"/>
          </a:xfrm>
          <a:prstGeom prst="straightConnector1">
            <a:avLst/>
          </a:prstGeom>
          <a:noFill/>
          <a:ln w="9525" algn="ctr">
            <a:solidFill>
              <a:srgbClr val="FF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07" name="圆角矩形 7"/>
          <p:cNvSpPr>
            <a:spLocks noChangeArrowheads="1"/>
          </p:cNvSpPr>
          <p:nvPr/>
        </p:nvSpPr>
        <p:spPr bwMode="auto">
          <a:xfrm>
            <a:off x="7467600" y="5410200"/>
            <a:ext cx="1219200" cy="3810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Thread </a:t>
            </a:r>
            <a:r>
              <a:rPr lang="en-GB" altLang="zh-CN" sz="1800"/>
              <a:t>2</a:t>
            </a:r>
            <a:endParaRPr lang="zh-CN" altLang="en-US" sz="1800"/>
          </a:p>
        </p:txBody>
      </p:sp>
      <p:cxnSp>
        <p:nvCxnSpPr>
          <p:cNvPr id="25608" name="直接箭头连接符 8"/>
          <p:cNvCxnSpPr>
            <a:cxnSpLocks noChangeShapeType="1"/>
          </p:cNvCxnSpPr>
          <p:nvPr/>
        </p:nvCxnSpPr>
        <p:spPr bwMode="auto">
          <a:xfrm>
            <a:off x="6348413" y="5600700"/>
            <a:ext cx="1143000" cy="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09" name="圆角矩形 9"/>
          <p:cNvSpPr>
            <a:spLocks noChangeArrowheads="1"/>
          </p:cNvSpPr>
          <p:nvPr/>
        </p:nvSpPr>
        <p:spPr bwMode="auto">
          <a:xfrm>
            <a:off x="2057400" y="4800600"/>
            <a:ext cx="1219200" cy="3810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Thread </a:t>
            </a:r>
            <a:r>
              <a:rPr lang="en-GB" altLang="zh-CN" sz="1800"/>
              <a:t>3</a:t>
            </a:r>
            <a:endParaRPr lang="zh-CN" altLang="en-US" sz="1800"/>
          </a:p>
        </p:txBody>
      </p:sp>
      <p:sp>
        <p:nvSpPr>
          <p:cNvPr id="25610" name="圆角矩形 10"/>
          <p:cNvSpPr>
            <a:spLocks noChangeArrowheads="1"/>
          </p:cNvSpPr>
          <p:nvPr/>
        </p:nvSpPr>
        <p:spPr bwMode="auto">
          <a:xfrm>
            <a:off x="2097088" y="5622925"/>
            <a:ext cx="1219200" cy="3810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Thread </a:t>
            </a:r>
            <a:r>
              <a:rPr lang="en-GB" altLang="zh-CN" sz="1800"/>
              <a:t>4</a:t>
            </a:r>
            <a:endParaRPr lang="zh-CN" altLang="en-US" sz="1800"/>
          </a:p>
        </p:txBody>
      </p:sp>
      <p:cxnSp>
        <p:nvCxnSpPr>
          <p:cNvPr id="25611" name="直接箭头连接符 6"/>
          <p:cNvCxnSpPr>
            <a:cxnSpLocks noChangeShapeType="1"/>
          </p:cNvCxnSpPr>
          <p:nvPr/>
        </p:nvCxnSpPr>
        <p:spPr bwMode="auto">
          <a:xfrm flipH="1">
            <a:off x="3316288" y="4991100"/>
            <a:ext cx="722312" cy="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12" name="直接箭头连接符 13"/>
          <p:cNvCxnSpPr>
            <a:cxnSpLocks noChangeShapeType="1"/>
            <a:endCxn id="25610" idx="3"/>
          </p:cNvCxnSpPr>
          <p:nvPr/>
        </p:nvCxnSpPr>
        <p:spPr bwMode="auto">
          <a:xfrm flipH="1">
            <a:off x="3316288" y="5622925"/>
            <a:ext cx="874712" cy="19050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13" name="TextBox 15"/>
          <p:cNvSpPr txBox="1">
            <a:spLocks noChangeArrowheads="1"/>
          </p:cNvSpPr>
          <p:nvPr/>
        </p:nvSpPr>
        <p:spPr bwMode="auto">
          <a:xfrm>
            <a:off x="190500" y="5939135"/>
            <a:ext cx="11811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600" dirty="0">
                <a:solidFill>
                  <a:srgbClr val="FF0000"/>
                </a:solidFill>
              </a:rPr>
              <a:t>At a certain moment, thread </a:t>
            </a:r>
            <a:r>
              <a:rPr lang="en-GB" altLang="zh-CN" sz="1600" dirty="0">
                <a:solidFill>
                  <a:srgbClr val="FF0000"/>
                </a:solidFill>
              </a:rPr>
              <a:t>1 </a:t>
            </a:r>
            <a:r>
              <a:rPr lang="en-GB" altLang="en-US" sz="1600" dirty="0">
                <a:solidFill>
                  <a:srgbClr val="FF0000"/>
                </a:solidFill>
              </a:rPr>
              <a:t>accesses, and threads </a:t>
            </a:r>
            <a:r>
              <a:rPr lang="en-GB" altLang="zh-CN" sz="1600" dirty="0">
                <a:solidFill>
                  <a:srgbClr val="FF0000"/>
                </a:solidFill>
              </a:rPr>
              <a:t>2 </a:t>
            </a:r>
            <a:r>
              <a:rPr lang="en-GB" altLang="en-US" sz="1600" dirty="0">
                <a:solidFill>
                  <a:srgbClr val="FF0000"/>
                </a:solidFill>
              </a:rPr>
              <a:t>, </a:t>
            </a:r>
            <a:r>
              <a:rPr lang="en-GB" altLang="zh-CN" sz="1600" dirty="0">
                <a:solidFill>
                  <a:srgbClr val="FF0000"/>
                </a:solidFill>
              </a:rPr>
              <a:t>3 </a:t>
            </a:r>
            <a:r>
              <a:rPr lang="en-GB" altLang="en-US" sz="1600" dirty="0">
                <a:solidFill>
                  <a:srgbClr val="FF0000"/>
                </a:solidFill>
              </a:rPr>
              <a:t>, and </a:t>
            </a:r>
            <a:r>
              <a:rPr lang="en-GB" altLang="zh-CN" sz="1600" dirty="0">
                <a:solidFill>
                  <a:srgbClr val="FF0000"/>
                </a:solidFill>
              </a:rPr>
              <a:t>4 </a:t>
            </a:r>
            <a:r>
              <a:rPr lang="en-GB" altLang="en-US" sz="1600" dirty="0">
                <a:solidFill>
                  <a:srgbClr val="FF0000"/>
                </a:solidFill>
              </a:rPr>
              <a:t>wait.</a:t>
            </a:r>
            <a:endParaRPr lang="en-US" altLang="zh-CN" sz="1600" dirty="0">
              <a:solidFill>
                <a:srgbClr val="FF0000"/>
              </a:solidFill>
            </a:endParaRPr>
          </a:p>
          <a:p>
            <a:pPr>
              <a:spcBef>
                <a:spcPct val="0"/>
              </a:spcBef>
              <a:buClrTx/>
              <a:buSzTx/>
              <a:buFontTx/>
              <a:buNone/>
            </a:pPr>
            <a:r>
              <a:rPr lang="en-GB" altLang="en-US" sz="1600" dirty="0">
                <a:solidFill>
                  <a:srgbClr val="FF0000"/>
                </a:solidFill>
              </a:rPr>
              <a:t>When programming: You must be able to specify that a shared resource (several statements) can only be accessed exclusively by one thread.</a:t>
            </a:r>
            <a:endParaRPr lang="en-US" altLang="zh-CN" sz="1600" dirty="0">
              <a:solidFill>
                <a:srgbClr val="FF0000"/>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33" y="136525"/>
            <a:ext cx="11963400" cy="762000"/>
          </a:xfrm>
        </p:spPr>
        <p:txBody>
          <a:bodyPr/>
          <a:lstStyle/>
          <a:p>
            <a:r>
              <a:rPr lang="en-US" sz="4000" b="1" dirty="0"/>
              <a:t>Synchronous Block Programming Technology</a:t>
            </a:r>
            <a:endParaRPr lang="en-US" sz="4000" b="1" dirty="0"/>
          </a:p>
        </p:txBody>
      </p:sp>
      <p:sp>
        <p:nvSpPr>
          <p:cNvPr id="3" name="Content Placeholder 2"/>
          <p:cNvSpPr>
            <a:spLocks noGrp="1"/>
          </p:cNvSpPr>
          <p:nvPr>
            <p:ph idx="1"/>
          </p:nvPr>
        </p:nvSpPr>
        <p:spPr>
          <a:xfrm>
            <a:off x="385234" y="990599"/>
            <a:ext cx="11404600" cy="5730875"/>
          </a:xfrm>
        </p:spPr>
        <p:txBody>
          <a:bodyPr/>
          <a:lstStyle/>
          <a:p>
            <a:r>
              <a:rPr lang="en-US" sz="2400" dirty="0"/>
              <a:t>Synchronous block programming technology refers to a programming approach where a block of code is executed synchronously </a:t>
            </a:r>
            <a:r>
              <a:rPr lang="en-US" sz="2400" dirty="0" err="1"/>
              <a:t>i,e</a:t>
            </a:r>
            <a:r>
              <a:rPr lang="en-US" sz="2400" dirty="0"/>
              <a:t> it is executed in a sequential and blocking manner.</a:t>
            </a:r>
            <a:endParaRPr lang="en-US" sz="2400" dirty="0"/>
          </a:p>
          <a:p>
            <a:r>
              <a:rPr lang="en-US" sz="2400" dirty="0"/>
              <a:t>In other words, when a synchronous block of code is executed, the program waits for the block to complete its execution before moving on to the next line of code. </a:t>
            </a:r>
            <a:endParaRPr lang="en-US" sz="2400" dirty="0"/>
          </a:p>
          <a:p>
            <a:r>
              <a:rPr lang="en-US" sz="2400" dirty="0"/>
              <a:t>This contrasts with asynchronous/non-blocking approaches.</a:t>
            </a:r>
            <a:endParaRPr lang="en-US" sz="2400" dirty="0"/>
          </a:p>
          <a:p>
            <a:r>
              <a:rPr lang="en-US" sz="2400" dirty="0"/>
              <a:t>Characteristics of Synchronous Block Programming</a:t>
            </a:r>
            <a:endParaRPr lang="en-US" sz="2400" dirty="0"/>
          </a:p>
          <a:p>
            <a:pPr lvl="1"/>
            <a:r>
              <a:rPr lang="en-US" sz="2000" dirty="0"/>
              <a:t>1. Blocking: Synchronous blocks of code are blocking, meaning that they prevent the program from executing other code until the block is complete.</a:t>
            </a:r>
            <a:endParaRPr lang="en-US" sz="2000" dirty="0"/>
          </a:p>
          <a:p>
            <a:pPr lvl="1"/>
            <a:r>
              <a:rPr lang="en-US" sz="2000" dirty="0"/>
              <a:t>2. Sequential Execution: Synchronous blocks of code are executed in a sequential manner, one line of code at a time.</a:t>
            </a:r>
            <a:endParaRPr lang="en-US" sz="2000" dirty="0"/>
          </a:p>
          <a:p>
            <a:pPr lvl="1"/>
            <a:r>
              <a:rPr lang="en-US" sz="2000" dirty="0"/>
              <a:t>3. No Concurrency: Synchronous blocks of code do not allow for concurrency, meaning that only one block of code can be executed at a time.</a:t>
            </a:r>
            <a:endParaRPr lang="en-US" sz="2000" dirty="0"/>
          </a:p>
          <a:p>
            <a:pPr lvl="1"/>
            <a:r>
              <a:rPr lang="en-US" sz="2000" dirty="0"/>
              <a:t>4. Thread Utilization: Threads wait idle during I/O operations</a:t>
            </a:r>
            <a:endParaRPr lang="en-US" sz="2000" dirty="0"/>
          </a:p>
        </p:txBody>
      </p:sp>
      <p:sp>
        <p:nvSpPr>
          <p:cNvPr id="4" name="Slide Number Placeholder 3"/>
          <p:cNvSpPr>
            <a:spLocks noGrp="1"/>
          </p:cNvSpPr>
          <p:nvPr>
            <p:ph type="sldNum" sz="quarter" idx="12"/>
          </p:nvPr>
        </p:nvSpPr>
        <p:spPr/>
        <p:txBody>
          <a:bodyPr/>
          <a:lstStyle/>
          <a:p>
            <a:pPr>
              <a:defRPr/>
            </a:pPr>
            <a:fld id="{3A3FFDD3-2B0D-44D7-99EE-06B473210877}" type="slidenum">
              <a:rPr lang="en-US" altLang="zh-CN" smtClean="0"/>
            </a:fld>
            <a:endParaRPr lang="en-US" altLang="zh-CN"/>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3A3FFDD3-2B0D-44D7-99EE-06B473210877}" type="slidenum">
              <a:rPr lang="en-US" altLang="zh-CN" smtClean="0"/>
            </a:fld>
            <a:endParaRPr lang="en-US" altLang="zh-CN" dirty="0"/>
          </a:p>
        </p:txBody>
      </p:sp>
      <p:sp>
        <p:nvSpPr>
          <p:cNvPr id="5" name="Rectangle 4"/>
          <p:cNvSpPr/>
          <p:nvPr/>
        </p:nvSpPr>
        <p:spPr>
          <a:xfrm>
            <a:off x="141817" y="381000"/>
            <a:ext cx="11908366" cy="5606663"/>
          </a:xfrm>
          <a:prstGeom prst="rect">
            <a:avLst/>
          </a:prstGeom>
        </p:spPr>
        <p:txBody>
          <a:bodyPr wrap="square">
            <a:spAutoFit/>
          </a:bodyPr>
          <a:lstStyle/>
          <a:p>
            <a:pPr marL="0" marR="0">
              <a:lnSpc>
                <a:spcPct val="107000"/>
              </a:lnSpc>
              <a:spcBef>
                <a:spcPts val="0"/>
              </a:spcBef>
              <a:spcAft>
                <a:spcPts val="800"/>
              </a:spcAft>
            </a:pPr>
            <a:r>
              <a:rPr lang="en-US" sz="2200" b="1" u="sng" dirty="0">
                <a:solidFill>
                  <a:srgbClr val="FF0000"/>
                </a:solidFill>
                <a:latin typeface="Calibri" panose="020F0502020204030204" pitchFamily="34" charset="0"/>
                <a:ea typeface="宋体" panose="02010600030101010101" pitchFamily="2" charset="-122"/>
                <a:cs typeface="Times New Roman" panose="02020603050405020304" pitchFamily="18" charset="0"/>
              </a:rPr>
              <a:t>Advantages of Synchronous Block Programming</a:t>
            </a:r>
            <a:endParaRPr lang="en-US" sz="2200" b="1" u="sng" dirty="0">
              <a:solidFill>
                <a:srgbClr val="FF0000"/>
              </a:solidFill>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200" dirty="0">
                <a:latin typeface="Calibri" panose="020F0502020204030204" pitchFamily="34" charset="0"/>
                <a:ea typeface="宋体" panose="02010600030101010101" pitchFamily="2" charset="-122"/>
                <a:cs typeface="Times New Roman" panose="02020603050405020304" pitchFamily="18" charset="0"/>
              </a:rPr>
              <a:t>1. Easier to Understand and Debug: Synchronous blocks of code are often easier to understand and debug because they are executed in a sequential and predictable manner.</a:t>
            </a:r>
            <a:endParaRPr lang="en-US" sz="22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200" dirty="0">
                <a:latin typeface="Calibri" panose="020F0502020204030204" pitchFamily="34" charset="0"/>
                <a:ea typeface="宋体" panose="02010600030101010101" pitchFamily="2" charset="-122"/>
                <a:cs typeface="Times New Roman" panose="02020603050405020304" pitchFamily="18" charset="0"/>
              </a:rPr>
              <a:t>2. Less Complexity: Synchronous blocks of code typically have less complexity than asynchronous code, which can make them easier to maintain and modify.</a:t>
            </a:r>
            <a:endParaRPr lang="en-US" sz="22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200" dirty="0">
                <a:latin typeface="Calibri" panose="020F0502020204030204" pitchFamily="34" charset="0"/>
                <a:ea typeface="宋体" panose="02010600030101010101" pitchFamily="2" charset="-122"/>
                <a:cs typeface="Times New Roman" panose="02020603050405020304" pitchFamily="18" charset="0"/>
              </a:rPr>
              <a:t> </a:t>
            </a:r>
            <a:r>
              <a:rPr lang="en-US" sz="2200" b="1" u="sng" dirty="0">
                <a:solidFill>
                  <a:srgbClr val="FF0000"/>
                </a:solidFill>
                <a:latin typeface="Calibri" panose="020F0502020204030204" pitchFamily="34" charset="0"/>
                <a:ea typeface="宋体" panose="02010600030101010101" pitchFamily="2" charset="-122"/>
                <a:cs typeface="Times New Roman" panose="02020603050405020304" pitchFamily="18" charset="0"/>
              </a:rPr>
              <a:t>Disadvantages of Synchronous Block Programming</a:t>
            </a:r>
            <a:endParaRPr lang="en-US" sz="2200" b="1" u="sng" dirty="0">
              <a:solidFill>
                <a:srgbClr val="FF0000"/>
              </a:solidFill>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200" dirty="0">
                <a:latin typeface="Calibri" panose="020F0502020204030204" pitchFamily="34" charset="0"/>
                <a:ea typeface="宋体" panose="02010600030101010101" pitchFamily="2" charset="-122"/>
                <a:cs typeface="Times New Roman" panose="02020603050405020304" pitchFamily="18" charset="0"/>
              </a:rPr>
              <a:t>1. Performance Limitations: Synchronous blocks of code can limit the performance of a program because they can block other code from executing.</a:t>
            </a:r>
            <a:endParaRPr lang="en-US" sz="22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200" dirty="0">
                <a:latin typeface="Calibri" panose="020F0502020204030204" pitchFamily="34" charset="0"/>
                <a:ea typeface="宋体" panose="02010600030101010101" pitchFamily="2" charset="-122"/>
                <a:cs typeface="Times New Roman" panose="02020603050405020304" pitchFamily="18" charset="0"/>
              </a:rPr>
              <a:t>2. Limited Scalability: Synchronous blocks of code can limit the scalability of a program because they can become a bottleneck as the program grows.</a:t>
            </a:r>
            <a:endParaRPr lang="en-US" sz="22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200" b="1" u="sng" dirty="0">
                <a:solidFill>
                  <a:srgbClr val="FF0000"/>
                </a:solidFill>
                <a:latin typeface="Calibri" panose="020F0502020204030204" pitchFamily="34" charset="0"/>
                <a:ea typeface="宋体" panose="02010600030101010101" pitchFamily="2" charset="-122"/>
                <a:cs typeface="Times New Roman" panose="02020603050405020304" pitchFamily="18" charset="0"/>
              </a:rPr>
              <a:t>Use Cases for Synchronous Block Programming</a:t>
            </a:r>
            <a:endParaRPr lang="en-US" sz="2200" b="1" u="sng" dirty="0">
              <a:solidFill>
                <a:srgbClr val="FF0000"/>
              </a:solidFill>
              <a:latin typeface="Calibri" panose="020F0502020204030204" pitchFamily="34" charset="0"/>
              <a:ea typeface="宋体" panose="02010600030101010101" pitchFamily="2" charset="-122"/>
              <a:cs typeface="Times New Roman" panose="02020603050405020304" pitchFamily="18" charset="0"/>
            </a:endParaRPr>
          </a:p>
          <a:p>
            <a:pPr marR="0">
              <a:lnSpc>
                <a:spcPct val="107000"/>
              </a:lnSpc>
              <a:spcBef>
                <a:spcPts val="0"/>
              </a:spcBef>
              <a:spcAft>
                <a:spcPts val="800"/>
              </a:spcAft>
            </a:pPr>
            <a:r>
              <a:rPr lang="en-US" sz="2200" dirty="0">
                <a:latin typeface="Calibri" panose="020F0502020204030204" pitchFamily="34" charset="0"/>
                <a:ea typeface="宋体" panose="02010600030101010101" pitchFamily="2" charset="-122"/>
                <a:cs typeface="Times New Roman" panose="02020603050405020304" pitchFamily="18" charset="0"/>
              </a:rPr>
              <a:t>1. Synchronous blocks of code are often used in simple programs where </a:t>
            </a:r>
            <a:r>
              <a:rPr lang="en-US" sz="2200" b="1" dirty="0">
                <a:solidFill>
                  <a:srgbClr val="FF0000"/>
                </a:solidFill>
                <a:latin typeface="Calibri" panose="020F0502020204030204" pitchFamily="34" charset="0"/>
                <a:ea typeface="宋体" panose="02010600030101010101" pitchFamily="2" charset="-122"/>
                <a:cs typeface="Times New Roman" panose="02020603050405020304" pitchFamily="18" charset="0"/>
              </a:rPr>
              <a:t>concurrency is not a concern</a:t>
            </a:r>
            <a:r>
              <a:rPr lang="en-US" sz="2200" dirty="0">
                <a:latin typeface="Calibri" panose="020F0502020204030204" pitchFamily="34" charset="0"/>
                <a:ea typeface="宋体" panose="02010600030101010101" pitchFamily="2" charset="-122"/>
                <a:cs typeface="Times New Roman" panose="02020603050405020304" pitchFamily="18" charset="0"/>
              </a:rPr>
              <a:t>.</a:t>
            </a:r>
            <a:endParaRPr lang="en-US" sz="2200" dirty="0">
              <a:latin typeface="Calibri" panose="020F0502020204030204" pitchFamily="34" charset="0"/>
              <a:ea typeface="宋体" panose="02010600030101010101" pitchFamily="2" charset="-122"/>
              <a:cs typeface="Times New Roman" panose="02020603050405020304" pitchFamily="18" charset="0"/>
            </a:endParaRPr>
          </a:p>
          <a:p>
            <a:pPr marR="0">
              <a:lnSpc>
                <a:spcPct val="107000"/>
              </a:lnSpc>
              <a:spcBef>
                <a:spcPts val="0"/>
              </a:spcBef>
              <a:spcAft>
                <a:spcPts val="800"/>
              </a:spcAft>
            </a:pPr>
            <a:r>
              <a:rPr lang="en-US" sz="2200" dirty="0">
                <a:latin typeface="Calibri" panose="020F0502020204030204" pitchFamily="34" charset="0"/>
                <a:ea typeface="宋体" panose="02010600030101010101" pitchFamily="2" charset="-122"/>
                <a:cs typeface="Times New Roman" panose="02020603050405020304" pitchFamily="18" charset="0"/>
              </a:rPr>
              <a:t>2. Synchronous blocks of code are often used in critical sections of code where </a:t>
            </a:r>
            <a:r>
              <a:rPr lang="en-US" sz="2200" b="1" u="sng" dirty="0">
                <a:solidFill>
                  <a:srgbClr val="FF0000"/>
                </a:solidFill>
                <a:latin typeface="Calibri" panose="020F0502020204030204" pitchFamily="34" charset="0"/>
                <a:ea typeface="宋体" panose="02010600030101010101" pitchFamily="2" charset="-122"/>
                <a:cs typeface="Times New Roman" panose="02020603050405020304" pitchFamily="18" charset="0"/>
              </a:rPr>
              <a:t>data integrity is crucial</a:t>
            </a:r>
            <a:endParaRPr lang="en-US" sz="2200" b="1" u="sng" dirty="0">
              <a:solidFill>
                <a:srgbClr val="FF0000"/>
              </a:solidFill>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3A3FFDD3-2B0D-44D7-99EE-06B473210877}" type="slidenum">
              <a:rPr lang="en-US" altLang="zh-CN" smtClean="0"/>
            </a:fld>
            <a:endParaRPr lang="en-US" altLang="zh-CN"/>
          </a:p>
        </p:txBody>
      </p:sp>
      <p:sp>
        <p:nvSpPr>
          <p:cNvPr id="5" name="Rectangle 4"/>
          <p:cNvSpPr/>
          <p:nvPr/>
        </p:nvSpPr>
        <p:spPr>
          <a:xfrm>
            <a:off x="228600" y="136525"/>
            <a:ext cx="11561234" cy="1729063"/>
          </a:xfrm>
          <a:prstGeom prst="rect">
            <a:avLst/>
          </a:prstGeom>
        </p:spPr>
        <p:txBody>
          <a:bodyPr wrap="square">
            <a:spAutoFit/>
          </a:bodyPr>
          <a:lstStyle/>
          <a:p>
            <a:r>
              <a:rPr lang="en-US" dirty="0"/>
              <a:t>Imagine you have a bank account and you want to withdraw money from it. In a synchronous block programming approach, the steps would be:</a:t>
            </a:r>
            <a:endParaRPr lang="en-US" dirty="0"/>
          </a:p>
          <a:p>
            <a:r>
              <a:rPr lang="en-US" dirty="0"/>
              <a:t> 1. Check if you have enough money in your account.</a:t>
            </a:r>
            <a:endParaRPr lang="en-US" dirty="0"/>
          </a:p>
          <a:p>
            <a:r>
              <a:rPr lang="en-US" dirty="0"/>
              <a:t>2. If you do, subtract the amount you want to withdraw from your account.</a:t>
            </a:r>
            <a:endParaRPr lang="en-US" dirty="0"/>
          </a:p>
          <a:p>
            <a:r>
              <a:rPr lang="en-US" dirty="0"/>
              <a:t>3. Update your account balance. , Here's some simple Java code to illustrate this:</a:t>
            </a:r>
            <a:endParaRPr lang="en-US" dirty="0"/>
          </a:p>
          <a:p>
            <a:pPr marL="0" marR="0">
              <a:lnSpc>
                <a:spcPct val="107000"/>
              </a:lnSpc>
              <a:spcBef>
                <a:spcPts val="0"/>
              </a:spcBef>
              <a:spcAft>
                <a:spcPts val="800"/>
              </a:spcAft>
            </a:pPr>
            <a:r>
              <a:rPr lang="en-US" sz="1600" b="1" dirty="0">
                <a:latin typeface="Calibri" panose="020F0502020204030204" pitchFamily="34" charset="0"/>
                <a:ea typeface="宋体" panose="02010600030101010101" pitchFamily="2" charset="-122"/>
                <a:cs typeface="Times New Roman" panose="02020603050405020304" pitchFamily="18" charset="0"/>
              </a:rPr>
              <a:t> </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p:txBody>
      </p:sp>
      <p:sp>
        <p:nvSpPr>
          <p:cNvPr id="6" name="Rectangle 5"/>
          <p:cNvSpPr/>
          <p:nvPr/>
        </p:nvSpPr>
        <p:spPr>
          <a:xfrm>
            <a:off x="262467" y="1715903"/>
            <a:ext cx="9144000" cy="4801314"/>
          </a:xfrm>
          <a:prstGeom prst="rect">
            <a:avLst/>
          </a:prstGeom>
        </p:spPr>
        <p:txBody>
          <a:bodyPr wrap="square">
            <a:spAutoFit/>
          </a:bodyPr>
          <a:lstStyle/>
          <a:p>
            <a:r>
              <a:rPr lang="en-US" dirty="0"/>
              <a:t>public class </a:t>
            </a:r>
            <a:r>
              <a:rPr lang="en-US" dirty="0" err="1"/>
              <a:t>BankAccount</a:t>
            </a:r>
            <a:r>
              <a:rPr lang="en-US" dirty="0"/>
              <a:t> {</a:t>
            </a:r>
            <a:endParaRPr lang="en-US" dirty="0"/>
          </a:p>
          <a:p>
            <a:r>
              <a:rPr lang="en-US" dirty="0"/>
              <a:t>    private int balance = 100;</a:t>
            </a:r>
            <a:endParaRPr lang="en-US" dirty="0"/>
          </a:p>
          <a:p>
            <a:endParaRPr lang="en-US" dirty="0"/>
          </a:p>
          <a:p>
            <a:r>
              <a:rPr lang="en-US" dirty="0"/>
              <a:t>    public synchronized void withdraw(int amount) {</a:t>
            </a:r>
            <a:endParaRPr lang="en-US" dirty="0"/>
          </a:p>
          <a:p>
            <a:r>
              <a:rPr lang="en-US" dirty="0"/>
              <a:t>        if (balance &gt;= amount) {</a:t>
            </a:r>
            <a:endParaRPr lang="en-US" dirty="0"/>
          </a:p>
          <a:p>
            <a:r>
              <a:rPr lang="en-US" dirty="0"/>
              <a:t>            balance -= amount;</a:t>
            </a:r>
            <a:endParaRPr lang="en-US" dirty="0"/>
          </a:p>
          <a:p>
            <a:r>
              <a:rPr lang="en-US" dirty="0"/>
              <a:t>            </a:t>
            </a:r>
            <a:r>
              <a:rPr lang="en-US" dirty="0" err="1"/>
              <a:t>System.out.println</a:t>
            </a:r>
            <a:r>
              <a:rPr lang="en-US" dirty="0"/>
              <a:t>("Withdrew " + amount + ". New balance: " + balance);</a:t>
            </a:r>
            <a:endParaRPr lang="en-US" dirty="0"/>
          </a:p>
          <a:p>
            <a:r>
              <a:rPr lang="en-US" dirty="0"/>
              <a:t>        } else {</a:t>
            </a:r>
            <a:endParaRPr lang="en-US" dirty="0"/>
          </a:p>
          <a:p>
            <a:r>
              <a:rPr lang="en-US" dirty="0"/>
              <a:t>            </a:t>
            </a:r>
            <a:r>
              <a:rPr lang="en-US" dirty="0" err="1"/>
              <a:t>System.out.println</a:t>
            </a:r>
            <a:r>
              <a:rPr lang="en-US" dirty="0"/>
              <a:t>("Insufficient funds");</a:t>
            </a:r>
            <a:endParaRPr lang="en-US" dirty="0"/>
          </a:p>
          <a:p>
            <a:r>
              <a:rPr lang="en-US" dirty="0"/>
              <a:t>        }</a:t>
            </a:r>
            <a:endParaRPr lang="en-US" dirty="0"/>
          </a:p>
          <a:p>
            <a:r>
              <a:rPr lang="en-US" dirty="0"/>
              <a:t>    }</a:t>
            </a:r>
            <a:endParaRPr lang="en-US" dirty="0"/>
          </a:p>
          <a:p>
            <a:endParaRPr lang="en-US" dirty="0"/>
          </a:p>
          <a:p>
            <a:r>
              <a:rPr lang="en-US" dirty="0"/>
              <a:t>    public static void main(String[] </a:t>
            </a:r>
            <a:r>
              <a:rPr lang="en-US" dirty="0" err="1"/>
              <a:t>args</a:t>
            </a:r>
            <a:r>
              <a:rPr lang="en-US" dirty="0"/>
              <a:t>) {</a:t>
            </a:r>
            <a:endParaRPr lang="en-US" dirty="0"/>
          </a:p>
          <a:p>
            <a:r>
              <a:rPr lang="en-US" dirty="0"/>
              <a:t>        </a:t>
            </a:r>
            <a:r>
              <a:rPr lang="en-US" dirty="0" err="1"/>
              <a:t>BankAccount</a:t>
            </a:r>
            <a:r>
              <a:rPr lang="en-US" dirty="0"/>
              <a:t> account = new </a:t>
            </a:r>
            <a:r>
              <a:rPr lang="en-US" dirty="0" err="1"/>
              <a:t>BankAccount</a:t>
            </a:r>
            <a:r>
              <a:rPr lang="en-US" dirty="0"/>
              <a:t>();</a:t>
            </a:r>
            <a:endParaRPr lang="en-US" dirty="0"/>
          </a:p>
          <a:p>
            <a:r>
              <a:rPr lang="en-US" dirty="0"/>
              <a:t>        </a:t>
            </a:r>
            <a:r>
              <a:rPr lang="en-US" dirty="0" err="1"/>
              <a:t>account.withdraw</a:t>
            </a:r>
            <a:r>
              <a:rPr lang="en-US" dirty="0"/>
              <a:t>(50);</a:t>
            </a:r>
            <a:endParaRPr lang="en-US" dirty="0"/>
          </a:p>
          <a:p>
            <a:r>
              <a:rPr lang="en-US" dirty="0"/>
              <a:t>    }</a:t>
            </a:r>
            <a:endParaRPr lang="en-US" dirty="0"/>
          </a:p>
          <a:p>
            <a:r>
              <a:rPr lang="en-US" dirty="0"/>
              <a:t>}</a:t>
            </a:r>
            <a:endParaRPr lang="en-US" dirty="0"/>
          </a:p>
        </p:txBody>
      </p:sp>
      <p:sp>
        <p:nvSpPr>
          <p:cNvPr id="7" name="Rectangle 6"/>
          <p:cNvSpPr/>
          <p:nvPr/>
        </p:nvSpPr>
        <p:spPr>
          <a:xfrm>
            <a:off x="8796866" y="574040"/>
            <a:ext cx="3132667" cy="5909310"/>
          </a:xfrm>
          <a:prstGeom prst="rect">
            <a:avLst/>
          </a:prstGeom>
        </p:spPr>
        <p:txBody>
          <a:bodyPr wrap="square">
            <a:spAutoFit/>
          </a:bodyPr>
          <a:lstStyle/>
          <a:p>
            <a:r>
              <a:rPr lang="en-US" dirty="0">
                <a:solidFill>
                  <a:srgbClr val="FF0000"/>
                </a:solidFill>
              </a:rPr>
              <a:t>In this example, the withdraw method is a synchronous block of code. When you call </a:t>
            </a:r>
            <a:r>
              <a:rPr lang="en-US" dirty="0" err="1">
                <a:solidFill>
                  <a:srgbClr val="FF0000"/>
                </a:solidFill>
              </a:rPr>
              <a:t>account.withdraw</a:t>
            </a:r>
            <a:r>
              <a:rPr lang="en-US" dirty="0">
                <a:solidFill>
                  <a:srgbClr val="FF0000"/>
                </a:solidFill>
              </a:rPr>
              <a:t>(50), the program will:</a:t>
            </a:r>
            <a:endParaRPr lang="en-US" dirty="0">
              <a:solidFill>
                <a:srgbClr val="FF0000"/>
              </a:solidFill>
            </a:endParaRPr>
          </a:p>
          <a:p>
            <a:endParaRPr lang="en-US" dirty="0">
              <a:solidFill>
                <a:srgbClr val="FF0000"/>
              </a:solidFill>
            </a:endParaRPr>
          </a:p>
          <a:p>
            <a:r>
              <a:rPr lang="en-US" dirty="0">
                <a:solidFill>
                  <a:srgbClr val="FF0000"/>
                </a:solidFill>
              </a:rPr>
              <a:t>1. Check if you have enough money in your account (i.e., balance &gt;= amount).</a:t>
            </a:r>
            <a:endParaRPr lang="en-US" dirty="0">
              <a:solidFill>
                <a:srgbClr val="FF0000"/>
              </a:solidFill>
            </a:endParaRPr>
          </a:p>
          <a:p>
            <a:r>
              <a:rPr lang="en-US" dirty="0">
                <a:solidFill>
                  <a:srgbClr val="FF0000"/>
                </a:solidFill>
              </a:rPr>
              <a:t>2. If you do, subtract the amount from your account (i.e., balance -= amount).</a:t>
            </a:r>
            <a:endParaRPr lang="en-US" dirty="0">
              <a:solidFill>
                <a:srgbClr val="FF0000"/>
              </a:solidFill>
            </a:endParaRPr>
          </a:p>
          <a:p>
            <a:r>
              <a:rPr lang="en-US" dirty="0">
                <a:solidFill>
                  <a:srgbClr val="FF0000"/>
                </a:solidFill>
              </a:rPr>
              <a:t>3. Update your account balance (i.e., print the new balance).</a:t>
            </a:r>
            <a:endParaRPr lang="en-US" dirty="0">
              <a:solidFill>
                <a:srgbClr val="FF0000"/>
              </a:solidFill>
            </a:endParaRPr>
          </a:p>
          <a:p>
            <a:endParaRPr lang="en-US" dirty="0">
              <a:solidFill>
                <a:srgbClr val="FF0000"/>
              </a:solidFill>
            </a:endParaRPr>
          </a:p>
          <a:p>
            <a:r>
              <a:rPr lang="en-US" dirty="0">
                <a:solidFill>
                  <a:srgbClr val="FF0000"/>
                </a:solidFill>
              </a:rPr>
              <a:t>The synchronized keyword ensures that only one thread can execute the withdraw method at a time, making it a synchronous block of code.</a:t>
            </a:r>
            <a:endParaRPr lang="en-US" dirty="0">
              <a:solidFill>
                <a:srgbClr val="FF0000"/>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xfrm>
            <a:off x="1752600" y="457200"/>
            <a:ext cx="8229600" cy="431800"/>
          </a:xfrm>
        </p:spPr>
        <p:txBody>
          <a:bodyPr/>
          <a:lstStyle/>
          <a:p>
            <a:pPr algn="l"/>
            <a:r>
              <a:rPr lang="en-GB" altLang="en-US" sz="3200" dirty="0"/>
              <a:t>Synchronous block programming technology</a:t>
            </a:r>
            <a:endParaRPr lang="en-GB" altLang="en-US" sz="3200" dirty="0"/>
          </a:p>
        </p:txBody>
      </p:sp>
      <p:sp>
        <p:nvSpPr>
          <p:cNvPr id="26628" name="TextBox 3"/>
          <p:cNvSpPr txBox="1">
            <a:spLocks noChangeArrowheads="1"/>
          </p:cNvSpPr>
          <p:nvPr/>
        </p:nvSpPr>
        <p:spPr bwMode="auto">
          <a:xfrm>
            <a:off x="1600200" y="1447800"/>
            <a:ext cx="73914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dirty="0"/>
              <a:t>Statements that require exclusive access:</a:t>
            </a:r>
            <a:endParaRPr lang="en-US" altLang="zh-CN" sz="2000" dirty="0"/>
          </a:p>
          <a:p>
            <a:pPr>
              <a:spcBef>
                <a:spcPct val="0"/>
              </a:spcBef>
              <a:buClrTx/>
              <a:buSzTx/>
              <a:buFontTx/>
              <a:buNone/>
            </a:pPr>
            <a:r>
              <a:rPr lang="en-GB" altLang="zh-CN" sz="2000" dirty="0"/>
              <a:t>System.out.print( input + “:” );</a:t>
            </a:r>
            <a:endParaRPr lang="en-GB" altLang="zh-CN" sz="2000" dirty="0"/>
          </a:p>
          <a:p>
            <a:pPr>
              <a:spcBef>
                <a:spcPct val="0"/>
              </a:spcBef>
              <a:buClrTx/>
              <a:buSzTx/>
              <a:buFontTx/>
              <a:buNone/>
            </a:pPr>
            <a:r>
              <a:rPr lang="en-GB" altLang="zh-CN" sz="2000" dirty="0"/>
              <a:t>System.out.print(DatatypeConverter.printHexBinary(digest));</a:t>
            </a:r>
            <a:endParaRPr lang="en-GB" altLang="zh-CN" sz="2000" dirty="0"/>
          </a:p>
          <a:p>
            <a:pPr>
              <a:spcBef>
                <a:spcPct val="0"/>
              </a:spcBef>
              <a:buClrTx/>
              <a:buSzTx/>
              <a:buFontTx/>
              <a:buNone/>
            </a:pPr>
            <a:r>
              <a:rPr lang="en-GB" altLang="zh-CN" sz="2000" dirty="0"/>
              <a:t>System.out.println() ;</a:t>
            </a:r>
            <a:endParaRPr lang="zh-CN" altLang="en-US" sz="2000" dirty="0"/>
          </a:p>
        </p:txBody>
      </p:sp>
      <p:sp>
        <p:nvSpPr>
          <p:cNvPr id="26629" name="TextBox 14"/>
          <p:cNvSpPr txBox="1">
            <a:spLocks noChangeArrowheads="1"/>
          </p:cNvSpPr>
          <p:nvPr/>
        </p:nvSpPr>
        <p:spPr bwMode="auto">
          <a:xfrm>
            <a:off x="1591733" y="2971800"/>
            <a:ext cx="73914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dirty="0"/>
              <a:t>Add a synchronized block:</a:t>
            </a:r>
            <a:endParaRPr lang="en-US" altLang="zh-CN" sz="2000" dirty="0"/>
          </a:p>
          <a:p>
            <a:pPr>
              <a:spcBef>
                <a:spcPct val="0"/>
              </a:spcBef>
              <a:buClrTx/>
              <a:buSzTx/>
              <a:buFontTx/>
              <a:buNone/>
            </a:pPr>
            <a:r>
              <a:rPr lang="en-GB" altLang="zh-CN" sz="2000" dirty="0">
                <a:solidFill>
                  <a:srgbClr val="FF0000"/>
                </a:solidFill>
              </a:rPr>
              <a:t>Synchronized ( </a:t>
            </a:r>
            <a:r>
              <a:rPr lang="en-GB" altLang="zh-CN" sz="2000" dirty="0">
                <a:solidFill>
                  <a:schemeClr val="tx2"/>
                </a:solidFill>
              </a:rPr>
              <a:t>System.out </a:t>
            </a:r>
            <a:r>
              <a:rPr lang="en-GB" altLang="zh-CN" sz="2000" dirty="0">
                <a:solidFill>
                  <a:srgbClr val="FF0000"/>
                </a:solidFill>
              </a:rPr>
              <a:t>) {</a:t>
            </a:r>
            <a:endParaRPr lang="en-GB" altLang="zh-CN" sz="2000" dirty="0">
              <a:solidFill>
                <a:srgbClr val="FF0000"/>
              </a:solidFill>
            </a:endParaRPr>
          </a:p>
          <a:p>
            <a:pPr>
              <a:spcBef>
                <a:spcPct val="0"/>
              </a:spcBef>
              <a:buClrTx/>
              <a:buSzTx/>
              <a:buFontTx/>
              <a:buNone/>
            </a:pPr>
            <a:r>
              <a:rPr lang="en-GB" altLang="zh-CN" sz="2000" dirty="0"/>
              <a:t>System.out.print( input + “:” );</a:t>
            </a:r>
            <a:endParaRPr lang="en-GB" altLang="zh-CN" sz="2000" dirty="0"/>
          </a:p>
          <a:p>
            <a:pPr>
              <a:spcBef>
                <a:spcPct val="0"/>
              </a:spcBef>
              <a:buClrTx/>
              <a:buSzTx/>
              <a:buFontTx/>
              <a:buNone/>
            </a:pPr>
            <a:r>
              <a:rPr lang="en-GB" altLang="zh-CN" sz="2000" dirty="0"/>
              <a:t>System.out.print(DatatypeConverter.printHexBinary(digest));</a:t>
            </a:r>
            <a:endParaRPr lang="en-GB" altLang="zh-CN" sz="2000" dirty="0"/>
          </a:p>
          <a:p>
            <a:pPr>
              <a:spcBef>
                <a:spcPct val="0"/>
              </a:spcBef>
              <a:buClrTx/>
              <a:buSzTx/>
              <a:buFontTx/>
              <a:buNone/>
            </a:pPr>
            <a:r>
              <a:rPr lang="en-GB" altLang="zh-CN" sz="2000" dirty="0"/>
              <a:t>System.out.println() ;</a:t>
            </a:r>
            <a:endParaRPr lang="en-GB" altLang="zh-CN" sz="2000" dirty="0"/>
          </a:p>
          <a:p>
            <a:pPr>
              <a:spcBef>
                <a:spcPct val="0"/>
              </a:spcBef>
              <a:buClrTx/>
              <a:buSzTx/>
              <a:buFontTx/>
              <a:buNone/>
            </a:pPr>
            <a:r>
              <a:rPr lang="en-GB" altLang="zh-CN" sz="2000" dirty="0">
                <a:solidFill>
                  <a:srgbClr val="FF0000"/>
                </a:solidFill>
              </a:rPr>
              <a:t>}</a:t>
            </a:r>
            <a:endParaRPr lang="zh-CN" altLang="en-US" sz="2000" dirty="0">
              <a:solidFill>
                <a:srgbClr val="FF0000"/>
              </a:solidFill>
            </a:endParaRPr>
          </a:p>
        </p:txBody>
      </p:sp>
      <p:sp>
        <p:nvSpPr>
          <p:cNvPr id="2" name="Rectangle 1"/>
          <p:cNvSpPr/>
          <p:nvPr/>
        </p:nvSpPr>
        <p:spPr>
          <a:xfrm>
            <a:off x="609600" y="5181600"/>
            <a:ext cx="10972800" cy="830997"/>
          </a:xfrm>
          <a:prstGeom prst="rect">
            <a:avLst/>
          </a:prstGeom>
        </p:spPr>
        <p:txBody>
          <a:bodyPr wrap="square">
            <a:spAutoFit/>
          </a:bodyPr>
          <a:lstStyle/>
          <a:p>
            <a:r>
              <a:rPr lang="en-US" sz="2400" b="1" dirty="0">
                <a:solidFill>
                  <a:srgbClr val="FF0000"/>
                </a:solidFill>
              </a:rPr>
              <a:t>The synchronized keyword ensures that only one thread can execute the </a:t>
            </a:r>
            <a:r>
              <a:rPr lang="en-US" sz="2400" b="1" dirty="0" err="1">
                <a:solidFill>
                  <a:srgbClr val="FF0000"/>
                </a:solidFill>
              </a:rPr>
              <a:t>System.out</a:t>
            </a:r>
            <a:r>
              <a:rPr lang="en-US" sz="2400" b="1" dirty="0">
                <a:solidFill>
                  <a:srgbClr val="FF0000"/>
                </a:solidFill>
              </a:rPr>
              <a:t> {} block at a time, making it a synchronous block of code.</a:t>
            </a:r>
            <a:endParaRPr lang="en-US" sz="2400" b="1" dirty="0">
              <a:solidFill>
                <a:srgbClr val="FF0000"/>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152400" y="-20638"/>
            <a:ext cx="11887200" cy="909638"/>
          </a:xfrm>
        </p:spPr>
        <p:txBody>
          <a:bodyPr/>
          <a:lstStyle/>
          <a:p>
            <a:pPr algn="l"/>
            <a:r>
              <a:rPr lang="en-GB" altLang="en-US" sz="3200" dirty="0"/>
              <a:t>Synchronous block programming technology application example</a:t>
            </a:r>
            <a:endParaRPr lang="en-GB" altLang="en-US" sz="3200" dirty="0"/>
          </a:p>
        </p:txBody>
      </p:sp>
      <p:sp>
        <p:nvSpPr>
          <p:cNvPr id="27651" name="内容占位符 2"/>
          <p:cNvSpPr>
            <a:spLocks noGrp="1"/>
          </p:cNvSpPr>
          <p:nvPr>
            <p:ph idx="1"/>
          </p:nvPr>
        </p:nvSpPr>
        <p:spPr>
          <a:xfrm>
            <a:off x="304800" y="990600"/>
            <a:ext cx="11582400" cy="44973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dirty="0"/>
              <a:t>Multithreaded access to log files on  </a:t>
            </a:r>
            <a:endParaRPr lang="en-US" altLang="zh-CN" sz="2800" dirty="0"/>
          </a:p>
          <a:p>
            <a:pPr>
              <a:buFont typeface="Wingdings" panose="05000000000000000000" pitchFamily="2" charset="2"/>
              <a:buChar char="Ø"/>
            </a:pPr>
            <a:endParaRPr lang="en-US" altLang="zh-CN" sz="2800" dirty="0"/>
          </a:p>
          <a:p>
            <a:pPr>
              <a:buFont typeface="Wingdings" panose="05000000000000000000" pitchFamily="2" charset="2"/>
              <a:buChar char="Ø"/>
            </a:pPr>
            <a:endParaRPr lang="en-US" altLang="zh-CN" sz="2800" dirty="0"/>
          </a:p>
          <a:p>
            <a:pPr>
              <a:buFont typeface="Wingdings" panose="05000000000000000000" pitchFamily="2" charset="2"/>
              <a:buChar char="Ø"/>
            </a:pPr>
            <a:endParaRPr lang="en-US" altLang="zh-CN" sz="2800" dirty="0"/>
          </a:p>
          <a:p>
            <a:pPr>
              <a:buFont typeface="Wingdings" panose="05000000000000000000" pitchFamily="2" charset="2"/>
              <a:buChar char="Ø"/>
            </a:pPr>
            <a:endParaRPr lang="en-US" altLang="zh-CN" sz="2800" dirty="0"/>
          </a:p>
          <a:p>
            <a:pPr marL="0" indent="0">
              <a:buNone/>
            </a:pPr>
            <a:endParaRPr lang="en-US" altLang="zh-CN" sz="2800" dirty="0"/>
          </a:p>
          <a:p>
            <a:pPr>
              <a:buFont typeface="Wingdings" panose="05000000000000000000" pitchFamily="2" charset="2"/>
              <a:buChar char="Ø"/>
            </a:pPr>
            <a:r>
              <a:rPr lang="en-GB" altLang="en-US" sz="2800" dirty="0"/>
              <a:t>Multiple threads will </a:t>
            </a:r>
            <a:r>
              <a:rPr lang="en-US" altLang="en-US" sz="2800" dirty="0"/>
              <a:t>obtain</a:t>
            </a:r>
            <a:r>
              <a:rPr lang="en-GB" altLang="en-US" sz="2800" dirty="0"/>
              <a:t> the </a:t>
            </a:r>
            <a:r>
              <a:rPr lang="en-GB" altLang="zh-CN" sz="2800" dirty="0"/>
              <a:t>LogFile </a:t>
            </a:r>
            <a:r>
              <a:rPr lang="en-GB" altLang="en-US" sz="2800" dirty="0"/>
              <a:t>object to </a:t>
            </a:r>
            <a:r>
              <a:rPr lang="en-US" altLang="en-US" sz="2800" dirty="0"/>
              <a:t>write</a:t>
            </a:r>
            <a:r>
              <a:rPr lang="en-GB" altLang="en-US" sz="2800" dirty="0"/>
              <a:t> current date and time </a:t>
            </a:r>
            <a:r>
              <a:rPr lang="en-US" altLang="en-US" sz="2800" dirty="0"/>
              <a:t>in</a:t>
            </a:r>
            <a:r>
              <a:rPr lang="en-GB" altLang="en-US" sz="2800" dirty="0"/>
              <a:t>to the log file. </a:t>
            </a:r>
            <a:endParaRPr lang="en-GB" altLang="en-US" sz="2800" dirty="0"/>
          </a:p>
          <a:p>
            <a:pPr>
              <a:buFont typeface="Wingdings" panose="05000000000000000000" pitchFamily="2" charset="2"/>
              <a:buChar char="Ø"/>
            </a:pPr>
            <a:r>
              <a:rPr lang="en-GB" altLang="en-US" sz="2800" dirty="0"/>
              <a:t>How can I programmatically handle this to avoid confusion?</a:t>
            </a:r>
            <a:endParaRPr lang="en-US" altLang="zh-CN" sz="2800" dirty="0"/>
          </a:p>
        </p:txBody>
      </p:sp>
      <p:sp>
        <p:nvSpPr>
          <p:cNvPr id="27653" name="流程图: 文档 1"/>
          <p:cNvSpPr>
            <a:spLocks noChangeArrowheads="1"/>
          </p:cNvSpPr>
          <p:nvPr/>
        </p:nvSpPr>
        <p:spPr bwMode="auto">
          <a:xfrm>
            <a:off x="4495800" y="1981200"/>
            <a:ext cx="1265238" cy="1143000"/>
          </a:xfrm>
          <a:prstGeom prst="flowChartDocumen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Log files</a:t>
            </a:r>
            <a:endParaRPr lang="en-US" altLang="zh-CN" sz="1800"/>
          </a:p>
          <a:p>
            <a:pPr>
              <a:spcBef>
                <a:spcPct val="0"/>
              </a:spcBef>
              <a:buClrTx/>
              <a:buSzTx/>
              <a:buFontTx/>
              <a:buNone/>
            </a:pPr>
            <a:r>
              <a:rPr lang="en-GB" altLang="zh-CN" sz="1800"/>
              <a:t>LogFile</a:t>
            </a:r>
            <a:endParaRPr lang="zh-CN" altLang="en-US" sz="1800"/>
          </a:p>
        </p:txBody>
      </p:sp>
      <p:sp>
        <p:nvSpPr>
          <p:cNvPr id="27654" name="圆角矩形 2"/>
          <p:cNvSpPr>
            <a:spLocks noChangeArrowheads="1"/>
          </p:cNvSpPr>
          <p:nvPr/>
        </p:nvSpPr>
        <p:spPr bwMode="auto">
          <a:xfrm>
            <a:off x="6591300" y="1828800"/>
            <a:ext cx="5486399" cy="6858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Connection thread </a:t>
            </a:r>
            <a:r>
              <a:rPr lang="en-GB" altLang="zh-CN" sz="1800"/>
              <a:t>1 </a:t>
            </a:r>
            <a:r>
              <a:rPr lang="en-GB" altLang="en-US" sz="1800"/>
              <a:t>: handles inbound connections</a:t>
            </a:r>
            <a:endParaRPr lang="en-GB" altLang="en-US" sz="1800"/>
          </a:p>
        </p:txBody>
      </p:sp>
      <p:sp>
        <p:nvSpPr>
          <p:cNvPr id="27655" name="圆角矩形 7"/>
          <p:cNvSpPr>
            <a:spLocks noChangeArrowheads="1"/>
          </p:cNvSpPr>
          <p:nvPr/>
        </p:nvSpPr>
        <p:spPr bwMode="auto">
          <a:xfrm>
            <a:off x="6591300" y="2747433"/>
            <a:ext cx="5486400" cy="6858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Connection thread </a:t>
            </a:r>
            <a:r>
              <a:rPr lang="en-GB" altLang="zh-CN" sz="1800" dirty="0"/>
              <a:t>2 </a:t>
            </a:r>
            <a:r>
              <a:rPr lang="en-GB" altLang="en-US" sz="1800" dirty="0"/>
              <a:t>: handles inbound connections</a:t>
            </a:r>
            <a:endParaRPr lang="en-GB" altLang="en-US" sz="1800" dirty="0"/>
          </a:p>
        </p:txBody>
      </p:sp>
      <p:cxnSp>
        <p:nvCxnSpPr>
          <p:cNvPr id="27656" name="直接箭头连接符 8"/>
          <p:cNvCxnSpPr>
            <a:cxnSpLocks noChangeShapeType="1"/>
          </p:cNvCxnSpPr>
          <p:nvPr/>
        </p:nvCxnSpPr>
        <p:spPr bwMode="auto">
          <a:xfrm flipH="1">
            <a:off x="5824009" y="2171700"/>
            <a:ext cx="1020762" cy="7620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57" name="直接箭头连接符 10"/>
          <p:cNvCxnSpPr>
            <a:cxnSpLocks noChangeShapeType="1"/>
          </p:cNvCxnSpPr>
          <p:nvPr/>
        </p:nvCxnSpPr>
        <p:spPr bwMode="auto">
          <a:xfrm flipH="1" flipV="1">
            <a:off x="5761038" y="2667000"/>
            <a:ext cx="1020762" cy="45720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58" name="圆角矩形 15"/>
          <p:cNvSpPr>
            <a:spLocks noChangeArrowheads="1"/>
          </p:cNvSpPr>
          <p:nvPr/>
        </p:nvSpPr>
        <p:spPr bwMode="auto">
          <a:xfrm>
            <a:off x="228600" y="1940983"/>
            <a:ext cx="3276600" cy="6858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Connection thread </a:t>
            </a:r>
            <a:r>
              <a:rPr lang="en-GB" altLang="zh-CN" sz="1800" dirty="0"/>
              <a:t>3 </a:t>
            </a:r>
            <a:r>
              <a:rPr lang="en-GB" altLang="en-US" sz="1800" dirty="0"/>
              <a:t>: handles inbound connections</a:t>
            </a:r>
            <a:endParaRPr lang="en-GB" altLang="en-US" sz="1800" dirty="0"/>
          </a:p>
        </p:txBody>
      </p:sp>
      <p:cxnSp>
        <p:nvCxnSpPr>
          <p:cNvPr id="27659" name="直接箭头连接符 12"/>
          <p:cNvCxnSpPr>
            <a:cxnSpLocks noChangeShapeType="1"/>
          </p:cNvCxnSpPr>
          <p:nvPr/>
        </p:nvCxnSpPr>
        <p:spPr bwMode="auto">
          <a:xfrm>
            <a:off x="3505200" y="2332038"/>
            <a:ext cx="990600" cy="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60" name="圆角矩形 17"/>
          <p:cNvSpPr>
            <a:spLocks noChangeArrowheads="1"/>
          </p:cNvSpPr>
          <p:nvPr/>
        </p:nvSpPr>
        <p:spPr bwMode="auto">
          <a:xfrm>
            <a:off x="114301" y="2872846"/>
            <a:ext cx="3522663" cy="6858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Connection thread </a:t>
            </a:r>
            <a:r>
              <a:rPr lang="en-GB" altLang="zh-CN" sz="1800" dirty="0"/>
              <a:t>4 </a:t>
            </a:r>
            <a:r>
              <a:rPr lang="en-GB" altLang="en-US" sz="1800" dirty="0"/>
              <a:t>: handles inbound connections</a:t>
            </a:r>
            <a:endParaRPr lang="en-GB" altLang="en-US" sz="1800" dirty="0"/>
          </a:p>
        </p:txBody>
      </p:sp>
      <p:cxnSp>
        <p:nvCxnSpPr>
          <p:cNvPr id="27661" name="直接箭头连接符 16"/>
          <p:cNvCxnSpPr>
            <a:cxnSpLocks noChangeShapeType="1"/>
          </p:cNvCxnSpPr>
          <p:nvPr/>
        </p:nvCxnSpPr>
        <p:spPr bwMode="auto">
          <a:xfrm flipV="1">
            <a:off x="3675064" y="2781300"/>
            <a:ext cx="820737" cy="57150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457200"/>
            <a:ext cx="10744200" cy="5656100"/>
          </a:xfrm>
          <a:prstGeom prst="rect">
            <a:avLst/>
          </a:prstGeom>
        </p:spPr>
        <p:txBody>
          <a:bodyPr wrap="square">
            <a:spAutoFit/>
          </a:bodyPr>
          <a:lstStyle/>
          <a:p>
            <a:pPr marL="0" marR="0">
              <a:lnSpc>
                <a:spcPct val="107000"/>
              </a:lnSpc>
              <a:spcBef>
                <a:spcPts val="0"/>
              </a:spcBef>
              <a:spcAft>
                <a:spcPts val="800"/>
              </a:spcAft>
            </a:pPr>
            <a:r>
              <a:rPr lang="en-US" sz="2800" b="1" dirty="0">
                <a:latin typeface="Calibri" panose="020F0502020204030204" pitchFamily="34" charset="0"/>
                <a:ea typeface="宋体" panose="02010600030101010101" pitchFamily="2" charset="-122"/>
                <a:cs typeface="Times New Roman" panose="02020603050405020304" pitchFamily="18" charset="0"/>
              </a:rPr>
              <a:t>Benefits of Synchronous Block for Logging</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800" b="1" dirty="0">
                <a:latin typeface="Calibri" panose="020F0502020204030204" pitchFamily="34" charset="0"/>
                <a:ea typeface="宋体" panose="02010600030101010101" pitchFamily="2" charset="-122"/>
                <a:cs typeface="Times New Roman" panose="02020603050405020304" pitchFamily="18" charset="0"/>
              </a:rPr>
              <a:t>Using a synchronous block for logging provides several benefits:</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800" b="1" dirty="0">
                <a:latin typeface="Calibri" panose="020F0502020204030204" pitchFamily="34" charset="0"/>
                <a:ea typeface="宋体" panose="02010600030101010101" pitchFamily="2" charset="-122"/>
                <a:cs typeface="Times New Roman" panose="02020603050405020304" pitchFamily="18" charset="0"/>
              </a:rPr>
              <a:t> </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800" b="1" dirty="0">
                <a:latin typeface="Calibri" panose="020F0502020204030204" pitchFamily="34" charset="0"/>
                <a:ea typeface="宋体" panose="02010600030101010101" pitchFamily="2" charset="-122"/>
                <a:cs typeface="Times New Roman" panose="02020603050405020304" pitchFamily="18" charset="0"/>
              </a:rPr>
              <a:t>1. Thread Safety: The synchronous block ensures that multiple threads cannot write to the log file simultaneously, which could cause data corruption or other issues.</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800" b="1" dirty="0">
                <a:latin typeface="Calibri" panose="020F0502020204030204" pitchFamily="34" charset="0"/>
                <a:ea typeface="宋体" panose="02010600030101010101" pitchFamily="2" charset="-122"/>
                <a:cs typeface="Times New Roman" panose="02020603050405020304" pitchFamily="18" charset="0"/>
              </a:rPr>
              <a:t>2. Consistency: The synchronous block ensures that the log file is updated consistently, even in the presence of multiple threads.</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800" b="1" dirty="0">
                <a:latin typeface="Calibri" panose="020F0502020204030204" pitchFamily="34" charset="0"/>
                <a:ea typeface="宋体" panose="02010600030101010101" pitchFamily="2" charset="-122"/>
                <a:cs typeface="Times New Roman" panose="02020603050405020304" pitchFamily="18" charset="0"/>
              </a:rPr>
              <a:t>3. Atomicity: The synchronous block ensures that each log message is written to the file atomically, meaning that either the entire message is written or none of it is.</a:t>
            </a:r>
            <a:endParaRPr lang="en-US" sz="2800" b="1" dirty="0">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1517650" y="26988"/>
            <a:ext cx="8229600" cy="431800"/>
          </a:xfrm>
        </p:spPr>
        <p:txBody>
          <a:bodyPr/>
          <a:lstStyle/>
          <a:p>
            <a:pPr algn="l"/>
            <a:r>
              <a:rPr lang="en-GB" altLang="zh-CN" sz="3200"/>
              <a:t>LogFile.java</a:t>
            </a:r>
            <a:r>
              <a:rPr lang="en-US" altLang="en-GB" sz="3200"/>
              <a:t>   </a:t>
            </a:r>
            <a:r>
              <a:rPr lang="zh-CN" altLang="en-US" sz="3200"/>
              <a:t>无线程安全</a:t>
            </a:r>
            <a:endParaRPr lang="zh-CN" altLang="en-US" sz="3200"/>
          </a:p>
        </p:txBody>
      </p:sp>
      <p:pic>
        <p:nvPicPr>
          <p:cNvPr id="28675"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9600" y="609600"/>
            <a:ext cx="107442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116650" y="3505200"/>
            <a:ext cx="4722550" cy="461665"/>
          </a:xfrm>
          <a:prstGeom prst="rect">
            <a:avLst/>
          </a:prstGeom>
        </p:spPr>
        <p:txBody>
          <a:bodyPr wrap="square">
            <a:spAutoFit/>
          </a:bodyPr>
          <a:lstStyle/>
          <a:p>
            <a:r>
              <a:rPr lang="en-US" sz="2400" b="1" dirty="0">
                <a:solidFill>
                  <a:srgbClr val="FF0000"/>
                </a:solidFill>
              </a:rPr>
              <a:t>No synchronous processing</a:t>
            </a:r>
            <a:endParaRPr lang="en-US" sz="2400" b="1" dirty="0">
              <a:solidFill>
                <a:srgbClr val="FF0000"/>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9"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04800" y="609600"/>
            <a:ext cx="10998835" cy="680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8" name="标题 1"/>
          <p:cNvSpPr>
            <a:spLocks noGrp="1"/>
          </p:cNvSpPr>
          <p:nvPr>
            <p:ph type="title"/>
          </p:nvPr>
        </p:nvSpPr>
        <p:spPr>
          <a:xfrm>
            <a:off x="1517650" y="26988"/>
            <a:ext cx="8229600" cy="431800"/>
          </a:xfrm>
        </p:spPr>
        <p:txBody>
          <a:bodyPr/>
          <a:lstStyle/>
          <a:p>
            <a:pPr algn="l"/>
            <a:r>
              <a:rPr lang="en-GB" altLang="zh-CN" sz="3200"/>
              <a:t>LogFile.java</a:t>
            </a:r>
            <a:endParaRPr lang="en-GB" altLang="zh-CN" sz="3200"/>
          </a:p>
        </p:txBody>
      </p:sp>
      <p:sp>
        <p:nvSpPr>
          <p:cNvPr id="2" name="Rectangle 1"/>
          <p:cNvSpPr/>
          <p:nvPr/>
        </p:nvSpPr>
        <p:spPr>
          <a:xfrm>
            <a:off x="2438400" y="762000"/>
            <a:ext cx="8153400" cy="369332"/>
          </a:xfrm>
          <a:prstGeom prst="rect">
            <a:avLst/>
          </a:prstGeom>
        </p:spPr>
        <p:txBody>
          <a:bodyPr wrap="square">
            <a:spAutoFit/>
          </a:bodyPr>
          <a:lstStyle/>
          <a:p>
            <a:r>
              <a:rPr lang="en-US" b="1" dirty="0">
                <a:solidFill>
                  <a:srgbClr val="FF0000"/>
                </a:solidFill>
              </a:rPr>
              <a:t>Synchronization method 1:Choose to synchronize the Writer object out</a:t>
            </a:r>
            <a:endParaRPr lang="en-US" b="1" dirty="0">
              <a:solidFill>
                <a:srgbClr val="FF0000"/>
              </a:solidFill>
            </a:endParaRPr>
          </a:p>
        </p:txBody>
      </p:sp>
      <p:sp>
        <p:nvSpPr>
          <p:cNvPr id="3" name="Rectangle 2"/>
          <p:cNvSpPr/>
          <p:nvPr/>
        </p:nvSpPr>
        <p:spPr>
          <a:xfrm>
            <a:off x="2590800" y="3788039"/>
            <a:ext cx="8382000" cy="369332"/>
          </a:xfrm>
          <a:prstGeom prst="rect">
            <a:avLst/>
          </a:prstGeom>
        </p:spPr>
        <p:txBody>
          <a:bodyPr wrap="square">
            <a:spAutoFit/>
          </a:bodyPr>
          <a:lstStyle/>
          <a:p>
            <a:r>
              <a:rPr lang="en-US" b="1" dirty="0">
                <a:solidFill>
                  <a:srgbClr val="FF0000"/>
                </a:solidFill>
              </a:rPr>
              <a:t>Synchronization method 2: Choose to synchronize the </a:t>
            </a:r>
            <a:r>
              <a:rPr lang="en-US" b="1" dirty="0" err="1">
                <a:solidFill>
                  <a:srgbClr val="FF0000"/>
                </a:solidFill>
              </a:rPr>
              <a:t>LogFile</a:t>
            </a:r>
            <a:r>
              <a:rPr lang="en-US" b="1" dirty="0">
                <a:solidFill>
                  <a:srgbClr val="FF0000"/>
                </a:solidFill>
              </a:rPr>
              <a:t> object itself</a:t>
            </a:r>
            <a:endParaRPr lang="en-US" b="1" dirty="0">
              <a:solidFill>
                <a:srgbClr val="FF0000"/>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xfrm>
            <a:off x="1517650" y="26988"/>
            <a:ext cx="8229600" cy="431800"/>
          </a:xfrm>
        </p:spPr>
        <p:txBody>
          <a:bodyPr/>
          <a:lstStyle/>
          <a:p>
            <a:pPr algn="l"/>
            <a:r>
              <a:rPr lang="en-GB" altLang="zh-CN" sz="3200"/>
              <a:t>LogFile.java</a:t>
            </a:r>
            <a:endParaRPr lang="en-GB" altLang="zh-CN" sz="3200"/>
          </a:p>
        </p:txBody>
      </p:sp>
      <p:pic>
        <p:nvPicPr>
          <p:cNvPr id="30723"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9600" y="838200"/>
            <a:ext cx="11476990" cy="565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2362200" y="838200"/>
            <a:ext cx="9378950" cy="646331"/>
          </a:xfrm>
          <a:prstGeom prst="rect">
            <a:avLst/>
          </a:prstGeom>
        </p:spPr>
        <p:txBody>
          <a:bodyPr wrap="square">
            <a:spAutoFit/>
          </a:bodyPr>
          <a:lstStyle/>
          <a:p>
            <a:r>
              <a:rPr lang="en-US" b="1" dirty="0">
                <a:solidFill>
                  <a:srgbClr val="FF0000"/>
                </a:solidFill>
              </a:rPr>
              <a:t>Synchronization method 3: Choose to synchronize the whole method body with the synchronized modifier on the object itself</a:t>
            </a:r>
            <a:endParaRPr lang="en-US" b="1" dirty="0">
              <a:solidFill>
                <a:srgbClr val="FF0000"/>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1828800" y="228600"/>
            <a:ext cx="8229600" cy="431800"/>
          </a:xfrm>
        </p:spPr>
        <p:txBody>
          <a:bodyPr/>
          <a:lstStyle/>
          <a:p>
            <a:pPr algn="l"/>
            <a:r>
              <a:rPr lang="en-GB" altLang="en-US" sz="3200" dirty="0"/>
              <a:t>Programming thinking problem</a:t>
            </a:r>
            <a:endParaRPr lang="en-GB" altLang="en-US" sz="3200" dirty="0"/>
          </a:p>
        </p:txBody>
      </p:sp>
      <p:sp>
        <p:nvSpPr>
          <p:cNvPr id="31747" name="内容占位符 2"/>
          <p:cNvSpPr>
            <a:spLocks noGrp="1"/>
          </p:cNvSpPr>
          <p:nvPr>
            <p:ph idx="1"/>
          </p:nvPr>
        </p:nvSpPr>
        <p:spPr>
          <a:xfrm>
            <a:off x="16933" y="1066800"/>
            <a:ext cx="11963400" cy="51069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400" dirty="0"/>
              <a:t>Improve the file security algorithm summary saving program completed in the last programming thinking problem, and give a file security algorithm summary log generation program. </a:t>
            </a:r>
            <a:endParaRPr lang="en-GB" altLang="en-US" sz="2400" dirty="0"/>
          </a:p>
          <a:p>
            <a:pPr>
              <a:buFont typeface="Wingdings" panose="05000000000000000000" pitchFamily="2" charset="2"/>
              <a:buChar char="Ø"/>
            </a:pPr>
            <a:r>
              <a:rPr lang="en-GB" altLang="en-US" sz="2400" dirty="0"/>
              <a:t>Requirement: Use </a:t>
            </a:r>
            <a:r>
              <a:rPr lang="en-GB" altLang="en-US" sz="2400" dirty="0">
                <a:solidFill>
                  <a:srgbClr val="FF0000"/>
                </a:solidFill>
              </a:rPr>
              <a:t>multi-threaded synchronous programming</a:t>
            </a:r>
            <a:r>
              <a:rPr lang="en-GB" altLang="en-US" sz="2400" dirty="0"/>
              <a:t> technology to save the file security algorithm summary calculated by the file security algorithm summary calculation program (using multi-threaded calculation) into a log file. </a:t>
            </a:r>
            <a:endParaRPr lang="en-GB" altLang="en-US" sz="2400" dirty="0"/>
          </a:p>
          <a:p>
            <a:pPr>
              <a:buFont typeface="Wingdings" panose="05000000000000000000" pitchFamily="2" charset="2"/>
              <a:buChar char="Ø"/>
            </a:pPr>
            <a:r>
              <a:rPr lang="en-GB" altLang="en-US" sz="2400" dirty="0"/>
              <a:t>For example, the security algorithm summary calculated for the </a:t>
            </a:r>
            <a:r>
              <a:rPr lang="en-GB" altLang="zh-CN" sz="2400" dirty="0"/>
              <a:t>1.txt file is stored </a:t>
            </a:r>
            <a:r>
              <a:rPr lang="en-GB" altLang="en-US" sz="2400" dirty="0"/>
              <a:t>in a log file named </a:t>
            </a:r>
            <a:r>
              <a:rPr lang="en-GB" altLang="zh-CN" sz="2400" dirty="0"/>
              <a:t>SafeLogFile.txt , and </a:t>
            </a:r>
            <a:r>
              <a:rPr lang="en-GB" altLang="en-US" sz="2400" dirty="0"/>
              <a:t>the security algorithm summary calculated for the </a:t>
            </a:r>
            <a:r>
              <a:rPr lang="en-GB" altLang="zh-CN" sz="2400" dirty="0"/>
              <a:t>2.xml file is also stored in a file named SafeLogFile.txt </a:t>
            </a:r>
            <a:r>
              <a:rPr lang="en-GB" altLang="en-US" sz="2400" dirty="0"/>
              <a:t>. </a:t>
            </a:r>
            <a:endParaRPr lang="en-GB" altLang="en-US" sz="2400" dirty="0"/>
          </a:p>
          <a:p>
            <a:pPr>
              <a:buFont typeface="Wingdings" panose="05000000000000000000" pitchFamily="2" charset="2"/>
              <a:buChar char="Ø"/>
            </a:pPr>
            <a:r>
              <a:rPr lang="en-GB" altLang="en-US" sz="2400" dirty="0"/>
              <a:t>And when storing the security algorithm summary of a file in the </a:t>
            </a:r>
            <a:r>
              <a:rPr lang="en-GB" altLang="zh-CN" sz="2400" dirty="0"/>
              <a:t>SafeLogFile.txt </a:t>
            </a:r>
            <a:r>
              <a:rPr lang="en-GB" altLang="en-US" sz="2400" dirty="0"/>
              <a:t>log file, the generation time of the security algorithm summary of the file must also be stored.</a:t>
            </a:r>
            <a:endParaRPr lang="en-US" altLang="zh-CN" sz="2400" dirty="0"/>
          </a:p>
          <a:p>
            <a:pPr>
              <a:buFont typeface="Wingdings" panose="05000000000000000000" pitchFamily="2" charset="2"/>
              <a:buChar char="Ø"/>
            </a:pPr>
            <a:endParaRPr lang="en-US" altLang="zh-CN" sz="2400" dirty="0"/>
          </a:p>
          <a:p>
            <a:pPr>
              <a:buFont typeface="Wingdings" panose="05000000000000000000" pitchFamily="2" charset="2"/>
              <a:buChar char="Ø"/>
            </a:pPr>
            <a:endParaRPr lang="en-US" altLang="zh-CN" sz="2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114300" y="100014"/>
            <a:ext cx="11963400" cy="889000"/>
          </a:xfrm>
        </p:spPr>
        <p:txBody>
          <a:bodyPr/>
          <a:lstStyle/>
          <a:p>
            <a:pPr algn="l"/>
            <a:r>
              <a:rPr lang="en-GB" altLang="en-US" sz="3200" dirty="0"/>
              <a:t>Problems that may arise from synchronous block programming techniques</a:t>
            </a:r>
            <a:endParaRPr lang="en-GB" altLang="en-US" sz="3200" dirty="0"/>
          </a:p>
        </p:txBody>
      </p:sp>
      <p:sp>
        <p:nvSpPr>
          <p:cNvPr id="32771" name="内容占位符 2"/>
          <p:cNvSpPr>
            <a:spLocks noGrp="1"/>
          </p:cNvSpPr>
          <p:nvPr>
            <p:ph idx="1"/>
          </p:nvPr>
        </p:nvSpPr>
        <p:spPr>
          <a:xfrm>
            <a:off x="122767" y="1027113"/>
            <a:ext cx="11734800" cy="44973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zh-CN" sz="2400" dirty="0"/>
              <a:t>1. </a:t>
            </a:r>
            <a:r>
              <a:rPr lang="en-GB" altLang="en-US" sz="2400" dirty="0"/>
              <a:t>It may seriously degrade the performance of </a:t>
            </a:r>
            <a:r>
              <a:rPr lang="en-GB" altLang="zh-CN" sz="2400" dirty="0"/>
              <a:t>the VM , </a:t>
            </a:r>
            <a:r>
              <a:rPr lang="en-GB" altLang="en-US" sz="2400" dirty="0"/>
              <a:t>reducing the code execution speed by one third or more</a:t>
            </a:r>
            <a:endParaRPr lang="en-US" altLang="zh-CN" sz="2400" dirty="0"/>
          </a:p>
          <a:p>
            <a:pPr>
              <a:buFont typeface="Wingdings" panose="05000000000000000000" pitchFamily="2" charset="2"/>
              <a:buChar char="Ø"/>
            </a:pPr>
            <a:r>
              <a:rPr lang="en-GB" altLang="zh-CN" sz="2400" dirty="0"/>
              <a:t>2. </a:t>
            </a:r>
            <a:r>
              <a:rPr lang="en-GB" altLang="en-US" sz="2400" dirty="0"/>
              <a:t>Greatly increases the possibility of deadlock</a:t>
            </a:r>
            <a:endParaRPr lang="en-US" altLang="zh-CN" sz="2400" dirty="0"/>
          </a:p>
          <a:p>
            <a:pPr>
              <a:buFont typeface="Wingdings" panose="05000000000000000000" pitchFamily="2" charset="2"/>
              <a:buChar char="Ø"/>
            </a:pPr>
            <a:r>
              <a:rPr lang="en-GB" altLang="zh-CN" sz="2400" dirty="0"/>
              <a:t>3. </a:t>
            </a:r>
            <a:r>
              <a:rPr lang="en-GB" altLang="en-US" sz="2400" dirty="0"/>
              <a:t>It is not the object itself that needs to be protected from simultaneous modification or access </a:t>
            </a:r>
            <a:r>
              <a:rPr lang="en-GB" altLang="zh-CN" sz="2400" dirty="0"/>
              <a:t>. </a:t>
            </a:r>
            <a:r>
              <a:rPr lang="en-GB" altLang="en-US" sz="2400" dirty="0"/>
              <a:t>If only the instance of the class to which the method belongs is synchronized </a:t>
            </a:r>
            <a:r>
              <a:rPr lang="en-GB" altLang="zh-CN" sz="2400" dirty="0"/>
              <a:t>, </a:t>
            </a:r>
            <a:r>
              <a:rPr lang="en-GB" altLang="en-US" sz="2400" dirty="0"/>
              <a:t>it may not protect the object that really needs to be protected </a:t>
            </a:r>
            <a:r>
              <a:rPr lang="en-GB" altLang="zh-CN" sz="2400" dirty="0"/>
              <a:t>.</a:t>
            </a:r>
            <a:endParaRPr lang="en-GB" altLang="zh-CN" sz="2400" dirty="0"/>
          </a:p>
          <a:p>
            <a:pPr>
              <a:buFont typeface="Wingdings" panose="05000000000000000000" pitchFamily="2" charset="2"/>
              <a:buChar char="Ø"/>
            </a:pPr>
            <a:endParaRPr lang="en-US" altLang="zh-CN" sz="2400" dirty="0"/>
          </a:p>
          <a:p>
            <a:pPr>
              <a:buFont typeface="Wingdings" panose="05000000000000000000" pitchFamily="2" charset="2"/>
              <a:buChar char="Ø"/>
            </a:pPr>
            <a:endParaRPr lang="en-US" altLang="zh-CN" sz="2400" dirty="0"/>
          </a:p>
          <a:p>
            <a:pPr>
              <a:buFont typeface="Wingdings" panose="05000000000000000000" pitchFamily="2" charset="2"/>
              <a:buChar char="Ø"/>
            </a:pPr>
            <a:endParaRPr lang="en-US" altLang="zh-CN" sz="2400" dirty="0"/>
          </a:p>
        </p:txBody>
      </p:sp>
      <p:sp>
        <p:nvSpPr>
          <p:cNvPr id="32772" name="流程图: 文档 13"/>
          <p:cNvSpPr>
            <a:spLocks noChangeArrowheads="1"/>
          </p:cNvSpPr>
          <p:nvPr/>
        </p:nvSpPr>
        <p:spPr bwMode="auto">
          <a:xfrm>
            <a:off x="4495800" y="4152900"/>
            <a:ext cx="1265238" cy="1371600"/>
          </a:xfrm>
          <a:prstGeom prst="flowChartDocumen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Log files</a:t>
            </a:r>
            <a:endParaRPr lang="en-US" altLang="zh-CN" sz="1800" dirty="0"/>
          </a:p>
          <a:p>
            <a:pPr>
              <a:spcBef>
                <a:spcPct val="0"/>
              </a:spcBef>
              <a:buClrTx/>
              <a:buSzTx/>
              <a:buFontTx/>
              <a:buNone/>
            </a:pPr>
            <a:r>
              <a:rPr lang="en-GB" altLang="zh-CN" sz="1800" dirty="0"/>
              <a:t>LogFile</a:t>
            </a:r>
            <a:endParaRPr lang="en-GB" altLang="zh-CN" sz="1800" dirty="0"/>
          </a:p>
          <a:p>
            <a:pPr>
              <a:spcBef>
                <a:spcPct val="0"/>
              </a:spcBef>
              <a:buClrTx/>
              <a:buSzTx/>
              <a:buFontTx/>
              <a:buNone/>
            </a:pPr>
            <a:r>
              <a:rPr lang="en-GB" altLang="zh-CN" sz="1800" dirty="0">
                <a:solidFill>
                  <a:srgbClr val="FF0000"/>
                </a:solidFill>
              </a:rPr>
              <a:t>Out </a:t>
            </a:r>
            <a:r>
              <a:rPr lang="en-GB" altLang="en-US" sz="1600" dirty="0">
                <a:solidFill>
                  <a:srgbClr val="FF0000"/>
                </a:solidFill>
              </a:rPr>
              <a:t>object</a:t>
            </a:r>
            <a:r>
              <a:rPr lang="en-GB" altLang="en-US" sz="1800" dirty="0">
                <a:solidFill>
                  <a:srgbClr val="FF0000"/>
                </a:solidFill>
              </a:rPr>
              <a:t>: </a:t>
            </a:r>
            <a:r>
              <a:rPr lang="en-GB" altLang="zh-CN" sz="1800" dirty="0">
                <a:solidFill>
                  <a:srgbClr val="FF0000"/>
                </a:solidFill>
              </a:rPr>
              <a:t>Writer</a:t>
            </a:r>
            <a:endParaRPr lang="en-GB" altLang="zh-CN" sz="1800" dirty="0">
              <a:solidFill>
                <a:srgbClr val="FF0000"/>
              </a:solidFill>
            </a:endParaRPr>
          </a:p>
        </p:txBody>
      </p:sp>
      <p:sp>
        <p:nvSpPr>
          <p:cNvPr id="32773" name="圆角矩形 18"/>
          <p:cNvSpPr>
            <a:spLocks noChangeArrowheads="1"/>
          </p:cNvSpPr>
          <p:nvPr/>
        </p:nvSpPr>
        <p:spPr bwMode="auto">
          <a:xfrm>
            <a:off x="6477001" y="4038600"/>
            <a:ext cx="5592232" cy="6858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Connection thread </a:t>
            </a:r>
            <a:r>
              <a:rPr lang="en-GB" altLang="zh-CN" sz="1800"/>
              <a:t>1 </a:t>
            </a:r>
            <a:r>
              <a:rPr lang="en-GB" altLang="en-US" sz="1800"/>
              <a:t>: handles inbound connections</a:t>
            </a:r>
            <a:endParaRPr lang="en-GB" altLang="en-US" sz="1800"/>
          </a:p>
        </p:txBody>
      </p:sp>
      <p:sp>
        <p:nvSpPr>
          <p:cNvPr id="32774" name="圆角矩形 19"/>
          <p:cNvSpPr>
            <a:spLocks noChangeArrowheads="1"/>
          </p:cNvSpPr>
          <p:nvPr/>
        </p:nvSpPr>
        <p:spPr bwMode="auto">
          <a:xfrm>
            <a:off x="6477000" y="4851399"/>
            <a:ext cx="5600699" cy="6858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Connection thread </a:t>
            </a:r>
            <a:r>
              <a:rPr lang="en-GB" altLang="zh-CN" sz="1800"/>
              <a:t>2 </a:t>
            </a:r>
            <a:r>
              <a:rPr lang="en-GB" altLang="en-US" sz="1800"/>
              <a:t>: handles inbound connections</a:t>
            </a:r>
            <a:endParaRPr lang="en-GB" altLang="en-US" sz="1800"/>
          </a:p>
        </p:txBody>
      </p:sp>
      <p:cxnSp>
        <p:nvCxnSpPr>
          <p:cNvPr id="32775" name="直接箭头连接符 20"/>
          <p:cNvCxnSpPr>
            <a:cxnSpLocks noChangeShapeType="1"/>
          </p:cNvCxnSpPr>
          <p:nvPr/>
        </p:nvCxnSpPr>
        <p:spPr bwMode="auto">
          <a:xfrm flipH="1">
            <a:off x="5761038" y="4381500"/>
            <a:ext cx="1020762" cy="7620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76" name="直接箭头连接符 21"/>
          <p:cNvCxnSpPr>
            <a:cxnSpLocks noChangeShapeType="1"/>
          </p:cNvCxnSpPr>
          <p:nvPr/>
        </p:nvCxnSpPr>
        <p:spPr bwMode="auto">
          <a:xfrm flipH="1" flipV="1">
            <a:off x="5761038" y="4838700"/>
            <a:ext cx="1020762" cy="45720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777" name="圆角矩形 22"/>
          <p:cNvSpPr>
            <a:spLocks noChangeArrowheads="1"/>
          </p:cNvSpPr>
          <p:nvPr/>
        </p:nvSpPr>
        <p:spPr bwMode="auto">
          <a:xfrm>
            <a:off x="228600" y="4160838"/>
            <a:ext cx="3276600" cy="6858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Connection thread </a:t>
            </a:r>
            <a:r>
              <a:rPr lang="en-GB" altLang="zh-CN" sz="1800" dirty="0"/>
              <a:t>3 </a:t>
            </a:r>
            <a:r>
              <a:rPr lang="en-GB" altLang="en-US" sz="1800" dirty="0"/>
              <a:t>: handles inbound connections</a:t>
            </a:r>
            <a:endParaRPr lang="en-GB" altLang="en-US" sz="1800" dirty="0"/>
          </a:p>
        </p:txBody>
      </p:sp>
      <p:cxnSp>
        <p:nvCxnSpPr>
          <p:cNvPr id="32778" name="直接箭头连接符 23"/>
          <p:cNvCxnSpPr>
            <a:cxnSpLocks noChangeShapeType="1"/>
          </p:cNvCxnSpPr>
          <p:nvPr/>
        </p:nvCxnSpPr>
        <p:spPr bwMode="auto">
          <a:xfrm>
            <a:off x="3505200" y="4503738"/>
            <a:ext cx="990600" cy="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779" name="圆角矩形 24"/>
          <p:cNvSpPr>
            <a:spLocks noChangeArrowheads="1"/>
          </p:cNvSpPr>
          <p:nvPr/>
        </p:nvSpPr>
        <p:spPr bwMode="auto">
          <a:xfrm>
            <a:off x="228600" y="5177631"/>
            <a:ext cx="3446463" cy="6858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Connection thread </a:t>
            </a:r>
            <a:r>
              <a:rPr lang="en-GB" altLang="zh-CN" sz="1800" dirty="0"/>
              <a:t>4 </a:t>
            </a:r>
            <a:r>
              <a:rPr lang="en-GB" altLang="en-US" sz="1800" dirty="0"/>
              <a:t>: handles inbound connections</a:t>
            </a:r>
            <a:endParaRPr lang="en-GB" altLang="en-US" sz="1800" dirty="0"/>
          </a:p>
        </p:txBody>
      </p:sp>
      <p:cxnSp>
        <p:nvCxnSpPr>
          <p:cNvPr id="32780" name="直接箭头连接符 25"/>
          <p:cNvCxnSpPr>
            <a:cxnSpLocks noChangeShapeType="1"/>
          </p:cNvCxnSpPr>
          <p:nvPr/>
        </p:nvCxnSpPr>
        <p:spPr bwMode="auto">
          <a:xfrm flipV="1">
            <a:off x="3675064" y="4953000"/>
            <a:ext cx="820737" cy="57150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781" name="TextBox 3"/>
          <p:cNvSpPr txBox="1">
            <a:spLocks noChangeArrowheads="1"/>
          </p:cNvSpPr>
          <p:nvPr/>
        </p:nvSpPr>
        <p:spPr bwMode="auto">
          <a:xfrm>
            <a:off x="122768" y="6014133"/>
            <a:ext cx="119549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b="1" dirty="0">
                <a:solidFill>
                  <a:srgbClr val="FF0000"/>
                </a:solidFill>
              </a:rPr>
              <a:t>Problems caused: </a:t>
            </a:r>
            <a:r>
              <a:rPr lang="en-GB" altLang="en-US" sz="1800" b="1" dirty="0"/>
              <a:t>The goal is to avoid </a:t>
            </a:r>
            <a:r>
              <a:rPr lang="en-GB" altLang="zh-CN" sz="1800" b="1" dirty="0"/>
              <a:t>4 </a:t>
            </a:r>
            <a:r>
              <a:rPr lang="en-GB" altLang="en-US" sz="1800" b="1" dirty="0"/>
              <a:t>threads writing to the log file using the </a:t>
            </a:r>
            <a:r>
              <a:rPr lang="en-GB" altLang="zh-CN" sz="1800" b="1" dirty="0"/>
              <a:t>out </a:t>
            </a:r>
            <a:r>
              <a:rPr lang="en-GB" altLang="en-US" sz="1800" b="1" dirty="0"/>
              <a:t>object at the same time, but if other classes have references to </a:t>
            </a:r>
            <a:r>
              <a:rPr lang="en-GB" altLang="zh-CN" sz="1800" b="1" dirty="0"/>
              <a:t>out </a:t>
            </a:r>
            <a:r>
              <a:rPr lang="en-GB" altLang="en-US" sz="1800" b="1" dirty="0"/>
              <a:t>that are completely unrelated to </a:t>
            </a:r>
            <a:r>
              <a:rPr lang="en-GB" altLang="zh-CN" sz="1800" b="1" dirty="0"/>
              <a:t>LogFile </a:t>
            </a:r>
            <a:r>
              <a:rPr lang="en-GB" altLang="en-US" sz="1800" b="1" dirty="0"/>
              <a:t>, these writes will fail.</a:t>
            </a:r>
            <a:endParaRPr lang="en-GB" altLang="en-US" sz="1800" b="1"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228600" y="152400"/>
            <a:ext cx="11734800" cy="990600"/>
          </a:xfrm>
        </p:spPr>
        <p:txBody>
          <a:bodyPr/>
          <a:lstStyle/>
          <a:p>
            <a:pPr algn="l"/>
            <a:r>
              <a:rPr lang="en-GB" altLang="en-US" sz="3200" dirty="0"/>
              <a:t>Replacement technology for synchronous programming technology</a:t>
            </a:r>
            <a:endParaRPr lang="en-GB" altLang="en-US" sz="3200" dirty="0"/>
          </a:p>
        </p:txBody>
      </p:sp>
      <p:sp>
        <p:nvSpPr>
          <p:cNvPr id="33795" name="内容占位符 2"/>
          <p:cNvSpPr>
            <a:spLocks noGrp="1"/>
          </p:cNvSpPr>
          <p:nvPr>
            <p:ph idx="1"/>
          </p:nvPr>
        </p:nvSpPr>
        <p:spPr>
          <a:xfrm>
            <a:off x="152400" y="1371600"/>
            <a:ext cx="11734800" cy="44973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dirty="0"/>
              <a:t>Using synchronous programming techniques to solve inconsistency problems that may be caused by thread scheduling will introduce new problems, called synchronization problems.</a:t>
            </a:r>
            <a:endParaRPr lang="en-US" altLang="zh-CN" sz="2800" dirty="0"/>
          </a:p>
          <a:p>
            <a:pPr>
              <a:buFont typeface="Wingdings" panose="05000000000000000000" pitchFamily="2" charset="2"/>
              <a:buChar char="Ø"/>
            </a:pPr>
            <a:r>
              <a:rPr lang="en-GB" altLang="en-US" sz="2800" dirty="0"/>
              <a:t>Think about it: What are some alternative programming techniques that can solve the inconsistency problems that may be caused by multi-threaded resource sharing, and avoid synchronization problems caused by the use of synchronization?</a:t>
            </a:r>
            <a:endParaRPr lang="en-US" altLang="zh-CN" sz="2800" dirty="0"/>
          </a:p>
          <a:p>
            <a:pPr>
              <a:buFont typeface="Wingdings" panose="05000000000000000000" pitchFamily="2" charset="2"/>
              <a:buChar char="Ø"/>
            </a:pPr>
            <a:r>
              <a:rPr lang="en-GB" altLang="en-US" sz="2400" dirty="0"/>
              <a:t>Method </a:t>
            </a:r>
            <a:r>
              <a:rPr lang="en-GB" altLang="zh-CN" sz="2400" dirty="0"/>
              <a:t>1 </a:t>
            </a:r>
            <a:r>
              <a:rPr lang="en-GB" altLang="en-US" sz="2400" dirty="0"/>
              <a:t>: Try to use local variables instead of fields</a:t>
            </a:r>
            <a:endParaRPr lang="en-US" altLang="zh-CN" sz="2400" dirty="0"/>
          </a:p>
          <a:p>
            <a:pPr>
              <a:buFont typeface="Wingdings" panose="05000000000000000000" pitchFamily="2" charset="2"/>
              <a:buChar char="Ø"/>
            </a:pPr>
            <a:r>
              <a:rPr lang="en-GB" altLang="en-US" sz="2400" dirty="0"/>
              <a:t>Method </a:t>
            </a:r>
            <a:r>
              <a:rPr lang="en-GB" altLang="zh-CN" sz="2400" dirty="0"/>
              <a:t>2 </a:t>
            </a:r>
            <a:r>
              <a:rPr lang="en-GB" altLang="en-US" sz="2400" dirty="0"/>
              <a:t>: Basic type method parameters, constructors are usually thread-safe</a:t>
            </a:r>
            <a:endParaRPr lang="en-US" altLang="zh-CN" sz="2400" dirty="0"/>
          </a:p>
          <a:p>
            <a:pPr>
              <a:buFont typeface="Wingdings" panose="05000000000000000000" pitchFamily="2" charset="2"/>
              <a:buChar char="Ø"/>
            </a:pPr>
            <a:r>
              <a:rPr lang="en-GB" altLang="en-US" sz="2400" dirty="0"/>
              <a:t>Method </a:t>
            </a:r>
            <a:r>
              <a:rPr lang="en-GB" altLang="zh-CN" sz="2400" dirty="0"/>
              <a:t>3 </a:t>
            </a:r>
            <a:r>
              <a:rPr lang="en-GB" altLang="en-US" sz="2400" dirty="0"/>
              <a:t>: Use a non-thread-safe class as a private field of a thread-safe class.</a:t>
            </a:r>
            <a:endParaRPr lang="en-US" altLang="zh-CN" sz="2400" dirty="0"/>
          </a:p>
          <a:p>
            <a:pPr>
              <a:buFont typeface="Wingdings" panose="05000000000000000000" pitchFamily="2" charset="2"/>
              <a:buChar char="Ø"/>
            </a:pPr>
            <a:endParaRPr lang="en-US" altLang="zh-CN" sz="2800" dirty="0"/>
          </a:p>
          <a:p>
            <a:pPr>
              <a:buFont typeface="Wingdings" panose="05000000000000000000" pitchFamily="2" charset="2"/>
              <a:buChar char="Ø"/>
            </a:pPr>
            <a:endParaRPr lang="en-US" altLang="zh-CN" sz="28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a:xfrm>
            <a:off x="1600200" y="304800"/>
            <a:ext cx="8229600" cy="431800"/>
          </a:xfrm>
        </p:spPr>
        <p:txBody>
          <a:bodyPr/>
          <a:lstStyle/>
          <a:p>
            <a:r>
              <a:rPr lang="en-GB" altLang="en-US" sz="3200" dirty="0"/>
              <a:t>Thread Scheduling</a:t>
            </a:r>
            <a:endParaRPr lang="en-GB" altLang="en-US" sz="3200" dirty="0"/>
          </a:p>
        </p:txBody>
      </p:sp>
      <p:sp>
        <p:nvSpPr>
          <p:cNvPr id="34819" name="内容占位符 2"/>
          <p:cNvSpPr>
            <a:spLocks noGrp="1"/>
          </p:cNvSpPr>
          <p:nvPr>
            <p:ph idx="1"/>
          </p:nvPr>
        </p:nvSpPr>
        <p:spPr>
          <a:xfrm>
            <a:off x="457200" y="1066800"/>
            <a:ext cx="11430000" cy="40925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dirty="0"/>
              <a:t>Multithreaded programs need to consider thread scheduling issues</a:t>
            </a:r>
            <a:endParaRPr lang="en-US" altLang="zh-CN" sz="2800" dirty="0"/>
          </a:p>
          <a:p>
            <a:pPr>
              <a:buFont typeface="Wingdings" panose="05000000000000000000" pitchFamily="2" charset="2"/>
              <a:buChar char="Ø"/>
            </a:pPr>
            <a:r>
              <a:rPr lang="en-GB" altLang="en-US" sz="2400" dirty="0"/>
              <a:t>Important threads get </a:t>
            </a:r>
            <a:r>
              <a:rPr lang="en-GB" altLang="zh-CN" sz="2400" dirty="0"/>
              <a:t>CPU </a:t>
            </a:r>
            <a:r>
              <a:rPr lang="en-GB" altLang="en-US" sz="2400" dirty="0"/>
              <a:t>time to run, more important threads get more time </a:t>
            </a:r>
            <a:r>
              <a:rPr lang="en-GB" altLang="zh-CN" sz="2400" dirty="0"/>
              <a:t>, and </a:t>
            </a:r>
            <a:r>
              <a:rPr lang="en-GB" altLang="en-US" sz="2400" dirty="0"/>
              <a:t>can now execute in a reasonable order</a:t>
            </a:r>
            <a:endParaRPr lang="en-US" altLang="zh-CN" sz="2400" dirty="0"/>
          </a:p>
          <a:p>
            <a:pPr>
              <a:buFont typeface="Wingdings" panose="05000000000000000000" pitchFamily="2" charset="2"/>
              <a:buChar char="Ø"/>
            </a:pPr>
            <a:endParaRPr lang="en-US" altLang="zh-CN" sz="2400" b="1" dirty="0"/>
          </a:p>
          <a:p>
            <a:pPr>
              <a:buFont typeface="Wingdings" panose="05000000000000000000" pitchFamily="2" charset="2"/>
              <a:buChar char="Ø"/>
            </a:pPr>
            <a:r>
              <a:rPr lang="en-GB" altLang="en-US" sz="2400" b="1" dirty="0"/>
              <a:t>Priority </a:t>
            </a:r>
            <a:r>
              <a:rPr lang="en-GB" altLang="en-US" sz="2400" dirty="0"/>
              <a:t>: In </a:t>
            </a:r>
            <a:r>
              <a:rPr lang="en-GB" altLang="zh-CN" sz="2400" dirty="0"/>
              <a:t>Java </a:t>
            </a:r>
            <a:r>
              <a:rPr lang="en-GB" altLang="en-US" sz="2400" dirty="0"/>
              <a:t>, each thread has a priority, specified as an integer from </a:t>
            </a:r>
            <a:r>
              <a:rPr lang="en-GB" altLang="zh-CN" sz="2400" dirty="0"/>
              <a:t>0 to 10. The </a:t>
            </a:r>
            <a:r>
              <a:rPr lang="en-GB" altLang="en-US" sz="2400" dirty="0"/>
              <a:t>virtual machine schedules the execution of threads with higher priority first </a:t>
            </a:r>
            <a:r>
              <a:rPr lang="en-GB" altLang="zh-CN" sz="2400" dirty="0"/>
              <a:t>.</a:t>
            </a:r>
            <a:r>
              <a:rPr lang="en-GB" altLang="en-US" sz="2400" dirty="0"/>
              <a:t> </a:t>
            </a:r>
            <a:r>
              <a:rPr lang="en-GB" altLang="zh-CN" sz="2400" dirty="0"/>
              <a:t>10 </a:t>
            </a:r>
            <a:r>
              <a:rPr lang="en-GB" altLang="en-US" sz="2400" dirty="0"/>
              <a:t>is the highest priority, </a:t>
            </a:r>
            <a:r>
              <a:rPr lang="en-GB" altLang="zh-CN" sz="2400" dirty="0"/>
              <a:t>0 </a:t>
            </a:r>
            <a:r>
              <a:rPr lang="en-GB" altLang="en-US" sz="2400" dirty="0"/>
              <a:t>is the lowest, and the default priority is </a:t>
            </a:r>
            <a:r>
              <a:rPr lang="en-GB" altLang="zh-CN" sz="2400" dirty="0"/>
              <a:t>5. </a:t>
            </a:r>
            <a:r>
              <a:rPr lang="en-GB" altLang="en-US" sz="2400" dirty="0"/>
              <a:t>Usually, the threads in our program are all at the default priority </a:t>
            </a:r>
            <a:r>
              <a:rPr lang="en-GB" altLang="zh-CN" sz="2400" dirty="0"/>
              <a:t>.</a:t>
            </a:r>
            <a:endParaRPr lang="en-GB" altLang="zh-CN" sz="2400" dirty="0"/>
          </a:p>
          <a:p>
            <a:pPr>
              <a:buFont typeface="Wingdings" panose="05000000000000000000" pitchFamily="2" charset="2"/>
              <a:buChar char="Ø"/>
            </a:pPr>
            <a:r>
              <a:rPr lang="en-GB" altLang="zh-CN" sz="2000" dirty="0"/>
              <a:t>Thread.MIN_PRIORITY = 1 </a:t>
            </a:r>
            <a:r>
              <a:rPr lang="en-GB" altLang="en-US" sz="2000" dirty="0"/>
              <a:t>, </a:t>
            </a:r>
            <a:r>
              <a:rPr lang="en-GB" altLang="zh-CN" sz="2000" dirty="0"/>
              <a:t>Thread.NORM_PRIORITY = 5, Thread.MAX_PRIORITY = 10</a:t>
            </a:r>
            <a:endParaRPr lang="en-GB" altLang="zh-CN" sz="2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xfrm>
            <a:off x="1676400" y="304800"/>
            <a:ext cx="8229600" cy="431800"/>
          </a:xfrm>
        </p:spPr>
        <p:txBody>
          <a:bodyPr/>
          <a:lstStyle/>
          <a:p>
            <a:r>
              <a:rPr lang="en-GB" altLang="en-US" sz="3200" dirty="0"/>
              <a:t>Thread Scheduling</a:t>
            </a:r>
            <a:endParaRPr lang="en-GB" altLang="en-US" sz="3200" dirty="0"/>
          </a:p>
        </p:txBody>
      </p:sp>
      <p:sp>
        <p:nvSpPr>
          <p:cNvPr id="35843" name="内容占位符 2"/>
          <p:cNvSpPr>
            <a:spLocks noGrp="1"/>
          </p:cNvSpPr>
          <p:nvPr>
            <p:ph idx="1"/>
          </p:nvPr>
        </p:nvSpPr>
        <p:spPr>
          <a:xfrm>
            <a:off x="152400" y="990600"/>
            <a:ext cx="11658600" cy="52355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400" b="1" dirty="0"/>
              <a:t>Thread Scheduler </a:t>
            </a:r>
            <a:r>
              <a:rPr lang="en-GB" altLang="zh-CN" sz="2400" dirty="0"/>
              <a:t>: </a:t>
            </a:r>
            <a:r>
              <a:rPr lang="en-GB" altLang="en-US" sz="2400" dirty="0"/>
              <a:t>Each virtual machine has a thread scheduler that determines which thread is running at a given time.</a:t>
            </a:r>
            <a:endParaRPr lang="en-US" altLang="zh-CN" sz="2400" dirty="0"/>
          </a:p>
          <a:p>
            <a:pPr>
              <a:buFont typeface="Wingdings" panose="05000000000000000000" pitchFamily="2" charset="2"/>
              <a:buChar char="Ø"/>
            </a:pPr>
            <a:r>
              <a:rPr lang="en-GB" altLang="en-US" sz="2400" dirty="0"/>
              <a:t>Thread scheduling methods </a:t>
            </a:r>
            <a:r>
              <a:rPr lang="en-GB" altLang="zh-CN" sz="2400" dirty="0"/>
              <a:t>: </a:t>
            </a:r>
            <a:r>
              <a:rPr lang="en-GB" altLang="en-US" sz="2400" dirty="0">
                <a:solidFill>
                  <a:srgbClr val="FF0000"/>
                </a:solidFill>
              </a:rPr>
              <a:t>preemptive </a:t>
            </a:r>
            <a:r>
              <a:rPr lang="en-GB" altLang="en-US" sz="2400" dirty="0"/>
              <a:t>and </a:t>
            </a:r>
            <a:r>
              <a:rPr lang="en-GB" altLang="en-US" sz="2400" dirty="0">
                <a:solidFill>
                  <a:srgbClr val="FF0000"/>
                </a:solidFill>
              </a:rPr>
              <a:t>cooperative</a:t>
            </a:r>
            <a:endParaRPr lang="en-US" altLang="zh-CN" sz="2400" dirty="0">
              <a:solidFill>
                <a:srgbClr val="FF0000"/>
              </a:solidFill>
            </a:endParaRPr>
          </a:p>
          <a:p>
            <a:pPr>
              <a:buFont typeface="Wingdings" panose="05000000000000000000" pitchFamily="2" charset="2"/>
              <a:buChar char="Ø"/>
            </a:pPr>
            <a:r>
              <a:rPr lang="en-GB" altLang="en-US" sz="2400" b="1" dirty="0"/>
              <a:t>The preemptive thread scheduler </a:t>
            </a:r>
            <a:r>
              <a:rPr lang="en-GB" altLang="en-US" sz="2400" dirty="0"/>
              <a:t>periodically interrupts the currently executing thread and transfers </a:t>
            </a:r>
            <a:r>
              <a:rPr lang="en-GB" altLang="zh-CN" sz="2400" dirty="0"/>
              <a:t>CPU </a:t>
            </a:r>
            <a:r>
              <a:rPr lang="en-GB" altLang="en-US" sz="2400" dirty="0"/>
              <a:t>control to another thread.</a:t>
            </a:r>
            <a:endParaRPr lang="en-US" altLang="zh-CN" sz="2400" dirty="0"/>
          </a:p>
          <a:p>
            <a:pPr>
              <a:buFont typeface="Wingdings" panose="05000000000000000000" pitchFamily="2" charset="2"/>
              <a:buChar char="Ø"/>
            </a:pPr>
            <a:r>
              <a:rPr lang="en-GB" altLang="en-US" sz="2400" b="1" dirty="0"/>
              <a:t>A cooperative thread scheduler </a:t>
            </a:r>
            <a:r>
              <a:rPr lang="en-GB" altLang="en-US" sz="2400" dirty="0"/>
              <a:t>waits for the currently running thread to pause itself before handing control of the CPU to another </a:t>
            </a:r>
            <a:endParaRPr lang="en-US" altLang="zh-CN" sz="2400" dirty="0"/>
          </a:p>
          <a:p>
            <a:pPr>
              <a:buFont typeface="Wingdings" panose="05000000000000000000" pitchFamily="2" charset="2"/>
              <a:buChar char="Ø"/>
            </a:pPr>
            <a:r>
              <a:rPr lang="en-GB" altLang="en-US" sz="2400" dirty="0"/>
              <a:t>When writing a </a:t>
            </a:r>
            <a:r>
              <a:rPr lang="en-GB" altLang="zh-CN" sz="2400" dirty="0"/>
              <a:t>Java </a:t>
            </a:r>
            <a:r>
              <a:rPr lang="en-GB" altLang="en-US" sz="2400" dirty="0"/>
              <a:t>thread program to implement </a:t>
            </a:r>
            <a:r>
              <a:rPr lang="en-GB" altLang="zh-CN" sz="2400" dirty="0"/>
              <a:t>the run </a:t>
            </a:r>
            <a:r>
              <a:rPr lang="en-GB" altLang="en-US" sz="2400" dirty="0"/>
              <a:t>() method, make sure that the thread has conditions that allow it to be suspended </a:t>
            </a:r>
            <a:r>
              <a:rPr lang="en-GB" altLang="zh-CN" sz="2400" dirty="0"/>
              <a:t>so </a:t>
            </a:r>
            <a:r>
              <a:rPr lang="en-GB" altLang="en-US" sz="2400" dirty="0"/>
              <a:t>that other threads have a chance to run.</a:t>
            </a:r>
            <a:endParaRPr lang="en-US" altLang="zh-CN" sz="2400" dirty="0"/>
          </a:p>
          <a:p>
            <a:pPr>
              <a:buFont typeface="Wingdings" panose="05000000000000000000" pitchFamily="2" charset="2"/>
              <a:buChar char="Ø"/>
            </a:pPr>
            <a:r>
              <a:rPr lang="en-GB" altLang="en-US" sz="2400" dirty="0"/>
              <a:t>There are several ways to pause a thread </a:t>
            </a:r>
            <a:r>
              <a:rPr lang="en-GB" altLang="zh-CN" sz="2400" dirty="0"/>
              <a:t>:</a:t>
            </a:r>
            <a:endParaRPr lang="en-GB" altLang="zh-CN" sz="2400" dirty="0"/>
          </a:p>
          <a:p>
            <a:pPr>
              <a:buFont typeface="Wingdings" panose="05000000000000000000" pitchFamily="2" charset="2"/>
              <a:buChar char="Ø"/>
            </a:pPr>
            <a:r>
              <a:rPr lang="en-GB" altLang="en-US" sz="2000" dirty="0"/>
              <a:t>on </a:t>
            </a:r>
            <a:r>
              <a:rPr lang="en-GB" altLang="zh-CN" sz="2000" dirty="0"/>
              <a:t>I/O </a:t>
            </a:r>
            <a:r>
              <a:rPr lang="en-GB" altLang="en-US" sz="2000" dirty="0"/>
              <a:t>, block on synchronization object, give up, sleep, connect to another thread, wait for an object, end, can be preempted by a higher priority thread, etc.</a:t>
            </a:r>
            <a:endParaRPr lang="en-US" altLang="zh-CN" sz="2000" dirty="0"/>
          </a:p>
          <a:p>
            <a:pPr>
              <a:buFont typeface="Wingdings" panose="05000000000000000000" pitchFamily="2" charset="2"/>
              <a:buChar char="Ø"/>
            </a:pPr>
            <a:endParaRPr lang="en-US" altLang="zh-CN" sz="24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1752600" y="457200"/>
            <a:ext cx="8229600" cy="431800"/>
          </a:xfrm>
        </p:spPr>
        <p:txBody>
          <a:bodyPr/>
          <a:lstStyle/>
          <a:p>
            <a:pPr algn="l"/>
            <a:r>
              <a:rPr lang="en-GB" altLang="en-US" sz="3200"/>
              <a:t>Questions to think about</a:t>
            </a:r>
            <a:endParaRPr lang="en-GB" altLang="en-US" sz="3200"/>
          </a:p>
        </p:txBody>
      </p:sp>
      <p:sp>
        <p:nvSpPr>
          <p:cNvPr id="36867" name="内容占位符 2"/>
          <p:cNvSpPr>
            <a:spLocks noGrp="1"/>
          </p:cNvSpPr>
          <p:nvPr>
            <p:ph idx="1"/>
          </p:nvPr>
        </p:nvSpPr>
        <p:spPr>
          <a:xfrm>
            <a:off x="1712913" y="1293814"/>
            <a:ext cx="8229600" cy="12969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zh-CN" sz="2800"/>
              <a:t>1. </a:t>
            </a:r>
            <a:r>
              <a:rPr lang="en-GB" altLang="en-US" sz="2800"/>
              <a:t>What is thread deadlock problem</a:t>
            </a:r>
            <a:endParaRPr lang="en-US" altLang="zh-CN" sz="2800"/>
          </a:p>
          <a:p>
            <a:pPr>
              <a:buFont typeface="Wingdings" panose="05000000000000000000" pitchFamily="2" charset="2"/>
              <a:buChar char="Ø"/>
            </a:pPr>
            <a:r>
              <a:rPr lang="en-GB" altLang="zh-CN" sz="2800"/>
              <a:t>2. </a:t>
            </a:r>
            <a:r>
              <a:rPr lang="en-GB" altLang="en-US" sz="2800"/>
              <a:t>What is thread starvation problem</a:t>
            </a:r>
            <a:endParaRPr lang="en-US" altLang="zh-CN" sz="2800"/>
          </a:p>
          <a:p>
            <a:pPr>
              <a:buFont typeface="Wingdings" panose="05000000000000000000" pitchFamily="2" charset="2"/>
              <a:buChar char="Ø"/>
            </a:pPr>
            <a:endParaRPr lang="en-US" altLang="zh-CN" sz="2800"/>
          </a:p>
        </p:txBody>
      </p:sp>
      <p:sp>
        <p:nvSpPr>
          <p:cNvPr id="2" name="文本框 1"/>
          <p:cNvSpPr txBox="1">
            <a:spLocks noChangeArrowheads="1"/>
          </p:cNvSpPr>
          <p:nvPr/>
        </p:nvSpPr>
        <p:spPr bwMode="auto">
          <a:xfrm>
            <a:off x="342899" y="2995615"/>
            <a:ext cx="11049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dirty="0"/>
              <a:t>Thread deadlock: Deadlock occurs when two threads need exclusive access to the same set of resources, but each thread has locks on a different subset of these resources.</a:t>
            </a:r>
            <a:endParaRPr lang="en-GB" altLang="en-US" sz="2000" dirty="0"/>
          </a:p>
        </p:txBody>
      </p:sp>
      <p:sp>
        <p:nvSpPr>
          <p:cNvPr id="5" name="文本框 4"/>
          <p:cNvSpPr txBox="1">
            <a:spLocks noChangeArrowheads="1"/>
          </p:cNvSpPr>
          <p:nvPr/>
        </p:nvSpPr>
        <p:spPr bwMode="auto">
          <a:xfrm>
            <a:off x="152400" y="4419600"/>
            <a:ext cx="1109424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dirty="0"/>
              <a:t>Thread starvation: When thread scheduling is running, some threads cannot get </a:t>
            </a:r>
            <a:r>
              <a:rPr lang="en-GB" altLang="zh-CN" sz="2000" dirty="0"/>
              <a:t>CPU </a:t>
            </a:r>
            <a:r>
              <a:rPr lang="en-GB" altLang="en-US" sz="2000" dirty="0"/>
              <a:t>time slices and are always in a waiting state, unable to run tasks.</a:t>
            </a:r>
            <a:endParaRPr lang="en-GB"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a:xfrm>
            <a:off x="266700" y="34796"/>
            <a:ext cx="11658600" cy="922336"/>
          </a:xfrm>
        </p:spPr>
        <p:txBody>
          <a:bodyPr/>
          <a:lstStyle/>
          <a:p>
            <a:pPr algn="l"/>
            <a:r>
              <a:rPr lang="en-GB" altLang="en-US" sz="3200" dirty="0"/>
              <a:t>Programming problem scenario: </a:t>
            </a:r>
            <a:r>
              <a:rPr lang="en-GB" altLang="en-US" sz="2400" dirty="0"/>
              <a:t>Calculate and display the summary of multiple file security algorithms</a:t>
            </a:r>
            <a:endParaRPr lang="en-GB" altLang="en-US" sz="2400" dirty="0"/>
          </a:p>
        </p:txBody>
      </p:sp>
      <p:sp>
        <p:nvSpPr>
          <p:cNvPr id="37891" name="圆角矩形 3"/>
          <p:cNvSpPr>
            <a:spLocks noChangeArrowheads="1"/>
          </p:cNvSpPr>
          <p:nvPr/>
        </p:nvSpPr>
        <p:spPr bwMode="auto">
          <a:xfrm>
            <a:off x="381000" y="2116667"/>
            <a:ext cx="2257425" cy="15240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a:t>Main </a:t>
            </a:r>
            <a:r>
              <a:rPr lang="en-GB" altLang="en-US" sz="2000"/>
              <a:t>thread: File security algorithm summary display</a:t>
            </a:r>
            <a:endParaRPr lang="en-GB" altLang="en-US" sz="2000"/>
          </a:p>
        </p:txBody>
      </p:sp>
      <p:sp>
        <p:nvSpPr>
          <p:cNvPr id="37892" name="圆角矩形 6"/>
          <p:cNvSpPr>
            <a:spLocks noChangeArrowheads="1"/>
          </p:cNvSpPr>
          <p:nvPr/>
        </p:nvSpPr>
        <p:spPr bwMode="auto">
          <a:xfrm>
            <a:off x="5714999" y="838200"/>
            <a:ext cx="4183063" cy="12192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a:t>Thread </a:t>
            </a:r>
            <a:r>
              <a:rPr lang="en-GB" altLang="zh-CN" sz="2000"/>
              <a:t>1 </a:t>
            </a:r>
            <a:r>
              <a:rPr lang="en-GB" altLang="en-US" sz="2000"/>
              <a:t>: File security algorithm summary generation thread</a:t>
            </a:r>
            <a:endParaRPr lang="en-US" altLang="zh-CN" sz="2000"/>
          </a:p>
          <a:p>
            <a:pPr>
              <a:spcBef>
                <a:spcPct val="0"/>
              </a:spcBef>
              <a:buClrTx/>
              <a:buSzTx/>
              <a:buFontTx/>
              <a:buNone/>
            </a:pPr>
            <a:r>
              <a:rPr lang="en-GB" altLang="zh-CN" sz="2000"/>
              <a:t>ReturnDigest</a:t>
            </a:r>
            <a:endParaRPr lang="zh-CN" altLang="en-US" sz="2000"/>
          </a:p>
        </p:txBody>
      </p:sp>
      <p:sp>
        <p:nvSpPr>
          <p:cNvPr id="37893" name="圆角矩形 7"/>
          <p:cNvSpPr>
            <a:spLocks noChangeArrowheads="1"/>
          </p:cNvSpPr>
          <p:nvPr/>
        </p:nvSpPr>
        <p:spPr bwMode="auto">
          <a:xfrm>
            <a:off x="5783262" y="2438400"/>
            <a:ext cx="4351337" cy="12192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dirty="0"/>
              <a:t>Thread </a:t>
            </a:r>
            <a:r>
              <a:rPr lang="en-GB" altLang="zh-CN" sz="2000" dirty="0"/>
              <a:t>2 </a:t>
            </a:r>
            <a:r>
              <a:rPr lang="en-GB" altLang="en-US" sz="2000" dirty="0"/>
              <a:t>: File security algorithm summary generation thread</a:t>
            </a:r>
            <a:endParaRPr lang="en-US" altLang="zh-CN" sz="2000" dirty="0"/>
          </a:p>
          <a:p>
            <a:pPr>
              <a:spcBef>
                <a:spcPct val="0"/>
              </a:spcBef>
              <a:buClrTx/>
              <a:buSzTx/>
              <a:buFontTx/>
              <a:buNone/>
            </a:pPr>
            <a:r>
              <a:rPr lang="en-GB" altLang="zh-CN" sz="2000" dirty="0"/>
              <a:t>ReturnDigest</a:t>
            </a:r>
            <a:endParaRPr lang="zh-CN" altLang="en-US" sz="2000" dirty="0"/>
          </a:p>
        </p:txBody>
      </p:sp>
      <p:sp>
        <p:nvSpPr>
          <p:cNvPr id="37894" name="TextBox 4"/>
          <p:cNvSpPr txBox="1">
            <a:spLocks noChangeArrowheads="1"/>
          </p:cNvSpPr>
          <p:nvPr/>
        </p:nvSpPr>
        <p:spPr bwMode="auto">
          <a:xfrm>
            <a:off x="6400800" y="3962401"/>
            <a:ext cx="1219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400" b="1">
                <a:solidFill>
                  <a:srgbClr val="FF0000"/>
                </a:solidFill>
              </a:rPr>
              <a:t>… …</a:t>
            </a:r>
            <a:endParaRPr lang="zh-CN" altLang="en-US" sz="2400" b="1">
              <a:solidFill>
                <a:srgbClr val="FF0000"/>
              </a:solidFill>
            </a:endParaRPr>
          </a:p>
        </p:txBody>
      </p:sp>
      <p:sp>
        <p:nvSpPr>
          <p:cNvPr id="37895" name="圆角矩形 9"/>
          <p:cNvSpPr>
            <a:spLocks noChangeArrowheads="1"/>
          </p:cNvSpPr>
          <p:nvPr/>
        </p:nvSpPr>
        <p:spPr bwMode="auto">
          <a:xfrm>
            <a:off x="5791200" y="4572000"/>
            <a:ext cx="4724400" cy="12192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a:t>Thread </a:t>
            </a:r>
            <a:r>
              <a:rPr lang="en-GB" altLang="zh-CN" sz="2000"/>
              <a:t>n </a:t>
            </a:r>
            <a:r>
              <a:rPr lang="en-GB" altLang="en-US" sz="2000"/>
              <a:t>: File security algorithm digest generation thread</a:t>
            </a:r>
            <a:endParaRPr lang="en-US" altLang="zh-CN" sz="2000"/>
          </a:p>
          <a:p>
            <a:pPr>
              <a:spcBef>
                <a:spcPct val="0"/>
              </a:spcBef>
              <a:buClrTx/>
              <a:buSzTx/>
              <a:buFontTx/>
              <a:buNone/>
            </a:pPr>
            <a:r>
              <a:rPr lang="en-GB" altLang="zh-CN" sz="2000"/>
              <a:t>ReturnDigest</a:t>
            </a:r>
            <a:endParaRPr lang="zh-CN" altLang="en-US" sz="2000"/>
          </a:p>
        </p:txBody>
      </p:sp>
      <p:cxnSp>
        <p:nvCxnSpPr>
          <p:cNvPr id="37896" name="直接连接符 8"/>
          <p:cNvCxnSpPr>
            <a:cxnSpLocks noChangeShapeType="1"/>
            <a:stCxn id="37891" idx="3"/>
            <a:endCxn id="37892" idx="1"/>
          </p:cNvCxnSpPr>
          <p:nvPr/>
        </p:nvCxnSpPr>
        <p:spPr bwMode="auto">
          <a:xfrm flipV="1">
            <a:off x="2638425" y="1447800"/>
            <a:ext cx="3076574" cy="1430867"/>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897" name="TextBox 10"/>
          <p:cNvSpPr txBox="1">
            <a:spLocks noChangeArrowheads="1"/>
          </p:cNvSpPr>
          <p:nvPr/>
        </p:nvSpPr>
        <p:spPr bwMode="auto">
          <a:xfrm>
            <a:off x="4081858" y="1077913"/>
            <a:ext cx="13652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dirty="0"/>
              <a:t>getDigest()</a:t>
            </a:r>
            <a:endParaRPr lang="zh-CN" altLang="en-US" sz="1800" dirty="0"/>
          </a:p>
        </p:txBody>
      </p:sp>
      <p:cxnSp>
        <p:nvCxnSpPr>
          <p:cNvPr id="37898" name="直接连接符 13"/>
          <p:cNvCxnSpPr>
            <a:cxnSpLocks noChangeShapeType="1"/>
          </p:cNvCxnSpPr>
          <p:nvPr/>
        </p:nvCxnSpPr>
        <p:spPr bwMode="auto">
          <a:xfrm>
            <a:off x="2731030" y="2878667"/>
            <a:ext cx="2983969" cy="139700"/>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899" name="直接连接符 15"/>
          <p:cNvCxnSpPr>
            <a:cxnSpLocks noChangeShapeType="1"/>
          </p:cNvCxnSpPr>
          <p:nvPr/>
        </p:nvCxnSpPr>
        <p:spPr bwMode="auto">
          <a:xfrm>
            <a:off x="2662767" y="3026303"/>
            <a:ext cx="3144837" cy="2144978"/>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900" name="流程图: 多文档 16"/>
          <p:cNvSpPr>
            <a:spLocks noChangeArrowheads="1"/>
          </p:cNvSpPr>
          <p:nvPr/>
        </p:nvSpPr>
        <p:spPr bwMode="auto">
          <a:xfrm>
            <a:off x="10972800" y="2142067"/>
            <a:ext cx="762000" cy="1752600"/>
          </a:xfrm>
          <a:prstGeom prst="flowChartMultidocumen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cxnSp>
        <p:nvCxnSpPr>
          <p:cNvPr id="37901" name="直接连接符 19"/>
          <p:cNvCxnSpPr>
            <a:cxnSpLocks noChangeShapeType="1"/>
          </p:cNvCxnSpPr>
          <p:nvPr/>
        </p:nvCxnSpPr>
        <p:spPr bwMode="auto">
          <a:xfrm>
            <a:off x="9898062" y="1379537"/>
            <a:ext cx="1227138" cy="1638830"/>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902" name="直接连接符 21"/>
          <p:cNvCxnSpPr>
            <a:cxnSpLocks noChangeShapeType="1"/>
            <a:endCxn id="37900" idx="1"/>
          </p:cNvCxnSpPr>
          <p:nvPr/>
        </p:nvCxnSpPr>
        <p:spPr bwMode="auto">
          <a:xfrm flipV="1">
            <a:off x="10129835" y="3018367"/>
            <a:ext cx="842965" cy="67470"/>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903" name="直接连接符 24"/>
          <p:cNvCxnSpPr>
            <a:cxnSpLocks noChangeShapeType="1"/>
            <a:endCxn id="37900" idx="1"/>
          </p:cNvCxnSpPr>
          <p:nvPr/>
        </p:nvCxnSpPr>
        <p:spPr bwMode="auto">
          <a:xfrm flipV="1">
            <a:off x="9362280" y="3018367"/>
            <a:ext cx="1610520" cy="1494632"/>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904" name="TextBox 28"/>
          <p:cNvSpPr txBox="1">
            <a:spLocks noChangeArrowheads="1"/>
          </p:cNvSpPr>
          <p:nvPr/>
        </p:nvSpPr>
        <p:spPr bwMode="auto">
          <a:xfrm>
            <a:off x="4048653" y="2470150"/>
            <a:ext cx="13636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getDigest()</a:t>
            </a:r>
            <a:endParaRPr lang="zh-CN" altLang="en-US" sz="1800"/>
          </a:p>
        </p:txBody>
      </p:sp>
      <p:sp>
        <p:nvSpPr>
          <p:cNvPr id="37905" name="TextBox 29"/>
          <p:cNvSpPr txBox="1">
            <a:spLocks noChangeArrowheads="1"/>
          </p:cNvSpPr>
          <p:nvPr/>
        </p:nvSpPr>
        <p:spPr bwMode="auto">
          <a:xfrm>
            <a:off x="3962400" y="4810917"/>
            <a:ext cx="13652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getDigest()</a:t>
            </a:r>
            <a:endParaRPr lang="zh-CN" altLang="en-US" sz="180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圆角矩形 3"/>
          <p:cNvSpPr>
            <a:spLocks noChangeArrowheads="1"/>
          </p:cNvSpPr>
          <p:nvPr/>
        </p:nvSpPr>
        <p:spPr bwMode="auto">
          <a:xfrm>
            <a:off x="4572000" y="838200"/>
            <a:ext cx="5943600" cy="5486400"/>
          </a:xfrm>
          <a:prstGeom prst="roundRect">
            <a:avLst>
              <a:gd name="adj" fmla="val 16667"/>
            </a:avLst>
          </a:prstGeom>
          <a:solidFill>
            <a:srgbClr val="92D050"/>
          </a:solidFill>
          <a:ln w="9525" algn="ctr">
            <a:solidFill>
              <a:schemeClr val="tx1"/>
            </a:solidFill>
            <a:rou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38915" name="标题 1"/>
          <p:cNvSpPr>
            <a:spLocks noGrp="1"/>
          </p:cNvSpPr>
          <p:nvPr>
            <p:ph type="title"/>
          </p:nvPr>
        </p:nvSpPr>
        <p:spPr>
          <a:xfrm>
            <a:off x="228600" y="21780"/>
            <a:ext cx="11658600" cy="958772"/>
          </a:xfrm>
        </p:spPr>
        <p:txBody>
          <a:bodyPr/>
          <a:lstStyle/>
          <a:p>
            <a:pPr algn="l"/>
            <a:r>
              <a:rPr lang="en-GB" altLang="en-US" sz="3200" dirty="0"/>
              <a:t>Problem continued: Multithreaded programming using accessor methods</a:t>
            </a:r>
            <a:endParaRPr lang="en-GB" altLang="en-US" sz="3200" dirty="0"/>
          </a:p>
        </p:txBody>
      </p:sp>
      <p:grpSp>
        <p:nvGrpSpPr>
          <p:cNvPr id="38916" name="组合 5"/>
          <p:cNvGrpSpPr/>
          <p:nvPr/>
        </p:nvGrpSpPr>
        <p:grpSpPr bwMode="auto">
          <a:xfrm>
            <a:off x="7239000" y="1143000"/>
            <a:ext cx="3124200" cy="1295400"/>
            <a:chOff x="914400" y="3124200"/>
            <a:chExt cx="3124200" cy="1045481"/>
          </a:xfrm>
        </p:grpSpPr>
        <p:sp>
          <p:nvSpPr>
            <p:cNvPr id="38934" name="矩形 27"/>
            <p:cNvSpPr>
              <a:spLocks noChangeArrowheads="1"/>
            </p:cNvSpPr>
            <p:nvPr/>
          </p:nvSpPr>
          <p:spPr bwMode="auto">
            <a:xfrm>
              <a:off x="914400" y="3124200"/>
              <a:ext cx="3124200" cy="4572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ReturnDigestUserInterface </a:t>
              </a:r>
              <a:r>
                <a:rPr lang="en-GB" altLang="en-US" sz="1800"/>
                <a:t>Class</a:t>
              </a:r>
              <a:endParaRPr lang="en-GB" altLang="en-US" sz="1800"/>
            </a:p>
          </p:txBody>
        </p:sp>
        <p:sp>
          <p:nvSpPr>
            <p:cNvPr id="38935" name="矩形 29"/>
            <p:cNvSpPr>
              <a:spLocks noChangeArrowheads="1"/>
            </p:cNvSpPr>
            <p:nvPr/>
          </p:nvSpPr>
          <p:spPr bwMode="auto">
            <a:xfrm>
              <a:off x="914400" y="3574595"/>
              <a:ext cx="3124200" cy="595086"/>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main( )</a:t>
              </a:r>
              <a:endParaRPr lang="zh-CN" altLang="en-US" sz="1800"/>
            </a:p>
          </p:txBody>
        </p:sp>
      </p:grpSp>
      <p:grpSp>
        <p:nvGrpSpPr>
          <p:cNvPr id="38917" name="组合 9"/>
          <p:cNvGrpSpPr/>
          <p:nvPr/>
        </p:nvGrpSpPr>
        <p:grpSpPr bwMode="auto">
          <a:xfrm>
            <a:off x="1600200" y="1098179"/>
            <a:ext cx="1905000" cy="973138"/>
            <a:chOff x="457200" y="1524000"/>
            <a:chExt cx="1219200" cy="751280"/>
          </a:xfrm>
        </p:grpSpPr>
        <p:sp>
          <p:nvSpPr>
            <p:cNvPr id="38932" name="矩形 2"/>
            <p:cNvSpPr>
              <a:spLocks noChangeArrowheads="1"/>
            </p:cNvSpPr>
            <p:nvPr/>
          </p:nvSpPr>
          <p:spPr bwMode="auto">
            <a:xfrm>
              <a:off x="457200" y="1524000"/>
              <a:ext cx="1219200" cy="29408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Thread </a:t>
              </a:r>
              <a:r>
                <a:rPr lang="en-GB" altLang="en-US" sz="1800"/>
                <a:t>Class</a:t>
              </a:r>
              <a:endParaRPr lang="en-GB" altLang="en-US" sz="1800"/>
            </a:p>
          </p:txBody>
        </p:sp>
        <p:sp>
          <p:nvSpPr>
            <p:cNvPr id="38933" name="矩形 6"/>
            <p:cNvSpPr>
              <a:spLocks noChangeArrowheads="1"/>
            </p:cNvSpPr>
            <p:nvPr/>
          </p:nvSpPr>
          <p:spPr bwMode="auto">
            <a:xfrm>
              <a:off x="457200" y="1818080"/>
              <a:ext cx="1219200" cy="4572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run ()</a:t>
              </a:r>
              <a:endParaRPr lang="en-GB" altLang="zh-CN" sz="1800"/>
            </a:p>
            <a:p>
              <a:pPr>
                <a:spcBef>
                  <a:spcPct val="0"/>
                </a:spcBef>
                <a:buClrTx/>
                <a:buSzTx/>
                <a:buFontTx/>
                <a:buNone/>
              </a:pPr>
              <a:r>
                <a:rPr lang="en-GB" altLang="zh-CN" sz="1800"/>
                <a:t>start( )</a:t>
              </a:r>
              <a:endParaRPr lang="zh-CN" altLang="en-US" sz="1800"/>
            </a:p>
          </p:txBody>
        </p:sp>
      </p:grpSp>
      <p:grpSp>
        <p:nvGrpSpPr>
          <p:cNvPr id="38918" name="组合 12"/>
          <p:cNvGrpSpPr/>
          <p:nvPr/>
        </p:nvGrpSpPr>
        <p:grpSpPr bwMode="auto">
          <a:xfrm>
            <a:off x="1348316" y="2986534"/>
            <a:ext cx="2599267" cy="2196188"/>
            <a:chOff x="914400" y="3124200"/>
            <a:chExt cx="1905000" cy="1775134"/>
          </a:xfrm>
        </p:grpSpPr>
        <p:sp>
          <p:nvSpPr>
            <p:cNvPr id="38929" name="矩形 7"/>
            <p:cNvSpPr>
              <a:spLocks noChangeArrowheads="1"/>
            </p:cNvSpPr>
            <p:nvPr/>
          </p:nvSpPr>
          <p:spPr bwMode="auto">
            <a:xfrm>
              <a:off x="914400" y="3124200"/>
              <a:ext cx="1905000" cy="4572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ReturnDigest </a:t>
              </a:r>
              <a:r>
                <a:rPr lang="en-GB" altLang="en-US" sz="1800"/>
                <a:t>Class</a:t>
              </a:r>
              <a:endParaRPr lang="en-GB" altLang="en-US" sz="1800"/>
            </a:p>
          </p:txBody>
        </p:sp>
        <p:sp>
          <p:nvSpPr>
            <p:cNvPr id="38930" name="矩形 8"/>
            <p:cNvSpPr>
              <a:spLocks noChangeArrowheads="1"/>
            </p:cNvSpPr>
            <p:nvPr/>
          </p:nvSpPr>
          <p:spPr bwMode="auto">
            <a:xfrm>
              <a:off x="914400" y="3519714"/>
              <a:ext cx="1905000" cy="649288"/>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filename: String</a:t>
              </a:r>
              <a:endParaRPr lang="en-GB" altLang="zh-CN" sz="1800"/>
            </a:p>
            <a:p>
              <a:pPr>
                <a:spcBef>
                  <a:spcPct val="0"/>
                </a:spcBef>
                <a:buClrTx/>
                <a:buSzTx/>
                <a:buFontTx/>
                <a:buNone/>
              </a:pPr>
              <a:r>
                <a:rPr lang="en-GB" altLang="zh-CN" sz="1800"/>
                <a:t>digest: byte[]</a:t>
              </a:r>
              <a:endParaRPr lang="zh-CN" altLang="en-US" sz="1800"/>
            </a:p>
          </p:txBody>
        </p:sp>
        <p:sp>
          <p:nvSpPr>
            <p:cNvPr id="38931" name="矩形 9"/>
            <p:cNvSpPr>
              <a:spLocks noChangeArrowheads="1"/>
            </p:cNvSpPr>
            <p:nvPr/>
          </p:nvSpPr>
          <p:spPr bwMode="auto">
            <a:xfrm>
              <a:off x="914400" y="4169002"/>
              <a:ext cx="1905000" cy="730332"/>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run( )</a:t>
              </a:r>
              <a:endParaRPr lang="en-GB" altLang="zh-CN" sz="1800"/>
            </a:p>
            <a:p>
              <a:pPr>
                <a:spcBef>
                  <a:spcPct val="0"/>
                </a:spcBef>
                <a:buClrTx/>
                <a:buSzTx/>
                <a:buFontTx/>
                <a:buNone/>
              </a:pPr>
              <a:r>
                <a:rPr lang="en-GB" altLang="zh-CN" sz="1800"/>
                <a:t>getDigest()</a:t>
              </a:r>
              <a:endParaRPr lang="zh-CN" altLang="en-US" sz="1800"/>
            </a:p>
          </p:txBody>
        </p:sp>
      </p:grpSp>
      <p:sp>
        <p:nvSpPr>
          <p:cNvPr id="38919" name="等腰三角形 16"/>
          <p:cNvSpPr>
            <a:spLocks noChangeArrowheads="1"/>
          </p:cNvSpPr>
          <p:nvPr/>
        </p:nvSpPr>
        <p:spPr bwMode="auto">
          <a:xfrm>
            <a:off x="2590800" y="1981201"/>
            <a:ext cx="114300" cy="188913"/>
          </a:xfrm>
          <a:prstGeom prst="triangle">
            <a:avLst>
              <a:gd name="adj" fmla="val 50000"/>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cxnSp>
        <p:nvCxnSpPr>
          <p:cNvPr id="38920" name="直接连接符 17"/>
          <p:cNvCxnSpPr>
            <a:cxnSpLocks noChangeShapeType="1"/>
            <a:stCxn id="38919" idx="3"/>
            <a:endCxn id="38929" idx="0"/>
          </p:cNvCxnSpPr>
          <p:nvPr/>
        </p:nvCxnSpPr>
        <p:spPr bwMode="auto">
          <a:xfrm>
            <a:off x="2647950" y="2170114"/>
            <a:ext cx="0" cy="816420"/>
          </a:xfrm>
          <a:prstGeom prst="line">
            <a:avLst/>
          </a:prstGeom>
          <a:noFill/>
          <a:ln w="952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8921" name="组合 18"/>
          <p:cNvGrpSpPr/>
          <p:nvPr/>
        </p:nvGrpSpPr>
        <p:grpSpPr bwMode="auto">
          <a:xfrm>
            <a:off x="4953001" y="2720975"/>
            <a:ext cx="2209799" cy="2613025"/>
            <a:chOff x="932543" y="5373688"/>
            <a:chExt cx="1905000" cy="1579698"/>
          </a:xfrm>
        </p:grpSpPr>
        <p:sp>
          <p:nvSpPr>
            <p:cNvPr id="20" name="矩形 19"/>
            <p:cNvSpPr/>
            <p:nvPr/>
          </p:nvSpPr>
          <p:spPr bwMode="auto">
            <a:xfrm>
              <a:off x="932543" y="5373688"/>
              <a:ext cx="1905000" cy="457139"/>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a:lstStyle/>
            <a:p>
              <a:pPr>
                <a:defRPr/>
              </a:pPr>
              <a:r>
                <a:rPr lang="en-GB" altLang="zh-CN" dirty="0" err="1">
                  <a:latin typeface="Arial" panose="020B0604020202020204" pitchFamily="34" charset="0"/>
                </a:rPr>
                <a:t>dr </a:t>
              </a:r>
              <a:r>
                <a:rPr lang="en-GB" altLang="zh-CN" dirty="0">
                  <a:latin typeface="Arial" panose="020B0604020202020204" pitchFamily="34" charset="0"/>
                </a:rPr>
                <a:t>: </a:t>
              </a:r>
              <a:r>
                <a:rPr lang="en-GB" altLang="zh-CN" dirty="0" err="1">
                  <a:latin typeface="Arial" panose="020B0604020202020204" pitchFamily="34" charset="0"/>
                </a:rPr>
                <a:t>ReturnDigest</a:t>
              </a:r>
              <a:endParaRPr lang="zh-CN" altLang="en-US" dirty="0">
                <a:latin typeface="Arial" panose="020B0604020202020204" pitchFamily="34" charset="0"/>
              </a:endParaRPr>
            </a:p>
          </p:txBody>
        </p:sp>
        <p:sp>
          <p:nvSpPr>
            <p:cNvPr id="21" name="矩形 20"/>
            <p:cNvSpPr/>
            <p:nvPr/>
          </p:nvSpPr>
          <p:spPr bwMode="auto">
            <a:xfrm>
              <a:off x="932543" y="5729391"/>
              <a:ext cx="1905000" cy="649191"/>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a:lstStyle/>
            <a:p>
              <a:pPr>
                <a:defRPr/>
              </a:pPr>
              <a:r>
                <a:rPr lang="en-GB" altLang="zh-CN" dirty="0">
                  <a:latin typeface="Arial" panose="020B0604020202020204" pitchFamily="34" charset="0"/>
                </a:rPr>
                <a:t>filename</a:t>
              </a:r>
              <a:endParaRPr lang="en-GB" altLang="zh-CN" dirty="0">
                <a:latin typeface="Arial" panose="020B0604020202020204" pitchFamily="34" charset="0"/>
              </a:endParaRPr>
            </a:p>
            <a:p>
              <a:pPr>
                <a:defRPr/>
              </a:pPr>
              <a:r>
                <a:rPr lang="en-GB" altLang="zh-CN" dirty="0">
                  <a:latin typeface="Arial" panose="020B0604020202020204" pitchFamily="34" charset="0"/>
                </a:rPr>
                <a:t>digest</a:t>
              </a:r>
              <a:endParaRPr lang="zh-CN" altLang="en-US" dirty="0">
                <a:latin typeface="Arial" panose="020B0604020202020204" pitchFamily="34" charset="0"/>
              </a:endParaRPr>
            </a:p>
          </p:txBody>
        </p:sp>
        <p:sp>
          <p:nvSpPr>
            <p:cNvPr id="22" name="矩形 21"/>
            <p:cNvSpPr/>
            <p:nvPr/>
          </p:nvSpPr>
          <p:spPr bwMode="auto">
            <a:xfrm>
              <a:off x="932543" y="6378582"/>
              <a:ext cx="1905000" cy="574804"/>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a:lstStyle/>
            <a:p>
              <a:pPr>
                <a:defRPr/>
              </a:pPr>
              <a:r>
                <a:rPr lang="en-GB" altLang="zh-CN" dirty="0">
                  <a:latin typeface="Arial" panose="020B0604020202020204" pitchFamily="34" charset="0"/>
                </a:rPr>
                <a:t>start( )</a:t>
              </a:r>
              <a:endParaRPr lang="en-GB" altLang="zh-CN" dirty="0">
                <a:latin typeface="Arial" panose="020B0604020202020204" pitchFamily="34" charset="0"/>
              </a:endParaRPr>
            </a:p>
            <a:p>
              <a:pPr>
                <a:defRPr/>
              </a:pPr>
              <a:r>
                <a:rPr lang="en-GB" altLang="zh-CN" dirty="0" err="1">
                  <a:latin typeface="Arial" panose="020B0604020202020204" pitchFamily="34" charset="0"/>
                </a:rPr>
                <a:t>getDigest </a:t>
              </a:r>
              <a:r>
                <a:rPr lang="en-GB" altLang="zh-CN" dirty="0">
                  <a:latin typeface="Arial" panose="020B0604020202020204" pitchFamily="34" charset="0"/>
                </a:rPr>
                <a:t>()</a:t>
              </a:r>
              <a:endParaRPr lang="zh-CN" altLang="en-US" dirty="0">
                <a:latin typeface="Arial" panose="020B0604020202020204" pitchFamily="34" charset="0"/>
              </a:endParaRPr>
            </a:p>
          </p:txBody>
        </p:sp>
      </p:grpSp>
      <p:cxnSp>
        <p:nvCxnSpPr>
          <p:cNvPr id="38922" name="直接箭头连接符 22"/>
          <p:cNvCxnSpPr>
            <a:cxnSpLocks noChangeShapeType="1"/>
            <a:stCxn id="21" idx="1"/>
          </p:cNvCxnSpPr>
          <p:nvPr/>
        </p:nvCxnSpPr>
        <p:spPr bwMode="auto">
          <a:xfrm flipH="1">
            <a:off x="3657600" y="3846277"/>
            <a:ext cx="1295401" cy="366948"/>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23" name="直接箭头连接符 23"/>
          <p:cNvCxnSpPr>
            <a:cxnSpLocks noChangeShapeType="1"/>
            <a:stCxn id="38935" idx="2"/>
            <a:endCxn id="20" idx="3"/>
          </p:cNvCxnSpPr>
          <p:nvPr/>
        </p:nvCxnSpPr>
        <p:spPr bwMode="auto">
          <a:xfrm flipH="1">
            <a:off x="7162800" y="2438400"/>
            <a:ext cx="1638300" cy="660659"/>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924" name="TextBox 25"/>
          <p:cNvSpPr txBox="1">
            <a:spLocks noChangeArrowheads="1"/>
          </p:cNvSpPr>
          <p:nvPr/>
        </p:nvSpPr>
        <p:spPr bwMode="auto">
          <a:xfrm>
            <a:off x="8268229" y="2848386"/>
            <a:ext cx="7508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dirty="0"/>
              <a:t>dr</a:t>
            </a:r>
            <a:endParaRPr lang="zh-CN" altLang="en-US" sz="1800" dirty="0"/>
          </a:p>
        </p:txBody>
      </p:sp>
      <p:sp>
        <p:nvSpPr>
          <p:cNvPr id="38925" name="TextBox 22"/>
          <p:cNvSpPr txBox="1">
            <a:spLocks noChangeArrowheads="1"/>
          </p:cNvSpPr>
          <p:nvPr/>
        </p:nvSpPr>
        <p:spPr bwMode="auto">
          <a:xfrm>
            <a:off x="7239000" y="3301095"/>
            <a:ext cx="32766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dirty="0">
                <a:solidFill>
                  <a:srgbClr val="FF0000"/>
                </a:solidFill>
              </a:rPr>
              <a:t>There is a problem with using access methods to obtain the output of the calculation thread. The speed of </a:t>
            </a:r>
            <a:r>
              <a:rPr lang="en-GB" altLang="zh-CN" sz="2000" dirty="0">
                <a:solidFill>
                  <a:srgbClr val="FF0000"/>
                </a:solidFill>
              </a:rPr>
              <a:t>the main() </a:t>
            </a:r>
            <a:r>
              <a:rPr lang="en-GB" altLang="en-US" sz="2000" dirty="0">
                <a:solidFill>
                  <a:srgbClr val="FF0000"/>
                </a:solidFill>
              </a:rPr>
              <a:t>method will exceed the thread that generates the result, and a null pointer exception will occur.</a:t>
            </a:r>
            <a:endParaRPr lang="en-GB" altLang="en-US" sz="2000" dirty="0">
              <a:solidFill>
                <a:srgbClr val="FF0000"/>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1752600" y="457200"/>
            <a:ext cx="8229600" cy="431800"/>
          </a:xfrm>
        </p:spPr>
        <p:txBody>
          <a:bodyPr/>
          <a:lstStyle/>
          <a:p>
            <a:pPr algn="l"/>
            <a:r>
              <a:rPr lang="en-GB" altLang="en-US" sz="3200"/>
              <a:t>Problem Solving: Using Connection Threads</a:t>
            </a:r>
            <a:endParaRPr lang="en-GB" altLang="en-US" sz="3200"/>
          </a:p>
        </p:txBody>
      </p:sp>
      <p:sp>
        <p:nvSpPr>
          <p:cNvPr id="39939" name="圆角矩形 3"/>
          <p:cNvSpPr>
            <a:spLocks noChangeArrowheads="1"/>
          </p:cNvSpPr>
          <p:nvPr/>
        </p:nvSpPr>
        <p:spPr bwMode="auto">
          <a:xfrm>
            <a:off x="106759" y="2590800"/>
            <a:ext cx="3810000" cy="15240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a:t>Main </a:t>
            </a:r>
            <a:r>
              <a:rPr lang="en-GB" altLang="en-US" sz="2000"/>
              <a:t>thread: File security algorithm summary display</a:t>
            </a:r>
            <a:endParaRPr lang="en-GB" altLang="en-US" sz="2000"/>
          </a:p>
        </p:txBody>
      </p:sp>
      <p:sp>
        <p:nvSpPr>
          <p:cNvPr id="39940" name="圆角矩形 6"/>
          <p:cNvSpPr>
            <a:spLocks noChangeArrowheads="1"/>
          </p:cNvSpPr>
          <p:nvPr/>
        </p:nvSpPr>
        <p:spPr bwMode="auto">
          <a:xfrm>
            <a:off x="5257799" y="1347790"/>
            <a:ext cx="3962401" cy="12192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Thread </a:t>
            </a:r>
            <a:r>
              <a:rPr lang="en-GB" altLang="zh-CN" sz="1800"/>
              <a:t>1 </a:t>
            </a:r>
            <a:r>
              <a:rPr lang="en-GB" altLang="en-US" sz="1800"/>
              <a:t>: File security algorithm summary generation thread</a:t>
            </a:r>
            <a:endParaRPr lang="en-US" altLang="zh-CN" sz="1800"/>
          </a:p>
          <a:p>
            <a:pPr>
              <a:spcBef>
                <a:spcPct val="0"/>
              </a:spcBef>
              <a:buClrTx/>
              <a:buSzTx/>
              <a:buFontTx/>
              <a:buNone/>
            </a:pPr>
            <a:r>
              <a:rPr lang="en-GB" altLang="zh-CN" sz="1800"/>
              <a:t>ReturnDigest</a:t>
            </a:r>
            <a:endParaRPr lang="zh-CN" altLang="en-US" sz="1800"/>
          </a:p>
        </p:txBody>
      </p:sp>
      <p:sp>
        <p:nvSpPr>
          <p:cNvPr id="39941" name="圆角矩形 7"/>
          <p:cNvSpPr>
            <a:spLocks noChangeArrowheads="1"/>
          </p:cNvSpPr>
          <p:nvPr/>
        </p:nvSpPr>
        <p:spPr bwMode="auto">
          <a:xfrm>
            <a:off x="5302646" y="2895600"/>
            <a:ext cx="3923903" cy="12192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Thread </a:t>
            </a:r>
            <a:r>
              <a:rPr lang="en-GB" altLang="zh-CN" sz="1800" dirty="0"/>
              <a:t>2 </a:t>
            </a:r>
            <a:r>
              <a:rPr lang="en-GB" altLang="en-US" sz="1800" dirty="0"/>
              <a:t>: File security algorithm summary generation thread</a:t>
            </a:r>
            <a:endParaRPr lang="en-US" altLang="zh-CN" sz="1800" dirty="0"/>
          </a:p>
          <a:p>
            <a:pPr>
              <a:spcBef>
                <a:spcPct val="0"/>
              </a:spcBef>
              <a:buClrTx/>
              <a:buSzTx/>
              <a:buFontTx/>
              <a:buNone/>
            </a:pPr>
            <a:r>
              <a:rPr lang="en-GB" altLang="zh-CN" sz="1800" dirty="0"/>
              <a:t>ReturnDigest</a:t>
            </a:r>
            <a:endParaRPr lang="zh-CN" altLang="en-US" sz="1800" dirty="0"/>
          </a:p>
        </p:txBody>
      </p:sp>
      <p:sp>
        <p:nvSpPr>
          <p:cNvPr id="39942" name="TextBox 4"/>
          <p:cNvSpPr txBox="1">
            <a:spLocks noChangeArrowheads="1"/>
          </p:cNvSpPr>
          <p:nvPr/>
        </p:nvSpPr>
        <p:spPr bwMode="auto">
          <a:xfrm>
            <a:off x="6400800" y="4419601"/>
            <a:ext cx="1219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400" b="1">
                <a:solidFill>
                  <a:srgbClr val="FF0000"/>
                </a:solidFill>
              </a:rPr>
              <a:t>… …</a:t>
            </a:r>
            <a:endParaRPr lang="zh-CN" altLang="en-US" sz="2400" b="1">
              <a:solidFill>
                <a:srgbClr val="FF0000"/>
              </a:solidFill>
            </a:endParaRPr>
          </a:p>
        </p:txBody>
      </p:sp>
      <p:sp>
        <p:nvSpPr>
          <p:cNvPr id="39943" name="圆角矩形 9"/>
          <p:cNvSpPr>
            <a:spLocks noChangeArrowheads="1"/>
          </p:cNvSpPr>
          <p:nvPr/>
        </p:nvSpPr>
        <p:spPr bwMode="auto">
          <a:xfrm>
            <a:off x="5302646" y="5029200"/>
            <a:ext cx="3962400" cy="12192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Thread </a:t>
            </a:r>
            <a:r>
              <a:rPr lang="en-GB" altLang="zh-CN" sz="1800"/>
              <a:t>n </a:t>
            </a:r>
            <a:r>
              <a:rPr lang="en-GB" altLang="en-US" sz="1800"/>
              <a:t>: File security algorithm digest generation thread</a:t>
            </a:r>
            <a:endParaRPr lang="en-US" altLang="zh-CN" sz="1800"/>
          </a:p>
          <a:p>
            <a:pPr>
              <a:spcBef>
                <a:spcPct val="0"/>
              </a:spcBef>
              <a:buClrTx/>
              <a:buSzTx/>
              <a:buFontTx/>
              <a:buNone/>
            </a:pPr>
            <a:r>
              <a:rPr lang="en-GB" altLang="zh-CN" sz="1800"/>
              <a:t>ReturnDigest</a:t>
            </a:r>
            <a:endParaRPr lang="zh-CN" altLang="en-US" sz="1800"/>
          </a:p>
        </p:txBody>
      </p:sp>
      <p:cxnSp>
        <p:nvCxnSpPr>
          <p:cNvPr id="39944" name="直接连接符 8"/>
          <p:cNvCxnSpPr>
            <a:cxnSpLocks noChangeShapeType="1"/>
            <a:stCxn id="39939" idx="3"/>
            <a:endCxn id="39940" idx="1"/>
          </p:cNvCxnSpPr>
          <p:nvPr/>
        </p:nvCxnSpPr>
        <p:spPr bwMode="auto">
          <a:xfrm flipV="1">
            <a:off x="3916759" y="1957390"/>
            <a:ext cx="1341040" cy="1395410"/>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945" name="TextBox 10"/>
          <p:cNvSpPr txBox="1">
            <a:spLocks noChangeArrowheads="1"/>
          </p:cNvSpPr>
          <p:nvPr/>
        </p:nvSpPr>
        <p:spPr bwMode="auto">
          <a:xfrm>
            <a:off x="4648200" y="1828800"/>
            <a:ext cx="76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join</a:t>
            </a:r>
            <a:endParaRPr lang="zh-CN" altLang="en-US" sz="1800"/>
          </a:p>
        </p:txBody>
      </p:sp>
      <p:cxnSp>
        <p:nvCxnSpPr>
          <p:cNvPr id="39946" name="直接连接符 13"/>
          <p:cNvCxnSpPr>
            <a:cxnSpLocks noChangeShapeType="1"/>
            <a:endCxn id="39941" idx="1"/>
          </p:cNvCxnSpPr>
          <p:nvPr/>
        </p:nvCxnSpPr>
        <p:spPr bwMode="auto">
          <a:xfrm>
            <a:off x="4107887" y="3429000"/>
            <a:ext cx="1194759" cy="76200"/>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947" name="直接连接符 15"/>
          <p:cNvCxnSpPr>
            <a:cxnSpLocks noChangeShapeType="1"/>
          </p:cNvCxnSpPr>
          <p:nvPr/>
        </p:nvCxnSpPr>
        <p:spPr bwMode="auto">
          <a:xfrm>
            <a:off x="3985219" y="3464458"/>
            <a:ext cx="1272580" cy="2174342"/>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948" name="流程图: 多文档 16"/>
          <p:cNvSpPr>
            <a:spLocks noChangeArrowheads="1"/>
          </p:cNvSpPr>
          <p:nvPr/>
        </p:nvSpPr>
        <p:spPr bwMode="auto">
          <a:xfrm>
            <a:off x="11222038" y="2714626"/>
            <a:ext cx="762000" cy="1752600"/>
          </a:xfrm>
          <a:prstGeom prst="flowChartMultidocumen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cxnSp>
        <p:nvCxnSpPr>
          <p:cNvPr id="39949" name="直接连接符 19"/>
          <p:cNvCxnSpPr>
            <a:cxnSpLocks noChangeShapeType="1"/>
            <a:stCxn id="39940" idx="3"/>
            <a:endCxn id="39948" idx="1"/>
          </p:cNvCxnSpPr>
          <p:nvPr/>
        </p:nvCxnSpPr>
        <p:spPr bwMode="auto">
          <a:xfrm>
            <a:off x="9220200" y="1957390"/>
            <a:ext cx="2001838" cy="1633536"/>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950" name="直接连接符 21"/>
          <p:cNvCxnSpPr>
            <a:cxnSpLocks noChangeShapeType="1"/>
            <a:stCxn id="39941" idx="3"/>
          </p:cNvCxnSpPr>
          <p:nvPr/>
        </p:nvCxnSpPr>
        <p:spPr bwMode="auto">
          <a:xfrm flipV="1">
            <a:off x="9226549" y="3244058"/>
            <a:ext cx="1975910" cy="261142"/>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951" name="直接连接符 24"/>
          <p:cNvCxnSpPr>
            <a:cxnSpLocks noChangeShapeType="1"/>
            <a:stCxn id="39943" idx="3"/>
          </p:cNvCxnSpPr>
          <p:nvPr/>
        </p:nvCxnSpPr>
        <p:spPr bwMode="auto">
          <a:xfrm flipV="1">
            <a:off x="9265046" y="3886200"/>
            <a:ext cx="2123679" cy="1752600"/>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952" name="TextBox 26"/>
          <p:cNvSpPr txBox="1">
            <a:spLocks noChangeArrowheads="1"/>
          </p:cNvSpPr>
          <p:nvPr/>
        </p:nvSpPr>
        <p:spPr bwMode="auto">
          <a:xfrm>
            <a:off x="4800600" y="2754314"/>
            <a:ext cx="76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join</a:t>
            </a:r>
            <a:endParaRPr lang="zh-CN" altLang="en-US" sz="1800"/>
          </a:p>
        </p:txBody>
      </p:sp>
      <p:sp>
        <p:nvSpPr>
          <p:cNvPr id="39953" name="TextBox 27"/>
          <p:cNvSpPr txBox="1">
            <a:spLocks noChangeArrowheads="1"/>
          </p:cNvSpPr>
          <p:nvPr/>
        </p:nvSpPr>
        <p:spPr bwMode="auto">
          <a:xfrm>
            <a:off x="4419600" y="4049714"/>
            <a:ext cx="76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join</a:t>
            </a:r>
            <a:endParaRPr lang="zh-CN" altLang="en-US" sz="180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圆角矩形 3"/>
          <p:cNvSpPr>
            <a:spLocks noChangeArrowheads="1"/>
          </p:cNvSpPr>
          <p:nvPr/>
        </p:nvSpPr>
        <p:spPr bwMode="auto">
          <a:xfrm>
            <a:off x="4572000" y="838200"/>
            <a:ext cx="5943600" cy="5486400"/>
          </a:xfrm>
          <a:prstGeom prst="roundRect">
            <a:avLst>
              <a:gd name="adj" fmla="val 16667"/>
            </a:avLst>
          </a:prstGeom>
          <a:solidFill>
            <a:srgbClr val="92D050"/>
          </a:solidFill>
          <a:ln w="9525" algn="ctr">
            <a:solidFill>
              <a:schemeClr val="tx1"/>
            </a:solidFill>
            <a:rou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40963" name="标题 1"/>
          <p:cNvSpPr>
            <a:spLocks noGrp="1"/>
          </p:cNvSpPr>
          <p:nvPr>
            <p:ph type="title"/>
          </p:nvPr>
        </p:nvSpPr>
        <p:spPr>
          <a:xfrm>
            <a:off x="381000" y="304800"/>
            <a:ext cx="11049000" cy="431800"/>
          </a:xfrm>
        </p:spPr>
        <p:txBody>
          <a:bodyPr/>
          <a:lstStyle/>
          <a:p>
            <a:pPr algn="l"/>
            <a:r>
              <a:rPr lang="en-GB" altLang="en-US" sz="3200" dirty="0"/>
              <a:t>Multithreaded programming using the join thread method</a:t>
            </a:r>
            <a:endParaRPr lang="en-GB" altLang="en-US" sz="3200" dirty="0"/>
          </a:p>
        </p:txBody>
      </p:sp>
      <p:grpSp>
        <p:nvGrpSpPr>
          <p:cNvPr id="40964" name="组合 5"/>
          <p:cNvGrpSpPr/>
          <p:nvPr/>
        </p:nvGrpSpPr>
        <p:grpSpPr bwMode="auto">
          <a:xfrm>
            <a:off x="6858000" y="1530350"/>
            <a:ext cx="3505200" cy="908050"/>
            <a:chOff x="914400" y="3124200"/>
            <a:chExt cx="3124200" cy="1045481"/>
          </a:xfrm>
        </p:grpSpPr>
        <p:sp>
          <p:nvSpPr>
            <p:cNvPr id="40981" name="矩形 27"/>
            <p:cNvSpPr>
              <a:spLocks noChangeArrowheads="1"/>
            </p:cNvSpPr>
            <p:nvPr/>
          </p:nvSpPr>
          <p:spPr bwMode="auto">
            <a:xfrm>
              <a:off x="914400" y="3124200"/>
              <a:ext cx="3124200" cy="4572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JoinDigestUserInterface </a:t>
              </a:r>
              <a:r>
                <a:rPr lang="en-GB" altLang="en-US" sz="1800"/>
                <a:t>Class</a:t>
              </a:r>
              <a:endParaRPr lang="en-GB" altLang="en-US" sz="1800"/>
            </a:p>
          </p:txBody>
        </p:sp>
        <p:sp>
          <p:nvSpPr>
            <p:cNvPr id="40982" name="矩形 29"/>
            <p:cNvSpPr>
              <a:spLocks noChangeArrowheads="1"/>
            </p:cNvSpPr>
            <p:nvPr/>
          </p:nvSpPr>
          <p:spPr bwMode="auto">
            <a:xfrm>
              <a:off x="914400" y="3574595"/>
              <a:ext cx="3124200" cy="595086"/>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main( )</a:t>
              </a:r>
              <a:endParaRPr lang="zh-CN" altLang="en-US" sz="1800"/>
            </a:p>
          </p:txBody>
        </p:sp>
      </p:grpSp>
      <p:grpSp>
        <p:nvGrpSpPr>
          <p:cNvPr id="40965" name="组合 9"/>
          <p:cNvGrpSpPr/>
          <p:nvPr/>
        </p:nvGrpSpPr>
        <p:grpSpPr bwMode="auto">
          <a:xfrm>
            <a:off x="1381125" y="985648"/>
            <a:ext cx="2209800" cy="1371600"/>
            <a:chOff x="457200" y="1524000"/>
            <a:chExt cx="1219200" cy="1372278"/>
          </a:xfrm>
        </p:grpSpPr>
        <p:sp>
          <p:nvSpPr>
            <p:cNvPr id="40979" name="矩形 2"/>
            <p:cNvSpPr>
              <a:spLocks noChangeArrowheads="1"/>
            </p:cNvSpPr>
            <p:nvPr/>
          </p:nvSpPr>
          <p:spPr bwMode="auto">
            <a:xfrm>
              <a:off x="457200" y="1524000"/>
              <a:ext cx="1219200" cy="4572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Thread </a:t>
              </a:r>
              <a:r>
                <a:rPr lang="en-GB" altLang="en-US" sz="1800"/>
                <a:t>Class</a:t>
              </a:r>
              <a:endParaRPr lang="en-GB" altLang="en-US" sz="1800"/>
            </a:p>
          </p:txBody>
        </p:sp>
        <p:sp>
          <p:nvSpPr>
            <p:cNvPr id="40980" name="矩形 6"/>
            <p:cNvSpPr>
              <a:spLocks noChangeArrowheads="1"/>
            </p:cNvSpPr>
            <p:nvPr/>
          </p:nvSpPr>
          <p:spPr bwMode="auto">
            <a:xfrm>
              <a:off x="457200" y="1984828"/>
              <a:ext cx="1219200" cy="91145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dirty="0"/>
                <a:t>run ()</a:t>
              </a:r>
              <a:endParaRPr lang="en-GB" altLang="zh-CN" sz="1800" dirty="0"/>
            </a:p>
            <a:p>
              <a:pPr>
                <a:spcBef>
                  <a:spcPct val="0"/>
                </a:spcBef>
                <a:buClrTx/>
                <a:buSzTx/>
                <a:buFontTx/>
                <a:buNone/>
              </a:pPr>
              <a:r>
                <a:rPr lang="en-GB" altLang="zh-CN" sz="1800" dirty="0"/>
                <a:t>start( )</a:t>
              </a:r>
              <a:endParaRPr lang="en-GB" altLang="zh-CN" sz="1800" dirty="0"/>
            </a:p>
            <a:p>
              <a:pPr>
                <a:spcBef>
                  <a:spcPct val="0"/>
                </a:spcBef>
                <a:buClrTx/>
                <a:buSzTx/>
                <a:buFontTx/>
                <a:buNone/>
              </a:pPr>
              <a:r>
                <a:rPr lang="en-GB" altLang="zh-CN" sz="1800" dirty="0"/>
                <a:t>join( )</a:t>
              </a:r>
              <a:endParaRPr lang="zh-CN" altLang="en-US" sz="1800" dirty="0"/>
            </a:p>
          </p:txBody>
        </p:sp>
      </p:grpSp>
      <p:grpSp>
        <p:nvGrpSpPr>
          <p:cNvPr id="40966" name="组合 12"/>
          <p:cNvGrpSpPr/>
          <p:nvPr/>
        </p:nvGrpSpPr>
        <p:grpSpPr bwMode="auto">
          <a:xfrm>
            <a:off x="1314450" y="3062110"/>
            <a:ext cx="2667000" cy="1981200"/>
            <a:chOff x="914400" y="3124200"/>
            <a:chExt cx="1905000" cy="1685347"/>
          </a:xfrm>
        </p:grpSpPr>
        <p:sp>
          <p:nvSpPr>
            <p:cNvPr id="40976" name="矩形 7"/>
            <p:cNvSpPr>
              <a:spLocks noChangeArrowheads="1"/>
            </p:cNvSpPr>
            <p:nvPr/>
          </p:nvSpPr>
          <p:spPr bwMode="auto">
            <a:xfrm>
              <a:off x="914400" y="3124200"/>
              <a:ext cx="1905000" cy="4572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ReturnDigest </a:t>
              </a:r>
              <a:r>
                <a:rPr lang="en-GB" altLang="en-US" sz="1800"/>
                <a:t>Class</a:t>
              </a:r>
              <a:endParaRPr lang="en-GB" altLang="en-US" sz="1800"/>
            </a:p>
          </p:txBody>
        </p:sp>
        <p:sp>
          <p:nvSpPr>
            <p:cNvPr id="40977" name="矩形 8"/>
            <p:cNvSpPr>
              <a:spLocks noChangeArrowheads="1"/>
            </p:cNvSpPr>
            <p:nvPr/>
          </p:nvSpPr>
          <p:spPr bwMode="auto">
            <a:xfrm>
              <a:off x="914400" y="3519714"/>
              <a:ext cx="1905000" cy="649288"/>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filename: String</a:t>
              </a:r>
              <a:endParaRPr lang="en-GB" altLang="zh-CN" sz="1800"/>
            </a:p>
            <a:p>
              <a:pPr>
                <a:spcBef>
                  <a:spcPct val="0"/>
                </a:spcBef>
                <a:buClrTx/>
                <a:buSzTx/>
                <a:buFontTx/>
                <a:buNone/>
              </a:pPr>
              <a:r>
                <a:rPr lang="en-GB" altLang="zh-CN" sz="1800"/>
                <a:t>digest: byte[]</a:t>
              </a:r>
              <a:endParaRPr lang="zh-CN" altLang="en-US" sz="1800"/>
            </a:p>
          </p:txBody>
        </p:sp>
        <p:sp>
          <p:nvSpPr>
            <p:cNvPr id="40978" name="矩形 9"/>
            <p:cNvSpPr>
              <a:spLocks noChangeArrowheads="1"/>
            </p:cNvSpPr>
            <p:nvPr/>
          </p:nvSpPr>
          <p:spPr bwMode="auto">
            <a:xfrm>
              <a:off x="914400" y="4169002"/>
              <a:ext cx="1905000" cy="640545"/>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run( )</a:t>
              </a:r>
              <a:endParaRPr lang="en-GB" altLang="zh-CN" sz="1800"/>
            </a:p>
            <a:p>
              <a:pPr>
                <a:spcBef>
                  <a:spcPct val="0"/>
                </a:spcBef>
                <a:buClrTx/>
                <a:buSzTx/>
                <a:buFontTx/>
                <a:buNone/>
              </a:pPr>
              <a:r>
                <a:rPr lang="en-GB" altLang="zh-CN" sz="1800"/>
                <a:t>getDigest()</a:t>
              </a:r>
              <a:endParaRPr lang="zh-CN" altLang="en-US" sz="1800"/>
            </a:p>
          </p:txBody>
        </p:sp>
      </p:grpSp>
      <p:sp>
        <p:nvSpPr>
          <p:cNvPr id="40967" name="等腰三角形 16"/>
          <p:cNvSpPr>
            <a:spLocks noChangeArrowheads="1"/>
          </p:cNvSpPr>
          <p:nvPr/>
        </p:nvSpPr>
        <p:spPr bwMode="auto">
          <a:xfrm>
            <a:off x="2590800" y="2362201"/>
            <a:ext cx="114300" cy="188913"/>
          </a:xfrm>
          <a:prstGeom prst="triangle">
            <a:avLst>
              <a:gd name="adj" fmla="val 50000"/>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cxnSp>
        <p:nvCxnSpPr>
          <p:cNvPr id="40968" name="直接连接符 17"/>
          <p:cNvCxnSpPr>
            <a:cxnSpLocks noChangeShapeType="1"/>
            <a:stCxn id="40967" idx="3"/>
            <a:endCxn id="40976" idx="0"/>
          </p:cNvCxnSpPr>
          <p:nvPr/>
        </p:nvCxnSpPr>
        <p:spPr bwMode="auto">
          <a:xfrm>
            <a:off x="2647950" y="2551114"/>
            <a:ext cx="0" cy="510996"/>
          </a:xfrm>
          <a:prstGeom prst="line">
            <a:avLst/>
          </a:prstGeom>
          <a:noFill/>
          <a:ln w="952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0969" name="组合 18"/>
          <p:cNvGrpSpPr/>
          <p:nvPr/>
        </p:nvGrpSpPr>
        <p:grpSpPr bwMode="auto">
          <a:xfrm>
            <a:off x="5171016" y="3383316"/>
            <a:ext cx="2067983" cy="1654175"/>
            <a:chOff x="780143" y="5219717"/>
            <a:chExt cx="2057400" cy="1409114"/>
          </a:xfrm>
        </p:grpSpPr>
        <p:sp>
          <p:nvSpPr>
            <p:cNvPr id="20" name="矩形 19"/>
            <p:cNvSpPr/>
            <p:nvPr/>
          </p:nvSpPr>
          <p:spPr bwMode="auto">
            <a:xfrm>
              <a:off x="780143" y="5219717"/>
              <a:ext cx="2057400" cy="611247"/>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a:lstStyle/>
            <a:p>
              <a:pPr>
                <a:defRPr/>
              </a:pPr>
              <a:r>
                <a:rPr lang="en-GB" altLang="zh-CN" dirty="0" err="1">
                  <a:latin typeface="Arial" panose="020B0604020202020204" pitchFamily="34" charset="0"/>
                </a:rPr>
                <a:t>digestThreads </a:t>
              </a:r>
              <a:r>
                <a:rPr lang="en-GB" altLang="zh-CN" dirty="0">
                  <a:latin typeface="Arial" panose="020B0604020202020204" pitchFamily="34" charset="0"/>
                </a:rPr>
                <a:t>: </a:t>
              </a:r>
              <a:r>
                <a:rPr lang="en-GB" altLang="zh-CN" dirty="0" err="1">
                  <a:latin typeface="Arial" panose="020B0604020202020204" pitchFamily="34" charset="0"/>
                </a:rPr>
                <a:t>ReturnDigest </a:t>
              </a:r>
              <a:r>
                <a:rPr lang="en-GB" altLang="zh-CN" dirty="0">
                  <a:latin typeface="Arial" panose="020B0604020202020204" pitchFamily="34" charset="0"/>
                </a:rPr>
                <a:t>[ ]</a:t>
              </a:r>
              <a:endParaRPr lang="zh-CN" altLang="en-US" dirty="0">
                <a:latin typeface="Arial" panose="020B0604020202020204" pitchFamily="34" charset="0"/>
              </a:endParaRPr>
            </a:p>
          </p:txBody>
        </p:sp>
        <p:sp>
          <p:nvSpPr>
            <p:cNvPr id="22" name="矩形 21"/>
            <p:cNvSpPr/>
            <p:nvPr/>
          </p:nvSpPr>
          <p:spPr bwMode="auto">
            <a:xfrm>
              <a:off x="780143" y="5816089"/>
              <a:ext cx="2057400" cy="812742"/>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a:lstStyle/>
            <a:p>
              <a:pPr>
                <a:defRPr/>
              </a:pPr>
              <a:r>
                <a:rPr lang="en-GB" altLang="zh-CN" dirty="0">
                  <a:latin typeface="Arial" panose="020B0604020202020204" pitchFamily="34" charset="0"/>
                </a:rPr>
                <a:t>start( )</a:t>
              </a:r>
              <a:endParaRPr lang="en-GB" altLang="zh-CN" dirty="0">
                <a:latin typeface="Arial" panose="020B0604020202020204" pitchFamily="34" charset="0"/>
              </a:endParaRPr>
            </a:p>
            <a:p>
              <a:pPr>
                <a:defRPr/>
              </a:pPr>
              <a:r>
                <a:rPr lang="en-GB" altLang="zh-CN" dirty="0">
                  <a:latin typeface="Arial" panose="020B0604020202020204" pitchFamily="34" charset="0"/>
                </a:rPr>
                <a:t>join( )</a:t>
              </a:r>
              <a:endParaRPr lang="en-GB" altLang="zh-CN" dirty="0">
                <a:latin typeface="Arial" panose="020B0604020202020204" pitchFamily="34" charset="0"/>
              </a:endParaRPr>
            </a:p>
            <a:p>
              <a:pPr>
                <a:defRPr/>
              </a:pPr>
              <a:r>
                <a:rPr lang="en-GB" altLang="zh-CN" dirty="0" err="1">
                  <a:latin typeface="Arial" panose="020B0604020202020204" pitchFamily="34" charset="0"/>
                </a:rPr>
                <a:t>getDigest </a:t>
              </a:r>
              <a:r>
                <a:rPr lang="en-GB" altLang="zh-CN" dirty="0">
                  <a:latin typeface="Arial" panose="020B0604020202020204" pitchFamily="34" charset="0"/>
                </a:rPr>
                <a:t>()</a:t>
              </a:r>
              <a:endParaRPr lang="zh-CN" altLang="en-US" dirty="0">
                <a:latin typeface="Arial" panose="020B0604020202020204" pitchFamily="34" charset="0"/>
              </a:endParaRPr>
            </a:p>
          </p:txBody>
        </p:sp>
      </p:grpSp>
      <p:cxnSp>
        <p:nvCxnSpPr>
          <p:cNvPr id="40970" name="直接箭头连接符 22"/>
          <p:cNvCxnSpPr>
            <a:cxnSpLocks noChangeShapeType="1"/>
          </p:cNvCxnSpPr>
          <p:nvPr/>
        </p:nvCxnSpPr>
        <p:spPr bwMode="auto">
          <a:xfrm flipH="1">
            <a:off x="4038600" y="4278313"/>
            <a:ext cx="1066800" cy="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71" name="直接箭头连接符 23"/>
          <p:cNvCxnSpPr>
            <a:cxnSpLocks noChangeShapeType="1"/>
            <a:stCxn id="40982" idx="2"/>
            <a:endCxn id="20" idx="3"/>
          </p:cNvCxnSpPr>
          <p:nvPr/>
        </p:nvCxnSpPr>
        <p:spPr bwMode="auto">
          <a:xfrm flipH="1">
            <a:off x="7238999" y="2438400"/>
            <a:ext cx="1371601" cy="1303691"/>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972" name="TextBox 25"/>
          <p:cNvSpPr txBox="1">
            <a:spLocks noChangeArrowheads="1"/>
          </p:cNvSpPr>
          <p:nvPr/>
        </p:nvSpPr>
        <p:spPr bwMode="auto">
          <a:xfrm>
            <a:off x="7467600" y="2895600"/>
            <a:ext cx="167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digestThreads</a:t>
            </a:r>
            <a:endParaRPr lang="zh-CN" altLang="en-US" sz="1800"/>
          </a:p>
        </p:txBody>
      </p:sp>
      <p:sp>
        <p:nvSpPr>
          <p:cNvPr id="40973" name="TextBox 22"/>
          <p:cNvSpPr txBox="1">
            <a:spLocks noChangeArrowheads="1"/>
          </p:cNvSpPr>
          <p:nvPr/>
        </p:nvSpPr>
        <p:spPr bwMode="auto">
          <a:xfrm>
            <a:off x="533400" y="5361579"/>
            <a:ext cx="10515599"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dirty="0">
                <a:solidFill>
                  <a:srgbClr val="FF0000"/>
                </a:solidFill>
              </a:rPr>
              <a:t>Code example demonstration and operation: </a:t>
            </a:r>
            <a:r>
              <a:rPr lang="en-GB" altLang="zh-CN" sz="2000" dirty="0">
                <a:solidFill>
                  <a:srgbClr val="FF0000"/>
                </a:solidFill>
              </a:rPr>
              <a:t>ch3.JoinDigestUserInterface.java, ex3-12</a:t>
            </a:r>
            <a:endParaRPr lang="en-GB" altLang="zh-CN" sz="2000" dirty="0">
              <a:solidFill>
                <a:srgbClr val="FF0000"/>
              </a:solidFill>
            </a:endParaRPr>
          </a:p>
          <a:p>
            <a:pPr>
              <a:spcBef>
                <a:spcPct val="0"/>
              </a:spcBef>
              <a:buClrTx/>
              <a:buSzTx/>
              <a:buFontTx/>
              <a:buNone/>
            </a:pPr>
            <a:endParaRPr lang="en-US" altLang="zh-CN" sz="2000" dirty="0">
              <a:solidFill>
                <a:srgbClr val="FF0000"/>
              </a:solidFill>
            </a:endParaRPr>
          </a:p>
          <a:p>
            <a:pPr>
              <a:spcBef>
                <a:spcPct val="0"/>
              </a:spcBef>
              <a:buClrTx/>
              <a:buSzTx/>
              <a:buFontTx/>
              <a:buNone/>
            </a:pPr>
            <a:r>
              <a:rPr lang="en-GB" altLang="en-US" sz="2000" dirty="0">
                <a:solidFill>
                  <a:srgbClr val="FF0000"/>
                </a:solidFill>
              </a:rPr>
              <a:t>Compare and run </a:t>
            </a:r>
            <a:r>
              <a:rPr lang="en-GB" altLang="zh-CN" sz="2000" dirty="0">
                <a:solidFill>
                  <a:srgbClr val="FF0000"/>
                </a:solidFill>
              </a:rPr>
              <a:t>ch3.returnInfo.ReturnDigestUserInterface.java</a:t>
            </a:r>
            <a:endParaRPr lang="zh-CN" altLang="en-US" sz="2000" dirty="0">
              <a:solidFill>
                <a:srgbClr val="FF0000"/>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xfrm>
            <a:off x="1517650" y="26988"/>
            <a:ext cx="8229600" cy="431800"/>
          </a:xfrm>
        </p:spPr>
        <p:txBody>
          <a:bodyPr/>
          <a:lstStyle/>
          <a:p>
            <a:pPr algn="l"/>
            <a:r>
              <a:rPr lang="en-GB" altLang="zh-CN" sz="3200"/>
              <a:t>JoinDigestUserInterface.java</a:t>
            </a:r>
            <a:endParaRPr lang="en-GB" altLang="zh-CN" sz="3200"/>
          </a:p>
        </p:txBody>
      </p:sp>
      <p:pic>
        <p:nvPicPr>
          <p:cNvPr id="41987"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0"/>
            <a:ext cx="9167495" cy="771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xfrm>
            <a:off x="1752600" y="457200"/>
            <a:ext cx="8229600" cy="431800"/>
          </a:xfrm>
        </p:spPr>
        <p:txBody>
          <a:bodyPr/>
          <a:lstStyle/>
          <a:p>
            <a:pPr algn="l"/>
            <a:r>
              <a:rPr lang="en-GB" altLang="en-US" sz="3200" dirty="0"/>
              <a:t>Connecting thread programming techniques</a:t>
            </a:r>
            <a:endParaRPr lang="en-GB" altLang="en-US" sz="3200" dirty="0"/>
          </a:p>
        </p:txBody>
      </p:sp>
      <p:sp>
        <p:nvSpPr>
          <p:cNvPr id="43011" name="内容占位符 2"/>
          <p:cNvSpPr>
            <a:spLocks noGrp="1"/>
          </p:cNvSpPr>
          <p:nvPr>
            <p:ph idx="1"/>
          </p:nvPr>
        </p:nvSpPr>
        <p:spPr>
          <a:xfrm>
            <a:off x="381000" y="1293814"/>
            <a:ext cx="11506200" cy="44973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dirty="0"/>
              <a:t>Allows a thread to wait for another thread to complete before continuing execution </a:t>
            </a:r>
            <a:endParaRPr lang="en-US" altLang="zh-CN" sz="2800" dirty="0"/>
          </a:p>
          <a:p>
            <a:pPr>
              <a:buFont typeface="Wingdings" panose="05000000000000000000" pitchFamily="2" charset="2"/>
              <a:buChar char="Ø"/>
            </a:pPr>
            <a:r>
              <a:rPr lang="en-GB" altLang="en-US" sz="2800" dirty="0"/>
              <a:t>calls </a:t>
            </a:r>
            <a:r>
              <a:rPr lang="en-GB" altLang="zh-CN" sz="2800" dirty="0"/>
              <a:t>the join() </a:t>
            </a:r>
            <a:r>
              <a:rPr lang="en-GB" altLang="en-US" sz="2800" dirty="0"/>
              <a:t>method </a:t>
            </a:r>
            <a:r>
              <a:rPr lang="en-GB" altLang="en-US" sz="2800" b="1" dirty="0">
                <a:solidFill>
                  <a:srgbClr val="FF0000"/>
                </a:solidFill>
              </a:rPr>
              <a:t>the joining thread ( </a:t>
            </a:r>
            <a:r>
              <a:rPr lang="en-GB" altLang="zh-CN" sz="2800" b="1" dirty="0">
                <a:solidFill>
                  <a:srgbClr val="FF0000"/>
                </a:solidFill>
              </a:rPr>
              <a:t>join thread) </a:t>
            </a:r>
            <a:r>
              <a:rPr lang="en-GB" altLang="en-US" sz="2800" dirty="0"/>
              <a:t>, waiting for </a:t>
            </a:r>
            <a:r>
              <a:rPr lang="en-GB" altLang="en-US" sz="2800" b="1" dirty="0">
                <a:solidFill>
                  <a:srgbClr val="FF0000"/>
                </a:solidFill>
              </a:rPr>
              <a:t>the thread to be connected </a:t>
            </a:r>
            <a:r>
              <a:rPr lang="en-GB" altLang="zh-CN" sz="2800" b="1" dirty="0">
                <a:solidFill>
                  <a:srgbClr val="FF0000"/>
                </a:solidFill>
              </a:rPr>
              <a:t>(joined thread) </a:t>
            </a:r>
            <a:r>
              <a:rPr lang="en-GB" altLang="en-US" sz="2800" dirty="0"/>
              <a:t>( the </a:t>
            </a:r>
            <a:r>
              <a:rPr lang="en-GB" altLang="zh-CN" sz="2800" dirty="0"/>
              <a:t>join </a:t>
            </a:r>
            <a:r>
              <a:rPr lang="en-GB" altLang="en-US" sz="2800" dirty="0"/>
              <a:t>method belongs to the connected thread).</a:t>
            </a:r>
            <a:endParaRPr lang="en-US" altLang="zh-CN" sz="2800" dirty="0"/>
          </a:p>
          <a:p>
            <a:pPr>
              <a:buFont typeface="Wingdings" panose="05000000000000000000" pitchFamily="2" charset="2"/>
              <a:buChar char="Ø"/>
            </a:pPr>
            <a:r>
              <a:rPr lang="en-GB" altLang="en-US" sz="2800" dirty="0"/>
              <a:t>Question: In the above </a:t>
            </a:r>
            <a:r>
              <a:rPr lang="en-GB" altLang="zh-CN" sz="2800" dirty="0"/>
              <a:t>ex3-12 </a:t>
            </a:r>
            <a:r>
              <a:rPr lang="en-GB" altLang="en-US" sz="2800" dirty="0"/>
              <a:t>program design, which one is the connecting thread? Which one is the connected thread?</a:t>
            </a:r>
            <a:endParaRPr lang="en-US" altLang="zh-CN" sz="2800" dirty="0"/>
          </a:p>
          <a:p>
            <a:pPr>
              <a:buFont typeface="Wingdings" panose="05000000000000000000" pitchFamily="2" charset="2"/>
              <a:buChar char="Ø"/>
            </a:pPr>
            <a:endParaRPr lang="en-US" altLang="zh-CN" sz="28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1752600" y="457200"/>
            <a:ext cx="8229600" cy="431800"/>
          </a:xfrm>
        </p:spPr>
        <p:txBody>
          <a:bodyPr/>
          <a:lstStyle/>
          <a:p>
            <a:pPr algn="l"/>
            <a:r>
              <a:rPr lang="en-GB" altLang="en-US" sz="3200" dirty="0"/>
              <a:t>Connecting thread programming techniques</a:t>
            </a:r>
            <a:endParaRPr lang="en-GB" altLang="en-US" sz="3200" dirty="0"/>
          </a:p>
        </p:txBody>
      </p:sp>
      <p:sp>
        <p:nvSpPr>
          <p:cNvPr id="44035" name="内容占位符 2"/>
          <p:cNvSpPr>
            <a:spLocks noGrp="1"/>
          </p:cNvSpPr>
          <p:nvPr>
            <p:ph idx="1"/>
          </p:nvPr>
        </p:nvSpPr>
        <p:spPr>
          <a:xfrm>
            <a:off x="381000" y="1293814"/>
            <a:ext cx="11506200" cy="44973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dirty="0"/>
              <a:t>By calling </a:t>
            </a:r>
            <a:r>
              <a:rPr lang="en-GB" altLang="zh-CN" sz="2800" dirty="0"/>
              <a:t>the join() method, a thread is allowed </a:t>
            </a:r>
            <a:r>
              <a:rPr lang="en-GB" altLang="en-US" sz="2800" b="1" dirty="0">
                <a:solidFill>
                  <a:srgbClr val="FF0000"/>
                </a:solidFill>
              </a:rPr>
              <a:t>to wait for </a:t>
            </a:r>
            <a:r>
              <a:rPr lang="en-GB" altLang="en-US" sz="2800" dirty="0"/>
              <a:t>another thread to finish before continuing . How long should </a:t>
            </a:r>
            <a:r>
              <a:rPr lang="en-GB" altLang="en-US" sz="2800" b="1" dirty="0"/>
              <a:t>the joining thread </a:t>
            </a:r>
            <a:r>
              <a:rPr lang="en-GB" altLang="en-US" sz="2800" dirty="0"/>
              <a:t>wait?</a:t>
            </a:r>
            <a:endParaRPr lang="en-US" altLang="zh-CN" sz="2800" dirty="0"/>
          </a:p>
          <a:p>
            <a:pPr>
              <a:buFont typeface="Wingdings" panose="05000000000000000000" pitchFamily="2" charset="2"/>
              <a:buChar char="Ø"/>
            </a:pPr>
            <a:r>
              <a:rPr lang="en-GB" altLang="en-US" sz="2800" dirty="0"/>
              <a:t>Depends on </a:t>
            </a:r>
            <a:r>
              <a:rPr lang="en-GB" altLang="zh-CN" sz="2800" dirty="0"/>
              <a:t>the join() </a:t>
            </a:r>
            <a:r>
              <a:rPr lang="en-GB" altLang="en-US" sz="2800" dirty="0"/>
              <a:t>parameter:</a:t>
            </a:r>
            <a:endParaRPr lang="en-US" altLang="zh-CN" sz="2800" dirty="0"/>
          </a:p>
          <a:p>
            <a:pPr>
              <a:buFont typeface="Wingdings" panose="05000000000000000000" pitchFamily="2" charset="2"/>
              <a:buChar char="Ø"/>
            </a:pPr>
            <a:r>
              <a:rPr lang="en-GB" altLang="zh-CN" sz="2800" dirty="0"/>
              <a:t>join() ---- </a:t>
            </a:r>
            <a:r>
              <a:rPr lang="en-GB" altLang="en-US" sz="2800" dirty="0"/>
              <a:t>infinitely wait for the connected thread to end</a:t>
            </a:r>
            <a:endParaRPr lang="en-US" altLang="zh-CN" sz="2800" dirty="0"/>
          </a:p>
          <a:p>
            <a:pPr>
              <a:buFont typeface="Wingdings" panose="05000000000000000000" pitchFamily="2" charset="2"/>
              <a:buChar char="Ø"/>
            </a:pPr>
            <a:r>
              <a:rPr lang="en-GB" altLang="zh-CN" sz="2800" dirty="0"/>
              <a:t>join( </a:t>
            </a:r>
            <a:r>
              <a:rPr lang="en-GB" altLang="zh-CN" sz="2400" dirty="0"/>
              <a:t>long milliseconds </a:t>
            </a:r>
            <a:r>
              <a:rPr lang="en-GB" altLang="zh-CN" sz="2800" dirty="0"/>
              <a:t>)---- </a:t>
            </a:r>
            <a:r>
              <a:rPr lang="en-GB" altLang="en-US" sz="2800" dirty="0"/>
              <a:t>Wait for </a:t>
            </a:r>
            <a:r>
              <a:rPr lang="en-GB" altLang="zh-CN" sz="2400" dirty="0"/>
              <a:t>milliseconds </a:t>
            </a:r>
            <a:r>
              <a:rPr lang="en-GB" altLang="en-US" sz="2800" dirty="0"/>
              <a:t>microseconds and then continue execution.</a:t>
            </a:r>
            <a:endParaRPr lang="en-US" altLang="zh-CN" sz="2800" dirty="0"/>
          </a:p>
          <a:p>
            <a:pPr>
              <a:buFont typeface="Wingdings" panose="05000000000000000000" pitchFamily="2" charset="2"/>
              <a:buChar char="Ø"/>
            </a:pPr>
            <a:r>
              <a:rPr lang="en-GB" altLang="zh-CN" sz="2800" dirty="0"/>
              <a:t>join </a:t>
            </a:r>
            <a:r>
              <a:rPr lang="en-GB" altLang="zh-CN" sz="2400" dirty="0"/>
              <a:t>( long milliseconds, int nanoseconds </a:t>
            </a:r>
            <a:r>
              <a:rPr lang="en-GB" altLang="zh-CN" sz="2800" dirty="0"/>
              <a:t>) --- </a:t>
            </a:r>
            <a:r>
              <a:rPr lang="en-GB" altLang="en-US" sz="2800" dirty="0"/>
              <a:t>Wait for </a:t>
            </a:r>
            <a:r>
              <a:rPr lang="en-GB" altLang="zh-CN" sz="2400" dirty="0"/>
              <a:t>nanoseconds </a:t>
            </a:r>
            <a:r>
              <a:rPr lang="en-GB" altLang="en-US" sz="2800" dirty="0"/>
              <a:t>milliseconds or </a:t>
            </a:r>
            <a:r>
              <a:rPr lang="en-GB" altLang="zh-CN" sz="2400" dirty="0"/>
              <a:t>milliseconds </a:t>
            </a:r>
            <a:r>
              <a:rPr lang="en-GB" altLang="en-US" sz="2800" dirty="0"/>
              <a:t>microseconds before continuing</a:t>
            </a:r>
            <a:endParaRPr lang="en-US" altLang="zh-CN" sz="28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2"/>
          <p:cNvSpPr>
            <a:spLocks noChangeArrowheads="1"/>
          </p:cNvSpPr>
          <p:nvPr/>
        </p:nvSpPr>
        <p:spPr bwMode="auto">
          <a:xfrm>
            <a:off x="1524001" y="212990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45059" name="Rectangle 6"/>
          <p:cNvSpPr>
            <a:spLocks noRot="1" noChangeArrowheads="1"/>
          </p:cNvSpPr>
          <p:nvPr/>
        </p:nvSpPr>
        <p:spPr bwMode="auto">
          <a:xfrm>
            <a:off x="2590800" y="2895600"/>
            <a:ext cx="648335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2" panose="05020102010507070707" pitchFamily="18" charset="2"/>
              <a:buNone/>
            </a:pPr>
            <a:r>
              <a:rPr lang="en-GB" altLang="en-US" sz="8000" b="1" dirty="0">
                <a:solidFill>
                  <a:srgbClr val="FF0000"/>
                </a:solidFill>
                <a:latin typeface="华文行楷" panose="02010800040101010101" pitchFamily="2" charset="-122"/>
                <a:ea typeface="华文行楷" panose="02010800040101010101" pitchFamily="2" charset="-122"/>
              </a:rPr>
              <a:t>Thanks</a:t>
            </a:r>
            <a:endParaRPr lang="en-US" altLang="zh-CN" sz="8000" b="1" dirty="0">
              <a:solidFill>
                <a:srgbClr val="FF0000"/>
              </a:solidFill>
              <a:latin typeface="华文行楷" panose="02010800040101010101" pitchFamily="2" charset="-122"/>
              <a:ea typeface="华文行楷" panose="02010800040101010101" pitchFamily="2"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A3D18EF-D51D-484C-8228-C24B98894CF7}" type="slidenum">
              <a:rPr lang="en-US" altLang="zh-CN" smtClean="0"/>
            </a:fld>
            <a:endParaRPr lang="en-US" altLang="zh-CN"/>
          </a:p>
        </p:txBody>
      </p:sp>
      <p:sp>
        <p:nvSpPr>
          <p:cNvPr id="3" name="Rectangle 2"/>
          <p:cNvSpPr/>
          <p:nvPr/>
        </p:nvSpPr>
        <p:spPr>
          <a:xfrm>
            <a:off x="1447800" y="233866"/>
            <a:ext cx="9144000" cy="400110"/>
          </a:xfrm>
          <a:prstGeom prst="rect">
            <a:avLst/>
          </a:prstGeom>
        </p:spPr>
        <p:txBody>
          <a:bodyPr wrap="square">
            <a:spAutoFit/>
          </a:bodyPr>
          <a:lstStyle/>
          <a:p>
            <a:pPr algn="ctr"/>
            <a:r>
              <a:rPr lang="en-US" sz="2000" b="1" u="sng" dirty="0">
                <a:solidFill>
                  <a:srgbClr val="FF0000"/>
                </a:solidFill>
              </a:rPr>
              <a:t>Multi-threaded File Compression Program with Future Tracking</a:t>
            </a:r>
            <a:endParaRPr lang="en-US" sz="2000" b="1" u="sng" dirty="0">
              <a:solidFill>
                <a:srgbClr val="FF0000"/>
              </a:solidFill>
            </a:endParaRPr>
          </a:p>
        </p:txBody>
      </p:sp>
      <p:sp>
        <p:nvSpPr>
          <p:cNvPr id="4" name="Rectangle 3"/>
          <p:cNvSpPr/>
          <p:nvPr/>
        </p:nvSpPr>
        <p:spPr>
          <a:xfrm>
            <a:off x="766233" y="645335"/>
            <a:ext cx="11408834" cy="645160"/>
          </a:xfrm>
          <a:prstGeom prst="rect">
            <a:avLst/>
          </a:prstGeom>
        </p:spPr>
        <p:txBody>
          <a:bodyPr wrap="square">
            <a:spAutoFit/>
          </a:bodyPr>
          <a:lstStyle/>
          <a:p>
            <a:r>
              <a:rPr lang="en-US" dirty="0"/>
              <a:t>Click the link below to view the complete Java implementation that compresses multiple files asynchronously using the Executor framework with all the following features:</a:t>
            </a:r>
            <a:endParaRPr lang="en-US" dirty="0"/>
          </a:p>
        </p:txBody>
      </p:sp>
      <p:sp>
        <p:nvSpPr>
          <p:cNvPr id="6" name="Rectangle 5"/>
          <p:cNvSpPr/>
          <p:nvPr/>
        </p:nvSpPr>
        <p:spPr>
          <a:xfrm>
            <a:off x="228600" y="1762610"/>
            <a:ext cx="6096000" cy="4661469"/>
          </a:xfrm>
          <a:prstGeom prst="rect">
            <a:avLst/>
          </a:prstGeom>
        </p:spPr>
        <p:txBody>
          <a:bodyPr>
            <a:spAutoFit/>
          </a:bodyPr>
          <a:lstStyle/>
          <a:p>
            <a:pPr marL="342900" marR="0" lvl="0" indent="-342900">
              <a:lnSpc>
                <a:spcPct val="107000"/>
              </a:lnSpc>
              <a:spcBef>
                <a:spcPts val="0"/>
              </a:spcBef>
              <a:spcAft>
                <a:spcPts val="800"/>
              </a:spcAft>
              <a:buFont typeface="+mj-lt"/>
              <a:buAutoNum type="arabicPeriod"/>
              <a:tabLst>
                <a:tab pos="457200" algn="l"/>
              </a:tabLst>
            </a:pPr>
            <a:r>
              <a:rPr lang="en-US" b="1" dirty="0">
                <a:latin typeface="Calibri" panose="020F0502020204030204" pitchFamily="34" charset="0"/>
                <a:ea typeface="宋体" panose="02010600030101010101" pitchFamily="2" charset="-122"/>
                <a:cs typeface="Times New Roman" panose="02020603050405020304" pitchFamily="18" charset="0"/>
              </a:rPr>
              <a:t>Three-Tier Architecture</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Wingdings" panose="05000000000000000000" pitchFamily="2" charset="2"/>
              <a:buChar char="q"/>
              <a:tabLst>
                <a:tab pos="914400" algn="l"/>
              </a:tabLst>
            </a:pPr>
            <a:r>
              <a:rPr lang="en-US" dirty="0" err="1">
                <a:latin typeface="Calibri" panose="020F0502020204030204" pitchFamily="34" charset="0"/>
                <a:ea typeface="宋体" panose="02010600030101010101" pitchFamily="2" charset="-122"/>
                <a:cs typeface="Times New Roman" panose="02020603050405020304" pitchFamily="18" charset="0"/>
              </a:rPr>
              <a:t>CompressionController</a:t>
            </a:r>
            <a:r>
              <a:rPr lang="en-US" dirty="0">
                <a:latin typeface="Calibri" panose="020F0502020204030204" pitchFamily="34" charset="0"/>
                <a:ea typeface="宋体" panose="02010600030101010101" pitchFamily="2" charset="-122"/>
                <a:cs typeface="Times New Roman" panose="02020603050405020304" pitchFamily="18" charset="0"/>
              </a:rPr>
              <a:t>: Decomposes and initiates tasks</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Wingdings" panose="05000000000000000000" pitchFamily="2" charset="2"/>
              <a:buChar char="q"/>
              <a:tabLst>
                <a:tab pos="914400" algn="l"/>
              </a:tabLst>
            </a:pPr>
            <a:r>
              <a:rPr lang="en-US" dirty="0" err="1">
                <a:latin typeface="Calibri" panose="020F0502020204030204" pitchFamily="34" charset="0"/>
                <a:ea typeface="宋体" panose="02010600030101010101" pitchFamily="2" charset="-122"/>
                <a:cs typeface="Times New Roman" panose="02020603050405020304" pitchFamily="18" charset="0"/>
              </a:rPr>
              <a:t>CompressionWorker</a:t>
            </a:r>
            <a:r>
              <a:rPr lang="en-US" dirty="0">
                <a:latin typeface="Calibri" panose="020F0502020204030204" pitchFamily="34" charset="0"/>
                <a:ea typeface="宋体" panose="02010600030101010101" pitchFamily="2" charset="-122"/>
                <a:cs typeface="Times New Roman" panose="02020603050405020304" pitchFamily="18" charset="0"/>
              </a:rPr>
              <a:t>: Performs actual file compression (implements Callable)</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Wingdings" panose="05000000000000000000" pitchFamily="2" charset="2"/>
              <a:buChar char="q"/>
              <a:tabLst>
                <a:tab pos="914400" algn="l"/>
              </a:tabLst>
            </a:pPr>
            <a:r>
              <a:rPr lang="en-US" dirty="0" err="1">
                <a:latin typeface="Calibri" panose="020F0502020204030204" pitchFamily="34" charset="0"/>
                <a:ea typeface="宋体" panose="02010600030101010101" pitchFamily="2" charset="-122"/>
                <a:cs typeface="Times New Roman" panose="02020603050405020304" pitchFamily="18" charset="0"/>
              </a:rPr>
              <a:t>ResultCollector</a:t>
            </a:r>
            <a:r>
              <a:rPr lang="en-US" dirty="0">
                <a:latin typeface="Calibri" panose="020F0502020204030204" pitchFamily="34" charset="0"/>
                <a:ea typeface="宋体" panose="02010600030101010101" pitchFamily="2" charset="-122"/>
                <a:cs typeface="Times New Roman" panose="02020603050405020304" pitchFamily="18" charset="0"/>
              </a:rPr>
              <a:t>: Monitors and processes results</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ct val="107000"/>
              </a:lnSpc>
              <a:spcBef>
                <a:spcPts val="0"/>
              </a:spcBef>
              <a:spcAft>
                <a:spcPts val="800"/>
              </a:spcAft>
              <a:buFont typeface="+mj-lt"/>
              <a:buAutoNum type="arabicPeriod" startAt="2"/>
              <a:tabLst>
                <a:tab pos="457200" algn="l"/>
              </a:tabLst>
            </a:pPr>
            <a:r>
              <a:rPr lang="en-US" b="1" dirty="0">
                <a:latin typeface="Calibri" panose="020F0502020204030204" pitchFamily="34" charset="0"/>
                <a:ea typeface="宋体" panose="02010600030101010101" pitchFamily="2" charset="-122"/>
                <a:cs typeface="Times New Roman" panose="02020603050405020304" pitchFamily="18" charset="0"/>
              </a:rPr>
              <a:t>Future-Based Tracking</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Wingdings" panose="05000000000000000000" pitchFamily="2" charset="2"/>
              <a:buChar char="q"/>
              <a:tabLst>
                <a:tab pos="914400" algn="l"/>
              </a:tabLst>
            </a:pPr>
            <a:r>
              <a:rPr lang="en-US" dirty="0">
                <a:latin typeface="Calibri" panose="020F0502020204030204" pitchFamily="34" charset="0"/>
                <a:ea typeface="宋体" panose="02010600030101010101" pitchFamily="2" charset="-122"/>
                <a:cs typeface="Times New Roman" panose="02020603050405020304" pitchFamily="18" charset="0"/>
              </a:rPr>
              <a:t>Controller maintains List&lt;Future&lt;</a:t>
            </a:r>
            <a:r>
              <a:rPr lang="en-US" dirty="0" err="1">
                <a:latin typeface="Calibri" panose="020F0502020204030204" pitchFamily="34" charset="0"/>
                <a:ea typeface="宋体" panose="02010600030101010101" pitchFamily="2" charset="-122"/>
                <a:cs typeface="Times New Roman" panose="02020603050405020304" pitchFamily="18" charset="0"/>
              </a:rPr>
              <a:t>CompressionResult</a:t>
            </a:r>
            <a:r>
              <a:rPr lang="en-US" dirty="0">
                <a:latin typeface="Calibri" panose="020F0502020204030204" pitchFamily="34" charset="0"/>
                <a:ea typeface="宋体" panose="02010600030101010101" pitchFamily="2" charset="-122"/>
                <a:cs typeface="Times New Roman" panose="02020603050405020304" pitchFamily="18" charset="0"/>
              </a:rPr>
              <a:t>&gt;&gt;</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Wingdings" panose="05000000000000000000" pitchFamily="2" charset="2"/>
              <a:buChar char="q"/>
              <a:tabLst>
                <a:tab pos="914400" algn="l"/>
              </a:tabLst>
            </a:pPr>
            <a:r>
              <a:rPr lang="en-US" dirty="0">
                <a:latin typeface="Calibri" panose="020F0502020204030204" pitchFamily="34" charset="0"/>
                <a:ea typeface="宋体" panose="02010600030101010101" pitchFamily="2" charset="-122"/>
                <a:cs typeface="Times New Roman" panose="02020603050405020304" pitchFamily="18" charset="0"/>
              </a:rPr>
              <a:t>Result collector monitors completion status</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ct val="107000"/>
              </a:lnSpc>
              <a:spcBef>
                <a:spcPts val="0"/>
              </a:spcBef>
              <a:spcAft>
                <a:spcPts val="800"/>
              </a:spcAft>
              <a:buFont typeface="+mj-lt"/>
              <a:buAutoNum type="arabicPeriod" startAt="3"/>
              <a:tabLst>
                <a:tab pos="457200" algn="l"/>
              </a:tabLst>
            </a:pPr>
            <a:r>
              <a:rPr lang="en-US" b="1" dirty="0">
                <a:latin typeface="Calibri" panose="020F0502020204030204" pitchFamily="34" charset="0"/>
                <a:ea typeface="宋体" panose="02010600030101010101" pitchFamily="2" charset="-122"/>
                <a:cs typeface="Times New Roman" panose="02020603050405020304" pitchFamily="18" charset="0"/>
              </a:rPr>
              <a:t>Comprehensive Result Handling</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Wingdings" panose="05000000000000000000" pitchFamily="2" charset="2"/>
              <a:buChar char="q"/>
              <a:tabLst>
                <a:tab pos="914400" algn="l"/>
              </a:tabLst>
            </a:pPr>
            <a:r>
              <a:rPr lang="en-US" dirty="0">
                <a:latin typeface="Calibri" panose="020F0502020204030204" pitchFamily="34" charset="0"/>
                <a:ea typeface="宋体" panose="02010600030101010101" pitchFamily="2" charset="-122"/>
                <a:cs typeface="Times New Roman" panose="02020603050405020304" pitchFamily="18" charset="0"/>
              </a:rPr>
              <a:t>Tracks original/compressed sizes</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Wingdings" panose="05000000000000000000" pitchFamily="2" charset="2"/>
              <a:buChar char="q"/>
              <a:tabLst>
                <a:tab pos="914400" algn="l"/>
              </a:tabLst>
            </a:pPr>
            <a:r>
              <a:rPr lang="en-US" dirty="0">
                <a:latin typeface="Calibri" panose="020F0502020204030204" pitchFamily="34" charset="0"/>
                <a:ea typeface="宋体" panose="02010600030101010101" pitchFamily="2" charset="-122"/>
                <a:cs typeface="Times New Roman" panose="02020603050405020304" pitchFamily="18" charset="0"/>
              </a:rPr>
              <a:t>Measures processing time</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Wingdings" panose="05000000000000000000" pitchFamily="2" charset="2"/>
              <a:buChar char="q"/>
              <a:tabLst>
                <a:tab pos="914400" algn="l"/>
              </a:tabLst>
            </a:pPr>
            <a:r>
              <a:rPr lang="en-US" dirty="0">
                <a:latin typeface="Calibri" panose="020F0502020204030204" pitchFamily="34" charset="0"/>
                <a:ea typeface="宋体" panose="02010600030101010101" pitchFamily="2" charset="-122"/>
                <a:cs typeface="Times New Roman" panose="02020603050405020304" pitchFamily="18" charset="0"/>
              </a:rPr>
              <a:t>Captures success/failure status</a:t>
            </a:r>
            <a:endParaRPr lang="en-US" dirty="0">
              <a:latin typeface="Calibri" panose="020F0502020204030204" pitchFamily="34" charset="0"/>
              <a:ea typeface="宋体" panose="02010600030101010101" pitchFamily="2" charset="-122"/>
              <a:cs typeface="Times New Roman" panose="02020603050405020304" pitchFamily="18" charset="0"/>
            </a:endParaRPr>
          </a:p>
        </p:txBody>
      </p:sp>
      <p:sp>
        <p:nvSpPr>
          <p:cNvPr id="7" name="Rectangle 6"/>
          <p:cNvSpPr/>
          <p:nvPr/>
        </p:nvSpPr>
        <p:spPr>
          <a:xfrm>
            <a:off x="6934200" y="1928842"/>
            <a:ext cx="5105400" cy="3065647"/>
          </a:xfrm>
          <a:prstGeom prst="rect">
            <a:avLst/>
          </a:prstGeom>
        </p:spPr>
        <p:txBody>
          <a:bodyPr wrap="square">
            <a:spAutoFit/>
          </a:bodyPr>
          <a:lstStyle/>
          <a:p>
            <a:pPr marL="342900" marR="0" lvl="0" indent="-342900">
              <a:lnSpc>
                <a:spcPct val="107000"/>
              </a:lnSpc>
              <a:spcBef>
                <a:spcPts val="0"/>
              </a:spcBef>
              <a:spcAft>
                <a:spcPts val="800"/>
              </a:spcAft>
              <a:buFont typeface="+mj-lt"/>
              <a:buAutoNum type="arabicPeriod" startAt="4"/>
              <a:tabLst>
                <a:tab pos="457200" algn="l"/>
              </a:tabLst>
            </a:pPr>
            <a:r>
              <a:rPr lang="en-US" b="1" dirty="0">
                <a:latin typeface="Calibri" panose="020F0502020204030204" pitchFamily="34" charset="0"/>
                <a:ea typeface="宋体" panose="02010600030101010101" pitchFamily="2" charset="-122"/>
                <a:cs typeface="Times New Roman" panose="02020603050405020304" pitchFamily="18" charset="0"/>
              </a:rPr>
              <a:t>Proper Resource Management</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Wingdings" panose="05000000000000000000" pitchFamily="2" charset="2"/>
              <a:buChar char="q"/>
              <a:tabLst>
                <a:tab pos="914400" algn="l"/>
              </a:tabLst>
            </a:pPr>
            <a:r>
              <a:rPr lang="en-US" dirty="0">
                <a:latin typeface="Calibri" panose="020F0502020204030204" pitchFamily="34" charset="0"/>
                <a:ea typeface="宋体" panose="02010600030101010101" pitchFamily="2" charset="-122"/>
                <a:cs typeface="Times New Roman" panose="02020603050405020304" pitchFamily="18" charset="0"/>
              </a:rPr>
              <a:t>Uses try-with-resources for file streams</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Wingdings" panose="05000000000000000000" pitchFamily="2" charset="2"/>
              <a:buChar char="q"/>
              <a:tabLst>
                <a:tab pos="914400" algn="l"/>
              </a:tabLst>
            </a:pPr>
            <a:r>
              <a:rPr lang="en-US" dirty="0">
                <a:latin typeface="Calibri" panose="020F0502020204030204" pitchFamily="34" charset="0"/>
                <a:ea typeface="宋体" panose="02010600030101010101" pitchFamily="2" charset="-122"/>
                <a:cs typeface="Times New Roman" panose="02020603050405020304" pitchFamily="18" charset="0"/>
              </a:rPr>
              <a:t>Clean executor shutdown</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Wingdings" panose="05000000000000000000" pitchFamily="2" charset="2"/>
              <a:buChar char="q"/>
              <a:tabLst>
                <a:tab pos="914400" algn="l"/>
              </a:tabLst>
            </a:pPr>
            <a:r>
              <a:rPr lang="en-US" dirty="0" err="1">
                <a:latin typeface="Calibri" panose="020F0502020204030204" pitchFamily="34" charset="0"/>
                <a:ea typeface="宋体" panose="02010600030101010101" pitchFamily="2" charset="-122"/>
                <a:cs typeface="Times New Roman" panose="02020603050405020304" pitchFamily="18" charset="0"/>
              </a:rPr>
              <a:t>CountDownLatch</a:t>
            </a:r>
            <a:r>
              <a:rPr lang="en-US" dirty="0">
                <a:latin typeface="Calibri" panose="020F0502020204030204" pitchFamily="34" charset="0"/>
                <a:ea typeface="宋体" panose="02010600030101010101" pitchFamily="2" charset="-122"/>
                <a:cs typeface="Times New Roman" panose="02020603050405020304" pitchFamily="18" charset="0"/>
              </a:rPr>
              <a:t> for completion tracking</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ct val="107000"/>
              </a:lnSpc>
              <a:spcBef>
                <a:spcPts val="0"/>
              </a:spcBef>
              <a:spcAft>
                <a:spcPts val="800"/>
              </a:spcAft>
              <a:buFont typeface="+mj-lt"/>
              <a:buAutoNum type="arabicPeriod" startAt="5"/>
              <a:tabLst>
                <a:tab pos="457200" algn="l"/>
              </a:tabLst>
            </a:pPr>
            <a:r>
              <a:rPr lang="en-US" b="1" dirty="0">
                <a:latin typeface="Calibri" panose="020F0502020204030204" pitchFamily="34" charset="0"/>
                <a:ea typeface="宋体" panose="02010600030101010101" pitchFamily="2" charset="-122"/>
                <a:cs typeface="Times New Roman" panose="02020603050405020304" pitchFamily="18" charset="0"/>
              </a:rPr>
              <a:t>Error Resilience</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Wingdings" panose="05000000000000000000" pitchFamily="2" charset="2"/>
              <a:buChar char="q"/>
              <a:tabLst>
                <a:tab pos="914400" algn="l"/>
              </a:tabLst>
            </a:pPr>
            <a:r>
              <a:rPr lang="en-US" dirty="0">
                <a:latin typeface="Calibri" panose="020F0502020204030204" pitchFamily="34" charset="0"/>
                <a:ea typeface="宋体" panose="02010600030101010101" pitchFamily="2" charset="-122"/>
                <a:cs typeface="Times New Roman" panose="02020603050405020304" pitchFamily="18" charset="0"/>
              </a:rPr>
              <a:t>Individual task failures don't stop overall processing</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ct val="107000"/>
              </a:lnSpc>
              <a:spcBef>
                <a:spcPts val="0"/>
              </a:spcBef>
              <a:spcAft>
                <a:spcPts val="800"/>
              </a:spcAft>
              <a:buSzPts val="1000"/>
              <a:buFont typeface="Wingdings" panose="05000000000000000000" pitchFamily="2" charset="2"/>
              <a:buChar char="q"/>
              <a:tabLst>
                <a:tab pos="914400" algn="l"/>
              </a:tabLst>
            </a:pPr>
            <a:r>
              <a:rPr lang="en-US" dirty="0">
                <a:latin typeface="Calibri" panose="020F0502020204030204" pitchFamily="34" charset="0"/>
                <a:ea typeface="宋体" panose="02010600030101010101" pitchFamily="2" charset="-122"/>
                <a:cs typeface="Times New Roman" panose="02020603050405020304" pitchFamily="18" charset="0"/>
              </a:rPr>
              <a:t>Detailed error reporting</a:t>
            </a:r>
            <a:endParaRPr lang="en-US" dirty="0">
              <a:latin typeface="Calibri" panose="020F0502020204030204" pitchFamily="34" charset="0"/>
              <a:ea typeface="宋体" panose="02010600030101010101" pitchFamily="2" charset="-122"/>
              <a:cs typeface="Times New Roman" panose="02020603050405020304" pitchFamily="18" charset="0"/>
            </a:endParaRPr>
          </a:p>
        </p:txBody>
      </p:sp>
      <p:sp>
        <p:nvSpPr>
          <p:cNvPr id="8" name="Rectangle 7"/>
          <p:cNvSpPr/>
          <p:nvPr/>
        </p:nvSpPr>
        <p:spPr>
          <a:xfrm>
            <a:off x="4724400" y="1363036"/>
            <a:ext cx="3134256" cy="369332"/>
          </a:xfrm>
          <a:prstGeom prst="rect">
            <a:avLst/>
          </a:prstGeom>
        </p:spPr>
        <p:txBody>
          <a:bodyPr wrap="none">
            <a:spAutoFit/>
          </a:bodyPr>
          <a:lstStyle/>
          <a:p>
            <a:r>
              <a:rPr lang="en-US" b="1" dirty="0">
                <a:solidFill>
                  <a:srgbClr val="FF0000"/>
                </a:solidFill>
                <a:hlinkClick r:id="rId1" action="ppaction://hlinkfile"/>
              </a:rPr>
              <a:t>AsyncFileCompressor.java</a:t>
            </a:r>
            <a:endParaRPr lang="en-US" b="1" dirty="0">
              <a:solidFill>
                <a:srgbClr val="FF0000"/>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2"/>
          <p:cNvSpPr>
            <a:spLocks noChangeArrowheads="1"/>
          </p:cNvSpPr>
          <p:nvPr/>
        </p:nvSpPr>
        <p:spPr bwMode="auto">
          <a:xfrm>
            <a:off x="1524001" y="212990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31747" name="Rectangle 6"/>
          <p:cNvSpPr>
            <a:spLocks noRot="1" noChangeArrowheads="1"/>
          </p:cNvSpPr>
          <p:nvPr/>
        </p:nvSpPr>
        <p:spPr bwMode="auto">
          <a:xfrm>
            <a:off x="2667000" y="2819400"/>
            <a:ext cx="648335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2" panose="05020102010507070707" pitchFamily="18" charset="2"/>
              <a:buNone/>
            </a:pPr>
            <a:r>
              <a:rPr lang="en-GB" altLang="en-US" sz="8000" b="1" dirty="0">
                <a:solidFill>
                  <a:srgbClr val="FF0000"/>
                </a:solidFill>
                <a:latin typeface="华文行楷" panose="02010800040101010101" pitchFamily="2" charset="-122"/>
                <a:ea typeface="华文行楷" panose="02010800040101010101" pitchFamily="2" charset="-122"/>
              </a:rPr>
              <a:t>Thanks</a:t>
            </a:r>
            <a:endParaRPr lang="en-US" altLang="zh-CN" sz="8000" b="1" dirty="0">
              <a:solidFill>
                <a:srgbClr val="FF0000"/>
              </a:solidFill>
              <a:latin typeface="华文行楷" panose="02010800040101010101" pitchFamily="2" charset="-122"/>
              <a:ea typeface="华文行楷" panose="02010800040101010101" pitchFamily="2" charset="-122"/>
            </a:endParaRPr>
          </a:p>
        </p:txBody>
      </p:sp>
    </p:spTree>
  </p:cSld>
  <p:clrMapOvr>
    <a:masterClrMapping/>
  </p:clrMapOvr>
</p:sld>
</file>

<file path=ppt/tags/tag1.xml><?xml version="1.0" encoding="utf-8"?>
<p:tagLst xmlns:p="http://schemas.openxmlformats.org/presentationml/2006/main">
  <p:tag name="KSO_WPP_MARK_KEY" val="bca22f10-4f7e-4699-a9d3-a4b00fce5ec2"/>
  <p:tag name="COMMONDATA" val="eyJoZGlkIjoiYmI3YWU5ODM1NzcyZWM5NWJjYjI2YjA1YmE3NmRkZGUifQ=="/>
</p:tagLst>
</file>

<file path=ppt/theme/theme1.xml><?xml version="1.0" encoding="utf-8"?>
<a:theme xmlns:a="http://schemas.openxmlformats.org/drawingml/2006/main" name="砖雕艺术">
  <a:themeElements>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fontScheme name="砖雕艺术">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clrMap bg1="lt1" tx1="dk1" bg2="lt2" tx2="dk2" accent1="accent1" accent2="accent2" accent3="accent3" accent4="accent4" accent5="accent5" accent6="accent6" hlink="hlink" folHlink="folHlink"/>
    </a:extraClrScheme>
    <a:extraClrScheme>
      <a:clrScheme name="砖雕艺术 2">
        <a:dk1>
          <a:srgbClr val="333399"/>
        </a:dk1>
        <a:lt1>
          <a:srgbClr val="ADD3AF"/>
        </a:lt1>
        <a:dk2>
          <a:srgbClr val="D65700"/>
        </a:dk2>
        <a:lt2>
          <a:srgbClr val="B2B2B2"/>
        </a:lt2>
        <a:accent1>
          <a:srgbClr val="B8E9EE"/>
        </a:accent1>
        <a:accent2>
          <a:srgbClr val="FFCC00"/>
        </a:accent2>
        <a:accent3>
          <a:srgbClr val="D3E6D4"/>
        </a:accent3>
        <a:accent4>
          <a:srgbClr val="2A2A82"/>
        </a:accent4>
        <a:accent5>
          <a:srgbClr val="D8F2F5"/>
        </a:accent5>
        <a:accent6>
          <a:srgbClr val="E7B900"/>
        </a:accent6>
        <a:hlink>
          <a:srgbClr val="008080"/>
        </a:hlink>
        <a:folHlink>
          <a:srgbClr val="003366"/>
        </a:folHlink>
      </a:clrScheme>
      <a:clrMap bg1="lt1" tx1="dk1" bg2="lt2" tx2="dk2" accent1="accent1" accent2="accent2" accent3="accent3" accent4="accent4" accent5="accent5" accent6="accent6" hlink="hlink" folHlink="folHlink"/>
    </a:extraClrScheme>
    <a:extraClrScheme>
      <a:clrScheme name="砖雕艺术 3">
        <a:dk1>
          <a:srgbClr val="003BB2"/>
        </a:dk1>
        <a:lt1>
          <a:srgbClr val="CCFFCC"/>
        </a:lt1>
        <a:dk2>
          <a:srgbClr val="003366"/>
        </a:dk2>
        <a:lt2>
          <a:srgbClr val="C0C0C0"/>
        </a:lt2>
        <a:accent1>
          <a:srgbClr val="FFFFFF"/>
        </a:accent1>
        <a:accent2>
          <a:srgbClr val="009900"/>
        </a:accent2>
        <a:accent3>
          <a:srgbClr val="E2FFE2"/>
        </a:accent3>
        <a:accent4>
          <a:srgbClr val="003197"/>
        </a:accent4>
        <a:accent5>
          <a:srgbClr val="FFFFFF"/>
        </a:accent5>
        <a:accent6>
          <a:srgbClr val="008A00"/>
        </a:accent6>
        <a:hlink>
          <a:srgbClr val="333399"/>
        </a:hlink>
        <a:folHlink>
          <a:srgbClr val="E45C00"/>
        </a:folHlink>
      </a:clrScheme>
      <a:clrMap bg1="lt1" tx1="dk1" bg2="lt2" tx2="dk2" accent1="accent1" accent2="accent2" accent3="accent3" accent4="accent4" accent5="accent5" accent6="accent6" hlink="hlink" folHlink="folHlink"/>
    </a:extraClrScheme>
    <a:extraClrScheme>
      <a:clrScheme name="砖雕艺术 4">
        <a:dk1>
          <a:srgbClr val="0000CC"/>
        </a:dk1>
        <a:lt1>
          <a:srgbClr val="CCECFF"/>
        </a:lt1>
        <a:dk2>
          <a:srgbClr val="006666"/>
        </a:dk2>
        <a:lt2>
          <a:srgbClr val="C0C0C0"/>
        </a:lt2>
        <a:accent1>
          <a:srgbClr val="FFFF99"/>
        </a:accent1>
        <a:accent2>
          <a:srgbClr val="FFCCFF"/>
        </a:accent2>
        <a:accent3>
          <a:srgbClr val="E2F4FF"/>
        </a:accent3>
        <a:accent4>
          <a:srgbClr val="0000AE"/>
        </a:accent4>
        <a:accent5>
          <a:srgbClr val="FFFFCA"/>
        </a:accent5>
        <a:accent6>
          <a:srgbClr val="E7B9E7"/>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砖雕艺术 5">
        <a:dk1>
          <a:srgbClr val="000000"/>
        </a:dk1>
        <a:lt1>
          <a:srgbClr val="FFFFCC"/>
        </a:lt1>
        <a:dk2>
          <a:srgbClr val="5A5A86"/>
        </a:dk2>
        <a:lt2>
          <a:srgbClr val="C0C0C0"/>
        </a:lt2>
        <a:accent1>
          <a:srgbClr val="D5E9F7"/>
        </a:accent1>
        <a:accent2>
          <a:srgbClr val="FFCC00"/>
        </a:accent2>
        <a:accent3>
          <a:srgbClr val="FFFFE2"/>
        </a:accent3>
        <a:accent4>
          <a:srgbClr val="000000"/>
        </a:accent4>
        <a:accent5>
          <a:srgbClr val="E7F2FA"/>
        </a:accent5>
        <a:accent6>
          <a:srgbClr val="E7B900"/>
        </a:accent6>
        <a:hlink>
          <a:srgbClr val="CC3300"/>
        </a:hlink>
        <a:folHlink>
          <a:srgbClr val="007D7A"/>
        </a:folHlink>
      </a:clrScheme>
      <a:clrMap bg1="lt1" tx1="dk1" bg2="lt2" tx2="dk2" accent1="accent1" accent2="accent2" accent3="accent3" accent4="accent4" accent5="accent5" accent6="accent6" hlink="hlink" folHlink="folHlink"/>
    </a:extraClrScheme>
    <a:extraClrScheme>
      <a:clrScheme name="砖雕艺术 6">
        <a:dk1>
          <a:srgbClr val="006666"/>
        </a:dk1>
        <a:lt1>
          <a:srgbClr val="FFECD9"/>
        </a:lt1>
        <a:dk2>
          <a:srgbClr val="000099"/>
        </a:dk2>
        <a:lt2>
          <a:srgbClr val="B2B2B2"/>
        </a:lt2>
        <a:accent1>
          <a:srgbClr val="EAEAEA"/>
        </a:accent1>
        <a:accent2>
          <a:srgbClr val="FF6600"/>
        </a:accent2>
        <a:accent3>
          <a:srgbClr val="FFF4E9"/>
        </a:accent3>
        <a:accent4>
          <a:srgbClr val="005656"/>
        </a:accent4>
        <a:accent5>
          <a:srgbClr val="F3F3F3"/>
        </a:accent5>
        <a:accent6>
          <a:srgbClr val="E75C00"/>
        </a:accent6>
        <a:hlink>
          <a:srgbClr val="0066FF"/>
        </a:hlink>
        <a:folHlink>
          <a:srgbClr val="777777"/>
        </a:folHlink>
      </a:clrScheme>
      <a:clrMap bg1="lt1" tx1="dk1" bg2="lt2" tx2="dk2" accent1="accent1" accent2="accent2" accent3="accent3" accent4="accent4" accent5="accent5" accent6="accent6" hlink="hlink" folHlink="folHlink"/>
    </a:extraClrScheme>
    <a:extraClrScheme>
      <a:clrScheme name="砖雕艺术 7">
        <a:dk1>
          <a:srgbClr val="585884"/>
        </a:dk1>
        <a:lt1>
          <a:srgbClr val="DDDDDD"/>
        </a:lt1>
        <a:dk2>
          <a:srgbClr val="000000"/>
        </a:dk2>
        <a:lt2>
          <a:srgbClr val="969696"/>
        </a:lt2>
        <a:accent1>
          <a:srgbClr val="FFFFCC"/>
        </a:accent1>
        <a:accent2>
          <a:srgbClr val="99CC00"/>
        </a:accent2>
        <a:accent3>
          <a:srgbClr val="EBEBEB"/>
        </a:accent3>
        <a:accent4>
          <a:srgbClr val="4A4A70"/>
        </a:accent4>
        <a:accent5>
          <a:srgbClr val="FFFFE2"/>
        </a:accent5>
        <a:accent6>
          <a:srgbClr val="8AB900"/>
        </a:accent6>
        <a:hlink>
          <a:srgbClr val="FF3300"/>
        </a:hlink>
        <a:folHlink>
          <a:srgbClr val="6E3B8B"/>
        </a:folHlink>
      </a:clrScheme>
      <a:clrMap bg1="lt1" tx1="dk1" bg2="lt2" tx2="dk2" accent1="accent1" accent2="accent2" accent3="accent3" accent4="accent4" accent5="accent5" accent6="accent6" hlink="hlink" folHlink="folHlink"/>
    </a:extraClrScheme>
    <a:extraClrScheme>
      <a:clrScheme name="砖雕艺术 8">
        <a:dk1>
          <a:srgbClr val="333399"/>
        </a:dk1>
        <a:lt1>
          <a:srgbClr val="FFD9D9"/>
        </a:lt1>
        <a:dk2>
          <a:srgbClr val="00716E"/>
        </a:dk2>
        <a:lt2>
          <a:srgbClr val="C0C0C0"/>
        </a:lt2>
        <a:accent1>
          <a:srgbClr val="AED2BA"/>
        </a:accent1>
        <a:accent2>
          <a:srgbClr val="FF9933"/>
        </a:accent2>
        <a:accent3>
          <a:srgbClr val="FFE9E9"/>
        </a:accent3>
        <a:accent4>
          <a:srgbClr val="2A2A82"/>
        </a:accent4>
        <a:accent5>
          <a:srgbClr val="D3E5D9"/>
        </a:accent5>
        <a:accent6>
          <a:srgbClr val="E78A2D"/>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java">
  <a:themeElements>
    <a:clrScheme name="java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java">
      <a:majorFont>
        <a:latin typeface="Arial"/>
        <a:ea typeface="全真楷書"/>
        <a:cs typeface=""/>
      </a:majorFont>
      <a:minorFont>
        <a:latin typeface="Arial Narrow"/>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TW" altLang="en-US" sz="2000" b="0" i="0" u="none" strike="noStrike" cap="none" normalizeH="0" baseline="0" smtClean="0">
            <a:ln>
              <a:noFill/>
            </a:ln>
            <a:solidFill>
              <a:schemeClr val="tx1"/>
            </a:solidFill>
            <a:effectLst/>
            <a:latin typeface="Arial" panose="020B0604020202020204" pitchFamily="34" charset="0"/>
            <a:ea typeface="PMingLiU" pitchFamily="18" charset="-12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TW" altLang="en-US" sz="2000" b="0" i="0" u="none" strike="noStrike" cap="none" normalizeH="0" baseline="0" smtClean="0">
            <a:ln>
              <a:noFill/>
            </a:ln>
            <a:solidFill>
              <a:schemeClr val="tx1"/>
            </a:solidFill>
            <a:effectLst/>
            <a:latin typeface="Arial" panose="020B0604020202020204" pitchFamily="34" charset="0"/>
            <a:ea typeface="PMingLiU" pitchFamily="18" charset="-120"/>
          </a:defRPr>
        </a:defPPr>
      </a:lstStyle>
    </a:lnDef>
  </a:objectDefaults>
  <a:extraClrSchemeLst>
    <a:extraClrScheme>
      <a:clrScheme name="java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jav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java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java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java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java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java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67782</Words>
  <Application>WPS 演示</Application>
  <PresentationFormat>Widescreen</PresentationFormat>
  <Paragraphs>1935</Paragraphs>
  <Slides>102</Slides>
  <Notes>3</Notes>
  <HiddenSlides>0</HiddenSlides>
  <MMClips>0</MMClips>
  <ScaleCrop>false</ScaleCrop>
  <HeadingPairs>
    <vt:vector size="6" baseType="variant">
      <vt:variant>
        <vt:lpstr>已用的字体</vt:lpstr>
      </vt:variant>
      <vt:variant>
        <vt:i4>22</vt:i4>
      </vt:variant>
      <vt:variant>
        <vt:lpstr>主题</vt:lpstr>
      </vt:variant>
      <vt:variant>
        <vt:i4>2</vt:i4>
      </vt:variant>
      <vt:variant>
        <vt:lpstr>幻灯片标题</vt:lpstr>
      </vt:variant>
      <vt:variant>
        <vt:i4>102</vt:i4>
      </vt:variant>
    </vt:vector>
  </HeadingPairs>
  <TitlesOfParts>
    <vt:vector size="126" baseType="lpstr">
      <vt:lpstr>Arial</vt:lpstr>
      <vt:lpstr>宋体</vt:lpstr>
      <vt:lpstr>Wingdings</vt:lpstr>
      <vt:lpstr>Wingdings 2</vt:lpstr>
      <vt:lpstr>PMingLiU</vt:lpstr>
      <vt:lpstr>MingLiU-ExtB</vt:lpstr>
      <vt:lpstr>Times New Roman</vt:lpstr>
      <vt:lpstr>全真楷書</vt:lpstr>
      <vt:lpstr>Symbol</vt:lpstr>
      <vt:lpstr>华文行楷</vt:lpstr>
      <vt:lpstr>Garamond</vt:lpstr>
      <vt:lpstr>仿宋</vt:lpstr>
      <vt:lpstr>微软雅黑</vt:lpstr>
      <vt:lpstr>Arial Unicode MS</vt:lpstr>
      <vt:lpstr>Arial Narrow</vt:lpstr>
      <vt:lpstr>Arial Unicode MS</vt:lpstr>
      <vt:lpstr>DeepSeek-CJK-patch</vt:lpstr>
      <vt:lpstr>Segoe Print</vt:lpstr>
      <vt:lpstr>Calibri</vt:lpstr>
      <vt:lpstr>Courier New</vt:lpstr>
      <vt:lpstr>Cambria Math</vt:lpstr>
      <vt:lpstr>PMingLiU</vt:lpstr>
      <vt:lpstr>砖雕艺术</vt:lpstr>
      <vt:lpstr>java</vt:lpstr>
      <vt:lpstr>PowerPoint 演示文稿</vt:lpstr>
      <vt:lpstr>Contents</vt:lpstr>
      <vt:lpstr>What is a thread ?</vt:lpstr>
      <vt:lpstr>single-threaded vs multithreaded programs</vt:lpstr>
      <vt:lpstr>Thread ecology in a java program</vt:lpstr>
      <vt:lpstr>2. Define and launch a java thread</vt:lpstr>
      <vt:lpstr>Define a thread </vt:lpstr>
      <vt:lpstr>How to launch a thread</vt:lpstr>
      <vt:lpstr>The java.lang.Thread constructors</vt:lpstr>
      <vt:lpstr>Some thread property access methods</vt:lpstr>
      <vt:lpstr>State methods for current thread accesses</vt:lpstr>
      <vt:lpstr>An example</vt:lpstr>
      <vt:lpstr>main program</vt:lpstr>
      <vt:lpstr>3. The Life Cycle of a  Java Thread 线程的生命周期</vt:lpstr>
      <vt:lpstr>Programming Demonstration Example</vt:lpstr>
      <vt:lpstr>PowerPoint 演示文稿</vt:lpstr>
      <vt:lpstr>PowerPoint 演示文稿</vt:lpstr>
      <vt:lpstr>PowerPoint 演示文稿</vt:lpstr>
      <vt:lpstr>PowerPoint 演示文稿</vt:lpstr>
      <vt:lpstr>PowerPoint 演示文稿</vt:lpstr>
      <vt:lpstr>Multiple Threads Using Anonymous Thread Objects</vt:lpstr>
      <vt:lpstr>PowerPoint 演示文稿</vt:lpstr>
      <vt:lpstr>Multiple Threads Using Lambda Expression (Java 8+):</vt:lpstr>
      <vt:lpstr>PowerPoint 演示文稿</vt:lpstr>
      <vt:lpstr>Programming Demonstration Example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Memory-Mapped I/O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Asynchronous computing program structure example</vt:lpstr>
      <vt:lpstr>FindMaxTask.java: Asynchronous Computing Worker Thread</vt:lpstr>
      <vt:lpstr>MultithreadedMaxFinder.java: Initiating Thread (Control Thread)</vt:lpstr>
      <vt:lpstr>StartClass.java</vt:lpstr>
      <vt:lpstr>Programming application problem scenario : compressed files</vt:lpstr>
      <vt:lpstr>Using thread pool to implement compressed file programming</vt:lpstr>
      <vt:lpstr>GZipAllFiles.java</vt:lpstr>
      <vt:lpstr>GZipRunnable.java</vt:lpstr>
      <vt:lpstr>Using thread pool to implement compressed file programming</vt:lpstr>
      <vt:lpstr>Thinking extension:</vt:lpstr>
      <vt:lpstr>Multiple threads accessing the same resource</vt:lpstr>
      <vt:lpstr>Synchronous Block Programming Technology</vt:lpstr>
      <vt:lpstr>PowerPoint 演示文稿</vt:lpstr>
      <vt:lpstr>PowerPoint 演示文稿</vt:lpstr>
      <vt:lpstr>Synchronous block programming technology</vt:lpstr>
      <vt:lpstr>Synchronous block programming technology application example</vt:lpstr>
      <vt:lpstr>PowerPoint 演示文稿</vt:lpstr>
      <vt:lpstr>LogFile.java</vt:lpstr>
      <vt:lpstr>LogFile.java</vt:lpstr>
      <vt:lpstr>LogFile.java</vt:lpstr>
      <vt:lpstr>Programming thinking problem</vt:lpstr>
      <vt:lpstr>Problems that may arise from synchronous block programming techniques</vt:lpstr>
      <vt:lpstr>Replacement technology for synchronous programming technology</vt:lpstr>
      <vt:lpstr>Thread Scheduling</vt:lpstr>
      <vt:lpstr>Thread Scheduling</vt:lpstr>
      <vt:lpstr>Questions to think about</vt:lpstr>
      <vt:lpstr>Programming problem scenario: Calculate and display the summary of multiple file security algorithms</vt:lpstr>
      <vt:lpstr>Problem continued: Multithreaded programming using accessor methods</vt:lpstr>
      <vt:lpstr>Problem Solving: Using Connection Threads</vt:lpstr>
      <vt:lpstr>Multithreaded programming using the join thread method</vt:lpstr>
      <vt:lpstr>JoinDigestUserInterface.java</vt:lpstr>
      <vt:lpstr>Connecting thread programming techniques</vt:lpstr>
      <vt:lpstr>Connecting thread programming techniques</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mfq</dc:creator>
  <cp:lastModifiedBy>杨韩冰</cp:lastModifiedBy>
  <cp:revision>1206</cp:revision>
  <cp:lastPrinted>2113-01-01T00:00:00Z</cp:lastPrinted>
  <dcterms:created xsi:type="dcterms:W3CDTF">2113-01-01T00:00:00Z</dcterms:created>
  <dcterms:modified xsi:type="dcterms:W3CDTF">2025-05-12T12:06:48Z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196ADB9443C348D7863E9713972D2D6A</vt:lpwstr>
  </property>
  <property fmtid="{D5CDD505-2E9C-101B-9397-08002B2CF9AE}" pid="4" name="KSOProductBuildVer">
    <vt:lpwstr>2052-12.1.0.20305</vt:lpwstr>
  </property>
</Properties>
</file>