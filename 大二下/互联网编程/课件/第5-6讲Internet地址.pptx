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2"/>
  </p:handoutMasterIdLst>
  <p:sldIdLst>
    <p:sldId id="256" r:id="rId3"/>
    <p:sldId id="422" r:id="rId5"/>
    <p:sldId id="352" r:id="rId6"/>
    <p:sldId id="353" r:id="rId7"/>
    <p:sldId id="355" r:id="rId8"/>
    <p:sldId id="392" r:id="rId9"/>
    <p:sldId id="354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412" r:id="rId19"/>
    <p:sldId id="365" r:id="rId20"/>
    <p:sldId id="367" r:id="rId21"/>
    <p:sldId id="366" r:id="rId22"/>
    <p:sldId id="368" r:id="rId23"/>
    <p:sldId id="403" r:id="rId24"/>
    <p:sldId id="369" r:id="rId25"/>
    <p:sldId id="370" r:id="rId26"/>
    <p:sldId id="371" r:id="rId27"/>
    <p:sldId id="372" r:id="rId28"/>
    <p:sldId id="393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95" r:id="rId38"/>
    <p:sldId id="396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91" r:id="rId48"/>
    <p:sldId id="389" r:id="rId49"/>
    <p:sldId id="390" r:id="rId50"/>
    <p:sldId id="413" r:id="rId51"/>
    <p:sldId id="404" r:id="rId52"/>
    <p:sldId id="415" r:id="rId53"/>
    <p:sldId id="414" r:id="rId54"/>
    <p:sldId id="397" r:id="rId55"/>
    <p:sldId id="399" r:id="rId56"/>
    <p:sldId id="400" r:id="rId57"/>
    <p:sldId id="411" r:id="rId58"/>
    <p:sldId id="398" r:id="rId59"/>
    <p:sldId id="406" r:id="rId60"/>
    <p:sldId id="416" r:id="rId61"/>
    <p:sldId id="405" r:id="rId62"/>
    <p:sldId id="417" r:id="rId63"/>
    <p:sldId id="408" r:id="rId64"/>
    <p:sldId id="419" r:id="rId65"/>
    <p:sldId id="423" r:id="rId66"/>
    <p:sldId id="409" r:id="rId67"/>
    <p:sldId id="420" r:id="rId68"/>
    <p:sldId id="418" r:id="rId69"/>
    <p:sldId id="410" r:id="rId70"/>
    <p:sldId id="421" r:id="rId71"/>
  </p:sldIdLst>
  <p:sldSz cx="9144000" cy="6858000" type="screen4x3"/>
  <p:notesSz cx="7099300" cy="1023429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00"/>
    <a:srgbClr val="003300"/>
    <a:srgbClr val="990099"/>
    <a:srgbClr val="FF3399"/>
    <a:srgbClr val="CC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728" autoAdjust="0"/>
  </p:normalViewPr>
  <p:slideViewPr>
    <p:cSldViewPr showGuides="1">
      <p:cViewPr varScale="1">
        <p:scale>
          <a:sx n="113" d="100"/>
          <a:sy n="113" d="100"/>
        </p:scale>
        <p:origin x="155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F431DBF-6AAA-4803-900C-A33FDAACB5F7}" type="datetime1">
              <a:rPr lang="zh-CN" altLang="en-US"/>
            </a:fld>
            <a:endParaRPr lang="en-US" altLang="zh-CN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CCE58DF-857C-402C-BA28-DCA23CB4D28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98262F1-4851-4E4A-82A0-2222170942DF}" type="datetime1">
              <a:rPr lang="zh-CN" altLang="en-US"/>
            </a:fld>
            <a:endParaRPr lang="en-US" altLang="zh-CN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71ACC9A6-D882-4684-865A-D47DEDDD347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CC1E2D0-8327-43D3-A971-96077822DEFE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FCB037-F1D6-4418-B68F-18E902988F2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195D6-2AB6-4016-BCBD-1F8EE05B6A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70F98-A69C-4A31-93A8-A7513EEFDF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B01BE-0649-4318-98C5-356040BDED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812B0-DC5E-490F-ADE1-1C3B1A6E15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572F9-5589-4302-A0F1-20B6B08124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04CFF-FF55-440D-90D0-7976885E811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4B3544-4017-4840-ADCA-E1F247AFEA3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8DBB6-6BC2-4AD6-8128-403B9DFE14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69D3C-0FE2-481B-ACEB-E900C12A80E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5D0A7-31CA-4BE9-98D3-0AB399DD466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2CDB2-C99D-4981-9307-48E29B1F770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52A6F-801D-4872-891D-7F17506938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DFEA2F7-7AD0-41A1-A8C8-2830FFF528B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hyperlink" Target="http://www.oreilly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258A9E-783A-4458-9374-2A94F6CF4308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5123" name="Rectangle 6"/>
          <p:cNvSpPr>
            <a:spLocks noRot="1" noChangeArrowheads="1"/>
          </p:cNvSpPr>
          <p:nvPr/>
        </p:nvSpPr>
        <p:spPr bwMode="auto">
          <a:xfrm>
            <a:off x="152400" y="1295400"/>
            <a:ext cx="85407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4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互联网编程</a:t>
            </a:r>
            <a:endParaRPr lang="en-US" altLang="zh-CN" sz="4800" b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第</a:t>
            </a:r>
            <a:r>
              <a:rPr lang="en-US" altLang="zh-CN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章</a:t>
            </a:r>
            <a:r>
              <a:rPr lang="en-US" altLang="zh-CN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 Internet</a:t>
            </a:r>
            <a:r>
              <a:rPr lang="zh-CN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地址</a:t>
            </a:r>
            <a:endParaRPr lang="en-US" altLang="zh-CN" sz="4800">
              <a:latin typeface="Garamond" panose="02020404030301010803" pitchFamily="18" charset="0"/>
              <a:ea typeface="仿宋" panose="02010609060101010101" pitchFamily="49" charset="-122"/>
            </a:endParaRPr>
          </a:p>
        </p:txBody>
      </p:sp>
      <p:sp>
        <p:nvSpPr>
          <p:cNvPr id="5124" name="Rectangle 8"/>
          <p:cNvSpPr>
            <a:spLocks noRot="1" noChangeArrowheads="1"/>
          </p:cNvSpPr>
          <p:nvPr/>
        </p:nvSpPr>
        <p:spPr bwMode="auto">
          <a:xfrm>
            <a:off x="4953000" y="5715000"/>
            <a:ext cx="396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000" b="1">
                <a:solidFill>
                  <a:schemeClr val="tx2"/>
                </a:solidFill>
              </a:rPr>
              <a:t>深圳大学计算机与软件学院</a:t>
            </a:r>
            <a:endParaRPr lang="zh-CN" altLang="en-US" sz="2000" b="1" i="1">
              <a:solidFill>
                <a:schemeClr val="tx2"/>
              </a:solidFill>
            </a:endParaRPr>
          </a:p>
        </p:txBody>
      </p:sp>
      <p:pic>
        <p:nvPicPr>
          <p:cNvPr id="5125" name="Picture 10" descr="sz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2514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主要内容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" y="990600"/>
            <a:ext cx="8512175" cy="5715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</a:rPr>
              <a:t>Internet</a:t>
            </a:r>
            <a:r>
              <a:rPr lang="zh-CN" altLang="en-US" b="1">
                <a:solidFill>
                  <a:srgbClr val="FF0000"/>
                </a:solidFill>
              </a:rPr>
              <a:t>地址概念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</a:rPr>
              <a:t>DNS</a:t>
            </a:r>
            <a:r>
              <a:rPr lang="zh-CN" altLang="en-US" b="1">
                <a:solidFill>
                  <a:srgbClr val="FF0000"/>
                </a:solidFill>
              </a:rPr>
              <a:t>及与</a:t>
            </a:r>
            <a:r>
              <a:rPr lang="en-US" altLang="zh-CN" b="1">
                <a:solidFill>
                  <a:srgbClr val="FF0000"/>
                </a:solidFill>
              </a:rPr>
              <a:t>IP</a:t>
            </a:r>
            <a:r>
              <a:rPr lang="zh-CN" altLang="en-US" b="1">
                <a:solidFill>
                  <a:srgbClr val="FF0000"/>
                </a:solidFill>
              </a:rPr>
              <a:t>地址关系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</a:rPr>
              <a:t>InetAddress</a:t>
            </a:r>
            <a:r>
              <a:rPr lang="zh-CN" altLang="en-US" b="1">
                <a:solidFill>
                  <a:srgbClr val="FF0000"/>
                </a:solidFill>
              </a:rPr>
              <a:t>类及应用编程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</a:rPr>
              <a:t>InetAddress</a:t>
            </a:r>
            <a:r>
              <a:rPr lang="zh-CN" altLang="en-US" b="1">
                <a:solidFill>
                  <a:srgbClr val="FF0000"/>
                </a:solidFill>
              </a:rPr>
              <a:t>对象与程序安全性问题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b="1">
                <a:solidFill>
                  <a:srgbClr val="FF0000"/>
                </a:solidFill>
              </a:rPr>
              <a:t>DNS</a:t>
            </a:r>
            <a:r>
              <a:rPr lang="zh-CN" altLang="en-US" b="1">
                <a:solidFill>
                  <a:srgbClr val="FF0000"/>
                </a:solidFill>
              </a:rPr>
              <a:t>缓存应用编程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FF0000"/>
                </a:solidFill>
              </a:rPr>
              <a:t>InetAddress</a:t>
            </a:r>
            <a:r>
              <a:rPr lang="zh-CN" altLang="en-US" sz="2800" b="1">
                <a:solidFill>
                  <a:srgbClr val="FF0000"/>
                </a:solidFill>
              </a:rPr>
              <a:t>的主机名和域名获取方法及应用编程</a:t>
            </a:r>
            <a:endParaRPr lang="en-US" altLang="zh-CN" sz="2800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2800" b="1">
                <a:solidFill>
                  <a:srgbClr val="FF0000"/>
                </a:solidFill>
              </a:rPr>
              <a:t>测试</a:t>
            </a:r>
            <a:r>
              <a:rPr lang="en-US" altLang="zh-CN" sz="2800" b="1">
                <a:solidFill>
                  <a:srgbClr val="FF0000"/>
                </a:solidFill>
              </a:rPr>
              <a:t>IP</a:t>
            </a:r>
            <a:r>
              <a:rPr lang="zh-CN" altLang="en-US" sz="2800" b="1">
                <a:solidFill>
                  <a:srgbClr val="FF0000"/>
                </a:solidFill>
              </a:rPr>
              <a:t>地址性质编程</a:t>
            </a:r>
            <a:endParaRPr lang="en-US" altLang="zh-CN" sz="2800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FF0000"/>
                </a:solidFill>
              </a:rPr>
              <a:t>NetworkInterface</a:t>
            </a:r>
            <a:r>
              <a:rPr lang="zh-CN" altLang="en-US" sz="2800" b="1">
                <a:solidFill>
                  <a:srgbClr val="FF0000"/>
                </a:solidFill>
              </a:rPr>
              <a:t>类及编程应用</a:t>
            </a:r>
            <a:endParaRPr lang="en-US" altLang="zh-CN" sz="2800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FF0000"/>
                </a:solidFill>
              </a:rPr>
              <a:t>InetAddress</a:t>
            </a:r>
            <a:r>
              <a:rPr lang="zh-CN" altLang="en-US" sz="2400" b="1">
                <a:solidFill>
                  <a:srgbClr val="FF0000"/>
                </a:solidFill>
              </a:rPr>
              <a:t>的垃圾邮件检测编程应用（</a:t>
            </a:r>
            <a:r>
              <a:rPr lang="en-US" altLang="zh-CN" sz="2400" b="1">
                <a:solidFill>
                  <a:srgbClr val="FF0000"/>
                </a:solidFill>
              </a:rPr>
              <a:t>SpamCheck</a:t>
            </a:r>
            <a:r>
              <a:rPr lang="zh-CN" altLang="en-US" sz="2400" b="1">
                <a:solidFill>
                  <a:srgbClr val="FF0000"/>
                </a:solidFill>
              </a:rPr>
              <a:t>）</a:t>
            </a:r>
            <a:endParaRPr lang="en-US" altLang="zh-CN" sz="2400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FF0000"/>
                </a:solidFill>
              </a:rPr>
              <a:t>InetAddress</a:t>
            </a:r>
            <a:r>
              <a:rPr lang="zh-CN" altLang="en-US" sz="2400" b="1">
                <a:solidFill>
                  <a:srgbClr val="FF0000"/>
                </a:solidFill>
              </a:rPr>
              <a:t>的离线处理日志文件编程应用</a:t>
            </a:r>
            <a:endParaRPr lang="en-US" altLang="zh-CN" sz="2400" b="1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FF0000"/>
                </a:solidFill>
              </a:rPr>
              <a:t>编程应用思考与练习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Internet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索引（</a:t>
            </a: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IP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地址）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42846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所有连入</a:t>
            </a:r>
            <a:r>
              <a:rPr lang="en-US" altLang="zh-CN" sz="2800"/>
              <a:t>Internet</a:t>
            </a:r>
            <a:r>
              <a:rPr lang="zh-CN" altLang="en-US" sz="2800"/>
              <a:t>的终端设备</a:t>
            </a:r>
            <a:r>
              <a:rPr lang="en-US" altLang="zh-CN" sz="2800"/>
              <a:t>(</a:t>
            </a:r>
            <a:r>
              <a:rPr lang="zh-CN" altLang="en-US" sz="2800"/>
              <a:t>包括计算机、</a:t>
            </a:r>
            <a:r>
              <a:rPr lang="en-US" altLang="zh-CN" sz="2800"/>
              <a:t>PDA</a:t>
            </a:r>
            <a:r>
              <a:rPr lang="zh-CN" altLang="en-US" sz="2800"/>
              <a:t>、打印机以及其他的电子设备</a:t>
            </a:r>
            <a:r>
              <a:rPr lang="en-US" altLang="zh-CN" sz="2800"/>
              <a:t>)</a:t>
            </a:r>
            <a:r>
              <a:rPr lang="zh-CN" altLang="en-US" sz="2800"/>
              <a:t>都有一个唯一的索引，这个索引被称为</a:t>
            </a:r>
            <a:r>
              <a:rPr lang="en-US" altLang="zh-CN" sz="2800" b="1">
                <a:solidFill>
                  <a:srgbClr val="3477FF"/>
                </a:solidFill>
              </a:rPr>
              <a:t>IP</a:t>
            </a:r>
            <a:r>
              <a:rPr lang="zh-CN" altLang="en-US" sz="2800" b="1">
                <a:solidFill>
                  <a:srgbClr val="3477FF"/>
                </a:solidFill>
              </a:rPr>
              <a:t>地址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在</a:t>
            </a:r>
            <a:r>
              <a:rPr lang="en-US" altLang="zh-CN" sz="2800"/>
              <a:t>Internet</a:t>
            </a:r>
            <a:r>
              <a:rPr lang="zh-CN" altLang="en-US" sz="2800"/>
              <a:t>上的</a:t>
            </a:r>
            <a:r>
              <a:rPr lang="en-US" altLang="zh-CN" sz="2800"/>
              <a:t>IP</a:t>
            </a:r>
            <a:r>
              <a:rPr lang="zh-CN" altLang="en-US" sz="2800"/>
              <a:t>地址大多由</a:t>
            </a:r>
            <a:r>
              <a:rPr lang="en-US" altLang="zh-CN" sz="2800">
                <a:solidFill>
                  <a:srgbClr val="3477FF"/>
                </a:solidFill>
              </a:rPr>
              <a:t>4</a:t>
            </a:r>
            <a:r>
              <a:rPr lang="zh-CN" altLang="en-US" sz="2800">
                <a:solidFill>
                  <a:srgbClr val="3477FF"/>
                </a:solidFill>
              </a:rPr>
              <a:t>个字节</a:t>
            </a:r>
            <a:r>
              <a:rPr lang="zh-CN" altLang="en-US" sz="2800"/>
              <a:t>组成，这种</a:t>
            </a:r>
            <a:r>
              <a:rPr lang="en-US" altLang="zh-CN" sz="2800"/>
              <a:t>IP</a:t>
            </a:r>
            <a:r>
              <a:rPr lang="zh-CN" altLang="en-US" sz="2800"/>
              <a:t>地址叫做</a:t>
            </a:r>
            <a:r>
              <a:rPr lang="en-US" altLang="zh-CN" sz="2800">
                <a:solidFill>
                  <a:srgbClr val="3477FF"/>
                </a:solidFill>
              </a:rPr>
              <a:t>IPv4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除了这种由四个字节组成的</a:t>
            </a:r>
            <a:r>
              <a:rPr lang="en-US" altLang="zh-CN" sz="2800"/>
              <a:t>IP</a:t>
            </a:r>
            <a:r>
              <a:rPr lang="zh-CN" altLang="en-US" sz="2800"/>
              <a:t>，在</a:t>
            </a:r>
            <a:r>
              <a:rPr lang="en-US" altLang="zh-CN" sz="2800"/>
              <a:t>Internet</a:t>
            </a:r>
            <a:r>
              <a:rPr lang="zh-CN" altLang="en-US" sz="2800"/>
              <a:t>上还存在一种</a:t>
            </a:r>
            <a:r>
              <a:rPr lang="en-US" altLang="zh-CN" sz="2800"/>
              <a:t>IP</a:t>
            </a:r>
            <a:r>
              <a:rPr lang="zh-CN" altLang="en-US" sz="2800"/>
              <a:t>，这种</a:t>
            </a:r>
            <a:r>
              <a:rPr lang="en-US" altLang="zh-CN" sz="2800"/>
              <a:t>IP</a:t>
            </a:r>
            <a:r>
              <a:rPr lang="zh-CN" altLang="en-US" sz="2800"/>
              <a:t>由</a:t>
            </a:r>
            <a:r>
              <a:rPr lang="en-US" altLang="zh-CN" sz="2800">
                <a:solidFill>
                  <a:srgbClr val="3477FF"/>
                </a:solidFill>
              </a:rPr>
              <a:t>16</a:t>
            </a:r>
            <a:r>
              <a:rPr lang="zh-CN" altLang="en-US" sz="2800">
                <a:solidFill>
                  <a:srgbClr val="3477FF"/>
                </a:solidFill>
              </a:rPr>
              <a:t>个字节</a:t>
            </a:r>
            <a:r>
              <a:rPr lang="zh-CN" altLang="en-US" sz="2800"/>
              <a:t>组成，叫做</a:t>
            </a:r>
            <a:r>
              <a:rPr lang="en-US" altLang="zh-CN" sz="2800">
                <a:solidFill>
                  <a:srgbClr val="3477FF"/>
                </a:solidFill>
              </a:rPr>
              <a:t>IPv6</a:t>
            </a:r>
            <a:r>
              <a:rPr lang="zh-CN" altLang="en-US" sz="2800">
                <a:solidFill>
                  <a:srgbClr val="3477FF"/>
                </a:solidFill>
              </a:rPr>
              <a:t> 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/>
              <a:t>IPv4</a:t>
            </a:r>
            <a:r>
              <a:rPr lang="zh-CN" altLang="en-US" sz="2800"/>
              <a:t>和</a:t>
            </a:r>
            <a:r>
              <a:rPr lang="en-US" altLang="zh-CN" sz="2800"/>
              <a:t>IPv6</a:t>
            </a:r>
            <a:r>
              <a:rPr lang="zh-CN" altLang="en-US" sz="2800"/>
              <a:t>后面的数字是</a:t>
            </a:r>
            <a:r>
              <a:rPr lang="en-US" altLang="zh-CN" sz="2800"/>
              <a:t>Internet</a:t>
            </a:r>
            <a:r>
              <a:rPr lang="zh-CN" altLang="en-US" sz="2800"/>
              <a:t>协议</a:t>
            </a:r>
            <a:r>
              <a:rPr lang="en-US" altLang="zh-CN" sz="2800"/>
              <a:t>(Internet Protocol</a:t>
            </a:r>
            <a:r>
              <a:rPr lang="zh-CN" altLang="en-US" sz="2800"/>
              <a:t>，</a:t>
            </a:r>
            <a:r>
              <a:rPr lang="en-US" altLang="zh-CN" sz="2800"/>
              <a:t>IP)</a:t>
            </a:r>
            <a:r>
              <a:rPr lang="zh-CN" altLang="en-US" sz="2800"/>
              <a:t>的版本号。</a:t>
            </a: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en-US" altLang="zh-CN" sz="3200" b="1">
                <a:solidFill>
                  <a:srgbClr val="C00000"/>
                </a:solidFill>
              </a:rPr>
              <a:t>IPV4</a:t>
            </a:r>
            <a:r>
              <a:rPr lang="zh-CN" altLang="en-US" sz="3200" b="1">
                <a:solidFill>
                  <a:srgbClr val="C00000"/>
                </a:solidFill>
              </a:rPr>
              <a:t>与</a:t>
            </a:r>
            <a:r>
              <a:rPr lang="en-US" altLang="zh-CN" sz="3200" b="1">
                <a:solidFill>
                  <a:srgbClr val="C00000"/>
                </a:solidFill>
              </a:rPr>
              <a:t>IPV6</a:t>
            </a:r>
            <a:r>
              <a:rPr lang="zh-CN" altLang="en-US" sz="3200" b="1">
                <a:solidFill>
                  <a:srgbClr val="C00000"/>
                </a:solidFill>
              </a:rPr>
              <a:t>混合网络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3429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在</a:t>
            </a:r>
            <a:r>
              <a:rPr lang="en-US" altLang="zh-CN" sz="2800"/>
              <a:t>IPv4</a:t>
            </a:r>
            <a:r>
              <a:rPr lang="zh-CN" altLang="en-US" sz="2800"/>
              <a:t>和</a:t>
            </a:r>
            <a:r>
              <a:rPr lang="en-US" altLang="zh-CN" sz="2800"/>
              <a:t>IPv6</a:t>
            </a:r>
            <a:r>
              <a:rPr lang="zh-CN" altLang="en-US" sz="2800"/>
              <a:t>混合的网络中，</a:t>
            </a:r>
            <a:r>
              <a:rPr lang="en-US" altLang="zh-CN" sz="2800"/>
              <a:t>IPv6</a:t>
            </a:r>
            <a:r>
              <a:rPr lang="zh-CN" altLang="en-US" sz="2800"/>
              <a:t>地址的后四个字节可以被写成</a:t>
            </a:r>
            <a:r>
              <a:rPr lang="en-US" altLang="zh-CN" sz="2800"/>
              <a:t>IPv4</a:t>
            </a:r>
            <a:r>
              <a:rPr lang="zh-CN" altLang="en-US" sz="2800"/>
              <a:t>的地址格式。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如</a:t>
            </a:r>
            <a:r>
              <a:rPr lang="en-US" altLang="zh-CN" sz="2400"/>
              <a:t>FEDC:BA98:7654:3210:FEDC:BA98:7654:3210</a:t>
            </a:r>
            <a:r>
              <a:rPr lang="zh-CN" altLang="en-US" sz="2800"/>
              <a:t>可以写成</a:t>
            </a:r>
            <a:r>
              <a:rPr lang="en-US" altLang="zh-CN" sz="2400"/>
              <a:t>FEDC:BA98:7654:3210:FEDC:BA98:118.84.50.16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当访问网络资源的计算机使用的是</a:t>
            </a:r>
            <a:r>
              <a:rPr lang="en-US" altLang="zh-CN" sz="2800"/>
              <a:t>IPv4</a:t>
            </a:r>
            <a:r>
              <a:rPr lang="zh-CN" altLang="en-US" sz="2800"/>
              <a:t>的地址时，系统会自动使用</a:t>
            </a:r>
            <a:r>
              <a:rPr lang="en-US" altLang="zh-CN" sz="2800"/>
              <a:t>IPv6</a:t>
            </a:r>
            <a:r>
              <a:rPr lang="zh-CN" altLang="en-US" sz="2800"/>
              <a:t>的后四个字节作为</a:t>
            </a:r>
            <a:r>
              <a:rPr lang="en-US" altLang="zh-CN" sz="2800"/>
              <a:t>IPv4</a:t>
            </a:r>
            <a:r>
              <a:rPr lang="zh-CN" altLang="en-US" sz="2800"/>
              <a:t>的地址。</a:t>
            </a: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34925"/>
            <a:ext cx="77755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DNS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424863" cy="4876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无论是</a:t>
            </a:r>
            <a:r>
              <a:rPr lang="en-US" altLang="zh-CN" sz="2800"/>
              <a:t>IPv4</a:t>
            </a:r>
            <a:r>
              <a:rPr lang="zh-CN" altLang="en-US" sz="2800"/>
              <a:t>地址，还是</a:t>
            </a:r>
            <a:r>
              <a:rPr lang="en-US" altLang="zh-CN" sz="2800"/>
              <a:t>IPv6</a:t>
            </a:r>
            <a:r>
              <a:rPr lang="zh-CN" altLang="en-US" sz="2800"/>
              <a:t>地址，都是很难记忆的。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为了使这些地址便于记忆，</a:t>
            </a:r>
            <a:r>
              <a:rPr lang="en-US" altLang="zh-CN" sz="2800"/>
              <a:t>Internet</a:t>
            </a:r>
            <a:r>
              <a:rPr lang="zh-CN" altLang="en-US" sz="2800"/>
              <a:t>的设计师们发明了</a:t>
            </a:r>
            <a:r>
              <a:rPr lang="en-US" altLang="zh-CN" sz="2800"/>
              <a:t>DNS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 b="1"/>
              <a:t>DNS</a:t>
            </a:r>
            <a:r>
              <a:rPr lang="zh-CN" altLang="en-US" sz="2400">
                <a:solidFill>
                  <a:srgbClr val="3477FF"/>
                </a:solidFill>
              </a:rPr>
              <a:t>将</a:t>
            </a:r>
            <a:r>
              <a:rPr lang="en-US" altLang="zh-CN" sz="2400">
                <a:solidFill>
                  <a:srgbClr val="3477FF"/>
                </a:solidFill>
              </a:rPr>
              <a:t>IP</a:t>
            </a:r>
            <a:r>
              <a:rPr lang="zh-CN" altLang="en-US" sz="2400">
                <a:solidFill>
                  <a:srgbClr val="3477FF"/>
                </a:solidFill>
              </a:rPr>
              <a:t>地址和域名（一个容易记忆的字符串）联系在一起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当计算机通过域名访问</a:t>
            </a:r>
            <a:r>
              <a:rPr lang="en-US" altLang="zh-CN" sz="2800"/>
              <a:t>Internet</a:t>
            </a:r>
            <a:r>
              <a:rPr lang="zh-CN" altLang="en-US" sz="2800"/>
              <a:t>资源时，系统首先</a:t>
            </a:r>
            <a:r>
              <a:rPr lang="zh-CN" altLang="en-US" sz="2800">
                <a:solidFill>
                  <a:srgbClr val="3477FF"/>
                </a:solidFill>
              </a:rPr>
              <a:t>通过</a:t>
            </a:r>
            <a:r>
              <a:rPr lang="en-US" altLang="zh-CN" sz="2800">
                <a:solidFill>
                  <a:srgbClr val="3477FF"/>
                </a:solidFill>
              </a:rPr>
              <a:t>DNS</a:t>
            </a:r>
            <a:r>
              <a:rPr lang="zh-CN" altLang="en-US" sz="2800">
                <a:solidFill>
                  <a:srgbClr val="3477FF"/>
                </a:solidFill>
              </a:rPr>
              <a:t>得到域名对应的</a:t>
            </a:r>
            <a:r>
              <a:rPr lang="en-US" altLang="zh-CN" sz="2800">
                <a:solidFill>
                  <a:srgbClr val="3477FF"/>
                </a:solidFill>
              </a:rPr>
              <a:t>IP</a:t>
            </a:r>
            <a:r>
              <a:rPr lang="zh-CN" altLang="en-US" sz="2800">
                <a:solidFill>
                  <a:srgbClr val="3477FF"/>
                </a:solidFill>
              </a:rPr>
              <a:t>地址</a:t>
            </a:r>
            <a:r>
              <a:rPr lang="zh-CN" altLang="en-US" sz="2800"/>
              <a:t>，</a:t>
            </a:r>
            <a:r>
              <a:rPr lang="zh-CN" altLang="en-US" sz="2800">
                <a:solidFill>
                  <a:srgbClr val="3477FF"/>
                </a:solidFill>
              </a:rPr>
              <a:t>再通过</a:t>
            </a:r>
            <a:r>
              <a:rPr lang="en-US" altLang="zh-CN" sz="2800">
                <a:solidFill>
                  <a:srgbClr val="3477FF"/>
                </a:solidFill>
              </a:rPr>
              <a:t>IP</a:t>
            </a:r>
            <a:r>
              <a:rPr lang="zh-CN" altLang="en-US" sz="2800">
                <a:solidFill>
                  <a:srgbClr val="3477FF"/>
                </a:solidFill>
              </a:rPr>
              <a:t>地址访问</a:t>
            </a:r>
            <a:r>
              <a:rPr lang="en-US" altLang="zh-CN" sz="2800">
                <a:solidFill>
                  <a:srgbClr val="3477FF"/>
                </a:solidFill>
              </a:rPr>
              <a:t>Internet</a:t>
            </a:r>
            <a:r>
              <a:rPr lang="zh-CN" altLang="en-US" sz="2800">
                <a:solidFill>
                  <a:srgbClr val="3477FF"/>
                </a:solidFill>
              </a:rPr>
              <a:t>资源</a:t>
            </a:r>
            <a:r>
              <a:rPr lang="zh-CN" altLang="en-US" sz="2800"/>
              <a:t>。在这个过程中，</a:t>
            </a:r>
            <a:r>
              <a:rPr lang="en-US" altLang="zh-CN" sz="2800"/>
              <a:t>IP</a:t>
            </a:r>
            <a:r>
              <a:rPr lang="zh-CN" altLang="en-US" sz="2800"/>
              <a:t>地址对用户是完全透明的。如果一个域名对应了多个</a:t>
            </a:r>
            <a:r>
              <a:rPr lang="en-US" altLang="zh-CN" sz="2800"/>
              <a:t>IP</a:t>
            </a:r>
            <a:r>
              <a:rPr lang="zh-CN" altLang="en-US" sz="2800"/>
              <a:t>地址，</a:t>
            </a:r>
            <a:r>
              <a:rPr lang="en-US" altLang="zh-CN" sz="2800"/>
              <a:t>DNS</a:t>
            </a:r>
            <a:r>
              <a:rPr lang="zh-CN" altLang="en-US" sz="2800"/>
              <a:t>从这些</a:t>
            </a:r>
            <a:r>
              <a:rPr lang="en-US" altLang="zh-CN" sz="2800"/>
              <a:t>IP</a:t>
            </a:r>
            <a:r>
              <a:rPr lang="zh-CN" altLang="en-US" sz="2800"/>
              <a:t>地址中随机选。</a:t>
            </a: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228600" y="146050"/>
            <a:ext cx="8540750" cy="838200"/>
          </a:xfrm>
        </p:spPr>
        <p:txBody>
          <a:bodyPr/>
          <a:lstStyle/>
          <a:p>
            <a:r>
              <a:rPr lang="zh-CN" altLang="en-US" sz="3200"/>
              <a:t>域名系统（</a:t>
            </a:r>
            <a:r>
              <a:rPr lang="en-US" altLang="zh-CN" sz="3200"/>
              <a:t>DNS</a:t>
            </a:r>
            <a:r>
              <a:rPr lang="zh-CN" altLang="en-US" sz="3200"/>
              <a:t>）</a:t>
            </a:r>
            <a:endParaRPr lang="zh-CN" altLang="en-US" sz="3200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249238" y="1025525"/>
            <a:ext cx="8540750" cy="4498975"/>
          </a:xfrm>
        </p:spPr>
        <p:txBody>
          <a:bodyPr/>
          <a:lstStyle/>
          <a:p>
            <a:r>
              <a:rPr lang="zh-CN" altLang="en-US" sz="2800"/>
              <a:t>域名系统（</a:t>
            </a:r>
            <a:r>
              <a:rPr lang="en-US" altLang="zh-CN" sz="2800"/>
              <a:t>Domain Name System, DNS</a:t>
            </a:r>
            <a:r>
              <a:rPr lang="zh-CN" altLang="en-US" sz="2800"/>
              <a:t>）</a:t>
            </a:r>
            <a:endParaRPr lang="en-US" altLang="zh-CN" sz="2800"/>
          </a:p>
          <a:p>
            <a:r>
              <a:rPr lang="en-US" altLang="zh-CN" sz="2800"/>
              <a:t>DNS</a:t>
            </a:r>
            <a:r>
              <a:rPr lang="zh-CN" altLang="en-US" sz="2800"/>
              <a:t>将易于记忆的域名与</a:t>
            </a:r>
            <a:r>
              <a:rPr lang="en-US" altLang="zh-CN" sz="2800"/>
              <a:t>IP</a:t>
            </a:r>
            <a:r>
              <a:rPr lang="zh-CN" altLang="en-US" sz="2800"/>
              <a:t>地址联系起来</a:t>
            </a:r>
            <a:endParaRPr lang="en-US" altLang="zh-CN" sz="2800"/>
          </a:p>
          <a:p>
            <a:pPr lvl="1"/>
            <a:r>
              <a:rPr lang="en-US" altLang="zh-CN"/>
              <a:t>210.39.3.164 &lt;-&gt; www.szu.edu.cn</a:t>
            </a:r>
            <a:endParaRPr lang="en-US" altLang="zh-CN"/>
          </a:p>
          <a:p>
            <a:r>
              <a:rPr lang="zh-CN" altLang="en-US" sz="2800"/>
              <a:t>关系</a:t>
            </a:r>
            <a:endParaRPr lang="en-US" altLang="zh-CN" sz="2800"/>
          </a:p>
          <a:p>
            <a:pPr lvl="1"/>
            <a:r>
              <a:rPr lang="zh-CN" altLang="en-US"/>
              <a:t>一台主机可能有多个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1"/>
            <a:r>
              <a:rPr lang="zh-CN" altLang="en-US"/>
              <a:t>一个</a:t>
            </a:r>
            <a:r>
              <a:rPr lang="en-US" altLang="zh-CN"/>
              <a:t>IP</a:t>
            </a:r>
            <a:r>
              <a:rPr lang="zh-CN" altLang="en-US"/>
              <a:t>地址可能被多个域名指向</a:t>
            </a:r>
            <a:endParaRPr lang="en-US" altLang="zh-CN"/>
          </a:p>
          <a:p>
            <a:pPr lvl="1"/>
            <a:r>
              <a:rPr lang="zh-CN" altLang="en-US"/>
              <a:t>一个域名可能指向多个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" y="0"/>
            <a:ext cx="7775575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InetAddress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类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42846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/>
              <a:t>InetAddress</a:t>
            </a:r>
            <a:r>
              <a:rPr lang="zh-CN" altLang="en-US" sz="2800"/>
              <a:t>类是</a:t>
            </a:r>
            <a:r>
              <a:rPr lang="en-US" altLang="zh-CN" sz="2800"/>
              <a:t>Java</a:t>
            </a:r>
            <a:r>
              <a:rPr lang="zh-CN" altLang="en-US" sz="2800"/>
              <a:t>对</a:t>
            </a:r>
            <a:r>
              <a:rPr lang="en-US" altLang="zh-CN" sz="2800"/>
              <a:t>IP</a:t>
            </a:r>
            <a:r>
              <a:rPr lang="zh-CN" altLang="en-US" sz="2800"/>
              <a:t>地址的封装，用于描述</a:t>
            </a:r>
            <a:r>
              <a:rPr lang="en-US" altLang="zh-CN" sz="2800"/>
              <a:t>IP</a:t>
            </a:r>
            <a:r>
              <a:rPr lang="zh-CN" altLang="en-US" sz="2800"/>
              <a:t>地址的类。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它包括一个主机名和一个</a:t>
            </a:r>
            <a:r>
              <a:rPr lang="en-US" altLang="zh-CN" sz="2800"/>
              <a:t>IP</a:t>
            </a:r>
            <a:r>
              <a:rPr lang="zh-CN" altLang="en-US" sz="2800"/>
              <a:t>地址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它在</a:t>
            </a:r>
            <a:r>
              <a:rPr lang="en-US" altLang="zh-CN" sz="2800"/>
              <a:t>java.net</a:t>
            </a:r>
            <a:r>
              <a:rPr lang="zh-CN" altLang="en-US" sz="2800"/>
              <a:t>包中</a:t>
            </a:r>
            <a:r>
              <a:rPr lang="en-US" altLang="zh-CN" sz="2800"/>
              <a:t>(rt.jar)</a:t>
            </a:r>
            <a:r>
              <a:rPr lang="zh-CN" altLang="en-US" sz="2800"/>
              <a:t>，此包中许多类都使用到了</a:t>
            </a:r>
            <a:r>
              <a:rPr lang="en-US" altLang="zh-CN" sz="2800"/>
              <a:t>InetAddress</a:t>
            </a:r>
            <a:r>
              <a:rPr lang="zh-CN" altLang="en-US" sz="2800"/>
              <a:t>，包括</a:t>
            </a:r>
            <a:r>
              <a:rPr lang="en-US" altLang="zh-CN" sz="2800"/>
              <a:t>ServerSocket</a:t>
            </a:r>
            <a:r>
              <a:rPr lang="zh-CN" altLang="en-US" sz="2800"/>
              <a:t>，</a:t>
            </a:r>
            <a:r>
              <a:rPr lang="en-US" altLang="zh-CN" sz="2800"/>
              <a:t>Socket</a:t>
            </a:r>
            <a:r>
              <a:rPr lang="zh-CN" altLang="en-US" sz="2800"/>
              <a:t>，</a:t>
            </a:r>
            <a:r>
              <a:rPr lang="en-US" altLang="zh-CN" sz="2800"/>
              <a:t>DatagramSocket</a:t>
            </a:r>
            <a:r>
              <a:rPr lang="zh-CN" altLang="en-US" sz="2800"/>
              <a:t>等。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在</a:t>
            </a:r>
            <a:r>
              <a:rPr lang="en-US" altLang="zh-CN" sz="2800"/>
              <a:t>Java</a:t>
            </a:r>
            <a:r>
              <a:rPr lang="zh-CN" altLang="en-US" sz="2800"/>
              <a:t>中分别用</a:t>
            </a:r>
            <a:r>
              <a:rPr lang="en-US" altLang="zh-CN" sz="2800"/>
              <a:t>Inet4Address</a:t>
            </a:r>
            <a:r>
              <a:rPr lang="zh-CN" altLang="en-US" sz="2800"/>
              <a:t>和</a:t>
            </a:r>
            <a:r>
              <a:rPr lang="en-US" altLang="zh-CN" sz="2800"/>
              <a:t>Inet6Address</a:t>
            </a:r>
            <a:r>
              <a:rPr lang="zh-CN" altLang="en-US" sz="2800"/>
              <a:t>类来描述</a:t>
            </a:r>
            <a:r>
              <a:rPr lang="en-US" altLang="zh-CN" sz="2800"/>
              <a:t>IPv4</a:t>
            </a:r>
            <a:r>
              <a:rPr lang="zh-CN" altLang="en-US" sz="2800"/>
              <a:t>和</a:t>
            </a:r>
            <a:r>
              <a:rPr lang="en-US" altLang="zh-CN" sz="2800"/>
              <a:t>IPv6</a:t>
            </a:r>
            <a:r>
              <a:rPr lang="zh-CN" altLang="en-US" sz="2800"/>
              <a:t>的地址。这两个类都是</a:t>
            </a:r>
            <a:r>
              <a:rPr lang="en-US" altLang="zh-CN" sz="2400"/>
              <a:t>InetAddress</a:t>
            </a:r>
            <a:r>
              <a:rPr lang="zh-CN" altLang="en-US" sz="2800"/>
              <a:t>的子类。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创建</a:t>
            </a:r>
            <a:r>
              <a:rPr lang="en-US" altLang="zh-CN" sz="3200" b="1">
                <a:solidFill>
                  <a:srgbClr val="C00000"/>
                </a:solidFill>
              </a:rPr>
              <a:t>InetAddress</a:t>
            </a:r>
            <a:r>
              <a:rPr lang="zh-CN" altLang="en-US" sz="3200" b="1">
                <a:solidFill>
                  <a:srgbClr val="C00000"/>
                </a:solidFill>
              </a:rPr>
              <a:t>对象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/>
              <a:t>InetAddress</a:t>
            </a:r>
            <a:r>
              <a:rPr lang="zh-CN" altLang="en-US" sz="2800"/>
              <a:t>没有</a:t>
            </a:r>
            <a:r>
              <a:rPr lang="en-US" altLang="zh-CN" sz="2800"/>
              <a:t>public</a:t>
            </a:r>
            <a:r>
              <a:rPr lang="zh-CN" altLang="en-US" sz="2800"/>
              <a:t>的构造方法，要想创建</a:t>
            </a:r>
            <a:r>
              <a:rPr lang="en-US" altLang="zh-CN" sz="2800"/>
              <a:t>InetAddress</a:t>
            </a:r>
            <a:r>
              <a:rPr lang="zh-CN" altLang="en-US" sz="2800"/>
              <a:t>对象，必须得依靠它的四个静态方法：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InetAddress</a:t>
            </a:r>
            <a:r>
              <a:rPr lang="zh-CN" altLang="en-US" sz="2400"/>
              <a:t>可以通过</a:t>
            </a:r>
            <a:r>
              <a:rPr lang="en-US" altLang="zh-CN" sz="2400"/>
              <a:t>getLocalHost</a:t>
            </a:r>
            <a:r>
              <a:rPr lang="zh-CN" altLang="en-US" sz="2400"/>
              <a:t>方法得到本机的</a:t>
            </a:r>
            <a:r>
              <a:rPr lang="en-US" altLang="zh-CN" sz="2400"/>
              <a:t>InetAddress</a:t>
            </a:r>
            <a:r>
              <a:rPr lang="zh-CN" altLang="en-US" sz="2400"/>
              <a:t>对象。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也可以通过</a:t>
            </a:r>
            <a:r>
              <a:rPr lang="en-US" altLang="zh-CN" sz="2400"/>
              <a:t>getByName</a:t>
            </a:r>
            <a:r>
              <a:rPr lang="zh-CN" altLang="en-US" sz="2400"/>
              <a:t>、</a:t>
            </a:r>
            <a:r>
              <a:rPr lang="en-US" altLang="zh-CN" sz="2400"/>
              <a:t>getAllByName</a:t>
            </a:r>
            <a:r>
              <a:rPr lang="zh-CN" altLang="en-US" sz="2400"/>
              <a:t>和</a:t>
            </a:r>
            <a:r>
              <a:rPr lang="en-US" altLang="zh-CN" sz="2400"/>
              <a:t>getByAddress</a:t>
            </a:r>
            <a:r>
              <a:rPr lang="zh-CN" altLang="en-US" sz="2400"/>
              <a:t>得到远程主机的</a:t>
            </a:r>
            <a:r>
              <a:rPr lang="en-US" altLang="zh-CN" sz="2400"/>
              <a:t>InetAddress</a:t>
            </a:r>
            <a:r>
              <a:rPr lang="zh-CN" altLang="en-US" sz="2400"/>
              <a:t>对象。</a:t>
            </a:r>
            <a:endParaRPr lang="en-US" altLang="zh-CN" sz="2400"/>
          </a:p>
          <a:p>
            <a:r>
              <a:rPr lang="zh-CN" altLang="en-US" sz="2800"/>
              <a:t>创建方法：</a:t>
            </a:r>
            <a:endParaRPr lang="en-US" altLang="zh-CN" sz="280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sz="2400"/>
              <a:t>Static InetAddress getByName(String s)</a:t>
            </a:r>
            <a:endParaRPr lang="en-US" altLang="zh-CN" sz="240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sz="2400"/>
              <a:t>Static InetAddress[] getAllByName(String s)</a:t>
            </a:r>
            <a:endParaRPr lang="en-US" altLang="zh-CN" sz="240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sz="2400"/>
              <a:t>Static InetAddress getLocalHost()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getLocalHost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使用</a:t>
            </a:r>
            <a:r>
              <a:rPr lang="en-US" altLang="zh-CN" sz="2800"/>
              <a:t>getLocalHost</a:t>
            </a:r>
            <a:r>
              <a:rPr lang="zh-CN" altLang="en-US" sz="2800"/>
              <a:t>可以得到描述本机</a:t>
            </a:r>
            <a:r>
              <a:rPr lang="en-US" altLang="zh-CN" sz="2800"/>
              <a:t>IP</a:t>
            </a:r>
            <a:r>
              <a:rPr lang="zh-CN" altLang="en-US" sz="2800"/>
              <a:t>的</a:t>
            </a:r>
            <a:r>
              <a:rPr lang="en-US" altLang="zh-CN" sz="2800"/>
              <a:t>InetAddress</a:t>
            </a:r>
            <a:r>
              <a:rPr lang="zh-CN" altLang="en-US" sz="2800"/>
              <a:t>对象。这个方法的定义：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800"/>
              <a:t>public static InetAddress getLocalHost() throws UnknownHostException</a:t>
            </a:r>
            <a:endParaRPr lang="en-US" altLang="zh-CN" sz="1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在调用这个方法的程序中捕捉或抛出</a:t>
            </a:r>
            <a:r>
              <a:rPr lang="en-US" altLang="zh-CN" sz="2000"/>
              <a:t>UnknownHostException</a:t>
            </a:r>
            <a:r>
              <a:rPr lang="zh-CN" altLang="en-US" sz="2400"/>
              <a:t>这个异常。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下面的代码演示了如何使用</a:t>
            </a:r>
            <a:r>
              <a:rPr lang="en-US" altLang="zh-CN" sz="2400"/>
              <a:t>getLocalHost</a:t>
            </a:r>
            <a:r>
              <a:rPr lang="zh-CN" altLang="en-US" sz="2400"/>
              <a:t>来得到本机的</a:t>
            </a:r>
            <a:r>
              <a:rPr lang="en-US" altLang="zh-CN" sz="2400"/>
              <a:t>IP</a:t>
            </a:r>
            <a:r>
              <a:rPr lang="zh-CN" altLang="en-US" sz="2400"/>
              <a:t>和计算机名。</a:t>
            </a:r>
            <a:endParaRPr lang="en-US" altLang="zh-CN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getLocalHost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当本机绑定了多个</a:t>
            </a:r>
            <a:r>
              <a:rPr lang="en-US" altLang="zh-CN" sz="2400"/>
              <a:t>IP</a:t>
            </a:r>
            <a:r>
              <a:rPr lang="zh-CN" altLang="en-US" sz="2400"/>
              <a:t>时，</a:t>
            </a:r>
            <a:r>
              <a:rPr lang="en-US" altLang="zh-CN" sz="2400"/>
              <a:t>getLocalHost</a:t>
            </a:r>
            <a:r>
              <a:rPr lang="zh-CN" altLang="en-US" sz="2400"/>
              <a:t>只返回第一个</a:t>
            </a:r>
            <a:r>
              <a:rPr lang="en-US" altLang="zh-CN" sz="2400"/>
              <a:t>IP</a:t>
            </a:r>
            <a:r>
              <a:rPr lang="zh-CN" altLang="en-US" sz="2400"/>
              <a:t>。如果想返回本机全部的</a:t>
            </a:r>
            <a:r>
              <a:rPr lang="en-US" altLang="zh-CN" sz="2400"/>
              <a:t>IP</a:t>
            </a:r>
            <a:r>
              <a:rPr lang="zh-CN" altLang="en-US" sz="2400"/>
              <a:t>，可以使用</a:t>
            </a:r>
            <a:r>
              <a:rPr lang="en-US" altLang="zh-CN" sz="2400"/>
              <a:t>getAllByName</a:t>
            </a:r>
            <a:r>
              <a:rPr lang="zh-CN" altLang="en-US" sz="2400"/>
              <a:t>方法。</a:t>
            </a:r>
            <a:endParaRPr lang="zh-CN" altLang="en-US" sz="2400"/>
          </a:p>
        </p:txBody>
      </p:sp>
      <p:sp>
        <p:nvSpPr>
          <p:cNvPr id="15364" name="矩形 3"/>
          <p:cNvSpPr>
            <a:spLocks noChangeArrowheads="1"/>
          </p:cNvSpPr>
          <p:nvPr/>
        </p:nvSpPr>
        <p:spPr bwMode="auto">
          <a:xfrm>
            <a:off x="304800" y="1073150"/>
            <a:ext cx="8305800" cy="18161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MyInetAddress1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throws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Exception{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InetAddress localAddress = InetAddress.getLocalHost();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	System.out.println(localAddress);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048000"/>
            <a:ext cx="45720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366" name="直接连接符 3"/>
          <p:cNvCxnSpPr>
            <a:cxnSpLocks noChangeShapeType="1"/>
          </p:cNvCxnSpPr>
          <p:nvPr/>
        </p:nvCxnSpPr>
        <p:spPr bwMode="auto">
          <a:xfrm>
            <a:off x="5105400" y="1828800"/>
            <a:ext cx="1905000" cy="0"/>
          </a:xfrm>
          <a:prstGeom prst="line">
            <a:avLst/>
          </a:prstGeom>
          <a:noFill/>
          <a:ln w="31750" algn="ctr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可以通过该方法指定域名从</a:t>
            </a:r>
            <a:r>
              <a:rPr lang="en-US" altLang="zh-CN" sz="2400"/>
              <a:t>DNS</a:t>
            </a:r>
            <a:r>
              <a:rPr lang="zh-CN" altLang="en-US" sz="2400"/>
              <a:t>中查得与域名相对应的</a:t>
            </a:r>
            <a:r>
              <a:rPr lang="en-US" altLang="zh-CN" sz="2400"/>
              <a:t>IP</a:t>
            </a:r>
            <a:r>
              <a:rPr lang="zh-CN" altLang="en-US" sz="2400"/>
              <a:t>地址。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getByName</a:t>
            </a:r>
            <a:r>
              <a:rPr lang="zh-CN" altLang="en-US" sz="2400"/>
              <a:t>一个</a:t>
            </a:r>
            <a:r>
              <a:rPr lang="en-US" altLang="zh-CN" sz="2400"/>
              <a:t>String</a:t>
            </a:r>
            <a:r>
              <a:rPr lang="zh-CN" altLang="en-US" sz="2400"/>
              <a:t>类型参数，可以通过这个参数指定远程主机的域名，它的定义如下：</a:t>
            </a: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如果</a:t>
            </a:r>
            <a:r>
              <a:rPr lang="en-US" altLang="zh-CN" sz="2000"/>
              <a:t>host</a:t>
            </a:r>
            <a:r>
              <a:rPr lang="zh-CN" altLang="en-US" sz="2000"/>
              <a:t>所指的域名对应多个</a:t>
            </a:r>
            <a:r>
              <a:rPr lang="en-US" altLang="zh-CN" sz="2000"/>
              <a:t>IP</a:t>
            </a:r>
            <a:r>
              <a:rPr lang="zh-CN" altLang="en-US" sz="2000"/>
              <a:t>，</a:t>
            </a:r>
            <a:r>
              <a:rPr lang="en-US" altLang="zh-CN" sz="2000"/>
              <a:t>getByName</a:t>
            </a:r>
            <a:r>
              <a:rPr lang="zh-CN" altLang="en-US" sz="2000"/>
              <a:t>返回第一个</a:t>
            </a:r>
            <a:r>
              <a:rPr lang="en-US" altLang="zh-CN" sz="2000"/>
              <a:t>IP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如果本机名已知，可以使用</a:t>
            </a:r>
            <a:r>
              <a:rPr lang="en-US" altLang="zh-CN" sz="2000"/>
              <a:t>getByName</a:t>
            </a:r>
            <a:r>
              <a:rPr lang="zh-CN" altLang="en-US" sz="2000"/>
              <a:t>方法来代替</a:t>
            </a:r>
            <a:r>
              <a:rPr lang="en-US" altLang="zh-CN" sz="2000"/>
              <a:t>getLocalHost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当</a:t>
            </a:r>
            <a:r>
              <a:rPr lang="en-US" altLang="zh-CN" sz="2000"/>
              <a:t>host</a:t>
            </a:r>
            <a:r>
              <a:rPr lang="zh-CN" altLang="en-US" sz="2000"/>
              <a:t>的值是</a:t>
            </a:r>
            <a:r>
              <a:rPr lang="en-US" altLang="zh-CN" sz="2000"/>
              <a:t>localhost</a:t>
            </a:r>
            <a:r>
              <a:rPr lang="zh-CN" altLang="en-US" sz="2000"/>
              <a:t>时，返回的</a:t>
            </a:r>
            <a:r>
              <a:rPr lang="en-US" altLang="zh-CN" sz="2000"/>
              <a:t>IP</a:t>
            </a:r>
            <a:r>
              <a:rPr lang="zh-CN" altLang="en-US" sz="2000"/>
              <a:t>一般是</a:t>
            </a:r>
            <a:r>
              <a:rPr lang="en-US" altLang="zh-CN" sz="2000"/>
              <a:t>127.0.0.1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如果</a:t>
            </a:r>
            <a:r>
              <a:rPr lang="en-US" altLang="zh-CN" sz="2000"/>
              <a:t>host</a:t>
            </a:r>
            <a:r>
              <a:rPr lang="zh-CN" altLang="en-US" sz="2000"/>
              <a:t>是不存在的域名，</a:t>
            </a:r>
            <a:r>
              <a:rPr lang="en-US" altLang="zh-CN" sz="2000"/>
              <a:t>getByName</a:t>
            </a:r>
            <a:r>
              <a:rPr lang="zh-CN" altLang="en-US" sz="2000"/>
              <a:t>将抛出</a:t>
            </a:r>
            <a:r>
              <a:rPr lang="en-US" altLang="zh-CN" sz="2000"/>
              <a:t>UnknownHostException</a:t>
            </a:r>
            <a:r>
              <a:rPr lang="zh-CN" altLang="en-US" sz="2000"/>
              <a:t>异常，如果</a:t>
            </a:r>
            <a:r>
              <a:rPr lang="en-US" altLang="zh-CN" sz="2000"/>
              <a:t>host</a:t>
            </a:r>
            <a:r>
              <a:rPr lang="zh-CN" altLang="en-US" sz="2000"/>
              <a:t>是</a:t>
            </a:r>
            <a:r>
              <a:rPr lang="en-US" altLang="zh-CN" sz="2000"/>
              <a:t>IP</a:t>
            </a:r>
            <a:r>
              <a:rPr lang="zh-CN" altLang="en-US" sz="2000"/>
              <a:t>地址，无论这个</a:t>
            </a:r>
            <a:r>
              <a:rPr lang="en-US" altLang="zh-CN" sz="2000"/>
              <a:t>IP</a:t>
            </a:r>
            <a:r>
              <a:rPr lang="zh-CN" altLang="en-US" sz="2000"/>
              <a:t>地址是否存在，</a:t>
            </a:r>
            <a:r>
              <a:rPr lang="en-US" altLang="zh-CN" sz="2000"/>
              <a:t>getByName</a:t>
            </a:r>
            <a:r>
              <a:rPr lang="zh-CN" altLang="en-US" sz="2000"/>
              <a:t>方法都会返回这个</a:t>
            </a:r>
            <a:r>
              <a:rPr lang="en-US" altLang="zh-CN" sz="2000"/>
              <a:t>IP</a:t>
            </a:r>
            <a:r>
              <a:rPr lang="zh-CN" altLang="en-US" sz="2000"/>
              <a:t>地址（因此</a:t>
            </a:r>
            <a:r>
              <a:rPr lang="en-US" altLang="zh-CN" sz="2000"/>
              <a:t>getByName</a:t>
            </a:r>
            <a:r>
              <a:rPr lang="zh-CN" altLang="en-US" sz="2000"/>
              <a:t>并不验证</a:t>
            </a:r>
            <a:r>
              <a:rPr lang="en-US" altLang="zh-CN" sz="2000"/>
              <a:t>IP</a:t>
            </a:r>
            <a:r>
              <a:rPr lang="zh-CN" altLang="en-US" sz="2000"/>
              <a:t>地址的正确性）。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下面代码演示了如何使用</a:t>
            </a:r>
            <a:r>
              <a:rPr lang="en-US" altLang="zh-CN" sz="2000"/>
              <a:t>getByName</a:t>
            </a:r>
            <a:r>
              <a:rPr lang="zh-CN" altLang="en-US" sz="2000"/>
              <a:t>方法：</a:t>
            </a:r>
            <a:endParaRPr lang="zh-CN" altLang="en-US" sz="2000"/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22225" y="2590800"/>
            <a:ext cx="8839200" cy="3381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static InetAddress getByName(String host) throws UnknownHostException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389" name="TextBox 1"/>
          <p:cNvSpPr txBox="1">
            <a:spLocks noChangeArrowheads="1"/>
          </p:cNvSpPr>
          <p:nvPr/>
        </p:nvSpPr>
        <p:spPr bwMode="auto">
          <a:xfrm>
            <a:off x="304800" y="5791200"/>
            <a:ext cx="7696200" cy="6461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</a:rPr>
              <a:t>该方法会与本地</a:t>
            </a:r>
            <a:r>
              <a:rPr lang="en-US" altLang="zh-CN" sz="1800">
                <a:solidFill>
                  <a:srgbClr val="FF0000"/>
                </a:solidFill>
              </a:rPr>
              <a:t>DNS</a:t>
            </a:r>
            <a:r>
              <a:rPr lang="zh-CN" altLang="en-US" sz="1800">
                <a:solidFill>
                  <a:srgbClr val="FF0000"/>
                </a:solidFill>
              </a:rPr>
              <a:t>服务器建立一个连接</a:t>
            </a:r>
            <a:r>
              <a:rPr lang="en-US" altLang="zh-CN" sz="1800">
                <a:solidFill>
                  <a:srgbClr val="FF0000"/>
                </a:solidFill>
              </a:rPr>
              <a:t>,</a:t>
            </a:r>
            <a:r>
              <a:rPr lang="zh-CN" altLang="en-US" sz="1800">
                <a:solidFill>
                  <a:srgbClr val="FF0000"/>
                </a:solidFill>
              </a:rPr>
              <a:t>根据提供的名字查找到对应的</a:t>
            </a:r>
            <a:r>
              <a:rPr lang="en-US" altLang="zh-CN" sz="1800">
                <a:solidFill>
                  <a:srgbClr val="FF0000"/>
                </a:solidFill>
              </a:rPr>
              <a:t>IP. </a:t>
            </a:r>
            <a:r>
              <a:rPr lang="zh-CN" altLang="en-US" sz="1800">
                <a:solidFill>
                  <a:srgbClr val="FF0000"/>
                </a:solidFill>
              </a:rPr>
              <a:t>首先会在本机缓存中查找，如果能找到，就不会建立网络连接</a:t>
            </a:r>
            <a:endParaRPr lang="zh-CN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1</a:t>
            </a:r>
            <a:r>
              <a:rPr lang="zh-CN" altLang="en-US" sz="2400"/>
              <a:t>：远程主机</a:t>
            </a:r>
            <a:r>
              <a:rPr lang="en-US" altLang="zh-CN" sz="2400"/>
              <a:t>www.szu.edu.cn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执行如下命令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 MyInetAddress2 www.szu.edu.cn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zh-CN" altLang="en-US" sz="2400"/>
          </a:p>
        </p:txBody>
      </p:sp>
      <p:sp>
        <p:nvSpPr>
          <p:cNvPr id="17412" name="矩形 3"/>
          <p:cNvSpPr>
            <a:spLocks noChangeArrowheads="1"/>
          </p:cNvSpPr>
          <p:nvPr/>
        </p:nvSpPr>
        <p:spPr bwMode="auto">
          <a:xfrm>
            <a:off x="228600" y="1143000"/>
            <a:ext cx="8305800" cy="2800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MyInetAddress2 {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main(String[] args)</a:t>
            </a: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throws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Exception {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 if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(args.length == 0)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String host = args[0];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InetAddress address = InetAddress.getByName(host);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     System.out.println(address);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943600"/>
            <a:ext cx="38862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2</a:t>
            </a:r>
            <a:r>
              <a:rPr lang="zh-CN" altLang="en-US" sz="2400"/>
              <a:t>：本机名</a:t>
            </a:r>
            <a:r>
              <a:rPr lang="en-US" altLang="zh-CN" sz="2400"/>
              <a:t>mfq-THINK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执行如下命令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MyInetAddress2 mfq-THINK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zh-CN" altLang="en-US" sz="240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57475"/>
            <a:ext cx="50641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3</a:t>
            </a:r>
            <a:r>
              <a:rPr lang="zh-CN" altLang="en-US" sz="2400"/>
              <a:t>：代表本机的</a:t>
            </a:r>
            <a:r>
              <a:rPr lang="en-US" altLang="zh-CN" sz="2400"/>
              <a:t>localhost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执行如下命令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MyInetAddress2 localhost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zh-CN" altLang="en-US" sz="2400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43200"/>
            <a:ext cx="39624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对于本机来说，除了可以使用本机名或</a:t>
            </a:r>
            <a:r>
              <a:rPr lang="en-US" altLang="zh-CN" sz="2400"/>
              <a:t>localhost</a:t>
            </a:r>
            <a:r>
              <a:rPr lang="zh-CN" altLang="en-US" sz="2400"/>
              <a:t>外，还可以在</a:t>
            </a:r>
            <a:r>
              <a:rPr lang="en-US" altLang="zh-CN" sz="2400"/>
              <a:t>hosts</a:t>
            </a:r>
            <a:r>
              <a:rPr lang="zh-CN" altLang="en-US" sz="2400"/>
              <a:t>文件中对本机做“</a:t>
            </a:r>
            <a:r>
              <a:rPr lang="en-US" altLang="zh-CN" sz="2400"/>
              <a:t>IP/</a:t>
            </a:r>
            <a:r>
              <a:rPr lang="zh-CN" altLang="en-US" sz="2400"/>
              <a:t>域名”映射（在</a:t>
            </a:r>
            <a:r>
              <a:rPr lang="en-US" altLang="zh-CN" sz="2400"/>
              <a:t>Windows</a:t>
            </a:r>
            <a:r>
              <a:rPr lang="zh-CN" altLang="en-US" sz="2400"/>
              <a:t>操作系统下）。这个文件在</a:t>
            </a:r>
            <a:r>
              <a:rPr lang="en-US" altLang="zh-CN" sz="2000"/>
              <a:t>C:\Windows\System32\drivers\etc</a:t>
            </a:r>
            <a:r>
              <a:rPr lang="zh-CN" altLang="en-US" sz="2400"/>
              <a:t>中。打开</a:t>
            </a:r>
            <a:r>
              <a:rPr lang="en-US" altLang="zh-CN" sz="2400"/>
              <a:t>hosts</a:t>
            </a:r>
            <a:r>
              <a:rPr lang="zh-CN" altLang="en-US" sz="2400"/>
              <a:t>，在最后加一行如下所示的字符串：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192.168.18.100   www.mysite.com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4</a:t>
            </a:r>
            <a:r>
              <a:rPr lang="zh-CN" altLang="en-US" sz="2400"/>
              <a:t>：本机域名</a:t>
            </a:r>
            <a:r>
              <a:rPr lang="en-US" altLang="zh-CN" sz="2400"/>
              <a:t>www.mysite.com 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执行如下命令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MyInetAddress2 www.mysite.com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4597400"/>
            <a:ext cx="36734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创建新的</a:t>
            </a:r>
            <a:r>
              <a:rPr lang="en-US" altLang="zh-CN" sz="3200" b="1">
                <a:solidFill>
                  <a:srgbClr val="C00000"/>
                </a:solidFill>
              </a:rPr>
              <a:t>InetAddress</a:t>
            </a:r>
            <a:r>
              <a:rPr lang="zh-CN" altLang="en-US" sz="3200" b="1">
                <a:solidFill>
                  <a:srgbClr val="C00000"/>
                </a:solidFill>
              </a:rPr>
              <a:t>对象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显示</a:t>
            </a:r>
            <a:r>
              <a:rPr lang="en-US" altLang="zh-CN" sz="2400">
                <a:hlinkClick r:id="rId1"/>
              </a:rPr>
              <a:t>www.oreilly.com</a:t>
            </a:r>
            <a:r>
              <a:rPr lang="zh-CN" altLang="en-US" sz="2400"/>
              <a:t>地址：为该域名对应的主机创建一个</a:t>
            </a:r>
            <a:r>
              <a:rPr lang="en-US" altLang="zh-CN" sz="2400"/>
              <a:t>InetAddress</a:t>
            </a:r>
            <a:r>
              <a:rPr lang="zh-CN" altLang="en-US" sz="2400"/>
              <a:t>对象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400"/>
          </a:p>
        </p:txBody>
      </p:sp>
      <p:pic>
        <p:nvPicPr>
          <p:cNvPr id="21508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3600"/>
            <a:ext cx="7391400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540375"/>
            <a:ext cx="55626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>
                <a:solidFill>
                  <a:srgbClr val="C00000"/>
                </a:solidFill>
                <a:cs typeface="+mn-cs"/>
              </a:rPr>
              <a:t>getAllByName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3810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使用</a:t>
            </a:r>
            <a:r>
              <a:rPr lang="en-US" altLang="zh-CN" sz="2800"/>
              <a:t>getAllByName</a:t>
            </a:r>
            <a:r>
              <a:rPr lang="zh-CN" altLang="en-US" sz="2800"/>
              <a:t>方法可以从</a:t>
            </a:r>
            <a:r>
              <a:rPr lang="en-US" altLang="zh-CN" sz="2800"/>
              <a:t>DNS</a:t>
            </a:r>
            <a:r>
              <a:rPr lang="zh-CN" altLang="en-US" sz="2800"/>
              <a:t>上得到域名对应的所有的</a:t>
            </a:r>
            <a:r>
              <a:rPr lang="en-US" altLang="zh-CN" sz="2800"/>
              <a:t>IP</a:t>
            </a:r>
            <a:r>
              <a:rPr lang="zh-CN" altLang="en-US" sz="2800"/>
              <a:t>。这个方法返回一个</a:t>
            </a:r>
            <a:r>
              <a:rPr lang="en-US" altLang="zh-CN" sz="2800"/>
              <a:t>InetAddress</a:t>
            </a:r>
            <a:r>
              <a:rPr lang="zh-CN" altLang="en-US" sz="2800"/>
              <a:t>类型的数组。这个方法的定义如下：</a:t>
            </a:r>
            <a:endParaRPr lang="en-US" altLang="zh-CN" sz="28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与</a:t>
            </a:r>
            <a:r>
              <a:rPr lang="en-US" altLang="zh-CN" sz="2400"/>
              <a:t>getByName</a:t>
            </a:r>
            <a:r>
              <a:rPr lang="zh-CN" altLang="en-US" sz="2400"/>
              <a:t>方法一样，当</a:t>
            </a:r>
            <a:r>
              <a:rPr lang="en-US" altLang="zh-CN" sz="2400"/>
              <a:t>host</a:t>
            </a:r>
            <a:r>
              <a:rPr lang="zh-CN" altLang="en-US" sz="2400"/>
              <a:t>不存在时，</a:t>
            </a:r>
            <a:r>
              <a:rPr lang="en-US" altLang="zh-CN" sz="2400"/>
              <a:t>getAllByName</a:t>
            </a:r>
            <a:r>
              <a:rPr lang="zh-CN" altLang="en-US" sz="2400"/>
              <a:t>也会抛出</a:t>
            </a:r>
            <a:r>
              <a:rPr lang="en-US" altLang="zh-CN" sz="2400"/>
              <a:t>UnknowHostException</a:t>
            </a:r>
            <a:r>
              <a:rPr lang="zh-CN" altLang="en-US" sz="2400"/>
              <a:t>异常，</a:t>
            </a:r>
            <a:r>
              <a:rPr lang="en-US" altLang="zh-CN" sz="2400"/>
              <a:t>getAllByName</a:t>
            </a:r>
            <a:r>
              <a:rPr lang="zh-CN" altLang="en-US" sz="2400"/>
              <a:t>也不会验证</a:t>
            </a:r>
            <a:r>
              <a:rPr lang="en-US" altLang="zh-CN" sz="2400"/>
              <a:t>IP</a:t>
            </a:r>
            <a:r>
              <a:rPr lang="zh-CN" altLang="en-US" sz="2400"/>
              <a:t>地址是否存在。</a:t>
            </a:r>
            <a:endParaRPr lang="en-US" altLang="zh-CN" sz="240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862263"/>
            <a:ext cx="9220200" cy="3381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static InetAddress[] getAllByName(String host) throws UnknownHostException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getAllByName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</a:t>
            </a:r>
            <a:r>
              <a:rPr lang="en-US" altLang="zh-CN" sz="2400"/>
              <a:t>getAllByName</a:t>
            </a:r>
            <a:r>
              <a:rPr lang="zh-CN" altLang="en-US" sz="2400"/>
              <a:t>的用法：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测试：远程主机</a:t>
            </a:r>
            <a:r>
              <a:rPr lang="en-US" altLang="zh-CN" sz="2400"/>
              <a:t>www.126.com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474663" y="1828800"/>
            <a:ext cx="8305800" cy="2800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MyInetAddress3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throws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Exception{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if (args.length == 0)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    return;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String host = args[0];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InetAddress addresses[] = InetAddress.getAllByName(host);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for (InetAddress address : addresses)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    System.out.println(address);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410200"/>
            <a:ext cx="4479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这个方法必须通过</a:t>
            </a:r>
            <a:r>
              <a:rPr lang="en-US" altLang="zh-CN" sz="2800"/>
              <a:t>IP</a:t>
            </a:r>
            <a:r>
              <a:rPr lang="zh-CN" altLang="en-US" sz="2800"/>
              <a:t>地址来创建</a:t>
            </a:r>
            <a:r>
              <a:rPr lang="en-US" altLang="zh-CN" sz="2800"/>
              <a:t>InetAddress</a:t>
            </a:r>
            <a:r>
              <a:rPr lang="zh-CN" altLang="en-US" sz="2800"/>
              <a:t>对象，而且</a:t>
            </a:r>
            <a:r>
              <a:rPr lang="en-US" altLang="zh-CN" sz="2800"/>
              <a:t>IP</a:t>
            </a:r>
            <a:r>
              <a:rPr lang="zh-CN" altLang="en-US" sz="2800"/>
              <a:t>地址必须是</a:t>
            </a:r>
            <a:r>
              <a:rPr lang="en-US" altLang="zh-CN" sz="2800"/>
              <a:t>byte</a:t>
            </a:r>
            <a:r>
              <a:rPr lang="zh-CN" altLang="en-US" sz="2800"/>
              <a:t>数组形式。</a:t>
            </a:r>
            <a:r>
              <a:rPr lang="en-US" altLang="zh-CN" sz="2800"/>
              <a:t>getByAddress</a:t>
            </a:r>
            <a:r>
              <a:rPr lang="zh-CN" altLang="en-US" sz="2800"/>
              <a:t>方法有两个重载形式，定义如下：</a:t>
            </a:r>
            <a:endParaRPr lang="en-US" altLang="zh-CN" sz="28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第一个重载形式只需要传递</a:t>
            </a:r>
            <a:r>
              <a:rPr lang="en-US" altLang="zh-CN" sz="2000"/>
              <a:t>byte</a:t>
            </a:r>
            <a:r>
              <a:rPr lang="zh-CN" altLang="en-US" sz="2000"/>
              <a:t>数组形式的</a:t>
            </a:r>
            <a:r>
              <a:rPr lang="en-US" altLang="zh-CN" sz="2000"/>
              <a:t>IP</a:t>
            </a:r>
            <a:r>
              <a:rPr lang="zh-CN" altLang="en-US" sz="2000"/>
              <a:t>地址，</a:t>
            </a:r>
            <a:r>
              <a:rPr lang="en-US" altLang="zh-CN" sz="2000"/>
              <a:t>getByAddress</a:t>
            </a:r>
            <a:r>
              <a:rPr lang="zh-CN" altLang="en-US" sz="2000"/>
              <a:t>方法并不验证这个</a:t>
            </a:r>
            <a:r>
              <a:rPr lang="en-US" altLang="zh-CN" sz="2000"/>
              <a:t>IP</a:t>
            </a:r>
            <a:r>
              <a:rPr lang="zh-CN" altLang="en-US" sz="2000"/>
              <a:t>地址是否存在，只是简单地创建一个</a:t>
            </a:r>
            <a:r>
              <a:rPr lang="en-US" altLang="zh-CN" sz="2000"/>
              <a:t>InetAddress</a:t>
            </a:r>
            <a:r>
              <a:rPr lang="zh-CN" altLang="en-US" sz="2000"/>
              <a:t>对象。</a:t>
            </a:r>
            <a:r>
              <a:rPr lang="en-US" altLang="zh-CN" sz="2000"/>
              <a:t>addr</a:t>
            </a:r>
            <a:r>
              <a:rPr lang="zh-CN" altLang="en-US" sz="2000"/>
              <a:t>数组的长度必须是</a:t>
            </a:r>
            <a:r>
              <a:rPr lang="en-US" altLang="zh-CN" sz="2000"/>
              <a:t>4</a:t>
            </a:r>
            <a:r>
              <a:rPr lang="zh-CN" altLang="en-US" sz="2000"/>
              <a:t>（</a:t>
            </a:r>
            <a:r>
              <a:rPr lang="en-US" altLang="zh-CN" sz="2000"/>
              <a:t>IPv4</a:t>
            </a:r>
            <a:r>
              <a:rPr lang="zh-CN" altLang="en-US" sz="2000"/>
              <a:t>）或</a:t>
            </a:r>
            <a:r>
              <a:rPr lang="en-US" altLang="zh-CN" sz="2000"/>
              <a:t>16</a:t>
            </a:r>
            <a:r>
              <a:rPr lang="zh-CN" altLang="en-US" sz="2000"/>
              <a:t>（</a:t>
            </a:r>
            <a:r>
              <a:rPr lang="en-US" altLang="zh-CN" sz="2000"/>
              <a:t>IPv6</a:t>
            </a:r>
            <a:r>
              <a:rPr lang="zh-CN" altLang="en-US" sz="2000"/>
              <a:t>），如果是其他长度的</a:t>
            </a:r>
            <a:r>
              <a:rPr lang="en-US" altLang="zh-CN" sz="2000"/>
              <a:t>byte</a:t>
            </a:r>
            <a:r>
              <a:rPr lang="zh-CN" altLang="en-US" sz="2000"/>
              <a:t>数组，</a:t>
            </a:r>
            <a:r>
              <a:rPr lang="en-US" altLang="zh-CN" sz="2000"/>
              <a:t>getByAddress</a:t>
            </a:r>
            <a:r>
              <a:rPr lang="zh-CN" altLang="en-US" sz="2000"/>
              <a:t>将抛出一个</a:t>
            </a:r>
            <a:r>
              <a:rPr lang="en-US" altLang="zh-CN" sz="2000"/>
              <a:t>UnknownHostException</a:t>
            </a:r>
            <a:r>
              <a:rPr lang="zh-CN" altLang="en-US" sz="2000"/>
              <a:t>异常。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第二个重载形式多了一个</a:t>
            </a:r>
            <a:r>
              <a:rPr lang="en-US" altLang="zh-CN" sz="2000"/>
              <a:t>host</a:t>
            </a:r>
            <a:r>
              <a:rPr lang="zh-CN" altLang="en-US" sz="2000"/>
              <a:t>，这个</a:t>
            </a:r>
            <a:r>
              <a:rPr lang="en-US" altLang="zh-CN" sz="2000"/>
              <a:t>host</a:t>
            </a:r>
            <a:r>
              <a:rPr lang="zh-CN" altLang="en-US" sz="2000"/>
              <a:t>和</a:t>
            </a:r>
            <a:r>
              <a:rPr lang="en-US" altLang="zh-CN" sz="2000"/>
              <a:t>getByName</a:t>
            </a:r>
            <a:r>
              <a:rPr lang="zh-CN" altLang="en-US" sz="2000"/>
              <a:t>、</a:t>
            </a:r>
            <a:r>
              <a:rPr lang="en-US" altLang="zh-CN" sz="2000"/>
              <a:t>getAllByName</a:t>
            </a:r>
            <a:r>
              <a:rPr lang="zh-CN" altLang="en-US" sz="2000"/>
              <a:t>方法中的</a:t>
            </a:r>
            <a:r>
              <a:rPr lang="en-US" altLang="zh-CN" sz="2000"/>
              <a:t>host</a:t>
            </a:r>
            <a:r>
              <a:rPr lang="zh-CN" altLang="en-US" sz="2000"/>
              <a:t>的意义不同，</a:t>
            </a:r>
            <a:r>
              <a:rPr lang="en-US" altLang="zh-CN" sz="2000"/>
              <a:t>getByAddress</a:t>
            </a:r>
            <a:r>
              <a:rPr lang="zh-CN" altLang="en-US" sz="2000"/>
              <a:t>方法并不使用</a:t>
            </a:r>
            <a:r>
              <a:rPr lang="en-US" altLang="zh-CN" sz="2000"/>
              <a:t>host</a:t>
            </a:r>
            <a:r>
              <a:rPr lang="zh-CN" altLang="en-US" sz="2000"/>
              <a:t>在</a:t>
            </a:r>
            <a:r>
              <a:rPr lang="en-US" altLang="zh-CN" sz="2000"/>
              <a:t>DNS</a:t>
            </a:r>
            <a:r>
              <a:rPr lang="zh-CN" altLang="en-US" sz="2000"/>
              <a:t>上查找</a:t>
            </a:r>
            <a:r>
              <a:rPr lang="en-US" altLang="zh-CN" sz="2000"/>
              <a:t>IP</a:t>
            </a:r>
            <a:r>
              <a:rPr lang="zh-CN" altLang="en-US" sz="2000"/>
              <a:t>地址，这个</a:t>
            </a:r>
            <a:r>
              <a:rPr lang="en-US" altLang="zh-CN" sz="2000">
                <a:solidFill>
                  <a:srgbClr val="FF0000"/>
                </a:solidFill>
              </a:rPr>
              <a:t>host</a:t>
            </a:r>
            <a:r>
              <a:rPr lang="zh-CN" altLang="en-US" sz="2000">
                <a:solidFill>
                  <a:srgbClr val="FF0000"/>
                </a:solidFill>
              </a:rPr>
              <a:t>只是一个用于表示</a:t>
            </a:r>
            <a:r>
              <a:rPr lang="en-US" altLang="zh-CN" sz="2000">
                <a:solidFill>
                  <a:srgbClr val="FF0000"/>
                </a:solidFill>
              </a:rPr>
              <a:t>addr</a:t>
            </a:r>
            <a:r>
              <a:rPr lang="zh-CN" altLang="en-US" sz="2000">
                <a:solidFill>
                  <a:srgbClr val="FF0000"/>
                </a:solidFill>
              </a:rPr>
              <a:t>的别名</a:t>
            </a:r>
            <a:r>
              <a:rPr lang="zh-CN" altLang="en-US" sz="2000"/>
              <a:t>。</a:t>
            </a:r>
            <a:endParaRPr lang="en-US" altLang="zh-CN" sz="200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663825"/>
            <a:ext cx="9220200" cy="3381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static InetAddress getByAddress(byte[] addr) throws UnknownHostException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  <p:sp>
        <p:nvSpPr>
          <p:cNvPr id="24581" name="矩形 6"/>
          <p:cNvSpPr>
            <a:spLocks noChangeArrowheads="1"/>
          </p:cNvSpPr>
          <p:nvPr/>
        </p:nvSpPr>
        <p:spPr bwMode="auto">
          <a:xfrm>
            <a:off x="0" y="3167063"/>
            <a:ext cx="9220200" cy="584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static InetAddress getByAddress(String host, byte[] addr) throws UnknownHostException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getByAddress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方法使用例子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</a:t>
            </a:r>
            <a:r>
              <a:rPr lang="en-US" altLang="zh-CN" sz="2400"/>
              <a:t>getByAddress</a:t>
            </a:r>
            <a:r>
              <a:rPr lang="zh-CN" altLang="en-US" sz="2400"/>
              <a:t>的两个重载形式的用法：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465138" y="1752600"/>
            <a:ext cx="8305800" cy="28003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MyInetAddress4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7F0055"/>
                </a:solidFill>
                <a:latin typeface="Consolas" panose="020B0609020204030204" pitchFamily="49" charset="0"/>
              </a:rPr>
              <a:t>throws 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Exception{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byte ip[] = new byte[] { (byte) 141, (byte) 146, 8 , 66};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InetAddress address1 = 	InetAddress.getByAddress(ip);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InetAddress address2 = 	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InetAddress.getByAddress("Oracle</a:t>
            </a:r>
            <a:r>
              <a:rPr lang="zh-CN" altLang="en-US" sz="1600">
                <a:solidFill>
                  <a:srgbClr val="000000"/>
                </a:solidFill>
                <a:latin typeface="Consolas" panose="020B0609020204030204" pitchFamily="49" charset="0"/>
              </a:rPr>
              <a:t>官方网站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", ip);         	System.out.println(address1);</a:t>
            </a:r>
            <a:endParaRPr lang="en-US" altLang="zh-CN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</a:rPr>
              <a:t>	System.out.println(address2);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3" y="4732338"/>
            <a:ext cx="44958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程序安全性问题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424863" cy="495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FF0000"/>
                </a:solidFill>
              </a:rPr>
              <a:t>根据主机名创建一个</a:t>
            </a:r>
            <a:r>
              <a:rPr lang="en-US" altLang="zh-CN" sz="2800">
                <a:solidFill>
                  <a:srgbClr val="FF0000"/>
                </a:solidFill>
              </a:rPr>
              <a:t>InetAddress</a:t>
            </a:r>
            <a:r>
              <a:rPr lang="zh-CN" altLang="en-US" sz="2800">
                <a:solidFill>
                  <a:srgbClr val="FF0000"/>
                </a:solidFill>
              </a:rPr>
              <a:t>对象不安全</a:t>
            </a:r>
            <a:r>
              <a:rPr lang="zh-CN" altLang="en-US" sz="2800"/>
              <a:t>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solidFill>
                  <a:srgbClr val="3477FF"/>
                </a:solidFill>
              </a:rPr>
              <a:t>InetAddress.getByName()/getAllByName()/getLocalHost()</a:t>
            </a:r>
            <a:r>
              <a:rPr lang="zh-CN" altLang="en-US" sz="2800">
                <a:solidFill>
                  <a:srgbClr val="3477FF"/>
                </a:solidFill>
              </a:rPr>
              <a:t>都存在此安全隐患</a:t>
            </a:r>
            <a:endParaRPr lang="en-US" altLang="zh-CN" sz="2800">
              <a:solidFill>
                <a:srgbClr val="3477FF"/>
              </a:solidFill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因为这些创建方法需要一个</a:t>
            </a:r>
            <a:r>
              <a:rPr lang="en-US" altLang="zh-CN" sz="2800"/>
              <a:t>DNS</a:t>
            </a:r>
            <a:r>
              <a:rPr lang="zh-CN" altLang="en-US" sz="2800"/>
              <a:t>查找</a:t>
            </a:r>
            <a:r>
              <a:rPr lang="en-US" altLang="zh-CN" sz="2800"/>
              <a:t>,</a:t>
            </a:r>
            <a:r>
              <a:rPr lang="zh-CN" altLang="en-US" sz="2800"/>
              <a:t>任意的</a:t>
            </a:r>
            <a:r>
              <a:rPr lang="en-US" altLang="zh-CN" sz="2800"/>
              <a:t>DNS</a:t>
            </a:r>
            <a:r>
              <a:rPr lang="zh-CN" altLang="en-US" sz="2800"/>
              <a:t>查找会打开一个隐藏的通道，造成信息泄露。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800"/>
              <a:t>在程序中常需先测试一个主机是否支持</a:t>
            </a:r>
            <a:r>
              <a:rPr lang="en-US" altLang="zh-CN" sz="2800"/>
              <a:t>DNS</a:t>
            </a:r>
            <a:r>
              <a:rPr lang="zh-CN" altLang="en-US" sz="2800"/>
              <a:t>解析，使用</a:t>
            </a:r>
            <a:r>
              <a:rPr lang="en-US" altLang="zh-CN" sz="2800"/>
              <a:t>SecurityManager</a:t>
            </a:r>
            <a:r>
              <a:rPr lang="zh-CN" altLang="en-US" sz="2800"/>
              <a:t>的方法：</a:t>
            </a:r>
            <a:endParaRPr lang="en-US" altLang="zh-CN" sz="28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 public void checkConnect(String hostname, int port)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port</a:t>
            </a:r>
            <a:r>
              <a:rPr lang="zh-CN" altLang="en-US" sz="2400"/>
              <a:t>参数为</a:t>
            </a:r>
            <a:r>
              <a:rPr lang="en-US" altLang="zh-CN" sz="2400"/>
              <a:t>-1</a:t>
            </a:r>
            <a:r>
              <a:rPr lang="zh-CN" altLang="en-US" sz="2400"/>
              <a:t>，该方法能检查能否调用</a:t>
            </a:r>
            <a:r>
              <a:rPr lang="en-US" altLang="zh-CN" sz="2400"/>
              <a:t>DNS</a:t>
            </a:r>
            <a:r>
              <a:rPr lang="zh-CN" altLang="en-US" sz="2400"/>
              <a:t>解析指定的</a:t>
            </a:r>
            <a:r>
              <a:rPr lang="en-US" altLang="zh-CN" sz="2400"/>
              <a:t>hostname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为什么不直接通过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访问网站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已知：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浏览器中输入： </a:t>
            </a:r>
            <a:r>
              <a:rPr lang="en-US" altLang="zh-CN" sz="2400"/>
              <a:t>http://www.szu.edu.cn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输入：</a:t>
            </a:r>
            <a:r>
              <a:rPr lang="en-US" altLang="zh-CN" sz="2400"/>
              <a:t>http://210.39.3.164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19200"/>
            <a:ext cx="38862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562927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588" y="2525713"/>
            <a:ext cx="56769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为什么不直接通过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访问网站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已知：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浏览器中输入： </a:t>
            </a:r>
            <a:r>
              <a:rPr lang="en-US" altLang="zh-CN" sz="2400"/>
              <a:t>http://www.126.com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输入：</a:t>
            </a:r>
            <a:r>
              <a:rPr lang="en-US" altLang="zh-CN" sz="2400"/>
              <a:t>http://125.90.204.122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82663"/>
            <a:ext cx="4479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2590800"/>
            <a:ext cx="63150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590800"/>
            <a:ext cx="51054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为什么不直接通过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访问网站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当在浏览器地址栏中再输入</a:t>
            </a:r>
            <a:r>
              <a:rPr lang="en-US" altLang="zh-CN" sz="2400"/>
              <a:t>http://www.126.com</a:t>
            </a:r>
            <a:r>
              <a:rPr lang="zh-CN" altLang="en-US" sz="2400"/>
              <a:t>可以访问，但输入</a:t>
            </a:r>
            <a:r>
              <a:rPr lang="en-US" altLang="zh-CN" sz="2400"/>
              <a:t>IP  http://125.90.204.122</a:t>
            </a:r>
            <a:r>
              <a:rPr lang="zh-CN" altLang="en-US" sz="2400"/>
              <a:t>却不可以，这并不是客户端的问题，而是</a:t>
            </a:r>
            <a:r>
              <a:rPr lang="zh-CN" altLang="en-US" sz="2400">
                <a:solidFill>
                  <a:srgbClr val="3477FF"/>
                </a:solidFill>
              </a:rPr>
              <a:t>服务端对此做了限制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在</a:t>
            </a:r>
            <a:r>
              <a:rPr lang="en-US" altLang="zh-CN" sz="2400"/>
              <a:t>HTTP</a:t>
            </a:r>
            <a:r>
              <a:rPr lang="zh-CN" altLang="en-US" sz="2400"/>
              <a:t>协议的请求头有一个</a:t>
            </a:r>
            <a:r>
              <a:rPr lang="en-US" altLang="zh-CN" sz="2400"/>
              <a:t>Host</a:t>
            </a:r>
            <a:r>
              <a:rPr lang="zh-CN" altLang="en-US" sz="2400"/>
              <a:t>字段，一般通过</a:t>
            </a:r>
            <a:r>
              <a:rPr lang="en-US" altLang="zh-CN" sz="2400"/>
              <a:t>http://www.126.com</a:t>
            </a:r>
            <a:r>
              <a:rPr lang="zh-CN" altLang="en-US" sz="2400"/>
              <a:t>访问服务器时，</a:t>
            </a:r>
            <a:r>
              <a:rPr lang="en-US" altLang="zh-CN" sz="2400"/>
              <a:t>Host</a:t>
            </a:r>
            <a:r>
              <a:rPr lang="zh-CN" altLang="en-US" sz="2400"/>
              <a:t>的值就是</a:t>
            </a:r>
            <a:r>
              <a:rPr lang="en-US" altLang="zh-CN" sz="2400"/>
              <a:t>www.126.com </a:t>
            </a:r>
            <a:r>
              <a:rPr lang="zh-CN" altLang="en-US" sz="2400"/>
              <a:t>。如果是</a:t>
            </a:r>
            <a:r>
              <a:rPr lang="en-US" altLang="zh-CN" sz="2400"/>
              <a:t>http://125.90.204.122 </a:t>
            </a:r>
            <a:r>
              <a:rPr lang="zh-CN" altLang="en-US" sz="2400"/>
              <a:t>，那么</a:t>
            </a:r>
            <a:r>
              <a:rPr lang="en-US" altLang="zh-CN" sz="2400"/>
              <a:t>Host</a:t>
            </a:r>
            <a:r>
              <a:rPr lang="zh-CN" altLang="en-US" sz="2400"/>
              <a:t>的值就是</a:t>
            </a:r>
            <a:r>
              <a:rPr lang="en-US" altLang="zh-CN" sz="2400"/>
              <a:t>125.90.204.122 </a:t>
            </a:r>
            <a:r>
              <a:rPr lang="zh-CN" altLang="en-US" sz="2400"/>
              <a:t>。</a:t>
            </a:r>
            <a:r>
              <a:rPr lang="en-US" altLang="zh-CN" sz="2400"/>
              <a:t>www.126.com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3477FF"/>
                </a:solidFill>
              </a:rPr>
              <a:t>服务器通过检测</a:t>
            </a:r>
            <a:r>
              <a:rPr lang="en-US" altLang="zh-CN" sz="2400">
                <a:solidFill>
                  <a:srgbClr val="3477FF"/>
                </a:solidFill>
              </a:rPr>
              <a:t>Host</a:t>
            </a:r>
            <a:r>
              <a:rPr lang="zh-CN" altLang="en-US" sz="2400">
                <a:solidFill>
                  <a:srgbClr val="3477FF"/>
                </a:solidFill>
              </a:rPr>
              <a:t>字段防止客户端直接使用</a:t>
            </a:r>
            <a:r>
              <a:rPr lang="en-US" altLang="zh-CN" sz="2400">
                <a:solidFill>
                  <a:srgbClr val="3477FF"/>
                </a:solidFill>
              </a:rPr>
              <a:t>IP</a:t>
            </a:r>
            <a:r>
              <a:rPr lang="zh-CN" altLang="en-US" sz="2400">
                <a:solidFill>
                  <a:srgbClr val="3477FF"/>
                </a:solidFill>
              </a:rPr>
              <a:t>进行访问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目前有很多网站，如</a:t>
            </a:r>
            <a:r>
              <a:rPr lang="en-US" altLang="zh-CN" sz="2400"/>
              <a:t>www.sina.com.cn</a:t>
            </a:r>
            <a:r>
              <a:rPr lang="zh-CN" altLang="en-US" sz="2400"/>
              <a:t>，</a:t>
            </a:r>
            <a:r>
              <a:rPr lang="en-US" altLang="zh-CN" sz="2400"/>
              <a:t>www.163.com</a:t>
            </a:r>
            <a:r>
              <a:rPr lang="zh-CN" altLang="en-US" sz="2400"/>
              <a:t>都是这样做的。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有一些网站虽然未限制用</a:t>
            </a:r>
            <a:r>
              <a:rPr lang="en-US" altLang="zh-CN" sz="2400"/>
              <a:t>IP</a:t>
            </a:r>
            <a:r>
              <a:rPr lang="zh-CN" altLang="en-US" sz="2400"/>
              <a:t>地址来访问，但在</a:t>
            </a:r>
            <a:r>
              <a:rPr lang="zh-CN" altLang="en-US" sz="2400">
                <a:solidFill>
                  <a:srgbClr val="3477FF"/>
                </a:solidFill>
              </a:rPr>
              <a:t>使用</a:t>
            </a:r>
            <a:r>
              <a:rPr lang="en-US" altLang="zh-CN" sz="2400">
                <a:solidFill>
                  <a:srgbClr val="3477FF"/>
                </a:solidFill>
              </a:rPr>
              <a:t>IP</a:t>
            </a:r>
            <a:r>
              <a:rPr lang="zh-CN" altLang="en-US" sz="2400">
                <a:solidFill>
                  <a:srgbClr val="3477FF"/>
                </a:solidFill>
              </a:rPr>
              <a:t>地址访问网站时</a:t>
            </a:r>
            <a:r>
              <a:rPr lang="zh-CN" altLang="en-US" sz="2400"/>
              <a:t>，却</a:t>
            </a:r>
            <a:r>
              <a:rPr lang="zh-CN" altLang="en-US" sz="2400">
                <a:solidFill>
                  <a:srgbClr val="3477FF"/>
                </a:solidFill>
              </a:rPr>
              <a:t>将</a:t>
            </a:r>
            <a:r>
              <a:rPr lang="en-US" altLang="zh-CN" sz="2400">
                <a:solidFill>
                  <a:srgbClr val="3477FF"/>
                </a:solidFill>
              </a:rPr>
              <a:t>IP</a:t>
            </a:r>
            <a:r>
              <a:rPr lang="zh-CN" altLang="en-US" sz="2400">
                <a:solidFill>
                  <a:srgbClr val="3477FF"/>
                </a:solidFill>
              </a:rPr>
              <a:t>地址又重定位到相应的域名上</a:t>
            </a:r>
            <a:r>
              <a:rPr lang="zh-CN" altLang="en-US" sz="2400"/>
              <a:t>。如输入</a:t>
            </a:r>
            <a:r>
              <a:rPr lang="en-US" altLang="zh-CN" sz="2400"/>
              <a:t>http://210.39.3.164</a:t>
            </a:r>
            <a:r>
              <a:rPr lang="zh-CN" altLang="en-US" sz="2400"/>
              <a:t>会重定位到</a:t>
            </a:r>
            <a:r>
              <a:rPr lang="en-US" altLang="zh-CN" sz="2400"/>
              <a:t>http://www.szu.edu.cn/szu.asp </a:t>
            </a:r>
            <a:r>
              <a:rPr lang="zh-CN" altLang="en-US" sz="2400"/>
              <a:t>上。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en-US" altLang="zh-CN" sz="3200" b="1">
                <a:solidFill>
                  <a:srgbClr val="C00000"/>
                </a:solidFill>
              </a:rPr>
              <a:t>DNS</a:t>
            </a:r>
            <a:r>
              <a:rPr lang="zh-CN" altLang="en-US" sz="3200" b="1">
                <a:solidFill>
                  <a:srgbClr val="C00000"/>
                </a:solidFill>
              </a:rPr>
              <a:t>缓存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在</a:t>
            </a:r>
            <a:r>
              <a:rPr lang="en-US" altLang="zh-CN" sz="2400"/>
              <a:t>DNS</a:t>
            </a:r>
            <a:r>
              <a:rPr lang="zh-CN" altLang="en-US" sz="2400"/>
              <a:t>服务器上查找域名操作非常昂贵：因在通过</a:t>
            </a:r>
            <a:r>
              <a:rPr lang="en-US" altLang="zh-CN" sz="2400"/>
              <a:t>DNS</a:t>
            </a:r>
            <a:r>
              <a:rPr lang="zh-CN" altLang="en-US" sz="2400"/>
              <a:t>查找域名的过程中，可能会经过多台中间</a:t>
            </a:r>
            <a:r>
              <a:rPr lang="en-US" altLang="zh-CN" sz="2400"/>
              <a:t>DNS</a:t>
            </a:r>
            <a:r>
              <a:rPr lang="zh-CN" altLang="en-US" sz="2400"/>
              <a:t>服务器才能找到指定的域名。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</a:t>
            </a:r>
            <a:r>
              <a:rPr lang="zh-CN" altLang="en-US" sz="2400"/>
              <a:t>提供</a:t>
            </a:r>
            <a:r>
              <a:rPr lang="en-US" altLang="zh-CN" sz="2400"/>
              <a:t>DNS</a:t>
            </a:r>
            <a:r>
              <a:rPr lang="zh-CN" altLang="en-US" sz="2400"/>
              <a:t>缓存解决此问题。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当</a:t>
            </a:r>
            <a:r>
              <a:rPr lang="en-US" altLang="zh-CN" sz="2400"/>
              <a:t>InetAddress</a:t>
            </a:r>
            <a:r>
              <a:rPr lang="zh-CN" altLang="en-US" sz="2400"/>
              <a:t>类</a:t>
            </a:r>
            <a:r>
              <a:rPr lang="zh-CN" altLang="en-US" sz="2400">
                <a:solidFill>
                  <a:srgbClr val="3477FF"/>
                </a:solidFill>
              </a:rPr>
              <a:t>第一次使用某个域名</a:t>
            </a:r>
            <a:r>
              <a:rPr lang="zh-CN" altLang="en-US" sz="2400"/>
              <a:t>（如</a:t>
            </a:r>
            <a:r>
              <a:rPr lang="en-US" altLang="zh-CN" sz="2400"/>
              <a:t>www.szu.edu.cn</a:t>
            </a:r>
            <a:r>
              <a:rPr lang="zh-CN" altLang="en-US" sz="2400"/>
              <a:t>）创建</a:t>
            </a:r>
            <a:r>
              <a:rPr lang="en-US" altLang="zh-CN" sz="2400"/>
              <a:t>InetAddress</a:t>
            </a:r>
            <a:r>
              <a:rPr lang="zh-CN" altLang="en-US" sz="2400"/>
              <a:t>对象后，</a:t>
            </a:r>
            <a:r>
              <a:rPr lang="en-US" altLang="zh-CN" sz="2400"/>
              <a:t>JVM</a:t>
            </a:r>
            <a:r>
              <a:rPr lang="zh-CN" altLang="en-US" sz="2400"/>
              <a:t>就会将这个</a:t>
            </a:r>
            <a:r>
              <a:rPr lang="zh-CN" altLang="en-US" sz="2400">
                <a:solidFill>
                  <a:srgbClr val="3477FF"/>
                </a:solidFill>
              </a:rPr>
              <a:t>域名和</a:t>
            </a:r>
            <a:r>
              <a:rPr lang="zh-CN" altLang="en-US" sz="2400"/>
              <a:t>它</a:t>
            </a:r>
            <a:r>
              <a:rPr lang="zh-CN" altLang="en-US" sz="2400">
                <a:solidFill>
                  <a:srgbClr val="3477FF"/>
                </a:solidFill>
              </a:rPr>
              <a:t>从</a:t>
            </a:r>
            <a:r>
              <a:rPr lang="en-US" altLang="zh-CN" sz="2400">
                <a:solidFill>
                  <a:srgbClr val="3477FF"/>
                </a:solidFill>
              </a:rPr>
              <a:t>DNS</a:t>
            </a:r>
            <a:r>
              <a:rPr lang="zh-CN" altLang="en-US" sz="2400">
                <a:solidFill>
                  <a:srgbClr val="3477FF"/>
                </a:solidFill>
              </a:rPr>
              <a:t>上获得的信息（如</a:t>
            </a:r>
            <a:r>
              <a:rPr lang="en-US" altLang="zh-CN" sz="2400">
                <a:solidFill>
                  <a:srgbClr val="3477FF"/>
                </a:solidFill>
              </a:rPr>
              <a:t>IP</a:t>
            </a:r>
            <a:r>
              <a:rPr lang="zh-CN" altLang="en-US" sz="2400">
                <a:solidFill>
                  <a:srgbClr val="3477FF"/>
                </a:solidFill>
              </a:rPr>
              <a:t>地址）都保存在</a:t>
            </a:r>
            <a:r>
              <a:rPr lang="en-US" altLang="zh-CN" sz="2400">
                <a:solidFill>
                  <a:srgbClr val="3477FF"/>
                </a:solidFill>
              </a:rPr>
              <a:t>DNS</a:t>
            </a:r>
            <a:r>
              <a:rPr lang="zh-CN" altLang="en-US" sz="2400">
                <a:solidFill>
                  <a:srgbClr val="3477FF"/>
                </a:solidFill>
              </a:rPr>
              <a:t>缓存中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3477FF"/>
                </a:solidFill>
              </a:rPr>
              <a:t>当下一次</a:t>
            </a:r>
            <a:r>
              <a:rPr lang="en-US" altLang="zh-CN" sz="2400">
                <a:solidFill>
                  <a:srgbClr val="3477FF"/>
                </a:solidFill>
              </a:rPr>
              <a:t>InetAddress</a:t>
            </a:r>
            <a:r>
              <a:rPr lang="zh-CN" altLang="en-US" sz="2400">
                <a:solidFill>
                  <a:srgbClr val="3477FF"/>
                </a:solidFill>
              </a:rPr>
              <a:t>类再使用这个域名时，就直接从</a:t>
            </a:r>
            <a:r>
              <a:rPr lang="en-US" altLang="zh-CN" sz="2400">
                <a:solidFill>
                  <a:srgbClr val="3477FF"/>
                </a:solidFill>
              </a:rPr>
              <a:t>DNS</a:t>
            </a:r>
            <a:r>
              <a:rPr lang="zh-CN" altLang="en-US" sz="2400">
                <a:solidFill>
                  <a:srgbClr val="3477FF"/>
                </a:solidFill>
              </a:rPr>
              <a:t>缓存里获得所需的信息</a:t>
            </a:r>
            <a:r>
              <a:rPr lang="zh-CN" altLang="en-US" sz="2400"/>
              <a:t>，而无需再访问</a:t>
            </a:r>
            <a:r>
              <a:rPr lang="en-US" altLang="zh-CN" sz="2400"/>
              <a:t>DNS</a:t>
            </a:r>
            <a:r>
              <a:rPr lang="zh-CN" altLang="en-US" sz="2400"/>
              <a:t>服务器。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DNS</a:t>
            </a:r>
            <a:r>
              <a:rPr lang="zh-CN" altLang="en-US" sz="2400"/>
              <a:t>缓存在</a:t>
            </a:r>
            <a:r>
              <a:rPr lang="zh-CN" altLang="en-US" sz="2400">
                <a:solidFill>
                  <a:srgbClr val="3477FF"/>
                </a:solidFill>
              </a:rPr>
              <a:t>默认时将永远保留曾经访问过的域名信息</a:t>
            </a:r>
            <a:r>
              <a:rPr lang="zh-CN" altLang="en-US" sz="2400"/>
              <a:t>，但我们可以修改这个默认值。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685800"/>
          </a:xfrm>
        </p:spPr>
        <p:txBody>
          <a:bodyPr/>
          <a:lstStyle/>
          <a:p>
            <a:r>
              <a:rPr lang="en-US" altLang="zh-CN" sz="3200"/>
              <a:t>DNS</a:t>
            </a:r>
            <a:r>
              <a:rPr lang="zh-CN" altLang="en-US" sz="3200"/>
              <a:t>缓存</a:t>
            </a:r>
            <a:endParaRPr lang="zh-CN" altLang="en-US" sz="320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304800" y="1066800"/>
            <a:ext cx="8540750" cy="4498975"/>
          </a:xfrm>
        </p:spPr>
        <p:txBody>
          <a:bodyPr/>
          <a:lstStyle/>
          <a:p>
            <a:r>
              <a:rPr lang="en-US" altLang="zh-CN" sz="2800"/>
              <a:t>DNS</a:t>
            </a:r>
            <a:r>
              <a:rPr lang="zh-CN" altLang="en-US" sz="2800"/>
              <a:t>查询的开销较大（可能几秒）</a:t>
            </a:r>
            <a:endParaRPr lang="en-US" altLang="zh-CN" sz="2800"/>
          </a:p>
          <a:p>
            <a:r>
              <a:rPr lang="en-US" altLang="zh-CN" sz="2800">
                <a:solidFill>
                  <a:srgbClr val="3477FF"/>
                </a:solidFill>
              </a:rPr>
              <a:t>InetAddress</a:t>
            </a:r>
            <a:r>
              <a:rPr lang="zh-CN" altLang="en-US" sz="2800">
                <a:solidFill>
                  <a:srgbClr val="3477FF"/>
                </a:solidFill>
              </a:rPr>
              <a:t>会缓存查找的结果</a:t>
            </a:r>
            <a:endParaRPr lang="en-US" altLang="zh-CN" sz="2800">
              <a:solidFill>
                <a:srgbClr val="3477FF"/>
              </a:solidFill>
            </a:endParaRPr>
          </a:p>
          <a:p>
            <a:r>
              <a:rPr lang="zh-CN" altLang="en-US" sz="2400"/>
              <a:t>默认只缓存</a:t>
            </a:r>
            <a:r>
              <a:rPr lang="en-US" altLang="zh-CN" sz="2400">
                <a:solidFill>
                  <a:srgbClr val="3477FF"/>
                </a:solidFill>
              </a:rPr>
              <a:t>10</a:t>
            </a:r>
            <a:r>
              <a:rPr lang="zh-CN" altLang="en-US" sz="2400">
                <a:solidFill>
                  <a:srgbClr val="3477FF"/>
                </a:solidFill>
              </a:rPr>
              <a:t>秒</a:t>
            </a:r>
            <a:endParaRPr lang="en-US" altLang="zh-CN" sz="2400">
              <a:solidFill>
                <a:srgbClr val="3477FF"/>
              </a:solidFill>
            </a:endParaRPr>
          </a:p>
          <a:p>
            <a:r>
              <a:rPr lang="zh-CN" altLang="en-US" sz="2800"/>
              <a:t>本机、本地</a:t>
            </a:r>
            <a:r>
              <a:rPr lang="en-US" altLang="zh-CN" sz="2800"/>
              <a:t>DNS</a:t>
            </a:r>
            <a:r>
              <a:rPr lang="zh-CN" altLang="en-US" sz="2800"/>
              <a:t>、其他</a:t>
            </a:r>
            <a:r>
              <a:rPr lang="en-US" altLang="zh-CN" sz="2800"/>
              <a:t>DNS</a:t>
            </a:r>
            <a:r>
              <a:rPr lang="zh-CN" altLang="en-US" sz="2800"/>
              <a:t>也会缓存查询，</a:t>
            </a:r>
            <a:r>
              <a:rPr lang="en-US" altLang="zh-CN" sz="2800"/>
              <a:t>Java</a:t>
            </a:r>
            <a:r>
              <a:rPr lang="zh-CN" altLang="en-US" sz="2800"/>
              <a:t>无法控制这些缓存</a:t>
            </a:r>
            <a:endParaRPr lang="en-US" altLang="zh-CN" sz="2800"/>
          </a:p>
          <a:p>
            <a:r>
              <a:rPr lang="zh-CN" altLang="en-US" sz="2800">
                <a:solidFill>
                  <a:srgbClr val="FF0000"/>
                </a:solidFill>
              </a:rPr>
              <a:t>修改域名指向可能需要几个小时才能生效</a:t>
            </a:r>
            <a:endParaRPr lang="en-US" altLang="zh-CN" sz="2800">
              <a:solidFill>
                <a:srgbClr val="FF0000"/>
              </a:solidFill>
            </a:endParaRPr>
          </a:p>
          <a:p>
            <a:r>
              <a:rPr lang="zh-CN" altLang="en-US" sz="2800"/>
              <a:t>按</a:t>
            </a:r>
            <a:r>
              <a:rPr lang="en-US" altLang="zh-CN" sz="2800"/>
              <a:t>IP</a:t>
            </a:r>
            <a:r>
              <a:rPr lang="zh-CN" altLang="en-US" sz="2800"/>
              <a:t>地址查找</a:t>
            </a:r>
            <a:r>
              <a:rPr lang="en-US" altLang="zh-CN" sz="2800"/>
              <a:t>getByName("x.x.x.x")</a:t>
            </a:r>
            <a:r>
              <a:rPr lang="zh-CN" altLang="en-US" sz="2800"/>
              <a:t>，不检查</a:t>
            </a:r>
            <a:r>
              <a:rPr lang="en-US" altLang="zh-CN" sz="2800"/>
              <a:t>DNS</a:t>
            </a:r>
            <a:r>
              <a:rPr lang="zh-CN" altLang="en-US" sz="2800"/>
              <a:t>，直接创建对象</a:t>
            </a:r>
            <a:endParaRPr lang="en-US" altLang="zh-CN" sz="2800"/>
          </a:p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en-US" altLang="zh-CN" sz="3200" b="1">
                <a:solidFill>
                  <a:srgbClr val="C00000"/>
                </a:solidFill>
              </a:rPr>
              <a:t>DNS</a:t>
            </a:r>
            <a:r>
              <a:rPr lang="zh-CN" altLang="en-US" sz="3200" b="1">
                <a:solidFill>
                  <a:srgbClr val="C00000"/>
                </a:solidFill>
              </a:rPr>
              <a:t>查找结果在</a:t>
            </a:r>
            <a:r>
              <a:rPr lang="en-US" altLang="zh-CN" sz="3200" b="1">
                <a:solidFill>
                  <a:srgbClr val="C00000"/>
                </a:solidFill>
              </a:rPr>
              <a:t>java</a:t>
            </a:r>
            <a:r>
              <a:rPr lang="zh-CN" altLang="en-US" sz="3200" b="1">
                <a:solidFill>
                  <a:srgbClr val="C00000"/>
                </a:solidFill>
              </a:rPr>
              <a:t>缓存中的保留时间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3886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200"/>
              <a:t>通过</a:t>
            </a:r>
            <a:r>
              <a:rPr lang="en-US" altLang="zh-CN" sz="2200"/>
              <a:t>java.security.Security.setProperty</a:t>
            </a:r>
            <a:r>
              <a:rPr lang="zh-CN" altLang="en-US" sz="2200"/>
              <a:t>方法设置系统属性</a:t>
            </a:r>
            <a:r>
              <a:rPr lang="en-US" altLang="zh-CN" sz="2200"/>
              <a:t>networkaddress.cache.ttl</a:t>
            </a:r>
            <a:r>
              <a:rPr lang="zh-CN" altLang="en-US" sz="2200"/>
              <a:t>的值（单位：秒）。如下面的代码将指定成功的</a:t>
            </a:r>
            <a:r>
              <a:rPr lang="en-US" altLang="zh-CN" sz="2200"/>
              <a:t>DNS</a:t>
            </a:r>
            <a:r>
              <a:rPr lang="zh-CN" altLang="en-US" sz="2200"/>
              <a:t>查找结果在</a:t>
            </a:r>
            <a:r>
              <a:rPr lang="en-US" altLang="zh-CN" sz="2200"/>
              <a:t>Java</a:t>
            </a:r>
            <a:r>
              <a:rPr lang="zh-CN" altLang="en-US" sz="2200"/>
              <a:t>缓存中保留的时间为</a:t>
            </a:r>
            <a:r>
              <a:rPr lang="en-US" altLang="zh-CN" sz="2200"/>
              <a:t>10</a:t>
            </a:r>
            <a:r>
              <a:rPr lang="zh-CN" altLang="en-US" sz="2200"/>
              <a:t>秒</a:t>
            </a:r>
            <a:r>
              <a:rPr lang="zh-CN" altLang="en-US" sz="2000"/>
              <a:t>：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200"/>
              <a:t>设置系统属性</a:t>
            </a:r>
            <a:r>
              <a:rPr lang="en-US" altLang="zh-CN" sz="2200"/>
              <a:t>networkaddress.cache.negative.ttl</a:t>
            </a:r>
            <a:r>
              <a:rPr lang="zh-CN" altLang="en-US" sz="2200"/>
              <a:t>的值，指定不成功的</a:t>
            </a:r>
            <a:r>
              <a:rPr lang="en-US" altLang="zh-CN" sz="2200"/>
              <a:t>DNS</a:t>
            </a:r>
            <a:r>
              <a:rPr lang="zh-CN" altLang="en-US" sz="2200"/>
              <a:t>查找结果在</a:t>
            </a:r>
            <a:r>
              <a:rPr lang="en-US" altLang="zh-CN" sz="2200"/>
              <a:t>Java</a:t>
            </a:r>
            <a:r>
              <a:rPr lang="zh-CN" altLang="en-US" sz="2200"/>
              <a:t>缓存中保留的时间（秒数）。</a:t>
            </a:r>
            <a:endParaRPr lang="en-US" altLang="zh-CN" sz="22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如果将</a:t>
            </a:r>
            <a:r>
              <a:rPr lang="en-US" altLang="zh-CN" sz="2400">
                <a:solidFill>
                  <a:srgbClr val="3477FF"/>
                </a:solidFill>
              </a:rPr>
              <a:t>networkaddress.cache.ttl</a:t>
            </a:r>
            <a:r>
              <a:rPr lang="zh-CN" altLang="en-US" sz="2400">
                <a:solidFill>
                  <a:srgbClr val="3477FF"/>
                </a:solidFill>
              </a:rPr>
              <a:t>属性值设为</a:t>
            </a:r>
            <a:r>
              <a:rPr lang="en-US" altLang="zh-CN" sz="2400">
                <a:solidFill>
                  <a:srgbClr val="3477FF"/>
                </a:solidFill>
              </a:rPr>
              <a:t>-1</a:t>
            </a:r>
            <a:r>
              <a:rPr lang="zh-CN" altLang="en-US" sz="2400">
                <a:solidFill>
                  <a:srgbClr val="3477FF"/>
                </a:solidFill>
              </a:rPr>
              <a:t>，那么</a:t>
            </a:r>
            <a:r>
              <a:rPr lang="en-US" altLang="zh-CN" sz="2400">
                <a:solidFill>
                  <a:srgbClr val="3477FF"/>
                </a:solidFill>
              </a:rPr>
              <a:t>DNS</a:t>
            </a:r>
            <a:r>
              <a:rPr lang="zh-CN" altLang="en-US" sz="2400">
                <a:solidFill>
                  <a:srgbClr val="3477FF"/>
                </a:solidFill>
              </a:rPr>
              <a:t>在</a:t>
            </a:r>
            <a:r>
              <a:rPr lang="en-US" altLang="zh-CN" sz="2400">
                <a:solidFill>
                  <a:srgbClr val="3477FF"/>
                </a:solidFill>
              </a:rPr>
              <a:t>InetAddress</a:t>
            </a:r>
            <a:r>
              <a:rPr lang="zh-CN" altLang="en-US" sz="2400">
                <a:solidFill>
                  <a:srgbClr val="3477FF"/>
                </a:solidFill>
              </a:rPr>
              <a:t>类中的缓存数据将永不过期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04800" y="2252663"/>
            <a:ext cx="7848600" cy="3381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java.security.Security.setProperty("networkaddress.cache.ttl", 10);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en-US" altLang="zh-CN" sz="3200" b="1">
                <a:solidFill>
                  <a:srgbClr val="C00000"/>
                </a:solidFill>
              </a:rPr>
              <a:t>DNS</a:t>
            </a:r>
            <a:r>
              <a:rPr lang="zh-CN" altLang="en-US" sz="3200" b="1">
                <a:solidFill>
                  <a:srgbClr val="C00000"/>
                </a:solidFill>
              </a:rPr>
              <a:t>缓存编程例子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下面的代码演示了使用和不使用</a:t>
            </a:r>
            <a:r>
              <a:rPr lang="en-US" altLang="zh-CN" sz="2400"/>
              <a:t>DNS</a:t>
            </a:r>
            <a:r>
              <a:rPr lang="zh-CN" altLang="en-US" sz="2400"/>
              <a:t>缓存所产生效果：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93663" y="236538"/>
            <a:ext cx="9053512" cy="65246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b="1">
                <a:latin typeface="Consolas" panose="020B0609020204030204" pitchFamily="49" charset="0"/>
              </a:rPr>
              <a:t>MyDNS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</a:t>
            </a: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 b="1">
                <a:latin typeface="Consolas" panose="020B0609020204030204" pitchFamily="49" charset="0"/>
              </a:rPr>
              <a:t>main(String[] args) throws Exception{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//  args[0]: </a:t>
            </a:r>
            <a:r>
              <a:rPr lang="zh-CN" altLang="en-US" sz="1600" b="1">
                <a:latin typeface="Consolas" panose="020B0609020204030204" pitchFamily="49" charset="0"/>
              </a:rPr>
              <a:t>本机名 </a:t>
            </a:r>
            <a:r>
              <a:rPr lang="en-US" altLang="zh-CN" sz="1600" b="1">
                <a:latin typeface="Consolas" panose="020B0609020204030204" pitchFamily="49" charset="0"/>
              </a:rPr>
              <a:t>args[1]</a:t>
            </a:r>
            <a:r>
              <a:rPr lang="zh-CN" altLang="en-US" sz="1600" b="1">
                <a:latin typeface="Consolas" panose="020B0609020204030204" pitchFamily="49" charset="0"/>
              </a:rPr>
              <a:t>：缓冲时间</a:t>
            </a:r>
            <a:endParaRPr lang="zh-CN" altLang="en-US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Consolas" panose="020B0609020204030204" pitchFamily="49" charset="0"/>
              </a:rPr>
              <a:t>       </a:t>
            </a:r>
            <a:r>
              <a:rPr lang="en-US" altLang="zh-CN" sz="1600" b="1">
                <a:latin typeface="Consolas" panose="020B0609020204030204" pitchFamily="49" charset="0"/>
              </a:rPr>
              <a:t>if (args.length &lt; 2)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  return;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java.security.Security.setProperty("networkaddress.cache.ttl",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args[1]</a:t>
            </a:r>
            <a:r>
              <a:rPr lang="en-US" altLang="zh-CN" sz="1600" b="1">
                <a:latin typeface="Consolas" panose="020B0609020204030204" pitchFamily="49" charset="0"/>
              </a:rPr>
              <a:t>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long time = System.currentTimeMillis();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InetAddress addresses1[] = InetAddress.getAllByName(args[0]);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System.out.println("addresses1:   "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 + String.valueOf(System.currentTimeMillis() - time)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 + "</a:t>
            </a:r>
            <a:r>
              <a:rPr lang="zh-CN" altLang="en-US" sz="1600" b="1">
                <a:latin typeface="Consolas" panose="020B0609020204030204" pitchFamily="49" charset="0"/>
              </a:rPr>
              <a:t>毫秒</a:t>
            </a:r>
            <a:r>
              <a:rPr lang="en-US" altLang="zh-CN" sz="1600" b="1">
                <a:latin typeface="Consolas" panose="020B0609020204030204" pitchFamily="49" charset="0"/>
              </a:rPr>
              <a:t>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for (InetAddress address : addresses1)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           System.out.println(address);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System.out.print("</a:t>
            </a:r>
            <a:r>
              <a:rPr lang="zh-CN" altLang="en-US" sz="1600" b="1">
                <a:latin typeface="Consolas" panose="020B0609020204030204" pitchFamily="49" charset="0"/>
              </a:rPr>
              <a:t>按任意键继续 </a:t>
            </a:r>
            <a:r>
              <a:rPr lang="en-US" altLang="zh-CN" sz="1600" b="1">
                <a:latin typeface="Consolas" panose="020B0609020204030204" pitchFamily="49" charset="0"/>
              </a:rPr>
              <a:t>…");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 System.in.read();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time = System.currentTimeMillis();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InetAddress addresses2[] = InetAddress.getAllByName(args[0]);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System.out.println("addresses2:   "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 2" panose="05020102010507070707" pitchFamily="18" charset="2"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     + String.valueOf(System.currentTimeMillis() - time) + "</a:t>
            </a:r>
            <a:r>
              <a:rPr lang="zh-CN" altLang="en-US" sz="1600" b="1">
                <a:latin typeface="Consolas" panose="020B0609020204030204" pitchFamily="49" charset="0"/>
              </a:rPr>
              <a:t>毫秒</a:t>
            </a:r>
            <a:r>
              <a:rPr lang="en-US" altLang="zh-CN" sz="1600" b="1">
                <a:latin typeface="Consolas" panose="020B0609020204030204" pitchFamily="49" charset="0"/>
              </a:rPr>
              <a:t>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for (InetAddress address : addresses2)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            System.out.println(address);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}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  <p:sp>
        <p:nvSpPr>
          <p:cNvPr id="3" name="线形标注 1 2"/>
          <p:cNvSpPr/>
          <p:nvPr/>
        </p:nvSpPr>
        <p:spPr bwMode="auto">
          <a:xfrm>
            <a:off x="7315200" y="1008063"/>
            <a:ext cx="1676400" cy="342900"/>
          </a:xfrm>
          <a:prstGeom prst="borderCallout1">
            <a:avLst>
              <a:gd name="adj1" fmla="val 86477"/>
              <a:gd name="adj2" fmla="val 100759"/>
              <a:gd name="adj3" fmla="val 239486"/>
              <a:gd name="adj4" fmla="val 72491"/>
            </a:avLst>
          </a:prstGeom>
          <a:solidFill>
            <a:schemeClr val="accent1"/>
          </a:solidFill>
          <a:ln w="9525" algn="ctr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0000"/>
                </a:solidFill>
              </a:rPr>
              <a:t>缓冲超时参数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9" name="线形标注 1 8"/>
          <p:cNvSpPr/>
          <p:nvPr/>
        </p:nvSpPr>
        <p:spPr bwMode="auto">
          <a:xfrm>
            <a:off x="5334000" y="3886200"/>
            <a:ext cx="1676400" cy="342900"/>
          </a:xfrm>
          <a:prstGeom prst="borderCallout1">
            <a:avLst>
              <a:gd name="adj1" fmla="val -6648"/>
              <a:gd name="adj2" fmla="val 1190"/>
              <a:gd name="adj3" fmla="val 65940"/>
              <a:gd name="adj4" fmla="val -123181"/>
            </a:avLst>
          </a:prstGeom>
          <a:solidFill>
            <a:schemeClr val="accent1"/>
          </a:solidFill>
          <a:ln w="9525" algn="ctr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0000"/>
                </a:solidFill>
              </a:rPr>
              <a:t>暂停程序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10" name="线形标注 1 9"/>
          <p:cNvSpPr/>
          <p:nvPr/>
        </p:nvSpPr>
        <p:spPr bwMode="auto">
          <a:xfrm>
            <a:off x="5638800" y="4876800"/>
            <a:ext cx="3352800" cy="685800"/>
          </a:xfrm>
          <a:prstGeom prst="borderCallout1">
            <a:avLst>
              <a:gd name="adj1" fmla="val -6648"/>
              <a:gd name="adj2" fmla="val 1190"/>
              <a:gd name="adj3" fmla="val -33532"/>
              <a:gd name="adj4" fmla="val -21597"/>
            </a:avLst>
          </a:prstGeom>
          <a:solidFill>
            <a:schemeClr val="accent1"/>
          </a:solidFill>
          <a:ln w="9525" algn="ctr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0000"/>
                </a:solidFill>
              </a:rPr>
              <a:t>使用同一个域名</a:t>
            </a:r>
            <a:r>
              <a:rPr lang="en-US" altLang="zh-CN" sz="1600">
                <a:solidFill>
                  <a:srgbClr val="FF0000"/>
                </a:solidFill>
              </a:rPr>
              <a:t>(args[0])</a:t>
            </a:r>
            <a:r>
              <a:rPr lang="zh-CN" altLang="en-US" sz="1600">
                <a:solidFill>
                  <a:srgbClr val="FF0000"/>
                </a:solidFill>
              </a:rPr>
              <a:t>再建立一个</a:t>
            </a:r>
            <a:r>
              <a:rPr lang="en-US" altLang="zh-CN" sz="1600">
                <a:solidFill>
                  <a:srgbClr val="FF0000"/>
                </a:solidFill>
              </a:rPr>
              <a:t>InetAddress</a:t>
            </a:r>
            <a:r>
              <a:rPr lang="zh-CN" altLang="en-US" sz="1600">
                <a:solidFill>
                  <a:srgbClr val="FF0000"/>
                </a:solidFill>
              </a:rPr>
              <a:t>数组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538288" y="5788025"/>
            <a:ext cx="7453312" cy="954088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/>
              <a:t>当用户等待一段时间后，可以按任意键继续，并使用同一个域名</a:t>
            </a:r>
            <a:r>
              <a:rPr lang="en-US" altLang="zh-CN" sz="1400"/>
              <a:t>(args[0])</a:t>
            </a:r>
            <a:r>
              <a:rPr lang="zh-CN" altLang="en-US" sz="1400"/>
              <a:t>再建立一个</a:t>
            </a:r>
            <a:r>
              <a:rPr lang="en-US" altLang="zh-CN" sz="1400"/>
              <a:t>InetAddress</a:t>
            </a:r>
            <a:r>
              <a:rPr lang="zh-CN" altLang="en-US" sz="1400"/>
              <a:t>数组。如果用户等待的这段时间比</a:t>
            </a:r>
            <a:r>
              <a:rPr lang="en-US" altLang="zh-CN" sz="1400"/>
              <a:t>DNS</a:t>
            </a:r>
            <a:r>
              <a:rPr lang="zh-CN" altLang="en-US" sz="1400"/>
              <a:t>缓存超时小，那么无论情况如何变化，</a:t>
            </a:r>
            <a:r>
              <a:rPr lang="en-US" altLang="zh-CN" sz="1400"/>
              <a:t>addresses2</a:t>
            </a:r>
            <a:r>
              <a:rPr lang="zh-CN" altLang="en-US" sz="1400"/>
              <a:t>和</a:t>
            </a:r>
            <a:r>
              <a:rPr lang="en-US" altLang="zh-CN" sz="1400"/>
              <a:t>addresses1</a:t>
            </a:r>
            <a:r>
              <a:rPr lang="zh-CN" altLang="en-US" sz="1400"/>
              <a:t>数组中的元素是一样的，并且创建</a:t>
            </a:r>
            <a:r>
              <a:rPr lang="en-US" altLang="zh-CN" sz="1400"/>
              <a:t>addresses2</a:t>
            </a:r>
            <a:r>
              <a:rPr lang="zh-CN" altLang="en-US" sz="1400"/>
              <a:t>数组所花费的时间一般为</a:t>
            </a:r>
            <a:r>
              <a:rPr lang="en-US" altLang="zh-CN" sz="1400"/>
              <a:t>0</a:t>
            </a:r>
            <a:r>
              <a:rPr lang="zh-CN" altLang="en-US" sz="1400"/>
              <a:t>毫秒（小于</a:t>
            </a:r>
            <a:r>
              <a:rPr lang="en-US" altLang="zh-CN" sz="1400"/>
              <a:t>1</a:t>
            </a:r>
            <a:r>
              <a:rPr lang="zh-CN" altLang="en-US" sz="1400"/>
              <a:t>毫秒后，</a:t>
            </a:r>
            <a:r>
              <a:rPr lang="en-US" altLang="zh-CN" sz="1400"/>
              <a:t>Java</a:t>
            </a:r>
            <a:r>
              <a:rPr lang="zh-CN" altLang="en-US" sz="1400"/>
              <a:t>无法获得更精确的时间）。</a:t>
            </a:r>
            <a:endParaRPr lang="zh-CN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9" grpId="0" animBg="1"/>
      <p:bldP spid="10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修改</a:t>
            </a:r>
            <a:r>
              <a:rPr lang="en-US" altLang="zh-CN" sz="3200" b="1">
                <a:solidFill>
                  <a:srgbClr val="C00000"/>
                </a:solidFill>
              </a:rPr>
              <a:t>DNS</a:t>
            </a:r>
            <a:r>
              <a:rPr lang="zh-CN" altLang="en-US" sz="3200" b="1">
                <a:solidFill>
                  <a:srgbClr val="C00000"/>
                </a:solidFill>
              </a:rPr>
              <a:t>缓存编程例子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1</a:t>
            </a:r>
            <a:r>
              <a:rPr lang="zh-CN" altLang="en-US" sz="2400"/>
              <a:t>：执行如下命令（将</a:t>
            </a:r>
            <a:r>
              <a:rPr lang="en-US" altLang="zh-CN" sz="2400"/>
              <a:t>DNS</a:t>
            </a:r>
            <a:r>
              <a:rPr lang="zh-CN" altLang="en-US" sz="2400"/>
              <a:t>缓存超时设为</a:t>
            </a:r>
            <a:r>
              <a:rPr lang="en-US" altLang="zh-CN" sz="2400"/>
              <a:t>5</a:t>
            </a:r>
            <a:r>
              <a:rPr lang="zh-CN" altLang="en-US" sz="2400"/>
              <a:t>秒）：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 MyDNS www.126.com 5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</a:t>
            </a:r>
            <a:r>
              <a:rPr lang="en-US" altLang="zh-CN" sz="2400"/>
              <a:t>1</a:t>
            </a:r>
            <a:r>
              <a:rPr lang="zh-CN" altLang="en-US" sz="2400"/>
              <a:t>（在</a:t>
            </a:r>
            <a:r>
              <a:rPr lang="en-US" altLang="zh-CN" sz="2400"/>
              <a:t>5</a:t>
            </a:r>
            <a:r>
              <a:rPr lang="zh-CN" altLang="en-US" sz="2400"/>
              <a:t>秒之内按任意键）：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</a:t>
            </a:r>
            <a:r>
              <a:rPr lang="en-US" altLang="zh-CN" sz="2400"/>
              <a:t>2</a:t>
            </a:r>
            <a:r>
              <a:rPr lang="zh-CN" altLang="en-US" sz="2400"/>
              <a:t>（在</a:t>
            </a:r>
            <a:r>
              <a:rPr lang="en-US" altLang="zh-CN" sz="2400"/>
              <a:t>5</a:t>
            </a:r>
            <a:r>
              <a:rPr lang="zh-CN" altLang="en-US" sz="2400"/>
              <a:t>秒后按任意键）：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14600"/>
            <a:ext cx="3733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02175"/>
            <a:ext cx="335280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599113" y="1905000"/>
            <a:ext cx="3505200" cy="329184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/>
              <a:t>测试</a:t>
            </a:r>
            <a:r>
              <a:rPr lang="en-US" altLang="zh-CN" sz="1600"/>
              <a:t>1</a:t>
            </a:r>
            <a:r>
              <a:rPr lang="zh-CN" altLang="en-US" sz="1600"/>
              <a:t>可能出现两个运行结果。如果在出现“按任意键继续</a:t>
            </a:r>
            <a:r>
              <a:rPr lang="en-US" altLang="zh-CN" sz="1600"/>
              <a:t>…”</a:t>
            </a:r>
            <a:r>
              <a:rPr lang="zh-CN" altLang="en-US" sz="1600"/>
              <a:t>后，在</a:t>
            </a:r>
            <a:r>
              <a:rPr lang="en-US" altLang="zh-CN" sz="1600"/>
              <a:t>5</a:t>
            </a:r>
            <a:r>
              <a:rPr lang="zh-CN" altLang="en-US" sz="1600"/>
              <a:t>秒之内按任意键继续后，就会得到运行结果</a:t>
            </a:r>
            <a:r>
              <a:rPr lang="en-US" altLang="zh-CN" sz="1600"/>
              <a:t>1</a:t>
            </a:r>
            <a:r>
              <a:rPr lang="zh-CN" altLang="en-US" sz="1600"/>
              <a:t>，从这个结果可以看出，</a:t>
            </a:r>
            <a:r>
              <a:rPr lang="en-US" altLang="zh-CN" sz="1600"/>
              <a:t>addresses2</a:t>
            </a:r>
            <a:r>
              <a:rPr lang="zh-CN" altLang="en-US" sz="1600"/>
              <a:t>所用的时间为</a:t>
            </a:r>
            <a:r>
              <a:rPr lang="en-US" altLang="zh-CN" sz="1600"/>
              <a:t>0</a:t>
            </a:r>
            <a:r>
              <a:rPr lang="zh-CN" altLang="en-US" sz="1600"/>
              <a:t>毫秒，也就是说，</a:t>
            </a:r>
            <a:r>
              <a:rPr lang="en-US" altLang="zh-CN" sz="1600"/>
              <a:t>addresses2</a:t>
            </a:r>
            <a:r>
              <a:rPr lang="zh-CN" altLang="en-US" sz="1600" b="1">
                <a:solidFill>
                  <a:srgbClr val="FF0000"/>
                </a:solidFill>
              </a:rPr>
              <a:t>并未真正访问</a:t>
            </a:r>
            <a:r>
              <a:rPr lang="en-US" altLang="zh-CN" sz="1600" b="1">
                <a:solidFill>
                  <a:srgbClr val="FF0000"/>
                </a:solidFill>
              </a:rPr>
              <a:t>DNS</a:t>
            </a:r>
            <a:r>
              <a:rPr lang="zh-CN" altLang="en-US" sz="1600" b="1">
                <a:solidFill>
                  <a:srgbClr val="FF0000"/>
                </a:solidFill>
              </a:rPr>
              <a:t>服务器，而是直接从内存中的</a:t>
            </a:r>
            <a:r>
              <a:rPr lang="en-US" altLang="zh-CN" sz="1600" b="1">
                <a:solidFill>
                  <a:srgbClr val="FF0000"/>
                </a:solidFill>
              </a:rPr>
              <a:t>DNS</a:t>
            </a:r>
            <a:r>
              <a:rPr lang="zh-CN" altLang="en-US" sz="1600" b="1">
                <a:solidFill>
                  <a:srgbClr val="FF0000"/>
                </a:solidFill>
              </a:rPr>
              <a:t>缓存得到的数据。</a:t>
            </a:r>
            <a:endParaRPr lang="en-US" altLang="zh-CN" sz="1600" b="1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/>
              <a:t>当在</a:t>
            </a:r>
            <a:r>
              <a:rPr lang="en-US" altLang="zh-CN" sz="1600"/>
              <a:t>5</a:t>
            </a:r>
            <a:r>
              <a:rPr lang="zh-CN" altLang="en-US" sz="1600"/>
              <a:t>秒后按任意键继续后，就会得到运行结果</a:t>
            </a:r>
            <a:r>
              <a:rPr lang="en-US" altLang="zh-CN" sz="1600"/>
              <a:t>2</a:t>
            </a:r>
            <a:r>
              <a:rPr lang="zh-CN" altLang="en-US" sz="1600"/>
              <a:t>，这时，内存中的</a:t>
            </a:r>
            <a:r>
              <a:rPr lang="en-US" altLang="zh-CN" sz="1600"/>
              <a:t>DNS</a:t>
            </a:r>
            <a:r>
              <a:rPr lang="zh-CN" altLang="en-US" sz="1600"/>
              <a:t>缓存中的数据已经释放，所以</a:t>
            </a:r>
            <a:r>
              <a:rPr lang="en-US" altLang="zh-CN" sz="1600"/>
              <a:t>addresses2</a:t>
            </a:r>
            <a:r>
              <a:rPr lang="zh-CN" altLang="en-US" sz="1600"/>
              <a:t>还得再访问</a:t>
            </a:r>
            <a:r>
              <a:rPr lang="en-US" altLang="zh-CN" sz="1600"/>
              <a:t>DNS</a:t>
            </a:r>
            <a:r>
              <a:rPr lang="zh-CN" altLang="en-US" sz="1600"/>
              <a:t>服务器，因此，</a:t>
            </a:r>
            <a:r>
              <a:rPr lang="en-US" altLang="zh-CN" sz="1600"/>
              <a:t>addresses2</a:t>
            </a:r>
            <a:r>
              <a:rPr lang="zh-CN" altLang="en-US" sz="1600"/>
              <a:t>的时间是</a:t>
            </a:r>
            <a:r>
              <a:rPr lang="en-US" altLang="zh-CN" sz="1600"/>
              <a:t>1</a:t>
            </a:r>
            <a:r>
              <a:rPr lang="zh-CN" altLang="en-US" sz="1600"/>
              <a:t>毫秒</a:t>
            </a:r>
            <a:endParaRPr lang="zh-CN" altLang="en-US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修改</a:t>
            </a:r>
            <a:r>
              <a:rPr lang="en-US" altLang="zh-CN" sz="3200" b="1">
                <a:solidFill>
                  <a:srgbClr val="C00000"/>
                </a:solidFill>
              </a:rPr>
              <a:t>DNS</a:t>
            </a:r>
            <a:r>
              <a:rPr lang="zh-CN" altLang="en-US" sz="3200" b="1">
                <a:solidFill>
                  <a:srgbClr val="C00000"/>
                </a:solidFill>
              </a:rPr>
              <a:t>缓存编程例子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2</a:t>
            </a:r>
            <a:r>
              <a:rPr lang="zh-CN" altLang="en-US" sz="2400"/>
              <a:t>：执行如下命令（</a:t>
            </a:r>
            <a:r>
              <a:rPr lang="en-US" altLang="zh-CN" sz="2400"/>
              <a:t> mfq-THINK</a:t>
            </a:r>
            <a:r>
              <a:rPr lang="zh-CN" altLang="en-US" sz="2400"/>
              <a:t>为本机的计算机名，</a:t>
            </a:r>
            <a:r>
              <a:rPr lang="en-US" altLang="zh-CN" sz="2400"/>
              <a:t>DNS</a:t>
            </a:r>
            <a:r>
              <a:rPr lang="zh-CN" altLang="en-US" sz="2400"/>
              <a:t>缓存超时设为永不过期</a:t>
            </a:r>
            <a:r>
              <a:rPr lang="en-US" altLang="zh-CN" sz="2400"/>
              <a:t>[-1]</a:t>
            </a:r>
            <a:r>
              <a:rPr lang="zh-CN" altLang="en-US" sz="2400"/>
              <a:t>）：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java  MyDNS mfq-THINK -1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84775" y="1905000"/>
            <a:ext cx="3919538" cy="40322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FF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      </a:t>
            </a:r>
            <a:r>
              <a:rPr lang="zh-CN" altLang="en-US" sz="1600"/>
              <a:t>将</a:t>
            </a:r>
            <a:r>
              <a:rPr lang="en-US" altLang="zh-CN" sz="1600"/>
              <a:t>DNS</a:t>
            </a:r>
            <a:r>
              <a:rPr lang="zh-CN" altLang="en-US" sz="1600"/>
              <a:t>缓存设为永不过期后，</a:t>
            </a:r>
            <a:r>
              <a:rPr lang="en-US" altLang="zh-CN" sz="1600"/>
              <a:t>addresses2</a:t>
            </a:r>
            <a:r>
              <a:rPr lang="zh-CN" altLang="en-US" sz="1600"/>
              <a:t>是从</a:t>
            </a:r>
            <a:r>
              <a:rPr lang="en-US" altLang="zh-CN" sz="1600"/>
              <a:t>DNS</a:t>
            </a:r>
            <a:r>
              <a:rPr lang="zh-CN" altLang="en-US" sz="1600"/>
              <a:t>缓存中得到数据。无论过多少时间，按任意键后，</a:t>
            </a:r>
            <a:r>
              <a:rPr lang="en-US" altLang="zh-CN" sz="1600"/>
              <a:t>addresses2</a:t>
            </a:r>
            <a:r>
              <a:rPr lang="zh-CN" altLang="en-US" sz="1600"/>
              <a:t>仍然得到了与</a:t>
            </a:r>
            <a:r>
              <a:rPr lang="en-US" altLang="zh-CN" sz="1600"/>
              <a:t>address1</a:t>
            </a:r>
            <a:r>
              <a:rPr lang="zh-CN" altLang="en-US" sz="1600"/>
              <a:t>一样的</a:t>
            </a:r>
            <a:r>
              <a:rPr lang="en-US" altLang="zh-CN" sz="1600"/>
              <a:t>IP</a:t>
            </a:r>
            <a:r>
              <a:rPr lang="zh-CN" altLang="en-US" sz="1600"/>
              <a:t>地址，而且</a:t>
            </a:r>
            <a:r>
              <a:rPr lang="en-US" altLang="zh-CN" sz="1600"/>
              <a:t>addresses2</a:t>
            </a:r>
            <a:r>
              <a:rPr lang="zh-CN" altLang="en-US" sz="1600"/>
              <a:t>的时间是</a:t>
            </a:r>
            <a:r>
              <a:rPr lang="en-US" altLang="zh-CN" sz="1600"/>
              <a:t>0</a:t>
            </a:r>
            <a:r>
              <a:rPr lang="zh-CN" altLang="en-US" sz="1600"/>
              <a:t>毫秒。</a:t>
            </a:r>
            <a:endParaRPr lang="en-US" altLang="zh-CN" sz="16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/>
              <a:t>      如果域名在</a:t>
            </a:r>
            <a:r>
              <a:rPr lang="en-US" altLang="zh-CN" sz="1600"/>
              <a:t>DNS</a:t>
            </a:r>
            <a:r>
              <a:rPr lang="zh-CN" altLang="en-US" sz="1600"/>
              <a:t>服务器上不存在，那么客户端在进行一段时间的尝试后（平均为</a:t>
            </a:r>
            <a:r>
              <a:rPr lang="en-US" altLang="zh-CN" sz="1600"/>
              <a:t>5</a:t>
            </a:r>
            <a:r>
              <a:rPr lang="zh-CN" altLang="en-US" sz="1600"/>
              <a:t>秒），就会抛出一个</a:t>
            </a:r>
            <a:r>
              <a:rPr lang="en-US" altLang="zh-CN" sz="1100"/>
              <a:t>UnknownHostException</a:t>
            </a:r>
            <a:r>
              <a:rPr lang="zh-CN" altLang="en-US" sz="1600"/>
              <a:t>异常。为了让下一次访问这个域名时不再等待，</a:t>
            </a:r>
            <a:r>
              <a:rPr lang="en-US" altLang="zh-CN" sz="1600"/>
              <a:t>DNS</a:t>
            </a:r>
            <a:r>
              <a:rPr lang="zh-CN" altLang="en-US" sz="1600"/>
              <a:t>缓存将这个错误信息也保存了起来。</a:t>
            </a:r>
            <a:endParaRPr lang="en-US" altLang="zh-CN" sz="16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/>
              <a:t>      </a:t>
            </a:r>
            <a:r>
              <a:rPr lang="zh-CN" altLang="en-US" sz="1600"/>
              <a:t>只有第一次访问错误域名时才进行</a:t>
            </a:r>
            <a:r>
              <a:rPr lang="en-US" altLang="zh-CN" sz="1600"/>
              <a:t>5</a:t>
            </a:r>
            <a:r>
              <a:rPr lang="zh-CN" altLang="en-US" sz="1600"/>
              <a:t>秒左右的尝试，以后再访问这个域名时将直接抛出</a:t>
            </a:r>
            <a:r>
              <a:rPr lang="en-US" altLang="zh-CN" sz="1200"/>
              <a:t>UnknownHostException</a:t>
            </a:r>
            <a:r>
              <a:rPr lang="zh-CN" altLang="en-US" sz="1600"/>
              <a:t>异常，而无需再等待</a:t>
            </a:r>
            <a:r>
              <a:rPr lang="en-US" altLang="zh-CN" sz="1600"/>
              <a:t>5</a:t>
            </a:r>
            <a:r>
              <a:rPr lang="zh-CN" altLang="en-US" sz="1600"/>
              <a:t>秒钟。</a:t>
            </a:r>
            <a:endParaRPr lang="en-US" altLang="zh-CN" sz="16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487997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域名错误信息的保留时间设置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访问域名失败的原因可能是这个域名真的不存在，也可能是因为</a:t>
            </a:r>
            <a:r>
              <a:rPr lang="en-US" altLang="zh-CN" sz="2400"/>
              <a:t>DNS</a:t>
            </a:r>
            <a:r>
              <a:rPr lang="zh-CN" altLang="en-US" sz="2400"/>
              <a:t>服务器或是其他的硬件或软件的临时故障，因此，一般不能将这个域名错误信息一直保留。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可以通过</a:t>
            </a:r>
            <a:r>
              <a:rPr lang="en-US" altLang="zh-CN" sz="2400"/>
              <a:t>networkaddress.cache.negative.ttl</a:t>
            </a:r>
            <a:r>
              <a:rPr lang="zh-CN" altLang="en-US" sz="2400"/>
              <a:t>属性设置保留这些信息的时间，这个属性的默认值是</a:t>
            </a:r>
            <a:r>
              <a:rPr lang="en-US" altLang="zh-CN" sz="2400"/>
              <a:t>10</a:t>
            </a:r>
            <a:r>
              <a:rPr lang="zh-CN" altLang="en-US" sz="2400"/>
              <a:t>秒。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也可以通过</a:t>
            </a:r>
            <a:r>
              <a:rPr lang="en-US" altLang="zh-CN" sz="2400"/>
              <a:t>java.security.Security.setProperty</a:t>
            </a:r>
            <a:r>
              <a:rPr lang="zh-CN" altLang="en-US" sz="2400"/>
              <a:t>方法或</a:t>
            </a:r>
            <a:r>
              <a:rPr lang="en-US" altLang="zh-CN" sz="2400"/>
              <a:t>java.security</a:t>
            </a:r>
            <a:r>
              <a:rPr lang="zh-CN" altLang="en-US" sz="2400"/>
              <a:t>文件来设置。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</a:t>
            </a:r>
            <a:r>
              <a:rPr lang="en-US" altLang="zh-CN" sz="2400"/>
              <a:t>networkaddress.cache.negative.ttl</a:t>
            </a:r>
            <a:r>
              <a:rPr lang="zh-CN" altLang="en-US" sz="2400"/>
              <a:t>属性的用法。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程序分别测试了</a:t>
            </a:r>
            <a:r>
              <a:rPr lang="en-US" altLang="zh-CN" sz="2400"/>
              <a:t>address1</a:t>
            </a:r>
            <a:r>
              <a:rPr lang="zh-CN" altLang="en-US" sz="2400"/>
              <a:t>和</a:t>
            </a:r>
            <a:r>
              <a:rPr lang="en-US" altLang="zh-CN" sz="2400"/>
              <a:t>address2</a:t>
            </a:r>
            <a:r>
              <a:rPr lang="zh-CN" altLang="en-US" sz="2400"/>
              <a:t>访问</a:t>
            </a:r>
            <a:r>
              <a:rPr lang="en-US" altLang="zh-CN" sz="2400" b="1">
                <a:solidFill>
                  <a:srgbClr val="FF0000"/>
                </a:solidFill>
                <a:latin typeface="Consolas" panose="020B0609020204030204" pitchFamily="49" charset="0"/>
              </a:rPr>
              <a:t>www.123456.com </a:t>
            </a:r>
            <a:r>
              <a:rPr lang="zh-CN" altLang="en-US" sz="2400"/>
              <a:t>（这是个不存在的域名）后，用了多长时间抛出</a:t>
            </a:r>
            <a:r>
              <a:rPr lang="en-US" altLang="zh-CN" sz="2400"/>
              <a:t>UnknownHostException</a:t>
            </a:r>
            <a:r>
              <a:rPr lang="zh-CN" altLang="en-US" sz="2400"/>
              <a:t>异常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域名错误信息的保留时间设置例子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altLang="zh-CN" sz="2400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5400" y="-4763"/>
            <a:ext cx="9053513" cy="71104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7F0055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800">
                <a:latin typeface="Consolas" panose="020B0609020204030204" pitchFamily="49" charset="0"/>
              </a:rPr>
              <a:t>MyDNS1 {</a:t>
            </a:r>
            <a:endParaRPr lang="en-US" altLang="zh-CN" sz="18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Consolas" panose="020B0609020204030204" pitchFamily="49" charset="0"/>
              </a:rPr>
              <a:t>    </a:t>
            </a:r>
            <a:r>
              <a:rPr lang="en-US" altLang="zh-CN" sz="1600" b="1">
                <a:latin typeface="Consolas" panose="020B0609020204030204" pitchFamily="49" charset="0"/>
              </a:rPr>
              <a:t>public static void main(String[] args) throws Exception {	          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java.security.Security.setProperty("networkaddress.cache.negative.ttl","5");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long time = 0;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try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time = System.currentTimeMillis();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             InetAddress.getByName("www.123456.com");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catch (Exception e)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System.out.println("www.123456.com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不存在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! address1: "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+ String.valueOf(System.currentTimeMillis() - time) + "</a:t>
            </a:r>
            <a:r>
              <a:rPr lang="zh-CN" altLang="en-US" sz="1600" b="1">
                <a:latin typeface="Consolas" panose="020B0609020204030204" pitchFamily="49" charset="0"/>
              </a:rPr>
              <a:t>毫秒</a:t>
            </a:r>
            <a:r>
              <a:rPr lang="en-US" altLang="zh-CN" sz="1600" b="1">
                <a:latin typeface="Consolas" panose="020B0609020204030204" pitchFamily="49" charset="0"/>
              </a:rPr>
              <a:t>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//Thread.sleep(6000); // </a:t>
            </a:r>
            <a:r>
              <a:rPr lang="zh-CN" altLang="en-US" sz="1600" b="1">
                <a:latin typeface="Consolas" panose="020B0609020204030204" pitchFamily="49" charset="0"/>
              </a:rPr>
              <a:t>延迟</a:t>
            </a:r>
            <a:r>
              <a:rPr lang="en-US" altLang="zh-CN" sz="1600" b="1">
                <a:latin typeface="Consolas" panose="020B0609020204030204" pitchFamily="49" charset="0"/>
              </a:rPr>
              <a:t>6</a:t>
            </a:r>
            <a:r>
              <a:rPr lang="zh-CN" altLang="en-US" sz="1600" b="1">
                <a:latin typeface="Consolas" panose="020B0609020204030204" pitchFamily="49" charset="0"/>
              </a:rPr>
              <a:t>秒</a:t>
            </a:r>
            <a:endParaRPr lang="zh-CN" altLang="en-US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Consolas" panose="020B0609020204030204" pitchFamily="49" charset="0"/>
              </a:rPr>
              <a:t>         </a:t>
            </a:r>
            <a:r>
              <a:rPr lang="en-US" altLang="zh-CN" sz="1600" b="1">
                <a:latin typeface="Consolas" panose="020B0609020204030204" pitchFamily="49" charset="0"/>
              </a:rPr>
              <a:t>try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time = System.currentTimeMillis();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InetAddress.getByName("www.123456.com");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catch (Exception e)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             System.out.println("www.123456.com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不存在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! address2: "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+ String.valueOf(System.currentTimeMillis() - time) + "</a:t>
            </a:r>
            <a:r>
              <a:rPr lang="zh-CN" altLang="en-US" sz="1600" b="1">
                <a:latin typeface="Consolas" panose="020B0609020204030204" pitchFamily="49" charset="0"/>
              </a:rPr>
              <a:t>毫秒</a:t>
            </a:r>
            <a:r>
              <a:rPr lang="en-US" altLang="zh-CN" sz="1600" b="1">
                <a:latin typeface="Consolas" panose="020B0609020204030204" pitchFamily="49" charset="0"/>
              </a:rPr>
              <a:t>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}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}</a:t>
            </a:r>
            <a:endParaRPr lang="en-US" altLang="zh-CN" sz="1600">
              <a:latin typeface="Consolas" panose="020B0609020204030204" pitchFamily="49" charset="0"/>
            </a:endParaRPr>
          </a:p>
        </p:txBody>
      </p:sp>
      <p:sp>
        <p:nvSpPr>
          <p:cNvPr id="5" name="线形标注 1 4"/>
          <p:cNvSpPr/>
          <p:nvPr/>
        </p:nvSpPr>
        <p:spPr bwMode="auto">
          <a:xfrm>
            <a:off x="6386513" y="1508125"/>
            <a:ext cx="1995487" cy="342900"/>
          </a:xfrm>
          <a:prstGeom prst="borderCallout1">
            <a:avLst>
              <a:gd name="adj1" fmla="val 22986"/>
              <a:gd name="adj2" fmla="val -3139"/>
              <a:gd name="adj3" fmla="val -141468"/>
              <a:gd name="adj4" fmla="val -10625"/>
            </a:avLst>
          </a:prstGeom>
          <a:solidFill>
            <a:schemeClr val="accent1"/>
          </a:solidFill>
          <a:ln w="9525" algn="ctr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0000"/>
                </a:solidFill>
              </a:rPr>
              <a:t>将属性值设计为</a:t>
            </a:r>
            <a:r>
              <a:rPr lang="en-US" altLang="zh-CN" sz="1600">
                <a:solidFill>
                  <a:srgbClr val="FF0000"/>
                </a:solidFill>
              </a:rPr>
              <a:t>5</a:t>
            </a:r>
            <a:r>
              <a:rPr lang="zh-CN" altLang="en-US" sz="1600">
                <a:solidFill>
                  <a:srgbClr val="FF0000"/>
                </a:solidFill>
              </a:rPr>
              <a:t>秒</a:t>
            </a:r>
            <a:endParaRPr lang="zh-CN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域名错误信息的保留时间设置例子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1</a:t>
            </a:r>
            <a:r>
              <a:rPr lang="zh-CN" altLang="en-US" sz="2400"/>
              <a:t>：运行结果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分析</a:t>
            </a:r>
            <a:r>
              <a:rPr lang="zh-CN" altLang="en-US" sz="2000"/>
              <a:t>：</a:t>
            </a:r>
            <a:r>
              <a:rPr lang="en-US" altLang="zh-CN" sz="2000"/>
              <a:t> address1</a:t>
            </a:r>
            <a:r>
              <a:rPr lang="zh-CN" altLang="en-US" sz="2000"/>
              <a:t>用了</a:t>
            </a:r>
            <a:r>
              <a:rPr lang="en-US" altLang="zh-CN" sz="2000"/>
              <a:t>16</a:t>
            </a:r>
            <a:r>
              <a:rPr lang="zh-CN" altLang="en-US" sz="2000"/>
              <a:t>毫秒抛出了异常，</a:t>
            </a:r>
            <a:r>
              <a:rPr lang="en-US" altLang="zh-CN" sz="2000"/>
              <a:t>address2</a:t>
            </a:r>
            <a:r>
              <a:rPr lang="zh-CN" altLang="en-US" sz="2000"/>
              <a:t>用了</a:t>
            </a:r>
            <a:r>
              <a:rPr lang="en-US" altLang="zh-CN" sz="2000"/>
              <a:t>0</a:t>
            </a:r>
            <a:r>
              <a:rPr lang="zh-CN" altLang="en-US" sz="2000"/>
              <a:t>毫秒就抛出了异常。可以断定</a:t>
            </a:r>
            <a:r>
              <a:rPr lang="en-US" altLang="zh-CN" sz="2000"/>
              <a:t>address2</a:t>
            </a:r>
            <a:r>
              <a:rPr lang="zh-CN" altLang="en-US" sz="2000"/>
              <a:t>是从</a:t>
            </a:r>
            <a:r>
              <a:rPr lang="en-US" altLang="zh-CN" sz="2000"/>
              <a:t>DNS</a:t>
            </a:r>
            <a:r>
              <a:rPr lang="zh-CN" altLang="en-US" sz="2000"/>
              <a:t>缓存里获得了域名</a:t>
            </a:r>
            <a:r>
              <a:rPr lang="en-US" altLang="zh-CN" sz="2000"/>
              <a:t>www123456.com</a:t>
            </a:r>
            <a:r>
              <a:rPr lang="zh-CN" altLang="en-US" sz="2000"/>
              <a:t>不可访问的信息，所以就直接抛出了</a:t>
            </a:r>
            <a:r>
              <a:rPr lang="en-US" altLang="zh-CN" sz="2000"/>
              <a:t>UnknowHostException</a:t>
            </a:r>
            <a:r>
              <a:rPr lang="zh-CN" altLang="en-US" sz="2000"/>
              <a:t>异常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测试</a:t>
            </a:r>
            <a:r>
              <a:rPr lang="en-US" altLang="zh-CN" sz="2400"/>
              <a:t>2</a:t>
            </a:r>
            <a:r>
              <a:rPr lang="zh-CN" altLang="en-US" sz="2400"/>
              <a:t>：如果将上面代码中的延迟代码的注释去掉，那么可能得到如下的运行结果：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分析：</a:t>
            </a:r>
            <a:r>
              <a:rPr lang="zh-CN" altLang="en-US" sz="2000"/>
              <a:t>在第</a:t>
            </a:r>
            <a:r>
              <a:rPr lang="en-US" altLang="zh-CN" sz="2000"/>
              <a:t>6</a:t>
            </a:r>
            <a:r>
              <a:rPr lang="zh-CN" altLang="en-US" sz="2000"/>
              <a:t>秒时，</a:t>
            </a:r>
            <a:r>
              <a:rPr lang="en-US" altLang="zh-CN" sz="2000"/>
              <a:t>DNS</a:t>
            </a:r>
            <a:r>
              <a:rPr lang="zh-CN" altLang="en-US" sz="2000"/>
              <a:t>缓存中的数据已经被释放，因此，</a:t>
            </a:r>
            <a:r>
              <a:rPr lang="en-US" altLang="zh-CN" sz="2000"/>
              <a:t>address2</a:t>
            </a:r>
            <a:r>
              <a:rPr lang="zh-CN" altLang="en-US" sz="2000"/>
              <a:t>仍需要访问</a:t>
            </a:r>
            <a:r>
              <a:rPr lang="en-US" altLang="zh-CN" sz="2000"/>
              <a:t>DNS</a:t>
            </a:r>
            <a:r>
              <a:rPr lang="zh-CN" altLang="en-US" sz="2000"/>
              <a:t>服务器才能知道</a:t>
            </a:r>
            <a:r>
              <a:rPr lang="en-US" altLang="zh-CN" sz="2000"/>
              <a:t>www.123456com</a:t>
            </a:r>
            <a:r>
              <a:rPr lang="zh-CN" altLang="en-US" sz="2000"/>
              <a:t>是不可访问的域名。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41148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4538663"/>
            <a:ext cx="45561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>
            <a:cxnSpLocks noChangeShapeType="1"/>
          </p:cNvCxnSpPr>
          <p:nvPr/>
        </p:nvCxnSpPr>
        <p:spPr bwMode="auto">
          <a:xfrm>
            <a:off x="4114800" y="5410200"/>
            <a:ext cx="685800" cy="0"/>
          </a:xfrm>
          <a:prstGeom prst="line">
            <a:avLst/>
          </a:prstGeom>
          <a:noFill/>
          <a:ln w="50800" algn="ctr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2800" b="1">
                <a:solidFill>
                  <a:srgbClr val="C00000"/>
                </a:solidFill>
              </a:rPr>
              <a:t>域名错误信息的保留时间设置原则</a:t>
            </a:r>
            <a:endParaRPr lang="zh-CN" altLang="en-US" sz="28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总结注意事项：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可以根据实际情况设置</a:t>
            </a:r>
            <a:r>
              <a:rPr lang="en-US" altLang="zh-CN" sz="2400"/>
              <a:t>networkaddress.cache.ttl</a:t>
            </a:r>
            <a:r>
              <a:rPr lang="zh-CN" altLang="en-US" sz="2400"/>
              <a:t>属性的值。一般将这个属性的值设为</a:t>
            </a:r>
            <a:r>
              <a:rPr lang="en-US" altLang="zh-CN" sz="2400"/>
              <a:t>-1</a:t>
            </a:r>
            <a:r>
              <a:rPr lang="zh-CN" altLang="en-US" sz="2400"/>
              <a:t>。但如果访问的是动态映射的域名（如使用动态域名服务将域名映射成</a:t>
            </a:r>
            <a:r>
              <a:rPr lang="en-US" altLang="zh-CN" sz="2400"/>
              <a:t>ADSL</a:t>
            </a:r>
            <a:r>
              <a:rPr lang="zh-CN" altLang="en-US" sz="2400"/>
              <a:t>的动态</a:t>
            </a:r>
            <a:r>
              <a:rPr lang="en-US" altLang="zh-CN" sz="2400"/>
              <a:t>IP</a:t>
            </a:r>
            <a:r>
              <a:rPr lang="zh-CN" altLang="en-US" sz="2400"/>
              <a:t>）</a:t>
            </a:r>
            <a:r>
              <a:rPr lang="en-US" altLang="zh-CN" sz="2400"/>
              <a:t>, </a:t>
            </a:r>
            <a:r>
              <a:rPr lang="zh-CN" altLang="en-US" sz="2400"/>
              <a:t>就可能产生</a:t>
            </a:r>
            <a:r>
              <a:rPr lang="en-US" altLang="zh-CN" sz="2400"/>
              <a:t>IP</a:t>
            </a:r>
            <a:r>
              <a:rPr lang="zh-CN" altLang="en-US" sz="2400"/>
              <a:t>地址变化后，客户端得到的还是原来的</a:t>
            </a:r>
            <a:r>
              <a:rPr lang="en-US" altLang="zh-CN" sz="2400"/>
              <a:t>IP</a:t>
            </a:r>
            <a:r>
              <a:rPr lang="zh-CN" altLang="en-US" sz="2400"/>
              <a:t>地址的情况。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 在设置</a:t>
            </a:r>
            <a:r>
              <a:rPr lang="en-US" altLang="zh-CN" sz="2400"/>
              <a:t>networkaddress.cache.negative.ttl</a:t>
            </a:r>
            <a:r>
              <a:rPr lang="zh-CN" altLang="en-US" sz="2400"/>
              <a:t>属性值时最好不要将它设为</a:t>
            </a:r>
            <a:r>
              <a:rPr lang="en-US" altLang="zh-CN" sz="2400"/>
              <a:t>-1</a:t>
            </a:r>
            <a:r>
              <a:rPr lang="zh-CN" altLang="en-US" sz="2400"/>
              <a:t>，否则如果一个域名因为暂时的故障而无法访问，那么程序再次访问这个域名时，即使这个域名恢复正常，程序也无法再访问这个域名了。除非重新运行程序。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762000"/>
          </a:xfrm>
        </p:spPr>
        <p:txBody>
          <a:bodyPr/>
          <a:lstStyle/>
          <a:p>
            <a:r>
              <a:rPr lang="en-US" altLang="zh-CN" sz="3200"/>
              <a:t>InetAddress</a:t>
            </a:r>
            <a:r>
              <a:rPr lang="zh-CN" altLang="en-US" sz="3200"/>
              <a:t>的获取方法</a:t>
            </a:r>
            <a:endParaRPr lang="zh-CN" altLang="en-US" sz="3200"/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381000" y="1066800"/>
            <a:ext cx="8540750" cy="4498975"/>
          </a:xfrm>
        </p:spPr>
        <p:txBody>
          <a:bodyPr/>
          <a:lstStyle/>
          <a:p>
            <a:r>
              <a:rPr lang="zh-CN" altLang="en-US" sz="2800"/>
              <a:t>四个获取方法可以将主机名作为字符串返回，将</a:t>
            </a:r>
            <a:r>
              <a:rPr lang="en-US" altLang="zh-CN" sz="2800"/>
              <a:t>IP</a:t>
            </a:r>
            <a:r>
              <a:rPr lang="zh-CN" altLang="en-US" sz="2800"/>
              <a:t>地址返回为字符串和字节数组。</a:t>
            </a:r>
            <a:endParaRPr lang="en-US" altLang="zh-CN" sz="2800"/>
          </a:p>
          <a:p>
            <a:r>
              <a:rPr lang="en-US" altLang="zh-CN"/>
              <a:t>String getHostName()</a:t>
            </a:r>
            <a:endParaRPr lang="en-US" altLang="zh-CN"/>
          </a:p>
          <a:p>
            <a:pPr lvl="1"/>
            <a:r>
              <a:rPr lang="zh-CN" altLang="en-US"/>
              <a:t>返回主机名和</a:t>
            </a:r>
            <a:r>
              <a:rPr lang="en-US" altLang="zh-CN"/>
              <a:t>IP</a:t>
            </a:r>
            <a:endParaRPr lang="en-US" altLang="zh-CN"/>
          </a:p>
          <a:p>
            <a:r>
              <a:rPr lang="en-US" altLang="zh-CN"/>
              <a:t>String getCanonicalHostName()</a:t>
            </a:r>
            <a:endParaRPr lang="en-US" altLang="zh-CN"/>
          </a:p>
          <a:p>
            <a:pPr lvl="1"/>
            <a:r>
              <a:rPr lang="zh-CN" altLang="en-US"/>
              <a:t>查询</a:t>
            </a:r>
            <a:r>
              <a:rPr lang="en-US" altLang="zh-CN"/>
              <a:t>DNS</a:t>
            </a:r>
            <a:r>
              <a:rPr lang="zh-CN" altLang="en-US"/>
              <a:t>，再返回主机名和</a:t>
            </a:r>
            <a:r>
              <a:rPr lang="en-US" altLang="zh-CN"/>
              <a:t>IP</a:t>
            </a:r>
            <a:endParaRPr lang="en-US" altLang="zh-CN"/>
          </a:p>
          <a:p>
            <a:r>
              <a:rPr lang="en-US" altLang="zh-CN"/>
              <a:t>Byte[] getAddress()</a:t>
            </a:r>
            <a:endParaRPr lang="en-US" altLang="zh-CN"/>
          </a:p>
          <a:p>
            <a:pPr lvl="1"/>
            <a:r>
              <a:rPr lang="zh-CN" altLang="en-US"/>
              <a:t>返回</a:t>
            </a:r>
            <a:r>
              <a:rPr lang="en-US" altLang="zh-CN"/>
              <a:t>IP</a:t>
            </a:r>
            <a:r>
              <a:rPr lang="zh-CN" altLang="en-US"/>
              <a:t>，字节类型，</a:t>
            </a:r>
            <a:r>
              <a:rPr lang="en-US" altLang="zh-CN"/>
              <a:t>IPv4</a:t>
            </a:r>
            <a:r>
              <a:rPr lang="zh-CN" altLang="en-US"/>
              <a:t>或</a:t>
            </a:r>
            <a:r>
              <a:rPr lang="en-US" altLang="zh-CN"/>
              <a:t>IPv6</a:t>
            </a:r>
            <a:endParaRPr lang="en-US" altLang="zh-CN"/>
          </a:p>
          <a:p>
            <a:r>
              <a:rPr lang="en-US" altLang="zh-CN"/>
              <a:t>String getHostAddress()</a:t>
            </a:r>
            <a:endParaRPr lang="en-US" altLang="zh-CN"/>
          </a:p>
          <a:p>
            <a:pPr lvl="1"/>
            <a:r>
              <a:rPr lang="zh-CN" altLang="en-US"/>
              <a:t>返回</a:t>
            </a:r>
            <a:r>
              <a:rPr lang="en-US" altLang="zh-CN"/>
              <a:t>IP</a:t>
            </a:r>
            <a:r>
              <a:rPr lang="zh-CN" altLang="en-US"/>
              <a:t>，字符串类型，</a:t>
            </a:r>
            <a:r>
              <a:rPr lang="en-US" altLang="zh-CN"/>
              <a:t>IPv4</a:t>
            </a:r>
            <a:r>
              <a:rPr lang="zh-CN" altLang="en-US"/>
              <a:t>或</a:t>
            </a:r>
            <a:r>
              <a:rPr lang="en-US" altLang="zh-CN"/>
              <a:t>IPv6</a:t>
            </a:r>
            <a:endParaRPr lang="en-US" altLang="zh-CN"/>
          </a:p>
        </p:txBody>
      </p:sp>
      <p:sp>
        <p:nvSpPr>
          <p:cNvPr id="41988" name="矩形 3"/>
          <p:cNvSpPr>
            <a:spLocks noChangeArrowheads="1"/>
          </p:cNvSpPr>
          <p:nvPr/>
        </p:nvSpPr>
        <p:spPr bwMode="auto">
          <a:xfrm>
            <a:off x="7666038" y="6413500"/>
            <a:ext cx="1477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ReverseName</a:t>
            </a:r>
            <a:endParaRPr lang="zh-CN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Inet4Address/Inet6Address</a:t>
            </a:r>
            <a:endParaRPr lang="zh-CN" altLang="en-US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/>
              <a:t>public final Inet4Address extends InetAddress</a:t>
            </a:r>
            <a:endParaRPr lang="en-US" altLang="zh-CN" sz="2400"/>
          </a:p>
          <a:p>
            <a:r>
              <a:rPr lang="en-US" altLang="zh-CN" sz="2400"/>
              <a:t>public final Inet6Address extends InetAddress</a:t>
            </a:r>
            <a:endParaRPr lang="en-US" altLang="zh-CN" sz="2400"/>
          </a:p>
          <a:p>
            <a:r>
              <a:rPr lang="zh-CN" altLang="en-US"/>
              <a:t>一般用不到，可用</a:t>
            </a:r>
            <a:r>
              <a:rPr lang="en-US" altLang="zh-CN"/>
              <a:t>getAddress()</a:t>
            </a:r>
            <a:r>
              <a:rPr lang="zh-CN" altLang="en-US"/>
              <a:t>返回的数组长度判断</a:t>
            </a:r>
            <a:r>
              <a:rPr lang="en-US" altLang="zh-CN"/>
              <a:t>IP</a:t>
            </a:r>
            <a:r>
              <a:rPr lang="zh-CN" altLang="en-US"/>
              <a:t>地址类型</a:t>
            </a:r>
            <a:endParaRPr lang="zh-CN" altLang="en-US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3505200"/>
            <a:ext cx="6311900" cy="321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getHostName</a:t>
            </a:r>
            <a:r>
              <a:rPr lang="zh-CN" altLang="en-US" sz="3200" b="1">
                <a:solidFill>
                  <a:srgbClr val="C00000"/>
                </a:solidFill>
              </a:rPr>
              <a:t>方法获得域名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getHostName</a:t>
            </a:r>
            <a:r>
              <a:rPr lang="zh-CN" altLang="en-US" sz="2400"/>
              <a:t>方法可以得到远程主机的域名，也可以得到本机名，定义如下：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三种创建</a:t>
            </a:r>
            <a:r>
              <a:rPr lang="en-US" altLang="zh-CN" sz="2400"/>
              <a:t>InetAddress</a:t>
            </a:r>
            <a:r>
              <a:rPr lang="zh-CN" altLang="en-US" sz="2400"/>
              <a:t>对象的方式，</a:t>
            </a:r>
            <a:r>
              <a:rPr lang="en-US" altLang="zh-CN" sz="2400"/>
              <a:t>getHostName</a:t>
            </a:r>
            <a:r>
              <a:rPr lang="zh-CN" altLang="en-US" sz="2400"/>
              <a:t>返回的值是不同的。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1.</a:t>
            </a:r>
            <a:r>
              <a:rPr lang="zh-CN" altLang="en-US" sz="2400"/>
              <a:t>使用</a:t>
            </a:r>
            <a:r>
              <a:rPr lang="en-US" altLang="zh-CN" sz="2400"/>
              <a:t>getLocalHost</a:t>
            </a:r>
            <a:r>
              <a:rPr lang="zh-CN" altLang="en-US" sz="2400"/>
              <a:t>方法创建</a:t>
            </a:r>
            <a:r>
              <a:rPr lang="en-US" altLang="zh-CN" sz="2400"/>
              <a:t>InetAddress</a:t>
            </a:r>
            <a:r>
              <a:rPr lang="zh-CN" altLang="en-US" sz="2400"/>
              <a:t>对象：</a:t>
            </a:r>
            <a:r>
              <a:rPr lang="en-US" altLang="zh-CN" sz="2000"/>
              <a:t>getHostName</a:t>
            </a:r>
            <a:r>
              <a:rPr lang="zh-CN" altLang="en-US" sz="2000"/>
              <a:t>返回的是本机名。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2.</a:t>
            </a:r>
            <a:r>
              <a:rPr lang="zh-CN" altLang="en-US" sz="2400"/>
              <a:t>使用域名创建</a:t>
            </a:r>
            <a:r>
              <a:rPr lang="en-US" altLang="zh-CN" sz="2400"/>
              <a:t>InetAddress</a:t>
            </a:r>
            <a:r>
              <a:rPr lang="zh-CN" altLang="en-US" sz="2400"/>
              <a:t>对象：</a:t>
            </a:r>
            <a:r>
              <a:rPr lang="zh-CN" altLang="en-US" sz="2000"/>
              <a:t>用域名作为</a:t>
            </a:r>
            <a:r>
              <a:rPr lang="en-US" altLang="zh-CN" sz="2000"/>
              <a:t>getByName</a:t>
            </a:r>
            <a:r>
              <a:rPr lang="zh-CN" altLang="en-US" sz="2000"/>
              <a:t>和</a:t>
            </a:r>
            <a:r>
              <a:rPr lang="en-US" altLang="zh-CN" sz="2000"/>
              <a:t>getAllByName</a:t>
            </a:r>
            <a:r>
              <a:rPr lang="zh-CN" altLang="en-US" sz="2000"/>
              <a:t>方法的参数调用这两个方法后，系统会自动记住这个域名。当调用</a:t>
            </a:r>
            <a:r>
              <a:rPr lang="en-US" altLang="zh-CN" sz="2000"/>
              <a:t>getHostName</a:t>
            </a:r>
            <a:r>
              <a:rPr lang="zh-CN" altLang="en-US" sz="2000"/>
              <a:t>方法时，就无需再访问</a:t>
            </a:r>
            <a:r>
              <a:rPr lang="en-US" altLang="zh-CN" sz="2000"/>
              <a:t>DNS</a:t>
            </a:r>
            <a:r>
              <a:rPr lang="zh-CN" altLang="en-US" sz="2000"/>
              <a:t>服务器，而是直接将这个域名返回。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52400" y="1920875"/>
            <a:ext cx="8686800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String getHostName()</a:t>
            </a:r>
            <a:endParaRPr lang="en-US" altLang="zh-CN" sz="1600" b="1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93688" y="3886200"/>
            <a:ext cx="8686800" cy="584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InetAddress address = InetAddress.getLocalHost();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System.out.println(address.getHostName());  // 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输出本机名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34975" y="6019800"/>
            <a:ext cx="8686800" cy="584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InetAddress address = InetAddress.getByName("www.szu.edu.cn");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System.out.println(address.getHostName());  // 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无需访问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DNS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服务器，直接返回域名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getHostName</a:t>
            </a:r>
            <a:r>
              <a:rPr lang="zh-CN" altLang="en-US" sz="3200" b="1">
                <a:solidFill>
                  <a:srgbClr val="C00000"/>
                </a:solidFill>
              </a:rPr>
              <a:t>方法获得域名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3.</a:t>
            </a:r>
            <a:r>
              <a:rPr lang="zh-CN" altLang="en-US" sz="2400"/>
              <a:t>使用</a:t>
            </a:r>
            <a:r>
              <a:rPr lang="en-US" altLang="zh-CN" sz="2400"/>
              <a:t>IP</a:t>
            </a:r>
            <a:r>
              <a:rPr lang="zh-CN" altLang="en-US" sz="2400"/>
              <a:t>地址创建</a:t>
            </a:r>
            <a:r>
              <a:rPr lang="en-US" altLang="zh-CN" sz="2400"/>
              <a:t>InetAddress</a:t>
            </a:r>
            <a:r>
              <a:rPr lang="zh-CN" altLang="en-US" sz="2400"/>
              <a:t>对象：</a:t>
            </a:r>
            <a:r>
              <a:rPr lang="zh-CN" altLang="en-US" sz="2000"/>
              <a:t>使用</a:t>
            </a:r>
            <a:r>
              <a:rPr lang="en-US" altLang="zh-CN" sz="2000"/>
              <a:t>IP</a:t>
            </a:r>
            <a:r>
              <a:rPr lang="zh-CN" altLang="en-US" sz="2000"/>
              <a:t>地址创建</a:t>
            </a:r>
            <a:r>
              <a:rPr lang="en-US" altLang="zh-CN" sz="2000"/>
              <a:t>InetAddress</a:t>
            </a:r>
            <a:r>
              <a:rPr lang="zh-CN" altLang="en-US" sz="2000"/>
              <a:t>对象时（</a:t>
            </a:r>
            <a:r>
              <a:rPr lang="en-US" altLang="zh-CN" sz="2000"/>
              <a:t>getByName</a:t>
            </a:r>
            <a:r>
              <a:rPr lang="zh-CN" altLang="en-US" sz="2000"/>
              <a:t>、</a:t>
            </a:r>
            <a:r>
              <a:rPr lang="en-US" altLang="zh-CN" sz="2000"/>
              <a:t>getAllByName</a:t>
            </a:r>
            <a:r>
              <a:rPr lang="zh-CN" altLang="en-US" sz="2000"/>
              <a:t>和</a:t>
            </a:r>
            <a:r>
              <a:rPr lang="en-US" altLang="zh-CN" sz="2000"/>
              <a:t>getByAddress</a:t>
            </a:r>
            <a:r>
              <a:rPr lang="zh-CN" altLang="en-US" sz="2000"/>
              <a:t>方法都可以通过</a:t>
            </a:r>
            <a:r>
              <a:rPr lang="en-US" altLang="zh-CN" sz="2000"/>
              <a:t>IP</a:t>
            </a:r>
            <a:r>
              <a:rPr lang="zh-CN" altLang="en-US" sz="2000"/>
              <a:t>地址创建</a:t>
            </a:r>
            <a:r>
              <a:rPr lang="en-US" altLang="zh-CN" sz="2000"/>
              <a:t>InetAddress</a:t>
            </a:r>
            <a:r>
              <a:rPr lang="zh-CN" altLang="en-US" sz="2000"/>
              <a:t>对象），并不需要访问</a:t>
            </a:r>
            <a:r>
              <a:rPr lang="en-US" altLang="zh-CN" sz="2000"/>
              <a:t>DNS</a:t>
            </a:r>
            <a:r>
              <a:rPr lang="zh-CN" altLang="en-US" sz="2000"/>
              <a:t>服务器。通过</a:t>
            </a:r>
            <a:r>
              <a:rPr lang="en-US" altLang="zh-CN" sz="2000"/>
              <a:t>DNS</a:t>
            </a:r>
            <a:r>
              <a:rPr lang="zh-CN" altLang="en-US" sz="2000"/>
              <a:t>服务器查找域名的工作就由</a:t>
            </a:r>
            <a:r>
              <a:rPr lang="en-US" altLang="zh-CN" sz="2000"/>
              <a:t>getHostName</a:t>
            </a:r>
            <a:r>
              <a:rPr lang="zh-CN" altLang="en-US" sz="2000"/>
              <a:t>方法来完成。如果这个</a:t>
            </a:r>
            <a:r>
              <a:rPr lang="en-US" altLang="zh-CN" sz="2000"/>
              <a:t>IP</a:t>
            </a:r>
            <a:r>
              <a:rPr lang="zh-CN" altLang="en-US" sz="2000"/>
              <a:t>地址不存在或</a:t>
            </a:r>
            <a:r>
              <a:rPr lang="en-US" altLang="zh-CN" sz="2000"/>
              <a:t>DNS</a:t>
            </a:r>
            <a:r>
              <a:rPr lang="zh-CN" altLang="en-US" sz="2000"/>
              <a:t>服务器不允许进行</a:t>
            </a:r>
            <a:r>
              <a:rPr lang="en-US" altLang="zh-CN" sz="2000"/>
              <a:t>IP</a:t>
            </a:r>
            <a:r>
              <a:rPr lang="zh-CN" altLang="en-US" sz="2000"/>
              <a:t>地址和域名的映射，</a:t>
            </a:r>
            <a:r>
              <a:rPr lang="en-US" altLang="zh-CN" sz="2000"/>
              <a:t>getHostName</a:t>
            </a:r>
            <a:r>
              <a:rPr lang="zh-CN" altLang="en-US" sz="2000"/>
              <a:t>方法就直接返回这个</a:t>
            </a:r>
            <a:r>
              <a:rPr lang="en-US" altLang="zh-CN" sz="2000"/>
              <a:t>IP</a:t>
            </a:r>
            <a:r>
              <a:rPr lang="zh-CN" altLang="en-US" sz="2000"/>
              <a:t>地址。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总结：三种方式，</a:t>
            </a:r>
            <a:r>
              <a:rPr lang="zh-CN" altLang="en-US" sz="2000"/>
              <a:t>只有通过使用</a:t>
            </a:r>
            <a:r>
              <a:rPr lang="en-US" altLang="zh-CN" sz="2000"/>
              <a:t>IP</a:t>
            </a:r>
            <a:r>
              <a:rPr lang="zh-CN" altLang="en-US" sz="2000"/>
              <a:t>地址创建的</a:t>
            </a:r>
            <a:r>
              <a:rPr lang="en-US" altLang="zh-CN" sz="2000"/>
              <a:t>InetAddress</a:t>
            </a:r>
            <a:r>
              <a:rPr lang="zh-CN" altLang="en-US" sz="2000"/>
              <a:t>对象调用</a:t>
            </a:r>
            <a:r>
              <a:rPr lang="en-US" altLang="zh-CN" sz="2000"/>
              <a:t>getHostName</a:t>
            </a:r>
            <a:r>
              <a:rPr lang="zh-CN" altLang="en-US" sz="2000"/>
              <a:t>方法时才访问</a:t>
            </a:r>
            <a:r>
              <a:rPr lang="en-US" altLang="zh-CN" sz="2000"/>
              <a:t>DNS</a:t>
            </a:r>
            <a:r>
              <a:rPr lang="zh-CN" altLang="en-US" sz="2000"/>
              <a:t>服务器。在其他情况，</a:t>
            </a:r>
            <a:r>
              <a:rPr lang="en-US" altLang="zh-CN" sz="2000"/>
              <a:t>getHostName</a:t>
            </a:r>
            <a:r>
              <a:rPr lang="zh-CN" altLang="en-US" sz="2000"/>
              <a:t>方法并不会访问</a:t>
            </a:r>
            <a:r>
              <a:rPr lang="en-US" altLang="zh-CN" sz="2000"/>
              <a:t>DNS</a:t>
            </a:r>
            <a:r>
              <a:rPr lang="zh-CN" altLang="en-US" sz="2000"/>
              <a:t>服务器，而是直接将域名或本机名返回。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下面的代码演示了在不同情况下如何使用</a:t>
            </a:r>
            <a:r>
              <a:rPr lang="en-US" altLang="zh-CN" sz="2400"/>
              <a:t>getHostName</a:t>
            </a:r>
            <a:r>
              <a:rPr lang="zh-CN" altLang="en-US" sz="2400"/>
              <a:t>方法，并计算了各种情况所需的毫秒数。</a:t>
            </a: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28600" y="3124200"/>
            <a:ext cx="8686800" cy="10779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InetAddress address = InetAddress.getByName("141.146.8.66");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System.out.println(address.getHostName());  // 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需要访问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DNS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服务器才能得到域名</a:t>
            </a:r>
            <a:endParaRPr lang="zh-CN" altLang="en-US" sz="16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InetAddress address = InetAddress.getByName("1.2.3.4");  // IP</a:t>
            </a:r>
            <a:r>
              <a:rPr lang="zh-CN" altLang="en-US" sz="1600" b="1">
                <a:latin typeface="Consolas" panose="020B0609020204030204" pitchFamily="49" charset="0"/>
              </a:rPr>
              <a:t>地址不存在</a:t>
            </a:r>
            <a:endParaRPr lang="zh-CN" altLang="en-US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System.out.println(address.getHostName());  // 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直接返回</a:t>
            </a:r>
            <a:r>
              <a:rPr lang="en-US" altLang="zh-CN" sz="1600" b="1">
                <a:solidFill>
                  <a:srgbClr val="FF0000"/>
                </a:solidFill>
                <a:latin typeface="Consolas" panose="020B0609020204030204" pitchFamily="49" charset="0"/>
              </a:rPr>
              <a:t>IP</a:t>
            </a:r>
            <a:r>
              <a:rPr lang="zh-CN" altLang="en-US" sz="1600" b="1">
                <a:solidFill>
                  <a:srgbClr val="FF0000"/>
                </a:solidFill>
                <a:latin typeface="Consolas" panose="020B0609020204030204" pitchFamily="49" charset="0"/>
              </a:rPr>
              <a:t>地址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getHostName</a:t>
            </a:r>
            <a:r>
              <a:rPr lang="zh-CN" altLang="en-US" sz="3200" b="1">
                <a:solidFill>
                  <a:srgbClr val="C00000"/>
                </a:solidFill>
              </a:rPr>
              <a:t>方法获得域名例子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46084" name="矩形 5"/>
          <p:cNvSpPr>
            <a:spLocks noChangeArrowheads="1"/>
          </p:cNvSpPr>
          <p:nvPr/>
        </p:nvSpPr>
        <p:spPr bwMode="auto">
          <a:xfrm>
            <a:off x="25400" y="-4763"/>
            <a:ext cx="9053513" cy="67103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public class</a:t>
            </a:r>
            <a:r>
              <a:rPr lang="en-US" altLang="zh-CN" sz="1800" b="1">
                <a:latin typeface="Consolas" panose="020B0609020204030204" pitchFamily="49" charset="0"/>
              </a:rPr>
              <a:t> DomainName {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	</a:t>
            </a: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800" b="1">
                <a:latin typeface="Consolas" panose="020B0609020204030204" pitchFamily="49" charset="0"/>
              </a:rPr>
              <a:t>main(String[] args) </a:t>
            </a: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sz="1800" b="1">
                <a:latin typeface="Consolas" panose="020B0609020204030204" pitchFamily="49" charset="0"/>
              </a:rPr>
              <a:t> Exception{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	long time = 0;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// </a:t>
            </a:r>
            <a:r>
              <a:rPr lang="zh-CN" altLang="en-US" sz="1800" b="1">
                <a:latin typeface="Consolas" panose="020B0609020204030204" pitchFamily="49" charset="0"/>
              </a:rPr>
              <a:t>得到本机名</a:t>
            </a:r>
            <a:endParaRPr lang="zh-CN" altLang="en-US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onsolas" panose="020B0609020204030204" pitchFamily="49" charset="0"/>
              </a:rPr>
              <a:t>        </a:t>
            </a:r>
            <a:r>
              <a:rPr lang="en-US" altLang="zh-CN" sz="1800" b="1">
                <a:latin typeface="Consolas" panose="020B0609020204030204" pitchFamily="49" charset="0"/>
              </a:rPr>
              <a:t>InetAddress address1 = InetAddress.getLocalHost();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System.out.println("</a:t>
            </a:r>
            <a:r>
              <a:rPr lang="zh-CN" altLang="en-US" sz="1800" b="1">
                <a:latin typeface="Consolas" panose="020B0609020204030204" pitchFamily="49" charset="0"/>
              </a:rPr>
              <a:t>本机名： </a:t>
            </a:r>
            <a:r>
              <a:rPr lang="en-US" altLang="zh-CN" sz="1800" b="1">
                <a:latin typeface="Consolas" panose="020B0609020204030204" pitchFamily="49" charset="0"/>
              </a:rPr>
              <a:t>" + address1.getHostName());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// </a:t>
            </a:r>
            <a:r>
              <a:rPr lang="zh-CN" altLang="en-US" sz="1800" b="1">
                <a:latin typeface="Consolas" panose="020B0609020204030204" pitchFamily="49" charset="0"/>
              </a:rPr>
              <a:t>直接返回域名</a:t>
            </a:r>
            <a:endParaRPr lang="zh-CN" altLang="en-US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onsolas" panose="020B0609020204030204" pitchFamily="49" charset="0"/>
              </a:rPr>
              <a:t>        </a:t>
            </a:r>
            <a:r>
              <a:rPr lang="en-US" altLang="zh-CN" sz="1800" b="1">
                <a:latin typeface="Consolas" panose="020B0609020204030204" pitchFamily="49" charset="0"/>
              </a:rPr>
              <a:t>InetAddress address2 =InetAddress.getByName("www.szu.edu.cn");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time = System.currentTimeMillis();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System.out.print("</a:t>
            </a:r>
            <a:r>
              <a:rPr lang="zh-CN" altLang="en-US" sz="1800" b="1">
                <a:latin typeface="Consolas" panose="020B0609020204030204" pitchFamily="49" charset="0"/>
              </a:rPr>
              <a:t>直接得到域名： </a:t>
            </a:r>
            <a:r>
              <a:rPr lang="en-US" altLang="zh-CN" sz="1800" b="1">
                <a:latin typeface="Consolas" panose="020B0609020204030204" pitchFamily="49" charset="0"/>
              </a:rPr>
              <a:t>" + address2.getHostName());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System.out.println("  </a:t>
            </a:r>
            <a:r>
              <a:rPr lang="zh-CN" altLang="en-US" sz="1800" b="1">
                <a:latin typeface="Consolas" panose="020B0609020204030204" pitchFamily="49" charset="0"/>
              </a:rPr>
              <a:t>所用时间：</a:t>
            </a:r>
            <a:r>
              <a:rPr lang="en-US" altLang="zh-CN" sz="1800" b="1">
                <a:latin typeface="Consolas" panose="020B0609020204030204" pitchFamily="49" charset="0"/>
              </a:rPr>
              <a:t>"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+ String.valueOf(System.currentTimeMillis() - time) + " </a:t>
            </a:r>
            <a:r>
              <a:rPr lang="zh-CN" altLang="en-US" sz="1800" b="1">
                <a:latin typeface="Consolas" panose="020B0609020204030204" pitchFamily="49" charset="0"/>
              </a:rPr>
              <a:t>毫秒</a:t>
            </a:r>
            <a:r>
              <a:rPr lang="en-US" altLang="zh-CN" sz="1800" b="1">
                <a:latin typeface="Consolas" panose="020B0609020204030204" pitchFamily="49" charset="0"/>
              </a:rPr>
              <a:t>");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// </a:t>
            </a:r>
            <a:r>
              <a:rPr lang="zh-CN" altLang="en-US" sz="1800" b="1">
                <a:latin typeface="Consolas" panose="020B0609020204030204" pitchFamily="49" charset="0"/>
              </a:rPr>
              <a:t>通过</a:t>
            </a:r>
            <a:r>
              <a:rPr lang="en-US" altLang="zh-CN" sz="1800" b="1">
                <a:latin typeface="Consolas" panose="020B0609020204030204" pitchFamily="49" charset="0"/>
              </a:rPr>
              <a:t>DNS</a:t>
            </a:r>
            <a:r>
              <a:rPr lang="zh-CN" altLang="en-US" sz="1800" b="1">
                <a:latin typeface="Consolas" panose="020B0609020204030204" pitchFamily="49" charset="0"/>
              </a:rPr>
              <a:t>查找域名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InetAddress address3 = InetAddress.getByName("210.39.3.164");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System.out.println("address3:  " + address3);  // </a:t>
            </a:r>
            <a:r>
              <a:rPr lang="zh-CN" altLang="en-US" sz="1800" b="1">
                <a:latin typeface="Consolas" panose="020B0609020204030204" pitchFamily="49" charset="0"/>
              </a:rPr>
              <a:t>域名为空</a:t>
            </a:r>
            <a:endParaRPr lang="zh-CN" altLang="en-US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onsolas" panose="020B0609020204030204" pitchFamily="49" charset="0"/>
              </a:rPr>
              <a:t>        </a:t>
            </a:r>
            <a:r>
              <a:rPr lang="en-US" altLang="zh-CN" sz="1800" b="1">
                <a:latin typeface="Consolas" panose="020B0609020204030204" pitchFamily="49" charset="0"/>
              </a:rPr>
              <a:t>time = System.currentTimeMillis();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System.out.print("</a:t>
            </a:r>
            <a:r>
              <a:rPr lang="zh-CN" altLang="en-US" sz="1800" b="1">
                <a:latin typeface="Consolas" panose="020B0609020204030204" pitchFamily="49" charset="0"/>
              </a:rPr>
              <a:t>通过</a:t>
            </a:r>
            <a:r>
              <a:rPr lang="en-US" altLang="zh-CN" sz="1800" b="1">
                <a:latin typeface="Consolas" panose="020B0609020204030204" pitchFamily="49" charset="0"/>
              </a:rPr>
              <a:t>DNS</a:t>
            </a:r>
            <a:r>
              <a:rPr lang="zh-CN" altLang="en-US" sz="1800" b="1">
                <a:latin typeface="Consolas" panose="020B0609020204030204" pitchFamily="49" charset="0"/>
              </a:rPr>
              <a:t>查找域名： </a:t>
            </a:r>
            <a:r>
              <a:rPr lang="en-US" altLang="zh-CN" sz="1800" b="1">
                <a:latin typeface="Consolas" panose="020B0609020204030204" pitchFamily="49" charset="0"/>
              </a:rPr>
              <a:t>"+address3.getHostName());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System.out.println("  </a:t>
            </a:r>
            <a:r>
              <a:rPr lang="zh-CN" altLang="en-US" sz="1800" b="1">
                <a:latin typeface="Consolas" panose="020B0609020204030204" pitchFamily="49" charset="0"/>
              </a:rPr>
              <a:t>所用时间：</a:t>
            </a:r>
            <a:r>
              <a:rPr lang="en-US" altLang="zh-CN" sz="1800" b="1">
                <a:latin typeface="Consolas" panose="020B0609020204030204" pitchFamily="49" charset="0"/>
              </a:rPr>
              <a:t>" + String.valueOf(System.currentTimeMillis() - time)+ " </a:t>
            </a:r>
            <a:r>
              <a:rPr lang="zh-CN" altLang="en-US" sz="1800" b="1">
                <a:latin typeface="Consolas" panose="020B0609020204030204" pitchFamily="49" charset="0"/>
              </a:rPr>
              <a:t>毫秒</a:t>
            </a:r>
            <a:r>
              <a:rPr lang="en-US" altLang="zh-CN" sz="1800" b="1">
                <a:latin typeface="Consolas" panose="020B0609020204030204" pitchFamily="49" charset="0"/>
              </a:rPr>
              <a:t>");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 System.out.println("address3:  " + address3);  // </a:t>
            </a:r>
            <a:r>
              <a:rPr lang="zh-CN" altLang="en-US" sz="1800" b="1">
                <a:latin typeface="Consolas" panose="020B0609020204030204" pitchFamily="49" charset="0"/>
              </a:rPr>
              <a:t>同时输出域名和</a:t>
            </a:r>
            <a:r>
              <a:rPr lang="en-US" altLang="zh-CN" sz="1800" b="1">
                <a:latin typeface="Consolas" panose="020B0609020204030204" pitchFamily="49" charset="0"/>
              </a:rPr>
              <a:t>IP</a:t>
            </a:r>
            <a:r>
              <a:rPr lang="zh-CN" altLang="en-US" sz="1800" b="1">
                <a:latin typeface="Consolas" panose="020B0609020204030204" pitchFamily="49" charset="0"/>
              </a:rPr>
              <a:t>地址</a:t>
            </a:r>
            <a:endParaRPr lang="zh-CN" altLang="en-US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onsolas" panose="020B0609020204030204" pitchFamily="49" charset="0"/>
              </a:rPr>
              <a:t>	</a:t>
            </a: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getHostName</a:t>
            </a:r>
            <a:r>
              <a:rPr lang="zh-CN" altLang="en-US" sz="3200" b="1">
                <a:solidFill>
                  <a:srgbClr val="C00000"/>
                </a:solidFill>
              </a:rPr>
              <a:t>方法获得域名例子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分析：</a:t>
            </a:r>
            <a:r>
              <a:rPr lang="zh-CN" altLang="en-US" sz="2000"/>
              <a:t>第一个毫秒数是</a:t>
            </a:r>
            <a:r>
              <a:rPr lang="en-US" altLang="zh-CN" sz="2000"/>
              <a:t>0</a:t>
            </a:r>
            <a:r>
              <a:rPr lang="zh-CN" altLang="en-US" sz="2000"/>
              <a:t>，而第二个毫秒数是</a:t>
            </a:r>
            <a:r>
              <a:rPr lang="en-US" altLang="zh-CN" sz="2000"/>
              <a:t>92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说明使用域名创建的</a:t>
            </a:r>
            <a:r>
              <a:rPr lang="en-US" altLang="zh-CN" sz="2000"/>
              <a:t>InetAddress</a:t>
            </a:r>
            <a:r>
              <a:rPr lang="zh-CN" altLang="en-US" sz="2000"/>
              <a:t>对象在使用</a:t>
            </a:r>
            <a:r>
              <a:rPr lang="en-US" altLang="zh-CN" sz="2000"/>
              <a:t>getHostName</a:t>
            </a:r>
            <a:r>
              <a:rPr lang="zh-CN" altLang="en-US" sz="2000"/>
              <a:t>方法时并不访问</a:t>
            </a:r>
            <a:r>
              <a:rPr lang="en-US" altLang="zh-CN" sz="2000"/>
              <a:t>DNS</a:t>
            </a:r>
            <a:r>
              <a:rPr lang="zh-CN" altLang="en-US" sz="2000"/>
              <a:t>服务器。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而使用</a:t>
            </a:r>
            <a:r>
              <a:rPr lang="en-US" altLang="zh-CN" sz="2000"/>
              <a:t>IP</a:t>
            </a:r>
            <a:r>
              <a:rPr lang="zh-CN" altLang="en-US" sz="2000"/>
              <a:t>地址创建的</a:t>
            </a:r>
            <a:r>
              <a:rPr lang="en-US" altLang="zh-CN" sz="2000"/>
              <a:t>InetAddress</a:t>
            </a:r>
            <a:r>
              <a:rPr lang="zh-CN" altLang="en-US" sz="2000"/>
              <a:t>对象在使用</a:t>
            </a:r>
            <a:r>
              <a:rPr lang="en-US" altLang="zh-CN" sz="2000"/>
              <a:t>getHostName</a:t>
            </a:r>
            <a:r>
              <a:rPr lang="zh-CN" altLang="en-US" sz="2000"/>
              <a:t>方法时需要访问</a:t>
            </a:r>
            <a:r>
              <a:rPr lang="en-US" altLang="zh-CN" sz="2000"/>
              <a:t>DNS</a:t>
            </a:r>
            <a:r>
              <a:rPr lang="zh-CN" altLang="en-US" sz="2000"/>
              <a:t>服务器。</a:t>
            </a:r>
            <a:endParaRPr lang="en-US" altLang="zh-CN" sz="200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5654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getCanonicalHostName</a:t>
            </a:r>
            <a:r>
              <a:rPr lang="zh-CN" altLang="en-US" sz="3200" b="1">
                <a:solidFill>
                  <a:srgbClr val="C00000"/>
                </a:solidFill>
              </a:rPr>
              <a:t>方法获得主机名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getCanonicalHostName</a:t>
            </a:r>
            <a:r>
              <a:rPr lang="zh-CN" altLang="en-US" sz="2400"/>
              <a:t>方法和</a:t>
            </a:r>
            <a:r>
              <a:rPr lang="en-US" altLang="zh-CN" sz="2400"/>
              <a:t>getHostName</a:t>
            </a:r>
            <a:r>
              <a:rPr lang="zh-CN" altLang="en-US" sz="2400"/>
              <a:t>方法功能一样，也是</a:t>
            </a:r>
            <a:r>
              <a:rPr lang="zh-CN" altLang="en-US" sz="2400" u="sng"/>
              <a:t>得到远程主机的域名</a:t>
            </a:r>
            <a:r>
              <a:rPr lang="zh-CN" altLang="en-US" sz="2000"/>
              <a:t>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但</a:t>
            </a:r>
            <a:r>
              <a:rPr lang="en-US" altLang="zh-CN" sz="2000"/>
              <a:t>getCanonicalHostName</a:t>
            </a:r>
            <a:r>
              <a:rPr lang="zh-CN" altLang="en-US" sz="2000"/>
              <a:t>得到的是主机名，而</a:t>
            </a:r>
            <a:r>
              <a:rPr lang="en-US" altLang="zh-CN" sz="2000"/>
              <a:t>getHostName</a:t>
            </a:r>
            <a:r>
              <a:rPr lang="zh-CN" altLang="en-US" sz="2000"/>
              <a:t>得到的主机</a:t>
            </a:r>
            <a:r>
              <a:rPr lang="zh-CN" altLang="en-US" sz="2000" b="1">
                <a:solidFill>
                  <a:srgbClr val="FF0000"/>
                </a:solidFill>
              </a:rPr>
              <a:t>别名</a:t>
            </a:r>
            <a:r>
              <a:rPr lang="zh-CN" altLang="en-US" sz="2000"/>
              <a:t>。  方法定义：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该方法的返回值与</a:t>
            </a:r>
            <a:r>
              <a:rPr lang="en-US" altLang="zh-CN" sz="2400"/>
              <a:t>InetAddress</a:t>
            </a:r>
            <a:r>
              <a:rPr lang="zh-CN" altLang="en-US" sz="2400"/>
              <a:t>对象创建方式有关，分三种情况：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一是，若</a:t>
            </a:r>
            <a:r>
              <a:rPr lang="en-US" altLang="zh-CN" sz="2000"/>
              <a:t>InetAddress</a:t>
            </a:r>
            <a:r>
              <a:rPr lang="zh-CN" altLang="en-US" sz="2000"/>
              <a:t>对象是使用</a:t>
            </a:r>
            <a:r>
              <a:rPr lang="en-US" altLang="zh-CN" sz="2000"/>
              <a:t>getLocalHost</a:t>
            </a:r>
            <a:r>
              <a:rPr lang="zh-CN" altLang="en-US" sz="2000"/>
              <a:t>创建的，则该方法的返回值与</a:t>
            </a:r>
            <a:r>
              <a:rPr lang="en-US" altLang="zh-CN" sz="2000"/>
              <a:t>getHostName</a:t>
            </a:r>
            <a:r>
              <a:rPr lang="zh-CN" altLang="en-US" sz="2000"/>
              <a:t>方法得到的一样，都是本机名。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二是，若</a:t>
            </a:r>
            <a:r>
              <a:rPr lang="en-US" altLang="zh-CN" sz="2000"/>
              <a:t>InetAddress</a:t>
            </a:r>
            <a:r>
              <a:rPr lang="zh-CN" altLang="en-US" sz="2000"/>
              <a:t>对象是使用</a:t>
            </a:r>
            <a:r>
              <a:rPr lang="en-US" altLang="zh-CN" sz="2000"/>
              <a:t>IP</a:t>
            </a:r>
            <a:r>
              <a:rPr lang="zh-CN" altLang="en-US" sz="2000"/>
              <a:t>地址创建的，则该方法的返回值与</a:t>
            </a:r>
            <a:r>
              <a:rPr lang="en-US" altLang="zh-CN" sz="2000"/>
              <a:t>getHostName</a:t>
            </a:r>
            <a:r>
              <a:rPr lang="zh-CN" altLang="en-US" sz="2000"/>
              <a:t>方法得到的一样，它们的值可能是主机名，也可能是</a:t>
            </a:r>
            <a:r>
              <a:rPr lang="en-US" altLang="zh-CN" sz="2000"/>
              <a:t>IP</a:t>
            </a:r>
            <a:r>
              <a:rPr lang="zh-CN" altLang="en-US" sz="2000"/>
              <a:t>地址。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三是，若</a:t>
            </a:r>
            <a:r>
              <a:rPr lang="en-US" altLang="zh-CN" sz="2000"/>
              <a:t>InetAddress</a:t>
            </a:r>
            <a:r>
              <a:rPr lang="zh-CN" altLang="en-US" sz="2000"/>
              <a:t>对象是使用域名创建的，在创建</a:t>
            </a:r>
            <a:r>
              <a:rPr lang="en-US" altLang="zh-CN" sz="2000"/>
              <a:t>InetAddress</a:t>
            </a:r>
            <a:r>
              <a:rPr lang="zh-CN" altLang="en-US" sz="2000"/>
              <a:t>对象时，主机名和主机别名若已确定，则该方法不会访问</a:t>
            </a:r>
            <a:r>
              <a:rPr lang="en-US" altLang="zh-CN" sz="2000"/>
              <a:t>DNS</a:t>
            </a:r>
            <a:r>
              <a:rPr lang="zh-CN" altLang="en-US" sz="2000"/>
              <a:t>服务器，直接返回主机别名。否则，则会访问</a:t>
            </a:r>
            <a:r>
              <a:rPr lang="en-US" altLang="zh-CN" sz="2000"/>
              <a:t>DNS</a:t>
            </a:r>
            <a:r>
              <a:rPr lang="zh-CN" altLang="en-US" sz="2000"/>
              <a:t>服务器，则该方法的返回值 取决于</a:t>
            </a:r>
            <a:r>
              <a:rPr lang="en-US" altLang="zh-CN" sz="2000"/>
              <a:t>DNS</a:t>
            </a:r>
            <a:r>
              <a:rPr lang="zh-CN" altLang="en-US" sz="2000"/>
              <a:t>服务器设置。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61938" y="2584450"/>
            <a:ext cx="8348662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String getCanonicalHostName()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  <a:cs typeface="+mn-cs"/>
              </a:rPr>
              <a:t>getCanonicalHostName</a:t>
            </a:r>
            <a:r>
              <a:rPr lang="zh-CN" altLang="en-US" sz="3200" b="1" kern="1200" dirty="0">
                <a:solidFill>
                  <a:srgbClr val="C00000"/>
                </a:solidFill>
                <a:cs typeface="+mn-cs"/>
              </a:rPr>
              <a:t>方法例子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sp>
        <p:nvSpPr>
          <p:cNvPr id="49156" name="矩形 5"/>
          <p:cNvSpPr>
            <a:spLocks noChangeArrowheads="1"/>
          </p:cNvSpPr>
          <p:nvPr/>
        </p:nvSpPr>
        <p:spPr bwMode="auto">
          <a:xfrm>
            <a:off x="115888" y="990600"/>
            <a:ext cx="9053512" cy="4894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public class</a:t>
            </a:r>
            <a:r>
              <a:rPr lang="en-US" altLang="zh-CN" sz="1800" b="1">
                <a:latin typeface="Consolas" panose="020B0609020204030204" pitchFamily="49" charset="0"/>
              </a:rPr>
              <a:t> DomainName2 {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	</a:t>
            </a:r>
            <a:r>
              <a:rPr lang="en-US" altLang="zh-CN" sz="1600">
                <a:latin typeface="Consolas" panose="020B0609020204030204" pitchFamily="49" charset="0"/>
              </a:rPr>
              <a:t>public static void outHostName(InetAddress address, String s)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{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System.out.println("</a:t>
            </a:r>
            <a:r>
              <a:rPr lang="zh-CN" altLang="en-US" sz="1600">
                <a:latin typeface="Consolas" panose="020B0609020204030204" pitchFamily="49" charset="0"/>
              </a:rPr>
              <a:t>通过</a:t>
            </a:r>
            <a:r>
              <a:rPr lang="en-US" altLang="zh-CN" sz="1600">
                <a:latin typeface="Consolas" panose="020B0609020204030204" pitchFamily="49" charset="0"/>
              </a:rPr>
              <a:t>" + s + "</a:t>
            </a:r>
            <a:r>
              <a:rPr lang="zh-CN" altLang="en-US" sz="1600">
                <a:latin typeface="Consolas" panose="020B0609020204030204" pitchFamily="49" charset="0"/>
              </a:rPr>
              <a:t>创建</a:t>
            </a:r>
            <a:r>
              <a:rPr lang="en-US" altLang="zh-CN" sz="1600">
                <a:latin typeface="Consolas" panose="020B0609020204030204" pitchFamily="49" charset="0"/>
              </a:rPr>
              <a:t>InetAddress</a:t>
            </a:r>
            <a:r>
              <a:rPr lang="zh-CN" altLang="en-US" sz="1600">
                <a:latin typeface="Consolas" panose="020B0609020204030204" pitchFamily="49" charset="0"/>
              </a:rPr>
              <a:t>对象</a:t>
            </a:r>
            <a:r>
              <a:rPr lang="en-US" altLang="zh-CN" sz="1600">
                <a:latin typeface="Consolas" panose="020B0609020204030204" pitchFamily="49" charset="0"/>
              </a:rPr>
              <a:t>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System.out.println("</a:t>
            </a:r>
            <a:r>
              <a:rPr lang="zh-CN" altLang="en-US" sz="1600">
                <a:latin typeface="Consolas" panose="020B0609020204030204" pitchFamily="49" charset="0"/>
              </a:rPr>
              <a:t>主 机 名</a:t>
            </a:r>
            <a:r>
              <a:rPr lang="en-US" altLang="zh-CN" sz="1600">
                <a:latin typeface="Consolas" panose="020B0609020204030204" pitchFamily="49" charset="0"/>
              </a:rPr>
              <a:t>:" +address.getCanonicalHostName());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System.out.println("</a:t>
            </a:r>
            <a:r>
              <a:rPr lang="zh-CN" altLang="en-US" sz="1600">
                <a:latin typeface="Consolas" panose="020B0609020204030204" pitchFamily="49" charset="0"/>
              </a:rPr>
              <a:t>主机别名</a:t>
            </a:r>
            <a:r>
              <a:rPr lang="en-US" altLang="zh-CN" sz="1600">
                <a:latin typeface="Consolas" panose="020B0609020204030204" pitchFamily="49" charset="0"/>
              </a:rPr>
              <a:t>:" + address.getHostName());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System.out.println("");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}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	public static void </a:t>
            </a:r>
            <a:r>
              <a:rPr lang="en-US" altLang="zh-CN" sz="1600"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sz="1600">
                <a:latin typeface="Consolas" panose="020B0609020204030204" pitchFamily="49" charset="0"/>
              </a:rPr>
              <a:t> Exception{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outHostName(InetAddress.getLocalHost(), "getLocalHost</a:t>
            </a:r>
            <a:r>
              <a:rPr lang="zh-CN" altLang="en-US" sz="1600">
                <a:latin typeface="Consolas" panose="020B0609020204030204" pitchFamily="49" charset="0"/>
              </a:rPr>
              <a:t>方法</a:t>
            </a:r>
            <a:r>
              <a:rPr lang="en-US" altLang="zh-CN" sz="1600">
                <a:latin typeface="Consolas" panose="020B0609020204030204" pitchFamily="49" charset="0"/>
              </a:rPr>
              <a:t>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outHostName(InetAddress.getByName("www.ibm.com"), "www.ibm.com");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outHostName(InetAddress.getByName("www.126.com"), "www.126.com");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  outHostName(InetAddress.getByName("202.108.9.77"), "202.108.9.77");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  outHostName(InetAddress.getByName("211.100.26.121"), "211.100.26.121");</a:t>
            </a:r>
            <a:endParaRPr lang="zh-CN" altLang="en-U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onsolas" panose="020B0609020204030204" pitchFamily="49" charset="0"/>
              </a:rPr>
              <a:t>	</a:t>
            </a: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lvl="2" indent="-342900" algn="l">
              <a:lnSpc>
                <a:spcPct val="170000"/>
              </a:lnSpc>
              <a:defRPr/>
            </a:pPr>
            <a:r>
              <a:rPr lang="zh-CN" altLang="en-US" sz="3200" b="1" kern="1200" dirty="0">
                <a:solidFill>
                  <a:srgbClr val="C00000"/>
                </a:solidFill>
              </a:rPr>
              <a:t>使用</a:t>
            </a:r>
            <a:r>
              <a:rPr lang="en-US" altLang="zh-CN" sz="3200" b="1" kern="1200" dirty="0" err="1">
                <a:solidFill>
                  <a:srgbClr val="C00000"/>
                </a:solidFill>
              </a:rPr>
              <a:t>getCanonicalHostName</a:t>
            </a:r>
            <a:r>
              <a:rPr lang="zh-CN" altLang="en-US" sz="3200" b="1" kern="1200" dirty="0">
                <a:solidFill>
                  <a:srgbClr val="C00000"/>
                </a:solidFill>
              </a:rPr>
              <a:t>方法例子</a:t>
            </a:r>
            <a:endParaRPr lang="zh-CN" altLang="en-US" sz="3200" b="1" kern="1200" dirty="0">
              <a:solidFill>
                <a:srgbClr val="C00000"/>
              </a:solidFill>
              <a:cs typeface="+mn-cs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5257800" cy="549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getHostAddress</a:t>
            </a:r>
            <a:r>
              <a:rPr lang="zh-CN" altLang="en-US" sz="3200" b="1">
                <a:solidFill>
                  <a:srgbClr val="C00000"/>
                </a:solidFill>
              </a:rPr>
              <a:t>方法获得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地址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这个方法用来得到主机的</a:t>
            </a:r>
            <a:r>
              <a:rPr lang="en-US" altLang="zh-CN" sz="2400"/>
              <a:t>IP</a:t>
            </a:r>
            <a:r>
              <a:rPr lang="zh-CN" altLang="en-US" sz="2400"/>
              <a:t>地址，这个</a:t>
            </a:r>
            <a:r>
              <a:rPr lang="en-US" altLang="zh-CN" sz="2400"/>
              <a:t>IP</a:t>
            </a:r>
            <a:r>
              <a:rPr lang="zh-CN" altLang="en-US" sz="2400"/>
              <a:t>地址可能是</a:t>
            </a:r>
            <a:r>
              <a:rPr lang="en-US" altLang="zh-CN" sz="2400"/>
              <a:t>IPv4</a:t>
            </a:r>
            <a:r>
              <a:rPr lang="zh-CN" altLang="en-US" sz="2400"/>
              <a:t>的地址，也可能是</a:t>
            </a:r>
            <a:r>
              <a:rPr lang="en-US" altLang="zh-CN" sz="2400"/>
              <a:t>IPv6</a:t>
            </a:r>
            <a:r>
              <a:rPr lang="zh-CN" altLang="en-US" sz="2400"/>
              <a:t>的地址</a:t>
            </a:r>
            <a:r>
              <a:rPr lang="zh-CN" altLang="en-US" sz="2000"/>
              <a:t>。 方法定义：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下面的代码演示了如何利用</a:t>
            </a:r>
            <a:r>
              <a:rPr lang="en-US" altLang="zh-CN" sz="2400"/>
              <a:t>getHostAddress</a:t>
            </a:r>
            <a:r>
              <a:rPr lang="zh-CN" altLang="en-US" sz="2400"/>
              <a:t>得到</a:t>
            </a:r>
            <a:r>
              <a:rPr lang="en-US" altLang="zh-CN" sz="2400"/>
              <a:t>IPv4</a:t>
            </a:r>
            <a:r>
              <a:rPr lang="zh-CN" altLang="en-US" sz="2400"/>
              <a:t>和</a:t>
            </a:r>
            <a:r>
              <a:rPr lang="en-US" altLang="zh-CN" sz="2400"/>
              <a:t>IPv6</a:t>
            </a:r>
            <a:r>
              <a:rPr lang="zh-CN" altLang="en-US" sz="2400"/>
              <a:t>地址，以及如何得到本机的所有</a:t>
            </a:r>
            <a:r>
              <a:rPr lang="en-US" altLang="zh-CN" sz="2400"/>
              <a:t>IP</a:t>
            </a:r>
            <a:r>
              <a:rPr lang="zh-CN" altLang="en-US" sz="2400"/>
              <a:t>地址。</a:t>
            </a:r>
            <a:endParaRPr lang="en-US" altLang="zh-CN" sz="24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7200" y="1905000"/>
            <a:ext cx="8348663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String getHostAddress()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0" y="914400"/>
            <a:ext cx="9053513" cy="54165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public class</a:t>
            </a:r>
            <a:r>
              <a:rPr lang="en-US" altLang="zh-CN" sz="1800" b="1">
                <a:latin typeface="Consolas" panose="020B0609020204030204" pitchFamily="49" charset="0"/>
              </a:rPr>
              <a:t> GetIP{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	</a:t>
            </a: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sz="1600">
                <a:latin typeface="Consolas" panose="020B0609020204030204" pitchFamily="49" charset="0"/>
              </a:rPr>
              <a:t> Exception{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// </a:t>
            </a:r>
            <a:r>
              <a:rPr lang="zh-CN" altLang="en-US" sz="1600">
                <a:latin typeface="Consolas" panose="020B0609020204030204" pitchFamily="49" charset="0"/>
              </a:rPr>
              <a:t>输出</a:t>
            </a:r>
            <a:r>
              <a:rPr lang="en-US" altLang="zh-CN" sz="1600">
                <a:latin typeface="Consolas" panose="020B0609020204030204" pitchFamily="49" charset="0"/>
              </a:rPr>
              <a:t>IPv4</a:t>
            </a:r>
            <a:r>
              <a:rPr lang="zh-CN" altLang="en-US" sz="1600">
                <a:latin typeface="Consolas" panose="020B0609020204030204" pitchFamily="49" charset="0"/>
              </a:rPr>
              <a:t>地址</a:t>
            </a:r>
            <a:endParaRPr lang="zh-CN" altLang="en-U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Consolas" panose="020B0609020204030204" pitchFamily="49" charset="0"/>
              </a:rPr>
              <a:t>        </a:t>
            </a:r>
            <a:r>
              <a:rPr lang="en-US" altLang="zh-CN" sz="1600">
                <a:latin typeface="Consolas" panose="020B0609020204030204" pitchFamily="49" charset="0"/>
              </a:rPr>
              <a:t>InetAddress ipv4Address1 = InetAddress.getByName("1.2.3.4");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System.out.println("ipv4Address1: " + ipv4Address1.getHostAddress());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InetAddress ipv4Address2 = InetAddress.getByName("www.ibm.com");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System.out.println("ipv4Address2: " + ipv4Address2.getHostAddress());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InetAddress ipv4Address3 = InetAddress.getByName("www.szu.edu.cn");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System.out.println("ipv4Address3: " + ipv4Address3.getHostAddress());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// </a:t>
            </a:r>
            <a:r>
              <a:rPr lang="zh-CN" altLang="en-US" sz="1600">
                <a:latin typeface="Consolas" panose="020B0609020204030204" pitchFamily="49" charset="0"/>
              </a:rPr>
              <a:t>输出</a:t>
            </a:r>
            <a:r>
              <a:rPr lang="en-US" altLang="zh-CN" sz="1600">
                <a:latin typeface="Consolas" panose="020B0609020204030204" pitchFamily="49" charset="0"/>
              </a:rPr>
              <a:t>IPv6</a:t>
            </a:r>
            <a:r>
              <a:rPr lang="zh-CN" altLang="en-US" sz="1600">
                <a:latin typeface="Consolas" panose="020B0609020204030204" pitchFamily="49" charset="0"/>
              </a:rPr>
              <a:t>地址</a:t>
            </a:r>
            <a:endParaRPr lang="zh-CN" altLang="en-U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Consolas" panose="020B0609020204030204" pitchFamily="49" charset="0"/>
              </a:rPr>
              <a:t>        </a:t>
            </a:r>
            <a:r>
              <a:rPr lang="en-US" altLang="zh-CN" sz="1600">
                <a:latin typeface="Consolas" panose="020B0609020204030204" pitchFamily="49" charset="0"/>
              </a:rPr>
              <a:t>InetAddress ipv6Address1 = InetAddress.getByName("abcd:123::22ff");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System.out.println("ipv6Address1: " + ipv6Address1.getHostAddress());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InetAddress ipv6Address2 = InetAddress.getByName("www.neu6.edu.cn");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System.out.println("ipv6Address2: " + ipv6Address2.getHostAddress());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// </a:t>
            </a:r>
            <a:r>
              <a:rPr lang="zh-CN" altLang="en-US" sz="1600">
                <a:latin typeface="Consolas" panose="020B0609020204030204" pitchFamily="49" charset="0"/>
              </a:rPr>
              <a:t>输出本机全部的</a:t>
            </a:r>
            <a:r>
              <a:rPr lang="en-US" altLang="zh-CN" sz="1600">
                <a:latin typeface="Consolas" panose="020B0609020204030204" pitchFamily="49" charset="0"/>
              </a:rPr>
              <a:t>IP</a:t>
            </a:r>
            <a:r>
              <a:rPr lang="zh-CN" altLang="en-US" sz="1600">
                <a:latin typeface="Consolas" panose="020B0609020204030204" pitchFamily="49" charset="0"/>
              </a:rPr>
              <a:t>地址</a:t>
            </a:r>
            <a:endParaRPr lang="zh-CN" altLang="en-US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Consolas" panose="020B0609020204030204" pitchFamily="49" charset="0"/>
              </a:rPr>
              <a:t>        </a:t>
            </a:r>
            <a:r>
              <a:rPr lang="en-US" altLang="zh-CN" sz="1600">
                <a:latin typeface="Consolas" panose="020B0609020204030204" pitchFamily="49" charset="0"/>
              </a:rPr>
              <a:t>InetAddress Addresses[] = InetAddress.getAllByName("www.szu.edu.cn");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for (InetAddress address : Addresses)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            System.out.println("</a:t>
            </a:r>
            <a:r>
              <a:rPr lang="zh-CN" altLang="en-US" sz="1600">
                <a:latin typeface="Consolas" panose="020B0609020204030204" pitchFamily="49" charset="0"/>
              </a:rPr>
              <a:t>本机地址：</a:t>
            </a:r>
            <a:r>
              <a:rPr lang="en-US" altLang="zh-CN" sz="1600">
                <a:latin typeface="Consolas" panose="020B0609020204030204" pitchFamily="49" charset="0"/>
              </a:rPr>
              <a:t>" + address.getHostAddress());</a:t>
            </a:r>
            <a:r>
              <a:rPr lang="zh-CN" altLang="en-US" sz="1800" b="1">
                <a:latin typeface="Consolas" panose="020B0609020204030204" pitchFamily="49" charset="0"/>
              </a:rPr>
              <a:t>	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       }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7775575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getHostAddress</a:t>
            </a:r>
            <a:r>
              <a:rPr lang="zh-CN" altLang="en-US" sz="3200" b="1">
                <a:solidFill>
                  <a:srgbClr val="C00000"/>
                </a:solidFill>
              </a:rPr>
              <a:t>方法获得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地址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24863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运行结果：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76400"/>
            <a:ext cx="57531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getAddress</a:t>
            </a:r>
            <a:r>
              <a:rPr lang="zh-CN" altLang="en-US" sz="3200" b="1">
                <a:solidFill>
                  <a:srgbClr val="C00000"/>
                </a:solidFill>
              </a:rPr>
              <a:t>方法获得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地址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86800" cy="5562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400"/>
              <a:t>getAddress</a:t>
            </a:r>
            <a:r>
              <a:rPr lang="zh-CN" altLang="en-US" sz="2400"/>
              <a:t>方法和</a:t>
            </a:r>
            <a:r>
              <a:rPr lang="en-US" altLang="zh-CN" sz="2400"/>
              <a:t>getHostAddress</a:t>
            </a:r>
            <a:r>
              <a:rPr lang="zh-CN" altLang="en-US" sz="2400"/>
              <a:t>类似，它们区别是</a:t>
            </a:r>
            <a:r>
              <a:rPr lang="en-US" altLang="zh-CN" sz="2400"/>
              <a:t>getHostAddress</a:t>
            </a:r>
            <a:r>
              <a:rPr lang="zh-CN" altLang="en-US" sz="2400"/>
              <a:t>方法返回的是字符串形式的</a:t>
            </a:r>
            <a:r>
              <a:rPr lang="en-US" altLang="zh-CN" sz="2400"/>
              <a:t>IP</a:t>
            </a:r>
            <a:r>
              <a:rPr lang="zh-CN" altLang="en-US" sz="2400"/>
              <a:t>地址，而</a:t>
            </a:r>
            <a:r>
              <a:rPr lang="en-US" altLang="zh-CN" sz="2400"/>
              <a:t>getAddress</a:t>
            </a:r>
            <a:r>
              <a:rPr lang="zh-CN" altLang="en-US" sz="2400"/>
              <a:t>方法返回的是</a:t>
            </a:r>
            <a:r>
              <a:rPr lang="en-US" altLang="zh-CN" sz="2400"/>
              <a:t>byte</a:t>
            </a:r>
            <a:r>
              <a:rPr lang="zh-CN" altLang="en-US" sz="2400"/>
              <a:t>数组形式的</a:t>
            </a:r>
            <a:r>
              <a:rPr lang="en-US" altLang="zh-CN" sz="2400"/>
              <a:t>IP</a:t>
            </a:r>
            <a:r>
              <a:rPr lang="zh-CN" altLang="en-US" sz="2400"/>
              <a:t>地址。</a:t>
            </a:r>
            <a:r>
              <a:rPr lang="zh-CN" altLang="en-US" sz="2000"/>
              <a:t> 方法定义：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这个方法返回的</a:t>
            </a:r>
            <a:r>
              <a:rPr lang="en-US" altLang="zh-CN" sz="2400"/>
              <a:t>byte</a:t>
            </a:r>
            <a:r>
              <a:rPr lang="zh-CN" altLang="en-US" sz="2400"/>
              <a:t>数组是有符号的。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在</a:t>
            </a:r>
            <a:r>
              <a:rPr lang="en-US" altLang="zh-CN" sz="2400"/>
              <a:t>Java</a:t>
            </a:r>
            <a:r>
              <a:rPr lang="zh-CN" altLang="en-US" sz="2400"/>
              <a:t>中</a:t>
            </a:r>
            <a:r>
              <a:rPr lang="en-US" altLang="zh-CN" sz="2400"/>
              <a:t>byte</a:t>
            </a:r>
            <a:r>
              <a:rPr lang="zh-CN" altLang="en-US" sz="2400"/>
              <a:t>类型的取值范围是</a:t>
            </a:r>
            <a:r>
              <a:rPr lang="en-US" altLang="zh-CN" sz="2400"/>
              <a:t>-128〜127</a:t>
            </a:r>
            <a:r>
              <a:rPr lang="zh-CN" altLang="en-US" sz="2400"/>
              <a:t>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如果返回的</a:t>
            </a:r>
            <a:r>
              <a:rPr lang="en-US" altLang="zh-CN" sz="2400"/>
              <a:t>IP</a:t>
            </a:r>
            <a:r>
              <a:rPr lang="zh-CN" altLang="en-US" sz="2400"/>
              <a:t>地址的某个字节是大于</a:t>
            </a:r>
            <a:r>
              <a:rPr lang="en-US" altLang="zh-CN" sz="2400"/>
              <a:t>127</a:t>
            </a:r>
            <a:r>
              <a:rPr lang="zh-CN" altLang="en-US" sz="2400"/>
              <a:t>的整数，</a:t>
            </a:r>
            <a:r>
              <a:rPr lang="zh-CN" altLang="en-US" sz="2400" b="1">
                <a:highlight>
                  <a:srgbClr val="FFFF00"/>
                </a:highlight>
              </a:rPr>
              <a:t>在</a:t>
            </a:r>
            <a:r>
              <a:rPr lang="en-US" altLang="zh-CN" sz="2400" b="1">
                <a:highlight>
                  <a:srgbClr val="FFFF00"/>
                </a:highlight>
              </a:rPr>
              <a:t>byte</a:t>
            </a:r>
            <a:r>
              <a:rPr lang="zh-CN" altLang="en-US" sz="2400" b="1">
                <a:highlight>
                  <a:srgbClr val="FFFF00"/>
                </a:highlight>
              </a:rPr>
              <a:t>数组中就是负数。</a:t>
            </a:r>
            <a:endParaRPr lang="en-US" altLang="zh-CN" sz="2400" b="1">
              <a:highlight>
                <a:srgbClr val="FFFF00"/>
              </a:highlight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由于</a:t>
            </a:r>
            <a:r>
              <a:rPr lang="en-US" altLang="zh-CN" sz="2400"/>
              <a:t>Java</a:t>
            </a:r>
            <a:r>
              <a:rPr lang="zh-CN" altLang="en-US" sz="2400"/>
              <a:t>中没有无符号</a:t>
            </a:r>
            <a:r>
              <a:rPr lang="en-US" altLang="zh-CN" sz="2400"/>
              <a:t>byte</a:t>
            </a:r>
            <a:r>
              <a:rPr lang="zh-CN" altLang="en-US" sz="2400"/>
              <a:t>类型，因此，要想显示正常的</a:t>
            </a:r>
            <a:r>
              <a:rPr lang="en-US" altLang="zh-CN" sz="2400"/>
              <a:t>IP</a:t>
            </a:r>
            <a:r>
              <a:rPr lang="zh-CN" altLang="en-US" sz="2400"/>
              <a:t>地址，必须使用</a:t>
            </a:r>
            <a:r>
              <a:rPr lang="en-US" altLang="zh-CN" sz="2400"/>
              <a:t>int</a:t>
            </a:r>
            <a:r>
              <a:rPr lang="zh-CN" altLang="en-US" sz="2400"/>
              <a:t>或</a:t>
            </a:r>
            <a:r>
              <a:rPr lang="en-US" altLang="zh-CN" sz="2400"/>
              <a:t>long</a:t>
            </a:r>
            <a:r>
              <a:rPr lang="zh-CN" altLang="en-US" sz="2400"/>
              <a:t>类型。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/>
              <a:t>下面代码演示了如何利用</a:t>
            </a:r>
            <a:r>
              <a:rPr lang="en-US" altLang="zh-CN" sz="2400"/>
              <a:t>getAddress</a:t>
            </a:r>
            <a:r>
              <a:rPr lang="zh-CN" altLang="en-US" sz="2400"/>
              <a:t>返回</a:t>
            </a:r>
            <a:r>
              <a:rPr lang="en-US" altLang="zh-CN" sz="2400"/>
              <a:t>IP</a:t>
            </a:r>
            <a:r>
              <a:rPr lang="zh-CN" altLang="en-US" sz="2400"/>
              <a:t>地址，以及如何将</a:t>
            </a:r>
            <a:r>
              <a:rPr lang="en-US" altLang="zh-CN" sz="2400"/>
              <a:t>IP</a:t>
            </a:r>
            <a:r>
              <a:rPr lang="zh-CN" altLang="en-US" sz="2400"/>
              <a:t>地址转换成正整数形式。</a:t>
            </a:r>
            <a:endParaRPr lang="en-US" altLang="zh-CN" sz="240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7200" y="2174875"/>
            <a:ext cx="8348663" cy="33972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byte[] getAddress()</a:t>
            </a:r>
            <a:endParaRPr lang="en-US" altLang="zh-CN" sz="1600" b="1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" y="152400"/>
            <a:ext cx="8893175" cy="914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 algn="l">
              <a:lnSpc>
                <a:spcPct val="170000"/>
              </a:lnSpc>
            </a:pPr>
            <a:r>
              <a:rPr lang="zh-CN" altLang="en-US" sz="3200" b="1">
                <a:solidFill>
                  <a:srgbClr val="C00000"/>
                </a:solidFill>
              </a:rPr>
              <a:t>使用</a:t>
            </a:r>
            <a:r>
              <a:rPr lang="en-US" altLang="zh-CN" sz="3200" b="1">
                <a:solidFill>
                  <a:srgbClr val="C00000"/>
                </a:solidFill>
              </a:rPr>
              <a:t>getAddress</a:t>
            </a:r>
            <a:r>
              <a:rPr lang="zh-CN" altLang="en-US" sz="3200" b="1">
                <a:solidFill>
                  <a:srgbClr val="C00000"/>
                </a:solidFill>
              </a:rPr>
              <a:t>方法获得</a:t>
            </a:r>
            <a:r>
              <a:rPr lang="en-US" altLang="zh-CN" sz="3200" b="1">
                <a:solidFill>
                  <a:srgbClr val="C00000"/>
                </a:solidFill>
              </a:rPr>
              <a:t>IP</a:t>
            </a:r>
            <a:r>
              <a:rPr lang="zh-CN" altLang="en-US" sz="3200" b="1">
                <a:solidFill>
                  <a:srgbClr val="C00000"/>
                </a:solidFill>
              </a:rPr>
              <a:t>地址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" y="990600"/>
            <a:ext cx="8785225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运行结果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/>
              <a:t>分析：</a:t>
            </a:r>
            <a:r>
              <a:rPr lang="zh-CN" altLang="en-US" sz="1800"/>
              <a:t>第一行输出了未转换的</a:t>
            </a:r>
            <a:r>
              <a:rPr lang="en-US" altLang="zh-CN" sz="1800"/>
              <a:t>IP</a:t>
            </a:r>
            <a:r>
              <a:rPr lang="zh-CN" altLang="en-US" sz="1800"/>
              <a:t>地址，由于</a:t>
            </a:r>
            <a:r>
              <a:rPr lang="en-US" altLang="zh-CN" sz="1800"/>
              <a:t>www.csdn.net</a:t>
            </a:r>
            <a:r>
              <a:rPr lang="zh-CN" altLang="en-US" sz="1800"/>
              <a:t>的</a:t>
            </a:r>
            <a:r>
              <a:rPr lang="en-US" altLang="zh-CN" sz="1800"/>
              <a:t>IP</a:t>
            </a:r>
            <a:r>
              <a:rPr lang="zh-CN" altLang="en-US" sz="1800"/>
              <a:t>地址的第一个字节大于</a:t>
            </a:r>
            <a:r>
              <a:rPr lang="en-US" altLang="zh-CN" sz="1800"/>
              <a:t>127</a:t>
            </a:r>
            <a:r>
              <a:rPr lang="zh-CN" altLang="en-US" sz="1800"/>
              <a:t>，因此，输出了一个负数。而第二行由于将</a:t>
            </a:r>
            <a:r>
              <a:rPr lang="en-US" altLang="zh-CN" sz="1800"/>
              <a:t>IP</a:t>
            </a:r>
            <a:r>
              <a:rPr lang="zh-CN" altLang="en-US" sz="1800"/>
              <a:t>地址的每一个字节转换成了</a:t>
            </a:r>
            <a:r>
              <a:rPr lang="en-US" altLang="zh-CN" sz="1800"/>
              <a:t>int</a:t>
            </a:r>
            <a:r>
              <a:rPr lang="zh-CN" altLang="en-US" sz="1800"/>
              <a:t>类型，因此，输出了正常的</a:t>
            </a:r>
            <a:r>
              <a:rPr lang="en-US" altLang="zh-CN" sz="1800"/>
              <a:t>IP</a:t>
            </a:r>
            <a:r>
              <a:rPr lang="zh-CN" altLang="en-US" sz="1800"/>
              <a:t>地址。</a:t>
            </a:r>
            <a:endParaRPr lang="en-US" altLang="zh-CN" sz="1800"/>
          </a:p>
        </p:txBody>
      </p:sp>
      <p:sp>
        <p:nvSpPr>
          <p:cNvPr id="54276" name="矩形 5"/>
          <p:cNvSpPr>
            <a:spLocks noChangeArrowheads="1"/>
          </p:cNvSpPr>
          <p:nvPr/>
        </p:nvSpPr>
        <p:spPr bwMode="auto">
          <a:xfrm>
            <a:off x="90488" y="946150"/>
            <a:ext cx="9053512" cy="38782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7F0055"/>
                </a:solidFill>
                <a:latin typeface="Consolas" panose="020B0609020204030204" pitchFamily="49" charset="0"/>
              </a:rPr>
              <a:t>import </a:t>
            </a:r>
            <a:r>
              <a:rPr lang="en-US" altLang="zh-CN" sz="1600" b="1">
                <a:solidFill>
                  <a:srgbClr val="000000"/>
                </a:solidFill>
                <a:latin typeface="Consolas" panose="020B0609020204030204" pitchFamily="49" charset="0"/>
              </a:rPr>
              <a:t>java.net.*;</a:t>
            </a:r>
            <a:endParaRPr lang="en-US" altLang="zh-CN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public class</a:t>
            </a:r>
            <a:r>
              <a:rPr lang="en-US" altLang="zh-CN" sz="1800" b="1">
                <a:latin typeface="Consolas" panose="020B0609020204030204" pitchFamily="49" charset="0"/>
              </a:rPr>
              <a:t> GetIP2{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	</a:t>
            </a: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600">
                <a:latin typeface="Consolas" panose="020B0609020204030204" pitchFamily="49" charset="0"/>
              </a:rPr>
              <a:t>main(String[] args) </a:t>
            </a:r>
            <a:r>
              <a:rPr lang="en-US" altLang="zh-CN" sz="1600">
                <a:solidFill>
                  <a:srgbClr val="C00000"/>
                </a:solidFill>
                <a:latin typeface="Consolas" panose="020B0609020204030204" pitchFamily="49" charset="0"/>
              </a:rPr>
              <a:t>throws</a:t>
            </a:r>
            <a:r>
              <a:rPr lang="en-US" altLang="zh-CN" sz="1600">
                <a:latin typeface="Consolas" panose="020B0609020204030204" pitchFamily="49" charset="0"/>
              </a:rPr>
              <a:t> Exception{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InetAddress address = InetAddress.getByName("www.csdn.net");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byte ip[] = address.getAddress();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for (byte ipSegment : ip)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    System.out.print(ipSegment + " 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System.out.println("");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for (byte ipSegment : ip)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{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    int newIPSegment = (ipSegment &lt; 0) ? 256 + ipSegment : ipSegment;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    System.out.print(newIPSegment + " ");</a:t>
            </a:r>
            <a:endParaRPr lang="en-US" altLang="zh-CN" sz="160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Consolas" panose="020B0609020204030204" pitchFamily="49" charset="0"/>
              </a:rPr>
              <a:t>	        }</a:t>
            </a:r>
            <a:endParaRPr lang="en-US" altLang="zh-CN" sz="18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267200"/>
            <a:ext cx="4078288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0" y="20638"/>
            <a:ext cx="8540750" cy="838200"/>
          </a:xfrm>
        </p:spPr>
        <p:txBody>
          <a:bodyPr/>
          <a:lstStyle/>
          <a:p>
            <a:pPr algn="l"/>
            <a:r>
              <a:rPr lang="zh-CN" altLang="en-US" sz="3200"/>
              <a:t>获取方法</a:t>
            </a:r>
            <a:endParaRPr lang="zh-CN" altLang="en-US" sz="3200"/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14288" y="858838"/>
            <a:ext cx="8540750" cy="1905000"/>
          </a:xfrm>
        </p:spPr>
        <p:txBody>
          <a:bodyPr/>
          <a:lstStyle/>
          <a:p>
            <a:r>
              <a:rPr lang="zh-CN" altLang="en-US" sz="2800"/>
              <a:t>给定地址，找出主机别名</a:t>
            </a:r>
            <a:r>
              <a:rPr lang="en-US" altLang="zh-CN" sz="2800"/>
              <a:t>:</a:t>
            </a:r>
            <a:r>
              <a:rPr lang="zh-CN" altLang="en-US" sz="2800"/>
              <a:t>先得到</a:t>
            </a:r>
            <a:r>
              <a:rPr lang="en-US" altLang="zh-CN" sz="2800"/>
              <a:t>InternetAddress</a:t>
            </a:r>
            <a:r>
              <a:rPr lang="zh-CN" altLang="en-US" sz="2800"/>
              <a:t>对象</a:t>
            </a:r>
            <a:r>
              <a:rPr lang="en-US" altLang="zh-CN" sz="2800"/>
              <a:t>,</a:t>
            </a:r>
            <a:r>
              <a:rPr lang="zh-CN" altLang="en-US" sz="2800"/>
              <a:t>再转换得到主机别名</a:t>
            </a:r>
            <a:endParaRPr lang="zh-CN" altLang="en-US" sz="2800"/>
          </a:p>
        </p:txBody>
      </p:sp>
      <p:pic>
        <p:nvPicPr>
          <p:cNvPr id="5530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3" y="4800600"/>
            <a:ext cx="64008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76200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540750" cy="533400"/>
          </a:xfrm>
        </p:spPr>
        <p:txBody>
          <a:bodyPr/>
          <a:lstStyle/>
          <a:p>
            <a:r>
              <a:rPr lang="zh-CN" altLang="en-US" sz="3200"/>
              <a:t>测试</a:t>
            </a:r>
            <a:r>
              <a:rPr lang="en-US" altLang="zh-CN" sz="3200"/>
              <a:t>IP</a:t>
            </a:r>
            <a:r>
              <a:rPr lang="zh-CN" altLang="en-US" sz="3200"/>
              <a:t>地址的性质</a:t>
            </a:r>
            <a:endParaRPr lang="zh-CN" altLang="en-US" sz="3200"/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0" y="838200"/>
            <a:ext cx="8540750" cy="1905000"/>
          </a:xfrm>
        </p:spPr>
        <p:txBody>
          <a:bodyPr/>
          <a:lstStyle/>
          <a:p>
            <a:r>
              <a:rPr lang="zh-CN" altLang="en-US" sz="2400"/>
              <a:t>有时程序需要测试</a:t>
            </a:r>
            <a:r>
              <a:rPr lang="en-US" altLang="zh-CN" sz="2400"/>
              <a:t>IP</a:t>
            </a:r>
            <a:r>
              <a:rPr lang="zh-CN" altLang="en-US" sz="2400"/>
              <a:t>地址的性质</a:t>
            </a:r>
            <a:r>
              <a:rPr lang="en-US" altLang="zh-CN" sz="2400"/>
              <a:t>:</a:t>
            </a:r>
            <a:r>
              <a:rPr lang="zh-CN" altLang="en-US" sz="2400"/>
              <a:t>使用</a:t>
            </a:r>
            <a:r>
              <a:rPr lang="en-US" altLang="zh-CN" sz="2400"/>
              <a:t>10</a:t>
            </a:r>
            <a:r>
              <a:rPr lang="zh-CN" altLang="en-US" sz="2400"/>
              <a:t>个方法测试从命令行输入的一个地址的性质</a:t>
            </a:r>
            <a:endParaRPr lang="en-US" altLang="zh-CN" sz="2400"/>
          </a:p>
          <a:p>
            <a:r>
              <a:rPr lang="zh-CN" altLang="en-US" sz="2400"/>
              <a:t>演示示例代码</a:t>
            </a:r>
            <a:r>
              <a:rPr lang="en-US" altLang="zh-CN" sz="2400"/>
              <a:t>ch4.IPCharacteristics.java ,ex4-6 </a:t>
            </a:r>
            <a:endParaRPr lang="zh-CN" altLang="en-US" sz="2400"/>
          </a:p>
        </p:txBody>
      </p:sp>
      <p:pic>
        <p:nvPicPr>
          <p:cNvPr id="56324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2057400"/>
            <a:ext cx="85947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540750" cy="533400"/>
          </a:xfrm>
        </p:spPr>
        <p:txBody>
          <a:bodyPr/>
          <a:lstStyle/>
          <a:p>
            <a:r>
              <a:rPr lang="zh-CN" altLang="en-US" sz="3200"/>
              <a:t>测试</a:t>
            </a:r>
            <a:r>
              <a:rPr lang="en-US" altLang="zh-CN" sz="3200"/>
              <a:t>IP</a:t>
            </a:r>
            <a:r>
              <a:rPr lang="zh-CN" altLang="en-US" sz="3200"/>
              <a:t>地址的性质</a:t>
            </a:r>
            <a:endParaRPr lang="zh-CN" altLang="en-US" sz="3200"/>
          </a:p>
        </p:txBody>
      </p:sp>
      <p:pic>
        <p:nvPicPr>
          <p:cNvPr id="57347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8991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540750" cy="1143000"/>
          </a:xfrm>
        </p:spPr>
        <p:txBody>
          <a:bodyPr/>
          <a:lstStyle/>
          <a:p>
            <a:r>
              <a:rPr lang="zh-CN" altLang="en-US" sz="3200"/>
              <a:t>测试</a:t>
            </a:r>
            <a:r>
              <a:rPr lang="en-US" altLang="zh-CN" sz="3200"/>
              <a:t>IP</a:t>
            </a:r>
            <a:r>
              <a:rPr lang="zh-CN" altLang="en-US" sz="3200"/>
              <a:t>地址的性质</a:t>
            </a:r>
            <a:endParaRPr lang="zh-CN" altLang="en-US" sz="3200"/>
          </a:p>
        </p:txBody>
      </p:sp>
      <p:pic>
        <p:nvPicPr>
          <p:cNvPr id="58371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1736725"/>
            <a:ext cx="8001000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文本框 3"/>
          <p:cNvSpPr txBox="1">
            <a:spLocks noChangeArrowheads="1"/>
          </p:cNvSpPr>
          <p:nvPr/>
        </p:nvSpPr>
        <p:spPr bwMode="auto">
          <a:xfrm>
            <a:off x="269875" y="1143000"/>
            <a:ext cx="681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直接运行</a:t>
            </a:r>
            <a:r>
              <a:rPr lang="en-US" altLang="zh-CN" sz="1800"/>
              <a:t>IPCharacteristics</a:t>
            </a:r>
            <a:r>
              <a:rPr lang="zh-CN" altLang="en-US" sz="1800"/>
              <a:t>类，不带参数，控制台输出：</a:t>
            </a:r>
            <a:endParaRPr lang="zh-CN" altLang="en-US"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NetworkInterface</a:t>
            </a:r>
            <a:endParaRPr lang="zh-CN" altLang="en-US" sz="320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表示物理网卡或虚拟网卡</a:t>
            </a:r>
            <a:endParaRPr lang="en-US" altLang="zh-CN"/>
          </a:p>
          <a:p>
            <a:pPr lvl="1"/>
            <a:r>
              <a:rPr lang="en-US" altLang="zh-CN" sz="2400"/>
              <a:t>static NetworkInterface getByName(String name)</a:t>
            </a:r>
            <a:endParaRPr lang="en-US" altLang="zh-CN" sz="2400"/>
          </a:p>
          <a:p>
            <a:r>
              <a:rPr lang="zh-CN" altLang="en-US"/>
              <a:t>列出所有网卡</a:t>
            </a:r>
            <a:endParaRPr lang="en-US" altLang="zh-CN"/>
          </a:p>
          <a:p>
            <a:pPr lvl="1"/>
            <a:r>
              <a:rPr lang="en-US" altLang="zh-CN"/>
              <a:t>static Enumeration getInetAddresses()</a:t>
            </a:r>
            <a:endParaRPr lang="zh-CN" altLang="en-US"/>
          </a:p>
        </p:txBody>
      </p:sp>
      <p:sp>
        <p:nvSpPr>
          <p:cNvPr id="59396" name="矩形 3"/>
          <p:cNvSpPr>
            <a:spLocks noChangeArrowheads="1"/>
          </p:cNvSpPr>
          <p:nvPr/>
        </p:nvSpPr>
        <p:spPr bwMode="auto">
          <a:xfrm>
            <a:off x="7708900" y="6388100"/>
            <a:ext cx="1336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InterfaceList</a:t>
            </a:r>
            <a:endParaRPr lang="zh-CN" altLang="en-US"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650" y="304800"/>
            <a:ext cx="8540750" cy="1143000"/>
          </a:xfrm>
        </p:spPr>
        <p:txBody>
          <a:bodyPr>
            <a:norm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例子：列出本机上的的有网络接口</a:t>
            </a:r>
            <a:endParaRPr lang="zh-CN" altLang="en-US" sz="320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EX-4-8</a:t>
            </a:r>
            <a:r>
              <a:rPr lang="zh-CN" altLang="en-US"/>
              <a:t>列出所有网络接口的程序</a:t>
            </a:r>
            <a:endParaRPr lang="zh-CN" altLang="en-US"/>
          </a:p>
        </p:txBody>
      </p:sp>
      <p:sp>
        <p:nvSpPr>
          <p:cNvPr id="60420" name="矩形 3"/>
          <p:cNvSpPr>
            <a:spLocks noChangeArrowheads="1"/>
          </p:cNvSpPr>
          <p:nvPr/>
        </p:nvSpPr>
        <p:spPr bwMode="auto">
          <a:xfrm>
            <a:off x="7708900" y="6388100"/>
            <a:ext cx="1336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InterfaceList</a:t>
            </a:r>
            <a:endParaRPr lang="zh-CN" altLang="en-US" sz="180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-7938" y="304800"/>
            <a:ext cx="9053513" cy="52625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import java.net.*;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import java.util.*;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public class InterfaceList 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public static void main(String[] args) throws SocketException{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try{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Enumeration&lt;NetworkInterface&gt; interfaces = NetworkInterface.getNetworkInterfaces();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while(interfaces.hasMoreElements()){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NetworkInterface ni = interfaces.nextElement();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//System.out.println("---------------");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System.out.println(ni);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    //System.out.println("UP: " + ni.isUp());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catch(Exception e){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    System.out.println(e);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        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	}</a:t>
            </a: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b="1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Consolas" panose="020B0609020204030204" pitchFamily="49" charset="0"/>
              </a:rPr>
              <a:t>}</a:t>
            </a:r>
            <a:endParaRPr lang="en-US" altLang="zh-CN" sz="1800" b="1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>
                <a:solidFill>
                  <a:srgbClr val="C00000"/>
                </a:solidFill>
              </a:rPr>
              <a:t>例子：列出本机上的的有网络接口</a:t>
            </a:r>
            <a:endParaRPr lang="zh-CN" altLang="en-US" sz="320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InterfaceList</a:t>
            </a:r>
            <a:r>
              <a:rPr lang="zh-CN" altLang="en-US"/>
              <a:t>类的运行结果：</a:t>
            </a:r>
            <a:endParaRPr lang="zh-CN" altLang="en-US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4676775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3711575"/>
            <a:ext cx="8969375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应用编程思考？</a:t>
            </a:r>
            <a:endParaRPr lang="zh-CN" altLang="en-US" sz="3200"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/>
              <a:t>编程发现你的主机在局域网（深大校园网）内的</a:t>
            </a:r>
            <a:r>
              <a:rPr lang="en-US" altLang="zh-CN"/>
              <a:t>IP</a:t>
            </a:r>
            <a:r>
              <a:rPr lang="zh-CN" altLang="en-US"/>
              <a:t>。对比分析程序执行的结果与使用</a:t>
            </a:r>
            <a:r>
              <a:rPr lang="en-US" altLang="zh-CN"/>
              <a:t>ipconfig</a:t>
            </a:r>
            <a:r>
              <a:rPr lang="zh-CN" altLang="en-US"/>
              <a:t>命令查看本机</a:t>
            </a:r>
            <a:r>
              <a:rPr lang="en-US" altLang="zh-CN"/>
              <a:t>ip</a:t>
            </a:r>
            <a:r>
              <a:rPr lang="zh-CN" altLang="en-US"/>
              <a:t>的结果。尝试在有线连接和无线连接网络情况下，分别执行你的</a:t>
            </a:r>
            <a:r>
              <a:rPr lang="en-US" altLang="zh-CN"/>
              <a:t>”</a:t>
            </a:r>
            <a:r>
              <a:rPr lang="zh-CN" altLang="en-US"/>
              <a:t>发现本机</a:t>
            </a:r>
            <a:r>
              <a:rPr lang="en-US" altLang="zh-CN"/>
              <a:t>IP</a:t>
            </a:r>
            <a:r>
              <a:rPr lang="zh-CN" altLang="en-US"/>
              <a:t>程序</a:t>
            </a:r>
            <a:r>
              <a:rPr lang="en-US" altLang="zh-CN"/>
              <a:t>”</a:t>
            </a:r>
            <a:r>
              <a:rPr lang="zh-CN" altLang="en-US"/>
              <a:t>，观察分析结果有无何不同？</a:t>
            </a:r>
            <a:endParaRPr lang="en-US" altLang="zh-CN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/>
              <a:t>思考：当本机环境复杂时，比如有多张网卡、一个网络接口配置了多个</a:t>
            </a:r>
            <a:r>
              <a:rPr lang="en-US" altLang="zh-CN"/>
              <a:t>IP</a:t>
            </a:r>
            <a:r>
              <a:rPr lang="zh-CN" altLang="en-US"/>
              <a:t>等，如何获得想要的</a:t>
            </a:r>
            <a:r>
              <a:rPr lang="en-US" altLang="zh-CN"/>
              <a:t>IP?</a:t>
            </a:r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600"/>
              <a:t>InetAddress</a:t>
            </a:r>
            <a:r>
              <a:rPr lang="zh-CN" altLang="en-US" sz="3600"/>
              <a:t>的应用：</a:t>
            </a:r>
            <a:r>
              <a:rPr lang="en-US" altLang="zh-CN" sz="3600"/>
              <a:t>SpamCheck</a:t>
            </a:r>
            <a:endParaRPr lang="zh-CN" altLang="en-US" sz="360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52400" y="1219200"/>
            <a:ext cx="8540750" cy="5029200"/>
          </a:xfrm>
        </p:spPr>
        <p:txBody>
          <a:bodyPr/>
          <a:lstStyle/>
          <a:p>
            <a:r>
              <a:rPr lang="zh-CN" altLang="en-US" sz="2800"/>
              <a:t>应用问题：服务器编程时，如何快速检查判断地址是否是一个已知的垃圾邮件发送者？</a:t>
            </a:r>
            <a:endParaRPr lang="en-US" altLang="zh-CN" sz="2800"/>
          </a:p>
        </p:txBody>
      </p:sp>
      <p:sp>
        <p:nvSpPr>
          <p:cNvPr id="63492" name="流程图: 文档 1"/>
          <p:cNvSpPr>
            <a:spLocks noChangeArrowheads="1"/>
          </p:cNvSpPr>
          <p:nvPr/>
        </p:nvSpPr>
        <p:spPr bwMode="auto">
          <a:xfrm>
            <a:off x="6934200" y="2590800"/>
            <a:ext cx="1676400" cy="2514600"/>
          </a:xfrm>
          <a:prstGeom prst="flowChart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</a:rPr>
              <a:t>实时黑名单列表</a:t>
            </a:r>
            <a:r>
              <a:rPr lang="en-US" altLang="zh-CN" sz="1800">
                <a:solidFill>
                  <a:srgbClr val="FF0000"/>
                </a:solidFill>
              </a:rPr>
              <a:t>RBL</a:t>
            </a:r>
            <a:r>
              <a:rPr lang="zh-CN" altLang="en-US" sz="1800"/>
              <a:t>，</a:t>
            </a:r>
            <a:r>
              <a:rPr lang="en-US" altLang="zh-CN" sz="1800"/>
              <a:t>Realtime Blackhole List,</a:t>
            </a:r>
            <a:r>
              <a:rPr lang="zh-CN" altLang="en-US" sz="1800"/>
              <a:t>列表中的</a:t>
            </a:r>
            <a:r>
              <a:rPr lang="en-US" altLang="zh-CN" sz="1800"/>
              <a:t>IP</a:t>
            </a:r>
            <a:r>
              <a:rPr lang="zh-CN" altLang="en-US" sz="1800"/>
              <a:t>地址表示对外发布过垃圾邮件</a:t>
            </a:r>
            <a:endParaRPr lang="zh-CN" altLang="en-US" sz="1800"/>
          </a:p>
        </p:txBody>
      </p:sp>
      <p:sp>
        <p:nvSpPr>
          <p:cNvPr id="63493" name="流程图: 过程 4"/>
          <p:cNvSpPr>
            <a:spLocks noChangeArrowheads="1"/>
          </p:cNvSpPr>
          <p:nvPr/>
        </p:nvSpPr>
        <p:spPr bwMode="auto">
          <a:xfrm>
            <a:off x="4419600" y="2568575"/>
            <a:ext cx="1981200" cy="1546225"/>
          </a:xfrm>
          <a:prstGeom prst="flowChartProcess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邮件服务器</a:t>
            </a:r>
            <a:endParaRPr lang="zh-CN" altLang="en-US" sz="1800"/>
          </a:p>
        </p:txBody>
      </p:sp>
      <p:cxnSp>
        <p:nvCxnSpPr>
          <p:cNvPr id="63494" name="直接连接符 6"/>
          <p:cNvCxnSpPr>
            <a:cxnSpLocks noChangeShapeType="1"/>
          </p:cNvCxnSpPr>
          <p:nvPr/>
        </p:nvCxnSpPr>
        <p:spPr bwMode="auto">
          <a:xfrm>
            <a:off x="6400800" y="3341688"/>
            <a:ext cx="533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流程图: 过程 7"/>
          <p:cNvSpPr/>
          <p:nvPr/>
        </p:nvSpPr>
        <p:spPr bwMode="auto">
          <a:xfrm>
            <a:off x="1143000" y="2895600"/>
            <a:ext cx="1143000" cy="952500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邮件发送者</a:t>
            </a:r>
            <a:endParaRPr lang="zh-CN" altLang="en-US"/>
          </a:p>
        </p:txBody>
      </p:sp>
      <p:sp>
        <p:nvSpPr>
          <p:cNvPr id="10" name="流程图: 过程 9"/>
          <p:cNvSpPr/>
          <p:nvPr/>
        </p:nvSpPr>
        <p:spPr bwMode="auto">
          <a:xfrm>
            <a:off x="2590800" y="4800600"/>
            <a:ext cx="1143000" cy="952500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邮件接收者</a:t>
            </a:r>
            <a:endParaRPr lang="zh-CN" altLang="en-US"/>
          </a:p>
        </p:txBody>
      </p:sp>
      <p:sp>
        <p:nvSpPr>
          <p:cNvPr id="11" name="流程图: 过程 10"/>
          <p:cNvSpPr/>
          <p:nvPr/>
        </p:nvSpPr>
        <p:spPr bwMode="auto">
          <a:xfrm>
            <a:off x="4800600" y="4941888"/>
            <a:ext cx="1143000" cy="952500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邮件接收者</a:t>
            </a:r>
            <a:endParaRPr lang="zh-CN" altLang="en-US"/>
          </a:p>
        </p:txBody>
      </p:sp>
      <p:cxnSp>
        <p:nvCxnSpPr>
          <p:cNvPr id="63498" name="直接箭头连接符 11"/>
          <p:cNvCxnSpPr>
            <a:cxnSpLocks noChangeShapeType="1"/>
          </p:cNvCxnSpPr>
          <p:nvPr/>
        </p:nvCxnSpPr>
        <p:spPr bwMode="auto">
          <a:xfrm flipH="1">
            <a:off x="3657600" y="4114800"/>
            <a:ext cx="762000" cy="685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499" name="直接箭头连接符 13"/>
          <p:cNvCxnSpPr>
            <a:cxnSpLocks noChangeShapeType="1"/>
          </p:cNvCxnSpPr>
          <p:nvPr/>
        </p:nvCxnSpPr>
        <p:spPr bwMode="auto">
          <a:xfrm>
            <a:off x="5638800" y="4114800"/>
            <a:ext cx="0" cy="8270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00" name="直接箭头连接符 15"/>
          <p:cNvCxnSpPr>
            <a:cxnSpLocks noChangeShapeType="1"/>
          </p:cNvCxnSpPr>
          <p:nvPr/>
        </p:nvCxnSpPr>
        <p:spPr bwMode="auto">
          <a:xfrm flipV="1">
            <a:off x="2286000" y="3048000"/>
            <a:ext cx="21336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501" name="圆角矩形 16"/>
          <p:cNvSpPr>
            <a:spLocks noChangeArrowheads="1"/>
          </p:cNvSpPr>
          <p:nvPr/>
        </p:nvSpPr>
        <p:spPr bwMode="auto">
          <a:xfrm>
            <a:off x="4724400" y="3048000"/>
            <a:ext cx="1447800" cy="80010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垃圾邮件监视服务</a:t>
            </a:r>
            <a:endParaRPr lang="zh-CN" altLang="en-US" sz="1800"/>
          </a:p>
        </p:txBody>
      </p:sp>
      <p:sp>
        <p:nvSpPr>
          <p:cNvPr id="63502" name="TextBox 20"/>
          <p:cNvSpPr txBox="1">
            <a:spLocks noChangeArrowheads="1"/>
          </p:cNvSpPr>
          <p:nvPr/>
        </p:nvSpPr>
        <p:spPr bwMode="auto">
          <a:xfrm>
            <a:off x="152400" y="4941888"/>
            <a:ext cx="18288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</a:rPr>
              <a:t>垃圾邮件监视服务：需要快速查询响应判断是否是一个垃圾邮件发送请求。</a:t>
            </a:r>
            <a:endParaRPr lang="zh-CN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600"/>
              <a:t>InetAddress</a:t>
            </a:r>
            <a:r>
              <a:rPr lang="zh-CN" altLang="en-US" sz="3600"/>
              <a:t>的应用：</a:t>
            </a:r>
            <a:r>
              <a:rPr lang="en-US" altLang="zh-CN" sz="3600"/>
              <a:t>SpamCheck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029200"/>
          </a:xfrm>
        </p:spPr>
        <p:txBody>
          <a:bodyPr/>
          <a:lstStyle/>
          <a:p>
            <a:r>
              <a:rPr lang="zh-CN" altLang="en-US" sz="2800">
                <a:solidFill>
                  <a:srgbClr val="FF0000"/>
                </a:solidFill>
              </a:rPr>
              <a:t>快速</a:t>
            </a:r>
            <a:r>
              <a:rPr lang="zh-CN" altLang="en-US" sz="2800"/>
              <a:t>检查判断地址是否是一个已知的垃圾邮件发送者的流程：</a:t>
            </a:r>
            <a:endParaRPr lang="en-US" altLang="zh-CN" sz="2800"/>
          </a:p>
          <a:p>
            <a:r>
              <a:rPr lang="zh-CN" altLang="en-US" sz="2800"/>
              <a:t>查看一个</a:t>
            </a:r>
            <a:r>
              <a:rPr lang="en-US" altLang="zh-CN" sz="2800"/>
              <a:t>IP</a:t>
            </a:r>
            <a:r>
              <a:rPr lang="zh-CN" altLang="en-US" sz="2800"/>
              <a:t>地址是否是一个已知的垃圾邮件发送者</a:t>
            </a:r>
            <a:r>
              <a:rPr lang="en-US" altLang="zh-CN" sz="2800"/>
              <a:t>:</a:t>
            </a:r>
            <a:endParaRPr lang="en-US" altLang="zh-CN" sz="2800"/>
          </a:p>
          <a:p>
            <a:r>
              <a:rPr lang="en-US" altLang="zh-CN" sz="2400"/>
              <a:t>1.</a:t>
            </a:r>
            <a:r>
              <a:rPr lang="zh-CN" altLang="en-US" sz="2400"/>
              <a:t>逆置此地址的字节（例如要查看</a:t>
            </a:r>
            <a:r>
              <a:rPr lang="en-US" altLang="zh-CN" sz="2400"/>
              <a:t>IP207.34.56.23</a:t>
            </a:r>
            <a:r>
              <a:rPr lang="zh-CN" altLang="en-US" sz="2400"/>
              <a:t>）</a:t>
            </a:r>
            <a:endParaRPr lang="en-US" altLang="zh-CN" sz="2400"/>
          </a:p>
          <a:p>
            <a:r>
              <a:rPr lang="en-US" altLang="zh-CN" sz="2400"/>
              <a:t>2.</a:t>
            </a:r>
            <a:r>
              <a:rPr lang="zh-CN" altLang="en-US" sz="2400"/>
              <a:t>增加黑洞服务的域（</a:t>
            </a:r>
            <a:r>
              <a:rPr lang="en-US" altLang="zh-CN" sz="2400"/>
              <a:t> 23.56.34.207.sbl.spamhaus.org </a:t>
            </a:r>
            <a:r>
              <a:rPr lang="zh-CN" altLang="en-US" sz="2400"/>
              <a:t>）</a:t>
            </a:r>
            <a:endParaRPr lang="en-US" altLang="zh-CN" sz="2400"/>
          </a:p>
          <a:p>
            <a:r>
              <a:rPr lang="en-US" altLang="zh-CN" sz="2400"/>
              <a:t>3.</a:t>
            </a:r>
            <a:r>
              <a:rPr lang="zh-CN" altLang="en-US" sz="2400"/>
              <a:t>查找此地址（</a:t>
            </a:r>
            <a:r>
              <a:rPr lang="en-US" altLang="zh-CN" sz="2400"/>
              <a:t> 23.56.34.207.sbl.spamhaus.org </a:t>
            </a:r>
            <a:r>
              <a:rPr lang="zh-CN" altLang="en-US" sz="2400"/>
              <a:t>。</a:t>
            </a:r>
            <a:endParaRPr lang="en-US" altLang="zh-CN" sz="2400"/>
          </a:p>
          <a:p>
            <a:r>
              <a:rPr lang="en-US" altLang="zh-CN" sz="2400"/>
              <a:t>4.</a:t>
            </a:r>
            <a:r>
              <a:rPr lang="zh-CN" altLang="en-US" sz="2400"/>
              <a:t>判断：若找到此地址，说明是一个垃圾邮件发送者，否则，说明它不是。</a:t>
            </a:r>
            <a:endParaRPr lang="en-US" altLang="zh-CN" sz="2400"/>
          </a:p>
          <a:p>
            <a:r>
              <a:rPr lang="zh-CN" altLang="en-US" sz="2800"/>
              <a:t>演示运行示例程序</a:t>
            </a:r>
            <a:r>
              <a:rPr lang="en-US" altLang="zh-CN" sz="2800"/>
              <a:t>ch4.SpamCheck.java  </a:t>
            </a:r>
            <a:r>
              <a:rPr lang="zh-CN" altLang="en-US" sz="2800"/>
              <a:t>向</a:t>
            </a:r>
            <a:r>
              <a:rPr lang="en-US" altLang="zh-CN" sz="2800"/>
              <a:t>sbl.spamhaus.org</a:t>
            </a:r>
            <a:r>
              <a:rPr lang="zh-CN" altLang="en-US" sz="2800"/>
              <a:t>询问</a:t>
            </a:r>
            <a:r>
              <a:rPr lang="zh-CN" altLang="en-US" sz="2800" b="1">
                <a:solidFill>
                  <a:srgbClr val="FF0000"/>
                </a:solidFill>
                <a:highlight>
                  <a:srgbClr val="FFFF00"/>
                </a:highlight>
              </a:rPr>
              <a:t>某些</a:t>
            </a:r>
            <a:r>
              <a:rPr lang="en-US" altLang="zh-CN" sz="2800" b="1">
                <a:solidFill>
                  <a:srgbClr val="FF0000"/>
                </a:solidFill>
                <a:highlight>
                  <a:srgbClr val="FFFF00"/>
                </a:highlight>
              </a:rPr>
              <a:t>IP</a:t>
            </a:r>
            <a:r>
              <a:rPr lang="zh-CN" altLang="en-US" sz="2800" b="1">
                <a:solidFill>
                  <a:srgbClr val="FF0000"/>
                </a:solidFill>
                <a:highlight>
                  <a:srgbClr val="FFFF00"/>
                </a:highlight>
              </a:rPr>
              <a:t>地址（例如</a:t>
            </a:r>
            <a:r>
              <a:rPr lang="en-US" altLang="zh-CN" sz="2800" b="1">
                <a:solidFill>
                  <a:srgbClr val="FF0000"/>
                </a:solidFill>
                <a:highlight>
                  <a:srgbClr val="FFFF00"/>
                </a:highlight>
              </a:rPr>
              <a:t>207.34.56.23 </a:t>
            </a:r>
            <a:r>
              <a:rPr lang="zh-CN" altLang="en-US" sz="2800" b="1">
                <a:solidFill>
                  <a:srgbClr val="FF0000"/>
                </a:solidFill>
                <a:highlight>
                  <a:srgbClr val="FFFF00"/>
                </a:highlight>
              </a:rPr>
              <a:t>等）是否是一个垃圾邮件发送者。</a:t>
            </a:r>
            <a:endParaRPr lang="zh-CN" altLang="en-US" sz="2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600"/>
              <a:t>InetAddress</a:t>
            </a:r>
            <a:r>
              <a:rPr lang="zh-CN" altLang="en-US" sz="3600"/>
              <a:t>的应用：</a:t>
            </a:r>
            <a:r>
              <a:rPr lang="en-US" altLang="zh-CN" sz="3600"/>
              <a:t>SpamCheck</a:t>
            </a:r>
            <a:endParaRPr lang="zh-CN" altLang="en-US" sz="3600"/>
          </a:p>
        </p:txBody>
      </p:sp>
      <p:pic>
        <p:nvPicPr>
          <p:cNvPr id="65539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4925"/>
            <a:ext cx="8382000" cy="661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内容占位符 2"/>
          <p:cNvSpPr>
            <a:spLocks noGrp="1"/>
          </p:cNvSpPr>
          <p:nvPr>
            <p:ph idx="1"/>
          </p:nvPr>
        </p:nvSpPr>
        <p:spPr>
          <a:xfrm>
            <a:off x="152400" y="1219200"/>
            <a:ext cx="8540750" cy="5029200"/>
          </a:xfrm>
        </p:spPr>
        <p:txBody>
          <a:bodyPr/>
          <a:lstStyle/>
          <a:p>
            <a:r>
              <a:rPr lang="zh-CN" altLang="en-US" sz="2800"/>
              <a:t>应用问题：如何通过快速离线处理日志文件来提升</a:t>
            </a:r>
            <a:r>
              <a:rPr lang="en-US" altLang="zh-CN" sz="2800"/>
              <a:t>Web</a:t>
            </a:r>
            <a:r>
              <a:rPr lang="zh-CN" altLang="en-US" sz="2800"/>
              <a:t>服务器的性能？</a:t>
            </a:r>
            <a:endParaRPr lang="en-US" altLang="zh-CN" sz="2800"/>
          </a:p>
          <a:p>
            <a:endParaRPr lang="en-US" altLang="zh-CN" sz="2800"/>
          </a:p>
        </p:txBody>
      </p:sp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85975"/>
            <a:ext cx="1217613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64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600"/>
              <a:t>InetAddress</a:t>
            </a:r>
            <a:r>
              <a:rPr lang="zh-CN" altLang="en-US" sz="3600"/>
              <a:t>的应用：离线处理日志文件</a:t>
            </a:r>
            <a:endParaRPr lang="zh-CN" altLang="en-US" sz="3600"/>
          </a:p>
        </p:txBody>
      </p:sp>
      <p:sp>
        <p:nvSpPr>
          <p:cNvPr id="66565" name="矩形 2"/>
          <p:cNvSpPr>
            <a:spLocks noChangeArrowheads="1"/>
          </p:cNvSpPr>
          <p:nvPr/>
        </p:nvSpPr>
        <p:spPr bwMode="auto">
          <a:xfrm>
            <a:off x="1295400" y="2247900"/>
            <a:ext cx="1905000" cy="1905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Web</a:t>
            </a:r>
            <a:r>
              <a:rPr lang="zh-CN" altLang="en-US" sz="1800"/>
              <a:t>服务器</a:t>
            </a:r>
            <a:endParaRPr lang="zh-CN" altLang="en-US" sz="1800"/>
          </a:p>
        </p:txBody>
      </p:sp>
      <p:sp>
        <p:nvSpPr>
          <p:cNvPr id="66566" name="流程图: 文档 1"/>
          <p:cNvSpPr>
            <a:spLocks noChangeArrowheads="1"/>
          </p:cNvSpPr>
          <p:nvPr/>
        </p:nvSpPr>
        <p:spPr bwMode="auto">
          <a:xfrm>
            <a:off x="1447800" y="3200400"/>
            <a:ext cx="685800" cy="838200"/>
          </a:xfrm>
          <a:prstGeom prst="flowChartDocument">
            <a:avLst/>
          </a:prstGeom>
          <a:solidFill>
            <a:srgbClr val="FF0066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日志</a:t>
            </a:r>
            <a:endParaRPr lang="zh-CN" altLang="en-US" sz="1800"/>
          </a:p>
        </p:txBody>
      </p:sp>
      <p:sp>
        <p:nvSpPr>
          <p:cNvPr id="5" name="椭圆形标注 4"/>
          <p:cNvSpPr/>
          <p:nvPr/>
        </p:nvSpPr>
        <p:spPr bwMode="auto">
          <a:xfrm>
            <a:off x="88900" y="4495800"/>
            <a:ext cx="3111500" cy="1143000"/>
          </a:xfrm>
          <a:prstGeom prst="wedgeEllipseCallout">
            <a:avLst>
              <a:gd name="adj1" fmla="val 1150"/>
              <a:gd name="adj2" fmla="val -92074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跟踪记录访问</a:t>
            </a:r>
            <a:r>
              <a:rPr lang="en-US" altLang="zh-CN"/>
              <a:t>Web</a:t>
            </a:r>
            <a:r>
              <a:rPr lang="zh-CN" altLang="en-US"/>
              <a:t>网站的主机，报告来访主机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66568" name="TextBox 5"/>
          <p:cNvSpPr txBox="1">
            <a:spLocks noChangeArrowheads="1"/>
          </p:cNvSpPr>
          <p:nvPr/>
        </p:nvSpPr>
        <p:spPr bwMode="auto">
          <a:xfrm>
            <a:off x="5789613" y="2020888"/>
            <a:ext cx="312420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在分析日志时，需要将来访主机</a:t>
            </a:r>
            <a:r>
              <a:rPr lang="en-US" altLang="zh-CN" sz="2400"/>
              <a:t>IP</a:t>
            </a:r>
            <a:r>
              <a:rPr lang="zh-CN" altLang="en-US" sz="2400"/>
              <a:t>转换为主机名，例如，进行简单的日志分析处理：读取日志文件，显示各行时，将</a:t>
            </a:r>
            <a:r>
              <a:rPr lang="en-US" altLang="zh-CN" sz="2400"/>
              <a:t>IP</a:t>
            </a:r>
            <a:r>
              <a:rPr lang="zh-CN" altLang="en-US" sz="2400"/>
              <a:t>地址转换为主机名。</a:t>
            </a:r>
            <a:endParaRPr lang="en-US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如何编程处理？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66569" name="TextBox 7"/>
          <p:cNvSpPr txBox="1">
            <a:spLocks noChangeArrowheads="1"/>
          </p:cNvSpPr>
          <p:nvPr/>
        </p:nvSpPr>
        <p:spPr bwMode="auto">
          <a:xfrm>
            <a:off x="2667000" y="5222875"/>
            <a:ext cx="60198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演示运行示例</a:t>
            </a:r>
            <a:r>
              <a:rPr lang="en-US" altLang="zh-CN" sz="2400">
                <a:solidFill>
                  <a:schemeClr val="tx2"/>
                </a:solidFill>
              </a:rPr>
              <a:t>ch4.Weblog.java, ex4-10</a:t>
            </a:r>
            <a:endParaRPr lang="en-US" altLang="zh-CN" sz="240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tx2"/>
                </a:solidFill>
              </a:rPr>
              <a:t>分析程序的类结构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66570" name="TextBox 8"/>
          <p:cNvSpPr txBox="1">
            <a:spLocks noChangeArrowheads="1"/>
          </p:cNvSpPr>
          <p:nvPr/>
        </p:nvSpPr>
        <p:spPr bwMode="auto">
          <a:xfrm>
            <a:off x="88900" y="6172200"/>
            <a:ext cx="9055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0066"/>
                </a:solidFill>
              </a:rPr>
              <a:t>日志记录项非常多，数百万行。程序的弊端？如何改进程序设计，提升性能。</a:t>
            </a:r>
            <a:endParaRPr lang="zh-CN" altLang="en-US" sz="200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7620000" cy="678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内容占位符 2"/>
          <p:cNvSpPr>
            <a:spLocks noGrp="1"/>
          </p:cNvSpPr>
          <p:nvPr>
            <p:ph idx="1"/>
          </p:nvPr>
        </p:nvSpPr>
        <p:spPr>
          <a:xfrm>
            <a:off x="88900" y="1104900"/>
            <a:ext cx="8540750" cy="3695700"/>
          </a:xfrm>
        </p:spPr>
        <p:txBody>
          <a:bodyPr/>
          <a:lstStyle/>
          <a:p>
            <a:r>
              <a:rPr lang="zh-CN" altLang="en-US" sz="2800"/>
              <a:t>使用多线程？为每一条日志记录项生成一个处理线程？拖垮服务器！</a:t>
            </a:r>
            <a:endParaRPr lang="en-US" altLang="zh-CN" sz="2800"/>
          </a:p>
          <a:p>
            <a:r>
              <a:rPr lang="zh-CN" altLang="en-US" sz="2800"/>
              <a:t>使用线程池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68611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en-US" altLang="zh-CN" sz="3600"/>
              <a:t>Web</a:t>
            </a:r>
            <a:r>
              <a:rPr lang="zh-CN" altLang="en-US" sz="3600"/>
              <a:t>服务器日志文件的快速处理</a:t>
            </a:r>
            <a:endParaRPr lang="zh-CN" altLang="en-US" sz="3600"/>
          </a:p>
        </p:txBody>
      </p:sp>
      <p:sp>
        <p:nvSpPr>
          <p:cNvPr id="68612" name="TextBox 7"/>
          <p:cNvSpPr txBox="1">
            <a:spLocks noChangeArrowheads="1"/>
          </p:cNvSpPr>
          <p:nvPr/>
        </p:nvSpPr>
        <p:spPr bwMode="auto">
          <a:xfrm>
            <a:off x="301625" y="3124200"/>
            <a:ext cx="8534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66"/>
                </a:solidFill>
              </a:rPr>
              <a:t>示例</a:t>
            </a:r>
            <a:r>
              <a:rPr lang="en-US" altLang="zh-CN" sz="2400">
                <a:solidFill>
                  <a:srgbClr val="FF0066"/>
                </a:solidFill>
              </a:rPr>
              <a:t>ch4.LookupTask.java, PooledWeblog.java, ex4-11,ex4-12</a:t>
            </a:r>
            <a:endParaRPr lang="en-US" altLang="zh-CN" sz="2400">
              <a:solidFill>
                <a:srgbClr val="FF0066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66"/>
                </a:solidFill>
              </a:rPr>
              <a:t>分析程序的类结构</a:t>
            </a:r>
            <a:endParaRPr lang="zh-CN" altLang="en-US" sz="240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83058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43255" y="1162050"/>
            <a:ext cx="8420100" cy="44571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import java.io.*;</a:t>
            </a:r>
            <a:endParaRPr lang="en-US" altLang="zh-CN"/>
          </a:p>
          <a:p>
            <a:r>
              <a:rPr lang="en-US" altLang="zh-CN"/>
              <a:t>import java.net.*;</a:t>
            </a:r>
            <a:endParaRPr lang="en-US" altLang="zh-CN"/>
          </a:p>
          <a:p>
            <a:r>
              <a:rPr lang="en-US" altLang="zh-CN"/>
              <a:t>import java.util.*;</a:t>
            </a:r>
            <a:endParaRPr lang="en-US" altLang="zh-CN"/>
          </a:p>
          <a:p>
            <a:r>
              <a:rPr lang="en-US" altLang="zh-CN"/>
              <a:t>import java.util.concurrent.*;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public class PooledWeblog {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设置线程池大小</a:t>
            </a:r>
            <a:endParaRPr lang="zh-CN" altLang="en-US"/>
          </a:p>
          <a:p>
            <a:r>
              <a:rPr lang="en-US" altLang="zh-CN"/>
              <a:t>    private final static int NUM_THREADS = ____; // </a:t>
            </a:r>
            <a:r>
              <a:rPr lang="zh-CN" altLang="en-US"/>
              <a:t>填空：设置线程池的大小，建议为</a:t>
            </a:r>
            <a:r>
              <a:rPr lang="en-US" altLang="zh-CN"/>
              <a:t> 4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public static void main(String[] args) throws IOException {</a:t>
            </a:r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创建线程池</a:t>
            </a:r>
            <a:endParaRPr lang="zh-CN" altLang="en-US"/>
          </a:p>
          <a:p>
            <a:r>
              <a:rPr lang="en-US" altLang="zh-CN"/>
              <a:t>        ExecutorService executor = Executors.newFixedThreadPool(NUM_THREADS);</a:t>
            </a:r>
            <a:endParaRPr lang="en-US" altLang="zh-CN"/>
          </a:p>
          <a:p>
            <a:r>
              <a:rPr lang="en-US" altLang="zh-CN"/>
              <a:t>        Queue&lt;LogEntry&gt; results = new LinkedList&lt;LogEntry&gt;(); // </a:t>
            </a:r>
            <a:r>
              <a:rPr lang="zh-CN" altLang="en-US"/>
              <a:t>存储日志条目和其处理结果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打开日志文件</a:t>
            </a:r>
            <a:endParaRPr lang="zh-CN" altLang="en-US"/>
          </a:p>
          <a:p>
            <a:r>
              <a:rPr lang="en-US" altLang="zh-CN"/>
              <a:t>        try (BufferedReader in = new BufferedReader(new InputStreamReader(new FileInputStream(args[0]), "UTF-8"))) {</a:t>
            </a:r>
            <a:endParaRPr lang="en-US" altLang="zh-CN"/>
          </a:p>
          <a:p>
            <a:r>
              <a:rPr lang="en-US" altLang="zh-CN"/>
              <a:t>            // </a:t>
            </a:r>
            <a:r>
              <a:rPr lang="zh-CN" altLang="en-US"/>
              <a:t>逐行读取日志文件</a:t>
            </a:r>
            <a:endParaRPr lang="zh-CN" altLang="en-US"/>
          </a:p>
          <a:p>
            <a:r>
              <a:rPr lang="en-US" altLang="zh-CN"/>
              <a:t>            for (String entry = in.readLine(); entry != null; entry = in.readLine()) {</a:t>
            </a:r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提取</a:t>
            </a:r>
            <a:r>
              <a:rPr lang="en-US" altLang="zh-CN"/>
              <a:t> IP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                LookupTask task = new LookupTask(entry); // </a:t>
            </a:r>
            <a:r>
              <a:rPr lang="zh-CN" altLang="en-US"/>
              <a:t>创建任务来处理每一行日志</a:t>
            </a:r>
            <a:endParaRPr lang="zh-CN" altLang="en-US"/>
          </a:p>
          <a:p>
            <a:r>
              <a:rPr lang="en-US" altLang="zh-CN"/>
              <a:t>                Future&lt;String&gt; future = executor.submit(task); // </a:t>
            </a:r>
            <a:r>
              <a:rPr lang="zh-CN" altLang="en-US"/>
              <a:t>提交任务到线程池</a:t>
            </a:r>
            <a:endParaRPr lang="zh-CN" altLang="en-US"/>
          </a:p>
          <a:p>
            <a:r>
              <a:rPr lang="en-US" altLang="zh-CN"/>
              <a:t>                LogEntry result = new LogEntry(entry, future); // </a:t>
            </a:r>
            <a:r>
              <a:rPr lang="zh-CN" altLang="en-US"/>
              <a:t>创建</a:t>
            </a:r>
            <a:r>
              <a:rPr lang="en-US" altLang="zh-CN"/>
              <a:t> LogEntry </a:t>
            </a:r>
            <a:r>
              <a:rPr lang="zh-CN" altLang="en-US"/>
              <a:t>对象，保存日志内容和任务结果</a:t>
            </a:r>
            <a:endParaRPr lang="zh-CN" altLang="en-US"/>
          </a:p>
          <a:p>
            <a:r>
              <a:rPr lang="en-US" altLang="zh-CN"/>
              <a:t>                results.add(result); // </a:t>
            </a:r>
            <a:r>
              <a:rPr lang="zh-CN" altLang="en-US"/>
              <a:t>将结果加入到队列中</a:t>
            </a:r>
            <a:endParaRPr lang="zh-CN" altLang="en-US"/>
          </a:p>
          <a:p>
            <a:r>
              <a:rPr lang="en-US" altLang="zh-CN"/>
              <a:t>            }</a:t>
            </a:r>
            <a:endParaRPr lang="en-US" altLang="zh-CN"/>
          </a:p>
          <a:p>
            <a:r>
              <a:rPr lang="en-US" altLang="zh-CN"/>
              <a:t>        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打印查询结果，等待每个任务的结果并输出</a:t>
            </a:r>
            <a:endParaRPr lang="zh-CN" altLang="en-US"/>
          </a:p>
          <a:p>
            <a:r>
              <a:rPr lang="en-US" altLang="zh-CN"/>
              <a:t>        for (LogEntry result : results) {</a:t>
            </a:r>
            <a:endParaRPr lang="en-US" altLang="zh-CN"/>
          </a:p>
          <a:p>
            <a:r>
              <a:rPr lang="en-US" altLang="zh-CN"/>
              <a:t>            try {</a:t>
            </a:r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等待任务执行完成并获取结果</a:t>
            </a:r>
            <a:endParaRPr lang="zh-CN" altLang="en-US"/>
          </a:p>
          <a:p>
            <a:r>
              <a:rPr lang="en-US" altLang="zh-CN"/>
              <a:t>                System.out.println(result.future.get());  // </a:t>
            </a:r>
            <a:r>
              <a:rPr lang="zh-CN" altLang="en-US"/>
              <a:t>填空：等待并输出每个任务的结果</a:t>
            </a:r>
            <a:endParaRPr lang="zh-CN" altLang="en-US"/>
          </a:p>
          <a:p>
            <a:r>
              <a:rPr lang="en-US" altLang="zh-CN"/>
              <a:t>            } catch (InterruptedException | ExecutionException ex) {</a:t>
            </a:r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如果发生异常，输出原始日志行</a:t>
            </a:r>
            <a:endParaRPr lang="zh-CN" altLang="en-US"/>
          </a:p>
          <a:p>
            <a:r>
              <a:rPr lang="en-US" altLang="zh-CN"/>
              <a:t>                System.out.println(result.original);  // </a:t>
            </a:r>
            <a:r>
              <a:rPr lang="zh-CN" altLang="en-US"/>
              <a:t>填空：输出原始日志行</a:t>
            </a:r>
            <a:endParaRPr lang="zh-CN" altLang="en-US"/>
          </a:p>
          <a:p>
            <a:r>
              <a:rPr lang="en-US" altLang="zh-CN"/>
              <a:t>            }</a:t>
            </a:r>
            <a:endParaRPr lang="en-US" altLang="zh-CN"/>
          </a:p>
          <a:p>
            <a:r>
              <a:rPr lang="en-US" altLang="zh-CN"/>
              <a:t>        }</a:t>
            </a:r>
            <a:endParaRPr lang="en-US" altLang="zh-CN"/>
          </a:p>
          <a:p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关闭线程池</a:t>
            </a:r>
            <a:endParaRPr lang="zh-CN" altLang="en-US"/>
          </a:p>
          <a:p>
            <a:r>
              <a:rPr lang="en-US" altLang="zh-CN"/>
              <a:t>        executor.shutdown();  // </a:t>
            </a:r>
            <a:r>
              <a:rPr lang="zh-CN" altLang="en-US"/>
              <a:t>填空：确保所有线程执行完毕后关闭线程池</a:t>
            </a:r>
            <a:endParaRPr lang="zh-CN" altLang="en-US"/>
          </a:p>
          <a:p>
            <a:r>
              <a:rPr lang="en-US" altLang="zh-CN"/>
              <a:t>    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定义任务类，用于在线程池中执行</a:t>
            </a:r>
            <a:r>
              <a:rPr lang="en-US" altLang="zh-CN"/>
              <a:t> DNS </a:t>
            </a:r>
            <a:r>
              <a:rPr lang="zh-CN" altLang="en-US"/>
              <a:t>查询</a:t>
            </a:r>
            <a:endParaRPr lang="zh-CN" altLang="en-US"/>
          </a:p>
          <a:p>
            <a:r>
              <a:rPr lang="en-US" altLang="zh-CN"/>
              <a:t>    private static class LookupTask implements Callable&lt;String&gt; {</a:t>
            </a:r>
            <a:endParaRPr lang="en-US" altLang="zh-CN"/>
          </a:p>
          <a:p>
            <a:r>
              <a:rPr lang="en-US" altLang="zh-CN"/>
              <a:t>        private String line;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构造函数</a:t>
            </a:r>
            <a:endParaRPr lang="zh-CN" altLang="en-US"/>
          </a:p>
          <a:p>
            <a:r>
              <a:rPr lang="en-US" altLang="zh-CN"/>
              <a:t>        public LookupTask(String line) {</a:t>
            </a:r>
            <a:endParaRPr lang="en-US" altLang="zh-CN"/>
          </a:p>
          <a:p>
            <a:r>
              <a:rPr lang="en-US" altLang="zh-CN"/>
              <a:t>            this.line = line; // </a:t>
            </a:r>
            <a:r>
              <a:rPr lang="zh-CN" altLang="en-US"/>
              <a:t>填空：初始化日志行</a:t>
            </a:r>
            <a:endParaRPr lang="zh-CN" altLang="en-US"/>
          </a:p>
          <a:p>
            <a:r>
              <a:rPr lang="en-US" altLang="zh-CN"/>
              <a:t>        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@Override</a:t>
            </a:r>
            <a:endParaRPr lang="en-US" altLang="zh-CN"/>
          </a:p>
          <a:p>
            <a:r>
              <a:rPr lang="en-US" altLang="zh-CN"/>
              <a:t>        public String call() {</a:t>
            </a:r>
            <a:endParaRPr lang="en-US" altLang="zh-CN"/>
          </a:p>
          <a:p>
            <a:r>
              <a:rPr lang="en-US" altLang="zh-CN"/>
              <a:t>            try {</a:t>
            </a:r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从日志行中提取出</a:t>
            </a:r>
            <a:r>
              <a:rPr lang="en-US" altLang="zh-CN"/>
              <a:t> IP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                int index = line.indexOf(' '); // </a:t>
            </a:r>
            <a:r>
              <a:rPr lang="zh-CN" altLang="en-US"/>
              <a:t>填空：查找第一个空格，分隔</a:t>
            </a:r>
            <a:r>
              <a:rPr lang="en-US" altLang="zh-CN"/>
              <a:t> IP </a:t>
            </a:r>
            <a:r>
              <a:rPr lang="zh-CN" altLang="en-US"/>
              <a:t>地址和其他部分</a:t>
            </a:r>
            <a:endParaRPr lang="zh-CN" altLang="en-US"/>
          </a:p>
          <a:p>
            <a:r>
              <a:rPr lang="en-US" altLang="zh-CN"/>
              <a:t>                String address = line.substring(0, index);  // </a:t>
            </a:r>
            <a:r>
              <a:rPr lang="zh-CN" altLang="en-US"/>
              <a:t>填空：提取出</a:t>
            </a:r>
            <a:r>
              <a:rPr lang="en-US" altLang="zh-CN"/>
              <a:t> IP 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en-US" altLang="zh-CN"/>
              <a:t>                String theRest = line.substring(index); // </a:t>
            </a:r>
            <a:r>
              <a:rPr lang="zh-CN" altLang="en-US"/>
              <a:t>填空：提取出日志中的其他部分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查询</a:t>
            </a:r>
            <a:r>
              <a:rPr lang="en-US" altLang="zh-CN"/>
              <a:t> DNS </a:t>
            </a:r>
            <a:r>
              <a:rPr lang="zh-CN" altLang="en-US"/>
              <a:t>并获取主机名</a:t>
            </a:r>
            <a:endParaRPr lang="zh-CN" altLang="en-US"/>
          </a:p>
          <a:p>
            <a:r>
              <a:rPr lang="en-US" altLang="zh-CN"/>
              <a:t>                InetAddress inetAddress = InetAddress.getByName(address);</a:t>
            </a:r>
            <a:endParaRPr lang="en-US" altLang="zh-CN"/>
          </a:p>
          <a:p>
            <a:r>
              <a:rPr lang="en-US" altLang="zh-CN"/>
              <a:t>                String hostname = inetAddress.getHostName(); // </a:t>
            </a:r>
            <a:r>
              <a:rPr lang="zh-CN" altLang="en-US"/>
              <a:t>填空：通过</a:t>
            </a:r>
            <a:r>
              <a:rPr lang="en-US" altLang="zh-CN"/>
              <a:t> IP </a:t>
            </a:r>
            <a:r>
              <a:rPr lang="zh-CN" altLang="en-US"/>
              <a:t>地址获取主机名</a:t>
            </a:r>
            <a:endParaRPr lang="zh-CN" altLang="en-US"/>
          </a:p>
          <a:p>
            <a:r>
              <a:rPr lang="en-US" altLang="zh-CN"/>
              <a:t>                return hostname + " " + theRest; // </a:t>
            </a:r>
            <a:r>
              <a:rPr lang="zh-CN" altLang="en-US"/>
              <a:t>填空：返回主机名和日志的其他部分</a:t>
            </a:r>
            <a:endParaRPr lang="zh-CN" altLang="en-US"/>
          </a:p>
          <a:p>
            <a:r>
              <a:rPr lang="en-US" altLang="zh-CN"/>
              <a:t>            } catch (UnknownHostException ex) {</a:t>
            </a:r>
            <a:endParaRPr lang="en-US" altLang="zh-CN"/>
          </a:p>
          <a:p>
            <a:r>
              <a:rPr lang="en-US" altLang="zh-CN"/>
              <a:t>                // </a:t>
            </a:r>
            <a:r>
              <a:rPr lang="zh-CN" altLang="en-US"/>
              <a:t>如果查询失败，返回原始日志行</a:t>
            </a:r>
            <a:endParaRPr lang="zh-CN" altLang="en-US"/>
          </a:p>
          <a:p>
            <a:r>
              <a:rPr lang="en-US" altLang="zh-CN"/>
              <a:t>                return line; // </a:t>
            </a:r>
            <a:r>
              <a:rPr lang="zh-CN" altLang="en-US"/>
              <a:t>填空：如果</a:t>
            </a:r>
            <a:r>
              <a:rPr lang="en-US" altLang="zh-CN"/>
              <a:t> DNS </a:t>
            </a:r>
            <a:r>
              <a:rPr lang="zh-CN" altLang="en-US"/>
              <a:t>查询失败，返回原始日志行</a:t>
            </a:r>
            <a:endParaRPr lang="zh-CN" altLang="en-US"/>
          </a:p>
          <a:p>
            <a:r>
              <a:rPr lang="en-US" altLang="zh-CN"/>
              <a:t>            }</a:t>
            </a:r>
            <a:endParaRPr lang="en-US" altLang="zh-CN"/>
          </a:p>
          <a:p>
            <a:r>
              <a:rPr lang="en-US" altLang="zh-CN"/>
              <a:t>        }</a:t>
            </a:r>
            <a:endParaRPr lang="en-US" altLang="zh-CN"/>
          </a:p>
          <a:p>
            <a:r>
              <a:rPr lang="en-US" altLang="zh-CN"/>
              <a:t>    }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定义</a:t>
            </a:r>
            <a:r>
              <a:rPr lang="en-US" altLang="zh-CN"/>
              <a:t> LogEntry </a:t>
            </a:r>
            <a:r>
              <a:rPr lang="zh-CN" altLang="en-US"/>
              <a:t>类，用于存储日志条目和对应的</a:t>
            </a:r>
            <a:r>
              <a:rPr lang="en-US" altLang="zh-CN"/>
              <a:t> Future </a:t>
            </a:r>
            <a:r>
              <a:rPr lang="zh-CN" altLang="en-US"/>
              <a:t>对象</a:t>
            </a:r>
            <a:endParaRPr lang="zh-CN" altLang="en-US"/>
          </a:p>
          <a:p>
            <a:r>
              <a:rPr lang="en-US" altLang="zh-CN"/>
              <a:t>    private static class LogEntry {</a:t>
            </a:r>
            <a:endParaRPr lang="en-US" altLang="zh-CN"/>
          </a:p>
          <a:p>
            <a:r>
              <a:rPr lang="en-US" altLang="zh-CN"/>
              <a:t>        String original;</a:t>
            </a:r>
            <a:endParaRPr lang="en-US" altLang="zh-CN"/>
          </a:p>
          <a:p>
            <a:r>
              <a:rPr lang="en-US" altLang="zh-CN"/>
              <a:t>        Future&lt;String&gt; future;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// </a:t>
            </a:r>
            <a:r>
              <a:rPr lang="zh-CN" altLang="en-US"/>
              <a:t>构造函数</a:t>
            </a:r>
            <a:endParaRPr lang="zh-CN" altLang="en-US"/>
          </a:p>
          <a:p>
            <a:r>
              <a:rPr lang="en-US" altLang="zh-CN"/>
              <a:t>        LogEntry(String original, Future&lt;String&gt; future) {</a:t>
            </a:r>
            <a:endParaRPr lang="en-US" altLang="zh-CN"/>
          </a:p>
          <a:p>
            <a:r>
              <a:rPr lang="en-US" altLang="zh-CN"/>
              <a:t>            this.original = original;  // </a:t>
            </a:r>
            <a:r>
              <a:rPr lang="zh-CN" altLang="en-US"/>
              <a:t>填空：初始化原始日志内容</a:t>
            </a:r>
            <a:endParaRPr lang="zh-CN" altLang="en-US"/>
          </a:p>
          <a:p>
            <a:r>
              <a:rPr lang="en-US" altLang="zh-CN"/>
              <a:t>            this.future = future;  // </a:t>
            </a:r>
            <a:r>
              <a:rPr lang="zh-CN" altLang="en-US"/>
              <a:t>填空：初始化</a:t>
            </a:r>
            <a:r>
              <a:rPr lang="en-US" altLang="zh-CN"/>
              <a:t> Future </a:t>
            </a:r>
            <a:r>
              <a:rPr lang="zh-CN" altLang="en-US"/>
              <a:t>对象</a:t>
            </a:r>
            <a:endParaRPr lang="zh-CN" altLang="en-US"/>
          </a:p>
          <a:p>
            <a:r>
              <a:rPr lang="en-US" altLang="zh-CN"/>
              <a:t>        }</a:t>
            </a:r>
            <a:endParaRPr lang="en-US" altLang="zh-CN"/>
          </a:p>
          <a:p>
            <a:r>
              <a:rPr lang="en-US" altLang="zh-CN"/>
              <a:t>    }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8"/>
            <a:ext cx="8918575" cy="425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15400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2"/>
          <p:cNvSpPr>
            <a:spLocks noGrp="1"/>
          </p:cNvSpPr>
          <p:nvPr>
            <p:ph idx="1"/>
          </p:nvPr>
        </p:nvSpPr>
        <p:spPr>
          <a:xfrm>
            <a:off x="88900" y="1104900"/>
            <a:ext cx="8540750" cy="3695700"/>
          </a:xfrm>
        </p:spPr>
        <p:txBody>
          <a:bodyPr/>
          <a:lstStyle/>
          <a:p>
            <a:r>
              <a:rPr lang="zh-CN" altLang="en-US" sz="2800"/>
              <a:t>使用线程池处理服务器日志程序有何设计缺点？</a:t>
            </a:r>
            <a:endParaRPr lang="en-US" altLang="zh-CN" sz="2800"/>
          </a:p>
          <a:p>
            <a:r>
              <a:rPr lang="zh-CN" altLang="en-US" sz="2800"/>
              <a:t>若让你编程处理服务器上的日志文件，该如何设计程序？需考虑日志记录项的快速写入，快速读出分析处理，成千上万、甚至百万条日志记录文件的打开占用大量内存问题。试写一个日志处理服务程序。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72707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zh-CN" altLang="en-US" sz="3600"/>
              <a:t>编程思考</a:t>
            </a:r>
            <a:r>
              <a:rPr lang="en-US" altLang="zh-CN" sz="3600"/>
              <a:t>1</a:t>
            </a:r>
            <a:endParaRPr lang="zh-CN" altLang="en-US" sz="36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内容占位符 2"/>
          <p:cNvSpPr>
            <a:spLocks noGrp="1"/>
          </p:cNvSpPr>
          <p:nvPr>
            <p:ph idx="1"/>
          </p:nvPr>
        </p:nvSpPr>
        <p:spPr>
          <a:xfrm>
            <a:off x="88900" y="1104900"/>
            <a:ext cx="8540750" cy="3695700"/>
          </a:xfrm>
        </p:spPr>
        <p:txBody>
          <a:bodyPr/>
          <a:lstStyle/>
          <a:p>
            <a:r>
              <a:rPr lang="zh-CN" altLang="en-US" sz="2800"/>
              <a:t>试尝试使用</a:t>
            </a:r>
            <a:r>
              <a:rPr lang="en-US" altLang="zh-CN" sz="2800"/>
              <a:t>log4j</a:t>
            </a:r>
            <a:r>
              <a:rPr lang="zh-CN" altLang="en-US" sz="2800"/>
              <a:t>开源插件，编程实现</a:t>
            </a:r>
            <a:r>
              <a:rPr lang="en-US" altLang="zh-CN" sz="2800"/>
              <a:t>Web</a:t>
            </a:r>
            <a:r>
              <a:rPr lang="zh-CN" altLang="en-US" sz="2800"/>
              <a:t>服务器日志功能，主要实现日志信息的格式化定向输出存储（日志文件中）。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73731" name="标题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838200"/>
          </a:xfrm>
        </p:spPr>
        <p:txBody>
          <a:bodyPr/>
          <a:lstStyle/>
          <a:p>
            <a:r>
              <a:rPr lang="zh-CN" altLang="en-US" sz="3600"/>
              <a:t>编程思考</a:t>
            </a:r>
            <a:r>
              <a:rPr lang="en-US" altLang="zh-CN" sz="3600"/>
              <a:t>2</a:t>
            </a:r>
            <a:endParaRPr lang="zh-CN" altLang="en-US" sz="36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2"/>
          <p:cNvSpPr>
            <a:spLocks noChangeArrowheads="1"/>
          </p:cNvSpPr>
          <p:nvPr/>
        </p:nvSpPr>
        <p:spPr bwMode="auto">
          <a:xfrm>
            <a:off x="0" y="2314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4755" name="Rectangle 6"/>
          <p:cNvSpPr>
            <a:spLocks noRot="1" noChangeArrowheads="1"/>
          </p:cNvSpPr>
          <p:nvPr/>
        </p:nvSpPr>
        <p:spPr bwMode="auto">
          <a:xfrm>
            <a:off x="990600" y="1628775"/>
            <a:ext cx="64833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80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谢谢</a:t>
            </a:r>
            <a:endParaRPr lang="en-US" altLang="zh-CN" sz="8000" b="1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21315</Words>
  <Application>WPS 演示</Application>
  <PresentationFormat>On-screen Show (4:3)</PresentationFormat>
  <Paragraphs>1040</Paragraphs>
  <Slides>68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9" baseType="lpstr">
      <vt:lpstr>Arial</vt:lpstr>
      <vt:lpstr>宋体</vt:lpstr>
      <vt:lpstr>Wingdings</vt:lpstr>
      <vt:lpstr>Wingdings 2</vt:lpstr>
      <vt:lpstr>华文行楷</vt:lpstr>
      <vt:lpstr>Garamond</vt:lpstr>
      <vt:lpstr>仿宋</vt:lpstr>
      <vt:lpstr>Consolas</vt:lpstr>
      <vt:lpstr>微软雅黑</vt:lpstr>
      <vt:lpstr>Arial Unicode MS</vt:lpstr>
      <vt:lpstr>砖雕艺术</vt:lpstr>
      <vt:lpstr>PowerPoint 演示文稿</vt:lpstr>
      <vt:lpstr>主要内容</vt:lpstr>
      <vt:lpstr>Internet索引（IP地址）</vt:lpstr>
      <vt:lpstr>IPV4与IPV6混合网络</vt:lpstr>
      <vt:lpstr>DNS</vt:lpstr>
      <vt:lpstr>域名系统（DNS）</vt:lpstr>
      <vt:lpstr>InetAddress类</vt:lpstr>
      <vt:lpstr>创建InetAddress对象</vt:lpstr>
      <vt:lpstr>getLocalHost方法</vt:lpstr>
      <vt:lpstr>getLocalHost方法使用例子</vt:lpstr>
      <vt:lpstr>getByName方法</vt:lpstr>
      <vt:lpstr>getByName方法使用例子</vt:lpstr>
      <vt:lpstr>getByName方法使用例子</vt:lpstr>
      <vt:lpstr>getByName方法使用例子</vt:lpstr>
      <vt:lpstr>getByName方法使用例子</vt:lpstr>
      <vt:lpstr>创建新的InetAddress对象</vt:lpstr>
      <vt:lpstr>getAllByName方法</vt:lpstr>
      <vt:lpstr>getAllByName方法使用例子</vt:lpstr>
      <vt:lpstr>getByAddress方法</vt:lpstr>
      <vt:lpstr>getByAddress方法使用例子</vt:lpstr>
      <vt:lpstr>程序安全性问题</vt:lpstr>
      <vt:lpstr>为什么不直接通过IP访问网站</vt:lpstr>
      <vt:lpstr>为什么不直接通过IP访问网站</vt:lpstr>
      <vt:lpstr>为什么不直接通过IP访问网站</vt:lpstr>
      <vt:lpstr>DNS缓存</vt:lpstr>
      <vt:lpstr>DNS缓存</vt:lpstr>
      <vt:lpstr>DNS查找结果在java缓存中的保留时间</vt:lpstr>
      <vt:lpstr>DNS缓存编程例子</vt:lpstr>
      <vt:lpstr>修改DNS缓存编程例子</vt:lpstr>
      <vt:lpstr>修改DNS缓存编程例子</vt:lpstr>
      <vt:lpstr>域名错误信息的保留时间设置</vt:lpstr>
      <vt:lpstr>域名错误信息的保留时间设置例子</vt:lpstr>
      <vt:lpstr>域名错误信息的保留时间设置例子</vt:lpstr>
      <vt:lpstr>域名错误信息的保留时间设置原则</vt:lpstr>
      <vt:lpstr>InetAddress的获取方法</vt:lpstr>
      <vt:lpstr>Inet4Address/Inet6Address</vt:lpstr>
      <vt:lpstr>使用getHostName方法获得域名</vt:lpstr>
      <vt:lpstr>使用getHostName方法获得域名</vt:lpstr>
      <vt:lpstr>使用getHostName方法获得域名例子</vt:lpstr>
      <vt:lpstr>使用getHostName方法获得域名例子</vt:lpstr>
      <vt:lpstr>使用getCanonicalHostName方法获得主机名</vt:lpstr>
      <vt:lpstr>使用getCanonicalHostName方法例子</vt:lpstr>
      <vt:lpstr>使用getCanonicalHostName方法例子</vt:lpstr>
      <vt:lpstr>使用getHostAddress方法获得IP地址</vt:lpstr>
      <vt:lpstr>使用getHostAddress方法获得IP地址</vt:lpstr>
      <vt:lpstr>使用getAddress方法获得IP地址</vt:lpstr>
      <vt:lpstr>使用getAddress方法获得IP地址</vt:lpstr>
      <vt:lpstr>获取方法</vt:lpstr>
      <vt:lpstr>测试IP地址的性质</vt:lpstr>
      <vt:lpstr>测试IP地址的性质</vt:lpstr>
      <vt:lpstr>测试IP地址的性质</vt:lpstr>
      <vt:lpstr>NetworkInterface</vt:lpstr>
      <vt:lpstr>例子：列出本机上的的有网络接口</vt:lpstr>
      <vt:lpstr>例子：列出本机上的的有网络接口</vt:lpstr>
      <vt:lpstr>应用编程思考？</vt:lpstr>
      <vt:lpstr>InetAddress的应用：SpamCheck</vt:lpstr>
      <vt:lpstr>InetAddress的应用：SpamCheck</vt:lpstr>
      <vt:lpstr>InetAddress的应用：SpamCheck</vt:lpstr>
      <vt:lpstr>InetAddress的应用：离线处理日志文件</vt:lpstr>
      <vt:lpstr>PowerPoint 演示文稿</vt:lpstr>
      <vt:lpstr>Web服务器日志文件的快速处理</vt:lpstr>
      <vt:lpstr>PowerPoint 演示文稿</vt:lpstr>
      <vt:lpstr>PowerPoint 演示文稿</vt:lpstr>
      <vt:lpstr>PowerPoint 演示文稿</vt:lpstr>
      <vt:lpstr>PowerPoint 演示文稿</vt:lpstr>
      <vt:lpstr>编程思考1</vt:lpstr>
      <vt:lpstr>编程思考2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Basker George</dc:creator>
  <cp:lastModifiedBy>杨韩冰</cp:lastModifiedBy>
  <cp:revision>1292</cp:revision>
  <cp:lastPrinted>2018-04-23T08:05:00Z</cp:lastPrinted>
  <dcterms:created xsi:type="dcterms:W3CDTF">2113-01-01T00:00:00Z</dcterms:created>
  <dcterms:modified xsi:type="dcterms:W3CDTF">2025-05-14T15:53:32Z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F19F8419685646DABA829F5F5A4C1A40_12</vt:lpwstr>
  </property>
  <property fmtid="{D5CDD505-2E9C-101B-9397-08002B2CF9AE}" pid="4" name="KSOProductBuildVer">
    <vt:lpwstr>2052-12.1.0.20305</vt:lpwstr>
  </property>
</Properties>
</file>