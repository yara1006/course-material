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353" r:id="rId5"/>
    <p:sldId id="371" r:id="rId6"/>
    <p:sldId id="354" r:id="rId7"/>
    <p:sldId id="355" r:id="rId8"/>
    <p:sldId id="362" r:id="rId9"/>
    <p:sldId id="363" r:id="rId10"/>
    <p:sldId id="364" r:id="rId11"/>
    <p:sldId id="356" r:id="rId12"/>
    <p:sldId id="368" r:id="rId13"/>
    <p:sldId id="369" r:id="rId14"/>
    <p:sldId id="357" r:id="rId15"/>
    <p:sldId id="358" r:id="rId16"/>
    <p:sldId id="359" r:id="rId17"/>
    <p:sldId id="365" r:id="rId18"/>
    <p:sldId id="366" r:id="rId19"/>
    <p:sldId id="367" r:id="rId20"/>
    <p:sldId id="360" r:id="rId21"/>
    <p:sldId id="370" r:id="rId22"/>
    <p:sldId id="361" r:id="rId23"/>
  </p:sldIdLst>
  <p:sldSz cx="12192000" cy="6858000"/>
  <p:notesSz cx="7099300" cy="1023429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3300"/>
    <a:srgbClr val="990099"/>
    <a:srgbClr val="FF3399"/>
    <a:srgbClr val="FF0066"/>
    <a:srgbClr val="CC00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728" autoAdjust="0"/>
  </p:normalViewPr>
  <p:slideViewPr>
    <p:cSldViewPr showGuides="1">
      <p:cViewPr varScale="1">
        <p:scale>
          <a:sx n="113" d="100"/>
          <a:sy n="113" d="100"/>
        </p:scale>
        <p:origin x="47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ED177E1-8903-4C07-A158-0F0845BEE3E0}" type="datetime1">
              <a:rPr lang="zh-CN" altLang="en-US"/>
            </a:fld>
            <a:endParaRPr lang="en-US" altLang="zh-CN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0AE726D-F593-4CAF-AB4A-9D6D9092E5F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DC96B6C-ABA9-4B4B-8870-3B7B6C66222E}" type="datetime1">
              <a:rPr lang="zh-CN" altLang="en-US"/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A90B948C-527B-4DF2-AE76-11AF6E45687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CAECBC9-5AB9-4FD4-8294-007306C9A9E5}" type="slidenum">
              <a:rPr lang="en-US" altLang="zh-CN" smtClean="0"/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0B948C-527B-4DF2-AE76-11AF6E45687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96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4C41D-8F4C-4259-8208-9371F329DB5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E10B-A7AA-4221-977C-699B2ADC807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784B3-DC65-481C-8B42-7FB1EBAA65E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3053-6492-4B82-9736-6228AE5490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006E6-6AE2-49A0-9E49-1751C0AC2D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296D9-B712-42CF-8F70-C6F480ED250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B0655-D03B-4A28-9108-75B3CB5F877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87209-3D1C-4EC0-A7F5-8B72F2B069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D57F6-D160-4A4E-B995-157B5A2FF3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E8ADE-C6D9-4F11-9838-D7EF3A8707A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2918" y="228601"/>
            <a:ext cx="2846916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2167" y="228601"/>
            <a:ext cx="8337551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63047-73A2-4FB1-9C82-C747CFB347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1D173-92C5-433C-B075-E0C147671F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600200"/>
            <a:ext cx="11387667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A2E3F55-1CD8-43A0-AB3B-1B9B22F428F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docs.oracle.com/javase/8/docs/api/javax/net/ssl/SSLSocket.html" TargetMode="External"/><Relationship Id="rId1" Type="http://schemas.openxmlformats.org/officeDocument/2006/relationships/hyperlink" Target="http://docs.oracle.com/javase/8/docs/api/javax/net/SocketFactory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docs.oracle.com/javase/8/docs/api/javax/net/ssl/SSLServerSocket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D8731F-CF99-42CD-8579-ACC57B805F1B}" type="slidenum">
              <a:rPr lang="en-US" altLang="zh-CN" sz="1400"/>
            </a:fld>
            <a:endParaRPr lang="en-US" altLang="zh-CN" sz="1400"/>
          </a:p>
        </p:txBody>
      </p:sp>
      <p:sp>
        <p:nvSpPr>
          <p:cNvPr id="5123" name="Rectangle 6"/>
          <p:cNvSpPr>
            <a:spLocks noRot="1" noChangeArrowheads="1"/>
          </p:cNvSpPr>
          <p:nvPr/>
        </p:nvSpPr>
        <p:spPr bwMode="auto">
          <a:xfrm>
            <a:off x="1676400" y="1295400"/>
            <a:ext cx="85407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Internet Programming</a:t>
            </a:r>
            <a:endParaRPr lang="en-US" altLang="zh-CN" sz="48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Chapter </a:t>
            </a:r>
            <a:r>
              <a:rPr lang="en-GB" altLang="zh-CN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10</a:t>
            </a:r>
            <a:r>
              <a:rPr lang="en-GB" altLang="en-US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​</a:t>
            </a:r>
            <a:endParaRPr lang="en-US" altLang="zh-CN" sz="48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Secure </a:t>
            </a:r>
            <a:r>
              <a:rPr lang="en-GB" altLang="zh-CN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socket</a:t>
            </a:r>
            <a:endParaRPr lang="en-US" altLang="zh-CN" sz="4800" dirty="0">
              <a:latin typeface="Garamond" panose="02020404030301010803" pitchFamily="18" charset="0"/>
              <a:ea typeface="仿宋" panose="02010609060101010101" pitchFamily="49" charset="-122"/>
            </a:endParaRPr>
          </a:p>
        </p:txBody>
      </p:sp>
      <p:sp>
        <p:nvSpPr>
          <p:cNvPr id="5124" name="Rectangle 8"/>
          <p:cNvSpPr>
            <a:spLocks noRot="1" noChangeArrowheads="1"/>
          </p:cNvSpPr>
          <p:nvPr/>
        </p:nvSpPr>
        <p:spPr bwMode="auto">
          <a:xfrm>
            <a:off x="6477000" y="5715000"/>
            <a:ext cx="396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2000" b="1">
                <a:solidFill>
                  <a:schemeClr val="tx2"/>
                </a:solidFill>
              </a:rPr>
              <a:t>School of Computer and Software, Shenzhen University</a:t>
            </a:r>
            <a:endParaRPr lang="zh-CN" altLang="en-US" sz="2000" b="1" i="1">
              <a:solidFill>
                <a:schemeClr val="tx2"/>
              </a:solidFill>
            </a:endParaRPr>
          </a:p>
        </p:txBody>
      </p:sp>
      <p:pic>
        <p:nvPicPr>
          <p:cNvPr id="5125" name="Picture 10" descr="sz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1"/>
            <a:ext cx="2514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7775575" cy="4381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lang="en-GB" altLang="zh-CN" sz="3200" b="1" dirty="0"/>
              <a:t>Internet </a:t>
            </a:r>
            <a:r>
              <a:rPr lang="en-GB" altLang="en-US" sz="3200" b="1" dirty="0"/>
              <a:t>Communications Protect</a:t>
            </a:r>
            <a:r>
              <a:rPr lang="en-US" altLang="en-US" sz="3200" b="1" dirty="0"/>
              <a:t>ion</a:t>
            </a:r>
            <a:endParaRPr lang="en-GB" altLang="en-US" sz="3200" b="1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304800" y="762000"/>
            <a:ext cx="11582400" cy="594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1. Encryption Fundamentals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b="1" dirty="0"/>
              <a:t>Components</a:t>
            </a:r>
            <a:r>
              <a:rPr lang="en-US" sz="1800" dirty="0"/>
              <a:t>:</a:t>
            </a:r>
            <a:endParaRPr lang="en-US" sz="1800" dirty="0"/>
          </a:p>
          <a:p>
            <a:pPr lvl="1"/>
            <a:r>
              <a:rPr lang="en-US" sz="1600" dirty="0"/>
              <a:t>Plaintext, Secret Key, Encryption Algorithm, Ciphertext</a:t>
            </a:r>
            <a:endParaRPr lang="en-US" sz="1600" dirty="0"/>
          </a:p>
          <a:p>
            <a:r>
              <a:rPr lang="en-US" sz="1800" b="1" dirty="0"/>
              <a:t>Symmetric Encryption</a:t>
            </a:r>
            <a:r>
              <a:rPr lang="en-US" sz="1800" dirty="0"/>
              <a:t> (Secret Key):</a:t>
            </a:r>
            <a:endParaRPr lang="en-US" sz="1800" dirty="0"/>
          </a:p>
          <a:p>
            <a:pPr lvl="1"/>
            <a:r>
              <a:rPr lang="en-US" sz="1600" dirty="0"/>
              <a:t>Same key used for encryption and decryption</a:t>
            </a:r>
            <a:endParaRPr lang="en-US" sz="1600" dirty="0"/>
          </a:p>
          <a:p>
            <a:pPr lvl="1"/>
            <a:r>
              <a:rPr lang="en-US" sz="1600" dirty="0"/>
              <a:t>Example: AES, DES</a:t>
            </a:r>
            <a:endParaRPr lang="en-US" sz="1600" dirty="0"/>
          </a:p>
          <a:p>
            <a:r>
              <a:rPr lang="en-US" sz="1800" b="1" dirty="0"/>
              <a:t>Asymmetric Encryption</a:t>
            </a:r>
            <a:r>
              <a:rPr lang="en-US" sz="1800" dirty="0"/>
              <a:t> (Public Key):</a:t>
            </a:r>
            <a:endParaRPr lang="en-US" sz="1800" dirty="0"/>
          </a:p>
          <a:p>
            <a:pPr lvl="1"/>
            <a:r>
              <a:rPr lang="en-US" sz="1600" dirty="0"/>
              <a:t>Key pairs: Public key (shared) and Private key (kept secret)</a:t>
            </a:r>
            <a:endParaRPr lang="en-US" sz="1600" dirty="0"/>
          </a:p>
          <a:p>
            <a:pPr lvl="1"/>
            <a:r>
              <a:rPr lang="en-US" sz="1600" dirty="0"/>
              <a:t>Used for:</a:t>
            </a:r>
            <a:endParaRPr lang="en-US" sz="1600" dirty="0"/>
          </a:p>
          <a:p>
            <a:pPr lvl="2"/>
            <a:r>
              <a:rPr lang="en-US" sz="1400" b="1" dirty="0"/>
              <a:t>Identity Authentication</a:t>
            </a:r>
            <a:endParaRPr lang="en-US" sz="1400" dirty="0"/>
          </a:p>
          <a:p>
            <a:pPr lvl="2"/>
            <a:r>
              <a:rPr lang="en-US" sz="1400" b="1" dirty="0"/>
              <a:t>Message Integrity Verification</a:t>
            </a:r>
            <a:endParaRPr lang="en-US" sz="1400" dirty="0"/>
          </a:p>
          <a:p>
            <a:r>
              <a:rPr lang="en-US" sz="1800" b="1" dirty="0"/>
              <a:t>Double Encryption</a:t>
            </a:r>
            <a:r>
              <a:rPr lang="en-US" sz="1800" dirty="0"/>
              <a:t>:</a:t>
            </a:r>
            <a:endParaRPr lang="en-US" sz="1800" dirty="0"/>
          </a:p>
          <a:p>
            <a:pPr lvl="1"/>
            <a:r>
              <a:rPr lang="en-US" sz="1600" dirty="0"/>
              <a:t>Encrypt with:</a:t>
            </a:r>
            <a:endParaRPr lang="en-US" sz="1600" dirty="0"/>
          </a:p>
          <a:p>
            <a:pPr lvl="2"/>
            <a:r>
              <a:rPr lang="en-US" sz="1400" dirty="0"/>
              <a:t>Your own private key </a:t>
            </a:r>
            <a:r>
              <a:rPr lang="en-US" sz="1400" b="1" dirty="0"/>
              <a:t>and</a:t>
            </a:r>
            <a:endParaRPr lang="en-US" sz="1400" dirty="0"/>
          </a:p>
          <a:p>
            <a:pPr lvl="2"/>
            <a:r>
              <a:rPr lang="en-US" sz="1400" dirty="0"/>
              <a:t>Recipient’s public key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2. Security Threats &amp; Mitigations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b="1" dirty="0"/>
              <a:t>Man-in-the-Middle (MITM) Attacks</a:t>
            </a:r>
            <a:r>
              <a:rPr lang="en-US" sz="2000" dirty="0"/>
              <a:t>:</a:t>
            </a:r>
            <a:endParaRPr lang="en-US" sz="2000" dirty="0"/>
          </a:p>
          <a:p>
            <a:pPr lvl="1"/>
            <a:r>
              <a:rPr lang="en-US" sz="1800" dirty="0"/>
              <a:t>Prevented via </a:t>
            </a:r>
            <a:r>
              <a:rPr lang="en-US" sz="1800" b="1" dirty="0"/>
              <a:t>Trusted Third-Party Certificate Authorities (CAs)</a:t>
            </a:r>
            <a:endParaRPr lang="en-US" sz="1800" dirty="0"/>
          </a:p>
          <a:p>
            <a:pPr lvl="1"/>
            <a:r>
              <a:rPr lang="en-US" sz="1800" dirty="0"/>
              <a:t>CAs store and validate public keys</a:t>
            </a:r>
            <a:endParaRPr lang="en-US" sz="1800" dirty="0"/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EB0655-D03B-4A28-9108-75B3CB5F8778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533400" y="304800"/>
            <a:ext cx="5711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3. Java Secure Socket Extension (JSSE) Packages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1109" y="1371600"/>
          <a:ext cx="11388725" cy="2355154"/>
        </p:xfrm>
        <a:graphic>
          <a:graphicData uri="http://schemas.openxmlformats.org/drawingml/2006/table">
            <a:tbl>
              <a:tblPr firstRow="1" firstCol="1" bandRow="1"/>
              <a:tblGrid>
                <a:gridCol w="4932362"/>
                <a:gridCol w="6456363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Package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457200" marR="0" lv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javax.net.ssl.SSLSocket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class for secure socket API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457200" marR="0" lv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javax.net.ssl.SSLSocketFactory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factory for creating secure sockets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457200" marR="0" lv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java.security.cert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Classes for handling SSL public key certificates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457200" marR="0" lv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rgbClr val="40404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com.sun.net.ssl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404040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Implementation-specific classes (Note: Avoid for portability)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4800" y="4357538"/>
            <a:ext cx="10820400" cy="1426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>
            <a:lvl1pPr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2044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20445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// Example: Creating a secure socket  </a:t>
            </a:r>
            <a:endParaRPr kumimoji="0" lang="en-US" altLang="en-US" sz="1600" b="1" i="1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20445" algn="l"/>
              </a:tabLst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1020445" algn="l"/>
              </a:tabLs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SSLSocketFactory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factory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SSLSocketFactory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SSLSocketFactory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getDefault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>
                <a:tab pos="1020445" algn="l"/>
              </a:tabLs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SSLSocket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socket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SSLSocket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factory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4078F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createSocket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"example.com"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443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9494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2044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1676400" y="76200"/>
            <a:ext cx="7775575" cy="4381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l"/>
            <a:r>
              <a:rPr lang="en-US" altLang="en-US" sz="3200" dirty="0">
                <a:solidFill>
                  <a:srgbClr val="FF0000"/>
                </a:solidFill>
              </a:rPr>
              <a:t>Secure Socket Connection Example</a:t>
            </a:r>
            <a:br>
              <a:rPr lang="en-US" altLang="en-US" sz="3200" dirty="0">
                <a:solidFill>
                  <a:srgbClr val="FF0000"/>
                </a:solidFill>
              </a:rPr>
            </a:br>
            <a:br>
              <a:rPr lang="en-US" altLang="zh-CN" dirty="0">
                <a:solidFill>
                  <a:srgbClr val="FF0000"/>
                </a:solidFill>
              </a:rPr>
            </a:b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000" y="609547"/>
            <a:ext cx="11277600" cy="6085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1. Get the default SSL socket factory  </a:t>
            </a:r>
            <a:endParaRPr lang="en-US" sz="14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SSLSocketFactory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factory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SSLSocketFactory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SSLSocketFactory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getDefault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socket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2. Establish a secure connection (default HTTPS port: 443)  </a:t>
            </a:r>
            <a:endParaRPr lang="en-US" sz="1400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socket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createSocket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Typically port = 443  </a:t>
            </a:r>
            <a:endParaRPr lang="en-US" sz="1400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3. Configure cipher suites  </a:t>
            </a:r>
            <a:endParaRPr lang="en-US" sz="1400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supported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getSupportedCipherSuites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setEnabledCipherSuites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Enable all supported suites  </a:t>
            </a:r>
            <a:endParaRPr lang="en-US" sz="1400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4. Get I/O streams for secure communication  </a:t>
            </a:r>
            <a:endParaRPr lang="en-US" sz="1400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InputStream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getInputStream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OutputStream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getOutputStream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... Read/write data as usual ...  </a:t>
            </a:r>
            <a:endParaRPr lang="en-US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IOException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50A14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"SSL connection failed: "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getMessage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// 5. Gracefully close the socket  </a:t>
            </a:r>
            <a:endParaRPr lang="en-US" sz="1400" b="1" i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IOException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/* Log error if needed */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57208" y="1435097"/>
          <a:ext cx="11406192" cy="3036343"/>
        </p:xfrm>
        <a:graphic>
          <a:graphicData uri="http://schemas.openxmlformats.org/drawingml/2006/table">
            <a:tbl>
              <a:tblPr/>
              <a:tblGrid>
                <a:gridCol w="4929192"/>
                <a:gridCol w="6477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404040"/>
                          </a:solidFill>
                          <a:effectLst/>
                        </a:rPr>
                        <a:t>Method</a:t>
                      </a:r>
                      <a:endParaRPr lang="en-US" sz="14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404040"/>
                          </a:solidFill>
                          <a:effectLst/>
                        </a:rPr>
                        <a:t>Description</a:t>
                      </a:r>
                      <a:endParaRPr lang="en-US" sz="1400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47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static </a:t>
                      </a:r>
                      <a:r>
                        <a:rPr lang="en-US" sz="1200" b="1" dirty="0" err="1">
                          <a:effectLst/>
                        </a:rPr>
                        <a:t>SocketFactory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getDefault</a:t>
                      </a:r>
                      <a:r>
                        <a:rPr lang="en-US" sz="1200" b="1" dirty="0">
                          <a:effectLst/>
                        </a:rPr>
                        <a:t>()</a:t>
                      </a:r>
                      <a:endParaRPr lang="en-US" sz="1200" b="1" dirty="0"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Returns the default socket factory (typically an SSLSocketFactory instance).</a:t>
                      </a:r>
                      <a:endParaRPr lang="en-US" sz="1200" b="1"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Socket </a:t>
                      </a:r>
                      <a:r>
                        <a:rPr lang="en-US" sz="1200" b="1" dirty="0" err="1">
                          <a:effectLst/>
                        </a:rPr>
                        <a:t>createSocket</a:t>
                      </a:r>
                      <a:r>
                        <a:rPr lang="en-US" sz="1200" b="1" dirty="0">
                          <a:effectLst/>
                        </a:rPr>
                        <a:t>()</a:t>
                      </a:r>
                      <a:endParaRPr lang="en-US" sz="1200" b="1" dirty="0"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Creates an unconnected socket.</a:t>
                      </a:r>
                      <a:endParaRPr lang="en-US" sz="1200" b="1" dirty="0"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7144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abstract Socket createSocket(InetAddress host, int port)</a:t>
                      </a:r>
                      <a:endParaRPr lang="en-US" sz="1200" b="1"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Creates a socket connected to the specified host:port.</a:t>
                      </a:r>
                      <a:endParaRPr lang="en-US" sz="1200" b="1"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448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abstract Socket createSocket(String host, int port)</a:t>
                      </a:r>
                      <a:endParaRPr lang="en-US" sz="1200" b="1"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Creates a socket connected to the named host and port.</a:t>
                      </a:r>
                      <a:endParaRPr lang="en-US" sz="1200" b="1"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87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abstract Socket createSocket(InetAddress address, int port, InetAddress localAddress, int localPort)</a:t>
                      </a:r>
                      <a:endParaRPr lang="en-US" sz="1200" b="1"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Creates a socket with explicit local binding.</a:t>
                      </a:r>
                      <a:endParaRPr lang="en-US" sz="1200" b="1"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1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</a:rPr>
                        <a:t>abstract Socket createSocket(String host, int port, InetAddress localHost, int localPort)</a:t>
                      </a:r>
                      <a:endParaRPr lang="en-US" sz="1200" b="1">
                        <a:effectLst/>
                      </a:endParaRPr>
                    </a:p>
                  </a:txBody>
                  <a:tcPr marL="88942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effectLst/>
                        </a:rPr>
                        <a:t>Creates a socket with named remote host and local binding.</a:t>
                      </a:r>
                      <a:endParaRPr lang="en-US" sz="1200" b="1" dirty="0">
                        <a:effectLst/>
                      </a:endParaRPr>
                    </a:p>
                  </a:txBody>
                  <a:tcPr marL="92648" marR="92648" marT="92648" marB="926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600201" y="152400"/>
            <a:ext cx="7775575" cy="4381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l"/>
            <a:r>
              <a:rPr lang="en-GB" altLang="en-US" sz="3200" dirty="0"/>
              <a:t>Creating a </a:t>
            </a:r>
            <a:r>
              <a:rPr lang="en-US" altLang="en-US" sz="3200" dirty="0"/>
              <a:t>S</a:t>
            </a:r>
            <a:r>
              <a:rPr lang="en-GB" altLang="en-US" sz="3200" dirty="0"/>
              <a:t>ecure Client S</a:t>
            </a:r>
            <a:r>
              <a:rPr lang="en-GB" altLang="zh-CN" sz="3200" dirty="0"/>
              <a:t>ocket</a:t>
            </a:r>
            <a:br>
              <a:rPr lang="en-US" altLang="zh-CN" sz="3200" dirty="0"/>
            </a:br>
            <a:endParaRPr lang="zh-CN" altLang="en-US" sz="3200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237067" y="751405"/>
            <a:ext cx="11658600" cy="576232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r>
              <a:rPr lang="en-US" sz="1800" b="1" dirty="0" err="1"/>
              <a:t>SSLSocketFactory</a:t>
            </a:r>
            <a:r>
              <a:rPr lang="en-US" sz="1800" b="1" dirty="0"/>
              <a:t> - Secure Socket Factory Class</a:t>
            </a:r>
            <a:endParaRPr lang="en-US" sz="1800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p"/>
            </a:pPr>
            <a:r>
              <a:rPr lang="en-GB" altLang="zh-CN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http://docs.oracle.com/javase/8/docs/api/javax/net/SocketFactory.html</a:t>
            </a: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Inheritance: Extends </a:t>
            </a:r>
            <a:r>
              <a:rPr lang="en-US" altLang="zh-C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javax.net.SocketFactory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(base class for socket factories).</a:t>
            </a: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GB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SSLSocket</a:t>
            </a:r>
            <a:endParaRPr lang="en-GB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p"/>
            </a:pPr>
            <a:r>
              <a:rPr lang="en-GB" altLang="zh-CN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http://docs.oracle.com/javase/8/docs/api/javax/net/ssl/SSLSocket.html</a:t>
            </a:r>
            <a:endParaRPr lang="en-US" altLang="zh-C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80000"/>
              </a:lnSpc>
            </a:pPr>
            <a:endParaRPr lang="en-US" altLang="zh-CN" sz="1300" dirty="0"/>
          </a:p>
          <a:p>
            <a:pPr marL="0" indent="0">
              <a:lnSpc>
                <a:spcPct val="80000"/>
              </a:lnSpc>
              <a:buNone/>
            </a:pPr>
            <a:endParaRPr lang="en-US" altLang="zh-CN" sz="2000" dirty="0"/>
          </a:p>
        </p:txBody>
      </p:sp>
      <p:sp>
        <p:nvSpPr>
          <p:cNvPr id="9220" name="TextBox 2"/>
          <p:cNvSpPr txBox="1">
            <a:spLocks noChangeArrowheads="1"/>
          </p:cNvSpPr>
          <p:nvPr/>
        </p:nvSpPr>
        <p:spPr bwMode="auto">
          <a:xfrm>
            <a:off x="304800" y="5867400"/>
            <a:ext cx="1146386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</a:rPr>
              <a:t>Client example </a:t>
            </a:r>
            <a:r>
              <a:rPr lang="en-GB" altLang="zh-CN" sz="1800" dirty="0">
                <a:solidFill>
                  <a:srgbClr val="FF0000"/>
                </a:solidFill>
              </a:rPr>
              <a:t>ex10-1 HTTPSClient </a:t>
            </a:r>
            <a:r>
              <a:rPr lang="en-GB" altLang="en-US" sz="1800" dirty="0">
                <a:solidFill>
                  <a:srgbClr val="FF0000"/>
                </a:solidFill>
              </a:rPr>
              <a:t>using secure </a:t>
            </a:r>
            <a:r>
              <a:rPr lang="en-GB" altLang="zh-CN" sz="1800" dirty="0">
                <a:solidFill>
                  <a:srgbClr val="FF0000"/>
                </a:solidFill>
              </a:rPr>
              <a:t>socket </a:t>
            </a:r>
            <a:r>
              <a:rPr lang="en-GB" altLang="en-US" sz="1800" dirty="0">
                <a:solidFill>
                  <a:srgbClr val="FF0000"/>
                </a:solidFill>
              </a:rPr>
              <a:t>, the program uses secure </a:t>
            </a:r>
            <a:r>
              <a:rPr lang="en-GB" altLang="zh-CN" sz="1800" dirty="0">
                <a:solidFill>
                  <a:srgbClr val="FF0000"/>
                </a:solidFill>
              </a:rPr>
              <a:t>socket </a:t>
            </a:r>
            <a:r>
              <a:rPr lang="en-GB" altLang="en-US" sz="1800" dirty="0">
                <a:solidFill>
                  <a:srgbClr val="FF0000"/>
                </a:solidFill>
              </a:rPr>
              <a:t>to connect to a secure server (United States Postal Service </a:t>
            </a:r>
            <a:r>
              <a:rPr lang="en-GB" altLang="zh-CN" sz="1800" dirty="0">
                <a:solidFill>
                  <a:srgbClr val="FF0000"/>
                </a:solidFill>
              </a:rPr>
              <a:t>www.usps.com </a:t>
            </a:r>
            <a:r>
              <a:rPr lang="en-GB" altLang="en-US" sz="1800" dirty="0">
                <a:solidFill>
                  <a:srgbClr val="FF0000"/>
                </a:solidFill>
              </a:rPr>
              <a:t>), send a simple </a:t>
            </a:r>
            <a:r>
              <a:rPr lang="en-GB" altLang="zh-CN" sz="1800" dirty="0">
                <a:solidFill>
                  <a:srgbClr val="FF0000"/>
                </a:solidFill>
              </a:rPr>
              <a:t>GET </a:t>
            </a:r>
            <a:r>
              <a:rPr lang="en-GB" altLang="en-US" sz="1800" dirty="0">
                <a:solidFill>
                  <a:srgbClr val="FF0000"/>
                </a:solidFill>
              </a:rPr>
              <a:t>request and respond.</a:t>
            </a:r>
            <a:endParaRPr lang="en-GB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2"/>
          <p:cNvSpPr txBox="1">
            <a:spLocks noChangeArrowheads="1"/>
          </p:cNvSpPr>
          <p:nvPr/>
        </p:nvSpPr>
        <p:spPr bwMode="auto">
          <a:xfrm>
            <a:off x="152400" y="152401"/>
            <a:ext cx="11734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</a:rPr>
              <a:t>Client </a:t>
            </a:r>
            <a:r>
              <a:rPr lang="en-US" altLang="en-US" sz="1800" dirty="0">
                <a:solidFill>
                  <a:srgbClr val="FF0000"/>
                </a:solidFill>
              </a:rPr>
              <a:t>E</a:t>
            </a:r>
            <a:r>
              <a:rPr lang="en-GB" altLang="en-US" sz="1800" dirty="0">
                <a:solidFill>
                  <a:srgbClr val="FF0000"/>
                </a:solidFill>
              </a:rPr>
              <a:t>xample </a:t>
            </a:r>
            <a:r>
              <a:rPr lang="en-US" altLang="en-US" sz="1800" dirty="0">
                <a:solidFill>
                  <a:srgbClr val="FF0000"/>
                </a:solidFill>
              </a:rPr>
              <a:t>E</a:t>
            </a:r>
            <a:r>
              <a:rPr lang="en-GB" altLang="zh-CN" sz="1800" dirty="0">
                <a:solidFill>
                  <a:srgbClr val="FF0000"/>
                </a:solidFill>
              </a:rPr>
              <a:t>x10-1 HTTPSClient </a:t>
            </a:r>
            <a:r>
              <a:rPr lang="en-GB" altLang="en-US" sz="1800" dirty="0">
                <a:solidFill>
                  <a:srgbClr val="FF0000"/>
                </a:solidFill>
              </a:rPr>
              <a:t>using secure </a:t>
            </a:r>
            <a:r>
              <a:rPr lang="en-GB" altLang="zh-CN" sz="1800" dirty="0">
                <a:solidFill>
                  <a:srgbClr val="FF0000"/>
                </a:solidFill>
              </a:rPr>
              <a:t>socket </a:t>
            </a:r>
            <a:r>
              <a:rPr lang="en-GB" altLang="en-US" sz="1800" dirty="0">
                <a:solidFill>
                  <a:srgbClr val="FF0000"/>
                </a:solidFill>
              </a:rPr>
              <a:t>, the program uses secure </a:t>
            </a:r>
            <a:r>
              <a:rPr lang="en-GB" altLang="zh-CN" sz="1800" dirty="0">
                <a:solidFill>
                  <a:srgbClr val="FF0000"/>
                </a:solidFill>
              </a:rPr>
              <a:t>socket </a:t>
            </a:r>
            <a:r>
              <a:rPr lang="en-GB" altLang="en-US" sz="1800" dirty="0">
                <a:solidFill>
                  <a:srgbClr val="FF0000"/>
                </a:solidFill>
              </a:rPr>
              <a:t>to connect to a secure server (United States Postal Service </a:t>
            </a:r>
            <a:r>
              <a:rPr lang="en-GB" altLang="zh-CN" sz="1800" dirty="0">
                <a:solidFill>
                  <a:srgbClr val="FF0000"/>
                </a:solidFill>
              </a:rPr>
              <a:t>www.usps.com </a:t>
            </a:r>
            <a:r>
              <a:rPr lang="en-GB" altLang="en-US" sz="1800" dirty="0">
                <a:solidFill>
                  <a:srgbClr val="FF0000"/>
                </a:solidFill>
              </a:rPr>
              <a:t>), send a simple </a:t>
            </a:r>
            <a:r>
              <a:rPr lang="en-GB" altLang="zh-CN" sz="1800" dirty="0">
                <a:solidFill>
                  <a:srgbClr val="FF0000"/>
                </a:solidFill>
              </a:rPr>
              <a:t>GET </a:t>
            </a:r>
            <a:r>
              <a:rPr lang="en-GB" altLang="en-US" sz="1800" dirty="0">
                <a:solidFill>
                  <a:srgbClr val="FF0000"/>
                </a:solidFill>
              </a:rPr>
              <a:t>request and respond.</a:t>
            </a:r>
            <a:endParaRPr lang="en-GB" altLang="en-US" sz="1800" dirty="0">
              <a:solidFill>
                <a:srgbClr val="FF0000"/>
              </a:solidFill>
            </a:endParaRPr>
          </a:p>
        </p:txBody>
      </p:sp>
      <p:pic>
        <p:nvPicPr>
          <p:cNvPr id="10243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10363199" cy="5297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文本框 1"/>
          <p:cNvSpPr txBox="1">
            <a:spLocks noChangeArrowheads="1"/>
          </p:cNvSpPr>
          <p:nvPr/>
        </p:nvSpPr>
        <p:spPr bwMode="auto">
          <a:xfrm>
            <a:off x="7543800" y="914400"/>
            <a:ext cx="2514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https://www.usps.com/</a:t>
            </a:r>
            <a:endParaRPr lang="zh-CN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6037"/>
            <a:ext cx="10439400" cy="676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"/>
          <p:cNvSpPr txBox="1">
            <a:spLocks noChangeArrowheads="1"/>
          </p:cNvSpPr>
          <p:nvPr/>
        </p:nvSpPr>
        <p:spPr bwMode="auto">
          <a:xfrm>
            <a:off x="1524000" y="152401"/>
            <a:ext cx="853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FF0000"/>
                </a:solidFill>
              </a:rPr>
              <a:t>Client example </a:t>
            </a:r>
            <a:r>
              <a:rPr lang="en-GB" altLang="zh-CN" sz="1800">
                <a:solidFill>
                  <a:srgbClr val="FF0000"/>
                </a:solidFill>
              </a:rPr>
              <a:t>ex10-1 HTTPSClient </a:t>
            </a:r>
            <a:r>
              <a:rPr lang="en-GB" altLang="en-US" sz="1800">
                <a:solidFill>
                  <a:srgbClr val="FF0000"/>
                </a:solidFill>
              </a:rPr>
              <a:t>using secure </a:t>
            </a:r>
            <a:r>
              <a:rPr lang="en-GB" altLang="zh-CN" sz="1800">
                <a:solidFill>
                  <a:srgbClr val="FF0000"/>
                </a:solidFill>
              </a:rPr>
              <a:t>socket </a:t>
            </a:r>
            <a:r>
              <a:rPr lang="en-GB" altLang="en-US" sz="1800">
                <a:solidFill>
                  <a:srgbClr val="FF0000"/>
                </a:solidFill>
              </a:rPr>
              <a:t>, the program uses secure </a:t>
            </a:r>
            <a:r>
              <a:rPr lang="en-GB" altLang="zh-CN" sz="1800">
                <a:solidFill>
                  <a:srgbClr val="FF0000"/>
                </a:solidFill>
              </a:rPr>
              <a:t>socket </a:t>
            </a:r>
            <a:r>
              <a:rPr lang="en-GB" altLang="en-US" sz="1800">
                <a:solidFill>
                  <a:srgbClr val="FF0000"/>
                </a:solidFill>
              </a:rPr>
              <a:t>to connect to a secure server (United States Postal Service </a:t>
            </a:r>
            <a:r>
              <a:rPr lang="en-GB" altLang="zh-CN" sz="1800">
                <a:solidFill>
                  <a:srgbClr val="FF0000"/>
                </a:solidFill>
              </a:rPr>
              <a:t>www.usps.com </a:t>
            </a:r>
            <a:r>
              <a:rPr lang="en-GB" altLang="en-US" sz="1800">
                <a:solidFill>
                  <a:srgbClr val="FF0000"/>
                </a:solidFill>
              </a:rPr>
              <a:t>), send a simple </a:t>
            </a:r>
            <a:r>
              <a:rPr lang="en-GB" altLang="zh-CN" sz="1800">
                <a:solidFill>
                  <a:srgbClr val="FF0000"/>
                </a:solidFill>
              </a:rPr>
              <a:t>GET </a:t>
            </a:r>
            <a:r>
              <a:rPr lang="en-GB" altLang="en-US" sz="1800">
                <a:solidFill>
                  <a:srgbClr val="FF0000"/>
                </a:solidFill>
              </a:rPr>
              <a:t>request and respond.</a:t>
            </a:r>
            <a:endParaRPr lang="en-GB" altLang="en-US" sz="1800">
              <a:solidFill>
                <a:srgbClr val="FF0000"/>
              </a:solidFill>
            </a:endParaRPr>
          </a:p>
        </p:txBody>
      </p:sp>
      <p:pic>
        <p:nvPicPr>
          <p:cNvPr id="12291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75438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457200" y="183178"/>
            <a:ext cx="101346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lang="en-US" sz="3600" b="1" dirty="0" err="1"/>
              <a:t>SSLSocketFactory</a:t>
            </a:r>
            <a:r>
              <a:rPr lang="en-US" sz="3600" b="1" dirty="0"/>
              <a:t> Class Methods </a:t>
            </a:r>
            <a:endParaRPr lang="en-US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2467" y="1708587"/>
          <a:ext cx="11388725" cy="1943100"/>
        </p:xfrm>
        <a:graphic>
          <a:graphicData uri="http://schemas.openxmlformats.org/drawingml/2006/table">
            <a:tbl>
              <a:tblPr/>
              <a:tblGrid>
                <a:gridCol w="5643671"/>
                <a:gridCol w="5745054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404040"/>
                          </a:solidFill>
                          <a:effectLst/>
                        </a:rPr>
                        <a:t>Method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404040"/>
                          </a:solidFill>
                          <a:effectLst/>
                        </a:rPr>
                        <a:t>Description</a:t>
                      </a:r>
                      <a:endParaRPr lang="en-US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abstract String[] </a:t>
                      </a:r>
                      <a:r>
                        <a:rPr lang="en-US" b="1" dirty="0" err="1">
                          <a:effectLst/>
                        </a:rPr>
                        <a:t>getSupportedCipherSuites</a:t>
                      </a:r>
                      <a:r>
                        <a:rPr lang="en-US" b="1" dirty="0">
                          <a:effectLst/>
                        </a:rPr>
                        <a:t>()</a:t>
                      </a:r>
                      <a:endParaRPr lang="en-US" dirty="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Returns all cipher suites </a:t>
                      </a:r>
                      <a:r>
                        <a:rPr lang="en-US" i="1">
                          <a:effectLst/>
                        </a:rPr>
                        <a:t>available</a:t>
                      </a:r>
                      <a:r>
                        <a:rPr lang="en-US">
                          <a:effectLst/>
                        </a:rPr>
                        <a:t> on the JVM/SSL implementation.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abstract void </a:t>
                      </a:r>
                      <a:r>
                        <a:rPr lang="en-US" b="1" dirty="0" err="1">
                          <a:effectLst/>
                        </a:rPr>
                        <a:t>setEnabledCipherSuites</a:t>
                      </a:r>
                      <a:r>
                        <a:rPr lang="en-US" b="1" dirty="0">
                          <a:effectLst/>
                        </a:rPr>
                        <a:t>(String[] suites)</a:t>
                      </a:r>
                      <a:endParaRPr lang="en-US" dirty="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Overrides the default cipher suites the client will attempt to use for SSL/TLS handshakes.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62467" y="1075717"/>
            <a:ext cx="2169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quote-cjk-patch"/>
              </a:rPr>
              <a:t>1. Key Methods</a:t>
            </a:r>
            <a:endParaRPr lang="en-US" sz="2400" b="1" dirty="0">
              <a:solidFill>
                <a:srgbClr val="FF0000"/>
              </a:solidFill>
              <a:latin typeface="quote-cjk-patc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3875743"/>
            <a:ext cx="1173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quote-cjk-patch"/>
              </a:rPr>
              <a:t>2. Cipher Suite Naming Convention (JDK 1.7+): </a:t>
            </a:r>
            <a:r>
              <a:rPr lang="en-US" sz="2000" dirty="0">
                <a:solidFill>
                  <a:srgbClr val="FF0000"/>
                </a:solidFill>
                <a:latin typeface="quote-cjk-patch"/>
              </a:rPr>
              <a:t>Each cipher suite name follows a </a:t>
            </a:r>
            <a:r>
              <a:rPr lang="en-US" sz="2000" b="1" dirty="0">
                <a:solidFill>
                  <a:srgbClr val="FF0000"/>
                </a:solidFill>
                <a:latin typeface="quote-cjk-patch"/>
              </a:rPr>
              <a:t>4-part structure</a:t>
            </a:r>
            <a:r>
              <a:rPr lang="en-US" sz="2000" dirty="0">
                <a:solidFill>
                  <a:srgbClr val="FF0000"/>
                </a:solidFill>
                <a:latin typeface="quote-cjk-patch"/>
              </a:rPr>
              <a:t>:</a:t>
            </a:r>
            <a:endParaRPr lang="en-US" sz="2400" dirty="0">
              <a:solidFill>
                <a:srgbClr val="FF0000"/>
              </a:solidFill>
              <a:latin typeface="quote-cjk-patch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4491296"/>
            <a:ext cx="8077200" cy="1179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en-US" b="1" dirty="0" err="1"/>
              <a:t>Protocol_KeyExchange_Encryption_HashAlgorithm</a:t>
            </a:r>
            <a:endParaRPr lang="en-US" b="1" dirty="0"/>
          </a:p>
          <a:p>
            <a:pPr>
              <a:spcAft>
                <a:spcPts val="1000"/>
              </a:spcAft>
            </a:pPr>
            <a:r>
              <a:rPr lang="en-US" b="1" dirty="0"/>
              <a:t>Example:</a:t>
            </a:r>
            <a:endParaRPr lang="en-US" b="1" dirty="0"/>
          </a:p>
          <a:p>
            <a:pPr>
              <a:spcAft>
                <a:spcPts val="1000"/>
              </a:spcAft>
            </a:pPr>
            <a:r>
              <a:rPr lang="en-US" b="1" dirty="0"/>
              <a:t>TLS_ECDHE_ECDSA_WITH_AES_128_CBC_SHA256</a:t>
            </a:r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EB0655-D03B-4A28-9108-75B3CB5F877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36525"/>
          <a:ext cx="11388725" cy="2849880"/>
        </p:xfrm>
        <a:graphic>
          <a:graphicData uri="http://schemas.openxmlformats.org/drawingml/2006/table">
            <a:tbl>
              <a:tblPr/>
              <a:tblGrid>
                <a:gridCol w="2417762"/>
                <a:gridCol w="8970963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</a:rPr>
                        <a:t>Component</a:t>
                      </a:r>
                      <a:endParaRPr lang="en-US" sz="16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404040"/>
                          </a:solidFill>
                          <a:effectLst/>
                        </a:rPr>
                        <a:t>Description</a:t>
                      </a:r>
                      <a:endParaRPr lang="en-US" sz="16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TLS</a:t>
                      </a:r>
                      <a:endParaRPr lang="en-US" sz="16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Transport Layer Security (successor to SSL, standardized by IETF).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ECDHE</a:t>
                      </a:r>
                      <a:endParaRPr lang="en-US" sz="16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Elliptic Curve Diffie-Hellman Ephemeral: Key exchange using Elliptic Curve Cryptography (ECC), providing forward secrecy.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ECDSA</a:t>
                      </a:r>
                      <a:endParaRPr lang="en-US" sz="16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Elliptic Curve Digital Signature Algorithm: Used for authentication.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AES_128_CBC</a:t>
                      </a:r>
                      <a:endParaRPr lang="en-US" sz="16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Encryption: 128-bit Advanced Encryption Standard in Cipher Block Chaining mode.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SHA256</a:t>
                      </a:r>
                      <a:endParaRPr lang="en-US" sz="16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Hash: 256-bit Secure Hash Algorithm for message integrity.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20133" y="3124200"/>
            <a:ext cx="3142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quote-cjk-patch"/>
              </a:rPr>
              <a:t>3. Protocol Background</a:t>
            </a:r>
            <a:endParaRPr lang="en-US" sz="2400" b="1" dirty="0">
              <a:solidFill>
                <a:srgbClr val="FF0000"/>
              </a:solidFill>
              <a:latin typeface="quote-cjk-patch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3629865"/>
            <a:ext cx="96012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quote-cjk-patch"/>
              </a:rPr>
              <a:t>TLS vs SSL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404040"/>
                </a:solidFill>
                <a:latin typeface="quote-cjk-patch"/>
              </a:rPr>
              <a:t>TLS is the modern, standardized version of SSL (SSL 3.0 → TLS 1.0, 1.2, 1.3).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404040"/>
                </a:solidFill>
                <a:latin typeface="quote-cjk-patch"/>
              </a:rPr>
              <a:t>SSL is deprecated due to vulnerabilities (e.g., POODLE).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quote-cjk-patch"/>
              </a:rPr>
              <a:t>Key Exchange (ECDHE)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404040"/>
                </a:solidFill>
                <a:latin typeface="quote-cjk-patch"/>
              </a:rPr>
              <a:t>Uses Elliptic Curve Cryptography (ECC) for secure key exchange over untrusted networks.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404040"/>
                </a:solidFill>
                <a:latin typeface="quote-cjk-patch"/>
              </a:rPr>
              <a:t>Provides </a:t>
            </a:r>
            <a:r>
              <a:rPr lang="en-US" sz="1600" i="1" dirty="0">
                <a:solidFill>
                  <a:srgbClr val="404040"/>
                </a:solidFill>
                <a:latin typeface="quote-cjk-patch"/>
              </a:rPr>
              <a:t>forward secrecy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 Compromised keys won’t decrypt past sessions.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quote-cjk-patch"/>
              </a:rPr>
              <a:t>Encryption (AES_CBC)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quote-cjk-patch"/>
              </a:rPr>
              <a:t>AES-128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 128-bit symmetric encryption (stronger than legacy DES).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quote-cjk-patch"/>
              </a:rPr>
              <a:t>CBC Mode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 Cipher Block Chaining prevents pattern analysis.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404040"/>
                </a:solidFill>
                <a:latin typeface="quote-cjk-patch"/>
              </a:rPr>
              <a:t>Hash (SHA256)</a:t>
            </a:r>
            <a:r>
              <a:rPr lang="en-US" sz="1600" dirty="0">
                <a:solidFill>
                  <a:srgbClr val="404040"/>
                </a:solidFill>
                <a:latin typeface="quote-cjk-patch"/>
              </a:rPr>
              <a:t>: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404040"/>
                </a:solidFill>
                <a:latin typeface="quote-cjk-patch"/>
              </a:rPr>
              <a:t>Generates a 256-bit message digest for data integrity.</a:t>
            </a:r>
            <a:endParaRPr lang="en-US" sz="1600" dirty="0">
              <a:solidFill>
                <a:srgbClr val="404040"/>
              </a:solidFill>
              <a:latin typeface="quote-cjk-patch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404040"/>
                </a:solidFill>
                <a:latin typeface="quote-cjk-patch"/>
              </a:rPr>
              <a:t>More secure than SHA-1 or MD5.</a:t>
            </a:r>
            <a:endParaRPr lang="en-US" sz="1600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EB0655-D03B-4A28-9108-75B3CB5F8778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304800" y="152400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quote-cjk-patch"/>
              </a:rPr>
              <a:t>4. Usage Example</a:t>
            </a:r>
            <a:endParaRPr lang="en-US" sz="2400" b="1" dirty="0">
              <a:solidFill>
                <a:srgbClr val="FF0000"/>
              </a:solidFill>
              <a:latin typeface="quote-cjk-patch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3266" y="614065"/>
            <a:ext cx="11269133" cy="2393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SSLSocketFactory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factory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SSLSocketFactory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SSLSocketFactory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getDefault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socket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SSLSocket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createSocket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50A14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"example.com"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443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i="1" dirty="0">
                <a:solidFill>
                  <a:srgbClr val="A0A1A7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Get supported cipher suites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supported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getSupportedCipherSuites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i="1" dirty="0">
                <a:solidFill>
                  <a:srgbClr val="A0A1A7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Restrict to secure suites only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enabledSuites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50A14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"TLS_ECDHE_ECDSA_WITH_AES_128_GCM_SHA256"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50A14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"TLS_ECDHE_RSA_WITH_AES_128_GCM_SHA256"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1400" b="1" dirty="0" err="1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setEnabledCipherSuites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enabledSuites</a:t>
            </a:r>
            <a:r>
              <a:rPr lang="en-US" sz="14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4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3133950"/>
            <a:ext cx="6096000" cy="8669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 b="1" dirty="0">
                <a:solidFill>
                  <a:srgbClr val="FF0000"/>
                </a:solidFill>
                <a:latin typeface="quote-cjk-patch"/>
              </a:rPr>
              <a:t>5. Security Recommendations</a:t>
            </a:r>
            <a:endParaRPr lang="en-US" sz="2400" b="1" dirty="0">
              <a:solidFill>
                <a:srgbClr val="FF0000"/>
              </a:solidFill>
              <a:latin typeface="quote-cjk-patch"/>
            </a:endParaRPr>
          </a:p>
          <a:p>
            <a:pPr>
              <a:spcAft>
                <a:spcPts val="1000"/>
              </a:spcAft>
            </a:pPr>
            <a:r>
              <a:rPr lang="en-US" b="1" dirty="0"/>
              <a:t>     a. Prioritize Modern Ciphers: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76200" y="4000854"/>
            <a:ext cx="12001500" cy="601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TLS 1.2/1.3 with forward secrecy  </a:t>
            </a:r>
            <a:endParaRPr lang="en-US" sz="1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4078F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setEnabledCipherSuites</a:t>
            </a:r>
            <a:r>
              <a:rPr lang="en-US" sz="160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A626A4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dirty="0">
                <a:solidFill>
                  <a:srgbClr val="49494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B76B0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60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1600" dirty="0">
                <a:solidFill>
                  <a:srgbClr val="49494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600" dirty="0">
                <a:solidFill>
                  <a:srgbClr val="49494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"TLS_ECDHE_ECDSA_WITH_AES_256_GCM_SHA384", "TLS_ECDHE_RSA_WITH_AES_256_GCM_SHA384"  </a:t>
            </a:r>
            <a:r>
              <a:rPr lang="en-US" sz="1600" dirty="0">
                <a:solidFill>
                  <a:srgbClr val="383A4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  <a:r>
              <a:rPr lang="en-US" sz="1600" dirty="0">
                <a:solidFill>
                  <a:srgbClr val="49494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4809245"/>
            <a:ext cx="3130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b. Disable Weak Protocols</a:t>
            </a:r>
            <a:r>
              <a:rPr lang="en-US" dirty="0"/>
              <a:t>: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644567" y="4809245"/>
            <a:ext cx="8147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socket.setEnabledProtocols</a:t>
            </a:r>
            <a:r>
              <a:rPr lang="en-US" dirty="0"/>
              <a:t>(new String[] {"TLSv1.2", "TLSv1.3"});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200" y="5469269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c. Avoid:   </a:t>
            </a:r>
            <a:br>
              <a:rPr lang="en-US" b="1" dirty="0"/>
            </a:br>
            <a:r>
              <a:rPr lang="en-US" b="1" dirty="0"/>
              <a:t>        </a:t>
            </a:r>
            <a:r>
              <a:rPr lang="en-US" dirty="0"/>
              <a:t>SSLv3, TLS 1.0/1.1</a:t>
            </a:r>
            <a:endParaRPr lang="en-US" dirty="0"/>
          </a:p>
          <a:p>
            <a:pPr lvl="1"/>
            <a:r>
              <a:rPr lang="en-US" dirty="0"/>
              <a:t>Ciphers with NULL, EXPORT, or DES in their names.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1981201" y="304800"/>
            <a:ext cx="7775575" cy="4381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l"/>
            <a:r>
              <a:rPr lang="en-GB" altLang="en-US" sz="3200" b="1">
                <a:solidFill>
                  <a:srgbClr val="FF0000"/>
                </a:solidFill>
              </a:rPr>
              <a:t>Client Mode</a:t>
            </a:r>
            <a:endParaRPr lang="en-GB" altLang="en-US" sz="3200" b="1">
              <a:solidFill>
                <a:srgbClr val="FF0000"/>
              </a:solidFill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457200" y="1447800"/>
            <a:ext cx="11277600" cy="327659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require a server certificate to authenticate itself.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usually do not need to authenticate themselves. To require clients to authenticate themselves, use: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setUseClientMode(boolean mode)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socket 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to use authentication during the initial handshake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server requires all clients connecting to it to authenticate, you can do so by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abstract void setNeedClientAuth(boolean needsAuthentication) 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9601200" cy="685801"/>
          </a:xfrm>
        </p:spPr>
        <p:txBody>
          <a:bodyPr/>
          <a:lstStyle/>
          <a:p>
            <a:pPr algn="l"/>
            <a:r>
              <a:rPr lang="en-US" altLang="en-US" sz="3200" b="1" dirty="0">
                <a:solidFill>
                  <a:srgbClr val="FF0000"/>
                </a:solidFill>
              </a:rPr>
              <a:t>Steps for </a:t>
            </a:r>
            <a:r>
              <a:rPr lang="en-GB" altLang="en-US" sz="3200" b="1" dirty="0">
                <a:solidFill>
                  <a:srgbClr val="FF0000"/>
                </a:solidFill>
              </a:rPr>
              <a:t>Creating a </a:t>
            </a:r>
            <a:r>
              <a:rPr lang="en-US" altLang="en-US" sz="3200" b="1" dirty="0">
                <a:solidFill>
                  <a:srgbClr val="FF0000"/>
                </a:solidFill>
              </a:rPr>
              <a:t>S</a:t>
            </a:r>
            <a:r>
              <a:rPr lang="en-GB" altLang="en-US" sz="3200" b="1" dirty="0">
                <a:solidFill>
                  <a:srgbClr val="FF0000"/>
                </a:solidFill>
              </a:rPr>
              <a:t>ecure </a:t>
            </a:r>
            <a:r>
              <a:rPr lang="en-US" altLang="en-US" sz="3200" b="1" dirty="0">
                <a:solidFill>
                  <a:srgbClr val="FF0000"/>
                </a:solidFill>
              </a:rPr>
              <a:t>S</a:t>
            </a:r>
            <a:r>
              <a:rPr lang="en-GB" altLang="en-US" sz="3200" b="1" dirty="0">
                <a:solidFill>
                  <a:srgbClr val="FF0000"/>
                </a:solidFill>
              </a:rPr>
              <a:t>erver </a:t>
            </a:r>
            <a:r>
              <a:rPr lang="en-US" altLang="en-US" sz="3200" b="1" dirty="0">
                <a:solidFill>
                  <a:srgbClr val="FF0000"/>
                </a:solidFill>
              </a:rPr>
              <a:t>S</a:t>
            </a:r>
            <a:r>
              <a:rPr lang="en-GB" altLang="zh-CN" sz="3200" b="1" dirty="0">
                <a:solidFill>
                  <a:srgbClr val="FF0000"/>
                </a:solidFill>
              </a:rPr>
              <a:t>ocket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53400" y="1794421"/>
            <a:ext cx="3886200" cy="4313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 Terms:</a:t>
            </a:r>
            <a:endParaRPr lang="en-US" sz="2800" b="1" dirty="0">
              <a:solidFill>
                <a:srgbClr val="080808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 err="1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keytool</a:t>
            </a:r>
            <a:r>
              <a:rPr lang="en-US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– Java key and certificate management tool.</a:t>
            </a:r>
            <a:endParaRPr lang="en-US" dirty="0">
              <a:solidFill>
                <a:srgbClr val="080808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 err="1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SSLContext</a:t>
            </a:r>
            <a:r>
              <a:rPr lang="en-US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– Configures SSL/TLS security settings.</a:t>
            </a:r>
            <a:endParaRPr lang="en-US" dirty="0">
              <a:solidFill>
                <a:srgbClr val="080808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 err="1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TrustManagerFactory</a:t>
            </a:r>
            <a:r>
              <a:rPr lang="en-US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– Manages trusted certificates (e.g., CA certs).</a:t>
            </a:r>
            <a:endParaRPr lang="en-US" dirty="0">
              <a:solidFill>
                <a:srgbClr val="080808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 err="1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KeyManagerFactory</a:t>
            </a:r>
            <a:r>
              <a:rPr lang="en-US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– Manages private keys and certificates for authentication.</a:t>
            </a:r>
            <a:endParaRPr lang="en-US" dirty="0">
              <a:solidFill>
                <a:srgbClr val="080808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b="1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KeyStore</a:t>
            </a:r>
            <a:r>
              <a:rPr lang="en-US" dirty="0">
                <a:solidFill>
                  <a:srgbClr val="080808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– Secure storage for cryptographic keys and certificates.</a:t>
            </a:r>
            <a:endParaRPr lang="en-US" dirty="0">
              <a:solidFill>
                <a:srgbClr val="080808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077200" y="1752599"/>
            <a:ext cx="3962400" cy="457200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3934" y="973669"/>
            <a:ext cx="8094133" cy="4764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Generate a public key and certificate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using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keytool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Get the certificate signed/verified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by a trusted Certificate Authority (CA).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Initialize an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SSLContext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for the desired cryptographic algorithm (e.g., TLS).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Create a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TrustManagerFactory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to manage trusted certificates (e.g., CA roots).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Create a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KeyManagerFactory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to handle the private key and certificate chain.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Instantiate a 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KeyStore</a:t>
            </a: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object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to securely store key material and certificates.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Load the 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KeyStore with the private key, certificate chain, and trusted CA entries.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Initialize the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KeyManagerFactory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with the KeyStore and its passphrase.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Configure the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SSLContext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with: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 managers (from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KeyManagerFactory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Trust managers (from </a:t>
            </a:r>
            <a:r>
              <a:rPr lang="en-US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TrustManagerFactory</a:t>
            </a: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 cryptographically secure random number generator.</a:t>
            </a:r>
            <a:endParaRPr lang="en-US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333" y="6107589"/>
            <a:ext cx="8305800" cy="368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process sets up secure communication (e.g., HTTPS) in Java applications.</a:t>
            </a:r>
            <a:endParaRPr lang="en-US" sz="14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1600200" y="160868"/>
            <a:ext cx="7775575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l"/>
            <a:r>
              <a:rPr lang="en-GB" altLang="en-US" sz="3200" dirty="0">
                <a:solidFill>
                  <a:srgbClr val="FF0000"/>
                </a:solidFill>
              </a:rPr>
              <a:t>Creating a secure server </a:t>
            </a:r>
            <a:r>
              <a:rPr lang="en-GB" altLang="zh-CN" sz="3200" dirty="0">
                <a:solidFill>
                  <a:srgbClr val="FF0000"/>
                </a:solidFill>
              </a:rPr>
              <a:t>socket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381000" y="838200"/>
            <a:ext cx="11734800" cy="575754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SSLServerSocket</a:t>
            </a:r>
            <a:endParaRPr lang="en-GB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http://docs.oracle.com/javase/8/docs/api/javax/net/ssl/SSLServerSocket.html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SSLServerSocket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 are created through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SSLServerSocketFactory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similar to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SSLSocket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6521" y="2819400"/>
            <a:ext cx="11513079" cy="3454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Secure Server Socket Example (Ex10-2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SecureOrderTaker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This program accepts orders and displays them in the console output.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Prerequisite: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First, use the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keytool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utility provided with the JDK to generate the jnp4e.keys file.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keystore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password should be: 2andnotafnord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Command: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keytool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genkey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-alias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ourstore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keystore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jnp4e.keys</a:t>
            </a:r>
            <a:endParaRPr lang="en-US" sz="1600" b="1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5654"/>
            <a:ext cx="101346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0487"/>
            <a:ext cx="8575675" cy="67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925"/>
            <a:ext cx="8474075" cy="674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8789" y="6096000"/>
            <a:ext cx="13541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7775575" cy="4381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l"/>
            <a:r>
              <a:rPr lang="en-GB" altLang="en-US" sz="3200" b="1" dirty="0">
                <a:solidFill>
                  <a:srgbClr val="FF0000"/>
                </a:solidFill>
              </a:rPr>
              <a:t>Configuring </a:t>
            </a:r>
            <a:r>
              <a:rPr lang="en-GB" altLang="zh-CN" sz="3200" b="1" dirty="0">
                <a:solidFill>
                  <a:srgbClr val="FF0000"/>
                </a:solidFill>
              </a:rPr>
              <a:t>SSLServerSocket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381000" y="838200"/>
            <a:ext cx="11506200" cy="533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SSLServerSocket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provides dedicated methods for the following configurations: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Cipher Suite Selection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1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Returns all supported cipher suites  </a:t>
            </a:r>
            <a:endParaRPr lang="en-US" sz="1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" lvl="1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getSupportedCipherSuites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" lvl="1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Returns currently enabled cipher suites  </a:t>
            </a:r>
            <a:endParaRPr lang="en-US" sz="1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" lvl="1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getEnabledCipherSuites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" lvl="1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Sets enabled cipher suites (e.g., restrict to TLS_ECDHE_* for forward secrecy)  </a:t>
            </a:r>
            <a:endParaRPr lang="en-US" sz="105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" lvl="1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setEnabledCipherSuites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solidFill>
                  <a:srgbClr val="B76B0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suites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Session Management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Controls whether new SSL/TLS sessions may be established  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setEnableSessionCreation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allowSessions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Checks if session creation is permitted  </a:t>
            </a:r>
            <a:endParaRPr lang="en-US" sz="12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getEnableSessionCreation</a:t>
            </a:r>
            <a:r>
              <a:rPr lang="en-US" sz="2000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000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EB0655-D03B-4A28-9108-75B3CB5F8778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838200" y="533400"/>
            <a:ext cx="10439400" cy="2774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Client Authentication Mode</a:t>
            </a:r>
            <a:endParaRPr 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en-US" dirty="0"/>
              <a:t>Configures whether clients must authenticate themselves to the server:</a:t>
            </a:r>
            <a:endParaRPr lang="en-US" dirty="0"/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Enforces client certificate authentication when true  </a:t>
            </a:r>
            <a:endParaRPr lang="en-US" sz="1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setNeedClientAuth</a:t>
            </a:r>
            <a:r>
              <a:rPr lang="en-US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flag</a:t>
            </a:r>
            <a:r>
              <a:rPr lang="en-US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i="1" dirty="0">
                <a:solidFill>
                  <a:srgbClr val="FF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Returns current client authentication requirement  </a:t>
            </a:r>
            <a:endParaRPr lang="en-US" sz="1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626A4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4078F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getNeedClientAuth</a:t>
            </a:r>
            <a:r>
              <a:rPr lang="en-US" b="1" dirty="0">
                <a:solidFill>
                  <a:srgbClr val="383A42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b="1" dirty="0">
                <a:solidFill>
                  <a:srgbClr val="494949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ChangeArrowheads="1"/>
          </p:cNvSpPr>
          <p:nvPr/>
        </p:nvSpPr>
        <p:spPr bwMode="auto">
          <a:xfrm>
            <a:off x="1524001" y="21299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1507" name="Rectangle 6"/>
          <p:cNvSpPr>
            <a:spLocks noRot="1" noChangeArrowheads="1"/>
          </p:cNvSpPr>
          <p:nvPr/>
        </p:nvSpPr>
        <p:spPr bwMode="auto">
          <a:xfrm>
            <a:off x="2514600" y="2743200"/>
            <a:ext cx="64833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80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Thanks</a:t>
            </a:r>
            <a:endParaRPr lang="en-US" altLang="zh-CN" sz="80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9480</Words>
  <Application>WPS 演示</Application>
  <PresentationFormat>Widescreen</PresentationFormat>
  <Paragraphs>315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Wingdings 2</vt:lpstr>
      <vt:lpstr>华文行楷</vt:lpstr>
      <vt:lpstr>Garamond</vt:lpstr>
      <vt:lpstr>仿宋</vt:lpstr>
      <vt:lpstr>Segoe UI</vt:lpstr>
      <vt:lpstr>Times New Roman</vt:lpstr>
      <vt:lpstr>Calibri</vt:lpstr>
      <vt:lpstr>Courier New</vt:lpstr>
      <vt:lpstr>Consolas</vt:lpstr>
      <vt:lpstr>quote-cjk-patch</vt:lpstr>
      <vt:lpstr>Segoe Print</vt:lpstr>
      <vt:lpstr>微软雅黑</vt:lpstr>
      <vt:lpstr>Arial Unicode MS</vt:lpstr>
      <vt:lpstr>砖雕艺术</vt:lpstr>
      <vt:lpstr>PowerPoint 演示文稿</vt:lpstr>
      <vt:lpstr>Internet Communications Protection</vt:lpstr>
      <vt:lpstr>PowerPoint 演示文稿</vt:lpstr>
      <vt:lpstr>Secure Socket Connection Example  </vt:lpstr>
      <vt:lpstr>Creating a Secure Client Socket </vt:lpstr>
      <vt:lpstr>PowerPoint 演示文稿</vt:lpstr>
      <vt:lpstr>PowerPoint 演示文稿</vt:lpstr>
      <vt:lpstr>PowerPoint 演示文稿</vt:lpstr>
      <vt:lpstr>SSLSocketFactory Class Methods </vt:lpstr>
      <vt:lpstr>PowerPoint 演示文稿</vt:lpstr>
      <vt:lpstr>PowerPoint 演示文稿</vt:lpstr>
      <vt:lpstr>Client Mode</vt:lpstr>
      <vt:lpstr>Steps for Creating a Secure Server Socket</vt:lpstr>
      <vt:lpstr>Creating a secure server socket</vt:lpstr>
      <vt:lpstr>PowerPoint 演示文稿</vt:lpstr>
      <vt:lpstr>PowerPoint 演示文稿</vt:lpstr>
      <vt:lpstr>PowerPoint 演示文稿</vt:lpstr>
      <vt:lpstr>Configuring SSLServerSocket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Basker George</dc:creator>
  <cp:lastModifiedBy>杨韩冰</cp:lastModifiedBy>
  <cp:revision>887</cp:revision>
  <cp:lastPrinted>2113-01-01T00:00:00Z</cp:lastPrinted>
  <dcterms:created xsi:type="dcterms:W3CDTF">2113-01-01T00:00:00Z</dcterms:created>
  <dcterms:modified xsi:type="dcterms:W3CDTF">2025-06-12T12:15:41Z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9E78E51FBC8F44A4B29F03525A844ABE_12</vt:lpwstr>
  </property>
  <property fmtid="{D5CDD505-2E9C-101B-9397-08002B2CF9AE}" pid="4" name="KSOProductBuildVer">
    <vt:lpwstr>2052-12.1.0.20305</vt:lpwstr>
  </property>
</Properties>
</file>