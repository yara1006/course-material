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89"/>
  </p:handoutMasterIdLst>
  <p:sldIdLst>
    <p:sldId id="256" r:id="rId3"/>
    <p:sldId id="441" r:id="rId5"/>
    <p:sldId id="413" r:id="rId6"/>
    <p:sldId id="427" r:id="rId7"/>
    <p:sldId id="428" r:id="rId8"/>
    <p:sldId id="429" r:id="rId9"/>
    <p:sldId id="353" r:id="rId10"/>
    <p:sldId id="440" r:id="rId11"/>
    <p:sldId id="354" r:id="rId12"/>
    <p:sldId id="355" r:id="rId13"/>
    <p:sldId id="438" r:id="rId14"/>
    <p:sldId id="430" r:id="rId15"/>
    <p:sldId id="400" r:id="rId16"/>
    <p:sldId id="433" r:id="rId17"/>
    <p:sldId id="357" r:id="rId18"/>
    <p:sldId id="414" r:id="rId19"/>
    <p:sldId id="415" r:id="rId20"/>
    <p:sldId id="381" r:id="rId21"/>
    <p:sldId id="434" r:id="rId22"/>
    <p:sldId id="359" r:id="rId23"/>
    <p:sldId id="435" r:id="rId24"/>
    <p:sldId id="436" r:id="rId25"/>
    <p:sldId id="360" r:id="rId26"/>
    <p:sldId id="401" r:id="rId27"/>
    <p:sldId id="437" r:id="rId28"/>
    <p:sldId id="356" r:id="rId29"/>
    <p:sldId id="431" r:id="rId30"/>
    <p:sldId id="432" r:id="rId31"/>
    <p:sldId id="439" r:id="rId32"/>
    <p:sldId id="361" r:id="rId33"/>
    <p:sldId id="362" r:id="rId34"/>
    <p:sldId id="382" r:id="rId35"/>
    <p:sldId id="416" r:id="rId36"/>
    <p:sldId id="383" r:id="rId37"/>
    <p:sldId id="402" r:id="rId38"/>
    <p:sldId id="403" r:id="rId39"/>
    <p:sldId id="363" r:id="rId40"/>
    <p:sldId id="364" r:id="rId41"/>
    <p:sldId id="365" r:id="rId42"/>
    <p:sldId id="385" r:id="rId43"/>
    <p:sldId id="386" r:id="rId44"/>
    <p:sldId id="366" r:id="rId45"/>
    <p:sldId id="367" r:id="rId46"/>
    <p:sldId id="368" r:id="rId47"/>
    <p:sldId id="388" r:id="rId48"/>
    <p:sldId id="389" r:id="rId49"/>
    <p:sldId id="390" r:id="rId50"/>
    <p:sldId id="391" r:id="rId51"/>
    <p:sldId id="392" r:id="rId52"/>
    <p:sldId id="394" r:id="rId53"/>
    <p:sldId id="395" r:id="rId54"/>
    <p:sldId id="396" r:id="rId55"/>
    <p:sldId id="397" r:id="rId56"/>
    <p:sldId id="370" r:id="rId57"/>
    <p:sldId id="398" r:id="rId58"/>
    <p:sldId id="371" r:id="rId59"/>
    <p:sldId id="399" r:id="rId60"/>
    <p:sldId id="372" r:id="rId61"/>
    <p:sldId id="373" r:id="rId62"/>
    <p:sldId id="374" r:id="rId63"/>
    <p:sldId id="375" r:id="rId64"/>
    <p:sldId id="376" r:id="rId65"/>
    <p:sldId id="404" r:id="rId66"/>
    <p:sldId id="377" r:id="rId67"/>
    <p:sldId id="405" r:id="rId68"/>
    <p:sldId id="378" r:id="rId69"/>
    <p:sldId id="412" r:id="rId70"/>
    <p:sldId id="379" r:id="rId71"/>
    <p:sldId id="406" r:id="rId72"/>
    <p:sldId id="417" r:id="rId73"/>
    <p:sldId id="425" r:id="rId74"/>
    <p:sldId id="426" r:id="rId75"/>
    <p:sldId id="418" r:id="rId76"/>
    <p:sldId id="407" r:id="rId77"/>
    <p:sldId id="380" r:id="rId78"/>
    <p:sldId id="408" r:id="rId79"/>
    <p:sldId id="409" r:id="rId80"/>
    <p:sldId id="410" r:id="rId81"/>
    <p:sldId id="420" r:id="rId82"/>
    <p:sldId id="421" r:id="rId83"/>
    <p:sldId id="422" r:id="rId84"/>
    <p:sldId id="423" r:id="rId85"/>
    <p:sldId id="424" r:id="rId86"/>
    <p:sldId id="411" r:id="rId87"/>
    <p:sldId id="419" r:id="rId88"/>
  </p:sldIdLst>
  <p:sldSz cx="12192000" cy="6858000"/>
  <p:notesSz cx="7099300" cy="10234295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3300"/>
    <a:srgbClr val="990099"/>
    <a:srgbClr val="FF3399"/>
    <a:srgbClr val="FF0066"/>
    <a:srgbClr val="CC00C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0418" autoAdjust="0"/>
  </p:normalViewPr>
  <p:slideViewPr>
    <p:cSldViewPr showGuides="1">
      <p:cViewPr varScale="1">
        <p:scale>
          <a:sx n="117" d="100"/>
          <a:sy n="117" d="100"/>
        </p:scale>
        <p:origin x="120" y="16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2" Type="http://schemas.openxmlformats.org/officeDocument/2006/relationships/tableStyles" Target="tableStyles.xml"/><Relationship Id="rId91" Type="http://schemas.openxmlformats.org/officeDocument/2006/relationships/viewProps" Target="viewProps.xml"/><Relationship Id="rId90" Type="http://schemas.openxmlformats.org/officeDocument/2006/relationships/presProps" Target="presProps.xml"/><Relationship Id="rId9" Type="http://schemas.openxmlformats.org/officeDocument/2006/relationships/slide" Target="slides/slide6.xml"/><Relationship Id="rId89" Type="http://schemas.openxmlformats.org/officeDocument/2006/relationships/handoutMaster" Target="handoutMasters/handoutMaster1.xml"/><Relationship Id="rId88" Type="http://schemas.openxmlformats.org/officeDocument/2006/relationships/slide" Target="slides/slide85.xml"/><Relationship Id="rId87" Type="http://schemas.openxmlformats.org/officeDocument/2006/relationships/slide" Target="slides/slide84.xml"/><Relationship Id="rId86" Type="http://schemas.openxmlformats.org/officeDocument/2006/relationships/slide" Target="slides/slide83.xml"/><Relationship Id="rId85" Type="http://schemas.openxmlformats.org/officeDocument/2006/relationships/slide" Target="slides/slide82.xml"/><Relationship Id="rId84" Type="http://schemas.openxmlformats.org/officeDocument/2006/relationships/slide" Target="slides/slide81.xml"/><Relationship Id="rId83" Type="http://schemas.openxmlformats.org/officeDocument/2006/relationships/slide" Target="slides/slide80.xml"/><Relationship Id="rId82" Type="http://schemas.openxmlformats.org/officeDocument/2006/relationships/slide" Target="slides/slide79.xml"/><Relationship Id="rId81" Type="http://schemas.openxmlformats.org/officeDocument/2006/relationships/slide" Target="slides/slide78.xml"/><Relationship Id="rId80" Type="http://schemas.openxmlformats.org/officeDocument/2006/relationships/slide" Target="slides/slide77.xml"/><Relationship Id="rId8" Type="http://schemas.openxmlformats.org/officeDocument/2006/relationships/slide" Target="slides/slide5.xml"/><Relationship Id="rId79" Type="http://schemas.openxmlformats.org/officeDocument/2006/relationships/slide" Target="slides/slide76.xml"/><Relationship Id="rId78" Type="http://schemas.openxmlformats.org/officeDocument/2006/relationships/slide" Target="slides/slide75.xml"/><Relationship Id="rId77" Type="http://schemas.openxmlformats.org/officeDocument/2006/relationships/slide" Target="slides/slide74.xml"/><Relationship Id="rId76" Type="http://schemas.openxmlformats.org/officeDocument/2006/relationships/slide" Target="slides/slide73.xml"/><Relationship Id="rId75" Type="http://schemas.openxmlformats.org/officeDocument/2006/relationships/slide" Target="slides/slide72.xml"/><Relationship Id="rId74" Type="http://schemas.openxmlformats.org/officeDocument/2006/relationships/slide" Target="slides/slide71.xml"/><Relationship Id="rId73" Type="http://schemas.openxmlformats.org/officeDocument/2006/relationships/slide" Target="slides/slide70.xml"/><Relationship Id="rId72" Type="http://schemas.openxmlformats.org/officeDocument/2006/relationships/slide" Target="slides/slide69.xml"/><Relationship Id="rId71" Type="http://schemas.openxmlformats.org/officeDocument/2006/relationships/slide" Target="slides/slide68.xml"/><Relationship Id="rId70" Type="http://schemas.openxmlformats.org/officeDocument/2006/relationships/slide" Target="slides/slide67.xml"/><Relationship Id="rId7" Type="http://schemas.openxmlformats.org/officeDocument/2006/relationships/slide" Target="slides/slide4.xml"/><Relationship Id="rId69" Type="http://schemas.openxmlformats.org/officeDocument/2006/relationships/slide" Target="slides/slide66.xml"/><Relationship Id="rId68" Type="http://schemas.openxmlformats.org/officeDocument/2006/relationships/slide" Target="slides/slide65.xml"/><Relationship Id="rId67" Type="http://schemas.openxmlformats.org/officeDocument/2006/relationships/slide" Target="slides/slide64.xml"/><Relationship Id="rId66" Type="http://schemas.openxmlformats.org/officeDocument/2006/relationships/slide" Target="slides/slide63.xml"/><Relationship Id="rId65" Type="http://schemas.openxmlformats.org/officeDocument/2006/relationships/slide" Target="slides/slide62.xml"/><Relationship Id="rId64" Type="http://schemas.openxmlformats.org/officeDocument/2006/relationships/slide" Target="slides/slide61.xml"/><Relationship Id="rId63" Type="http://schemas.openxmlformats.org/officeDocument/2006/relationships/slide" Target="slides/slide60.xml"/><Relationship Id="rId62" Type="http://schemas.openxmlformats.org/officeDocument/2006/relationships/slide" Target="slides/slide59.xml"/><Relationship Id="rId61" Type="http://schemas.openxmlformats.org/officeDocument/2006/relationships/slide" Target="slides/slide58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99591562-EE34-400E-9C13-F8CB08FCEFC5}" type="datetime1">
              <a:rPr lang="zh-CN" altLang="en-US"/>
            </a:fld>
            <a:endParaRPr lang="en-US" altLang="zh-CN"/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475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4BE8A97C-DF72-4D41-9BB4-E6561D89DFE1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>
            <a:lvl1pPr algn="r"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DDEAEDB-C838-4B65-B433-CF8A159A8B65}" type="datetime1">
              <a:rPr lang="zh-CN" altLang="en-US"/>
            </a:fld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9700" y="768350"/>
            <a:ext cx="68199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7168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168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defTabSz="990600" eaLnBrk="1" hangingPunct="1">
              <a:defRPr sz="13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168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/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32DAD041-5E22-4CB1-B0F3-48B412879B62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C4087CC3-FA7A-492C-A728-DBF96D581AA8}" type="slidenum">
              <a:rPr lang="en-US" altLang="zh-CN" smtClean="0"/>
            </a:fld>
            <a:endParaRPr lang="en-US" altLang="zh-CN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DAD041-5E22-4CB1-B0F3-48B412879B6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DAD041-5E22-4CB1-B0F3-48B412879B6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2DAD041-5E22-4CB1-B0F3-48B412879B6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38915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891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7160DCB2-A768-4B47-BA4D-4E9B10FA566C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096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096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50522DA7-283B-426D-B229-AD18D26931BF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301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301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3BA04B4D-E5AC-45BA-A9E2-CC84A819EBB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608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608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88969C31-AFC2-4C80-8870-11F43DFDF0B9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48131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8132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FB37857-654D-495D-9ED0-DA687FB91B5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50179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018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9CF08006-EA18-4A70-BEAB-5D0BF8A7CA6A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39700" y="768350"/>
            <a:ext cx="6819900" cy="3836988"/>
          </a:xfrm>
        </p:spPr>
      </p:sp>
      <p:sp>
        <p:nvSpPr>
          <p:cNvPr id="52227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2228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990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E7A1B6DA-D872-4138-93EF-57C58DD58892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Rot="1" noChangeArrowheads="1"/>
          </p:cNvSpPr>
          <p:nvPr>
            <p:ph type="ctrTitle"/>
          </p:nvPr>
        </p:nvSpPr>
        <p:spPr>
          <a:xfrm>
            <a:off x="9144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  <a:endParaRPr lang="zh-CN" altLang="en-US" noProof="0"/>
          </a:p>
        </p:txBody>
      </p:sp>
      <p:sp>
        <p:nvSpPr>
          <p:cNvPr id="69635" name="Rectangle 3"/>
          <p:cNvSpPr>
            <a:spLocks noGrp="1" noRot="1" noChangeArrowheads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 typeface="Wingdings 2" panose="05020102010507070707" pitchFamily="18" charset="2"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zh-CN" alt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F477B5-B546-45D1-A1A2-EBA2D5B81BDE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EE7229-94BB-457F-8DFB-853669A75B1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59EDFA-2E14-49BD-9352-7A48834C142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E8437F-C4A8-43FF-AD79-FED9FFFC513F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9EB272-57B4-4041-B3C6-4F02F69B91B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6C55ED-E098-4AEE-A11F-76BF2D9A5BDD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624D66-2DBF-44C6-BEFB-96DCBA9C4B53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B795EE-9D64-40FC-92B6-ADB49C19E4F8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AB63E5-B44E-498D-82E9-59E7BD220364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 showMasterSp="0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C70EEC-B073-4203-AD87-30AC6E00F28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942918" y="228601"/>
            <a:ext cx="2846916" cy="58705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02167" y="228601"/>
            <a:ext cx="8337551" cy="58705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6948D-1041-4B69-A7DF-372E1A1DBF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 showMasterSp="0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402168" y="1600200"/>
            <a:ext cx="5592233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1" y="1600200"/>
            <a:ext cx="5592233" cy="449897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F63D8-DBA6-413C-96E7-4261574BBE22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tx2">
              <a:lumMod val="20000"/>
              <a:lumOff val="8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Rot="1" noChangeArrowheads="1"/>
          </p:cNvSpPr>
          <p:nvPr>
            <p:ph type="title"/>
          </p:nvPr>
        </p:nvSpPr>
        <p:spPr bwMode="auto">
          <a:xfrm>
            <a:off x="402167" y="228600"/>
            <a:ext cx="11387667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Rectangle 3"/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402167" y="1600200"/>
            <a:ext cx="11387667" cy="4498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86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02167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86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CSASC</a:t>
            </a:r>
            <a:endParaRPr lang="en-US" altLang="zh-CN"/>
          </a:p>
        </p:txBody>
      </p:sp>
      <p:sp>
        <p:nvSpPr>
          <p:cNvPr id="686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1" y="6245225"/>
            <a:ext cx="305223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418E7982-BBE1-4762-A6F4-4465554BA84D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5000"/>
        <a:buFont typeface="Wingdings 2" panose="05020102010507070707" pitchFamily="18" charset="2"/>
        <a:buChar char="¡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5000"/>
        <a:buFont typeface="Wingdings" panose="05000000000000000000" pitchFamily="2" charset="2"/>
        <a:buChar char="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0000"/>
        <a:buFont typeface="Wingdings" panose="05000000000000000000" pitchFamily="2" charset="2"/>
        <a:buChar char="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folHlink"/>
        </a:buClr>
        <a:buSzPct val="90000"/>
        <a:buFont typeface="Wingdings 2" panose="05020102010507070707" pitchFamily="18" charset="2"/>
        <a:buChar char="¡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1" Type="http://schemas.openxmlformats.org/officeDocument/2006/relationships/hyperlink" Target="mailto:baskerg@szu.edu.cn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szu.edu.cn/2014/overview.html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www.eff.org/blueribbon.html#intro" TargetMode="Externa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hyperlink" Target="https://modified.org/" TargetMode="External"/><Relationship Id="rId1" Type="http://schemas.openxmlformats.org/officeDocument/2006/relationships/hyperlink" Target="https://original.org/newpath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://www.oreilly.com/" TargetMode="External"/><Relationship Id="rId1" Type="http://schemas.openxmlformats.org/officeDocument/2006/relationships/image" Target="../media/image13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://admin@www.blackstar.com:8080/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5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hyperlink" Target="http://www.oreilly.com/index.html#q2" TargetMode="External"/><Relationship Id="rId3" Type="http://schemas.openxmlformats.org/officeDocument/2006/relationships/hyperlink" Target="http://www.oreilly.com/index.html#p1" TargetMode="External"/><Relationship Id="rId2" Type="http://schemas.openxmlformats.org/officeDocument/2006/relationships/hyperlink" Target="http://www.oreilly.com/index.html" TargetMode="External"/><Relationship Id="rId1" Type="http://schemas.openxmlformats.org/officeDocument/2006/relationships/hyperlink" Target="http://www.oreilly.com/" TargetMode="Externa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www.dangdang.com/" TargetMode="Externa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6.png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7.png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8.png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2.png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6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0111858-A36F-404D-9DB8-0D8B763D280C}" type="slidenum">
              <a:rPr lang="en-US" altLang="zh-CN" sz="1400"/>
            </a:fld>
            <a:endParaRPr lang="en-US" altLang="zh-CN" sz="1400"/>
          </a:p>
        </p:txBody>
      </p:sp>
      <p:sp>
        <p:nvSpPr>
          <p:cNvPr id="5123" name="Rectangle 6"/>
          <p:cNvSpPr>
            <a:spLocks noRot="1" noChangeArrowheads="1"/>
          </p:cNvSpPr>
          <p:nvPr/>
        </p:nvSpPr>
        <p:spPr bwMode="auto">
          <a:xfrm>
            <a:off x="1676400" y="1295400"/>
            <a:ext cx="854075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48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Internet Programming</a:t>
            </a:r>
            <a:endParaRPr lang="en-US" altLang="zh-CN" sz="48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  <p:sp>
        <p:nvSpPr>
          <p:cNvPr id="5124" name="Rectangle 8"/>
          <p:cNvSpPr>
            <a:spLocks noRot="1" noChangeArrowheads="1"/>
          </p:cNvSpPr>
          <p:nvPr/>
        </p:nvSpPr>
        <p:spPr bwMode="auto">
          <a:xfrm>
            <a:off x="6477000" y="5715000"/>
            <a:ext cx="3962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2000" b="1">
                <a:solidFill>
                  <a:schemeClr val="tx2"/>
                </a:solidFill>
              </a:rPr>
              <a:t>School of Computer and Software, Shenzhen University</a:t>
            </a:r>
            <a:endParaRPr lang="zh-CN" altLang="en-US" sz="2000" b="1" i="1">
              <a:solidFill>
                <a:schemeClr val="tx2"/>
              </a:solidFill>
            </a:endParaRPr>
          </a:p>
        </p:txBody>
      </p:sp>
      <p:pic>
        <p:nvPicPr>
          <p:cNvPr id="5125" name="Picture 10" descr="szu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228601"/>
            <a:ext cx="2514600" cy="944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cover dir="l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983944"/>
            <a:ext cx="10058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002060"/>
                </a:solidFill>
              </a:rPr>
              <a:t>CH7 and CH8 ​</a:t>
            </a:r>
            <a:endParaRPr lang="en-US" sz="3600" b="1" dirty="0">
              <a:solidFill>
                <a:srgbClr val="002060"/>
              </a:solidFill>
            </a:endParaRPr>
          </a:p>
          <a:p>
            <a:pPr algn="ctr"/>
            <a:r>
              <a:rPr lang="en-US" sz="3600" b="1" dirty="0">
                <a:solidFill>
                  <a:srgbClr val="002060"/>
                </a:solidFill>
              </a:rPr>
              <a:t>URL and URI Class</a:t>
            </a: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66800" y="4724400"/>
            <a:ext cx="9067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BASKER GEORGE</a:t>
            </a:r>
            <a:endParaRPr lang="en-US" sz="2400" b="1" dirty="0"/>
          </a:p>
          <a:p>
            <a:pPr algn="ctr"/>
            <a:r>
              <a:rPr lang="en-US" sz="2400" b="1" dirty="0"/>
              <a:t>College of Computer Science and Software Engineering</a:t>
            </a:r>
            <a:endParaRPr lang="en-US" sz="2400" b="1" dirty="0"/>
          </a:p>
          <a:p>
            <a:pPr algn="ctr"/>
            <a:r>
              <a:rPr lang="en-US" sz="2400" b="1" dirty="0"/>
              <a:t>EMAIL: </a:t>
            </a:r>
            <a:r>
              <a:rPr lang="en-US" sz="2400" b="1" dirty="0">
                <a:hlinkClick r:id="rId1"/>
              </a:rPr>
              <a:t>baskerg@szu.edu.cn</a:t>
            </a:r>
            <a:endParaRPr lang="en-US" sz="2400" b="1" dirty="0"/>
          </a:p>
          <a:p>
            <a:pPr algn="ctr"/>
            <a:r>
              <a:rPr lang="en-US" sz="2400" b="1" dirty="0"/>
              <a:t>Office: </a:t>
            </a:r>
            <a:r>
              <a:rPr lang="zh-CN" altLang="en-US" sz="2400" b="1" dirty="0"/>
              <a:t>致腾楼计算机与软件学院</a:t>
            </a:r>
            <a:r>
              <a:rPr lang="en-US" sz="2400" b="1" dirty="0"/>
              <a:t>826 </a:t>
            </a:r>
            <a:endParaRPr lang="en-US" sz="2400" b="1" dirty="0"/>
          </a:p>
        </p:txBody>
      </p:sp>
      <p:pic>
        <p:nvPicPr>
          <p:cNvPr id="12" name="Picture 10" descr="sz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113021"/>
            <a:ext cx="3581400" cy="15943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9"/>
          <p:cNvSpPr/>
          <p:nvPr/>
        </p:nvSpPr>
        <p:spPr>
          <a:xfrm>
            <a:off x="3079675" y="1843251"/>
            <a:ext cx="5727850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 eaLnBrk="1" hangingPunct="1"/>
            <a:r>
              <a:rPr lang="en-GB" altLang="en-US" sz="60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Internet Programming</a:t>
            </a:r>
            <a:endParaRPr lang="en-US" altLang="zh-CN" sz="60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altLang="en-US" sz="3200" b="1">
                <a:solidFill>
                  <a:srgbClr val="C00000"/>
                </a:solidFill>
              </a:rPr>
              <a:t>Main content</a:t>
            </a:r>
            <a:endParaRPr lang="en-GB" altLang="en-US" sz="3200" b="1">
              <a:solidFill>
                <a:srgbClr val="C00000"/>
              </a:solidFill>
            </a:endParaRPr>
          </a:p>
        </p:txBody>
      </p:sp>
      <p:sp>
        <p:nvSpPr>
          <p:cNvPr id="7171" name="内容占位符 2"/>
          <p:cNvSpPr>
            <a:spLocks noGrp="1"/>
          </p:cNvSpPr>
          <p:nvPr>
            <p:ph idx="1"/>
          </p:nvPr>
        </p:nvSpPr>
        <p:spPr>
          <a:xfrm>
            <a:off x="1828800" y="1219201"/>
            <a:ext cx="8540750" cy="449897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1. URI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and </a:t>
            </a: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URL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concepts</a:t>
            </a: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2.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URL Class</a:t>
            </a: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3. URI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Class</a:t>
            </a: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4.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URLEncoder </a:t>
            </a: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5. Access the GET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method </a:t>
            </a: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6.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Authenticator and </a:t>
            </a:r>
            <a:r>
              <a:rPr lang="en-GB" altLang="zh-CN" sz="2800">
                <a:solidFill>
                  <a:schemeClr val="tx2"/>
                </a:solidFill>
                <a:latin typeface="宋体" panose="02010600030101010101" pitchFamily="2" charset="-122"/>
              </a:rPr>
              <a:t>PasswordAuthenticator </a:t>
            </a:r>
            <a:r>
              <a:rPr lang="en-GB" altLang="en-US" sz="2800">
                <a:solidFill>
                  <a:schemeClr val="tx2"/>
                </a:solidFill>
                <a:latin typeface="宋体" panose="02010600030101010101" pitchFamily="2" charset="-122"/>
              </a:rPr>
              <a:t>classes</a:t>
            </a: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" panose="05000000000000000000" pitchFamily="2" charset="2"/>
              <a:buChar char="n"/>
            </a:pPr>
            <a:endParaRPr lang="en-US" altLang="zh-CN" sz="2800">
              <a:solidFill>
                <a:schemeClr val="tx2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50000"/>
              </a:lnSpc>
              <a:buFont typeface="Wingdings 2" panose="05020102010507070707" pitchFamily="18" charset="2"/>
              <a:buNone/>
            </a:pPr>
            <a:r>
              <a:rPr lang="en-GB" altLang="zh-CN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endParaRPr lang="zh-CN" altLang="en-US"/>
          </a:p>
        </p:txBody>
      </p:sp>
      <p:sp>
        <p:nvSpPr>
          <p:cNvPr id="717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36CC345-A688-4E43-ADB1-80C64619A27A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Overview of Resource Identifiers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4400" b="1" dirty="0"/>
              <a:t>Introduction to </a:t>
            </a:r>
            <a:endParaRPr lang="en-US" sz="4400" b="1" dirty="0"/>
          </a:p>
          <a:p>
            <a:pPr marL="514350" indent="-514350">
              <a:buFont typeface="+mj-lt"/>
              <a:buAutoNum type="arabicPeriod"/>
            </a:pPr>
            <a:r>
              <a:rPr lang="en-US" sz="4400" b="1" dirty="0"/>
              <a:t>Uniform Resource Locators (URLs), </a:t>
            </a:r>
            <a:endParaRPr lang="en-US" sz="4400" b="1" dirty="0"/>
          </a:p>
          <a:p>
            <a:pPr marL="514350" indent="-514350">
              <a:buFont typeface="+mj-lt"/>
              <a:buAutoNum type="arabicPeriod"/>
            </a:pPr>
            <a:r>
              <a:rPr lang="en-US" sz="4400" b="1" dirty="0"/>
              <a:t>PURLs, </a:t>
            </a:r>
            <a:endParaRPr lang="en-US" sz="4400" b="1" dirty="0"/>
          </a:p>
          <a:p>
            <a:pPr marL="514350" indent="-514350">
              <a:buFont typeface="+mj-lt"/>
              <a:buAutoNum type="arabicPeriod"/>
            </a:pPr>
            <a:r>
              <a:rPr lang="en-US" sz="4400" b="1" dirty="0"/>
              <a:t>and DOIs</a:t>
            </a:r>
            <a:endParaRPr lang="en-US" sz="44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EE7229-94BB-457F-8DFB-853669A75B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17014" y="457200"/>
            <a:ext cx="5820587" cy="600159"/>
          </a:xfrm>
          <a:prstGeom prst="rect">
            <a:avLst/>
          </a:prstGeo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EE7229-94BB-457F-8DFB-853669A75B17}" type="slidenum">
              <a:rPr lang="en-US" altLang="zh-CN" smtClean="0"/>
            </a:fld>
            <a:endParaRPr lang="en-US" altLang="zh-C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31251"/>
          <a:stretch>
            <a:fillRect/>
          </a:stretch>
        </p:blipFill>
        <p:spPr>
          <a:xfrm>
            <a:off x="495300" y="1143000"/>
            <a:ext cx="11087100" cy="3352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" y="4581441"/>
            <a:ext cx="6248400" cy="2017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301625"/>
            <a:ext cx="83058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>
          <a:xfrm>
            <a:off x="1544638" y="80964"/>
            <a:ext cx="8540750" cy="682625"/>
          </a:xfrm>
        </p:spPr>
        <p:txBody>
          <a:bodyPr/>
          <a:lstStyle/>
          <a:p>
            <a:pPr algn="l"/>
            <a:r>
              <a:rPr lang="en-GB" altLang="zh-CN" sz="3200"/>
              <a:t>1. URI &amp; URL </a:t>
            </a:r>
            <a:r>
              <a:rPr lang="en-GB" altLang="en-US" sz="3200"/>
              <a:t>Concept</a:t>
            </a:r>
            <a:endParaRPr lang="en-GB" altLang="en-US" sz="3200"/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>
          <a:xfrm>
            <a:off x="228600" y="1050926"/>
            <a:ext cx="11811000" cy="4498975"/>
          </a:xfrm>
        </p:spPr>
        <p:txBody>
          <a:bodyPr/>
          <a:lstStyle/>
          <a:p>
            <a:r>
              <a:rPr lang="en-GB" altLang="zh-CN" sz="2800" dirty="0"/>
              <a:t>URI </a:t>
            </a:r>
            <a:r>
              <a:rPr lang="en-GB" altLang="en-US" sz="2800" dirty="0"/>
              <a:t>: </a:t>
            </a:r>
            <a:r>
              <a:rPr lang="en-GB" altLang="zh-CN" sz="2800" dirty="0"/>
              <a:t>Uniform Resource Identifier</a:t>
            </a:r>
            <a:endParaRPr lang="en-GB" altLang="zh-CN" sz="2800" dirty="0"/>
          </a:p>
          <a:p>
            <a:r>
              <a:rPr lang="en-GB" altLang="zh-CN" sz="2800" dirty="0"/>
              <a:t>URL </a:t>
            </a:r>
            <a:r>
              <a:rPr lang="en-GB" altLang="en-US" sz="2800" dirty="0"/>
              <a:t>: </a:t>
            </a:r>
            <a:r>
              <a:rPr lang="en-GB" altLang="zh-CN" sz="2800" dirty="0"/>
              <a:t>Uniform Resource Locator</a:t>
            </a:r>
            <a:r>
              <a:rPr lang="zh-CN" altLang="en-US" sz="2800" dirty="0"/>
              <a:t> </a:t>
            </a:r>
            <a:r>
              <a:rPr lang="en-GB" altLang="en-US" sz="2000" dirty="0">
                <a:solidFill>
                  <a:srgbClr val="FF0000"/>
                </a:solidFill>
              </a:rPr>
              <a:t>used to specify network data sources in the program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GB" altLang="zh-CN" sz="2800" dirty="0"/>
              <a:t>A URL </a:t>
            </a:r>
            <a:r>
              <a:rPr lang="en-GB" altLang="en-US" sz="2800" dirty="0"/>
              <a:t>identifies a resource, provides information about the resource's location, and tells a browser or Internet application the following information about a document:</a:t>
            </a:r>
            <a:endParaRPr lang="en-US" altLang="zh-CN" sz="2800" dirty="0"/>
          </a:p>
          <a:p>
            <a:endParaRPr lang="zh-CN" altLang="en-US" dirty="0"/>
          </a:p>
        </p:txBody>
      </p:sp>
      <p:grpSp>
        <p:nvGrpSpPr>
          <p:cNvPr id="35" name="Group 82"/>
          <p:cNvGrpSpPr/>
          <p:nvPr/>
        </p:nvGrpSpPr>
        <p:grpSpPr bwMode="auto">
          <a:xfrm>
            <a:off x="339756" y="3840163"/>
            <a:ext cx="2023398" cy="2482850"/>
            <a:chOff x="253" y="1564"/>
            <a:chExt cx="1333" cy="1564"/>
          </a:xfrm>
        </p:grpSpPr>
        <p:sp>
          <p:nvSpPr>
            <p:cNvPr id="8214" name="Rectangle 83"/>
            <p:cNvSpPr>
              <a:spLocks noChangeArrowheads="1"/>
            </p:cNvSpPr>
            <p:nvPr/>
          </p:nvSpPr>
          <p:spPr bwMode="auto">
            <a:xfrm>
              <a:off x="1058" y="1564"/>
              <a:ext cx="52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15" name="AutoShape 84"/>
            <p:cNvSpPr/>
            <p:nvPr/>
          </p:nvSpPr>
          <p:spPr bwMode="auto">
            <a:xfrm>
              <a:off x="253" y="2744"/>
              <a:ext cx="908" cy="384"/>
            </a:xfrm>
            <a:prstGeom prst="borderCallout1">
              <a:avLst>
                <a:gd name="adj1" fmla="val -19114"/>
                <a:gd name="adj2" fmla="val 59124"/>
                <a:gd name="adj3" fmla="val -217890"/>
                <a:gd name="adj4" fmla="val 105705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400" dirty="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Protocol</a:t>
              </a:r>
              <a:endParaRPr lang="en-GB" altLang="zh-CN" sz="2400" dirty="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38" name="Group 85"/>
          <p:cNvGrpSpPr/>
          <p:nvPr/>
        </p:nvGrpSpPr>
        <p:grpSpPr bwMode="auto">
          <a:xfrm>
            <a:off x="1839392" y="3884705"/>
            <a:ext cx="2762406" cy="2578100"/>
            <a:chOff x="547" y="2291"/>
            <a:chExt cx="2343" cy="1624"/>
          </a:xfrm>
        </p:grpSpPr>
        <p:sp>
          <p:nvSpPr>
            <p:cNvPr id="8212" name="Rectangle 86"/>
            <p:cNvSpPr>
              <a:spLocks noChangeArrowheads="1"/>
            </p:cNvSpPr>
            <p:nvPr/>
          </p:nvSpPr>
          <p:spPr bwMode="auto">
            <a:xfrm>
              <a:off x="1094" y="2291"/>
              <a:ext cx="1796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13" name="AutoShape 87"/>
            <p:cNvSpPr/>
            <p:nvPr/>
          </p:nvSpPr>
          <p:spPr bwMode="auto">
            <a:xfrm>
              <a:off x="547" y="3339"/>
              <a:ext cx="1107" cy="576"/>
            </a:xfrm>
            <a:prstGeom prst="borderCallout1">
              <a:avLst>
                <a:gd name="adj1" fmla="val -7888"/>
                <a:gd name="adj2" fmla="val 76342"/>
                <a:gd name="adj3" fmla="val -116667"/>
                <a:gd name="adj4" fmla="val 117819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400" dirty="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Host Name</a:t>
              </a:r>
              <a:endParaRPr lang="en-GB" altLang="zh-CN" sz="2400" dirty="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1" name="Group 98"/>
          <p:cNvGrpSpPr/>
          <p:nvPr/>
        </p:nvGrpSpPr>
        <p:grpSpPr bwMode="auto">
          <a:xfrm>
            <a:off x="3193250" y="3895056"/>
            <a:ext cx="1873250" cy="2538412"/>
            <a:chOff x="1519" y="2209"/>
            <a:chExt cx="1180" cy="1599"/>
          </a:xfrm>
        </p:grpSpPr>
        <p:sp>
          <p:nvSpPr>
            <p:cNvPr id="8210" name="Rectangle 89"/>
            <p:cNvSpPr>
              <a:spLocks noChangeArrowheads="1"/>
            </p:cNvSpPr>
            <p:nvPr/>
          </p:nvSpPr>
          <p:spPr bwMode="auto">
            <a:xfrm>
              <a:off x="2438" y="2209"/>
              <a:ext cx="261" cy="37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11" name="AutoShape 90"/>
            <p:cNvSpPr/>
            <p:nvPr/>
          </p:nvSpPr>
          <p:spPr bwMode="auto">
            <a:xfrm>
              <a:off x="1519" y="3249"/>
              <a:ext cx="862" cy="559"/>
            </a:xfrm>
            <a:prstGeom prst="borderCallout1">
              <a:avLst>
                <a:gd name="adj1" fmla="val -8128"/>
                <a:gd name="adj2" fmla="val 69888"/>
                <a:gd name="adj3" fmla="val -117708"/>
                <a:gd name="adj4" fmla="val 121116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200" dirty="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Port Number</a:t>
              </a:r>
              <a:endParaRPr lang="en-GB" altLang="zh-CN" sz="2200" dirty="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4" name="Group 91"/>
          <p:cNvGrpSpPr/>
          <p:nvPr/>
        </p:nvGrpSpPr>
        <p:grpSpPr bwMode="auto">
          <a:xfrm>
            <a:off x="4745568" y="3895056"/>
            <a:ext cx="3098209" cy="2581275"/>
            <a:chOff x="2880" y="2352"/>
            <a:chExt cx="1687" cy="1626"/>
          </a:xfrm>
        </p:grpSpPr>
        <p:sp>
          <p:nvSpPr>
            <p:cNvPr id="8208" name="Rectangle 92"/>
            <p:cNvSpPr>
              <a:spLocks noChangeArrowheads="1"/>
            </p:cNvSpPr>
            <p:nvPr/>
          </p:nvSpPr>
          <p:spPr bwMode="auto">
            <a:xfrm>
              <a:off x="3072" y="2352"/>
              <a:ext cx="1495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09" name="AutoShape 93"/>
            <p:cNvSpPr/>
            <p:nvPr/>
          </p:nvSpPr>
          <p:spPr bwMode="auto">
            <a:xfrm>
              <a:off x="2880" y="3402"/>
              <a:ext cx="940" cy="576"/>
            </a:xfrm>
            <a:prstGeom prst="borderCallout1">
              <a:avLst>
                <a:gd name="adj1" fmla="val -5947"/>
                <a:gd name="adj2" fmla="val 54726"/>
                <a:gd name="adj3" fmla="val -115106"/>
                <a:gd name="adj4" fmla="val 158014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000" dirty="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Path &amp; File Name</a:t>
              </a:r>
              <a:endParaRPr lang="en-GB" altLang="zh-CN" sz="2000" dirty="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47" name="Group 97"/>
          <p:cNvGrpSpPr/>
          <p:nvPr/>
        </p:nvGrpSpPr>
        <p:grpSpPr bwMode="auto">
          <a:xfrm>
            <a:off x="7481889" y="3884613"/>
            <a:ext cx="3006725" cy="2438400"/>
            <a:chOff x="3243" y="2205"/>
            <a:chExt cx="2366" cy="1536"/>
          </a:xfrm>
        </p:grpSpPr>
        <p:sp>
          <p:nvSpPr>
            <p:cNvPr id="8206" name="Rectangle 95"/>
            <p:cNvSpPr>
              <a:spLocks noChangeArrowheads="1"/>
            </p:cNvSpPr>
            <p:nvPr/>
          </p:nvSpPr>
          <p:spPr bwMode="auto">
            <a:xfrm>
              <a:off x="4241" y="2205"/>
              <a:ext cx="136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07" name="AutoShape 96"/>
            <p:cNvSpPr/>
            <p:nvPr/>
          </p:nvSpPr>
          <p:spPr bwMode="auto">
            <a:xfrm>
              <a:off x="3243" y="3357"/>
              <a:ext cx="1663" cy="384"/>
            </a:xfrm>
            <a:prstGeom prst="borderCallout1">
              <a:avLst>
                <a:gd name="adj1" fmla="val 1274"/>
                <a:gd name="adj2" fmla="val 86262"/>
                <a:gd name="adj3" fmla="val -200000"/>
                <a:gd name="adj4" fmla="val 120750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4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Reference</a:t>
              </a:r>
              <a:endParaRPr lang="en-GB" altLang="zh-CN" sz="24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51" name="Group 97"/>
          <p:cNvGrpSpPr/>
          <p:nvPr/>
        </p:nvGrpSpPr>
        <p:grpSpPr bwMode="auto">
          <a:xfrm>
            <a:off x="7366001" y="3886201"/>
            <a:ext cx="1362075" cy="1668463"/>
            <a:chOff x="3450" y="2194"/>
            <a:chExt cx="2159" cy="1559"/>
          </a:xfrm>
        </p:grpSpPr>
        <p:sp>
          <p:nvSpPr>
            <p:cNvPr id="8204" name="Rectangle 95"/>
            <p:cNvSpPr>
              <a:spLocks noChangeArrowheads="1"/>
            </p:cNvSpPr>
            <p:nvPr/>
          </p:nvSpPr>
          <p:spPr bwMode="auto">
            <a:xfrm>
              <a:off x="4241" y="2194"/>
              <a:ext cx="1368" cy="57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8205" name="AutoShape 96"/>
            <p:cNvSpPr/>
            <p:nvPr/>
          </p:nvSpPr>
          <p:spPr bwMode="auto">
            <a:xfrm>
              <a:off x="3450" y="3234"/>
              <a:ext cx="1859" cy="519"/>
            </a:xfrm>
            <a:prstGeom prst="borderCallout1">
              <a:avLst>
                <a:gd name="adj1" fmla="val 4778"/>
                <a:gd name="adj2" fmla="val 70912"/>
                <a:gd name="adj3" fmla="val -88227"/>
                <a:gd name="adj4" fmla="val 89856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24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query</a:t>
              </a:r>
              <a:endParaRPr lang="en-GB" altLang="zh-CN" sz="24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sp>
        <p:nvSpPr>
          <p:cNvPr id="8202" name="矩形 49"/>
          <p:cNvSpPr>
            <a:spLocks noChangeArrowheads="1"/>
          </p:cNvSpPr>
          <p:nvPr/>
        </p:nvSpPr>
        <p:spPr bwMode="auto">
          <a:xfrm>
            <a:off x="1219200" y="4010025"/>
            <a:ext cx="9448800" cy="37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300" dirty="0"/>
              <a:t>http://www.szu.edu.cn:80/path1/path2/index.jsp?q=szu#Networking</a:t>
            </a:r>
            <a:endParaRPr lang="en-GB" altLang="zh-CN" sz="2300" dirty="0"/>
          </a:p>
        </p:txBody>
      </p:sp>
      <p:sp>
        <p:nvSpPr>
          <p:cNvPr id="8203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1BCD4D-6C1D-48FC-919B-F271141C4A66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467783" y="1143000"/>
            <a:ext cx="11256434" cy="43999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</a:rPr>
              <a:t>protocol://host:port/path?query#fragment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Protocol[</a:t>
            </a:r>
            <a:r>
              <a:rPr lang="zh-CN" altLang="en-US" sz="2000" b="1" dirty="0"/>
              <a:t>协议</a:t>
            </a:r>
            <a:r>
              <a:rPr lang="en-US" sz="2000" b="1" dirty="0"/>
              <a:t>]: The application-layer protocol (e.g., http, https, ftp, file).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Host: Domain name or IP address.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Port: Optional network port (defaults to protocol-specific values, like 80 for HTTP).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Path: Resource location on the server.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Query: Parameters for dynamic content (e.g., ?key=value).</a:t>
            </a: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endParaRPr lang="en-US" sz="2000" b="1" dirty="0"/>
          </a:p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Fragment: Sub-resource anchor (e.g., #section).</a:t>
            </a:r>
            <a:endParaRPr lang="en-US" sz="2000" b="1" dirty="0"/>
          </a:p>
          <a:p>
            <a:endParaRPr lang="en-US" sz="2000" b="1" dirty="0"/>
          </a:p>
        </p:txBody>
      </p:sp>
      <p:sp>
        <p:nvSpPr>
          <p:cNvPr id="4" name="Rectangle 3"/>
          <p:cNvSpPr/>
          <p:nvPr/>
        </p:nvSpPr>
        <p:spPr>
          <a:xfrm>
            <a:off x="2234565" y="304800"/>
            <a:ext cx="5769610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altLang="zh-CN" sz="2800" b="1" dirty="0">
                <a:solidFill>
                  <a:schemeClr val="tx2"/>
                </a:solidFill>
              </a:rPr>
              <a:t>URL </a:t>
            </a:r>
            <a:r>
              <a:rPr lang="en-GB" altLang="en-US" sz="2800" b="1" dirty="0">
                <a:solidFill>
                  <a:schemeClr val="tx2"/>
                </a:solidFill>
              </a:rPr>
              <a:t>: </a:t>
            </a:r>
            <a:r>
              <a:rPr lang="en-GB" altLang="zh-CN" sz="2800" b="1" dirty="0">
                <a:solidFill>
                  <a:schemeClr val="tx2"/>
                </a:solidFill>
              </a:rPr>
              <a:t>Uniform Resource Locator</a:t>
            </a:r>
            <a:r>
              <a:rPr lang="zh-CN" altLang="en-US" sz="2800" b="1" dirty="0">
                <a:solidFill>
                  <a:schemeClr val="tx2"/>
                </a:solidFill>
              </a:rPr>
              <a:t> </a:t>
            </a:r>
            <a:endParaRPr lang="en-US" sz="2800" b="1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标题 1"/>
          <p:cNvSpPr>
            <a:spLocks noGrp="1"/>
          </p:cNvSpPr>
          <p:nvPr>
            <p:ph type="title"/>
          </p:nvPr>
        </p:nvSpPr>
        <p:spPr>
          <a:xfrm>
            <a:off x="1447800" y="152854"/>
            <a:ext cx="8540750" cy="685800"/>
          </a:xfrm>
        </p:spPr>
        <p:txBody>
          <a:bodyPr/>
          <a:lstStyle/>
          <a:p>
            <a:pPr algn="l"/>
            <a:r>
              <a:rPr lang="en-GB" altLang="en-US" sz="3600" b="1" dirty="0"/>
              <a:t>Absolute </a:t>
            </a:r>
            <a:r>
              <a:rPr lang="en-GB" altLang="zh-CN" sz="3600" b="1" dirty="0"/>
              <a:t>URL </a:t>
            </a:r>
            <a:r>
              <a:rPr lang="en-GB" altLang="en-US" sz="3600" b="1" dirty="0"/>
              <a:t>, </a:t>
            </a:r>
            <a:r>
              <a:rPr lang="en-US" altLang="en-US" sz="3600" b="1" dirty="0"/>
              <a:t>R</a:t>
            </a:r>
            <a:r>
              <a:rPr lang="en-GB" altLang="en-US" sz="3600" b="1" dirty="0"/>
              <a:t>elative </a:t>
            </a:r>
            <a:r>
              <a:rPr lang="en-GB" altLang="zh-CN" sz="3600" b="1" dirty="0"/>
              <a:t>URL</a:t>
            </a:r>
            <a:endParaRPr lang="zh-CN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0500" y="898526"/>
            <a:ext cx="11811000" cy="5730874"/>
          </a:xfrm>
        </p:spPr>
        <p:txBody>
          <a:bodyPr/>
          <a:lstStyle/>
          <a:p>
            <a:r>
              <a:rPr lang="en-US" altLang="en-US" sz="2800" dirty="0"/>
              <a:t>F</a:t>
            </a:r>
            <a:r>
              <a:rPr lang="en-GB" altLang="en-US" sz="2800" dirty="0"/>
              <a:t>ully specified </a:t>
            </a:r>
            <a:r>
              <a:rPr lang="en-GB" altLang="zh-CN" sz="2800" dirty="0"/>
              <a:t>URL </a:t>
            </a:r>
            <a:r>
              <a:rPr lang="en-GB" altLang="en-US" sz="2800" dirty="0"/>
              <a:t>is called </a:t>
            </a:r>
            <a:r>
              <a:rPr lang="en-GB" altLang="en-US" sz="2800" b="1" dirty="0">
                <a:solidFill>
                  <a:srgbClr val="FF0000"/>
                </a:solidFill>
              </a:rPr>
              <a:t>an absolute </a:t>
            </a:r>
            <a:r>
              <a:rPr lang="en-GB" altLang="zh-CN" sz="2800" b="1" dirty="0">
                <a:solidFill>
                  <a:srgbClr val="FF0000"/>
                </a:solidFill>
              </a:rPr>
              <a:t>URL</a:t>
            </a:r>
            <a:endParaRPr lang="en-GB" altLang="zh-CN" sz="2800" b="1" dirty="0">
              <a:solidFill>
                <a:srgbClr val="FF0000"/>
              </a:solidFill>
            </a:endParaRPr>
          </a:p>
          <a:p>
            <a:r>
              <a:rPr lang="en-GB" altLang="zh-CN" sz="2800" dirty="0">
                <a:hlinkClick r:id="rId1"/>
              </a:rPr>
              <a:t>http://www.szu.edu.cn/2014/overview.html</a:t>
            </a:r>
            <a:endParaRPr lang="en-US" altLang="zh-CN" sz="2800" dirty="0"/>
          </a:p>
          <a:p>
            <a:r>
              <a:rPr lang="en-GB" altLang="en-US" sz="2800" dirty="0"/>
              <a:t>An incompletely specified URL that inherits</a:t>
            </a:r>
            <a:r>
              <a:rPr lang="zh-CN" altLang="en-GB" sz="2800" dirty="0"/>
              <a:t>【继承】</a:t>
            </a:r>
            <a:r>
              <a:rPr lang="en-GB" altLang="en-US" sz="2800" dirty="0"/>
              <a:t> the protocol, host name, and path of its parent document (the document where the </a:t>
            </a:r>
            <a:r>
              <a:rPr lang="en-GB" altLang="zh-CN" sz="2800" dirty="0"/>
              <a:t>URL </a:t>
            </a:r>
            <a:r>
              <a:rPr lang="en-GB" altLang="en-US" sz="2800" dirty="0"/>
              <a:t>is </a:t>
            </a:r>
            <a:r>
              <a:rPr lang="en-GB" altLang="zh-CN" sz="2800" dirty="0"/>
              <a:t>located </a:t>
            </a:r>
            <a:r>
              <a:rPr lang="en-GB" altLang="en-US" sz="2800" dirty="0"/>
              <a:t>) </a:t>
            </a:r>
            <a:r>
              <a:rPr lang="en-GB" altLang="zh-CN" sz="2800" dirty="0"/>
              <a:t>is </a:t>
            </a:r>
            <a:r>
              <a:rPr lang="en-GB" altLang="en-US" sz="2800" dirty="0"/>
              <a:t>called </a:t>
            </a:r>
            <a:r>
              <a:rPr lang="en-GB" altLang="en-US" sz="2800" dirty="0">
                <a:solidFill>
                  <a:srgbClr val="FF0000"/>
                </a:solidFill>
              </a:rPr>
              <a:t>a relative </a:t>
            </a:r>
            <a:r>
              <a:rPr lang="en-GB" altLang="zh-CN" sz="2800" dirty="0">
                <a:solidFill>
                  <a:srgbClr val="FF0000"/>
                </a:solidFill>
              </a:rPr>
              <a:t>URL .</a:t>
            </a:r>
            <a:endParaRPr lang="en-GB" altLang="zh-CN" sz="2800" dirty="0">
              <a:solidFill>
                <a:srgbClr val="FF0000"/>
              </a:solidFill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When browsing </a:t>
            </a:r>
            <a:r>
              <a:rPr lang="en-GB" altLang="zh-CN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  <a:hlinkClick r:id="rId1"/>
              </a:rPr>
              <a:t>http://www.szu.edu.cn/2014/overview.html </a:t>
            </a:r>
            <a:r>
              <a:rPr lang="en-GB" alt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GB" altLang="en-US" sz="20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click the link: </a:t>
            </a:r>
            <a:r>
              <a:rPr lang="en-GB" altLang="zh-CN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&lt;a href="planning.html"&gt; </a:t>
            </a:r>
            <a:r>
              <a:rPr lang="en-GB" altLang="en-US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Campus Planning </a:t>
            </a:r>
            <a:r>
              <a:rPr lang="en-GB" altLang="zh-CN" sz="24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&lt;/a&gt;</a:t>
            </a:r>
            <a:endParaRPr lang="en-GB" altLang="zh-CN" sz="2400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Actually visit </a:t>
            </a:r>
            <a:r>
              <a:rPr lang="en-GB" altLang="zh-CN" sz="2000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http://www.szu.edu.cn/2014/planning.html</a:t>
            </a:r>
            <a:endParaRPr lang="en-US" altLang="zh-CN" b="1" dirty="0">
              <a:solidFill>
                <a:srgbClr val="00B0F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GB" altLang="zh-CN" sz="2800" dirty="0"/>
              <a:t>planning.html</a:t>
            </a:r>
            <a:endParaRPr lang="en-GB" altLang="zh-CN" sz="2800" dirty="0"/>
          </a:p>
          <a:p>
            <a:r>
              <a:rPr lang="en-GB" altLang="en-US" sz="2800" dirty="0"/>
              <a:t>Advantages of relative </a:t>
            </a:r>
            <a:r>
              <a:rPr lang="en-GB" altLang="zh-CN" sz="2800" dirty="0"/>
              <a:t>URLs </a:t>
            </a:r>
            <a:r>
              <a:rPr lang="en-GB" altLang="en-US" dirty="0"/>
              <a:t>:</a:t>
            </a:r>
            <a:endParaRPr lang="en-US" altLang="zh-CN" dirty="0"/>
          </a:p>
          <a:p>
            <a:pPr lvl="1"/>
            <a:r>
              <a:rPr lang="en-GB" altLang="en-US" dirty="0"/>
              <a:t>Reduce text entry</a:t>
            </a:r>
            <a:endParaRPr lang="en-US" altLang="zh-CN" dirty="0"/>
          </a:p>
          <a:p>
            <a:pPr lvl="1"/>
            <a:r>
              <a:rPr lang="en-GB" altLang="en-US" dirty="0"/>
              <a:t>Facilitates website migration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22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62E9C8D-CF5A-4D00-B138-CEA6582C9575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 sz="3600"/>
              <a:t>Relative </a:t>
            </a:r>
            <a:r>
              <a:rPr lang="en-GB" altLang="zh-CN" sz="3600"/>
              <a:t>URLs</a:t>
            </a:r>
            <a:endParaRPr lang="zh-CN" altLang="en-US" sz="3600"/>
          </a:p>
        </p:txBody>
      </p:sp>
      <p:sp>
        <p:nvSpPr>
          <p:cNvPr id="1024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altLang="zh-CN" dirty="0"/>
              <a:t>http://www.szu.edu.cn/2014/overview.html</a:t>
            </a:r>
            <a:endParaRPr lang="en-GB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dirty="0"/>
              <a:t>Relative links start with </a:t>
            </a:r>
            <a:r>
              <a:rPr lang="en-GB" altLang="zh-CN" dirty="0"/>
              <a:t>/ </a:t>
            </a:r>
            <a:r>
              <a:rPr lang="en-GB" altLang="en-US" dirty="0"/>
              <a:t>and are relative to the root directory rather than the current file.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en-GB" altLang="en-US" dirty="0"/>
              <a:t>Q: When the browser loads the relative link </a:t>
            </a:r>
            <a:r>
              <a:rPr lang="en-GB" altLang="zh-CN" dirty="0"/>
              <a:t>/2016/planning.html </a:t>
            </a:r>
            <a:r>
              <a:rPr lang="en-GB" altLang="en-US" dirty="0"/>
              <a:t>, what is actually loaded?</a:t>
            </a:r>
            <a:endParaRPr lang="en-US" altLang="zh-CN" dirty="0"/>
          </a:p>
        </p:txBody>
      </p:sp>
      <p:sp>
        <p:nvSpPr>
          <p:cNvPr id="1024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6ACE0C-0581-4FF4-B2B1-239A2F14FA70}" type="slidenum">
              <a:rPr lang="en-US" altLang="zh-CN" sz="1400"/>
            </a:fld>
            <a:endParaRPr lang="en-US" altLang="zh-CN" sz="1400"/>
          </a:p>
        </p:txBody>
      </p:sp>
      <p:sp>
        <p:nvSpPr>
          <p:cNvPr id="10245" name="TextBox 1"/>
          <p:cNvSpPr txBox="1">
            <a:spLocks noChangeArrowheads="1"/>
          </p:cNvSpPr>
          <p:nvPr/>
        </p:nvSpPr>
        <p:spPr bwMode="auto">
          <a:xfrm>
            <a:off x="1219200" y="4800600"/>
            <a:ext cx="85344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b="1" dirty="0">
                <a:solidFill>
                  <a:srgbClr val="FF0000"/>
                </a:solidFill>
              </a:rPr>
              <a:t>http://www.szu.edu.cn/2016/planning.html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281" y="2076451"/>
            <a:ext cx="11387667" cy="2667000"/>
          </a:xfrm>
        </p:spPr>
        <p:txBody>
          <a:bodyPr/>
          <a:lstStyle/>
          <a:p>
            <a:r>
              <a:rPr lang="en-US" altLang="zh-CN" dirty="0"/>
              <a:t>The java.net.URL class is a Java encapsulation</a:t>
            </a:r>
            <a:r>
              <a:rPr lang="zh-CN" altLang="en-US" dirty="0"/>
              <a:t>【封装】</a:t>
            </a:r>
            <a:r>
              <a:rPr lang="en-US" altLang="zh-CN" dirty="0"/>
              <a:t> that represents a Uniform Resource Locator (URL). </a:t>
            </a:r>
            <a:endParaRPr lang="en-US" altLang="zh-CN" dirty="0"/>
          </a:p>
          <a:p>
            <a:r>
              <a:rPr lang="en-US" altLang="zh-CN" dirty="0"/>
              <a:t>It provides a way to work with URLs in a structured and standardized manner.</a:t>
            </a:r>
            <a:endParaRPr lang="en-US" altLang="zh-CN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EE7229-94BB-457F-8DFB-853669A75B17}" type="slidenum">
              <a:rPr lang="en-US" altLang="zh-CN" smtClean="0"/>
            </a:fld>
            <a:endParaRPr lang="en-US" altLang="zh-CN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1524000" y="457200"/>
            <a:ext cx="8540750" cy="838200"/>
          </a:xfrm>
        </p:spPr>
        <p:txBody>
          <a:bodyPr/>
          <a:lstStyle/>
          <a:p>
            <a:pPr algn="l"/>
            <a:r>
              <a:rPr lang="en-GB" altLang="zh-CN" sz="3600" b="1" dirty="0"/>
              <a:t> </a:t>
            </a:r>
            <a:r>
              <a:rPr lang="en-US" altLang="zh-CN" sz="3600" b="1" dirty="0"/>
              <a:t>java.net.URL Class</a:t>
            </a:r>
            <a:endParaRPr lang="en-GB" altLang="en-US" sz="3600" b="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0"/>
            <a:ext cx="11256434" cy="762000"/>
          </a:xfrm>
        </p:spPr>
        <p:txBody>
          <a:bodyPr/>
          <a:lstStyle/>
          <a:p>
            <a:r>
              <a:rPr lang="en-US" dirty="0"/>
              <a:t>Immutability of URL Objects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7370" y="990600"/>
            <a:ext cx="11576030" cy="5730875"/>
          </a:xfrm>
        </p:spPr>
        <p:txBody>
          <a:bodyPr/>
          <a:lstStyle/>
          <a:p>
            <a:r>
              <a:rPr lang="en-US" sz="2800" dirty="0"/>
              <a:t>URL objects in Java are indeed immutable, meaning that once a URL object is created, its state cannot be modified. </a:t>
            </a:r>
            <a:endParaRPr lang="en-US" sz="2800" dirty="0"/>
          </a:p>
          <a:p>
            <a:r>
              <a:rPr lang="en-US" sz="2800" dirty="0"/>
              <a:t>This immutability provides several benefits, including:-</a:t>
            </a:r>
            <a:endParaRPr lang="en-US" sz="2800" dirty="0"/>
          </a:p>
          <a:p>
            <a:pPr lvl="1"/>
            <a:r>
              <a:rPr lang="en-US" sz="2400" dirty="0"/>
              <a:t> Thread safety: Multiple threads can share the same URL object without fear of one thread modifying the object's state.- </a:t>
            </a:r>
            <a:endParaRPr lang="en-US" sz="2400" dirty="0"/>
          </a:p>
          <a:p>
            <a:pPr lvl="1"/>
            <a:r>
              <a:rPr lang="en-US" sz="2400" dirty="0"/>
              <a:t>Security: Immutability helps prevent malicious code from modifying the URL object's state.- </a:t>
            </a:r>
            <a:endParaRPr lang="en-US" sz="2400" dirty="0"/>
          </a:p>
          <a:p>
            <a:pPr lvl="1"/>
            <a:r>
              <a:rPr lang="en-US" sz="2400" dirty="0"/>
              <a:t>Code simplicity: Immutability makes it easier to reason about the behavior of URL objects.</a:t>
            </a:r>
            <a:endParaRPr lang="en-US" sz="2400" dirty="0"/>
          </a:p>
          <a:p>
            <a:r>
              <a:rPr lang="en-US" sz="2800" dirty="0"/>
              <a:t>The immutability of URL objects is achieved through the use of final fields and careful design of the class's methods. </a:t>
            </a:r>
            <a:endParaRPr lang="en-US" sz="2800" dirty="0"/>
          </a:p>
          <a:p>
            <a:r>
              <a:rPr lang="en-US" sz="2800" dirty="0"/>
              <a:t>This ensures that once a URL object is created, its state remains consistent and predictable.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EE7229-94BB-457F-8DFB-853669A75B1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/>
          <p:cNvSpPr>
            <a:spLocks noGrp="1"/>
          </p:cNvSpPr>
          <p:nvPr>
            <p:ph type="title"/>
          </p:nvPr>
        </p:nvSpPr>
        <p:spPr>
          <a:xfrm>
            <a:off x="1524000" y="150132"/>
            <a:ext cx="9982200" cy="609600"/>
          </a:xfrm>
        </p:spPr>
        <p:txBody>
          <a:bodyPr/>
          <a:lstStyle/>
          <a:p>
            <a:pPr algn="l"/>
            <a:r>
              <a:rPr lang="en-GB" altLang="en-US" sz="3600" b="1" dirty="0"/>
              <a:t>Creat</a:t>
            </a:r>
            <a:r>
              <a:rPr lang="en-US" altLang="en-US" sz="3600" b="1" dirty="0" err="1"/>
              <a:t>ing</a:t>
            </a:r>
            <a:r>
              <a:rPr lang="en-GB" altLang="en-US" sz="3600" b="1" dirty="0"/>
              <a:t> </a:t>
            </a:r>
            <a:r>
              <a:rPr lang="en-GB" altLang="zh-CN" sz="3600" b="1" dirty="0"/>
              <a:t>URL </a:t>
            </a:r>
            <a:r>
              <a:rPr lang="en-GB" altLang="en-US" sz="3600" b="1" dirty="0"/>
              <a:t>objects ( </a:t>
            </a:r>
            <a:r>
              <a:rPr lang="en-GB" altLang="zh-CN" sz="3600" b="1" dirty="0"/>
              <a:t>6 </a:t>
            </a:r>
            <a:r>
              <a:rPr lang="en-GB" altLang="en-US" sz="3600" b="1" dirty="0"/>
              <a:t>constructors)</a:t>
            </a:r>
            <a:endParaRPr lang="en-GB" altLang="en-US" sz="3600" b="1" dirty="0"/>
          </a:p>
        </p:txBody>
      </p:sp>
      <p:sp>
        <p:nvSpPr>
          <p:cNvPr id="12291" name="内容占位符 2"/>
          <p:cNvSpPr>
            <a:spLocks noGrp="1"/>
          </p:cNvSpPr>
          <p:nvPr>
            <p:ph idx="1"/>
          </p:nvPr>
        </p:nvSpPr>
        <p:spPr>
          <a:xfrm>
            <a:off x="228600" y="695266"/>
            <a:ext cx="11862859" cy="1384921"/>
          </a:xfrm>
        </p:spPr>
        <p:txBody>
          <a:bodyPr/>
          <a:lstStyle/>
          <a:p>
            <a:r>
              <a:rPr lang="en-GB" altLang="en-US" sz="2800" dirty="0"/>
              <a:t>Creat</a:t>
            </a:r>
            <a:r>
              <a:rPr lang="en-US" altLang="en-US" sz="2800" dirty="0" err="1"/>
              <a:t>ing</a:t>
            </a:r>
            <a:r>
              <a:rPr lang="en-GB" altLang="en-US" sz="2800" dirty="0"/>
              <a:t> </a:t>
            </a:r>
            <a:r>
              <a:rPr lang="en-GB" altLang="zh-CN" sz="2800" dirty="0"/>
              <a:t>URL </a:t>
            </a:r>
            <a:r>
              <a:rPr lang="en-GB" altLang="en-US" sz="2800" dirty="0"/>
              <a:t>object </a:t>
            </a:r>
            <a:r>
              <a:rPr lang="en-GB" altLang="zh-CN" sz="1800" dirty="0"/>
              <a:t>https://docs.oracle.com/javase/7/docs/api/java/net/URL.html?is-external=true</a:t>
            </a:r>
            <a:endParaRPr lang="en-GB" altLang="zh-CN" sz="1800" dirty="0"/>
          </a:p>
          <a:p>
            <a:pPr lvl="1"/>
            <a:r>
              <a:rPr lang="en-GB" altLang="en-US" sz="2400" dirty="0"/>
              <a:t>Check if the mode is supported</a:t>
            </a:r>
            <a:endParaRPr lang="en-US" altLang="zh-CN" sz="2400" dirty="0"/>
          </a:p>
          <a:p>
            <a:pPr lvl="1"/>
            <a:r>
              <a:rPr lang="en-GB" altLang="en-US" sz="2400" dirty="0"/>
              <a:t>Does not check if the resource exists</a:t>
            </a:r>
            <a:endParaRPr lang="en-US" altLang="zh-CN" sz="2400" dirty="0"/>
          </a:p>
          <a:p>
            <a:pPr lvl="1"/>
            <a:endParaRPr lang="zh-CN" altLang="en-US" dirty="0"/>
          </a:p>
        </p:txBody>
      </p:sp>
      <p:sp>
        <p:nvSpPr>
          <p:cNvPr id="1229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DC990D6-8C08-46F3-B8B9-1E7820E8B823}" type="slidenum">
              <a:rPr lang="en-US" altLang="zh-CN" sz="1400"/>
            </a:fld>
            <a:endParaRPr lang="en-US" altLang="zh-CN" sz="1400"/>
          </a:p>
        </p:txBody>
      </p:sp>
      <p:pic>
        <p:nvPicPr>
          <p:cNvPr id="7168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94521"/>
            <a:ext cx="8305800" cy="46945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152399" y="428178"/>
            <a:ext cx="11659205" cy="75393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1. Basic Constructor (String specification) </a:t>
            </a:r>
            <a:r>
              <a:rPr lang="zh-CN" altLang="en-US" sz="2000" b="1" dirty="0"/>
              <a:t>构造</a:t>
            </a:r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public URL(String spec) throws </a:t>
            </a:r>
            <a:r>
              <a:rPr lang="en-US" sz="2000" b="1" dirty="0" err="1">
                <a:solidFill>
                  <a:srgbClr val="FF0000"/>
                </a:solidFill>
              </a:rPr>
              <a:t>MalformedURLException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/>
          </a:p>
          <a:p>
            <a:r>
              <a:rPr lang="en-US" sz="2000" b="1" dirty="0"/>
              <a:t>Purpose: Creates a URL object from a </a:t>
            </a:r>
            <a:r>
              <a:rPr lang="en-US" sz="2400" b="1" dirty="0"/>
              <a:t>complete</a:t>
            </a:r>
            <a:r>
              <a:rPr lang="en-US" sz="2000" b="1" dirty="0"/>
              <a:t> URL string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Parameters:</a:t>
            </a:r>
            <a:endParaRPr lang="en-US" sz="2000" b="1" dirty="0"/>
          </a:p>
          <a:p>
            <a:r>
              <a:rPr lang="en-US" sz="2000" b="1" dirty="0"/>
              <a:t>spec - The complete URL as a string (e.g., "https://www.example.com:8080/path?query=value")</a:t>
            </a:r>
            <a:endParaRPr lang="en-US" sz="2000" b="1" dirty="0"/>
          </a:p>
          <a:p>
            <a:endParaRPr lang="en-US" sz="2000" b="1" dirty="0"/>
          </a:p>
          <a:p>
            <a:r>
              <a:rPr lang="en-GB" altLang="en-US" sz="2000" b="1" u="sng" dirty="0"/>
              <a:t>Constructing </a:t>
            </a:r>
            <a:r>
              <a:rPr lang="en-GB" altLang="zh-CN" sz="2000" b="1" u="sng" dirty="0"/>
              <a:t>URL </a:t>
            </a:r>
            <a:r>
              <a:rPr lang="en-GB" altLang="en-US" sz="2000" b="1" u="sng" dirty="0"/>
              <a:t>object from string </a:t>
            </a:r>
            <a:r>
              <a:rPr lang="en-US" sz="2000" b="1" u="sng" dirty="0"/>
              <a:t>Example:</a:t>
            </a:r>
            <a:endParaRPr lang="en-US" sz="2000" b="1" u="sng" dirty="0"/>
          </a:p>
          <a:p>
            <a:pPr marL="0" indent="0">
              <a:buNone/>
            </a:pPr>
            <a:endParaRPr lang="en-GB" altLang="zh-CN" sz="2000" b="1" dirty="0">
              <a:solidFill>
                <a:srgbClr val="006699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try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	URL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Courier New" panose="02070309020205020404" pitchFamily="49" charset="0"/>
              </a:rPr>
              <a:t>"http://www.szu.edu.cn/"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GB" altLang="zh-CN" sz="2000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	URL </a:t>
            </a:r>
            <a:r>
              <a:rPr lang="en-US" altLang="zh-CN" sz="2000" dirty="0" err="1">
                <a:solidFill>
                  <a:srgbClr val="000000"/>
                </a:solidFill>
                <a:latin typeface="宋体" panose="02010600030101010101" pitchFamily="2" charset="-122"/>
              </a:rPr>
              <a:t>url</a:t>
            </a:r>
            <a:r>
              <a:rPr lang="en-US" altLang="zh-CN" sz="2000" dirty="0">
                <a:solidFill>
                  <a:srgbClr val="000000"/>
                </a:solidFill>
                <a:latin typeface="宋体" panose="02010600030101010101" pitchFamily="2" charset="-122"/>
              </a:rPr>
              <a:t> = new URL("https://www.example.com:443/api/data");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catch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GB" altLang="zh-CN" sz="2000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 	</a:t>
            </a:r>
            <a:r>
              <a:rPr lang="en-US" altLang="zh-CN" sz="2000" dirty="0" err="1">
                <a:solidFill>
                  <a:srgbClr val="000088"/>
                </a:solidFill>
                <a:latin typeface="Courier New" panose="02070309020205020404" pitchFamily="49" charset="0"/>
              </a:rPr>
              <a:t>e.printStackTrace</a:t>
            </a:r>
            <a:r>
              <a:rPr lang="en-US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();</a:t>
            </a:r>
            <a:endParaRPr lang="en-US" altLang="zh-CN" sz="2000" dirty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 	System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000" dirty="0">
                <a:solidFill>
                  <a:srgbClr val="330099"/>
                </a:solidFill>
                <a:latin typeface="Courier New" panose="02070309020205020404" pitchFamily="49" charset="0"/>
              </a:rPr>
              <a:t>err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000" dirty="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en-US" sz="2000" b="1" dirty="0"/>
              <a:t>Throws: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MalformedURLException</a:t>
            </a:r>
            <a:r>
              <a:rPr lang="en-US" sz="2000" b="1" dirty="0"/>
              <a:t> if the string specifies an unknown protocol or invalid syntax</a:t>
            </a:r>
            <a:endParaRPr lang="en-US" sz="2000" b="1" dirty="0"/>
          </a:p>
          <a:p>
            <a:r>
              <a:rPr lang="zh-CN" altLang="en-US" sz="2000" b="1" dirty="0"/>
              <a:t>协议写错：</a:t>
            </a:r>
            <a:r>
              <a:rPr lang="en-US" altLang="zh-CN" sz="2000" b="1" dirty="0"/>
              <a:t>htp://example.com</a:t>
            </a:r>
            <a:r>
              <a:rPr lang="zh-CN" altLang="en-US" sz="2000" b="1" dirty="0"/>
              <a:t>（错别字）</a:t>
            </a:r>
            <a:endParaRPr lang="zh-CN" altLang="en-US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缺少主机名：</a:t>
            </a:r>
            <a:r>
              <a:rPr lang="en-US" altLang="zh-CN" sz="2000" b="1" dirty="0"/>
              <a:t>http:///page.html</a:t>
            </a:r>
            <a:endParaRPr lang="en-US" altLang="zh-CN" sz="2000" b="1" dirty="0"/>
          </a:p>
          <a:p>
            <a:endParaRPr lang="en-US" altLang="zh-CN" sz="2000" b="1" dirty="0"/>
          </a:p>
          <a:p>
            <a:r>
              <a:rPr lang="zh-CN" altLang="en-US" sz="2000" b="1" dirty="0"/>
              <a:t>有非法字符等</a:t>
            </a:r>
            <a:endParaRPr lang="zh-CN" altLang="en-US" sz="20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>
          <a:xfrm>
            <a:off x="1538288" y="95250"/>
            <a:ext cx="8540750" cy="762000"/>
          </a:xfrm>
        </p:spPr>
        <p:txBody>
          <a:bodyPr/>
          <a:lstStyle/>
          <a:p>
            <a:pPr algn="l"/>
            <a:r>
              <a:rPr lang="en-GB" altLang="zh-CN" sz="3600"/>
              <a:t>URL </a:t>
            </a:r>
            <a:r>
              <a:rPr lang="en-GB" altLang="en-US" sz="3600"/>
              <a:t>Class: Protocol Support</a:t>
            </a:r>
            <a:endParaRPr lang="en-GB" altLang="en-US" sz="3600"/>
          </a:p>
        </p:txBody>
      </p:sp>
      <p:pic>
        <p:nvPicPr>
          <p:cNvPr id="13315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516063"/>
            <a:ext cx="9144000" cy="306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152400" y="1219201"/>
            <a:ext cx="11811000" cy="5181599"/>
          </a:xfrm>
        </p:spPr>
        <p:txBody>
          <a:bodyPr/>
          <a:lstStyle/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  <a:p>
            <a:pPr marL="0" indent="0">
              <a:buNone/>
            </a:pPr>
            <a:r>
              <a:rPr lang="en-GB" altLang="en-US" sz="2800" dirty="0"/>
              <a:t>Example </a:t>
            </a:r>
            <a:r>
              <a:rPr lang="en-GB" altLang="zh-CN" sz="2800" dirty="0"/>
              <a:t>EX5-1 </a:t>
            </a:r>
            <a:r>
              <a:rPr lang="en-GB" altLang="en-US" sz="2800" dirty="0"/>
              <a:t>: Check which protocols the virtual machine supports?</a:t>
            </a:r>
            <a:endParaRPr lang="en-US" altLang="zh-CN" sz="2800" dirty="0"/>
          </a:p>
          <a:p>
            <a:pPr marL="0" indent="0">
              <a:buNone/>
            </a:pPr>
            <a:r>
              <a:rPr lang="en-GB" altLang="en-US" sz="2400" dirty="0"/>
              <a:t>Tip: See the explanation code </a:t>
            </a:r>
            <a:r>
              <a:rPr lang="en-GB" altLang="zh-CN" sz="2400" dirty="0"/>
              <a:t>ch5.ProtocolTester.java</a:t>
            </a:r>
            <a:endParaRPr lang="en-GB" altLang="zh-CN" sz="2400" dirty="0"/>
          </a:p>
        </p:txBody>
      </p:sp>
      <p:sp>
        <p:nvSpPr>
          <p:cNvPr id="13317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AF48B9-F59D-426A-B60B-E0C947306E6C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769B95-974C-4D26-B5FC-92A063002BE8}" type="slidenum">
              <a:rPr lang="en-US" altLang="zh-CN" sz="1400"/>
            </a:fld>
            <a:endParaRPr lang="en-US" altLang="zh-CN" sz="1400"/>
          </a:p>
        </p:txBody>
      </p:sp>
      <p:pic>
        <p:nvPicPr>
          <p:cNvPr id="14339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01754"/>
            <a:ext cx="11485034" cy="66034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6990"/>
            <a:ext cx="11561234" cy="672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9BD6BE-0310-4CA8-A931-C757EE2D8E19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1506538" y="76200"/>
            <a:ext cx="8540751" cy="304800"/>
          </a:xfrm>
        </p:spPr>
        <p:txBody>
          <a:bodyPr/>
          <a:lstStyle/>
          <a:p>
            <a:pPr algn="l"/>
            <a:r>
              <a:rPr lang="en-GB" altLang="zh-CN" sz="3200"/>
              <a:t>EX5-1 </a:t>
            </a:r>
            <a:r>
              <a:rPr lang="en-GB" altLang="en-US" sz="3200"/>
              <a:t>operation results</a:t>
            </a:r>
            <a:endParaRPr lang="en-GB" altLang="en-US" sz="3200"/>
          </a:p>
        </p:txBody>
      </p:sp>
      <p:pic>
        <p:nvPicPr>
          <p:cNvPr id="16387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762001"/>
            <a:ext cx="5715000" cy="516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75A04B2-D32C-422E-BD47-D84E1253768B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228600" y="649164"/>
            <a:ext cx="1181100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2. Protocol + Host + File Constructor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public URL(String protocol, String host, String file) throws </a:t>
            </a:r>
            <a:r>
              <a:rPr lang="en-US" sz="2000" b="1" dirty="0" err="1">
                <a:solidFill>
                  <a:srgbClr val="FF0000"/>
                </a:solidFill>
              </a:rPr>
              <a:t>MalformedURLException</a:t>
            </a:r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400" b="1" dirty="0"/>
              <a:t>Purpose: Creates a URL by specifying components separately</a:t>
            </a:r>
            <a:br>
              <a:rPr lang="en-US" sz="2400" b="1" dirty="0"/>
            </a:br>
            <a:r>
              <a:rPr lang="en-US" sz="2400" b="1" dirty="0"/>
              <a:t> (uses default port for protocol)</a:t>
            </a:r>
            <a:endParaRPr lang="en-US" sz="3600" b="1" dirty="0"/>
          </a:p>
          <a:p>
            <a:endParaRPr lang="en-US" sz="2400" b="1" dirty="0"/>
          </a:p>
          <a:p>
            <a:r>
              <a:rPr lang="en-US" sz="2400" b="1" dirty="0"/>
              <a:t>Parameters:</a:t>
            </a:r>
            <a:endParaRPr lang="en-US" sz="2400" b="1" dirty="0"/>
          </a:p>
          <a:p>
            <a:r>
              <a:rPr lang="en-US" sz="2400" b="1" dirty="0"/>
              <a:t>	protocol - The protocol name (http, https, ftp, etc.)</a:t>
            </a:r>
            <a:endParaRPr lang="en-US" sz="2400" b="1" dirty="0"/>
          </a:p>
          <a:p>
            <a:r>
              <a:rPr lang="en-US" sz="2400" b="1" dirty="0"/>
              <a:t>	host - The host name or IP address</a:t>
            </a:r>
            <a:endParaRPr lang="en-US" sz="2400" b="1" dirty="0"/>
          </a:p>
          <a:p>
            <a:r>
              <a:rPr lang="en-US" sz="2400" b="1" dirty="0"/>
              <a:t>	file - The path and query string (e.g., "/path/to/</a:t>
            </a:r>
            <a:r>
              <a:rPr lang="en-US" sz="2400" b="1" dirty="0" err="1"/>
              <a:t>resource?param</a:t>
            </a:r>
            <a:r>
              <a:rPr lang="en-US" sz="2400" b="1" dirty="0"/>
              <a:t>=value")</a:t>
            </a:r>
            <a:endParaRPr lang="en-US" sz="2400" b="1" dirty="0"/>
          </a:p>
          <a:p>
            <a:endParaRPr lang="en-US" sz="2400" b="1" dirty="0"/>
          </a:p>
          <a:p>
            <a:r>
              <a:rPr lang="en-US" sz="2400" b="1" dirty="0"/>
              <a:t>Example:</a:t>
            </a:r>
            <a:endParaRPr lang="en-US" sz="2400" b="1" dirty="0"/>
          </a:p>
          <a:p>
            <a:r>
              <a:rPr lang="en-US" sz="2400" b="1" dirty="0"/>
              <a:t>URL </a:t>
            </a:r>
            <a:r>
              <a:rPr lang="en-US" sz="2400" b="1" dirty="0" err="1"/>
              <a:t>url</a:t>
            </a:r>
            <a:r>
              <a:rPr lang="en-US" sz="2400" b="1" dirty="0"/>
              <a:t> = new URL("https", "www.example.com", "/</a:t>
            </a:r>
            <a:r>
              <a:rPr lang="en-US" sz="2400" b="1" dirty="0" err="1"/>
              <a:t>search?q</a:t>
            </a:r>
            <a:r>
              <a:rPr lang="en-US" sz="2400" b="1" dirty="0"/>
              <a:t>=java");</a:t>
            </a:r>
            <a:endParaRPr lang="en-US" sz="2400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标注 1"/>
          <p:cNvSpPr>
            <a:spLocks noChangeArrowheads="1"/>
          </p:cNvSpPr>
          <p:nvPr/>
        </p:nvSpPr>
        <p:spPr bwMode="auto">
          <a:xfrm>
            <a:off x="8382000" y="4696618"/>
            <a:ext cx="3200400" cy="962027"/>
          </a:xfrm>
          <a:prstGeom prst="wedgeRoundRectCallout">
            <a:avLst>
              <a:gd name="adj1" fmla="val -45833"/>
              <a:gd name="adj2" fmla="val -206799"/>
              <a:gd name="adj3" fmla="val 1666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#The </a:t>
            </a:r>
            <a:r>
              <a:rPr lang="en-GB" altLang="en-US" sz="1800" dirty="0"/>
              <a:t>separated </a:t>
            </a:r>
            <a:r>
              <a:rPr lang="en-GB" altLang="zh-CN" sz="1800" dirty="0"/>
              <a:t>intro </a:t>
            </a:r>
            <a:r>
              <a:rPr lang="en-GB" altLang="en-US" sz="1800" dirty="0"/>
              <a:t>is the fragment identifier</a:t>
            </a:r>
            <a:endParaRPr lang="en-GB" altLang="en-US" sz="1800" dirty="0"/>
          </a:p>
        </p:txBody>
      </p:sp>
      <p:sp>
        <p:nvSpPr>
          <p:cNvPr id="18434" name="标题 1"/>
          <p:cNvSpPr>
            <a:spLocks noGrp="1"/>
          </p:cNvSpPr>
          <p:nvPr>
            <p:ph type="title"/>
          </p:nvPr>
        </p:nvSpPr>
        <p:spPr>
          <a:xfrm>
            <a:off x="1464129" y="122021"/>
            <a:ext cx="8540750" cy="762000"/>
          </a:xfrm>
        </p:spPr>
        <p:txBody>
          <a:bodyPr/>
          <a:lstStyle/>
          <a:p>
            <a:pPr algn="l"/>
            <a:r>
              <a:rPr lang="en-GB" altLang="zh-CN" sz="3600" b="1" dirty="0"/>
              <a:t>URL </a:t>
            </a:r>
            <a:r>
              <a:rPr lang="en-GB" altLang="en-US" sz="3600" b="1" dirty="0"/>
              <a:t>objects in chunks</a:t>
            </a:r>
            <a:endParaRPr lang="en-GB" altLang="en-US" sz="36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896938"/>
            <a:ext cx="11963400" cy="5251450"/>
          </a:xfrm>
        </p:spPr>
        <p:txBody>
          <a:bodyPr>
            <a:normAutofit/>
          </a:bodyPr>
          <a:lstStyle/>
          <a:p>
            <a:r>
              <a:rPr lang="en-GB" altLang="zh-CN" sz="2800" b="1" dirty="0"/>
              <a:t>URL </a:t>
            </a:r>
            <a:r>
              <a:rPr lang="en-GB" altLang="en-US" sz="2800" b="1" dirty="0"/>
              <a:t>by specifying the </a:t>
            </a:r>
            <a:r>
              <a:rPr lang="en-GB" altLang="en-US" sz="2800" b="1" dirty="0">
                <a:solidFill>
                  <a:srgbClr val="FF0000"/>
                </a:solidFill>
              </a:rPr>
              <a:t>protocol, hostname, and file name :</a:t>
            </a:r>
            <a:endParaRPr lang="en-US" altLang="zh-CN" sz="2800" b="1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CC00FF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20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protocol </a:t>
            </a:r>
            <a:r>
              <a:rPr lang="en-GB" altLang="zh-CN" sz="20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hostname </a:t>
            </a:r>
            <a:r>
              <a:rPr lang="en-GB" altLang="zh-CN" sz="20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file </a:t>
            </a:r>
            <a:r>
              <a:rPr lang="en-GB" altLang="zh-CN" sz="2000" b="1" dirty="0">
                <a:solidFill>
                  <a:srgbClr val="555555"/>
                </a:solidFill>
                <a:latin typeface="Courier New" panose="02070309020205020404" pitchFamily="49" charset="0"/>
              </a:rPr>
              <a:t>) </a:t>
            </a: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GB" altLang="zh-CN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endParaRPr lang="en-US" altLang="zh-CN" sz="20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en-GB" altLang="en-US" sz="2800" b="1" dirty="0"/>
              <a:t>Example:</a:t>
            </a:r>
            <a:endParaRPr lang="en-US" altLang="zh-CN" sz="2800" b="1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try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800" b="1" dirty="0">
                <a:solidFill>
                  <a:srgbClr val="CC3300"/>
                </a:solidFill>
                <a:latin typeface="Courier New" panose="02070309020205020404" pitchFamily="49" charset="0"/>
              </a:rPr>
              <a:t>"http"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CC3300"/>
                </a:solidFill>
                <a:latin typeface="Courier New" panose="02070309020205020404" pitchFamily="49" charset="0"/>
              </a:rPr>
              <a:t>"www.eff.org"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CC3300"/>
                </a:solidFill>
                <a:latin typeface="Courier New" panose="02070309020205020404" pitchFamily="49" charset="0"/>
              </a:rPr>
              <a:t>"/blueribbon.html#intro"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GB" altLang="zh-CN" sz="1800" b="1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catch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800" b="1" dirty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18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800" b="1" dirty="0">
                <a:solidFill>
                  <a:srgbClr val="CC00FF"/>
                </a:solidFill>
                <a:latin typeface="Courier New" panose="02070309020205020404" pitchFamily="49" charset="0"/>
              </a:rPr>
              <a:t>RuntimeException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800" b="1" dirty="0">
                <a:solidFill>
                  <a:srgbClr val="CC3300"/>
                </a:solidFill>
                <a:latin typeface="Courier New" panose="02070309020205020404" pitchFamily="49" charset="0"/>
              </a:rPr>
              <a:t>"shouldn't happen; all VMs recognize http" </a:t>
            </a: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GB" altLang="zh-CN" sz="1800" b="1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b="1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1800" b="1" dirty="0"/>
          </a:p>
        </p:txBody>
      </p:sp>
      <p:sp>
        <p:nvSpPr>
          <p:cNvPr id="18436" name="矩形 4"/>
          <p:cNvSpPr>
            <a:spLocks noChangeArrowheads="1"/>
          </p:cNvSpPr>
          <p:nvPr/>
        </p:nvSpPr>
        <p:spPr bwMode="auto">
          <a:xfrm>
            <a:off x="3810000" y="2111373"/>
            <a:ext cx="6159500" cy="708025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4000" dirty="0">
                <a:solidFill>
                  <a:srgbClr val="FF0000"/>
                </a:solidFill>
              </a:rPr>
              <a:t>Note: Do not omit </a:t>
            </a:r>
            <a:r>
              <a:rPr lang="en-GB" altLang="zh-CN" sz="4000" dirty="0">
                <a:solidFill>
                  <a:srgbClr val="FF0000"/>
                </a:solidFill>
              </a:rPr>
              <a:t>the / </a:t>
            </a:r>
            <a:endParaRPr lang="zh-CN" altLang="en-US" sz="4000" dirty="0">
              <a:solidFill>
                <a:srgbClr val="FF0000"/>
              </a:solidFill>
            </a:endParaRPr>
          </a:p>
        </p:txBody>
      </p:sp>
      <p:sp>
        <p:nvSpPr>
          <p:cNvPr id="184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A28348A-2BDF-4F04-9A97-8EA31B16FED5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459921" y="5019872"/>
            <a:ext cx="56388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dirty="0"/>
              <a:t>Code snippet effect </a:t>
            </a:r>
            <a:r>
              <a:rPr lang="en-GB" altLang="en-US" sz="1800" dirty="0"/>
              <a:t>: Creates a </a:t>
            </a:r>
            <a:r>
              <a:rPr lang="en-GB" altLang="zh-CN" sz="1800" dirty="0"/>
              <a:t>URL </a:t>
            </a:r>
            <a:r>
              <a:rPr lang="en-GB" altLang="en-US" sz="1800" dirty="0"/>
              <a:t>object pointing to </a:t>
            </a:r>
            <a:r>
              <a:rPr lang="en-GB" altLang="zh-CN" sz="1800" dirty="0">
                <a:hlinkClick r:id="rId1"/>
              </a:rPr>
              <a:t>http://www.eff.org/blueribbon.html#intro </a:t>
            </a:r>
            <a:r>
              <a:rPr lang="en-GB" altLang="en-US" sz="1800" dirty="0"/>
              <a:t>, using the default </a:t>
            </a:r>
            <a:r>
              <a:rPr lang="en-GB" altLang="zh-CN" sz="1800" dirty="0"/>
              <a:t>HTTP port 80</a:t>
            </a:r>
            <a:endParaRPr lang="zh-CN" altLang="en-US" sz="1800" dirty="0"/>
          </a:p>
        </p:txBody>
      </p:sp>
      <p:sp>
        <p:nvSpPr>
          <p:cNvPr id="4" name="Rectangle 3"/>
          <p:cNvSpPr/>
          <p:nvPr/>
        </p:nvSpPr>
        <p:spPr bwMode="auto">
          <a:xfrm>
            <a:off x="304800" y="4800600"/>
            <a:ext cx="5943600" cy="1347788"/>
          </a:xfrm>
          <a:prstGeom prst="rect">
            <a:avLst/>
          </a:prstGeom>
          <a:noFill/>
          <a:ln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304800" y="609600"/>
            <a:ext cx="11582400" cy="47078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3. Protocol + Host + Port + File Constructor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public URL(String protocol, String host, int port, String file) throws </a:t>
            </a:r>
            <a:r>
              <a:rPr lang="en-US" sz="2000" b="1" dirty="0" err="1">
                <a:solidFill>
                  <a:srgbClr val="FF0000"/>
                </a:solidFill>
              </a:rPr>
              <a:t>MalformedURLException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/>
          </a:p>
          <a:p>
            <a:r>
              <a:rPr lang="en-US" sz="2000" b="1" dirty="0"/>
              <a:t>Purpose: Creates a URL with explicit port specification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Parameters:</a:t>
            </a:r>
            <a:endParaRPr lang="en-US" sz="2000" b="1" dirty="0"/>
          </a:p>
          <a:p>
            <a:r>
              <a:rPr lang="en-US" sz="2000" b="1" dirty="0"/>
              <a:t>protocol - The protocol name</a:t>
            </a:r>
            <a:endParaRPr lang="en-US" sz="2000" b="1" dirty="0"/>
          </a:p>
          <a:p>
            <a:r>
              <a:rPr lang="en-US" sz="2000" b="1" dirty="0"/>
              <a:t>host - The host name or IP address</a:t>
            </a:r>
            <a:endParaRPr lang="en-US" sz="2000" b="1" dirty="0"/>
          </a:p>
          <a:p>
            <a:r>
              <a:rPr lang="en-US" sz="2000" b="1" dirty="0"/>
              <a:t>port - The port number (-1 for default port) </a:t>
            </a:r>
            <a:r>
              <a:rPr lang="zh-CN" altLang="en-US" sz="2000" b="1" dirty="0"/>
              <a:t>协议的默认端口：</a:t>
            </a:r>
            <a:r>
              <a:rPr lang="en-US" altLang="zh-CN" sz="2000" b="1" dirty="0"/>
              <a:t>80</a:t>
            </a:r>
            <a:endParaRPr lang="en-US" sz="2000" b="1" dirty="0"/>
          </a:p>
          <a:p>
            <a:r>
              <a:rPr lang="en-US" sz="2000" b="1" dirty="0"/>
              <a:t>file - The path and query string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Example: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URL </a:t>
            </a:r>
            <a:r>
              <a:rPr lang="en-US" sz="2000" b="1" dirty="0" err="1"/>
              <a:t>url</a:t>
            </a:r>
            <a:r>
              <a:rPr lang="en-US" sz="2000" b="1" dirty="0"/>
              <a:t> = new URL("http", "localhost", 8080, "/admin/dashboard");</a:t>
            </a:r>
            <a:endParaRPr lang="en-US" sz="2000" b="1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402166" y="533400"/>
            <a:ext cx="11387668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4. Context-relative URL Constructor   </a:t>
            </a:r>
            <a:r>
              <a:rPr lang="zh-CN" altLang="en-US" sz="2000" b="1" dirty="0"/>
              <a:t>处理网页中</a:t>
            </a:r>
            <a:r>
              <a:rPr lang="en-US" altLang="zh-CN" sz="2000" b="1" dirty="0"/>
              <a:t>“</a:t>
            </a:r>
            <a:r>
              <a:rPr lang="zh-CN" altLang="en-US" sz="2000" b="1" dirty="0"/>
              <a:t>跳转连接</a:t>
            </a:r>
            <a:r>
              <a:rPr lang="en-US" altLang="zh-CN" sz="2000" b="1" dirty="0"/>
              <a:t>”“</a:t>
            </a:r>
            <a:r>
              <a:rPr lang="zh-CN" altLang="en-US" sz="2000" b="1" dirty="0"/>
              <a:t>资源相对路径</a:t>
            </a:r>
            <a:r>
              <a:rPr lang="en-US" altLang="zh-CN" sz="2000" b="1" dirty="0"/>
              <a:t>”</a:t>
            </a:r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public URL(URL context, String spec) throws </a:t>
            </a:r>
            <a:r>
              <a:rPr lang="en-US" sz="2000" b="1" dirty="0" err="1">
                <a:solidFill>
                  <a:srgbClr val="FF0000"/>
                </a:solidFill>
              </a:rPr>
              <a:t>MalformedURLException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/>
          </a:p>
          <a:p>
            <a:r>
              <a:rPr lang="en-US" sz="2000" b="1" dirty="0"/>
              <a:t>Purpose: Creates a URL relative to another URL (context)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Parameters:</a:t>
            </a:r>
            <a:endParaRPr lang="en-US" sz="2000" b="1" dirty="0"/>
          </a:p>
          <a:p>
            <a:r>
              <a:rPr lang="en-US" sz="2000" b="1" dirty="0"/>
              <a:t>context - The base URL to resolve relative URLs against</a:t>
            </a:r>
            <a:endParaRPr lang="en-US" sz="2000" b="1" dirty="0"/>
          </a:p>
          <a:p>
            <a:r>
              <a:rPr lang="en-US" sz="2000" b="1" dirty="0"/>
              <a:t>spec - The relative or absolute URL string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Behavior:</a:t>
            </a:r>
            <a:endParaRPr lang="en-US" sz="2000" b="1" dirty="0"/>
          </a:p>
          <a:p>
            <a:r>
              <a:rPr lang="en-US" sz="2000" b="1" dirty="0"/>
              <a:t>If spec is absolute, creates a new URL from it (ignores context)</a:t>
            </a:r>
            <a:endParaRPr lang="en-US" sz="2000" b="1" dirty="0"/>
          </a:p>
          <a:p>
            <a:r>
              <a:rPr lang="en-US" sz="2000" b="1" dirty="0"/>
              <a:t>If spec is relative, resolves it against the context URL</a:t>
            </a:r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Examples:</a:t>
            </a:r>
            <a:endParaRPr lang="en-US" sz="2000" b="1" dirty="0"/>
          </a:p>
          <a:p>
            <a:r>
              <a:rPr lang="en-US" sz="2000" b="1" dirty="0"/>
              <a:t>URL base = new URL("https://example.com/</a:t>
            </a:r>
            <a:r>
              <a:rPr lang="en-US" sz="2000" b="1" dirty="0" err="1"/>
              <a:t>api</a:t>
            </a:r>
            <a:r>
              <a:rPr lang="en-US" sz="2000" b="1" dirty="0"/>
              <a:t>/");</a:t>
            </a:r>
            <a:endParaRPr lang="en-US" sz="2000" b="1" dirty="0"/>
          </a:p>
          <a:p>
            <a:r>
              <a:rPr lang="en-US" sz="2000" b="1" dirty="0"/>
              <a:t>URL absolute = new URL(base, "https://other.com");  // Uses absolute URL</a:t>
            </a:r>
            <a:endParaRPr lang="en-US" sz="2000" b="1" dirty="0"/>
          </a:p>
          <a:p>
            <a:r>
              <a:rPr lang="en-US" sz="2000" b="1" dirty="0"/>
              <a:t>URL relative = new URL(base, "v2/users");</a:t>
            </a:r>
            <a:endParaRPr lang="en-US" sz="2000" b="1" dirty="0"/>
          </a:p>
          <a:p>
            <a:r>
              <a:rPr lang="en-US" sz="2000" b="1" dirty="0"/>
              <a:t> // Resolves to "https://example.com/</a:t>
            </a:r>
            <a:r>
              <a:rPr lang="en-US" sz="2000" b="1" dirty="0" err="1"/>
              <a:t>api</a:t>
            </a:r>
            <a:r>
              <a:rPr lang="en-US" sz="2000" b="1" dirty="0"/>
              <a:t>/v2/users"</a:t>
            </a:r>
            <a:endParaRPr lang="en-US" sz="2000" b="1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标题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8540750" cy="609600"/>
          </a:xfrm>
        </p:spPr>
        <p:txBody>
          <a:bodyPr/>
          <a:lstStyle/>
          <a:p>
            <a:pPr algn="l"/>
            <a:r>
              <a:rPr lang="en-GB" altLang="en-US" sz="3600"/>
              <a:t>Constructing </a:t>
            </a:r>
            <a:r>
              <a:rPr lang="en-GB" altLang="en-US" sz="3600">
                <a:solidFill>
                  <a:srgbClr val="FF0000"/>
                </a:solidFill>
              </a:rPr>
              <a:t>relative </a:t>
            </a:r>
            <a:r>
              <a:rPr lang="en-GB" altLang="zh-CN" sz="3600">
                <a:solidFill>
                  <a:srgbClr val="FF0000"/>
                </a:solidFill>
              </a:rPr>
              <a:t>URLs</a:t>
            </a:r>
            <a:endParaRPr lang="en-GB" altLang="zh-CN" sz="3600">
              <a:solidFill>
                <a:srgbClr val="FF0000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762000"/>
            <a:ext cx="11963400" cy="5943600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Construct an absolute URL based on the relative </a:t>
            </a:r>
            <a:r>
              <a:rPr lang="en-GB" altLang="zh-CN" sz="2800" dirty="0"/>
              <a:t>URL </a:t>
            </a:r>
            <a:r>
              <a:rPr lang="en-GB" altLang="en-US" sz="2800" dirty="0"/>
              <a:t>and the base </a:t>
            </a:r>
            <a:r>
              <a:rPr lang="en-GB" altLang="zh-CN" sz="2800" dirty="0"/>
              <a:t>URL , </a:t>
            </a:r>
            <a:r>
              <a:rPr lang="en-GB" altLang="en-US" sz="2800" dirty="0"/>
              <a:t>defining:</a:t>
            </a:r>
            <a:endParaRPr lang="en-US" altLang="zh-CN" sz="2800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CC00FF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​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​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(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base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relative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endParaRPr lang="en-US" altLang="zh-CN" dirty="0"/>
          </a:p>
          <a:p>
            <a:r>
              <a:rPr lang="en-GB" altLang="en-US" sz="2800" dirty="0"/>
              <a:t>Example:</a:t>
            </a:r>
            <a:endParaRPr lang="en-US" altLang="zh-CN" sz="2800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try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buFont typeface="Wingdings 2" panose="05020102010507070707" pitchFamily="18" charset="2"/>
              <a:buNone/>
            </a:pP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u1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 </a:t>
            </a: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600" dirty="0">
                <a:solidFill>
                  <a:srgbClr val="CC3300"/>
                </a:solidFill>
                <a:latin typeface="Courier New" panose="02070309020205020404" pitchFamily="49" charset="0"/>
              </a:rPr>
              <a:t>"http://www.szu.edu.cn/a/ </a:t>
            </a:r>
            <a:r>
              <a:rPr lang="en-GB" altLang="zh-CN" sz="1600" dirty="0">
                <a:solidFill>
                  <a:srgbClr val="3477FF"/>
                </a:solidFill>
                <a:latin typeface="Courier New" panose="02070309020205020404" pitchFamily="49" charset="0"/>
              </a:rPr>
              <a:t>b.html </a:t>
            </a:r>
            <a:r>
              <a:rPr lang="en-GB" altLang="zh-CN" sz="1600" dirty="0">
                <a:solidFill>
                  <a:srgbClr val="CC3300"/>
                </a:solidFill>
                <a:latin typeface="Courier New" panose="02070309020205020404" pitchFamily="49" charset="0"/>
              </a:rPr>
              <a:t>"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buFont typeface="Wingdings 2" panose="05020102010507070707" pitchFamily="18" charset="2"/>
              <a:buNone/>
            </a:pP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u2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600" dirty="0">
                <a:solidFill>
                  <a:srgbClr val="000088"/>
                </a:solidFill>
                <a:latin typeface="Courier New" panose="02070309020205020404" pitchFamily="49" charset="0"/>
              </a:rPr>
              <a:t>u1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6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600" dirty="0">
                <a:solidFill>
                  <a:srgbClr val="CC3300"/>
                </a:solidFill>
                <a:latin typeface="Courier New" panose="02070309020205020404" pitchFamily="49" charset="0"/>
              </a:rPr>
              <a:t>"mailinglists.html" </a:t>
            </a:r>
            <a:r>
              <a:rPr lang="en-GB" altLang="zh-CN" sz="16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6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catch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	System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000" dirty="0">
                <a:solidFill>
                  <a:srgbClr val="330099"/>
                </a:solidFill>
                <a:latin typeface="Courier New" panose="02070309020205020404" pitchFamily="49" charset="0"/>
              </a:rPr>
              <a:t>err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000" dirty="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endParaRPr lang="zh-CN" altLang="en-US" dirty="0"/>
          </a:p>
        </p:txBody>
      </p:sp>
      <p:sp>
        <p:nvSpPr>
          <p:cNvPr id="1946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AFAF1AF-BA9F-4279-8D34-C17977BE1C72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176893" y="5172670"/>
            <a:ext cx="116586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 dirty="0">
                <a:highlight>
                  <a:srgbClr val="FFFF00"/>
                </a:highlight>
              </a:rPr>
              <a:t>Code snippet effect: Create a </a:t>
            </a:r>
            <a:r>
              <a:rPr lang="en-GB" altLang="zh-CN" sz="1800" b="1" dirty="0">
                <a:highlight>
                  <a:srgbClr val="FFFF00"/>
                </a:highlight>
              </a:rPr>
              <a:t>U1 </a:t>
            </a:r>
            <a:r>
              <a:rPr lang="en-GB" altLang="en-US" sz="1800" b="1" dirty="0">
                <a:highlight>
                  <a:srgbClr val="FFFF00"/>
                </a:highlight>
              </a:rPr>
              <a:t>object pointing to </a:t>
            </a:r>
            <a:r>
              <a:rPr lang="en-GB" altLang="zh-CN" sz="1800" b="1" dirty="0">
                <a:solidFill>
                  <a:srgbClr val="CC33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http://www.szu.edu.cn/a/ </a:t>
            </a:r>
            <a:r>
              <a:rPr lang="en-GB" altLang="zh-CN" sz="1800" b="1" dirty="0">
                <a:solidFill>
                  <a:srgbClr val="3477FF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b.html</a:t>
            </a:r>
            <a:r>
              <a:rPr lang="en-GB" altLang="zh-CN" sz="1800" b="1" dirty="0">
                <a:solidFill>
                  <a:srgbClr val="CC33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 </a:t>
            </a:r>
            <a:r>
              <a:rPr lang="en-GB" altLang="en-US" sz="1800" b="1" dirty="0">
                <a:highlight>
                  <a:srgbClr val="FFFF00"/>
                </a:highlight>
              </a:rPr>
              <a:t>, delete the file name from the path of </a:t>
            </a:r>
            <a:r>
              <a:rPr lang="en-GB" altLang="zh-CN" sz="1800" b="1" dirty="0">
                <a:highlight>
                  <a:srgbClr val="FFFF00"/>
                </a:highlight>
              </a:rPr>
              <a:t>u1 </a:t>
            </a:r>
            <a:r>
              <a:rPr lang="en-GB" altLang="en-US" sz="1800" b="1" dirty="0">
                <a:highlight>
                  <a:srgbClr val="FFFF00"/>
                </a:highlight>
              </a:rPr>
              <a:t>, append the new file name </a:t>
            </a:r>
            <a:r>
              <a:rPr lang="en-GB" altLang="zh-CN" sz="1800" b="1" dirty="0">
                <a:solidFill>
                  <a:srgbClr val="3477FF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mailinglists.html </a:t>
            </a:r>
            <a:r>
              <a:rPr lang="en-GB" altLang="en-US" sz="1800" b="1" dirty="0">
                <a:solidFill>
                  <a:srgbClr val="CC33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, and get the </a:t>
            </a:r>
            <a:r>
              <a:rPr lang="en-GB" altLang="zh-CN" sz="1800" b="1" dirty="0">
                <a:solidFill>
                  <a:srgbClr val="CC33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u2 </a:t>
            </a:r>
            <a:r>
              <a:rPr lang="en-GB" altLang="en-US" sz="1800" b="1" dirty="0">
                <a:solidFill>
                  <a:srgbClr val="CC33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object, which points to </a:t>
            </a:r>
            <a:r>
              <a:rPr lang="en-GB" altLang="zh-CN" sz="1800" b="1" dirty="0">
                <a:solidFill>
                  <a:srgbClr val="CC3300"/>
                </a:solidFill>
                <a:highlight>
                  <a:srgbClr val="FFFF00"/>
                </a:highlight>
                <a:latin typeface="Courier New" panose="02070309020205020404" pitchFamily="49" charset="0"/>
              </a:rPr>
              <a:t>http://www.szu.edu.cn/a/mailinglists.html</a:t>
            </a:r>
            <a:endParaRPr lang="en-GB" altLang="zh-CN" sz="1800" b="1" dirty="0">
              <a:solidFill>
                <a:srgbClr val="CC3300"/>
              </a:solidFill>
              <a:highlight>
                <a:srgbClr val="FFFF00"/>
              </a:highlight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标题 1"/>
          <p:cNvSpPr>
            <a:spLocks noGrp="1"/>
          </p:cNvSpPr>
          <p:nvPr>
            <p:ph type="title"/>
          </p:nvPr>
        </p:nvSpPr>
        <p:spPr>
          <a:xfrm>
            <a:off x="1524000" y="546099"/>
            <a:ext cx="8540750" cy="838200"/>
          </a:xfrm>
        </p:spPr>
        <p:txBody>
          <a:bodyPr/>
          <a:lstStyle/>
          <a:p>
            <a:pPr algn="l"/>
            <a:r>
              <a:rPr lang="en-US" altLang="en-US" sz="3600" dirty="0"/>
              <a:t>T</a:t>
            </a:r>
            <a:r>
              <a:rPr lang="en-GB" altLang="en-US" sz="3600" dirty="0"/>
              <a:t>hink…</a:t>
            </a:r>
            <a:endParaRPr lang="en-GB" altLang="en-US" sz="3600" dirty="0"/>
          </a:p>
        </p:txBody>
      </p:sp>
      <p:sp>
        <p:nvSpPr>
          <p:cNvPr id="20483" name="内容占位符 2"/>
          <p:cNvSpPr>
            <a:spLocks noGrp="1"/>
          </p:cNvSpPr>
          <p:nvPr>
            <p:ph idx="1"/>
          </p:nvPr>
        </p:nvSpPr>
        <p:spPr>
          <a:xfrm>
            <a:off x="304800" y="1981200"/>
            <a:ext cx="10213976" cy="3248024"/>
          </a:xfrm>
        </p:spPr>
        <p:txBody>
          <a:bodyPr/>
          <a:lstStyle/>
          <a:p>
            <a:r>
              <a:rPr lang="en-GB" altLang="en-US" sz="2800" dirty="0"/>
              <a:t>Try to think and explain from the perspective of program input and output data processing. </a:t>
            </a:r>
            <a:endParaRPr lang="en-GB" altLang="en-US" sz="2800" dirty="0"/>
          </a:p>
          <a:p>
            <a:r>
              <a:rPr lang="en-GB" altLang="en-US" sz="2800" dirty="0"/>
              <a:t>From entering a </a:t>
            </a:r>
            <a:r>
              <a:rPr lang="en-GB" altLang="zh-CN" sz="2800" dirty="0"/>
              <a:t>URL in the address bar of a PC browser </a:t>
            </a:r>
            <a:r>
              <a:rPr lang="en-GB" altLang="en-US" sz="2800" dirty="0"/>
              <a:t>to being able to see the content of this web page in the browser</a:t>
            </a:r>
            <a:endParaRPr lang="en-GB" altLang="en-US" sz="2800" dirty="0"/>
          </a:p>
          <a:p>
            <a:r>
              <a:rPr lang="en-US" altLang="en-US" sz="2800" dirty="0"/>
              <a:t>W</a:t>
            </a:r>
            <a:r>
              <a:rPr lang="en-GB" altLang="en-US" sz="2800" dirty="0"/>
              <a:t>hat program obtained what data from where? What data was processed?</a:t>
            </a:r>
            <a:endParaRPr lang="en-GB" altLang="en-US" sz="2800" dirty="0"/>
          </a:p>
        </p:txBody>
      </p:sp>
      <p:sp>
        <p:nvSpPr>
          <p:cNvPr id="2048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61B2146-5B9C-4064-9402-B2B098D42E38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EE7229-94BB-457F-8DFB-853669A75B17}" type="slidenum">
              <a:rPr lang="en-US" altLang="zh-CN" smtClean="0"/>
            </a:fld>
            <a:endParaRPr lang="en-US" altLang="zh-CN"/>
          </a:p>
        </p:txBody>
      </p:sp>
      <p:sp>
        <p:nvSpPr>
          <p:cNvPr id="5" name="Rectangle 4"/>
          <p:cNvSpPr/>
          <p:nvPr/>
        </p:nvSpPr>
        <p:spPr>
          <a:xfrm>
            <a:off x="256948" y="3343384"/>
            <a:ext cx="113538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1400" dirty="0"/>
          </a:p>
          <a:p>
            <a:r>
              <a:rPr lang="en-US" sz="1400" dirty="0"/>
              <a:t>This Example's Network Flow</a:t>
            </a:r>
            <a:endParaRPr lang="en-US" sz="1400" dirty="0"/>
          </a:p>
          <a:p>
            <a:r>
              <a:rPr lang="en-US" sz="1400" dirty="0"/>
              <a:t>When resolving u2 ("mailinglists.html"):</a:t>
            </a:r>
            <a:endParaRPr lang="en-US" sz="1400" dirty="0"/>
          </a:p>
          <a:p>
            <a:r>
              <a:rPr lang="en-US" sz="1400" dirty="0"/>
              <a:t>Combines with base URL's path (/a/)</a:t>
            </a:r>
            <a:endParaRPr lang="en-US" sz="1400" dirty="0"/>
          </a:p>
          <a:p>
            <a:r>
              <a:rPr lang="en-US" sz="1400" dirty="0"/>
              <a:t>Becomes /a/mailinglists.html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Full request would be:</a:t>
            </a:r>
            <a:endParaRPr lang="en-US" sz="1400" dirty="0"/>
          </a:p>
          <a:p>
            <a:r>
              <a:rPr lang="en-US" sz="1400" dirty="0"/>
              <a:t>GET /a/mailinglists.html HTTP/1.1</a:t>
            </a:r>
            <a:endParaRPr lang="en-US" sz="1400" dirty="0"/>
          </a:p>
          <a:p>
            <a:r>
              <a:rPr lang="en-US" sz="1400" dirty="0"/>
              <a:t>Host: www.szu.edu.cn</a:t>
            </a:r>
            <a:endParaRPr lang="en-US" sz="1400" dirty="0"/>
          </a:p>
          <a:p>
            <a:endParaRPr lang="en-US" sz="1400" dirty="0"/>
          </a:p>
          <a:p>
            <a:r>
              <a:rPr lang="en-US" sz="1400" dirty="0"/>
              <a:t>Server might:</a:t>
            </a:r>
            <a:endParaRPr lang="en-US" sz="1400" dirty="0"/>
          </a:p>
          <a:p>
            <a:r>
              <a:rPr lang="en-US" sz="1400" dirty="0"/>
              <a:t>Return static HTML file</a:t>
            </a:r>
            <a:endParaRPr lang="en-US" sz="1400" dirty="0"/>
          </a:p>
          <a:p>
            <a:r>
              <a:rPr lang="en-US" sz="1400" dirty="0"/>
              <a:t>OR process via backend (e.g., PHP/Java servlet)</a:t>
            </a:r>
            <a:endParaRPr lang="en-US" sz="1400" dirty="0"/>
          </a:p>
          <a:p>
            <a:r>
              <a:rPr lang="en-US" sz="1400" dirty="0"/>
              <a:t>Send response with actual mailing list content</a:t>
            </a:r>
            <a:endParaRPr lang="en-US" sz="1400" dirty="0"/>
          </a:p>
        </p:txBody>
      </p:sp>
      <p:sp>
        <p:nvSpPr>
          <p:cNvPr id="6" name="Rectangle 5"/>
          <p:cNvSpPr/>
          <p:nvPr/>
        </p:nvSpPr>
        <p:spPr>
          <a:xfrm>
            <a:off x="2125482" y="76200"/>
            <a:ext cx="40004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Key Data Transformations</a:t>
            </a:r>
            <a:endParaRPr 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39485" y="640080"/>
          <a:ext cx="11388725" cy="2788920"/>
        </p:xfrm>
        <a:graphic>
          <a:graphicData uri="http://schemas.openxmlformats.org/drawingml/2006/table">
            <a:tbl>
              <a:tblPr/>
              <a:tblGrid>
                <a:gridCol w="2809331"/>
                <a:gridCol w="2859798"/>
                <a:gridCol w="2859798"/>
                <a:gridCol w="2859798"/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rgbClr val="404040"/>
                          </a:solidFill>
                          <a:effectLst/>
                        </a:rPr>
                        <a:t>Stage</a:t>
                      </a:r>
                      <a:endParaRPr lang="en-US" b="1" dirty="0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404040"/>
                          </a:solidFill>
                          <a:effectLst/>
                        </a:rPr>
                        <a:t>Input Data</a:t>
                      </a:r>
                      <a:endParaRPr lang="en-US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404040"/>
                          </a:solidFill>
                          <a:effectLst/>
                        </a:rPr>
                        <a:t>Output Data</a:t>
                      </a:r>
                      <a:endParaRPr lang="en-US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rgbClr val="404040"/>
                          </a:solidFill>
                          <a:effectLst/>
                        </a:rPr>
                        <a:t>Responsible Program</a:t>
                      </a:r>
                      <a:endParaRPr lang="en-US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1. URL Parsing</a:t>
                      </a:r>
                      <a:endParaRPr lang="en-US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"http://..." string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Structured URL object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java.net.URL parser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2. DNS</a:t>
                      </a:r>
                      <a:endParaRPr lang="en-US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Hostname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IP address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OS DNS resolver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3. HTTP</a:t>
                      </a:r>
                      <a:endParaRPr lang="en-US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URL + Headers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TCP packets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Browser network stack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4. Server</a:t>
                      </a:r>
                      <a:endParaRPr lang="en-US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HTTP request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HTTP response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Web server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5. Rendering</a:t>
                      </a:r>
                      <a:r>
                        <a:rPr lang="zh-CN" altLang="en-US" dirty="0">
                          <a:effectLst/>
                        </a:rPr>
                        <a:t>【渲染】</a:t>
                      </a:r>
                      <a:endParaRPr lang="zh-CN" altLang="en-US" dirty="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HTML/CSS/JS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Visual layout</a:t>
                      </a:r>
                      <a:endParaRPr lang="en-US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Browser engine</a:t>
                      </a:r>
                      <a:endParaRPr lang="en-US" dirty="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内容占位符 2"/>
          <p:cNvSpPr>
            <a:spLocks noGrp="1"/>
          </p:cNvSpPr>
          <p:nvPr>
            <p:ph idx="1"/>
          </p:nvPr>
        </p:nvSpPr>
        <p:spPr>
          <a:xfrm>
            <a:off x="571500" y="1126585"/>
            <a:ext cx="11049000" cy="4604829"/>
          </a:xfrm>
        </p:spPr>
        <p:txBody>
          <a:bodyPr/>
          <a:lstStyle/>
          <a:p>
            <a:r>
              <a:rPr lang="en-US" altLang="zh-CN" sz="2600" dirty="0"/>
              <a:t>It is a behavioral design pattern that allows you to define a family of algorithms, encapsulate each one as a separate class, and make them interchangeable at runtime. </a:t>
            </a:r>
            <a:endParaRPr lang="en-US" altLang="zh-CN" sz="2600" dirty="0"/>
          </a:p>
          <a:p>
            <a:r>
              <a:rPr lang="en-US" altLang="zh-CN" sz="2600" dirty="0"/>
              <a:t>This pattern lets the algorithm vary independently from the clients that use it.</a:t>
            </a:r>
            <a:endParaRPr lang="en-US" altLang="zh-CN" sz="2600" dirty="0"/>
          </a:p>
          <a:p>
            <a:r>
              <a:rPr lang="en-US" altLang="zh-CN" sz="2600" dirty="0"/>
              <a:t>In the context of the URL class, the strategy pattern can be applied to handle different protocols (e.g., HTTP, FTP, FILE) and their specific requirements.</a:t>
            </a:r>
            <a:endParaRPr lang="en-US" altLang="zh-CN" sz="2600" dirty="0"/>
          </a:p>
          <a:p>
            <a:r>
              <a:rPr lang="en-US" altLang="zh-CN" sz="2600" dirty="0"/>
              <a:t>However, the URL class itself does not directly implement the strategy pattern.</a:t>
            </a:r>
            <a:endParaRPr lang="zh-CN" altLang="en-US" sz="2600" dirty="0"/>
          </a:p>
        </p:txBody>
      </p:sp>
      <p:sp>
        <p:nvSpPr>
          <p:cNvPr id="1126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DF3801D-ECAA-4460-A7BC-1A3B2F836A52}" type="slidenum">
              <a:rPr lang="en-US" altLang="zh-CN" sz="1400"/>
            </a:fld>
            <a:endParaRPr lang="en-US" altLang="zh-CN" sz="1400"/>
          </a:p>
        </p:txBody>
      </p:sp>
      <p:sp>
        <p:nvSpPr>
          <p:cNvPr id="3" name="Rectangle 2"/>
          <p:cNvSpPr/>
          <p:nvPr/>
        </p:nvSpPr>
        <p:spPr>
          <a:xfrm>
            <a:off x="2286000" y="284904"/>
            <a:ext cx="687880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>
              <a:spcBef>
                <a:spcPct val="20000"/>
              </a:spcBef>
              <a:buClr>
                <a:srgbClr val="CC3300"/>
              </a:buClr>
              <a:buSzPct val="85000"/>
            </a:pPr>
            <a:r>
              <a:rPr lang="en-US" altLang="zh-CN" sz="3200" b="1" u="sng" kern="0" dirty="0">
                <a:solidFill>
                  <a:srgbClr val="FF0000"/>
                </a:solidFill>
                <a:latin typeface="Arial" panose="020B0604020202020204"/>
                <a:ea typeface="宋体" panose="02010600030101010101" pitchFamily="2" charset="-122"/>
              </a:rPr>
              <a:t>What is Strategy Design Pattern? </a:t>
            </a:r>
            <a:r>
              <a:rPr lang="en-US" altLang="zh-CN" sz="3200" kern="0" dirty="0">
                <a:solidFill>
                  <a:srgbClr val="080808"/>
                </a:solidFill>
                <a:latin typeface="Arial" panose="020B0604020202020204"/>
                <a:ea typeface="宋体" panose="02010600030101010101" pitchFamily="2" charset="-122"/>
              </a:rPr>
              <a:t> </a:t>
            </a:r>
            <a:endParaRPr lang="en-US" altLang="zh-CN" sz="3200" kern="0" dirty="0">
              <a:solidFill>
                <a:srgbClr val="080808"/>
              </a:solidFill>
              <a:latin typeface="Arial" panose="020B060402020202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5" name="Rectangle 4"/>
          <p:cNvSpPr/>
          <p:nvPr/>
        </p:nvSpPr>
        <p:spPr>
          <a:xfrm>
            <a:off x="381000" y="228600"/>
            <a:ext cx="11582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rgbClr val="FF0000"/>
                </a:solidFill>
              </a:rPr>
              <a:t>The URL Protocol Handling System works as a Smart Router</a:t>
            </a:r>
            <a:endParaRPr lang="en-US" sz="2400" b="1" u="sng" dirty="0">
              <a:solidFill>
                <a:srgbClr val="FF0000"/>
              </a:solidFill>
            </a:endParaRPr>
          </a:p>
          <a:p>
            <a:endParaRPr lang="en-US" sz="2400" dirty="0"/>
          </a:p>
          <a:p>
            <a:r>
              <a:rPr lang="en-US" sz="2400" dirty="0"/>
              <a:t>Imagine the URL class as a router that receives packages (URLs) with different destination (protocols like HTTP, FTP, etc.). </a:t>
            </a:r>
            <a:endParaRPr lang="en-US" sz="2400" dirty="0"/>
          </a:p>
          <a:p>
            <a:r>
              <a:rPr lang="en-US" sz="2400" dirty="0"/>
              <a:t>It doesn't know how to handle each protocol itself - instead, it delegates the work to specialized handlers.</a:t>
            </a:r>
            <a:endParaRPr lang="en-US" sz="24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4779" y="3048000"/>
          <a:ext cx="11388726" cy="2133600"/>
        </p:xfrm>
        <a:graphic>
          <a:graphicData uri="http://schemas.openxmlformats.org/drawingml/2006/table">
            <a:tbl>
              <a:tblPr/>
              <a:tblGrid>
                <a:gridCol w="3751316"/>
                <a:gridCol w="3818705"/>
                <a:gridCol w="3818705"/>
              </a:tblGrid>
              <a:tr h="464820"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</a:rPr>
                        <a:t>Component</a:t>
                      </a:r>
                      <a:endParaRPr lang="en-US" sz="18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</a:rPr>
                        <a:t>Real-World Analogy</a:t>
                      </a:r>
                      <a:endParaRPr lang="en-US" sz="18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1">
                          <a:solidFill>
                            <a:srgbClr val="404040"/>
                          </a:solidFill>
                          <a:effectLst/>
                        </a:rPr>
                        <a:t>Java Implementation</a:t>
                      </a:r>
                      <a:endParaRPr lang="en-US" sz="1800" b="1">
                        <a:solidFill>
                          <a:srgbClr val="404040"/>
                        </a:solidFill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Strategy Interface</a:t>
                      </a:r>
                      <a:endParaRPr lang="en-US" sz="18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"Shipping Method" contract</a:t>
                      </a:r>
                      <a:endParaRPr lang="en-US" sz="18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URLStreamHandler (abstract class)</a:t>
                      </a:r>
                      <a:endParaRPr lang="en-US" sz="18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9140">
                <a:tc>
                  <a:txBody>
                    <a:bodyPr/>
                    <a:lstStyle/>
                    <a:p>
                      <a:r>
                        <a:rPr lang="en-US" sz="1800" b="1">
                          <a:effectLst/>
                        </a:rPr>
                        <a:t>Concrete Strategies</a:t>
                      </a:r>
                      <a:endParaRPr lang="en-US" sz="180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FedEx/USPS/UPS handlers</a:t>
                      </a:r>
                      <a:endParaRPr lang="en-US" sz="18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HttpURLConnection, FtpURLConnection, etc.</a:t>
                      </a:r>
                      <a:endParaRPr lang="en-US" sz="18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4820">
                <a:tc>
                  <a:txBody>
                    <a:bodyPr/>
                    <a:lstStyle/>
                    <a:p>
                      <a:r>
                        <a:rPr lang="en-US" sz="1800" b="1" dirty="0">
                          <a:effectLst/>
                        </a:rPr>
                        <a:t>Context</a:t>
                      </a:r>
                      <a:endParaRPr lang="en-US" sz="1800" dirty="0">
                        <a:effectLst/>
                      </a:endParaRPr>
                    </a:p>
                  </a:txBody>
                  <a:tcPr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effectLst/>
                        </a:rPr>
                        <a:t>Shipping Department</a:t>
                      </a:r>
                      <a:endParaRPr lang="en-US" sz="180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effectLst/>
                        </a:rPr>
                        <a:t>URL class</a:t>
                      </a:r>
                      <a:endParaRPr lang="en-US" sz="1800" dirty="0">
                        <a:effectLst/>
                      </a:endParaRPr>
                    </a:p>
                  </a:txBody>
                  <a:tcPr marL="95250" marR="95250" marT="95250" marB="952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228600" y="111372"/>
            <a:ext cx="11485034" cy="6463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Example Usage Showing Both Aspects: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// Strategy pattern in action - different protocols use different handlers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URL </a:t>
            </a:r>
            <a:r>
              <a:rPr lang="en-US" dirty="0" err="1"/>
              <a:t>httpUrl</a:t>
            </a:r>
            <a:r>
              <a:rPr lang="en-US" dirty="0"/>
              <a:t> = new URL("http://example.com");</a:t>
            </a:r>
            <a:endParaRPr lang="en-US" dirty="0"/>
          </a:p>
          <a:p>
            <a:r>
              <a:rPr lang="en-US" dirty="0"/>
              <a:t>URL </a:t>
            </a:r>
            <a:r>
              <a:rPr lang="en-US" dirty="0" err="1"/>
              <a:t>ftpUrl</a:t>
            </a:r>
            <a:r>
              <a:rPr lang="en-US" dirty="0"/>
              <a:t> = new URL("ftp://files.example.com");</a:t>
            </a:r>
            <a:endParaRPr lang="en-US" dirty="0"/>
          </a:p>
          <a:p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// Immutability example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try {</a:t>
            </a:r>
            <a:endParaRPr lang="en-US" dirty="0"/>
          </a:p>
          <a:p>
            <a:r>
              <a:rPr lang="en-US" dirty="0"/>
              <a:t>    URL original = new URL("https://original.org");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    // "Modification" requires new instance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	URL modified = new URL(original, “/</a:t>
            </a:r>
            <a:r>
              <a:rPr lang="en-US" dirty="0" err="1"/>
              <a:t>newpath</a:t>
            </a:r>
            <a:r>
              <a:rPr lang="en-US" dirty="0"/>
              <a:t>"); // it will be </a:t>
            </a:r>
            <a:r>
              <a:rPr lang="en-US" dirty="0">
                <a:hlinkClick r:id="rId1"/>
              </a:rPr>
              <a:t>https://original.org/newpath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	// Behavior depends on the second argument:  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	// If the second string was relative (like /</a:t>
            </a:r>
            <a:r>
              <a:rPr lang="en-US" dirty="0" err="1">
                <a:solidFill>
                  <a:srgbClr val="00B050"/>
                </a:solidFill>
              </a:rPr>
              <a:t>newpath</a:t>
            </a:r>
            <a:r>
              <a:rPr lang="en-US" dirty="0">
                <a:solidFill>
                  <a:srgbClr val="00B050"/>
                </a:solidFill>
              </a:rPr>
              <a:t>), it would combine with the context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	// If the second string is absolute URL (like here), the context (original URL) is ignored completely, 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	</a:t>
            </a:r>
            <a:r>
              <a:rPr lang="en-US" dirty="0"/>
              <a:t> URL modified = new URL(original, "https://modified.org");  </a:t>
            </a:r>
            <a:endParaRPr lang="en-US" dirty="0"/>
          </a:p>
          <a:p>
            <a:r>
              <a:rPr lang="en-US" dirty="0"/>
              <a:t>//original ignored it will be </a:t>
            </a:r>
            <a:r>
              <a:rPr lang="en-US" dirty="0">
                <a:hlinkClick r:id="rId2"/>
              </a:rPr>
              <a:t>https://modified.org/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} catch (</a:t>
            </a:r>
            <a:r>
              <a:rPr lang="en-US" dirty="0" err="1"/>
              <a:t>MalformedURLException</a:t>
            </a:r>
            <a:r>
              <a:rPr lang="en-US" dirty="0"/>
              <a:t> e) {</a:t>
            </a:r>
            <a:endParaRPr lang="en-US" dirty="0"/>
          </a:p>
          <a:p>
            <a:r>
              <a:rPr lang="en-US" dirty="0">
                <a:solidFill>
                  <a:srgbClr val="00B050"/>
                </a:solidFill>
              </a:rPr>
              <a:t>    // Handle exception</a:t>
            </a:r>
            <a:endParaRPr lang="en-US" dirty="0">
              <a:solidFill>
                <a:srgbClr val="00B050"/>
              </a:solidFill>
            </a:endParaRPr>
          </a:p>
          <a:p>
            <a:r>
              <a:rPr lang="en-US" dirty="0"/>
              <a:t>}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design combines: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Flexibility through the Strategy pattern (supporting multiple protocols)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Safety through immutability (preventing unintended modifications)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Extensibility (new protocols can be added without changing URL class)</a:t>
            </a:r>
            <a:endParaRPr 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624D66-2DBF-44C6-BEFB-96DCBA9C4B53}" type="slidenum">
              <a:rPr lang="en-US" altLang="zh-CN" smtClean="0"/>
            </a:fld>
            <a:endParaRPr lang="en-US" altLang="zh-CN"/>
          </a:p>
        </p:txBody>
      </p:sp>
      <p:sp>
        <p:nvSpPr>
          <p:cNvPr id="3" name="Rectangle 2"/>
          <p:cNvSpPr/>
          <p:nvPr/>
        </p:nvSpPr>
        <p:spPr>
          <a:xfrm>
            <a:off x="133955" y="136525"/>
            <a:ext cx="116586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/>
              <a:t>5. URL with </a:t>
            </a:r>
            <a:r>
              <a:rPr lang="en-US" sz="2000" b="1" dirty="0" err="1"/>
              <a:t>URLStreamHandler</a:t>
            </a:r>
            <a:r>
              <a:rPr lang="en-US" sz="2000" b="1" dirty="0"/>
              <a:t> (Advanced)</a:t>
            </a:r>
            <a:endParaRPr lang="en-US" sz="2000" b="1" dirty="0"/>
          </a:p>
          <a:p>
            <a:r>
              <a:rPr lang="en-US" sz="2000" b="1" dirty="0">
                <a:solidFill>
                  <a:srgbClr val="FF0000"/>
                </a:solidFill>
              </a:rPr>
              <a:t>public URL(URL context, String spec, </a:t>
            </a:r>
            <a:r>
              <a:rPr lang="en-US" sz="2000" b="1" dirty="0" err="1">
                <a:solidFill>
                  <a:srgbClr val="FF0000"/>
                </a:solidFill>
              </a:rPr>
              <a:t>URLStreamHandler</a:t>
            </a:r>
            <a:r>
              <a:rPr lang="en-US" sz="2000" b="1" dirty="0">
                <a:solidFill>
                  <a:srgbClr val="FF0000"/>
                </a:solidFill>
              </a:rPr>
              <a:t> handler) throws </a:t>
            </a:r>
            <a:r>
              <a:rPr lang="en-US" sz="2000" b="1" dirty="0" err="1">
                <a:solidFill>
                  <a:srgbClr val="FF0000"/>
                </a:solidFill>
              </a:rPr>
              <a:t>MalformedURLException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000" b="1" dirty="0">
              <a:solidFill>
                <a:srgbClr val="FF0000"/>
              </a:solidFill>
            </a:endParaRPr>
          </a:p>
          <a:p>
            <a:r>
              <a:rPr lang="en-US" sz="2000" dirty="0"/>
              <a:t>Purpose: Creates a URL with a custom protocol handler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err="1"/>
              <a:t>URLStreamHandler</a:t>
            </a:r>
            <a:r>
              <a:rPr lang="en-US" sz="2000" dirty="0"/>
              <a:t> is an abstract class in Java's java.net package that defines how to process URLs for specific protocols. 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It acts as a bridge between a URL and its corresponding </a:t>
            </a:r>
            <a:r>
              <a:rPr lang="en-US" sz="2000" dirty="0" err="1"/>
              <a:t>URLConnection</a:t>
            </a:r>
            <a:r>
              <a:rPr lang="en-US" sz="2000" dirty="0"/>
              <a:t>, enabling Java to support multiple protocols (HTTP, FTP, etc.) and allowing developers to add </a:t>
            </a:r>
            <a:r>
              <a:rPr lang="en-US" sz="2000" b="1" dirty="0">
                <a:solidFill>
                  <a:srgbClr val="FF0000"/>
                </a:solidFill>
              </a:rPr>
              <a:t>custom protocols.</a:t>
            </a:r>
            <a:endParaRPr lang="en-US" sz="2000" b="1" dirty="0">
              <a:solidFill>
                <a:srgbClr val="FF0000"/>
              </a:solidFill>
            </a:endParaRPr>
          </a:p>
          <a:p>
            <a:endParaRPr lang="en-US" sz="2000" dirty="0"/>
          </a:p>
          <a:p>
            <a:r>
              <a:rPr lang="en-US" sz="2000" dirty="0"/>
              <a:t>Parameters: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context - The base URL (can be null)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spec - The URL string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handler - Custom stream handler for special protocols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Use Case: For implementing custom protocols (e.g., "</a:t>
            </a:r>
            <a:r>
              <a:rPr lang="en-US" sz="2000" dirty="0" err="1"/>
              <a:t>myproto</a:t>
            </a:r>
            <a:r>
              <a:rPr lang="en-US" sz="2000" dirty="0"/>
              <a:t>://...")</a:t>
            </a:r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Example:</a:t>
            </a:r>
            <a:endParaRPr lang="en-US" sz="2000" dirty="0"/>
          </a:p>
          <a:p>
            <a:r>
              <a:rPr lang="en-US" sz="2000" dirty="0" err="1"/>
              <a:t>URLStreamHandler</a:t>
            </a:r>
            <a:r>
              <a:rPr lang="en-US" sz="2000" dirty="0"/>
              <a:t> </a:t>
            </a:r>
            <a:r>
              <a:rPr lang="en-US" sz="2000" dirty="0" err="1"/>
              <a:t>customHandler</a:t>
            </a:r>
            <a:r>
              <a:rPr lang="en-US" sz="2000" dirty="0"/>
              <a:t> = new </a:t>
            </a:r>
            <a:r>
              <a:rPr lang="en-US" sz="2000" dirty="0" err="1"/>
              <a:t>CustomProtocolHandler</a:t>
            </a:r>
            <a:r>
              <a:rPr lang="en-US" sz="2000" dirty="0"/>
              <a:t>();</a:t>
            </a:r>
            <a:endParaRPr lang="en-US" sz="2000" dirty="0"/>
          </a:p>
          <a:p>
            <a:r>
              <a:rPr lang="en-US" sz="2000" dirty="0"/>
              <a:t>URL </a:t>
            </a:r>
            <a:r>
              <a:rPr lang="en-US" sz="2000" dirty="0" err="1"/>
              <a:t>url</a:t>
            </a:r>
            <a:r>
              <a:rPr lang="en-US" sz="2000" dirty="0"/>
              <a:t> = new URL(null, "</a:t>
            </a:r>
            <a:r>
              <a:rPr lang="en-US" sz="2000" dirty="0" err="1"/>
              <a:t>myproto</a:t>
            </a:r>
            <a:r>
              <a:rPr lang="en-US" sz="2000" dirty="0"/>
              <a:t>://data", </a:t>
            </a:r>
            <a:r>
              <a:rPr lang="en-US" sz="2000" dirty="0" err="1"/>
              <a:t>customHandler</a:t>
            </a:r>
            <a:r>
              <a:rPr lang="en-US" sz="2000" dirty="0"/>
              <a:t>);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标题 1"/>
          <p:cNvSpPr>
            <a:spLocks noGrp="1"/>
          </p:cNvSpPr>
          <p:nvPr>
            <p:ph type="title"/>
          </p:nvPr>
        </p:nvSpPr>
        <p:spPr>
          <a:xfrm>
            <a:off x="990600" y="387691"/>
            <a:ext cx="8540750" cy="493710"/>
          </a:xfrm>
        </p:spPr>
        <p:txBody>
          <a:bodyPr/>
          <a:lstStyle/>
          <a:p>
            <a:pPr algn="l"/>
            <a:r>
              <a:rPr lang="en-GB" altLang="en-US" sz="3600" b="1" dirty="0"/>
              <a:t>Get</a:t>
            </a:r>
            <a:r>
              <a:rPr lang="en-US" altLang="en-US" sz="3600" b="1" dirty="0"/>
              <a:t>ting</a:t>
            </a:r>
            <a:r>
              <a:rPr lang="en-GB" altLang="en-US" sz="3600" b="1" dirty="0"/>
              <a:t> data from </a:t>
            </a:r>
            <a:r>
              <a:rPr lang="en-GB" altLang="zh-CN" sz="3600" b="1" dirty="0"/>
              <a:t>URL</a:t>
            </a:r>
            <a:endParaRPr lang="en-GB" altLang="zh-CN" sz="3600" b="1" dirty="0"/>
          </a:p>
        </p:txBody>
      </p:sp>
      <p:sp>
        <p:nvSpPr>
          <p:cNvPr id="18435" name="内容占位符 2"/>
          <p:cNvSpPr>
            <a:spLocks noGrp="1"/>
          </p:cNvSpPr>
          <p:nvPr>
            <p:ph idx="1"/>
          </p:nvPr>
        </p:nvSpPr>
        <p:spPr>
          <a:xfrm>
            <a:off x="359835" y="1087891"/>
            <a:ext cx="11429999" cy="5135563"/>
          </a:xfrm>
        </p:spPr>
        <p:txBody>
          <a:bodyPr/>
          <a:lstStyle/>
          <a:p>
            <a:r>
              <a:rPr lang="en-GB" altLang="zh-CN" sz="2800" dirty="0"/>
              <a:t>The URL </a:t>
            </a:r>
            <a:r>
              <a:rPr lang="en-GB" altLang="en-US" sz="2800" dirty="0"/>
              <a:t>class's method for getting data:</a:t>
            </a:r>
            <a:endParaRPr lang="en-US" altLang="zh-CN" sz="2800" dirty="0"/>
          </a:p>
          <a:p>
            <a:r>
              <a:rPr lang="en-GB" altLang="en-US" sz="2800" dirty="0"/>
              <a:t>Get </a:t>
            </a:r>
            <a:r>
              <a:rPr lang="en-GB" altLang="zh-CN" sz="2800" dirty="0"/>
              <a:t>InputStream</a:t>
            </a:r>
            <a:endParaRPr lang="en-GB" altLang="zh-CN" sz="2800" dirty="0"/>
          </a:p>
          <a:p>
            <a:pPr lvl="1"/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InputStream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openStream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GB" altLang="zh-CN" sz="2000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en-GB" altLang="en-US" sz="2800" dirty="0"/>
              <a:t>Get </a:t>
            </a:r>
            <a:r>
              <a:rPr lang="en-US" altLang="en-US" sz="2800" dirty="0"/>
              <a:t>from </a:t>
            </a:r>
            <a:r>
              <a:rPr lang="en-GB" altLang="zh-CN" sz="2800" dirty="0"/>
              <a:t>the URLConnection </a:t>
            </a:r>
            <a:r>
              <a:rPr lang="en-GB" altLang="en-US" sz="2800" dirty="0"/>
              <a:t>object</a:t>
            </a:r>
            <a:endParaRPr lang="en-US" altLang="zh-CN" sz="2800" dirty="0"/>
          </a:p>
          <a:p>
            <a:pPr lvl="1"/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URLConnection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openConnection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/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URLConnection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openConnection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Proxy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proxy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endParaRPr lang="en-GB" altLang="zh-CN" sz="2000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en-GB" altLang="en-US" sz="2800" dirty="0"/>
              <a:t>Get </a:t>
            </a:r>
            <a:r>
              <a:rPr lang="en-US" altLang="en-US" sz="2800" dirty="0"/>
              <a:t>from </a:t>
            </a:r>
            <a:r>
              <a:rPr lang="en-GB" altLang="en-US" sz="2800" dirty="0"/>
              <a:t>content object such as </a:t>
            </a:r>
            <a:r>
              <a:rPr lang="en-GB" altLang="zh-CN" sz="2800" dirty="0"/>
              <a:t>String </a:t>
            </a:r>
            <a:r>
              <a:rPr lang="en-GB" altLang="en-US" sz="2800" dirty="0"/>
              <a:t>or </a:t>
            </a:r>
            <a:r>
              <a:rPr lang="en-GB" altLang="zh-CN" sz="2800" dirty="0"/>
              <a:t>Image</a:t>
            </a:r>
            <a:endParaRPr lang="en-GB" altLang="zh-CN" sz="2800" dirty="0"/>
          </a:p>
          <a:p>
            <a:pPr lvl="1"/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Object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getContent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/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Object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getContent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Class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[]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classes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endParaRPr lang="zh-CN" altLang="en-US" dirty="0"/>
          </a:p>
        </p:txBody>
      </p:sp>
      <p:sp>
        <p:nvSpPr>
          <p:cNvPr id="2150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A97338-DEDC-4783-BB00-B2C85866849F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标题 1"/>
          <p:cNvSpPr>
            <a:spLocks noGrp="1"/>
          </p:cNvSpPr>
          <p:nvPr>
            <p:ph type="title"/>
          </p:nvPr>
        </p:nvSpPr>
        <p:spPr>
          <a:xfrm>
            <a:off x="1371600" y="263525"/>
            <a:ext cx="8540750" cy="574675"/>
          </a:xfrm>
        </p:spPr>
        <p:txBody>
          <a:bodyPr/>
          <a:lstStyle/>
          <a:p>
            <a:pPr algn="l"/>
            <a:r>
              <a:rPr lang="en-GB" altLang="en-US" sz="3200" dirty="0"/>
              <a:t>Get data from </a:t>
            </a:r>
            <a:r>
              <a:rPr lang="en-GB" altLang="zh-CN" sz="3200" dirty="0"/>
              <a:t>a URL : openStream </a:t>
            </a:r>
            <a:r>
              <a:rPr lang="en-GB" altLang="en-US" sz="3200" dirty="0"/>
              <a:t>() method</a:t>
            </a:r>
            <a:endParaRPr lang="en-GB" altLang="en-US" sz="3200" dirty="0"/>
          </a:p>
        </p:txBody>
      </p:sp>
      <p:sp>
        <p:nvSpPr>
          <p:cNvPr id="19459" name="内容占位符 2"/>
          <p:cNvSpPr>
            <a:spLocks noGrp="1"/>
          </p:cNvSpPr>
          <p:nvPr>
            <p:ph idx="1"/>
          </p:nvPr>
        </p:nvSpPr>
        <p:spPr>
          <a:xfrm>
            <a:off x="152400" y="838200"/>
            <a:ext cx="11734800" cy="5859462"/>
          </a:xfrm>
        </p:spPr>
        <p:txBody>
          <a:bodyPr/>
          <a:lstStyle/>
          <a:p>
            <a:pPr>
              <a:buFont typeface="Wingdings" panose="05000000000000000000" pitchFamily="2" charset="2"/>
              <a:buChar char="n"/>
            </a:pPr>
            <a:r>
              <a:rPr lang="en-GB" altLang="zh-CN" sz="2400" dirty="0">
                <a:solidFill>
                  <a:srgbClr val="006699"/>
                </a:solidFill>
                <a:latin typeface="Courier New" panose="02070309020205020404" pitchFamily="49" charset="0"/>
              </a:rPr>
              <a:t>openStream </a:t>
            </a:r>
            <a:r>
              <a:rPr lang="en-GB" altLang="en-US" sz="2400" dirty="0">
                <a:solidFill>
                  <a:srgbClr val="006699"/>
                </a:solidFill>
                <a:latin typeface="Courier New" panose="02070309020205020404" pitchFamily="49" charset="0"/>
              </a:rPr>
              <a:t>method connects to the resource referenced by </a:t>
            </a:r>
            <a:r>
              <a:rPr lang="en-GB" altLang="zh-CN" sz="2400" dirty="0">
                <a:solidFill>
                  <a:srgbClr val="006699"/>
                </a:solidFill>
                <a:latin typeface="Courier New" panose="02070309020205020404" pitchFamily="49" charset="0"/>
              </a:rPr>
              <a:t>the URL </a:t>
            </a:r>
            <a:r>
              <a:rPr lang="en-GB" altLang="en-US" sz="2400" dirty="0">
                <a:solidFill>
                  <a:srgbClr val="006699"/>
                </a:solidFill>
                <a:latin typeface="Courier New" panose="02070309020205020404" pitchFamily="49" charset="0"/>
              </a:rPr>
              <a:t>, establishes a reliable connection between the client and the server, and returns an </a:t>
            </a:r>
            <a:r>
              <a:rPr lang="en-GB" altLang="zh-CN" sz="2400" dirty="0">
                <a:solidFill>
                  <a:srgbClr val="006699"/>
                </a:solidFill>
                <a:latin typeface="Courier New" panose="02070309020205020404" pitchFamily="49" charset="0"/>
              </a:rPr>
              <a:t>InputStream </a:t>
            </a:r>
            <a:r>
              <a:rPr lang="en-GB" altLang="en-US" sz="2400" dirty="0">
                <a:solidFill>
                  <a:srgbClr val="006699"/>
                </a:solidFill>
                <a:latin typeface="Courier New" panose="02070309020205020404" pitchFamily="49" charset="0"/>
              </a:rPr>
              <a:t>for reading data.</a:t>
            </a:r>
            <a:endParaRPr lang="en-US" altLang="zh-CN" sz="2400" dirty="0">
              <a:solidFill>
                <a:srgbClr val="006699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try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	URL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"http://www.szu.edu.cn"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	InputStream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in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.openStream () 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b="1" dirty="0">
                <a:solidFill>
                  <a:srgbClr val="007788"/>
                </a:solidFill>
                <a:latin typeface="Courier New" panose="02070309020205020404" pitchFamily="49" charset="0"/>
              </a:rPr>
              <a:t>	int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c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	while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((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c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in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read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!=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- </a:t>
            </a:r>
            <a:r>
              <a:rPr lang="en-GB" altLang="zh-CN" sz="2400" dirty="0">
                <a:solidFill>
                  <a:srgbClr val="FF6600"/>
                </a:solidFill>
                <a:latin typeface="Courier New" panose="02070309020205020404" pitchFamily="49" charset="0"/>
              </a:rPr>
              <a:t>1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endParaRPr lang="en-GB" altLang="zh-CN" sz="2400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   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write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c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		in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.close () 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} </a:t>
            </a: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catch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IOException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	System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err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endParaRPr lang="zh-CN" altLang="en-US" dirty="0"/>
          </a:p>
        </p:txBody>
      </p:sp>
      <p:sp>
        <p:nvSpPr>
          <p:cNvPr id="2253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8E140AC-3443-496C-B696-3ACEB2426EC6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标题 1"/>
          <p:cNvSpPr>
            <a:spLocks noGrp="1"/>
          </p:cNvSpPr>
          <p:nvPr>
            <p:ph type="title"/>
          </p:nvPr>
        </p:nvSpPr>
        <p:spPr>
          <a:xfrm>
            <a:off x="1546225" y="82550"/>
            <a:ext cx="8540750" cy="609600"/>
          </a:xfrm>
        </p:spPr>
        <p:txBody>
          <a:bodyPr/>
          <a:lstStyle/>
          <a:p>
            <a:pPr algn="l"/>
            <a:r>
              <a:rPr lang="en-GB" altLang="en-US" sz="3200" b="1"/>
              <a:t>Example </a:t>
            </a:r>
            <a:r>
              <a:rPr lang="en-GB" altLang="zh-CN" sz="3200" b="1"/>
              <a:t>5-2 </a:t>
            </a:r>
            <a:r>
              <a:rPr lang="en-GB" altLang="en-US" sz="3200" b="1"/>
              <a:t>: Downloading a </a:t>
            </a:r>
            <a:r>
              <a:rPr lang="en-GB" altLang="zh-CN" sz="3200" b="1"/>
              <a:t>Web </a:t>
            </a:r>
            <a:r>
              <a:rPr lang="en-GB" altLang="en-US" sz="3200" b="1"/>
              <a:t>page</a:t>
            </a:r>
            <a:endParaRPr lang="en-GB" altLang="en-US" sz="3200" b="1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228600" y="1066801"/>
            <a:ext cx="11658600" cy="4498975"/>
          </a:xfrm>
        </p:spPr>
        <p:txBody>
          <a:bodyPr/>
          <a:lstStyle/>
          <a:p>
            <a:r>
              <a:rPr lang="en-GB" altLang="en-US" sz="2800" dirty="0"/>
              <a:t>Example </a:t>
            </a:r>
            <a:r>
              <a:rPr lang="en-GB" altLang="zh-CN" sz="2800" dirty="0"/>
              <a:t>EX5-2 </a:t>
            </a:r>
            <a:r>
              <a:rPr lang="en-GB" altLang="en-US" sz="2800" dirty="0"/>
              <a:t>: Download a </a:t>
            </a:r>
            <a:r>
              <a:rPr lang="en-GB" altLang="zh-CN" sz="2800" dirty="0"/>
              <a:t>web page and output the original HTML </a:t>
            </a:r>
            <a:r>
              <a:rPr lang="en-GB" altLang="en-US" sz="2800" dirty="0"/>
              <a:t>of the page to the console .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GB" altLang="en-US" sz="2800" dirty="0"/>
              <a:t>Idea: </a:t>
            </a:r>
            <a:r>
              <a:rPr lang="en-GB" altLang="en-US" sz="2400" dirty="0"/>
              <a:t>Read a </a:t>
            </a:r>
            <a:r>
              <a:rPr lang="en-GB" altLang="zh-CN" sz="2400" dirty="0"/>
              <a:t>URL </a:t>
            </a:r>
            <a:r>
              <a:rPr lang="en-GB" altLang="en-US" sz="2400" dirty="0"/>
              <a:t>( </a:t>
            </a:r>
            <a:r>
              <a:rPr lang="en-GB" altLang="zh-CN" sz="2400" dirty="0"/>
              <a:t>http://www.oreilly.com ) from the command line, </a:t>
            </a:r>
            <a:r>
              <a:rPr lang="en-GB" altLang="en-US" sz="2400" dirty="0"/>
              <a:t>open an </a:t>
            </a:r>
            <a:r>
              <a:rPr lang="en-GB" altLang="zh-CN" sz="2400" dirty="0"/>
              <a:t>InputStream </a:t>
            </a:r>
            <a:r>
              <a:rPr lang="en-GB" altLang="en-US" sz="2400" dirty="0"/>
              <a:t>from this </a:t>
            </a:r>
            <a:r>
              <a:rPr lang="en-GB" altLang="zh-CN" sz="2400" dirty="0"/>
              <a:t>URL </a:t>
            </a:r>
            <a:r>
              <a:rPr lang="en-GB" altLang="en-US" sz="2400" dirty="0"/>
              <a:t>, chain this </a:t>
            </a:r>
            <a:r>
              <a:rPr lang="en-GB" altLang="zh-CN" sz="2400" dirty="0"/>
              <a:t>InputStream to the InputStreamReader </a:t>
            </a:r>
            <a:r>
              <a:rPr lang="en-GB" altLang="en-US" sz="2400" dirty="0"/>
              <a:t>with the default encoding , use its </a:t>
            </a:r>
            <a:r>
              <a:rPr lang="en-GB" altLang="zh-CN" sz="2400" dirty="0"/>
              <a:t>read() </a:t>
            </a:r>
            <a:r>
              <a:rPr lang="en-GB" altLang="en-US" sz="2400" dirty="0"/>
              <a:t>method to read consecutive characters from the file, and display the characters on the console </a:t>
            </a:r>
            <a:r>
              <a:rPr lang="en-GB" altLang="en-US" sz="2800" dirty="0"/>
              <a:t>.</a:t>
            </a:r>
            <a:endParaRPr lang="en-US" altLang="zh-CN" sz="2800" dirty="0"/>
          </a:p>
          <a:p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Tip: See the explanation code </a:t>
            </a:r>
            <a:r>
              <a:rPr lang="en-GB" altLang="zh-CN" sz="2400" dirty="0"/>
              <a:t>ch5.SourceViewer.java</a:t>
            </a:r>
            <a:endParaRPr lang="en-GB" altLang="zh-CN" sz="2400" dirty="0"/>
          </a:p>
        </p:txBody>
      </p:sp>
      <p:sp>
        <p:nvSpPr>
          <p:cNvPr id="2355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8978BD-6914-4E1D-B4A9-C3A1F3735F61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10B0993-BCEE-486D-A70F-B01D3EE9CE20}" type="slidenum">
              <a:rPr lang="en-US" altLang="zh-CN" sz="1400"/>
            </a:fld>
            <a:endParaRPr lang="en-US" altLang="zh-CN" sz="1400"/>
          </a:p>
        </p:txBody>
      </p:sp>
      <p:pic>
        <p:nvPicPr>
          <p:cNvPr id="25603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33386"/>
            <a:ext cx="8091488" cy="61694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4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3888" y="433386"/>
            <a:ext cx="3124200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sz="3200"/>
              <a:t>EX5-2 </a:t>
            </a:r>
            <a:r>
              <a:rPr lang="en-GB" altLang="en-US" sz="3200"/>
              <a:t>operation results</a:t>
            </a:r>
            <a:endParaRPr lang="en-GB" altLang="en-US" sz="3200"/>
          </a:p>
        </p:txBody>
      </p:sp>
      <p:sp>
        <p:nvSpPr>
          <p:cNvPr id="24579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1DCE77-BCA2-4F78-BD7E-67595F4771C0}" type="slidenum">
              <a:rPr lang="en-US" altLang="zh-CN" sz="1400"/>
            </a:fld>
            <a:endParaRPr lang="en-US" altLang="zh-CN" sz="140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894711"/>
            <a:ext cx="10820400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304800" y="4343400"/>
            <a:ext cx="11277600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Test and observe: If you change the parameter to </a:t>
            </a:r>
            <a:r>
              <a:rPr lang="en-US" altLang="en-US" sz="2000" b="1" u="sng" dirty="0">
                <a:solidFill>
                  <a:srgbClr val="FF0000"/>
                </a:solidFill>
              </a:rPr>
              <a:t>http://www.szu.edu.cn</a:t>
            </a:r>
            <a:r>
              <a:rPr lang="en-US" altLang="en-US" sz="2000" dirty="0"/>
              <a:t>, please observe the console results and compare them with the returned results when you enter the URL from the browser.</a:t>
            </a:r>
            <a:endParaRPr lang="en-US" altLang="zh-CN" sz="2000" dirty="0"/>
          </a:p>
        </p:txBody>
      </p:sp>
      <p:sp>
        <p:nvSpPr>
          <p:cNvPr id="24582" name="TextBox 6"/>
          <p:cNvSpPr txBox="1">
            <a:spLocks noChangeArrowheads="1"/>
          </p:cNvSpPr>
          <p:nvPr/>
        </p:nvSpPr>
        <p:spPr bwMode="auto">
          <a:xfrm>
            <a:off x="402166" y="1106487"/>
            <a:ext cx="1138766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/>
              <a:t>Run: Run </a:t>
            </a:r>
            <a:r>
              <a:rPr lang="en-GB" altLang="zh-CN" sz="2000"/>
              <a:t>SourceViewer </a:t>
            </a:r>
            <a:r>
              <a:rPr lang="en-GB" altLang="en-US" sz="2000"/>
              <a:t>and enter the parameter </a:t>
            </a:r>
            <a:r>
              <a:rPr lang="en-GB" altLang="zh-CN" sz="2000">
                <a:hlinkClick r:id="rId2"/>
              </a:rPr>
              <a:t>http://www.oreilly.com </a:t>
            </a:r>
            <a:r>
              <a:rPr lang="en-GB" altLang="en-US" sz="2000"/>
              <a:t>. The results are as follows</a:t>
            </a:r>
            <a:endParaRPr lang="en-GB" altLang="en-US" sz="2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标题 1"/>
          <p:cNvSpPr>
            <a:spLocks noGrp="1"/>
          </p:cNvSpPr>
          <p:nvPr>
            <p:ph type="title"/>
          </p:nvPr>
        </p:nvSpPr>
        <p:spPr>
          <a:xfrm>
            <a:off x="685800" y="393702"/>
            <a:ext cx="8540750" cy="533400"/>
          </a:xfrm>
        </p:spPr>
        <p:txBody>
          <a:bodyPr/>
          <a:lstStyle/>
          <a:p>
            <a:pPr algn="l"/>
            <a:r>
              <a:rPr lang="en-US" altLang="en-US" sz="3200" b="1" dirty="0"/>
              <a:t>T</a:t>
            </a:r>
            <a:r>
              <a:rPr lang="en-GB" altLang="en-US" sz="3200" b="1" dirty="0"/>
              <a:t>hink</a:t>
            </a:r>
            <a:endParaRPr lang="en-GB" altLang="en-US" sz="3200" b="1" dirty="0"/>
          </a:p>
        </p:txBody>
      </p:sp>
      <p:sp>
        <p:nvSpPr>
          <p:cNvPr id="26627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0C0178A-9735-4471-9CE6-0E89D4774F2D}" type="slidenum">
              <a:rPr lang="en-US" altLang="zh-CN" sz="1400"/>
            </a:fld>
            <a:endParaRPr lang="en-US" altLang="zh-CN" sz="1400"/>
          </a:p>
        </p:txBody>
      </p:sp>
      <p:sp>
        <p:nvSpPr>
          <p:cNvPr id="26628" name="TextBox 2"/>
          <p:cNvSpPr txBox="1">
            <a:spLocks noChangeArrowheads="1"/>
          </p:cNvSpPr>
          <p:nvPr/>
        </p:nvSpPr>
        <p:spPr bwMode="auto">
          <a:xfrm>
            <a:off x="381000" y="1363991"/>
            <a:ext cx="1104899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n-GB" altLang="en-US" sz="2800" dirty="0"/>
              <a:t>Is there a problem with this program? What is the problem?</a:t>
            </a:r>
            <a:endParaRPr lang="en-GB" altLang="en-US" sz="2800" dirty="0"/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04800" y="2590800"/>
            <a:ext cx="11582400" cy="2306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200150" indent="-45720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zh-CN" altLang="en-US" sz="2400" dirty="0"/>
              <a:t>不可靠的程序：</a:t>
            </a:r>
            <a:endParaRPr lang="zh-CN" altLang="en-US" sz="2400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en-US" altLang="zh-CN" sz="2400" dirty="0"/>
              <a:t>1. </a:t>
            </a:r>
            <a:r>
              <a:rPr lang="zh-CN" altLang="en-US" sz="2400" dirty="0"/>
              <a:t>轻率地假设目标</a:t>
            </a:r>
            <a:r>
              <a:rPr lang="en-US" altLang="zh-CN" sz="2400" dirty="0"/>
              <a:t> URL </a:t>
            </a:r>
            <a:r>
              <a:rPr lang="zh-CN" altLang="en-US" sz="2400" dirty="0"/>
              <a:t>指向文本，但它可能指向</a:t>
            </a:r>
            <a:r>
              <a:rPr lang="en-US" altLang="zh-CN" sz="2400" dirty="0"/>
              <a:t> GIF </a:t>
            </a:r>
            <a:r>
              <a:rPr lang="zh-CN" altLang="en-US" sz="2400" dirty="0"/>
              <a:t>或</a:t>
            </a:r>
            <a:r>
              <a:rPr lang="en-US" altLang="zh-CN" sz="2400" dirty="0"/>
              <a:t> JPEG </a:t>
            </a:r>
            <a:r>
              <a:rPr lang="zh-CN" altLang="en-US" sz="2400" dirty="0"/>
              <a:t>图像、</a:t>
            </a:r>
            <a:r>
              <a:rPr lang="en-US" altLang="zh-CN" sz="2400" dirty="0"/>
              <a:t>MP3 </a:t>
            </a:r>
            <a:r>
              <a:rPr lang="zh-CN" altLang="en-US" sz="2400" dirty="0"/>
              <a:t>声音文件等。</a:t>
            </a:r>
            <a:r>
              <a:rPr lang="en-US" altLang="zh-CN" sz="2400" dirty="0"/>
              <a:t>[</a:t>
            </a:r>
            <a:r>
              <a:rPr lang="zh-CN" altLang="en-US" sz="2400" dirty="0"/>
              <a:t>可能指向其他的链接类型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en-US" altLang="zh-CN" sz="2400" dirty="0"/>
              <a:t>2. </a:t>
            </a:r>
            <a:r>
              <a:rPr lang="zh-CN" altLang="en-US" sz="2400" dirty="0"/>
              <a:t>即使是文本，远程主机的文档编码也可能与客户端系统的默认编码不同，使用不同的默认字符集。</a:t>
            </a:r>
            <a:r>
              <a:rPr lang="en-US" altLang="zh-CN" sz="2400" dirty="0"/>
              <a:t>[</a:t>
            </a:r>
            <a:r>
              <a:rPr lang="zh-CN" altLang="en-US" sz="2400" dirty="0"/>
              <a:t>使用了不同的编码集</a:t>
            </a:r>
            <a:r>
              <a:rPr lang="en-US" altLang="zh-CN" sz="2400" dirty="0"/>
              <a:t>]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en-US" altLang="zh-CN" sz="2400" dirty="0"/>
              <a:t>3. </a:t>
            </a:r>
            <a:r>
              <a:rPr lang="zh-CN" altLang="en-US" sz="2400" dirty="0"/>
              <a:t>你在编程时是否也忽略了这些问题，并编写了如此不可靠的程序？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标题 1"/>
          <p:cNvSpPr>
            <a:spLocks noGrp="1"/>
          </p:cNvSpPr>
          <p:nvPr>
            <p:ph type="title"/>
          </p:nvPr>
        </p:nvSpPr>
        <p:spPr>
          <a:xfrm>
            <a:off x="533400" y="329475"/>
            <a:ext cx="9730317" cy="541338"/>
          </a:xfrm>
        </p:spPr>
        <p:txBody>
          <a:bodyPr/>
          <a:lstStyle/>
          <a:p>
            <a:pPr algn="l"/>
            <a:r>
              <a:rPr lang="en-GB" altLang="en-US" sz="3200" dirty="0"/>
              <a:t>Specifying the encoding method</a:t>
            </a:r>
            <a:endParaRPr lang="en-GB" altLang="en-US" sz="3200" dirty="0"/>
          </a:p>
        </p:txBody>
      </p:sp>
      <p:sp>
        <p:nvSpPr>
          <p:cNvPr id="27651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2D7C49C-6D53-493F-B89B-AA8D2D56F764}" type="slidenum">
              <a:rPr lang="en-US" altLang="zh-CN" sz="1400"/>
            </a:fld>
            <a:endParaRPr lang="en-US" altLang="zh-CN" sz="1400"/>
          </a:p>
        </p:txBody>
      </p:sp>
      <p:sp>
        <p:nvSpPr>
          <p:cNvPr id="27652" name="TextBox 3"/>
          <p:cNvSpPr txBox="1">
            <a:spLocks noChangeArrowheads="1"/>
          </p:cNvSpPr>
          <p:nvPr/>
        </p:nvSpPr>
        <p:spPr bwMode="auto">
          <a:xfrm>
            <a:off x="304800" y="970824"/>
            <a:ext cx="11582400" cy="1383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n-GB" altLang="en-US" sz="2800" dirty="0"/>
              <a:t>Usually, if a page or network transmission</a:t>
            </a:r>
            <a:r>
              <a:rPr lang="zh-CN" altLang="en-GB" sz="2800" dirty="0"/>
              <a:t>【传输】</a:t>
            </a:r>
            <a:r>
              <a:rPr lang="en-GB" altLang="en-US" sz="2800" dirty="0"/>
              <a:t> file uses a character set that is completely different from </a:t>
            </a:r>
            <a:r>
              <a:rPr lang="en-GB" altLang="zh-CN" sz="2800" dirty="0"/>
              <a:t>ASCII , </a:t>
            </a:r>
            <a:r>
              <a:rPr lang="en-GB" altLang="en-US" sz="2800" dirty="0"/>
              <a:t>it will be indicated in the header.</a:t>
            </a:r>
            <a:endParaRPr lang="en-US" altLang="zh-CN" sz="2800" dirty="0"/>
          </a:p>
        </p:txBody>
      </p:sp>
      <p:sp>
        <p:nvSpPr>
          <p:cNvPr id="27653" name="TextBox 1"/>
          <p:cNvSpPr txBox="1">
            <a:spLocks noChangeArrowheads="1"/>
          </p:cNvSpPr>
          <p:nvPr/>
        </p:nvSpPr>
        <p:spPr bwMode="auto">
          <a:xfrm>
            <a:off x="533400" y="2658804"/>
            <a:ext cx="11485034" cy="1877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Example </a:t>
            </a:r>
            <a:r>
              <a:rPr lang="en-GB" altLang="zh-CN" sz="2400" dirty="0"/>
              <a:t>1 </a:t>
            </a:r>
            <a:r>
              <a:rPr lang="en-GB" altLang="en-US" sz="2400" dirty="0"/>
              <a:t>: An </a:t>
            </a:r>
            <a:r>
              <a:rPr lang="en-GB" altLang="zh-CN" sz="2400" dirty="0"/>
              <a:t>HTML </a:t>
            </a:r>
            <a:r>
              <a:rPr lang="en-GB" altLang="en-US" sz="2400" dirty="0"/>
              <a:t>file specifies that it uses </a:t>
            </a:r>
            <a:r>
              <a:rPr lang="en-GB" altLang="zh-CN" sz="2400" dirty="0"/>
              <a:t>Big-5 </a:t>
            </a:r>
            <a:r>
              <a:rPr lang="en-GB" altLang="en-US" sz="2400" dirty="0"/>
              <a:t>encoding in the 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 dirty="0">
                <a:solidFill>
                  <a:schemeClr val="tx2"/>
                </a:solidFill>
              </a:rPr>
              <a:t>&lt;meta http-equiv="content-type" content="text/html; charset=big5"&gt;</a:t>
            </a:r>
            <a:endParaRPr lang="en-GB" altLang="zh-CN" sz="2000" dirty="0">
              <a:solidFill>
                <a:schemeClr val="tx2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/>
              <a:t>Example </a:t>
            </a:r>
            <a:r>
              <a:rPr lang="en-GB" altLang="zh-CN" sz="2400" dirty="0"/>
              <a:t>2, </a:t>
            </a:r>
            <a:r>
              <a:rPr lang="en-GB" altLang="en-US" sz="2400" dirty="0"/>
              <a:t>an </a:t>
            </a:r>
            <a:r>
              <a:rPr lang="en-GB" altLang="zh-CN" sz="2400" dirty="0"/>
              <a:t>XML </a:t>
            </a:r>
            <a:r>
              <a:rPr lang="en-GB" altLang="en-US" sz="2400" dirty="0"/>
              <a:t>file, declares its encoding method in the header: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dirty="0">
                <a:solidFill>
                  <a:schemeClr val="tx2"/>
                </a:solidFill>
              </a:rPr>
              <a:t>&lt;?xml version=“1.0” encoding=“Big5”?&gt;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27654" name="TextBox 4"/>
          <p:cNvSpPr txBox="1">
            <a:spLocks noChangeArrowheads="1"/>
          </p:cNvSpPr>
          <p:nvPr/>
        </p:nvSpPr>
        <p:spPr bwMode="auto">
          <a:xfrm>
            <a:off x="609600" y="5159900"/>
            <a:ext cx="102261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</a:rPr>
              <a:t>After-class supplementary learning content: </a:t>
            </a:r>
            <a:r>
              <a:rPr lang="en-GB" altLang="zh-CN" sz="2400" dirty="0">
                <a:solidFill>
                  <a:srgbClr val="FF0000"/>
                </a:solidFill>
              </a:rPr>
              <a:t>html </a:t>
            </a:r>
            <a:r>
              <a:rPr lang="en-GB" altLang="en-US" sz="2400" dirty="0">
                <a:solidFill>
                  <a:srgbClr val="FF0000"/>
                </a:solidFill>
              </a:rPr>
              <a:t>, </a:t>
            </a:r>
            <a:r>
              <a:rPr lang="en-GB" altLang="zh-CN" sz="2400" dirty="0">
                <a:solidFill>
                  <a:srgbClr val="FF0000"/>
                </a:solidFill>
              </a:rPr>
              <a:t>xml </a:t>
            </a:r>
            <a:r>
              <a:rPr lang="en-GB" altLang="en-US" sz="2400" dirty="0">
                <a:solidFill>
                  <a:srgbClr val="FF0000"/>
                </a:solidFill>
              </a:rPr>
              <a:t>document format</a:t>
            </a:r>
            <a:endParaRPr lang="en-GB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1541463" y="47625"/>
            <a:ext cx="8208962" cy="692150"/>
          </a:xfrm>
        </p:spPr>
        <p:txBody>
          <a:bodyPr/>
          <a:lstStyle/>
          <a:p>
            <a:pPr algn="l"/>
            <a:r>
              <a:rPr lang="en-GB" altLang="en-US" sz="2800" dirty="0"/>
              <a:t>From </a:t>
            </a:r>
            <a:r>
              <a:rPr lang="en-GB" altLang="zh-CN" sz="2800" dirty="0"/>
              <a:t>a URL </a:t>
            </a:r>
            <a:r>
              <a:rPr lang="en-GB" altLang="en-US" sz="2800" dirty="0"/>
              <a:t>object: </a:t>
            </a:r>
            <a:r>
              <a:rPr lang="en-GB" altLang="zh-CN" sz="2800" dirty="0"/>
              <a:t>openConnection </a:t>
            </a:r>
            <a:r>
              <a:rPr lang="en-GB" altLang="en-US" sz="2800" dirty="0"/>
              <a:t>() method</a:t>
            </a:r>
            <a:endParaRPr lang="en-GB" altLang="en-US" sz="28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649061"/>
            <a:ext cx="11637434" cy="4380139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GB" altLang="en-US" sz="2400" dirty="0">
                <a:latin typeface="Courier New" panose="02070309020205020404" pitchFamily="49" charset="0"/>
              </a:rPr>
              <a:t>opens a </a:t>
            </a:r>
            <a:r>
              <a:rPr lang="en-GB" altLang="zh-CN" sz="2400" dirty="0">
                <a:latin typeface="Courier New" panose="02070309020205020404" pitchFamily="49" charset="0"/>
              </a:rPr>
              <a:t>socket </a:t>
            </a:r>
            <a:r>
              <a:rPr lang="en-GB" altLang="en-US" sz="2400" dirty="0">
                <a:latin typeface="Courier New" panose="02070309020205020404" pitchFamily="49" charset="0"/>
              </a:rPr>
              <a:t>for the specified </a:t>
            </a:r>
            <a:r>
              <a:rPr lang="en-GB" altLang="zh-CN" sz="2400" dirty="0">
                <a:latin typeface="Courier New" panose="02070309020205020404" pitchFamily="49" charset="0"/>
              </a:rPr>
              <a:t>URL </a:t>
            </a:r>
            <a:r>
              <a:rPr lang="en-GB" altLang="en-US" sz="2400" dirty="0">
                <a:latin typeface="Courier New" panose="02070309020205020404" pitchFamily="49" charset="0"/>
              </a:rPr>
              <a:t>and returns a </a:t>
            </a:r>
            <a:r>
              <a:rPr lang="en-GB" altLang="zh-CN" sz="2400" dirty="0">
                <a:latin typeface="Courier New" panose="02070309020205020404" pitchFamily="49" charset="0"/>
              </a:rPr>
              <a:t>URLConnection </a:t>
            </a:r>
            <a:r>
              <a:rPr lang="en-GB" altLang="en-US" sz="2400" dirty="0">
                <a:latin typeface="Courier New" panose="02070309020205020404" pitchFamily="49" charset="0"/>
              </a:rPr>
              <a:t>object.</a:t>
            </a:r>
            <a:endParaRPr lang="en-US" altLang="zh-CN" sz="2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</a:pPr>
            <a:r>
              <a:rPr lang="en-GB" altLang="en-US" sz="2400" dirty="0">
                <a:latin typeface="Courier New" panose="02070309020205020404" pitchFamily="49" charset="0"/>
              </a:rPr>
              <a:t>This object provides access to all metadata and data specified by the protocol.</a:t>
            </a:r>
            <a:endParaRPr lang="en-US" altLang="zh-CN" sz="2400" dirty="0">
              <a:latin typeface="Courier New" panose="02070309020205020404" pitchFamily="49" charset="0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b="1" dirty="0">
                <a:solidFill>
                  <a:srgbClr val="006699"/>
                </a:solidFill>
                <a:latin typeface="Courier New" panose="02070309020205020404" pitchFamily="49" charset="0"/>
              </a:rPr>
              <a:t>try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	URL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900" dirty="0">
                <a:solidFill>
                  <a:srgbClr val="CC3300"/>
                </a:solidFill>
                <a:latin typeface="Courier New" panose="02070309020205020404" pitchFamily="49" charset="0"/>
              </a:rPr>
              <a:t>"http://www.szu.edu.cn/"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b="1" dirty="0">
                <a:solidFill>
                  <a:srgbClr val="006699"/>
                </a:solidFill>
                <a:latin typeface="Courier New" panose="02070309020205020404" pitchFamily="49" charset="0"/>
              </a:rPr>
              <a:t>	try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		URLConnection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uc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u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.openConnection () 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		InputStream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in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uc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900" dirty="0">
                <a:solidFill>
                  <a:srgbClr val="330099"/>
                </a:solidFill>
                <a:latin typeface="Courier New" panose="02070309020205020404" pitchFamily="49" charset="0"/>
              </a:rPr>
              <a:t>getInputStream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();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i="1" dirty="0">
                <a:solidFill>
                  <a:srgbClr val="35586C"/>
                </a:solidFill>
                <a:latin typeface="Courier New" panose="02070309020205020404" pitchFamily="49" charset="0"/>
              </a:rPr>
              <a:t>		// read from the connection...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	}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b="1" dirty="0">
                <a:solidFill>
                  <a:srgbClr val="006699"/>
                </a:solidFill>
                <a:latin typeface="Courier New" panose="02070309020205020404" pitchFamily="49" charset="0"/>
              </a:rPr>
              <a:t>catch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IOException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		System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900" dirty="0">
                <a:solidFill>
                  <a:srgbClr val="330099"/>
                </a:solidFill>
                <a:latin typeface="Courier New" panose="02070309020205020404" pitchFamily="49" charset="0"/>
              </a:rPr>
              <a:t>err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900" dirty="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	}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b="1" dirty="0">
                <a:solidFill>
                  <a:srgbClr val="006699"/>
                </a:solidFill>
                <a:latin typeface="Courier New" panose="02070309020205020404" pitchFamily="49" charset="0"/>
              </a:rPr>
              <a:t>catch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MalformedURLException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)</a:t>
            </a:r>
            <a:r>
              <a:rPr lang="en-GB" altLang="zh-CN" sz="19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{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	System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900" dirty="0">
                <a:solidFill>
                  <a:srgbClr val="330099"/>
                </a:solidFill>
                <a:latin typeface="Courier New" panose="02070309020205020404" pitchFamily="49" charset="0"/>
              </a:rPr>
              <a:t>err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900" dirty="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900" dirty="0">
                <a:solidFill>
                  <a:srgbClr val="000088"/>
                </a:solidFill>
                <a:latin typeface="Courier New" panose="02070309020205020404" pitchFamily="49" charset="0"/>
              </a:rPr>
              <a:t>ex </a:t>
            </a: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lnSpc>
                <a:spcPct val="80000"/>
              </a:lnSpc>
              <a:buFont typeface="Wingdings 2" panose="05020102010507070707" pitchFamily="18" charset="2"/>
              <a:buNone/>
            </a:pPr>
            <a:r>
              <a:rPr lang="en-GB" altLang="zh-CN" sz="1900" dirty="0">
                <a:solidFill>
                  <a:srgbClr val="555555"/>
                </a:solidFill>
                <a:latin typeface="Courier New" panose="02070309020205020404" pitchFamily="49" charset="0"/>
              </a:rPr>
              <a:t>}</a:t>
            </a:r>
            <a:endParaRPr lang="en-US" altLang="zh-CN" sz="1900" dirty="0">
              <a:solidFill>
                <a:srgbClr val="000000"/>
              </a:solidFill>
              <a:latin typeface="宋体" panose="02010600030101010101" pitchFamily="2" charset="-122"/>
            </a:endParaRPr>
          </a:p>
        </p:txBody>
      </p:sp>
      <p:sp>
        <p:nvSpPr>
          <p:cNvPr id="2867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FDA0D3B-6205-4889-905F-22AA000C6342}" type="slidenum">
              <a:rPr lang="en-US" altLang="zh-CN" sz="1400"/>
            </a:fld>
            <a:endParaRPr lang="en-US" altLang="zh-CN" sz="1400"/>
          </a:p>
        </p:txBody>
      </p:sp>
      <p:sp>
        <p:nvSpPr>
          <p:cNvPr id="28677" name="TextBox 1"/>
          <p:cNvSpPr txBox="1">
            <a:spLocks noChangeArrowheads="1"/>
          </p:cNvSpPr>
          <p:nvPr/>
        </p:nvSpPr>
        <p:spPr bwMode="auto">
          <a:xfrm>
            <a:off x="152400" y="5029200"/>
            <a:ext cx="11794671" cy="163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dirty="0"/>
              <a:t>If you want to communicate directly with the server in your program and access all the data sent by the server, you should use these methods. </a:t>
            </a:r>
            <a:endParaRPr lang="en-GB" altLang="en-US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dirty="0"/>
              <a:t>You can access the original document ( </a:t>
            </a:r>
            <a:r>
              <a:rPr lang="en-GB" altLang="zh-CN" sz="2000" dirty="0"/>
              <a:t>HTML/ </a:t>
            </a:r>
            <a:r>
              <a:rPr lang="en-GB" altLang="en-US" sz="2000" dirty="0"/>
              <a:t>plain text </a:t>
            </a:r>
            <a:r>
              <a:rPr lang="en-GB" altLang="zh-CN" sz="2000" dirty="0"/>
              <a:t>/ </a:t>
            </a:r>
            <a:r>
              <a:rPr lang="en-GB" altLang="en-US" sz="2000" dirty="0"/>
              <a:t>binary image data) sent by the server and all metadata specified by the protocol ( </a:t>
            </a:r>
            <a:r>
              <a:rPr lang="en-GB" altLang="zh-CN" sz="2000" dirty="0"/>
              <a:t>HTTP </a:t>
            </a:r>
            <a:r>
              <a:rPr lang="en-GB" altLang="en-US" sz="2000" dirty="0"/>
              <a:t>header </a:t>
            </a:r>
            <a:r>
              <a:rPr lang="en-GB" altLang="zh-CN" sz="2000" dirty="0"/>
              <a:t>, </a:t>
            </a:r>
            <a:r>
              <a:rPr lang="en-GB" altLang="en-US" sz="2000" dirty="0"/>
              <a:t>original </a:t>
            </a:r>
            <a:r>
              <a:rPr lang="en-GB" altLang="zh-CN" sz="2000" dirty="0"/>
              <a:t>HTML </a:t>
            </a:r>
            <a:r>
              <a:rPr lang="en-GB" altLang="en-US" sz="2000" dirty="0"/>
              <a:t>).</a:t>
            </a:r>
            <a:endParaRPr lang="en-US" altLang="zh-CN" sz="2000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2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内容占位符 2"/>
          <p:cNvSpPr>
            <a:spLocks noGrp="1"/>
          </p:cNvSpPr>
          <p:nvPr>
            <p:ph idx="1"/>
          </p:nvPr>
        </p:nvSpPr>
        <p:spPr>
          <a:xfrm>
            <a:off x="304800" y="1066801"/>
            <a:ext cx="11430000" cy="4498975"/>
          </a:xfrm>
        </p:spPr>
        <p:txBody>
          <a:bodyPr/>
          <a:lstStyle/>
          <a:p>
            <a:r>
              <a:rPr lang="en-GB" altLang="en-US" dirty="0"/>
              <a:t>Can access all data sent by the server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dirty="0"/>
              <a:t>Such as </a:t>
            </a:r>
            <a:r>
              <a:rPr lang="en-GB" altLang="zh-CN" dirty="0"/>
              <a:t>HTTP </a:t>
            </a:r>
            <a:r>
              <a:rPr lang="en-GB" altLang="en-US" dirty="0"/>
              <a:t>header information</a:t>
            </a:r>
            <a:endParaRPr lang="en-US" altLang="zh-CN" dirty="0"/>
          </a:p>
          <a:p>
            <a:r>
              <a:rPr lang="en-GB" altLang="en-US" dirty="0"/>
              <a:t>Can send data to the server</a:t>
            </a:r>
            <a:endParaRPr lang="en-US" altLang="zh-CN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dirty="0"/>
              <a:t>Email</a:t>
            </a:r>
            <a:endParaRPr lang="en-GB" altLang="zh-CN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dirty="0"/>
              <a:t>Submit the form</a:t>
            </a:r>
            <a:endParaRPr lang="en-US" altLang="zh-CN" dirty="0"/>
          </a:p>
          <a:p>
            <a:r>
              <a:rPr lang="en-GB" altLang="en-US" sz="2800" dirty="0"/>
              <a:t>Overloaded version of 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dirty="0"/>
              <a:t>You can set a proxy server to specify which proxy server to pass the connection through</a:t>
            </a:r>
            <a:endParaRPr lang="en-GB" altLang="en-US" dirty="0"/>
          </a:p>
        </p:txBody>
      </p:sp>
      <p:sp>
        <p:nvSpPr>
          <p:cNvPr id="29699" name="标题 1"/>
          <p:cNvSpPr>
            <a:spLocks noGrp="1"/>
          </p:cNvSpPr>
          <p:nvPr>
            <p:ph type="title"/>
          </p:nvPr>
        </p:nvSpPr>
        <p:spPr>
          <a:xfrm>
            <a:off x="1535113" y="36513"/>
            <a:ext cx="8208962" cy="692150"/>
          </a:xfrm>
        </p:spPr>
        <p:txBody>
          <a:bodyPr/>
          <a:lstStyle/>
          <a:p>
            <a:pPr algn="l"/>
            <a:r>
              <a:rPr lang="en-GB" altLang="en-US" sz="3200" dirty="0"/>
              <a:t>From </a:t>
            </a:r>
            <a:r>
              <a:rPr lang="en-GB" altLang="zh-CN" sz="3200" dirty="0"/>
              <a:t>the URL </a:t>
            </a:r>
            <a:r>
              <a:rPr lang="en-GB" altLang="en-US" sz="3200" dirty="0"/>
              <a:t>object: </a:t>
            </a:r>
            <a:r>
              <a:rPr lang="en-GB" altLang="zh-CN" sz="3200" dirty="0"/>
              <a:t>openConnection</a:t>
            </a:r>
            <a:endParaRPr lang="zh-CN" altLang="en-US" sz="3200" dirty="0"/>
          </a:p>
        </p:txBody>
      </p:sp>
      <p:sp>
        <p:nvSpPr>
          <p:cNvPr id="2970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3E0B873-55DE-4C62-8205-E6F2C9A8754E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标题 1"/>
          <p:cNvSpPr>
            <a:spLocks noGrp="1"/>
          </p:cNvSpPr>
          <p:nvPr>
            <p:ph type="title"/>
          </p:nvPr>
        </p:nvSpPr>
        <p:spPr>
          <a:xfrm>
            <a:off x="1447800" y="228600"/>
            <a:ext cx="8540750" cy="693738"/>
          </a:xfrm>
        </p:spPr>
        <p:txBody>
          <a:bodyPr/>
          <a:lstStyle/>
          <a:p>
            <a:pPr algn="l"/>
            <a:r>
              <a:rPr lang="en-GB" altLang="en-US" sz="3200" b="1" dirty="0"/>
              <a:t>From </a:t>
            </a:r>
            <a:r>
              <a:rPr lang="en-GB" altLang="zh-CN" sz="3200" b="1" dirty="0"/>
              <a:t>the URL </a:t>
            </a:r>
            <a:r>
              <a:rPr lang="en-GB" altLang="en-US" sz="3200" b="1" dirty="0"/>
              <a:t>object: </a:t>
            </a:r>
            <a:r>
              <a:rPr lang="en-GB" altLang="zh-CN" sz="3200" b="1" dirty="0"/>
              <a:t>getContent </a:t>
            </a:r>
            <a:r>
              <a:rPr lang="en-GB" altLang="en-US" sz="3200" b="1" dirty="0"/>
              <a:t>() method</a:t>
            </a:r>
            <a:endParaRPr lang="en-GB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992188"/>
            <a:ext cx="12039600" cy="3563937"/>
          </a:xfrm>
        </p:spPr>
        <p:txBody>
          <a:bodyPr/>
          <a:lstStyle/>
          <a:p>
            <a:r>
              <a:rPr lang="en-GB" altLang="en-US" sz="2800" dirty="0"/>
              <a:t>This method gets the data object referenced by </a:t>
            </a:r>
            <a:r>
              <a:rPr lang="en-GB" altLang="zh-CN" sz="2800" dirty="0"/>
              <a:t>the URL </a:t>
            </a:r>
            <a:r>
              <a:rPr lang="en-GB" altLang="en-US" sz="2800" dirty="0"/>
              <a:t>, and the program can try to create a data object of a certain type from it.</a:t>
            </a:r>
            <a:endParaRPr lang="en-US" altLang="zh-CN" sz="2800" dirty="0"/>
          </a:p>
          <a:p>
            <a:r>
              <a:rPr lang="en-GB" altLang="en-US" sz="2800" dirty="0"/>
              <a:t>usage:</a:t>
            </a:r>
            <a:endParaRPr lang="en-US" altLang="zh-CN" sz="2800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"http://mesola.obspm.fr/"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Object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o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getContent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();</a:t>
            </a:r>
            <a:endParaRPr lang="en-US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i="1" dirty="0">
                <a:solidFill>
                  <a:srgbClr val="35586C"/>
                </a:solidFill>
                <a:latin typeface="Courier New" panose="02070309020205020404" pitchFamily="49" charset="0"/>
              </a:rPr>
              <a:t>// </a:t>
            </a:r>
            <a:r>
              <a:rPr lang="en-GB" altLang="en-US" sz="2400" i="1" dirty="0">
                <a:solidFill>
                  <a:srgbClr val="35586C"/>
                </a:solidFill>
                <a:latin typeface="Courier New" panose="02070309020205020404" pitchFamily="49" charset="0"/>
              </a:rPr>
              <a:t>Force object </a:t>
            </a:r>
            <a:r>
              <a:rPr lang="en-GB" altLang="zh-CN" sz="2400" i="1" dirty="0">
                <a:solidFill>
                  <a:srgbClr val="35586C"/>
                </a:solidFill>
                <a:latin typeface="Courier New" panose="02070309020205020404" pitchFamily="49" charset="0"/>
              </a:rPr>
              <a:t>o </a:t>
            </a:r>
            <a:r>
              <a:rPr lang="en-GB" altLang="en-US" sz="2400" i="1" dirty="0">
                <a:solidFill>
                  <a:srgbClr val="35586C"/>
                </a:solidFill>
                <a:latin typeface="Courier New" panose="02070309020205020404" pitchFamily="49" charset="0"/>
              </a:rPr>
              <a:t>to be converted to a specific type</a:t>
            </a:r>
            <a:endParaRPr lang="en-US" altLang="zh-CN" sz="2400" i="1" dirty="0">
              <a:solidFill>
                <a:srgbClr val="35586C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if(o instanceof URLImageSource){</a:t>
            </a:r>
            <a:endParaRPr lang="en-GB" altLang="zh-CN" sz="2400" dirty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...</a:t>
            </a:r>
            <a:endParaRPr lang="en-GB" altLang="zh-CN" sz="2400" dirty="0">
              <a:solidFill>
                <a:srgbClr val="000088"/>
              </a:solidFill>
              <a:latin typeface="Courier New" panose="02070309020205020404" pitchFamily="49" charset="0"/>
            </a:endParaRPr>
          </a:p>
        </p:txBody>
      </p:sp>
      <p:sp>
        <p:nvSpPr>
          <p:cNvPr id="3072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CD5937E-7C0F-4A87-9281-65BC98C8B8CB}" type="slidenum">
              <a:rPr lang="en-US" altLang="zh-CN" sz="1400"/>
            </a:fld>
            <a:endParaRPr lang="en-US" altLang="zh-CN" sz="1400"/>
          </a:p>
        </p:txBody>
      </p:sp>
      <p:sp>
        <p:nvSpPr>
          <p:cNvPr id="26629" name="TextBox 1"/>
          <p:cNvSpPr txBox="1">
            <a:spLocks noChangeArrowheads="1"/>
          </p:cNvSpPr>
          <p:nvPr/>
        </p:nvSpPr>
        <p:spPr bwMode="auto">
          <a:xfrm>
            <a:off x="152400" y="4800600"/>
            <a:ext cx="11637433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>
                <a:solidFill>
                  <a:srgbClr val="3477FF"/>
                </a:solidFill>
              </a:rPr>
              <a:t>looks for the </a:t>
            </a:r>
            <a:r>
              <a:rPr lang="en-GB" altLang="zh-CN" sz="2400" dirty="0">
                <a:solidFill>
                  <a:srgbClr val="3477FF"/>
                </a:solidFill>
              </a:rPr>
              <a:t>content-type </a:t>
            </a:r>
            <a:r>
              <a:rPr lang="en-GB" altLang="en-US" sz="2400" dirty="0">
                <a:solidFill>
                  <a:srgbClr val="3477FF"/>
                </a:solidFill>
              </a:rPr>
              <a:t>field </a:t>
            </a:r>
            <a:r>
              <a:rPr lang="en-GB" altLang="en-US" sz="2400" dirty="0">
                <a:solidFill>
                  <a:srgbClr val="FF0000"/>
                </a:solidFill>
              </a:rPr>
              <a:t>in the data header obtained from the server . If the server does not use </a:t>
            </a:r>
            <a:r>
              <a:rPr lang="en-GB" altLang="zh-CN" sz="2400" dirty="0">
                <a:solidFill>
                  <a:srgbClr val="FF0000"/>
                </a:solidFill>
              </a:rPr>
              <a:t>a MIME </a:t>
            </a:r>
            <a:r>
              <a:rPr lang="en-GB" altLang="en-US" sz="2400" dirty="0">
                <a:solidFill>
                  <a:srgbClr val="FF0000"/>
                </a:solidFill>
              </a:rPr>
              <a:t>header or uses an unfamiliar </a:t>
            </a:r>
            <a:r>
              <a:rPr lang="en-GB" altLang="zh-CN" sz="2400" dirty="0">
                <a:solidFill>
                  <a:srgbClr val="FF0000"/>
                </a:solidFill>
              </a:rPr>
              <a:t>content-type </a:t>
            </a:r>
            <a:r>
              <a:rPr lang="en-GB" altLang="en-US" sz="2400" dirty="0">
                <a:solidFill>
                  <a:srgbClr val="FF0000"/>
                </a:solidFill>
              </a:rPr>
              <a:t>, the method returns some kind of </a:t>
            </a:r>
            <a:r>
              <a:rPr lang="en-GB" altLang="zh-CN" sz="2400" dirty="0">
                <a:solidFill>
                  <a:srgbClr val="FF0000"/>
                </a:solidFill>
              </a:rPr>
              <a:t>InputStream </a:t>
            </a:r>
            <a:r>
              <a:rPr lang="en-GB" altLang="en-US" sz="2400" dirty="0">
                <a:solidFill>
                  <a:srgbClr val="FF0000"/>
                </a:solidFill>
              </a:rPr>
              <a:t>for the program to read the data.</a:t>
            </a:r>
            <a:endParaRPr lang="en-GB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标题 1"/>
          <p:cNvSpPr>
            <a:spLocks noGrp="1"/>
          </p:cNvSpPr>
          <p:nvPr>
            <p:ph type="title"/>
          </p:nvPr>
        </p:nvSpPr>
        <p:spPr>
          <a:xfrm>
            <a:off x="402167" y="228600"/>
            <a:ext cx="11387667" cy="381000"/>
          </a:xfrm>
        </p:spPr>
        <p:txBody>
          <a:bodyPr/>
          <a:lstStyle/>
          <a:p>
            <a:r>
              <a:rPr lang="en-GB" altLang="en-US" sz="3200" dirty="0">
                <a:highlight>
                  <a:srgbClr val="FFFF00"/>
                </a:highlight>
              </a:rPr>
              <a:t>Example </a:t>
            </a:r>
            <a:r>
              <a:rPr lang="en-GB" altLang="zh-CN" sz="3200" dirty="0">
                <a:highlight>
                  <a:srgbClr val="FFFF00"/>
                </a:highlight>
              </a:rPr>
              <a:t>5-3 </a:t>
            </a:r>
            <a:r>
              <a:rPr lang="en-GB" altLang="en-US" sz="3200" dirty="0">
                <a:highlight>
                  <a:srgbClr val="FFFF00"/>
                </a:highlight>
              </a:rPr>
              <a:t>: Downloading an object</a:t>
            </a:r>
            <a:endParaRPr lang="en-GB" altLang="en-US" sz="3200" dirty="0">
              <a:highlight>
                <a:srgbClr val="FFFF00"/>
              </a:highlight>
            </a:endParaRPr>
          </a:p>
        </p:txBody>
      </p:sp>
      <p:sp>
        <p:nvSpPr>
          <p:cNvPr id="31747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964C18A-D2CA-44DE-9451-07379622DCB9}" type="slidenum">
              <a:rPr lang="en-US" altLang="zh-CN" sz="1400"/>
            </a:fld>
            <a:endParaRPr lang="en-US" altLang="zh-CN" sz="1400"/>
          </a:p>
        </p:txBody>
      </p:sp>
      <p:sp>
        <p:nvSpPr>
          <p:cNvPr id="31748" name="矩形 3"/>
          <p:cNvSpPr>
            <a:spLocks noChangeArrowheads="1"/>
          </p:cNvSpPr>
          <p:nvPr/>
        </p:nvSpPr>
        <p:spPr bwMode="auto">
          <a:xfrm>
            <a:off x="152400" y="965986"/>
            <a:ext cx="11887200" cy="5507990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public class ContentGetter {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   public static void main (String[] args) {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  if (args.length &gt; 0) {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	// Open the URL for reading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try {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	URL u = new URL(args[0]);</a:t>
            </a:r>
            <a:r>
              <a:rPr lang="en-US" altLang="zh-CN" sz="2200" b="1" dirty="0">
                <a:latin typeface="Consolas" panose="020B0609020204030204" pitchFamily="49" charset="0"/>
              </a:rPr>
              <a:t> // </a:t>
            </a:r>
            <a:r>
              <a:rPr lang="zh-CN" altLang="en-US" sz="2200" b="1" dirty="0">
                <a:latin typeface="Consolas" panose="020B0609020204030204" pitchFamily="49" charset="0"/>
              </a:rPr>
              <a:t>创建</a:t>
            </a:r>
            <a:r>
              <a:rPr lang="en-US" altLang="zh-CN" sz="2200" b="1" dirty="0">
                <a:latin typeface="Consolas" panose="020B0609020204030204" pitchFamily="49" charset="0"/>
              </a:rPr>
              <a:t> URL </a:t>
            </a:r>
            <a:r>
              <a:rPr lang="zh-CN" altLang="en-US" sz="2200" b="1" dirty="0">
                <a:latin typeface="Consolas" panose="020B0609020204030204" pitchFamily="49" charset="0"/>
              </a:rPr>
              <a:t>对象</a:t>
            </a:r>
            <a:endParaRPr lang="zh-CN" altLang="en-US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	Object o = u.getContent();</a:t>
            </a:r>
            <a:r>
              <a:rPr lang="en-US" altLang="zh-CN" sz="2200" b="1" dirty="0">
                <a:latin typeface="Consolas" panose="020B0609020204030204" pitchFamily="49" charset="0"/>
              </a:rPr>
              <a:t>// </a:t>
            </a:r>
            <a:r>
              <a:rPr lang="zh-CN" altLang="en-US" sz="2200" b="1" dirty="0">
                <a:latin typeface="Consolas" panose="020B0609020204030204" pitchFamily="49" charset="0"/>
              </a:rPr>
              <a:t>获取</a:t>
            </a:r>
            <a:r>
              <a:rPr lang="en-US" altLang="zh-CN" sz="2200" b="1" dirty="0">
                <a:latin typeface="Consolas" panose="020B0609020204030204" pitchFamily="49" charset="0"/>
              </a:rPr>
              <a:t> URL </a:t>
            </a:r>
            <a:r>
              <a:rPr lang="zh-CN" altLang="en-US" sz="2200" b="1" dirty="0">
                <a:latin typeface="Consolas" panose="020B0609020204030204" pitchFamily="49" charset="0"/>
              </a:rPr>
              <a:t>的内容</a:t>
            </a:r>
            <a:endParaRPr lang="zh-CN" altLang="en-US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	System.out.println("I got a " + o.getClass().getName());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} catch (MalformedURLException ex) {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	System.err.println(args[0] + " is not a parseable URL");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} catch (IOException ex) {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	System.err.println(ex);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	}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	   }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   }</a:t>
            </a:r>
            <a:endParaRPr lang="en-GB" altLang="zh-CN" sz="2200" b="1" dirty="0">
              <a:latin typeface="Consolas" panose="020B0609020204030204" pitchFamily="49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200" b="1" dirty="0">
                <a:latin typeface="Consolas" panose="020B0609020204030204" pitchFamily="49" charset="0"/>
              </a:rPr>
              <a:t>}</a:t>
            </a:r>
            <a:endParaRPr lang="en-GB" altLang="zh-CN" sz="22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标题 1"/>
          <p:cNvSpPr>
            <a:spLocks noGrp="1"/>
          </p:cNvSpPr>
          <p:nvPr>
            <p:ph type="title"/>
          </p:nvPr>
        </p:nvSpPr>
        <p:spPr>
          <a:xfrm>
            <a:off x="1711324" y="227519"/>
            <a:ext cx="8540751" cy="685800"/>
          </a:xfrm>
        </p:spPr>
        <p:txBody>
          <a:bodyPr/>
          <a:lstStyle/>
          <a:p>
            <a:pPr algn="l"/>
            <a:r>
              <a:rPr lang="en-GB" altLang="zh-CN" sz="3200" b="1" dirty="0"/>
              <a:t>EX5-3 </a:t>
            </a:r>
            <a:r>
              <a:rPr lang="en-GB" altLang="en-US" sz="3200" b="1" dirty="0"/>
              <a:t>Operation Results</a:t>
            </a:r>
            <a:endParaRPr lang="en-GB" altLang="en-US" sz="3200" b="1" dirty="0"/>
          </a:p>
        </p:txBody>
      </p:sp>
      <p:sp>
        <p:nvSpPr>
          <p:cNvPr id="32771" name="灯片编号占位符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4386379-0B3A-45E8-B8BD-0335BCC88026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190499" y="3563863"/>
            <a:ext cx="118872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n-GB" altLang="en-US" sz="2000" dirty="0"/>
              <a:t>Please try to enter </a:t>
            </a:r>
            <a:r>
              <a:rPr lang="en-GB" altLang="zh-CN" sz="2000" dirty="0"/>
              <a:t>a URL </a:t>
            </a:r>
            <a:r>
              <a:rPr lang="en-GB" altLang="en-US" sz="2000" dirty="0"/>
              <a:t>pointing to an image file when running and observe the results.</a:t>
            </a:r>
            <a:endParaRPr lang="en-US" altLang="zh-CN" sz="2000" dirty="0"/>
          </a:p>
          <a:p>
            <a:pPr>
              <a:spcBef>
                <a:spcPct val="0"/>
              </a:spcBef>
              <a:buClrTx/>
              <a:buSzTx/>
            </a:pPr>
            <a:r>
              <a:rPr lang="en-US" altLang="zh-CN" sz="2000" dirty="0"/>
              <a:t>Please try to input the parameter URL to point to a file at runtime and observe the result. </a:t>
            </a:r>
            <a:endParaRPr lang="en-US" altLang="zh-CN" sz="2000" dirty="0"/>
          </a:p>
          <a:p>
            <a:pPr>
              <a:spcBef>
                <a:spcPct val="0"/>
              </a:spcBef>
              <a:buClrTx/>
              <a:buSzTx/>
            </a:pPr>
            <a:r>
              <a:rPr lang="en-GB" altLang="en-US" sz="2000" dirty="0"/>
              <a:t>Please try to enter </a:t>
            </a:r>
            <a:r>
              <a:rPr lang="en-GB" altLang="zh-CN" sz="2000" dirty="0"/>
              <a:t>a URL </a:t>
            </a:r>
            <a:r>
              <a:rPr lang="en-GB" altLang="en-US" sz="2000" dirty="0"/>
              <a:t>pointing to an audio file when running and observe the results.</a:t>
            </a:r>
            <a:endParaRPr lang="en-US" altLang="zh-CN" sz="2000" dirty="0"/>
          </a:p>
          <a:p>
            <a:pPr>
              <a:spcBef>
                <a:spcPct val="0"/>
              </a:spcBef>
              <a:buClrTx/>
              <a:buSzTx/>
            </a:pPr>
            <a:r>
              <a:rPr lang="en-GB" altLang="en-US" sz="2000" dirty="0"/>
              <a:t>Thinking: Using </a:t>
            </a:r>
            <a:r>
              <a:rPr lang="en-GB" altLang="zh-CN" sz="2000" dirty="0"/>
              <a:t>the getContent() </a:t>
            </a:r>
            <a:r>
              <a:rPr lang="en-GB" altLang="en-US" sz="2000" dirty="0"/>
              <a:t>method: </a:t>
            </a:r>
            <a:endParaRPr lang="en-GB" altLang="en-US" sz="2000" dirty="0"/>
          </a:p>
          <a:p>
            <a:pPr>
              <a:spcBef>
                <a:spcPct val="0"/>
              </a:spcBef>
              <a:buClrTx/>
              <a:buSzTx/>
            </a:pPr>
            <a:r>
              <a:rPr lang="en-GB" altLang="en-US" sz="2000" dirty="0"/>
              <a:t>It is difficult to predict what kind of object ( </a:t>
            </a:r>
            <a:r>
              <a:rPr lang="en-GB" altLang="zh-CN" sz="2000" dirty="0"/>
              <a:t>InputStream/ImageProducer/AudioClip </a:t>
            </a:r>
            <a:r>
              <a:rPr lang="en-GB" altLang="en-US" sz="2000" dirty="0"/>
              <a:t>) will be obtained.</a:t>
            </a:r>
            <a:endParaRPr lang="en-US" altLang="zh-CN" sz="2000" dirty="0"/>
          </a:p>
          <a:p>
            <a:pPr>
              <a:spcBef>
                <a:spcPct val="0"/>
              </a:spcBef>
              <a:buClrTx/>
              <a:buSzTx/>
            </a:pPr>
            <a:r>
              <a:rPr lang="en-GB" altLang="en-US" sz="2000" dirty="0"/>
              <a:t>You need to use </a:t>
            </a:r>
            <a:r>
              <a:rPr lang="en-GB" altLang="zh-CN" sz="2000" dirty="0"/>
              <a:t>the instanceof </a:t>
            </a:r>
            <a:r>
              <a:rPr lang="en-GB" altLang="en-US" sz="2000" dirty="0"/>
              <a:t>operator to check.</a:t>
            </a:r>
            <a:endParaRPr lang="en-GB" altLang="en-US" sz="2000" dirty="0"/>
          </a:p>
        </p:txBody>
      </p:sp>
      <p:sp>
        <p:nvSpPr>
          <p:cNvPr id="32773" name="TextBox 6"/>
          <p:cNvSpPr txBox="1">
            <a:spLocks noChangeArrowheads="1"/>
          </p:cNvSpPr>
          <p:nvPr/>
        </p:nvSpPr>
        <p:spPr bwMode="auto">
          <a:xfrm>
            <a:off x="381000" y="982663"/>
            <a:ext cx="11506199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n-GB" altLang="en-US" sz="2400" dirty="0"/>
              <a:t>Run: Run </a:t>
            </a:r>
            <a:r>
              <a:rPr lang="en-GB" altLang="zh-CN" sz="2400" dirty="0"/>
              <a:t>ContentGetter </a:t>
            </a:r>
            <a:r>
              <a:rPr lang="en-GB" altLang="en-US" sz="2400" dirty="0"/>
              <a:t>and enter the parameter </a:t>
            </a:r>
            <a:r>
              <a:rPr lang="en-GB" altLang="zh-CN" sz="2400" dirty="0"/>
              <a:t>http://www1.szu.edu.cn </a:t>
            </a:r>
            <a:r>
              <a:rPr lang="en-GB" altLang="en-US" sz="2400" dirty="0"/>
              <a:t>. </a:t>
            </a:r>
            <a:endParaRPr lang="en-GB" altLang="en-US" sz="2400" dirty="0"/>
          </a:p>
          <a:p>
            <a:pPr>
              <a:spcBef>
                <a:spcPct val="0"/>
              </a:spcBef>
              <a:buClrTx/>
              <a:buSzTx/>
            </a:pPr>
            <a:r>
              <a:rPr lang="en-GB" altLang="en-US" sz="2400" dirty="0"/>
              <a:t>The results are as follows</a:t>
            </a:r>
            <a:endParaRPr lang="en-GB" altLang="en-US" sz="2400" dirty="0"/>
          </a:p>
        </p:txBody>
      </p:sp>
      <p:pic>
        <p:nvPicPr>
          <p:cNvPr id="32774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25625"/>
            <a:ext cx="10744200" cy="10720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标题 1"/>
          <p:cNvSpPr>
            <a:spLocks noGrp="1"/>
          </p:cNvSpPr>
          <p:nvPr>
            <p:ph type="title"/>
          </p:nvPr>
        </p:nvSpPr>
        <p:spPr>
          <a:xfrm>
            <a:off x="1524000" y="112714"/>
            <a:ext cx="8540750" cy="428625"/>
          </a:xfrm>
        </p:spPr>
        <p:txBody>
          <a:bodyPr/>
          <a:lstStyle/>
          <a:p>
            <a:pPr algn="l"/>
            <a:r>
              <a:rPr lang="en-GB" altLang="en-US" sz="3200"/>
              <a:t>Decomposing </a:t>
            </a:r>
            <a:r>
              <a:rPr lang="en-GB" altLang="zh-CN" sz="3200"/>
              <a:t>URLs</a:t>
            </a:r>
            <a:endParaRPr lang="zh-CN" altLang="en-US" sz="3200"/>
          </a:p>
        </p:txBody>
      </p:sp>
      <p:sp>
        <p:nvSpPr>
          <p:cNvPr id="33795" name="内容占位符 2"/>
          <p:cNvSpPr>
            <a:spLocks noGrp="1"/>
          </p:cNvSpPr>
          <p:nvPr>
            <p:ph idx="1"/>
          </p:nvPr>
        </p:nvSpPr>
        <p:spPr>
          <a:xfrm>
            <a:off x="1524000" y="735013"/>
            <a:ext cx="10058400" cy="2887662"/>
          </a:xfrm>
        </p:spPr>
        <p:txBody>
          <a:bodyPr/>
          <a:lstStyle/>
          <a:p>
            <a:r>
              <a:rPr lang="en-GB" altLang="zh-CN" sz="2400" dirty="0"/>
              <a:t>The 5 </a:t>
            </a:r>
            <a:r>
              <a:rPr lang="en-GB" altLang="en-US" sz="2400" dirty="0"/>
              <a:t>Parts 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Scheme </a:t>
            </a:r>
            <a:r>
              <a:rPr lang="en-GB" altLang="zh-CN" sz="2400" dirty="0"/>
              <a:t>, </a:t>
            </a:r>
            <a:r>
              <a:rPr lang="en-GB" altLang="en-US" sz="2400" dirty="0"/>
              <a:t>i.e. protocol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authority</a:t>
            </a:r>
            <a:r>
              <a:rPr lang="en-GB" altLang="zh-CN" sz="2400" dirty="0"/>
              <a:t>​</a:t>
            </a:r>
            <a:r>
              <a:rPr lang="en-GB" altLang="en-US" sz="2400" dirty="0"/>
              <a:t>​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path</a:t>
            </a:r>
            <a:r>
              <a:rPr lang="en-GB" altLang="zh-CN" sz="2400" dirty="0"/>
              <a:t>​</a:t>
            </a:r>
            <a:r>
              <a:rPr lang="en-GB" altLang="en-US" sz="2400" dirty="0"/>
              <a:t>​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Fragment identifier ( </a:t>
            </a:r>
            <a:r>
              <a:rPr lang="en-GB" altLang="zh-CN" sz="2400" dirty="0"/>
              <a:t>fragment identifier/section /ref </a:t>
            </a:r>
            <a:r>
              <a:rPr lang="en-GB" altLang="en-US" sz="2400" dirty="0"/>
              <a:t>)</a:t>
            </a:r>
            <a:endParaRPr lang="en-US" altLang="zh-CN" sz="16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query </a:t>
            </a:r>
            <a:r>
              <a:rPr lang="en-GB" altLang="zh-CN" sz="2400" dirty="0"/>
              <a:t>string</a:t>
            </a:r>
            <a:r>
              <a:rPr lang="en-GB" altLang="en-US" sz="2400" dirty="0"/>
              <a:t>​</a:t>
            </a:r>
            <a:endParaRPr lang="en-GB" altLang="en-US" sz="2400" dirty="0"/>
          </a:p>
        </p:txBody>
      </p:sp>
      <p:grpSp>
        <p:nvGrpSpPr>
          <p:cNvPr id="4" name="Group 82"/>
          <p:cNvGrpSpPr/>
          <p:nvPr/>
        </p:nvGrpSpPr>
        <p:grpSpPr bwMode="auto">
          <a:xfrm>
            <a:off x="1752600" y="4268788"/>
            <a:ext cx="1143000" cy="1293812"/>
            <a:chOff x="240" y="2112"/>
            <a:chExt cx="804" cy="815"/>
          </a:xfrm>
        </p:grpSpPr>
        <p:sp>
          <p:nvSpPr>
            <p:cNvPr id="33815" name="Rectangle 83"/>
            <p:cNvSpPr>
              <a:spLocks noChangeArrowheads="1"/>
            </p:cNvSpPr>
            <p:nvPr/>
          </p:nvSpPr>
          <p:spPr bwMode="auto">
            <a:xfrm>
              <a:off x="240" y="2112"/>
              <a:ext cx="528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816" name="AutoShape 84"/>
            <p:cNvSpPr/>
            <p:nvPr/>
          </p:nvSpPr>
          <p:spPr bwMode="auto">
            <a:xfrm>
              <a:off x="240" y="2688"/>
              <a:ext cx="804" cy="239"/>
            </a:xfrm>
            <a:prstGeom prst="borderCallout1">
              <a:avLst>
                <a:gd name="adj1" fmla="val -4204"/>
                <a:gd name="adj2" fmla="val 32810"/>
                <a:gd name="adj3" fmla="val -106338"/>
                <a:gd name="adj4" fmla="val 23477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8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Protocol</a:t>
              </a:r>
              <a:endParaRPr lang="en-GB" altLang="zh-CN" sz="18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7" name="Group 85"/>
          <p:cNvGrpSpPr/>
          <p:nvPr/>
        </p:nvGrpSpPr>
        <p:grpSpPr bwMode="auto">
          <a:xfrm>
            <a:off x="1981201" y="4268788"/>
            <a:ext cx="2657475" cy="2360612"/>
            <a:chOff x="530" y="2352"/>
            <a:chExt cx="2254" cy="1487"/>
          </a:xfrm>
        </p:grpSpPr>
        <p:sp>
          <p:nvSpPr>
            <p:cNvPr id="33813" name="Rectangle 86"/>
            <p:cNvSpPr>
              <a:spLocks noChangeArrowheads="1"/>
            </p:cNvSpPr>
            <p:nvPr/>
          </p:nvSpPr>
          <p:spPr bwMode="auto">
            <a:xfrm>
              <a:off x="1104" y="2352"/>
              <a:ext cx="1680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814" name="AutoShape 87"/>
            <p:cNvSpPr/>
            <p:nvPr/>
          </p:nvSpPr>
          <p:spPr bwMode="auto">
            <a:xfrm>
              <a:off x="530" y="3408"/>
              <a:ext cx="895" cy="431"/>
            </a:xfrm>
            <a:prstGeom prst="borderCallout1">
              <a:avLst>
                <a:gd name="adj1" fmla="val 12500"/>
                <a:gd name="adj2" fmla="val 106630"/>
                <a:gd name="adj3" fmla="val -163338"/>
                <a:gd name="adj4" fmla="val 121944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8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Host Name</a:t>
              </a:r>
              <a:endParaRPr lang="en-GB" altLang="zh-CN" sz="18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0" name="Group 98"/>
          <p:cNvGrpSpPr/>
          <p:nvPr/>
        </p:nvGrpSpPr>
        <p:grpSpPr bwMode="auto">
          <a:xfrm>
            <a:off x="3641726" y="4275138"/>
            <a:ext cx="1476375" cy="1562100"/>
            <a:chOff x="1769" y="2209"/>
            <a:chExt cx="930" cy="984"/>
          </a:xfrm>
        </p:grpSpPr>
        <p:sp>
          <p:nvSpPr>
            <p:cNvPr id="33811" name="Rectangle 89"/>
            <p:cNvSpPr>
              <a:spLocks noChangeArrowheads="1"/>
            </p:cNvSpPr>
            <p:nvPr/>
          </p:nvSpPr>
          <p:spPr bwMode="auto">
            <a:xfrm>
              <a:off x="2438" y="2209"/>
              <a:ext cx="261" cy="373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812" name="AutoShape 90"/>
            <p:cNvSpPr/>
            <p:nvPr/>
          </p:nvSpPr>
          <p:spPr bwMode="auto">
            <a:xfrm>
              <a:off x="1769" y="2750"/>
              <a:ext cx="698" cy="443"/>
            </a:xfrm>
            <a:prstGeom prst="borderCallout1">
              <a:avLst>
                <a:gd name="adj1" fmla="val 12880"/>
                <a:gd name="adj2" fmla="val 105569"/>
                <a:gd name="adj3" fmla="val -45472"/>
                <a:gd name="adj4" fmla="val 115875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8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Port Number</a:t>
              </a:r>
              <a:endParaRPr lang="en-US" altLang="zh-CN" sz="22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91"/>
          <p:cNvGrpSpPr/>
          <p:nvPr/>
        </p:nvGrpSpPr>
        <p:grpSpPr bwMode="auto">
          <a:xfrm>
            <a:off x="5191125" y="4270376"/>
            <a:ext cx="2863850" cy="1368425"/>
            <a:chOff x="3072" y="2352"/>
            <a:chExt cx="1559" cy="862"/>
          </a:xfrm>
        </p:grpSpPr>
        <p:sp>
          <p:nvSpPr>
            <p:cNvPr id="33809" name="Rectangle 92"/>
            <p:cNvSpPr>
              <a:spLocks noChangeArrowheads="1"/>
            </p:cNvSpPr>
            <p:nvPr/>
          </p:nvSpPr>
          <p:spPr bwMode="auto">
            <a:xfrm>
              <a:off x="3072" y="2352"/>
              <a:ext cx="1559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810" name="AutoShape 93"/>
            <p:cNvSpPr/>
            <p:nvPr/>
          </p:nvSpPr>
          <p:spPr bwMode="auto">
            <a:xfrm>
              <a:off x="3084" y="2880"/>
              <a:ext cx="919" cy="334"/>
            </a:xfrm>
            <a:prstGeom prst="borderCallout1">
              <a:avLst>
                <a:gd name="adj1" fmla="val 12500"/>
                <a:gd name="adj2" fmla="val 107694"/>
                <a:gd name="adj3" fmla="val -49407"/>
                <a:gd name="adj4" fmla="val 114153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6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Path &amp; File Name</a:t>
              </a:r>
              <a:endParaRPr lang="en-GB" altLang="zh-CN" sz="16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97"/>
          <p:cNvGrpSpPr/>
          <p:nvPr/>
        </p:nvGrpSpPr>
        <p:grpSpPr bwMode="auto">
          <a:xfrm>
            <a:off x="8710614" y="4268789"/>
            <a:ext cx="1957387" cy="1323975"/>
            <a:chOff x="4210" y="2205"/>
            <a:chExt cx="1540" cy="834"/>
          </a:xfrm>
        </p:grpSpPr>
        <p:sp>
          <p:nvSpPr>
            <p:cNvPr id="33807" name="Rectangle 95"/>
            <p:cNvSpPr>
              <a:spLocks noChangeArrowheads="1"/>
            </p:cNvSpPr>
            <p:nvPr/>
          </p:nvSpPr>
          <p:spPr bwMode="auto">
            <a:xfrm>
              <a:off x="4241" y="2205"/>
              <a:ext cx="1509" cy="384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808" name="AutoShape 96"/>
            <p:cNvSpPr/>
            <p:nvPr/>
          </p:nvSpPr>
          <p:spPr bwMode="auto">
            <a:xfrm>
              <a:off x="4210" y="2800"/>
              <a:ext cx="1195" cy="239"/>
            </a:xfrm>
            <a:prstGeom prst="borderCallout1">
              <a:avLst>
                <a:gd name="adj1" fmla="val 3449"/>
                <a:gd name="adj2" fmla="val 64602"/>
                <a:gd name="adj3" fmla="val -100537"/>
                <a:gd name="adj4" fmla="val 72005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8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Reference</a:t>
              </a:r>
              <a:endParaRPr lang="en-GB" altLang="zh-CN" sz="18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9" name="Group 97"/>
          <p:cNvGrpSpPr/>
          <p:nvPr/>
        </p:nvGrpSpPr>
        <p:grpSpPr bwMode="auto">
          <a:xfrm>
            <a:off x="7364413" y="4268789"/>
            <a:ext cx="1363662" cy="1323975"/>
            <a:chOff x="3448" y="2194"/>
            <a:chExt cx="2161" cy="1236"/>
          </a:xfrm>
        </p:grpSpPr>
        <p:sp>
          <p:nvSpPr>
            <p:cNvPr id="33805" name="Rectangle 95"/>
            <p:cNvSpPr>
              <a:spLocks noChangeArrowheads="1"/>
            </p:cNvSpPr>
            <p:nvPr/>
          </p:nvSpPr>
          <p:spPr bwMode="auto">
            <a:xfrm>
              <a:off x="4577" y="2194"/>
              <a:ext cx="1032" cy="578"/>
            </a:xfrm>
            <a:prstGeom prst="rect">
              <a:avLst/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he-IL" altLang="zh-CN" sz="16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33806" name="AutoShape 96"/>
            <p:cNvSpPr/>
            <p:nvPr/>
          </p:nvSpPr>
          <p:spPr bwMode="auto">
            <a:xfrm>
              <a:off x="3448" y="3071"/>
              <a:ext cx="1861" cy="359"/>
            </a:xfrm>
            <a:prstGeom prst="borderCallout1">
              <a:avLst>
                <a:gd name="adj1" fmla="val 4778"/>
                <a:gd name="adj2" fmla="val 70912"/>
                <a:gd name="adj3" fmla="val -106306"/>
                <a:gd name="adj4" fmla="val 79968"/>
              </a:avLst>
            </a:prstGeom>
            <a:solidFill>
              <a:srgbClr val="FFFFCC"/>
            </a:solidFill>
            <a:ln w="9525">
              <a:solidFill>
                <a:schemeClr val="hlink"/>
              </a:solidFill>
              <a:miter lim="800000"/>
            </a:ln>
          </p:spPr>
          <p:txBody>
            <a:bodyPr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85000"/>
                <a:buFont typeface="Wingdings 2" panose="05020102010507070707" pitchFamily="18" charset="2"/>
                <a:buChar char="¡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85000"/>
                <a:buFont typeface="Wingdings" panose="05000000000000000000" pitchFamily="2" charset="2"/>
                <a:buChar char="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lr>
                  <a:schemeClr val="hlink"/>
                </a:buClr>
                <a:buSzPct val="90000"/>
                <a:buFont typeface="Wingdings" panose="05000000000000000000" pitchFamily="2" charset="2"/>
                <a:buChar char="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90000"/>
                <a:buFont typeface="Wingdings 2" panose="05020102010507070707" pitchFamily="18" charset="2"/>
                <a:buChar char="¡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rtl="1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GB" altLang="zh-CN" sz="1800">
                  <a:solidFill>
                    <a:srgbClr val="CC0000"/>
                  </a:solidFill>
                  <a:latin typeface="Comic Sans MS" panose="030F0702030302020204" pitchFamily="66" charset="0"/>
                  <a:cs typeface="Arial" panose="020B0604020202020204" pitchFamily="34" charset="0"/>
                </a:rPr>
                <a:t>query</a:t>
              </a:r>
              <a:endParaRPr lang="en-GB" altLang="zh-CN" sz="1800">
                <a:solidFill>
                  <a:srgbClr val="CC0000"/>
                </a:solidFill>
                <a:latin typeface="Comic Sans MS" panose="030F0702030302020204" pitchFamily="66" charset="0"/>
                <a:cs typeface="Arial" panose="020B0604020202020204" pitchFamily="34" charset="0"/>
              </a:endParaRPr>
            </a:p>
          </p:txBody>
        </p:sp>
      </p:grpSp>
      <p:sp>
        <p:nvSpPr>
          <p:cNvPr id="33802" name="矩形 21"/>
          <p:cNvSpPr>
            <a:spLocks noChangeArrowheads="1"/>
          </p:cNvSpPr>
          <p:nvPr/>
        </p:nvSpPr>
        <p:spPr bwMode="auto">
          <a:xfrm>
            <a:off x="1400176" y="4392614"/>
            <a:ext cx="9420225" cy="38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lvl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300"/>
              <a:t>http://www.szu.edu.cn:80/path1/path2/index.jsp?q=szu#Networking</a:t>
            </a:r>
            <a:endParaRPr lang="en-GB" altLang="zh-CN" sz="2300"/>
          </a:p>
        </p:txBody>
      </p:sp>
      <p:sp>
        <p:nvSpPr>
          <p:cNvPr id="33803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C892EE-CA9E-4DC5-814E-99783E6FA6CF}" type="slidenum">
              <a:rPr lang="en-US" altLang="zh-CN" sz="1400"/>
            </a:fld>
            <a:endParaRPr lang="en-US" altLang="zh-CN" sz="1400"/>
          </a:p>
        </p:txBody>
      </p:sp>
      <p:sp>
        <p:nvSpPr>
          <p:cNvPr id="2" name="文本框 1"/>
          <p:cNvSpPr txBox="1"/>
          <p:nvPr/>
        </p:nvSpPr>
        <p:spPr>
          <a:xfrm>
            <a:off x="1981200" y="3429001"/>
            <a:ext cx="100584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zh-CN" sz="2000" dirty="0"/>
              <a:t>Authority: </a:t>
            </a:r>
            <a:r>
              <a:rPr lang="en-US" altLang="en-US" sz="2000" dirty="0"/>
              <a:t>It is the content between // and the port number, including the port number.</a:t>
            </a:r>
            <a:endParaRPr lang="en-US" altLang="zh-CN" sz="2000" dirty="0"/>
          </a:p>
          <a:p>
            <a:r>
              <a:rPr lang="en-GB" altLang="zh-CN" sz="2000" dirty="0">
                <a:solidFill>
                  <a:srgbClr val="3477FF"/>
                </a:solidFill>
              </a:rPr>
              <a:t>www.szu.edu.cn:80</a:t>
            </a:r>
            <a:endParaRPr lang="zh-CN" altLang="en-US" sz="2000" dirty="0">
              <a:solidFill>
                <a:srgbClr val="3477FF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标题 1"/>
          <p:cNvSpPr>
            <a:spLocks noGrp="1"/>
          </p:cNvSpPr>
          <p:nvPr>
            <p:ph type="title"/>
          </p:nvPr>
        </p:nvSpPr>
        <p:spPr>
          <a:xfrm>
            <a:off x="1600200" y="312964"/>
            <a:ext cx="8540750" cy="457200"/>
          </a:xfrm>
        </p:spPr>
        <p:txBody>
          <a:bodyPr/>
          <a:lstStyle/>
          <a:p>
            <a:pPr algn="l"/>
            <a:r>
              <a:rPr lang="en-GB" altLang="en-US" sz="3200" dirty="0"/>
              <a:t>Decomposing </a:t>
            </a:r>
            <a:r>
              <a:rPr lang="en-GB" altLang="zh-CN" sz="3200" dirty="0"/>
              <a:t>URLs</a:t>
            </a:r>
            <a:endParaRPr lang="zh-CN" altLang="en-US" sz="3200" dirty="0"/>
          </a:p>
        </p:txBody>
      </p:sp>
      <p:sp>
        <p:nvSpPr>
          <p:cNvPr id="24579" name="内容占位符 2"/>
          <p:cNvSpPr>
            <a:spLocks noGrp="1"/>
          </p:cNvSpPr>
          <p:nvPr>
            <p:ph idx="1"/>
          </p:nvPr>
        </p:nvSpPr>
        <p:spPr>
          <a:xfrm>
            <a:off x="304800" y="770164"/>
            <a:ext cx="11658600" cy="5714999"/>
          </a:xfrm>
        </p:spPr>
        <p:txBody>
          <a:bodyPr/>
          <a:lstStyle/>
          <a:p>
            <a:r>
              <a:rPr lang="en-GB" altLang="zh-CN" sz="2800" dirty="0"/>
              <a:t>The URL </a:t>
            </a:r>
            <a:r>
              <a:rPr lang="en-GB" altLang="en-US" sz="2800" dirty="0"/>
              <a:t>class provides </a:t>
            </a:r>
            <a:r>
              <a:rPr lang="en-GB" altLang="zh-CN" sz="2800" dirty="0"/>
              <a:t>9 </a:t>
            </a:r>
            <a:r>
              <a:rPr lang="en-GB" altLang="en-US" sz="2800" dirty="0"/>
              <a:t>public methods to read </a:t>
            </a:r>
            <a:r>
              <a:rPr lang="en-GB" altLang="zh-CN" sz="2800" dirty="0"/>
              <a:t>URL </a:t>
            </a:r>
            <a:r>
              <a:rPr lang="en-GB" altLang="en-US" sz="2800" dirty="0"/>
              <a:t>information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getFile()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getHost()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getPort()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getProtocol()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getRef()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getQuery()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getPath()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getUserInfo() 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</a:rPr>
              <a:t>,</a:t>
            </a:r>
            <a:endParaRPr lang="en-GB" altLang="zh-CN" sz="2400" dirty="0">
              <a:solidFill>
                <a:srgbClr val="1B1C20"/>
              </a:solidFill>
              <a:latin typeface="Times New Roman" panose="02020603050405020304" pitchFamily="18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getAuthority()</a:t>
            </a:r>
            <a:endParaRPr lang="en-GB" altLang="zh-CN" sz="2400" dirty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GB" altLang="zh-CN" dirty="0">
                <a:solidFill>
                  <a:srgbClr val="1B1C20"/>
                </a:solidFill>
                <a:latin typeface="Courier New" panose="02070309020205020404" pitchFamily="49" charset="0"/>
                <a:hlinkClick r:id="rId1"/>
              </a:rPr>
              <a:t>http:// </a:t>
            </a:r>
            <a:r>
              <a:rPr lang="en-GB" altLang="zh-CN" dirty="0">
                <a:solidFill>
                  <a:srgbClr val="FF0000"/>
                </a:solidFill>
                <a:latin typeface="Courier New" panose="02070309020205020404" pitchFamily="49" charset="0"/>
                <a:hlinkClick r:id="rId1"/>
              </a:rPr>
              <a:t>admin </a:t>
            </a:r>
            <a:r>
              <a:rPr lang="en-GB" altLang="zh-CN" dirty="0">
                <a:solidFill>
                  <a:srgbClr val="1B1C20"/>
                </a:solidFill>
                <a:latin typeface="Courier New" panose="02070309020205020404" pitchFamily="49" charset="0"/>
                <a:hlinkClick r:id="rId1"/>
              </a:rPr>
              <a:t>@www.blackstar.com:8080/</a:t>
            </a:r>
            <a:endParaRPr lang="en-US" altLang="zh-CN" dirty="0">
              <a:solidFill>
                <a:srgbClr val="1B1C20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None/>
            </a:pPr>
            <a:r>
              <a:rPr lang="en-GB" altLang="en-US" sz="2400" dirty="0">
                <a:solidFill>
                  <a:srgbClr val="1B1C20"/>
                </a:solidFill>
                <a:latin typeface="Courier New" panose="02070309020205020404" pitchFamily="49" charset="0"/>
              </a:rPr>
              <a:t>Authorized agency 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admin@www.blackstar.com:8080</a:t>
            </a:r>
            <a:endParaRPr lang="en-US" altLang="zh-CN" sz="2400" dirty="0"/>
          </a:p>
        </p:txBody>
      </p:sp>
      <p:sp>
        <p:nvSpPr>
          <p:cNvPr id="3482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897D3A4-2C78-4A07-9153-9DA69D963A3C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392113"/>
            <a:ext cx="11353800" cy="5135562"/>
          </a:xfrm>
        </p:spPr>
        <p:txBody>
          <a:bodyPr/>
          <a:lstStyle/>
          <a:p>
            <a:r>
              <a:rPr lang="en-GB" altLang="zh-CN" sz="2800" dirty="0"/>
              <a:t>public String getProtocol()</a:t>
            </a:r>
            <a:r>
              <a:rPr lang="en-US" altLang="en-GB" sz="2800" dirty="0"/>
              <a:t>  //</a:t>
            </a:r>
            <a:r>
              <a:rPr lang="zh-CN" altLang="en-US" sz="2800" dirty="0"/>
              <a:t>协议内容</a:t>
            </a:r>
            <a:endParaRPr lang="en-GB" altLang="zh-CN" sz="2800" dirty="0"/>
          </a:p>
          <a:p>
            <a:r>
              <a:rPr lang="en-GB" altLang="en-US" sz="2800" dirty="0"/>
              <a:t>Returns the protocol in </a:t>
            </a:r>
            <a:r>
              <a:rPr lang="en-US" altLang="en-US" sz="2800" dirty="0" err="1"/>
              <a:t>url</a:t>
            </a:r>
            <a:r>
              <a:rPr lang="en-GB" altLang="en-US" sz="2800" dirty="0"/>
              <a:t> </a:t>
            </a:r>
            <a:endParaRPr lang="en-US" altLang="zh-CN" sz="2800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endParaRPr lang="en-US" altLang="zh-CN" dirty="0"/>
          </a:p>
          <a:p>
            <a:r>
              <a:rPr lang="en-GB" altLang="zh-CN" sz="2800" dirty="0"/>
              <a:t>public String getHost()</a:t>
            </a:r>
            <a:r>
              <a:rPr lang="en-US" altLang="en-GB" sz="2800" dirty="0"/>
              <a:t>  //</a:t>
            </a:r>
            <a:r>
              <a:rPr lang="zh-CN" altLang="en-US" sz="2800" dirty="0"/>
              <a:t>域名</a:t>
            </a:r>
            <a:endParaRPr lang="en-US" altLang="en-GB" sz="2800" dirty="0"/>
          </a:p>
          <a:p>
            <a:r>
              <a:rPr lang="en-GB" altLang="en-US" sz="2800" dirty="0"/>
              <a:t>Returns the host in </a:t>
            </a:r>
            <a:r>
              <a:rPr lang="en-GB" altLang="zh-CN" sz="2800" dirty="0"/>
              <a:t>the url </a:t>
            </a:r>
            <a:r>
              <a:rPr lang="en-GB" altLang="en-US" sz="2800" dirty="0"/>
              <a:t>as a string.</a:t>
            </a:r>
            <a:endParaRPr lang="en-US" altLang="zh-CN" sz="2800" dirty="0"/>
          </a:p>
        </p:txBody>
      </p:sp>
      <p:sp>
        <p:nvSpPr>
          <p:cNvPr id="35843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8F54BC-5C7C-4BAB-958D-22A59885BD37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1814513" y="1604964"/>
            <a:ext cx="8305800" cy="1347787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b="1" dirty="0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"https://xkcd.com/ a /"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Courier New" panose="02070309020205020404" pitchFamily="49" charset="0"/>
              </a:rPr>
              <a:t>u.getProtocol()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Courier New" panose="02070309020205020404" pitchFamily="49" charset="0"/>
              </a:rPr>
              <a:t>Display output string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" </a:t>
            </a:r>
            <a:r>
              <a:rPr lang="en-GB" altLang="zh-CN" sz="2400" dirty="0">
                <a:solidFill>
                  <a:srgbClr val="FF0000"/>
                </a:solidFill>
                <a:latin typeface="Courier New" panose="02070309020205020404" pitchFamily="49" charset="0"/>
              </a:rPr>
              <a:t>https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"</a:t>
            </a:r>
            <a:endParaRPr lang="en-GB" altLang="zh-CN" sz="2400" dirty="0">
              <a:solidFill>
                <a:srgbClr val="000088"/>
              </a:solidFill>
              <a:latin typeface="Courier New" panose="02070309020205020404" pitchFamily="49" charset="0"/>
            </a:endParaRP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1792288" y="4267200"/>
            <a:ext cx="8305800" cy="134778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u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URL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>
                <a:solidFill>
                  <a:srgbClr val="CC3300"/>
                </a:solidFill>
                <a:latin typeface="Courier New" panose="02070309020205020404" pitchFamily="49" charset="0"/>
              </a:rPr>
              <a:t>"https://xkcd.com/ a /"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pl-PL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System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>
                <a:solidFill>
                  <a:srgbClr val="330099"/>
                </a:solidFill>
                <a:latin typeface="Courier New" panose="02070309020205020404" pitchFamily="49" charset="0"/>
              </a:rPr>
              <a:t>out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>
                <a:solidFill>
                  <a:srgbClr val="330099"/>
                </a:solidFill>
                <a:latin typeface="Courier New" panose="02070309020205020404" pitchFamily="49" charset="0"/>
              </a:rPr>
              <a:t>println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>
                <a:solidFill>
                  <a:srgbClr val="FF0000"/>
                </a:solidFill>
                <a:latin typeface="Courier New" panose="02070309020205020404" pitchFamily="49" charset="0"/>
              </a:rPr>
              <a:t>u.get Host ()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pl-PL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>
                <a:solidFill>
                  <a:srgbClr val="000088"/>
                </a:solidFill>
                <a:latin typeface="Courier New" panose="02070309020205020404" pitchFamily="49" charset="0"/>
              </a:rPr>
              <a:t>Displays the output string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" </a:t>
            </a:r>
            <a:r>
              <a:rPr lang="en-GB" altLang="zh-CN" sz="2400">
                <a:solidFill>
                  <a:srgbClr val="FF0000"/>
                </a:solidFill>
                <a:latin typeface="Courier New" panose="02070309020205020404" pitchFamily="49" charset="0"/>
              </a:rPr>
              <a:t>xkcd.com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"</a:t>
            </a:r>
            <a:endParaRPr lang="en-GB" altLang="zh-CN" sz="2400">
              <a:solidFill>
                <a:srgbClr val="000088"/>
              </a:solidFill>
              <a:latin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514351"/>
            <a:ext cx="11125200" cy="5730874"/>
          </a:xfrm>
        </p:spPr>
        <p:txBody>
          <a:bodyPr/>
          <a:lstStyle/>
          <a:p>
            <a:r>
              <a:rPr lang="en-GB" altLang="zh-CN" sz="2800" dirty="0"/>
              <a:t>public int getPort()</a:t>
            </a:r>
            <a:r>
              <a:rPr lang="en-US" altLang="en-GB" sz="2800" dirty="0"/>
              <a:t>         //</a:t>
            </a:r>
            <a:r>
              <a:rPr lang="zh-CN" altLang="en-US" sz="2800" dirty="0"/>
              <a:t>是否显示的指定了端口号</a:t>
            </a:r>
            <a:endParaRPr lang="en-GB" altLang="zh-CN" sz="2800" dirty="0"/>
          </a:p>
          <a:p>
            <a:r>
              <a:rPr lang="en-GB" altLang="en-US" sz="2800" dirty="0"/>
              <a:t>Returns </a:t>
            </a:r>
            <a:r>
              <a:rPr lang="en-GB" altLang="zh-CN" sz="2800" dirty="0"/>
              <a:t>-1 </a:t>
            </a:r>
            <a:r>
              <a:rPr lang="en-GB" altLang="en-US" sz="2800" dirty="0"/>
              <a:t>or the port number specified in </a:t>
            </a:r>
            <a:r>
              <a:rPr lang="en-US" altLang="en-US" sz="2800" dirty="0" err="1"/>
              <a:t>url</a:t>
            </a:r>
            <a:endParaRPr lang="en-US" altLang="zh-CN" sz="2800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endParaRPr lang="en-US" altLang="zh-CN" dirty="0"/>
          </a:p>
          <a:p>
            <a:r>
              <a:rPr lang="en-GB" altLang="zh-CN" sz="2800" dirty="0"/>
              <a:t>public int getDefaultPort </a:t>
            </a:r>
            <a:r>
              <a:rPr lang="en-GB" altLang="zh-CN" sz="2800" dirty="0">
                <a:solidFill>
                  <a:srgbClr val="FF0000"/>
                </a:solidFill>
              </a:rPr>
              <a:t>( </a:t>
            </a:r>
            <a:r>
              <a:rPr lang="en-GB" altLang="zh-CN" sz="2800" dirty="0"/>
              <a:t>)</a:t>
            </a:r>
            <a:r>
              <a:rPr lang="en-US" altLang="en-GB" sz="2800" dirty="0"/>
              <a:t>  //</a:t>
            </a:r>
            <a:r>
              <a:rPr lang="zh-CN" altLang="en-US" sz="2800" dirty="0"/>
              <a:t>返回该协议的</a:t>
            </a:r>
            <a:r>
              <a:rPr lang="en-US" altLang="zh-CN" sz="2800" dirty="0"/>
              <a:t>“</a:t>
            </a:r>
            <a:r>
              <a:rPr lang="zh-CN" altLang="en-US" sz="2800" dirty="0"/>
              <a:t>默认端口号</a:t>
            </a:r>
            <a:r>
              <a:rPr lang="en-US" altLang="zh-CN" sz="2800" dirty="0"/>
              <a:t>”</a:t>
            </a:r>
            <a:endParaRPr lang="en-GB" altLang="zh-CN" sz="2800" dirty="0"/>
          </a:p>
          <a:p>
            <a:r>
              <a:rPr lang="en-GB" altLang="en-US" sz="2800" dirty="0"/>
              <a:t>Returns </a:t>
            </a:r>
            <a:r>
              <a:rPr lang="en-GB" altLang="zh-CN" sz="2800" dirty="0"/>
              <a:t>-1 </a:t>
            </a:r>
            <a:r>
              <a:rPr lang="en-GB" altLang="en-US" sz="2800" dirty="0"/>
              <a:t>or the default port used by the protocol in </a:t>
            </a:r>
            <a:r>
              <a:rPr lang="en-US" altLang="en-US" sz="2800" dirty="0"/>
              <a:t>the </a:t>
            </a:r>
            <a:r>
              <a:rPr lang="en-US" altLang="en-US" sz="2800" dirty="0" err="1"/>
              <a:t>url</a:t>
            </a:r>
            <a:endParaRPr lang="en-US" altLang="zh-CN" sz="2800" dirty="0"/>
          </a:p>
        </p:txBody>
      </p:sp>
      <p:sp>
        <p:nvSpPr>
          <p:cNvPr id="36867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5F52CEE-F885-4CC1-B3E4-8538DE4F5935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431801" y="1676400"/>
            <a:ext cx="8305800" cy="134778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"http:// www.userfriencly.org/ "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u.getP ort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port number is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-1.</a:t>
            </a:r>
            <a:endParaRPr lang="en-GB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矩形 3"/>
          <p:cNvSpPr>
            <a:spLocks noChangeArrowheads="1"/>
          </p:cNvSpPr>
          <p:nvPr/>
        </p:nvSpPr>
        <p:spPr bwMode="auto">
          <a:xfrm>
            <a:off x="431801" y="4660106"/>
            <a:ext cx="8305800" cy="1347788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u = new URL(" </a:t>
            </a:r>
            <a:r>
              <a:rPr lang="en-GB" altLang="zh-CN" sz="24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ftp:// ftp.userfriendly.org:8000/ "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GB" altLang="zh-CN" sz="2400" dirty="0">
              <a:solidFill>
                <a:srgbClr val="33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 DefaultPort( )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GB" altLang="zh-CN" sz="2400" dirty="0">
              <a:solidFill>
                <a:srgbClr val="33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output port number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en-GB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457201"/>
            <a:ext cx="11582400" cy="5135563"/>
          </a:xfrm>
        </p:spPr>
        <p:txBody>
          <a:bodyPr/>
          <a:lstStyle/>
          <a:p>
            <a:r>
              <a:rPr lang="en-GB" altLang="zh-CN" sz="2800" dirty="0"/>
              <a:t>public String getFile()</a:t>
            </a:r>
            <a:r>
              <a:rPr lang="en-US" altLang="en-GB" sz="2800" dirty="0"/>
              <a:t>   //</a:t>
            </a:r>
            <a:r>
              <a:rPr lang="zh-CN" altLang="en-US" sz="2800" dirty="0"/>
              <a:t>路径</a:t>
            </a:r>
            <a:r>
              <a:rPr lang="en-US" altLang="zh-CN" sz="2800" dirty="0"/>
              <a:t>+</a:t>
            </a:r>
            <a:r>
              <a:rPr lang="zh-CN" altLang="en-US" sz="2800" dirty="0"/>
              <a:t>查询参数（</a:t>
            </a:r>
            <a:r>
              <a:rPr lang="en-US" altLang="zh-CN" sz="2800" dirty="0"/>
              <a:t>path+query</a:t>
            </a:r>
            <a:r>
              <a:rPr lang="zh-CN" altLang="en-US" sz="2800" dirty="0"/>
              <a:t>）</a:t>
            </a:r>
            <a:endParaRPr lang="en-US" altLang="en-GB" sz="2800" dirty="0"/>
          </a:p>
          <a:p>
            <a:r>
              <a:rPr lang="en-GB" altLang="en-US" sz="2400" dirty="0"/>
              <a:t>Returns the file part </a:t>
            </a:r>
            <a:r>
              <a:rPr lang="en-US" altLang="en-US" sz="2400" dirty="0"/>
              <a:t>in the </a:t>
            </a:r>
            <a:r>
              <a:rPr lang="en-US" altLang="en-US" sz="2400" dirty="0" err="1"/>
              <a:t>url</a:t>
            </a:r>
            <a:r>
              <a:rPr lang="en-GB" altLang="en-US" sz="2400" dirty="0"/>
              <a:t> </a:t>
            </a:r>
            <a:endParaRPr lang="en-US" altLang="zh-CN" sz="2400" dirty="0"/>
          </a:p>
          <a:p>
            <a:endParaRPr lang="en-US" altLang="zh-CN" dirty="0"/>
          </a:p>
          <a:p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endParaRPr lang="en-US" altLang="zh-CN" dirty="0"/>
          </a:p>
          <a:p>
            <a:r>
              <a:rPr lang="en-GB" altLang="zh-CN" sz="2800" dirty="0"/>
              <a:t>public String getPath()</a:t>
            </a:r>
            <a:r>
              <a:rPr lang="en-US" altLang="en-GB" sz="2800" dirty="0"/>
              <a:t> //</a:t>
            </a:r>
            <a:r>
              <a:rPr lang="zh-CN" altLang="en-US" sz="2800" dirty="0"/>
              <a:t>纯路径，不带参数的路径部分</a:t>
            </a:r>
            <a:endParaRPr lang="en-GB" altLang="zh-CN" sz="2800" dirty="0"/>
          </a:p>
          <a:p>
            <a:r>
              <a:rPr lang="en-GB" altLang="en-US" sz="2400" dirty="0"/>
              <a:t>Return the path and file portion of </a:t>
            </a:r>
            <a:r>
              <a:rPr lang="en-GB" altLang="zh-CN" sz="2400" dirty="0"/>
              <a:t>the URL , </a:t>
            </a:r>
            <a:r>
              <a:rPr lang="en-GB" altLang="en-US" sz="2400" dirty="0">
                <a:solidFill>
                  <a:srgbClr val="FF0000"/>
                </a:solidFill>
              </a:rPr>
              <a:t>excluding the query string </a:t>
            </a:r>
            <a:r>
              <a:rPr lang="en-GB" altLang="en-US" sz="2400" dirty="0"/>
              <a:t>.</a:t>
            </a:r>
            <a:endParaRPr lang="en-US" altLang="zh-CN" sz="2400" dirty="0"/>
          </a:p>
        </p:txBody>
      </p:sp>
      <p:sp>
        <p:nvSpPr>
          <p:cNvPr id="37891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1853E6-A8CF-47E8-AB7B-86A859D50411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457200" y="1576386"/>
            <a:ext cx="9296400" cy="1285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"http://www.szu.edu.cn/doc/index.jsp?q=szu#Networkin"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 File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is: </a:t>
            </a:r>
            <a:r>
              <a:rPr lang="en-GB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/doc/index.jsp?q=szu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457200" y="4419600"/>
            <a:ext cx="9448800" cy="1285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"http://www.szu.edu.cn/doc/index.jsp?q=szu#Networkin"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 Path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is: </a:t>
            </a:r>
            <a:r>
              <a:rPr lang="en-GB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/doc/index.jsp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284163"/>
            <a:ext cx="11734800" cy="5135562"/>
          </a:xfrm>
        </p:spPr>
        <p:txBody>
          <a:bodyPr/>
          <a:lstStyle/>
          <a:p>
            <a:r>
              <a:rPr lang="en-GB" altLang="zh-CN" sz="2800" dirty="0"/>
              <a:t>public String getRef()</a:t>
            </a:r>
            <a:r>
              <a:rPr lang="en-US" altLang="en-GB" sz="2800" dirty="0"/>
              <a:t>  //</a:t>
            </a:r>
            <a:r>
              <a:rPr lang="zh-CN" altLang="en-US" sz="2800" dirty="0"/>
              <a:t>获得锚点片段</a:t>
            </a:r>
            <a:endParaRPr lang="en-GB" altLang="zh-CN" sz="2800" dirty="0"/>
          </a:p>
          <a:p>
            <a:r>
              <a:rPr lang="en-US" altLang="en-US" sz="2400" dirty="0"/>
              <a:t>Returns null or the fragment identifier portion of the </a:t>
            </a:r>
            <a:r>
              <a:rPr lang="en-US" altLang="en-US" sz="2400" dirty="0" err="1"/>
              <a:t>url</a:t>
            </a:r>
            <a:r>
              <a:rPr lang="en-US" altLang="en-US" sz="2400" dirty="0"/>
              <a:t>.</a:t>
            </a:r>
            <a:endParaRPr lang="en-US" altLang="en-US" sz="2400" dirty="0"/>
          </a:p>
          <a:p>
            <a:pPr marL="0" indent="0">
              <a:buNone/>
            </a:pPr>
            <a:endParaRPr lang="en-US" altLang="zh-CN" dirty="0"/>
          </a:p>
          <a:p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endParaRPr lang="en-US" altLang="zh-CN" dirty="0"/>
          </a:p>
          <a:p>
            <a:r>
              <a:rPr lang="en-GB" altLang="zh-CN" sz="2800" dirty="0"/>
              <a:t>public String getQuery()</a:t>
            </a:r>
            <a:r>
              <a:rPr lang="en-US" altLang="en-GB" sz="2800" dirty="0"/>
              <a:t>  //</a:t>
            </a:r>
            <a:r>
              <a:rPr lang="zh-CN" altLang="en-US" sz="2800" dirty="0"/>
              <a:t>获得查询参数</a:t>
            </a:r>
            <a:endParaRPr lang="en-GB" altLang="zh-CN" sz="2800" dirty="0"/>
          </a:p>
          <a:p>
            <a:r>
              <a:rPr lang="en-GB" altLang="en-US" sz="2400" dirty="0"/>
              <a:t>Returns </a:t>
            </a:r>
            <a:r>
              <a:rPr lang="en-GB" altLang="zh-CN" sz="2400" dirty="0"/>
              <a:t>null </a:t>
            </a:r>
            <a:r>
              <a:rPr lang="en-GB" altLang="en-US" sz="2400" dirty="0"/>
              <a:t>or the query string in </a:t>
            </a:r>
            <a:r>
              <a:rPr lang="en-US" altLang="en-US" sz="2400" dirty="0" err="1"/>
              <a:t>url</a:t>
            </a:r>
            <a:endParaRPr lang="en-US" altLang="zh-CN" sz="2400" dirty="0"/>
          </a:p>
        </p:txBody>
      </p:sp>
      <p:sp>
        <p:nvSpPr>
          <p:cNvPr id="39939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E8A98DC-0BA1-48DB-B342-24C640E6F281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381000" y="1333501"/>
            <a:ext cx="11582400" cy="1285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"http://www.szu.edu.cn/doc/index.jsp?q=szu#Networkin"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 Ref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display output is: </a:t>
            </a:r>
            <a:r>
              <a:rPr lang="en-GB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Networkin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304800" y="4105276"/>
            <a:ext cx="11582400" cy="1285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"http://www.szu.edu.cn/doc/index.jsp?q=szu#Networkin"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 Query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display output is: </a:t>
            </a:r>
            <a:r>
              <a:rPr lang="en-GB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q=szu</a:t>
            </a:r>
            <a:endParaRPr lang="en-US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8600" y="381001"/>
            <a:ext cx="11734800" cy="6340474"/>
          </a:xfrm>
        </p:spPr>
        <p:txBody>
          <a:bodyPr/>
          <a:lstStyle/>
          <a:p>
            <a:r>
              <a:rPr lang="en-GB" altLang="zh-CN" sz="2800" dirty="0"/>
              <a:t>public String getUserInfo()</a:t>
            </a:r>
            <a:endParaRPr lang="en-GB" altLang="zh-CN" sz="2800" dirty="0"/>
          </a:p>
          <a:p>
            <a:r>
              <a:rPr lang="en-US" altLang="en-US" sz="2000" dirty="0"/>
              <a:t>Return all the characters beginning from the double slashes (//) after the protocol until before @ in the URL as user information.</a:t>
            </a:r>
            <a:endParaRPr lang="en-US" altLang="zh-CN" dirty="0"/>
          </a:p>
          <a:p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endParaRPr lang="en-US" altLang="zh-CN" dirty="0"/>
          </a:p>
          <a:p>
            <a:endParaRPr lang="en-US" altLang="zh-CN" sz="2800" dirty="0"/>
          </a:p>
          <a:p>
            <a:r>
              <a:rPr lang="en-GB" altLang="zh-CN" sz="2800" dirty="0"/>
              <a:t>public String getAuthority()</a:t>
            </a:r>
            <a:endParaRPr lang="en-GB" altLang="zh-CN" sz="2800" dirty="0"/>
          </a:p>
          <a:p>
            <a:r>
              <a:rPr lang="en-US" altLang="zh-CN" sz="2800" dirty="0"/>
              <a:t>Return the characters from the double slash (//) after the protocol to the path in the URL as the authority information.</a:t>
            </a:r>
            <a:endParaRPr lang="en-GB" altLang="zh-CN" sz="2800" dirty="0"/>
          </a:p>
        </p:txBody>
      </p:sp>
      <p:sp>
        <p:nvSpPr>
          <p:cNvPr id="41987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2E2222F-6739-49B1-AD15-954B3F366B50}" type="slidenum">
              <a:rPr lang="en-US" altLang="zh-CN" sz="1400"/>
            </a:fld>
            <a:endParaRPr lang="en-US" altLang="zh-CN" sz="1400"/>
          </a:p>
        </p:txBody>
      </p:sp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356507" y="1600200"/>
            <a:ext cx="11125200" cy="1655763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18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1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18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ftp :// mp3:secret@ftp.example.com:210/c%3a/stuff/mp3/ " </a:t>
            </a:r>
            <a:r>
              <a:rPr lang="en-GB" altLang="zh-CN" sz="1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u.get UserInfo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display output is: </a:t>
            </a:r>
            <a:r>
              <a:rPr lang="en-GB" altLang="zh-CN" sz="2400" dirty="0">
                <a:solidFill>
                  <a:srgbClr val="FF0000"/>
                </a:solidFill>
                <a:cs typeface="Times New Roman" panose="02020603050405020304" pitchFamily="18" charset="0"/>
              </a:rPr>
              <a:t>mp3:secret</a:t>
            </a:r>
            <a:endParaRPr lang="en-GB" altLang="zh-CN" sz="2400" dirty="0">
              <a:solidFill>
                <a:srgbClr val="FF0000"/>
              </a:solidFill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But in a </a:t>
            </a:r>
            <a:r>
              <a:rPr lang="en-GB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mailto </a:t>
            </a:r>
            <a:r>
              <a:rPr lang="en-GB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en-GB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such as </a:t>
            </a:r>
            <a:r>
              <a:rPr lang="en-GB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maito:elharo@ibiblio.org , elharo@ibiblio.org </a:t>
            </a:r>
            <a:r>
              <a:rPr lang="en-GB" alt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 the path.</a:t>
            </a:r>
            <a:endParaRPr lang="en-US" altLang="zh-C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381000" y="4813301"/>
            <a:ext cx="11125200" cy="128587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18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18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18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URL </a:t>
            </a:r>
            <a:r>
              <a:rPr lang="en-GB" altLang="zh-CN" sz="1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18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ftp :// mp3:secret@ftp.example.com:210/c%3a/stuff/mp3/ " </a:t>
            </a:r>
            <a:r>
              <a:rPr lang="en-GB" altLang="zh-CN" sz="18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println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u. get Authority ()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pl-PL" altLang="zh-CN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output is: </a:t>
            </a:r>
            <a:r>
              <a:rPr lang="en-GB" altLang="zh-CN"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mp3:secret@ftp.example.com:210</a:t>
            </a:r>
            <a:endParaRPr lang="en-GB" altLang="zh-CN" sz="24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114301" y="1628913"/>
            <a:ext cx="5905500" cy="5066002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java.net.*;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URLSplitter {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main(String args[]) {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(int i = 0; i &lt; args.length; i++) {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{ 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URL u </a:t>
            </a:r>
            <a:r>
              <a:rPr lang="en-GB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 new URL(args[i]) </a:t>
            </a: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System.out.println("The URL is " + u );</a:t>
            </a:r>
            <a:endParaRPr lang="en-GB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System.out.println("The scheme is " + u.getProtocol());</a:t>
            </a:r>
            <a:endParaRPr lang="en-GB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System.out.println("The user info is " + u.getUserInfo());</a:t>
            </a:r>
            <a:endParaRPr lang="en-GB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String host = u.getHost();</a:t>
            </a:r>
            <a:endParaRPr lang="en-GB" altLang="zh-CN" sz="1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if (host != null) {  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int atSign = host.indexOf('@');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if (atSign != -1) 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host = host.substring(atSign+1);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System.out.println("The host is " + host);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} 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endParaRPr lang="en-GB" altLang="zh-C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034" name="标题 1"/>
          <p:cNvSpPr>
            <a:spLocks noGrp="1"/>
          </p:cNvSpPr>
          <p:nvPr>
            <p:ph type="title"/>
          </p:nvPr>
        </p:nvSpPr>
        <p:spPr>
          <a:xfrm>
            <a:off x="329293" y="133625"/>
            <a:ext cx="6594475" cy="504688"/>
          </a:xfrm>
        </p:spPr>
        <p:txBody>
          <a:bodyPr/>
          <a:lstStyle/>
          <a:p>
            <a:r>
              <a:rPr lang="en-GB" altLang="zh-CN" sz="3200" b="1" dirty="0"/>
              <a:t>URL </a:t>
            </a:r>
            <a:r>
              <a:rPr lang="en-GB" altLang="en-US" sz="3200" b="1" dirty="0"/>
              <a:t>parsing example</a:t>
            </a:r>
            <a:endParaRPr lang="en-GB" altLang="en-US" sz="3200" b="1" dirty="0"/>
          </a:p>
        </p:txBody>
      </p:sp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329293" y="638313"/>
            <a:ext cx="11201400" cy="990600"/>
          </a:xfrm>
        </p:spPr>
        <p:txBody>
          <a:bodyPr/>
          <a:lstStyle/>
          <a:p>
            <a:pPr marL="0" indent="0">
              <a:buNone/>
            </a:pPr>
            <a:r>
              <a:rPr lang="en-GB" altLang="en-US" sz="2800" dirty="0">
                <a:highlight>
                  <a:srgbClr val="FFFF00"/>
                </a:highlight>
              </a:rPr>
              <a:t>Example </a:t>
            </a:r>
            <a:r>
              <a:rPr lang="en-GB" altLang="zh-CN" sz="2800" dirty="0">
                <a:highlight>
                  <a:srgbClr val="FFFF00"/>
                </a:highlight>
              </a:rPr>
              <a:t>EX5-4 </a:t>
            </a:r>
            <a:r>
              <a:rPr lang="en-GB" altLang="en-US" sz="2800" dirty="0">
                <a:highlight>
                  <a:srgbClr val="FFFF00"/>
                </a:highlight>
              </a:rPr>
              <a:t>: Parsing the components </a:t>
            </a:r>
            <a:r>
              <a:rPr lang="en-US" altLang="en-GB" sz="2800" dirty="0">
                <a:highlight>
                  <a:srgbClr val="FFFF00"/>
                </a:highlight>
              </a:rPr>
              <a:t>//</a:t>
            </a:r>
            <a:r>
              <a:rPr lang="zh-CN" altLang="en-US" sz="2800" dirty="0">
                <a:highlight>
                  <a:srgbClr val="FFFF00"/>
                </a:highlight>
              </a:rPr>
              <a:t>解析组件</a:t>
            </a:r>
            <a:endParaRPr lang="en-US" altLang="zh-CN" sz="2800" dirty="0">
              <a:highlight>
                <a:srgbClr val="FFFF00"/>
              </a:highlight>
            </a:endParaRPr>
          </a:p>
          <a:p>
            <a:pPr marL="0" indent="0">
              <a:buNone/>
            </a:pPr>
            <a:r>
              <a:rPr lang="en-GB" altLang="en-US" sz="2400" dirty="0"/>
              <a:t>Tip: Check out the explanation code</a:t>
            </a:r>
            <a:endParaRPr lang="en-US" altLang="zh-CN" sz="2400" dirty="0"/>
          </a:p>
        </p:txBody>
      </p:sp>
      <p:sp>
        <p:nvSpPr>
          <p:cNvPr id="4403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3FAEF93-13C6-439E-9E59-079E18B89F55}" type="slidenum">
              <a:rPr lang="en-US" altLang="zh-CN" sz="1400"/>
            </a:fld>
            <a:endParaRPr lang="en-US" altLang="zh-CN" sz="1400"/>
          </a:p>
        </p:txBody>
      </p:sp>
      <p:sp>
        <p:nvSpPr>
          <p:cNvPr id="3" name="Rectangle 2"/>
          <p:cNvSpPr/>
          <p:nvPr/>
        </p:nvSpPr>
        <p:spPr>
          <a:xfrm>
            <a:off x="6161314" y="1752600"/>
            <a:ext cx="5617634" cy="4579715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else { System.out.println("The host is null."); }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System.out.println("The port is " + u.getPort());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System.out.println("The path is " + u.getPath());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System.out.println("The ref is " + u.getRef());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System.out.println("The query string is " + u.getQuery());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catch (MalformedURLException ex) {</a:t>
            </a:r>
            <a:endParaRPr lang="en-US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System.err.println(args[i] + " is not a URL I understand.");  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System.out.println();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//for 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//main() 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ct val="20000"/>
              </a:spcBef>
              <a:buClr>
                <a:schemeClr val="folHlink"/>
              </a:buClr>
              <a:buSzPct val="85000"/>
            </a:pPr>
            <a:r>
              <a:rPr lang="en-GB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</a:t>
            </a:r>
            <a:r>
              <a:rPr lang="en-GB" altLang="zh-CN">
                <a:latin typeface="Times New Roman" panose="02020603050405020304" pitchFamily="18" charset="0"/>
                <a:cs typeface="Times New Roman" panose="02020603050405020304" pitchFamily="18" charset="0"/>
              </a:rPr>
              <a:t>//URLSplitter</a:t>
            </a:r>
            <a:endParaRPr lang="en-GB" altLang="zh-C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标题 1"/>
          <p:cNvSpPr>
            <a:spLocks noGrp="1"/>
          </p:cNvSpPr>
          <p:nvPr>
            <p:ph type="title"/>
          </p:nvPr>
        </p:nvSpPr>
        <p:spPr>
          <a:xfrm>
            <a:off x="1825625" y="228600"/>
            <a:ext cx="8540750" cy="762000"/>
          </a:xfrm>
        </p:spPr>
        <p:txBody>
          <a:bodyPr/>
          <a:lstStyle/>
          <a:p>
            <a:r>
              <a:rPr lang="en-GB" altLang="zh-CN" sz="3200"/>
              <a:t>EX5-4 </a:t>
            </a:r>
            <a:r>
              <a:rPr lang="en-GB" altLang="en-US" sz="3200"/>
              <a:t>operation results</a:t>
            </a:r>
            <a:endParaRPr lang="en-GB" altLang="en-US" sz="3200"/>
          </a:p>
        </p:txBody>
      </p:sp>
      <p:sp>
        <p:nvSpPr>
          <p:cNvPr id="45059" name="内容占位符 2"/>
          <p:cNvSpPr>
            <a:spLocks noGrp="1"/>
          </p:cNvSpPr>
          <p:nvPr>
            <p:ph idx="1"/>
          </p:nvPr>
        </p:nvSpPr>
        <p:spPr>
          <a:xfrm>
            <a:off x="2133600" y="1143001"/>
            <a:ext cx="8218488" cy="5135563"/>
          </a:xfrm>
        </p:spPr>
        <p:txBody>
          <a:bodyPr/>
          <a:lstStyle/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/>
              <a:t>Run </a:t>
            </a:r>
            <a:r>
              <a:rPr lang="en-GB" altLang="zh-CN" sz="2400"/>
              <a:t>URLSplitter </a:t>
            </a:r>
            <a:r>
              <a:rPr lang="en-GB" altLang="en-US" sz="2400"/>
              <a:t>and enter the parameters</a:t>
            </a:r>
            <a:endParaRPr lang="en-US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/>
              <a:t>ftp://mp3:mp3@202.38.48.14:21000/c%3a/</a:t>
            </a:r>
            <a:endParaRPr lang="en-GB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/>
              <a:t>http://www.oreilly.com</a:t>
            </a:r>
            <a:endParaRPr lang="en-GB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http://admin@ww.blackstar.com:8080/nywc/composition.html?category=piano.</a:t>
            </a:r>
            <a:endParaRPr lang="en-US" altLang="zh-CN" sz="240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800"/>
              <a:t>The result is</a:t>
            </a:r>
            <a:endParaRPr lang="en-GB" altLang="en-US" sz="2800"/>
          </a:p>
          <a:p>
            <a:endParaRPr lang="en-US" altLang="zh-CN"/>
          </a:p>
          <a:p>
            <a:endParaRPr lang="en-US" altLang="zh-CN"/>
          </a:p>
        </p:txBody>
      </p:sp>
      <p:sp>
        <p:nvSpPr>
          <p:cNvPr id="4506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D8DF744-1401-4788-A794-CAE920E44C41}" type="slidenum">
              <a:rPr lang="en-US" altLang="zh-CN" sz="1400"/>
            </a:fld>
            <a:endParaRPr lang="en-US" altLang="zh-CN" sz="1400"/>
          </a:p>
        </p:txBody>
      </p:sp>
      <p:pic>
        <p:nvPicPr>
          <p:cNvPr id="604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290514"/>
            <a:ext cx="8686800" cy="633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标题 1"/>
          <p:cNvSpPr>
            <a:spLocks noGrp="1"/>
          </p:cNvSpPr>
          <p:nvPr>
            <p:ph type="title"/>
          </p:nvPr>
        </p:nvSpPr>
        <p:spPr>
          <a:xfrm>
            <a:off x="1825625" y="227240"/>
            <a:ext cx="8540750" cy="685800"/>
          </a:xfrm>
        </p:spPr>
        <p:txBody>
          <a:bodyPr/>
          <a:lstStyle/>
          <a:p>
            <a:r>
              <a:rPr lang="en-GB" altLang="en-US" sz="3200" b="1" dirty="0"/>
              <a:t>Compare two </a:t>
            </a:r>
            <a:r>
              <a:rPr lang="en-GB" altLang="zh-CN" sz="3200" b="1" dirty="0"/>
              <a:t>URLs</a:t>
            </a:r>
            <a:endParaRPr lang="zh-CN" altLang="en-US" sz="3200" b="1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904876"/>
            <a:ext cx="11734799" cy="5135563"/>
          </a:xfrm>
        </p:spPr>
        <p:txBody>
          <a:bodyPr/>
          <a:lstStyle/>
          <a:p>
            <a:r>
              <a:rPr lang="en-GB" altLang="en-US" sz="2800" dirty="0"/>
              <a:t>If you want to compare whether two </a:t>
            </a:r>
            <a:r>
              <a:rPr lang="en-GB" altLang="zh-CN" sz="2800" dirty="0"/>
              <a:t>URLs </a:t>
            </a:r>
            <a:r>
              <a:rPr lang="en-GB" altLang="en-US" sz="2800" dirty="0"/>
              <a:t>are the same and whether the resources they point to are the same, how can you program it?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>
                <a:solidFill>
                  <a:srgbClr val="FF0000"/>
                </a:solidFill>
              </a:rPr>
              <a:t>Use the </a:t>
            </a:r>
            <a:r>
              <a:rPr lang="en-GB" altLang="zh-CN" sz="2400" dirty="0">
                <a:solidFill>
                  <a:srgbClr val="FF0000"/>
                </a:solidFill>
              </a:rPr>
              <a:t>equals() method of the URL </a:t>
            </a:r>
            <a:r>
              <a:rPr lang="en-GB" altLang="en-US" sz="2400" dirty="0">
                <a:solidFill>
                  <a:srgbClr val="FF0000"/>
                </a:solidFill>
              </a:rPr>
              <a:t>class .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>
                <a:solidFill>
                  <a:srgbClr val="FF0000"/>
                </a:solidFill>
              </a:rPr>
              <a:t>Or use </a:t>
            </a:r>
            <a:r>
              <a:rPr lang="en-GB" altLang="zh-CN" sz="2400" dirty="0">
                <a:solidFill>
                  <a:srgbClr val="FF0000"/>
                </a:solidFill>
              </a:rPr>
              <a:t>the sameFile() method of the URL </a:t>
            </a:r>
            <a:r>
              <a:rPr lang="en-GB" altLang="en-US" sz="2400" dirty="0">
                <a:solidFill>
                  <a:srgbClr val="FF0000"/>
                </a:solidFill>
              </a:rPr>
              <a:t>class .</a:t>
            </a:r>
            <a:endParaRPr lang="en-US" altLang="en-US" sz="2400" dirty="0">
              <a:solidFill>
                <a:srgbClr val="FF0000"/>
              </a:solidFill>
            </a:endParaRPr>
          </a:p>
          <a:p>
            <a:pPr lvl="1">
              <a:buFont typeface="Wingdings" panose="05000000000000000000" pitchFamily="2" charset="2"/>
              <a:buChar char="p"/>
            </a:pPr>
            <a:endParaRPr lang="en-US" altLang="zh-CN" sz="240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altLang="zh-CN" sz="2400" dirty="0"/>
          </a:p>
          <a:p>
            <a:r>
              <a:rPr lang="en-GB" altLang="zh-CN" sz="2400" dirty="0"/>
              <a:t>Are </a:t>
            </a:r>
            <a:r>
              <a:rPr lang="en-GB" altLang="en-US" sz="2400" dirty="0"/>
              <a:t>these two </a:t>
            </a:r>
            <a:r>
              <a:rPr lang="en-GB" altLang="zh-CN" sz="2400" dirty="0">
                <a:solidFill>
                  <a:srgbClr val="3477FF"/>
                </a:solidFill>
              </a:rPr>
              <a:t>URLs </a:t>
            </a:r>
            <a:r>
              <a:rPr lang="en-GB" altLang="zh-CN" sz="2400" dirty="0"/>
              <a:t>(http://www.ibiblio.org </a:t>
            </a:r>
            <a:r>
              <a:rPr lang="en-GB" altLang="en-US" sz="2400" dirty="0"/>
              <a:t>and </a:t>
            </a:r>
            <a:r>
              <a:rPr lang="en-GB" altLang="zh-CN" sz="2400" dirty="0"/>
              <a:t>http://ibiblio.org) </a:t>
            </a:r>
            <a:r>
              <a:rPr lang="en-GB" altLang="en-US" sz="2400" dirty="0"/>
              <a:t>the same?</a:t>
            </a:r>
            <a:endParaRPr lang="en-US" altLang="zh-CN" sz="2400" dirty="0"/>
          </a:p>
          <a:p>
            <a:r>
              <a:rPr lang="en-GB" altLang="en-US" sz="2400" dirty="0"/>
              <a:t>Write a program to verify it: </a:t>
            </a:r>
            <a:r>
              <a:rPr lang="en-GB" altLang="zh-CN" sz="2400" dirty="0"/>
              <a:t>Ex5-5 URLEquality.java</a:t>
            </a:r>
            <a:endParaRPr lang="en-GB" altLang="zh-CN" sz="2400" dirty="0"/>
          </a:p>
        </p:txBody>
      </p:sp>
      <p:sp>
        <p:nvSpPr>
          <p:cNvPr id="4710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F29D75F-C0F1-49D4-BEE9-319C24C75E15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3"/>
          <p:cNvSpPr>
            <a:spLocks noChangeArrowheads="1"/>
          </p:cNvSpPr>
          <p:nvPr/>
        </p:nvSpPr>
        <p:spPr bwMode="auto">
          <a:xfrm>
            <a:off x="315383" y="738594"/>
            <a:ext cx="11561234" cy="5201424"/>
          </a:xfrm>
          <a:prstGeom prst="rect">
            <a:avLst/>
          </a:prstGeom>
          <a:solidFill>
            <a:srgbClr val="CC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 java.net.*;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class URLEquality {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static void main (String[] args) {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{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www = new URL (" </a:t>
            </a:r>
            <a:r>
              <a:rPr lang="en-GB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http://www.ibiblio.org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/");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URL ibiblio = new URL(" </a:t>
            </a:r>
            <a:r>
              <a:rPr lang="en-GB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http://ibiblio.org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/");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( </a:t>
            </a:r>
            <a:r>
              <a:rPr lang="en-GB" altLang="zh-C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ibiblio.equals(www)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{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System.out.println(ibiblio + " is the same as " + www);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else {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System.out.println(ibiblio + " is not the same as " + www);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catch (MalformedURLException ex) { 	System.err.println(ex);   }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54" name="标题 1"/>
          <p:cNvSpPr>
            <a:spLocks noGrp="1"/>
          </p:cNvSpPr>
          <p:nvPr>
            <p:ph type="title"/>
          </p:nvPr>
        </p:nvSpPr>
        <p:spPr>
          <a:xfrm>
            <a:off x="1524000" y="42792"/>
            <a:ext cx="8540750" cy="685800"/>
          </a:xfrm>
        </p:spPr>
        <p:txBody>
          <a:bodyPr/>
          <a:lstStyle/>
          <a:p>
            <a:r>
              <a:rPr lang="en-GB" altLang="en-US" sz="3200" dirty="0">
                <a:highlight>
                  <a:srgbClr val="FFFF00"/>
                </a:highlight>
              </a:rPr>
              <a:t>Example of comparing two </a:t>
            </a:r>
            <a:r>
              <a:rPr lang="en-GB" altLang="zh-CN" sz="3200" dirty="0">
                <a:highlight>
                  <a:srgbClr val="FFFF00"/>
                </a:highlight>
              </a:rPr>
              <a:t>URLs Ex5-</a:t>
            </a:r>
            <a:r>
              <a:rPr lang="en-US" altLang="en-GB" sz="3200" dirty="0">
                <a:highlight>
                  <a:srgbClr val="FFFF00"/>
                </a:highlight>
              </a:rPr>
              <a:t>5</a:t>
            </a:r>
            <a:endParaRPr lang="en-US" altLang="en-GB" sz="3200" dirty="0">
              <a:highlight>
                <a:srgbClr val="FFFF00"/>
              </a:highlight>
            </a:endParaRPr>
          </a:p>
        </p:txBody>
      </p:sp>
      <p:sp>
        <p:nvSpPr>
          <p:cNvPr id="4915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F19394D-886C-41E1-A4DB-08BB5E16E3B9}" type="slidenum">
              <a:rPr lang="en-US" altLang="zh-CN" sz="1400"/>
            </a:fld>
            <a:endParaRPr lang="en-US" altLang="zh-CN" sz="1400"/>
          </a:p>
        </p:txBody>
      </p:sp>
      <p:pic>
        <p:nvPicPr>
          <p:cNvPr id="61442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2166" y="6000750"/>
            <a:ext cx="69342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标题 1"/>
          <p:cNvSpPr>
            <a:spLocks noGrp="1"/>
          </p:cNvSpPr>
          <p:nvPr>
            <p:ph type="title"/>
          </p:nvPr>
        </p:nvSpPr>
        <p:spPr>
          <a:xfrm>
            <a:off x="1524000" y="144464"/>
            <a:ext cx="8540750" cy="547687"/>
          </a:xfrm>
        </p:spPr>
        <p:txBody>
          <a:bodyPr/>
          <a:lstStyle/>
          <a:p>
            <a:pPr algn="l"/>
            <a:r>
              <a:rPr lang="en-GB" altLang="en-US" sz="3200"/>
              <a:t>Compare two </a:t>
            </a:r>
            <a:r>
              <a:rPr lang="en-GB" altLang="zh-CN" sz="3200"/>
              <a:t>URLs</a:t>
            </a:r>
            <a:endParaRPr lang="zh-CN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6200" y="901701"/>
            <a:ext cx="12039600" cy="5651499"/>
          </a:xfrm>
        </p:spPr>
        <p:txBody>
          <a:bodyPr/>
          <a:lstStyle/>
          <a:p>
            <a:r>
              <a:rPr lang="en-US" altLang="en-US" sz="2400" dirty="0"/>
              <a:t>Obviously the two URL strings are different, so why are the comparison results the same?</a:t>
            </a:r>
            <a:endParaRPr lang="en-US" altLang="en-US" sz="2400" dirty="0"/>
          </a:p>
          <a:p>
            <a:r>
              <a:rPr lang="en-GB" altLang="en-US" sz="2400" dirty="0">
                <a:solidFill>
                  <a:srgbClr val="FF0000"/>
                </a:solidFill>
              </a:rPr>
              <a:t>Because the </a:t>
            </a:r>
            <a:r>
              <a:rPr lang="en-GB" altLang="zh-CN" sz="2400" dirty="0">
                <a:solidFill>
                  <a:srgbClr val="FF0000"/>
                </a:solidFill>
              </a:rPr>
              <a:t>equals() method of the URL </a:t>
            </a:r>
            <a:r>
              <a:rPr lang="en-GB" altLang="en-US" sz="2400" dirty="0">
                <a:solidFill>
                  <a:srgbClr val="FF0000"/>
                </a:solidFill>
              </a:rPr>
              <a:t>class will try to use </a:t>
            </a:r>
            <a:r>
              <a:rPr lang="en-GB" altLang="zh-CN" sz="2400" dirty="0">
                <a:solidFill>
                  <a:srgbClr val="FF0000"/>
                </a:solidFill>
              </a:rPr>
              <a:t>DNS </a:t>
            </a:r>
            <a:r>
              <a:rPr lang="en-GB" altLang="en-US" sz="2400" dirty="0">
                <a:solidFill>
                  <a:srgbClr val="FF0000"/>
                </a:solidFill>
              </a:rPr>
              <a:t>to resolve the host  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en-US" altLang="en-US" sz="2400" dirty="0"/>
              <a:t>Because the equals() method of the URL class will try to</a:t>
            </a:r>
            <a:r>
              <a:rPr lang="en-US" altLang="en-US" sz="2400" dirty="0">
                <a:highlight>
                  <a:srgbClr val="FFFF00"/>
                </a:highlight>
              </a:rPr>
              <a:t> use DNS</a:t>
            </a:r>
            <a:r>
              <a:rPr lang="en-US" altLang="en-US" sz="2400" dirty="0"/>
              <a:t> to resolve the host in the URL to determine whether the two hosts are the same.</a:t>
            </a:r>
            <a:endParaRPr lang="en-US" altLang="en-US" sz="2400" dirty="0"/>
          </a:p>
          <a:p>
            <a:r>
              <a:rPr lang="en-US" altLang="en-US" sz="2400" dirty="0"/>
              <a:t>But it will not specifically compare the resources identified by the two URLs.</a:t>
            </a:r>
            <a:endParaRPr lang="en-US" altLang="en-US" sz="2400" dirty="0"/>
          </a:p>
          <a:p>
            <a:r>
              <a:rPr lang="en-GB" altLang="en-US" sz="2400" dirty="0"/>
              <a:t>For example: The comparison result of this method will return</a:t>
            </a:r>
            <a:endParaRPr lang="en-US" altLang="zh-CN" sz="2400" dirty="0"/>
          </a:p>
          <a:p>
            <a:r>
              <a:rPr lang="en-US" altLang="zh-CN" sz="2000" dirty="0">
                <a:hlinkClick r:id="rId1"/>
              </a:rPr>
              <a:t>http://www.oreilly.com</a:t>
            </a:r>
            <a:r>
              <a:rPr lang="en-US" altLang="zh-CN" sz="2000" dirty="0"/>
              <a:t> is not equal to </a:t>
            </a:r>
            <a:r>
              <a:rPr lang="en-US" altLang="zh-CN" sz="2000" dirty="0">
                <a:hlinkClick r:id="rId2"/>
              </a:rPr>
              <a:t>http://www.oreilly.com/index.html</a:t>
            </a:r>
            <a:endParaRPr lang="en-US" altLang="zh-CN" sz="2000" dirty="0"/>
          </a:p>
          <a:p>
            <a:r>
              <a:rPr lang="en-US" altLang="zh-CN" sz="2000" dirty="0">
                <a:hlinkClick r:id="rId1"/>
              </a:rPr>
              <a:t>http://www.oreilly.com</a:t>
            </a:r>
            <a:r>
              <a:rPr lang="zh-CN" altLang="en-US" sz="2000" dirty="0"/>
              <a:t>  </a:t>
            </a:r>
            <a:r>
              <a:rPr lang="en-US" altLang="zh-CN" sz="2000" dirty="0"/>
              <a:t>is not equal to</a:t>
            </a:r>
            <a:r>
              <a:rPr lang="zh-CN" altLang="en-US" sz="2000" dirty="0"/>
              <a:t>  </a:t>
            </a:r>
            <a:r>
              <a:rPr lang="en-US" altLang="zh-CN" sz="2000" dirty="0">
                <a:hlinkClick r:id="rId1"/>
              </a:rPr>
              <a:t>http://www.oreilly.com:80</a:t>
            </a:r>
            <a:endParaRPr lang="en-US" altLang="zh-CN" sz="2000" dirty="0"/>
          </a:p>
          <a:p>
            <a:r>
              <a:rPr lang="en-GB" altLang="en-US" sz="2000" dirty="0"/>
              <a:t>Use </a:t>
            </a:r>
            <a:r>
              <a:rPr lang="en-GB" altLang="zh-CN" sz="2000" dirty="0"/>
              <a:t>sameFile() </a:t>
            </a:r>
            <a:r>
              <a:rPr lang="en-GB" altLang="en-US" sz="2000" dirty="0"/>
              <a:t>method to check if two </a:t>
            </a:r>
            <a:r>
              <a:rPr lang="en-GB" altLang="zh-CN" sz="2000" dirty="0"/>
              <a:t>urls </a:t>
            </a:r>
            <a:r>
              <a:rPr lang="en-GB" altLang="en-US" sz="2000" dirty="0"/>
              <a:t>point to the same resource.</a:t>
            </a:r>
            <a:endParaRPr lang="en-US" altLang="zh-CN" sz="2000" dirty="0"/>
          </a:p>
          <a:p>
            <a:r>
              <a:rPr lang="en-GB" altLang="en-US" sz="2000" dirty="0"/>
              <a:t>For example: </a:t>
            </a:r>
            <a:r>
              <a:rPr lang="en-GB" altLang="zh-CN" sz="2000" dirty="0">
                <a:hlinkClick r:id="rId3"/>
              </a:rPr>
              <a:t>http://www.oreilly.com/index.html#p1</a:t>
            </a:r>
            <a:r>
              <a:rPr lang="en-GB" altLang="zh-CN" sz="2000" dirty="0"/>
              <a:t> is same as </a:t>
            </a:r>
            <a:r>
              <a:rPr lang="en-GB" altLang="en-US" sz="2000" dirty="0"/>
              <a:t> </a:t>
            </a:r>
            <a:r>
              <a:rPr lang="en-GB" altLang="zh-CN" sz="2000" dirty="0">
                <a:hlinkClick r:id="rId4"/>
              </a:rPr>
              <a:t>http://www.oreilly.com/index.html#q2</a:t>
            </a:r>
            <a:endParaRPr lang="en-US" altLang="zh-CN" sz="2000" dirty="0"/>
          </a:p>
          <a:p>
            <a:r>
              <a:rPr lang="en-GB" altLang="en-US" sz="2000" dirty="0"/>
              <a:t>Checking the return result with </a:t>
            </a:r>
            <a:r>
              <a:rPr lang="en-GB" altLang="zh-CN" sz="2000" dirty="0"/>
              <a:t>the </a:t>
            </a:r>
            <a:r>
              <a:rPr lang="en-GB" altLang="zh-CN" sz="2000" dirty="0">
                <a:highlight>
                  <a:srgbClr val="FFFF00"/>
                </a:highlight>
              </a:rPr>
              <a:t>sameFile() method </a:t>
            </a:r>
            <a:r>
              <a:rPr lang="en-GB" altLang="zh-CN" sz="2000" dirty="0"/>
              <a:t>shows that </a:t>
            </a:r>
            <a:r>
              <a:rPr lang="en-GB" altLang="en-US" sz="1800" dirty="0"/>
              <a:t>the two are equal, that is, they point to the same resource. </a:t>
            </a:r>
            <a:r>
              <a:rPr lang="en-GB" altLang="en-US" sz="2000" dirty="0"/>
              <a:t>by </a:t>
            </a:r>
            <a:r>
              <a:rPr lang="en-GB" altLang="zh-CN" sz="2000" dirty="0"/>
              <a:t>the equals() </a:t>
            </a:r>
            <a:r>
              <a:rPr lang="en-GB" altLang="en-US" sz="2000" dirty="0"/>
              <a:t>method is: the two are not equal.</a:t>
            </a:r>
            <a:endParaRPr lang="en-US" altLang="zh-CN" sz="2000" dirty="0"/>
          </a:p>
          <a:p>
            <a:r>
              <a:rPr lang="en-GB" altLang="en-US" sz="2000" dirty="0">
                <a:solidFill>
                  <a:srgbClr val="FF0000"/>
                </a:solidFill>
              </a:rPr>
              <a:t>Limitation: </a:t>
            </a:r>
            <a:r>
              <a:rPr lang="en-GB" altLang="zh-CN" sz="2000" dirty="0">
                <a:solidFill>
                  <a:srgbClr val="FF0000"/>
                </a:solidFill>
              </a:rPr>
              <a:t>sameFile() </a:t>
            </a:r>
            <a:r>
              <a:rPr lang="en-GB" altLang="en-US" sz="2000" dirty="0">
                <a:solidFill>
                  <a:srgbClr val="FF0000"/>
                </a:solidFill>
              </a:rPr>
              <a:t>method does not take fragment identifiers into account when comparing.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400" dirty="0"/>
          </a:p>
        </p:txBody>
      </p:sp>
      <p:sp>
        <p:nvSpPr>
          <p:cNvPr id="5120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833A2BE-2941-4E86-A991-620A679D6F40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标题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8540750" cy="762000"/>
          </a:xfrm>
        </p:spPr>
        <p:txBody>
          <a:bodyPr/>
          <a:lstStyle/>
          <a:p>
            <a:pPr algn="l"/>
            <a:r>
              <a:rPr lang="en-GB" altLang="zh-CN" sz="3200" dirty="0"/>
              <a:t>3. URI </a:t>
            </a:r>
            <a:r>
              <a:rPr lang="en-GB" altLang="en-US" sz="3200" dirty="0"/>
              <a:t>Class</a:t>
            </a:r>
            <a:endParaRPr lang="en-GB" altLang="en-US" sz="3200" dirty="0"/>
          </a:p>
        </p:txBody>
      </p:sp>
      <p:sp>
        <p:nvSpPr>
          <p:cNvPr id="53251" name="内容占位符 2"/>
          <p:cNvSpPr>
            <a:spLocks noGrp="1"/>
          </p:cNvSpPr>
          <p:nvPr>
            <p:ph idx="1"/>
          </p:nvPr>
        </p:nvSpPr>
        <p:spPr>
          <a:xfrm>
            <a:off x="533400" y="931863"/>
            <a:ext cx="11125200" cy="5313362"/>
          </a:xfrm>
        </p:spPr>
        <p:txBody>
          <a:bodyPr/>
          <a:lstStyle/>
          <a:p>
            <a:r>
              <a:rPr lang="en-GB" altLang="zh-CN" sz="2800" dirty="0"/>
              <a:t>URI </a:t>
            </a:r>
            <a:r>
              <a:rPr lang="en-GB" altLang="en-US" sz="2800" dirty="0"/>
              <a:t>: </a:t>
            </a:r>
            <a:r>
              <a:rPr lang="en-GB" altLang="zh-CN" sz="2800" dirty="0"/>
              <a:t>Uniform Resource Identifier</a:t>
            </a:r>
            <a:endParaRPr lang="en-GB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dirty="0"/>
              <a:t>URL </a:t>
            </a:r>
            <a:r>
              <a:rPr lang="en-GB" altLang="en-US" dirty="0"/>
              <a:t>: </a:t>
            </a:r>
            <a:r>
              <a:rPr lang="en-GB" altLang="zh-CN" dirty="0"/>
              <a:t>Uniform Resource Locator</a:t>
            </a:r>
            <a:endParaRPr lang="en-GB" altLang="zh-CN" dirty="0"/>
          </a:p>
          <a:p>
            <a:pPr lvl="2"/>
            <a:r>
              <a:rPr lang="en-GB" altLang="zh-CN" dirty="0"/>
              <a:t>http://www.szu.edu.cn/szu.asp</a:t>
            </a:r>
            <a:endParaRPr lang="en-GB" altLang="zh-CN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dirty="0"/>
              <a:t>URN </a:t>
            </a:r>
            <a:r>
              <a:rPr lang="en-GB" altLang="en-US" dirty="0"/>
              <a:t>: </a:t>
            </a:r>
            <a:r>
              <a:rPr lang="en-GB" altLang="zh-CN" dirty="0"/>
              <a:t>Uniform Resource Name</a:t>
            </a:r>
            <a:endParaRPr lang="en-GB" altLang="zh-CN" dirty="0"/>
          </a:p>
          <a:p>
            <a:pPr lvl="2"/>
            <a:r>
              <a:rPr lang="en-GB" altLang="zh-CN" dirty="0"/>
              <a:t>urn:isbn:0-486-27557-4</a:t>
            </a:r>
            <a:endParaRPr lang="en-GB" altLang="zh-CN" dirty="0"/>
          </a:p>
          <a:p>
            <a:pPr lvl="2"/>
            <a:r>
              <a:rPr lang="en-GB" altLang="zh-CN" dirty="0"/>
              <a:t>mailto:feiqiao@szu.edu.cn</a:t>
            </a:r>
            <a:endParaRPr lang="en-GB" altLang="zh-CN" dirty="0"/>
          </a:p>
          <a:p>
            <a:r>
              <a:rPr lang="en-GB" altLang="en-US" sz="2800" dirty="0"/>
              <a:t>Although </a:t>
            </a:r>
            <a:r>
              <a:rPr lang="en-GB" altLang="zh-CN" sz="2800" dirty="0"/>
              <a:t>URL </a:t>
            </a:r>
            <a:r>
              <a:rPr lang="en-GB" altLang="en-US" sz="2800" dirty="0"/>
              <a:t>can be seen as an abstraction of </a:t>
            </a:r>
            <a:r>
              <a:rPr lang="en-GB" altLang="zh-CN" sz="2800" dirty="0"/>
              <a:t>URI </a:t>
            </a:r>
            <a:r>
              <a:rPr lang="en-GB" altLang="en-US" sz="2800" dirty="0"/>
              <a:t>, </a:t>
            </a:r>
            <a:r>
              <a:rPr lang="en-GB" altLang="zh-CN" sz="2800" dirty="0">
                <a:highlight>
                  <a:srgbClr val="FFFF00"/>
                </a:highlight>
              </a:rPr>
              <a:t>Java </a:t>
            </a:r>
            <a:r>
              <a:rPr lang="en-GB" altLang="en-US" sz="2800" dirty="0">
                <a:highlight>
                  <a:srgbClr val="FFFF00"/>
                </a:highlight>
              </a:rPr>
              <a:t>'s </a:t>
            </a:r>
            <a:r>
              <a:rPr lang="en-GB" altLang="zh-CN" sz="2800" dirty="0">
                <a:highlight>
                  <a:srgbClr val="FFFF00"/>
                </a:highlight>
              </a:rPr>
              <a:t>URL </a:t>
            </a:r>
            <a:r>
              <a:rPr lang="en-GB" altLang="en-US" sz="2800" dirty="0">
                <a:highlight>
                  <a:srgbClr val="FFFF00"/>
                </a:highlight>
              </a:rPr>
              <a:t>class is not a subclass of </a:t>
            </a:r>
            <a:r>
              <a:rPr lang="en-US" altLang="en-US" sz="2800" dirty="0">
                <a:highlight>
                  <a:srgbClr val="FFFF00"/>
                </a:highlight>
              </a:rPr>
              <a:t>URI</a:t>
            </a:r>
            <a:endParaRPr lang="en-US" altLang="zh-CN" sz="2800" dirty="0">
              <a:highlight>
                <a:srgbClr val="FFFF00"/>
              </a:highlight>
            </a:endParaRPr>
          </a:p>
          <a:p>
            <a:r>
              <a:rPr lang="en-GB" altLang="zh-CN" sz="2800" dirty="0"/>
              <a:t>The URL </a:t>
            </a:r>
            <a:r>
              <a:rPr lang="en-GB" altLang="en-US" sz="2800" dirty="0"/>
              <a:t>class and </a:t>
            </a:r>
            <a:r>
              <a:rPr lang="en-GB" altLang="zh-CN" sz="2800" dirty="0"/>
              <a:t>the URI </a:t>
            </a:r>
            <a:r>
              <a:rPr lang="en-GB" altLang="en-US" sz="2800" dirty="0"/>
              <a:t>class are both subclasses of </a:t>
            </a:r>
            <a:r>
              <a:rPr lang="en-US" altLang="en-US" sz="2800" dirty="0"/>
              <a:t>Object</a:t>
            </a:r>
            <a:endParaRPr lang="en-US" altLang="zh-CN" sz="2800" dirty="0"/>
          </a:p>
          <a:p>
            <a:r>
              <a:rPr lang="en-GB" altLang="zh-CN" sz="2800" dirty="0"/>
              <a:t>Java.net.URI </a:t>
            </a:r>
            <a:r>
              <a:rPr lang="en-GB" altLang="en-US" sz="2800" dirty="0"/>
              <a:t>Class</a:t>
            </a:r>
            <a:endParaRPr lang="en-US" altLang="zh-CN" sz="2800" dirty="0"/>
          </a:p>
        </p:txBody>
      </p:sp>
      <p:sp>
        <p:nvSpPr>
          <p:cNvPr id="5325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E95FE4-2A3F-429E-9BDA-33E275DA32C1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/>
          <p:cNvSpPr>
            <a:spLocks noGrp="1"/>
          </p:cNvSpPr>
          <p:nvPr>
            <p:ph type="title"/>
          </p:nvPr>
        </p:nvSpPr>
        <p:spPr>
          <a:xfrm>
            <a:off x="1219200" y="136525"/>
            <a:ext cx="8540750" cy="533400"/>
          </a:xfrm>
        </p:spPr>
        <p:txBody>
          <a:bodyPr/>
          <a:lstStyle/>
          <a:p>
            <a:pPr algn="l"/>
            <a:r>
              <a:rPr lang="en-GB" altLang="en-US" sz="3200" b="1" dirty="0"/>
              <a:t>The choice of </a:t>
            </a:r>
            <a:r>
              <a:rPr lang="en-GB" altLang="zh-CN" sz="3200" b="1" dirty="0"/>
              <a:t>URL </a:t>
            </a:r>
            <a:r>
              <a:rPr lang="en-GB" altLang="en-US" sz="3200" b="1" dirty="0"/>
              <a:t>and </a:t>
            </a:r>
            <a:r>
              <a:rPr lang="en-GB" altLang="zh-CN" sz="3200" b="1" dirty="0"/>
              <a:t>URI</a:t>
            </a:r>
            <a:endParaRPr lang="en-GB" altLang="zh-CN" sz="3200" b="1" dirty="0"/>
          </a:p>
        </p:txBody>
      </p:sp>
      <p:sp>
        <p:nvSpPr>
          <p:cNvPr id="54275" name="内容占位符 2"/>
          <p:cNvSpPr>
            <a:spLocks noGrp="1"/>
          </p:cNvSpPr>
          <p:nvPr>
            <p:ph idx="1"/>
          </p:nvPr>
        </p:nvSpPr>
        <p:spPr>
          <a:xfrm>
            <a:off x="381000" y="1447800"/>
            <a:ext cx="11408834" cy="4498975"/>
          </a:xfrm>
        </p:spPr>
        <p:txBody>
          <a:bodyPr/>
          <a:lstStyle/>
          <a:p>
            <a:r>
              <a:rPr lang="en-US" altLang="zh-CN" dirty="0"/>
              <a:t>Use the URL class when programming to implement network data acquisition functions.</a:t>
            </a:r>
            <a:endParaRPr lang="en-US" altLang="zh-CN" dirty="0"/>
          </a:p>
          <a:p>
            <a:r>
              <a:rPr lang="en-US" altLang="zh-CN" dirty="0"/>
              <a:t>For example, if you want to download the content of a URL.</a:t>
            </a:r>
            <a:endParaRPr lang="en-US" altLang="zh-CN" dirty="0"/>
          </a:p>
          <a:p>
            <a:r>
              <a:rPr lang="en-US" altLang="zh-CN" dirty="0"/>
              <a:t>Use the URI class when programming to parse and process strings related to uniform resource locators.</a:t>
            </a:r>
            <a:endParaRPr lang="en-US" altLang="zh-CN" dirty="0"/>
          </a:p>
          <a:p>
            <a:r>
              <a:rPr lang="en-US" altLang="zh-CN" dirty="0"/>
              <a:t>The URI class has no network acquisition function.</a:t>
            </a:r>
            <a:endParaRPr lang="en-US" altLang="zh-CN" dirty="0"/>
          </a:p>
          <a:p>
            <a:r>
              <a:rPr lang="en-US" altLang="zh-CN" dirty="0"/>
              <a:t>For example, if you want to represent an XML namespace.</a:t>
            </a:r>
            <a:endParaRPr lang="en-US" altLang="zh-CN" dirty="0"/>
          </a:p>
        </p:txBody>
      </p:sp>
      <p:sp>
        <p:nvSpPr>
          <p:cNvPr id="5427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281F207-92F0-494B-A16C-637D01D1DD07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/>
          <p:cNvSpPr>
            <a:spLocks noGrp="1"/>
          </p:cNvSpPr>
          <p:nvPr>
            <p:ph type="title"/>
          </p:nvPr>
        </p:nvSpPr>
        <p:spPr>
          <a:xfrm>
            <a:off x="1524000" y="61913"/>
            <a:ext cx="8540750" cy="685800"/>
          </a:xfrm>
        </p:spPr>
        <p:txBody>
          <a:bodyPr/>
          <a:lstStyle/>
          <a:p>
            <a:pPr algn="l"/>
            <a:r>
              <a:rPr lang="en-GB" altLang="zh-CN" sz="3200"/>
              <a:t>URI </a:t>
            </a:r>
            <a:r>
              <a:rPr lang="en-GB" altLang="en-US" sz="3200"/>
              <a:t>class constructor</a:t>
            </a:r>
            <a:endParaRPr lang="en-GB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81164" y="1092201"/>
            <a:ext cx="8226425" cy="5135563"/>
          </a:xfrm>
        </p:spPr>
        <p:txBody>
          <a:bodyPr>
            <a:normAutofit/>
          </a:bodyPr>
          <a:lstStyle/>
          <a:p>
            <a:r>
              <a:rPr lang="en-US" altLang="zh-CN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 URI object based on the string parameter</a:t>
            </a:r>
            <a:endParaRPr lang="en-US" altLang="zh-CN" sz="2400" b="1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zh-CN" sz="24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GB" altLang="zh-CN" sz="24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URISyntaxException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en-US" sz="2400" dirty="0"/>
              <a:t>The protocol is not checked, only </a:t>
            </a:r>
            <a:r>
              <a:rPr lang="en-US" altLang="en-US" sz="2400" dirty="0"/>
              <a:t>checks if </a:t>
            </a:r>
            <a:r>
              <a:rPr lang="en-GB" altLang="en-US" sz="2400" dirty="0"/>
              <a:t>the string passed complies with the </a:t>
            </a:r>
            <a:r>
              <a:rPr lang="en-GB" altLang="zh-CN" sz="2400" dirty="0"/>
              <a:t>URI </a:t>
            </a:r>
            <a:r>
              <a:rPr lang="en-GB" altLang="en-US" sz="2400" dirty="0"/>
              <a:t>syntax rules.</a:t>
            </a:r>
            <a:endParaRPr lang="en-US" altLang="zh-CN" sz="2400" dirty="0"/>
          </a:p>
          <a:p>
            <a:endParaRPr lang="en-US" altLang="zh-CN" sz="2400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voice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"tel:+1-800-9988-9938"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"http://www.a.com/a.jsp#id=hbc"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"urn:isbn:1-565-92870-9"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GB" altLang="zh-CN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format:</a:t>
            </a:r>
            <a:endParaRPr lang="en-US" altLang="zh-C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en-US" sz="24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Protocol: Protocol Specific Section: Fragment</a:t>
            </a:r>
            <a:endParaRPr lang="en-US" altLang="zh-CN" sz="24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2000" dirty="0">
              <a:solidFill>
                <a:srgbClr val="55555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530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A15B990-FFE6-4199-ABFA-94613DBCD6C0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/>
          <p:cNvSpPr>
            <a:spLocks noGrp="1"/>
          </p:cNvSpPr>
          <p:nvPr>
            <p:ph type="title"/>
          </p:nvPr>
        </p:nvSpPr>
        <p:spPr>
          <a:xfrm>
            <a:off x="1219200" y="228600"/>
            <a:ext cx="8540750" cy="685800"/>
          </a:xfrm>
        </p:spPr>
        <p:txBody>
          <a:bodyPr/>
          <a:lstStyle/>
          <a:p>
            <a:pPr algn="l"/>
            <a:r>
              <a:rPr lang="en-GB" altLang="zh-CN" sz="3600" dirty="0"/>
              <a:t>URI </a:t>
            </a:r>
            <a:r>
              <a:rPr lang="en-GB" altLang="en-US" sz="3600" dirty="0"/>
              <a:t>class constructor</a:t>
            </a:r>
            <a:endParaRPr lang="en-GB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954088"/>
            <a:ext cx="11332634" cy="5135562"/>
          </a:xfrm>
        </p:spPr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Creates a URI object based on the passed in schema, schema-specific part, fragment identifier, string</a:t>
            </a:r>
            <a:endParaRPr lang="en-US" altLang="zh-CN" sz="2400" dirty="0">
              <a:solidFill>
                <a:srgbClr val="0066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schemeSpecificPart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fragment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throws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URISyntaxException</a:t>
            </a:r>
            <a:endParaRPr lang="en-GB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4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Scheme: The protocol of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uri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urn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etc., must start with a letter and consist of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ASCII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characters, numbers, and three punctuation characters (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,.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When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null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protocol is omitted and a relative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uri is created </a:t>
            </a:r>
            <a:r>
              <a:rPr lang="en-GB" altLang="en-US" sz="2000" dirty="0">
                <a:solidFill>
                  <a:srgbClr val="00008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zh-CN" sz="2000" dirty="0">
              <a:solidFill>
                <a:srgbClr val="000088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Fragment: 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null </a:t>
            </a:r>
            <a:r>
              <a:rPr lang="en-GB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fragment identifier is ignored.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</a:rPr>
              <a:t>URI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</a:rPr>
              <a:t>absolute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</a:rPr>
              <a:t>URI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(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"http"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"//www.ibiblio.org"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</a:rPr>
              <a:t>null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);</a:t>
            </a: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</a:rPr>
              <a:t>URI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</a:rPr>
              <a:t>relative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=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</a:rPr>
              <a:t>new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Times New Roman" panose="02020603050405020304" pitchFamily="18" charset="0"/>
              </a:rPr>
              <a:t>URI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( </a:t>
            </a:r>
            <a:r>
              <a:rPr lang="en-GB" altLang="zh-CN" sz="2000" b="1" dirty="0">
                <a:solidFill>
                  <a:srgbClr val="006699"/>
                </a:solidFill>
                <a:latin typeface="Times New Roman" panose="02020603050405020304" pitchFamily="18" charset="0"/>
              </a:rPr>
              <a:t>null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"/javafaq/index.shtml"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Times New Roman" panose="02020603050405020304" pitchFamily="18" charset="0"/>
              </a:rPr>
              <a:t> </a:t>
            </a:r>
            <a:r>
              <a:rPr lang="en-GB" altLang="zh-CN" sz="2000" dirty="0">
                <a:solidFill>
                  <a:srgbClr val="CC3300"/>
                </a:solidFill>
                <a:latin typeface="Times New Roman" panose="02020603050405020304" pitchFamily="18" charset="0"/>
              </a:rPr>
              <a:t>"today" </a:t>
            </a:r>
            <a:r>
              <a:rPr lang="en-GB" altLang="zh-CN" sz="2000" dirty="0">
                <a:solidFill>
                  <a:srgbClr val="555555"/>
                </a:solidFill>
                <a:latin typeface="Times New Roman" panose="02020603050405020304" pitchFamily="18" charset="0"/>
              </a:rPr>
              <a:t>);</a:t>
            </a:r>
            <a:endParaRPr lang="en-GB" altLang="zh-CN" sz="2000" dirty="0">
              <a:solidFill>
                <a:srgbClr val="555555"/>
              </a:solidFill>
              <a:latin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5632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623C08-90C8-4437-8204-F7A3F6130FE4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/>
          <p:cNvSpPr>
            <a:spLocks noGrp="1"/>
          </p:cNvSpPr>
          <p:nvPr>
            <p:ph type="title"/>
          </p:nvPr>
        </p:nvSpPr>
        <p:spPr>
          <a:xfrm>
            <a:off x="1524000" y="107950"/>
            <a:ext cx="8540750" cy="609600"/>
          </a:xfrm>
        </p:spPr>
        <p:txBody>
          <a:bodyPr/>
          <a:lstStyle/>
          <a:p>
            <a:pPr algn="l"/>
            <a:r>
              <a:rPr lang="en-GB" altLang="en-US" sz="3200"/>
              <a:t>Obtaining the various parts of </a:t>
            </a:r>
            <a:r>
              <a:rPr lang="en-GB" altLang="zh-CN" sz="3200"/>
              <a:t>the URI</a:t>
            </a:r>
            <a:endParaRPr lang="en-GB" altLang="zh-CN" sz="3200"/>
          </a:p>
        </p:txBody>
      </p:sp>
      <p:sp>
        <p:nvSpPr>
          <p:cNvPr id="57347" name="内容占位符 2"/>
          <p:cNvSpPr>
            <a:spLocks noGrp="1"/>
          </p:cNvSpPr>
          <p:nvPr>
            <p:ph idx="1"/>
          </p:nvPr>
        </p:nvSpPr>
        <p:spPr>
          <a:xfrm>
            <a:off x="1532255" y="914400"/>
            <a:ext cx="8649970" cy="5330825"/>
          </a:xfrm>
        </p:spPr>
        <p:txBody>
          <a:bodyPr/>
          <a:lstStyle/>
          <a:p>
            <a:r>
              <a:rPr lang="en-GB" altLang="zh-CN" sz="2800"/>
              <a:t>scheme:scheme-specific-part:fragment</a:t>
            </a:r>
            <a:endParaRPr lang="en-GB" altLang="zh-CN" sz="280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/>
              <a:t>Protocol: Protocol Specific Section: Fragment</a:t>
            </a:r>
            <a:endParaRPr lang="en-US" altLang="zh-CN" sz="2400"/>
          </a:p>
          <a:p>
            <a:endParaRPr lang="en-US" altLang="zh-CN" sz="2800" b="1">
              <a:solidFill>
                <a:srgbClr val="006699"/>
              </a:solidFill>
              <a:latin typeface="Courier New" panose="02070309020205020404" pitchFamily="49" charset="0"/>
            </a:endParaRPr>
          </a:p>
          <a:p>
            <a:r>
              <a:rPr lang="en-GB" altLang="en-US" sz="2800" b="1">
                <a:solidFill>
                  <a:srgbClr val="006699"/>
                </a:solidFill>
                <a:latin typeface="Courier New" panose="02070309020205020404" pitchFamily="49" charset="0"/>
              </a:rPr>
              <a:t>method</a:t>
            </a:r>
            <a:endParaRPr lang="en-US" altLang="zh-CN" sz="2800" b="1">
              <a:solidFill>
                <a:srgbClr val="006699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CC00FF"/>
                </a:solidFill>
                <a:latin typeface="Courier New" panose="02070309020205020404" pitchFamily="49" charset="0"/>
              </a:rPr>
              <a:t>getScheme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CC00FF"/>
                </a:solidFill>
                <a:latin typeface="Courier New" panose="02070309020205020404" pitchFamily="49" charset="0"/>
              </a:rPr>
              <a:t>getSchemeSpecificPart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CC00FF"/>
                </a:solidFill>
                <a:latin typeface="Courier New" panose="02070309020205020404" pitchFamily="49" charset="0"/>
              </a:rPr>
              <a:t>getRawSchemeSpecificPart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CC00FF"/>
                </a:solidFill>
                <a:latin typeface="Courier New" panose="02070309020205020404" pitchFamily="49" charset="0"/>
              </a:rPr>
              <a:t>getFragment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CC00FF"/>
                </a:solidFill>
                <a:latin typeface="Courier New" panose="02070309020205020404" pitchFamily="49" charset="0"/>
              </a:rPr>
              <a:t>getRawFragment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GB" altLang="zh-CN" sz="240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endParaRPr lang="en-US" altLang="zh-CN" sz="240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b="1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b="1">
                <a:solidFill>
                  <a:srgbClr val="007788"/>
                </a:solidFill>
                <a:latin typeface="Courier New" panose="02070309020205020404" pitchFamily="49" charset="0"/>
              </a:rPr>
              <a:t>boolean</a:t>
            </a:r>
            <a:r>
              <a:rPr lang="en-GB" altLang="zh-CN" sz="24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>
                <a:solidFill>
                  <a:srgbClr val="CC00FF"/>
                </a:solidFill>
                <a:latin typeface="Courier New" panose="02070309020205020404" pitchFamily="49" charset="0"/>
              </a:rPr>
              <a:t>isOpaque </a:t>
            </a:r>
            <a:r>
              <a:rPr lang="en-GB" altLang="zh-CN" sz="2400">
                <a:solidFill>
                  <a:srgbClr val="555555"/>
                </a:solidFill>
                <a:latin typeface="Courier New" panose="02070309020205020404" pitchFamily="49" charset="0"/>
              </a:rPr>
              <a:t>()</a:t>
            </a:r>
            <a:endParaRPr lang="en-US" altLang="zh-CN" sz="24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endParaRPr lang="zh-CN" altLang="en-US"/>
          </a:p>
        </p:txBody>
      </p:sp>
      <p:sp>
        <p:nvSpPr>
          <p:cNvPr id="5734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C2109B9-D61D-4DF0-AA7A-0E728B797012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/>
          <p:cNvSpPr>
            <a:spLocks noGrp="1"/>
          </p:cNvSpPr>
          <p:nvPr>
            <p:ph type="title"/>
          </p:nvPr>
        </p:nvSpPr>
        <p:spPr>
          <a:xfrm>
            <a:off x="1524000" y="0"/>
            <a:ext cx="8540750" cy="609600"/>
          </a:xfrm>
        </p:spPr>
        <p:txBody>
          <a:bodyPr/>
          <a:lstStyle/>
          <a:p>
            <a:pPr algn="l"/>
            <a:r>
              <a:rPr lang="en-GB" altLang="en-US" sz="3200"/>
              <a:t>Relative </a:t>
            </a:r>
            <a:r>
              <a:rPr lang="en-GB" altLang="zh-CN" sz="3200"/>
              <a:t>URI </a:t>
            </a:r>
            <a:r>
              <a:rPr lang="en-GB" altLang="en-US" sz="3200"/>
              <a:t>Programmatic Parsing</a:t>
            </a:r>
            <a:endParaRPr lang="en-GB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20851" y="858838"/>
            <a:ext cx="8321675" cy="5135562"/>
          </a:xfrm>
        </p:spPr>
        <p:txBody>
          <a:bodyPr/>
          <a:lstStyle/>
          <a:p>
            <a:pPr marL="0" indent="0">
              <a:buNone/>
            </a:pP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absolute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>
                <a:solidFill>
                  <a:srgbClr val="CC3300"/>
                </a:solidFill>
                <a:latin typeface="Courier New" panose="02070309020205020404" pitchFamily="49" charset="0"/>
              </a:rPr>
              <a:t>"http://www.example.com/"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relative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>
                <a:solidFill>
                  <a:srgbClr val="CC3300"/>
                </a:solidFill>
                <a:latin typeface="Courier New" panose="02070309020205020404" pitchFamily="49" charset="0"/>
              </a:rPr>
              <a:t>"images/logo.png"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resolved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absolute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.resolve (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relative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) 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/>
            <a:r>
              <a:rPr lang="en-GB" altLang="zh-CN" sz="2800"/>
              <a:t>resolved </a:t>
            </a:r>
            <a:r>
              <a:rPr lang="en-GB" altLang="en-US" sz="2800"/>
              <a:t>result is:</a:t>
            </a:r>
            <a:endParaRPr lang="en-US" altLang="zh-CN" sz="2800"/>
          </a:p>
          <a:p>
            <a:pPr marL="0" indent="0"/>
            <a:r>
              <a:rPr lang="en-GB" altLang="zh-CN" sz="2400">
                <a:solidFill>
                  <a:srgbClr val="FF0000"/>
                </a:solidFill>
              </a:rPr>
              <a:t>http://www.example.com/ images/logo.png</a:t>
            </a:r>
            <a:endParaRPr lang="en-GB" altLang="zh-CN" sz="2400">
              <a:solidFill>
                <a:srgbClr val="FF0000"/>
              </a:solidFill>
            </a:endParaRPr>
          </a:p>
          <a:p>
            <a:pPr marL="0" indent="0"/>
            <a:endParaRPr lang="en-US" altLang="zh-CN"/>
          </a:p>
          <a:p>
            <a:pPr marL="0" indent="0">
              <a:buNone/>
            </a:pP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top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>
                <a:solidFill>
                  <a:srgbClr val="006699"/>
                </a:solidFill>
                <a:latin typeface="Courier New" panose="02070309020205020404" pitchFamily="49" charset="0"/>
              </a:rPr>
              <a:t>new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>
                <a:solidFill>
                  <a:srgbClr val="CC3300"/>
                </a:solidFill>
                <a:latin typeface="Courier New" panose="02070309020205020404" pitchFamily="49" charset="0"/>
              </a:rPr>
              <a:t>"javafaq/books/"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>
              <a:buNone/>
            </a:pP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URI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resolved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00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>
                <a:solidFill>
                  <a:srgbClr val="000088"/>
                </a:solidFill>
                <a:latin typeface="Courier New" panose="02070309020205020404" pitchFamily="49" charset="0"/>
              </a:rPr>
              <a:t>top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.resolve ( " </a:t>
            </a:r>
            <a:r>
              <a:rPr lang="en-GB" altLang="zh-CN" sz="2000" b="1">
                <a:solidFill>
                  <a:srgbClr val="FF0000"/>
                </a:solidFill>
                <a:latin typeface="Courier New" panose="02070309020205020404" pitchFamily="49" charset="0"/>
              </a:rPr>
              <a:t>jnp3 </a:t>
            </a:r>
            <a:r>
              <a:rPr lang="en-GB" altLang="zh-CN" sz="2000">
                <a:solidFill>
                  <a:srgbClr val="CC3300"/>
                </a:solidFill>
                <a:latin typeface="Courier New" panose="02070309020205020404" pitchFamily="49" charset="0"/>
              </a:rPr>
              <a:t>/index.html" </a:t>
            </a:r>
            <a:r>
              <a:rPr lang="en-GB" altLang="zh-CN" sz="200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200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 marL="0" indent="0"/>
            <a:r>
              <a:rPr lang="en-GB" altLang="zh-CN" sz="2800"/>
              <a:t>resolved </a:t>
            </a:r>
            <a:r>
              <a:rPr lang="en-GB" altLang="en-US" sz="2800"/>
              <a:t>result is:</a:t>
            </a:r>
            <a:endParaRPr lang="en-US" altLang="zh-CN" sz="2800"/>
          </a:p>
          <a:p>
            <a:pPr marL="0" indent="0"/>
            <a:r>
              <a:rPr lang="en-GB" altLang="zh-CN" sz="2400">
                <a:solidFill>
                  <a:srgbClr val="FF0000"/>
                </a:solidFill>
              </a:rPr>
              <a:t>javafaq/books/jnp3/index.html</a:t>
            </a:r>
            <a:endParaRPr lang="en-GB" altLang="zh-CN" sz="2400">
              <a:solidFill>
                <a:srgbClr val="FF0000"/>
              </a:solidFill>
            </a:endParaRPr>
          </a:p>
          <a:p>
            <a:pPr marL="0" indent="0"/>
            <a:endParaRPr lang="zh-CN" altLang="en-US"/>
          </a:p>
        </p:txBody>
      </p:sp>
      <p:sp>
        <p:nvSpPr>
          <p:cNvPr id="5837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1367F24-FF97-4EA6-B68A-D1E6CAC55C73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标题 1"/>
          <p:cNvSpPr>
            <a:spLocks noGrp="1"/>
          </p:cNvSpPr>
          <p:nvPr>
            <p:ph type="title"/>
          </p:nvPr>
        </p:nvSpPr>
        <p:spPr>
          <a:xfrm>
            <a:off x="1557338" y="152400"/>
            <a:ext cx="8540750" cy="533400"/>
          </a:xfrm>
        </p:spPr>
        <p:txBody>
          <a:bodyPr/>
          <a:lstStyle/>
          <a:p>
            <a:pPr algn="l"/>
            <a:r>
              <a:rPr lang="en-GB" altLang="zh-CN" sz="3200"/>
              <a:t>4. </a:t>
            </a:r>
            <a:r>
              <a:rPr lang="en-GB" altLang="en-US" sz="3200"/>
              <a:t>URLEncoder and </a:t>
            </a:r>
            <a:r>
              <a:rPr lang="en-GB" altLang="zh-CN" sz="3200"/>
              <a:t>URLDecoder</a:t>
            </a:r>
            <a:endParaRPr lang="en-GB" altLang="zh-CN" sz="3200"/>
          </a:p>
        </p:txBody>
      </p:sp>
      <p:sp>
        <p:nvSpPr>
          <p:cNvPr id="59395" name="内容占位符 2"/>
          <p:cNvSpPr>
            <a:spLocks noGrp="1"/>
          </p:cNvSpPr>
          <p:nvPr>
            <p:ph idx="1"/>
          </p:nvPr>
        </p:nvSpPr>
        <p:spPr>
          <a:xfrm>
            <a:off x="304800" y="914401"/>
            <a:ext cx="11485034" cy="5562599"/>
          </a:xfrm>
        </p:spPr>
        <p:txBody>
          <a:bodyPr/>
          <a:lstStyle/>
          <a:p>
            <a:r>
              <a:rPr lang="en-GB" altLang="en-US" sz="2800" dirty="0"/>
              <a:t>In order for all systems and platforms to correctly understand and parse, the characters used in </a:t>
            </a:r>
            <a:r>
              <a:rPr lang="en-GB" altLang="zh-CN" sz="2800" dirty="0"/>
              <a:t>the URL must be from </a:t>
            </a:r>
            <a:r>
              <a:rPr lang="en-GB" altLang="en-US" sz="2800" dirty="0"/>
              <a:t>a fixed subset of </a:t>
            </a:r>
            <a:r>
              <a:rPr lang="en-GB" altLang="zh-CN" sz="2800" dirty="0"/>
              <a:t>ASCII , </a:t>
            </a:r>
            <a:r>
              <a:rPr lang="en-GB" altLang="en-US" sz="2800" dirty="0"/>
              <a:t>that is, a unified </a:t>
            </a:r>
            <a:r>
              <a:rPr lang="en-GB" altLang="zh-CN" sz="2800" dirty="0"/>
              <a:t>URL </a:t>
            </a:r>
            <a:r>
              <a:rPr lang="en-GB" altLang="en-US" sz="2800" dirty="0"/>
              <a:t>character encoding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Capital letters </a:t>
            </a:r>
            <a:r>
              <a:rPr lang="en-GB" altLang="zh-CN" sz="2400" dirty="0"/>
              <a:t>A-Z</a:t>
            </a:r>
            <a:endParaRPr lang="en-GB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Lowercase letter </a:t>
            </a:r>
            <a:r>
              <a:rPr lang="en-GB" altLang="zh-CN" sz="2400" dirty="0"/>
              <a:t>a-z</a:t>
            </a:r>
            <a:endParaRPr lang="en-GB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Numbers </a:t>
            </a:r>
            <a:r>
              <a:rPr lang="en-GB" altLang="zh-CN" sz="2400" dirty="0"/>
              <a:t>0-9</a:t>
            </a:r>
            <a:endParaRPr lang="en-GB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Punctuation characters </a:t>
            </a:r>
            <a:r>
              <a:rPr lang="en-GB" altLang="zh-CN" sz="2400" dirty="0"/>
              <a:t>- _.!~*'(,)</a:t>
            </a:r>
            <a:endParaRPr lang="en-GB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Punctuation characters </a:t>
            </a:r>
            <a:r>
              <a:rPr lang="en-GB" altLang="zh-CN" sz="2400" dirty="0"/>
              <a:t>/&amp;?@#;$+=%</a:t>
            </a:r>
            <a:endParaRPr lang="en-GB" altLang="zh-CN" sz="2400" dirty="0"/>
          </a:p>
          <a:p>
            <a:r>
              <a:rPr lang="en-GB" altLang="en-US" sz="2800" dirty="0"/>
              <a:t>Characters other than the above in </a:t>
            </a:r>
            <a:r>
              <a:rPr lang="en-GB" altLang="zh-CN" sz="2800" dirty="0"/>
              <a:t>the URL need to be converted to " % </a:t>
            </a:r>
            <a:r>
              <a:rPr lang="en-GB" altLang="en-US" sz="2800" dirty="0"/>
              <a:t>byte value"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%20 </a:t>
            </a:r>
            <a:r>
              <a:rPr lang="en-GB" altLang="en-US" sz="2400" dirty="0"/>
              <a:t>: space</a:t>
            </a:r>
            <a:endParaRPr lang="en-US" altLang="zh-CN" sz="2400" dirty="0"/>
          </a:p>
        </p:txBody>
      </p:sp>
      <p:sp>
        <p:nvSpPr>
          <p:cNvPr id="5939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C42FAD3-1342-4996-B51E-25D2FE81E7C8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/>
          <p:cNvSpPr>
            <a:spLocks noGrp="1"/>
          </p:cNvSpPr>
          <p:nvPr>
            <p:ph type="title"/>
          </p:nvPr>
        </p:nvSpPr>
        <p:spPr>
          <a:xfrm>
            <a:off x="1520825" y="0"/>
            <a:ext cx="8540750" cy="685800"/>
          </a:xfrm>
        </p:spPr>
        <p:txBody>
          <a:bodyPr/>
          <a:lstStyle/>
          <a:p>
            <a:pPr algn="l"/>
            <a:r>
              <a:rPr lang="en-GB" altLang="zh-CN" sz="3200"/>
              <a:t>URLEncoder </a:t>
            </a:r>
            <a:r>
              <a:rPr lang="en-GB" altLang="en-US" sz="3200"/>
              <a:t>Class</a:t>
            </a:r>
            <a:endParaRPr lang="en-GB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914401"/>
            <a:ext cx="11506200" cy="4498975"/>
          </a:xfrm>
        </p:spPr>
        <p:txBody>
          <a:bodyPr/>
          <a:lstStyle/>
          <a:p>
            <a:r>
              <a:rPr lang="en-GB" altLang="zh-CN" sz="2800" dirty="0">
                <a:latin typeface="Courier New" panose="02070309020205020404" pitchFamily="49" charset="0"/>
              </a:rPr>
              <a:t>The Java.net.URLEncoder </a:t>
            </a:r>
            <a:r>
              <a:rPr lang="en-GB" altLang="en-US" sz="2800" dirty="0">
                <a:latin typeface="Courier New" panose="02070309020205020404" pitchFamily="49" charset="0"/>
              </a:rPr>
              <a:t>class is used to programmatically prepare query strings so that they can communicate with server-side programs using </a:t>
            </a:r>
            <a:endParaRPr lang="en-US" altLang="zh-CN" sz="2800" dirty="0"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encoded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2400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"This*string*has*asterisks"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24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400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2400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dirty="0"/>
          </a:p>
          <a:p>
            <a:r>
              <a:rPr lang="en-GB" altLang="zh-CN" sz="2800" dirty="0"/>
              <a:t>URLEncoder.encode() </a:t>
            </a:r>
            <a:r>
              <a:rPr lang="en-GB" altLang="en-US" sz="2800" dirty="0"/>
              <a:t>encodes the characters in the string to conform to </a:t>
            </a:r>
            <a:r>
              <a:rPr lang="en-GB" altLang="zh-CN" sz="2800" dirty="0"/>
              <a:t>the URL </a:t>
            </a:r>
            <a:r>
              <a:rPr lang="en-GB" altLang="en-US" sz="2800" dirty="0"/>
              <a:t>character specification</a:t>
            </a:r>
            <a:endParaRPr lang="en-GB" altLang="en-US" sz="2800" dirty="0"/>
          </a:p>
        </p:txBody>
      </p:sp>
      <p:sp>
        <p:nvSpPr>
          <p:cNvPr id="6042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3F0BA6A-AC1F-4F77-8D0D-7C7DA3C14D6A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/>
          <p:cNvSpPr>
            <a:spLocks noGrp="1"/>
          </p:cNvSpPr>
          <p:nvPr>
            <p:ph type="title"/>
          </p:nvPr>
        </p:nvSpPr>
        <p:spPr>
          <a:xfrm>
            <a:off x="1524000" y="203200"/>
            <a:ext cx="8540750" cy="730250"/>
          </a:xfrm>
        </p:spPr>
        <p:txBody>
          <a:bodyPr/>
          <a:lstStyle/>
          <a:p>
            <a:pPr algn="l"/>
            <a:r>
              <a:rPr lang="en-GB" altLang="en-US" sz="3200"/>
              <a:t>Use </a:t>
            </a:r>
            <a:r>
              <a:rPr lang="en-GB" altLang="zh-CN" sz="3200"/>
              <a:t>URLEncoder </a:t>
            </a:r>
            <a:r>
              <a:rPr lang="en-GB" altLang="en-US" sz="3200"/>
              <a:t>to generate query string</a:t>
            </a:r>
            <a:endParaRPr lang="en-GB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52400" y="1690689"/>
            <a:ext cx="10363201" cy="1938337"/>
          </a:xfrm>
        </p:spPr>
        <p:txBody>
          <a:bodyPr>
            <a:normAutofit/>
          </a:bodyPr>
          <a:lstStyle/>
          <a:p>
            <a:r>
              <a:rPr lang="en-GB" altLang="en-US" sz="2800" dirty="0"/>
              <a:t>Encode </a:t>
            </a:r>
            <a:endParaRPr lang="en-US" altLang="zh-CN" sz="2800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17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dirty="0">
                <a:solidFill>
                  <a:srgbClr val="000088"/>
                </a:solidFill>
                <a:latin typeface="Courier New" panose="02070309020205020404" pitchFamily="49" charset="0"/>
              </a:rPr>
              <a:t>query</a:t>
            </a:r>
            <a:r>
              <a:rPr lang="en-GB" altLang="zh-CN" sz="17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dirty="0">
                <a:solidFill>
                  <a:srgbClr val="555555"/>
                </a:solidFill>
                <a:latin typeface="Courier New" panose="02070309020205020404" pitchFamily="49" charset="0"/>
              </a:rPr>
              <a:t>= </a:t>
            </a:r>
            <a:r>
              <a:rPr lang="en-GB" altLang="zh-CN" sz="1700" dirty="0">
                <a:solidFill>
                  <a:srgbClr val="1B1C20"/>
                </a:solidFill>
                <a:latin typeface="Courier New" panose="02070309020205020404" pitchFamily="49" charset="0"/>
              </a:rPr>
              <a:t>URLEncoder.encode( </a:t>
            </a:r>
            <a:r>
              <a:rPr lang="en-GB" altLang="zh-CN" sz="1700" dirty="0">
                <a:solidFill>
                  <a:srgbClr val="CC3300"/>
                </a:solidFill>
                <a:latin typeface="Courier New" panose="02070309020205020404" pitchFamily="49" charset="0"/>
              </a:rPr>
              <a:t>https://www.google.com/search?hl=en&amp;as_q=Java$as_epq=I/O,”UTF-8”) </a:t>
            </a:r>
            <a:r>
              <a:rPr lang="en-GB" altLang="zh-CN" sz="1700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800" dirty="0">
                <a:latin typeface="Courier New" panose="02070309020205020404" pitchFamily="49" charset="0"/>
              </a:rPr>
              <a:t>System.out.println(query);</a:t>
            </a:r>
            <a:endParaRPr lang="en-GB" altLang="zh-CN" sz="1800" dirty="0">
              <a:latin typeface="Courier New" panose="02070309020205020404" pitchFamily="49" charset="0"/>
            </a:endParaRPr>
          </a:p>
        </p:txBody>
      </p:sp>
      <p:sp>
        <p:nvSpPr>
          <p:cNvPr id="61444" name="矩形 3"/>
          <p:cNvSpPr>
            <a:spLocks noChangeArrowheads="1"/>
          </p:cNvSpPr>
          <p:nvPr/>
        </p:nvSpPr>
        <p:spPr bwMode="auto">
          <a:xfrm>
            <a:off x="76200" y="1066801"/>
            <a:ext cx="113538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Query string 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1. https://www.google.com/search?hl=en&amp;as_q=Java&amp;as_epq=I/O</a:t>
            </a:r>
            <a:endParaRPr lang="zh-CN" altLang="en-US" sz="1800" b="1" dirty="0"/>
          </a:p>
        </p:txBody>
      </p:sp>
      <p:sp>
        <p:nvSpPr>
          <p:cNvPr id="61445" name="矩形 4"/>
          <p:cNvSpPr>
            <a:spLocks noChangeArrowheads="1"/>
          </p:cNvSpPr>
          <p:nvPr/>
        </p:nvSpPr>
        <p:spPr bwMode="auto">
          <a:xfrm>
            <a:off x="76200" y="3603626"/>
            <a:ext cx="12039600" cy="6771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</a:pPr>
            <a:r>
              <a:rPr lang="en-GB" altLang="en-US" sz="2000" b="1" dirty="0">
                <a:solidFill>
                  <a:srgbClr val="000088"/>
                </a:solidFill>
                <a:latin typeface="Courier New" panose="02070309020205020404" pitchFamily="49" charset="0"/>
              </a:rPr>
              <a:t>The output is:</a:t>
            </a:r>
            <a:endParaRPr lang="en-GB" altLang="en-US" sz="2000" b="1" dirty="0">
              <a:solidFill>
                <a:srgbClr val="000088"/>
              </a:solidFill>
              <a:latin typeface="Courier New" panose="02070309020205020404" pitchFamily="49" charset="0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GB" altLang="zh-CN" sz="1800" b="1" dirty="0">
                <a:solidFill>
                  <a:srgbClr val="000088"/>
                </a:solidFill>
                <a:latin typeface="Courier New" panose="02070309020205020404" pitchFamily="49" charset="0"/>
              </a:rPr>
              <a:t>https%3A%2F%2Fwww.google.com%2Fsearch%3Fhl%3Den%26as_q%3DJava%26as_epq%3DI%2FO</a:t>
            </a:r>
            <a:endParaRPr lang="zh-CN" altLang="en-US" sz="1800" b="1" dirty="0">
              <a:solidFill>
                <a:srgbClr val="000088"/>
              </a:solidFill>
              <a:latin typeface="Courier New" panose="02070309020205020404" pitchFamily="49" charset="0"/>
            </a:endParaRPr>
          </a:p>
        </p:txBody>
      </p:sp>
      <p:sp>
        <p:nvSpPr>
          <p:cNvPr id="61446" name="TextBox 1"/>
          <p:cNvSpPr txBox="1">
            <a:spLocks noChangeArrowheads="1"/>
          </p:cNvSpPr>
          <p:nvPr/>
        </p:nvSpPr>
        <p:spPr bwMode="auto">
          <a:xfrm>
            <a:off x="76200" y="4887913"/>
            <a:ext cx="11506200" cy="1200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dirty="0">
                <a:solidFill>
                  <a:srgbClr val="FF0000"/>
                </a:solidFill>
              </a:rPr>
              <a:t>There is a blind encoding problem: </a:t>
            </a:r>
            <a:r>
              <a:rPr lang="en-GB" altLang="zh-CN" sz="2400" dirty="0">
                <a:solidFill>
                  <a:srgbClr val="FF0000"/>
                </a:solidFill>
              </a:rPr>
              <a:t>URLEncoder.encode() </a:t>
            </a:r>
            <a:r>
              <a:rPr lang="en-GB" altLang="en-US" sz="2400" dirty="0">
                <a:solidFill>
                  <a:srgbClr val="FF0000"/>
                </a:solidFill>
              </a:rPr>
              <a:t>encodes blindly and does not distinguish between special characters used in </a:t>
            </a:r>
            <a:r>
              <a:rPr lang="en-GB" altLang="zh-CN" sz="2400" dirty="0">
                <a:solidFill>
                  <a:srgbClr val="FF0000"/>
                </a:solidFill>
              </a:rPr>
              <a:t>the URL query string and characters that need to be encoded .</a:t>
            </a:r>
            <a:endParaRPr lang="zh-CN" altLang="en-US" sz="24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/>
          <p:cNvSpPr>
            <a:spLocks noGrp="1"/>
          </p:cNvSpPr>
          <p:nvPr>
            <p:ph type="title"/>
          </p:nvPr>
        </p:nvSpPr>
        <p:spPr>
          <a:xfrm>
            <a:off x="1501775" y="152400"/>
            <a:ext cx="8540750" cy="592138"/>
          </a:xfrm>
        </p:spPr>
        <p:txBody>
          <a:bodyPr/>
          <a:lstStyle/>
          <a:p>
            <a:pPr algn="l"/>
            <a:r>
              <a:rPr lang="en-GB" altLang="en-US" sz="3200"/>
              <a:t>Use </a:t>
            </a:r>
            <a:r>
              <a:rPr lang="en-GB" altLang="zh-CN" sz="3200"/>
              <a:t>URLEncoder </a:t>
            </a:r>
            <a:r>
              <a:rPr lang="en-GB" altLang="en-US" sz="3200"/>
              <a:t>to generate query string</a:t>
            </a:r>
            <a:endParaRPr lang="en-GB" altLang="en-US" sz="32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04800" y="777197"/>
            <a:ext cx="11430000" cy="4800600"/>
          </a:xfrm>
        </p:spPr>
        <p:txBody>
          <a:bodyPr>
            <a:normAutofit/>
          </a:bodyPr>
          <a:lstStyle/>
          <a:p>
            <a:r>
              <a:rPr lang="en-GB" altLang="en-US" sz="2800" b="1" dirty="0"/>
              <a:t>Solution to the blind encoding problem</a:t>
            </a:r>
            <a:endParaRPr lang="en-US" altLang="zh-CN" sz="2800" b="1" dirty="0"/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"https://www.google.com/search?"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700" b="1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"hl"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"="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700" b="1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"en"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"&amp;"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700" b="1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"as_q"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"="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700" b="1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"Java"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"&amp;"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700" b="1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"as_epq"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"="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;</a:t>
            </a:r>
            <a:endParaRPr lang="en-US" altLang="zh-CN" sz="1700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+=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000088"/>
                </a:solidFill>
                <a:latin typeface="Courier New" panose="02070309020205020404" pitchFamily="49" charset="0"/>
              </a:rPr>
              <a:t>URLEncoder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. </a:t>
            </a:r>
            <a:r>
              <a:rPr lang="en-GB" altLang="zh-CN" sz="1700" b="1" dirty="0">
                <a:solidFill>
                  <a:srgbClr val="330099"/>
                </a:solidFill>
                <a:latin typeface="Courier New" panose="02070309020205020404" pitchFamily="49" charset="0"/>
              </a:rPr>
              <a:t>encode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"I/O"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1700" b="1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1700" b="1" dirty="0">
                <a:solidFill>
                  <a:srgbClr val="CC3300"/>
                </a:solidFill>
                <a:latin typeface="Courier New" panose="02070309020205020404" pitchFamily="49" charset="0"/>
              </a:rPr>
              <a:t>"UTF-8" </a:t>
            </a: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);</a:t>
            </a:r>
            <a:endParaRPr lang="en-GB" altLang="zh-CN" sz="1700" b="1" dirty="0">
              <a:solidFill>
                <a:srgbClr val="555555"/>
              </a:solidFill>
              <a:latin typeface="Courier New" panose="02070309020205020404" pitchFamily="49" charset="0"/>
            </a:endParaRPr>
          </a:p>
          <a:p>
            <a:pPr>
              <a:buFont typeface="Wingdings 2" panose="05020102010507070707" pitchFamily="18" charset="2"/>
              <a:buNone/>
            </a:pPr>
            <a:r>
              <a:rPr lang="en-GB" altLang="zh-CN" sz="1700" b="1" dirty="0">
                <a:solidFill>
                  <a:srgbClr val="555555"/>
                </a:solidFill>
                <a:latin typeface="Courier New" panose="02070309020205020404" pitchFamily="49" charset="0"/>
              </a:rPr>
              <a:t>System.out.println(url);</a:t>
            </a: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endParaRPr lang="zh-CN" altLang="en-US" b="1" dirty="0"/>
          </a:p>
        </p:txBody>
      </p:sp>
      <p:sp>
        <p:nvSpPr>
          <p:cNvPr id="6246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34DEDB6-7708-44ED-9863-1C124600E87B}" type="slidenum">
              <a:rPr lang="en-US" altLang="zh-CN" sz="1400"/>
            </a:fld>
            <a:endParaRPr lang="en-US" altLang="zh-CN" sz="1400"/>
          </a:p>
        </p:txBody>
      </p:sp>
      <p:sp>
        <p:nvSpPr>
          <p:cNvPr id="62469" name="矩形 3"/>
          <p:cNvSpPr>
            <a:spLocks noChangeArrowheads="1"/>
          </p:cNvSpPr>
          <p:nvPr/>
        </p:nvSpPr>
        <p:spPr bwMode="auto">
          <a:xfrm>
            <a:off x="533400" y="5813426"/>
            <a:ext cx="9391650" cy="677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b="1" dirty="0">
                <a:solidFill>
                  <a:srgbClr val="FF0000"/>
                </a:solidFill>
                <a:latin typeface="Courier New" panose="02070309020205020404" pitchFamily="49" charset="0"/>
              </a:rPr>
              <a:t>The output is the desired output </a:t>
            </a:r>
            <a:r>
              <a:rPr lang="en-GB" altLang="en-US" sz="2000" b="1" dirty="0">
                <a:solidFill>
                  <a:srgbClr val="1B1C20"/>
                </a:solidFill>
                <a:latin typeface="Courier New" panose="02070309020205020404" pitchFamily="49" charset="0"/>
              </a:rPr>
              <a:t>: </a:t>
            </a:r>
            <a:r>
              <a:rPr lang="en-GB" altLang="zh-CN" sz="1800" b="1" dirty="0">
                <a:solidFill>
                  <a:srgbClr val="1B1C20"/>
                </a:solidFill>
                <a:latin typeface="Courier New" panose="02070309020205020404" pitchFamily="49" charset="0"/>
              </a:rPr>
              <a:t>https://www.google.com/search?hl=en&amp;as_q=Java&amp;as_epq=I/O</a:t>
            </a:r>
            <a:endParaRPr lang="zh-CN" altLang="en-US" sz="1800" b="1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/>
          <p:cNvSpPr>
            <a:spLocks noGrp="1"/>
          </p:cNvSpPr>
          <p:nvPr>
            <p:ph type="title"/>
          </p:nvPr>
        </p:nvSpPr>
        <p:spPr>
          <a:xfrm>
            <a:off x="1560513" y="152400"/>
            <a:ext cx="8540750" cy="685800"/>
          </a:xfrm>
        </p:spPr>
        <p:txBody>
          <a:bodyPr/>
          <a:lstStyle/>
          <a:p>
            <a:pPr algn="l"/>
            <a:r>
              <a:rPr lang="en-GB" altLang="zh-CN" sz="3200"/>
              <a:t>URLDecoder </a:t>
            </a:r>
            <a:r>
              <a:rPr lang="en-GB" altLang="en-US" sz="3200"/>
              <a:t>Class</a:t>
            </a:r>
            <a:endParaRPr lang="en-GB" altLang="en-US" sz="3200"/>
          </a:p>
        </p:txBody>
      </p:sp>
      <p:sp>
        <p:nvSpPr>
          <p:cNvPr id="63491" name="内容占位符 2"/>
          <p:cNvSpPr>
            <a:spLocks noGrp="1"/>
          </p:cNvSpPr>
          <p:nvPr>
            <p:ph idx="1"/>
          </p:nvPr>
        </p:nvSpPr>
        <p:spPr>
          <a:xfrm>
            <a:off x="1541464" y="1447801"/>
            <a:ext cx="8689975" cy="4498975"/>
          </a:xfrm>
        </p:spPr>
        <p:txBody>
          <a:bodyPr/>
          <a:lstStyle/>
          <a:p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public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static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CC00FF"/>
                </a:solidFill>
                <a:latin typeface="Courier New" panose="02070309020205020404" pitchFamily="49" charset="0"/>
              </a:rPr>
              <a:t>decode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(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,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String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encoding </a:t>
            </a:r>
            <a:r>
              <a:rPr lang="en-GB" altLang="zh-CN" sz="2000" dirty="0">
                <a:solidFill>
                  <a:srgbClr val="555555"/>
                </a:solidFill>
                <a:latin typeface="Courier New" panose="02070309020205020404" pitchFamily="49" charset="0"/>
              </a:rPr>
              <a:t>) </a:t>
            </a:r>
            <a:r>
              <a:rPr lang="en-GB" altLang="zh-CN" sz="2000" b="1" dirty="0">
                <a:solidFill>
                  <a:srgbClr val="006699"/>
                </a:solidFill>
                <a:latin typeface="Courier New" panose="02070309020205020404" pitchFamily="49" charset="0"/>
              </a:rPr>
              <a:t>throws</a:t>
            </a:r>
            <a:r>
              <a:rPr lang="en-GB" altLang="zh-CN" sz="2000" dirty="0">
                <a:solidFill>
                  <a:srgbClr val="1B1C20"/>
                </a:solidFill>
                <a:latin typeface="Courier New" panose="02070309020205020404" pitchFamily="49" charset="0"/>
              </a:rPr>
              <a:t> </a:t>
            </a:r>
            <a:r>
              <a:rPr lang="en-GB" altLang="zh-CN" sz="2000" dirty="0">
                <a:solidFill>
                  <a:srgbClr val="000088"/>
                </a:solidFill>
                <a:latin typeface="Courier New" panose="02070309020205020404" pitchFamily="49" charset="0"/>
              </a:rPr>
              <a:t>UnsupportedEncodingException</a:t>
            </a:r>
            <a:endParaRPr lang="en-US" altLang="zh-CN" sz="2000" dirty="0">
              <a:solidFill>
                <a:srgbClr val="000000"/>
              </a:solidFill>
              <a:latin typeface="宋体" panose="02010600030101010101" pitchFamily="2" charset="-122"/>
            </a:endParaRPr>
          </a:p>
          <a:p>
            <a:r>
              <a:rPr lang="en-GB" altLang="en-US" sz="2800" dirty="0"/>
              <a:t>Decoding, the inverse of  </a:t>
            </a:r>
            <a:r>
              <a:rPr lang="en-US" altLang="en-US" sz="2800" dirty="0"/>
              <a:t>encode()</a:t>
            </a:r>
            <a:endParaRPr lang="en-US" altLang="zh-CN" sz="2800" dirty="0"/>
          </a:p>
          <a:p>
            <a:r>
              <a:rPr lang="en-GB" altLang="en-US" sz="2800" dirty="0"/>
              <a:t>Decodes a string encoded in </a:t>
            </a:r>
            <a:r>
              <a:rPr lang="en-GB" altLang="zh-CN" sz="2800" dirty="0"/>
              <a:t>the x-www-form-url-encoded format</a:t>
            </a:r>
            <a:endParaRPr lang="en-GB" altLang="zh-CN" sz="2800" dirty="0"/>
          </a:p>
        </p:txBody>
      </p:sp>
      <p:sp>
        <p:nvSpPr>
          <p:cNvPr id="6349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E82D52-E5BB-4365-9D81-525DA89CA6E8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/>
          <p:cNvSpPr>
            <a:spLocks noGrp="1"/>
          </p:cNvSpPr>
          <p:nvPr>
            <p:ph type="title"/>
          </p:nvPr>
        </p:nvSpPr>
        <p:spPr>
          <a:xfrm>
            <a:off x="1295400" y="457200"/>
            <a:ext cx="8540750" cy="685800"/>
          </a:xfrm>
        </p:spPr>
        <p:txBody>
          <a:bodyPr/>
          <a:lstStyle/>
          <a:p>
            <a:pPr algn="l"/>
            <a:r>
              <a:rPr lang="en-US" altLang="en-US" sz="3200" dirty="0"/>
              <a:t>T</a:t>
            </a:r>
            <a:r>
              <a:rPr lang="en-GB" altLang="en-US" sz="3200" dirty="0"/>
              <a:t>hink</a:t>
            </a:r>
            <a:endParaRPr lang="en-GB" altLang="en-US" sz="3200" dirty="0"/>
          </a:p>
        </p:txBody>
      </p:sp>
      <p:sp>
        <p:nvSpPr>
          <p:cNvPr id="64515" name="内容占位符 2"/>
          <p:cNvSpPr>
            <a:spLocks noGrp="1"/>
          </p:cNvSpPr>
          <p:nvPr>
            <p:ph idx="1"/>
          </p:nvPr>
        </p:nvSpPr>
        <p:spPr>
          <a:xfrm>
            <a:off x="1219200" y="1905000"/>
            <a:ext cx="9982200" cy="4191000"/>
          </a:xfrm>
        </p:spPr>
        <p:txBody>
          <a:bodyPr/>
          <a:lstStyle/>
          <a:p>
            <a:r>
              <a:rPr lang="en-GB" altLang="en-US" sz="2800" dirty="0"/>
              <a:t>Program a proxy server to restrict the requests from hosts in the Shenzhen University LAN to access the Baidu search homepage. </a:t>
            </a:r>
            <a:endParaRPr lang="en-GB" altLang="en-US" sz="2800" dirty="0"/>
          </a:p>
          <a:p>
            <a:r>
              <a:rPr lang="en-GB" altLang="en-US" sz="2800" dirty="0"/>
              <a:t>All requests will be filtered out, and access will be denied. </a:t>
            </a:r>
            <a:endParaRPr lang="en-GB" altLang="en-US" sz="2800" dirty="0"/>
          </a:p>
          <a:p>
            <a:r>
              <a:rPr lang="en-GB" altLang="en-US" sz="2800" dirty="0"/>
              <a:t>A prompt will be given indicating that access is restricted.</a:t>
            </a:r>
            <a:endParaRPr lang="en-GB" altLang="en-US" sz="2800" dirty="0"/>
          </a:p>
          <a:p>
            <a:r>
              <a:rPr lang="en-GB" altLang="en-US" sz="2800" dirty="0"/>
              <a:t>Try to think about and explore the programming implementation.</a:t>
            </a:r>
            <a:endParaRPr lang="en-GB" altLang="en-US" sz="2800" dirty="0"/>
          </a:p>
        </p:txBody>
      </p:sp>
      <p:sp>
        <p:nvSpPr>
          <p:cNvPr id="6451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18E701B-AC45-4187-912B-0114C3F175A0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 txBox="1"/>
          <p:nvPr/>
        </p:nvSpPr>
        <p:spPr bwMode="auto">
          <a:xfrm>
            <a:off x="1481138" y="53976"/>
            <a:ext cx="8540751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norm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800" b="1" dirty="0">
                <a:solidFill>
                  <a:schemeClr val="tx2"/>
                </a:solidFill>
              </a:rPr>
              <a:t>5. Access the GET </a:t>
            </a:r>
            <a:r>
              <a:rPr lang="en-GB" altLang="en-US" sz="2800" b="1" dirty="0">
                <a:solidFill>
                  <a:schemeClr val="tx2"/>
                </a:solidFill>
              </a:rPr>
              <a:t>method on the server side</a:t>
            </a:r>
            <a:endParaRPr lang="en-GB" altLang="en-US" sz="2800" b="1" dirty="0">
              <a:solidFill>
                <a:schemeClr val="tx2"/>
              </a:solidFill>
            </a:endParaRPr>
          </a:p>
        </p:txBody>
      </p:sp>
      <p:sp>
        <p:nvSpPr>
          <p:cNvPr id="65539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62336E7-8D3D-4F47-8DE5-A08E3EE7ABBD}" type="slidenum">
              <a:rPr lang="en-US" altLang="zh-CN" sz="1400"/>
            </a:fld>
            <a:endParaRPr lang="en-US" altLang="zh-CN" sz="1400"/>
          </a:p>
        </p:txBody>
      </p:sp>
      <p:sp>
        <p:nvSpPr>
          <p:cNvPr id="65540" name="矩形 1"/>
          <p:cNvSpPr>
            <a:spLocks noChangeArrowheads="1"/>
          </p:cNvSpPr>
          <p:nvPr/>
        </p:nvSpPr>
        <p:spPr bwMode="auto">
          <a:xfrm>
            <a:off x="2743200" y="1631950"/>
            <a:ext cx="1447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Applet</a:t>
            </a:r>
            <a:endParaRPr lang="zh-CN" altLang="en-US" sz="1800"/>
          </a:p>
        </p:txBody>
      </p:sp>
      <p:sp>
        <p:nvSpPr>
          <p:cNvPr id="65541" name="矩形 4"/>
          <p:cNvSpPr>
            <a:spLocks noChangeArrowheads="1"/>
          </p:cNvSpPr>
          <p:nvPr/>
        </p:nvSpPr>
        <p:spPr bwMode="auto">
          <a:xfrm>
            <a:off x="2743200" y="2698750"/>
            <a:ext cx="14478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App</a:t>
            </a:r>
            <a:endParaRPr lang="zh-CN" altLang="en-US" sz="1800"/>
          </a:p>
        </p:txBody>
      </p:sp>
      <p:sp>
        <p:nvSpPr>
          <p:cNvPr id="65542" name="TextBox 3"/>
          <p:cNvSpPr txBox="1">
            <a:spLocks noChangeArrowheads="1"/>
          </p:cNvSpPr>
          <p:nvPr/>
        </p:nvSpPr>
        <p:spPr bwMode="auto">
          <a:xfrm>
            <a:off x="2743200" y="94615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/>
              <a:t>Client</a:t>
            </a:r>
            <a:endParaRPr lang="en-GB" altLang="en-US" sz="1800"/>
          </a:p>
        </p:txBody>
      </p:sp>
      <p:sp>
        <p:nvSpPr>
          <p:cNvPr id="65543" name="TextBox 7"/>
          <p:cNvSpPr txBox="1">
            <a:spLocks noChangeArrowheads="1"/>
          </p:cNvSpPr>
          <p:nvPr/>
        </p:nvSpPr>
        <p:spPr bwMode="auto">
          <a:xfrm>
            <a:off x="7239000" y="9144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/>
              <a:t>Server Side</a:t>
            </a:r>
            <a:endParaRPr lang="en-GB" altLang="en-US" sz="1800"/>
          </a:p>
        </p:txBody>
      </p:sp>
      <p:sp>
        <p:nvSpPr>
          <p:cNvPr id="65544" name="矩形 6"/>
          <p:cNvSpPr>
            <a:spLocks noChangeArrowheads="1"/>
          </p:cNvSpPr>
          <p:nvPr/>
        </p:nvSpPr>
        <p:spPr bwMode="auto">
          <a:xfrm>
            <a:off x="7239000" y="1479550"/>
            <a:ext cx="18288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CGI</a:t>
            </a:r>
            <a:endParaRPr lang="zh-CN" altLang="en-US" sz="1800"/>
          </a:p>
        </p:txBody>
      </p:sp>
      <p:sp>
        <p:nvSpPr>
          <p:cNvPr id="65545" name="矩形 9"/>
          <p:cNvSpPr>
            <a:spLocks noChangeArrowheads="1"/>
          </p:cNvSpPr>
          <p:nvPr/>
        </p:nvSpPr>
        <p:spPr bwMode="auto">
          <a:xfrm>
            <a:off x="7239000" y="2274888"/>
            <a:ext cx="18288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servlet</a:t>
            </a:r>
            <a:endParaRPr lang="zh-CN" altLang="en-US" sz="1800"/>
          </a:p>
        </p:txBody>
      </p:sp>
      <p:sp>
        <p:nvSpPr>
          <p:cNvPr id="65546" name="矩形 10"/>
          <p:cNvSpPr>
            <a:spLocks noChangeArrowheads="1"/>
          </p:cNvSpPr>
          <p:nvPr/>
        </p:nvSpPr>
        <p:spPr bwMode="auto">
          <a:xfrm>
            <a:off x="7239000" y="3041650"/>
            <a:ext cx="1828800" cy="4953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PHP</a:t>
            </a:r>
            <a:endParaRPr lang="zh-CN" altLang="en-US" sz="1800"/>
          </a:p>
        </p:txBody>
      </p:sp>
      <p:sp>
        <p:nvSpPr>
          <p:cNvPr id="65547" name="矩形 11"/>
          <p:cNvSpPr>
            <a:spLocks noChangeArrowheads="1"/>
          </p:cNvSpPr>
          <p:nvPr/>
        </p:nvSpPr>
        <p:spPr bwMode="auto">
          <a:xfrm>
            <a:off x="7239000" y="3841750"/>
            <a:ext cx="2438400" cy="685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/>
              <a:t>Other programs that use the </a:t>
            </a:r>
            <a:r>
              <a:rPr lang="en-GB" altLang="zh-CN" sz="1800" dirty="0"/>
              <a:t>GET </a:t>
            </a:r>
            <a:r>
              <a:rPr lang="en-GB" altLang="en-US" sz="1800" dirty="0"/>
              <a:t>method</a:t>
            </a:r>
            <a:endParaRPr lang="en-GB" altLang="en-US" sz="1800" dirty="0"/>
          </a:p>
        </p:txBody>
      </p:sp>
      <p:sp>
        <p:nvSpPr>
          <p:cNvPr id="65548" name="左右箭头 8"/>
          <p:cNvSpPr>
            <a:spLocks noChangeArrowheads="1"/>
          </p:cNvSpPr>
          <p:nvPr/>
        </p:nvSpPr>
        <p:spPr bwMode="auto">
          <a:xfrm>
            <a:off x="4876800" y="2274888"/>
            <a:ext cx="2133600" cy="495300"/>
          </a:xfrm>
          <a:prstGeom prst="leftRightArrow">
            <a:avLst>
              <a:gd name="adj1" fmla="val 50000"/>
              <a:gd name="adj2" fmla="val 49997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65549" name="TextBox 12"/>
          <p:cNvSpPr txBox="1">
            <a:spLocks noChangeArrowheads="1"/>
          </p:cNvSpPr>
          <p:nvPr/>
        </p:nvSpPr>
        <p:spPr bwMode="auto">
          <a:xfrm>
            <a:off x="5105400" y="1727200"/>
            <a:ext cx="14478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/>
              <a:t>Using </a:t>
            </a:r>
            <a:r>
              <a:rPr lang="en-GB" altLang="zh-CN" sz="1800"/>
              <a:t>the URL </a:t>
            </a:r>
            <a:r>
              <a:rPr lang="en-GB" altLang="en-US" sz="1800"/>
              <a:t>Class</a:t>
            </a:r>
            <a:endParaRPr lang="en-GB" altLang="en-US" sz="1800"/>
          </a:p>
        </p:txBody>
      </p:sp>
      <p:sp>
        <p:nvSpPr>
          <p:cNvPr id="65550" name="TextBox 13"/>
          <p:cNvSpPr txBox="1">
            <a:spLocks noChangeArrowheads="1"/>
          </p:cNvSpPr>
          <p:nvPr/>
        </p:nvSpPr>
        <p:spPr bwMode="auto">
          <a:xfrm>
            <a:off x="9871981" y="3799659"/>
            <a:ext cx="1466851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400" dirty="0">
                <a:solidFill>
                  <a:srgbClr val="002060"/>
                </a:solidFill>
              </a:rPr>
              <a:t>Accepts a specific name </a:t>
            </a:r>
            <a:r>
              <a:rPr lang="en-GB" altLang="zh-CN" sz="1400" dirty="0">
                <a:solidFill>
                  <a:srgbClr val="002060"/>
                </a:solidFill>
              </a:rPr>
              <a:t>- </a:t>
            </a:r>
            <a:r>
              <a:rPr lang="en-GB" altLang="en-US" sz="1400" dirty="0">
                <a:solidFill>
                  <a:srgbClr val="002060"/>
                </a:solidFill>
              </a:rPr>
              <a:t>value combination</a:t>
            </a:r>
            <a:endParaRPr lang="en-GB" altLang="en-US" sz="1400" dirty="0">
              <a:solidFill>
                <a:srgbClr val="002060"/>
              </a:solidFill>
            </a:endParaRPr>
          </a:p>
        </p:txBody>
      </p:sp>
      <p:sp>
        <p:nvSpPr>
          <p:cNvPr id="65552" name="TextBox 15"/>
          <p:cNvSpPr txBox="1">
            <a:spLocks noChangeArrowheads="1"/>
          </p:cNvSpPr>
          <p:nvPr/>
        </p:nvSpPr>
        <p:spPr bwMode="auto">
          <a:xfrm>
            <a:off x="130629" y="4803436"/>
            <a:ext cx="11811000" cy="1754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1800" dirty="0"/>
              <a:t>If the server-side program is also written by yourself, the client programmer will also know the name-value pairs that the server wants to receive.</a:t>
            </a:r>
            <a:endParaRPr lang="en-US" altLang="zh-CN" sz="1800" dirty="0"/>
          </a:p>
          <a:p>
            <a:pPr marL="457200" indent="-457200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1800" dirty="0"/>
              <a:t>2. If the server uses a third-party program, the third-party program documentation will also indicate what it wants to receive.</a:t>
            </a:r>
            <a:endParaRPr lang="en-US" altLang="zh-CN" sz="1800" dirty="0"/>
          </a:p>
          <a:p>
            <a:pPr marL="457200" indent="-457200">
              <a:spcBef>
                <a:spcPct val="0"/>
              </a:spcBef>
              <a:buClrTx/>
              <a:buSzTx/>
              <a:buFontTx/>
              <a:buAutoNum type="arabicPeriod"/>
            </a:pPr>
            <a:r>
              <a:rPr lang="en-US" altLang="zh-CN" sz="1800" dirty="0"/>
              <a:t>3. If the server uses a third-party API, the API documentation will specify in detail what data needs to be sent to achieve various purposes.</a:t>
            </a:r>
            <a:endParaRPr lang="en-GB" altLang="zh-CN" sz="1800" dirty="0"/>
          </a:p>
        </p:txBody>
      </p:sp>
      <p:sp>
        <p:nvSpPr>
          <p:cNvPr id="2" name="Rectangle 1"/>
          <p:cNvSpPr/>
          <p:nvPr/>
        </p:nvSpPr>
        <p:spPr>
          <a:xfrm>
            <a:off x="130629" y="3736636"/>
            <a:ext cx="70866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Create a query string that meets the server's receiving requirements, and then construct a URL containing this query string</a:t>
            </a:r>
            <a:endParaRPr 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标题 1"/>
          <p:cNvSpPr>
            <a:spLocks noGrp="1"/>
          </p:cNvSpPr>
          <p:nvPr>
            <p:ph type="title"/>
          </p:nvPr>
        </p:nvSpPr>
        <p:spPr>
          <a:xfrm>
            <a:off x="1746250" y="152400"/>
            <a:ext cx="8540750" cy="609600"/>
          </a:xfrm>
        </p:spPr>
        <p:txBody>
          <a:bodyPr/>
          <a:lstStyle/>
          <a:p>
            <a:pPr algn="l"/>
            <a:r>
              <a:rPr lang="en-GB" altLang="zh-CN" sz="3200"/>
              <a:t>GET </a:t>
            </a:r>
            <a:r>
              <a:rPr lang="en-GB" altLang="en-US" sz="3200"/>
              <a:t>method applicable scenarios</a:t>
            </a:r>
            <a:endParaRPr lang="en-GB" altLang="en-US" sz="3200"/>
          </a:p>
        </p:txBody>
      </p:sp>
      <p:sp>
        <p:nvSpPr>
          <p:cNvPr id="66563" name="内容占位符 2"/>
          <p:cNvSpPr>
            <a:spLocks noGrp="1"/>
          </p:cNvSpPr>
          <p:nvPr>
            <p:ph idx="1"/>
          </p:nvPr>
        </p:nvSpPr>
        <p:spPr>
          <a:xfrm>
            <a:off x="381000" y="1143000"/>
            <a:ext cx="11506200" cy="3328988"/>
          </a:xfrm>
        </p:spPr>
        <p:txBody>
          <a:bodyPr/>
          <a:lstStyle/>
          <a:p>
            <a:r>
              <a:rPr lang="en-GB" altLang="zh-CN" sz="2800" dirty="0"/>
              <a:t>GET </a:t>
            </a:r>
            <a:r>
              <a:rPr lang="en-GB" altLang="en-US" sz="2800" dirty="0"/>
              <a:t>method is limited to safe operations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Such as </a:t>
            </a:r>
            <a:r>
              <a:rPr lang="en-GB" altLang="zh-CN" sz="2400" dirty="0"/>
              <a:t>: </a:t>
            </a:r>
            <a:r>
              <a:rPr lang="en-GB" altLang="en-US" sz="2400" dirty="0"/>
              <a:t>search request, page navigation, bookmark setting, cache, search, pre-fetch, etc.</a:t>
            </a:r>
            <a:endParaRPr lang="en-US" altLang="zh-CN" sz="2400" dirty="0"/>
          </a:p>
          <a:p>
            <a:endParaRPr lang="en-US" altLang="zh-CN" sz="2800" dirty="0"/>
          </a:p>
          <a:p>
            <a:r>
              <a:rPr lang="en-GB" altLang="en-US" sz="2800" dirty="0"/>
              <a:t>Cannot be used for unsafe operations such as creating or modifying resources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For example: post a comment on a page, order a pizza, etc.</a:t>
            </a:r>
            <a:endParaRPr lang="en-US" altLang="zh-CN" sz="24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标题 1"/>
          <p:cNvSpPr>
            <a:spLocks noGrp="1"/>
          </p:cNvSpPr>
          <p:nvPr>
            <p:ph type="title"/>
          </p:nvPr>
        </p:nvSpPr>
        <p:spPr>
          <a:xfrm>
            <a:off x="1524000" y="152400"/>
            <a:ext cx="8540750" cy="609600"/>
          </a:xfrm>
        </p:spPr>
        <p:txBody>
          <a:bodyPr/>
          <a:lstStyle/>
          <a:p>
            <a:pPr algn="l"/>
            <a:r>
              <a:rPr lang="en-GB" altLang="en-US" sz="3200" b="1"/>
              <a:t>Web form input processing</a:t>
            </a:r>
            <a:endParaRPr lang="en-GB" altLang="en-US" sz="3200" b="1"/>
          </a:p>
        </p:txBody>
      </p:sp>
      <p:sp>
        <p:nvSpPr>
          <p:cNvPr id="67587" name="内容占位符 2"/>
          <p:cNvSpPr>
            <a:spLocks noGrp="1"/>
          </p:cNvSpPr>
          <p:nvPr>
            <p:ph idx="1"/>
          </p:nvPr>
        </p:nvSpPr>
        <p:spPr>
          <a:xfrm>
            <a:off x="76200" y="914400"/>
            <a:ext cx="12039600" cy="5334000"/>
          </a:xfrm>
        </p:spPr>
        <p:txBody>
          <a:bodyPr/>
          <a:lstStyle/>
          <a:p>
            <a:r>
              <a:rPr lang="en-GB" altLang="en-US" sz="2800" dirty="0"/>
              <a:t>Internet applications often need to handle form input.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1. </a:t>
            </a:r>
            <a:r>
              <a:rPr lang="en-GB" altLang="en-US" sz="2400" dirty="0"/>
              <a:t>When programming, you need to first figure out what input the program expects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2. </a:t>
            </a:r>
            <a:r>
              <a:rPr lang="en-GB" altLang="en-US" sz="2400" dirty="0"/>
              <a:t>Create a query string including the necessary name-value pairs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3. </a:t>
            </a:r>
            <a:r>
              <a:rPr lang="en-GB" altLang="en-US" sz="2400" dirty="0"/>
              <a:t>Construct a URL containing this query string </a:t>
            </a:r>
            <a:r>
              <a:rPr lang="en-GB" altLang="zh-CN" sz="2400" dirty="0"/>
              <a:t>, </a:t>
            </a:r>
            <a:r>
              <a:rPr lang="en-GB" altLang="en-US" sz="2400" dirty="0"/>
              <a:t>open the </a:t>
            </a:r>
            <a:r>
              <a:rPr lang="en-GB" altLang="zh-CN" sz="2400" dirty="0"/>
              <a:t>URL </a:t>
            </a:r>
            <a:r>
              <a:rPr lang="en-GB" altLang="en-US" sz="2400" dirty="0"/>
              <a:t>connection, and read the input stream</a:t>
            </a:r>
            <a:endParaRPr lang="en-US" altLang="zh-CN" sz="2400" dirty="0"/>
          </a:p>
          <a:p>
            <a:endParaRPr lang="en-US" altLang="zh-CN" sz="2800" dirty="0"/>
          </a:p>
          <a:p>
            <a:pPr>
              <a:buFont typeface="Wingdings" panose="05000000000000000000" pitchFamily="2" charset="2"/>
              <a:buChar char="n"/>
            </a:pPr>
            <a:r>
              <a:rPr lang="en-GB" altLang="en-US" sz="2400" dirty="0"/>
              <a:t>For example: How does a form handler for a </a:t>
            </a:r>
            <a:r>
              <a:rPr lang="en-GB" altLang="zh-CN" sz="2400" dirty="0"/>
              <a:t>360 shopping website handle a search access form? </a:t>
            </a:r>
            <a:r>
              <a:rPr lang="en-GB" altLang="zh-CN" sz="2800" dirty="0"/>
              <a:t>https://gouwu.360.cn/</a:t>
            </a:r>
            <a:endParaRPr lang="en-GB" altLang="zh-CN" sz="2800" dirty="0"/>
          </a:p>
          <a:p>
            <a:pPr>
              <a:buFont typeface="Wingdings" panose="05000000000000000000" pitchFamily="2" charset="2"/>
              <a:buChar char="n"/>
            </a:pPr>
            <a:r>
              <a:rPr lang="en-GB" altLang="zh-CN" sz="2800" dirty="0">
                <a:hlinkClick r:id="rId1"/>
              </a:rPr>
              <a:t>https://www.dangdang.com/ </a:t>
            </a:r>
            <a:r>
              <a:rPr lang="en-GB" altLang="zh-CN" sz="2800" dirty="0"/>
              <a:t>( </a:t>
            </a:r>
            <a:r>
              <a:rPr lang="en-GB" altLang="en-US" sz="2800" dirty="0"/>
              <a:t>Dangdang.com’s search form processing </a:t>
            </a:r>
            <a:r>
              <a:rPr lang="en-GB" altLang="zh-CN" sz="2800" dirty="0"/>
              <a:t>)</a:t>
            </a:r>
            <a:endParaRPr lang="en-GB" altLang="zh-CN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/>
          <p:cNvSpPr>
            <a:spLocks noGrp="1"/>
          </p:cNvSpPr>
          <p:nvPr>
            <p:ph type="title"/>
          </p:nvPr>
        </p:nvSpPr>
        <p:spPr>
          <a:xfrm>
            <a:off x="1524000" y="11113"/>
            <a:ext cx="8540750" cy="533400"/>
          </a:xfrm>
        </p:spPr>
        <p:txBody>
          <a:bodyPr/>
          <a:lstStyle/>
          <a:p>
            <a:pPr algn="l"/>
            <a:r>
              <a:rPr lang="en-GB" altLang="en-US" sz="3200"/>
              <a:t>Web form input processing</a:t>
            </a:r>
            <a:endParaRPr lang="en-GB" altLang="en-US" sz="3200"/>
          </a:p>
        </p:txBody>
      </p:sp>
      <p:sp>
        <p:nvSpPr>
          <p:cNvPr id="68611" name="内容占位符 2"/>
          <p:cNvSpPr>
            <a:spLocks noGrp="1"/>
          </p:cNvSpPr>
          <p:nvPr>
            <p:ph idx="1"/>
          </p:nvPr>
        </p:nvSpPr>
        <p:spPr>
          <a:xfrm>
            <a:off x="228600" y="506412"/>
            <a:ext cx="7543800" cy="604839"/>
          </a:xfrm>
        </p:spPr>
        <p:txBody>
          <a:bodyPr/>
          <a:lstStyle/>
          <a:p>
            <a:r>
              <a:rPr lang="en-GB" altLang="zh-CN" sz="2400" dirty="0"/>
              <a:t>360 </a:t>
            </a:r>
            <a:r>
              <a:rPr lang="en-GB" altLang="zh-CN" sz="2800" dirty="0"/>
              <a:t>shopping </a:t>
            </a:r>
            <a:r>
              <a:rPr lang="en-GB" altLang="en-US" sz="2400" dirty="0"/>
              <a:t>website </a:t>
            </a:r>
            <a:r>
              <a:rPr lang="en-GB" altLang="zh-CN" sz="2400" dirty="0"/>
              <a:t>Dmoz.java</a:t>
            </a:r>
            <a:endParaRPr lang="en-GB" altLang="zh-CN" sz="24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endParaRPr lang="en-US" altLang="zh-CN" sz="2800" dirty="0"/>
          </a:p>
          <a:p>
            <a:r>
              <a:rPr lang="en-GB" altLang="en-US" sz="2400" dirty="0"/>
              <a:t>Corresponding </a:t>
            </a:r>
            <a:r>
              <a:rPr lang="en-GB" altLang="zh-CN" sz="2400" dirty="0"/>
              <a:t>html </a:t>
            </a:r>
            <a:r>
              <a:rPr lang="en-GB" altLang="en-US" sz="2400" dirty="0"/>
              <a:t>form</a:t>
            </a:r>
            <a:endParaRPr lang="en-US" altLang="zh-CN" sz="2400" dirty="0"/>
          </a:p>
        </p:txBody>
      </p:sp>
      <p:pic>
        <p:nvPicPr>
          <p:cNvPr id="68612" name="Picture 5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111251"/>
            <a:ext cx="5970588" cy="256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861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673476"/>
            <a:ext cx="990600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634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04641"/>
            <a:ext cx="10972800" cy="650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58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58736"/>
            <a:ext cx="11125200" cy="66468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682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1600" y="762000"/>
            <a:ext cx="756285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06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57200"/>
            <a:ext cx="10820400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2707" name="文本框 1"/>
          <p:cNvSpPr txBox="1">
            <a:spLocks noChangeArrowheads="1"/>
          </p:cNvSpPr>
          <p:nvPr/>
        </p:nvSpPr>
        <p:spPr bwMode="auto">
          <a:xfrm>
            <a:off x="609600" y="5486400"/>
            <a:ext cx="7315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dirty="0"/>
              <a:t>starting </a:t>
            </a:r>
            <a:r>
              <a:rPr lang="en-GB" altLang="zh-CN" sz="1800" dirty="0"/>
              <a:t>Dmoz </a:t>
            </a:r>
            <a:r>
              <a:rPr lang="en-GB" altLang="en-US" sz="1800" dirty="0"/>
              <a:t>, set the operating parameters to washing machine</a:t>
            </a:r>
            <a:endParaRPr lang="en-GB" alt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标题 1"/>
          <p:cNvSpPr>
            <a:spLocks noGrp="1"/>
          </p:cNvSpPr>
          <p:nvPr>
            <p:ph type="title"/>
          </p:nvPr>
        </p:nvSpPr>
        <p:spPr>
          <a:xfrm>
            <a:off x="1444624" y="228600"/>
            <a:ext cx="8540750" cy="533400"/>
          </a:xfrm>
        </p:spPr>
        <p:txBody>
          <a:bodyPr/>
          <a:lstStyle/>
          <a:p>
            <a:pPr algn="l"/>
            <a:r>
              <a:rPr lang="en-GB" altLang="en-US" sz="3200" b="1" dirty="0"/>
              <a:t>Program issues and improvements</a:t>
            </a:r>
            <a:endParaRPr lang="en-GB" altLang="en-US" sz="3200" b="1" dirty="0"/>
          </a:p>
        </p:txBody>
      </p:sp>
      <p:sp>
        <p:nvSpPr>
          <p:cNvPr id="73731" name="内容占位符 2"/>
          <p:cNvSpPr>
            <a:spLocks noGrp="1"/>
          </p:cNvSpPr>
          <p:nvPr>
            <p:ph idx="1"/>
          </p:nvPr>
        </p:nvSpPr>
        <p:spPr>
          <a:xfrm>
            <a:off x="381000" y="838201"/>
            <a:ext cx="10667999" cy="4498975"/>
          </a:xfrm>
        </p:spPr>
        <p:txBody>
          <a:bodyPr/>
          <a:lstStyle/>
          <a:p>
            <a:r>
              <a:rPr lang="en-GB" altLang="en-US" sz="2800" dirty="0"/>
              <a:t>Programming thinking questions:</a:t>
            </a:r>
            <a:endParaRPr lang="en-US" altLang="zh-CN" sz="2800" dirty="0"/>
          </a:p>
          <a:p>
            <a:r>
              <a:rPr lang="en-GB" altLang="en-US" sz="2800" dirty="0"/>
              <a:t>Why are there garbled characters in the return results of the form processing program on the </a:t>
            </a:r>
            <a:endParaRPr lang="en-US" altLang="zh-CN" sz="2800" dirty="0"/>
          </a:p>
          <a:p>
            <a:r>
              <a:rPr lang="en-GB" altLang="en-US" sz="2800" dirty="0"/>
              <a:t>Please improve the </a:t>
            </a:r>
            <a:r>
              <a:rPr lang="en-GB" altLang="zh-CN" sz="2800" dirty="0"/>
              <a:t>DMoz.java </a:t>
            </a:r>
            <a:r>
              <a:rPr lang="en-GB" altLang="en-US" sz="2800" dirty="0"/>
              <a:t>program so that it can display the query results normally without garbled characters.</a:t>
            </a:r>
            <a:endParaRPr lang="en-GB" altLang="en-US" sz="2800" dirty="0"/>
          </a:p>
        </p:txBody>
      </p:sp>
      <p:sp>
        <p:nvSpPr>
          <p:cNvPr id="7373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5B67097-2F88-4D6C-A158-561474763513}" type="slidenum">
              <a:rPr lang="en-US" altLang="zh-CN" sz="1400"/>
            </a:fld>
            <a:endParaRPr lang="en-US" altLang="zh-CN" sz="140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>
          <a:xfrm>
            <a:off x="1447800" y="245384"/>
            <a:ext cx="8540750" cy="685800"/>
          </a:xfrm>
        </p:spPr>
        <p:txBody>
          <a:bodyPr/>
          <a:lstStyle/>
          <a:p>
            <a:pPr algn="l"/>
            <a:r>
              <a:rPr lang="en-GB" altLang="zh-CN" sz="3200" b="1" dirty="0"/>
              <a:t>6. Authenticator </a:t>
            </a:r>
            <a:r>
              <a:rPr lang="en-GB" altLang="en-US" sz="3200" b="1" dirty="0"/>
              <a:t>Class</a:t>
            </a:r>
            <a:endParaRPr lang="en-GB" altLang="en-US" sz="3200" b="1" dirty="0"/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>
          <a:xfrm>
            <a:off x="838200" y="1219200"/>
            <a:ext cx="9821863" cy="2819399"/>
          </a:xfrm>
        </p:spPr>
        <p:txBody>
          <a:bodyPr/>
          <a:lstStyle/>
          <a:p>
            <a:r>
              <a:rPr lang="en-GB" altLang="en-US" sz="2800" dirty="0"/>
              <a:t>Programmatic access to password-protected websites</a:t>
            </a:r>
            <a:endParaRPr lang="en-US" altLang="zh-CN" sz="28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en-US" sz="2400" dirty="0"/>
              <a:t>Standard authentication </a:t>
            </a:r>
            <a:r>
              <a:rPr lang="zh-CN" altLang="en-GB" sz="2400" dirty="0"/>
              <a:t>【标准身份验证】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Session </a:t>
            </a:r>
            <a:r>
              <a:rPr lang="en-GB" altLang="en-US" sz="2400" dirty="0"/>
              <a:t>Authentication</a:t>
            </a:r>
            <a:r>
              <a:rPr lang="zh-CN" altLang="en-GB" sz="2400" dirty="0"/>
              <a:t>【会话身份验证】</a:t>
            </a:r>
            <a:endParaRPr lang="en-US" altLang="zh-CN" sz="2400" dirty="0"/>
          </a:p>
          <a:p>
            <a:pPr lvl="1">
              <a:buFont typeface="Wingdings" panose="05000000000000000000" pitchFamily="2" charset="2"/>
              <a:buChar char="p"/>
            </a:pPr>
            <a:r>
              <a:rPr lang="en-GB" altLang="zh-CN" sz="2400" dirty="0"/>
              <a:t>cookie - </a:t>
            </a:r>
            <a:r>
              <a:rPr lang="en-GB" altLang="en-US" sz="2400" dirty="0"/>
              <a:t>based authentication</a:t>
            </a:r>
            <a:r>
              <a:rPr lang="zh-CN" altLang="en-GB" sz="2400" dirty="0"/>
              <a:t>【基于</a:t>
            </a:r>
            <a:r>
              <a:rPr lang="en-US" altLang="zh-CN" sz="2400" dirty="0"/>
              <a:t>Cookie</a:t>
            </a:r>
            <a:r>
              <a:rPr lang="zh-CN" altLang="en-US" sz="2400" dirty="0"/>
              <a:t>的身份验证</a:t>
            </a:r>
            <a:r>
              <a:rPr lang="zh-CN" altLang="en-GB" sz="2400" dirty="0"/>
              <a:t>】</a:t>
            </a:r>
            <a:endParaRPr lang="en-US" altLang="zh-CN" sz="2400" dirty="0"/>
          </a:p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7475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2EF4348-A30C-4510-BE11-753CBFAAF719}" type="slidenum">
              <a:rPr lang="en-US" altLang="zh-CN" sz="1400"/>
            </a:fld>
            <a:endParaRPr lang="en-US" altLang="zh-CN" sz="1400"/>
          </a:p>
        </p:txBody>
      </p:sp>
      <p:sp>
        <p:nvSpPr>
          <p:cNvPr id="74757" name="TextBox 1"/>
          <p:cNvSpPr txBox="1">
            <a:spLocks noChangeArrowheads="1"/>
          </p:cNvSpPr>
          <p:nvPr/>
        </p:nvSpPr>
        <p:spPr bwMode="auto">
          <a:xfrm>
            <a:off x="228600" y="4572000"/>
            <a:ext cx="1120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dirty="0"/>
              <a:t>Java </a:t>
            </a:r>
            <a:r>
              <a:rPr lang="en-GB" altLang="en-US" sz="2400" dirty="0"/>
              <a:t>'s </a:t>
            </a:r>
            <a:r>
              <a:rPr lang="en-GB" altLang="zh-CN" sz="2400" dirty="0"/>
              <a:t>URL </a:t>
            </a:r>
            <a:r>
              <a:rPr lang="en-GB" altLang="en-US" sz="2400" dirty="0"/>
              <a:t>class can be used to access websites that use </a:t>
            </a:r>
            <a:r>
              <a:rPr lang="en-GB" altLang="zh-CN" sz="2400" dirty="0"/>
              <a:t>HTTP </a:t>
            </a:r>
            <a:r>
              <a:rPr lang="en-GB" altLang="en-US" sz="2400" dirty="0"/>
              <a:t>authentication </a:t>
            </a:r>
            <a:r>
              <a:rPr lang="en-GB" altLang="zh-CN" sz="2400" dirty="0"/>
              <a:t>.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/>
          <p:cNvSpPr>
            <a:spLocks noGrp="1"/>
          </p:cNvSpPr>
          <p:nvPr>
            <p:ph type="title"/>
          </p:nvPr>
        </p:nvSpPr>
        <p:spPr>
          <a:xfrm>
            <a:off x="1516063" y="61913"/>
            <a:ext cx="8540751" cy="603250"/>
          </a:xfrm>
        </p:spPr>
        <p:txBody>
          <a:bodyPr/>
          <a:lstStyle/>
          <a:p>
            <a:pPr algn="l"/>
            <a:r>
              <a:rPr lang="en-GB" altLang="zh-CN" sz="3200"/>
              <a:t>Java.net.Authenticator </a:t>
            </a:r>
            <a:r>
              <a:rPr lang="en-GB" altLang="en-US" sz="3200"/>
              <a:t>Class</a:t>
            </a:r>
            <a:endParaRPr lang="en-GB" altLang="en-US" sz="3200"/>
          </a:p>
        </p:txBody>
      </p:sp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152400" y="876302"/>
            <a:ext cx="11963400" cy="515936"/>
          </a:xfrm>
        </p:spPr>
        <p:txBody>
          <a:bodyPr/>
          <a:lstStyle/>
          <a:p>
            <a:r>
              <a:rPr lang="en-US" altLang="en-US" sz="2000" b="1" dirty="0"/>
              <a:t>It provides usernames and passwords for self-protected websites using HTTP authentication</a:t>
            </a:r>
            <a:endParaRPr lang="en-US" altLang="zh-CN" sz="2000" b="1" dirty="0"/>
          </a:p>
        </p:txBody>
      </p:sp>
      <p:sp>
        <p:nvSpPr>
          <p:cNvPr id="75780" name="TextBox 2"/>
          <p:cNvSpPr txBox="1">
            <a:spLocks noChangeArrowheads="1"/>
          </p:cNvSpPr>
          <p:nvPr/>
        </p:nvSpPr>
        <p:spPr bwMode="auto">
          <a:xfrm>
            <a:off x="2128838" y="1520826"/>
            <a:ext cx="73152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>
                <a:solidFill>
                  <a:schemeClr val="tx2"/>
                </a:solidFill>
              </a:rPr>
              <a:t>Public abstract class Authenticator extends Object</a:t>
            </a:r>
            <a:endParaRPr lang="zh-CN" altLang="en-US" sz="2400">
              <a:solidFill>
                <a:schemeClr val="tx2"/>
              </a:solidFill>
            </a:endParaRPr>
          </a:p>
        </p:txBody>
      </p:sp>
      <p:sp>
        <p:nvSpPr>
          <p:cNvPr id="75781" name="矩形 3"/>
          <p:cNvSpPr>
            <a:spLocks noChangeArrowheads="1"/>
          </p:cNvSpPr>
          <p:nvPr/>
        </p:nvSpPr>
        <p:spPr bwMode="auto">
          <a:xfrm>
            <a:off x="2133600" y="2362200"/>
            <a:ext cx="3048000" cy="3048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Authenticator</a:t>
            </a:r>
            <a:endParaRPr lang="zh-CN" altLang="en-US" sz="1800"/>
          </a:p>
        </p:txBody>
      </p:sp>
      <p:sp>
        <p:nvSpPr>
          <p:cNvPr id="75782" name="矩形 7"/>
          <p:cNvSpPr>
            <a:spLocks noChangeArrowheads="1"/>
          </p:cNvSpPr>
          <p:nvPr/>
        </p:nvSpPr>
        <p:spPr bwMode="auto">
          <a:xfrm>
            <a:off x="2133600" y="2667000"/>
            <a:ext cx="30480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setDefault(Authenticator a)</a:t>
            </a:r>
            <a:endParaRPr lang="zh-CN" altLang="en-US" sz="1800"/>
          </a:p>
        </p:txBody>
      </p:sp>
      <p:sp>
        <p:nvSpPr>
          <p:cNvPr id="75783" name="矩形 8"/>
          <p:cNvSpPr>
            <a:spLocks noChangeArrowheads="1"/>
          </p:cNvSpPr>
          <p:nvPr/>
        </p:nvSpPr>
        <p:spPr bwMode="auto">
          <a:xfrm>
            <a:off x="1981200" y="3806825"/>
            <a:ext cx="3200400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DialogAuthenticator</a:t>
            </a:r>
            <a:endParaRPr lang="zh-CN" altLang="en-US" sz="1800"/>
          </a:p>
        </p:txBody>
      </p:sp>
      <p:sp>
        <p:nvSpPr>
          <p:cNvPr id="75784" name="等腰三角形 6"/>
          <p:cNvSpPr>
            <a:spLocks noChangeArrowheads="1"/>
          </p:cNvSpPr>
          <p:nvPr/>
        </p:nvSpPr>
        <p:spPr bwMode="auto">
          <a:xfrm>
            <a:off x="3276600" y="3124200"/>
            <a:ext cx="381000" cy="3048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cxnSp>
        <p:nvCxnSpPr>
          <p:cNvPr id="75785" name="直接连接符 10"/>
          <p:cNvCxnSpPr>
            <a:cxnSpLocks noChangeShapeType="1"/>
            <a:stCxn id="75784" idx="3"/>
            <a:endCxn id="75783" idx="0"/>
          </p:cNvCxnSpPr>
          <p:nvPr/>
        </p:nvCxnSpPr>
        <p:spPr bwMode="auto">
          <a:xfrm>
            <a:off x="3467100" y="3429001"/>
            <a:ext cx="114300" cy="37782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2" name="圆角矩形标注 11"/>
          <p:cNvSpPr/>
          <p:nvPr/>
        </p:nvSpPr>
        <p:spPr bwMode="auto">
          <a:xfrm>
            <a:off x="2638426" y="5178424"/>
            <a:ext cx="2009774" cy="957263"/>
          </a:xfrm>
          <a:prstGeom prst="wedgeRoundRectCallout">
            <a:avLst>
              <a:gd name="adj1" fmla="val 13776"/>
              <a:gd name="adj2" fmla="val -95595"/>
              <a:gd name="adj3" fmla="val 16667"/>
            </a:avLst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GB" altLang="en-US" dirty="0"/>
              <a:t>To obtain username and password</a:t>
            </a:r>
            <a:endParaRPr lang="en-GB" altLang="en-US" dirty="0"/>
          </a:p>
        </p:txBody>
      </p:sp>
      <p:sp>
        <p:nvSpPr>
          <p:cNvPr id="75787" name="TextBox 12"/>
          <p:cNvSpPr txBox="1">
            <a:spLocks noChangeArrowheads="1"/>
          </p:cNvSpPr>
          <p:nvPr/>
        </p:nvSpPr>
        <p:spPr bwMode="auto">
          <a:xfrm>
            <a:off x="5334000" y="2362201"/>
            <a:ext cx="6553200" cy="23698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</a:rPr>
              <a:t>In order for </a:t>
            </a:r>
            <a:r>
              <a:rPr lang="en-GB" altLang="zh-CN" sz="2000" dirty="0">
                <a:solidFill>
                  <a:srgbClr val="FF0000"/>
                </a:solidFill>
              </a:rPr>
              <a:t>the URL </a:t>
            </a:r>
            <a:r>
              <a:rPr lang="en-GB" altLang="en-US" sz="2000" dirty="0">
                <a:solidFill>
                  <a:srgbClr val="FF0000"/>
                </a:solidFill>
              </a:rPr>
              <a:t>class to use a subclass that obtains a username and password </a:t>
            </a:r>
            <a:r>
              <a:rPr lang="en-GB" altLang="zh-CN" sz="2000" dirty="0">
                <a:solidFill>
                  <a:srgbClr val="FF0000"/>
                </a:solidFill>
              </a:rPr>
              <a:t>, </a:t>
            </a:r>
            <a:r>
              <a:rPr lang="en-GB" altLang="en-US" sz="2000" dirty="0">
                <a:solidFill>
                  <a:srgbClr val="FF0000"/>
                </a:solidFill>
              </a:rPr>
              <a:t>the authentication program must first be installed </a:t>
            </a:r>
            <a:r>
              <a:rPr lang="en-GB" altLang="zh-CN" sz="2000" dirty="0">
                <a:solidFill>
                  <a:srgbClr val="FF0000"/>
                </a:solidFill>
              </a:rPr>
              <a:t>:</a:t>
            </a:r>
            <a:endParaRPr lang="en-GB" altLang="zh-CN" sz="20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zh-CN" sz="2400" dirty="0">
              <a:solidFill>
                <a:srgbClr val="FF0000"/>
              </a:solidFill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000" dirty="0">
                <a:solidFill>
                  <a:srgbClr val="FF0000"/>
                </a:solidFill>
              </a:rPr>
              <a:t>When </a:t>
            </a:r>
            <a:r>
              <a:rPr lang="en-GB" altLang="zh-CN" sz="2000" dirty="0">
                <a:solidFill>
                  <a:srgbClr val="FF0000"/>
                </a:solidFill>
              </a:rPr>
              <a:t>the URL </a:t>
            </a:r>
            <a:r>
              <a:rPr lang="en-GB" altLang="en-US" sz="2000" dirty="0">
                <a:solidFill>
                  <a:srgbClr val="FF0000"/>
                </a:solidFill>
              </a:rPr>
              <a:t>class requires a username and password </a:t>
            </a:r>
            <a:r>
              <a:rPr lang="en-GB" altLang="zh-CN" sz="2000" dirty="0">
                <a:solidFill>
                  <a:srgbClr val="FF0000"/>
                </a:solidFill>
              </a:rPr>
              <a:t>, </a:t>
            </a:r>
            <a:r>
              <a:rPr lang="en-GB" altLang="en-US" sz="2000" dirty="0">
                <a:solidFill>
                  <a:srgbClr val="FF0000"/>
                </a:solidFill>
              </a:rPr>
              <a:t>use the following static method to query them:</a:t>
            </a:r>
            <a:endParaRPr lang="en-GB" altLang="en-US" sz="2000" dirty="0">
              <a:solidFill>
                <a:srgbClr val="FF0000"/>
              </a:solidFill>
            </a:endParaRPr>
          </a:p>
        </p:txBody>
      </p:sp>
      <p:sp>
        <p:nvSpPr>
          <p:cNvPr id="75788" name="TextBox 13"/>
          <p:cNvSpPr txBox="1">
            <a:spLocks noChangeArrowheads="1"/>
          </p:cNvSpPr>
          <p:nvPr/>
        </p:nvSpPr>
        <p:spPr bwMode="auto">
          <a:xfrm>
            <a:off x="5486400" y="3635375"/>
            <a:ext cx="6553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000">
                <a:solidFill>
                  <a:schemeClr val="tx2"/>
                </a:solidFill>
              </a:rPr>
              <a:t>Authenticator.setDefault(new DialogAuthenticator());</a:t>
            </a:r>
            <a:endParaRPr lang="zh-CN" altLang="en-US" sz="2000">
              <a:solidFill>
                <a:schemeClr val="tx2"/>
              </a:solidFill>
            </a:endParaRPr>
          </a:p>
        </p:txBody>
      </p:sp>
      <p:sp>
        <p:nvSpPr>
          <p:cNvPr id="75789" name="TextBox 18"/>
          <p:cNvSpPr txBox="1">
            <a:spLocks noChangeArrowheads="1"/>
          </p:cNvSpPr>
          <p:nvPr/>
        </p:nvSpPr>
        <p:spPr bwMode="auto">
          <a:xfrm>
            <a:off x="4985657" y="5308599"/>
            <a:ext cx="6934200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 dirty="0"/>
              <a:t>Public static PasswordAuthentication requestPasswordAuthentication </a:t>
            </a:r>
            <a:r>
              <a:rPr lang="en-GB" altLang="zh-CN" sz="1800" dirty="0">
                <a:solidFill>
                  <a:schemeClr val="tx2"/>
                </a:solidFill>
              </a:rPr>
              <a:t>( InetAddress address, int port, String Protocol, String prompt, String scheme) throws …</a:t>
            </a:r>
            <a:endParaRPr lang="zh-CN" altLang="en-US" sz="1800" dirty="0">
              <a:solidFill>
                <a:schemeClr val="tx2"/>
              </a:solidFill>
            </a:endParaRPr>
          </a:p>
        </p:txBody>
      </p:sp>
      <p:sp>
        <p:nvSpPr>
          <p:cNvPr id="75790" name="矩形 22"/>
          <p:cNvSpPr>
            <a:spLocks noChangeArrowheads="1"/>
          </p:cNvSpPr>
          <p:nvPr/>
        </p:nvSpPr>
        <p:spPr bwMode="auto">
          <a:xfrm>
            <a:off x="1998664" y="4264025"/>
            <a:ext cx="3182937" cy="457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1800"/>
              <a:t>getPasswordAuthentication()</a:t>
            </a:r>
            <a:endParaRPr lang="zh-CN" altLang="en-US" sz="18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>
          <a:xfrm>
            <a:off x="1676400" y="117475"/>
            <a:ext cx="8540750" cy="546100"/>
          </a:xfrm>
        </p:spPr>
        <p:txBody>
          <a:bodyPr/>
          <a:lstStyle/>
          <a:p>
            <a:pPr algn="l"/>
            <a:r>
              <a:rPr lang="en-GB" altLang="zh-CN" sz="2800"/>
              <a:t>PasswordAuthenticator </a:t>
            </a:r>
            <a:r>
              <a:rPr lang="en-GB" altLang="en-US" sz="2800"/>
              <a:t>Class</a:t>
            </a:r>
            <a:endParaRPr lang="en-GB" altLang="en-US" sz="2800"/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>
          <a:xfrm>
            <a:off x="642257" y="666296"/>
            <a:ext cx="9982200" cy="4498975"/>
          </a:xfrm>
        </p:spPr>
        <p:txBody>
          <a:bodyPr/>
          <a:lstStyle/>
          <a:p>
            <a:r>
              <a:rPr lang="en-GB" altLang="en-US" sz="2800" dirty="0"/>
              <a:t>It encapsulates and stores usernames and passwords for authorized users.</a:t>
            </a:r>
            <a:endParaRPr lang="en-US" altLang="zh-CN" sz="2800" dirty="0"/>
          </a:p>
          <a:p>
            <a:endParaRPr lang="zh-CN" altLang="en-US" dirty="0"/>
          </a:p>
        </p:txBody>
      </p:sp>
      <p:pic>
        <p:nvPicPr>
          <p:cNvPr id="76804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1617664"/>
            <a:ext cx="7108825" cy="9413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5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7376" y="2825751"/>
            <a:ext cx="6524625" cy="171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680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4714875"/>
            <a:ext cx="6553200" cy="1798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/>
          <p:cNvSpPr>
            <a:spLocks noGrp="1"/>
          </p:cNvSpPr>
          <p:nvPr>
            <p:ph type="title"/>
          </p:nvPr>
        </p:nvSpPr>
        <p:spPr>
          <a:xfrm>
            <a:off x="1524000" y="0"/>
            <a:ext cx="8540750" cy="533400"/>
          </a:xfrm>
        </p:spPr>
        <p:txBody>
          <a:bodyPr/>
          <a:lstStyle/>
          <a:p>
            <a:pPr algn="l"/>
            <a:r>
              <a:rPr lang="en-GB" altLang="zh-CN" sz="3200"/>
              <a:t>JPasswordField </a:t>
            </a:r>
            <a:r>
              <a:rPr lang="en-GB" altLang="en-US" sz="3200"/>
              <a:t>Class</a:t>
            </a:r>
            <a:endParaRPr lang="en-GB" altLang="en-US" sz="3200"/>
          </a:p>
        </p:txBody>
      </p:sp>
      <p:sp>
        <p:nvSpPr>
          <p:cNvPr id="77827" name="内容占位符 2"/>
          <p:cNvSpPr>
            <a:spLocks noGrp="1"/>
          </p:cNvSpPr>
          <p:nvPr>
            <p:ph idx="1"/>
          </p:nvPr>
        </p:nvSpPr>
        <p:spPr>
          <a:xfrm>
            <a:off x="198664" y="614363"/>
            <a:ext cx="11917136" cy="4498975"/>
          </a:xfrm>
        </p:spPr>
        <p:txBody>
          <a:bodyPr/>
          <a:lstStyle/>
          <a:p>
            <a:r>
              <a:rPr lang="en-US" altLang="zh-CN" sz="2800" dirty="0"/>
              <a:t>A Swing component for asking the user for a password in a slightly more secure way</a:t>
            </a:r>
            <a:endParaRPr lang="en-US" altLang="zh-CN" sz="2800" dirty="0"/>
          </a:p>
          <a:p>
            <a:endParaRPr lang="en-US" altLang="zh-CN" sz="2800" dirty="0"/>
          </a:p>
          <a:p>
            <a:r>
              <a:rPr lang="en-US" altLang="en-US" sz="2800" dirty="0"/>
              <a:t>The content entered by the user will be echoed as *, and the password will be stored as a char array, which can be overwritten with 0 after use.</a:t>
            </a:r>
            <a:endParaRPr lang="en-GB" altLang="en-US" sz="2800" dirty="0"/>
          </a:p>
        </p:txBody>
      </p:sp>
      <p:pic>
        <p:nvPicPr>
          <p:cNvPr id="7782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664" y="1503364"/>
            <a:ext cx="4724400" cy="4810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7829" name="TextBox 2"/>
          <p:cNvSpPr txBox="1">
            <a:spLocks noChangeArrowheads="1"/>
          </p:cNvSpPr>
          <p:nvPr/>
        </p:nvSpPr>
        <p:spPr bwMode="auto">
          <a:xfrm>
            <a:off x="533400" y="3198019"/>
            <a:ext cx="4953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zh-CN" sz="2400" dirty="0">
                <a:solidFill>
                  <a:schemeClr val="tx2"/>
                </a:solidFill>
              </a:rPr>
              <a:t>Public char[ ] getPassword( )</a:t>
            </a:r>
            <a:endParaRPr lang="zh-CN" altLang="en-US" sz="2400" dirty="0">
              <a:solidFill>
                <a:schemeClr val="tx2"/>
              </a:solidFill>
            </a:endParaRPr>
          </a:p>
        </p:txBody>
      </p:sp>
      <p:sp>
        <p:nvSpPr>
          <p:cNvPr id="75782" name="TextBox 3"/>
          <p:cNvSpPr txBox="1">
            <a:spLocks noChangeArrowheads="1"/>
          </p:cNvSpPr>
          <p:nvPr/>
        </p:nvSpPr>
        <p:spPr bwMode="auto">
          <a:xfrm>
            <a:off x="228600" y="3810000"/>
            <a:ext cx="11734800" cy="218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n"/>
            </a:pPr>
            <a:r>
              <a:rPr lang="en-GB" altLang="en-US" sz="2400" dirty="0"/>
              <a:t>Custom </a:t>
            </a:r>
            <a:r>
              <a:rPr lang="en-GB" altLang="zh-CN" sz="2400" dirty="0"/>
              <a:t>Authentication </a:t>
            </a:r>
            <a:r>
              <a:rPr lang="en-GB" altLang="en-US" sz="2400" dirty="0"/>
              <a:t>subclass programming example:</a:t>
            </a:r>
            <a:endParaRPr lang="en-US" altLang="zh-CN" sz="2400" dirty="0"/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en-US" altLang="en-US" sz="2400" dirty="0"/>
              <a:t>Customize a Swing-based Authentication subclass that pops up a dialog box</a:t>
            </a:r>
            <a:r>
              <a:rPr lang="zh-CN" altLang="en-US" sz="2400" dirty="0"/>
              <a:t>【对话框】</a:t>
            </a:r>
            <a:r>
              <a:rPr lang="en-US" altLang="en-US" sz="2400" dirty="0"/>
              <a:t> to ask the user for a username and password. </a:t>
            </a:r>
            <a:r>
              <a:rPr lang="en-US" altLang="en-US" sz="2400" b="1" dirty="0" err="1">
                <a:solidFill>
                  <a:srgbClr val="FF0000"/>
                </a:solidFill>
              </a:rPr>
              <a:t>JPasswordField</a:t>
            </a:r>
            <a:r>
              <a:rPr lang="en-US" altLang="en-US" sz="2400" dirty="0"/>
              <a:t> collects the password and</a:t>
            </a:r>
            <a:r>
              <a:rPr lang="en-US" altLang="en-US" sz="2400" b="1" dirty="0">
                <a:solidFill>
                  <a:srgbClr val="FF0000"/>
                </a:solidFill>
              </a:rPr>
              <a:t> </a:t>
            </a:r>
            <a:r>
              <a:rPr lang="en-US" altLang="en-US" sz="2400" b="1" dirty="0" err="1">
                <a:solidFill>
                  <a:srgbClr val="FF0000"/>
                </a:solidFill>
              </a:rPr>
              <a:t>JTextField</a:t>
            </a:r>
            <a:r>
              <a:rPr lang="en-US" altLang="en-US" sz="2400" dirty="0"/>
              <a:t> obtains the username.</a:t>
            </a:r>
            <a:endParaRPr lang="en-US" altLang="en-US" sz="2400" dirty="0"/>
          </a:p>
          <a:p>
            <a:pPr marL="0" indent="0">
              <a:spcBef>
                <a:spcPct val="0"/>
              </a:spcBef>
              <a:buClrTx/>
              <a:buSzTx/>
              <a:buNone/>
            </a:pPr>
            <a:r>
              <a:rPr lang="en-GB" altLang="en-US" sz="2000" b="1" dirty="0"/>
              <a:t>Source code reference: </a:t>
            </a:r>
            <a:r>
              <a:rPr lang="en-GB" altLang="zh-CN" sz="2000" b="1" dirty="0"/>
              <a:t>DialogAuthenticat</a:t>
            </a:r>
            <a:r>
              <a:rPr lang="en-US" altLang="zh-CN" sz="2000" b="1" dirty="0"/>
              <a:t>o</a:t>
            </a:r>
            <a:r>
              <a:rPr lang="en-GB" altLang="zh-CN" sz="2000" b="1" dirty="0"/>
              <a:t>r.java</a:t>
            </a:r>
            <a:endParaRPr lang="en-GB" altLang="zh-CN" sz="2000" b="1" dirty="0"/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 err="1"/>
              <a:t>SecureSourceViewer</a:t>
            </a:r>
            <a:r>
              <a:rPr lang="en-US" altLang="zh-CN" sz="2000" b="1" dirty="0"/>
              <a:t> class: a program for downloading password-protected web pages</a:t>
            </a:r>
            <a:endParaRPr lang="en-GB" altLang="en-US" sz="2000" b="1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850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99243"/>
            <a:ext cx="10591800" cy="6259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874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28600"/>
            <a:ext cx="11277600" cy="647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98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381000"/>
            <a:ext cx="10820400" cy="617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2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33400"/>
            <a:ext cx="11277600" cy="61722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46" name="图片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28600"/>
            <a:ext cx="11658600" cy="6224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>
          <a:xfrm>
            <a:off x="1535113" y="174625"/>
            <a:ext cx="8540750" cy="533400"/>
          </a:xfrm>
        </p:spPr>
        <p:txBody>
          <a:bodyPr/>
          <a:lstStyle/>
          <a:p>
            <a:pPr algn="l"/>
            <a:r>
              <a:rPr lang="en-GB" altLang="en-US" sz="3200" b="1" dirty="0"/>
              <a:t>Programming Thinking</a:t>
            </a:r>
            <a:endParaRPr lang="en-GB" altLang="en-US" sz="3200" b="1" dirty="0"/>
          </a:p>
        </p:txBody>
      </p:sp>
      <p:sp>
        <p:nvSpPr>
          <p:cNvPr id="83971" name="内容占位符 2"/>
          <p:cNvSpPr>
            <a:spLocks noGrp="1"/>
          </p:cNvSpPr>
          <p:nvPr>
            <p:ph idx="1"/>
          </p:nvPr>
        </p:nvSpPr>
        <p:spPr>
          <a:xfrm>
            <a:off x="381000" y="838201"/>
            <a:ext cx="11506200" cy="1523999"/>
          </a:xfrm>
        </p:spPr>
        <p:txBody>
          <a:bodyPr/>
          <a:lstStyle/>
          <a:p>
            <a:r>
              <a:rPr lang="en-GB" altLang="en-US" sz="2800" dirty="0"/>
              <a:t>How to implement web page encryption programmatically so that the viewing of one or some specific web pages is password protected?</a:t>
            </a:r>
            <a:endParaRPr lang="en-US" altLang="zh-CN" sz="2800" dirty="0"/>
          </a:p>
          <a:p>
            <a:r>
              <a:rPr lang="en-GB" altLang="zh-CN" sz="2800" dirty="0"/>
              <a:t>http://www.silsea.com/ip/login.php</a:t>
            </a:r>
            <a:endParaRPr lang="en-GB" altLang="zh-CN" sz="2800" dirty="0"/>
          </a:p>
        </p:txBody>
      </p:sp>
      <p:pic>
        <p:nvPicPr>
          <p:cNvPr id="8397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7400" y="2514600"/>
            <a:ext cx="6713538" cy="3752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2"/>
          <p:cNvSpPr>
            <a:spLocks noChangeArrowheads="1"/>
          </p:cNvSpPr>
          <p:nvPr/>
        </p:nvSpPr>
        <p:spPr bwMode="auto">
          <a:xfrm>
            <a:off x="1524001" y="2129909"/>
            <a:ext cx="184731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/>
          </a:p>
        </p:txBody>
      </p:sp>
      <p:sp>
        <p:nvSpPr>
          <p:cNvPr id="84995" name="Rectangle 6"/>
          <p:cNvSpPr>
            <a:spLocks noRot="1" noChangeArrowheads="1"/>
          </p:cNvSpPr>
          <p:nvPr/>
        </p:nvSpPr>
        <p:spPr bwMode="auto">
          <a:xfrm>
            <a:off x="2438400" y="2743200"/>
            <a:ext cx="6483350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85000"/>
              <a:buFont typeface="Wingdings 2" panose="05020102010507070707" pitchFamily="18" charset="2"/>
              <a:buChar char="¡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85000"/>
              <a:buFont typeface="Wingdings" panose="05000000000000000000" pitchFamily="2" charset="2"/>
              <a:buChar char="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hlink"/>
              </a:buClr>
              <a:buSzPct val="90000"/>
              <a:buFont typeface="Wingdings" panose="05000000000000000000" pitchFamily="2" charset="2"/>
              <a:buChar char="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90000"/>
              <a:buFont typeface="Wingdings 2" panose="05020102010507070707" pitchFamily="18" charset="2"/>
              <a:buChar char="¡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 typeface="Wingdings 2" panose="05020102010507070707" pitchFamily="18" charset="2"/>
              <a:buNone/>
            </a:pPr>
            <a:r>
              <a:rPr lang="en-GB" altLang="en-US" sz="8000" b="1" dirty="0">
                <a:solidFill>
                  <a:srgbClr val="FF00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Thanks</a:t>
            </a:r>
            <a:endParaRPr lang="en-US" altLang="zh-CN" sz="8000" b="1" dirty="0">
              <a:solidFill>
                <a:srgbClr val="FF0000"/>
              </a:solidFill>
              <a:latin typeface="华文行楷" panose="02010800040101010101" pitchFamily="2" charset="-122"/>
              <a:ea typeface="华文行楷" panose="02010800040101010101" pitchFamily="2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砖雕艺术">
  <a:themeElements>
    <a:clrScheme name="砖雕艺术 1">
      <a:dk1>
        <a:srgbClr val="080808"/>
      </a:dk1>
      <a:lt1>
        <a:srgbClr val="FFFFFF"/>
      </a:lt1>
      <a:dk2>
        <a:srgbClr val="0039AC"/>
      </a:dk2>
      <a:lt2>
        <a:srgbClr val="C0C0C0"/>
      </a:lt2>
      <a:accent1>
        <a:srgbClr val="FFFF99"/>
      </a:accent1>
      <a:accent2>
        <a:srgbClr val="FFCC66"/>
      </a:accent2>
      <a:accent3>
        <a:srgbClr val="FFFFFF"/>
      </a:accent3>
      <a:accent4>
        <a:srgbClr val="060606"/>
      </a:accent4>
      <a:accent5>
        <a:srgbClr val="FFFFCA"/>
      </a:accent5>
      <a:accent6>
        <a:srgbClr val="E7B95C"/>
      </a:accent6>
      <a:hlink>
        <a:srgbClr val="0066FF"/>
      </a:hlink>
      <a:folHlink>
        <a:srgbClr val="CC3300"/>
      </a:folHlink>
    </a:clrScheme>
    <a:fontScheme name="砖雕艺术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砖雕艺术 1">
        <a:dk1>
          <a:srgbClr val="080808"/>
        </a:dk1>
        <a:lt1>
          <a:srgbClr val="FFFFFF"/>
        </a:lt1>
        <a:dk2>
          <a:srgbClr val="0039AC"/>
        </a:dk2>
        <a:lt2>
          <a:srgbClr val="C0C0C0"/>
        </a:lt2>
        <a:accent1>
          <a:srgbClr val="FFFF99"/>
        </a:accent1>
        <a:accent2>
          <a:srgbClr val="FFCC66"/>
        </a:accent2>
        <a:accent3>
          <a:srgbClr val="FFFFFF"/>
        </a:accent3>
        <a:accent4>
          <a:srgbClr val="060606"/>
        </a:accent4>
        <a:accent5>
          <a:srgbClr val="FFFFCA"/>
        </a:accent5>
        <a:accent6>
          <a:srgbClr val="E7B95C"/>
        </a:accent6>
        <a:hlink>
          <a:srgbClr val="0066FF"/>
        </a:hlink>
        <a:folHlink>
          <a:srgbClr val="CC33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2">
        <a:dk1>
          <a:srgbClr val="333399"/>
        </a:dk1>
        <a:lt1>
          <a:srgbClr val="ADD3AF"/>
        </a:lt1>
        <a:dk2>
          <a:srgbClr val="D65700"/>
        </a:dk2>
        <a:lt2>
          <a:srgbClr val="B2B2B2"/>
        </a:lt2>
        <a:accent1>
          <a:srgbClr val="B8E9EE"/>
        </a:accent1>
        <a:accent2>
          <a:srgbClr val="FFCC00"/>
        </a:accent2>
        <a:accent3>
          <a:srgbClr val="D3E6D4"/>
        </a:accent3>
        <a:accent4>
          <a:srgbClr val="2A2A82"/>
        </a:accent4>
        <a:accent5>
          <a:srgbClr val="D8F2F5"/>
        </a:accent5>
        <a:accent6>
          <a:srgbClr val="E7B900"/>
        </a:accent6>
        <a:hlink>
          <a:srgbClr val="008080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3">
        <a:dk1>
          <a:srgbClr val="003BB2"/>
        </a:dk1>
        <a:lt1>
          <a:srgbClr val="CCFFCC"/>
        </a:lt1>
        <a:dk2>
          <a:srgbClr val="003366"/>
        </a:dk2>
        <a:lt2>
          <a:srgbClr val="C0C0C0"/>
        </a:lt2>
        <a:accent1>
          <a:srgbClr val="FFFFFF"/>
        </a:accent1>
        <a:accent2>
          <a:srgbClr val="009900"/>
        </a:accent2>
        <a:accent3>
          <a:srgbClr val="E2FFE2"/>
        </a:accent3>
        <a:accent4>
          <a:srgbClr val="003197"/>
        </a:accent4>
        <a:accent5>
          <a:srgbClr val="FFFFFF"/>
        </a:accent5>
        <a:accent6>
          <a:srgbClr val="008A00"/>
        </a:accent6>
        <a:hlink>
          <a:srgbClr val="333399"/>
        </a:hlink>
        <a:folHlink>
          <a:srgbClr val="E45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4">
        <a:dk1>
          <a:srgbClr val="0000CC"/>
        </a:dk1>
        <a:lt1>
          <a:srgbClr val="CCECFF"/>
        </a:lt1>
        <a:dk2>
          <a:srgbClr val="006666"/>
        </a:dk2>
        <a:lt2>
          <a:srgbClr val="C0C0C0"/>
        </a:lt2>
        <a:accent1>
          <a:srgbClr val="FFFF99"/>
        </a:accent1>
        <a:accent2>
          <a:srgbClr val="FFCCFF"/>
        </a:accent2>
        <a:accent3>
          <a:srgbClr val="E2F4FF"/>
        </a:accent3>
        <a:accent4>
          <a:srgbClr val="0000AE"/>
        </a:accent4>
        <a:accent5>
          <a:srgbClr val="FFFFCA"/>
        </a:accent5>
        <a:accent6>
          <a:srgbClr val="E7B9E7"/>
        </a:accent6>
        <a:hlink>
          <a:srgbClr val="CC33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5">
        <a:dk1>
          <a:srgbClr val="000000"/>
        </a:dk1>
        <a:lt1>
          <a:srgbClr val="FFFFCC"/>
        </a:lt1>
        <a:dk2>
          <a:srgbClr val="5A5A86"/>
        </a:dk2>
        <a:lt2>
          <a:srgbClr val="C0C0C0"/>
        </a:lt2>
        <a:accent1>
          <a:srgbClr val="D5E9F7"/>
        </a:accent1>
        <a:accent2>
          <a:srgbClr val="FFCC00"/>
        </a:accent2>
        <a:accent3>
          <a:srgbClr val="FFFFE2"/>
        </a:accent3>
        <a:accent4>
          <a:srgbClr val="000000"/>
        </a:accent4>
        <a:accent5>
          <a:srgbClr val="E7F2FA"/>
        </a:accent5>
        <a:accent6>
          <a:srgbClr val="E7B900"/>
        </a:accent6>
        <a:hlink>
          <a:srgbClr val="CC3300"/>
        </a:hlink>
        <a:folHlink>
          <a:srgbClr val="007D7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6">
        <a:dk1>
          <a:srgbClr val="006666"/>
        </a:dk1>
        <a:lt1>
          <a:srgbClr val="FFECD9"/>
        </a:lt1>
        <a:dk2>
          <a:srgbClr val="000099"/>
        </a:dk2>
        <a:lt2>
          <a:srgbClr val="B2B2B2"/>
        </a:lt2>
        <a:accent1>
          <a:srgbClr val="EAEAEA"/>
        </a:accent1>
        <a:accent2>
          <a:srgbClr val="FF6600"/>
        </a:accent2>
        <a:accent3>
          <a:srgbClr val="FFF4E9"/>
        </a:accent3>
        <a:accent4>
          <a:srgbClr val="005656"/>
        </a:accent4>
        <a:accent5>
          <a:srgbClr val="F3F3F3"/>
        </a:accent5>
        <a:accent6>
          <a:srgbClr val="E75C00"/>
        </a:accent6>
        <a:hlink>
          <a:srgbClr val="0066FF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7">
        <a:dk1>
          <a:srgbClr val="585884"/>
        </a:dk1>
        <a:lt1>
          <a:srgbClr val="DDDDDD"/>
        </a:lt1>
        <a:dk2>
          <a:srgbClr val="000000"/>
        </a:dk2>
        <a:lt2>
          <a:srgbClr val="969696"/>
        </a:lt2>
        <a:accent1>
          <a:srgbClr val="FFFFCC"/>
        </a:accent1>
        <a:accent2>
          <a:srgbClr val="99CC00"/>
        </a:accent2>
        <a:accent3>
          <a:srgbClr val="EBEBEB"/>
        </a:accent3>
        <a:accent4>
          <a:srgbClr val="4A4A70"/>
        </a:accent4>
        <a:accent5>
          <a:srgbClr val="FFFFE2"/>
        </a:accent5>
        <a:accent6>
          <a:srgbClr val="8AB900"/>
        </a:accent6>
        <a:hlink>
          <a:srgbClr val="FF3300"/>
        </a:hlink>
        <a:folHlink>
          <a:srgbClr val="6E3B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砖雕艺术 8">
        <a:dk1>
          <a:srgbClr val="333399"/>
        </a:dk1>
        <a:lt1>
          <a:srgbClr val="FFD9D9"/>
        </a:lt1>
        <a:dk2>
          <a:srgbClr val="00716E"/>
        </a:dk2>
        <a:lt2>
          <a:srgbClr val="C0C0C0"/>
        </a:lt2>
        <a:accent1>
          <a:srgbClr val="AED2BA"/>
        </a:accent1>
        <a:accent2>
          <a:srgbClr val="FF9933"/>
        </a:accent2>
        <a:accent3>
          <a:srgbClr val="FFE9E9"/>
        </a:accent3>
        <a:accent4>
          <a:srgbClr val="2A2A82"/>
        </a:accent4>
        <a:accent5>
          <a:srgbClr val="D3E5D9"/>
        </a:accent5>
        <a:accent6>
          <a:srgbClr val="E78A2D"/>
        </a:accent6>
        <a:hlink>
          <a:srgbClr val="CC3300"/>
        </a:hlink>
        <a:folHlink>
          <a:srgbClr val="0066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30700</Words>
  <Application>WPS 演示</Application>
  <PresentationFormat>Widescreen</PresentationFormat>
  <Paragraphs>1130</Paragraphs>
  <Slides>85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85</vt:i4>
      </vt:variant>
    </vt:vector>
  </HeadingPairs>
  <TitlesOfParts>
    <vt:vector size="98" baseType="lpstr">
      <vt:lpstr>Arial</vt:lpstr>
      <vt:lpstr>宋体</vt:lpstr>
      <vt:lpstr>Wingdings</vt:lpstr>
      <vt:lpstr>Wingdings 2</vt:lpstr>
      <vt:lpstr>华文行楷</vt:lpstr>
      <vt:lpstr>Times New Roman</vt:lpstr>
      <vt:lpstr>Comic Sans MS</vt:lpstr>
      <vt:lpstr>Courier New</vt:lpstr>
      <vt:lpstr>微软雅黑</vt:lpstr>
      <vt:lpstr>Arial Unicode MS</vt:lpstr>
      <vt:lpstr>Arial</vt:lpstr>
      <vt:lpstr>Consolas</vt:lpstr>
      <vt:lpstr>砖雕艺术</vt:lpstr>
      <vt:lpstr>PowerPoint 演示文稿</vt:lpstr>
      <vt:lpstr>PowerPoint 演示文稿</vt:lpstr>
      <vt:lpstr>Main content</vt:lpstr>
      <vt:lpstr>Overview of Resource Identifiers</vt:lpstr>
      <vt:lpstr>PowerPoint 演示文稿</vt:lpstr>
      <vt:lpstr>PowerPoint 演示文稿</vt:lpstr>
      <vt:lpstr>1. URI &amp; URL Concept</vt:lpstr>
      <vt:lpstr>PowerPoint 演示文稿</vt:lpstr>
      <vt:lpstr>Absolute URL , Relative URL</vt:lpstr>
      <vt:lpstr>Relative URLs</vt:lpstr>
      <vt:lpstr> java.net.URL Class</vt:lpstr>
      <vt:lpstr>Immutability of URL Objects</vt:lpstr>
      <vt:lpstr>Creating URL objects ( 6 constructors)</vt:lpstr>
      <vt:lpstr>PowerPoint 演示文稿</vt:lpstr>
      <vt:lpstr>URL Class: Protocol Support</vt:lpstr>
      <vt:lpstr>PowerPoint 演示文稿</vt:lpstr>
      <vt:lpstr>PowerPoint 演示文稿</vt:lpstr>
      <vt:lpstr>EX5-1 operation results</vt:lpstr>
      <vt:lpstr>PowerPoint 演示文稿</vt:lpstr>
      <vt:lpstr>URL objects in chunks</vt:lpstr>
      <vt:lpstr>PowerPoint 演示文稿</vt:lpstr>
      <vt:lpstr>PowerPoint 演示文稿</vt:lpstr>
      <vt:lpstr>Constructing relative URLs</vt:lpstr>
      <vt:lpstr>Think…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Getting data from URL</vt:lpstr>
      <vt:lpstr>Get data from a URL : openStream () method</vt:lpstr>
      <vt:lpstr>Example 5-2 : Downloading a Web page</vt:lpstr>
      <vt:lpstr>PowerPoint 演示文稿</vt:lpstr>
      <vt:lpstr>EX5-2 operation results</vt:lpstr>
      <vt:lpstr>Think</vt:lpstr>
      <vt:lpstr>Specifying the encoding method</vt:lpstr>
      <vt:lpstr>From a URL object: openConnection () method</vt:lpstr>
      <vt:lpstr>From the URL object: openConnection</vt:lpstr>
      <vt:lpstr>From the URL object: getContent () method</vt:lpstr>
      <vt:lpstr>Example 5-3 : Downloading an object</vt:lpstr>
      <vt:lpstr>EX5-3 Operation Results</vt:lpstr>
      <vt:lpstr>Decomposing URLs</vt:lpstr>
      <vt:lpstr>Decomposing URLs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URL parsing example</vt:lpstr>
      <vt:lpstr>EX5-4 operation results</vt:lpstr>
      <vt:lpstr>Compare two URLs</vt:lpstr>
      <vt:lpstr>Example of comparing two URLs Ex5-5</vt:lpstr>
      <vt:lpstr>Compare two URLs</vt:lpstr>
      <vt:lpstr>3. URI Class</vt:lpstr>
      <vt:lpstr>The choice of URL and URI</vt:lpstr>
      <vt:lpstr>URI class constructor</vt:lpstr>
      <vt:lpstr>URI class constructor</vt:lpstr>
      <vt:lpstr>Obtaining the various parts of the URI</vt:lpstr>
      <vt:lpstr>Relative URI Programmatic Parsing</vt:lpstr>
      <vt:lpstr>4. URLEncoder and URLDecoder</vt:lpstr>
      <vt:lpstr>URLEncoder Class</vt:lpstr>
      <vt:lpstr>Use URLEncoder to generate query string</vt:lpstr>
      <vt:lpstr>Use URLEncoder to generate query string</vt:lpstr>
      <vt:lpstr>URLDecoder Class</vt:lpstr>
      <vt:lpstr>Think</vt:lpstr>
      <vt:lpstr>PowerPoint 演示文稿</vt:lpstr>
      <vt:lpstr>GET method applicable scenarios</vt:lpstr>
      <vt:lpstr>Web form input processing</vt:lpstr>
      <vt:lpstr>Web form input processing</vt:lpstr>
      <vt:lpstr>PowerPoint 演示文稿</vt:lpstr>
      <vt:lpstr>PowerPoint 演示文稿</vt:lpstr>
      <vt:lpstr>PowerPoint 演示文稿</vt:lpstr>
      <vt:lpstr>PowerPoint 演示文稿</vt:lpstr>
      <vt:lpstr>Program issues and improvements</vt:lpstr>
      <vt:lpstr>6. Authenticator Class</vt:lpstr>
      <vt:lpstr>Java.net.Authenticator Class</vt:lpstr>
      <vt:lpstr>PasswordAuthenticator Class</vt:lpstr>
      <vt:lpstr>JPasswordField Class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Programming Thinking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Basker George</dc:creator>
  <cp:lastModifiedBy>杨韩冰</cp:lastModifiedBy>
  <cp:revision>1295</cp:revision>
  <cp:lastPrinted>2018-05-07T06:21:00Z</cp:lastPrinted>
  <dcterms:created xsi:type="dcterms:W3CDTF">2113-01-01T00:00:00Z</dcterms:created>
  <dcterms:modified xsi:type="dcterms:W3CDTF">2025-05-15T03:43:53Z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ICV">
    <vt:lpwstr>554345DF40EC4903BD4831A7480AB1B5_12</vt:lpwstr>
  </property>
  <property fmtid="{D5CDD505-2E9C-101B-9397-08002B2CF9AE}" pid="4" name="KSOProductBuildVer">
    <vt:lpwstr>2052-12.1.0.20305</vt:lpwstr>
  </property>
</Properties>
</file>