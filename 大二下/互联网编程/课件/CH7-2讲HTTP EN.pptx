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5"/>
  </p:handoutMasterIdLst>
  <p:sldIdLst>
    <p:sldId id="376" r:id="rId3"/>
    <p:sldId id="381" r:id="rId5"/>
    <p:sldId id="407" r:id="rId6"/>
    <p:sldId id="377" r:id="rId7"/>
    <p:sldId id="409" r:id="rId8"/>
    <p:sldId id="353" r:id="rId9"/>
    <p:sldId id="356" r:id="rId10"/>
    <p:sldId id="357" r:id="rId11"/>
    <p:sldId id="358" r:id="rId12"/>
    <p:sldId id="403" r:id="rId13"/>
    <p:sldId id="404" r:id="rId14"/>
    <p:sldId id="354" r:id="rId15"/>
    <p:sldId id="408" r:id="rId16"/>
    <p:sldId id="406" r:id="rId17"/>
    <p:sldId id="366" r:id="rId18"/>
    <p:sldId id="405" r:id="rId19"/>
    <p:sldId id="392" r:id="rId20"/>
    <p:sldId id="393" r:id="rId21"/>
    <p:sldId id="359" r:id="rId22"/>
    <p:sldId id="355" r:id="rId23"/>
    <p:sldId id="360" r:id="rId24"/>
    <p:sldId id="382" r:id="rId25"/>
    <p:sldId id="383" r:id="rId26"/>
    <p:sldId id="361" r:id="rId27"/>
    <p:sldId id="395" r:id="rId28"/>
    <p:sldId id="362" r:id="rId29"/>
    <p:sldId id="363" r:id="rId30"/>
    <p:sldId id="364" r:id="rId31"/>
    <p:sldId id="394" r:id="rId32"/>
    <p:sldId id="365" r:id="rId33"/>
    <p:sldId id="371" r:id="rId34"/>
    <p:sldId id="367" r:id="rId35"/>
    <p:sldId id="368" r:id="rId36"/>
    <p:sldId id="410" r:id="rId37"/>
    <p:sldId id="378" r:id="rId38"/>
    <p:sldId id="391" r:id="rId39"/>
    <p:sldId id="379" r:id="rId40"/>
    <p:sldId id="396" r:id="rId41"/>
    <p:sldId id="411" r:id="rId42"/>
    <p:sldId id="369" r:id="rId43"/>
    <p:sldId id="397" r:id="rId44"/>
    <p:sldId id="385" r:id="rId45"/>
    <p:sldId id="387" r:id="rId46"/>
    <p:sldId id="384" r:id="rId47"/>
    <p:sldId id="398" r:id="rId48"/>
    <p:sldId id="370" r:id="rId49"/>
    <p:sldId id="389" r:id="rId50"/>
    <p:sldId id="388" r:id="rId51"/>
    <p:sldId id="399" r:id="rId52"/>
    <p:sldId id="400" r:id="rId53"/>
    <p:sldId id="401" r:id="rId54"/>
    <p:sldId id="402" r:id="rId55"/>
    <p:sldId id="390" r:id="rId56"/>
    <p:sldId id="386" r:id="rId57"/>
    <p:sldId id="372" r:id="rId58"/>
    <p:sldId id="373" r:id="rId59"/>
    <p:sldId id="374" r:id="rId60"/>
    <p:sldId id="375" r:id="rId61"/>
    <p:sldId id="412" r:id="rId62"/>
    <p:sldId id="413" r:id="rId63"/>
    <p:sldId id="380" r:id="rId64"/>
  </p:sldIdLst>
  <p:sldSz cx="12192000" cy="6858000"/>
  <p:notesSz cx="7099300" cy="10234295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0066"/>
    <a:srgbClr val="006600"/>
    <a:srgbClr val="003300"/>
    <a:srgbClr val="990099"/>
    <a:srgbClr val="FF33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 autoAdjust="0"/>
    <p:restoredTop sz="99448" autoAdjust="0"/>
  </p:normalViewPr>
  <p:slideViewPr>
    <p:cSldViewPr showGuides="1">
      <p:cViewPr varScale="1">
        <p:scale>
          <a:sx n="104" d="100"/>
          <a:sy n="104" d="100"/>
        </p:scale>
        <p:origin x="114" y="4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8" Type="http://schemas.openxmlformats.org/officeDocument/2006/relationships/tableStyles" Target="tableStyles.xml"/><Relationship Id="rId67" Type="http://schemas.openxmlformats.org/officeDocument/2006/relationships/viewProps" Target="viewProps.xml"/><Relationship Id="rId66" Type="http://schemas.openxmlformats.org/officeDocument/2006/relationships/presProps" Target="presProps.xml"/><Relationship Id="rId65" Type="http://schemas.openxmlformats.org/officeDocument/2006/relationships/handoutMaster" Target="handoutMasters/handoutMaster1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DD879D1-ABDB-4267-9F7E-DEF54805EFEB}" type="datetime1">
              <a:rPr lang="zh-CN" altLang="en-US"/>
            </a:fld>
            <a:endParaRPr lang="en-US" altLang="zh-CN"/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47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E982672-D9ED-4847-BF75-A0292AAD393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E214FDA-C5BB-4051-ABD8-CDC8DB00A316}" type="datetime1">
              <a:rPr lang="zh-CN" altLang="en-US"/>
            </a:fld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1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43CD7383-E4FC-41C9-85C4-D09E39B0976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8BA6EA0-A3EC-4C7B-9ED9-D4AE8BBC5F3A}" type="slidenum">
              <a:rPr lang="en-US" altLang="zh-CN" smtClean="0"/>
            </a:fld>
            <a:endParaRPr lang="en-US" altLang="zh-CN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HOL = Head-of-Line Blocking</a:t>
            </a:r>
            <a:r>
              <a:rPr lang="zh-CN" altLang="en-US"/>
              <a:t>（队头阻塞）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altLang="zh-CN">
                <a:latin typeface="Arial" panose="020B0604020202020204" pitchFamily="34" charset="0"/>
              </a:rPr>
              <a:t>User-Agent: </a:t>
            </a:r>
            <a:r>
              <a:rPr lang="en-GB" altLang="en-US">
                <a:latin typeface="Arial" panose="020B0604020202020204" pitchFamily="34" charset="0"/>
              </a:rPr>
              <a:t>The browser used by the client</a:t>
            </a:r>
            <a:endParaRPr lang="en-GB" altLang="en-US">
              <a:latin typeface="Arial" panose="020B0604020202020204" pitchFamily="34" charset="0"/>
            </a:endParaRPr>
          </a:p>
          <a:p>
            <a:endParaRPr lang="en-GB" altLang="en-US">
              <a:latin typeface="Arial" panose="020B0604020202020204" pitchFamily="34" charset="0"/>
            </a:endParaRPr>
          </a:p>
          <a:p>
            <a:endParaRPr lang="en-GB" altLang="en-US">
              <a:latin typeface="Arial" panose="020B0604020202020204" pitchFamily="34" charset="0"/>
            </a:endParaRPr>
          </a:p>
          <a:p>
            <a:endParaRPr lang="en-US" altLang="zh-CN">
              <a:latin typeface="Arial" panose="020B0604020202020204" pitchFamily="34" charset="0"/>
            </a:endParaRPr>
          </a:p>
          <a:p>
            <a:r>
              <a:rPr lang="en-GB" altLang="zh-CN">
                <a:latin typeface="Arial" panose="020B0604020202020204" pitchFamily="34" charset="0"/>
              </a:rPr>
              <a:t>Host: </a:t>
            </a:r>
            <a:r>
              <a:rPr lang="en-GB" altLang="en-US">
                <a:latin typeface="Arial" panose="020B0604020202020204" pitchFamily="34" charset="0"/>
              </a:rPr>
              <a:t>server name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GB" altLang="zh-CN">
                <a:latin typeface="Arial" panose="020B0604020202020204" pitchFamily="34" charset="0"/>
              </a:rPr>
              <a:t>Connction:keep-alive </a:t>
            </a:r>
            <a:r>
              <a:rPr lang="en-GB" altLang="en-US">
                <a:latin typeface="Arial" panose="020B0604020202020204" pitchFamily="34" charset="0"/>
              </a:rPr>
              <a:t>indicates that the end wishes to reuse a </a:t>
            </a:r>
            <a:r>
              <a:rPr lang="en-GB" altLang="zh-CN">
                <a:latin typeface="Arial" panose="020B0604020202020204" pitchFamily="34" charset="0"/>
              </a:rPr>
              <a:t>socket</a:t>
            </a:r>
            <a:endParaRPr lang="en-GB" altLang="zh-CN">
              <a:latin typeface="Arial" panose="020B0604020202020204" pitchFamily="34" charset="0"/>
            </a:endParaRPr>
          </a:p>
          <a:p>
            <a:r>
              <a:rPr lang="en-GB" altLang="zh-CN">
                <a:latin typeface="Arial" panose="020B0604020202020204" pitchFamily="34" charset="0"/>
              </a:rPr>
              <a:t>Accept-Language </a:t>
            </a:r>
            <a:r>
              <a:rPr lang="en-GB" altLang="en-US">
                <a:latin typeface="Arial" panose="020B0604020202020204" pitchFamily="34" charset="0"/>
              </a:rPr>
              <a:t>: Language supported by the client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GB" altLang="zh-CN">
                <a:latin typeface="Arial" panose="020B0604020202020204" pitchFamily="34" charset="0"/>
              </a:rPr>
              <a:t>Accept-Encoding: </a:t>
            </a:r>
            <a:r>
              <a:rPr lang="en-GB" altLang="en-US">
                <a:latin typeface="Arial" panose="020B0604020202020204" pitchFamily="34" charset="0"/>
              </a:rPr>
              <a:t>decoding method supported by the client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GB" altLang="zh-CN">
                <a:latin typeface="Arial" panose="020B0604020202020204" pitchFamily="34" charset="0"/>
              </a:rPr>
              <a:t>Accept: Indicates the MIME </a:t>
            </a:r>
            <a:r>
              <a:rPr lang="en-GB" altLang="en-US">
                <a:latin typeface="Arial" panose="020B0604020202020204" pitchFamily="34" charset="0"/>
              </a:rPr>
              <a:t>media types that the client can handle</a:t>
            </a:r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16BAE8C-3983-4B42-8577-20F6B057D7A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altLang="zh-CN">
                <a:latin typeface="Arial" panose="020B0604020202020204" pitchFamily="34" charset="0"/>
              </a:rPr>
              <a:t>1. </a:t>
            </a:r>
            <a:r>
              <a:rPr lang="en-GB" altLang="en-US">
                <a:latin typeface="Arial" panose="020B0604020202020204" pitchFamily="34" charset="0"/>
              </a:rPr>
              <a:t>There are 4 </a:t>
            </a:r>
            <a:r>
              <a:rPr lang="en-GB" altLang="zh-CN">
                <a:latin typeface="Arial" panose="020B0604020202020204" pitchFamily="34" charset="0"/>
              </a:rPr>
              <a:t>HTTP methods </a:t>
            </a:r>
            <a:r>
              <a:rPr lang="en-GB" altLang="en-US">
                <a:latin typeface="Arial" panose="020B0604020202020204" pitchFamily="34" charset="0"/>
              </a:rPr>
              <a:t>to identify the operations that can be completed: </a:t>
            </a:r>
            <a:r>
              <a:rPr lang="en-GB" altLang="zh-CN">
                <a:latin typeface="Arial" panose="020B0604020202020204" pitchFamily="34" charset="0"/>
              </a:rPr>
              <a:t>GET </a:t>
            </a:r>
            <a:r>
              <a:rPr lang="en-GB" altLang="en-US">
                <a:latin typeface="Arial" panose="020B0604020202020204" pitchFamily="34" charset="0"/>
              </a:rPr>
              <a:t>, </a:t>
            </a:r>
            <a:r>
              <a:rPr lang="en-GB" altLang="zh-CN">
                <a:latin typeface="Arial" panose="020B0604020202020204" pitchFamily="34" charset="0"/>
              </a:rPr>
              <a:t>POST </a:t>
            </a:r>
            <a:r>
              <a:rPr lang="en-GB" altLang="en-US">
                <a:latin typeface="Arial" panose="020B0604020202020204" pitchFamily="34" charset="0"/>
              </a:rPr>
              <a:t>, </a:t>
            </a:r>
            <a:r>
              <a:rPr lang="en-GB" altLang="zh-CN">
                <a:latin typeface="Arial" panose="020B0604020202020204" pitchFamily="34" charset="0"/>
              </a:rPr>
              <a:t>PUT </a:t>
            </a:r>
            <a:r>
              <a:rPr lang="en-GB" altLang="en-US">
                <a:latin typeface="Arial" panose="020B0604020202020204" pitchFamily="34" charset="0"/>
              </a:rPr>
              <a:t>, </a:t>
            </a:r>
            <a:r>
              <a:rPr lang="en-GB" altLang="zh-CN">
                <a:latin typeface="Arial" panose="020B0604020202020204" pitchFamily="34" charset="0"/>
              </a:rPr>
              <a:t>DELETE</a:t>
            </a:r>
            <a:endParaRPr lang="en-GB" altLang="zh-CN">
              <a:latin typeface="Arial" panose="020B0604020202020204" pitchFamily="34" charset="0"/>
            </a:endParaRPr>
          </a:p>
          <a:p>
            <a:r>
              <a:rPr lang="en-GB" altLang="zh-CN">
                <a:latin typeface="Arial" panose="020B0604020202020204" pitchFamily="34" charset="0"/>
              </a:rPr>
              <a:t>2.4 </a:t>
            </a:r>
            <a:r>
              <a:rPr lang="en-GB" altLang="en-US">
                <a:latin typeface="Arial" panose="020B0604020202020204" pitchFamily="34" charset="0"/>
              </a:rPr>
              <a:t>Each method has specific semantics, which must be followed when programming.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GB" altLang="zh-CN">
                <a:latin typeface="Arial" panose="020B0604020202020204" pitchFamily="34" charset="0"/>
              </a:rPr>
              <a:t>3. The GET </a:t>
            </a:r>
            <a:r>
              <a:rPr lang="en-GB" altLang="en-US">
                <a:latin typeface="Arial" panose="020B0604020202020204" pitchFamily="34" charset="0"/>
              </a:rPr>
              <a:t>method is used to obtain a representation of a resource identified by </a:t>
            </a:r>
            <a:r>
              <a:rPr lang="en-GB" altLang="zh-CN">
                <a:latin typeface="Arial" panose="020B0604020202020204" pitchFamily="34" charset="0"/>
              </a:rPr>
              <a:t>a URL </a:t>
            </a:r>
            <a:r>
              <a:rPr lang="en-GB" altLang="en-US">
                <a:latin typeface="Arial" panose="020B0604020202020204" pitchFamily="34" charset="0"/>
              </a:rPr>
              <a:t>. It is used for non-committal actions, such as browsing a static </a:t>
            </a:r>
            <a:r>
              <a:rPr lang="en-GB" altLang="zh-CN">
                <a:latin typeface="Arial" panose="020B0604020202020204" pitchFamily="34" charset="0"/>
              </a:rPr>
              <a:t>web </a:t>
            </a:r>
            <a:r>
              <a:rPr lang="en-GB" altLang="en-US">
                <a:latin typeface="Arial" panose="020B0604020202020204" pitchFamily="34" charset="0"/>
              </a:rPr>
              <a:t>page.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GB" altLang="zh-CN">
                <a:latin typeface="Arial" panose="020B0604020202020204" pitchFamily="34" charset="0"/>
              </a:rPr>
              <a:t>4. </a:t>
            </a:r>
            <a:r>
              <a:rPr lang="en-GB" altLang="en-US">
                <a:latin typeface="Arial" panose="020B0604020202020204" pitchFamily="34" charset="0"/>
              </a:rPr>
              <a:t>For example, adding an item to a shopping cart should send a </a:t>
            </a:r>
            <a:r>
              <a:rPr lang="en-GB" altLang="zh-CN">
                <a:latin typeface="Arial" panose="020B0604020202020204" pitchFamily="34" charset="0"/>
              </a:rPr>
              <a:t>GET </a:t>
            </a:r>
            <a:r>
              <a:rPr lang="en-GB" altLang="en-US">
                <a:latin typeface="Arial" panose="020B0604020202020204" pitchFamily="34" charset="0"/>
              </a:rPr>
              <a:t>, because this action is not submitted and the user can still abandon the shopping cart.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A810B8D-8F2A-4C2C-AAD4-309A250F6C4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altLang="en-US" sz="2800">
                <a:latin typeface="Arial" panose="020B0604020202020204" pitchFamily="34" charset="0"/>
              </a:rPr>
              <a:t>Types are divided into two levels: </a:t>
            </a:r>
            <a:r>
              <a:rPr lang="en-GB" altLang="zh-CN" sz="2800">
                <a:latin typeface="Arial" panose="020B0604020202020204" pitchFamily="34" charset="0"/>
              </a:rPr>
              <a:t>type </a:t>
            </a:r>
            <a:r>
              <a:rPr lang="en-GB" altLang="en-US" sz="2800">
                <a:latin typeface="Arial" panose="020B0604020202020204" pitchFamily="34" charset="0"/>
              </a:rPr>
              <a:t>and </a:t>
            </a:r>
            <a:r>
              <a:rPr lang="en-GB" altLang="zh-CN" sz="2800">
                <a:latin typeface="Arial" panose="020B0604020202020204" pitchFamily="34" charset="0"/>
              </a:rPr>
              <a:t>subtype</a:t>
            </a:r>
            <a:endParaRPr lang="en-GB" altLang="zh-CN" sz="2800">
              <a:latin typeface="Arial" panose="020B0604020202020204" pitchFamily="34" charset="0"/>
            </a:endParaRPr>
          </a:p>
          <a:p>
            <a:r>
              <a:rPr lang="en-GB" altLang="en-US" sz="2400" b="1">
                <a:latin typeface="Arial" panose="020B0604020202020204" pitchFamily="34" charset="0"/>
              </a:rPr>
              <a:t>The type </a:t>
            </a:r>
            <a:r>
              <a:rPr lang="en-GB" altLang="en-US" sz="2400">
                <a:latin typeface="Arial" panose="020B0604020202020204" pitchFamily="34" charset="0"/>
              </a:rPr>
              <a:t>generally indicates what kind of data is contained, such as pictures, text, or movies.</a:t>
            </a:r>
            <a:endParaRPr lang="en-US" altLang="zh-CN" sz="2400">
              <a:latin typeface="Arial" panose="020B0604020202020204" pitchFamily="34" charset="0"/>
            </a:endParaRPr>
          </a:p>
          <a:p>
            <a:r>
              <a:rPr lang="en-GB" altLang="en-US" sz="2400" b="1">
                <a:latin typeface="Arial" panose="020B0604020202020204" pitchFamily="34" charset="0"/>
              </a:rPr>
              <a:t>The subtype </a:t>
            </a:r>
            <a:r>
              <a:rPr lang="en-GB" altLang="en-US" sz="2400">
                <a:latin typeface="Arial" panose="020B0604020202020204" pitchFamily="34" charset="0"/>
              </a:rPr>
              <a:t>identifies the specific type of data, such as </a:t>
            </a:r>
            <a:r>
              <a:rPr lang="en-GB" altLang="zh-CN" sz="2400">
                <a:latin typeface="Arial" panose="020B0604020202020204" pitchFamily="34" charset="0"/>
              </a:rPr>
              <a:t>GIF </a:t>
            </a:r>
            <a:r>
              <a:rPr lang="en-GB" altLang="en-US" sz="2400">
                <a:latin typeface="Arial" panose="020B0604020202020204" pitchFamily="34" charset="0"/>
              </a:rPr>
              <a:t>image, </a:t>
            </a:r>
            <a:r>
              <a:rPr lang="en-GB" altLang="zh-CN" sz="2400">
                <a:latin typeface="Arial" panose="020B0604020202020204" pitchFamily="34" charset="0"/>
              </a:rPr>
              <a:t>JPEG </a:t>
            </a:r>
            <a:r>
              <a:rPr lang="en-GB" altLang="en-US" sz="2400">
                <a:latin typeface="Arial" panose="020B0604020202020204" pitchFamily="34" charset="0"/>
              </a:rPr>
              <a:t>image, </a:t>
            </a:r>
            <a:r>
              <a:rPr lang="en-GB" altLang="zh-CN" sz="2400">
                <a:latin typeface="Arial" panose="020B0604020202020204" pitchFamily="34" charset="0"/>
              </a:rPr>
              <a:t>TIFF </a:t>
            </a:r>
            <a:r>
              <a:rPr lang="en-GB" altLang="en-US" sz="2400">
                <a:latin typeface="Arial" panose="020B0604020202020204" pitchFamily="34" charset="0"/>
              </a:rPr>
              <a:t>image</a:t>
            </a:r>
            <a:endParaRPr lang="en-US" altLang="zh-CN" sz="2400">
              <a:latin typeface="Arial" panose="020B0604020202020204" pitchFamily="34" charset="0"/>
            </a:endParaRP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89BFFC2-C0A8-436E-9CFD-2860A4E47CD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altLang="en-US" sz="2800">
                <a:latin typeface="Arial" panose="020B0604020202020204" pitchFamily="34" charset="0"/>
              </a:rPr>
              <a:t>Types are divided into two levels: </a:t>
            </a:r>
            <a:r>
              <a:rPr lang="en-GB" altLang="zh-CN" sz="2800">
                <a:latin typeface="Arial" panose="020B0604020202020204" pitchFamily="34" charset="0"/>
              </a:rPr>
              <a:t>type </a:t>
            </a:r>
            <a:r>
              <a:rPr lang="en-GB" altLang="en-US" sz="2800">
                <a:latin typeface="Arial" panose="020B0604020202020204" pitchFamily="34" charset="0"/>
              </a:rPr>
              <a:t>and </a:t>
            </a:r>
            <a:r>
              <a:rPr lang="en-GB" altLang="zh-CN" sz="2800">
                <a:latin typeface="Arial" panose="020B0604020202020204" pitchFamily="34" charset="0"/>
              </a:rPr>
              <a:t>subtype</a:t>
            </a:r>
            <a:endParaRPr lang="en-GB" altLang="zh-CN" sz="2800">
              <a:latin typeface="Arial" panose="020B0604020202020204" pitchFamily="34" charset="0"/>
            </a:endParaRPr>
          </a:p>
          <a:p>
            <a:r>
              <a:rPr lang="en-GB" altLang="en-US" sz="2400" b="1">
                <a:latin typeface="Arial" panose="020B0604020202020204" pitchFamily="34" charset="0"/>
              </a:rPr>
              <a:t>The type </a:t>
            </a:r>
            <a:r>
              <a:rPr lang="en-GB" altLang="en-US" sz="2400">
                <a:latin typeface="Arial" panose="020B0604020202020204" pitchFamily="34" charset="0"/>
              </a:rPr>
              <a:t>generally indicates what kind of data is contained, such as pictures, text, or movies.</a:t>
            </a:r>
            <a:endParaRPr lang="en-US" altLang="zh-CN" sz="2400">
              <a:latin typeface="Arial" panose="020B0604020202020204" pitchFamily="34" charset="0"/>
            </a:endParaRPr>
          </a:p>
          <a:p>
            <a:r>
              <a:rPr lang="en-GB" altLang="en-US" sz="2400" b="1">
                <a:latin typeface="Arial" panose="020B0604020202020204" pitchFamily="34" charset="0"/>
              </a:rPr>
              <a:t>The subtype </a:t>
            </a:r>
            <a:r>
              <a:rPr lang="en-GB" altLang="en-US" sz="2400">
                <a:latin typeface="Arial" panose="020B0604020202020204" pitchFamily="34" charset="0"/>
              </a:rPr>
              <a:t>identifies the specific type of data, such as </a:t>
            </a:r>
            <a:r>
              <a:rPr lang="en-GB" altLang="zh-CN" sz="2400">
                <a:latin typeface="Arial" panose="020B0604020202020204" pitchFamily="34" charset="0"/>
              </a:rPr>
              <a:t>GIF </a:t>
            </a:r>
            <a:r>
              <a:rPr lang="en-GB" altLang="en-US" sz="2400">
                <a:latin typeface="Arial" panose="020B0604020202020204" pitchFamily="34" charset="0"/>
              </a:rPr>
              <a:t>image, </a:t>
            </a:r>
            <a:r>
              <a:rPr lang="en-GB" altLang="zh-CN" sz="2400">
                <a:latin typeface="Arial" panose="020B0604020202020204" pitchFamily="34" charset="0"/>
              </a:rPr>
              <a:t>JPEG </a:t>
            </a:r>
            <a:r>
              <a:rPr lang="en-GB" altLang="en-US" sz="2400">
                <a:latin typeface="Arial" panose="020B0604020202020204" pitchFamily="34" charset="0"/>
              </a:rPr>
              <a:t>image, </a:t>
            </a:r>
            <a:r>
              <a:rPr lang="en-GB" altLang="zh-CN" sz="2400">
                <a:latin typeface="Arial" panose="020B0604020202020204" pitchFamily="34" charset="0"/>
              </a:rPr>
              <a:t>TIFF </a:t>
            </a:r>
            <a:r>
              <a:rPr lang="en-GB" altLang="en-US" sz="2400">
                <a:latin typeface="Arial" panose="020B0604020202020204" pitchFamily="34" charset="0"/>
              </a:rPr>
              <a:t>image</a:t>
            </a:r>
            <a:endParaRPr lang="en-US" altLang="zh-CN" sz="2400">
              <a:latin typeface="Arial" panose="020B0604020202020204" pitchFamily="34" charset="0"/>
            </a:endParaRP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2FDBBB3-BBAE-4EFE-82C0-6BCE49BC956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altLang="en-US" sz="2800">
                <a:latin typeface="Arial" panose="020B0604020202020204" pitchFamily="34" charset="0"/>
              </a:rPr>
              <a:t>Types are divided into two levels: </a:t>
            </a:r>
            <a:r>
              <a:rPr lang="en-GB" altLang="zh-CN" sz="2800">
                <a:latin typeface="Arial" panose="020B0604020202020204" pitchFamily="34" charset="0"/>
              </a:rPr>
              <a:t>type </a:t>
            </a:r>
            <a:r>
              <a:rPr lang="en-GB" altLang="en-US" sz="2800">
                <a:latin typeface="Arial" panose="020B0604020202020204" pitchFamily="34" charset="0"/>
              </a:rPr>
              <a:t>and </a:t>
            </a:r>
            <a:r>
              <a:rPr lang="en-GB" altLang="zh-CN" sz="2800">
                <a:latin typeface="Arial" panose="020B0604020202020204" pitchFamily="34" charset="0"/>
              </a:rPr>
              <a:t>subtype</a:t>
            </a:r>
            <a:endParaRPr lang="en-GB" altLang="zh-CN" sz="2800">
              <a:latin typeface="Arial" panose="020B0604020202020204" pitchFamily="34" charset="0"/>
            </a:endParaRPr>
          </a:p>
          <a:p>
            <a:r>
              <a:rPr lang="en-GB" altLang="en-US" sz="2400" b="1">
                <a:latin typeface="Arial" panose="020B0604020202020204" pitchFamily="34" charset="0"/>
              </a:rPr>
              <a:t>The type </a:t>
            </a:r>
            <a:r>
              <a:rPr lang="en-GB" altLang="en-US" sz="2400">
                <a:latin typeface="Arial" panose="020B0604020202020204" pitchFamily="34" charset="0"/>
              </a:rPr>
              <a:t>generally indicates what kind of data is contained, such as pictures, text, or movies.</a:t>
            </a:r>
            <a:endParaRPr lang="en-US" altLang="zh-CN" sz="2400">
              <a:latin typeface="Arial" panose="020B0604020202020204" pitchFamily="34" charset="0"/>
            </a:endParaRPr>
          </a:p>
          <a:p>
            <a:r>
              <a:rPr lang="en-GB" altLang="en-US" sz="2400" b="1">
                <a:latin typeface="Arial" panose="020B0604020202020204" pitchFamily="34" charset="0"/>
              </a:rPr>
              <a:t>The subtype </a:t>
            </a:r>
            <a:r>
              <a:rPr lang="en-GB" altLang="en-US" sz="2400">
                <a:latin typeface="Arial" panose="020B0604020202020204" pitchFamily="34" charset="0"/>
              </a:rPr>
              <a:t>identifies the specific type of data, such as </a:t>
            </a:r>
            <a:r>
              <a:rPr lang="en-GB" altLang="zh-CN" sz="2400">
                <a:latin typeface="Arial" panose="020B0604020202020204" pitchFamily="34" charset="0"/>
              </a:rPr>
              <a:t>GIF </a:t>
            </a:r>
            <a:r>
              <a:rPr lang="en-GB" altLang="en-US" sz="2400">
                <a:latin typeface="Arial" panose="020B0604020202020204" pitchFamily="34" charset="0"/>
              </a:rPr>
              <a:t>image, </a:t>
            </a:r>
            <a:r>
              <a:rPr lang="en-GB" altLang="zh-CN" sz="2400">
                <a:latin typeface="Arial" panose="020B0604020202020204" pitchFamily="34" charset="0"/>
              </a:rPr>
              <a:t>JPEG </a:t>
            </a:r>
            <a:r>
              <a:rPr lang="en-GB" altLang="en-US" sz="2400">
                <a:latin typeface="Arial" panose="020B0604020202020204" pitchFamily="34" charset="0"/>
              </a:rPr>
              <a:t>image, </a:t>
            </a:r>
            <a:r>
              <a:rPr lang="en-GB" altLang="zh-CN" sz="2400">
                <a:latin typeface="Arial" panose="020B0604020202020204" pitchFamily="34" charset="0"/>
              </a:rPr>
              <a:t>TIFF </a:t>
            </a:r>
            <a:r>
              <a:rPr lang="en-GB" altLang="en-US" sz="2400">
                <a:latin typeface="Arial" panose="020B0604020202020204" pitchFamily="34" charset="0"/>
              </a:rPr>
              <a:t>image</a:t>
            </a:r>
            <a:endParaRPr lang="en-US" altLang="zh-CN" sz="2400">
              <a:latin typeface="Arial" panose="020B0604020202020204" pitchFamily="34" charset="0"/>
            </a:endParaRP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221E44D-D88F-41AC-82B3-41A9D7831A5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458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EA6D2EF-E085-4BA3-91AB-149AC4E63B3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FCD639D-F74D-4520-B4A1-903719FA326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9B3823B-ED65-4F4C-B2E6-7CC1BE19E88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FB07F08-E16F-4513-984D-9132495F03C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altLang="en-US">
                <a:latin typeface="Arial" panose="020B0604020202020204" pitchFamily="34" charset="0"/>
              </a:rPr>
              <a:t>The request ends with a blank line (that is, two carriage return </a:t>
            </a:r>
            <a:r>
              <a:rPr lang="en-GB" altLang="zh-CN">
                <a:latin typeface="Arial" panose="020B0604020202020204" pitchFamily="34" charset="0"/>
              </a:rPr>
              <a:t>/ </a:t>
            </a:r>
            <a:r>
              <a:rPr lang="en-GB" altLang="en-US">
                <a:latin typeface="Arial" panose="020B0604020202020204" pitchFamily="34" charset="0"/>
              </a:rPr>
              <a:t>line feed pairs </a:t>
            </a:r>
            <a:r>
              <a:rPr lang="en-GB" altLang="zh-CN">
                <a:latin typeface="Arial" panose="020B0604020202020204" pitchFamily="34" charset="0"/>
              </a:rPr>
              <a:t>\r\n\r\n </a:t>
            </a:r>
            <a:r>
              <a:rPr lang="en-GB" altLang="en-US">
                <a:latin typeface="Arial" panose="020B0604020202020204" pitchFamily="34" charset="0"/>
              </a:rPr>
              <a:t>).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GB" altLang="en-US">
                <a:latin typeface="Arial" panose="020B0604020202020204" pitchFamily="34" charset="0"/>
              </a:rPr>
              <a:t>Once the server sees this blank line, it starts sending its response to the client over the same connection.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GB" altLang="en-US">
                <a:latin typeface="Arial" panose="020B0604020202020204" pitchFamily="34" charset="0"/>
              </a:rPr>
              <a:t>The response begins with a status line, followed by the headers.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GB" altLang="en-US">
                <a:latin typeface="Arial" panose="020B0604020202020204" pitchFamily="34" charset="0"/>
              </a:rPr>
              <a:t>The headers describe the response in the form of name:value pairs, a blank line, and the requested resource.</a:t>
            </a:r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3AC6D8C-DCA3-40C0-BAE5-2397E79AE36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5629161-C9F3-4C64-914E-C4D43C10935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55CB5BD-3FF2-445E-882A-68FAEAC7448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8EEB37F-9851-4C0B-9BC4-F5C48D4EA84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altLang="zh-CN">
                <a:latin typeface="Arial" panose="020B0604020202020204" pitchFamily="34" charset="0"/>
              </a:rPr>
              <a:t>1. POST </a:t>
            </a:r>
            <a:r>
              <a:rPr lang="en-GB" altLang="en-US">
                <a:latin typeface="Arial" panose="020B0604020202020204" pitchFamily="34" charset="0"/>
              </a:rPr>
              <a:t>method is the most common method. It uploads a representation of a resource to a server with a known </a:t>
            </a:r>
            <a:r>
              <a:rPr lang="en-GB" altLang="zh-CN">
                <a:latin typeface="Arial" panose="020B0604020202020204" pitchFamily="34" charset="0"/>
              </a:rPr>
              <a:t>URL </a:t>
            </a:r>
            <a:r>
              <a:rPr lang="en-GB" altLang="en-US">
                <a:latin typeface="Arial" panose="020B0604020202020204" pitchFamily="34" charset="0"/>
              </a:rPr>
              <a:t>, but does not specify how the server handles the newly provided resource. It is used in unsafe operation scenarios that cannot be repeated, such as a transaction. It is often used to submit something.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GB" altLang="zh-CN">
                <a:latin typeface="Arial" panose="020B0604020202020204" pitchFamily="34" charset="0"/>
              </a:rPr>
              <a:t>2. </a:t>
            </a:r>
            <a:r>
              <a:rPr lang="en-GB" altLang="en-US">
                <a:latin typeface="Arial" panose="020B0604020202020204" pitchFamily="34" charset="0"/>
              </a:rPr>
              <a:t>For example, placing an order in a shopping cart should send a </a:t>
            </a:r>
            <a:r>
              <a:rPr lang="en-GB" altLang="zh-CN">
                <a:latin typeface="Arial" panose="020B0604020202020204" pitchFamily="34" charset="0"/>
              </a:rPr>
              <a:t>POST </a:t>
            </a:r>
            <a:r>
              <a:rPr lang="en-GB" altLang="en-US">
                <a:latin typeface="Arial" panose="020B0604020202020204" pitchFamily="34" charset="0"/>
              </a:rPr>
              <a:t>because this action completes a submission.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GB" altLang="zh-CN">
                <a:latin typeface="Arial" panose="020B0604020202020204" pitchFamily="34" charset="0"/>
              </a:rPr>
              <a:t>3. </a:t>
            </a:r>
            <a:r>
              <a:rPr lang="en-GB" altLang="en-US">
                <a:latin typeface="Arial" panose="020B0604020202020204" pitchFamily="34" charset="0"/>
              </a:rPr>
              <a:t>In the POST request example, the request body is required to contain an </a:t>
            </a:r>
            <a:r>
              <a:rPr lang="en-GB" altLang="zh-CN">
                <a:latin typeface="Arial" panose="020B0604020202020204" pitchFamily="34" charset="0"/>
              </a:rPr>
              <a:t>application/x-www-form-urlencoded </a:t>
            </a:r>
            <a:r>
              <a:rPr lang="en-GB" altLang="en-US">
                <a:latin typeface="Arial" panose="020B0604020202020204" pitchFamily="34" charset="0"/>
              </a:rPr>
              <a:t>data.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GB" altLang="zh-CN">
                <a:latin typeface="Arial" panose="020B0604020202020204" pitchFamily="34" charset="0"/>
              </a:rPr>
              <a:t>4. How to write a POST request </a:t>
            </a:r>
            <a:r>
              <a:rPr lang="en-GB" altLang="en-US">
                <a:latin typeface="Arial" panose="020B0604020202020204" pitchFamily="34" charset="0"/>
              </a:rPr>
              <a:t>in the form interface in the figure ?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988DAE4-5F47-4A49-8F80-E15E5B7BFED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altLang="zh-CN">
                <a:latin typeface="Arial" panose="020B0604020202020204" pitchFamily="34" charset="0"/>
              </a:rPr>
              <a:t>DELETE method </a:t>
            </a:r>
            <a:r>
              <a:rPr lang="en-GB" altLang="en-US">
                <a:latin typeface="Arial" panose="020B0604020202020204" pitchFamily="34" charset="0"/>
              </a:rPr>
              <a:t>deletes a resource 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GB" altLang="zh-CN">
                <a:latin typeface="Arial" panose="020B0604020202020204" pitchFamily="34" charset="0"/>
              </a:rPr>
              <a:t>PUT </a:t>
            </a:r>
            <a:r>
              <a:rPr lang="en-GB" altLang="en-US">
                <a:latin typeface="Arial" panose="020B0604020202020204" pitchFamily="34" charset="0"/>
              </a:rPr>
              <a:t>method uploads a representation of a resource to a server at a known </a:t>
            </a:r>
            <a:r>
              <a:rPr lang="en-GB" altLang="zh-CN">
                <a:latin typeface="Arial" panose="020B0604020202020204" pitchFamily="34" charset="0"/>
              </a:rPr>
              <a:t>URL </a:t>
            </a:r>
            <a:r>
              <a:rPr lang="en-GB" altLang="en-US">
                <a:latin typeface="Arial" panose="020B0604020202020204" pitchFamily="34" charset="0"/>
              </a:rPr>
              <a:t>.</a:t>
            </a:r>
            <a:endParaRPr lang="en-GB" altLang="en-US">
              <a:latin typeface="Arial" panose="020B0604020202020204" pitchFamily="34" charset="0"/>
            </a:endParaRPr>
          </a:p>
          <a:p>
            <a:endParaRPr lang="en-US" altLang="zh-CN">
              <a:latin typeface="Arial" panose="020B0604020202020204" pitchFamily="34" charset="0"/>
            </a:endParaRP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B35DFA4-FFE9-4867-92D7-3FE3DF72BAB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69635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2C86FF-A43F-4F4B-B4EB-1EB10398330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77F0BD-8E91-49F6-9AC9-77A8A9EEA72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FB54D2-ACC0-4AE9-8D6D-1A77D86F3C7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2168" y="1600200"/>
            <a:ext cx="5592233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1" y="1600200"/>
            <a:ext cx="5592233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69AFE7-5FFF-416B-975E-8D864C1F74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7A6DBD-F648-422C-B567-6544630533D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DC8E7E-DBDB-41AD-8574-2DE0D8FD5C7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3E446E-572D-46B5-97A6-DA8BC88C21B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18C50-B794-4C95-92E3-4B75FD1CCD9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A521F0-FEAF-4B48-AA49-E4A1F664545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9FB368-E2CF-44FF-A24F-D7C3869E1EF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42918" y="228601"/>
            <a:ext cx="2846916" cy="5870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2167" y="228601"/>
            <a:ext cx="8337551" cy="5870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B92368-A3EB-4145-9639-858E85BA3FA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2167" y="228600"/>
            <a:ext cx="1138766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2168" y="1600200"/>
            <a:ext cx="5592233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1" y="1600200"/>
            <a:ext cx="5592233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4ABC1A-F787-487D-AC67-F72C4DBD819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02167" y="228600"/>
            <a:ext cx="1138766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402167" y="1600200"/>
            <a:ext cx="11387667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86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02167" y="6245225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86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86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1" y="6245225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F8F7D0DC-5AB1-484E-97E7-A60C5D19101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 2" panose="05020102010507070707" pitchFamily="18" charset="2"/>
        <a:buChar char="¡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hyperlink" Target="http://www.szu.edu.cn/szu.asp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emf"/><Relationship Id="rId1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1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CookiePersistor.java" TargetMode="Externa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47457C9-A047-48A2-B07B-73885D333885}" type="slidenum">
              <a:rPr lang="en-US" altLang="zh-CN" sz="1400"/>
            </a:fld>
            <a:endParaRPr lang="en-US" altLang="zh-CN" sz="1400"/>
          </a:p>
        </p:txBody>
      </p:sp>
      <p:sp>
        <p:nvSpPr>
          <p:cNvPr id="5123" name="Rectangle 6"/>
          <p:cNvSpPr>
            <a:spLocks noRot="1" noChangeArrowheads="1"/>
          </p:cNvSpPr>
          <p:nvPr/>
        </p:nvSpPr>
        <p:spPr bwMode="auto">
          <a:xfrm>
            <a:off x="1676400" y="1295400"/>
            <a:ext cx="854075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GB" altLang="en-US" sz="4800" b="1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Internet Programming</a:t>
            </a:r>
            <a:endParaRPr lang="en-US" altLang="zh-CN" sz="4800" b="1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GB" altLang="en-US" sz="4800" b="1">
                <a:latin typeface="华文行楷" panose="02010800040101010101" pitchFamily="2" charset="-122"/>
                <a:ea typeface="华文行楷" panose="02010800040101010101" pitchFamily="2" charset="-122"/>
              </a:rPr>
              <a:t>Chapter </a:t>
            </a:r>
            <a:r>
              <a:rPr lang="en-GB" altLang="zh-CN" sz="4800" b="1">
                <a:latin typeface="华文行楷" panose="02010800040101010101" pitchFamily="2" charset="-122"/>
                <a:ea typeface="华文行楷" panose="02010800040101010101" pitchFamily="2" charset="-122"/>
              </a:rPr>
              <a:t>6</a:t>
            </a:r>
            <a:r>
              <a:rPr lang="en-GB" altLang="en-US" sz="4800" b="1">
                <a:latin typeface="华文行楷" panose="02010800040101010101" pitchFamily="2" charset="-122"/>
                <a:ea typeface="华文行楷" panose="02010800040101010101" pitchFamily="2" charset="-122"/>
              </a:rPr>
              <a:t>​</a:t>
            </a:r>
            <a:endParaRPr lang="en-US" altLang="zh-CN" sz="4800" b="1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GB" altLang="zh-CN" sz="4800" b="1">
                <a:latin typeface="仿宋" panose="02010609060101010101" pitchFamily="49" charset="-122"/>
                <a:ea typeface="仿宋" panose="02010609060101010101" pitchFamily="49" charset="-122"/>
              </a:rPr>
              <a:t>HTTP</a:t>
            </a:r>
            <a:endParaRPr lang="en-US" altLang="zh-CN" sz="480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124" name="Rectangle 8"/>
          <p:cNvSpPr>
            <a:spLocks noRot="1" noChangeArrowheads="1"/>
          </p:cNvSpPr>
          <p:nvPr/>
        </p:nvSpPr>
        <p:spPr bwMode="auto">
          <a:xfrm>
            <a:off x="6096000" y="5159314"/>
            <a:ext cx="5562600" cy="784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GB" altLang="en-US" sz="2000" b="1" dirty="0">
                <a:solidFill>
                  <a:schemeClr val="tx2"/>
                </a:solidFill>
              </a:rPr>
              <a:t>School of Computer and Software, Shenzhen University</a:t>
            </a:r>
            <a:endParaRPr lang="zh-CN" altLang="en-US" sz="2000" b="1" i="1" dirty="0">
              <a:solidFill>
                <a:schemeClr val="tx2"/>
              </a:solidFill>
            </a:endParaRPr>
          </a:p>
        </p:txBody>
      </p:sp>
      <p:pic>
        <p:nvPicPr>
          <p:cNvPr id="5125" name="Picture 10" descr="szu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28601"/>
            <a:ext cx="2514600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6" name="TextBox 1"/>
          <p:cNvSpPr txBox="1">
            <a:spLocks noChangeArrowheads="1"/>
          </p:cNvSpPr>
          <p:nvPr/>
        </p:nvSpPr>
        <p:spPr bwMode="auto">
          <a:xfrm>
            <a:off x="228600" y="4267201"/>
            <a:ext cx="11658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/>
              <a:t>E</a:t>
            </a:r>
            <a:r>
              <a:rPr lang="en-US" altLang="zh-CN" sz="2000" dirty="0" err="1"/>
              <a:t>nter</a:t>
            </a:r>
            <a:r>
              <a:rPr lang="zh-CN" altLang="en-US" sz="2000" dirty="0"/>
              <a:t> </a:t>
            </a:r>
            <a:r>
              <a:rPr lang="en-GB" altLang="zh-CN" sz="2000" dirty="0"/>
              <a:t>http</a:t>
            </a:r>
            <a:r>
              <a:rPr lang="en-US" altLang="zh-CN" sz="2000" dirty="0"/>
              <a:t>s</a:t>
            </a:r>
            <a:r>
              <a:rPr lang="en-GB" altLang="zh-CN" sz="2000" dirty="0"/>
              <a:t>://www1.szu.edu.cn </a:t>
            </a:r>
            <a:r>
              <a:rPr lang="en-GB" altLang="en-US" sz="2000" dirty="0"/>
              <a:t>in the address bar of the browser and press Enter, what happens?</a:t>
            </a:r>
            <a:endParaRPr lang="en-GB" altLang="en-US" sz="2000" dirty="0"/>
          </a:p>
        </p:txBody>
      </p:sp>
    </p:spTree>
  </p:cSld>
  <p:clrMapOvr>
    <a:masterClrMapping/>
  </p:clrMapOvr>
  <p:transition>
    <p:cover dir="l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>
          <a:xfrm>
            <a:off x="402166" y="838200"/>
            <a:ext cx="11387667" cy="685800"/>
          </a:xfrm>
        </p:spPr>
        <p:txBody>
          <a:bodyPr/>
          <a:lstStyle/>
          <a:p>
            <a:pPr algn="l"/>
            <a:r>
              <a:rPr lang="en-GB" altLang="en-US" sz="4000" b="1" dirty="0">
                <a:solidFill>
                  <a:srgbClr val="C00000"/>
                </a:solidFill>
              </a:rPr>
              <a:t>Main </a:t>
            </a:r>
            <a:r>
              <a:rPr lang="en-US" altLang="en-US" sz="4000" b="1" dirty="0">
                <a:solidFill>
                  <a:srgbClr val="C00000"/>
                </a:solidFill>
              </a:rPr>
              <a:t>C</a:t>
            </a:r>
            <a:r>
              <a:rPr lang="en-GB" altLang="en-US" sz="4000" b="1" dirty="0">
                <a:solidFill>
                  <a:srgbClr val="C00000"/>
                </a:solidFill>
              </a:rPr>
              <a:t>ontent</a:t>
            </a:r>
            <a:endParaRPr lang="en-GB" altLang="en-US" sz="4000" b="1" dirty="0">
              <a:solidFill>
                <a:srgbClr val="C00000"/>
              </a:solidFill>
            </a:endParaRPr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>
          <a:xfrm>
            <a:off x="402166" y="1828800"/>
            <a:ext cx="11027833" cy="358139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en-GB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HTTP </a:t>
            </a:r>
            <a:r>
              <a:rPr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P</a:t>
            </a:r>
            <a:r>
              <a:rPr lang="en-GB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rotocol</a:t>
            </a: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en-GB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HTTP </a:t>
            </a:r>
            <a:r>
              <a:rPr lang="en-GB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Request and Response</a:t>
            </a: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en-GB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HTTP </a:t>
            </a:r>
            <a:r>
              <a:rPr lang="en-GB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Method</a:t>
            </a:r>
            <a:r>
              <a:rPr lang="en-US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s</a:t>
            </a:r>
            <a:endParaRPr lang="en-US" altLang="en-US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en-GB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HTTP C</a:t>
            </a:r>
            <a:r>
              <a:rPr lang="en-GB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onnection Session and </a:t>
            </a:r>
            <a:r>
              <a:rPr lang="en-US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S</a:t>
            </a:r>
            <a:r>
              <a:rPr lang="en-GB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ession Preservation</a:t>
            </a: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en-GB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Cookies</a:t>
            </a: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7172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D71449E-DA3B-48E5-941A-A84B72D0E660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zh-CN" b="1" dirty="0">
                <a:latin typeface="宋体" panose="02010600030101010101" pitchFamily="2" charset="-122"/>
              </a:rPr>
              <a:t>1.HTTP </a:t>
            </a:r>
            <a:r>
              <a:rPr lang="en-US" altLang="zh-CN" b="1" dirty="0">
                <a:latin typeface="宋体" panose="02010600030101010101" pitchFamily="2" charset="-122"/>
              </a:rPr>
              <a:t>P</a:t>
            </a:r>
            <a:r>
              <a:rPr lang="en-GB" altLang="en-US" b="1" dirty="0">
                <a:latin typeface="宋体" panose="02010600030101010101" pitchFamily="2" charset="-122"/>
              </a:rPr>
              <a:t>rotocol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2C86FF-A43F-4F4B-B4EB-1EB10398330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609600" y="307977"/>
            <a:ext cx="8540750" cy="762000"/>
          </a:xfrm>
        </p:spPr>
        <p:txBody>
          <a:bodyPr/>
          <a:lstStyle/>
          <a:p>
            <a:pPr algn="l"/>
            <a:r>
              <a:rPr lang="en-GB" altLang="zh-CN" sz="3200" b="1" dirty="0">
                <a:solidFill>
                  <a:srgbClr val="C00000"/>
                </a:solidFill>
              </a:rPr>
              <a:t>1. HTTP </a:t>
            </a:r>
            <a:r>
              <a:rPr lang="en-US" altLang="zh-CN" sz="3200" b="1" dirty="0">
                <a:solidFill>
                  <a:srgbClr val="C00000"/>
                </a:solidFill>
              </a:rPr>
              <a:t>Protocol</a:t>
            </a:r>
            <a:endParaRPr lang="en-GB" altLang="en-US" sz="3200" b="1" dirty="0">
              <a:solidFill>
                <a:srgbClr val="C00000"/>
              </a:solidFill>
            </a:endParaRPr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>
          <a:xfrm>
            <a:off x="381000" y="1295401"/>
            <a:ext cx="11125200" cy="4498975"/>
          </a:xfrm>
        </p:spPr>
        <p:txBody>
          <a:bodyPr/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GB" altLang="en-US" sz="2400" dirty="0"/>
              <a:t>HTTP </a:t>
            </a:r>
            <a:endParaRPr lang="en-US" altLang="zh-CN" sz="2400" dirty="0"/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GB" altLang="en-US" sz="2800" dirty="0"/>
              <a:t>Defines how </a:t>
            </a:r>
            <a:r>
              <a:rPr lang="en-GB" altLang="zh-CN" sz="2800" dirty="0">
                <a:solidFill>
                  <a:srgbClr val="3477FF"/>
                </a:solidFill>
              </a:rPr>
              <a:t>web </a:t>
            </a:r>
            <a:r>
              <a:rPr lang="en-GB" altLang="en-US" sz="2800" dirty="0">
                <a:solidFill>
                  <a:srgbClr val="3477FF"/>
                </a:solidFill>
              </a:rPr>
              <a:t>clients communicate with servers and how data is transferred between servers </a:t>
            </a:r>
            <a:r>
              <a:rPr lang="en-US" altLang="en-US" sz="2800" dirty="0">
                <a:solidFill>
                  <a:srgbClr val="3477FF"/>
                </a:solidFill>
              </a:rPr>
              <a:t>and</a:t>
            </a:r>
            <a:r>
              <a:rPr lang="en-GB" altLang="en-US" sz="2800" dirty="0">
                <a:solidFill>
                  <a:srgbClr val="3477FF"/>
                </a:solidFill>
              </a:rPr>
              <a:t> clients</a:t>
            </a:r>
            <a:endParaRPr lang="en-US" altLang="zh-CN" sz="2800" dirty="0">
              <a:solidFill>
                <a:srgbClr val="3477FF"/>
              </a:solidFill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GB" altLang="zh-CN" sz="2400" dirty="0"/>
              <a:t>It </a:t>
            </a:r>
            <a:r>
              <a:rPr lang="en-GB" altLang="en-US" sz="2800" dirty="0"/>
              <a:t>can transfer </a:t>
            </a:r>
            <a:r>
              <a:rPr lang="en-GB" altLang="zh-CN" sz="2400" dirty="0"/>
              <a:t>TIFF </a:t>
            </a:r>
            <a:r>
              <a:rPr lang="en-GB" altLang="en-US" sz="2400" dirty="0"/>
              <a:t>images </a:t>
            </a:r>
            <a:r>
              <a:rPr lang="en-GB" altLang="zh-CN" sz="2400" dirty="0"/>
              <a:t>/Ms</a:t>
            </a:r>
            <a:r>
              <a:rPr lang="en-US" altLang="zh-CN" sz="2400" dirty="0"/>
              <a:t>W</a:t>
            </a:r>
            <a:r>
              <a:rPr lang="en-GB" altLang="zh-CN" sz="2400" dirty="0"/>
              <a:t>ord </a:t>
            </a:r>
            <a:r>
              <a:rPr lang="en-GB" altLang="en-US" sz="2400" dirty="0"/>
              <a:t>documents, </a:t>
            </a:r>
            <a:r>
              <a:rPr lang="en-GB" altLang="zh-CN" sz="2400" dirty="0"/>
              <a:t>Windows </a:t>
            </a:r>
            <a:r>
              <a:rPr lang="en-GB" altLang="en-US" sz="2400" dirty="0"/>
              <a:t>.exe files, and </a:t>
            </a:r>
            <a:r>
              <a:rPr lang="en-GB" altLang="en-US" sz="2800" dirty="0"/>
              <a:t>anything that can be represented by bytes.</a:t>
            </a:r>
            <a:endParaRPr lang="en-US" altLang="zh-CN" sz="2800" dirty="0"/>
          </a:p>
        </p:txBody>
      </p:sp>
      <p:sp>
        <p:nvSpPr>
          <p:cNvPr id="8196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460B81E-2A6F-4488-9186-2B15E768DE0D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zh-CN" b="1" dirty="0">
                <a:latin typeface="宋体" panose="02010600030101010101" pitchFamily="2" charset="-122"/>
              </a:rPr>
              <a:t>2.HTTP </a:t>
            </a:r>
            <a:r>
              <a:rPr lang="en-GB" altLang="en-US" b="1" dirty="0">
                <a:latin typeface="宋体" panose="02010600030101010101" pitchFamily="2" charset="-122"/>
              </a:rPr>
              <a:t>Request and Response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2C86FF-A43F-4F4B-B4EB-1EB10398330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457200" y="134937"/>
            <a:ext cx="11332634" cy="615950"/>
          </a:xfrm>
        </p:spPr>
        <p:txBody>
          <a:bodyPr/>
          <a:lstStyle/>
          <a:p>
            <a:r>
              <a:rPr lang="en-GB" altLang="zh-CN" sz="3200" b="1" dirty="0"/>
              <a:t>HTTP</a:t>
            </a:r>
            <a:r>
              <a:rPr lang="en-GB" altLang="en-US" sz="3200" b="1" dirty="0"/>
              <a:t>​</a:t>
            </a:r>
            <a:endParaRPr lang="en-GB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723178"/>
            <a:ext cx="11810999" cy="3086822"/>
          </a:xfrm>
        </p:spPr>
        <p:txBody>
          <a:bodyPr/>
          <a:lstStyle/>
          <a:p>
            <a:r>
              <a:rPr lang="en-GB" altLang="en-US" sz="2400" dirty="0"/>
              <a:t> </a:t>
            </a:r>
            <a:r>
              <a:rPr lang="en-US" altLang="en-US" sz="2400" dirty="0"/>
              <a:t>Standard protocol for communication between web browsers &lt;-&gt; web servers</a:t>
            </a:r>
            <a:endParaRPr lang="en-GB" altLang="en-US" sz="2400" dirty="0"/>
          </a:p>
          <a:p>
            <a:pPr marL="657225" lvl="1" indent="-457200">
              <a:buFont typeface="Arial" panose="020B0604020202020204" pitchFamily="34" charset="0"/>
              <a:buAutoNum type="arabicPeriod"/>
            </a:pPr>
            <a:r>
              <a:rPr lang="en-GB" altLang="en-US" sz="2000" dirty="0">
                <a:solidFill>
                  <a:srgbClr val="FF0000"/>
                </a:solidFill>
              </a:rPr>
              <a:t>The client connects to the server </a:t>
            </a:r>
            <a:r>
              <a:rPr lang="en-US" altLang="en-US" sz="2000" dirty="0">
                <a:solidFill>
                  <a:srgbClr val="FF0000"/>
                </a:solidFill>
              </a:rPr>
              <a:t>at </a:t>
            </a:r>
            <a:r>
              <a:rPr lang="en-GB" altLang="en-US" sz="2000" dirty="0">
                <a:solidFill>
                  <a:srgbClr val="FF0000"/>
                </a:solidFill>
              </a:rPr>
              <a:t>port </a:t>
            </a:r>
            <a:r>
              <a:rPr lang="en-GB" altLang="zh-CN" sz="2000" dirty="0">
                <a:solidFill>
                  <a:srgbClr val="FF0000"/>
                </a:solidFill>
              </a:rPr>
              <a:t>80 </a:t>
            </a:r>
            <a:r>
              <a:rPr lang="en-GB" altLang="en-US" sz="2000" dirty="0">
                <a:solidFill>
                  <a:srgbClr val="FF0000"/>
                </a:solidFill>
              </a:rPr>
              <a:t>;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657225" lvl="1" indent="-457200">
              <a:buFont typeface="Arial" panose="020B0604020202020204" pitchFamily="34" charset="0"/>
              <a:buAutoNum type="arabicPeriod"/>
            </a:pPr>
            <a:r>
              <a:rPr lang="en-GB" altLang="en-US" sz="2000" dirty="0">
                <a:solidFill>
                  <a:srgbClr val="3477FF"/>
                </a:solidFill>
              </a:rPr>
              <a:t>Client sends request</a:t>
            </a:r>
            <a:endParaRPr lang="en-US" altLang="zh-CN" sz="2000" dirty="0">
              <a:solidFill>
                <a:srgbClr val="3477FF"/>
              </a:solidFill>
            </a:endParaRPr>
          </a:p>
          <a:p>
            <a:pPr marL="657225" lvl="1" indent="-457200">
              <a:buFont typeface="Arial" panose="020B0604020202020204" pitchFamily="34" charset="0"/>
              <a:buAutoNum type="arabicPeriod"/>
            </a:pPr>
            <a:r>
              <a:rPr lang="en-GB" altLang="en-US" sz="2000" dirty="0">
                <a:solidFill>
                  <a:srgbClr val="3477FF"/>
                </a:solidFill>
              </a:rPr>
              <a:t>The server sends a response</a:t>
            </a:r>
            <a:endParaRPr lang="en-US" altLang="zh-CN" sz="2000" dirty="0">
              <a:solidFill>
                <a:srgbClr val="3477FF"/>
              </a:solidFill>
            </a:endParaRPr>
          </a:p>
          <a:p>
            <a:pPr marL="657225" lvl="1" indent="-457200">
              <a:buFont typeface="Arial" panose="020B0604020202020204" pitchFamily="34" charset="0"/>
              <a:buAutoNum type="arabicPeriod"/>
            </a:pPr>
            <a:r>
              <a:rPr lang="en-GB" altLang="en-US" sz="2000" dirty="0">
                <a:solidFill>
                  <a:srgbClr val="FF0000"/>
                </a:solidFill>
              </a:rPr>
              <a:t>Server closed the connection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en-US" sz="2400" dirty="0"/>
              <a:t>In HTTP1.1, steps 2 and 3 can be repeated multiple times.</a:t>
            </a:r>
            <a:endParaRPr lang="en-US" altLang="en-US" sz="2400" dirty="0"/>
          </a:p>
          <a:p>
            <a:pPr lvl="1"/>
            <a:r>
              <a:rPr lang="en-GB" altLang="en-US" sz="2000" dirty="0"/>
              <a:t>Because establishing a connection is expensive</a:t>
            </a:r>
            <a:endParaRPr lang="en-GB" altLang="en-US" sz="2000" dirty="0"/>
          </a:p>
          <a:p>
            <a:pPr lvl="1"/>
            <a:r>
              <a:rPr lang="en-GB" altLang="en-US" sz="2000" dirty="0"/>
              <a:t>it is too expensive to establish a connection for each request</a:t>
            </a:r>
            <a:endParaRPr lang="en-GB" altLang="en-US" sz="2000" dirty="0"/>
          </a:p>
        </p:txBody>
      </p:sp>
      <p:sp>
        <p:nvSpPr>
          <p:cNvPr id="922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88ED64-12A9-4DB8-9EAF-38E7CB32B973}" type="slidenum">
              <a:rPr lang="en-US" altLang="zh-CN" sz="1400"/>
            </a:fld>
            <a:endParaRPr lang="en-US" altLang="zh-CN" sz="1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944168"/>
            <a:ext cx="10744200" cy="25207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>
          <a:xfrm>
            <a:off x="1739131" y="320674"/>
            <a:ext cx="8540750" cy="671513"/>
          </a:xfrm>
        </p:spPr>
        <p:txBody>
          <a:bodyPr/>
          <a:lstStyle/>
          <a:p>
            <a:r>
              <a:rPr lang="en-US" altLang="zh-CN" sz="4000" b="1" dirty="0"/>
              <a:t>How </a:t>
            </a:r>
            <a:r>
              <a:rPr lang="en-GB" altLang="zh-CN" sz="4000" b="1" dirty="0"/>
              <a:t>HTTP W</a:t>
            </a:r>
            <a:r>
              <a:rPr lang="en-GB" altLang="en-US" sz="4000" b="1" dirty="0"/>
              <a:t>orks</a:t>
            </a:r>
            <a:endParaRPr lang="en-GB" altLang="en-US" sz="4000" b="1" dirty="0"/>
          </a:p>
        </p:txBody>
      </p:sp>
      <p:sp>
        <p:nvSpPr>
          <p:cNvPr id="7" name="内容占位符 4"/>
          <p:cNvSpPr>
            <a:spLocks noGrp="1"/>
          </p:cNvSpPr>
          <p:nvPr>
            <p:ph idx="1"/>
          </p:nvPr>
        </p:nvSpPr>
        <p:spPr>
          <a:xfrm>
            <a:off x="152400" y="1066800"/>
            <a:ext cx="11887199" cy="5244306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 2" panose="05020102010507070707" pitchFamily="18" charset="2"/>
              <a:buNone/>
            </a:pPr>
            <a:r>
              <a:rPr lang="en-GB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concept of </a:t>
            </a:r>
            <a:r>
              <a:rPr lang="en-GB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stateless protocol</a:t>
            </a:r>
            <a:endParaRPr lang="en-GB" altLang="zh-C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uses the connection-oriented </a:t>
            </a:r>
            <a:r>
              <a:rPr lang="en-GB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protocol </a:t>
            </a:r>
            <a:r>
              <a:rPr lang="en-GB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the client web browser uses to </a:t>
            </a:r>
            <a:r>
              <a:rPr lang="en-GB" altLang="zh-CN" sz="2800" dirty="0">
                <a:solidFill>
                  <a:srgbClr val="3477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 a TCP connection </a:t>
            </a:r>
            <a:r>
              <a:rPr lang="en-GB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web server .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TCP connection is established, </a:t>
            </a:r>
            <a:r>
              <a:rPr lang="en-GB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browser</a:t>
            </a:r>
            <a:r>
              <a:rPr lang="en-GB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sends an HTTP request message and receives a response message . </a:t>
            </a:r>
            <a:r>
              <a:rPr lang="en-GB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 server</a:t>
            </a:r>
            <a:r>
              <a:rPr lang="en-GB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receives the HTTP request message and sends a response message .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provides reliable services </a:t>
            </a: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that the </a:t>
            </a:r>
            <a:r>
              <a:rPr lang="en-GB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request sent by the client process reaches the server </a:t>
            </a: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correctly . The </a:t>
            </a:r>
            <a:r>
              <a:rPr lang="en-GB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response message sent by the server process also reaches the client </a:t>
            </a: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correctly </a:t>
            </a:r>
            <a:r>
              <a:rPr lang="en-GB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 sends an HTTP response message  and it does not save any request status information of the browser </a:t>
            </a: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(i,e </a:t>
            </a:r>
            <a:r>
              <a:rPr lang="en-GB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</a:t>
            </a: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stateless protocol )</a:t>
            </a:r>
            <a:endParaRPr lang="zh-CN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9D03C6-B55A-488C-9E35-09C2FAC1ABCE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28600" y="989012"/>
            <a:ext cx="7467600" cy="54571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1" hangingPunct="1">
              <a:buFont typeface="+mj-lt"/>
              <a:buAutoNum type="arabicPeriod"/>
            </a:pPr>
            <a:r>
              <a:rPr lang="en-GB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protocol has two states: </a:t>
            </a:r>
            <a:r>
              <a:rPr lang="en-GB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 persistent connection </a:t>
            </a: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GB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connections</a:t>
            </a:r>
            <a:endParaRPr lang="en-GB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GB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Non-persistent connections </a:t>
            </a:r>
            <a:r>
              <a:rPr lang="en-GB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GB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 1.0 </a:t>
            </a:r>
            <a:r>
              <a:rPr lang="en-GB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GB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connection is established for each request / response.</a:t>
            </a:r>
            <a:endParaRPr lang="en-GB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if </a:t>
            </a:r>
            <a:r>
              <a:rPr lang="en-GB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 page includes an HTML file and 105 GIF image files (106 </a:t>
            </a: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 </a:t>
            </a:r>
            <a:r>
              <a:rPr lang="en-GB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, </a:t>
            </a: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 repeats the steps (shown in the figure on the right)</a:t>
            </a: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all the 106 objects:</a:t>
            </a:r>
            <a:endParaRPr lang="en-GB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zh-CN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Disadvantage</a:t>
            </a:r>
            <a:r>
              <a:rPr lang="en-GB" altLang="zh-CN" sz="2800" dirty="0">
                <a:cs typeface="Times New Roman" panose="02020603050405020304" pitchFamily="18" charset="0"/>
              </a:rPr>
              <a:t>: </a:t>
            </a:r>
            <a:r>
              <a:rPr lang="en-GB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TCP connection must be established and maintained for each request object.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6225" y="493063"/>
            <a:ext cx="4067175" cy="5953125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492058" y="228600"/>
            <a:ext cx="8540750" cy="671513"/>
          </a:xfrm>
        </p:spPr>
        <p:txBody>
          <a:bodyPr/>
          <a:lstStyle/>
          <a:p>
            <a:r>
              <a:rPr lang="en-US" altLang="zh-CN" sz="3600" b="1" dirty="0"/>
              <a:t>How </a:t>
            </a:r>
            <a:r>
              <a:rPr lang="en-GB" altLang="zh-CN" sz="3600" b="1" dirty="0"/>
              <a:t>HTTP W</a:t>
            </a:r>
            <a:r>
              <a:rPr lang="en-GB" altLang="en-US" sz="3600" b="1" dirty="0"/>
              <a:t>orks</a:t>
            </a:r>
            <a:endParaRPr lang="en-GB" altLang="en-US" sz="36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4D57A8-91E4-49FB-A233-6545E04E6FFB}" type="slidenum">
              <a:rPr lang="en-US" altLang="zh-CN" sz="1400"/>
            </a:fld>
            <a:endParaRPr lang="en-US" altLang="zh-CN" sz="1400"/>
          </a:p>
        </p:txBody>
      </p:sp>
      <p:sp>
        <p:nvSpPr>
          <p:cNvPr id="5" name="标题 1"/>
          <p:cNvSpPr txBox="1"/>
          <p:nvPr/>
        </p:nvSpPr>
        <p:spPr bwMode="auto">
          <a:xfrm>
            <a:off x="1695258" y="157307"/>
            <a:ext cx="8540750" cy="6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kern="0"/>
              <a:t>How </a:t>
            </a:r>
            <a:r>
              <a:rPr lang="en-GB" altLang="zh-CN" sz="3200" b="1" kern="0"/>
              <a:t>HTTP W</a:t>
            </a:r>
            <a:r>
              <a:rPr lang="en-GB" altLang="en-US" sz="3200" b="1" kern="0"/>
              <a:t>orks</a:t>
            </a:r>
            <a:endParaRPr lang="en-GB" altLang="en-US" sz="3200" b="1" kern="0" dirty="0"/>
          </a:p>
        </p:txBody>
      </p:sp>
      <p:sp>
        <p:nvSpPr>
          <p:cNvPr id="4" name="Rectangle 3"/>
          <p:cNvSpPr/>
          <p:nvPr/>
        </p:nvSpPr>
        <p:spPr>
          <a:xfrm>
            <a:off x="228600" y="990600"/>
            <a:ext cx="11561234" cy="5353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1030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Persistent Connections (HTTP/1.1) : </a:t>
            </a:r>
            <a:r>
              <a:rPr lang="en-US" sz="14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Persistent connections allow </a:t>
            </a:r>
            <a:r>
              <a:rPr lang="en-US" sz="14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multiple HTTP requests/responses</a:t>
            </a:r>
            <a:r>
              <a:rPr lang="en-US" sz="14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to be sent over a </a:t>
            </a:r>
            <a:r>
              <a:rPr lang="en-US" sz="14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single TCP connection</a:t>
            </a:r>
            <a:r>
              <a:rPr lang="en-US" sz="14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without reopening it for each transaction.</a:t>
            </a:r>
            <a:endParaRPr lang="en-US" sz="1400" dirty="0">
              <a:solidFill>
                <a:srgbClr val="404040"/>
              </a:solidFill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1030"/>
              </a:spcAft>
              <a:buFont typeface="Wingdings" panose="05000000000000000000" pitchFamily="2" charset="2"/>
              <a:buChar char="v"/>
            </a:pPr>
            <a:r>
              <a:rPr lang="en-US" sz="14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14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 webpage with </a:t>
            </a:r>
            <a:r>
              <a:rPr lang="en-US" sz="14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HTML file + 8 images</a:t>
            </a:r>
            <a:r>
              <a:rPr lang="en-US" sz="14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can fetch all resources over </a:t>
            </a:r>
            <a:r>
              <a:rPr lang="en-US" sz="14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TCP connection</a:t>
            </a:r>
            <a:r>
              <a:rPr lang="en-US" sz="14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(vs. HTTP/1.0, which required 9 separate connections).</a:t>
            </a:r>
            <a:endParaRPr lang="en-US" sz="1400" dirty="0">
              <a:solidFill>
                <a:srgbClr val="404040"/>
              </a:solidFill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1400" b="1" dirty="0">
                <a:highlight>
                  <a:srgbClr val="FFFF00"/>
                </a:highlight>
              </a:rPr>
              <a:t>Non-Pipelined (Default in HTTP/1.1)</a:t>
            </a:r>
            <a:r>
              <a:rPr lang="en-US" sz="1400" b="1" dirty="0"/>
              <a:t> </a:t>
            </a:r>
            <a:r>
              <a:rPr lang="en-US" sz="1400" dirty="0"/>
              <a:t>: The client must </a:t>
            </a:r>
            <a:r>
              <a:rPr lang="en-US" sz="1400" b="1" dirty="0"/>
              <a:t>wait for a response</a:t>
            </a:r>
            <a:r>
              <a:rPr lang="en-US" sz="1400" dirty="0"/>
              <a:t> before sending the next request.</a:t>
            </a:r>
            <a:r>
              <a:rPr lang="zh-CN" altLang="en-US" sz="1400" dirty="0"/>
              <a:t>【非管道化】</a:t>
            </a:r>
            <a:endParaRPr lang="en-US" sz="1400" dirty="0"/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1400" b="1" dirty="0"/>
              <a:t>Sequential</a:t>
            </a:r>
            <a:r>
              <a:rPr lang="zh-CN" altLang="en-US" sz="1400" b="1" dirty="0"/>
              <a:t>【顺序】</a:t>
            </a:r>
            <a:r>
              <a:rPr lang="en-US" sz="1400" b="1" dirty="0"/>
              <a:t> processing</a:t>
            </a:r>
            <a:r>
              <a:rPr lang="en-US" sz="1400" dirty="0"/>
              <a:t>:</a:t>
            </a:r>
            <a:endParaRPr lang="en-US" sz="1200" dirty="0"/>
          </a:p>
          <a:p>
            <a:pPr marL="742950" lvl="1" indent="-285750" latinLnBrk="1">
              <a:buFont typeface="Wingdings" panose="05000000000000000000" pitchFamily="2" charset="2"/>
              <a:buChar char="v"/>
            </a:pPr>
            <a:r>
              <a:rPr lang="en-US" sz="1400" dirty="0"/>
              <a:t>Client: GET /index.html → Server: HTML  </a:t>
            </a:r>
            <a:endParaRPr lang="en-US" dirty="0"/>
          </a:p>
          <a:p>
            <a:pPr marL="742950" lvl="1" indent="-285750" latinLnBrk="1">
              <a:buFont typeface="Wingdings" panose="05000000000000000000" pitchFamily="2" charset="2"/>
              <a:buChar char="v"/>
            </a:pPr>
            <a:r>
              <a:rPr lang="en-US" sz="1400" dirty="0"/>
              <a:t>Client: GET /img1.jpg  → Server: Image  </a:t>
            </a:r>
            <a:endParaRPr lang="en-US" dirty="0"/>
          </a:p>
          <a:p>
            <a:pPr marL="742950" lvl="1" indent="-285750" latinLnBrk="1">
              <a:buFont typeface="Wingdings" panose="05000000000000000000" pitchFamily="2" charset="2"/>
              <a:buChar char="v"/>
            </a:pPr>
            <a:r>
              <a:rPr lang="en-US" sz="1400" dirty="0"/>
              <a:t>Client: GET /img2.jpg  → Server: Image  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400" b="1" dirty="0"/>
              <a:t>Advantage</a:t>
            </a:r>
            <a:r>
              <a:rPr lang="en-US" sz="1400" dirty="0"/>
              <a:t>: Simple, avoids congestion.</a:t>
            </a:r>
            <a:endParaRPr lang="en-US" sz="1200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400" b="1" dirty="0"/>
              <a:t>Disadvantage</a:t>
            </a:r>
            <a:r>
              <a:rPr lang="en-US" sz="1400" dirty="0"/>
              <a:t>: Slower due to </a:t>
            </a:r>
            <a:r>
              <a:rPr lang="en-US" sz="1400" b="1" dirty="0"/>
              <a:t>head-of-line blocking</a:t>
            </a:r>
            <a:r>
              <a:rPr lang="en-US" sz="1400" dirty="0"/>
              <a:t>.</a:t>
            </a:r>
            <a:endParaRPr lang="en-US" sz="1400" dirty="0"/>
          </a:p>
          <a:p>
            <a:pPr lvl="1"/>
            <a:endParaRPr lang="en-US" sz="1200" dirty="0"/>
          </a:p>
          <a:p>
            <a:r>
              <a:rPr lang="en-US" sz="1400" b="1" dirty="0"/>
              <a:t>2.</a:t>
            </a:r>
            <a:r>
              <a:rPr lang="en-US" sz="1400" b="1" dirty="0">
                <a:highlight>
                  <a:srgbClr val="FFFF00"/>
                </a:highlight>
              </a:rPr>
              <a:t> Pipelined (Optional in HTTP/1.1) </a:t>
            </a:r>
            <a:r>
              <a:rPr lang="en-US" sz="1400" dirty="0">
                <a:highlight>
                  <a:srgbClr val="FFFF00"/>
                </a:highlight>
              </a:rPr>
              <a:t>:</a:t>
            </a:r>
            <a:r>
              <a:rPr lang="en-US" sz="1400" dirty="0"/>
              <a:t> The client sends </a:t>
            </a:r>
            <a:r>
              <a:rPr lang="en-US" sz="1400" b="1" dirty="0"/>
              <a:t>multiple requests back-to-back</a:t>
            </a:r>
            <a:r>
              <a:rPr lang="en-US" sz="1400" dirty="0"/>
              <a:t> without waiting for responses.</a:t>
            </a:r>
            <a:r>
              <a:rPr lang="zh-CN" altLang="en-US" sz="1400" dirty="0"/>
              <a:t>【管道化】</a:t>
            </a:r>
            <a:endParaRPr lang="en-US" sz="1200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400" b="1" dirty="0"/>
              <a:t>Parallel-like processing</a:t>
            </a:r>
            <a:r>
              <a:rPr lang="en-US" sz="1400" dirty="0"/>
              <a:t>:</a:t>
            </a:r>
            <a:endParaRPr lang="en-US" sz="1200" dirty="0"/>
          </a:p>
          <a:p>
            <a:pPr marL="742950" lvl="1" indent="-285750" latinLnBrk="1">
              <a:buFont typeface="Wingdings" panose="05000000000000000000" pitchFamily="2" charset="2"/>
              <a:buChar char="v"/>
            </a:pPr>
            <a:r>
              <a:rPr lang="en-US" sz="1400" b="1" dirty="0"/>
              <a:t>Client: GET /index.html  </a:t>
            </a:r>
            <a:endParaRPr lang="en-US" sz="1400" b="1" dirty="0"/>
          </a:p>
          <a:p>
            <a:pPr marL="742950" lvl="1" indent="-285750" latinLnBrk="1">
              <a:buFont typeface="Wingdings" panose="05000000000000000000" pitchFamily="2" charset="2"/>
              <a:buChar char="v"/>
            </a:pPr>
            <a:r>
              <a:rPr lang="en-US" sz="1400" b="1" dirty="0"/>
              <a:t>GET /img1.jpg  </a:t>
            </a:r>
            <a:endParaRPr lang="en-US" sz="1400" b="1" dirty="0"/>
          </a:p>
          <a:p>
            <a:pPr marL="742950" lvl="1" indent="-285750" latinLnBrk="1">
              <a:buFont typeface="Wingdings" panose="05000000000000000000" pitchFamily="2" charset="2"/>
              <a:buChar char="v"/>
            </a:pPr>
            <a:r>
              <a:rPr lang="en-US" sz="1400" b="1" dirty="0"/>
              <a:t>GET /img2.jpg  </a:t>
            </a:r>
            <a:endParaRPr lang="en-US" sz="1400" b="1" dirty="0"/>
          </a:p>
          <a:p>
            <a:pPr marL="742950" lvl="1" indent="-285750" latinLnBrk="1">
              <a:buFont typeface="Wingdings" panose="05000000000000000000" pitchFamily="2" charset="2"/>
              <a:buChar char="v"/>
            </a:pPr>
            <a:r>
              <a:rPr lang="en-US" sz="1400" b="1" dirty="0"/>
              <a:t>Server: HTML → Image1 → Image2  </a:t>
            </a:r>
            <a:endParaRPr lang="en-US" sz="1400" b="1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400" b="1" dirty="0"/>
              <a:t>Advantage: Reduces latency (fewer round trips).</a:t>
            </a:r>
            <a:endParaRPr lang="en-US" sz="1400" b="1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400" b="1" dirty="0"/>
              <a:t>Disadvantage:</a:t>
            </a:r>
            <a:endParaRPr lang="en-US" sz="1400" b="1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400" b="1" dirty="0"/>
              <a:t>Servers must preserve response order (complexity).</a:t>
            </a:r>
            <a:endParaRPr lang="en-US" sz="1400" b="1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400" b="1" dirty="0"/>
              <a:t>Rarely used due to implementation</a:t>
            </a:r>
            <a:r>
              <a:rPr lang="zh-CN" altLang="en-US" sz="1400" b="1" dirty="0"/>
              <a:t>【执行】</a:t>
            </a:r>
            <a:r>
              <a:rPr lang="en-US" sz="1400" b="1" dirty="0"/>
              <a:t> challenges and HTTP/2’s multiplexing.</a:t>
            </a:r>
            <a:endParaRPr lang="en-US" sz="1400" b="1" dirty="0"/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1030"/>
              </a:spcAft>
              <a:buFont typeface="Wingdings" panose="05000000000000000000" pitchFamily="2" charset="2"/>
              <a:buChar char="v"/>
            </a:pPr>
            <a:endParaRPr lang="en-US" sz="12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77F0BD-8E91-49F6-9AC9-77A8A9EEA725}" type="slidenum">
              <a:rPr lang="en-US" altLang="zh-CN" smtClean="0"/>
            </a:fld>
            <a:endParaRPr lang="en-US" altLang="zh-CN"/>
          </a:p>
        </p:txBody>
      </p:sp>
      <p:sp>
        <p:nvSpPr>
          <p:cNvPr id="5" name="Rectangle 4"/>
          <p:cNvSpPr/>
          <p:nvPr/>
        </p:nvSpPr>
        <p:spPr>
          <a:xfrm>
            <a:off x="277283" y="304800"/>
            <a:ext cx="11637434" cy="5872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2. HTTP/2 (2015) Key Improvements:</a:t>
            </a:r>
            <a:endParaRPr lang="en-US" sz="2400" b="1" dirty="0"/>
          </a:p>
          <a:p>
            <a:endParaRPr lang="en-US" sz="2000" dirty="0"/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2000" dirty="0"/>
              <a:t>Multiplexing</a:t>
            </a:r>
            <a:r>
              <a:rPr lang="zh-CN" altLang="en-US" sz="2000" dirty="0"/>
              <a:t>【多路复用】</a:t>
            </a:r>
            <a:r>
              <a:rPr lang="en-US" sz="2000" dirty="0"/>
              <a:t>: Multiple requests/responses interleaved over one TCP connection.</a:t>
            </a:r>
            <a:endParaRPr lang="en-US" sz="2000" dirty="0"/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2000" dirty="0"/>
              <a:t>Solves HOL blocking at the application layer</a:t>
            </a:r>
            <a:r>
              <a:rPr lang="zh-CN" altLang="en-US" sz="2000" dirty="0"/>
              <a:t>【应用层】</a:t>
            </a:r>
            <a:r>
              <a:rPr lang="en-US" sz="2000" dirty="0"/>
              <a:t> (but not TCP layer).</a:t>
            </a:r>
            <a:endParaRPr lang="en-US" sz="2000" dirty="0"/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2000" dirty="0"/>
              <a:t>Header Compression (HPACK): Reduces overhead.</a:t>
            </a:r>
            <a:endParaRPr lang="en-US" sz="2000" dirty="0"/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2000" dirty="0"/>
              <a:t>Server Push: Proactively sends resources (e.g., CSS/JS) before client requests them.</a:t>
            </a:r>
            <a:endParaRPr lang="en-US" sz="2000" dirty="0"/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2000" dirty="0"/>
              <a:t>Binary Protocol: More efficient than HTTP/1.1’s text format.</a:t>
            </a:r>
            <a:endParaRPr lang="en-US" sz="2000" dirty="0"/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2000" dirty="0"/>
              <a:t>Example:</a:t>
            </a:r>
            <a:endParaRPr lang="en-US" sz="2000" dirty="0"/>
          </a:p>
          <a:p>
            <a:pPr marL="742950" lvl="1" indent="-285750"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2000" dirty="0"/>
              <a:t>Client: Requests HTML + CSS + JS in parallel  </a:t>
            </a:r>
            <a:endParaRPr lang="en-US" sz="2000" dirty="0"/>
          </a:p>
          <a:p>
            <a:pPr marL="742950" lvl="1" indent="-285750"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2000" dirty="0"/>
              <a:t>Server: Responds with interleaved chunks:  </a:t>
            </a:r>
            <a:endParaRPr lang="en-US" sz="2000" dirty="0"/>
          </a:p>
          <a:p>
            <a:pPr marL="742950" lvl="1" indent="-285750"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2000" dirty="0"/>
              <a:t>[HTML HEADERS][CSS DATA][JS DATA][HTML BODY]...</a:t>
            </a:r>
            <a:endParaRPr lang="en-US" sz="2000" dirty="0"/>
          </a:p>
          <a:p>
            <a:pPr marL="742950" lvl="1" indent="-285750"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2000" dirty="0"/>
              <a:t>Limitations:</a:t>
            </a:r>
            <a:endParaRPr lang="en-US" sz="2000" dirty="0"/>
          </a:p>
          <a:p>
            <a:pPr marL="742950" lvl="1" indent="-285750"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2000" dirty="0"/>
              <a:t>Still relies on TCP, which has HOL blocking at the transport layer.</a:t>
            </a:r>
            <a:endParaRPr lang="en-US" sz="2000" dirty="0"/>
          </a:p>
          <a:p>
            <a:pPr marL="742950" lvl="1" indent="-285750"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2000" dirty="0"/>
              <a:t>TCP’s congestion control can cause delays.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3E446E-572D-46B5-97A6-DA8BC88C21B2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2"/>
          <p:cNvSpPr/>
          <p:nvPr/>
        </p:nvSpPr>
        <p:spPr>
          <a:xfrm>
            <a:off x="533400" y="532426"/>
            <a:ext cx="10896600" cy="59532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</a:pPr>
            <a:r>
              <a:rPr lang="en-US" sz="24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HTTP/3 (QUIC) (2022)</a:t>
            </a:r>
            <a:endParaRPr lang="en-US" sz="20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Innovations</a:t>
            </a: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UDP-Based</a:t>
            </a: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Replaces TCP with </a:t>
            </a: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QUIC</a:t>
            </a: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(Quick UDP Internet Connections).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1371600" algn="l"/>
              </a:tabLst>
            </a:pP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Solves HOL blocking </a:t>
            </a: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entirely</a:t>
            </a: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(even at transport layer).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Built-in Encryption</a:t>
            </a: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TLS 1.3 is mandatory.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Connection Migration</a:t>
            </a: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Survives IP changes (e.g., Wi-Fi to cellular).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0-RTT Handshake</a:t>
            </a: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Faster reconnections for repeat visitors.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1030"/>
              </a:spcBef>
              <a:spcAft>
                <a:spcPts val="1030"/>
              </a:spcAft>
            </a:pP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Client: Establishes QUIC connection in 1-RTT (or 0-RTT for repeats).  </a:t>
            </a:r>
            <a:endParaRPr lang="en-US" sz="20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Server: Streams resources independently, even if packets are lost/delayed.  </a:t>
            </a:r>
            <a:endParaRPr lang="en-US" sz="20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1030"/>
              </a:spcAft>
              <a:buSzPts val="1000"/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Advantages:</a:t>
            </a:r>
            <a:endParaRPr lang="en-US" sz="1600" b="1" dirty="0">
              <a:solidFill>
                <a:srgbClr val="404040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Faster: Eliminates TCP’s bottlenecks.</a:t>
            </a:r>
            <a:endParaRPr lang="en-US" sz="1600" b="1" dirty="0">
              <a:solidFill>
                <a:srgbClr val="404040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More Resilient: Handles packet loss better.</a:t>
            </a:r>
            <a:endParaRPr lang="en-US" sz="1600" b="1" dirty="0">
              <a:solidFill>
                <a:srgbClr val="404040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内容占位符 2"/>
          <p:cNvSpPr>
            <a:spLocks noGrp="1"/>
          </p:cNvSpPr>
          <p:nvPr>
            <p:ph idx="1"/>
          </p:nvPr>
        </p:nvSpPr>
        <p:spPr>
          <a:xfrm>
            <a:off x="342900" y="1537855"/>
            <a:ext cx="115062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3600" dirty="0"/>
              <a:t>The </a:t>
            </a:r>
            <a:r>
              <a:rPr lang="en-GB" altLang="en-US" sz="3600" b="1" dirty="0"/>
              <a:t>Client Request </a:t>
            </a:r>
            <a:r>
              <a:rPr lang="en-US" altLang="en-US" sz="3600" b="1" dirty="0"/>
              <a:t>includes the following</a:t>
            </a:r>
            <a:r>
              <a:rPr lang="en-GB" altLang="en-US" sz="3600" dirty="0"/>
              <a:t>:</a:t>
            </a:r>
            <a:endParaRPr lang="en-US" altLang="zh-CN" sz="3600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p"/>
            </a:pPr>
            <a:r>
              <a:rPr lang="en-US" altLang="en-US" b="1" dirty="0"/>
              <a:t>Request line</a:t>
            </a:r>
            <a:r>
              <a:rPr lang="zh-CN" altLang="en-US" b="1" dirty="0"/>
              <a:t>【请求行】</a:t>
            </a:r>
            <a:r>
              <a:rPr lang="en-US" altLang="en-US" b="1" dirty="0"/>
              <a:t>: GET /szu.asp HTTP1.1</a:t>
            </a:r>
            <a:endParaRPr lang="en-US" altLang="en-US" b="1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p"/>
            </a:pPr>
            <a:r>
              <a:rPr lang="en-US" altLang="en-US" b="1" dirty="0"/>
              <a:t>HTTP header</a:t>
            </a:r>
            <a:r>
              <a:rPr lang="zh-CN" altLang="en-US" b="1" dirty="0"/>
              <a:t>【请求头】</a:t>
            </a:r>
            <a:r>
              <a:rPr lang="en-US" altLang="en-US" b="1" dirty="0"/>
              <a:t> containing metadata</a:t>
            </a:r>
            <a:endParaRPr lang="en-US" altLang="en-US" b="1" dirty="0"/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p"/>
            </a:pPr>
            <a:r>
              <a:rPr lang="en-US" altLang="en-US" sz="2000" b="1" dirty="0"/>
              <a:t>Format consists of  keyword: value</a:t>
            </a:r>
            <a:endParaRPr lang="en-US" altLang="en-US" sz="2000" b="1" dirty="0"/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p"/>
            </a:pPr>
            <a:r>
              <a:rPr lang="en-US" altLang="en-US" sz="2000" b="1" dirty="0"/>
              <a:t>Keyword and value must all be in  ASCII</a:t>
            </a:r>
            <a:endParaRPr lang="en-US" altLang="en-US" sz="2000" b="1" dirty="0"/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p"/>
            </a:pPr>
            <a:r>
              <a:rPr lang="en-US" altLang="en-US" sz="2000" b="1" dirty="0"/>
              <a:t>Line ends with \r\n</a:t>
            </a:r>
            <a:endParaRPr lang="en-US" altLang="en-US" sz="2000" b="1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p"/>
            </a:pPr>
            <a:r>
              <a:rPr lang="en-US" altLang="en-US" b="1" dirty="0"/>
              <a:t>Blank line</a:t>
            </a:r>
            <a:r>
              <a:rPr lang="zh-CN" altLang="en-US" b="1" dirty="0"/>
              <a:t>【空行】</a:t>
            </a:r>
            <a:endParaRPr lang="en-US" altLang="en-US" b="1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p"/>
            </a:pPr>
            <a:r>
              <a:rPr lang="en-US" altLang="en-US" b="1" dirty="0"/>
              <a:t>Body</a:t>
            </a:r>
            <a:r>
              <a:rPr lang="zh-CN" altLang="en-US" b="1" dirty="0"/>
              <a:t>【报文内容】</a:t>
            </a:r>
            <a:endParaRPr lang="zh-CN" altLang="en-US" b="1" dirty="0"/>
          </a:p>
        </p:txBody>
      </p:sp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1169194" y="457200"/>
            <a:ext cx="9853612" cy="565150"/>
          </a:xfrm>
        </p:spPr>
        <p:txBody>
          <a:bodyPr/>
          <a:lstStyle/>
          <a:p>
            <a:r>
              <a:rPr lang="en-GB" altLang="zh-CN" sz="3600" b="1" dirty="0"/>
              <a:t>HTTP </a:t>
            </a:r>
            <a:r>
              <a:rPr lang="en-GB" altLang="en-US" sz="3600" b="1" dirty="0"/>
              <a:t>Request and Response:</a:t>
            </a:r>
            <a:endParaRPr lang="zh-CN" altLang="en-US" sz="3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477000" y="1066800"/>
            <a:ext cx="4495800" cy="369332"/>
          </a:xfrm>
          <a:prstGeom prst="rect">
            <a:avLst/>
          </a:prstGeom>
          <a:solidFill>
            <a:schemeClr val="accent5">
              <a:lumMod val="90000"/>
            </a:schemeClr>
          </a:solidFill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GB" altLang="en-US" b="1" dirty="0"/>
              <a:t>Method</a:t>
            </a:r>
            <a:r>
              <a:rPr lang="en-GB" altLang="zh-CN" b="1" dirty="0"/>
              <a:t>  </a:t>
            </a:r>
            <a:r>
              <a:rPr lang="en-GB" altLang="en-US" b="1" dirty="0"/>
              <a:t>Resource path   </a:t>
            </a:r>
            <a:r>
              <a:rPr lang="en-GB" altLang="zh-CN" b="1" dirty="0"/>
              <a:t>HTTP </a:t>
            </a:r>
            <a:r>
              <a:rPr lang="en-GB" altLang="en-US" b="1" dirty="0"/>
              <a:t>version</a:t>
            </a:r>
            <a:endParaRPr lang="en-GB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306782"/>
            <a:ext cx="10363200" cy="1143000"/>
          </a:xfrm>
        </p:spPr>
        <p:txBody>
          <a:bodyPr/>
          <a:lstStyle/>
          <a:p>
            <a:r>
              <a:rPr lang="en-GB" altLang="zh-CN" b="1" dirty="0">
                <a:latin typeface="宋体" panose="02010600030101010101" pitchFamily="2" charset="-122"/>
              </a:rPr>
              <a:t>3.HTTP </a:t>
            </a:r>
            <a:r>
              <a:rPr lang="en-US" altLang="zh-CN" b="1" dirty="0">
                <a:latin typeface="宋体" panose="02010600030101010101" pitchFamily="2" charset="-122"/>
              </a:rPr>
              <a:t>Methods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2C86FF-A43F-4F4B-B4EB-1EB10398330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3E446E-572D-46B5-97A6-DA8BC88C21B2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01109" y="889575"/>
          <a:ext cx="11388725" cy="4027554"/>
        </p:xfrm>
        <a:graphic>
          <a:graphicData uri="http://schemas.openxmlformats.org/drawingml/2006/table">
            <a:tbl>
              <a:tblPr firstRow="1" firstCol="1" bandRow="1"/>
              <a:tblGrid>
                <a:gridCol w="1396037"/>
                <a:gridCol w="3688725"/>
                <a:gridCol w="1828800"/>
                <a:gridCol w="1371600"/>
                <a:gridCol w="3103563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Idempotent?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Safe?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Typical Response Codes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Retrieve a resource (read-only).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 Emoji" panose="020B0502040204020203" pitchFamily="34" charset="0"/>
                          <a:ea typeface="Times New Roman" panose="02020603050405020304" pitchFamily="18" charset="0"/>
                          <a:cs typeface="Segoe UI Emoji" panose="020B0502040204020203" pitchFamily="34" charset="0"/>
                        </a:rPr>
                        <a:t>✅</a:t>
                      </a: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Yes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 Emoji" panose="020B0502040204020203" pitchFamily="34" charset="0"/>
                          <a:ea typeface="Times New Roman" panose="02020603050405020304" pitchFamily="18" charset="0"/>
                          <a:cs typeface="Segoe UI Emoji" panose="020B0502040204020203" pitchFamily="34" charset="0"/>
                        </a:rPr>
                        <a:t>✅</a:t>
                      </a: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Yes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200 OK</a:t>
                      </a: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US" sz="1200" b="1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404 Not Found</a:t>
                      </a:r>
                      <a:endParaRPr lang="en-US" sz="1600" b="1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POST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Create a new resource or submit data (non-idempotent).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 Emoji" panose="020B0502040204020203" pitchFamily="34" charset="0"/>
                          <a:ea typeface="Times New Roman" panose="02020603050405020304" pitchFamily="18" charset="0"/>
                          <a:cs typeface="Segoe UI Emoji" panose="020B0502040204020203" pitchFamily="34" charset="0"/>
                        </a:rPr>
                        <a:t>❌</a:t>
                      </a: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No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 Emoji" panose="020B0502040204020203" pitchFamily="34" charset="0"/>
                          <a:ea typeface="Times New Roman" panose="02020603050405020304" pitchFamily="18" charset="0"/>
                          <a:cs typeface="Segoe UI Emoji" panose="020B0502040204020203" pitchFamily="34" charset="0"/>
                        </a:rPr>
                        <a:t>❌</a:t>
                      </a: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No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201 Created</a:t>
                      </a: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US" sz="1200" b="1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400 Bad Request</a:t>
                      </a:r>
                      <a:endParaRPr lang="en-US" sz="1600" b="1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Replace a resource (fully update).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 Emoji" panose="020B0502040204020203" pitchFamily="34" charset="0"/>
                          <a:ea typeface="Times New Roman" panose="02020603050405020304" pitchFamily="18" charset="0"/>
                          <a:cs typeface="Segoe UI Emoji" panose="020B0502040204020203" pitchFamily="34" charset="0"/>
                        </a:rPr>
                        <a:t>✅</a:t>
                      </a: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Yes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 Emoji" panose="020B0502040204020203" pitchFamily="34" charset="0"/>
                          <a:ea typeface="Times New Roman" panose="02020603050405020304" pitchFamily="18" charset="0"/>
                          <a:cs typeface="Segoe UI Emoji" panose="020B0502040204020203" pitchFamily="34" charset="0"/>
                        </a:rPr>
                        <a:t>❌</a:t>
                      </a: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No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200 OK</a:t>
                      </a: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US" sz="1200" b="1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204 No Content</a:t>
                      </a:r>
                      <a:endParaRPr lang="en-US" sz="1600" b="1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PATCH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Partially update a resource.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 Emoji" panose="020B0502040204020203" pitchFamily="34" charset="0"/>
                          <a:ea typeface="Times New Roman" panose="02020603050405020304" pitchFamily="18" charset="0"/>
                          <a:cs typeface="Segoe UI Emoji" panose="020B0502040204020203" pitchFamily="34" charset="0"/>
                        </a:rPr>
                        <a:t>❌</a:t>
                      </a: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No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 Emoji" panose="020B0502040204020203" pitchFamily="34" charset="0"/>
                          <a:ea typeface="Times New Roman" panose="02020603050405020304" pitchFamily="18" charset="0"/>
                          <a:cs typeface="Segoe UI Emoji" panose="020B0502040204020203" pitchFamily="34" charset="0"/>
                        </a:rPr>
                        <a:t>❌</a:t>
                      </a: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No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200 OK</a:t>
                      </a: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US" sz="1200" b="1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204 No Content</a:t>
                      </a:r>
                      <a:endParaRPr lang="en-US" sz="1600" b="1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DELETE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Remove a resource.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 Emoji" panose="020B0502040204020203" pitchFamily="34" charset="0"/>
                          <a:ea typeface="Times New Roman" panose="02020603050405020304" pitchFamily="18" charset="0"/>
                          <a:cs typeface="Segoe UI Emoji" panose="020B0502040204020203" pitchFamily="34" charset="0"/>
                        </a:rPr>
                        <a:t>✅</a:t>
                      </a: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Yes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 Emoji" panose="020B0502040204020203" pitchFamily="34" charset="0"/>
                          <a:ea typeface="Times New Roman" panose="02020603050405020304" pitchFamily="18" charset="0"/>
                          <a:cs typeface="Segoe UI Emoji" panose="020B0502040204020203" pitchFamily="34" charset="0"/>
                        </a:rPr>
                        <a:t>❌</a:t>
                      </a: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No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200 OK</a:t>
                      </a: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US" sz="1200" b="1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204 No Content</a:t>
                      </a:r>
                      <a:endParaRPr lang="en-US" sz="1600" b="1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HEAD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Retrieve metadata (headers only, no body).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 Emoji" panose="020B0502040204020203" pitchFamily="34" charset="0"/>
                          <a:ea typeface="Times New Roman" panose="02020603050405020304" pitchFamily="18" charset="0"/>
                          <a:cs typeface="Segoe UI Emoji" panose="020B0502040204020203" pitchFamily="34" charset="0"/>
                        </a:rPr>
                        <a:t>✅</a:t>
                      </a: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Yes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 Emoji" panose="020B0502040204020203" pitchFamily="34" charset="0"/>
                          <a:ea typeface="Times New Roman" panose="02020603050405020304" pitchFamily="18" charset="0"/>
                          <a:cs typeface="Segoe UI Emoji" panose="020B0502040204020203" pitchFamily="34" charset="0"/>
                        </a:rPr>
                        <a:t>✅</a:t>
                      </a: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Yes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200 OK</a:t>
                      </a:r>
                      <a:r>
                        <a:rPr lang="en-US" sz="1600" b="1" dirty="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(headers only)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OPTIONS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List supported methods for a resource.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 Emoji" panose="020B0502040204020203" pitchFamily="34" charset="0"/>
                          <a:ea typeface="Times New Roman" panose="02020603050405020304" pitchFamily="18" charset="0"/>
                          <a:cs typeface="Segoe UI Emoji" panose="020B0502040204020203" pitchFamily="34" charset="0"/>
                        </a:rPr>
                        <a:t>✅</a:t>
                      </a: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Yes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 Emoji" panose="020B0502040204020203" pitchFamily="34" charset="0"/>
                          <a:ea typeface="Times New Roman" panose="02020603050405020304" pitchFamily="18" charset="0"/>
                          <a:cs typeface="Segoe UI Emoji" panose="020B0502040204020203" pitchFamily="34" charset="0"/>
                        </a:rPr>
                        <a:t>✅</a:t>
                      </a:r>
                      <a:r>
                        <a:rPr lang="en-US" sz="16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Yes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962400" y="304800"/>
            <a:ext cx="35773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404040"/>
                </a:solidFill>
                <a:latin typeface="DeepSeek-CJK-patch"/>
              </a:rPr>
              <a:t>Core HTTP Methods</a:t>
            </a:r>
            <a:endParaRPr lang="en-US" sz="3200" b="0" i="0" dirty="0">
              <a:solidFill>
                <a:srgbClr val="404040"/>
              </a:solidFill>
              <a:effectLst/>
              <a:latin typeface="DeepSeek-CJK-patch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2636" y="5334000"/>
            <a:ext cx="11486091" cy="1204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1370"/>
              </a:spcBef>
              <a:spcAft>
                <a:spcPts val="1030"/>
              </a:spcAft>
            </a:pPr>
            <a:r>
              <a:rPr lang="en-US" sz="1600" b="1" dirty="0">
                <a:solidFill>
                  <a:srgbClr val="FF000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Idempotent Methods : Definition</a:t>
            </a:r>
            <a:r>
              <a:rPr lang="en-US" sz="1600" dirty="0">
                <a:solidFill>
                  <a:srgbClr val="FF000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Repeated identical requests produce the same result (e.g., </a:t>
            </a:r>
            <a:r>
              <a:rPr lang="en-US" sz="1400" b="1" dirty="0">
                <a:solidFill>
                  <a:srgbClr val="40404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US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400" b="1" dirty="0">
                <a:solidFill>
                  <a:srgbClr val="40404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PUT</a:t>
            </a:r>
            <a:r>
              <a:rPr lang="en-US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400" b="1" dirty="0">
                <a:solidFill>
                  <a:srgbClr val="40404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b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Calling </a:t>
            </a:r>
            <a:r>
              <a:rPr lang="en-US" sz="1200" b="1" dirty="0">
                <a:solidFill>
                  <a:srgbClr val="40404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DELETE /users/123</a:t>
            </a: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twice has the same effect as calling it once.</a:t>
            </a:r>
            <a:endParaRPr lang="en-US" sz="14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1370"/>
              </a:spcBef>
              <a:spcAft>
                <a:spcPts val="1030"/>
              </a:spcAft>
            </a:pPr>
            <a:r>
              <a:rPr lang="en-US" sz="1600" b="1" dirty="0">
                <a:solidFill>
                  <a:srgbClr val="FF0000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Safe Methods Definition: </a:t>
            </a: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Do not modify server state (e.g., GET, HEAD, OPTIONS).</a:t>
            </a:r>
            <a:endParaRPr lang="en-US" sz="1600" b="1" dirty="0">
              <a:solidFill>
                <a:srgbClr val="404040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>
          <a:xfrm>
            <a:off x="381000" y="108960"/>
            <a:ext cx="6905625" cy="609600"/>
          </a:xfrm>
        </p:spPr>
        <p:txBody>
          <a:bodyPr/>
          <a:lstStyle/>
          <a:p>
            <a:pPr algn="l"/>
            <a:r>
              <a:rPr lang="en-US" altLang="zh-CN" sz="3200" b="1" dirty="0"/>
              <a:t>Commonly used </a:t>
            </a:r>
            <a:r>
              <a:rPr lang="en-GB" altLang="zh-CN" sz="3200" b="1" dirty="0"/>
              <a:t>HTTP </a:t>
            </a:r>
            <a:r>
              <a:rPr lang="en-GB" altLang="en-US" sz="3200" b="1" dirty="0"/>
              <a:t>Method</a:t>
            </a:r>
            <a:endParaRPr lang="en-GB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599" y="711633"/>
            <a:ext cx="11686309" cy="1752600"/>
          </a:xfrm>
        </p:spPr>
        <p:txBody>
          <a:bodyPr/>
          <a:lstStyle/>
          <a:p>
            <a:r>
              <a:rPr lang="en-GB" altLang="zh-CN" sz="2800" b="1" dirty="0"/>
              <a:t>The four commonly used </a:t>
            </a:r>
            <a:r>
              <a:rPr lang="en-GB" altLang="en-US" sz="2800" b="1" dirty="0"/>
              <a:t>methods are </a:t>
            </a:r>
            <a:r>
              <a:rPr lang="en-GB" altLang="en-US" sz="2400" dirty="0">
                <a:solidFill>
                  <a:srgbClr val="FF0000"/>
                </a:solidFill>
              </a:rPr>
              <a:t>: </a:t>
            </a:r>
            <a:r>
              <a:rPr lang="en-GB" altLang="zh-CN" sz="2000" dirty="0">
                <a:solidFill>
                  <a:srgbClr val="FF0000"/>
                </a:solidFill>
              </a:rPr>
              <a:t>GET </a:t>
            </a:r>
            <a:r>
              <a:rPr lang="en-GB" altLang="en-US" sz="2000" dirty="0">
                <a:solidFill>
                  <a:srgbClr val="FF0000"/>
                </a:solidFill>
              </a:rPr>
              <a:t>, </a:t>
            </a:r>
            <a:r>
              <a:rPr lang="en-GB" altLang="zh-CN" sz="2000" dirty="0">
                <a:solidFill>
                  <a:srgbClr val="FF0000"/>
                </a:solidFill>
              </a:rPr>
              <a:t>POST </a:t>
            </a:r>
            <a:r>
              <a:rPr lang="en-GB" altLang="en-US" sz="2000" dirty="0">
                <a:solidFill>
                  <a:srgbClr val="FF0000"/>
                </a:solidFill>
              </a:rPr>
              <a:t>, </a:t>
            </a:r>
            <a:r>
              <a:rPr lang="en-GB" altLang="zh-CN" sz="2000" dirty="0">
                <a:solidFill>
                  <a:srgbClr val="FF0000"/>
                </a:solidFill>
              </a:rPr>
              <a:t>PUT </a:t>
            </a:r>
            <a:r>
              <a:rPr lang="en-GB" altLang="en-US" sz="2000" dirty="0">
                <a:solidFill>
                  <a:srgbClr val="FF0000"/>
                </a:solidFill>
              </a:rPr>
              <a:t>, </a:t>
            </a:r>
            <a:r>
              <a:rPr lang="en-GB" altLang="zh-CN" sz="2000" dirty="0">
                <a:solidFill>
                  <a:srgbClr val="FF0000"/>
                </a:solidFill>
              </a:rPr>
              <a:t>DELETE </a:t>
            </a:r>
            <a:endParaRPr lang="en-US" altLang="zh-CN" sz="2400" dirty="0"/>
          </a:p>
          <a:p>
            <a:r>
              <a:rPr lang="en-GB" altLang="en-US" sz="2400" dirty="0"/>
              <a:t>Each method has specific semantics, which must be followed when programming.</a:t>
            </a:r>
            <a:endParaRPr lang="en-GB" altLang="en-US" sz="2400" dirty="0"/>
          </a:p>
          <a:p>
            <a:r>
              <a:rPr lang="en-GB" altLang="zh-CN" sz="2400" b="1" dirty="0">
                <a:solidFill>
                  <a:srgbClr val="FF0000"/>
                </a:solidFill>
              </a:rPr>
              <a:t>GET </a:t>
            </a:r>
            <a:r>
              <a:rPr lang="en-GB" altLang="en-US" sz="2400" b="1" dirty="0">
                <a:solidFill>
                  <a:srgbClr val="FF0000"/>
                </a:solidFill>
              </a:rPr>
              <a:t>method </a:t>
            </a:r>
            <a:r>
              <a:rPr lang="en-GB" altLang="en-US" sz="2400" dirty="0"/>
              <a:t>: </a:t>
            </a:r>
            <a:r>
              <a:rPr lang="en-US" altLang="en-US" sz="2400" dirty="0"/>
              <a:t>It is used to retrieve data from a specified resource on a server.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en-US" sz="2200" b="1" dirty="0"/>
              <a:t>Application scenario </a:t>
            </a:r>
            <a:r>
              <a:rPr lang="en-GB" altLang="en-US" sz="2200" dirty="0"/>
              <a:t>: </a:t>
            </a:r>
            <a:r>
              <a:rPr lang="en-US" altLang="zh-CN" sz="1800" dirty="0"/>
              <a:t>Non-data-modifying actions (read-only operations).</a:t>
            </a:r>
            <a:endParaRPr lang="en-US" altLang="zh-CN" sz="1800" dirty="0"/>
          </a:p>
          <a:p>
            <a:pPr lvl="2"/>
            <a:r>
              <a:rPr lang="en-US" altLang="zh-CN" sz="1800" dirty="0"/>
              <a:t>1. Browsing a Static Web Page</a:t>
            </a:r>
            <a:endParaRPr lang="en-US" altLang="zh-CN" sz="1800" dirty="0"/>
          </a:p>
          <a:p>
            <a:pPr marL="914400" lvl="2" indent="0">
              <a:buNone/>
            </a:pPr>
            <a:r>
              <a:rPr lang="en-US" altLang="zh-CN" sz="1800" dirty="0"/>
              <a:t>	Scenario: A user visits a static HTML page (e.g., blog, news article).</a:t>
            </a:r>
            <a:endParaRPr lang="en-US" altLang="zh-CN" sz="1800" dirty="0"/>
          </a:p>
          <a:p>
            <a:pPr lvl="2"/>
            <a:r>
              <a:rPr lang="en-US" altLang="zh-CN" sz="1800" dirty="0"/>
              <a:t>2. Adding an Item to a Shopping Cart (Non-Mutating Design)</a:t>
            </a:r>
            <a:endParaRPr lang="en-US" altLang="zh-CN" sz="1800" dirty="0"/>
          </a:p>
          <a:p>
            <a:pPr marL="914400" lvl="2" indent="0">
              <a:buNone/>
            </a:pPr>
            <a:r>
              <a:rPr lang="en-US" altLang="zh-CN" sz="1800" dirty="0"/>
              <a:t>	Scenario: Retrieving product details before adding to cart (without submission).</a:t>
            </a:r>
            <a:endParaRPr lang="en-US" altLang="zh-CN" sz="1800" dirty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752600" y="2208926"/>
            <a:ext cx="11430000" cy="707886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/>
              <a:t>GET /register.jsp?username=elliotte&amp;email=elharo%40ibiblio.org HTTP/1.1</a:t>
            </a:r>
            <a:endParaRPr lang="en-GB" altLang="zh-CN" sz="20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/>
              <a:t>Host: www.cafeaulait.org</a:t>
            </a:r>
            <a:endParaRPr lang="en-GB" altLang="zh-CN" sz="2000" dirty="0"/>
          </a:p>
        </p:txBody>
      </p:sp>
      <p:sp>
        <p:nvSpPr>
          <p:cNvPr id="4096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24F82F-BFD1-4F0B-8CA3-758F79E83FAB}" type="slidenum">
              <a:rPr lang="en-US" altLang="zh-CN" sz="1400"/>
            </a:fld>
            <a:endParaRPr lang="en-US" altLang="zh-CN" sz="1400"/>
          </a:p>
        </p:txBody>
      </p:sp>
      <p:sp>
        <p:nvSpPr>
          <p:cNvPr id="2" name="Rectangle 1"/>
          <p:cNvSpPr/>
          <p:nvPr/>
        </p:nvSpPr>
        <p:spPr>
          <a:xfrm>
            <a:off x="416021" y="4800600"/>
            <a:ext cx="10515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b="1" dirty="0">
                <a:solidFill>
                  <a:srgbClr val="FF0000"/>
                </a:solidFill>
              </a:rPr>
              <a:t>Use GET for read-only operations.</a:t>
            </a:r>
            <a:endParaRPr lang="en-US" sz="2400" b="1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b="1" dirty="0">
                <a:solidFill>
                  <a:srgbClr val="FF0000"/>
                </a:solidFill>
              </a:rPr>
              <a:t>Use POST for creating resources.</a:t>
            </a:r>
            <a:endParaRPr lang="en-US" sz="2400" b="1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b="1" dirty="0">
                <a:solidFill>
                  <a:srgbClr val="FF0000"/>
                </a:solidFill>
              </a:rPr>
              <a:t>Use PUT for full updates, PATCH for partial updates.</a:t>
            </a:r>
            <a:endParaRPr lang="en-US" sz="2400" b="1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b="1" dirty="0">
                <a:solidFill>
                  <a:srgbClr val="FF0000"/>
                </a:solidFill>
              </a:rPr>
              <a:t>Use DELETE for removing resources.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3E446E-572D-46B5-97A6-DA8BC88C21B2}" type="slidenum">
              <a:rPr lang="en-US" altLang="zh-CN" smtClean="0"/>
            </a:fld>
            <a:endParaRPr lang="en-US" altLang="zh-CN"/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1119288" y="2514600"/>
            <a:ext cx="914443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rgbClr val="FF0000"/>
                </a:solidFill>
              </a:rPr>
              <a:t>GET</a:t>
            </a:r>
            <a:r>
              <a:rPr lang="en-GB" altLang="zh-CN" sz="2000" dirty="0"/>
              <a:t>  </a:t>
            </a:r>
            <a:r>
              <a:rPr lang="en-GB" altLang="zh-CN" sz="2000" dirty="0">
                <a:solidFill>
                  <a:srgbClr val="7030A0"/>
                </a:solidFill>
              </a:rPr>
              <a:t>/szu.asp </a:t>
            </a:r>
            <a:r>
              <a:rPr lang="en-GB" altLang="zh-CN" sz="2000" dirty="0">
                <a:solidFill>
                  <a:srgbClr val="006600"/>
                </a:solidFill>
              </a:rPr>
              <a:t>HTTP/1.1</a:t>
            </a:r>
            <a:endParaRPr lang="en-GB" altLang="zh-CN" sz="2000" dirty="0">
              <a:solidFill>
                <a:srgbClr val="0066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zh-CN" sz="2000" dirty="0">
              <a:solidFill>
                <a:srgbClr val="0066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/>
              <a:t>User-Agent: Mozilla/5.0 (Macintosh; Intel Mac OS X 10.8; rv:20.0) Gecko/20100101 Firefox/20.0</a:t>
            </a:r>
            <a:endParaRPr lang="en-GB" altLang="zh-CN" sz="20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/>
              <a:t>Host: www.szu.edu.cn</a:t>
            </a:r>
            <a:endParaRPr lang="en-GB" altLang="zh-CN" sz="20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/>
              <a:t>Connection: keep-alive</a:t>
            </a:r>
            <a:endParaRPr lang="en-GB" altLang="zh-CN" sz="20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/>
              <a:t>Accept-Language: zh-CN,en;q=0.5</a:t>
            </a:r>
            <a:endParaRPr lang="en-GB" altLang="zh-CN" sz="20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/>
              <a:t>Accept-Encoding: gzip, deflate</a:t>
            </a:r>
            <a:endParaRPr lang="en-GB" altLang="zh-CN" sz="20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/>
              <a:t>Accept: text/html,application/xhtml+xml,application/xml;q=0.9,*/*;q=0.8</a:t>
            </a:r>
            <a:endParaRPr lang="zh-CN" altLang="en-US" sz="2000" dirty="0"/>
          </a:p>
        </p:txBody>
      </p:sp>
      <p:sp>
        <p:nvSpPr>
          <p:cNvPr id="4" name="左大括号 6"/>
          <p:cNvSpPr/>
          <p:nvPr/>
        </p:nvSpPr>
        <p:spPr bwMode="auto">
          <a:xfrm>
            <a:off x="9296400" y="3121159"/>
            <a:ext cx="1258889" cy="2255763"/>
          </a:xfrm>
          <a:prstGeom prst="leftBrace">
            <a:avLst>
              <a:gd name="adj1" fmla="val 8342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HEADER</a:t>
            </a:r>
            <a:endParaRPr lang="zh-CN" altLang="en-US" sz="1800" dirty="0"/>
          </a:p>
        </p:txBody>
      </p:sp>
      <p:sp>
        <p:nvSpPr>
          <p:cNvPr id="5" name="文本框 1"/>
          <p:cNvSpPr txBox="1">
            <a:spLocks noChangeArrowheads="1"/>
          </p:cNvSpPr>
          <p:nvPr/>
        </p:nvSpPr>
        <p:spPr bwMode="auto">
          <a:xfrm>
            <a:off x="3352800" y="1076910"/>
            <a:ext cx="6400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800" b="1" dirty="0">
                <a:solidFill>
                  <a:srgbClr val="FF0000"/>
                </a:solidFill>
              </a:rPr>
              <a:t>A </a:t>
            </a:r>
            <a:r>
              <a:rPr lang="en-US" altLang="en-US" sz="2800" b="1" dirty="0">
                <a:solidFill>
                  <a:srgbClr val="FF0000"/>
                </a:solidFill>
              </a:rPr>
              <a:t>Client </a:t>
            </a:r>
            <a:r>
              <a:rPr lang="en-GB" altLang="zh-CN" sz="2800" b="1" dirty="0">
                <a:solidFill>
                  <a:srgbClr val="FF0000"/>
                </a:solidFill>
              </a:rPr>
              <a:t>GET R</a:t>
            </a:r>
            <a:r>
              <a:rPr lang="en-GB" altLang="en-US" sz="2800" b="1" dirty="0">
                <a:solidFill>
                  <a:srgbClr val="FF0000"/>
                </a:solidFill>
              </a:rPr>
              <a:t>equest </a:t>
            </a:r>
            <a:r>
              <a:rPr lang="en-US" altLang="en-US" sz="2800" b="1" dirty="0">
                <a:solidFill>
                  <a:srgbClr val="FF0000"/>
                </a:solidFill>
              </a:rPr>
              <a:t>Method</a:t>
            </a:r>
            <a:endParaRPr lang="en-GB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402167" y="228600"/>
            <a:ext cx="11387667" cy="780142"/>
          </a:xfrm>
        </p:spPr>
        <p:txBody>
          <a:bodyPr/>
          <a:lstStyle/>
          <a:p>
            <a:r>
              <a:rPr lang="en-GB" altLang="en-US" dirty="0"/>
              <a:t>Client Request </a:t>
            </a:r>
            <a:r>
              <a:rPr lang="en-US" altLang="en-US" dirty="0"/>
              <a:t>Method</a:t>
            </a:r>
            <a:r>
              <a:rPr lang="en-GB" altLang="en-US" dirty="0"/>
              <a:t>: </a:t>
            </a:r>
            <a:r>
              <a:rPr lang="en-US" altLang="en-US" dirty="0"/>
              <a:t>POST</a:t>
            </a:r>
            <a:endParaRPr lang="en-GB" altLang="en-US" dirty="0"/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>
          <a:xfrm>
            <a:off x="429875" y="1145309"/>
            <a:ext cx="11387667" cy="609600"/>
          </a:xfrm>
        </p:spPr>
        <p:txBody>
          <a:bodyPr/>
          <a:lstStyle/>
          <a:p>
            <a:r>
              <a:rPr lang="en-GB" altLang="en-US" dirty="0"/>
              <a:t>A </a:t>
            </a:r>
            <a:r>
              <a:rPr lang="en-GB" altLang="zh-CN" dirty="0"/>
              <a:t>POST </a:t>
            </a:r>
            <a:r>
              <a:rPr lang="en-GB" altLang="en-US" dirty="0"/>
              <a:t>request sends form data to the server:</a:t>
            </a:r>
            <a:endParaRPr lang="en-GB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91476"/>
            <a:ext cx="10058400" cy="30750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xfrm>
            <a:off x="1752600" y="304800"/>
            <a:ext cx="8540750" cy="609600"/>
          </a:xfrm>
        </p:spPr>
        <p:txBody>
          <a:bodyPr/>
          <a:lstStyle/>
          <a:p>
            <a:pPr algn="l"/>
            <a:r>
              <a:rPr lang="en-GB" altLang="en-US" sz="3200" b="1" dirty="0"/>
              <a:t>Client Request </a:t>
            </a:r>
            <a:r>
              <a:rPr lang="en-US" altLang="en-US" sz="3200" b="1" dirty="0"/>
              <a:t>Method</a:t>
            </a:r>
            <a:r>
              <a:rPr lang="en-GB" altLang="en-US" sz="3200" b="1" dirty="0"/>
              <a:t>: </a:t>
            </a:r>
            <a:r>
              <a:rPr lang="en-US" altLang="en-US" sz="3200" b="1" dirty="0"/>
              <a:t>PUT</a:t>
            </a:r>
            <a:endParaRPr lang="en-GB" altLang="en-US" sz="3200" b="1" dirty="0"/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>
          <a:xfrm>
            <a:off x="233363" y="1143000"/>
            <a:ext cx="11277600" cy="4038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2400" dirty="0"/>
              <a:t>A PUT request is the standard HTTP method for</a:t>
            </a:r>
            <a:r>
              <a:rPr lang="en-US" altLang="zh-CN" sz="2400" b="1" dirty="0"/>
              <a:t> uploading </a:t>
            </a:r>
            <a:r>
              <a:rPr lang="en-US" altLang="zh-CN" sz="2400" dirty="0"/>
              <a:t>or </a:t>
            </a:r>
            <a:r>
              <a:rPr lang="en-US" altLang="zh-CN" sz="2400" b="1" dirty="0"/>
              <a:t>replacing</a:t>
            </a:r>
            <a:r>
              <a:rPr lang="en-US" altLang="zh-CN" sz="2400" dirty="0"/>
              <a:t> resources at a specific URI. For Atom documents (XML-based web content formats), this would typically involve:</a:t>
            </a:r>
            <a:endParaRPr lang="en-US" altLang="zh-CN" sz="2400" dirty="0"/>
          </a:p>
          <a:p>
            <a:r>
              <a:rPr lang="en-US" altLang="zh-CN" sz="2400" dirty="0"/>
              <a:t>Request Structure</a:t>
            </a:r>
            <a:endParaRPr lang="en-US" altLang="zh-CN" sz="2400" dirty="0"/>
          </a:p>
          <a:p>
            <a:pPr lvl="1"/>
            <a:r>
              <a:rPr lang="en-US" altLang="zh-CN" sz="2000" dirty="0"/>
              <a:t>Method: PUT</a:t>
            </a:r>
            <a:endParaRPr lang="en-US" altLang="zh-CN" sz="2000" dirty="0"/>
          </a:p>
          <a:p>
            <a:pPr lvl="1"/>
            <a:r>
              <a:rPr lang="en-US" altLang="zh-CN" sz="2000" dirty="0"/>
              <a:t>Headers:</a:t>
            </a:r>
            <a:endParaRPr lang="en-US" altLang="zh-CN" sz="2000" dirty="0"/>
          </a:p>
          <a:p>
            <a:pPr lvl="1"/>
            <a:r>
              <a:rPr lang="en-US" altLang="zh-CN" sz="2000" dirty="0"/>
              <a:t>Content-Type: application/</a:t>
            </a:r>
            <a:r>
              <a:rPr lang="en-US" altLang="zh-CN" sz="2000" dirty="0" err="1"/>
              <a:t>atom+xml</a:t>
            </a:r>
            <a:endParaRPr lang="en-US" altLang="zh-CN" sz="2000" dirty="0"/>
          </a:p>
          <a:p>
            <a:pPr lvl="1"/>
            <a:r>
              <a:rPr lang="en-US" altLang="zh-CN" sz="2000" dirty="0"/>
              <a:t>Authorization: &lt;</a:t>
            </a:r>
            <a:r>
              <a:rPr lang="en-US" altLang="zh-CN" sz="2000" dirty="0" err="1"/>
              <a:t>credentials_if_required</a:t>
            </a:r>
            <a:r>
              <a:rPr lang="en-US" altLang="zh-CN" sz="2000" dirty="0"/>
              <a:t>&gt;</a:t>
            </a:r>
            <a:endParaRPr lang="en-US" altLang="zh-CN" sz="2000" dirty="0"/>
          </a:p>
          <a:p>
            <a:pPr lvl="1"/>
            <a:r>
              <a:rPr lang="en-US" altLang="zh-CN" sz="2000" dirty="0"/>
              <a:t>Body: The complete Atom XML document</a:t>
            </a:r>
            <a:endParaRPr lang="en-GB" alt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8363" y="2438400"/>
            <a:ext cx="6243637" cy="38861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xfrm>
            <a:off x="399328" y="198582"/>
            <a:ext cx="8540750" cy="609600"/>
          </a:xfrm>
        </p:spPr>
        <p:txBody>
          <a:bodyPr/>
          <a:lstStyle/>
          <a:p>
            <a:pPr algn="l"/>
            <a:r>
              <a:rPr lang="en-GB" altLang="en-US" sz="3200" b="1" dirty="0"/>
              <a:t>Client Request </a:t>
            </a:r>
            <a:r>
              <a:rPr lang="en-US" altLang="en-US" sz="3200" b="1" dirty="0"/>
              <a:t>Header</a:t>
            </a:r>
            <a:endParaRPr lang="en-GB" altLang="en-US" sz="3200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1637" y="1676400"/>
          <a:ext cx="11388725" cy="2355154"/>
        </p:xfrm>
        <a:graphic>
          <a:graphicData uri="http://schemas.openxmlformats.org/drawingml/2006/table">
            <a:tbl>
              <a:tblPr firstRow="1" firstCol="1" bandRow="1"/>
              <a:tblGrid>
                <a:gridCol w="2487193"/>
                <a:gridCol w="4450766"/>
                <a:gridCol w="4450766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Host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Target domain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Host: example.com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Content-Type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Body format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Content-Type: application/json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Authorization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Credentials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Authorization: Bearer token123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User-Agent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Client info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User-Agent: Mozilla/5.0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99328" y="808182"/>
            <a:ext cx="74492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DeepSeek-CJK-patch"/>
              </a:rPr>
              <a:t>Key-value pairs providing metadata about the request.</a:t>
            </a:r>
            <a:br>
              <a:rPr lang="en-US" sz="2400" b="1" dirty="0"/>
            </a:br>
            <a:r>
              <a:rPr lang="en-US" sz="2400" b="1" dirty="0">
                <a:solidFill>
                  <a:srgbClr val="404040"/>
                </a:solidFill>
                <a:latin typeface="DeepSeek-CJK-patch"/>
              </a:rPr>
              <a:t>Common headers:</a:t>
            </a:r>
            <a:endParaRPr lang="en-US" sz="24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xfrm>
            <a:off x="1860550" y="152400"/>
            <a:ext cx="8540750" cy="741363"/>
          </a:xfrm>
        </p:spPr>
        <p:txBody>
          <a:bodyPr/>
          <a:lstStyle/>
          <a:p>
            <a:pPr algn="l"/>
            <a:r>
              <a:rPr lang="en-GB" altLang="en-US" sz="3200" b="1" dirty="0"/>
              <a:t>Questions to consider:</a:t>
            </a:r>
            <a:endParaRPr lang="en-GB" altLang="en-US" sz="3200" b="1" dirty="0"/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>
          <a:xfrm>
            <a:off x="152400" y="1295400"/>
            <a:ext cx="11734800" cy="4548188"/>
          </a:xfrm>
        </p:spPr>
        <p:txBody>
          <a:bodyPr/>
          <a:lstStyle/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Accept: text/html, text/plain, image/gif, image/jpeg</a:t>
            </a:r>
            <a:endParaRPr lang="pl-PL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it mean?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Indicates that the client can process text-type </a:t>
            </a:r>
            <a:r>
              <a:rPr lang="en-GB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files, </a:t>
            </a:r>
            <a:r>
              <a:rPr lang="en-GB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 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files, and image-type </a:t>
            </a:r>
            <a:r>
              <a:rPr lang="en-GB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GIF 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and </a:t>
            </a:r>
            <a:r>
              <a:rPr lang="en-GB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JPEG 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files.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6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9037363-FF75-4CC5-B44B-65322F30B2E2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xfrm>
            <a:off x="1600200" y="159616"/>
            <a:ext cx="8540750" cy="717550"/>
          </a:xfrm>
        </p:spPr>
        <p:txBody>
          <a:bodyPr/>
          <a:lstStyle/>
          <a:p>
            <a:pPr algn="l"/>
            <a:r>
              <a:rPr lang="en-GB" altLang="en-US" sz="3200" b="1" dirty="0"/>
              <a:t>Client </a:t>
            </a:r>
            <a:r>
              <a:rPr lang="en-US" altLang="en-US" sz="3200" b="1" dirty="0"/>
              <a:t>Get </a:t>
            </a:r>
            <a:r>
              <a:rPr lang="en-GB" altLang="en-US" sz="3200" b="1" dirty="0"/>
              <a:t>Request Programming</a:t>
            </a:r>
            <a:endParaRPr lang="en-GB" altLang="en-US" sz="3200" b="1" dirty="0"/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xfrm>
            <a:off x="304800" y="1066800"/>
            <a:ext cx="11582400" cy="4529138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buNone/>
            </a:pPr>
            <a:r>
              <a:rPr lang="en-GB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 socket= new Socket("www.szu.edu.cn",80);</a:t>
            </a:r>
            <a:endParaRPr lang="en-GB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DataOutputStream out= new DataOutputStream( socket.getOutputStream());</a:t>
            </a:r>
            <a:endParaRPr lang="en-GB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BufferedReader in = new BufferedReader(new InputStreamReader(socket.getInputStream()));</a:t>
            </a:r>
            <a:endParaRPr lang="en-GB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 = "GET " + url.getPath() + " HTTP/1.1\r\n";</a:t>
            </a:r>
            <a:endParaRPr lang="en-GB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GB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+= "\r\n";</a:t>
            </a:r>
            <a:endParaRPr lang="en-GB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out.writeBytes(s);</a:t>
            </a:r>
            <a:endParaRPr lang="en-GB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 of </a:t>
            </a:r>
            <a:r>
              <a:rPr lang="en-GB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HTTPGet.java</a:t>
            </a:r>
            <a:endParaRPr lang="en-GB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604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ECF733-B2DE-482C-B1B6-FEF34C95A02B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2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2" y="120360"/>
            <a:ext cx="11769052" cy="6599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0" name="标题 1"/>
          <p:cNvSpPr>
            <a:spLocks noGrp="1"/>
          </p:cNvSpPr>
          <p:nvPr>
            <p:ph type="title"/>
          </p:nvPr>
        </p:nvSpPr>
        <p:spPr>
          <a:xfrm>
            <a:off x="4191000" y="304800"/>
            <a:ext cx="7010400" cy="639762"/>
          </a:xfrm>
        </p:spPr>
        <p:txBody>
          <a:bodyPr/>
          <a:lstStyle/>
          <a:p>
            <a:pPr algn="l"/>
            <a:r>
              <a:rPr lang="en-US" altLang="en-US" sz="3200" b="1" dirty="0"/>
              <a:t>HTTP </a:t>
            </a:r>
            <a:r>
              <a:rPr lang="en-GB" altLang="en-US" sz="3200" b="1" dirty="0"/>
              <a:t>Client </a:t>
            </a:r>
            <a:r>
              <a:rPr lang="en-US" altLang="en-US" sz="3200" b="1" dirty="0"/>
              <a:t>Get </a:t>
            </a:r>
            <a:r>
              <a:rPr lang="en-GB" altLang="en-US" sz="3200" b="1" dirty="0"/>
              <a:t>Request Program</a:t>
            </a:r>
            <a:endParaRPr lang="en-GB" altLang="en-US" sz="3200" b="1" dirty="0"/>
          </a:p>
        </p:txBody>
      </p:sp>
      <p:sp>
        <p:nvSpPr>
          <p:cNvPr id="27651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FBA28E-9005-40A5-9C37-B5946564DA79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10EAD3-854F-49B3-8FB3-1F5EAE6AFEC8}" type="slidenum">
              <a:rPr lang="en-US" altLang="zh-CN" sz="1400"/>
            </a:fld>
            <a:endParaRPr lang="en-US" altLang="zh-CN" sz="1400"/>
          </a:p>
        </p:txBody>
      </p:sp>
      <p:pic>
        <p:nvPicPr>
          <p:cNvPr id="29700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62000" y="990600"/>
            <a:ext cx="10287635" cy="5483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567815" y="304800"/>
            <a:ext cx="9633585" cy="639445"/>
          </a:xfrm>
        </p:spPr>
        <p:txBody>
          <a:bodyPr/>
          <a:lstStyle/>
          <a:p>
            <a:pPr algn="l"/>
            <a:r>
              <a:rPr lang="en-US" altLang="en-US" sz="3200" b="1" dirty="0"/>
              <a:t>HTTP </a:t>
            </a:r>
            <a:r>
              <a:rPr lang="en-GB" altLang="en-US" sz="3200" b="1" dirty="0"/>
              <a:t>Client Request Program</a:t>
            </a:r>
            <a:br>
              <a:rPr lang="en-GB" altLang="en-US" sz="3200" b="1" dirty="0"/>
            </a:br>
            <a:r>
              <a:rPr lang="zh-CN" altLang="en-US" sz="3200" b="1" dirty="0"/>
              <a:t>返回的主要就是你访问的网页的</a:t>
            </a:r>
            <a:r>
              <a:rPr lang="en-US" altLang="zh-CN" sz="3200" b="1" dirty="0"/>
              <a:t> HTML </a:t>
            </a:r>
            <a:r>
              <a:rPr lang="zh-CN" altLang="en-US" sz="3200" b="1" dirty="0"/>
              <a:t>源码内容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>
          <a:xfrm>
            <a:off x="114300" y="44451"/>
            <a:ext cx="11963400" cy="666750"/>
          </a:xfrm>
        </p:spPr>
        <p:txBody>
          <a:bodyPr/>
          <a:lstStyle/>
          <a:p>
            <a:pPr algn="l"/>
            <a:r>
              <a:rPr lang="en-US" altLang="en-US" sz="2800" b="1" dirty="0"/>
              <a:t>Example for HTTP </a:t>
            </a:r>
            <a:r>
              <a:rPr lang="en-GB" altLang="en-US" sz="2800" b="1" dirty="0"/>
              <a:t>Client request program and successful response </a:t>
            </a:r>
            <a:endParaRPr lang="en-GB" altLang="en-US" sz="2800" b="1" dirty="0"/>
          </a:p>
        </p:txBody>
      </p:sp>
      <p:sp>
        <p:nvSpPr>
          <p:cNvPr id="31747" name="内容占位符 2"/>
          <p:cNvSpPr>
            <a:spLocks noGrp="1"/>
          </p:cNvSpPr>
          <p:nvPr>
            <p:ph idx="1"/>
          </p:nvPr>
        </p:nvSpPr>
        <p:spPr>
          <a:xfrm>
            <a:off x="304800" y="697489"/>
            <a:ext cx="8540750" cy="1131311"/>
          </a:xfrm>
        </p:spPr>
        <p:txBody>
          <a:bodyPr/>
          <a:lstStyle/>
          <a:p>
            <a:r>
              <a:rPr lang="en-GB" altLang="en-US" sz="1800" dirty="0"/>
              <a:t>Run </a:t>
            </a:r>
            <a:r>
              <a:rPr lang="en-GB" altLang="zh-CN" sz="1800" dirty="0"/>
              <a:t>HTTPGet and </a:t>
            </a:r>
            <a:r>
              <a:rPr lang="en-GB" altLang="en-US" sz="1800" dirty="0"/>
              <a:t>enter the parameters</a:t>
            </a:r>
            <a:endParaRPr lang="en-US" altLang="zh-CN" sz="1800" dirty="0"/>
          </a:p>
          <a:p>
            <a:r>
              <a:rPr lang="en-GB" altLang="zh-CN" sz="1800" dirty="0">
                <a:hlinkClick r:id="rId1"/>
              </a:rPr>
              <a:t>http://www1.szu.edu.cn/szu.asp</a:t>
            </a:r>
            <a:endParaRPr lang="en-US" altLang="zh-CN" sz="1800" dirty="0"/>
          </a:p>
          <a:p>
            <a:r>
              <a:rPr lang="en-GB" altLang="en-US" sz="1800" dirty="0"/>
              <a:t>Operation Results</a:t>
            </a:r>
            <a:endParaRPr lang="en-GB" altLang="en-US"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72" r="20084" b="3133"/>
          <a:stretch>
            <a:fillRect/>
          </a:stretch>
        </p:blipFill>
        <p:spPr bwMode="auto">
          <a:xfrm>
            <a:off x="533400" y="1828801"/>
            <a:ext cx="109728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0CE860-A1D4-495B-8152-6B90F3A37576}" type="slidenum">
              <a:rPr lang="en-US" altLang="zh-CN" sz="1400"/>
            </a:fld>
            <a:endParaRPr lang="en-US" altLang="zh-CN" sz="1400"/>
          </a:p>
        </p:txBody>
      </p:sp>
      <p:sp>
        <p:nvSpPr>
          <p:cNvPr id="5" name="右大括号 4"/>
          <p:cNvSpPr/>
          <p:nvPr/>
        </p:nvSpPr>
        <p:spPr bwMode="auto">
          <a:xfrm flipH="1">
            <a:off x="8153399" y="4608513"/>
            <a:ext cx="3200400" cy="1371600"/>
          </a:xfrm>
          <a:prstGeom prst="rightBrace">
            <a:avLst>
              <a:gd name="adj1" fmla="val 8335"/>
              <a:gd name="adj2" fmla="val 5244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400" dirty="0"/>
              <a:t>Successful response example</a:t>
            </a:r>
            <a:endParaRPr lang="en-GB" altLang="en-US" sz="1400" dirty="0"/>
          </a:p>
        </p:txBody>
      </p:sp>
      <p:sp>
        <p:nvSpPr>
          <p:cNvPr id="7" name="右大括号 6"/>
          <p:cNvSpPr/>
          <p:nvPr/>
        </p:nvSpPr>
        <p:spPr bwMode="auto">
          <a:xfrm flipH="1">
            <a:off x="9528125" y="2494757"/>
            <a:ext cx="987474" cy="1981200"/>
          </a:xfrm>
          <a:prstGeom prst="rightBrace">
            <a:avLst>
              <a:gd name="adj1" fmla="val 8331"/>
              <a:gd name="adj2" fmla="val 4902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dirty="0"/>
              <a:t>Request</a:t>
            </a:r>
            <a:endParaRPr lang="en-GB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3E446E-572D-46B5-97A6-DA8BC88C21B2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2"/>
          <p:cNvSpPr/>
          <p:nvPr/>
        </p:nvSpPr>
        <p:spPr>
          <a:xfrm>
            <a:off x="234372" y="1902261"/>
            <a:ext cx="5181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import </a:t>
            </a:r>
            <a:r>
              <a:rPr lang="en-US" sz="1400" dirty="0" err="1"/>
              <a:t>java.io.BufferedReader</a:t>
            </a:r>
            <a:r>
              <a:rPr lang="en-US" sz="1400" dirty="0"/>
              <a:t>;</a:t>
            </a:r>
            <a:endParaRPr lang="en-US" sz="1400" dirty="0"/>
          </a:p>
          <a:p>
            <a:r>
              <a:rPr lang="en-US" sz="1400" dirty="0"/>
              <a:t>import </a:t>
            </a:r>
            <a:r>
              <a:rPr lang="en-US" sz="1400" dirty="0" err="1"/>
              <a:t>java.io.InputStreamReader</a:t>
            </a:r>
            <a:r>
              <a:rPr lang="en-US" sz="1400" dirty="0"/>
              <a:t>;</a:t>
            </a:r>
            <a:endParaRPr lang="en-US" sz="1400" dirty="0"/>
          </a:p>
          <a:p>
            <a:r>
              <a:rPr lang="en-US" sz="1400" dirty="0"/>
              <a:t>import </a:t>
            </a:r>
            <a:r>
              <a:rPr lang="en-US" sz="1400" dirty="0" err="1"/>
              <a:t>java.net.HttpURLConnection</a:t>
            </a:r>
            <a:r>
              <a:rPr lang="en-US" sz="1400" dirty="0"/>
              <a:t>;</a:t>
            </a:r>
            <a:endParaRPr lang="en-US" sz="1400" dirty="0"/>
          </a:p>
          <a:p>
            <a:r>
              <a:rPr lang="en-US" sz="1400" dirty="0"/>
              <a:t>import java.net.URL;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public class </a:t>
            </a:r>
            <a:r>
              <a:rPr lang="en-US" sz="1400" dirty="0" err="1"/>
              <a:t>HttpGetExample</a:t>
            </a:r>
            <a:r>
              <a:rPr lang="en-US" sz="1400" dirty="0"/>
              <a:t> {</a:t>
            </a:r>
            <a:endParaRPr lang="en-US" sz="1400" dirty="0"/>
          </a:p>
          <a:p>
            <a:r>
              <a:rPr lang="en-US" sz="1400" dirty="0"/>
              <a:t>    public static void main(String[] </a:t>
            </a:r>
            <a:r>
              <a:rPr lang="en-US" sz="1400" dirty="0" err="1"/>
              <a:t>args</a:t>
            </a:r>
            <a:r>
              <a:rPr lang="en-US" sz="1400" dirty="0"/>
              <a:t>) {</a:t>
            </a:r>
            <a:endParaRPr lang="en-US" sz="1400" dirty="0"/>
          </a:p>
          <a:p>
            <a:r>
              <a:rPr lang="en-US" sz="1400" dirty="0"/>
              <a:t>        try {</a:t>
            </a:r>
            <a:endParaRPr lang="en-US" sz="1400" dirty="0"/>
          </a:p>
          <a:p>
            <a:r>
              <a:rPr lang="en-US" sz="1400" dirty="0"/>
              <a:t>            // 1. Define the URL</a:t>
            </a:r>
            <a:endParaRPr lang="en-US" sz="1400" dirty="0"/>
          </a:p>
          <a:p>
            <a:r>
              <a:rPr lang="en-US" sz="1400" dirty="0"/>
              <a:t>            String </a:t>
            </a:r>
            <a:r>
              <a:rPr lang="en-US" sz="1400" dirty="0" err="1"/>
              <a:t>apiUrl</a:t>
            </a:r>
            <a:r>
              <a:rPr lang="en-US" sz="1400" dirty="0"/>
              <a:t> = "https://www.szu.edu.cn";</a:t>
            </a:r>
            <a:endParaRPr lang="en-US" sz="1400" dirty="0"/>
          </a:p>
          <a:p>
            <a:r>
              <a:rPr lang="en-US" sz="1400" dirty="0"/>
              <a:t>            URL </a:t>
            </a:r>
            <a:r>
              <a:rPr lang="en-US" sz="1400" dirty="0" err="1"/>
              <a:t>url</a:t>
            </a:r>
            <a:r>
              <a:rPr lang="en-US" sz="1400" dirty="0"/>
              <a:t> = new URL(</a:t>
            </a:r>
            <a:r>
              <a:rPr lang="en-US" sz="1400" dirty="0" err="1"/>
              <a:t>apiUrl</a:t>
            </a:r>
            <a:r>
              <a:rPr lang="en-US" sz="1400" dirty="0"/>
              <a:t>);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           // 2. Open a connection</a:t>
            </a:r>
            <a:endParaRPr lang="en-US" sz="1400" dirty="0"/>
          </a:p>
          <a:p>
            <a:r>
              <a:rPr lang="en-US" sz="1400" dirty="0"/>
              <a:t>            </a:t>
            </a:r>
            <a:r>
              <a:rPr lang="en-US" sz="1400" dirty="0" err="1"/>
              <a:t>HttpURLConnection</a:t>
            </a:r>
            <a:r>
              <a:rPr lang="en-US" sz="1400" dirty="0"/>
              <a:t> conn = (</a:t>
            </a:r>
            <a:r>
              <a:rPr lang="en-US" sz="1400" dirty="0" err="1"/>
              <a:t>HttpURLConnection</a:t>
            </a:r>
            <a:r>
              <a:rPr lang="en-US" sz="1400" dirty="0"/>
              <a:t>) </a:t>
            </a:r>
            <a:r>
              <a:rPr lang="en-US" sz="1400" dirty="0" err="1"/>
              <a:t>url.openConnection</a:t>
            </a:r>
            <a:r>
              <a:rPr lang="en-US" sz="1400" dirty="0"/>
              <a:t>();</a:t>
            </a:r>
            <a:endParaRPr lang="en-US" sz="1400" dirty="0"/>
          </a:p>
          <a:p>
            <a:r>
              <a:rPr lang="en-US" sz="1400" dirty="0"/>
              <a:t>            </a:t>
            </a:r>
            <a:r>
              <a:rPr lang="en-US" sz="1400" dirty="0" err="1"/>
              <a:t>conn.setRequestMethod</a:t>
            </a:r>
            <a:r>
              <a:rPr lang="en-US" sz="1400" dirty="0"/>
              <a:t>("GET");</a:t>
            </a:r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4" name="Rectangle 3"/>
          <p:cNvSpPr/>
          <p:nvPr/>
        </p:nvSpPr>
        <p:spPr>
          <a:xfrm>
            <a:off x="5874327" y="496292"/>
            <a:ext cx="6108701" cy="6123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 // 3. Check response code</a:t>
            </a:r>
            <a:endParaRPr lang="en-US" sz="1400" dirty="0"/>
          </a:p>
          <a:p>
            <a:r>
              <a:rPr lang="en-US" sz="1400" dirty="0"/>
              <a:t>            int </a:t>
            </a:r>
            <a:r>
              <a:rPr lang="en-US" sz="1400" dirty="0" err="1"/>
              <a:t>responseCode</a:t>
            </a:r>
            <a:r>
              <a:rPr lang="en-US" sz="1400" dirty="0"/>
              <a:t> = </a:t>
            </a:r>
            <a:r>
              <a:rPr lang="en-US" sz="1400" dirty="0" err="1"/>
              <a:t>conn.getResponseCode</a:t>
            </a:r>
            <a:r>
              <a:rPr lang="en-US" sz="1400" dirty="0"/>
              <a:t>();</a:t>
            </a:r>
            <a:endParaRPr lang="en-US" sz="1400" dirty="0"/>
          </a:p>
          <a:p>
            <a:r>
              <a:rPr lang="en-US" sz="1400" dirty="0"/>
              <a:t>            </a:t>
            </a:r>
            <a:r>
              <a:rPr lang="en-US" sz="1400" dirty="0" err="1"/>
              <a:t>System.out.println</a:t>
            </a:r>
            <a:r>
              <a:rPr lang="en-US" sz="1400" dirty="0"/>
              <a:t>("Response Code: " + </a:t>
            </a:r>
            <a:r>
              <a:rPr lang="en-US" sz="1400" dirty="0" err="1"/>
              <a:t>responseCode</a:t>
            </a:r>
            <a:r>
              <a:rPr lang="en-US" sz="1400" dirty="0"/>
              <a:t>);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           if (</a:t>
            </a:r>
            <a:r>
              <a:rPr lang="en-US" sz="1400" dirty="0" err="1"/>
              <a:t>responseCode</a:t>
            </a:r>
            <a:r>
              <a:rPr lang="en-US" sz="1400" dirty="0"/>
              <a:t> == </a:t>
            </a:r>
            <a:r>
              <a:rPr lang="en-US" sz="1400" dirty="0" err="1"/>
              <a:t>HttpURLConnection.HTTP_OK</a:t>
            </a:r>
            <a:r>
              <a:rPr lang="en-US" sz="1400" dirty="0"/>
              <a:t>) {</a:t>
            </a:r>
            <a:endParaRPr lang="en-US" sz="1400" dirty="0"/>
          </a:p>
          <a:p>
            <a:r>
              <a:rPr lang="en-US" sz="1400" dirty="0"/>
              <a:t>                // 4. Read the response</a:t>
            </a:r>
            <a:endParaRPr lang="en-US" sz="1400" dirty="0"/>
          </a:p>
          <a:p>
            <a:r>
              <a:rPr lang="en-US" sz="1400" dirty="0"/>
              <a:t>                </a:t>
            </a:r>
            <a:r>
              <a:rPr lang="en-US" sz="1400" b="1" dirty="0" err="1">
                <a:solidFill>
                  <a:srgbClr val="FF0000"/>
                </a:solidFill>
              </a:rPr>
              <a:t>BufferedReader</a:t>
            </a:r>
            <a:r>
              <a:rPr lang="en-US" sz="1400" b="1" dirty="0">
                <a:solidFill>
                  <a:srgbClr val="FF0000"/>
                </a:solidFill>
              </a:rPr>
              <a:t> in = new </a:t>
            </a:r>
            <a:r>
              <a:rPr lang="en-US" sz="1400" b="1" dirty="0" err="1">
                <a:solidFill>
                  <a:srgbClr val="FF0000"/>
                </a:solidFill>
              </a:rPr>
              <a:t>BufferedReader</a:t>
            </a:r>
            <a:r>
              <a:rPr lang="en-US" sz="1400" b="1" dirty="0">
                <a:solidFill>
                  <a:srgbClr val="FF0000"/>
                </a:solidFill>
              </a:rPr>
              <a:t>(</a:t>
            </a: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                        new </a:t>
            </a:r>
            <a:r>
              <a:rPr lang="en-US" sz="1400" b="1" dirty="0" err="1">
                <a:solidFill>
                  <a:srgbClr val="FF0000"/>
                </a:solidFill>
              </a:rPr>
              <a:t>InputStreamReader</a:t>
            </a:r>
            <a:r>
              <a:rPr lang="en-US" sz="1400" b="1" dirty="0">
                <a:solidFill>
                  <a:srgbClr val="FF0000"/>
                </a:solidFill>
              </a:rPr>
              <a:t>(</a:t>
            </a:r>
            <a:r>
              <a:rPr lang="en-US" sz="1400" b="1" dirty="0" err="1">
                <a:solidFill>
                  <a:srgbClr val="FF0000"/>
                </a:solidFill>
              </a:rPr>
              <a:t>conn.getInputStream</a:t>
            </a:r>
            <a:r>
              <a:rPr lang="en-US" sz="1400" b="1" dirty="0">
                <a:solidFill>
                  <a:srgbClr val="FF0000"/>
                </a:solidFill>
              </a:rPr>
              <a:t>())</a:t>
            </a: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                );</a:t>
            </a: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dirty="0"/>
              <a:t>                String </a:t>
            </a:r>
            <a:r>
              <a:rPr lang="en-US" sz="1400" dirty="0" err="1"/>
              <a:t>inputLine</a:t>
            </a:r>
            <a:r>
              <a:rPr lang="en-US" sz="1400" dirty="0"/>
              <a:t>;</a:t>
            </a:r>
            <a:endParaRPr lang="en-US" sz="1400" dirty="0"/>
          </a:p>
          <a:p>
            <a:r>
              <a:rPr lang="en-US" sz="1400" dirty="0"/>
              <a:t>                StringBuilder response = new StringBuilder();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               while ((</a:t>
            </a:r>
            <a:r>
              <a:rPr lang="en-US" sz="1400" dirty="0" err="1"/>
              <a:t>inputLine</a:t>
            </a:r>
            <a:r>
              <a:rPr lang="en-US" sz="1400" dirty="0"/>
              <a:t> = </a:t>
            </a:r>
            <a:r>
              <a:rPr lang="en-US" sz="1400" dirty="0" err="1"/>
              <a:t>in.readLine</a:t>
            </a:r>
            <a:r>
              <a:rPr lang="en-US" sz="1400" dirty="0"/>
              <a:t>()) != null) {</a:t>
            </a:r>
            <a:endParaRPr lang="en-US" sz="1400" dirty="0"/>
          </a:p>
          <a:p>
            <a:r>
              <a:rPr lang="en-US" sz="1400" dirty="0"/>
              <a:t>                    </a:t>
            </a:r>
            <a:r>
              <a:rPr lang="en-US" sz="1400" dirty="0" err="1"/>
              <a:t>response.append</a:t>
            </a:r>
            <a:r>
              <a:rPr lang="en-US" sz="1400" dirty="0"/>
              <a:t>(</a:t>
            </a:r>
            <a:r>
              <a:rPr lang="en-US" sz="1400" dirty="0" err="1"/>
              <a:t>inputLine</a:t>
            </a:r>
            <a:r>
              <a:rPr lang="en-US" sz="1400" dirty="0"/>
              <a:t>);</a:t>
            </a:r>
            <a:endParaRPr lang="en-US" sz="1400" dirty="0"/>
          </a:p>
          <a:p>
            <a:r>
              <a:rPr lang="en-US" sz="1400" dirty="0"/>
              <a:t>                }</a:t>
            </a:r>
            <a:endParaRPr lang="en-US" sz="1400" dirty="0"/>
          </a:p>
          <a:p>
            <a:r>
              <a:rPr lang="en-US" sz="1400" dirty="0"/>
              <a:t>                </a:t>
            </a:r>
            <a:r>
              <a:rPr lang="en-US" sz="1400" dirty="0" err="1"/>
              <a:t>in.close</a:t>
            </a:r>
            <a:r>
              <a:rPr lang="en-US" sz="1400" dirty="0"/>
              <a:t>();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               // 5. Print the result</a:t>
            </a:r>
            <a:endParaRPr lang="en-US" sz="1400" dirty="0"/>
          </a:p>
          <a:p>
            <a:r>
              <a:rPr lang="en-US" sz="1400" dirty="0"/>
              <a:t>                </a:t>
            </a:r>
            <a:r>
              <a:rPr lang="en-US" sz="1400" dirty="0" err="1"/>
              <a:t>System.out.println</a:t>
            </a:r>
            <a:r>
              <a:rPr lang="en-US" sz="1400" dirty="0"/>
              <a:t>("Response: " + </a:t>
            </a:r>
            <a:r>
              <a:rPr lang="en-US" sz="1400" dirty="0" err="1"/>
              <a:t>response.toString</a:t>
            </a:r>
            <a:r>
              <a:rPr lang="en-US" sz="1400" dirty="0"/>
              <a:t>());</a:t>
            </a:r>
            <a:endParaRPr lang="en-US" sz="1400" dirty="0"/>
          </a:p>
          <a:p>
            <a:r>
              <a:rPr lang="en-US" sz="1400" dirty="0"/>
              <a:t>            } else {</a:t>
            </a:r>
            <a:endParaRPr lang="en-US" sz="1400" dirty="0"/>
          </a:p>
          <a:p>
            <a:r>
              <a:rPr lang="en-US" sz="1400" dirty="0"/>
              <a:t>                </a:t>
            </a:r>
            <a:r>
              <a:rPr lang="en-US" sz="1400" dirty="0" err="1"/>
              <a:t>System.out.println</a:t>
            </a:r>
            <a:r>
              <a:rPr lang="en-US" sz="1400" dirty="0"/>
              <a:t>("GET request failed!");</a:t>
            </a:r>
            <a:endParaRPr lang="en-US" sz="1400" dirty="0"/>
          </a:p>
          <a:p>
            <a:r>
              <a:rPr lang="en-US" sz="1400" dirty="0"/>
              <a:t>            }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       } catch (Exception e) {</a:t>
            </a:r>
            <a:endParaRPr lang="en-US" sz="1400" dirty="0"/>
          </a:p>
          <a:p>
            <a:r>
              <a:rPr lang="en-US" sz="1400" dirty="0"/>
              <a:t>            </a:t>
            </a:r>
            <a:r>
              <a:rPr lang="en-US" sz="1400" dirty="0" err="1"/>
              <a:t>e.printStackTrace</a:t>
            </a:r>
            <a:r>
              <a:rPr lang="en-US" sz="1400" dirty="0"/>
              <a:t>();</a:t>
            </a:r>
            <a:endParaRPr lang="en-US" sz="1400" dirty="0"/>
          </a:p>
          <a:p>
            <a:r>
              <a:rPr lang="en-US" sz="1400" dirty="0"/>
              <a:t>        }</a:t>
            </a:r>
            <a:endParaRPr lang="en-US" sz="1400" dirty="0"/>
          </a:p>
          <a:p>
            <a:r>
              <a:rPr lang="en-US" sz="1400" dirty="0"/>
              <a:t>    }</a:t>
            </a:r>
            <a:endParaRPr lang="en-US" sz="1400" dirty="0"/>
          </a:p>
          <a:p>
            <a:r>
              <a:rPr lang="en-US" sz="1400" dirty="0"/>
              <a:t>}</a:t>
            </a:r>
            <a:endParaRPr lang="en-US" sz="1400" dirty="0"/>
          </a:p>
        </p:txBody>
      </p:sp>
      <p:sp>
        <p:nvSpPr>
          <p:cNvPr id="5" name="Rectangle 4"/>
          <p:cNvSpPr/>
          <p:nvPr/>
        </p:nvSpPr>
        <p:spPr>
          <a:xfrm>
            <a:off x="85436" y="662255"/>
            <a:ext cx="60105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Java implementation of HTTP GET requests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1. Using </a:t>
            </a:r>
            <a:r>
              <a:rPr lang="en-US" b="1" dirty="0" err="1">
                <a:solidFill>
                  <a:srgbClr val="FF0000"/>
                </a:solidFill>
              </a:rPr>
              <a:t>HttpURLConnection</a:t>
            </a:r>
            <a:r>
              <a:rPr lang="en-US" b="1" dirty="0">
                <a:solidFill>
                  <a:srgbClr val="FF0000"/>
                </a:solidFill>
              </a:rPr>
              <a:t> (Java Standard Library)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>
          <a:xfrm>
            <a:off x="1524000" y="152400"/>
            <a:ext cx="8540750" cy="609600"/>
          </a:xfrm>
        </p:spPr>
        <p:txBody>
          <a:bodyPr/>
          <a:lstStyle/>
          <a:p>
            <a:pPr algn="l"/>
            <a:r>
              <a:rPr lang="en-GB" altLang="zh-CN" sz="3200" b="1" dirty="0"/>
              <a:t>HTTP </a:t>
            </a:r>
            <a:r>
              <a:rPr lang="en-US" altLang="zh-CN" sz="3200" b="1" dirty="0"/>
              <a:t>R</a:t>
            </a:r>
            <a:r>
              <a:rPr lang="en-GB" altLang="en-US" sz="3200" b="1" dirty="0"/>
              <a:t>esponse </a:t>
            </a:r>
            <a:r>
              <a:rPr lang="en-US" altLang="en-US" sz="3200" b="1" dirty="0"/>
              <a:t>Message </a:t>
            </a:r>
            <a:r>
              <a:rPr lang="en-GB" altLang="en-US" sz="3200" b="1" dirty="0"/>
              <a:t>from the </a:t>
            </a:r>
            <a:r>
              <a:rPr lang="en-US" altLang="en-US" sz="3200" b="1" dirty="0"/>
              <a:t>S</a:t>
            </a:r>
            <a:r>
              <a:rPr lang="en-GB" altLang="en-US" sz="3200" b="1" dirty="0"/>
              <a:t>erver</a:t>
            </a:r>
            <a:endParaRPr lang="en-GB" altLang="en-US" sz="3200" b="1" dirty="0"/>
          </a:p>
        </p:txBody>
      </p:sp>
      <p:sp>
        <p:nvSpPr>
          <p:cNvPr id="32772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00A421A-86C1-4591-A53B-21C82A8E7034}" type="slidenum">
              <a:rPr lang="en-US" altLang="zh-CN" sz="1400"/>
            </a:fld>
            <a:endParaRPr lang="en-US" altLang="zh-CN" sz="1400"/>
          </a:p>
        </p:txBody>
      </p:sp>
      <p:sp>
        <p:nvSpPr>
          <p:cNvPr id="2" name="Rectangle 1"/>
          <p:cNvSpPr/>
          <p:nvPr/>
        </p:nvSpPr>
        <p:spPr>
          <a:xfrm>
            <a:off x="561108" y="874714"/>
            <a:ext cx="10487891" cy="5653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1030"/>
              </a:spcAft>
            </a:pPr>
            <a:r>
              <a:rPr lang="en-US" sz="20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 Response Message Format consist of the following :</a:t>
            </a: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Status Line (</a:t>
            </a:r>
            <a:r>
              <a:rPr lang="fr-FR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&lt;HTTP_VERSION&gt; &lt;STATUS_CODE&gt; &lt;REASON_PHRASE&gt;</a:t>
            </a:r>
            <a:r>
              <a:rPr lang="en-US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b="1" dirty="0">
              <a:solidFill>
                <a:srgbClr val="404040"/>
              </a:solidFill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6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HTTP Version: HTTP/1.1 or HTTP/2</a:t>
            </a: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6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Status Code: 3-digit result code (e.g., 200, 404)</a:t>
            </a: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6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Reason Phrase: Human-readable status (e.g., OK, Not Found)</a:t>
            </a: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6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HTTP/1.1 200 OK</a:t>
            </a: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Headers (Key-value pairs providing metadata about the response.)</a:t>
            </a:r>
            <a:endParaRPr lang="en-US" b="1" dirty="0">
              <a:solidFill>
                <a:srgbClr val="404040"/>
              </a:solidFill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 startAt="3"/>
              <a:tabLst>
                <a:tab pos="457200" algn="l"/>
              </a:tabLst>
            </a:pPr>
            <a:r>
              <a:rPr lang="en-US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Blank Line</a:t>
            </a:r>
            <a:r>
              <a:rPr lang="en-US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(separates headers from body)</a:t>
            </a: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 startAt="3"/>
              <a:tabLst>
                <a:tab pos="457200" algn="l"/>
              </a:tabLst>
            </a:pPr>
            <a:r>
              <a:rPr lang="en-US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en-US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(optional)</a:t>
            </a:r>
            <a:endParaRPr lang="en-US" sz="16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508" y="3682207"/>
            <a:ext cx="6859692" cy="18063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234" y="5152830"/>
            <a:ext cx="3276600" cy="14721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1577975" y="560612"/>
            <a:ext cx="8540750" cy="595313"/>
          </a:xfrm>
        </p:spPr>
        <p:txBody>
          <a:bodyPr/>
          <a:lstStyle/>
          <a:p>
            <a:pPr algn="l"/>
            <a:r>
              <a:rPr lang="en-GB" altLang="zh-CN" sz="3200" b="1" dirty="0"/>
              <a:t>HTTP1.1 </a:t>
            </a:r>
            <a:r>
              <a:rPr lang="en-US" altLang="zh-CN" sz="3200" b="1" dirty="0"/>
              <a:t>P</a:t>
            </a:r>
            <a:r>
              <a:rPr lang="en-GB" altLang="en-US" sz="3200" b="1" dirty="0"/>
              <a:t>artial </a:t>
            </a:r>
            <a:r>
              <a:rPr lang="en-US" altLang="en-US" sz="3200" b="1" dirty="0"/>
              <a:t>Status</a:t>
            </a:r>
            <a:r>
              <a:rPr lang="en-GB" altLang="en-US" sz="3200" b="1" dirty="0"/>
              <a:t> </a:t>
            </a:r>
            <a:r>
              <a:rPr lang="en-US" altLang="en-US" sz="3200" b="1" dirty="0"/>
              <a:t>C</a:t>
            </a:r>
            <a:r>
              <a:rPr lang="en-GB" altLang="en-US" sz="3200" b="1" dirty="0"/>
              <a:t>ode</a:t>
            </a:r>
            <a:endParaRPr lang="en-GB" altLang="en-US" sz="3200" b="1" dirty="0"/>
          </a:p>
        </p:txBody>
      </p:sp>
      <p:sp>
        <p:nvSpPr>
          <p:cNvPr id="34820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2E4275-4C64-47EF-B296-3109999FC348}" type="slidenum">
              <a:rPr lang="en-US" altLang="zh-CN" sz="1400"/>
            </a:fld>
            <a:endParaRPr lang="en-US" altLang="zh-CN" sz="1400"/>
          </a:p>
        </p:txBody>
      </p:sp>
      <p:sp>
        <p:nvSpPr>
          <p:cNvPr id="2" name="Rectangle 1"/>
          <p:cNvSpPr/>
          <p:nvPr/>
        </p:nvSpPr>
        <p:spPr>
          <a:xfrm>
            <a:off x="609600" y="1524000"/>
            <a:ext cx="10477500" cy="4215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Status Code Classes:</a:t>
            </a:r>
            <a:endParaRPr lang="en-US" sz="2800" b="1" u="sng" dirty="0">
              <a:solidFill>
                <a:srgbClr val="FF0000"/>
              </a:solidFill>
            </a:endParaRPr>
          </a:p>
          <a:p>
            <a:endParaRPr lang="en-US" sz="2400" dirty="0"/>
          </a:p>
          <a:p>
            <a:pPr marL="514350" indent="-514350">
              <a:buFont typeface="+mj-lt"/>
              <a:buAutoNum type="romanLcPeriod"/>
            </a:pPr>
            <a:r>
              <a:rPr lang="en-US" sz="2400" dirty="0"/>
              <a:t>1xx: Informational</a:t>
            </a:r>
            <a:r>
              <a:rPr lang="zh-CN" altLang="en-US" sz="2400" dirty="0"/>
              <a:t>【信息性】</a:t>
            </a:r>
            <a:r>
              <a:rPr lang="en-US" sz="2400" dirty="0"/>
              <a:t> (e.g., 101 Switching Protocols)</a:t>
            </a:r>
            <a:endParaRPr lang="en-US" sz="2400" dirty="0"/>
          </a:p>
          <a:p>
            <a:pPr marL="514350" indent="-514350">
              <a:buFont typeface="+mj-lt"/>
              <a:buAutoNum type="romanLcPeriod"/>
            </a:pPr>
            <a:endParaRPr lang="en-US" sz="2400" dirty="0"/>
          </a:p>
          <a:p>
            <a:pPr marL="514350" indent="-514350">
              <a:buFont typeface="+mj-lt"/>
              <a:buAutoNum type="romanLcPeriod"/>
            </a:pPr>
            <a:r>
              <a:rPr lang="en-US" sz="2400" dirty="0"/>
              <a:t>2xx: Success (e.g., 200 OK, 201 Created)</a:t>
            </a:r>
            <a:endParaRPr lang="en-US" sz="2400" dirty="0"/>
          </a:p>
          <a:p>
            <a:pPr marL="514350" indent="-514350">
              <a:buFont typeface="+mj-lt"/>
              <a:buAutoNum type="romanLcPeriod"/>
            </a:pPr>
            <a:endParaRPr lang="en-US" sz="2400" dirty="0"/>
          </a:p>
          <a:p>
            <a:pPr marL="514350" indent="-514350">
              <a:buFont typeface="+mj-lt"/>
              <a:buAutoNum type="romanLcPeriod"/>
            </a:pPr>
            <a:r>
              <a:rPr lang="en-US" sz="2400" dirty="0"/>
              <a:t>3xx: Redirection</a:t>
            </a:r>
            <a:r>
              <a:rPr lang="zh-CN" altLang="en-US" sz="2400" dirty="0"/>
              <a:t>【重定向】</a:t>
            </a:r>
            <a:r>
              <a:rPr lang="en-US" sz="2400" dirty="0"/>
              <a:t> (e.g., 301 Moved Permanently)</a:t>
            </a:r>
            <a:endParaRPr lang="en-US" sz="2400" dirty="0"/>
          </a:p>
          <a:p>
            <a:pPr marL="514350" indent="-514350">
              <a:buFont typeface="+mj-lt"/>
              <a:buAutoNum type="romanLcPeriod"/>
            </a:pPr>
            <a:endParaRPr lang="en-US" sz="2400" dirty="0"/>
          </a:p>
          <a:p>
            <a:pPr marL="514350" indent="-514350">
              <a:buFont typeface="+mj-lt"/>
              <a:buAutoNum type="romanLcPeriod"/>
            </a:pPr>
            <a:r>
              <a:rPr lang="en-US" sz="2400" dirty="0"/>
              <a:t>4xx: Client errors (e.g., 400 Bad Request, 404 Not Found)</a:t>
            </a:r>
            <a:endParaRPr lang="en-US" sz="2400" dirty="0"/>
          </a:p>
          <a:p>
            <a:pPr marL="514350" indent="-514350">
              <a:buFont typeface="+mj-lt"/>
              <a:buAutoNum type="romanLcPeriod"/>
            </a:pPr>
            <a:endParaRPr lang="en-US" sz="2400" dirty="0"/>
          </a:p>
          <a:p>
            <a:pPr marL="514350" indent="-514350">
              <a:buFont typeface="+mj-lt"/>
              <a:buAutoNum type="romanLcPeriod"/>
            </a:pPr>
            <a:r>
              <a:rPr lang="en-US" sz="2400" dirty="0"/>
              <a:t>5xx: Server errors (e.g., 500 Internal Server Error)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>
          <a:xfrm>
            <a:off x="1524000" y="136525"/>
            <a:ext cx="8540750" cy="609600"/>
          </a:xfrm>
        </p:spPr>
        <p:txBody>
          <a:bodyPr/>
          <a:lstStyle/>
          <a:p>
            <a:pPr algn="l"/>
            <a:r>
              <a:rPr lang="en-GB" altLang="zh-CN" sz="3200" b="1" dirty="0"/>
              <a:t>HTTP1.1 R</a:t>
            </a:r>
            <a:r>
              <a:rPr lang="en-GB" altLang="en-US" sz="3200" b="1" dirty="0"/>
              <a:t>esponse Code</a:t>
            </a:r>
            <a:endParaRPr lang="en-GB" altLang="en-US" sz="3200" b="1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09600" y="990600"/>
          <a:ext cx="10744200" cy="5341620"/>
        </p:xfrm>
        <a:graphic>
          <a:graphicData uri="http://schemas.openxmlformats.org/drawingml/2006/table">
            <a:tbl>
              <a:tblPr/>
              <a:tblGrid>
                <a:gridCol w="1116720"/>
                <a:gridCol w="2705085"/>
                <a:gridCol w="6922395"/>
              </a:tblGrid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Code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phrase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illustrate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Continue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The beginning of the request has been accepted and the client can continue with his request.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Switching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The server agrees to the client's request and switches to the protocol defined in the Update header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Ok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Request Success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201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Created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new </a:t>
                      </a: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URL </a:t>
                      </a: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 created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Accepted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The request was accepted, but it is not working yet.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204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 accepted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There is no content in the message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301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Multiple choices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The requested </a:t>
                      </a: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URL </a:t>
                      </a: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refers to multiple resources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302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Moved permanently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the URL 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304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Moved temporarily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The requested </a:t>
                      </a: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URL </a:t>
                      </a: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has been temporarily moved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400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Bad request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There is a syntax error in the request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401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Unauthorized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Request lacks proper authorization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403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Forbidden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Service Denied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404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Not found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Document not found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405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Method not allowed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URL </a:t>
                      </a: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not supported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406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Not acceptable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The requested format is not acceptable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500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Server error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Server error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501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Not implemented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The requested action could not be completed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503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Service unavailable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The server is temporarily unavailable, but may accept requests later.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6928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73D036-CCB1-47FD-90EA-0E8F6B05FF9F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77F0BD-8E91-49F6-9AC9-77A8A9EEA725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131234" y="258764"/>
          <a:ext cx="11658600" cy="6340471"/>
        </p:xfrm>
        <a:graphic>
          <a:graphicData uri="http://schemas.openxmlformats.org/drawingml/2006/table">
            <a:tbl>
              <a:tblPr/>
              <a:tblGrid>
                <a:gridCol w="1211760"/>
                <a:gridCol w="2935306"/>
                <a:gridCol w="7511534"/>
              </a:tblGrid>
              <a:tr h="3337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代码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短语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7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Continue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请求的开始部分已经被接受，客户可以继续他的请求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7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Switching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服务器同意客户的请求，切换到更新报头中定义的协议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7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Ok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请求成功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7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201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Created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新的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URL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被创建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7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Accepted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请求被接受，但还没有马上起作用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7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204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 accepted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报文中没有内容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7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301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Multiple choices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所请求的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URL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指向多个资源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7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302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Moved permanently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服务器已经不再使用所使用的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URL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7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304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Moved temporarily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所请求的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URL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已暂时地移走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7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400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Bad request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在请求中有语法错误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7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401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Unauthorized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请求缺乏适当的授权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7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403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Forbidden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服务被拒绝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7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404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Not found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文档未发现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7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405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Method not allowed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URL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不支持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7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406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Not acceptable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所请求的格式不可接受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7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500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Server error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服务器端出错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7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501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Not implemented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所请求的动作不能完成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7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503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Service unavailable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服务器暂时不可使用，但以后可能接受请求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11430000" cy="609600"/>
          </a:xfrm>
        </p:spPr>
        <p:txBody>
          <a:bodyPr/>
          <a:lstStyle/>
          <a:p>
            <a:pPr algn="l"/>
            <a:r>
              <a:rPr lang="en-US" altLang="en-US" sz="3200" b="1" dirty="0"/>
              <a:t>I</a:t>
            </a:r>
            <a:r>
              <a:rPr lang="en-GB" altLang="en-US" sz="3200" b="1" dirty="0"/>
              <a:t>nteractive process of </a:t>
            </a:r>
            <a:r>
              <a:rPr lang="en-US" altLang="en-US" sz="3200" b="1" dirty="0"/>
              <a:t>R</a:t>
            </a:r>
            <a:r>
              <a:rPr lang="en-GB" altLang="en-US" sz="3200" b="1" dirty="0"/>
              <a:t>equest and </a:t>
            </a:r>
            <a:r>
              <a:rPr lang="en-US" altLang="en-US" sz="3200" b="1" dirty="0"/>
              <a:t>R</a:t>
            </a:r>
            <a:r>
              <a:rPr lang="en-GB" altLang="en-US" sz="3200" b="1" dirty="0"/>
              <a:t>esponse messages</a:t>
            </a:r>
            <a:endParaRPr lang="en-GB" altLang="en-US" sz="3200" b="1" dirty="0"/>
          </a:p>
        </p:txBody>
      </p:sp>
      <p:sp>
        <p:nvSpPr>
          <p:cNvPr id="38916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5EA7279-2AD0-4986-87AA-E5D83575A8DB}" type="slidenum">
              <a:rPr lang="en-US" altLang="zh-CN" sz="1400"/>
            </a:fld>
            <a:endParaRPr lang="en-US" altLang="zh-CN" sz="1400"/>
          </a:p>
        </p:txBody>
      </p:sp>
      <p:graphicFrame>
        <p:nvGraphicFramePr>
          <p:cNvPr id="6" name="对象 1"/>
          <p:cNvGraphicFramePr>
            <a:graphicFrameLocks noChangeAspect="1"/>
          </p:cNvGraphicFramePr>
          <p:nvPr/>
        </p:nvGraphicFramePr>
        <p:xfrm>
          <a:off x="228600" y="976745"/>
          <a:ext cx="11734800" cy="586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5" name="Visio" r:id="rId1" imgW="8434070" imgH="3190875" progId="Visio.Drawing.11">
                  <p:embed/>
                </p:oleObj>
              </mc:Choice>
              <mc:Fallback>
                <p:oleObj name="Visio" r:id="rId1" imgW="8434070" imgH="3190875" progId="Visio.Drawing.11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976745"/>
                        <a:ext cx="11734800" cy="586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>
          <a:xfrm>
            <a:off x="2209800" y="190392"/>
            <a:ext cx="7239001" cy="533400"/>
          </a:xfrm>
        </p:spPr>
        <p:txBody>
          <a:bodyPr/>
          <a:lstStyle/>
          <a:p>
            <a:r>
              <a:rPr lang="en-GB" altLang="zh-CN" sz="2800" b="1" dirty="0">
                <a:solidFill>
                  <a:srgbClr val="FF0000"/>
                </a:solidFill>
              </a:rPr>
              <a:t>POST </a:t>
            </a:r>
            <a:r>
              <a:rPr lang="en-GB" altLang="en-US" sz="2800" b="1" dirty="0">
                <a:solidFill>
                  <a:srgbClr val="FF0000"/>
                </a:solidFill>
              </a:rPr>
              <a:t>Method</a:t>
            </a:r>
            <a:endParaRPr lang="en-GB" alt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500" y="709395"/>
            <a:ext cx="11811000" cy="2872005"/>
          </a:xfrm>
        </p:spPr>
        <p:txBody>
          <a:bodyPr/>
          <a:lstStyle/>
          <a:p>
            <a:r>
              <a:rPr lang="en-US" sz="2000" b="1" dirty="0"/>
              <a:t>POST Method: </a:t>
            </a:r>
            <a:r>
              <a:rPr lang="en-US" sz="2000" dirty="0"/>
              <a:t>Uploads a representation of a resource to a specified server URL, without dictating how the server should process the newly provided resource.</a:t>
            </a:r>
            <a:endParaRPr lang="en-US" sz="2000" dirty="0"/>
          </a:p>
          <a:p>
            <a:r>
              <a:rPr lang="en-US" sz="2000" b="1" dirty="0"/>
              <a:t>Use Cases</a:t>
            </a:r>
            <a:br>
              <a:rPr lang="en-US" sz="2000" dirty="0"/>
            </a:br>
            <a:r>
              <a:rPr lang="en-US" sz="2000" dirty="0"/>
              <a:t>Designed for non-repeatable, non-idempotent operations that modify server state—typically used for submission actions.</a:t>
            </a:r>
            <a:endParaRPr lang="en-US" sz="2000" dirty="0"/>
          </a:p>
          <a:p>
            <a:r>
              <a:rPr lang="en-US" sz="2000" b="1" dirty="0"/>
              <a:t>Example Scenarios</a:t>
            </a:r>
            <a:endParaRPr lang="en-US" sz="2000" dirty="0"/>
          </a:p>
          <a:p>
            <a:pPr lvl="1"/>
            <a:r>
              <a:rPr lang="en-US" sz="1600" dirty="0"/>
              <a:t>Placing an order in a transaction (completes a submission)</a:t>
            </a:r>
            <a:endParaRPr lang="en-US" sz="1600" dirty="0"/>
          </a:p>
          <a:p>
            <a:pPr lvl="1"/>
            <a:r>
              <a:rPr lang="en-US" sz="1600" dirty="0"/>
              <a:t>Example: A POST request sending form data to a server</a:t>
            </a:r>
            <a:endParaRPr lang="en-US" sz="1600" dirty="0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63551" y="4010133"/>
            <a:ext cx="8778875" cy="193833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/>
              <a:t>POST /register.jsp HTTP/1.1</a:t>
            </a:r>
            <a:endParaRPr lang="en-GB" altLang="zh-CN" sz="20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/>
              <a:t>Host: www.cafeaulait.org</a:t>
            </a:r>
            <a:endParaRPr lang="en-GB" altLang="zh-CN" sz="20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/>
              <a:t>Content-type: application/x-www-form-urlencoded</a:t>
            </a:r>
            <a:endParaRPr lang="en-GB" altLang="zh-CN" sz="20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/>
              <a:t>Content-length: 54</a:t>
            </a:r>
            <a:endParaRPr lang="en-GB" altLang="zh-CN" sz="20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/>
              <a:t>username=elliotte&amp;email=elharo%40ibiblio.org</a:t>
            </a:r>
            <a:endParaRPr lang="en-GB" altLang="zh-CN" sz="2000"/>
          </a:p>
        </p:txBody>
      </p:sp>
      <p:pic>
        <p:nvPicPr>
          <p:cNvPr id="4301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3935413"/>
            <a:ext cx="5394088" cy="2087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4A2E0D-9906-4864-93EC-ABE9A0DA1ECA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>
          <a:xfrm>
            <a:off x="2133600" y="115599"/>
            <a:ext cx="8540750" cy="463839"/>
          </a:xfrm>
        </p:spPr>
        <p:txBody>
          <a:bodyPr/>
          <a:lstStyle/>
          <a:p>
            <a:r>
              <a:rPr lang="en-GB" altLang="zh-CN" sz="2800" b="1" dirty="0">
                <a:solidFill>
                  <a:srgbClr val="FF0000"/>
                </a:solidFill>
              </a:rPr>
              <a:t>DELETE </a:t>
            </a:r>
            <a:r>
              <a:rPr lang="en-GB" altLang="en-US" sz="2800" b="1" dirty="0">
                <a:solidFill>
                  <a:srgbClr val="FF0000"/>
                </a:solidFill>
              </a:rPr>
              <a:t>and </a:t>
            </a:r>
            <a:r>
              <a:rPr lang="en-GB" altLang="zh-CN" sz="2800" b="1" dirty="0">
                <a:solidFill>
                  <a:srgbClr val="FF0000"/>
                </a:solidFill>
              </a:rPr>
              <a:t>PUT </a:t>
            </a:r>
            <a:r>
              <a:rPr lang="en-GB" altLang="en-US" sz="2800" b="1" dirty="0">
                <a:solidFill>
                  <a:srgbClr val="FF0000"/>
                </a:solidFill>
              </a:rPr>
              <a:t>Methods</a:t>
            </a:r>
            <a:endParaRPr lang="en-GB" altLang="en-US" sz="2800" b="1" dirty="0">
              <a:solidFill>
                <a:srgbClr val="FF0000"/>
              </a:solidFill>
            </a:endParaRPr>
          </a:p>
        </p:txBody>
      </p:sp>
      <p:sp>
        <p:nvSpPr>
          <p:cNvPr id="45059" name="内容占位符 2"/>
          <p:cNvSpPr>
            <a:spLocks noGrp="1"/>
          </p:cNvSpPr>
          <p:nvPr>
            <p:ph idx="1"/>
          </p:nvPr>
        </p:nvSpPr>
        <p:spPr>
          <a:xfrm>
            <a:off x="450130" y="579438"/>
            <a:ext cx="11513270" cy="1252538"/>
          </a:xfrm>
        </p:spPr>
        <p:txBody>
          <a:bodyPr/>
          <a:lstStyle/>
          <a:p>
            <a:r>
              <a:rPr lang="en-GB" altLang="zh-CN" sz="2400" dirty="0">
                <a:solidFill>
                  <a:srgbClr val="FF0000"/>
                </a:solidFill>
              </a:rPr>
              <a:t>DELETE </a:t>
            </a:r>
            <a:r>
              <a:rPr lang="en-GB" altLang="en-US" sz="2400" dirty="0">
                <a:solidFill>
                  <a:srgbClr val="FF0000"/>
                </a:solidFill>
              </a:rPr>
              <a:t>method </a:t>
            </a:r>
            <a:r>
              <a:rPr lang="en-GB" altLang="zh-CN" sz="2400" dirty="0"/>
              <a:t>: </a:t>
            </a:r>
            <a:r>
              <a:rPr lang="en-GB" altLang="en-US" sz="2400" dirty="0"/>
              <a:t>Delete a resource </a:t>
            </a:r>
            <a:endParaRPr lang="en-US" altLang="zh-CN" sz="2400" dirty="0"/>
          </a:p>
          <a:p>
            <a:r>
              <a:rPr lang="en-GB" altLang="zh-CN" sz="2400" dirty="0">
                <a:solidFill>
                  <a:srgbClr val="FF0000"/>
                </a:solidFill>
              </a:rPr>
              <a:t>PUT </a:t>
            </a:r>
            <a:r>
              <a:rPr lang="en-GB" altLang="en-US" sz="2400" dirty="0">
                <a:solidFill>
                  <a:srgbClr val="FF0000"/>
                </a:solidFill>
              </a:rPr>
              <a:t>method </a:t>
            </a:r>
            <a:r>
              <a:rPr lang="en-GB" altLang="zh-CN" sz="2400" dirty="0"/>
              <a:t>: </a:t>
            </a:r>
            <a:r>
              <a:rPr lang="en-GB" altLang="en-US" sz="2400" dirty="0"/>
              <a:t>uploads a representation of a resource to a server at a known </a:t>
            </a:r>
            <a:r>
              <a:rPr lang="en-GB" altLang="zh-CN" sz="2400" dirty="0"/>
              <a:t>URL </a:t>
            </a:r>
            <a:endParaRPr lang="en-GB" altLang="en-US" sz="24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200" dirty="0"/>
              <a:t>PUT </a:t>
            </a:r>
            <a:r>
              <a:rPr lang="en-GB" altLang="en-US" sz="2200" dirty="0"/>
              <a:t>request example, </a:t>
            </a:r>
            <a:r>
              <a:rPr lang="en-US" altLang="en-US" sz="2200" dirty="0"/>
              <a:t>A</a:t>
            </a:r>
            <a:r>
              <a:rPr lang="en-GB" altLang="zh-CN" sz="2200" dirty="0"/>
              <a:t> put request to upload an Atom </a:t>
            </a:r>
            <a:r>
              <a:rPr lang="en-GB" altLang="en-US" sz="2200" dirty="0"/>
              <a:t>document :</a:t>
            </a:r>
            <a:endParaRPr lang="en-GB" altLang="en-US" sz="2200" dirty="0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304800" y="2284557"/>
            <a:ext cx="11353800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b="1" dirty="0"/>
              <a:t>PUT /blog/software-development/the-power-of-pomodoros/ HTTP/1.1</a:t>
            </a:r>
            <a:endParaRPr lang="en-GB" altLang="zh-CN" sz="20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b="1" dirty="0"/>
              <a:t>Host: elharo.com</a:t>
            </a:r>
            <a:endParaRPr lang="en-GB" altLang="zh-CN" sz="20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b="1" dirty="0"/>
              <a:t>User-Agent: AtomMaker/1.0</a:t>
            </a:r>
            <a:endParaRPr lang="en-GB" altLang="zh-CN" sz="20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b="1" dirty="0"/>
              <a:t>Authorization: Basic ZGFmZnk6c2VjZXJldA==</a:t>
            </a:r>
            <a:endParaRPr lang="en-GB" altLang="zh-CN" sz="20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b="1" dirty="0"/>
              <a:t>Content-Type: application/atom+xml;type=entry</a:t>
            </a:r>
            <a:endParaRPr lang="en-GB" altLang="zh-CN" sz="20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b="1" dirty="0"/>
              <a:t>Content-Length: 322</a:t>
            </a:r>
            <a:endParaRPr lang="en-GB" altLang="zh-CN" sz="20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&lt;?xml version="1.0"?&gt;</a:t>
            </a:r>
            <a:endParaRPr lang="en-GB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&lt;entry xmlns="http://www.w3.org/2005/Atom"&gt;</a:t>
            </a:r>
            <a:endParaRPr lang="en-GB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&lt;title&gt;The Power of Pomodoros&lt;/title&gt;</a:t>
            </a:r>
            <a:endParaRPr lang="en-GB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&lt;id&gt;urn:uuid:101a41a6-722b-4d9b-8afb-ccfb01d77499&lt;/id&gt;</a:t>
            </a:r>
            <a:endParaRPr lang="en-GB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&lt;updated&gt;2013-02-22T19:40:52Z&lt;/updated&gt;</a:t>
            </a:r>
            <a:endParaRPr lang="en-GB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&lt;author&gt;&lt;name&gt;Elliotte Harold&lt;/name&gt;&lt;/author&gt;</a:t>
            </a:r>
            <a:endParaRPr lang="en-GB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&lt;content&gt;I hadn't paid much attention to Pomodoro...&lt;/content&gt;</a:t>
            </a:r>
            <a:endParaRPr lang="en-GB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&lt;/entry&gt;</a:t>
            </a:r>
            <a:endParaRPr lang="en-GB" altLang="zh-CN" sz="1800" dirty="0"/>
          </a:p>
        </p:txBody>
      </p:sp>
      <p:sp>
        <p:nvSpPr>
          <p:cNvPr id="45061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F097C5-76CB-4516-8DAD-DE104E012E37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>
          <a:xfrm>
            <a:off x="1825625" y="139700"/>
            <a:ext cx="8540750" cy="598488"/>
          </a:xfrm>
        </p:spPr>
        <p:txBody>
          <a:bodyPr/>
          <a:lstStyle/>
          <a:p>
            <a:r>
              <a:rPr lang="en-GB" altLang="zh-CN" sz="2800" b="1" dirty="0">
                <a:solidFill>
                  <a:srgbClr val="FF0000"/>
                </a:solidFill>
              </a:rPr>
              <a:t>HEAD </a:t>
            </a:r>
            <a:r>
              <a:rPr lang="en-GB" altLang="en-US" sz="2800" b="1" dirty="0">
                <a:solidFill>
                  <a:srgbClr val="FF0000"/>
                </a:solidFill>
              </a:rPr>
              <a:t>Method</a:t>
            </a:r>
            <a:endParaRPr lang="en-GB" alt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685801"/>
            <a:ext cx="11277599" cy="2133599"/>
          </a:xfrm>
        </p:spPr>
        <p:txBody>
          <a:bodyPr/>
          <a:lstStyle/>
          <a:p>
            <a:r>
              <a:rPr lang="en-GB" altLang="zh-CN" sz="2800" dirty="0">
                <a:solidFill>
                  <a:srgbClr val="FF0000"/>
                </a:solidFill>
              </a:rPr>
              <a:t>HEAD </a:t>
            </a:r>
            <a:r>
              <a:rPr lang="en-GB" altLang="en-US" sz="2800" dirty="0">
                <a:solidFill>
                  <a:srgbClr val="FF0000"/>
                </a:solidFill>
              </a:rPr>
              <a:t>method </a:t>
            </a:r>
            <a:r>
              <a:rPr lang="en-GB" altLang="en-US" sz="2800" dirty="0"/>
              <a:t>: </a:t>
            </a:r>
            <a:r>
              <a:rPr lang="en-US" altLang="en-US" sz="2800" dirty="0"/>
              <a:t>R</a:t>
            </a:r>
            <a:r>
              <a:rPr lang="en-GB" altLang="en-US" sz="2800" dirty="0"/>
              <a:t>eturns only the resource information header, not the resource content</a:t>
            </a:r>
            <a:endParaRPr lang="en-US" altLang="zh-CN" sz="2800" dirty="0"/>
          </a:p>
          <a:p>
            <a:pPr marL="457200" lvl="1" indent="0">
              <a:buNone/>
            </a:pPr>
            <a:r>
              <a:rPr lang="en-GB" altLang="en-US" sz="2400" dirty="0"/>
              <a:t>Can be used to check if resources have been updated</a:t>
            </a:r>
            <a:endParaRPr lang="en-US" altLang="zh-CN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java HTTPGet http://www.szu.edu.cn/images/index/s20151.jpg</a:t>
            </a:r>
            <a:endParaRPr lang="zh-CN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710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330575"/>
            <a:ext cx="5657850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E79A15-F1EF-4A6D-AABC-6FD7243475A6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657600"/>
            <a:ext cx="8534400" cy="914400"/>
          </a:xfrm>
        </p:spPr>
        <p:txBody>
          <a:bodyPr/>
          <a:lstStyle/>
          <a:p>
            <a:r>
              <a:rPr lang="en-GB" altLang="en-US" b="1" dirty="0">
                <a:solidFill>
                  <a:schemeClr val="tx2"/>
                </a:solidFill>
              </a:rPr>
              <a:t>and </a:t>
            </a:r>
            <a:r>
              <a:rPr lang="en-US" altLang="en-US" b="1" dirty="0">
                <a:solidFill>
                  <a:schemeClr val="tx2"/>
                </a:solidFill>
              </a:rPr>
              <a:t>S</a:t>
            </a:r>
            <a:r>
              <a:rPr lang="en-GB" altLang="en-US" b="1" dirty="0">
                <a:solidFill>
                  <a:schemeClr val="tx2"/>
                </a:solidFill>
              </a:rPr>
              <a:t>ession </a:t>
            </a:r>
            <a:r>
              <a:rPr lang="en-US" altLang="en-US" b="1" dirty="0">
                <a:solidFill>
                  <a:schemeClr val="tx2"/>
                </a:solidFill>
              </a:rPr>
              <a:t>P</a:t>
            </a:r>
            <a:r>
              <a:rPr lang="en-GB" altLang="en-US" b="1" dirty="0">
                <a:solidFill>
                  <a:schemeClr val="tx2"/>
                </a:solidFill>
              </a:rPr>
              <a:t>reservation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2C86FF-A43F-4F4B-B4EB-1EB103983305}" type="slidenum">
              <a:rPr lang="en-US" altLang="zh-CN" smtClean="0"/>
            </a:fld>
            <a:endParaRPr lang="en-US" altLang="zh-CN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76200" y="2302164"/>
            <a:ext cx="10363200" cy="1143000"/>
          </a:xfrm>
        </p:spPr>
        <p:txBody>
          <a:bodyPr/>
          <a:lstStyle/>
          <a:p>
            <a:r>
              <a:rPr lang="en-GB" altLang="zh-CN" sz="3200" b="1" dirty="0"/>
              <a:t> 4. HTTP </a:t>
            </a:r>
            <a:r>
              <a:rPr lang="en-US" altLang="zh-CN" sz="3200" b="1" dirty="0"/>
              <a:t>C</a:t>
            </a:r>
            <a:r>
              <a:rPr lang="en-GB" altLang="en-US" sz="3200" b="1" dirty="0"/>
              <a:t>onnection Session</a:t>
            </a:r>
            <a:endParaRPr lang="en-GB" altLang="en-US" sz="3200" b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xfrm>
            <a:off x="304800" y="254000"/>
            <a:ext cx="11485034" cy="558800"/>
          </a:xfrm>
        </p:spPr>
        <p:txBody>
          <a:bodyPr/>
          <a:lstStyle/>
          <a:p>
            <a:r>
              <a:rPr lang="en-GB" altLang="zh-CN" sz="3200" b="1" dirty="0"/>
              <a:t> HTTP </a:t>
            </a:r>
            <a:r>
              <a:rPr lang="en-US" altLang="zh-CN" sz="3200" b="1" dirty="0"/>
              <a:t>C</a:t>
            </a:r>
            <a:r>
              <a:rPr lang="en-GB" altLang="en-US" sz="3200" b="1" dirty="0"/>
              <a:t>onnection Session and </a:t>
            </a:r>
            <a:r>
              <a:rPr lang="en-US" altLang="en-US" sz="3200" b="1" dirty="0"/>
              <a:t>S</a:t>
            </a:r>
            <a:r>
              <a:rPr lang="en-GB" altLang="en-US" sz="3200" b="1" dirty="0"/>
              <a:t>ession preservation</a:t>
            </a:r>
            <a:endParaRPr lang="en-GB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" y="914401"/>
            <a:ext cx="11963400" cy="5410199"/>
          </a:xfrm>
        </p:spPr>
        <p:txBody>
          <a:bodyPr/>
          <a:lstStyle/>
          <a:p>
            <a:r>
              <a:rPr lang="en-US" sz="2800" b="1" dirty="0"/>
              <a:t>What is a Session</a:t>
            </a:r>
            <a:r>
              <a:rPr lang="zh-CN" altLang="en-US" sz="2800" b="1" dirty="0"/>
              <a:t>【会话】</a:t>
            </a:r>
            <a:r>
              <a:rPr lang="en-US" sz="2800" b="1" dirty="0"/>
              <a:t>?</a:t>
            </a:r>
            <a:endParaRPr lang="en-US" sz="2800" dirty="0"/>
          </a:p>
          <a:p>
            <a:pPr lvl="1"/>
            <a:r>
              <a:rPr lang="en-US" sz="2400" dirty="0"/>
              <a:t>A </a:t>
            </a:r>
            <a:r>
              <a:rPr lang="en-US" sz="2400" b="1" dirty="0"/>
              <a:t>session</a:t>
            </a:r>
            <a:r>
              <a:rPr lang="en-US" sz="2400" dirty="0"/>
              <a:t> refers to a </a:t>
            </a:r>
            <a:r>
              <a:rPr lang="en-US" sz="2400" b="1" dirty="0"/>
              <a:t>sequence of interactions</a:t>
            </a:r>
            <a:r>
              <a:rPr lang="en-US" sz="2400" dirty="0"/>
              <a:t> between a user’s browser and a server, starting when the user opens the browser and ending when they close it.</a:t>
            </a:r>
            <a:endParaRPr lang="en-US" sz="2400" dirty="0"/>
          </a:p>
          <a:p>
            <a:pPr lvl="1"/>
            <a:r>
              <a:rPr lang="en-US" sz="2400" dirty="0"/>
              <a:t>Includes all actions </a:t>
            </a:r>
            <a:r>
              <a:rPr lang="en-US" sz="2400" u="sng" dirty="0"/>
              <a:t>(clicking links</a:t>
            </a:r>
            <a:r>
              <a:rPr lang="en-US" sz="2400" dirty="0"/>
              <a:t>, </a:t>
            </a:r>
            <a:r>
              <a:rPr lang="en-US" sz="2400" u="sng" dirty="0"/>
              <a:t>loading resources</a:t>
            </a:r>
            <a:r>
              <a:rPr lang="en-US" sz="2400" dirty="0"/>
              <a:t>) across multiple pages.</a:t>
            </a:r>
            <a:endParaRPr lang="en-US" sz="2400" dirty="0"/>
          </a:p>
          <a:p>
            <a:pPr lvl="1"/>
            <a:r>
              <a:rPr lang="en-US" sz="2400" dirty="0"/>
              <a:t>Example: Visiting a shopping site, adding items to the cart, and checking out.</a:t>
            </a:r>
            <a:endParaRPr lang="en-US" sz="2400" dirty="0"/>
          </a:p>
          <a:p>
            <a:r>
              <a:rPr lang="en-GB" altLang="en-US" sz="2400" dirty="0"/>
              <a:t>Stateful Sessions</a:t>
            </a:r>
            <a:endParaRPr lang="en-US" altLang="zh-CN" sz="2400" dirty="0"/>
          </a:p>
          <a:p>
            <a:pPr lvl="1"/>
            <a:r>
              <a:rPr lang="en-GB" altLang="zh-CN" sz="2000" dirty="0"/>
              <a:t> </a:t>
            </a:r>
            <a:r>
              <a:rPr lang="en-US" altLang="zh-CN" sz="2000" dirty="0"/>
              <a:t>For </a:t>
            </a:r>
            <a:r>
              <a:rPr lang="en-US" altLang="zh-CN" sz="2000" dirty="0" err="1"/>
              <a:t>Eg.</a:t>
            </a:r>
            <a:r>
              <a:rPr lang="en-US" altLang="zh-CN" sz="2000" dirty="0"/>
              <a:t> </a:t>
            </a:r>
            <a:r>
              <a:rPr lang="en-GB" altLang="en-US" sz="2000" dirty="0"/>
              <a:t>If a student has been to the classroom, </a:t>
            </a:r>
            <a:r>
              <a:rPr lang="en-US" altLang="en-US" sz="2000" dirty="0"/>
              <a:t>The </a:t>
            </a:r>
            <a:r>
              <a:rPr lang="en-GB" altLang="en-US" sz="2000" dirty="0"/>
              <a:t>next time he comes to the classroom, he/she will know that he has been there before. This is called a stateful session.</a:t>
            </a:r>
            <a:endParaRPr lang="en-GB" altLang="en-US" sz="2000" dirty="0"/>
          </a:p>
          <a:p>
            <a:r>
              <a:rPr lang="en-US" altLang="zh-CN" sz="2400" dirty="0"/>
              <a:t>Session Tracking:</a:t>
            </a:r>
            <a:endParaRPr lang="en-US" altLang="zh-CN" sz="2400" dirty="0"/>
          </a:p>
          <a:p>
            <a:pPr lvl="1"/>
            <a:r>
              <a:rPr lang="en-US" altLang="zh-CN" sz="2000" dirty="0"/>
              <a:t>Servers use </a:t>
            </a:r>
            <a:r>
              <a:rPr lang="en-US" altLang="zh-CN" sz="2000" b="1" dirty="0"/>
              <a:t>cookies </a:t>
            </a:r>
            <a:r>
              <a:rPr lang="en-US" altLang="zh-CN" sz="2000" dirty="0"/>
              <a:t>or </a:t>
            </a:r>
            <a:r>
              <a:rPr lang="en-US" altLang="zh-CN" sz="2000" b="1" dirty="0"/>
              <a:t>session IDs</a:t>
            </a:r>
            <a:r>
              <a:rPr lang="en-US" altLang="zh-CN" sz="2000" dirty="0"/>
              <a:t> to link requests to the same user.</a:t>
            </a:r>
            <a:endParaRPr lang="en-US" altLang="zh-CN" sz="2000" dirty="0"/>
          </a:p>
          <a:p>
            <a:pPr lvl="1"/>
            <a:r>
              <a:rPr lang="en-US" altLang="zh-CN" sz="2000" dirty="0"/>
              <a:t>Without tracking, the server treats each request as independent (HTTP is stateless).</a:t>
            </a:r>
            <a:endParaRPr lang="en-US" altLang="zh-CN" sz="2000" dirty="0"/>
          </a:p>
          <a:p>
            <a:pPr lvl="1"/>
            <a:r>
              <a:rPr lang="en-US" altLang="zh-CN" sz="2000" dirty="0"/>
              <a:t>Session Termination: Ends when the browser closes (for session cookies) or after inactivity (e.g., 30 mins).</a:t>
            </a:r>
            <a:endParaRPr lang="en-US" altLang="zh-CN" sz="2000" dirty="0"/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2E8064-47C8-4893-8CF7-3226DB4ACF21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>
          <a:xfrm>
            <a:off x="1600200" y="304800"/>
            <a:ext cx="8540750" cy="761998"/>
          </a:xfrm>
        </p:spPr>
        <p:txBody>
          <a:bodyPr/>
          <a:lstStyle/>
          <a:p>
            <a:r>
              <a:rPr lang="en-US" sz="4000" b="1" dirty="0"/>
              <a:t>Session Tracking</a:t>
            </a:r>
            <a:endParaRPr lang="zh-CN" altLang="en-US" sz="4000" b="1" dirty="0"/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>
          <a:xfrm>
            <a:off x="190500" y="1143000"/>
            <a:ext cx="11810999" cy="5289549"/>
          </a:xfrm>
        </p:spPr>
        <p:txBody>
          <a:bodyPr/>
          <a:lstStyle/>
          <a:p>
            <a:r>
              <a:rPr lang="en-US" b="1" dirty="0"/>
              <a:t>Requirements for Session Tracking in Web Applications</a:t>
            </a:r>
            <a:endParaRPr lang="en-US" dirty="0"/>
          </a:p>
          <a:p>
            <a:pPr lvl="1"/>
            <a:r>
              <a:rPr lang="en-US" dirty="0"/>
              <a:t>Session tracking is a critical aspect of web development. </a:t>
            </a:r>
            <a:endParaRPr lang="en-US" dirty="0"/>
          </a:p>
          <a:p>
            <a:pPr lvl="1"/>
            <a:r>
              <a:rPr lang="en-US" dirty="0"/>
              <a:t>In a properly functioning system:</a:t>
            </a:r>
            <a:endParaRPr lang="en-US" dirty="0"/>
          </a:p>
          <a:p>
            <a:pPr lvl="1"/>
            <a:r>
              <a:rPr lang="en-US" b="1" dirty="0"/>
              <a:t>Each user’s interactions must maintain session isolation</a:t>
            </a:r>
            <a:r>
              <a:rPr lang="en-US" dirty="0"/>
              <a:t>—all requests from </a:t>
            </a:r>
            <a:r>
              <a:rPr lang="en-US" b="1" dirty="0"/>
              <a:t>User A</a:t>
            </a:r>
            <a:r>
              <a:rPr lang="en-US" dirty="0"/>
              <a:t> should be associated exclusively with </a:t>
            </a:r>
            <a:r>
              <a:rPr lang="en-US" b="1" dirty="0"/>
              <a:t>Session A</a:t>
            </a:r>
            <a:r>
              <a:rPr lang="en-US" dirty="0"/>
              <a:t>, while </a:t>
            </a:r>
            <a:r>
              <a:rPr lang="en-US" b="1" dirty="0"/>
              <a:t>User B</a:t>
            </a:r>
            <a:r>
              <a:rPr lang="en-US" dirty="0"/>
              <a:t>’s requests belong to </a:t>
            </a:r>
            <a:r>
              <a:rPr lang="en-US" b="1" dirty="0"/>
              <a:t>Session B</a:t>
            </a:r>
            <a:r>
              <a:rPr lang="en-US" dirty="0"/>
              <a:t>, with no overlap.</a:t>
            </a:r>
            <a:endParaRPr lang="en-US" dirty="0"/>
          </a:p>
          <a:p>
            <a:pPr lvl="1"/>
            <a:r>
              <a:rPr lang="en-US" b="1" dirty="0"/>
              <a:t>Example</a:t>
            </a:r>
            <a:r>
              <a:rPr lang="en-US" dirty="0"/>
              <a:t>: In an e-commerce system, every item </a:t>
            </a:r>
            <a:r>
              <a:rPr lang="en-US" b="1" dirty="0"/>
              <a:t>User A</a:t>
            </a:r>
            <a:r>
              <a:rPr lang="en-US" dirty="0"/>
              <a:t> adds to their cart must consistently appear in </a:t>
            </a:r>
            <a:r>
              <a:rPr lang="en-US" b="1" dirty="0"/>
              <a:t>A’s cart</a:t>
            </a:r>
            <a:r>
              <a:rPr lang="en-US" dirty="0"/>
              <a:t>, regardless of when the action occurs. These items must never inadvertently</a:t>
            </a:r>
            <a:r>
              <a:rPr lang="zh-CN" altLang="en-US" dirty="0"/>
              <a:t>【无意中】</a:t>
            </a:r>
            <a:r>
              <a:rPr lang="en-US" dirty="0"/>
              <a:t> end up in </a:t>
            </a:r>
            <a:r>
              <a:rPr lang="en-US" b="1" dirty="0"/>
              <a:t>User B</a:t>
            </a:r>
            <a:r>
              <a:rPr lang="en-US" dirty="0"/>
              <a:t>’s or </a:t>
            </a:r>
            <a:r>
              <a:rPr lang="en-US" b="1" dirty="0"/>
              <a:t>User C</a:t>
            </a:r>
            <a:r>
              <a:rPr lang="en-US" dirty="0"/>
              <a:t>’s carts due to session mismanagement.</a:t>
            </a:r>
            <a:endParaRPr lang="en-US" dirty="0"/>
          </a:p>
          <a:p>
            <a:pPr marL="0" indent="0">
              <a:buNone/>
            </a:pPr>
            <a:endParaRPr lang="en-US" altLang="zh-CN" sz="2000" dirty="0"/>
          </a:p>
        </p:txBody>
      </p:sp>
      <p:sp>
        <p:nvSpPr>
          <p:cNvPr id="48132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5020F5-D202-488E-86EF-E3BA06E9550E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xfrm>
            <a:off x="1750675" y="517144"/>
            <a:ext cx="8540751" cy="549275"/>
          </a:xfrm>
        </p:spPr>
        <p:txBody>
          <a:bodyPr/>
          <a:lstStyle/>
          <a:p>
            <a:pPr algn="l"/>
            <a:r>
              <a:rPr lang="en-GB" altLang="en-US" sz="3200" b="1" dirty="0"/>
              <a:t>Two </a:t>
            </a:r>
            <a:r>
              <a:rPr lang="en-US" altLang="en-US" sz="3200" b="1" dirty="0"/>
              <a:t>T</a:t>
            </a:r>
            <a:r>
              <a:rPr lang="en-GB" altLang="en-US" sz="3200" b="1" dirty="0"/>
              <a:t>echniques for </a:t>
            </a:r>
            <a:r>
              <a:rPr lang="en-US" altLang="en-US" sz="3200" b="1" dirty="0"/>
              <a:t>S</a:t>
            </a:r>
            <a:r>
              <a:rPr lang="en-GB" altLang="en-US" sz="3200" b="1" dirty="0"/>
              <a:t>aving </a:t>
            </a:r>
            <a:r>
              <a:rPr lang="en-US" altLang="en-US" sz="3200" b="1" dirty="0"/>
              <a:t>S</a:t>
            </a:r>
            <a:r>
              <a:rPr lang="en-GB" altLang="en-US" sz="3200" b="1" dirty="0"/>
              <a:t>ession </a:t>
            </a:r>
            <a:r>
              <a:rPr lang="en-US" altLang="en-US" sz="3200" b="1" dirty="0"/>
              <a:t>Data</a:t>
            </a:r>
            <a:endParaRPr lang="en-GB" altLang="en-US" sz="3200" b="1" dirty="0"/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0137E3-F218-435B-8663-17170FFBD3E0}" type="slidenum">
              <a:rPr lang="en-US" altLang="zh-CN" sz="1400"/>
            </a:fld>
            <a:endParaRPr lang="en-US" altLang="zh-CN" sz="140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4200" y="1600200"/>
          <a:ext cx="11388725" cy="3577463"/>
        </p:xfrm>
        <a:graphic>
          <a:graphicData uri="http://schemas.openxmlformats.org/drawingml/2006/table">
            <a:tbl>
              <a:tblPr firstRow="1" firstCol="1" bandRow="1"/>
              <a:tblGrid>
                <a:gridCol w="2395200"/>
                <a:gridCol w="4542759"/>
                <a:gridCol w="4450766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Cookies (Client-Side)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Sessions (Server-Side)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Storage Location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Browser (as text files)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Server memory/database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 Security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Less secure (editable by users)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More secure (server-controlled)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Lifetime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Configurable (session-only or persistent)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Typically expires on browser closure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Impact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Minimal (data stored locally)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Higher (server resource usage)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 Capacity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Limited (~4KB per cookie)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Virtually unlimited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 Cases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Remembering login status</a:t>
                      </a:r>
                      <a:br>
                        <a:rPr lang="en-US" sz="1800" dirty="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800" dirty="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Tracking user preferences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Shopping carts</a:t>
                      </a:r>
                      <a:br>
                        <a:rPr lang="en-US" sz="1800" dirty="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800" dirty="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Sensitive data (e.g., auth tokens)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3E446E-572D-46B5-97A6-DA8BC88C21B2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2"/>
          <p:cNvSpPr/>
          <p:nvPr/>
        </p:nvSpPr>
        <p:spPr>
          <a:xfrm>
            <a:off x="381000" y="903500"/>
            <a:ext cx="115824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</a:pPr>
            <a:r>
              <a:rPr lang="en-US" sz="2800" b="1" dirty="0">
                <a:latin typeface="+mn-lt"/>
                <a:ea typeface="+mn-ea"/>
              </a:rPr>
              <a:t>Web</a:t>
            </a:r>
            <a:r>
              <a:rPr lang="en-US" sz="2400" b="1" dirty="0">
                <a:latin typeface="+mn-lt"/>
                <a:ea typeface="+mn-ea"/>
              </a:rPr>
              <a:t> applications rely on HTTP, a stateless protocol where:</a:t>
            </a:r>
            <a:endParaRPr lang="en-US" sz="2400" b="1" dirty="0">
              <a:latin typeface="+mn-lt"/>
              <a:ea typeface="+mn-ea"/>
            </a:endParaRPr>
          </a:p>
          <a:p>
            <a:pPr marL="800100" lvl="1" indent="-342900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</a:pPr>
            <a:r>
              <a:rPr lang="en-US" sz="2400" dirty="0">
                <a:latin typeface="+mn-lt"/>
                <a:ea typeface="+mn-ea"/>
              </a:rPr>
              <a:t>Each client-server interaction is independent—the connection closes after data exchange, requiring a new connection for further requests.</a:t>
            </a:r>
            <a:endParaRPr lang="en-US" sz="2400" dirty="0">
              <a:latin typeface="+mn-lt"/>
              <a:ea typeface="+mn-ea"/>
            </a:endParaRPr>
          </a:p>
          <a:p>
            <a:pPr marL="800100" lvl="1" indent="-342900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</a:pPr>
            <a:r>
              <a:rPr lang="en-US" sz="2400" dirty="0">
                <a:latin typeface="+mn-lt"/>
                <a:ea typeface="+mn-ea"/>
              </a:rPr>
              <a:t>By default, the server cannot link subsequent requests to the same user session.</a:t>
            </a:r>
            <a:endParaRPr lang="en-US" sz="2400" dirty="0">
              <a:latin typeface="+mn-lt"/>
              <a:ea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</a:pPr>
            <a:r>
              <a:rPr lang="en-US" sz="2800" b="1" dirty="0">
                <a:latin typeface="+mn-lt"/>
                <a:ea typeface="+mn-ea"/>
              </a:rPr>
              <a:t>Illustration:</a:t>
            </a:r>
            <a:endParaRPr lang="en-US" sz="2800" b="1" dirty="0">
              <a:latin typeface="+mn-lt"/>
              <a:ea typeface="+mn-ea"/>
            </a:endParaRPr>
          </a:p>
          <a:p>
            <a:pPr marL="800100" lvl="1" indent="-342900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</a:pPr>
            <a:r>
              <a:rPr lang="en-US" sz="2400" dirty="0">
                <a:latin typeface="+mn-lt"/>
                <a:ea typeface="+mn-ea"/>
              </a:rPr>
              <a:t>If User A adds a product to their cart, the server cannot automatically recognize subsequent requests (e.g., another cart addition) as part of A’s session without additional mechanisms.</a:t>
            </a:r>
            <a:endParaRPr lang="en-US" sz="2400" dirty="0">
              <a:latin typeface="+mn-lt"/>
              <a:ea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</a:pPr>
            <a:r>
              <a:rPr lang="en-US" sz="2800" b="1" dirty="0">
                <a:latin typeface="+mn-lt"/>
                <a:ea typeface="+mn-ea"/>
              </a:rPr>
              <a:t>Evolution of Session Tracking</a:t>
            </a:r>
            <a:endParaRPr lang="en-US" sz="2800" b="1" dirty="0">
              <a:latin typeface="+mn-lt"/>
              <a:ea typeface="+mn-ea"/>
            </a:endParaRPr>
          </a:p>
          <a:p>
            <a:pPr marL="800100" lvl="1" indent="-342900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</a:pPr>
            <a:r>
              <a:rPr lang="en-US" sz="2400" dirty="0">
                <a:latin typeface="+mn-lt"/>
                <a:ea typeface="+mn-ea"/>
              </a:rPr>
              <a:t>Before the advent of server-side Session technology, most websites relied exclusively on Cookies to maintain session continuity.</a:t>
            </a:r>
            <a:endParaRPr lang="en-US" sz="2400" dirty="0">
              <a:latin typeface="+mn-lt"/>
              <a:ea typeface="+mn-ea"/>
            </a:endParaRPr>
          </a:p>
          <a:p>
            <a:pPr marL="800100" lvl="1" indent="-342900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</a:pPr>
            <a:endParaRPr lang="en-US" sz="2400" dirty="0">
              <a:latin typeface="+mn-lt"/>
              <a:ea typeface="+mn-e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09800" y="217846"/>
            <a:ext cx="73239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85000"/>
            </a:pPr>
            <a:r>
              <a:rPr lang="en-US" sz="2800" b="1" dirty="0">
                <a:solidFill>
                  <a:schemeClr val="tx2"/>
                </a:solidFill>
              </a:rPr>
              <a:t>The Challenge of HTTP’s Stateless Nature</a:t>
            </a:r>
            <a:endParaRPr lang="en-US" sz="28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zh-CN" b="1" dirty="0"/>
              <a:t>5. Cookies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2C86FF-A43F-4F4B-B4EB-1EB10398330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>
          <a:xfrm>
            <a:off x="1601788" y="92076"/>
            <a:ext cx="8540750" cy="473075"/>
          </a:xfrm>
        </p:spPr>
        <p:txBody>
          <a:bodyPr/>
          <a:lstStyle/>
          <a:p>
            <a:r>
              <a:rPr lang="en-GB" altLang="zh-CN" sz="3200" b="1" dirty="0"/>
              <a:t>Cookies</a:t>
            </a:r>
            <a:endParaRPr lang="zh-CN" altLang="en-US" sz="3200" b="1" dirty="0"/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>
          <a:xfrm>
            <a:off x="131235" y="658608"/>
            <a:ext cx="11755965" cy="5818392"/>
          </a:xfrm>
        </p:spPr>
        <p:txBody>
          <a:bodyPr/>
          <a:lstStyle/>
          <a:p>
            <a:r>
              <a:rPr lang="en-US" sz="2000" b="1" dirty="0">
                <a:solidFill>
                  <a:srgbClr val="404040"/>
                </a:solidFill>
                <a:latin typeface="DeepSeek-CJK-patch"/>
              </a:rPr>
              <a:t>Understanding Cookies</a:t>
            </a:r>
            <a:endParaRPr lang="en-US" sz="2000" dirty="0">
              <a:solidFill>
                <a:srgbClr val="404040"/>
              </a:solidFill>
              <a:latin typeface="DeepSeek-CJK-patch"/>
            </a:endParaRPr>
          </a:p>
          <a:p>
            <a:r>
              <a:rPr lang="en-US" sz="2000" b="1" dirty="0">
                <a:solidFill>
                  <a:srgbClr val="404040"/>
                </a:solidFill>
                <a:latin typeface="DeepSeek-CJK-patch"/>
              </a:rPr>
              <a:t>Definition &amp; Origin : 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 The term </a:t>
            </a:r>
            <a:r>
              <a:rPr lang="en-US" sz="2000" i="1" dirty="0">
                <a:solidFill>
                  <a:srgbClr val="404040"/>
                </a:solidFill>
                <a:latin typeface="DeepSeek-CJK-patch"/>
              </a:rPr>
              <a:t>"Cookie"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 (inspired by "sweet cookies") refers to a client-side data storage mechanism.</a:t>
            </a:r>
            <a:endParaRPr lang="en-US" sz="2000" dirty="0">
              <a:solidFill>
                <a:srgbClr val="404040"/>
              </a:solidFill>
              <a:latin typeface="DeepSeek-CJK-patch"/>
            </a:endParaRPr>
          </a:p>
          <a:p>
            <a:r>
              <a:rPr lang="en-US" sz="2000" b="1" dirty="0">
                <a:solidFill>
                  <a:srgbClr val="404040"/>
                </a:solidFill>
                <a:latin typeface="DeepSeek-CJK-patch"/>
              </a:rPr>
              <a:t>Development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: Initially introduced by </a:t>
            </a:r>
            <a:r>
              <a:rPr lang="en-US" sz="2000" b="1" dirty="0">
                <a:solidFill>
                  <a:srgbClr val="404040"/>
                </a:solidFill>
                <a:latin typeface="DeepSeek-CJK-patch"/>
              </a:rPr>
              <a:t>Netscape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 and later standardized by the </a:t>
            </a:r>
            <a:r>
              <a:rPr lang="en-US" sz="2000" b="1" dirty="0">
                <a:solidFill>
                  <a:srgbClr val="404040"/>
                </a:solidFill>
                <a:latin typeface="DeepSeek-CJK-patch"/>
              </a:rPr>
              <a:t>W3C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, cookies are now universally supported by all major browsers (Chrome, Firefox, Safari, Edge, etc.).</a:t>
            </a:r>
            <a:endParaRPr lang="en-US" sz="2000" dirty="0">
              <a:solidFill>
                <a:srgbClr val="404040"/>
              </a:solidFill>
              <a:latin typeface="DeepSeek-CJK-patch"/>
            </a:endParaRPr>
          </a:p>
          <a:p>
            <a:pPr marL="0" indent="0">
              <a:buNone/>
            </a:pPr>
            <a:r>
              <a:rPr lang="en-US" sz="2000" b="1" dirty="0"/>
              <a:t>How Cookies Work</a:t>
            </a:r>
            <a:endParaRPr lang="en-US" sz="1600" dirty="0"/>
          </a:p>
          <a:p>
            <a:pPr lvl="0"/>
            <a:r>
              <a:rPr lang="en-US" sz="2000" b="1" dirty="0"/>
              <a:t>Server-Client Interaction</a:t>
            </a:r>
            <a:r>
              <a:rPr lang="en-US" sz="2000" dirty="0"/>
              <a:t>:</a:t>
            </a:r>
            <a:endParaRPr lang="en-US" sz="1800" dirty="0"/>
          </a:p>
          <a:p>
            <a:pPr lvl="1"/>
            <a:r>
              <a:rPr lang="en-US" sz="1800" dirty="0"/>
              <a:t>The </a:t>
            </a:r>
            <a:r>
              <a:rPr lang="en-US" sz="1800" b="1" dirty="0"/>
              <a:t>server</a:t>
            </a:r>
            <a:r>
              <a:rPr lang="en-US" sz="1800" dirty="0"/>
              <a:t> sends a small piece of data (a cookie) to the </a:t>
            </a:r>
            <a:r>
              <a:rPr lang="en-US" sz="1800" b="1" dirty="0"/>
              <a:t>client’s browser</a:t>
            </a:r>
            <a:r>
              <a:rPr lang="en-US" sz="1800" dirty="0"/>
              <a:t>. For Example</a:t>
            </a:r>
            <a:endParaRPr lang="en-US" sz="1600" dirty="0"/>
          </a:p>
          <a:p>
            <a:pPr lvl="1" latinLnBrk="1"/>
            <a:r>
              <a:rPr lang="en-US" sz="1600" dirty="0"/>
              <a:t>HTTP/1.1 200 OK  </a:t>
            </a:r>
            <a:endParaRPr lang="en-US" sz="2400" dirty="0"/>
          </a:p>
          <a:p>
            <a:pPr lvl="1" latinLnBrk="1"/>
            <a:r>
              <a:rPr lang="en-US" sz="1600" dirty="0"/>
              <a:t>Set-Cookie: </a:t>
            </a:r>
            <a:r>
              <a:rPr lang="en-US" sz="1600" dirty="0" err="1"/>
              <a:t>session_id</a:t>
            </a:r>
            <a:r>
              <a:rPr lang="en-US" sz="1600" dirty="0"/>
              <a:t>=abc123; Path=/  </a:t>
            </a:r>
            <a:endParaRPr lang="en-US" sz="2400" dirty="0"/>
          </a:p>
          <a:p>
            <a:pPr lvl="0"/>
            <a:r>
              <a:rPr lang="en-US" sz="2000" b="1" dirty="0"/>
              <a:t>Client-Side Storage</a:t>
            </a:r>
            <a:r>
              <a:rPr lang="en-US" sz="2000" dirty="0"/>
              <a:t>:</a:t>
            </a:r>
            <a:endParaRPr lang="en-US" sz="1800" dirty="0"/>
          </a:p>
          <a:p>
            <a:pPr lvl="1"/>
            <a:r>
              <a:rPr lang="en-US" sz="1800" dirty="0"/>
              <a:t>The browser stores the cookie as a </a:t>
            </a:r>
            <a:r>
              <a:rPr lang="en-US" sz="1800" b="1" dirty="0"/>
              <a:t>text file</a:t>
            </a:r>
            <a:r>
              <a:rPr lang="en-US" sz="1800" dirty="0"/>
              <a:t> (e.g., </a:t>
            </a:r>
            <a:r>
              <a:rPr lang="en-US" sz="1400" dirty="0"/>
              <a:t>example.com_cookies.txt</a:t>
            </a:r>
            <a:r>
              <a:rPr lang="en-US" sz="1800" dirty="0"/>
              <a:t>).</a:t>
            </a:r>
            <a:endParaRPr lang="en-US" sz="1600" dirty="0"/>
          </a:p>
          <a:p>
            <a:pPr lvl="0"/>
            <a:r>
              <a:rPr lang="en-US" sz="2000" b="1" dirty="0"/>
              <a:t>Automatic Request Inclusion</a:t>
            </a:r>
            <a:r>
              <a:rPr lang="en-US" sz="2000" dirty="0"/>
              <a:t>:</a:t>
            </a:r>
            <a:endParaRPr lang="en-US" sz="1800" dirty="0"/>
          </a:p>
          <a:p>
            <a:pPr lvl="1"/>
            <a:r>
              <a:rPr lang="en-US" sz="1800" dirty="0"/>
              <a:t>Subsequent requests to the same server </a:t>
            </a:r>
            <a:r>
              <a:rPr lang="en-US" sz="1800" b="1" dirty="0"/>
              <a:t>automatically include</a:t>
            </a:r>
            <a:r>
              <a:rPr lang="en-US" sz="1800" dirty="0"/>
              <a:t> the cookie:</a:t>
            </a:r>
            <a:endParaRPr lang="en-US" sz="1600" dirty="0"/>
          </a:p>
          <a:p>
            <a:pPr lvl="1" latinLnBrk="1"/>
            <a:r>
              <a:rPr lang="en-US" sz="1600" dirty="0"/>
              <a:t>GET /cart HTTP/1.1  </a:t>
            </a:r>
            <a:endParaRPr lang="en-US" sz="2400" dirty="0"/>
          </a:p>
          <a:p>
            <a:pPr lvl="1" latinLnBrk="1"/>
            <a:r>
              <a:rPr lang="en-US" sz="1600" dirty="0"/>
              <a:t>Cookie: </a:t>
            </a:r>
            <a:r>
              <a:rPr lang="en-US" sz="1600" dirty="0" err="1"/>
              <a:t>session_id</a:t>
            </a:r>
            <a:r>
              <a:rPr lang="en-US" sz="1600" dirty="0"/>
              <a:t>=abc123  </a:t>
            </a:r>
            <a:endParaRPr lang="en-US" sz="2400" dirty="0"/>
          </a:p>
          <a:p>
            <a:pPr marL="0" indent="0">
              <a:buNone/>
            </a:pPr>
            <a:endParaRPr lang="en-US" altLang="zh-CN" sz="2000" dirty="0"/>
          </a:p>
        </p:txBody>
      </p:sp>
      <p:sp>
        <p:nvSpPr>
          <p:cNvPr id="4915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68A4B2-3F75-4D0F-B64C-BDE47C95E10C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3E446E-572D-46B5-97A6-DA8BC88C21B2}" type="slidenum">
              <a:rPr lang="en-US" altLang="zh-CN" smtClean="0"/>
            </a:fld>
            <a:endParaRPr lang="en-US" altLang="zh-CN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038600"/>
            <a:ext cx="8829675" cy="223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971800" y="3563096"/>
            <a:ext cx="52854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http://www.szu.edu.cn/szu.asp </a:t>
            </a:r>
            <a:r>
              <a:rPr lang="en-GB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returns</a:t>
            </a:r>
            <a:endParaRPr lang="zh-CN" altLang="en-US" sz="1800" dirty="0"/>
          </a:p>
        </p:txBody>
      </p:sp>
      <p:sp>
        <p:nvSpPr>
          <p:cNvPr id="5" name="Rectangle 4"/>
          <p:cNvSpPr/>
          <p:nvPr/>
        </p:nvSpPr>
        <p:spPr>
          <a:xfrm>
            <a:off x="457200" y="235170"/>
            <a:ext cx="11049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Purpose of Cookies: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dirty="0"/>
              <a:t>Cookies enable websites to:</a:t>
            </a: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Remember user preferences (e.g., language, theme).</a:t>
            </a: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Maintain login sessions (e.g., keeping users logged in).</a:t>
            </a: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Track behavior (e.g., items in a shopping cart).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460663" y="1973775"/>
            <a:ext cx="10515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Alternatives to Cookies</a:t>
            </a:r>
            <a:endParaRPr lang="en-US" sz="2000" b="1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Session Storage: Temporary client-side storage (cleared when the tab closes).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Local Storage: Persistent client-side storage (no automatic server transmission).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JWT (JSON Web Tokens): Stateless authentication tokens.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>
          <a:xfrm>
            <a:off x="1601788" y="92075"/>
            <a:ext cx="8540750" cy="685800"/>
          </a:xfrm>
        </p:spPr>
        <p:txBody>
          <a:bodyPr/>
          <a:lstStyle/>
          <a:p>
            <a:pPr algn="l"/>
            <a:r>
              <a:rPr lang="en-GB" altLang="zh-CN" sz="3200"/>
              <a:t>Cookies </a:t>
            </a:r>
            <a:r>
              <a:rPr lang="en-GB" altLang="en-US" sz="3200"/>
              <a:t>Work</a:t>
            </a:r>
            <a:endParaRPr lang="zh-CN" altLang="en-US" sz="1600"/>
          </a:p>
        </p:txBody>
      </p:sp>
      <p:sp>
        <p:nvSpPr>
          <p:cNvPr id="50180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BACD33-3E5D-4AC6-A344-DBA2DB983AF8}" type="slidenum">
              <a:rPr lang="en-US" altLang="zh-CN" sz="1400"/>
            </a:fld>
            <a:endParaRPr lang="en-US" altLang="zh-CN" sz="1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166496"/>
            <a:ext cx="8229600" cy="491553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>
          <a:xfrm>
            <a:off x="1565275" y="99437"/>
            <a:ext cx="8540750" cy="685800"/>
          </a:xfrm>
        </p:spPr>
        <p:txBody>
          <a:bodyPr/>
          <a:lstStyle/>
          <a:p>
            <a:pPr algn="l"/>
            <a:r>
              <a:rPr lang="en-GB" altLang="en-US" sz="2800" b="1" dirty="0"/>
              <a:t>Browser </a:t>
            </a:r>
            <a:r>
              <a:rPr lang="en-US" altLang="en-US" sz="2800" b="1" dirty="0"/>
              <a:t>S</a:t>
            </a:r>
            <a:r>
              <a:rPr lang="en-GB" altLang="en-US" sz="2800" b="1" dirty="0"/>
              <a:t>upport for </a:t>
            </a:r>
            <a:r>
              <a:rPr lang="en-US" altLang="zh-CN" sz="2800" b="1" dirty="0"/>
              <a:t>Cookie</a:t>
            </a:r>
            <a:r>
              <a:rPr lang="en-GB" altLang="en-US" sz="2800" b="1" dirty="0"/>
              <a:t> </a:t>
            </a:r>
            <a:endParaRPr lang="zh-CN" altLang="en-US" sz="1400" b="1" dirty="0"/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381000" y="1597819"/>
            <a:ext cx="11408834" cy="3662361"/>
          </a:xfrm>
        </p:spPr>
        <p:txBody>
          <a:bodyPr/>
          <a:lstStyle/>
          <a:p>
            <a:r>
              <a:rPr lang="en-GB" altLang="zh-CN" sz="2800" dirty="0"/>
              <a:t>The cookie </a:t>
            </a:r>
            <a:r>
              <a:rPr lang="en-GB" altLang="en-US" sz="2800" dirty="0"/>
              <a:t>function requires browser support.</a:t>
            </a:r>
            <a:endParaRPr lang="en-US" altLang="zh-CN" sz="2800" dirty="0"/>
          </a:p>
          <a:p>
            <a:r>
              <a:rPr lang="en-GB" altLang="en-US" sz="2800" dirty="0"/>
              <a:t>If the browser does not support </a:t>
            </a:r>
            <a:r>
              <a:rPr lang="en-GB" altLang="zh-CN" sz="2800" dirty="0"/>
              <a:t>cookies </a:t>
            </a:r>
            <a:r>
              <a:rPr lang="en-GB" altLang="en-US" sz="2800" dirty="0"/>
              <a:t>(such as the browsers in most mobile phones) or </a:t>
            </a:r>
            <a:r>
              <a:rPr lang="en-GB" altLang="zh-CN" sz="2800" dirty="0"/>
              <a:t>cookies </a:t>
            </a:r>
            <a:r>
              <a:rPr lang="en-US" altLang="zh-CN" sz="2800" dirty="0"/>
              <a:t>is </a:t>
            </a:r>
            <a:r>
              <a:rPr lang="en-GB" altLang="en-US" sz="2800" dirty="0"/>
              <a:t>disables</a:t>
            </a:r>
            <a:r>
              <a:rPr lang="en-GB" altLang="zh-CN" sz="2800" dirty="0"/>
              <a:t>, the cookie </a:t>
            </a:r>
            <a:r>
              <a:rPr lang="en-GB" altLang="en-US" sz="2800" dirty="0"/>
              <a:t>function will become ineffective.</a:t>
            </a:r>
            <a:endParaRPr lang="en-US" altLang="zh-CN" sz="2800" dirty="0"/>
          </a:p>
          <a:p>
            <a:r>
              <a:rPr lang="en-GB" altLang="en-US" sz="2800" dirty="0"/>
              <a:t>Different browsers save </a:t>
            </a:r>
            <a:r>
              <a:rPr lang="en-GB" altLang="zh-CN" sz="2800" dirty="0"/>
              <a:t>cookies in different ways </a:t>
            </a:r>
            <a:r>
              <a:rPr lang="en-GB" altLang="en-US" sz="2800" dirty="0"/>
              <a:t>.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dirty="0"/>
              <a:t>The IE </a:t>
            </a:r>
            <a:r>
              <a:rPr lang="en-GB" altLang="en-US" sz="2400" dirty="0"/>
              <a:t>browser will save it in the form of a text file in the " </a:t>
            </a:r>
            <a:r>
              <a:rPr lang="en-GB" altLang="zh-CN" sz="2400" dirty="0"/>
              <a:t>C:\Documents and Settings\ </a:t>
            </a:r>
            <a:r>
              <a:rPr lang="en-GB" altLang="en-US" sz="2400" dirty="0"/>
              <a:t>your user name </a:t>
            </a:r>
            <a:r>
              <a:rPr lang="en-GB" altLang="zh-CN" sz="2400" dirty="0"/>
              <a:t>\Cookies" </a:t>
            </a:r>
            <a:r>
              <a:rPr lang="en-GB" altLang="en-US" sz="2400" dirty="0"/>
              <a:t>folder, and one text file will </a:t>
            </a:r>
            <a:r>
              <a:rPr lang="en-US" altLang="en-US" sz="2400" dirty="0"/>
              <a:t>be </a:t>
            </a:r>
            <a:r>
              <a:rPr lang="en-GB" altLang="en-US" sz="2400" dirty="0"/>
              <a:t>save</a:t>
            </a:r>
            <a:r>
              <a:rPr lang="en-US" altLang="en-US" sz="2400" dirty="0"/>
              <a:t>d</a:t>
            </a:r>
            <a:r>
              <a:rPr lang="en-GB" altLang="en-US" sz="2400" dirty="0"/>
              <a:t> </a:t>
            </a:r>
            <a:r>
              <a:rPr lang="en-US" altLang="en-US" sz="2400" dirty="0"/>
              <a:t>for each</a:t>
            </a:r>
            <a:r>
              <a:rPr lang="en-GB" altLang="en-US" sz="2400" dirty="0"/>
              <a:t> </a:t>
            </a:r>
            <a:r>
              <a:rPr lang="en-GB" altLang="zh-CN" sz="2400" dirty="0"/>
              <a:t>cookie </a:t>
            </a:r>
            <a:r>
              <a:rPr lang="en-GB" altLang="en-US" sz="2400" dirty="0"/>
              <a:t>.</a:t>
            </a:r>
            <a:endParaRPr lang="en-US" altLang="zh-CN" sz="1400" dirty="0"/>
          </a:p>
        </p:txBody>
      </p:sp>
      <p:sp>
        <p:nvSpPr>
          <p:cNvPr id="51204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4FA27A-C044-4C54-AD14-92EE340BADBD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>
          <a:xfrm>
            <a:off x="228600" y="92075"/>
            <a:ext cx="11561234" cy="685800"/>
          </a:xfrm>
        </p:spPr>
        <p:txBody>
          <a:bodyPr/>
          <a:lstStyle/>
          <a:p>
            <a:r>
              <a:rPr lang="en-US" sz="3600" b="1" dirty="0"/>
              <a:t>How Cookies Work: Step-by-Step Process</a:t>
            </a:r>
            <a:endParaRPr lang="en-US" sz="3600" dirty="0"/>
          </a:p>
        </p:txBody>
      </p:sp>
      <p:sp>
        <p:nvSpPr>
          <p:cNvPr id="5222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C116448-A1DB-43B2-AF5B-01C5E5DBEDD3}" type="slidenum">
              <a:rPr lang="en-US" altLang="zh-CN" sz="1400"/>
            </a:fld>
            <a:endParaRPr lang="en-US" altLang="zh-CN" sz="1400"/>
          </a:p>
        </p:txBody>
      </p:sp>
      <p:sp>
        <p:nvSpPr>
          <p:cNvPr id="5" name="Rectangle 4"/>
          <p:cNvSpPr/>
          <p:nvPr/>
        </p:nvSpPr>
        <p:spPr>
          <a:xfrm>
            <a:off x="76200" y="777875"/>
            <a:ext cx="12039600" cy="5266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</a:pPr>
            <a:r>
              <a:rPr lang="en-US" sz="14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User Submits Information to the Server</a:t>
            </a:r>
            <a:endParaRPr lang="en-US" sz="12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8650" lvl="1" indent="-17145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4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user visits a cookie-enabled website (e.g., an e-commerce site).</a:t>
            </a:r>
            <a:endParaRPr lang="en-US" sz="12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8650" lvl="1" indent="-17145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4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 provide personal data (e.g., username/password) via a login form.</a:t>
            </a:r>
            <a:endParaRPr lang="en-US" sz="12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8650" lvl="1" indent="-17145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4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browser sends this data to the server via an HTTP request.</a:t>
            </a:r>
            <a:endParaRPr lang="en-US" sz="12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</a:pPr>
            <a:r>
              <a:rPr lang="en-US" sz="14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Server Responds with a Cookie</a:t>
            </a:r>
            <a:endParaRPr lang="en-US" sz="12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8650" lvl="1" indent="-17145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400" b="1" dirty="0">
                <a:solidFill>
                  <a:srgbClr val="404040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The server processes the login request.</a:t>
            </a:r>
            <a:endParaRPr lang="en-US" sz="1400" b="1" dirty="0">
              <a:solidFill>
                <a:srgbClr val="404040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  <a:p>
            <a:pPr marL="628650" lvl="1" indent="-17145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400" b="1" dirty="0">
                <a:solidFill>
                  <a:srgbClr val="404040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Instead of embedding user data in the response body, it attaches a cookie in the HTTP response headers:</a:t>
            </a:r>
            <a:endParaRPr lang="en-US" sz="1400" b="1" dirty="0">
              <a:solidFill>
                <a:srgbClr val="404040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b="1" dirty="0">
                <a:solidFill>
                  <a:srgbClr val="E456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HTTP/1.1</a:t>
            </a:r>
            <a:r>
              <a:rPr lang="en-US" sz="16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en-US" sz="16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50A14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OK  </a:t>
            </a:r>
            <a:endParaRPr lang="en-US" sz="12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1510"/>
              </a:lnSpc>
              <a:spcBef>
                <a:spcPts val="0"/>
              </a:spcBef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Set-Cookie</a:t>
            </a:r>
            <a:r>
              <a:rPr lang="en-US" sz="16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en-US" sz="16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=alice123; Expires=Wed, 21 Oct 2025 07:28:00 GMT; Path=/; Secure; </a:t>
            </a:r>
            <a:r>
              <a:rPr lang="en-US" sz="1600" b="1" dirty="0" err="1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HttpOnly</a:t>
            </a:r>
            <a:r>
              <a:rPr lang="en-US" sz="16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2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300"/>
              </a:spcAft>
              <a:buSzPts val="1000"/>
              <a:tabLst>
                <a:tab pos="914400" algn="l"/>
              </a:tabLst>
            </a:pPr>
            <a:r>
              <a:rPr lang="en-US" sz="14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Fields:</a:t>
            </a:r>
            <a:endParaRPr lang="en-US" sz="12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8650" marR="0" lvl="1" indent="-17145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400" b="1" dirty="0" err="1">
                <a:solidFill>
                  <a:srgbClr val="404040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user_id</a:t>
            </a:r>
            <a:r>
              <a:rPr lang="en-US" sz="1400" b="1" dirty="0">
                <a:solidFill>
                  <a:srgbClr val="404040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=alice123: The stored data (often a session ID, not raw credentials).</a:t>
            </a:r>
            <a:endParaRPr lang="en-US" sz="1400" b="1" dirty="0">
              <a:solidFill>
                <a:srgbClr val="404040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  <a:p>
            <a:pPr marL="628650" marR="0" lvl="1" indent="-17145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400" b="1" dirty="0">
                <a:solidFill>
                  <a:srgbClr val="404040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Expires: Cookie lifetime (persistent if set; session-only if omitted).</a:t>
            </a:r>
            <a:endParaRPr lang="en-US" sz="1400" b="1" dirty="0">
              <a:solidFill>
                <a:srgbClr val="404040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  <a:p>
            <a:pPr marL="628650" marR="0" lvl="1" indent="-17145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400" b="1" dirty="0">
                <a:solidFill>
                  <a:srgbClr val="404040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Secure: Only sent over HTTPS.</a:t>
            </a:r>
            <a:endParaRPr lang="en-US" sz="1400" b="1" dirty="0">
              <a:solidFill>
                <a:srgbClr val="404040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  <a:p>
            <a:pPr marL="628650" marR="0" lvl="1" indent="-17145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400" b="1" dirty="0" err="1">
                <a:solidFill>
                  <a:srgbClr val="404040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HttpOnly</a:t>
            </a:r>
            <a:r>
              <a:rPr lang="en-US" sz="1400" b="1" dirty="0">
                <a:solidFill>
                  <a:srgbClr val="404040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: Blocks JavaScript access (security against XSS).</a:t>
            </a:r>
            <a:endParaRPr lang="en-US" sz="1400" b="1" dirty="0">
              <a:solidFill>
                <a:srgbClr val="404040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</p:txBody>
      </p:sp>
      <p:pic>
        <p:nvPicPr>
          <p:cNvPr id="52229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267200"/>
            <a:ext cx="44958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3E446E-572D-46B5-97A6-DA8BC88C21B2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2"/>
          <p:cNvSpPr/>
          <p:nvPr/>
        </p:nvSpPr>
        <p:spPr>
          <a:xfrm>
            <a:off x="296910" y="136525"/>
            <a:ext cx="11598179" cy="6051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</a:pP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600" b="1" dirty="0">
                <a:solidFill>
                  <a:srgbClr val="404040"/>
                </a:solidFill>
                <a:highlight>
                  <a:srgbClr val="FFFF00"/>
                </a:highlight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Browser Stores the Cookie</a:t>
            </a:r>
            <a:endParaRPr lang="en-US" sz="1400" b="1" dirty="0">
              <a:highlight>
                <a:srgbClr val="FFFF00"/>
              </a:highlight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ts val="2145"/>
              </a:lnSpc>
              <a:spcBef>
                <a:spcPts val="0"/>
              </a:spcBef>
              <a:spcAft>
                <a:spcPts val="300"/>
              </a:spcAft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browser saves the cookie locally (location varies by OS):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ts val="2145"/>
              </a:lnSpc>
              <a:spcBef>
                <a:spcPts val="0"/>
              </a:spcBef>
              <a:spcAft>
                <a:spcPts val="3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C:\Users\[Username]\AppData\Local\Microsoft\Edge\User Data\Default\Cookies  </a:t>
            </a:r>
            <a:endParaRPr lang="en-US" sz="14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ts val="2145"/>
              </a:lnSpc>
              <a:spcBef>
                <a:spcPts val="0"/>
              </a:spcBef>
              <a:spcAft>
                <a:spcPts val="3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macOS/Linux</a:t>
            </a: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~/Library/Application Support/Google/Chrome/Default/Cookies  </a:t>
            </a:r>
            <a:endParaRPr lang="en-US" sz="1400" b="1" dirty="0">
              <a:solidFill>
                <a:srgbClr val="494949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Storage is </a:t>
            </a: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automatic</a:t>
            </a: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—no user intervention required.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</a:pP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1600" b="1" dirty="0">
                <a:solidFill>
                  <a:srgbClr val="404040"/>
                </a:solidFill>
                <a:highlight>
                  <a:srgbClr val="FFFF00"/>
                </a:highlight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Subsequent Requests Include the Cookie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2145"/>
              </a:lnSpc>
              <a:spcBef>
                <a:spcPts val="0"/>
              </a:spcBef>
              <a:spcAft>
                <a:spcPts val="3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the user revisits the site, the browser </a:t>
            </a: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automatically</a:t>
            </a: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attaches the cookie to every request in the </a:t>
            </a: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 headers</a:t>
            </a: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latinLnBrk="1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E456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184BC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/profile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E456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HTTP/1.1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latinLnBrk="1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Cookie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=alice123  </a:t>
            </a:r>
            <a:endParaRPr lang="en-US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2145"/>
              </a:lnSpc>
              <a:spcBef>
                <a:spcPts val="0"/>
              </a:spcBef>
              <a:spcAft>
                <a:spcPts val="3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server reads the cookie to:  1) </a:t>
            </a: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Identify the user</a:t>
            </a: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(e.g., "alice123"). 2) </a:t>
            </a: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Personalize content</a:t>
            </a: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(e.g., "Welcome back, Alice!").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</a:pP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1600" b="1" dirty="0">
                <a:solidFill>
                  <a:srgbClr val="404040"/>
                </a:solidFill>
                <a:highlight>
                  <a:srgbClr val="FFFF00"/>
                </a:highlight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Practical Example: "Remember Me" Login</a:t>
            </a:r>
            <a:endParaRPr lang="en-US" sz="1400" dirty="0">
              <a:highlight>
                <a:srgbClr val="FFFF00"/>
              </a:highlight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Checking "Remember Me" triggers the server to issue a </a:t>
            </a:r>
            <a:r>
              <a:rPr lang="en-US" sz="1600" b="1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long-expiry cookie</a:t>
            </a: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2145"/>
              </a:lnSpc>
              <a:spcBef>
                <a:spcPts val="0"/>
              </a:spcBef>
              <a:spcAft>
                <a:spcPts val="3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future visits: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arenR"/>
              <a:tabLst>
                <a:tab pos="914400" algn="l"/>
              </a:tabLst>
            </a:pP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Browser sends the stored cookie.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arenR"/>
              <a:tabLst>
                <a:tab pos="914400" algn="l"/>
              </a:tabLst>
            </a:pP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Server validates it and auto-logs the user in.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arenR"/>
              <a:tabLst>
                <a:tab pos="914400" algn="l"/>
              </a:tabLst>
            </a:pP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manual password re-entry needed.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81600" y="4419600"/>
          <a:ext cx="6934200" cy="2337226"/>
        </p:xfrm>
        <a:graphic>
          <a:graphicData uri="http://schemas.openxmlformats.org/drawingml/2006/table">
            <a:tbl>
              <a:tblPr firstRow="1" firstCol="1" bandRow="1"/>
              <a:tblGrid>
                <a:gridCol w="597808"/>
                <a:gridCol w="2324549"/>
                <a:gridCol w="4011843"/>
              </a:tblGrid>
              <a:tr h="3540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Step</a:t>
                      </a:r>
                      <a:endParaRPr lang="en-US" sz="105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Action</a:t>
                      </a:r>
                      <a:endParaRPr lang="en-US" sz="1050" b="1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Detail</a:t>
                      </a:r>
                      <a:endParaRPr lang="en-US" sz="1050" b="1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05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User submits data</a:t>
                      </a:r>
                      <a:endParaRPr lang="en-US" sz="1050" b="1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Form → HTTP request (POST)</a:t>
                      </a:r>
                      <a:endParaRPr lang="en-US" sz="1050" b="1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1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05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Server sets cookie</a:t>
                      </a:r>
                      <a:endParaRPr lang="en-US" sz="105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Set-Cookie</a:t>
                      </a:r>
                      <a:r>
                        <a:rPr lang="en-US" sz="1200" b="1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header in response</a:t>
                      </a:r>
                      <a:endParaRPr lang="en-US" sz="1050" b="1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0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05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Browser saves cookie</a:t>
                      </a:r>
                      <a:endParaRPr lang="en-US" sz="105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Local text file (OS-specific path)</a:t>
                      </a:r>
                      <a:endParaRPr lang="en-US" sz="1050" b="1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0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05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Future requests</a:t>
                      </a:r>
                      <a:endParaRPr lang="en-US" sz="105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Cookie auto-included in headers</a:t>
                      </a:r>
                      <a:endParaRPr lang="en-US" sz="1050" b="1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3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05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Server recognizes user</a:t>
                      </a:r>
                      <a:endParaRPr lang="en-US" sz="105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Dynamically generates personalized content</a:t>
                      </a:r>
                      <a:endParaRPr lang="en-US" sz="105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>
          <a:xfrm>
            <a:off x="1752600" y="457200"/>
            <a:ext cx="8499572" cy="637899"/>
          </a:xfrm>
        </p:spPr>
        <p:txBody>
          <a:bodyPr/>
          <a:lstStyle/>
          <a:p>
            <a:r>
              <a:rPr lang="en-US" sz="2800" b="1" dirty="0">
                <a:solidFill>
                  <a:srgbClr val="FF000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How to View Website Cookies Using JavaScript</a:t>
            </a:r>
            <a:b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GB" altLang="zh-CN" sz="2800" b="1" dirty="0"/>
              <a:t> </a:t>
            </a:r>
            <a:endParaRPr lang="zh-CN" altLang="en-US" sz="2800" b="1" dirty="0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22FE70D-8381-43ED-BD6A-94F548562AE6}" type="slidenum">
              <a:rPr lang="en-US" altLang="zh-CN" sz="1400"/>
            </a:fld>
            <a:endParaRPr lang="en-US" altLang="zh-CN" sz="1400"/>
          </a:p>
        </p:txBody>
      </p:sp>
      <p:pic>
        <p:nvPicPr>
          <p:cNvPr id="53253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169" y="2243308"/>
            <a:ext cx="4442883" cy="238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29116" y="1295400"/>
            <a:ext cx="10310283" cy="5133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ts val="2145"/>
              </a:lnSpc>
              <a:spcBef>
                <a:spcPts val="1030"/>
              </a:spcBef>
              <a:spcAft>
                <a:spcPts val="1030"/>
              </a:spcAft>
            </a:pPr>
            <a:r>
              <a:rPr lang="en-US" b="1" dirty="0">
                <a:solidFill>
                  <a:srgbClr val="404040"/>
                </a:solidFill>
                <a:highlight>
                  <a:srgbClr val="FFFF00"/>
                </a:highlight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Step-by-Step Process:</a:t>
            </a:r>
            <a:endParaRPr lang="en-US" sz="1600" b="1" dirty="0">
              <a:highlight>
                <a:srgbClr val="FFFF00"/>
              </a:highlight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Access a Website</a:t>
            </a:r>
            <a:r>
              <a:rPr lang="en-US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: Open any website in your browser (e.g., </a:t>
            </a:r>
            <a:r>
              <a:rPr lang="en-US" sz="1400" dirty="0">
                <a:solidFill>
                  <a:srgbClr val="404040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www.example.com</a:t>
            </a:r>
            <a:r>
              <a:rPr lang="en-US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2145"/>
              </a:lnSpc>
              <a:spcBef>
                <a:spcPts val="0"/>
              </a:spcBef>
              <a:spcAft>
                <a:spcPts val="300"/>
              </a:spcAft>
              <a:tabLst>
                <a:tab pos="457200" algn="l"/>
              </a:tabLst>
            </a:pPr>
            <a:r>
              <a:rPr lang="en-US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View Cookies</a:t>
            </a:r>
            <a:r>
              <a:rPr lang="en-US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: In the address bar, type:</a:t>
            </a: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 err="1">
                <a:solidFill>
                  <a:srgbClr val="E456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javascript</a:t>
            </a:r>
            <a:r>
              <a:rPr lang="en-US" sz="2000" dirty="0" err="1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:alert</a:t>
            </a:r>
            <a:r>
              <a:rPr lang="en-US" sz="2000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document</a:t>
            </a:r>
            <a:r>
              <a:rPr lang="en-US" sz="2000" dirty="0" err="1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</a:t>
            </a:r>
            <a:r>
              <a:rPr lang="en-US" sz="2000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ts val="2145"/>
              </a:lnSpc>
              <a:spcBef>
                <a:spcPts val="300"/>
              </a:spcBef>
              <a:spcAft>
                <a:spcPts val="800"/>
              </a:spcAft>
            </a:pPr>
            <a:r>
              <a:rPr lang="en-US" i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(Requires an active internet connection to load the page and its cookies.)</a:t>
            </a: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ts val="2145"/>
              </a:lnSpc>
              <a:spcBef>
                <a:spcPts val="1030"/>
              </a:spcBef>
              <a:spcAft>
                <a:spcPts val="1030"/>
              </a:spcAft>
            </a:pPr>
            <a:endParaRPr lang="en-US" b="1" dirty="0">
              <a:solidFill>
                <a:srgbClr val="404040"/>
              </a:solidFill>
              <a:latin typeface="DeepSeek-CJK-patch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ts val="2145"/>
              </a:lnSpc>
              <a:spcBef>
                <a:spcPts val="1030"/>
              </a:spcBef>
              <a:spcAft>
                <a:spcPts val="1030"/>
              </a:spcAft>
            </a:pPr>
            <a:endParaRPr lang="en-US" b="1" dirty="0">
              <a:solidFill>
                <a:srgbClr val="404040"/>
              </a:solidFill>
              <a:latin typeface="DeepSeek-CJK-patch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ts val="2145"/>
              </a:lnSpc>
              <a:spcBef>
                <a:spcPts val="1030"/>
              </a:spcBef>
              <a:spcAft>
                <a:spcPts val="1030"/>
              </a:spcAft>
            </a:pPr>
            <a:r>
              <a:rPr lang="en-US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What Happens?</a:t>
            </a: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A pop-up dialog will display </a:t>
            </a:r>
            <a:r>
              <a:rPr lang="en-US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all cookies</a:t>
            </a:r>
            <a:r>
              <a:rPr lang="en-US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 set by that website.</a:t>
            </a: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Example: On Baidu’s website, the cookie </a:t>
            </a:r>
            <a:r>
              <a:rPr lang="en-US" sz="1400" dirty="0">
                <a:solidFill>
                  <a:srgbClr val="404040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BAIDUID</a:t>
            </a:r>
            <a:r>
              <a:rPr lang="en-US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 appears first, which identifies the user.</a:t>
            </a:r>
            <a:br>
              <a:rPr lang="en-US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(Note: Baidu encrypts its cookie data for security, so the actual values may appear scrambled.)</a:t>
            </a:r>
            <a:endParaRPr lang="en-US" sz="16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>
          <a:xfrm>
            <a:off x="228600" y="101600"/>
            <a:ext cx="11561234" cy="609600"/>
          </a:xfrm>
        </p:spPr>
        <p:txBody>
          <a:bodyPr/>
          <a:lstStyle/>
          <a:p>
            <a:r>
              <a:rPr lang="en-US" sz="3200" b="1" dirty="0"/>
              <a:t>How Browser Cookies Work: Domain Privacy &amp; Security</a:t>
            </a:r>
            <a:endParaRPr lang="en-US" sz="3200" dirty="0"/>
          </a:p>
        </p:txBody>
      </p:sp>
      <p:sp>
        <p:nvSpPr>
          <p:cNvPr id="54275" name="内容占位符 2"/>
          <p:cNvSpPr>
            <a:spLocks noGrp="1"/>
          </p:cNvSpPr>
          <p:nvPr>
            <p:ph idx="1"/>
          </p:nvPr>
        </p:nvSpPr>
        <p:spPr>
          <a:xfrm>
            <a:off x="228600" y="711200"/>
            <a:ext cx="11561234" cy="5918200"/>
          </a:xfrm>
        </p:spPr>
        <p:txBody>
          <a:bodyPr/>
          <a:lstStyle/>
          <a:p>
            <a:r>
              <a:rPr lang="en-US" sz="1800" b="1" dirty="0"/>
              <a:t>1. </a:t>
            </a:r>
            <a:r>
              <a:rPr lang="en-US" sz="1800" b="1" dirty="0">
                <a:highlight>
                  <a:srgbClr val="FFFF00"/>
                </a:highlight>
              </a:rPr>
              <a:t>Cookies Are Domain-Specific</a:t>
            </a:r>
            <a:endParaRPr lang="en-US" sz="1600" dirty="0"/>
          </a:p>
          <a:p>
            <a:pPr lvl="1"/>
            <a:r>
              <a:rPr lang="en-US" sz="1400" dirty="0"/>
              <a:t>When you visit </a:t>
            </a:r>
            <a:r>
              <a:rPr lang="en-US" sz="1400" b="1" dirty="0"/>
              <a:t>Google</a:t>
            </a:r>
            <a:r>
              <a:rPr lang="en-US" sz="1400" dirty="0"/>
              <a:t>, your browser </a:t>
            </a:r>
            <a:r>
              <a:rPr lang="en-US" sz="1400" b="1" dirty="0"/>
              <a:t>only</a:t>
            </a:r>
            <a:r>
              <a:rPr lang="en-US" sz="1400" dirty="0"/>
              <a:t> sends cookies issued by </a:t>
            </a:r>
            <a:r>
              <a:rPr lang="en-US" sz="900" dirty="0"/>
              <a:t>google.com</a:t>
            </a:r>
            <a:r>
              <a:rPr lang="en-US" sz="1400" dirty="0"/>
              <a:t>.</a:t>
            </a:r>
            <a:endParaRPr lang="en-US" sz="1050" dirty="0"/>
          </a:p>
          <a:p>
            <a:pPr lvl="1"/>
            <a:r>
              <a:rPr lang="en-US" sz="1400" dirty="0"/>
              <a:t>When you visit </a:t>
            </a:r>
            <a:r>
              <a:rPr lang="en-US" sz="1400" b="1" dirty="0"/>
              <a:t>Baidu</a:t>
            </a:r>
            <a:r>
              <a:rPr lang="en-US" sz="1400" dirty="0"/>
              <a:t>, it </a:t>
            </a:r>
            <a:r>
              <a:rPr lang="en-US" sz="1400" b="1" dirty="0"/>
              <a:t>only</a:t>
            </a:r>
            <a:r>
              <a:rPr lang="en-US" sz="1400" dirty="0"/>
              <a:t> sends cookies issued by </a:t>
            </a:r>
            <a:r>
              <a:rPr lang="en-US" sz="900" dirty="0"/>
              <a:t>baidu.com</a:t>
            </a:r>
            <a:r>
              <a:rPr lang="en-US" sz="1400" dirty="0"/>
              <a:t>.</a:t>
            </a:r>
            <a:endParaRPr lang="en-US" sz="1050" dirty="0"/>
          </a:p>
          <a:p>
            <a:pPr lvl="0"/>
            <a:r>
              <a:rPr lang="en-US" sz="1800" b="1" dirty="0"/>
              <a:t>No Cross-Domain Access</a:t>
            </a:r>
            <a:r>
              <a:rPr lang="en-US" sz="1800" dirty="0"/>
              <a:t>:</a:t>
            </a:r>
            <a:endParaRPr lang="en-US" sz="1600" dirty="0"/>
          </a:p>
          <a:p>
            <a:pPr lvl="1"/>
            <a:r>
              <a:rPr lang="en-US" sz="1600" dirty="0"/>
              <a:t>Google cannot read, modify, or delete Baidu’s cookies, and vice versa.</a:t>
            </a:r>
            <a:endParaRPr lang="en-US" sz="1400" dirty="0"/>
          </a:p>
          <a:p>
            <a:pPr lvl="1"/>
            <a:r>
              <a:rPr lang="en-US" sz="1600" dirty="0"/>
              <a:t>This is enforced</a:t>
            </a:r>
            <a:r>
              <a:rPr lang="zh-CN" altLang="en-US" sz="1600" dirty="0"/>
              <a:t>【强制执行】</a:t>
            </a:r>
            <a:r>
              <a:rPr lang="en-US" sz="1600" dirty="0"/>
              <a:t> by the </a:t>
            </a:r>
            <a:r>
              <a:rPr lang="en-US" sz="1600" b="1" dirty="0"/>
              <a:t>Same-Origin Policy</a:t>
            </a:r>
            <a:r>
              <a:rPr lang="en-US" sz="1600" dirty="0"/>
              <a:t> (a core browser security feature).</a:t>
            </a:r>
            <a:endParaRPr lang="en-US" sz="1400" dirty="0"/>
          </a:p>
          <a:p>
            <a:r>
              <a:rPr lang="en-US" sz="1800" b="1" dirty="0"/>
              <a:t>2. </a:t>
            </a:r>
            <a:r>
              <a:rPr lang="en-US" sz="1800" b="1" dirty="0">
                <a:highlight>
                  <a:srgbClr val="FFFF00"/>
                </a:highlight>
              </a:rPr>
              <a:t>How Browsers Manage Cookies</a:t>
            </a:r>
            <a:endParaRPr lang="en-US" sz="1600" dirty="0">
              <a:highlight>
                <a:srgbClr val="FFFF00"/>
              </a:highlight>
            </a:endParaRPr>
          </a:p>
          <a:p>
            <a:pPr lvl="1"/>
            <a:r>
              <a:rPr lang="en-US" sz="1400" b="1" dirty="0"/>
              <a:t>Storage</a:t>
            </a:r>
            <a:r>
              <a:rPr lang="en-US" sz="1400" dirty="0"/>
              <a:t>: Cookies are stored by the browser and tied to their </a:t>
            </a:r>
            <a:r>
              <a:rPr lang="en-US" sz="1400" b="1" dirty="0"/>
              <a:t>original domain</a:t>
            </a:r>
            <a:r>
              <a:rPr lang="en-US" sz="1400" dirty="0"/>
              <a:t>.</a:t>
            </a:r>
            <a:endParaRPr lang="en-US" sz="1050" dirty="0"/>
          </a:p>
          <a:p>
            <a:pPr lvl="1"/>
            <a:r>
              <a:rPr lang="en-US" sz="1400" b="1" dirty="0"/>
              <a:t>Auto-Send Rule</a:t>
            </a:r>
            <a:r>
              <a:rPr lang="en-US" sz="1400" dirty="0"/>
              <a:t>: The browser checks the </a:t>
            </a:r>
            <a:r>
              <a:rPr lang="en-US" sz="1400" b="1" dirty="0"/>
              <a:t>URL’s domain</a:t>
            </a:r>
            <a:r>
              <a:rPr lang="en-US" sz="1400" dirty="0"/>
              <a:t> and </a:t>
            </a:r>
            <a:r>
              <a:rPr lang="en-US" sz="1400" b="1" dirty="0"/>
              <a:t>only</a:t>
            </a:r>
            <a:r>
              <a:rPr lang="en-US" sz="1400" dirty="0"/>
              <a:t> attaches matching cookies.</a:t>
            </a:r>
            <a:endParaRPr lang="en-US" sz="1050" dirty="0"/>
          </a:p>
          <a:p>
            <a:pPr lvl="1"/>
            <a:r>
              <a:rPr lang="en-US" sz="1600" dirty="0"/>
              <a:t>Example:</a:t>
            </a:r>
            <a:endParaRPr lang="en-US" sz="1400" dirty="0"/>
          </a:p>
          <a:p>
            <a:pPr lvl="1"/>
            <a:r>
              <a:rPr lang="en-US" sz="1800" dirty="0"/>
              <a:t>Visiting </a:t>
            </a:r>
            <a:r>
              <a:rPr lang="en-US" sz="1600" dirty="0"/>
              <a:t>www.google.com</a:t>
            </a:r>
            <a:r>
              <a:rPr lang="en-US" sz="1800" dirty="0"/>
              <a:t> → Sends </a:t>
            </a:r>
            <a:r>
              <a:rPr lang="en-US" sz="1600" dirty="0"/>
              <a:t>google.com</a:t>
            </a:r>
            <a:r>
              <a:rPr lang="en-US" sz="1800" dirty="0"/>
              <a:t> cookies.</a:t>
            </a:r>
            <a:endParaRPr lang="en-US" sz="1600" dirty="0"/>
          </a:p>
          <a:p>
            <a:pPr lvl="1"/>
            <a:r>
              <a:rPr lang="en-US" sz="1800" dirty="0"/>
              <a:t>Visiting </a:t>
            </a:r>
            <a:r>
              <a:rPr lang="en-US" sz="1600" dirty="0"/>
              <a:t>www.baidu.com</a:t>
            </a:r>
            <a:r>
              <a:rPr lang="en-US" sz="1800" dirty="0"/>
              <a:t> → Sends </a:t>
            </a:r>
            <a:r>
              <a:rPr lang="en-US" sz="1600" dirty="0"/>
              <a:t>baidu.com</a:t>
            </a:r>
            <a:r>
              <a:rPr lang="en-US" sz="1800" dirty="0"/>
              <a:t> cookies.</a:t>
            </a:r>
            <a:endParaRPr lang="en-US" sz="1600" dirty="0"/>
          </a:p>
          <a:p>
            <a:r>
              <a:rPr lang="en-US" sz="1800" b="1" dirty="0"/>
              <a:t>3.</a:t>
            </a:r>
            <a:r>
              <a:rPr lang="en-US" sz="1800" b="1" dirty="0">
                <a:highlight>
                  <a:srgbClr val="FFFF00"/>
                </a:highlight>
              </a:rPr>
              <a:t> Subdomains and Cookies</a:t>
            </a:r>
            <a:endParaRPr lang="en-US" sz="1600" dirty="0">
              <a:highlight>
                <a:srgbClr val="FFFF00"/>
              </a:highlight>
            </a:endParaRPr>
          </a:p>
          <a:p>
            <a:pPr lvl="1"/>
            <a:r>
              <a:rPr lang="en-US" sz="1400" dirty="0"/>
              <a:t>By default, images.google.com and www.google.com are treated as </a:t>
            </a:r>
            <a:r>
              <a:rPr lang="en-US" sz="1400" b="1" dirty="0"/>
              <a:t>different domains</a:t>
            </a:r>
            <a:r>
              <a:rPr lang="en-US" sz="1400" dirty="0"/>
              <a:t>.</a:t>
            </a:r>
            <a:endParaRPr lang="en-US" sz="1050" dirty="0"/>
          </a:p>
          <a:p>
            <a:pPr lvl="1"/>
            <a:r>
              <a:rPr lang="en-US" sz="1600" dirty="0"/>
              <a:t>Cookies set by</a:t>
            </a:r>
            <a:r>
              <a:rPr lang="en-US" sz="1400" dirty="0"/>
              <a:t> www.google.com</a:t>
            </a:r>
            <a:r>
              <a:rPr lang="en-US" sz="1600" dirty="0"/>
              <a:t> are </a:t>
            </a:r>
            <a:r>
              <a:rPr lang="en-US" sz="1600" b="1" dirty="0">
                <a:highlight>
                  <a:srgbClr val="FFFF00"/>
                </a:highlight>
              </a:rPr>
              <a:t>not</a:t>
            </a:r>
            <a:r>
              <a:rPr lang="en-US" sz="1600" dirty="0">
                <a:highlight>
                  <a:srgbClr val="FFFF00"/>
                </a:highlight>
              </a:rPr>
              <a:t> </a:t>
            </a:r>
            <a:r>
              <a:rPr lang="en-US" sz="1600" dirty="0"/>
              <a:t>sent to </a:t>
            </a:r>
            <a:r>
              <a:rPr lang="en-US" sz="1400" dirty="0"/>
              <a:t>images.google.com.</a:t>
            </a:r>
            <a:endParaRPr lang="en-US" sz="1400" dirty="0"/>
          </a:p>
          <a:p>
            <a:pPr lvl="0"/>
            <a:r>
              <a:rPr lang="en-US" sz="1800" b="1" dirty="0"/>
              <a:t>Exception: Shared Cookies Across Subdomains</a:t>
            </a:r>
            <a:endParaRPr lang="en-US" sz="1600" dirty="0"/>
          </a:p>
          <a:p>
            <a:pPr lvl="1"/>
            <a:r>
              <a:rPr lang="en-US" sz="1600" dirty="0"/>
              <a:t>Google (and other sites) can </a:t>
            </a:r>
            <a:r>
              <a:rPr lang="en-US" sz="1600" b="1" dirty="0"/>
              <a:t>explicitly set a cookie for all subdomains</a:t>
            </a:r>
            <a:r>
              <a:rPr lang="en-US" sz="1600" dirty="0"/>
              <a:t> by specifying:</a:t>
            </a:r>
            <a:endParaRPr lang="en-US" sz="1400" dirty="0"/>
          </a:p>
          <a:p>
            <a:pPr lvl="1" latinLnBrk="1"/>
            <a:r>
              <a:rPr lang="en-US" sz="1400" dirty="0"/>
              <a:t>Set-Cookie: session=abc123; Domain=.google.com; Path=/  </a:t>
            </a:r>
            <a:endParaRPr lang="en-US" sz="1800" dirty="0"/>
          </a:p>
          <a:p>
            <a:pPr lvl="1"/>
            <a:r>
              <a:rPr lang="en-US" sz="1800" dirty="0"/>
              <a:t>The leading dot (</a:t>
            </a:r>
            <a:r>
              <a:rPr lang="en-US" sz="1600" dirty="0"/>
              <a:t>.google.com</a:t>
            </a:r>
            <a:r>
              <a:rPr lang="en-US" sz="1800" dirty="0"/>
              <a:t>) allows </a:t>
            </a:r>
            <a:r>
              <a:rPr lang="en-US" sz="1600" dirty="0"/>
              <a:t>images.google.com</a:t>
            </a:r>
            <a:r>
              <a:rPr lang="en-US" sz="1800" dirty="0"/>
              <a:t>, </a:t>
            </a:r>
            <a:r>
              <a:rPr lang="en-US" sz="1600" dirty="0"/>
              <a:t>drive.google.com</a:t>
            </a:r>
            <a:r>
              <a:rPr lang="en-US" sz="1800" dirty="0"/>
              <a:t>, etc., to share the cookie.</a:t>
            </a:r>
            <a:endParaRPr lang="en-US" sz="1600" dirty="0"/>
          </a:p>
          <a:p>
            <a:pPr lvl="1"/>
            <a:r>
              <a:rPr lang="en-US" sz="1600" dirty="0"/>
              <a:t>This is why you stay logged in across Google’s subdomains.</a:t>
            </a:r>
            <a:endParaRPr lang="en-US" sz="1400" dirty="0"/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098BEE-2177-41B1-B537-F0F87EBD751F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>
          <a:xfrm>
            <a:off x="1219200" y="112999"/>
            <a:ext cx="9829800" cy="609600"/>
          </a:xfrm>
        </p:spPr>
        <p:txBody>
          <a:bodyPr/>
          <a:lstStyle/>
          <a:p>
            <a:r>
              <a:rPr lang="en-US" sz="3600" b="1" dirty="0"/>
              <a:t>Working with Cookies in Java (Servlet/JSP)</a:t>
            </a:r>
            <a:endParaRPr lang="en-US" sz="3600" dirty="0"/>
          </a:p>
        </p:txBody>
      </p:sp>
      <p:sp>
        <p:nvSpPr>
          <p:cNvPr id="55299" name="内容占位符 2"/>
          <p:cNvSpPr>
            <a:spLocks noGrp="1"/>
          </p:cNvSpPr>
          <p:nvPr>
            <p:ph idx="1"/>
          </p:nvPr>
        </p:nvSpPr>
        <p:spPr>
          <a:xfrm>
            <a:off x="378691" y="685800"/>
            <a:ext cx="11411143" cy="3962400"/>
          </a:xfrm>
        </p:spPr>
        <p:txBody>
          <a:bodyPr/>
          <a:lstStyle/>
          <a:p>
            <a:r>
              <a:rPr lang="en-US" sz="2400" dirty="0"/>
              <a:t>Cookies in Java are handled using the </a:t>
            </a:r>
            <a:r>
              <a:rPr lang="en-US" sz="2400" dirty="0" err="1"/>
              <a:t>javax.servlet.http.Cookie</a:t>
            </a:r>
            <a:r>
              <a:rPr lang="en-US" sz="2400" dirty="0"/>
              <a:t> class (part of servlet-api.jar).</a:t>
            </a:r>
            <a:endParaRPr lang="en-US" sz="2000" dirty="0"/>
          </a:p>
          <a:p>
            <a:r>
              <a:rPr lang="en-US" sz="2400" b="1" dirty="0"/>
              <a:t>Key Features of the </a:t>
            </a:r>
            <a:r>
              <a:rPr lang="en-US" sz="2400" dirty="0"/>
              <a:t>Cookie </a:t>
            </a:r>
            <a:r>
              <a:rPr lang="en-US" sz="2400" b="1" dirty="0"/>
              <a:t>Class</a:t>
            </a:r>
            <a:endParaRPr lang="en-US" sz="2000" dirty="0"/>
          </a:p>
          <a:p>
            <a:pPr lvl="0"/>
            <a:r>
              <a:rPr lang="en-US" sz="2400" b="1" dirty="0"/>
              <a:t>Structure</a:t>
            </a:r>
            <a:r>
              <a:rPr lang="en-US" sz="2400" dirty="0"/>
              <a:t>:</a:t>
            </a:r>
            <a:endParaRPr lang="en-US" sz="2000" dirty="0"/>
          </a:p>
          <a:p>
            <a:pPr lvl="1"/>
            <a:r>
              <a:rPr lang="en-US" sz="2000" dirty="0"/>
              <a:t>Each cookie is a </a:t>
            </a:r>
            <a:r>
              <a:rPr lang="en-US" sz="1800" b="1" dirty="0"/>
              <a:t>Cookie</a:t>
            </a:r>
            <a:r>
              <a:rPr lang="en-US" sz="2000" b="1" dirty="0"/>
              <a:t> object</a:t>
            </a:r>
            <a:r>
              <a:rPr lang="en-US" sz="2000" dirty="0"/>
              <a:t> storing a </a:t>
            </a:r>
            <a:r>
              <a:rPr lang="en-US" sz="2000" b="1" dirty="0"/>
              <a:t>key-value pair</a:t>
            </a:r>
            <a:r>
              <a:rPr lang="en-US" sz="2000" dirty="0"/>
              <a:t> (e.g., username=</a:t>
            </a:r>
            <a:r>
              <a:rPr lang="en-US" sz="2000" dirty="0" err="1"/>
              <a:t>alice</a:t>
            </a:r>
            <a:r>
              <a:rPr lang="en-US" sz="2000" dirty="0"/>
              <a:t>).</a:t>
            </a:r>
            <a:endParaRPr lang="en-US" sz="1800" dirty="0"/>
          </a:p>
          <a:p>
            <a:pPr lvl="1"/>
            <a:r>
              <a:rPr lang="en-US" sz="2000" dirty="0"/>
              <a:t>Multiple cookies can be sent/received per HTTP request/response.</a:t>
            </a:r>
            <a:endParaRPr lang="en-US" sz="1800" dirty="0"/>
          </a:p>
          <a:p>
            <a:pPr lvl="0"/>
            <a:r>
              <a:rPr lang="en-US" sz="2400" b="1" dirty="0"/>
              <a:t>Default Package</a:t>
            </a:r>
            <a:r>
              <a:rPr lang="en-US" sz="2400" dirty="0"/>
              <a:t>:</a:t>
            </a:r>
            <a:endParaRPr lang="en-US" sz="2000" dirty="0"/>
          </a:p>
          <a:p>
            <a:pPr lvl="1"/>
            <a:r>
              <a:rPr lang="en-US" sz="2000" dirty="0"/>
              <a:t>Since Cookie is in </a:t>
            </a:r>
            <a:r>
              <a:rPr lang="en-US" sz="2400" b="1" baseline="30000" dirty="0" err="1"/>
              <a:t>javax.servlet.http</a:t>
            </a:r>
            <a:r>
              <a:rPr lang="en-US" sz="2400" b="1" baseline="30000" dirty="0"/>
              <a:t>.*,</a:t>
            </a:r>
            <a:r>
              <a:rPr lang="en-US" sz="2400" b="1" dirty="0"/>
              <a:t> </a:t>
            </a:r>
            <a:r>
              <a:rPr lang="en-US" sz="2000" dirty="0"/>
              <a:t>no explicit import is needed in </a:t>
            </a:r>
            <a:r>
              <a:rPr lang="en-US" sz="2000" b="1" dirty="0"/>
              <a:t>JSP</a:t>
            </a:r>
            <a:r>
              <a:rPr lang="en-US" sz="2000" dirty="0"/>
              <a:t> or </a:t>
            </a:r>
            <a:r>
              <a:rPr lang="en-US" sz="2000" b="1" dirty="0"/>
              <a:t>Servlets</a:t>
            </a:r>
            <a:r>
              <a:rPr lang="en-US" sz="2000" dirty="0"/>
              <a:t>.</a:t>
            </a:r>
            <a:endParaRPr lang="en-US" sz="1800" dirty="0"/>
          </a:p>
          <a:p>
            <a:pPr marL="0" indent="0">
              <a:buNone/>
            </a:pPr>
            <a:endParaRPr lang="en-US" altLang="zh-CN" sz="1050" dirty="0"/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B616ECF-2B61-493E-943B-5890F0C7A8DB}" type="slidenum">
              <a:rPr lang="en-US" altLang="zh-CN" sz="1400"/>
            </a:fld>
            <a:endParaRPr lang="en-US" altLang="zh-CN" sz="1400"/>
          </a:p>
        </p:txBody>
      </p:sp>
      <p:pic>
        <p:nvPicPr>
          <p:cNvPr id="55301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830151"/>
            <a:ext cx="3471863" cy="1415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2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40" y="4896427"/>
            <a:ext cx="299085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3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966571"/>
            <a:ext cx="3062287" cy="1278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3E446E-572D-46B5-97A6-DA8BC88C21B2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2"/>
          <p:cNvSpPr/>
          <p:nvPr/>
        </p:nvSpPr>
        <p:spPr>
          <a:xfrm>
            <a:off x="381000" y="304800"/>
            <a:ext cx="6096000" cy="356764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</a:pPr>
            <a:r>
              <a:rPr lang="en-US" sz="2000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1. Retrieving Cookies (Client → Server)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201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i="1" dirty="0">
                <a:solidFill>
                  <a:srgbClr val="A0A1A7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// Get all cookies from the client request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201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</a:t>
            </a:r>
            <a:r>
              <a:rPr lang="en-US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[]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cookies </a:t>
            </a:r>
            <a:r>
              <a:rPr lang="en-US" b="1" dirty="0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request</a:t>
            </a:r>
            <a:r>
              <a:rPr lang="en-US" b="1" dirty="0" err="1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getCookies</a:t>
            </a:r>
            <a:r>
              <a:rPr lang="en-US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201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201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i="1" dirty="0">
                <a:solidFill>
                  <a:srgbClr val="A0A1A7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// Iterate to find a specific cookie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201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A626A4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cookies </a:t>
            </a:r>
            <a:r>
              <a:rPr lang="en-US" b="1" dirty="0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!=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A626A4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null</a:t>
            </a:r>
            <a:r>
              <a:rPr lang="en-US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201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A626A4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cookies</a:t>
            </a:r>
            <a:r>
              <a:rPr lang="en-US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201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A626A4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50A14F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b="1" dirty="0" err="1">
                <a:solidFill>
                  <a:srgbClr val="50A14F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username"</a:t>
            </a:r>
            <a:r>
              <a:rPr lang="en-US" b="1" dirty="0" err="1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equals</a:t>
            </a:r>
            <a:r>
              <a:rPr lang="en-US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</a:t>
            </a:r>
            <a:r>
              <a:rPr lang="en-US" b="1" dirty="0" err="1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getName</a:t>
            </a:r>
            <a:r>
              <a:rPr lang="en-US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()))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201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lang="en-US" b="1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value </a:t>
            </a:r>
            <a:r>
              <a:rPr lang="en-US" b="1" dirty="0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</a:t>
            </a:r>
            <a:r>
              <a:rPr lang="en-US" b="1" dirty="0" err="1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getValue</a:t>
            </a:r>
            <a:r>
              <a:rPr lang="en-US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201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lang="en-US" b="1" dirty="0" err="1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System</a:t>
            </a:r>
            <a:r>
              <a:rPr lang="en-US" b="1" dirty="0" err="1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out</a:t>
            </a:r>
            <a:r>
              <a:rPr lang="en-US" b="1" dirty="0" err="1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println</a:t>
            </a:r>
            <a:r>
              <a:rPr lang="en-US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50A14F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"Found cookie: "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+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value</a:t>
            </a:r>
            <a:r>
              <a:rPr lang="en-US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201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201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2010"/>
              </a:lnSpc>
              <a:spcBef>
                <a:spcPts val="0"/>
              </a:spcBef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r>
              <a:rPr lang="en-US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7600" y="3581400"/>
            <a:ext cx="7543800" cy="2541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</a:pPr>
            <a:r>
              <a:rPr lang="en-US" sz="2000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2. Sending Cookies (Server → Client)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i="1" dirty="0">
                <a:solidFill>
                  <a:srgbClr val="A0A1A7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// Create a new cookie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userCookie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A626A4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50A14F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"username"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50A14F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dirty="0" err="1">
                <a:solidFill>
                  <a:srgbClr val="50A14F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alice</a:t>
            </a:r>
            <a:r>
              <a:rPr lang="en-US" dirty="0">
                <a:solidFill>
                  <a:srgbClr val="50A14F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i="1" dirty="0">
                <a:solidFill>
                  <a:srgbClr val="A0A1A7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// Optional: Set properties (expiry, domain, etc.)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userCookie</a:t>
            </a:r>
            <a:r>
              <a:rPr lang="en-US" dirty="0" err="1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setMaxAge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60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60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24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i="1" dirty="0">
                <a:solidFill>
                  <a:srgbClr val="A0A1A7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// 1 day (in seconds)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userCookie</a:t>
            </a:r>
            <a:r>
              <a:rPr lang="en-US" dirty="0" err="1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setPath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50A14F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"/"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lang="en-US" i="1" dirty="0">
                <a:solidFill>
                  <a:srgbClr val="A0A1A7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// Accessible across entire domain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i="1" dirty="0">
                <a:solidFill>
                  <a:srgbClr val="A0A1A7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// Add to response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response</a:t>
            </a:r>
            <a:r>
              <a:rPr lang="en-US" dirty="0" err="1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addCookie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userCookie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3E446E-572D-46B5-97A6-DA8BC88C21B2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1000" y="1980850"/>
          <a:ext cx="11388725" cy="2637536"/>
        </p:xfrm>
        <a:graphic>
          <a:graphicData uri="http://schemas.openxmlformats.org/drawingml/2006/table">
            <a:tbl>
              <a:tblPr firstRow="1" firstCol="1" bandRow="1"/>
              <a:tblGrid>
                <a:gridCol w="2487193"/>
                <a:gridCol w="4450766"/>
                <a:gridCol w="4450766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Menlo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setMaxAge(int seconds)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Cookie lifetime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Menlo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cookie.setMaxAge(86400);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(1 day)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Menlo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setPath(String path)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URL paths that can access the cookie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Menlo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cookie.setPath("/shop");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Menlo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setDomain(String domain)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Specifies subdomain sharing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Menlo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cookie.setDomain(".example.com");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Menlo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setSecure(boolean flag)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HTTPS-only transmission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Menlo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cookie.setSecure(true);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Menlo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setHttpOnly(boolean flag)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Blocks JavaScript access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Menlo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cookie.setHttpOnly</a:t>
                      </a:r>
                      <a:r>
                        <a:rPr lang="en-US" sz="1600" dirty="0">
                          <a:effectLst/>
                          <a:latin typeface="Menlo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(true);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733800" y="762000"/>
            <a:ext cx="42631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en-US" sz="2800" b="1" dirty="0">
                <a:solidFill>
                  <a:srgbClr val="FF0000"/>
                </a:solidFill>
                <a:latin typeface="DeepSeek-CJK-patch" charset="0"/>
                <a:ea typeface="DeepSeek-CJK-patch" charset="0"/>
              </a:rPr>
              <a:t>Common Cookie Properties</a:t>
            </a:r>
            <a:endParaRPr lang="en-US" altLang="en-US" sz="2400" b="1" dirty="0">
              <a:solidFill>
                <a:srgbClr val="FF0000"/>
              </a:solidFill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3E446E-572D-46B5-97A6-DA8BC88C21B2}" type="slidenum">
              <a:rPr lang="en-US" altLang="zh-CN" smtClean="0"/>
            </a:fld>
            <a:endParaRPr lang="en-US" altLang="zh-CN"/>
          </a:p>
        </p:txBody>
      </p:sp>
      <p:sp>
        <p:nvSpPr>
          <p:cNvPr id="4" name="Rectangle 3"/>
          <p:cNvSpPr/>
          <p:nvPr/>
        </p:nvSpPr>
        <p:spPr>
          <a:xfrm>
            <a:off x="3167422" y="342323"/>
            <a:ext cx="55701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DeepSeek-CJK-patch"/>
              </a:rPr>
              <a:t>Example: Login System with Cookies</a:t>
            </a:r>
            <a:endParaRPr lang="en-US" sz="2800" b="0" i="0" dirty="0">
              <a:solidFill>
                <a:srgbClr val="FF0000"/>
              </a:solidFill>
              <a:effectLst/>
              <a:latin typeface="DeepSeek-CJK-patch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56620"/>
            <a:ext cx="6096000" cy="3339184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i="1" dirty="0"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// Server-side (Servlet)  </a:t>
            </a:r>
            <a:endParaRPr lang="en-US" sz="16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A626A4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protected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A626A4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void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doPost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HttpServletRequest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request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HttpServletResponse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response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username </a:t>
            </a:r>
            <a:r>
              <a:rPr lang="en-US" dirty="0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request</a:t>
            </a:r>
            <a:r>
              <a:rPr lang="en-US" dirty="0" err="1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getParameter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50A14F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"username"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i="1" dirty="0"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// Create a persistent cookie  </a:t>
            </a: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A626A4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50A14F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"user"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username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</a:t>
            </a:r>
            <a:r>
              <a:rPr lang="en-US" dirty="0" err="1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setMaxAge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30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24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60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60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i="1" dirty="0">
                <a:solidFill>
                  <a:srgbClr val="A0A1A7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// 30 days  </a:t>
            </a: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response</a:t>
            </a:r>
            <a:r>
              <a:rPr lang="en-US" dirty="0" err="1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addCookie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response</a:t>
            </a:r>
            <a:r>
              <a:rPr lang="en-US" dirty="0" err="1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sendRedirect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50A14F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dirty="0" err="1">
                <a:solidFill>
                  <a:srgbClr val="50A14F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welcome.jsp</a:t>
            </a:r>
            <a:r>
              <a:rPr lang="en-US" dirty="0">
                <a:solidFill>
                  <a:srgbClr val="50A14F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sz="16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67400" y="3344029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FF"/>
                </a:solidFill>
              </a:rPr>
              <a:t>&lt;%-- JSP: Check cookie --%&gt;  </a:t>
            </a:r>
            <a:endParaRPr lang="en-US" dirty="0">
              <a:solidFill>
                <a:srgbClr val="FF00FF"/>
              </a:solidFill>
            </a:endParaRPr>
          </a:p>
          <a:p>
            <a:r>
              <a:rPr lang="en-US" dirty="0">
                <a:solidFill>
                  <a:srgbClr val="FF00FF"/>
                </a:solidFill>
              </a:rPr>
              <a:t>&lt;%  </a:t>
            </a:r>
            <a:endParaRPr lang="en-US" dirty="0">
              <a:solidFill>
                <a:srgbClr val="FF00FF"/>
              </a:solidFill>
            </a:endParaRPr>
          </a:p>
          <a:p>
            <a:r>
              <a:rPr lang="en-US" dirty="0">
                <a:solidFill>
                  <a:srgbClr val="FF00FF"/>
                </a:solidFill>
              </a:rPr>
              <a:t>Cookie[] cookies = </a:t>
            </a:r>
            <a:r>
              <a:rPr lang="en-US" dirty="0" err="1">
                <a:solidFill>
                  <a:srgbClr val="FF00FF"/>
                </a:solidFill>
              </a:rPr>
              <a:t>request.getCookies</a:t>
            </a:r>
            <a:r>
              <a:rPr lang="en-US" dirty="0">
                <a:solidFill>
                  <a:srgbClr val="FF00FF"/>
                </a:solidFill>
              </a:rPr>
              <a:t>();  </a:t>
            </a:r>
            <a:endParaRPr lang="en-US" dirty="0">
              <a:solidFill>
                <a:srgbClr val="FF00FF"/>
              </a:solidFill>
            </a:endParaRPr>
          </a:p>
          <a:p>
            <a:r>
              <a:rPr lang="en-US" dirty="0">
                <a:solidFill>
                  <a:srgbClr val="FF00FF"/>
                </a:solidFill>
              </a:rPr>
              <a:t>if (cookies != null) {  </a:t>
            </a:r>
            <a:endParaRPr lang="en-US" dirty="0">
              <a:solidFill>
                <a:srgbClr val="FF00FF"/>
              </a:solidFill>
            </a:endParaRPr>
          </a:p>
          <a:p>
            <a:r>
              <a:rPr lang="en-US" dirty="0">
                <a:solidFill>
                  <a:srgbClr val="FF00FF"/>
                </a:solidFill>
              </a:rPr>
              <a:t>    for (Cookie c : cookies) {  </a:t>
            </a:r>
            <a:endParaRPr lang="en-US" dirty="0">
              <a:solidFill>
                <a:srgbClr val="FF00FF"/>
              </a:solidFill>
            </a:endParaRPr>
          </a:p>
          <a:p>
            <a:r>
              <a:rPr lang="en-US" dirty="0">
                <a:solidFill>
                  <a:srgbClr val="FF00FF"/>
                </a:solidFill>
              </a:rPr>
              <a:t>        if ("</a:t>
            </a:r>
            <a:r>
              <a:rPr lang="en-US" dirty="0" err="1">
                <a:solidFill>
                  <a:srgbClr val="FF00FF"/>
                </a:solidFill>
              </a:rPr>
              <a:t>user".equals</a:t>
            </a:r>
            <a:r>
              <a:rPr lang="en-US" dirty="0">
                <a:solidFill>
                  <a:srgbClr val="FF00FF"/>
                </a:solidFill>
              </a:rPr>
              <a:t>(</a:t>
            </a:r>
            <a:r>
              <a:rPr lang="en-US" dirty="0" err="1">
                <a:solidFill>
                  <a:srgbClr val="FF00FF"/>
                </a:solidFill>
              </a:rPr>
              <a:t>c.getName</a:t>
            </a:r>
            <a:r>
              <a:rPr lang="en-US" dirty="0">
                <a:solidFill>
                  <a:srgbClr val="FF00FF"/>
                </a:solidFill>
              </a:rPr>
              <a:t>())) {  </a:t>
            </a:r>
            <a:endParaRPr lang="en-US" dirty="0">
              <a:solidFill>
                <a:srgbClr val="FF00FF"/>
              </a:solidFill>
            </a:endParaRPr>
          </a:p>
          <a:p>
            <a:r>
              <a:rPr lang="en-US" dirty="0">
                <a:solidFill>
                  <a:srgbClr val="FF00FF"/>
                </a:solidFill>
              </a:rPr>
              <a:t>            </a:t>
            </a:r>
            <a:r>
              <a:rPr lang="en-US" dirty="0" err="1">
                <a:solidFill>
                  <a:srgbClr val="FF00FF"/>
                </a:solidFill>
              </a:rPr>
              <a:t>out.print</a:t>
            </a:r>
            <a:r>
              <a:rPr lang="en-US" dirty="0">
                <a:solidFill>
                  <a:srgbClr val="FF00FF"/>
                </a:solidFill>
              </a:rPr>
              <a:t>("Welcome back, " + </a:t>
            </a:r>
            <a:r>
              <a:rPr lang="en-US" dirty="0" err="1">
                <a:solidFill>
                  <a:srgbClr val="FF00FF"/>
                </a:solidFill>
              </a:rPr>
              <a:t>c.getValue</a:t>
            </a:r>
            <a:r>
              <a:rPr lang="en-US" dirty="0">
                <a:solidFill>
                  <a:srgbClr val="FF00FF"/>
                </a:solidFill>
              </a:rPr>
              <a:t>());  </a:t>
            </a:r>
            <a:endParaRPr lang="en-US" dirty="0">
              <a:solidFill>
                <a:srgbClr val="FF00FF"/>
              </a:solidFill>
            </a:endParaRPr>
          </a:p>
          <a:p>
            <a:r>
              <a:rPr lang="en-US" dirty="0">
                <a:solidFill>
                  <a:srgbClr val="FF00FF"/>
                </a:solidFill>
              </a:rPr>
              <a:t>        }  </a:t>
            </a:r>
            <a:endParaRPr lang="en-US" dirty="0">
              <a:solidFill>
                <a:srgbClr val="FF00FF"/>
              </a:solidFill>
            </a:endParaRPr>
          </a:p>
          <a:p>
            <a:r>
              <a:rPr lang="en-US" dirty="0">
                <a:solidFill>
                  <a:srgbClr val="FF00FF"/>
                </a:solidFill>
              </a:rPr>
              <a:t>    }  </a:t>
            </a:r>
            <a:endParaRPr lang="en-US" dirty="0">
              <a:solidFill>
                <a:srgbClr val="FF00FF"/>
              </a:solidFill>
            </a:endParaRPr>
          </a:p>
          <a:p>
            <a:r>
              <a:rPr lang="en-US" dirty="0">
                <a:solidFill>
                  <a:srgbClr val="FF00FF"/>
                </a:solidFill>
              </a:rPr>
              <a:t>}  </a:t>
            </a:r>
            <a:endParaRPr lang="en-US" dirty="0">
              <a:solidFill>
                <a:srgbClr val="FF00FF"/>
              </a:solidFill>
            </a:endParaRPr>
          </a:p>
          <a:p>
            <a:r>
              <a:rPr lang="en-US" dirty="0">
                <a:solidFill>
                  <a:srgbClr val="FF00FF"/>
                </a:solidFill>
              </a:rPr>
              <a:t>%&gt; </a:t>
            </a:r>
            <a:endParaRPr lang="en-US" dirty="0">
              <a:solidFill>
                <a:srgbClr val="FF00FF"/>
              </a:solidFill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791200" y="3204524"/>
            <a:ext cx="6096000" cy="3429000"/>
          </a:xfrm>
          <a:prstGeom prst="rect">
            <a:avLst/>
          </a:prstGeom>
          <a:noFill/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3E446E-572D-46B5-97A6-DA8BC88C21B2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2209800"/>
          <a:ext cx="11388725" cy="2192655"/>
        </p:xfrm>
        <a:graphic>
          <a:graphicData uri="http://schemas.openxmlformats.org/drawingml/2006/table">
            <a:tbl>
              <a:tblPr firstRow="1" firstCol="1" bandRow="1"/>
              <a:tblGrid>
                <a:gridCol w="2487193"/>
                <a:gridCol w="4450766"/>
                <a:gridCol w="4450766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Cookies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HttpSession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Storage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Client-side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Server-side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Less secure (editable by user)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More secure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Persistence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Can be long-lived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Session-only (default)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 Capacity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Limited (~4KB)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Virtually unlimited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04800" y="1384061"/>
            <a:ext cx="65" cy="5846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74570" rIns="0" bIns="130134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76600" y="990600"/>
            <a:ext cx="51766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en-US" sz="2800" b="1" dirty="0">
                <a:solidFill>
                  <a:srgbClr val="FF0000"/>
                </a:solidFill>
                <a:latin typeface="DeepSeek-CJK-patch" charset="0"/>
                <a:ea typeface="DeepSeek-CJK-patch" charset="0"/>
              </a:rPr>
              <a:t>When to Use Cookies vs. Sessions</a:t>
            </a:r>
            <a:endParaRPr lang="en-US" altLang="en-US" sz="2800" b="1" dirty="0">
              <a:solidFill>
                <a:srgbClr val="FF0000"/>
              </a:solidFill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>
          <a:xfrm>
            <a:off x="1722967" y="136525"/>
            <a:ext cx="8540750" cy="473075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Cookie Encoding Guide for Different Data Types</a:t>
            </a:r>
            <a:endParaRPr lang="en-GB" altLang="en-US" sz="3200" b="1" dirty="0">
              <a:solidFill>
                <a:srgbClr val="FF0000"/>
              </a:solidFill>
            </a:endParaRPr>
          </a:p>
        </p:txBody>
      </p:sp>
      <p:sp>
        <p:nvSpPr>
          <p:cNvPr id="56324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F27FE0-9018-4479-9611-DD11230D1CCB}" type="slidenum">
              <a:rPr lang="en-US" altLang="zh-CN" sz="1400"/>
            </a:fld>
            <a:endParaRPr lang="en-US" altLang="zh-CN" sz="1400" dirty="0"/>
          </a:p>
        </p:txBody>
      </p:sp>
      <p:sp>
        <p:nvSpPr>
          <p:cNvPr id="2" name="Rectangle 1"/>
          <p:cNvSpPr/>
          <p:nvPr/>
        </p:nvSpPr>
        <p:spPr>
          <a:xfrm>
            <a:off x="275888" y="525511"/>
            <a:ext cx="7549092" cy="5177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</a:pPr>
            <a:r>
              <a:rPr lang="en-US" sz="1400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1. ASCII Text (English)</a:t>
            </a:r>
            <a:endParaRPr lang="en-US" sz="12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>
              <a:lnSpc>
                <a:spcPts val="2145"/>
              </a:lnSpc>
              <a:spcBef>
                <a:spcPts val="0"/>
              </a:spcBef>
              <a:spcAft>
                <a:spcPts val="300"/>
              </a:spcAft>
              <a:buSzPts val="1000"/>
              <a:tabLst>
                <a:tab pos="457200" algn="l"/>
              </a:tabLst>
            </a:pPr>
            <a:r>
              <a:rPr lang="en-US" sz="1400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Requirements:</a:t>
            </a:r>
            <a:endParaRPr lang="en-US" sz="12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914400" algn="l"/>
              </a:tabLst>
            </a:pPr>
            <a:r>
              <a:rPr lang="en-US" sz="1400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Only supports non-whitespace ASCII characters.</a:t>
            </a:r>
            <a:endParaRPr lang="en-US" sz="12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914400" algn="l"/>
              </a:tabLst>
            </a:pPr>
            <a:r>
              <a:rPr lang="en-US" sz="1400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Forbidden: Commas (</a:t>
            </a:r>
            <a:r>
              <a:rPr lang="en-US" sz="1100" b="1" dirty="0">
                <a:solidFill>
                  <a:srgbClr val="404040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1400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), semicolons (</a:t>
            </a:r>
            <a:r>
              <a:rPr lang="en-US" sz="1100" b="1" dirty="0">
                <a:solidFill>
                  <a:srgbClr val="404040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r>
              <a:rPr lang="en-US" sz="1400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), and control characters.</a:t>
            </a:r>
            <a:endParaRPr lang="en-US" sz="12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914400" algn="l"/>
              </a:tabLst>
            </a:pPr>
            <a:r>
              <a:rPr lang="en-US" sz="1400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Example:  </a:t>
            </a:r>
            <a:r>
              <a:rPr lang="en-US" sz="1400" b="1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</a:t>
            </a:r>
            <a:r>
              <a:rPr lang="en-US" sz="1400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</a:t>
            </a:r>
            <a:r>
              <a:rPr lang="en-US" sz="1400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400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A626A4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US" sz="1400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</a:t>
            </a:r>
            <a:r>
              <a:rPr lang="en-US" sz="1400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400" b="1" dirty="0">
                <a:solidFill>
                  <a:srgbClr val="50A14F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"username"</a:t>
            </a:r>
            <a:r>
              <a:rPr lang="en-US" sz="1400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1400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50A14F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"Alice123"</a:t>
            </a:r>
            <a:r>
              <a:rPr lang="en-US" sz="1400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en-US" sz="1400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b="1" i="1" dirty="0">
                <a:solidFill>
                  <a:srgbClr val="A0A1A7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// Valid ASCII  </a:t>
            </a:r>
            <a:endParaRPr lang="en-US" sz="12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914400" algn="l"/>
              </a:tabLst>
            </a:pPr>
            <a:endParaRPr lang="en-US" sz="1400" b="1" dirty="0">
              <a:solidFill>
                <a:srgbClr val="404040"/>
              </a:solidFill>
              <a:latin typeface="DeepSeek-CJK-patch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914400" algn="l"/>
              </a:tabLst>
            </a:pPr>
            <a:r>
              <a:rPr lang="en-US" sz="1400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400" b="1" dirty="0">
                <a:solidFill>
                  <a:srgbClr val="404040"/>
                </a:solidFill>
                <a:latin typeface="DeepSeek-CJK-patch"/>
                <a:cs typeface="Times New Roman" panose="02020603050405020304" pitchFamily="18" charset="0"/>
              </a:rPr>
              <a:t>Unicode Text (Chinese/Non-ASCII) :</a:t>
            </a:r>
            <a:endParaRPr lang="en-US" sz="1400" b="1" dirty="0">
              <a:solidFill>
                <a:srgbClr val="404040"/>
              </a:solidFill>
              <a:latin typeface="DeepSeek-CJK-patch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914400" algn="l"/>
              </a:tabLst>
            </a:pPr>
            <a:r>
              <a:rPr lang="en-US" sz="1400" b="1" dirty="0">
                <a:solidFill>
                  <a:srgbClr val="404040"/>
                </a:solidFill>
                <a:latin typeface="DeepSeek-CJK-patch"/>
                <a:cs typeface="Times New Roman" panose="02020603050405020304" pitchFamily="18" charset="0"/>
              </a:rPr>
              <a:t>Chinese characters are Unicode (4 bytes in memory vs. ASCII’s 2 bytes).</a:t>
            </a:r>
            <a:endParaRPr lang="en-US" sz="1400" b="1" dirty="0">
              <a:solidFill>
                <a:srgbClr val="404040"/>
              </a:solidFill>
              <a:latin typeface="DeepSeek-CJK-patch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914400" algn="l"/>
              </a:tabLst>
            </a:pPr>
            <a:r>
              <a:rPr lang="en-US" sz="1400" b="1" dirty="0">
                <a:solidFill>
                  <a:srgbClr val="404040"/>
                </a:solidFill>
                <a:latin typeface="DeepSeek-CJK-patch"/>
                <a:cs typeface="Times New Roman" panose="02020603050405020304" pitchFamily="18" charset="0"/>
              </a:rPr>
              <a:t>Raw Unicode in cookies causes garbled text if not encoded.</a:t>
            </a:r>
            <a:endParaRPr lang="en-US" sz="1400" b="1" dirty="0">
              <a:solidFill>
                <a:srgbClr val="404040"/>
              </a:solidFill>
              <a:latin typeface="DeepSeek-CJK-patch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914400" algn="l"/>
              </a:tabLst>
            </a:pPr>
            <a:r>
              <a:rPr lang="en-US" sz="1400" b="1" dirty="0">
                <a:solidFill>
                  <a:srgbClr val="404040"/>
                </a:solidFill>
                <a:latin typeface="DeepSeek-CJK-patch"/>
                <a:cs typeface="Times New Roman" panose="02020603050405020304" pitchFamily="18" charset="0"/>
              </a:rPr>
              <a:t>Solution: UTF-8 URL Encoding</a:t>
            </a:r>
            <a:endParaRPr lang="en-US" sz="1400" b="1" dirty="0">
              <a:solidFill>
                <a:srgbClr val="404040"/>
              </a:solidFill>
              <a:latin typeface="DeepSeek-CJK-patch"/>
              <a:cs typeface="Times New Roman" panose="02020603050405020304" pitchFamily="18" charset="0"/>
            </a:endParaRPr>
          </a:p>
          <a:p>
            <a:pPr lvl="1" latinLnBrk="1">
              <a:lnSpc>
                <a:spcPts val="1510"/>
              </a:lnSpc>
              <a:spcBef>
                <a:spcPts val="0"/>
              </a:spcBef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400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chineseValue</a:t>
            </a:r>
            <a:r>
              <a:rPr lang="en-US" sz="1400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400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URLEncoder</a:t>
            </a:r>
            <a:r>
              <a:rPr lang="en-US" sz="1400" b="1" dirty="0" err="1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400" b="1" dirty="0" err="1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encode</a:t>
            </a:r>
            <a:r>
              <a:rPr lang="en-US" sz="1400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400" b="1" dirty="0">
                <a:solidFill>
                  <a:srgbClr val="50A14F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zh-CN" altLang="en-US" sz="1400" b="1" dirty="0">
                <a:solidFill>
                  <a:srgbClr val="50A14F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用户名</a:t>
            </a:r>
            <a:r>
              <a:rPr lang="en-US" sz="1400" b="1" dirty="0">
                <a:solidFill>
                  <a:srgbClr val="50A14F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sz="1400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1400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50A14F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"UTF-8"</a:t>
            </a:r>
            <a:r>
              <a:rPr lang="en-US" sz="1400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en-US" sz="1400" b="1" dirty="0">
              <a:solidFill>
                <a:srgbClr val="383A42"/>
              </a:solidFill>
              <a:latin typeface="Menlo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lvl="1" latinLnBrk="1">
              <a:lnSpc>
                <a:spcPts val="1510"/>
              </a:lnSpc>
              <a:spcBef>
                <a:spcPts val="0"/>
              </a:spcBef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b="1" i="1" dirty="0">
                <a:solidFill>
                  <a:srgbClr val="A0A1A7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// %E7%94%A8%E6%88%B7%E5%90%8D  </a:t>
            </a:r>
            <a:endParaRPr lang="en-US" sz="12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1">
              <a:lnSpc>
                <a:spcPts val="1510"/>
              </a:lnSpc>
              <a:spcBef>
                <a:spcPts val="0"/>
              </a:spcBef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</a:t>
            </a:r>
            <a:r>
              <a:rPr lang="en-US" sz="1400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</a:t>
            </a:r>
            <a:r>
              <a:rPr lang="en-US" sz="1400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400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A626A4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US" sz="1400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</a:t>
            </a:r>
            <a:r>
              <a:rPr lang="en-US" sz="1400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400" b="1" dirty="0">
                <a:solidFill>
                  <a:srgbClr val="50A14F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"user"</a:t>
            </a:r>
            <a:r>
              <a:rPr lang="en-US" sz="1400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1400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chineseValue</a:t>
            </a:r>
            <a:r>
              <a:rPr lang="en-US" sz="1400" b="1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en-US" sz="1400" b="1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sz="12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1">
              <a:lnSpc>
                <a:spcPts val="1510"/>
              </a:lnSpc>
              <a:spcBef>
                <a:spcPts val="0"/>
              </a:spcBef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Why not GBK?</a:t>
            </a:r>
            <a:endParaRPr lang="en-US" sz="12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400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Browsers/JavaScript lack consistent GBK support.</a:t>
            </a:r>
            <a:endParaRPr lang="en-US" sz="12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400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UTF-8 is universal and recommended.</a:t>
            </a:r>
            <a:endParaRPr lang="en-US" sz="1200" b="1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05743" y="2983827"/>
            <a:ext cx="5486400" cy="3284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ts val="2145"/>
              </a:lnSpc>
              <a:spcBef>
                <a:spcPts val="1370"/>
              </a:spcBef>
              <a:spcAft>
                <a:spcPts val="1030"/>
              </a:spcAft>
            </a:pPr>
            <a:r>
              <a:rPr lang="en-US" sz="1400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3. Binary Data (e.g., Images, Certificates)</a:t>
            </a:r>
            <a:endParaRPr lang="en-US" sz="12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2145"/>
              </a:lnSpc>
              <a:spcBef>
                <a:spcPts val="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Use Case</a:t>
            </a:r>
            <a:r>
              <a:rPr lang="en-US" sz="1400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2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Rare but possible (e.g., encrypted session tokens).</a:t>
            </a:r>
            <a:endParaRPr lang="en-US" sz="12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2145"/>
              </a:lnSpc>
              <a:spcBef>
                <a:spcPts val="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lang="en-US" sz="1400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en-US" sz="1400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Base64</a:t>
            </a:r>
            <a:r>
              <a:rPr lang="en-US" sz="1400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 (converts binary to ASCII-safe text)</a:t>
            </a:r>
            <a:endParaRPr lang="en-US" sz="12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1510"/>
              </a:lnSpc>
              <a:spcBef>
                <a:spcPts val="0"/>
              </a:spcBef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dirty="0">
                <a:solidFill>
                  <a:srgbClr val="A626A4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byte</a:t>
            </a:r>
            <a:r>
              <a:rPr lang="en-US" sz="1400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[]</a:t>
            </a:r>
            <a:r>
              <a:rPr lang="en-US" sz="1400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binaryData</a:t>
            </a:r>
            <a:r>
              <a:rPr lang="en-US" sz="1400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...;</a:t>
            </a:r>
            <a:r>
              <a:rPr lang="en-US" sz="1400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i="1" dirty="0">
                <a:solidFill>
                  <a:srgbClr val="A0A1A7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// e.g., certificate bytes  </a:t>
            </a:r>
            <a:endParaRPr lang="en-US" sz="12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1510"/>
              </a:lnSpc>
              <a:spcBef>
                <a:spcPts val="0"/>
              </a:spcBef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400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base64Value </a:t>
            </a:r>
            <a:r>
              <a:rPr lang="en-US" sz="1400" dirty="0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Base64</a:t>
            </a:r>
            <a:r>
              <a:rPr lang="en-US" sz="1400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getEncoder</a:t>
            </a:r>
            <a:r>
              <a:rPr lang="en-US" sz="1400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().</a:t>
            </a:r>
            <a:r>
              <a:rPr lang="en-US" sz="1400" dirty="0" err="1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encodeToString</a:t>
            </a:r>
            <a:r>
              <a:rPr lang="en-US" sz="1400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binaryData</a:t>
            </a:r>
            <a:r>
              <a:rPr lang="en-US" sz="1400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en-US" sz="1400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sz="12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1510"/>
              </a:lnSpc>
              <a:spcBef>
                <a:spcPts val="0"/>
              </a:spcBef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</a:t>
            </a:r>
            <a:r>
              <a:rPr lang="en-US" sz="1400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</a:t>
            </a:r>
            <a:r>
              <a:rPr lang="en-US" sz="1400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4078F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A626A4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US" sz="1400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B76B01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Cookie</a:t>
            </a:r>
            <a:r>
              <a:rPr lang="en-US" sz="1400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50A14F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"cert"</a:t>
            </a:r>
            <a:r>
              <a:rPr lang="en-US" sz="1400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base64Value</a:t>
            </a:r>
            <a:r>
              <a:rPr lang="en-US" sz="1400" dirty="0">
                <a:solidFill>
                  <a:srgbClr val="383A42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en-US" sz="1400" dirty="0">
                <a:solidFill>
                  <a:srgbClr val="494949"/>
                </a:solidFill>
                <a:latin typeface="Menlo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sz="12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2145"/>
              </a:lnSpc>
              <a:spcBef>
                <a:spcPts val="0"/>
              </a:spcBef>
              <a:spcAft>
                <a:spcPts val="3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Caution</a:t>
            </a:r>
            <a:r>
              <a:rPr lang="en-US" sz="1400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2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Binary cookies </a:t>
            </a:r>
            <a:r>
              <a:rPr lang="en-US" sz="1400" b="1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increase request size</a:t>
            </a:r>
            <a:r>
              <a:rPr lang="en-US" sz="1400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ts val="2145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404040"/>
                </a:solidFill>
                <a:latin typeface="DeepSeek-CJK-patch"/>
                <a:ea typeface="Times New Roman" panose="02020603050405020304" pitchFamily="18" charset="0"/>
                <a:cs typeface="Times New Roman" panose="02020603050405020304" pitchFamily="18" charset="0"/>
              </a:rPr>
              <a:t>Keep small (&lt; 4KB) to avoid performance hits.</a:t>
            </a:r>
            <a:endParaRPr lang="en-US" sz="12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248400" y="2923117"/>
            <a:ext cx="5840942" cy="34290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>
          <a:xfrm>
            <a:off x="1524000" y="530225"/>
            <a:ext cx="8540750" cy="609600"/>
          </a:xfrm>
        </p:spPr>
        <p:txBody>
          <a:bodyPr/>
          <a:lstStyle/>
          <a:p>
            <a:r>
              <a:rPr lang="en-GB" altLang="zh-CN" sz="3200" b="1" dirty="0"/>
              <a:t>Cookie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0600" y="1524000"/>
            <a:ext cx="9525000" cy="4498975"/>
          </a:xfrm>
        </p:spPr>
        <p:txBody>
          <a:bodyPr/>
          <a:lstStyle/>
          <a:p>
            <a:r>
              <a:rPr lang="en-GB" altLang="zh-CN" sz="2800" dirty="0"/>
              <a:t>Cookie </a:t>
            </a:r>
            <a:r>
              <a:rPr lang="en-GB" altLang="en-US" sz="2800" dirty="0"/>
              <a:t>Scope</a:t>
            </a:r>
            <a:endParaRPr lang="en-US" altLang="zh-CN" sz="2800" dirty="0"/>
          </a:p>
          <a:p>
            <a:pPr marL="457200" lvl="1" indent="0">
              <a:buNone/>
            </a:pPr>
            <a:r>
              <a:rPr lang="en-GB" altLang="zh-CN" dirty="0"/>
              <a:t> </a:t>
            </a:r>
            <a:r>
              <a:rPr lang="en-GB" altLang="zh-CN" sz="2400" dirty="0"/>
              <a:t>set-Cookie: domain=.szu.edu.cn</a:t>
            </a:r>
            <a:endParaRPr lang="en-GB" altLang="zh-CN" sz="2400" dirty="0"/>
          </a:p>
          <a:p>
            <a:pPr marL="457200" lvl="1" indent="0">
              <a:buFont typeface="Wingdings" panose="05000000000000000000" pitchFamily="2" charset="2"/>
              <a:buChar char="p"/>
            </a:pPr>
            <a:r>
              <a:rPr lang="en-GB" altLang="en-US" sz="2400" dirty="0"/>
              <a:t>Path-restricted scope</a:t>
            </a:r>
            <a:endParaRPr lang="en-US" altLang="zh-CN" sz="2400" dirty="0"/>
          </a:p>
          <a:p>
            <a:pPr marL="400050" lvl="2" indent="0">
              <a:buNone/>
            </a:pPr>
            <a:r>
              <a:rPr lang="en-GB" altLang="zh-CN" dirty="0"/>
              <a:t>    </a:t>
            </a:r>
            <a:r>
              <a:rPr lang="en-GB" altLang="zh-CN" sz="2200" dirty="0"/>
              <a:t>set-Cookie: path=/home ;domain=.szu.edu.cn</a:t>
            </a:r>
            <a:endParaRPr lang="en-GB" altLang="zh-CN" sz="2200" dirty="0"/>
          </a:p>
          <a:p>
            <a:pPr marL="457200" lvl="1" indent="0">
              <a:buFont typeface="Wingdings" panose="05000000000000000000" pitchFamily="2" charset="2"/>
              <a:buChar char="p"/>
            </a:pPr>
            <a:r>
              <a:rPr lang="en-GB" altLang="en-US" sz="2400" dirty="0"/>
              <a:t>Other property settings</a:t>
            </a:r>
            <a:endParaRPr lang="en-US" altLang="zh-CN" sz="2400" dirty="0"/>
          </a:p>
          <a:p>
            <a:pPr marL="400050" lvl="2" indent="0">
              <a:buNone/>
            </a:pPr>
            <a:r>
              <a:rPr lang="en-GB" altLang="zh-CN" sz="2000" dirty="0"/>
              <a:t>set-Cookie: user=elharo; expires=Wed, 21-Dec-2015 15:23:00 GMT</a:t>
            </a:r>
            <a:endParaRPr lang="en-GB" altLang="zh-CN" sz="2000" dirty="0"/>
          </a:p>
          <a:p>
            <a:pPr marL="400050" lvl="2" indent="0">
              <a:buNone/>
            </a:pPr>
            <a:r>
              <a:rPr lang="en-GB" altLang="zh-CN" sz="2000" dirty="0"/>
              <a:t>set-Cookie: user=elharo; Max-Age=3600</a:t>
            </a:r>
            <a:endParaRPr lang="en-GB" altLang="zh-CN" sz="2000" dirty="0"/>
          </a:p>
          <a:p>
            <a:pPr marL="400050" lvl="2" indent="0">
              <a:buNone/>
            </a:pPr>
            <a:r>
              <a:rPr lang="en-GB" altLang="zh-CN" sz="2000" dirty="0"/>
              <a:t>(3600 </a:t>
            </a:r>
            <a:r>
              <a:rPr lang="en-GB" altLang="en-US" sz="2000" dirty="0"/>
              <a:t>seconds, i.e. expires after </a:t>
            </a:r>
            <a:r>
              <a:rPr lang="en-GB" altLang="zh-CN" sz="2000" dirty="0"/>
              <a:t>1 hour )</a:t>
            </a:r>
            <a:endParaRPr lang="en-GB" altLang="zh-CN" sz="2000" dirty="0"/>
          </a:p>
          <a:p>
            <a:pPr marL="400050" lvl="2" indent="0">
              <a:buFont typeface="Wingdings" panose="05000000000000000000" pitchFamily="2" charset="2"/>
              <a:buChar char="p"/>
            </a:pPr>
            <a:endParaRPr lang="en-US" altLang="zh-CN" sz="1600" dirty="0"/>
          </a:p>
        </p:txBody>
      </p:sp>
      <p:sp>
        <p:nvSpPr>
          <p:cNvPr id="5734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0BF82A9-8F92-4E23-AD27-6F01F7D915FB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4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0" y="3104272"/>
            <a:ext cx="3327400" cy="3501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0" name="标题 1"/>
          <p:cNvSpPr>
            <a:spLocks noGrp="1"/>
          </p:cNvSpPr>
          <p:nvPr>
            <p:ph type="title"/>
          </p:nvPr>
        </p:nvSpPr>
        <p:spPr>
          <a:xfrm>
            <a:off x="1520825" y="115306"/>
            <a:ext cx="8540750" cy="609600"/>
          </a:xfrm>
        </p:spPr>
        <p:txBody>
          <a:bodyPr/>
          <a:lstStyle/>
          <a:p>
            <a:pPr algn="l"/>
            <a:r>
              <a:rPr lang="en-GB" altLang="zh-CN" sz="3200" dirty="0"/>
              <a:t>CookieManager </a:t>
            </a:r>
            <a:r>
              <a:rPr lang="en-GB" altLang="en-US" sz="3200" dirty="0"/>
              <a:t>Class</a:t>
            </a:r>
            <a:endParaRPr lang="en-GB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776289"/>
            <a:ext cx="11277600" cy="3343991"/>
          </a:xfrm>
        </p:spPr>
        <p:txBody>
          <a:bodyPr/>
          <a:lstStyle/>
          <a:p>
            <a:r>
              <a:rPr lang="en-GB" altLang="en-US" sz="2400" b="1" dirty="0"/>
              <a:t>Enable </a:t>
            </a:r>
            <a:r>
              <a:rPr lang="en-GB" altLang="zh-CN" sz="2400" b="1" dirty="0"/>
              <a:t>cookies </a:t>
            </a:r>
            <a:r>
              <a:rPr lang="en-GB" altLang="zh-CN" sz="2400" dirty="0"/>
              <a:t>: </a:t>
            </a:r>
            <a:r>
              <a:rPr lang="en-GB" altLang="en-US" sz="2000" dirty="0"/>
              <a:t>When programming, </a:t>
            </a:r>
            <a:r>
              <a:rPr lang="en-GB" altLang="en-US" sz="2000" dirty="0">
                <a:solidFill>
                  <a:srgbClr val="FF0000"/>
                </a:solidFill>
              </a:rPr>
              <a:t>use </a:t>
            </a:r>
            <a:r>
              <a:rPr lang="en-GB" altLang="zh-CN" sz="2000" dirty="0">
                <a:solidFill>
                  <a:srgbClr val="FF0000"/>
                </a:solidFill>
              </a:rPr>
              <a:t>the URL </a:t>
            </a:r>
            <a:r>
              <a:rPr lang="en-GB" altLang="en-US" sz="2000" dirty="0">
                <a:solidFill>
                  <a:srgbClr val="FF0000"/>
                </a:solidFill>
              </a:rPr>
              <a:t>class to connect to the </a:t>
            </a:r>
            <a:r>
              <a:rPr lang="en-GB" altLang="zh-CN" sz="2000" dirty="0">
                <a:solidFill>
                  <a:srgbClr val="FF0000"/>
                </a:solidFill>
              </a:rPr>
              <a:t>HTTP </a:t>
            </a:r>
            <a:r>
              <a:rPr lang="en-GB" altLang="en-US" sz="2000" dirty="0">
                <a:solidFill>
                  <a:srgbClr val="FF0000"/>
                </a:solidFill>
              </a:rPr>
              <a:t>server </a:t>
            </a:r>
            <a:r>
              <a:rPr lang="en-GB" altLang="en-US" sz="2000" dirty="0"/>
              <a:t>and </a:t>
            </a:r>
            <a:r>
              <a:rPr lang="en-GB" altLang="en-US" sz="2000" dirty="0">
                <a:solidFill>
                  <a:srgbClr val="FF0000"/>
                </a:solidFill>
              </a:rPr>
              <a:t>hope to store and obtain </a:t>
            </a:r>
            <a:r>
              <a:rPr lang="en-GB" altLang="zh-CN" sz="2000" dirty="0">
                <a:solidFill>
                  <a:srgbClr val="FF0000"/>
                </a:solidFill>
              </a:rPr>
              <a:t>the cookies </a:t>
            </a:r>
            <a:r>
              <a:rPr lang="en-GB" altLang="en-US" sz="2000" dirty="0">
                <a:solidFill>
                  <a:srgbClr val="FF0000"/>
                </a:solidFill>
              </a:rPr>
              <a:t>sent by the </a:t>
            </a:r>
            <a:r>
              <a:rPr lang="en-GB" altLang="zh-CN" sz="2000" dirty="0">
                <a:solidFill>
                  <a:srgbClr val="FF0000"/>
                </a:solidFill>
              </a:rPr>
              <a:t>HTTP server.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zh-CN" sz="2000" dirty="0"/>
              <a:t>, </a:t>
            </a:r>
            <a:r>
              <a:rPr lang="en-GB" altLang="zh-CN" sz="2000" dirty="0">
                <a:solidFill>
                  <a:srgbClr val="FF0000"/>
                </a:solidFill>
              </a:rPr>
              <a:t>cookies </a:t>
            </a:r>
            <a:r>
              <a:rPr lang="en-GB" altLang="en-US" sz="2000" dirty="0"/>
              <a:t>must </a:t>
            </a:r>
            <a:r>
              <a:rPr lang="en-GB" altLang="en-US" sz="2000" dirty="0">
                <a:solidFill>
                  <a:srgbClr val="FF0000"/>
                </a:solidFill>
              </a:rPr>
              <a:t>be enabled in the program </a:t>
            </a:r>
            <a:r>
              <a:rPr lang="en-GB" altLang="en-US" sz="2000" dirty="0"/>
              <a:t>.</a:t>
            </a:r>
            <a:endParaRPr lang="en-US" altLang="zh-CN" sz="2000" dirty="0"/>
          </a:p>
          <a:p>
            <a:pPr>
              <a:buFont typeface="Wingdings 2" panose="05020102010507070707" pitchFamily="18" charset="2"/>
              <a:buNone/>
            </a:pPr>
            <a:endParaRPr lang="en-US" altLang="zh-CN" sz="2800" dirty="0"/>
          </a:p>
          <a:p>
            <a:pPr>
              <a:buFont typeface="Wingdings 2" panose="05020102010507070707" pitchFamily="18" charset="2"/>
              <a:buNone/>
            </a:pPr>
            <a:endParaRPr lang="en-US" altLang="zh-CN" sz="2800" dirty="0"/>
          </a:p>
          <a:p>
            <a:r>
              <a:rPr lang="en-GB" altLang="en-US" sz="2000" dirty="0"/>
              <a:t>Receiving strategy</a:t>
            </a:r>
            <a:endParaRPr lang="en-US" altLang="zh-CN" sz="2000" dirty="0"/>
          </a:p>
          <a:p>
            <a:pPr marL="0" lvl="1" indent="0">
              <a:buClr>
                <a:schemeClr val="folHlink"/>
              </a:buClr>
              <a:buNone/>
            </a:pPr>
            <a:r>
              <a:rPr lang="en-GB" altLang="zh-CN" sz="1800" dirty="0"/>
              <a:t>CookiePolicy.ACCEPT_ALL </a:t>
            </a:r>
            <a:r>
              <a:rPr lang="en-GB" altLang="en-US" sz="1800" dirty="0"/>
              <a:t>accepts all </a:t>
            </a:r>
            <a:r>
              <a:rPr lang="en-GB" altLang="zh-CN" sz="1800" dirty="0"/>
              <a:t>cookies</a:t>
            </a:r>
            <a:endParaRPr lang="en-GB" altLang="zh-CN" sz="1800" dirty="0"/>
          </a:p>
          <a:p>
            <a:pPr marL="0" lvl="1" indent="0">
              <a:buClr>
                <a:schemeClr val="folHlink"/>
              </a:buClr>
              <a:buNone/>
            </a:pPr>
            <a:r>
              <a:rPr lang="en-GB" altLang="zh-CN" sz="1800" dirty="0"/>
              <a:t>CookiePolicy.ACCEPT_NONE </a:t>
            </a:r>
            <a:r>
              <a:rPr lang="en-GB" altLang="en-US" sz="1800" dirty="0"/>
              <a:t>Do not accept any </a:t>
            </a:r>
            <a:r>
              <a:rPr lang="en-GB" altLang="zh-CN" sz="1800" dirty="0"/>
              <a:t>cookies</a:t>
            </a:r>
            <a:endParaRPr lang="en-GB" altLang="zh-CN" sz="1800" dirty="0"/>
          </a:p>
          <a:p>
            <a:pPr marL="0" lvl="1" indent="0">
              <a:buClr>
                <a:schemeClr val="folHlink"/>
              </a:buClr>
              <a:buNone/>
            </a:pPr>
            <a:r>
              <a:rPr lang="en-GB" altLang="zh-CN" sz="1800" dirty="0"/>
              <a:t>CookiePolicy.ACCEPT_ORIGINAL_SERVER </a:t>
            </a:r>
            <a:r>
              <a:rPr lang="en-GB" altLang="en-US" sz="1800" dirty="0"/>
              <a:t>only accepts first-party </a:t>
            </a:r>
            <a:r>
              <a:rPr lang="en-GB" altLang="zh-CN" sz="1800" dirty="0"/>
              <a:t>cookies</a:t>
            </a:r>
            <a:endParaRPr lang="en-GB" altLang="zh-CN" sz="1800" dirty="0"/>
          </a:p>
          <a:p>
            <a:pPr marL="0" lvl="1" indent="0">
              <a:buClr>
                <a:schemeClr val="folHlink"/>
              </a:buClr>
              <a:buNone/>
            </a:pPr>
            <a:endParaRPr lang="en-US" altLang="zh-CN" sz="1800" dirty="0"/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5052BE9-625E-4738-B63F-9A71BA4EFC4C}" type="slidenum">
              <a:rPr lang="en-US" altLang="zh-CN" sz="1400"/>
            </a:fld>
            <a:endParaRPr lang="en-US" altLang="zh-CN" sz="1400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2005807" y="1990582"/>
            <a:ext cx="8305800" cy="7683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CookieManager manager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CookieManager()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pl-PL" altLang="zh-C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CookieHandler.setDefault(manager);</a:t>
            </a:r>
            <a:endParaRPr lang="en-GB" altLang="zh-CN" sz="2000" dirty="0">
              <a:solidFill>
                <a:srgbClr val="0000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375" name="矩形 3"/>
          <p:cNvSpPr>
            <a:spLocks noChangeArrowheads="1"/>
          </p:cNvSpPr>
          <p:nvPr/>
        </p:nvSpPr>
        <p:spPr bwMode="auto">
          <a:xfrm>
            <a:off x="8382000" y="5410199"/>
            <a:ext cx="2209800" cy="671511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>
          <a:xfrm>
            <a:off x="1600200" y="0"/>
            <a:ext cx="8540750" cy="768350"/>
          </a:xfrm>
        </p:spPr>
        <p:txBody>
          <a:bodyPr/>
          <a:lstStyle/>
          <a:p>
            <a:pPr algn="l"/>
            <a:r>
              <a:rPr lang="en-GB" altLang="zh-CN" sz="3200"/>
              <a:t>CookieManager </a:t>
            </a:r>
            <a:r>
              <a:rPr lang="en-GB" altLang="en-US" sz="3200"/>
              <a:t>Class</a:t>
            </a:r>
            <a:endParaRPr lang="en-GB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82676"/>
            <a:ext cx="11125200" cy="4498975"/>
          </a:xfrm>
        </p:spPr>
        <p:txBody>
          <a:bodyPr/>
          <a:lstStyle/>
          <a:p>
            <a:r>
              <a:rPr lang="en-GB" altLang="en-US" sz="2800" dirty="0"/>
              <a:t>Block third-party </a:t>
            </a:r>
            <a:r>
              <a:rPr lang="en-GB" altLang="zh-CN" sz="2800" dirty="0"/>
              <a:t>cookies </a:t>
            </a:r>
            <a:r>
              <a:rPr lang="en-GB" altLang="en-US" sz="2800" dirty="0"/>
              <a:t>and only accept first-party:</a:t>
            </a: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en-GB" altLang="en-US" sz="2800" dirty="0"/>
              <a:t>Programmatically Customizing </a:t>
            </a:r>
            <a:r>
              <a:rPr lang="en-GB" altLang="zh-CN" sz="2800" dirty="0"/>
              <a:t>Cookie Policy</a:t>
            </a:r>
            <a:endParaRPr lang="en-GB" altLang="zh-CN" sz="2800" dirty="0"/>
          </a:p>
          <a:p>
            <a:pPr lvl="1"/>
            <a:r>
              <a:rPr lang="en-GB" altLang="zh-CN" dirty="0"/>
              <a:t> </a:t>
            </a:r>
            <a:r>
              <a:rPr lang="en-GB" altLang="en-US" sz="2000" dirty="0"/>
              <a:t>By implementing the </a:t>
            </a:r>
            <a:r>
              <a:rPr lang="en-GB" altLang="zh-CN" sz="2000" dirty="0"/>
              <a:t>CookiePolicy </a:t>
            </a:r>
            <a:r>
              <a:rPr lang="en-GB" altLang="en-US" sz="2000" dirty="0"/>
              <a:t>interface and overriding </a:t>
            </a:r>
            <a:r>
              <a:rPr lang="en-GB" altLang="zh-CN" sz="2000" dirty="0"/>
              <a:t>the shouldAccept() </a:t>
            </a:r>
            <a:r>
              <a:rPr lang="en-GB" altLang="en-US" sz="2000" dirty="0"/>
              <a:t>method:</a:t>
            </a:r>
            <a:r>
              <a:rPr lang="en-GB" altLang="zh-CN" sz="2000" dirty="0"/>
              <a:t>   </a:t>
            </a:r>
            <a:r>
              <a:rPr lang="en-GB" altLang="zh-CN" sz="1800" dirty="0"/>
              <a:t>public boolean shouldAccept(URI uri, HttpCookie cookie)</a:t>
            </a:r>
            <a:endParaRPr lang="en-GB" altLang="zh-CN" sz="1800" dirty="0"/>
          </a:p>
          <a:p>
            <a:pPr lvl="1"/>
            <a:r>
              <a:rPr lang="en-GB" altLang="en-US" sz="2400" dirty="0"/>
              <a:t>The following is an example of programming a custom </a:t>
            </a:r>
            <a:r>
              <a:rPr lang="en-GB" altLang="zh-CN" sz="2000" dirty="0"/>
              <a:t>CookiePolicy </a:t>
            </a:r>
            <a:r>
              <a:rPr lang="en-GB" altLang="en-US" sz="2000" dirty="0"/>
              <a:t>class.</a:t>
            </a:r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B0C4898-A62E-4164-8E26-7F4D804C3F16}" type="slidenum">
              <a:rPr lang="en-US" altLang="zh-CN" sz="1400"/>
            </a:fld>
            <a:endParaRPr lang="en-US" altLang="zh-CN" sz="1400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2071688" y="1676401"/>
            <a:ext cx="8305800" cy="127476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GB" altLang="zh-CN" sz="240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CookieManager manager</a:t>
            </a:r>
            <a:r>
              <a:rPr lang="en-GB" altLang="zh-CN" sz="240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40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altLang="zh-CN" sz="240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400" b="1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GB" altLang="zh-CN" sz="240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40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CookieManager() </a:t>
            </a:r>
            <a:r>
              <a:rPr lang="en-GB" altLang="zh-CN" sz="240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2400">
              <a:solidFill>
                <a:srgbClr val="5555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Manager.setCookiePolicy(CookiePolicy. </a:t>
            </a:r>
            <a:r>
              <a:rPr lang="en-GB" altLang="zh-CN" sz="180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ACCEPT_ORIGINAL_SERVER </a:t>
            </a:r>
            <a:r>
              <a:rPr lang="en-GB" altLang="zh-CN" sz="200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l-PL" altLang="zh-CN" sz="2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CookieHandler.setDefault(manager);</a:t>
            </a:r>
            <a:endParaRPr lang="en-GB" altLang="zh-CN" sz="2400">
              <a:solidFill>
                <a:srgbClr val="0000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>
          <a:xfrm>
            <a:off x="1535113" y="0"/>
            <a:ext cx="8540750" cy="685800"/>
          </a:xfrm>
        </p:spPr>
        <p:txBody>
          <a:bodyPr/>
          <a:lstStyle/>
          <a:p>
            <a:pPr algn="l"/>
            <a:r>
              <a:rPr lang="en-GB" altLang="en-US" sz="3200"/>
              <a:t>Custom </a:t>
            </a:r>
            <a:r>
              <a:rPr lang="en-GB" altLang="zh-CN" sz="3200"/>
              <a:t>CookiePolicy </a:t>
            </a:r>
            <a:r>
              <a:rPr lang="en-GB" altLang="en-US" sz="3200"/>
              <a:t>Programming Example</a:t>
            </a:r>
            <a:endParaRPr lang="en-GB" altLang="en-US" sz="3200"/>
          </a:p>
        </p:txBody>
      </p:sp>
      <p:sp>
        <p:nvSpPr>
          <p:cNvPr id="60419" name="内容占位符 2"/>
          <p:cNvSpPr>
            <a:spLocks noGrp="1"/>
          </p:cNvSpPr>
          <p:nvPr>
            <p:ph idx="1"/>
          </p:nvPr>
        </p:nvSpPr>
        <p:spPr>
          <a:xfrm>
            <a:off x="228600" y="793751"/>
            <a:ext cx="11963400" cy="4498975"/>
          </a:xfrm>
        </p:spPr>
        <p:txBody>
          <a:bodyPr/>
          <a:lstStyle/>
          <a:p>
            <a:r>
              <a:rPr lang="en-GB" altLang="en-US" sz="2400" dirty="0"/>
              <a:t>Program a simple custom </a:t>
            </a:r>
            <a:r>
              <a:rPr lang="en-GB" altLang="zh-CN" sz="2400" dirty="0"/>
              <a:t>cookie </a:t>
            </a:r>
            <a:r>
              <a:rPr lang="en-GB" altLang="en-US" sz="2400" dirty="0"/>
              <a:t>policy class </a:t>
            </a:r>
            <a:r>
              <a:rPr lang="en-GB" altLang="zh-CN" sz="2400" dirty="0"/>
              <a:t>that </a:t>
            </a:r>
            <a:r>
              <a:rPr lang="en-GB" altLang="en-US" sz="2400" dirty="0"/>
              <a:t>blocks </a:t>
            </a:r>
            <a:r>
              <a:rPr lang="en-GB" altLang="zh-CN" sz="2400" dirty="0"/>
              <a:t>cookies from .gov </a:t>
            </a:r>
            <a:r>
              <a:rPr lang="en-GB" altLang="en-US" sz="2400" dirty="0"/>
              <a:t>domains and accepts cookies from all other domains </a:t>
            </a:r>
            <a:r>
              <a:rPr lang="en-GB" altLang="zh-CN" sz="2400" dirty="0"/>
              <a:t>.</a:t>
            </a:r>
            <a:endParaRPr lang="en-GB" altLang="zh-CN" sz="2400" dirty="0"/>
          </a:p>
          <a:p>
            <a:r>
              <a:rPr lang="en-GB" altLang="zh-CN" sz="2400" dirty="0"/>
              <a:t>Ex6-1 NoGovernmentCookies.java</a:t>
            </a:r>
            <a:endParaRPr lang="en-GB" altLang="zh-CN" sz="24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F00A2AA-D508-418B-AE56-DEC3230974F6}" type="slidenum">
              <a:rPr lang="en-US" altLang="zh-CN" sz="1400"/>
            </a:fld>
            <a:endParaRPr lang="en-US" altLang="zh-CN" sz="1400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1943100" y="2162607"/>
            <a:ext cx="8305800" cy="409416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java.net.*;</a:t>
            </a:r>
            <a:endParaRPr lang="en-GB" altLang="zh-CN" sz="2000" dirty="0">
              <a:solidFill>
                <a:srgbClr val="0000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NoGovernmentCookies implements CookiePolicy {</a:t>
            </a:r>
            <a:endParaRPr lang="en-GB" altLang="zh-CN" sz="2000" dirty="0">
              <a:solidFill>
                <a:srgbClr val="0000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@Override</a:t>
            </a:r>
            <a:endParaRPr lang="en-GB" altLang="zh-CN" sz="2000" dirty="0">
              <a:solidFill>
                <a:srgbClr val="0000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boolean shouldAccept(URI uri, HttpCookie cookie) {</a:t>
            </a:r>
            <a:endParaRPr lang="en-GB" altLang="zh-CN" sz="2000" dirty="0">
              <a:solidFill>
                <a:srgbClr val="0000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(uri.getAuthority().toLowerCase().endsWith(".gov")</a:t>
            </a:r>
            <a:endParaRPr lang="en-GB" altLang="zh-CN" sz="2000" dirty="0">
              <a:solidFill>
                <a:srgbClr val="0000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|| cookie.getDomain().toLowerCase().endsWith(".gov")) {</a:t>
            </a:r>
            <a:endParaRPr lang="en-GB" altLang="zh-CN" sz="2000" dirty="0">
              <a:solidFill>
                <a:srgbClr val="0000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false;</a:t>
            </a:r>
            <a:endParaRPr lang="en-GB" altLang="zh-CN" sz="2000" dirty="0">
              <a:solidFill>
                <a:srgbClr val="0000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GB" altLang="zh-CN" sz="2000" dirty="0">
              <a:solidFill>
                <a:srgbClr val="0000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true;</a:t>
            </a:r>
            <a:endParaRPr lang="en-GB" altLang="zh-CN" sz="2000" dirty="0">
              <a:solidFill>
                <a:srgbClr val="0000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GB" altLang="zh-CN" sz="2000" dirty="0">
              <a:solidFill>
                <a:srgbClr val="0000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GB" altLang="zh-CN" sz="2000" dirty="0">
              <a:solidFill>
                <a:srgbClr val="0000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>
          <a:xfrm>
            <a:off x="1600200" y="194974"/>
            <a:ext cx="8540750" cy="609600"/>
          </a:xfrm>
        </p:spPr>
        <p:txBody>
          <a:bodyPr/>
          <a:lstStyle/>
          <a:p>
            <a:r>
              <a:rPr lang="en-GB" altLang="zh-CN" sz="3200" b="1" dirty="0"/>
              <a:t>CookieStore </a:t>
            </a:r>
            <a:r>
              <a:rPr lang="en-GB" altLang="en-US" sz="3200" b="1" dirty="0"/>
              <a:t>Class</a:t>
            </a:r>
            <a:endParaRPr lang="en-GB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2166" y="1040390"/>
            <a:ext cx="11561234" cy="5424487"/>
          </a:xfrm>
        </p:spPr>
        <p:txBody>
          <a:bodyPr/>
          <a:lstStyle/>
          <a:p>
            <a:r>
              <a:rPr lang="en-US" altLang="zh-CN" sz="2000" dirty="0"/>
              <a:t>Sometimes you need to save the cookie on the disk when the application exits, and then load these cookies when the application is started next time.</a:t>
            </a:r>
            <a:endParaRPr lang="en-US" altLang="zh-CN" sz="2000" dirty="0"/>
          </a:p>
          <a:p>
            <a:r>
              <a:rPr lang="en-US" altLang="zh-CN" sz="2000" dirty="0"/>
              <a:t>Use the </a:t>
            </a:r>
            <a:r>
              <a:rPr lang="en-US" altLang="zh-CN" sz="2000" dirty="0" err="1"/>
              <a:t>getCookieStore</a:t>
            </a:r>
            <a:r>
              <a:rPr lang="en-US" altLang="zh-CN" sz="2000" dirty="0"/>
              <a:t>() method of the </a:t>
            </a:r>
            <a:r>
              <a:rPr lang="en-US" altLang="zh-CN" sz="2000" dirty="0" err="1"/>
              <a:t>CookieManager</a:t>
            </a:r>
            <a:r>
              <a:rPr lang="en-US" altLang="zh-CN" sz="2000" dirty="0"/>
              <a:t> class, and the </a:t>
            </a:r>
            <a:r>
              <a:rPr lang="en-US" altLang="zh-CN" sz="2000" dirty="0" err="1"/>
              <a:t>cookieManager</a:t>
            </a:r>
            <a:r>
              <a:rPr lang="en-US" altLang="zh-CN" sz="2000" dirty="0"/>
              <a:t> will save the cookies:</a:t>
            </a:r>
            <a:endParaRPr lang="en-US" altLang="zh-CN" sz="2000" dirty="0"/>
          </a:p>
          <a:p>
            <a:endParaRPr lang="en-US" altLang="zh-CN" sz="1800" b="1" dirty="0"/>
          </a:p>
          <a:p>
            <a:r>
              <a:rPr lang="en-GB" altLang="zh-CN" sz="1800" b="1" dirty="0"/>
              <a:t>The CookieStore </a:t>
            </a:r>
            <a:r>
              <a:rPr lang="en-GB" altLang="en-US" sz="1800" b="1" dirty="0"/>
              <a:t>class provides methods for adding, deleting, and listing </a:t>
            </a:r>
            <a:r>
              <a:rPr lang="en-GB" altLang="zh-CN" sz="1800" b="1" dirty="0"/>
              <a:t>cookies </a:t>
            </a:r>
            <a:r>
              <a:rPr lang="en-GB" altLang="en-US" sz="1800" b="1" dirty="0"/>
              <a:t>, allowing you to control </a:t>
            </a:r>
            <a:r>
              <a:rPr lang="en-GB" altLang="zh-CN" sz="1800" b="1" dirty="0"/>
              <a:t>the cookies </a:t>
            </a:r>
            <a:r>
              <a:rPr lang="en-GB" altLang="en-US" sz="1800" b="1" dirty="0"/>
              <a:t>that are sent outside of the normal </a:t>
            </a:r>
            <a:r>
              <a:rPr lang="en-GB" altLang="zh-CN" sz="1800" b="1" dirty="0"/>
              <a:t>HTTP request and response flow </a:t>
            </a:r>
            <a:r>
              <a:rPr lang="en-GB" altLang="en-US" sz="2000" dirty="0"/>
              <a:t>:</a:t>
            </a:r>
            <a:endParaRPr lang="en-US" altLang="zh-CN" sz="20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1800" dirty="0"/>
              <a:t>Public void add(URI uri, HttpCookie cookie)</a:t>
            </a:r>
            <a:endParaRPr lang="en-GB" altLang="zh-CN" sz="18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1800" dirty="0"/>
              <a:t>Public List&lt;HttpCookie&gt; get(URI uri)</a:t>
            </a:r>
            <a:endParaRPr lang="en-GB" altLang="zh-CN" sz="18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1800" dirty="0"/>
              <a:t>Public List&lt;HttpCookie&gt; getCookies()</a:t>
            </a:r>
            <a:endParaRPr lang="en-GB" altLang="zh-CN" sz="18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1800" dirty="0"/>
              <a:t>Public List&lt;URI&gt; getURIs()</a:t>
            </a:r>
            <a:endParaRPr lang="en-GB" altLang="zh-CN" sz="18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1800" dirty="0"/>
              <a:t>Public boolean remove(URI uri, HttpCookie cookie)</a:t>
            </a:r>
            <a:endParaRPr lang="en-GB" altLang="zh-CN" sz="18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1800" dirty="0"/>
              <a:t>Public boolean removeAll()</a:t>
            </a:r>
            <a:endParaRPr lang="en-GB" altLang="zh-CN" sz="1800" dirty="0"/>
          </a:p>
          <a:p>
            <a:r>
              <a:rPr lang="en-GB" altLang="zh-CN" sz="1800" dirty="0"/>
              <a:t>cookie </a:t>
            </a:r>
            <a:r>
              <a:rPr lang="en-GB" altLang="en-US" sz="1800" dirty="0"/>
              <a:t>in the </a:t>
            </a:r>
            <a:r>
              <a:rPr lang="en-GB" altLang="zh-CN" sz="1800" dirty="0"/>
              <a:t>Cookie store library </a:t>
            </a:r>
            <a:r>
              <a:rPr lang="en-GB" altLang="en-US" sz="1800" dirty="0"/>
              <a:t>is encapsulated in an </a:t>
            </a:r>
            <a:r>
              <a:rPr lang="en-GB" altLang="zh-CN" sz="1800" dirty="0"/>
              <a:t>HTTP cookie </a:t>
            </a:r>
            <a:r>
              <a:rPr lang="en-GB" altLang="en-US" sz="1800" dirty="0"/>
              <a:t>object.</a:t>
            </a:r>
            <a:r>
              <a:rPr lang="en-GB" altLang="zh-CN" sz="1800" dirty="0"/>
              <a:t> </a:t>
            </a:r>
            <a:endParaRPr lang="en-GB" altLang="zh-CN" sz="1800" dirty="0"/>
          </a:p>
          <a:p>
            <a:r>
              <a:rPr lang="en-GB" altLang="zh-CN" sz="1800" dirty="0"/>
              <a:t>The HttpCookie </a:t>
            </a:r>
            <a:r>
              <a:rPr lang="en-GB" altLang="en-US" sz="1800" dirty="0"/>
              <a:t>class provides some methods for inspecting the properties of </a:t>
            </a:r>
            <a:r>
              <a:rPr lang="en-GB" altLang="zh-CN" sz="1800" dirty="0"/>
              <a:t>a cookie </a:t>
            </a:r>
            <a:r>
              <a:rPr lang="en-GB" altLang="en-US" sz="1800" dirty="0"/>
              <a:t>.</a:t>
            </a:r>
            <a:endParaRPr lang="en-US" altLang="zh-CN" sz="1800" dirty="0"/>
          </a:p>
          <a:p>
            <a:endParaRPr lang="en-US" altLang="zh-CN" sz="2400" dirty="0"/>
          </a:p>
          <a:p>
            <a:endParaRPr lang="en-US" altLang="zh-CN" sz="2400" dirty="0"/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B593D7D-BAC8-41EF-8152-78483460D5D5}" type="slidenum">
              <a:rPr lang="en-US" altLang="zh-CN" sz="1400"/>
            </a:fld>
            <a:endParaRPr lang="en-US" altLang="zh-CN" sz="1400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2438400" y="2209800"/>
            <a:ext cx="7086600" cy="4000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CookieStore store = manager.getCookieStore();</a:t>
            </a:r>
            <a:endParaRPr lang="en-GB" altLang="zh-CN" sz="2000" dirty="0">
              <a:solidFill>
                <a:srgbClr val="0000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3E446E-572D-46B5-97A6-DA8BC88C21B2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2"/>
          <p:cNvSpPr/>
          <p:nvPr/>
        </p:nvSpPr>
        <p:spPr>
          <a:xfrm>
            <a:off x="494146" y="136525"/>
            <a:ext cx="10972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2"/>
                </a:solidFill>
              </a:rPr>
              <a:t>The </a:t>
            </a:r>
            <a:r>
              <a:rPr lang="en-US" sz="2400" b="1" dirty="0" err="1">
                <a:solidFill>
                  <a:schemeClr val="tx2"/>
                </a:solidFill>
              </a:rPr>
              <a:t>CookiePersistor</a:t>
            </a:r>
            <a:r>
              <a:rPr lang="en-US" sz="2400" b="1" dirty="0">
                <a:solidFill>
                  <a:schemeClr val="tx2"/>
                </a:solidFill>
              </a:rPr>
              <a:t> Java program demonstrates how to persistently store HTTP cookies between application sessions in Java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62400" y="852303"/>
            <a:ext cx="3542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hlinkClick r:id="rId1" action="ppaction://hlinkfile"/>
              </a:rPr>
              <a:t>CookiePersistor.java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2166" y="1302144"/>
            <a:ext cx="11277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1. Cookie Storage File: </a:t>
            </a:r>
            <a:r>
              <a:rPr lang="en-US" dirty="0">
                <a:solidFill>
                  <a:schemeClr val="tx2"/>
                </a:solidFill>
              </a:rPr>
              <a:t>private static final String COOKIE_FILE = "cookies.dat";</a:t>
            </a:r>
            <a:endParaRPr lang="en-US" dirty="0">
              <a:solidFill>
                <a:schemeClr val="tx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Defines where cookies will be stored (in a file named cookies.dat in the working directory)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Uses Java object serialization format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02166" y="2225474"/>
            <a:ext cx="1099127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2. </a:t>
            </a:r>
            <a:r>
              <a:rPr lang="en-US" b="1" u="sng" dirty="0" err="1">
                <a:solidFill>
                  <a:srgbClr val="FF0000"/>
                </a:solidFill>
              </a:rPr>
              <a:t>saveCookies</a:t>
            </a:r>
            <a:r>
              <a:rPr lang="en-US" b="1" u="sng" dirty="0">
                <a:solidFill>
                  <a:srgbClr val="FF0000"/>
                </a:solidFill>
              </a:rPr>
              <a:t>() Method: </a:t>
            </a:r>
            <a:r>
              <a:rPr lang="en-US" dirty="0">
                <a:solidFill>
                  <a:schemeClr val="tx2"/>
                </a:solidFill>
              </a:rPr>
              <a:t>public static void </a:t>
            </a:r>
            <a:r>
              <a:rPr lang="en-US" dirty="0" err="1">
                <a:solidFill>
                  <a:schemeClr val="tx2"/>
                </a:solidFill>
              </a:rPr>
              <a:t>saveCookies</a:t>
            </a:r>
            <a:r>
              <a:rPr lang="en-US" dirty="0">
                <a:solidFill>
                  <a:schemeClr val="tx2"/>
                </a:solidFill>
              </a:rPr>
              <a:t>(</a:t>
            </a:r>
            <a:r>
              <a:rPr lang="en-US" dirty="0" err="1">
                <a:solidFill>
                  <a:schemeClr val="tx2"/>
                </a:solidFill>
              </a:rPr>
              <a:t>CookieManager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cookieManager</a:t>
            </a:r>
            <a:r>
              <a:rPr lang="en-US" dirty="0">
                <a:solidFill>
                  <a:schemeClr val="tx2"/>
                </a:solidFill>
              </a:rPr>
              <a:t>)</a:t>
            </a:r>
            <a:endParaRPr lang="en-US" dirty="0">
              <a:solidFill>
                <a:schemeClr val="tx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Purpose: Saves all current cookies to disk when the application exits</a:t>
            </a:r>
            <a:endParaRPr lang="en-US" dirty="0"/>
          </a:p>
          <a:p>
            <a:r>
              <a:rPr lang="en-US" dirty="0"/>
              <a:t>How it works: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Gets the </a:t>
            </a:r>
            <a:r>
              <a:rPr lang="en-US" dirty="0" err="1"/>
              <a:t>CookieStore</a:t>
            </a:r>
            <a:r>
              <a:rPr lang="en-US" dirty="0"/>
              <a:t> from the </a:t>
            </a:r>
            <a:r>
              <a:rPr lang="en-US" dirty="0" err="1"/>
              <a:t>CookieManager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Retrieves all cookies as a list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Serializes them to cookies.dat using </a:t>
            </a:r>
            <a:r>
              <a:rPr lang="en-US" dirty="0" err="1"/>
              <a:t>ObjectOutputStream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Handles potential IO errors gracefully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18330" y="4452025"/>
            <a:ext cx="1163743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3. </a:t>
            </a:r>
            <a:r>
              <a:rPr lang="en-US" b="1" u="sng" dirty="0" err="1">
                <a:solidFill>
                  <a:srgbClr val="FF0000"/>
                </a:solidFill>
              </a:rPr>
              <a:t>loadCookies</a:t>
            </a:r>
            <a:r>
              <a:rPr lang="en-US" b="1" u="sng" dirty="0">
                <a:solidFill>
                  <a:srgbClr val="FF0000"/>
                </a:solidFill>
              </a:rPr>
              <a:t>() Method : </a:t>
            </a:r>
            <a:r>
              <a:rPr lang="en-US" dirty="0">
                <a:solidFill>
                  <a:schemeClr val="tx2"/>
                </a:solidFill>
              </a:rPr>
              <a:t>public static void </a:t>
            </a:r>
            <a:r>
              <a:rPr lang="en-US" dirty="0" err="1">
                <a:solidFill>
                  <a:schemeClr val="tx2"/>
                </a:solidFill>
              </a:rPr>
              <a:t>loadCookies</a:t>
            </a:r>
            <a:r>
              <a:rPr lang="en-US" dirty="0">
                <a:solidFill>
                  <a:schemeClr val="tx2"/>
                </a:solidFill>
              </a:rPr>
              <a:t>(</a:t>
            </a:r>
            <a:r>
              <a:rPr lang="en-US" dirty="0" err="1">
                <a:solidFill>
                  <a:schemeClr val="tx2"/>
                </a:solidFill>
              </a:rPr>
              <a:t>CookieManager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cookieManager</a:t>
            </a:r>
            <a:r>
              <a:rPr lang="en-US" dirty="0">
                <a:solidFill>
                  <a:schemeClr val="tx2"/>
                </a:solidFill>
              </a:rPr>
              <a:t>)</a:t>
            </a:r>
            <a:endParaRPr lang="en-US" dirty="0">
              <a:solidFill>
                <a:schemeClr val="tx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Purpose: Loads previously saved cookies when the application starts</a:t>
            </a:r>
            <a:endParaRPr lang="en-US" dirty="0"/>
          </a:p>
          <a:p>
            <a:r>
              <a:rPr lang="en-US" dirty="0"/>
              <a:t>How it works: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Attempts to read from cookies.dat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If file exists, deserializes the cookie list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Adds each cookie back to the </a:t>
            </a:r>
            <a:r>
              <a:rPr lang="en-US" dirty="0" err="1"/>
              <a:t>CookieStore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Handles cases where no previous cookies exist</a:t>
            </a:r>
            <a:endParaRPr 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3E446E-572D-46B5-97A6-DA8BC88C21B2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2"/>
          <p:cNvSpPr/>
          <p:nvPr/>
        </p:nvSpPr>
        <p:spPr>
          <a:xfrm>
            <a:off x="284018" y="304800"/>
            <a:ext cx="1148503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4. Main Program Flow:  </a:t>
            </a:r>
            <a:r>
              <a:rPr lang="en-US" dirty="0">
                <a:solidFill>
                  <a:schemeClr val="tx2"/>
                </a:solidFill>
              </a:rPr>
              <a:t>public static void main(String[] </a:t>
            </a:r>
            <a:r>
              <a:rPr lang="en-US" dirty="0" err="1">
                <a:solidFill>
                  <a:schemeClr val="tx2"/>
                </a:solidFill>
              </a:rPr>
              <a:t>args</a:t>
            </a:r>
            <a:r>
              <a:rPr lang="en-US" dirty="0">
                <a:solidFill>
                  <a:schemeClr val="tx2"/>
                </a:solidFill>
              </a:rPr>
              <a:t>)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/>
              <a:t>Execution sequence: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Creates and sets a default </a:t>
            </a:r>
            <a:r>
              <a:rPr lang="en-US" dirty="0" err="1"/>
              <a:t>CookieManager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Loads any existing cookies from disk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Registers a shutdown hook to save cookies on exit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Provides a message indicating the application is running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84019" y="2108284"/>
            <a:ext cx="5354782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Key Features: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sz="1600" dirty="0"/>
              <a:t>1. Automatic Cookie Management:</a:t>
            </a:r>
            <a:endParaRPr lang="en-US" sz="1600" dirty="0"/>
          </a:p>
          <a:p>
            <a:pPr marL="628650" lvl="1" indent="-171450">
              <a:buFont typeface="Wingdings" panose="05000000000000000000" pitchFamily="2" charset="2"/>
              <a:buChar char="v"/>
            </a:pPr>
            <a:r>
              <a:rPr lang="en-US" sz="1600" dirty="0"/>
              <a:t>Works with Java's built-in HTTP cookie handling</a:t>
            </a:r>
            <a:endParaRPr lang="en-US" sz="1600" dirty="0"/>
          </a:p>
          <a:p>
            <a:pPr marL="628650" lvl="1" indent="-171450">
              <a:buFont typeface="Wingdings" panose="05000000000000000000" pitchFamily="2" charset="2"/>
              <a:buChar char="v"/>
            </a:pPr>
            <a:r>
              <a:rPr lang="en-US" sz="1600" dirty="0"/>
              <a:t>Transparent to normal HTTP operations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2. Persistence Mechanism:</a:t>
            </a:r>
            <a:endParaRPr lang="en-US" sz="1600" dirty="0"/>
          </a:p>
          <a:p>
            <a:pPr marL="628650" lvl="1" indent="-171450">
              <a:buFont typeface="Wingdings" panose="05000000000000000000" pitchFamily="2" charset="2"/>
              <a:buChar char="v"/>
            </a:pPr>
            <a:r>
              <a:rPr lang="en-US" sz="1600" dirty="0"/>
              <a:t>Uses Java serialization for simple storage</a:t>
            </a:r>
            <a:endParaRPr lang="en-US" sz="1600" dirty="0"/>
          </a:p>
          <a:p>
            <a:pPr marL="628650" lvl="1" indent="-171450">
              <a:buFont typeface="Wingdings" panose="05000000000000000000" pitchFamily="2" charset="2"/>
              <a:buChar char="v"/>
            </a:pPr>
            <a:r>
              <a:rPr lang="en-US" sz="1600" dirty="0"/>
              <a:t>File-based storage maintains cookies between runs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3. Error Handling:</a:t>
            </a:r>
            <a:endParaRPr lang="en-US" sz="1600" dirty="0"/>
          </a:p>
          <a:p>
            <a:pPr marL="628650" lvl="1" indent="-171450">
              <a:buFont typeface="Wingdings" panose="05000000000000000000" pitchFamily="2" charset="2"/>
              <a:buChar char="v"/>
            </a:pPr>
            <a:r>
              <a:rPr lang="en-US" sz="1600" dirty="0"/>
              <a:t>Gracefully handles missing cookie files</a:t>
            </a:r>
            <a:endParaRPr lang="en-US" sz="1600" dirty="0"/>
          </a:p>
          <a:p>
            <a:pPr marL="628650" lvl="1" indent="-171450">
              <a:buFont typeface="Wingdings" panose="05000000000000000000" pitchFamily="2" charset="2"/>
              <a:buChar char="v"/>
            </a:pPr>
            <a:r>
              <a:rPr lang="en-US" sz="1600" dirty="0"/>
              <a:t>Reports errors without crashing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4. Integration:</a:t>
            </a:r>
            <a:endParaRPr lang="en-US" sz="1600" dirty="0"/>
          </a:p>
          <a:p>
            <a:pPr marL="628650" lvl="1" indent="-171450">
              <a:buFont typeface="Wingdings" panose="05000000000000000000" pitchFamily="2" charset="2"/>
              <a:buChar char="v"/>
            </a:pPr>
            <a:r>
              <a:rPr lang="en-US" sz="1600" dirty="0"/>
              <a:t>Designed to work with </a:t>
            </a:r>
            <a:r>
              <a:rPr lang="en-US" sz="1600" dirty="0" err="1"/>
              <a:t>HttpURLConnection</a:t>
            </a:r>
            <a:r>
              <a:rPr lang="en-US" sz="1600" dirty="0"/>
              <a:t> and other Java HTTP clients</a:t>
            </a:r>
            <a:endParaRPr lang="en-US" sz="1600" dirty="0"/>
          </a:p>
          <a:p>
            <a:pPr marL="628650" lvl="1" indent="-171450">
              <a:buFont typeface="Wingdings" panose="05000000000000000000" pitchFamily="2" charset="2"/>
              <a:buChar char="v"/>
            </a:pPr>
            <a:r>
              <a:rPr lang="en-US" sz="1600" dirty="0"/>
              <a:t>No changes needed to existing HTTP code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5867400" y="2362200"/>
            <a:ext cx="5924743" cy="4047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When To Use This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sz="1400" dirty="0"/>
              <a:t>This approach is ideal when you need:</a:t>
            </a:r>
            <a:endParaRPr lang="en-US" sz="1400" dirty="0"/>
          </a:p>
          <a:p>
            <a:pPr marL="628650" lvl="1" indent="-171450">
              <a:buFont typeface="Wingdings" panose="05000000000000000000" pitchFamily="2" charset="2"/>
              <a:buChar char="v"/>
            </a:pPr>
            <a:r>
              <a:rPr lang="en-US" sz="1400" dirty="0"/>
              <a:t>Session persistence between application runs</a:t>
            </a:r>
            <a:endParaRPr lang="en-US" sz="1400" dirty="0"/>
          </a:p>
          <a:p>
            <a:pPr marL="628650" lvl="1" indent="-171450">
              <a:buFont typeface="Wingdings" panose="05000000000000000000" pitchFamily="2" charset="2"/>
              <a:buChar char="v"/>
            </a:pPr>
            <a:r>
              <a:rPr lang="en-US" sz="1400" dirty="0"/>
              <a:t>To maintain login states or other cookie-based authentication</a:t>
            </a:r>
            <a:endParaRPr lang="en-US" sz="1400" dirty="0"/>
          </a:p>
          <a:p>
            <a:pPr marL="628650" lvl="1" indent="-171450">
              <a:buFont typeface="Wingdings" panose="05000000000000000000" pitchFamily="2" charset="2"/>
              <a:buChar char="v"/>
            </a:pPr>
            <a:r>
              <a:rPr lang="en-US" sz="1400" dirty="0"/>
              <a:t>A simple solution without external dependencies</a:t>
            </a:r>
            <a:endParaRPr lang="en-US" sz="1400" dirty="0"/>
          </a:p>
          <a:p>
            <a:endParaRPr lang="en-US" sz="1100" dirty="0"/>
          </a:p>
          <a:p>
            <a:r>
              <a:rPr lang="en-US" b="1" dirty="0">
                <a:solidFill>
                  <a:srgbClr val="FF0000"/>
                </a:solidFill>
              </a:rPr>
              <a:t>Limitations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sz="1400" dirty="0"/>
              <a:t>1. Security: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Cookies stored in plaintext (consider encryption for sensitive cookies)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No protection against file tampering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2. Scalability: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File-based storage may not be ideal for large numbers of cookies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Not suitable for distributed systems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3. Format: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Uses Java serialization which isn't human-readable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Consider JSON for debuggability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 bwMode="auto">
          <a:xfrm>
            <a:off x="5865092" y="2362200"/>
            <a:ext cx="6042890" cy="4301177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57018" y="2119830"/>
            <a:ext cx="5581073" cy="4601645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84018" y="169223"/>
            <a:ext cx="7564582" cy="1880963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2"/>
          <p:cNvSpPr>
            <a:spLocks noChangeArrowheads="1"/>
          </p:cNvSpPr>
          <p:nvPr/>
        </p:nvSpPr>
        <p:spPr bwMode="auto">
          <a:xfrm>
            <a:off x="1524001" y="212990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62467" name="Rectangle 6"/>
          <p:cNvSpPr>
            <a:spLocks noRot="1" noChangeArrowheads="1"/>
          </p:cNvSpPr>
          <p:nvPr/>
        </p:nvSpPr>
        <p:spPr bwMode="auto">
          <a:xfrm>
            <a:off x="2743200" y="2819400"/>
            <a:ext cx="64833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GB" altLang="en-US" sz="80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Thanks</a:t>
            </a:r>
            <a:endParaRPr lang="en-US" altLang="zh-CN" sz="8000" b="1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砖雕艺术">
  <a:themeElements>
    <a:clrScheme name="砖雕艺术 1">
      <a:dk1>
        <a:srgbClr val="080808"/>
      </a:dk1>
      <a:lt1>
        <a:srgbClr val="FFFFFF"/>
      </a:lt1>
      <a:dk2>
        <a:srgbClr val="0039AC"/>
      </a:dk2>
      <a:lt2>
        <a:srgbClr val="C0C0C0"/>
      </a:lt2>
      <a:accent1>
        <a:srgbClr val="FFFF99"/>
      </a:accent1>
      <a:accent2>
        <a:srgbClr val="FFCC66"/>
      </a:accent2>
      <a:accent3>
        <a:srgbClr val="FFFFFF"/>
      </a:accent3>
      <a:accent4>
        <a:srgbClr val="060606"/>
      </a:accent4>
      <a:accent5>
        <a:srgbClr val="FFFFCA"/>
      </a:accent5>
      <a:accent6>
        <a:srgbClr val="E7B95C"/>
      </a:accent6>
      <a:hlink>
        <a:srgbClr val="0066FF"/>
      </a:hlink>
      <a:folHlink>
        <a:srgbClr val="CC3300"/>
      </a:folHlink>
    </a:clrScheme>
    <a:fontScheme name="砖雕艺术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砖雕艺术 1">
        <a:dk1>
          <a:srgbClr val="080808"/>
        </a:dk1>
        <a:lt1>
          <a:srgbClr val="FFFFFF"/>
        </a:lt1>
        <a:dk2>
          <a:srgbClr val="0039AC"/>
        </a:dk2>
        <a:lt2>
          <a:srgbClr val="C0C0C0"/>
        </a:lt2>
        <a:accent1>
          <a:srgbClr val="FFFF99"/>
        </a:accent1>
        <a:accent2>
          <a:srgbClr val="FFCC66"/>
        </a:accent2>
        <a:accent3>
          <a:srgbClr val="FFFFFF"/>
        </a:accent3>
        <a:accent4>
          <a:srgbClr val="060606"/>
        </a:accent4>
        <a:accent5>
          <a:srgbClr val="FFFFCA"/>
        </a:accent5>
        <a:accent6>
          <a:srgbClr val="E7B95C"/>
        </a:accent6>
        <a:hlink>
          <a:srgbClr val="0066FF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2">
        <a:dk1>
          <a:srgbClr val="333399"/>
        </a:dk1>
        <a:lt1>
          <a:srgbClr val="ADD3AF"/>
        </a:lt1>
        <a:dk2>
          <a:srgbClr val="D65700"/>
        </a:dk2>
        <a:lt2>
          <a:srgbClr val="B2B2B2"/>
        </a:lt2>
        <a:accent1>
          <a:srgbClr val="B8E9EE"/>
        </a:accent1>
        <a:accent2>
          <a:srgbClr val="FFCC00"/>
        </a:accent2>
        <a:accent3>
          <a:srgbClr val="D3E6D4"/>
        </a:accent3>
        <a:accent4>
          <a:srgbClr val="2A2A82"/>
        </a:accent4>
        <a:accent5>
          <a:srgbClr val="D8F2F5"/>
        </a:accent5>
        <a:accent6>
          <a:srgbClr val="E7B900"/>
        </a:accent6>
        <a:hlink>
          <a:srgbClr val="008080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3">
        <a:dk1>
          <a:srgbClr val="003BB2"/>
        </a:dk1>
        <a:lt1>
          <a:srgbClr val="CCFFCC"/>
        </a:lt1>
        <a:dk2>
          <a:srgbClr val="003366"/>
        </a:dk2>
        <a:lt2>
          <a:srgbClr val="C0C0C0"/>
        </a:lt2>
        <a:accent1>
          <a:srgbClr val="FFFFFF"/>
        </a:accent1>
        <a:accent2>
          <a:srgbClr val="009900"/>
        </a:accent2>
        <a:accent3>
          <a:srgbClr val="E2FFE2"/>
        </a:accent3>
        <a:accent4>
          <a:srgbClr val="003197"/>
        </a:accent4>
        <a:accent5>
          <a:srgbClr val="FFFFFF"/>
        </a:accent5>
        <a:accent6>
          <a:srgbClr val="008A00"/>
        </a:accent6>
        <a:hlink>
          <a:srgbClr val="333399"/>
        </a:hlink>
        <a:folHlink>
          <a:srgbClr val="E45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4">
        <a:dk1>
          <a:srgbClr val="0000CC"/>
        </a:dk1>
        <a:lt1>
          <a:srgbClr val="CCECFF"/>
        </a:lt1>
        <a:dk2>
          <a:srgbClr val="006666"/>
        </a:dk2>
        <a:lt2>
          <a:srgbClr val="C0C0C0"/>
        </a:lt2>
        <a:accent1>
          <a:srgbClr val="FFFF99"/>
        </a:accent1>
        <a:accent2>
          <a:srgbClr val="FFCCFF"/>
        </a:accent2>
        <a:accent3>
          <a:srgbClr val="E2F4FF"/>
        </a:accent3>
        <a:accent4>
          <a:srgbClr val="0000AE"/>
        </a:accent4>
        <a:accent5>
          <a:srgbClr val="FFFFCA"/>
        </a:accent5>
        <a:accent6>
          <a:srgbClr val="E7B9E7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5">
        <a:dk1>
          <a:srgbClr val="000000"/>
        </a:dk1>
        <a:lt1>
          <a:srgbClr val="FFFFCC"/>
        </a:lt1>
        <a:dk2>
          <a:srgbClr val="5A5A86"/>
        </a:dk2>
        <a:lt2>
          <a:srgbClr val="C0C0C0"/>
        </a:lt2>
        <a:accent1>
          <a:srgbClr val="D5E9F7"/>
        </a:accent1>
        <a:accent2>
          <a:srgbClr val="FFCC00"/>
        </a:accent2>
        <a:accent3>
          <a:srgbClr val="FFFFE2"/>
        </a:accent3>
        <a:accent4>
          <a:srgbClr val="000000"/>
        </a:accent4>
        <a:accent5>
          <a:srgbClr val="E7F2FA"/>
        </a:accent5>
        <a:accent6>
          <a:srgbClr val="E7B900"/>
        </a:accent6>
        <a:hlink>
          <a:srgbClr val="CC3300"/>
        </a:hlink>
        <a:folHlink>
          <a:srgbClr val="007D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6">
        <a:dk1>
          <a:srgbClr val="006666"/>
        </a:dk1>
        <a:lt1>
          <a:srgbClr val="FFECD9"/>
        </a:lt1>
        <a:dk2>
          <a:srgbClr val="000099"/>
        </a:dk2>
        <a:lt2>
          <a:srgbClr val="B2B2B2"/>
        </a:lt2>
        <a:accent1>
          <a:srgbClr val="EAEAEA"/>
        </a:accent1>
        <a:accent2>
          <a:srgbClr val="FF6600"/>
        </a:accent2>
        <a:accent3>
          <a:srgbClr val="FFF4E9"/>
        </a:accent3>
        <a:accent4>
          <a:srgbClr val="005656"/>
        </a:accent4>
        <a:accent5>
          <a:srgbClr val="F3F3F3"/>
        </a:accent5>
        <a:accent6>
          <a:srgbClr val="E75C00"/>
        </a:accent6>
        <a:hlink>
          <a:srgbClr val="0066FF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7">
        <a:dk1>
          <a:srgbClr val="585884"/>
        </a:dk1>
        <a:lt1>
          <a:srgbClr val="DDDDDD"/>
        </a:lt1>
        <a:dk2>
          <a:srgbClr val="000000"/>
        </a:dk2>
        <a:lt2>
          <a:srgbClr val="969696"/>
        </a:lt2>
        <a:accent1>
          <a:srgbClr val="FFFFCC"/>
        </a:accent1>
        <a:accent2>
          <a:srgbClr val="99CC00"/>
        </a:accent2>
        <a:accent3>
          <a:srgbClr val="EBEBEB"/>
        </a:accent3>
        <a:accent4>
          <a:srgbClr val="4A4A70"/>
        </a:accent4>
        <a:accent5>
          <a:srgbClr val="FFFFE2"/>
        </a:accent5>
        <a:accent6>
          <a:srgbClr val="8AB900"/>
        </a:accent6>
        <a:hlink>
          <a:srgbClr val="FF3300"/>
        </a:hlink>
        <a:folHlink>
          <a:srgbClr val="6E3B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8">
        <a:dk1>
          <a:srgbClr val="333399"/>
        </a:dk1>
        <a:lt1>
          <a:srgbClr val="FFD9D9"/>
        </a:lt1>
        <a:dk2>
          <a:srgbClr val="00716E"/>
        </a:dk2>
        <a:lt2>
          <a:srgbClr val="C0C0C0"/>
        </a:lt2>
        <a:accent1>
          <a:srgbClr val="AED2BA"/>
        </a:accent1>
        <a:accent2>
          <a:srgbClr val="FF9933"/>
        </a:accent2>
        <a:accent3>
          <a:srgbClr val="FFE9E9"/>
        </a:accent3>
        <a:accent4>
          <a:srgbClr val="2A2A82"/>
        </a:accent4>
        <a:accent5>
          <a:srgbClr val="D3E5D9"/>
        </a:accent5>
        <a:accent6>
          <a:srgbClr val="E78A2D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30189</Words>
  <Application>WPS 演示</Application>
  <PresentationFormat>Widescreen</PresentationFormat>
  <Paragraphs>1325</Paragraphs>
  <Slides>61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81" baseType="lpstr">
      <vt:lpstr>Arial</vt:lpstr>
      <vt:lpstr>宋体</vt:lpstr>
      <vt:lpstr>Wingdings</vt:lpstr>
      <vt:lpstr>Wingdings 2</vt:lpstr>
      <vt:lpstr>华文行楷</vt:lpstr>
      <vt:lpstr>仿宋</vt:lpstr>
      <vt:lpstr>Times New Roman</vt:lpstr>
      <vt:lpstr>Segoe UI</vt:lpstr>
      <vt:lpstr>Calibri</vt:lpstr>
      <vt:lpstr>微软雅黑</vt:lpstr>
      <vt:lpstr>Arial Unicode MS</vt:lpstr>
      <vt:lpstr>Symbol</vt:lpstr>
      <vt:lpstr>Courier New</vt:lpstr>
      <vt:lpstr>Segoe UI Emoji</vt:lpstr>
      <vt:lpstr>DeepSeek-CJK-patch</vt:lpstr>
      <vt:lpstr>Segoe Print</vt:lpstr>
      <vt:lpstr>Menlo</vt:lpstr>
      <vt:lpstr>DeepSeek-CJK-patch</vt:lpstr>
      <vt:lpstr>砖雕艺术</vt:lpstr>
      <vt:lpstr>Visio.Drawing.11</vt:lpstr>
      <vt:lpstr>PowerPoint 演示文稿</vt:lpstr>
      <vt:lpstr>Main Content</vt:lpstr>
      <vt:lpstr>1.HTTP Protocol</vt:lpstr>
      <vt:lpstr>1. HTTP Protocol</vt:lpstr>
      <vt:lpstr>2.HTTP Request and Response</vt:lpstr>
      <vt:lpstr>HTTP​</vt:lpstr>
      <vt:lpstr>How HTTP Works</vt:lpstr>
      <vt:lpstr>How HTTP Works</vt:lpstr>
      <vt:lpstr>PowerPoint 演示文稿</vt:lpstr>
      <vt:lpstr>PowerPoint 演示文稿</vt:lpstr>
      <vt:lpstr>PowerPoint 演示文稿</vt:lpstr>
      <vt:lpstr>HTTP Request and Response:</vt:lpstr>
      <vt:lpstr>3.HTTP Methods</vt:lpstr>
      <vt:lpstr>PowerPoint 演示文稿</vt:lpstr>
      <vt:lpstr>Commonly used HTTP Method</vt:lpstr>
      <vt:lpstr>PowerPoint 演示文稿</vt:lpstr>
      <vt:lpstr>Client Request Method: POST</vt:lpstr>
      <vt:lpstr>Client Request Method: PUT</vt:lpstr>
      <vt:lpstr>Client Request Header</vt:lpstr>
      <vt:lpstr>Questions to consider:</vt:lpstr>
      <vt:lpstr>Client Get Request Programming</vt:lpstr>
      <vt:lpstr>HTTP Client Get Request Program</vt:lpstr>
      <vt:lpstr>HTTP Client Request Program</vt:lpstr>
      <vt:lpstr>Example for HTTP Client request program and successful response </vt:lpstr>
      <vt:lpstr>PowerPoint 演示文稿</vt:lpstr>
      <vt:lpstr>HTTP Response Message from the Server</vt:lpstr>
      <vt:lpstr>HTTP1.1 Partial Status Code</vt:lpstr>
      <vt:lpstr>HTTP1.1 Response Code</vt:lpstr>
      <vt:lpstr>PowerPoint 演示文稿</vt:lpstr>
      <vt:lpstr>Interactive process of Request and Response messages</vt:lpstr>
      <vt:lpstr>POST Method</vt:lpstr>
      <vt:lpstr>DELETE and PUT Methods</vt:lpstr>
      <vt:lpstr>HEAD Method</vt:lpstr>
      <vt:lpstr> 4. HTTP Connection Session</vt:lpstr>
      <vt:lpstr> HTTP Connection Session and Session preservation</vt:lpstr>
      <vt:lpstr>Session Tracking</vt:lpstr>
      <vt:lpstr>Two Techniques for Saving Session Data</vt:lpstr>
      <vt:lpstr>PowerPoint 演示文稿</vt:lpstr>
      <vt:lpstr>5. Cookies</vt:lpstr>
      <vt:lpstr>Cookies</vt:lpstr>
      <vt:lpstr>PowerPoint 演示文稿</vt:lpstr>
      <vt:lpstr>Cookies Work</vt:lpstr>
      <vt:lpstr>Browser Support for Cookie </vt:lpstr>
      <vt:lpstr>How Cookies Work: Step-by-Step Process</vt:lpstr>
      <vt:lpstr>PowerPoint 演示文稿</vt:lpstr>
      <vt:lpstr>How to View Website Cookies Using JavaScript  </vt:lpstr>
      <vt:lpstr>How Browser Cookies Work: Domain Privacy &amp; Security</vt:lpstr>
      <vt:lpstr>Working with Cookies in Java (Servlet/JSP)</vt:lpstr>
      <vt:lpstr>PowerPoint 演示文稿</vt:lpstr>
      <vt:lpstr>PowerPoint 演示文稿</vt:lpstr>
      <vt:lpstr>PowerPoint 演示文稿</vt:lpstr>
      <vt:lpstr>PowerPoint 演示文稿</vt:lpstr>
      <vt:lpstr>Cookie Encoding Guide for Different Data Types</vt:lpstr>
      <vt:lpstr>Cookie</vt:lpstr>
      <vt:lpstr>CookieManager Class</vt:lpstr>
      <vt:lpstr>CookieManager Class</vt:lpstr>
      <vt:lpstr>Custom CookiePolicy Programming Example</vt:lpstr>
      <vt:lpstr>CookieStore Class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Basker George</dc:creator>
  <cp:lastModifiedBy>杨韩冰</cp:lastModifiedBy>
  <cp:revision>1149</cp:revision>
  <cp:lastPrinted>2113-01-01T00:00:00Z</cp:lastPrinted>
  <dcterms:created xsi:type="dcterms:W3CDTF">2113-01-01T00:00:00Z</dcterms:created>
  <dcterms:modified xsi:type="dcterms:W3CDTF">2025-05-08T12:15:19Z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BAAA09EB91044360B95407A45C844E23_12</vt:lpwstr>
  </property>
  <property fmtid="{D5CDD505-2E9C-101B-9397-08002B2CF9AE}" pid="4" name="KSOProductBuildVer">
    <vt:lpwstr>2052-12.1.0.20305</vt:lpwstr>
  </property>
</Properties>
</file>