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Lst>
  <p:notesMasterIdLst>
    <p:notesMasterId r:id="rId42"/>
  </p:notesMasterIdLst>
  <p:handoutMasterIdLst>
    <p:handoutMasterId r:id="rId43"/>
  </p:handoutMasterIdLst>
  <p:sldIdLst>
    <p:sldId id="256" r:id="rId2"/>
    <p:sldId id="381" r:id="rId3"/>
    <p:sldId id="354" r:id="rId4"/>
    <p:sldId id="395" r:id="rId5"/>
    <p:sldId id="387" r:id="rId6"/>
    <p:sldId id="378" r:id="rId7"/>
    <p:sldId id="355" r:id="rId8"/>
    <p:sldId id="379" r:id="rId9"/>
    <p:sldId id="380" r:id="rId10"/>
    <p:sldId id="356" r:id="rId11"/>
    <p:sldId id="357" r:id="rId12"/>
    <p:sldId id="388" r:id="rId13"/>
    <p:sldId id="383" r:id="rId14"/>
    <p:sldId id="389" r:id="rId15"/>
    <p:sldId id="384" r:id="rId16"/>
    <p:sldId id="390" r:id="rId17"/>
    <p:sldId id="391" r:id="rId18"/>
    <p:sldId id="358" r:id="rId19"/>
    <p:sldId id="393" r:id="rId20"/>
    <p:sldId id="392" r:id="rId21"/>
    <p:sldId id="385" r:id="rId22"/>
    <p:sldId id="359" r:id="rId23"/>
    <p:sldId id="396" r:id="rId24"/>
    <p:sldId id="394" r:id="rId25"/>
    <p:sldId id="397" r:id="rId26"/>
    <p:sldId id="361" r:id="rId27"/>
    <p:sldId id="362" r:id="rId28"/>
    <p:sldId id="363" r:id="rId29"/>
    <p:sldId id="398" r:id="rId30"/>
    <p:sldId id="399" r:id="rId31"/>
    <p:sldId id="364" r:id="rId32"/>
    <p:sldId id="400" r:id="rId33"/>
    <p:sldId id="401" r:id="rId34"/>
    <p:sldId id="402" r:id="rId35"/>
    <p:sldId id="366" r:id="rId36"/>
    <p:sldId id="403" r:id="rId37"/>
    <p:sldId id="404" r:id="rId38"/>
    <p:sldId id="405" r:id="rId39"/>
    <p:sldId id="406" r:id="rId40"/>
    <p:sldId id="407" r:id="rId41"/>
  </p:sldIdLst>
  <p:sldSz cx="12192000" cy="6858000"/>
  <p:notesSz cx="7099300" cy="10234613"/>
  <p:defaultTextStyle>
    <a:defPPr>
      <a:defRPr lang="e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a:srgbClr val="CC00CC"/>
    <a:srgbClr val="006600"/>
    <a:srgbClr val="003300"/>
    <a:srgbClr val="990099"/>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autoAdjust="0"/>
    <p:restoredTop sz="94728" autoAdjust="0"/>
  </p:normalViewPr>
  <p:slideViewPr>
    <p:cSldViewPr>
      <p:cViewPr varScale="1">
        <p:scale>
          <a:sx n="104" d="100"/>
          <a:sy n="104" d="100"/>
        </p:scale>
        <p:origin x="114" y="31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5F5AC811-7908-483A-9EBC-54C258A34321}"/>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74755" name="Rectangle 3">
            <a:extLst>
              <a:ext uri="{FF2B5EF4-FFF2-40B4-BE49-F238E27FC236}">
                <a16:creationId xmlns:a16="http://schemas.microsoft.com/office/drawing/2014/main" id="{32F65B1F-454F-4ADD-B682-1BA021E3439C}"/>
              </a:ext>
            </a:extLst>
          </p:cNvPr>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fld id="{B91530E2-2140-4F2A-BF89-5155CAB69641}" type="datetime1">
              <a:rPr lang="zh-CN" altLang="en-US"/>
              <a:pPr>
                <a:defRPr/>
              </a:pPr>
              <a:t>2025/6/5</a:t>
            </a:fld>
            <a:endParaRPr lang="en-US" altLang="zh-CN"/>
          </a:p>
        </p:txBody>
      </p:sp>
      <p:sp>
        <p:nvSpPr>
          <p:cNvPr id="74756" name="Rectangle 4">
            <a:extLst>
              <a:ext uri="{FF2B5EF4-FFF2-40B4-BE49-F238E27FC236}">
                <a16:creationId xmlns:a16="http://schemas.microsoft.com/office/drawing/2014/main" id="{AE58FFBB-90BB-42F8-88FA-323ADBFE4AAA}"/>
              </a:ext>
            </a:extLst>
          </p:cNvPr>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74757" name="Rectangle 5">
            <a:extLst>
              <a:ext uri="{FF2B5EF4-FFF2-40B4-BE49-F238E27FC236}">
                <a16:creationId xmlns:a16="http://schemas.microsoft.com/office/drawing/2014/main" id="{4A142E56-4F56-4836-8440-1C73EEE6BDEB}"/>
              </a:ext>
            </a:extLst>
          </p:cNvPr>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D96C1F4-37E9-441E-883F-2F6DD887BD2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06E3BAC3-A07F-4BA9-A9E0-C66B4BEB3F98}"/>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latin typeface="Arial" charset="0"/>
                <a:ea typeface="宋体" pitchFamily="2" charset="-122"/>
              </a:defRPr>
            </a:lvl1pPr>
          </a:lstStyle>
          <a:p>
            <a:pPr>
              <a:defRPr/>
            </a:pPr>
            <a:endParaRPr lang="en-US" altLang="zh-CN"/>
          </a:p>
        </p:txBody>
      </p:sp>
      <p:sp>
        <p:nvSpPr>
          <p:cNvPr id="71683" name="Rectangle 3">
            <a:extLst>
              <a:ext uri="{FF2B5EF4-FFF2-40B4-BE49-F238E27FC236}">
                <a16:creationId xmlns:a16="http://schemas.microsoft.com/office/drawing/2014/main" id="{E1095DF4-00BF-4A85-9A85-030CE9D19BB0}"/>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latin typeface="Arial" charset="0"/>
                <a:ea typeface="宋体" pitchFamily="2" charset="-122"/>
              </a:defRPr>
            </a:lvl1pPr>
          </a:lstStyle>
          <a:p>
            <a:pPr>
              <a:defRPr/>
            </a:pPr>
            <a:fld id="{824BAD81-9ADC-4C49-B5AD-1BE99565328E}" type="datetime1">
              <a:rPr lang="zh-CN" altLang="en-US"/>
              <a:pPr>
                <a:defRPr/>
              </a:pPr>
              <a:t>2025/6/5</a:t>
            </a:fld>
            <a:endParaRPr lang="en-US" altLang="zh-CN"/>
          </a:p>
        </p:txBody>
      </p:sp>
      <p:sp>
        <p:nvSpPr>
          <p:cNvPr id="3076" name="Rectangle 4">
            <a:extLst>
              <a:ext uri="{FF2B5EF4-FFF2-40B4-BE49-F238E27FC236}">
                <a16:creationId xmlns:a16="http://schemas.microsoft.com/office/drawing/2014/main" id="{FD4CBD56-7EA8-4B47-A34A-75754EFEA12E}"/>
              </a:ext>
            </a:extLst>
          </p:cNvPr>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685" name="Rectangle 5">
            <a:extLst>
              <a:ext uri="{FF2B5EF4-FFF2-40B4-BE49-F238E27FC236}">
                <a16:creationId xmlns:a16="http://schemas.microsoft.com/office/drawing/2014/main" id="{A55101BF-5177-4D35-B831-8FE801877F89}"/>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686" name="Rectangle 6">
            <a:extLst>
              <a:ext uri="{FF2B5EF4-FFF2-40B4-BE49-F238E27FC236}">
                <a16:creationId xmlns:a16="http://schemas.microsoft.com/office/drawing/2014/main" id="{FF47D65E-D1DF-40D0-A103-9EB5729D60B0}"/>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latin typeface="Arial" charset="0"/>
                <a:ea typeface="宋体" pitchFamily="2" charset="-122"/>
              </a:defRPr>
            </a:lvl1pPr>
          </a:lstStyle>
          <a:p>
            <a:pPr>
              <a:defRPr/>
            </a:pPr>
            <a:endParaRPr lang="en-US" altLang="zh-CN"/>
          </a:p>
        </p:txBody>
      </p:sp>
      <p:sp>
        <p:nvSpPr>
          <p:cNvPr id="71687" name="Rectangle 7">
            <a:extLst>
              <a:ext uri="{FF2B5EF4-FFF2-40B4-BE49-F238E27FC236}">
                <a16:creationId xmlns:a16="http://schemas.microsoft.com/office/drawing/2014/main" id="{35A051F4-53AD-47FC-8F84-E396A6202914}"/>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56B3BD0E-CD2F-4873-8A1E-F0E036CEFA1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DC6F154-16EE-419B-9B13-901E7556C17F}"/>
              </a:ext>
            </a:extLst>
          </p:cNvPr>
          <p:cNvSpPr>
            <a:spLocks noGrp="1" noChangeArrowheads="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A379F44-BE14-4CC2-8C36-510DC894FAF4}" type="slidenum">
              <a:rPr lang="en-US" altLang="zh-CN" smtClean="0"/>
              <a:pPr/>
              <a:t>1</a:t>
            </a:fld>
            <a:endParaRPr lang="en-US" altLang="zh-CN"/>
          </a:p>
        </p:txBody>
      </p:sp>
      <p:sp>
        <p:nvSpPr>
          <p:cNvPr id="6147" name="Rectangle 2">
            <a:extLst>
              <a:ext uri="{FF2B5EF4-FFF2-40B4-BE49-F238E27FC236}">
                <a16:creationId xmlns:a16="http://schemas.microsoft.com/office/drawing/2014/main" id="{0C24E44E-3DA1-4A8C-9C2D-D70271B33AA8}"/>
              </a:ext>
            </a:extLst>
          </p:cNvPr>
          <p:cNvSpPr>
            <a:spLocks noGrp="1" noRot="1" noChangeAspect="1" noChangeArrowheads="1" noTextEdit="1"/>
          </p:cNvSpPr>
          <p:nvPr>
            <p:ph type="sldImg"/>
          </p:nvPr>
        </p:nvSpPr>
        <p:spPr>
          <a:xfrm>
            <a:off x="139700" y="768350"/>
            <a:ext cx="6819900" cy="3836988"/>
          </a:xfrm>
          <a:ln/>
        </p:spPr>
      </p:sp>
      <p:sp>
        <p:nvSpPr>
          <p:cNvPr id="6148" name="Rectangle 3">
            <a:extLst>
              <a:ext uri="{FF2B5EF4-FFF2-40B4-BE49-F238E27FC236}">
                <a16:creationId xmlns:a16="http://schemas.microsoft.com/office/drawing/2014/main" id="{A9DBF500-FCC7-416A-A89D-90A90C7386CB}"/>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9634"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69635" name="Rectangle 3"/>
          <p:cNvSpPr>
            <a:spLocks noGrp="1" noRot="1" noChangeArrowheads="1"/>
          </p:cNvSpPr>
          <p:nvPr>
            <p:ph type="subTitle" idx="1"/>
          </p:nvPr>
        </p:nvSpPr>
        <p:spPr>
          <a:xfrm>
            <a:off x="1828800" y="3886200"/>
            <a:ext cx="8534400" cy="1752600"/>
          </a:xfrm>
        </p:spPr>
        <p:txBody>
          <a:bodyPr/>
          <a:lstStyle>
            <a:lvl1pPr marL="0" indent="0" algn="ctr">
              <a:buFont typeface="Wingdings 2" pitchFamily="18" charset="2"/>
              <a:buNone/>
              <a:defRPr/>
            </a:lvl1pPr>
          </a:lstStyle>
          <a:p>
            <a:pPr lvl="0"/>
            <a:r>
              <a:rPr lang="zh-CN" altLang="en-US" noProof="0"/>
              <a:t>单击此处编辑母版副标题样式</a:t>
            </a:r>
          </a:p>
        </p:txBody>
      </p:sp>
      <p:sp>
        <p:nvSpPr>
          <p:cNvPr id="4" name="Rectangle 4">
            <a:extLst>
              <a:ext uri="{FF2B5EF4-FFF2-40B4-BE49-F238E27FC236}">
                <a16:creationId xmlns:a16="http://schemas.microsoft.com/office/drawing/2014/main" id="{60D9AE57-DF12-4196-8CA8-9041D06DC008}"/>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DA6BB92-757E-445B-9CBD-6717C9224CBE}"/>
              </a:ext>
            </a:extLst>
          </p:cNvPr>
          <p:cNvSpPr>
            <a:spLocks noGrp="1" noChangeArrowheads="1"/>
          </p:cNvSpPr>
          <p:nvPr>
            <p:ph type="ftr" sz="quarter" idx="11"/>
          </p:nvPr>
        </p:nvSpPr>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471FF729-56A5-4839-923E-6B593740999B}"/>
              </a:ext>
            </a:extLst>
          </p:cNvPr>
          <p:cNvSpPr>
            <a:spLocks noGrp="1" noChangeArrowheads="1"/>
          </p:cNvSpPr>
          <p:nvPr>
            <p:ph type="sldNum" sz="quarter" idx="12"/>
          </p:nvPr>
        </p:nvSpPr>
        <p:spPr/>
        <p:txBody>
          <a:bodyPr/>
          <a:lstStyle>
            <a:lvl1pPr>
              <a:defRPr/>
            </a:lvl1pPr>
          </a:lstStyle>
          <a:p>
            <a:pPr>
              <a:defRPr/>
            </a:pPr>
            <a:fld id="{8972F8CB-CD9C-432F-A6A2-E4B8574CBF68}" type="slidenum">
              <a:rPr lang="en-US" altLang="zh-CN"/>
              <a:pPr>
                <a:defRPr/>
              </a:pPr>
              <a:t>‹#›</a:t>
            </a:fld>
            <a:endParaRPr lang="en-US" altLang="zh-CN"/>
          </a:p>
        </p:txBody>
      </p:sp>
    </p:spTree>
    <p:extLst>
      <p:ext uri="{BB962C8B-B14F-4D97-AF65-F5344CB8AC3E}">
        <p14:creationId xmlns:p14="http://schemas.microsoft.com/office/powerpoint/2010/main" val="360423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40B22C3-917C-4442-8FCB-3D3A01178E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415FBC5-1ED0-44E1-8AE5-030F1F87046E}"/>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4B8BEBA3-B903-4E7A-B643-D2FC9B0298F0}"/>
              </a:ext>
            </a:extLst>
          </p:cNvPr>
          <p:cNvSpPr>
            <a:spLocks noGrp="1" noChangeArrowheads="1"/>
          </p:cNvSpPr>
          <p:nvPr>
            <p:ph type="sldNum" sz="quarter" idx="12"/>
          </p:nvPr>
        </p:nvSpPr>
        <p:spPr>
          <a:ln/>
        </p:spPr>
        <p:txBody>
          <a:bodyPr/>
          <a:lstStyle>
            <a:lvl1pPr>
              <a:defRPr/>
            </a:lvl1pPr>
          </a:lstStyle>
          <a:p>
            <a:pPr>
              <a:defRPr/>
            </a:pPr>
            <a:fld id="{2DDC9467-6456-4A72-BDC3-23028523D5A0}" type="slidenum">
              <a:rPr lang="en-US" altLang="zh-CN"/>
              <a:pPr>
                <a:defRPr/>
              </a:pPr>
              <a:t>‹#›</a:t>
            </a:fld>
            <a:endParaRPr lang="en-US" altLang="zh-CN"/>
          </a:p>
        </p:txBody>
      </p:sp>
    </p:spTree>
    <p:extLst>
      <p:ext uri="{BB962C8B-B14F-4D97-AF65-F5344CB8AC3E}">
        <p14:creationId xmlns:p14="http://schemas.microsoft.com/office/powerpoint/2010/main" val="2868725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78DDE82-A25F-4695-924E-6CAB8B5F9F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91F1174-6500-4B81-BA86-4326CABA74B1}"/>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E4B755C1-1108-464F-93EF-9B67B2A9F654}"/>
              </a:ext>
            </a:extLst>
          </p:cNvPr>
          <p:cNvSpPr>
            <a:spLocks noGrp="1" noChangeArrowheads="1"/>
          </p:cNvSpPr>
          <p:nvPr>
            <p:ph type="sldNum" sz="quarter" idx="12"/>
          </p:nvPr>
        </p:nvSpPr>
        <p:spPr>
          <a:ln/>
        </p:spPr>
        <p:txBody>
          <a:bodyPr/>
          <a:lstStyle>
            <a:lvl1pPr>
              <a:defRPr/>
            </a:lvl1pPr>
          </a:lstStyle>
          <a:p>
            <a:pPr>
              <a:defRPr/>
            </a:pPr>
            <a:fld id="{C049C5C8-78E9-4187-BD6C-2CCA6C9EC79D}" type="slidenum">
              <a:rPr lang="en-US" altLang="zh-CN"/>
              <a:pPr>
                <a:defRPr/>
              </a:pPr>
              <a:t>‹#›</a:t>
            </a:fld>
            <a:endParaRPr lang="en-US" altLang="zh-CN"/>
          </a:p>
        </p:txBody>
      </p:sp>
    </p:spTree>
    <p:extLst>
      <p:ext uri="{BB962C8B-B14F-4D97-AF65-F5344CB8AC3E}">
        <p14:creationId xmlns:p14="http://schemas.microsoft.com/office/powerpoint/2010/main" val="1940138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2168"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4B78A00-70D7-4A15-929E-1BA04BC9E5A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8460D88-E82C-4055-89D8-D6F8371A6C0A}"/>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AD09FDAF-B119-472A-A528-AA9187C5DE55}"/>
              </a:ext>
            </a:extLst>
          </p:cNvPr>
          <p:cNvSpPr>
            <a:spLocks noGrp="1" noChangeArrowheads="1"/>
          </p:cNvSpPr>
          <p:nvPr>
            <p:ph type="sldNum" sz="quarter" idx="12"/>
          </p:nvPr>
        </p:nvSpPr>
        <p:spPr>
          <a:ln/>
        </p:spPr>
        <p:txBody>
          <a:bodyPr/>
          <a:lstStyle>
            <a:lvl1pPr>
              <a:defRPr/>
            </a:lvl1pPr>
          </a:lstStyle>
          <a:p>
            <a:pPr>
              <a:defRPr/>
            </a:pPr>
            <a:fld id="{FFB5D5EB-A44E-48A8-980D-E38819B20A78}" type="slidenum">
              <a:rPr lang="en-US" altLang="zh-CN"/>
              <a:pPr>
                <a:defRPr/>
              </a:pPr>
              <a:t>‹#›</a:t>
            </a:fld>
            <a:endParaRPr lang="en-US" altLang="zh-CN"/>
          </a:p>
        </p:txBody>
      </p:sp>
    </p:spTree>
    <p:extLst>
      <p:ext uri="{BB962C8B-B14F-4D97-AF65-F5344CB8AC3E}">
        <p14:creationId xmlns:p14="http://schemas.microsoft.com/office/powerpoint/2010/main" val="137904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799A710-9E85-4D82-8631-F9C1D785A5D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9A42714C-73DF-4275-A8D0-82F17FAF2953}"/>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9" name="Rectangle 6">
            <a:extLst>
              <a:ext uri="{FF2B5EF4-FFF2-40B4-BE49-F238E27FC236}">
                <a16:creationId xmlns:a16="http://schemas.microsoft.com/office/drawing/2014/main" id="{AFA78033-588B-4F96-9FBE-C2DB31834AF4}"/>
              </a:ext>
            </a:extLst>
          </p:cNvPr>
          <p:cNvSpPr>
            <a:spLocks noGrp="1" noChangeArrowheads="1"/>
          </p:cNvSpPr>
          <p:nvPr>
            <p:ph type="sldNum" sz="quarter" idx="12"/>
          </p:nvPr>
        </p:nvSpPr>
        <p:spPr>
          <a:ln/>
        </p:spPr>
        <p:txBody>
          <a:bodyPr/>
          <a:lstStyle>
            <a:lvl1pPr>
              <a:defRPr/>
            </a:lvl1pPr>
          </a:lstStyle>
          <a:p>
            <a:pPr>
              <a:defRPr/>
            </a:pPr>
            <a:fld id="{10F474F9-F6C4-4C90-9EF8-32C206183C11}" type="slidenum">
              <a:rPr lang="en-US" altLang="zh-CN"/>
              <a:pPr>
                <a:defRPr/>
              </a:pPr>
              <a:t>‹#›</a:t>
            </a:fld>
            <a:endParaRPr lang="en-US" altLang="zh-CN"/>
          </a:p>
        </p:txBody>
      </p:sp>
    </p:spTree>
    <p:extLst>
      <p:ext uri="{BB962C8B-B14F-4D97-AF65-F5344CB8AC3E}">
        <p14:creationId xmlns:p14="http://schemas.microsoft.com/office/powerpoint/2010/main" val="3927032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47738931-39E9-4CB1-8664-94DC18B81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E6EC99FB-CE8A-44DE-857E-FF518D805472}"/>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5" name="Rectangle 6">
            <a:extLst>
              <a:ext uri="{FF2B5EF4-FFF2-40B4-BE49-F238E27FC236}">
                <a16:creationId xmlns:a16="http://schemas.microsoft.com/office/drawing/2014/main" id="{085A7B6B-A6AC-4F34-A4AF-FC9301E9780A}"/>
              </a:ext>
            </a:extLst>
          </p:cNvPr>
          <p:cNvSpPr>
            <a:spLocks noGrp="1" noChangeArrowheads="1"/>
          </p:cNvSpPr>
          <p:nvPr>
            <p:ph type="sldNum" sz="quarter" idx="12"/>
          </p:nvPr>
        </p:nvSpPr>
        <p:spPr>
          <a:ln/>
        </p:spPr>
        <p:txBody>
          <a:bodyPr/>
          <a:lstStyle>
            <a:lvl1pPr>
              <a:defRPr/>
            </a:lvl1pPr>
          </a:lstStyle>
          <a:p>
            <a:pPr>
              <a:defRPr/>
            </a:pPr>
            <a:fld id="{CE10B399-6FCE-4F5E-B739-0393DFE896F0}" type="slidenum">
              <a:rPr lang="en-US" altLang="zh-CN"/>
              <a:pPr>
                <a:defRPr/>
              </a:pPr>
              <a:t>‹#›</a:t>
            </a:fld>
            <a:endParaRPr lang="en-US" altLang="zh-CN"/>
          </a:p>
        </p:txBody>
      </p:sp>
    </p:spTree>
    <p:extLst>
      <p:ext uri="{BB962C8B-B14F-4D97-AF65-F5344CB8AC3E}">
        <p14:creationId xmlns:p14="http://schemas.microsoft.com/office/powerpoint/2010/main" val="55797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8B00061-1BD7-4BFD-B5D4-F079312AA09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F04CA38D-5E82-4864-B9BB-89EFEF5A1593}"/>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4" name="Rectangle 6">
            <a:extLst>
              <a:ext uri="{FF2B5EF4-FFF2-40B4-BE49-F238E27FC236}">
                <a16:creationId xmlns:a16="http://schemas.microsoft.com/office/drawing/2014/main" id="{DE7F9E44-7CAF-495D-B1B1-F670B0920A70}"/>
              </a:ext>
            </a:extLst>
          </p:cNvPr>
          <p:cNvSpPr>
            <a:spLocks noGrp="1" noChangeArrowheads="1"/>
          </p:cNvSpPr>
          <p:nvPr>
            <p:ph type="sldNum" sz="quarter" idx="12"/>
          </p:nvPr>
        </p:nvSpPr>
        <p:spPr>
          <a:ln/>
        </p:spPr>
        <p:txBody>
          <a:bodyPr/>
          <a:lstStyle>
            <a:lvl1pPr>
              <a:defRPr/>
            </a:lvl1pPr>
          </a:lstStyle>
          <a:p>
            <a:pPr>
              <a:defRPr/>
            </a:pPr>
            <a:fld id="{373F13DE-3DA7-498E-AF00-CA1584652D0A}" type="slidenum">
              <a:rPr lang="en-US" altLang="zh-CN"/>
              <a:pPr>
                <a:defRPr/>
              </a:pPr>
              <a:t>‹#›</a:t>
            </a:fld>
            <a:endParaRPr lang="en-US" altLang="zh-CN"/>
          </a:p>
        </p:txBody>
      </p:sp>
    </p:spTree>
    <p:extLst>
      <p:ext uri="{BB962C8B-B14F-4D97-AF65-F5344CB8AC3E}">
        <p14:creationId xmlns:p14="http://schemas.microsoft.com/office/powerpoint/2010/main" val="360556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280B9BBF-C9D2-4133-B51C-E0E740C886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D0CC6C5-E896-4013-97DE-33A4F186383F}"/>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84FF4354-530F-4A09-A6CE-6016E4AEFB01}"/>
              </a:ext>
            </a:extLst>
          </p:cNvPr>
          <p:cNvSpPr>
            <a:spLocks noGrp="1" noChangeArrowheads="1"/>
          </p:cNvSpPr>
          <p:nvPr>
            <p:ph type="sldNum" sz="quarter" idx="12"/>
          </p:nvPr>
        </p:nvSpPr>
        <p:spPr>
          <a:ln/>
        </p:spPr>
        <p:txBody>
          <a:bodyPr/>
          <a:lstStyle>
            <a:lvl1pPr>
              <a:defRPr/>
            </a:lvl1pPr>
          </a:lstStyle>
          <a:p>
            <a:pPr>
              <a:defRPr/>
            </a:pPr>
            <a:fld id="{D9679A86-D2F9-490A-A36D-CD28B8F225B0}" type="slidenum">
              <a:rPr lang="en-US" altLang="zh-CN"/>
              <a:pPr>
                <a:defRPr/>
              </a:pPr>
              <a:t>‹#›</a:t>
            </a:fld>
            <a:endParaRPr lang="en-US" altLang="zh-CN"/>
          </a:p>
        </p:txBody>
      </p:sp>
    </p:spTree>
    <p:extLst>
      <p:ext uri="{BB962C8B-B14F-4D97-AF65-F5344CB8AC3E}">
        <p14:creationId xmlns:p14="http://schemas.microsoft.com/office/powerpoint/2010/main" val="208573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342A559-5CB0-420B-AD5A-BE48FC3E106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2BA30B3-93E7-4B38-9088-C7B05AC825AD}"/>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FFF99841-DC5B-4A36-A826-2C6131A45555}"/>
              </a:ext>
            </a:extLst>
          </p:cNvPr>
          <p:cNvSpPr>
            <a:spLocks noGrp="1" noChangeArrowheads="1"/>
          </p:cNvSpPr>
          <p:nvPr>
            <p:ph type="sldNum" sz="quarter" idx="12"/>
          </p:nvPr>
        </p:nvSpPr>
        <p:spPr>
          <a:ln/>
        </p:spPr>
        <p:txBody>
          <a:bodyPr/>
          <a:lstStyle>
            <a:lvl1pPr>
              <a:defRPr/>
            </a:lvl1pPr>
          </a:lstStyle>
          <a:p>
            <a:pPr>
              <a:defRPr/>
            </a:pPr>
            <a:fld id="{C996D645-093B-484A-BD90-0F71D35DC609}" type="slidenum">
              <a:rPr lang="en-US" altLang="zh-CN"/>
              <a:pPr>
                <a:defRPr/>
              </a:pPr>
              <a:t>‹#›</a:t>
            </a:fld>
            <a:endParaRPr lang="en-US" altLang="zh-CN"/>
          </a:p>
        </p:txBody>
      </p:sp>
    </p:spTree>
    <p:extLst>
      <p:ext uri="{BB962C8B-B14F-4D97-AF65-F5344CB8AC3E}">
        <p14:creationId xmlns:p14="http://schemas.microsoft.com/office/powerpoint/2010/main" val="4256574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0200436-31F4-4BB5-9DB8-B2505D5523D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6B57E9F-C7EE-4F8F-9EA9-0D46FDD6F4DD}"/>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36E38D00-65DF-49CF-8831-CC9F2B3519DA}"/>
              </a:ext>
            </a:extLst>
          </p:cNvPr>
          <p:cNvSpPr>
            <a:spLocks noGrp="1" noChangeArrowheads="1"/>
          </p:cNvSpPr>
          <p:nvPr>
            <p:ph type="sldNum" sz="quarter" idx="12"/>
          </p:nvPr>
        </p:nvSpPr>
        <p:spPr>
          <a:ln/>
        </p:spPr>
        <p:txBody>
          <a:bodyPr/>
          <a:lstStyle>
            <a:lvl1pPr>
              <a:defRPr/>
            </a:lvl1pPr>
          </a:lstStyle>
          <a:p>
            <a:pPr>
              <a:defRPr/>
            </a:pPr>
            <a:fld id="{A28685C9-43BA-4E01-A19E-88B29E49A57E}" type="slidenum">
              <a:rPr lang="en-US" altLang="zh-CN"/>
              <a:pPr>
                <a:defRPr/>
              </a:pPr>
              <a:t>‹#›</a:t>
            </a:fld>
            <a:endParaRPr lang="en-US" altLang="zh-CN"/>
          </a:p>
        </p:txBody>
      </p:sp>
    </p:spTree>
    <p:extLst>
      <p:ext uri="{BB962C8B-B14F-4D97-AF65-F5344CB8AC3E}">
        <p14:creationId xmlns:p14="http://schemas.microsoft.com/office/powerpoint/2010/main" val="1328727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8" y="228601"/>
            <a:ext cx="2846916"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2167" y="228601"/>
            <a:ext cx="8337551"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91012F2-6DB9-4F84-B397-314A6500E5D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FD7BC05-507B-43DA-9C00-90B2BDD7CA75}"/>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6" name="Rectangle 6">
            <a:extLst>
              <a:ext uri="{FF2B5EF4-FFF2-40B4-BE49-F238E27FC236}">
                <a16:creationId xmlns:a16="http://schemas.microsoft.com/office/drawing/2014/main" id="{45FA1EF8-3773-405D-82A0-9DE2884D7BAD}"/>
              </a:ext>
            </a:extLst>
          </p:cNvPr>
          <p:cNvSpPr>
            <a:spLocks noGrp="1" noChangeArrowheads="1"/>
          </p:cNvSpPr>
          <p:nvPr>
            <p:ph type="sldNum" sz="quarter" idx="12"/>
          </p:nvPr>
        </p:nvSpPr>
        <p:spPr>
          <a:ln/>
        </p:spPr>
        <p:txBody>
          <a:bodyPr/>
          <a:lstStyle>
            <a:lvl1pPr>
              <a:defRPr/>
            </a:lvl1pPr>
          </a:lstStyle>
          <a:p>
            <a:pPr>
              <a:defRPr/>
            </a:pPr>
            <a:fld id="{67D3BBB1-D9CF-4591-907A-623D7BDC26D3}" type="slidenum">
              <a:rPr lang="en-US" altLang="zh-CN"/>
              <a:pPr>
                <a:defRPr/>
              </a:pPr>
              <a:t>‹#›</a:t>
            </a:fld>
            <a:endParaRPr lang="en-US" altLang="zh-CN"/>
          </a:p>
        </p:txBody>
      </p:sp>
    </p:spTree>
    <p:extLst>
      <p:ext uri="{BB962C8B-B14F-4D97-AF65-F5344CB8AC3E}">
        <p14:creationId xmlns:p14="http://schemas.microsoft.com/office/powerpoint/2010/main" val="2393497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0"/>
            <a:ext cx="1138766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02168" y="1600200"/>
            <a:ext cx="5592233"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600200"/>
            <a:ext cx="5592233"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3E20788-8E9F-475D-818A-47857165FB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0BD2E43-3C64-4C24-A769-9934D159D254}"/>
              </a:ext>
            </a:extLst>
          </p:cNvPr>
          <p:cNvSpPr>
            <a:spLocks noGrp="1" noChangeArrowheads="1"/>
          </p:cNvSpPr>
          <p:nvPr>
            <p:ph type="ftr" sz="quarter" idx="11"/>
          </p:nvPr>
        </p:nvSpPr>
        <p:spPr>
          <a:ln/>
        </p:spPr>
        <p:txBody>
          <a:bodyPr/>
          <a:lstStyle>
            <a:lvl1pPr>
              <a:defRPr/>
            </a:lvl1pPr>
          </a:lstStyle>
          <a:p>
            <a:pPr>
              <a:defRPr/>
            </a:pPr>
            <a:r>
              <a:rPr lang="en-US" altLang="zh-CN"/>
              <a:t>CSASC</a:t>
            </a:r>
          </a:p>
        </p:txBody>
      </p:sp>
      <p:sp>
        <p:nvSpPr>
          <p:cNvPr id="7" name="Rectangle 6">
            <a:extLst>
              <a:ext uri="{FF2B5EF4-FFF2-40B4-BE49-F238E27FC236}">
                <a16:creationId xmlns:a16="http://schemas.microsoft.com/office/drawing/2014/main" id="{165D4548-B5BA-4E33-9BFE-15BE01CE2267}"/>
              </a:ext>
            </a:extLst>
          </p:cNvPr>
          <p:cNvSpPr>
            <a:spLocks noGrp="1" noChangeArrowheads="1"/>
          </p:cNvSpPr>
          <p:nvPr>
            <p:ph type="sldNum" sz="quarter" idx="12"/>
          </p:nvPr>
        </p:nvSpPr>
        <p:spPr>
          <a:ln/>
        </p:spPr>
        <p:txBody>
          <a:bodyPr/>
          <a:lstStyle>
            <a:lvl1pPr>
              <a:defRPr/>
            </a:lvl1pPr>
          </a:lstStyle>
          <a:p>
            <a:pPr>
              <a:defRPr/>
            </a:pPr>
            <a:fld id="{57FC6A7D-1298-4D6E-A8BF-D5327FD55CDB}" type="slidenum">
              <a:rPr lang="en-US" altLang="zh-CN"/>
              <a:pPr>
                <a:defRPr/>
              </a:pPr>
              <a:t>‹#›</a:t>
            </a:fld>
            <a:endParaRPr lang="en-US" altLang="zh-CN"/>
          </a:p>
        </p:txBody>
      </p:sp>
    </p:spTree>
    <p:extLst>
      <p:ext uri="{BB962C8B-B14F-4D97-AF65-F5344CB8AC3E}">
        <p14:creationId xmlns:p14="http://schemas.microsoft.com/office/powerpoint/2010/main" val="2570860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24EEAC4-DB93-4B63-A08F-D39207ECA36E}"/>
              </a:ext>
            </a:extLst>
          </p:cNvPr>
          <p:cNvSpPr>
            <a:spLocks noGrp="1" noRot="1" noChangeArrowheads="1"/>
          </p:cNvSpPr>
          <p:nvPr>
            <p:ph type="title"/>
          </p:nvPr>
        </p:nvSpPr>
        <p:spPr bwMode="auto">
          <a:xfrm>
            <a:off x="402167" y="228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169D908-17A6-44CF-9715-2932260BD0A4}"/>
              </a:ext>
            </a:extLst>
          </p:cNvPr>
          <p:cNvSpPr>
            <a:spLocks noGrp="1" noRot="1" noChangeArrowheads="1"/>
          </p:cNvSpPr>
          <p:nvPr>
            <p:ph type="body" idx="1"/>
          </p:nvPr>
        </p:nvSpPr>
        <p:spPr bwMode="auto">
          <a:xfrm>
            <a:off x="402167" y="1600200"/>
            <a:ext cx="11387667"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8612" name="Rectangle 4">
            <a:extLst>
              <a:ext uri="{FF2B5EF4-FFF2-40B4-BE49-F238E27FC236}">
                <a16:creationId xmlns:a16="http://schemas.microsoft.com/office/drawing/2014/main" id="{0B87BFB4-DD50-4786-AC55-FA34B37BE505}"/>
              </a:ext>
            </a:extLst>
          </p:cNvPr>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pitchFamily="2" charset="-122"/>
              </a:defRPr>
            </a:lvl1pPr>
          </a:lstStyle>
          <a:p>
            <a:pPr>
              <a:defRPr/>
            </a:pPr>
            <a:endParaRPr lang="en-US" altLang="zh-CN"/>
          </a:p>
        </p:txBody>
      </p:sp>
      <p:sp>
        <p:nvSpPr>
          <p:cNvPr id="68613" name="Rectangle 5">
            <a:extLst>
              <a:ext uri="{FF2B5EF4-FFF2-40B4-BE49-F238E27FC236}">
                <a16:creationId xmlns:a16="http://schemas.microsoft.com/office/drawing/2014/main" id="{D466B0DD-9433-43B9-84E4-5D65F39AD17D}"/>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pitchFamily="2" charset="-122"/>
              </a:defRPr>
            </a:lvl1pPr>
          </a:lstStyle>
          <a:p>
            <a:pPr>
              <a:defRPr/>
            </a:pPr>
            <a:r>
              <a:rPr lang="en-US" altLang="zh-CN"/>
              <a:t>CSASC</a:t>
            </a:r>
          </a:p>
        </p:txBody>
      </p:sp>
      <p:sp>
        <p:nvSpPr>
          <p:cNvPr id="68614" name="Rectangle 6">
            <a:extLst>
              <a:ext uri="{FF2B5EF4-FFF2-40B4-BE49-F238E27FC236}">
                <a16:creationId xmlns:a16="http://schemas.microsoft.com/office/drawing/2014/main" id="{4E2EDD87-FA50-4952-B2DA-4CDA173A1A40}"/>
              </a:ext>
            </a:extLst>
          </p:cNvPr>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0683E98B-4CFD-4938-AEE3-1D3E617D993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85"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F02CEB9F-17CC-4B50-B278-DD7399F120E0}"/>
              </a:ext>
            </a:extLst>
          </p:cNvPr>
          <p:cNvSpPr>
            <a:spLocks noGrp="1" noChangeArrowheads="1"/>
          </p:cNvSpPr>
          <p:nvPr>
            <p:ph type="sldNum" sz="quarter" idx="12"/>
          </p:nvPr>
        </p:nvSpPr>
        <p:spPr>
          <a:noFill/>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FC5A5C6-137C-4A50-8190-AFD563B41BE1}" type="slidenum">
              <a:rPr lang="en-US" altLang="zh-CN" sz="1400"/>
              <a:pPr>
                <a:spcBef>
                  <a:spcPct val="0"/>
                </a:spcBef>
                <a:buClrTx/>
                <a:buSzTx/>
                <a:buFontTx/>
                <a:buNone/>
              </a:pPr>
              <a:t>1</a:t>
            </a:fld>
            <a:endParaRPr lang="en-US" altLang="zh-CN" sz="1400"/>
          </a:p>
        </p:txBody>
      </p:sp>
      <p:sp>
        <p:nvSpPr>
          <p:cNvPr id="5123" name="Rectangle 6">
            <a:extLst>
              <a:ext uri="{FF2B5EF4-FFF2-40B4-BE49-F238E27FC236}">
                <a16:creationId xmlns:a16="http://schemas.microsoft.com/office/drawing/2014/main" id="{3659D1DB-74F4-4B80-B8E8-A7C482A4BE98}"/>
              </a:ext>
            </a:extLst>
          </p:cNvPr>
          <p:cNvSpPr>
            <a:spLocks noRot="1" noChangeArrowheads="1"/>
          </p:cNvSpPr>
          <p:nvPr/>
        </p:nvSpPr>
        <p:spPr bwMode="auto">
          <a:xfrm>
            <a:off x="1676400" y="1295400"/>
            <a:ext cx="85407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 altLang="en-US" sz="4800" b="1">
                <a:solidFill>
                  <a:srgbClr val="FF0000"/>
                </a:solidFill>
                <a:latin typeface="华文行楷" panose="02010800040101010101" pitchFamily="2" charset="-122"/>
                <a:ea typeface="华文行楷" panose="02010800040101010101" pitchFamily="2" charset="-122"/>
              </a:rPr>
              <a:t>Internet Programming</a:t>
            </a:r>
            <a:endParaRPr lang="en-US" altLang="zh-CN" sz="4800" b="1">
              <a:solidFill>
                <a:srgbClr val="FF0000"/>
              </a:solidFill>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 altLang="en-US" sz="4800" b="1">
                <a:latin typeface="华文行楷" panose="02010800040101010101" pitchFamily="2" charset="-122"/>
                <a:ea typeface="华文行楷" panose="02010800040101010101" pitchFamily="2" charset="-122"/>
              </a:rPr>
              <a:t>Chapter </a:t>
            </a:r>
            <a:r>
              <a:rPr lang="en" altLang="zh-CN" sz="4800" b="1">
                <a:latin typeface="华文行楷" panose="02010800040101010101" pitchFamily="2" charset="-122"/>
                <a:ea typeface="华文行楷" panose="02010800040101010101" pitchFamily="2" charset="-122"/>
              </a:rPr>
              <a:t>9</a:t>
            </a:r>
            <a:r>
              <a:rPr lang="en" altLang="en-US" sz="4800" b="1">
                <a:latin typeface="华文行楷" panose="02010800040101010101" pitchFamily="2" charset="-122"/>
                <a:ea typeface="华文行楷" panose="02010800040101010101" pitchFamily="2" charset="-122"/>
              </a:rPr>
              <a:t>​</a:t>
            </a:r>
            <a:endParaRPr lang="en-US" altLang="zh-CN" sz="4800" b="1">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 altLang="en-US" sz="4800" b="1">
                <a:solidFill>
                  <a:srgbClr val="FF0000"/>
                </a:solidFill>
                <a:latin typeface="华文行楷" panose="02010800040101010101" pitchFamily="2" charset="-122"/>
                <a:ea typeface="华文行楷" panose="02010800040101010101" pitchFamily="2" charset="-122"/>
              </a:rPr>
              <a:t>Client </a:t>
            </a:r>
            <a:r>
              <a:rPr lang="en" altLang="zh-CN" sz="4800" b="1">
                <a:solidFill>
                  <a:srgbClr val="FF0000"/>
                </a:solidFill>
                <a:latin typeface="华文行楷" panose="02010800040101010101" pitchFamily="2" charset="-122"/>
                <a:ea typeface="华文行楷" panose="02010800040101010101" pitchFamily="2" charset="-122"/>
              </a:rPr>
              <a:t>Socket</a:t>
            </a:r>
          </a:p>
        </p:txBody>
      </p:sp>
      <p:pic>
        <p:nvPicPr>
          <p:cNvPr id="5124" name="Picture 10" descr="szu">
            <a:extLst>
              <a:ext uri="{FF2B5EF4-FFF2-40B4-BE49-F238E27FC236}">
                <a16:creationId xmlns:a16="http://schemas.microsoft.com/office/drawing/2014/main" id="{67A04BE7-7EB7-4A62-98F5-240D81111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28601"/>
            <a:ext cx="25146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文本框 1">
            <a:extLst>
              <a:ext uri="{FF2B5EF4-FFF2-40B4-BE49-F238E27FC236}">
                <a16:creationId xmlns:a16="http://schemas.microsoft.com/office/drawing/2014/main" id="{35DDC3DB-A2BD-447C-A937-CBFD15F3DA31}"/>
              </a:ext>
            </a:extLst>
          </p:cNvPr>
          <p:cNvSpPr txBox="1">
            <a:spLocks noChangeArrowheads="1"/>
          </p:cNvSpPr>
          <p:nvPr/>
        </p:nvSpPr>
        <p:spPr bwMode="auto">
          <a:xfrm>
            <a:off x="685800" y="4237038"/>
            <a:ext cx="10363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b="1" dirty="0">
                <a:solidFill>
                  <a:srgbClr val="FF0000"/>
                </a:solidFill>
              </a:rPr>
              <a:t>What functions does Socket provide for internet application developers?</a:t>
            </a:r>
            <a:endParaRPr lang="en" altLang="en-US" sz="2400" b="1" dirty="0">
              <a:solidFill>
                <a:srgbClr val="FF0000"/>
              </a:solidFill>
              <a:latin typeface="楷体" pitchFamily="49" charset="-122"/>
              <a:ea typeface="楷体" pitchFamily="49" charset="-122"/>
            </a:endParaRPr>
          </a:p>
        </p:txBody>
      </p:sp>
    </p:spTree>
  </p:cSld>
  <p:clrMapOvr>
    <a:masterClrMapping/>
  </p:clrMapOvr>
  <p:transition>
    <p:cover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369C12C1-A601-4846-8B1E-9A14A5BD7F54}"/>
              </a:ext>
            </a:extLst>
          </p:cNvPr>
          <p:cNvSpPr>
            <a:spLocks noGrp="1"/>
          </p:cNvSpPr>
          <p:nvPr>
            <p:ph type="title"/>
          </p:nvPr>
        </p:nvSpPr>
        <p:spPr>
          <a:xfrm>
            <a:off x="1825625" y="228600"/>
            <a:ext cx="8540750" cy="838200"/>
          </a:xfrm>
        </p:spPr>
        <p:txBody>
          <a:bodyPr/>
          <a:lstStyle/>
          <a:p>
            <a:r>
              <a:rPr lang="en" altLang="zh-CN" sz="3600"/>
              <a:t>Internet </a:t>
            </a:r>
            <a:r>
              <a:rPr lang="en" altLang="en-US" sz="3600"/>
              <a:t>Data Transmission</a:t>
            </a:r>
          </a:p>
        </p:txBody>
      </p:sp>
      <p:sp>
        <p:nvSpPr>
          <p:cNvPr id="7171" name="内容占位符 2">
            <a:extLst>
              <a:ext uri="{FF2B5EF4-FFF2-40B4-BE49-F238E27FC236}">
                <a16:creationId xmlns:a16="http://schemas.microsoft.com/office/drawing/2014/main" id="{BAB37BFA-E63A-4F89-81D2-80CCFB07DDB4}"/>
              </a:ext>
            </a:extLst>
          </p:cNvPr>
          <p:cNvSpPr>
            <a:spLocks noGrp="1"/>
          </p:cNvSpPr>
          <p:nvPr>
            <p:ph idx="1"/>
          </p:nvPr>
        </p:nvSpPr>
        <p:spPr>
          <a:xfrm>
            <a:off x="228600" y="1295400"/>
            <a:ext cx="11506200" cy="4929187"/>
          </a:xfrm>
        </p:spPr>
        <p:txBody>
          <a:bodyPr/>
          <a:lstStyle/>
          <a:p>
            <a:r>
              <a:rPr lang="en" altLang="zh-CN" sz="2400" dirty="0"/>
              <a:t>Internet </a:t>
            </a:r>
            <a:r>
              <a:rPr lang="en" altLang="en-US" sz="2400" dirty="0"/>
              <a:t>data is transmitted in </a:t>
            </a:r>
            <a:r>
              <a:rPr lang="en-US" altLang="en-US" sz="2400" dirty="0"/>
              <a:t>fixed size </a:t>
            </a:r>
            <a:r>
              <a:rPr lang="en" altLang="en-US" sz="2400" dirty="0">
                <a:solidFill>
                  <a:srgbClr val="FF0000"/>
                </a:solidFill>
              </a:rPr>
              <a:t>packets </a:t>
            </a:r>
            <a:r>
              <a:rPr lang="en-US" altLang="en-US" sz="2400" dirty="0">
                <a:solidFill>
                  <a:srgbClr val="FF0000"/>
                </a:solidFill>
              </a:rPr>
              <a:t>called </a:t>
            </a:r>
            <a:r>
              <a:rPr lang="en" altLang="en-US" sz="2400" dirty="0">
                <a:solidFill>
                  <a:srgbClr val="FF0000"/>
                </a:solidFill>
              </a:rPr>
              <a:t>datagrams</a:t>
            </a:r>
          </a:p>
          <a:p>
            <a:r>
              <a:rPr lang="en" altLang="en-US" sz="2400" dirty="0"/>
              <a:t>Datagram </a:t>
            </a:r>
            <a:r>
              <a:rPr lang="en" altLang="zh-CN" sz="2400" dirty="0"/>
              <a:t>= </a:t>
            </a:r>
            <a:r>
              <a:rPr lang="en-US" altLang="zh-CN" sz="2400" dirty="0"/>
              <a:t>H</a:t>
            </a:r>
            <a:r>
              <a:rPr lang="en" altLang="en-US" sz="2400" dirty="0"/>
              <a:t>eader </a:t>
            </a:r>
            <a:r>
              <a:rPr lang="en" altLang="zh-CN" sz="2400" dirty="0"/>
              <a:t>+ </a:t>
            </a:r>
            <a:r>
              <a:rPr lang="en" altLang="en-US" sz="2400" dirty="0"/>
              <a:t>payload</a:t>
            </a:r>
            <a:r>
              <a:rPr lang="en" altLang="zh-CN" sz="2400" dirty="0"/>
              <a:t>​</a:t>
            </a:r>
          </a:p>
          <a:p>
            <a:r>
              <a:rPr lang="en" altLang="en-US" sz="2400" b="1" dirty="0"/>
              <a:t>Header </a:t>
            </a:r>
            <a:r>
              <a:rPr lang="en" altLang="en-US" sz="2400" dirty="0"/>
              <a:t>: </a:t>
            </a:r>
            <a:r>
              <a:rPr lang="en-US" altLang="en-US" sz="2400" dirty="0"/>
              <a:t>I</a:t>
            </a:r>
            <a:r>
              <a:rPr lang="en" altLang="en-US" sz="2400" dirty="0"/>
              <a:t>ncludes the sender’s </a:t>
            </a:r>
            <a:r>
              <a:rPr lang="en-US" altLang="en-US" sz="2400" dirty="0"/>
              <a:t>IP </a:t>
            </a:r>
            <a:r>
              <a:rPr lang="en" altLang="en-US" sz="2400" dirty="0"/>
              <a:t>address and port #, the receiver’s </a:t>
            </a:r>
            <a:r>
              <a:rPr lang="en-US" altLang="en-US" sz="2400" dirty="0"/>
              <a:t>IP </a:t>
            </a:r>
            <a:r>
              <a:rPr lang="en" altLang="en-US" sz="2400" dirty="0"/>
              <a:t>address and port #,  checksum to detect whether the data is corrupted, and other </a:t>
            </a:r>
            <a:r>
              <a:rPr lang="en-US" altLang="en-US" sz="2400" dirty="0"/>
              <a:t>control</a:t>
            </a:r>
            <a:r>
              <a:rPr lang="en" altLang="en-US" sz="2400" dirty="0"/>
              <a:t> information to ensure reliable transmission.</a:t>
            </a:r>
            <a:endParaRPr lang="en-US" altLang="zh-CN" sz="2400" dirty="0"/>
          </a:p>
          <a:p>
            <a:r>
              <a:rPr lang="en" altLang="en-US" sz="2400" b="1" dirty="0"/>
              <a:t>Payload </a:t>
            </a:r>
            <a:r>
              <a:rPr lang="en" altLang="en-US" sz="2400" dirty="0"/>
              <a:t>: The data itself.</a:t>
            </a:r>
            <a:endParaRPr lang="en-US" altLang="zh-CN" sz="2400" dirty="0"/>
          </a:p>
          <a:p>
            <a:r>
              <a:rPr lang="en-US" sz="2400" dirty="0">
                <a:solidFill>
                  <a:srgbClr val="404040"/>
                </a:solidFill>
                <a:latin typeface="quote-cjk-patch"/>
              </a:rPr>
              <a:t>This requires: </a:t>
            </a:r>
          </a:p>
          <a:p>
            <a:pPr lvl="1">
              <a:buFont typeface="+mj-lt"/>
              <a:buAutoNum type="arabicPeriod"/>
            </a:pPr>
            <a:r>
              <a:rPr lang="en-US" sz="2000" dirty="0">
                <a:solidFill>
                  <a:srgbClr val="404040"/>
                </a:solidFill>
                <a:latin typeface="quote-cjk-patch"/>
              </a:rPr>
              <a:t>Packet fragmentation</a:t>
            </a:r>
          </a:p>
          <a:p>
            <a:pPr lvl="1">
              <a:buFont typeface="+mj-lt"/>
              <a:buAutoNum type="arabicPeriod"/>
            </a:pPr>
            <a:r>
              <a:rPr lang="en-US" sz="2000" dirty="0">
                <a:solidFill>
                  <a:srgbClr val="404040"/>
                </a:solidFill>
                <a:latin typeface="quote-cjk-patch"/>
              </a:rPr>
              <a:t>Error detection</a:t>
            </a:r>
          </a:p>
          <a:p>
            <a:pPr lvl="1">
              <a:buFont typeface="+mj-lt"/>
              <a:buAutoNum type="arabicPeriod"/>
            </a:pPr>
            <a:r>
              <a:rPr lang="en-US" sz="2000" dirty="0">
                <a:solidFill>
                  <a:srgbClr val="404040"/>
                </a:solidFill>
                <a:latin typeface="quote-cjk-patch"/>
              </a:rPr>
              <a:t>Data reassembly</a:t>
            </a:r>
          </a:p>
          <a:p>
            <a:pPr lvl="1">
              <a:buFont typeface="+mj-lt"/>
              <a:buAutoNum type="arabicPeriod"/>
            </a:pPr>
            <a:r>
              <a:rPr lang="en-US" sz="2000" dirty="0">
                <a:solidFill>
                  <a:srgbClr val="404040"/>
                </a:solidFill>
                <a:latin typeface="quote-cjk-patch"/>
              </a:rPr>
              <a:t>Packet retransmission</a:t>
            </a:r>
          </a:p>
          <a:p>
            <a:pPr lvl="1">
              <a:buFont typeface="+mj-lt"/>
              <a:buAutoNum type="arabicPeriod"/>
            </a:pPr>
            <a:r>
              <a:rPr lang="en-US" sz="2000" dirty="0">
                <a:solidFill>
                  <a:srgbClr val="404040"/>
                </a:solidFill>
                <a:latin typeface="quote-cjk-patch"/>
              </a:rPr>
              <a:t>Reordering of packets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465EF621-F36E-466D-ACE4-11FB53F02853}"/>
              </a:ext>
            </a:extLst>
          </p:cNvPr>
          <p:cNvSpPr>
            <a:spLocks noGrp="1"/>
          </p:cNvSpPr>
          <p:nvPr>
            <p:ph type="title"/>
          </p:nvPr>
        </p:nvSpPr>
        <p:spPr>
          <a:xfrm>
            <a:off x="1849439" y="20638"/>
            <a:ext cx="7775575"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 altLang="zh-CN" sz="3200"/>
              <a:t>Socket</a:t>
            </a:r>
            <a:endParaRPr lang="zh-CN" altLang="en-US" sz="3200"/>
          </a:p>
        </p:txBody>
      </p:sp>
      <p:sp>
        <p:nvSpPr>
          <p:cNvPr id="9219" name="内容占位符 2">
            <a:extLst>
              <a:ext uri="{FF2B5EF4-FFF2-40B4-BE49-F238E27FC236}">
                <a16:creationId xmlns:a16="http://schemas.microsoft.com/office/drawing/2014/main" id="{9DDA4804-5581-4BA8-8DC1-805D24E32AA3}"/>
              </a:ext>
            </a:extLst>
          </p:cNvPr>
          <p:cNvSpPr>
            <a:spLocks noGrp="1"/>
          </p:cNvSpPr>
          <p:nvPr>
            <p:ph idx="1"/>
          </p:nvPr>
        </p:nvSpPr>
        <p:spPr>
          <a:xfrm>
            <a:off x="152400" y="604838"/>
            <a:ext cx="11734800" cy="6100762"/>
          </a:xfrm>
        </p:spPr>
        <p:txBody>
          <a:bodyPr/>
          <a:lstStyle/>
          <a:p>
            <a:r>
              <a:rPr lang="en-US" sz="2400" dirty="0">
                <a:solidFill>
                  <a:srgbClr val="404040"/>
                </a:solidFill>
                <a:latin typeface="quote-cjk-patch"/>
              </a:rPr>
              <a:t>A Socket encapsulates a connection between two hosts and supports 7 operations:</a:t>
            </a:r>
          </a:p>
          <a:p>
            <a:r>
              <a:rPr lang="en-US" sz="2400" b="1" dirty="0">
                <a:solidFill>
                  <a:srgbClr val="404040"/>
                </a:solidFill>
                <a:latin typeface="quote-cjk-patch"/>
              </a:rPr>
              <a:t>Connection Operations:</a:t>
            </a:r>
            <a:endParaRPr lang="en-US" sz="2400" dirty="0">
              <a:solidFill>
                <a:srgbClr val="404040"/>
              </a:solidFill>
              <a:latin typeface="quote-cjk-patch"/>
            </a:endParaRPr>
          </a:p>
          <a:p>
            <a:pPr lvl="1">
              <a:buFont typeface="+mj-lt"/>
              <a:buAutoNum type="arabicPeriod"/>
            </a:pPr>
            <a:r>
              <a:rPr lang="en-US" sz="2000" dirty="0">
                <a:solidFill>
                  <a:srgbClr val="404040"/>
                </a:solidFill>
                <a:latin typeface="quote-cjk-patch"/>
              </a:rPr>
              <a:t>Connect to remote host</a:t>
            </a:r>
          </a:p>
          <a:p>
            <a:pPr lvl="1">
              <a:buFont typeface="+mj-lt"/>
              <a:buAutoNum type="arabicPeriod"/>
            </a:pPr>
            <a:r>
              <a:rPr lang="en-US" sz="2000" dirty="0">
                <a:solidFill>
                  <a:srgbClr val="404040"/>
                </a:solidFill>
                <a:latin typeface="quote-cjk-patch"/>
              </a:rPr>
              <a:t>Bind to local port</a:t>
            </a:r>
          </a:p>
          <a:p>
            <a:pPr lvl="1">
              <a:buFont typeface="+mj-lt"/>
              <a:buAutoNum type="arabicPeriod"/>
            </a:pPr>
            <a:r>
              <a:rPr lang="en-US" sz="2000" dirty="0">
                <a:solidFill>
                  <a:srgbClr val="404040"/>
                </a:solidFill>
                <a:latin typeface="quote-cjk-patch"/>
              </a:rPr>
              <a:t>Listen for inbound connections</a:t>
            </a:r>
          </a:p>
          <a:p>
            <a:pPr lvl="1">
              <a:buFont typeface="+mj-lt"/>
              <a:buAutoNum type="arabicPeriod"/>
            </a:pPr>
            <a:r>
              <a:rPr lang="en-US" sz="2000" dirty="0">
                <a:solidFill>
                  <a:srgbClr val="404040"/>
                </a:solidFill>
                <a:latin typeface="quote-cjk-patch"/>
              </a:rPr>
              <a:t>Accept remote connections on bound port</a:t>
            </a:r>
          </a:p>
          <a:p>
            <a:r>
              <a:rPr lang="en-US" sz="2400" b="1" dirty="0">
                <a:solidFill>
                  <a:srgbClr val="404040"/>
                </a:solidFill>
                <a:latin typeface="quote-cjk-patch"/>
              </a:rPr>
              <a:t>Data Transfer Operations:</a:t>
            </a:r>
          </a:p>
          <a:p>
            <a:pPr marL="914400" lvl="1" indent="-457200">
              <a:buFont typeface="+mj-lt"/>
              <a:buAutoNum type="arabicPeriod" startAt="5"/>
            </a:pPr>
            <a:r>
              <a:rPr lang="en-US" sz="2000" dirty="0">
                <a:solidFill>
                  <a:srgbClr val="404040"/>
                </a:solidFill>
                <a:latin typeface="quote-cjk-patch"/>
              </a:rPr>
              <a:t>5. Send data</a:t>
            </a:r>
          </a:p>
          <a:p>
            <a:pPr marL="914400" lvl="1" indent="-457200">
              <a:buFont typeface="+mj-lt"/>
              <a:buAutoNum type="arabicPeriod" startAt="5"/>
            </a:pPr>
            <a:r>
              <a:rPr lang="en-US" sz="2000" dirty="0">
                <a:solidFill>
                  <a:srgbClr val="404040"/>
                </a:solidFill>
                <a:latin typeface="quote-cjk-patch"/>
              </a:rPr>
              <a:t>6. Receive data</a:t>
            </a:r>
          </a:p>
          <a:p>
            <a:pPr marL="914400" lvl="1" indent="-457200">
              <a:buFont typeface="+mj-lt"/>
              <a:buAutoNum type="arabicPeriod" startAt="5"/>
            </a:pPr>
            <a:r>
              <a:rPr lang="en-US" sz="2000" dirty="0">
                <a:solidFill>
                  <a:srgbClr val="404040"/>
                </a:solidFill>
                <a:latin typeface="quote-cjk-patch"/>
              </a:rPr>
              <a:t>7. Close connection</a:t>
            </a:r>
          </a:p>
          <a:p>
            <a:pPr>
              <a:buFont typeface="Wingdings" panose="05000000000000000000" pitchFamily="2" charset="2"/>
              <a:buChar char="n"/>
            </a:pPr>
            <a:r>
              <a:rPr lang="en-US" altLang="zh-CN" sz="2400" dirty="0"/>
              <a:t>Java's Socket Class Implementation:</a:t>
            </a:r>
          </a:p>
          <a:p>
            <a:pPr lvl="1">
              <a:buFont typeface="Wingdings" panose="05000000000000000000" pitchFamily="2" charset="2"/>
              <a:buChar char="n"/>
            </a:pPr>
            <a:r>
              <a:rPr lang="en-US" altLang="zh-CN" sz="2000" dirty="0"/>
              <a:t>The Java Socket class provides the first four operational methods, which are available to both clients and servers.</a:t>
            </a:r>
          </a:p>
          <a:p>
            <a:pPr lvl="1">
              <a:buFont typeface="Wingdings" panose="05000000000000000000" pitchFamily="2" charset="2"/>
              <a:buChar char="n"/>
            </a:pPr>
            <a:r>
              <a:rPr lang="en-US" altLang="zh-CN" sz="2000" dirty="0"/>
              <a:t>The latter three operations - specifically waiting for client connections - are server-exclusive functionalities implemented by the </a:t>
            </a:r>
            <a:r>
              <a:rPr lang="en-US" altLang="zh-CN" sz="2000" dirty="0" err="1"/>
              <a:t>ServerSocket</a:t>
            </a:r>
            <a:r>
              <a:rPr lang="en-US" altLang="zh-CN" sz="2000" dirty="0"/>
              <a:t> class.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C435C4-09E4-4D1E-A1F0-8794C99AA7E3}"/>
              </a:ext>
            </a:extLst>
          </p:cNvPr>
          <p:cNvSpPr>
            <a:spLocks noGrp="1"/>
          </p:cNvSpPr>
          <p:nvPr>
            <p:ph type="sldNum" sz="quarter" idx="12"/>
          </p:nvPr>
        </p:nvSpPr>
        <p:spPr/>
        <p:txBody>
          <a:bodyPr/>
          <a:lstStyle/>
          <a:p>
            <a:pPr>
              <a:defRPr/>
            </a:pPr>
            <a:fld id="{373F13DE-3DA7-498E-AF00-CA1584652D0A}" type="slidenum">
              <a:rPr lang="en-US" altLang="zh-CN" smtClean="0"/>
              <a:pPr>
                <a:defRPr/>
              </a:pPr>
              <a:t>4</a:t>
            </a:fld>
            <a:endParaRPr lang="en-US" altLang="zh-CN"/>
          </a:p>
        </p:txBody>
      </p:sp>
      <p:sp>
        <p:nvSpPr>
          <p:cNvPr id="3" name="Rectangle 2">
            <a:extLst>
              <a:ext uri="{FF2B5EF4-FFF2-40B4-BE49-F238E27FC236}">
                <a16:creationId xmlns:a16="http://schemas.microsoft.com/office/drawing/2014/main" id="{696A2C8F-7E37-416E-9472-B06EFA28E2AF}"/>
              </a:ext>
            </a:extLst>
          </p:cNvPr>
          <p:cNvSpPr/>
          <p:nvPr/>
        </p:nvSpPr>
        <p:spPr>
          <a:xfrm>
            <a:off x="533400" y="125724"/>
            <a:ext cx="10896600" cy="6391493"/>
          </a:xfrm>
          <a:prstGeom prst="rect">
            <a:avLst/>
          </a:prstGeom>
        </p:spPr>
        <p:txBody>
          <a:bodyPr wrap="square">
            <a:spAutoFit/>
          </a:bodyPr>
          <a:lstStyle/>
          <a:p>
            <a:pPr>
              <a:spcAft>
                <a:spcPts val="800"/>
              </a:spcAft>
            </a:pPr>
            <a:r>
              <a:rPr lang="en-US" sz="2800" b="1" dirty="0">
                <a:solidFill>
                  <a:srgbClr val="404040"/>
                </a:solidFill>
                <a:latin typeface="quote-cjk-patch"/>
              </a:rPr>
              <a:t>Technical Breakdown:</a:t>
            </a:r>
            <a:endParaRPr lang="en-US" sz="2800" dirty="0">
              <a:solidFill>
                <a:srgbClr val="404040"/>
              </a:solidFill>
              <a:latin typeface="quote-cjk-patch"/>
            </a:endParaRPr>
          </a:p>
          <a:p>
            <a:pPr>
              <a:spcAft>
                <a:spcPts val="800"/>
              </a:spcAft>
              <a:buFont typeface="+mj-lt"/>
              <a:buAutoNum type="arabicPeriod"/>
            </a:pPr>
            <a:r>
              <a:rPr lang="en-US" sz="2800" b="1" dirty="0">
                <a:solidFill>
                  <a:srgbClr val="404040"/>
                </a:solidFill>
                <a:latin typeface="quote-cjk-patch"/>
              </a:rPr>
              <a:t>Connection Establishment</a:t>
            </a:r>
            <a:r>
              <a:rPr lang="en-US" sz="2800" dirty="0">
                <a:solidFill>
                  <a:srgbClr val="404040"/>
                </a:solidFill>
                <a:latin typeface="quote-cjk-patch"/>
              </a:rPr>
              <a:t> (TCP Three-way Handshake):</a:t>
            </a:r>
          </a:p>
          <a:p>
            <a:pPr marL="742950" lvl="1" indent="-285750">
              <a:spcAft>
                <a:spcPts val="800"/>
              </a:spcAft>
              <a:buFont typeface="+mj-lt"/>
              <a:buAutoNum type="arabicPeriod"/>
            </a:pPr>
            <a:r>
              <a:rPr lang="en-US" sz="2800" dirty="0">
                <a:solidFill>
                  <a:srgbClr val="404040"/>
                </a:solidFill>
                <a:latin typeface="quote-cjk-patch"/>
              </a:rPr>
              <a:t>Client: connect()</a:t>
            </a:r>
          </a:p>
          <a:p>
            <a:pPr marL="742950" lvl="1" indent="-285750">
              <a:spcAft>
                <a:spcPts val="800"/>
              </a:spcAft>
              <a:buFont typeface="+mj-lt"/>
              <a:buAutoNum type="arabicPeriod"/>
            </a:pPr>
            <a:r>
              <a:rPr lang="en-US" sz="2800" dirty="0">
                <a:solidFill>
                  <a:srgbClr val="404040"/>
                </a:solidFill>
                <a:latin typeface="quote-cjk-patch"/>
              </a:rPr>
              <a:t>Server: bind()+listen()+accept()</a:t>
            </a:r>
          </a:p>
          <a:p>
            <a:pPr>
              <a:spcAft>
                <a:spcPts val="800"/>
              </a:spcAft>
              <a:buFont typeface="+mj-lt"/>
              <a:buAutoNum type="arabicPeriod"/>
            </a:pPr>
            <a:r>
              <a:rPr lang="en-US" sz="2800" b="1" dirty="0">
                <a:solidFill>
                  <a:srgbClr val="404040"/>
                </a:solidFill>
                <a:latin typeface="quote-cjk-patch"/>
              </a:rPr>
              <a:t>Data Transfer Phase</a:t>
            </a:r>
            <a:r>
              <a:rPr lang="en-US" sz="2800" dirty="0">
                <a:solidFill>
                  <a:srgbClr val="404040"/>
                </a:solidFill>
                <a:latin typeface="quote-cjk-patch"/>
              </a:rPr>
              <a:t>:</a:t>
            </a:r>
          </a:p>
          <a:p>
            <a:pPr marL="742950" lvl="1" indent="-285750">
              <a:spcAft>
                <a:spcPts val="800"/>
              </a:spcAft>
              <a:buFont typeface="+mj-lt"/>
              <a:buAutoNum type="arabicPeriod"/>
            </a:pPr>
            <a:r>
              <a:rPr lang="en-US" sz="2800" dirty="0">
                <a:solidFill>
                  <a:srgbClr val="404040"/>
                </a:solidFill>
                <a:latin typeface="quote-cjk-patch"/>
              </a:rPr>
              <a:t>Bidirectional byte streams via send()/receive()</a:t>
            </a:r>
          </a:p>
          <a:p>
            <a:pPr>
              <a:spcAft>
                <a:spcPts val="800"/>
              </a:spcAft>
              <a:buFont typeface="+mj-lt"/>
              <a:buAutoNum type="arabicPeriod"/>
            </a:pPr>
            <a:r>
              <a:rPr lang="en-US" sz="2800" b="1" dirty="0">
                <a:solidFill>
                  <a:srgbClr val="404040"/>
                </a:solidFill>
                <a:latin typeface="quote-cjk-patch"/>
              </a:rPr>
              <a:t>Connection Termination</a:t>
            </a:r>
            <a:r>
              <a:rPr lang="en-US" sz="2800" dirty="0">
                <a:solidFill>
                  <a:srgbClr val="404040"/>
                </a:solidFill>
                <a:latin typeface="quote-cjk-patch"/>
              </a:rPr>
              <a:t> (TCP Teardown):</a:t>
            </a:r>
          </a:p>
          <a:p>
            <a:pPr marL="742950" lvl="1" indent="-285750">
              <a:spcAft>
                <a:spcPts val="800"/>
              </a:spcAft>
              <a:buFont typeface="+mj-lt"/>
              <a:buAutoNum type="arabicPeriod"/>
            </a:pPr>
            <a:r>
              <a:rPr lang="en-US" sz="2800" dirty="0">
                <a:solidFill>
                  <a:srgbClr val="404040"/>
                </a:solidFill>
                <a:latin typeface="quote-cjk-patch"/>
              </a:rPr>
              <a:t>Graceful close() with FIN packets</a:t>
            </a:r>
          </a:p>
          <a:p>
            <a:pPr>
              <a:spcAft>
                <a:spcPts val="800"/>
              </a:spcAft>
            </a:pPr>
            <a:r>
              <a:rPr lang="en-US" sz="2800" b="1" dirty="0">
                <a:solidFill>
                  <a:srgbClr val="404040"/>
                </a:solidFill>
                <a:latin typeface="quote-cjk-patch"/>
              </a:rPr>
              <a:t>Java Implementation Specifics:</a:t>
            </a:r>
            <a:endParaRPr lang="en-US" sz="2800" dirty="0">
              <a:solidFill>
                <a:srgbClr val="404040"/>
              </a:solidFill>
              <a:latin typeface="quote-cjk-patch"/>
            </a:endParaRPr>
          </a:p>
          <a:p>
            <a:pPr>
              <a:spcAft>
                <a:spcPts val="800"/>
              </a:spcAft>
              <a:buFont typeface="Arial" panose="020B0604020202020204" pitchFamily="34" charset="0"/>
              <a:buChar char="•"/>
            </a:pPr>
            <a:r>
              <a:rPr lang="en-US" sz="2800" dirty="0">
                <a:solidFill>
                  <a:srgbClr val="404040"/>
                </a:solidFill>
                <a:latin typeface="quote-cjk-patch"/>
              </a:rPr>
              <a:t>Client-side uses </a:t>
            </a:r>
            <a:r>
              <a:rPr lang="en-US" sz="2800" dirty="0" err="1">
                <a:solidFill>
                  <a:srgbClr val="404040"/>
                </a:solidFill>
                <a:latin typeface="quote-cjk-patch"/>
              </a:rPr>
              <a:t>java.net.Socket</a:t>
            </a:r>
            <a:r>
              <a:rPr lang="en-US" sz="2800" dirty="0">
                <a:solidFill>
                  <a:srgbClr val="404040"/>
                </a:solidFill>
                <a:latin typeface="quote-cjk-patch"/>
              </a:rPr>
              <a:t> class (operations 1,5,6,7)</a:t>
            </a:r>
          </a:p>
          <a:p>
            <a:pPr>
              <a:spcAft>
                <a:spcPts val="800"/>
              </a:spcAft>
              <a:buFont typeface="Arial" panose="020B0604020202020204" pitchFamily="34" charset="0"/>
              <a:buChar char="•"/>
            </a:pPr>
            <a:r>
              <a:rPr lang="en-US" sz="2800" dirty="0">
                <a:solidFill>
                  <a:srgbClr val="404040"/>
                </a:solidFill>
                <a:latin typeface="quote-cjk-patch"/>
              </a:rPr>
              <a:t>Server-side requires </a:t>
            </a:r>
            <a:r>
              <a:rPr lang="en-US" sz="2800" dirty="0" err="1">
                <a:solidFill>
                  <a:srgbClr val="404040"/>
                </a:solidFill>
                <a:latin typeface="quote-cjk-patch"/>
              </a:rPr>
              <a:t>java.net.ServerSocket</a:t>
            </a:r>
            <a:r>
              <a:rPr lang="en-US" sz="2800" dirty="0">
                <a:solidFill>
                  <a:srgbClr val="404040"/>
                </a:solidFill>
                <a:latin typeface="quote-cjk-patch"/>
              </a:rPr>
              <a:t> (operations 2,3,4) plus Socket</a:t>
            </a:r>
          </a:p>
          <a:p>
            <a:pPr>
              <a:spcAft>
                <a:spcPts val="800"/>
              </a:spcAft>
              <a:buFont typeface="Arial" panose="020B0604020202020204" pitchFamily="34" charset="0"/>
              <a:buChar char="•"/>
            </a:pPr>
            <a:r>
              <a:rPr lang="en-US" sz="2800" dirty="0">
                <a:solidFill>
                  <a:srgbClr val="404040"/>
                </a:solidFill>
                <a:latin typeface="quote-cjk-patch"/>
              </a:rPr>
              <a:t>Underlying TCP state machine handles reliability/retransmission</a:t>
            </a:r>
            <a:endParaRPr lang="en-US" sz="2800" b="0" i="0" dirty="0">
              <a:solidFill>
                <a:srgbClr val="404040"/>
              </a:solidFill>
              <a:effectLst/>
              <a:latin typeface="quote-cjk-patch"/>
            </a:endParaRPr>
          </a:p>
        </p:txBody>
      </p:sp>
    </p:spTree>
    <p:extLst>
      <p:ext uri="{BB962C8B-B14F-4D97-AF65-F5344CB8AC3E}">
        <p14:creationId xmlns:p14="http://schemas.microsoft.com/office/powerpoint/2010/main" val="2267009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76AFBD0F-E515-4E8A-A14E-3C75DD2B8C82}"/>
              </a:ext>
            </a:extLst>
          </p:cNvPr>
          <p:cNvSpPr>
            <a:spLocks noGrp="1"/>
          </p:cNvSpPr>
          <p:nvPr>
            <p:ph type="title"/>
          </p:nvPr>
        </p:nvSpPr>
        <p:spPr>
          <a:xfrm>
            <a:off x="2057401" y="228599"/>
            <a:ext cx="7775575" cy="68580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en" altLang="zh-CN" sz="3200" dirty="0"/>
              <a:t>Socket </a:t>
            </a:r>
            <a:r>
              <a:rPr lang="en" altLang="en-US" sz="3200" dirty="0"/>
              <a:t>implementation in </a:t>
            </a:r>
            <a:r>
              <a:rPr lang="en" altLang="zh-CN" sz="3200" dirty="0"/>
              <a:t>Java</a:t>
            </a:r>
          </a:p>
        </p:txBody>
      </p:sp>
      <p:sp>
        <p:nvSpPr>
          <p:cNvPr id="9219" name="内容占位符 2">
            <a:extLst>
              <a:ext uri="{FF2B5EF4-FFF2-40B4-BE49-F238E27FC236}">
                <a16:creationId xmlns:a16="http://schemas.microsoft.com/office/drawing/2014/main" id="{27A3B8E6-1AC7-4307-A90D-290DC8D0496C}"/>
              </a:ext>
            </a:extLst>
          </p:cNvPr>
          <p:cNvSpPr>
            <a:spLocks noGrp="1"/>
          </p:cNvSpPr>
          <p:nvPr>
            <p:ph idx="1"/>
          </p:nvPr>
        </p:nvSpPr>
        <p:spPr>
          <a:xfrm>
            <a:off x="304800" y="914401"/>
            <a:ext cx="11734800" cy="571499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 altLang="zh-CN" sz="2800" dirty="0"/>
              <a:t>TCP</a:t>
            </a:r>
            <a:r>
              <a:rPr lang="en" altLang="en-US" sz="2800" dirty="0"/>
              <a:t>​</a:t>
            </a:r>
            <a:endParaRPr lang="en-US" altLang="zh-CN" sz="2800" dirty="0"/>
          </a:p>
          <a:p>
            <a:pPr lvl="1">
              <a:buFont typeface="Wingdings" panose="05000000000000000000" pitchFamily="2" charset="2"/>
              <a:buChar char="p"/>
            </a:pPr>
            <a:r>
              <a:rPr lang="en" altLang="en-US" sz="2400" dirty="0"/>
              <a:t>Provides end-to-end connection-oriented reliable full-duplex byte stream transmission service</a:t>
            </a:r>
            <a:endParaRPr lang="en-US" altLang="zh-CN" sz="2400" dirty="0"/>
          </a:p>
          <a:p>
            <a:r>
              <a:rPr lang="en" altLang="zh-CN" sz="2800" b="1" dirty="0">
                <a:solidFill>
                  <a:srgbClr val="FF0000"/>
                </a:solidFill>
              </a:rPr>
              <a:t>Java.net.Socket </a:t>
            </a:r>
            <a:r>
              <a:rPr lang="en" altLang="en-US" sz="2800" b="1" dirty="0">
                <a:solidFill>
                  <a:srgbClr val="FF0000"/>
                </a:solidFill>
              </a:rPr>
              <a:t>Class</a:t>
            </a:r>
            <a:endParaRPr lang="en-US" altLang="zh-CN" sz="2800" b="1" dirty="0">
              <a:solidFill>
                <a:srgbClr val="FF0000"/>
              </a:solidFill>
            </a:endParaRPr>
          </a:p>
          <a:p>
            <a:pPr lvl="1">
              <a:buFont typeface="Wingdings" panose="05000000000000000000" pitchFamily="2" charset="2"/>
              <a:buChar char="p"/>
            </a:pPr>
            <a:r>
              <a:rPr lang="en" altLang="en-US" sz="2400" dirty="0"/>
              <a:t>Connect to remote host and close the connection</a:t>
            </a:r>
            <a:endParaRPr lang="en-US" altLang="zh-CN" sz="2400" dirty="0"/>
          </a:p>
          <a:p>
            <a:pPr lvl="1">
              <a:buFont typeface="Wingdings" panose="05000000000000000000" pitchFamily="2" charset="2"/>
              <a:buChar char="p"/>
            </a:pPr>
            <a:r>
              <a:rPr lang="en" altLang="en-US" sz="2400" dirty="0"/>
              <a:t>Send and receive data</a:t>
            </a:r>
            <a:endParaRPr lang="en-US" altLang="zh-CN" sz="2400" dirty="0"/>
          </a:p>
          <a:p>
            <a:pPr lvl="1">
              <a:buFont typeface="Wingdings" panose="05000000000000000000" pitchFamily="2" charset="2"/>
              <a:buChar char="p"/>
            </a:pPr>
            <a:r>
              <a:rPr lang="en" altLang="en-US" sz="2400" dirty="0"/>
              <a:t>Common usage</a:t>
            </a:r>
            <a:endParaRPr lang="en-US" altLang="zh-CN" sz="2400" dirty="0"/>
          </a:p>
          <a:p>
            <a:pPr lvl="2">
              <a:buFont typeface="Wingdings" panose="05000000000000000000" pitchFamily="2" charset="2"/>
              <a:buChar char="Ø"/>
            </a:pPr>
            <a:r>
              <a:rPr lang="en" altLang="en-US" sz="2000" dirty="0"/>
              <a:t>Creating </a:t>
            </a:r>
            <a:r>
              <a:rPr lang="en" altLang="zh-CN" sz="2000" dirty="0"/>
              <a:t>a Socket</a:t>
            </a:r>
          </a:p>
          <a:p>
            <a:pPr lvl="2">
              <a:buFont typeface="Wingdings" panose="05000000000000000000" pitchFamily="2" charset="2"/>
              <a:buChar char="Ø"/>
            </a:pPr>
            <a:r>
              <a:rPr lang="en" altLang="zh-CN" sz="2000" dirty="0"/>
              <a:t>Socket </a:t>
            </a:r>
            <a:r>
              <a:rPr lang="en" altLang="en-US" sz="2000" dirty="0"/>
              <a:t>connection to remote host</a:t>
            </a:r>
            <a:endParaRPr lang="en-US" altLang="zh-CN" sz="2000" dirty="0"/>
          </a:p>
          <a:p>
            <a:r>
              <a:rPr lang="en" altLang="zh-CN" sz="2800" b="1" dirty="0">
                <a:solidFill>
                  <a:srgbClr val="FF0000"/>
                </a:solidFill>
              </a:rPr>
              <a:t>Java.net.ServerSocket </a:t>
            </a:r>
            <a:r>
              <a:rPr lang="en" altLang="en-US" sz="2800" b="1" dirty="0">
                <a:solidFill>
                  <a:srgbClr val="FF0000"/>
                </a:solidFill>
              </a:rPr>
              <a:t>Class</a:t>
            </a:r>
            <a:endParaRPr lang="en-US" altLang="zh-CN" sz="2800" b="1" dirty="0">
              <a:solidFill>
                <a:srgbClr val="FF0000"/>
              </a:solidFill>
            </a:endParaRPr>
          </a:p>
          <a:p>
            <a:pPr lvl="1">
              <a:buFont typeface="Wingdings" panose="05000000000000000000" pitchFamily="2" charset="2"/>
              <a:buChar char="p"/>
            </a:pPr>
            <a:r>
              <a:rPr lang="en" altLang="en-US" sz="2400" dirty="0"/>
              <a:t>Binding and listening ports</a:t>
            </a:r>
            <a:endParaRPr lang="en-US" altLang="zh-CN" sz="2400" dirty="0"/>
          </a:p>
          <a:p>
            <a:pPr lvl="1">
              <a:buFont typeface="Wingdings" panose="05000000000000000000" pitchFamily="2" charset="2"/>
              <a:buChar char="p"/>
            </a:pPr>
            <a:r>
              <a:rPr lang="en" altLang="en-US" sz="2400" dirty="0"/>
              <a:t>Handle connection requests on the port</a:t>
            </a:r>
            <a:endParaRPr lang="en-US" altLang="zh-CN" sz="2400" dirty="0"/>
          </a:p>
          <a:p>
            <a:pPr lvl="1">
              <a:buFont typeface="Wingdings" panose="05000000000000000000" pitchFamily="2" charset="2"/>
              <a:buChar char="p"/>
            </a:pPr>
            <a:r>
              <a:rPr lang="en" altLang="en-US" sz="2400" dirty="0"/>
              <a:t>Send and receive data</a:t>
            </a:r>
            <a:endParaRPr lang="en-US" altLang="zh-CN" sz="2400" dirty="0"/>
          </a:p>
          <a:p>
            <a:pPr lvl="1"/>
            <a:endParaRPr lang="zh-CN"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9243D487-A397-4C2E-82B9-945095C050CF}"/>
              </a:ext>
            </a:extLst>
          </p:cNvPr>
          <p:cNvSpPr>
            <a:spLocks noGrp="1"/>
          </p:cNvSpPr>
          <p:nvPr>
            <p:ph type="title"/>
          </p:nvPr>
        </p:nvSpPr>
        <p:spPr>
          <a:xfrm>
            <a:off x="117253" y="198628"/>
            <a:ext cx="5826348" cy="639573"/>
          </a:xfrm>
        </p:spPr>
        <p:txBody>
          <a:bodyPr/>
          <a:lstStyle/>
          <a:p>
            <a:pPr algn="l"/>
            <a:r>
              <a:rPr lang="en-US" altLang="zh-CN" sz="2400" b="1" dirty="0"/>
              <a:t>Java Socket Programming Workflow:</a:t>
            </a:r>
            <a:endParaRPr lang="zh-CN" altLang="en-US" sz="2400" b="1" dirty="0"/>
          </a:p>
        </p:txBody>
      </p:sp>
      <p:grpSp>
        <p:nvGrpSpPr>
          <p:cNvPr id="10244" name="Group 4">
            <a:extLst>
              <a:ext uri="{FF2B5EF4-FFF2-40B4-BE49-F238E27FC236}">
                <a16:creationId xmlns:a16="http://schemas.microsoft.com/office/drawing/2014/main" id="{75C4A7AA-D7C1-4B89-A6FE-9AAC1067A414}"/>
              </a:ext>
            </a:extLst>
          </p:cNvPr>
          <p:cNvGrpSpPr>
            <a:grpSpLocks/>
          </p:cNvGrpSpPr>
          <p:nvPr/>
        </p:nvGrpSpPr>
        <p:grpSpPr bwMode="auto">
          <a:xfrm>
            <a:off x="762000" y="4466196"/>
            <a:ext cx="8077200" cy="2078082"/>
            <a:chOff x="4914" y="7331"/>
            <a:chExt cx="3904" cy="1911"/>
          </a:xfrm>
        </p:grpSpPr>
        <p:sp>
          <p:nvSpPr>
            <p:cNvPr id="10245" name="Text Box 5">
              <a:extLst>
                <a:ext uri="{FF2B5EF4-FFF2-40B4-BE49-F238E27FC236}">
                  <a16:creationId xmlns:a16="http://schemas.microsoft.com/office/drawing/2014/main" id="{97D5D022-9C65-49DA-B7E0-BDD28EEA17D5}"/>
                </a:ext>
              </a:extLst>
            </p:cNvPr>
            <p:cNvSpPr txBox="1">
              <a:spLocks noChangeArrowheads="1"/>
            </p:cNvSpPr>
            <p:nvPr/>
          </p:nvSpPr>
          <p:spPr bwMode="auto">
            <a:xfrm>
              <a:off x="5685" y="8918"/>
              <a:ext cx="2216" cy="3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zh-CN" sz="1600" b="1">
                  <a:latin typeface="Times New Roman" panose="02020603050405020304" pitchFamily="18" charset="0"/>
                </a:rPr>
                <a:t>Socket </a:t>
              </a:r>
              <a:r>
                <a:rPr lang="en" altLang="en-US" sz="1600" b="1">
                  <a:latin typeface="Times New Roman" panose="02020603050405020304" pitchFamily="18" charset="0"/>
                </a:rPr>
                <a:t>connection diagram</a:t>
              </a:r>
            </a:p>
          </p:txBody>
        </p:sp>
        <p:grpSp>
          <p:nvGrpSpPr>
            <p:cNvPr id="10246" name="Group 6">
              <a:extLst>
                <a:ext uri="{FF2B5EF4-FFF2-40B4-BE49-F238E27FC236}">
                  <a16:creationId xmlns:a16="http://schemas.microsoft.com/office/drawing/2014/main" id="{60BD81DC-F9A6-4813-857D-911DECC3D6A9}"/>
                </a:ext>
              </a:extLst>
            </p:cNvPr>
            <p:cNvGrpSpPr>
              <a:grpSpLocks/>
            </p:cNvGrpSpPr>
            <p:nvPr/>
          </p:nvGrpSpPr>
          <p:grpSpPr bwMode="auto">
            <a:xfrm>
              <a:off x="4914" y="7331"/>
              <a:ext cx="3904" cy="1429"/>
              <a:chOff x="4914" y="7331"/>
              <a:chExt cx="3904" cy="1429"/>
            </a:xfrm>
          </p:grpSpPr>
          <p:grpSp>
            <p:nvGrpSpPr>
              <p:cNvPr id="10247" name="Group 7">
                <a:extLst>
                  <a:ext uri="{FF2B5EF4-FFF2-40B4-BE49-F238E27FC236}">
                    <a16:creationId xmlns:a16="http://schemas.microsoft.com/office/drawing/2014/main" id="{9B9B9D41-6A90-4C7B-A188-B1FEE1A9981B}"/>
                  </a:ext>
                </a:extLst>
              </p:cNvPr>
              <p:cNvGrpSpPr>
                <a:grpSpLocks/>
              </p:cNvGrpSpPr>
              <p:nvPr/>
            </p:nvGrpSpPr>
            <p:grpSpPr bwMode="auto">
              <a:xfrm>
                <a:off x="4914" y="7356"/>
                <a:ext cx="1278" cy="1404"/>
                <a:chOff x="2079" y="11934"/>
                <a:chExt cx="1545" cy="2028"/>
              </a:xfrm>
            </p:grpSpPr>
            <p:sp>
              <p:nvSpPr>
                <p:cNvPr id="10259" name="Text Box 8">
                  <a:extLst>
                    <a:ext uri="{FF2B5EF4-FFF2-40B4-BE49-F238E27FC236}">
                      <a16:creationId xmlns:a16="http://schemas.microsoft.com/office/drawing/2014/main" id="{31EEEB32-3C6A-4000-A8EE-B06A82F8B4C3}"/>
                    </a:ext>
                  </a:extLst>
                </p:cNvPr>
                <p:cNvSpPr txBox="1">
                  <a:spLocks noChangeArrowheads="1"/>
                </p:cNvSpPr>
                <p:nvPr/>
              </p:nvSpPr>
              <p:spPr bwMode="auto">
                <a:xfrm>
                  <a:off x="2079" y="12714"/>
                  <a:ext cx="1545" cy="468"/>
                </a:xfrm>
                <a:prstGeom prst="rect">
                  <a:avLst/>
                </a:prstGeom>
                <a:solidFill>
                  <a:srgbClr val="C0C0C0"/>
                </a:solidFill>
                <a:ln w="9525">
                  <a:solidFill>
                    <a:srgbClr val="000000"/>
                  </a:solidFill>
                  <a:miter lim="800000"/>
                  <a:headEnd/>
                  <a:tailEnd/>
                </a:ln>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en-US" sz="1600" b="1" dirty="0">
                      <a:latin typeface="Times New Roman" panose="02020603050405020304" pitchFamily="18" charset="0"/>
                    </a:rPr>
                    <a:t>Client </a:t>
                  </a:r>
                  <a:r>
                    <a:rPr lang="en" altLang="zh-CN" sz="1600" b="1" dirty="0">
                      <a:latin typeface="Times New Roman" panose="02020603050405020304" pitchFamily="18" charset="0"/>
                    </a:rPr>
                    <a:t>Socket</a:t>
                  </a:r>
                </a:p>
              </p:txBody>
            </p:sp>
            <p:sp>
              <p:nvSpPr>
                <p:cNvPr id="10260" name="Text Box 9">
                  <a:extLst>
                    <a:ext uri="{FF2B5EF4-FFF2-40B4-BE49-F238E27FC236}">
                      <a16:creationId xmlns:a16="http://schemas.microsoft.com/office/drawing/2014/main" id="{1E3FDB59-8128-44AA-884A-D2911FF1BD74}"/>
                    </a:ext>
                  </a:extLst>
                </p:cNvPr>
                <p:cNvSpPr txBox="1">
                  <a:spLocks noChangeArrowheads="1"/>
                </p:cNvSpPr>
                <p:nvPr/>
              </p:nvSpPr>
              <p:spPr bwMode="auto">
                <a:xfrm>
                  <a:off x="2182" y="11934"/>
                  <a:ext cx="927" cy="468"/>
                </a:xfrm>
                <a:prstGeom prst="rect">
                  <a:avLst/>
                </a:prstGeom>
                <a:solidFill>
                  <a:srgbClr val="CCFFCC"/>
                </a:solidFill>
                <a:ln w="9525">
                  <a:solidFill>
                    <a:srgbClr val="000000"/>
                  </a:solidFill>
                  <a:miter lim="800000"/>
                  <a:headEnd/>
                  <a:tailEnd/>
                </a:ln>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en-US" sz="1600" b="1">
                      <a:latin typeface="Times New Roman" panose="02020603050405020304" pitchFamily="18" charset="0"/>
                    </a:rPr>
                    <a:t>Input Stream</a:t>
                  </a:r>
                </a:p>
              </p:txBody>
            </p:sp>
            <p:sp>
              <p:nvSpPr>
                <p:cNvPr id="10261" name="Line 10">
                  <a:extLst>
                    <a:ext uri="{FF2B5EF4-FFF2-40B4-BE49-F238E27FC236}">
                      <a16:creationId xmlns:a16="http://schemas.microsoft.com/office/drawing/2014/main" id="{805F7E92-15F2-4CC9-9C2A-A55B94B926C9}"/>
                    </a:ext>
                  </a:extLst>
                </p:cNvPr>
                <p:cNvSpPr>
                  <a:spLocks noChangeShapeType="1"/>
                </p:cNvSpPr>
                <p:nvPr/>
              </p:nvSpPr>
              <p:spPr bwMode="auto">
                <a:xfrm flipV="1">
                  <a:off x="2594" y="12402"/>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sz="1400"/>
                </a:p>
              </p:txBody>
            </p:sp>
            <p:sp>
              <p:nvSpPr>
                <p:cNvPr id="10262" name="Text Box 11">
                  <a:extLst>
                    <a:ext uri="{FF2B5EF4-FFF2-40B4-BE49-F238E27FC236}">
                      <a16:creationId xmlns:a16="http://schemas.microsoft.com/office/drawing/2014/main" id="{62F7430A-0A46-48FA-B567-39540877681E}"/>
                    </a:ext>
                  </a:extLst>
                </p:cNvPr>
                <p:cNvSpPr txBox="1">
                  <a:spLocks noChangeArrowheads="1"/>
                </p:cNvSpPr>
                <p:nvPr/>
              </p:nvSpPr>
              <p:spPr bwMode="auto">
                <a:xfrm>
                  <a:off x="2285" y="13494"/>
                  <a:ext cx="927" cy="468"/>
                </a:xfrm>
                <a:prstGeom prst="rect">
                  <a:avLst/>
                </a:prstGeom>
                <a:solidFill>
                  <a:srgbClr val="00CCFF"/>
                </a:solidFill>
                <a:ln w="9525">
                  <a:solidFill>
                    <a:srgbClr val="000000"/>
                  </a:solidFill>
                  <a:miter lim="800000"/>
                  <a:headEnd/>
                  <a:tailEnd/>
                </a:ln>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en-US" sz="1600" b="1">
                      <a:latin typeface="Times New Roman" panose="02020603050405020304" pitchFamily="18" charset="0"/>
                    </a:rPr>
                    <a:t>Output Stream</a:t>
                  </a:r>
                </a:p>
              </p:txBody>
            </p:sp>
            <p:sp>
              <p:nvSpPr>
                <p:cNvPr id="10263" name="Line 12">
                  <a:extLst>
                    <a:ext uri="{FF2B5EF4-FFF2-40B4-BE49-F238E27FC236}">
                      <a16:creationId xmlns:a16="http://schemas.microsoft.com/office/drawing/2014/main" id="{E913C88C-C2EF-4CB2-8C4C-131B03EE5B33}"/>
                    </a:ext>
                  </a:extLst>
                </p:cNvPr>
                <p:cNvSpPr>
                  <a:spLocks noChangeShapeType="1"/>
                </p:cNvSpPr>
                <p:nvPr/>
              </p:nvSpPr>
              <p:spPr bwMode="auto">
                <a:xfrm>
                  <a:off x="2800" y="13182"/>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sz="1400"/>
                </a:p>
              </p:txBody>
            </p:sp>
          </p:grpSp>
          <p:grpSp>
            <p:nvGrpSpPr>
              <p:cNvPr id="10248" name="Group 13">
                <a:extLst>
                  <a:ext uri="{FF2B5EF4-FFF2-40B4-BE49-F238E27FC236}">
                    <a16:creationId xmlns:a16="http://schemas.microsoft.com/office/drawing/2014/main" id="{606EB322-7039-42B4-9C73-1E4B68FAEB3A}"/>
                  </a:ext>
                </a:extLst>
              </p:cNvPr>
              <p:cNvGrpSpPr>
                <a:grpSpLocks/>
              </p:cNvGrpSpPr>
              <p:nvPr/>
            </p:nvGrpSpPr>
            <p:grpSpPr bwMode="auto">
              <a:xfrm>
                <a:off x="7539" y="7331"/>
                <a:ext cx="1279" cy="1404"/>
                <a:chOff x="5229" y="11898"/>
                <a:chExt cx="1545" cy="2028"/>
              </a:xfrm>
            </p:grpSpPr>
            <p:sp>
              <p:nvSpPr>
                <p:cNvPr id="10254" name="Text Box 14">
                  <a:extLst>
                    <a:ext uri="{FF2B5EF4-FFF2-40B4-BE49-F238E27FC236}">
                      <a16:creationId xmlns:a16="http://schemas.microsoft.com/office/drawing/2014/main" id="{65803250-251C-4FB5-A262-58855BCB7057}"/>
                    </a:ext>
                  </a:extLst>
                </p:cNvPr>
                <p:cNvSpPr txBox="1">
                  <a:spLocks noChangeArrowheads="1"/>
                </p:cNvSpPr>
                <p:nvPr/>
              </p:nvSpPr>
              <p:spPr bwMode="auto">
                <a:xfrm>
                  <a:off x="5229" y="12678"/>
                  <a:ext cx="1545" cy="468"/>
                </a:xfrm>
                <a:prstGeom prst="rect">
                  <a:avLst/>
                </a:prstGeom>
                <a:solidFill>
                  <a:srgbClr val="C0C0C0"/>
                </a:solidFill>
                <a:ln w="9525">
                  <a:solidFill>
                    <a:srgbClr val="000000"/>
                  </a:solidFill>
                  <a:miter lim="800000"/>
                  <a:headEnd/>
                  <a:tailEnd/>
                </a:ln>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en-US" sz="1600" b="1">
                      <a:latin typeface="Times New Roman" panose="02020603050405020304" pitchFamily="18" charset="0"/>
                    </a:rPr>
                    <a:t>Server-side </a:t>
                  </a:r>
                  <a:r>
                    <a:rPr lang="en" altLang="zh-CN" sz="1600" b="1">
                      <a:latin typeface="Times New Roman" panose="02020603050405020304" pitchFamily="18" charset="0"/>
                    </a:rPr>
                    <a:t>Socket</a:t>
                  </a:r>
                </a:p>
              </p:txBody>
            </p:sp>
            <p:sp>
              <p:nvSpPr>
                <p:cNvPr id="10255" name="Text Box 15">
                  <a:extLst>
                    <a:ext uri="{FF2B5EF4-FFF2-40B4-BE49-F238E27FC236}">
                      <a16:creationId xmlns:a16="http://schemas.microsoft.com/office/drawing/2014/main" id="{01E852D3-E735-414E-91A7-9FC05BFEC195}"/>
                    </a:ext>
                  </a:extLst>
                </p:cNvPr>
                <p:cNvSpPr txBox="1">
                  <a:spLocks noChangeArrowheads="1"/>
                </p:cNvSpPr>
                <p:nvPr/>
              </p:nvSpPr>
              <p:spPr bwMode="auto">
                <a:xfrm>
                  <a:off x="5332" y="11898"/>
                  <a:ext cx="927" cy="468"/>
                </a:xfrm>
                <a:prstGeom prst="rect">
                  <a:avLst/>
                </a:prstGeom>
                <a:solidFill>
                  <a:srgbClr val="00CCFF"/>
                </a:solidFill>
                <a:ln w="9525">
                  <a:solidFill>
                    <a:srgbClr val="000000"/>
                  </a:solidFill>
                  <a:miter lim="800000"/>
                  <a:headEnd/>
                  <a:tailEnd/>
                </a:ln>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en-US" sz="1200" b="1">
                      <a:latin typeface="Times New Roman" panose="02020603050405020304" pitchFamily="18" charset="0"/>
                    </a:rPr>
                    <a:t>Output Stream</a:t>
                  </a:r>
                </a:p>
              </p:txBody>
            </p:sp>
            <p:sp>
              <p:nvSpPr>
                <p:cNvPr id="10256" name="Line 16">
                  <a:extLst>
                    <a:ext uri="{FF2B5EF4-FFF2-40B4-BE49-F238E27FC236}">
                      <a16:creationId xmlns:a16="http://schemas.microsoft.com/office/drawing/2014/main" id="{1243935F-DE6A-46D4-9C86-1EEDB7482F67}"/>
                    </a:ext>
                  </a:extLst>
                </p:cNvPr>
                <p:cNvSpPr>
                  <a:spLocks noChangeShapeType="1"/>
                </p:cNvSpPr>
                <p:nvPr/>
              </p:nvSpPr>
              <p:spPr bwMode="auto">
                <a:xfrm flipV="1">
                  <a:off x="5744" y="12366"/>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sz="1400"/>
                </a:p>
              </p:txBody>
            </p:sp>
            <p:sp>
              <p:nvSpPr>
                <p:cNvPr id="10257" name="Text Box 17">
                  <a:extLst>
                    <a:ext uri="{FF2B5EF4-FFF2-40B4-BE49-F238E27FC236}">
                      <a16:creationId xmlns:a16="http://schemas.microsoft.com/office/drawing/2014/main" id="{92FF2F94-8512-46C2-83A2-FC48C639BD35}"/>
                    </a:ext>
                  </a:extLst>
                </p:cNvPr>
                <p:cNvSpPr txBox="1">
                  <a:spLocks noChangeArrowheads="1"/>
                </p:cNvSpPr>
                <p:nvPr/>
              </p:nvSpPr>
              <p:spPr bwMode="auto">
                <a:xfrm>
                  <a:off x="5435" y="13458"/>
                  <a:ext cx="927" cy="468"/>
                </a:xfrm>
                <a:prstGeom prst="rect">
                  <a:avLst/>
                </a:prstGeom>
                <a:solidFill>
                  <a:srgbClr val="CCFFCC"/>
                </a:solidFill>
                <a:ln w="9525">
                  <a:solidFill>
                    <a:srgbClr val="000000"/>
                  </a:solidFill>
                  <a:miter lim="800000"/>
                  <a:headEnd/>
                  <a:tailEnd/>
                </a:ln>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en-US" sz="1600" b="1">
                      <a:latin typeface="Times New Roman" panose="02020603050405020304" pitchFamily="18" charset="0"/>
                    </a:rPr>
                    <a:t>Input Stream</a:t>
                  </a:r>
                </a:p>
              </p:txBody>
            </p:sp>
            <p:sp>
              <p:nvSpPr>
                <p:cNvPr id="10258" name="Line 18">
                  <a:extLst>
                    <a:ext uri="{FF2B5EF4-FFF2-40B4-BE49-F238E27FC236}">
                      <a16:creationId xmlns:a16="http://schemas.microsoft.com/office/drawing/2014/main" id="{A1AA8470-D3F0-448A-A6B0-ED22CD3E5032}"/>
                    </a:ext>
                  </a:extLst>
                </p:cNvPr>
                <p:cNvSpPr>
                  <a:spLocks noChangeShapeType="1"/>
                </p:cNvSpPr>
                <p:nvPr/>
              </p:nvSpPr>
              <p:spPr bwMode="auto">
                <a:xfrm>
                  <a:off x="5950" y="13146"/>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sz="1400"/>
                </a:p>
              </p:txBody>
            </p:sp>
          </p:grpSp>
          <p:grpSp>
            <p:nvGrpSpPr>
              <p:cNvPr id="10249" name="Group 19">
                <a:extLst>
                  <a:ext uri="{FF2B5EF4-FFF2-40B4-BE49-F238E27FC236}">
                    <a16:creationId xmlns:a16="http://schemas.microsoft.com/office/drawing/2014/main" id="{1C588A93-7995-4264-8F19-6FD7CA5917AC}"/>
                  </a:ext>
                </a:extLst>
              </p:cNvPr>
              <p:cNvGrpSpPr>
                <a:grpSpLocks/>
              </p:cNvGrpSpPr>
              <p:nvPr/>
            </p:nvGrpSpPr>
            <p:grpSpPr bwMode="auto">
              <a:xfrm>
                <a:off x="5766" y="7439"/>
                <a:ext cx="1874" cy="1312"/>
                <a:chOff x="5766" y="7439"/>
                <a:chExt cx="1874" cy="1312"/>
              </a:xfrm>
            </p:grpSpPr>
            <p:sp>
              <p:nvSpPr>
                <p:cNvPr id="10250" name="Line 20">
                  <a:extLst>
                    <a:ext uri="{FF2B5EF4-FFF2-40B4-BE49-F238E27FC236}">
                      <a16:creationId xmlns:a16="http://schemas.microsoft.com/office/drawing/2014/main" id="{73307B42-3003-4B21-9EED-DDFA778F78BD}"/>
                    </a:ext>
                  </a:extLst>
                </p:cNvPr>
                <p:cNvSpPr>
                  <a:spLocks noChangeShapeType="1"/>
                </p:cNvSpPr>
                <p:nvPr/>
              </p:nvSpPr>
              <p:spPr bwMode="auto">
                <a:xfrm>
                  <a:off x="5766" y="7572"/>
                  <a:ext cx="184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sz="1400"/>
                </a:p>
              </p:txBody>
            </p:sp>
            <p:sp>
              <p:nvSpPr>
                <p:cNvPr id="10251" name="Line 21">
                  <a:extLst>
                    <a:ext uri="{FF2B5EF4-FFF2-40B4-BE49-F238E27FC236}">
                      <a16:creationId xmlns:a16="http://schemas.microsoft.com/office/drawing/2014/main" id="{28F293F4-5A03-497C-9173-4856EB4E55DD}"/>
                    </a:ext>
                  </a:extLst>
                </p:cNvPr>
                <p:cNvSpPr>
                  <a:spLocks noChangeShapeType="1"/>
                </p:cNvSpPr>
                <p:nvPr/>
              </p:nvSpPr>
              <p:spPr bwMode="auto">
                <a:xfrm flipV="1">
                  <a:off x="5851" y="8652"/>
                  <a:ext cx="17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sz="1400"/>
                </a:p>
              </p:txBody>
            </p:sp>
            <p:sp>
              <p:nvSpPr>
                <p:cNvPr id="10252" name="Text Box 22">
                  <a:extLst>
                    <a:ext uri="{FF2B5EF4-FFF2-40B4-BE49-F238E27FC236}">
                      <a16:creationId xmlns:a16="http://schemas.microsoft.com/office/drawing/2014/main" id="{25389A3E-0E88-4DB8-A909-5789D742AEBF}"/>
                    </a:ext>
                  </a:extLst>
                </p:cNvPr>
                <p:cNvSpPr txBox="1">
                  <a:spLocks noChangeArrowheads="1"/>
                </p:cNvSpPr>
                <p:nvPr/>
              </p:nvSpPr>
              <p:spPr bwMode="auto">
                <a:xfrm>
                  <a:off x="6304" y="7439"/>
                  <a:ext cx="776" cy="3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zh-CN" sz="1600" b="1">
                      <a:latin typeface="Times New Roman" panose="02020603050405020304" pitchFamily="18" charset="0"/>
                      <a:ea typeface="仿宋_GB2312"/>
                      <a:cs typeface="仿宋_GB2312"/>
                    </a:rPr>
                    <a:t>  </a:t>
                  </a:r>
                  <a:r>
                    <a:rPr lang="en" altLang="en-US" sz="1600" b="1">
                      <a:latin typeface="Times New Roman" panose="02020603050405020304" pitchFamily="18" charset="0"/>
                      <a:ea typeface="仿宋_GB2312"/>
                      <a:cs typeface="仿宋_GB2312"/>
                    </a:rPr>
                    <a:t>connect</a:t>
                  </a:r>
                </a:p>
              </p:txBody>
            </p:sp>
            <p:sp>
              <p:nvSpPr>
                <p:cNvPr id="10253" name="Text Box 23">
                  <a:extLst>
                    <a:ext uri="{FF2B5EF4-FFF2-40B4-BE49-F238E27FC236}">
                      <a16:creationId xmlns:a16="http://schemas.microsoft.com/office/drawing/2014/main" id="{9B9760B2-6C8D-4EBA-9A51-138CB323751D}"/>
                    </a:ext>
                  </a:extLst>
                </p:cNvPr>
                <p:cNvSpPr txBox="1">
                  <a:spLocks noChangeArrowheads="1"/>
                </p:cNvSpPr>
                <p:nvPr/>
              </p:nvSpPr>
              <p:spPr bwMode="auto">
                <a:xfrm>
                  <a:off x="6351" y="8520"/>
                  <a:ext cx="727"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 altLang="zh-CN" sz="1600" b="1">
                      <a:latin typeface="Times New Roman" panose="02020603050405020304" pitchFamily="18" charset="0"/>
                      <a:ea typeface="仿宋_GB2312"/>
                      <a:cs typeface="仿宋_GB2312"/>
                    </a:rPr>
                    <a:t>  </a:t>
                  </a:r>
                  <a:r>
                    <a:rPr lang="en" altLang="en-US" sz="1600" b="1">
                      <a:latin typeface="Times New Roman" panose="02020603050405020304" pitchFamily="18" charset="0"/>
                      <a:ea typeface="仿宋_GB2312"/>
                      <a:cs typeface="仿宋_GB2312"/>
                    </a:rPr>
                    <a:t>connect</a:t>
                  </a:r>
                </a:p>
              </p:txBody>
            </p:sp>
          </p:grpSp>
        </p:grpSp>
      </p:grpSp>
      <p:sp>
        <p:nvSpPr>
          <p:cNvPr id="4" name="Rectangle 3">
            <a:extLst>
              <a:ext uri="{FF2B5EF4-FFF2-40B4-BE49-F238E27FC236}">
                <a16:creationId xmlns:a16="http://schemas.microsoft.com/office/drawing/2014/main" id="{B489A48E-40D5-49C9-8538-D673E4FCF9FD}"/>
              </a:ext>
            </a:extLst>
          </p:cNvPr>
          <p:cNvSpPr/>
          <p:nvPr/>
        </p:nvSpPr>
        <p:spPr>
          <a:xfrm>
            <a:off x="55038" y="874082"/>
            <a:ext cx="5935134" cy="2746649"/>
          </a:xfrm>
          <a:prstGeom prst="rect">
            <a:avLst/>
          </a:prstGeom>
        </p:spPr>
        <p:txBody>
          <a:bodyPr wrap="square">
            <a:spAutoFit/>
          </a:bodyPr>
          <a:lstStyle/>
          <a:p>
            <a:pPr marL="342900" marR="0" lvl="0" indent="-342900">
              <a:lnSpc>
                <a:spcPts val="2145"/>
              </a:lnSpc>
              <a:spcBef>
                <a:spcPts val="0"/>
              </a:spcBef>
              <a:spcAft>
                <a:spcPts val="800"/>
              </a:spcAft>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Socket Instantiation</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SzPts val="1000"/>
              <a:buFont typeface="Symbol" panose="05050102010706020507" pitchFamily="18" charset="2"/>
              <a:buChar char=""/>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Programs create new Socket instances via constructors:</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clientSocket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hostName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portNumber</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startAt="2"/>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Connection Establishment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SzPts val="1000"/>
              <a:buFont typeface="Symbol" panose="05050102010706020507" pitchFamily="18" charset="2"/>
              <a:buChar char=""/>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The Socket automatically initiates TCP 3-way handshake</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SzPts val="1000"/>
              <a:buFont typeface="Symbol" panose="05050102010706020507" pitchFamily="18" charset="2"/>
              <a:buChar char=""/>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On success, provides bidirectional I/O streams:</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in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clientSocket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out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clientSocket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getOutputStream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64D56A33-8F86-4826-BFA9-A8F0F0DAC6C8}"/>
              </a:ext>
            </a:extLst>
          </p:cNvPr>
          <p:cNvSpPr/>
          <p:nvPr/>
        </p:nvSpPr>
        <p:spPr>
          <a:xfrm>
            <a:off x="6324600" y="284178"/>
            <a:ext cx="5181600" cy="3926459"/>
          </a:xfrm>
          <a:prstGeom prst="rect">
            <a:avLst/>
          </a:prstGeom>
        </p:spPr>
        <p:txBody>
          <a:bodyPr wrap="square">
            <a:spAutoFit/>
          </a:bodyPr>
          <a:lstStyle/>
          <a:p>
            <a:pPr marL="342900" lvl="0" indent="-342900">
              <a:lnSpc>
                <a:spcPts val="2145"/>
              </a:lnSpc>
              <a:spcBef>
                <a:spcPts val="0"/>
              </a:spcBef>
              <a:spcAft>
                <a:spcPts val="800"/>
              </a:spcAft>
              <a:buFont typeface="+mj-lt"/>
              <a:buAutoNum type="arabicPeriod" startAt="3"/>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Full-Duplex Communication</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marL="342900" lvl="0" indent="-342900">
              <a:lnSpc>
                <a:spcPts val="2145"/>
              </a:lnSpc>
              <a:spcBef>
                <a:spcPts val="0"/>
              </a:spcBef>
              <a:spcAft>
                <a:spcPts val="800"/>
              </a:spcAft>
              <a:buSzPts val="1000"/>
              <a:buFont typeface="Symbol" panose="05050102010706020507" pitchFamily="18" charset="2"/>
              <a:buChar char=""/>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Simultaneous bidirectional data transfer:</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Client: [OUT] -&gt; [IN] Server</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Client: [IN] &lt;- [OUT] Server</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marL="342900" lvl="0" indent="-342900">
              <a:lnSpc>
                <a:spcPts val="2145"/>
              </a:lnSpc>
              <a:spcBef>
                <a:spcPts val="0"/>
              </a:spcBef>
              <a:spcAft>
                <a:spcPts val="800"/>
              </a:spcAft>
              <a:buFont typeface="+mj-lt"/>
              <a:buAutoNum type="arabicPeriod" startAt="4"/>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Protocol-Defined Semantics</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marL="342900" lvl="0" indent="-342900">
              <a:lnSpc>
                <a:spcPts val="2145"/>
              </a:lnSpc>
              <a:spcBef>
                <a:spcPts val="0"/>
              </a:spcBef>
              <a:spcAft>
                <a:spcPts val="800"/>
              </a:spcAft>
              <a:buSzPts val="1000"/>
              <a:buFont typeface="Symbol" panose="05050102010706020507" pitchFamily="18" charset="2"/>
              <a:buChar char=""/>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Application-layer protocols govern:</a:t>
            </a:r>
            <a:b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 Handshake procedures (e.g., HTTP GET)</a:t>
            </a:r>
            <a:b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b) Data formatting (e.g., JSON/XML)</a:t>
            </a:r>
            <a:b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 State management</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marL="342900" lvl="0" indent="-342900">
              <a:lnSpc>
                <a:spcPts val="2145"/>
              </a:lnSpc>
              <a:spcBef>
                <a:spcPts val="0"/>
              </a:spcBef>
              <a:spcAft>
                <a:spcPts val="800"/>
              </a:spcAft>
              <a:buFont typeface="+mj-lt"/>
              <a:buAutoNum type="arabicPeriod" startAt="5"/>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Connection Termination</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marL="342900" lvl="0" indent="-342900">
              <a:lnSpc>
                <a:spcPts val="2145"/>
              </a:lnSpc>
              <a:spcBef>
                <a:spcPts val="0"/>
              </a:spcBef>
              <a:spcAft>
                <a:spcPts val="800"/>
              </a:spcAft>
              <a:buSzPts val="1000"/>
              <a:buFont typeface="Symbol" panose="05050102010706020507" pitchFamily="18" charset="2"/>
              <a:buChar char=""/>
              <a:tabLst>
                <a:tab pos="457200" algn="l"/>
              </a:tabLst>
            </a:pPr>
            <a:r>
              <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Proper resource cleanup:</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clientSocket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close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Sends TCP FIN</a:t>
            </a:r>
            <a:endParaRPr lang="en-US" sz="10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7EBC47E7-534F-4411-A557-06314DB1A1BC}"/>
              </a:ext>
            </a:extLst>
          </p:cNvPr>
          <p:cNvSpPr>
            <a:spLocks noGrp="1"/>
          </p:cNvSpPr>
          <p:nvPr>
            <p:ph type="title"/>
          </p:nvPr>
        </p:nvSpPr>
        <p:spPr>
          <a:xfrm>
            <a:off x="1524001" y="219074"/>
            <a:ext cx="7775575" cy="619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US" sz="3600" b="1" dirty="0"/>
              <a:t>Telnet Protocol Overview</a:t>
            </a:r>
            <a:br>
              <a:rPr lang="en-US" altLang="zh-CN" sz="3600" dirty="0"/>
            </a:br>
            <a:endParaRPr lang="zh-CN" altLang="en-US" sz="3600" dirty="0"/>
          </a:p>
        </p:txBody>
      </p:sp>
      <p:sp>
        <p:nvSpPr>
          <p:cNvPr id="11267" name="内容占位符 2">
            <a:extLst>
              <a:ext uri="{FF2B5EF4-FFF2-40B4-BE49-F238E27FC236}">
                <a16:creationId xmlns:a16="http://schemas.microsoft.com/office/drawing/2014/main" id="{FCE225F1-9F36-4080-BA18-7265E26CF2BB}"/>
              </a:ext>
            </a:extLst>
          </p:cNvPr>
          <p:cNvSpPr>
            <a:spLocks noGrp="1"/>
          </p:cNvSpPr>
          <p:nvPr>
            <p:ph idx="1"/>
          </p:nvPr>
        </p:nvSpPr>
        <p:spPr>
          <a:xfrm>
            <a:off x="304800" y="788989"/>
            <a:ext cx="11582400" cy="248761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 altLang="zh-CN" sz="2800" dirty="0"/>
              <a:t>Telnet</a:t>
            </a:r>
          </a:p>
          <a:p>
            <a:pPr lvl="1">
              <a:buFont typeface="Wingdings" panose="05000000000000000000" pitchFamily="2" charset="2"/>
              <a:buChar char="p"/>
            </a:pPr>
            <a:r>
              <a:rPr lang="en" altLang="zh-CN" sz="2400" dirty="0"/>
              <a:t>WinXP </a:t>
            </a:r>
            <a:r>
              <a:rPr lang="en" altLang="en-US" sz="2400" dirty="0"/>
              <a:t>and earlier versions, and off for </a:t>
            </a:r>
            <a:r>
              <a:rPr lang="en" altLang="zh-CN" sz="2400" dirty="0"/>
              <a:t>Win7 </a:t>
            </a:r>
            <a:r>
              <a:rPr lang="en" altLang="en-US" sz="2400" dirty="0"/>
              <a:t>and later versions.</a:t>
            </a:r>
            <a:endParaRPr lang="en-US" altLang="zh-CN" sz="2400" dirty="0"/>
          </a:p>
          <a:p>
            <a:pPr lvl="1">
              <a:buFont typeface="Wingdings" panose="05000000000000000000" pitchFamily="2" charset="2"/>
              <a:buChar char="p"/>
            </a:pPr>
            <a:r>
              <a:rPr lang="en" altLang="en-US" sz="2400" dirty="0"/>
              <a:t>How to Enable </a:t>
            </a:r>
            <a:r>
              <a:rPr lang="en" altLang="zh-CN" sz="2400" dirty="0"/>
              <a:t>Telnet</a:t>
            </a:r>
          </a:p>
          <a:p>
            <a:pPr lvl="2">
              <a:buFont typeface="Wingdings" panose="05000000000000000000" pitchFamily="2" charset="2"/>
              <a:buChar char="l"/>
            </a:pPr>
            <a:r>
              <a:rPr lang="en" altLang="en-US" sz="2000" dirty="0"/>
              <a:t>Control Panel </a:t>
            </a:r>
            <a:r>
              <a:rPr lang="en" altLang="zh-CN" sz="2000" dirty="0"/>
              <a:t>-&gt; </a:t>
            </a:r>
            <a:r>
              <a:rPr lang="en" altLang="en-US" sz="2000" dirty="0"/>
              <a:t>Programs and Features </a:t>
            </a:r>
            <a:r>
              <a:rPr lang="en" altLang="zh-CN" sz="2000" dirty="0"/>
              <a:t>-&gt; Turn Windows </a:t>
            </a:r>
            <a:r>
              <a:rPr lang="en" altLang="en-US" sz="2000" dirty="0"/>
              <a:t>features on or off </a:t>
            </a:r>
            <a:r>
              <a:rPr lang="en" altLang="zh-CN" sz="2000" dirty="0"/>
              <a:t>-&gt; </a:t>
            </a:r>
            <a:r>
              <a:rPr lang="en" altLang="en-US" sz="2000" dirty="0"/>
              <a:t>Check </a:t>
            </a:r>
            <a:r>
              <a:rPr lang="en" altLang="zh-CN" sz="2000" dirty="0"/>
              <a:t>Telnet </a:t>
            </a:r>
            <a:r>
              <a:rPr lang="en" altLang="en-US" sz="2000" dirty="0"/>
              <a:t>Client</a:t>
            </a:r>
          </a:p>
          <a:p>
            <a:pPr marL="914400" lvl="2" indent="0">
              <a:buNone/>
            </a:pPr>
            <a:endParaRPr lang="en-US" altLang="zh-CN" sz="2000" dirty="0"/>
          </a:p>
        </p:txBody>
      </p:sp>
      <p:sp>
        <p:nvSpPr>
          <p:cNvPr id="5" name="内容占位符 2">
            <a:extLst>
              <a:ext uri="{FF2B5EF4-FFF2-40B4-BE49-F238E27FC236}">
                <a16:creationId xmlns:a16="http://schemas.microsoft.com/office/drawing/2014/main" id="{2893123A-073A-46A8-85F3-C6027C8946B6}"/>
              </a:ext>
            </a:extLst>
          </p:cNvPr>
          <p:cNvSpPr txBox="1">
            <a:spLocks/>
          </p:cNvSpPr>
          <p:nvPr/>
        </p:nvSpPr>
        <p:spPr bwMode="auto">
          <a:xfrm>
            <a:off x="533400" y="3650722"/>
            <a:ext cx="11125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r>
              <a:rPr lang="en" altLang="en-US" sz="2800" dirty="0"/>
              <a:t>You can use the </a:t>
            </a:r>
            <a:r>
              <a:rPr lang="en" altLang="zh-CN" sz="2800" dirty="0"/>
              <a:t>Telnet </a:t>
            </a:r>
            <a:r>
              <a:rPr lang="en" altLang="en-US" sz="2800" dirty="0"/>
              <a:t>command to connect to the server</a:t>
            </a:r>
            <a:endParaRPr lang="en-US" altLang="zh-CN" sz="2800" dirty="0"/>
          </a:p>
          <a:p>
            <a:pPr lvl="1">
              <a:buFont typeface="Wingdings" panose="05000000000000000000" pitchFamily="2" charset="2"/>
              <a:buChar char="n"/>
            </a:pPr>
            <a:r>
              <a:rPr lang="en" altLang="en-US" sz="2400" dirty="0"/>
              <a:t>For example: </a:t>
            </a:r>
            <a:r>
              <a:rPr lang="en" altLang="zh-CN" sz="2400" dirty="0"/>
              <a:t>telnet www.szu.edu.cn 80</a:t>
            </a:r>
          </a:p>
          <a:p>
            <a:pPr>
              <a:buFont typeface="Wingdings" panose="05000000000000000000" pitchFamily="2" charset="2"/>
              <a:buChar char="n"/>
            </a:pPr>
            <a:r>
              <a:rPr lang="en" altLang="en-US" sz="2800" dirty="0"/>
              <a:t>Whether the connection is possible depends on whether the server supports </a:t>
            </a:r>
            <a:r>
              <a:rPr lang="en" altLang="zh-CN" sz="2800" dirty="0"/>
              <a:t>the telnet </a:t>
            </a:r>
            <a:r>
              <a:rPr lang="en" altLang="en-US" sz="2800" dirty="0"/>
              <a:t>protocol</a:t>
            </a:r>
            <a:endParaRPr lang="en-US" altLang="zh-C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A4D98A79-D50B-4703-96A7-D756C2759626}"/>
              </a:ext>
            </a:extLst>
          </p:cNvPr>
          <p:cNvSpPr>
            <a:spLocks noGrp="1"/>
          </p:cNvSpPr>
          <p:nvPr>
            <p:ph type="title"/>
          </p:nvPr>
        </p:nvSpPr>
        <p:spPr>
          <a:xfrm>
            <a:off x="1600200" y="228600"/>
            <a:ext cx="8540750" cy="838200"/>
          </a:xfrm>
        </p:spPr>
        <p:txBody>
          <a:bodyPr/>
          <a:lstStyle/>
          <a:p>
            <a:pPr algn="l"/>
            <a:r>
              <a:rPr lang="en" altLang="en-US" sz="3200" b="1" dirty="0"/>
              <a:t>Using the </a:t>
            </a:r>
            <a:r>
              <a:rPr lang="en" altLang="zh-CN" sz="3200" b="1" dirty="0"/>
              <a:t>telnet </a:t>
            </a:r>
            <a:r>
              <a:rPr lang="en" altLang="en-US" sz="3200" b="1" dirty="0"/>
              <a:t>command</a:t>
            </a:r>
          </a:p>
        </p:txBody>
      </p:sp>
      <p:sp>
        <p:nvSpPr>
          <p:cNvPr id="12291" name="内容占位符 2">
            <a:extLst>
              <a:ext uri="{FF2B5EF4-FFF2-40B4-BE49-F238E27FC236}">
                <a16:creationId xmlns:a16="http://schemas.microsoft.com/office/drawing/2014/main" id="{0DD38721-412B-4183-A267-A703F3E3441C}"/>
              </a:ext>
            </a:extLst>
          </p:cNvPr>
          <p:cNvSpPr>
            <a:spLocks noGrp="1"/>
          </p:cNvSpPr>
          <p:nvPr>
            <p:ph idx="1"/>
          </p:nvPr>
        </p:nvSpPr>
        <p:spPr>
          <a:xfrm>
            <a:off x="304800" y="1160464"/>
            <a:ext cx="11811000" cy="1735137"/>
          </a:xfrm>
        </p:spPr>
        <p:txBody>
          <a:bodyPr/>
          <a:lstStyle/>
          <a:p>
            <a:r>
              <a:rPr lang="en" altLang="en-US" sz="2800" dirty="0"/>
              <a:t>Connect to the National Institute of Standards and Technology ( </a:t>
            </a:r>
            <a:r>
              <a:rPr lang="en" altLang="zh-CN" sz="2800" dirty="0"/>
              <a:t>NIST </a:t>
            </a:r>
            <a:r>
              <a:rPr lang="en" altLang="en-US" sz="2800" dirty="0"/>
              <a:t>) time server and request the current time:</a:t>
            </a:r>
            <a:endParaRPr lang="en-US" altLang="zh-CN" sz="2800" dirty="0"/>
          </a:p>
          <a:p>
            <a:pPr lvl="1">
              <a:buFont typeface="Wingdings" panose="05000000000000000000" pitchFamily="2" charset="2"/>
              <a:buChar char="p"/>
            </a:pPr>
            <a:r>
              <a:rPr lang="en" altLang="zh-CN" sz="2400" dirty="0"/>
              <a:t>telnet time.nist.gov 13</a:t>
            </a:r>
          </a:p>
          <a:p>
            <a:pPr lvl="1">
              <a:buFont typeface="Wingdings" panose="05000000000000000000" pitchFamily="2" charset="2"/>
              <a:buChar char="p"/>
            </a:pPr>
            <a:r>
              <a:rPr lang="en" altLang="en-US" sz="2400" dirty="0"/>
              <a:t>The server will return the result in a human-readable format</a:t>
            </a:r>
            <a:endParaRPr lang="en-US" altLang="zh-CN" sz="2400" dirty="0"/>
          </a:p>
          <a:p>
            <a:endParaRPr lang="zh-CN" altLang="en-US" sz="2800" dirty="0"/>
          </a:p>
        </p:txBody>
      </p:sp>
      <p:pic>
        <p:nvPicPr>
          <p:cNvPr id="12292" name="图片 3">
            <a:extLst>
              <a:ext uri="{FF2B5EF4-FFF2-40B4-BE49-F238E27FC236}">
                <a16:creationId xmlns:a16="http://schemas.microsoft.com/office/drawing/2014/main" id="{8E63EC75-14F2-4209-8AE7-EF9EAE9611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3505201"/>
            <a:ext cx="6424613"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90DF0F41-879E-4B4F-9695-833024DA519F}"/>
              </a:ext>
            </a:extLst>
          </p:cNvPr>
          <p:cNvSpPr>
            <a:spLocks noGrp="1"/>
          </p:cNvSpPr>
          <p:nvPr>
            <p:ph type="title"/>
          </p:nvPr>
        </p:nvSpPr>
        <p:spPr>
          <a:xfrm>
            <a:off x="533400" y="211140"/>
            <a:ext cx="8540750" cy="391927"/>
          </a:xfrm>
        </p:spPr>
        <p:txBody>
          <a:bodyPr/>
          <a:lstStyle/>
          <a:p>
            <a:pPr algn="l"/>
            <a:r>
              <a:rPr lang="en" altLang="en-US" sz="3200" dirty="0"/>
              <a:t>Date Format</a:t>
            </a:r>
          </a:p>
        </p:txBody>
      </p:sp>
      <p:sp>
        <p:nvSpPr>
          <p:cNvPr id="13316" name="矩形 3">
            <a:extLst>
              <a:ext uri="{FF2B5EF4-FFF2-40B4-BE49-F238E27FC236}">
                <a16:creationId xmlns:a16="http://schemas.microsoft.com/office/drawing/2014/main" id="{C8CC25EC-536B-4361-8514-043C978C2280}"/>
              </a:ext>
            </a:extLst>
          </p:cNvPr>
          <p:cNvSpPr>
            <a:spLocks noChangeArrowheads="1"/>
          </p:cNvSpPr>
          <p:nvPr/>
        </p:nvSpPr>
        <p:spPr bwMode="auto">
          <a:xfrm>
            <a:off x="4419600" y="1236425"/>
            <a:ext cx="5562600" cy="36933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1800" dirty="0">
                <a:solidFill>
                  <a:srgbClr val="FF0000"/>
                </a:solidFill>
              </a:rPr>
              <a:t>57516 16-05-08 12:48:05 50 0 0 105.0 UTC(NIST) *</a:t>
            </a:r>
          </a:p>
        </p:txBody>
      </p:sp>
      <p:sp>
        <p:nvSpPr>
          <p:cNvPr id="2" name="Rectangle 1">
            <a:extLst>
              <a:ext uri="{FF2B5EF4-FFF2-40B4-BE49-F238E27FC236}">
                <a16:creationId xmlns:a16="http://schemas.microsoft.com/office/drawing/2014/main" id="{CB7B4BEA-9DAD-431E-AB81-A75DFDDDA051}"/>
              </a:ext>
            </a:extLst>
          </p:cNvPr>
          <p:cNvSpPr/>
          <p:nvPr/>
        </p:nvSpPr>
        <p:spPr>
          <a:xfrm>
            <a:off x="152400" y="642747"/>
            <a:ext cx="11506200" cy="923330"/>
          </a:xfrm>
          <a:prstGeom prst="rect">
            <a:avLst/>
          </a:prstGeom>
        </p:spPr>
        <p:txBody>
          <a:bodyPr wrap="square">
            <a:spAutoFit/>
          </a:bodyPr>
          <a:lstStyle/>
          <a:p>
            <a:r>
              <a:rPr lang="en-US" b="1" dirty="0">
                <a:solidFill>
                  <a:srgbClr val="404040"/>
                </a:solidFill>
                <a:latin typeface="quote-cjk-patch"/>
              </a:rPr>
              <a:t>Daytime Protocol Server Response Specification</a:t>
            </a:r>
            <a:endParaRPr lang="en-US" dirty="0">
              <a:solidFill>
                <a:srgbClr val="404040"/>
              </a:solidFill>
              <a:latin typeface="quote-cjk-patch"/>
            </a:endParaRPr>
          </a:p>
          <a:p>
            <a:pPr>
              <a:buFont typeface="+mj-lt"/>
              <a:buAutoNum type="arabicPeriod"/>
            </a:pPr>
            <a:r>
              <a:rPr lang="en-US" b="1" dirty="0">
                <a:solidFill>
                  <a:srgbClr val="404040"/>
                </a:solidFill>
                <a:latin typeface="quote-cjk-patch"/>
              </a:rPr>
              <a:t>Data Acquisition Method : </a:t>
            </a:r>
            <a:r>
              <a:rPr lang="en-US" dirty="0">
                <a:solidFill>
                  <a:srgbClr val="404040"/>
                </a:solidFill>
                <a:latin typeface="quote-cjk-patch"/>
              </a:rPr>
              <a:t>Read from socket's </a:t>
            </a:r>
            <a:r>
              <a:rPr lang="en-US" dirty="0" err="1">
                <a:solidFill>
                  <a:srgbClr val="404040"/>
                </a:solidFill>
                <a:latin typeface="quote-cjk-patch"/>
              </a:rPr>
              <a:t>InputStream</a:t>
            </a:r>
            <a:r>
              <a:rPr lang="en-US" dirty="0">
                <a:solidFill>
                  <a:srgbClr val="404040"/>
                </a:solidFill>
                <a:latin typeface="quote-cjk-patch"/>
              </a:rPr>
              <a:t> after establishing connection</a:t>
            </a:r>
          </a:p>
          <a:p>
            <a:pPr lvl="1">
              <a:buFont typeface="Arial" panose="020B0604020202020204" pitchFamily="34" charset="0"/>
              <a:buChar char="•"/>
            </a:pPr>
            <a:r>
              <a:rPr lang="en-US" dirty="0">
                <a:solidFill>
                  <a:srgbClr val="404040"/>
                </a:solidFill>
                <a:latin typeface="quote-cjk-patch"/>
              </a:rPr>
              <a:t>Default service port: TCP 13 (RFC 867)</a:t>
            </a:r>
            <a:endParaRPr lang="en-US" b="0" i="0" dirty="0">
              <a:solidFill>
                <a:srgbClr val="404040"/>
              </a:solidFill>
              <a:effectLst/>
              <a:latin typeface="quote-cjk-patch"/>
            </a:endParaRPr>
          </a:p>
        </p:txBody>
      </p:sp>
      <p:sp>
        <p:nvSpPr>
          <p:cNvPr id="5" name="Rectangle 4">
            <a:extLst>
              <a:ext uri="{FF2B5EF4-FFF2-40B4-BE49-F238E27FC236}">
                <a16:creationId xmlns:a16="http://schemas.microsoft.com/office/drawing/2014/main" id="{4B4E8CF0-B242-41E9-AFD1-3DBBC8C2D931}"/>
              </a:ext>
            </a:extLst>
          </p:cNvPr>
          <p:cNvSpPr/>
          <p:nvPr/>
        </p:nvSpPr>
        <p:spPr>
          <a:xfrm>
            <a:off x="152400" y="1671281"/>
            <a:ext cx="2736711" cy="369332"/>
          </a:xfrm>
          <a:prstGeom prst="rect">
            <a:avLst/>
          </a:prstGeom>
        </p:spPr>
        <p:txBody>
          <a:bodyPr wrap="none">
            <a:spAutoFit/>
          </a:bodyPr>
          <a:lstStyle/>
          <a:p>
            <a:r>
              <a:rPr lang="en-US" dirty="0"/>
              <a:t>2. Time Format Structure</a:t>
            </a:r>
          </a:p>
        </p:txBody>
      </p:sp>
      <p:sp>
        <p:nvSpPr>
          <p:cNvPr id="6" name="Rectangle 5">
            <a:extLst>
              <a:ext uri="{FF2B5EF4-FFF2-40B4-BE49-F238E27FC236}">
                <a16:creationId xmlns:a16="http://schemas.microsoft.com/office/drawing/2014/main" id="{EA8D12B9-A752-413E-AE43-D1A574A32786}"/>
              </a:ext>
            </a:extLst>
          </p:cNvPr>
          <p:cNvSpPr/>
          <p:nvPr/>
        </p:nvSpPr>
        <p:spPr>
          <a:xfrm>
            <a:off x="381000" y="2901414"/>
            <a:ext cx="6425862" cy="369332"/>
          </a:xfrm>
          <a:prstGeom prst="rect">
            <a:avLst/>
          </a:prstGeom>
        </p:spPr>
        <p:txBody>
          <a:bodyPr wrap="none">
            <a:spAutoFit/>
          </a:bodyPr>
          <a:lstStyle/>
          <a:p>
            <a:r>
              <a:rPr lang="en-US" b="1" dirty="0">
                <a:solidFill>
                  <a:srgbClr val="FF0000"/>
                </a:solidFill>
              </a:rPr>
              <a:t>[JJJJJ] YY-MM-DD HH:MM:SS [TT] [L] [H] [</a:t>
            </a:r>
            <a:r>
              <a:rPr lang="en-US" b="1" dirty="0" err="1">
                <a:solidFill>
                  <a:srgbClr val="FF0000"/>
                </a:solidFill>
              </a:rPr>
              <a:t>msADV</a:t>
            </a:r>
            <a:r>
              <a:rPr lang="en-US" b="1" dirty="0">
                <a:solidFill>
                  <a:srgbClr val="FF0000"/>
                </a:solidFill>
              </a:rPr>
              <a:t>] [UTC]</a:t>
            </a:r>
          </a:p>
        </p:txBody>
      </p:sp>
      <p:graphicFrame>
        <p:nvGraphicFramePr>
          <p:cNvPr id="7" name="Table 6">
            <a:extLst>
              <a:ext uri="{FF2B5EF4-FFF2-40B4-BE49-F238E27FC236}">
                <a16:creationId xmlns:a16="http://schemas.microsoft.com/office/drawing/2014/main" id="{C7EC0AB3-D880-4D03-BA1A-5E15611F06C5}"/>
              </a:ext>
            </a:extLst>
          </p:cNvPr>
          <p:cNvGraphicFramePr>
            <a:graphicFrameLocks noGrp="1"/>
          </p:cNvGraphicFramePr>
          <p:nvPr>
            <p:extLst>
              <p:ext uri="{D42A27DB-BD31-4B8C-83A1-F6EECF244321}">
                <p14:modId xmlns:p14="http://schemas.microsoft.com/office/powerpoint/2010/main" val="2832870580"/>
              </p:ext>
            </p:extLst>
          </p:nvPr>
        </p:nvGraphicFramePr>
        <p:xfrm>
          <a:off x="135467" y="2286000"/>
          <a:ext cx="11312525" cy="3665601"/>
        </p:xfrm>
        <a:graphic>
          <a:graphicData uri="http://schemas.openxmlformats.org/drawingml/2006/table">
            <a:tbl>
              <a:tblPr firstRow="1" firstCol="1" bandRow="1"/>
              <a:tblGrid>
                <a:gridCol w="2410993">
                  <a:extLst>
                    <a:ext uri="{9D8B030D-6E8A-4147-A177-3AD203B41FA5}">
                      <a16:colId xmlns:a16="http://schemas.microsoft.com/office/drawing/2014/main" val="2464842033"/>
                    </a:ext>
                  </a:extLst>
                </a:gridCol>
                <a:gridCol w="3761207">
                  <a:extLst>
                    <a:ext uri="{9D8B030D-6E8A-4147-A177-3AD203B41FA5}">
                      <a16:colId xmlns:a16="http://schemas.microsoft.com/office/drawing/2014/main" val="1876999874"/>
                    </a:ext>
                  </a:extLst>
                </a:gridCol>
                <a:gridCol w="5140325">
                  <a:extLst>
                    <a:ext uri="{9D8B030D-6E8A-4147-A177-3AD203B41FA5}">
                      <a16:colId xmlns:a16="http://schemas.microsoft.com/office/drawing/2014/main" val="293125785"/>
                    </a:ext>
                  </a:extLst>
                </a:gridCol>
              </a:tblGrid>
              <a:tr h="0">
                <a:tc>
                  <a:txBody>
                    <a:bodyPr/>
                    <a:lstStyle/>
                    <a:p>
                      <a:pPr marL="457200" marR="0" lvl="1">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Field</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Description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Values/Format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03025014"/>
                  </a:ext>
                </a:extLst>
              </a:tr>
              <a:tr h="0">
                <a:tc>
                  <a:txBody>
                    <a:bodyPr/>
                    <a:lstStyle/>
                    <a:p>
                      <a:pPr marL="457200" marR="0" lvl="1">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JJJJJ</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Modified Julian Date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Days since 1858-11-17 (integer)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29247246"/>
                  </a:ext>
                </a:extLst>
              </a:tr>
              <a:tr h="0">
                <a:tc>
                  <a:txBody>
                    <a:bodyPr/>
                    <a:lstStyle/>
                    <a:p>
                      <a:pPr marL="457200" marR="0" lvl="1">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YY-MM-DD</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Calendar date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2-digit year, month, day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58900513"/>
                  </a:ext>
                </a:extLst>
              </a:tr>
              <a:tr h="0">
                <a:tc>
                  <a:txBody>
                    <a:bodyPr/>
                    <a:lstStyle/>
                    <a:p>
                      <a:pPr marL="457200" marR="0" lvl="1">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HH:MM:SS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Time of day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24-hour format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54439501"/>
                  </a:ext>
                </a:extLst>
              </a:tr>
              <a:tr h="0">
                <a:tc>
                  <a:txBody>
                    <a:bodyPr/>
                    <a:lstStyle/>
                    <a:p>
                      <a:pPr marL="457200" marR="0" lvl="1">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TT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Time designation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50=Daylight Time, 00=Standard Time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58424003"/>
                  </a:ext>
                </a:extLst>
              </a:tr>
              <a:tr h="0">
                <a:tc>
                  <a:txBody>
                    <a:bodyPr/>
                    <a:lstStyle/>
                    <a:p>
                      <a:pPr marL="457200" marR="0" lvl="1">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L</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Leap second indicator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0=None, 1=+1s, 2=-1s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92445353"/>
                  </a:ext>
                </a:extLst>
              </a:tr>
              <a:tr h="0">
                <a:tc>
                  <a:txBody>
                    <a:bodyPr/>
                    <a:lstStyle/>
                    <a:p>
                      <a:pPr marL="457200" marR="0" lvl="1">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H</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Health status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0=Normal (±0.5s), 1=Warning (±5s), 2=Critical (&gt;5s)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02876346"/>
                  </a:ext>
                </a:extLst>
              </a:tr>
              <a:tr h="0">
                <a:tc>
                  <a:txBody>
                    <a:bodyPr/>
                    <a:lstStyle/>
                    <a:p>
                      <a:pPr marL="457200" marR="0" lvl="1">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msADV</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Network delay compensation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Milliseconds added for latency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57634438"/>
                  </a:ext>
                </a:extLst>
              </a:tr>
              <a:tr h="0">
                <a:tc>
                  <a:txBody>
                    <a:bodyPr/>
                    <a:lstStyle/>
                    <a:p>
                      <a:pPr marL="457200" marR="0" lvl="1">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UTC</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Time standard marker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"UTC" suffix</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2678952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CB826A63-7E2C-49BB-83FE-BBCA86BE88AC}"/>
              </a:ext>
            </a:extLst>
          </p:cNvPr>
          <p:cNvSpPr>
            <a:spLocks noGrp="1"/>
          </p:cNvSpPr>
          <p:nvPr>
            <p:ph type="title"/>
          </p:nvPr>
        </p:nvSpPr>
        <p:spPr>
          <a:xfrm>
            <a:off x="1066800" y="381000"/>
            <a:ext cx="8461375" cy="60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 altLang="en-US" sz="3200" b="1" dirty="0"/>
              <a:t>S</a:t>
            </a:r>
            <a:r>
              <a:rPr lang="en" altLang="zh-CN" sz="3200" b="1" dirty="0"/>
              <a:t>ocket P</a:t>
            </a:r>
            <a:r>
              <a:rPr lang="en" altLang="en-US" sz="3200" b="1" dirty="0"/>
              <a:t>rogramming</a:t>
            </a:r>
          </a:p>
        </p:txBody>
      </p:sp>
      <p:sp>
        <p:nvSpPr>
          <p:cNvPr id="4" name="Rectangle 3">
            <a:extLst>
              <a:ext uri="{FF2B5EF4-FFF2-40B4-BE49-F238E27FC236}">
                <a16:creationId xmlns:a16="http://schemas.microsoft.com/office/drawing/2014/main" id="{40516E37-F151-43B7-9C7A-E6C639F731F8}"/>
              </a:ext>
            </a:extLst>
          </p:cNvPr>
          <p:cNvSpPr/>
          <p:nvPr/>
        </p:nvSpPr>
        <p:spPr>
          <a:xfrm>
            <a:off x="685800" y="1218138"/>
            <a:ext cx="10363200" cy="4421723"/>
          </a:xfrm>
          <a:prstGeom prst="rect">
            <a:avLst/>
          </a:prstGeom>
        </p:spPr>
        <p:txBody>
          <a:bodyPr wrap="square">
            <a:spAutoFit/>
          </a:bodyPr>
          <a:lstStyle/>
          <a:p>
            <a:pPr>
              <a:spcAft>
                <a:spcPts val="1000"/>
              </a:spcAft>
            </a:pPr>
            <a:r>
              <a:rPr lang="en-US" dirty="0"/>
              <a:t>try (Socket </a:t>
            </a:r>
            <a:r>
              <a:rPr lang="en-US" dirty="0" err="1"/>
              <a:t>socket</a:t>
            </a:r>
            <a:r>
              <a:rPr lang="en-US" dirty="0"/>
              <a:t> = new Socket("time.nist.gov", 13);</a:t>
            </a:r>
          </a:p>
          <a:p>
            <a:pPr>
              <a:spcAft>
                <a:spcPts val="1000"/>
              </a:spcAft>
            </a:pPr>
            <a:r>
              <a:rPr lang="en-US" dirty="0"/>
              <a:t>     </a:t>
            </a:r>
            <a:r>
              <a:rPr lang="en-US" dirty="0" err="1"/>
              <a:t>BufferedReader</a:t>
            </a:r>
            <a:r>
              <a:rPr lang="en-US" dirty="0"/>
              <a:t> in = new </a:t>
            </a:r>
            <a:r>
              <a:rPr lang="en-US" dirty="0" err="1"/>
              <a:t>BufferedReader</a:t>
            </a:r>
            <a:r>
              <a:rPr lang="en-US" dirty="0"/>
              <a:t>(</a:t>
            </a:r>
          </a:p>
          <a:p>
            <a:pPr>
              <a:spcAft>
                <a:spcPts val="1000"/>
              </a:spcAft>
            </a:pPr>
            <a:r>
              <a:rPr lang="en-US" dirty="0"/>
              <a:t>         new </a:t>
            </a:r>
            <a:r>
              <a:rPr lang="en-US" dirty="0" err="1"/>
              <a:t>InputStreamReader</a:t>
            </a:r>
            <a:r>
              <a:rPr lang="en-US" dirty="0"/>
              <a:t>(</a:t>
            </a:r>
            <a:r>
              <a:rPr lang="en-US" dirty="0" err="1"/>
              <a:t>socket.getInputStream</a:t>
            </a:r>
            <a:r>
              <a:rPr lang="en-US" dirty="0"/>
              <a:t>()))) {</a:t>
            </a:r>
          </a:p>
          <a:p>
            <a:pPr>
              <a:spcAft>
                <a:spcPts val="1000"/>
              </a:spcAft>
            </a:pPr>
            <a:r>
              <a:rPr lang="en-US" dirty="0"/>
              <a:t>    </a:t>
            </a:r>
          </a:p>
          <a:p>
            <a:pPr>
              <a:spcAft>
                <a:spcPts val="1000"/>
              </a:spcAft>
            </a:pPr>
            <a:r>
              <a:rPr lang="en-US" dirty="0"/>
              <a:t>    // Read daytime response</a:t>
            </a:r>
          </a:p>
          <a:p>
            <a:pPr>
              <a:spcAft>
                <a:spcPts val="1000"/>
              </a:spcAft>
            </a:pPr>
            <a:r>
              <a:rPr lang="en-US" dirty="0"/>
              <a:t>    String </a:t>
            </a:r>
            <a:r>
              <a:rPr lang="en-US" dirty="0" err="1"/>
              <a:t>timeString</a:t>
            </a:r>
            <a:r>
              <a:rPr lang="en-US" dirty="0"/>
              <a:t> = </a:t>
            </a:r>
            <a:r>
              <a:rPr lang="en-US" dirty="0" err="1"/>
              <a:t>in.readLine</a:t>
            </a:r>
            <a:r>
              <a:rPr lang="en-US" dirty="0"/>
              <a:t>();</a:t>
            </a:r>
          </a:p>
          <a:p>
            <a:pPr>
              <a:spcAft>
                <a:spcPts val="1000"/>
              </a:spcAft>
            </a:pPr>
            <a:r>
              <a:rPr lang="en-US" dirty="0"/>
              <a:t>    </a:t>
            </a:r>
            <a:r>
              <a:rPr lang="en-US" dirty="0" err="1"/>
              <a:t>System.out.println</a:t>
            </a:r>
            <a:r>
              <a:rPr lang="en-US" dirty="0"/>
              <a:t>("NIST Time: " + </a:t>
            </a:r>
            <a:r>
              <a:rPr lang="en-US" dirty="0" err="1"/>
              <a:t>timeString</a:t>
            </a:r>
            <a:r>
              <a:rPr lang="en-US" dirty="0"/>
              <a:t>);</a:t>
            </a:r>
          </a:p>
          <a:p>
            <a:pPr>
              <a:spcAft>
                <a:spcPts val="1000"/>
              </a:spcAft>
            </a:pPr>
            <a:r>
              <a:rPr lang="en-US" dirty="0"/>
              <a:t>    </a:t>
            </a:r>
          </a:p>
          <a:p>
            <a:pPr>
              <a:spcAft>
                <a:spcPts val="1000"/>
              </a:spcAft>
            </a:pPr>
            <a:r>
              <a:rPr lang="en-US" dirty="0"/>
              <a:t>} catch (</a:t>
            </a:r>
            <a:r>
              <a:rPr lang="en-US" dirty="0" err="1"/>
              <a:t>IOException</a:t>
            </a:r>
            <a:r>
              <a:rPr lang="en-US" dirty="0"/>
              <a:t> ex) {</a:t>
            </a:r>
          </a:p>
          <a:p>
            <a:pPr>
              <a:spcAft>
                <a:spcPts val="1000"/>
              </a:spcAft>
            </a:pPr>
            <a:r>
              <a:rPr lang="en-US" dirty="0"/>
              <a:t>    </a:t>
            </a:r>
            <a:r>
              <a:rPr lang="en-US" dirty="0" err="1"/>
              <a:t>System.err.println</a:t>
            </a:r>
            <a:r>
              <a:rPr lang="en-US" dirty="0"/>
              <a:t>("Error connecting to time.nist.gov: " + </a:t>
            </a:r>
            <a:r>
              <a:rPr lang="en-US" dirty="0" err="1"/>
              <a:t>ex.getMessage</a:t>
            </a:r>
            <a:r>
              <a:rPr lang="en-US" dirty="0"/>
              <a:t>());</a:t>
            </a:r>
          </a:p>
          <a:p>
            <a:pPr>
              <a:spcAft>
                <a:spcPts val="1000"/>
              </a:spcAft>
            </a:pPr>
            <a:r>
              <a:rPr lang="en-US"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A521ABCC-3EB5-42F9-ACE7-7AFF38EF83AF}"/>
              </a:ext>
            </a:extLst>
          </p:cNvPr>
          <p:cNvSpPr>
            <a:spLocks noGrp="1"/>
          </p:cNvSpPr>
          <p:nvPr>
            <p:ph type="title"/>
          </p:nvPr>
        </p:nvSpPr>
        <p:spPr>
          <a:xfrm>
            <a:off x="1676401" y="152400"/>
            <a:ext cx="7775575" cy="4381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 altLang="en-US" sz="3200"/>
              <a:t>Set a timeout for the </a:t>
            </a:r>
            <a:r>
              <a:rPr lang="en" altLang="zh-CN" sz="3200"/>
              <a:t>socket connection</a:t>
            </a:r>
          </a:p>
        </p:txBody>
      </p:sp>
      <p:sp>
        <p:nvSpPr>
          <p:cNvPr id="15363" name="内容占位符 2">
            <a:extLst>
              <a:ext uri="{FF2B5EF4-FFF2-40B4-BE49-F238E27FC236}">
                <a16:creationId xmlns:a16="http://schemas.microsoft.com/office/drawing/2014/main" id="{7B6E9D0A-C3E5-4409-BA09-501515424E00}"/>
              </a:ext>
            </a:extLst>
          </p:cNvPr>
          <p:cNvSpPr>
            <a:spLocks noGrp="1"/>
          </p:cNvSpPr>
          <p:nvPr>
            <p:ph idx="1"/>
          </p:nvPr>
        </p:nvSpPr>
        <p:spPr>
          <a:xfrm>
            <a:off x="533400" y="871538"/>
            <a:ext cx="11353800" cy="4038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Aft>
                <a:spcPts val="1000"/>
              </a:spcAft>
            </a:pPr>
            <a:r>
              <a:rPr lang="en" altLang="en-US" sz="2200" dirty="0"/>
              <a:t>If the connection between servers hangs, a socketTimeoutException </a:t>
            </a:r>
            <a:endParaRPr lang="en-US" altLang="zh-CN" sz="2200" dirty="0"/>
          </a:p>
          <a:p>
            <a:pPr marL="457200" lvl="1" indent="0">
              <a:spcAft>
                <a:spcPts val="1000"/>
              </a:spcAft>
              <a:buNone/>
            </a:pPr>
            <a:r>
              <a:rPr lang="en" altLang="zh-CN" sz="2000" dirty="0"/>
              <a:t>Socket.setSoTimeout(15000);//15 </a:t>
            </a:r>
            <a:r>
              <a:rPr lang="en" altLang="en-US" sz="2000" dirty="0"/>
              <a:t>seconds </a:t>
            </a:r>
            <a:br>
              <a:rPr lang="en-US" altLang="zh-CN" sz="2000" dirty="0"/>
            </a:br>
            <a:r>
              <a:rPr lang="en" altLang="zh-CN" sz="2000" dirty="0"/>
              <a:t>InputStream in = socket.getInputStream();</a:t>
            </a:r>
          </a:p>
          <a:p>
            <a:pPr marL="457200" lvl="1" indent="0">
              <a:spcAft>
                <a:spcPts val="1000"/>
              </a:spcAft>
              <a:buNone/>
            </a:pPr>
            <a:r>
              <a:rPr lang="en" altLang="zh-CN" sz="1800" dirty="0"/>
              <a:t>// </a:t>
            </a:r>
            <a:r>
              <a:rPr lang="en" altLang="en-US" sz="1800" dirty="0"/>
              <a:t>Read the bytes sent by the server from the input stream. The protocol here specifies that the bytes sent must be </a:t>
            </a:r>
            <a:r>
              <a:rPr lang="en" altLang="zh-CN" sz="1800" dirty="0"/>
              <a:t>ASCII </a:t>
            </a:r>
            <a:br>
              <a:rPr lang="en-US" altLang="zh-CN" sz="2000" dirty="0"/>
            </a:br>
            <a:r>
              <a:rPr lang="en" altLang="zh-CN" sz="2000" dirty="0"/>
              <a:t>InputStreamReader reader=new InputStreamReader(in, "ASCII"); </a:t>
            </a:r>
            <a:br>
              <a:rPr lang="en-US" altLang="zh-CN" sz="2000" dirty="0"/>
            </a:br>
            <a:r>
              <a:rPr lang="en" altLang="zh-CN" sz="2000" dirty="0"/>
              <a:t>for(int c = reader.read(); c!=-1; c=reader.read()){</a:t>
            </a:r>
          </a:p>
          <a:p>
            <a:pPr marL="457200" lvl="1" indent="0">
              <a:spcAft>
                <a:spcPts val="1000"/>
              </a:spcAft>
              <a:buNone/>
            </a:pPr>
            <a:r>
              <a:rPr lang="en" altLang="zh-CN" sz="2000" dirty="0"/>
              <a:t>	Time.append((char c);</a:t>
            </a:r>
          </a:p>
          <a:p>
            <a:pPr marL="457200" lvl="1" indent="0">
              <a:spcAft>
                <a:spcPts val="1000"/>
              </a:spcAft>
              <a:buNone/>
            </a:pPr>
            <a:r>
              <a:rPr lang="en" altLang="zh-CN" sz="2000" dirty="0"/>
              <a:t>	}</a:t>
            </a:r>
          </a:p>
          <a:p>
            <a:pPr marL="457200" lvl="1" indent="0">
              <a:spcAft>
                <a:spcPts val="1000"/>
              </a:spcAft>
              <a:buNone/>
            </a:pPr>
            <a:r>
              <a:rPr lang="en" altLang="zh-CN" sz="2000" dirty="0"/>
              <a:t>System.out.println(time);</a:t>
            </a:r>
          </a:p>
          <a:p>
            <a:pPr marL="0" indent="0">
              <a:buNone/>
            </a:pPr>
            <a:endParaRPr lang="en-US" altLang="zh-CN" sz="1600" dirty="0"/>
          </a:p>
          <a:p>
            <a:endParaRPr lang="en-US" altLang="zh-CN" dirty="0"/>
          </a:p>
        </p:txBody>
      </p:sp>
      <p:sp>
        <p:nvSpPr>
          <p:cNvPr id="15364" name="文本框 1">
            <a:extLst>
              <a:ext uri="{FF2B5EF4-FFF2-40B4-BE49-F238E27FC236}">
                <a16:creationId xmlns:a16="http://schemas.microsoft.com/office/drawing/2014/main" id="{F212A40A-9C99-4F6E-97E4-4C18635427D1}"/>
              </a:ext>
            </a:extLst>
          </p:cNvPr>
          <p:cNvSpPr txBox="1">
            <a:spLocks noChangeArrowheads="1"/>
          </p:cNvSpPr>
          <p:nvPr/>
        </p:nvSpPr>
        <p:spPr bwMode="auto">
          <a:xfrm>
            <a:off x="609600" y="5632449"/>
            <a:ext cx="10058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2000" dirty="0"/>
              <a:t>Demonstration programming example </a:t>
            </a:r>
            <a:r>
              <a:rPr lang="en" altLang="zh-CN" sz="2000" dirty="0"/>
              <a:t>ex8-1,ch8.DaytimeClient.java </a:t>
            </a:r>
            <a:r>
              <a:rPr lang="en" altLang="en-US" sz="2000" dirty="0"/>
              <a:t>, using client </a:t>
            </a:r>
            <a:r>
              <a:rPr lang="en" altLang="zh-CN" sz="2000" dirty="0"/>
              <a:t>Socket </a:t>
            </a:r>
            <a:r>
              <a:rPr lang="en" altLang="en-US" sz="2000" dirty="0"/>
              <a:t>to implement </a:t>
            </a:r>
            <a:r>
              <a:rPr lang="en" altLang="zh-CN" sz="2000" dirty="0"/>
              <a:t>Daytime </a:t>
            </a:r>
            <a:r>
              <a:rPr lang="en" altLang="en-US" sz="2000" dirty="0"/>
              <a:t>protocol client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框 1">
            <a:extLst>
              <a:ext uri="{FF2B5EF4-FFF2-40B4-BE49-F238E27FC236}">
                <a16:creationId xmlns:a16="http://schemas.microsoft.com/office/drawing/2014/main" id="{F5CE85AC-C46A-4B94-85B8-5394357313C9}"/>
              </a:ext>
            </a:extLst>
          </p:cNvPr>
          <p:cNvSpPr txBox="1">
            <a:spLocks noChangeArrowheads="1"/>
          </p:cNvSpPr>
          <p:nvPr/>
        </p:nvSpPr>
        <p:spPr bwMode="auto">
          <a:xfrm>
            <a:off x="1550988" y="152400"/>
            <a:ext cx="53070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zh-CN" sz="2000"/>
              <a:t>Daytime </a:t>
            </a:r>
            <a:r>
              <a:rPr lang="en" altLang="en-US" sz="2000"/>
              <a:t>protocol client program</a:t>
            </a:r>
          </a:p>
        </p:txBody>
      </p:sp>
      <p:sp>
        <p:nvSpPr>
          <p:cNvPr id="3" name="Rectangle 2">
            <a:extLst>
              <a:ext uri="{FF2B5EF4-FFF2-40B4-BE49-F238E27FC236}">
                <a16:creationId xmlns:a16="http://schemas.microsoft.com/office/drawing/2014/main" id="{507625FE-42E3-44D8-ADF7-09433B91259E}"/>
              </a:ext>
            </a:extLst>
          </p:cNvPr>
          <p:cNvSpPr/>
          <p:nvPr/>
        </p:nvSpPr>
        <p:spPr>
          <a:xfrm>
            <a:off x="76200" y="1000835"/>
            <a:ext cx="7010400" cy="5559342"/>
          </a:xfrm>
          <a:prstGeom prst="rect">
            <a:avLst/>
          </a:prstGeom>
        </p:spPr>
        <p:txBody>
          <a:bodyPr wrap="square">
            <a:spAutoFit/>
          </a:bodyPr>
          <a:lstStyle/>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DaytimeClient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hostname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length</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"time.nist.gov"</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hostname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13</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in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"ASCII"</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setSoTimeout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15000</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15-second timeout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StringBuilder</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time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StringBuilder</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for</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time</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append</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"Server response: "</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time</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toString</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rPr>
              <a:t> </a:t>
            </a:r>
            <a:endParaRPr lang="en-US" sz="12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4" name="Rectangle 3">
            <a:extLst>
              <a:ext uri="{FF2B5EF4-FFF2-40B4-BE49-F238E27FC236}">
                <a16:creationId xmlns:a16="http://schemas.microsoft.com/office/drawing/2014/main" id="{6A2890AD-C857-43D0-9730-E792F852328A}"/>
              </a:ext>
            </a:extLst>
          </p:cNvPr>
          <p:cNvSpPr/>
          <p:nvPr/>
        </p:nvSpPr>
        <p:spPr>
          <a:xfrm>
            <a:off x="7772400" y="457200"/>
            <a:ext cx="4191000" cy="4316374"/>
          </a:xfrm>
          <a:prstGeom prst="rect">
            <a:avLst/>
          </a:prstGeom>
        </p:spPr>
        <p:txBody>
          <a:bodyPr wrap="square">
            <a:spAutoFit/>
          </a:bodyPr>
          <a:lstStyle/>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UnknownHostException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ex</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"Host not found: "</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hostname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SocketTimeoutException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ex</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"Timeout while connecting to: "</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hostname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ex</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"I/O error: "</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ex</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12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79499AB8-C931-4C6C-9902-0FA882A86CFA}"/>
              </a:ext>
            </a:extLst>
          </p:cNvPr>
          <p:cNvSpPr>
            <a:spLocks noGrp="1"/>
          </p:cNvSpPr>
          <p:nvPr>
            <p:ph type="title"/>
          </p:nvPr>
        </p:nvSpPr>
        <p:spPr>
          <a:xfrm>
            <a:off x="381001" y="334817"/>
            <a:ext cx="10896599" cy="6111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US" altLang="en-US" sz="3200" b="1" dirty="0"/>
              <a:t>Protocol Implementation and Data Format Processing</a:t>
            </a:r>
            <a:endParaRPr lang="en" altLang="en-US" sz="3200" b="1" dirty="0"/>
          </a:p>
        </p:txBody>
      </p:sp>
      <p:sp>
        <p:nvSpPr>
          <p:cNvPr id="17411" name="内容占位符 2">
            <a:extLst>
              <a:ext uri="{FF2B5EF4-FFF2-40B4-BE49-F238E27FC236}">
                <a16:creationId xmlns:a16="http://schemas.microsoft.com/office/drawing/2014/main" id="{A150C6F6-981C-426C-8CE9-CDB479CCC8CB}"/>
              </a:ext>
            </a:extLst>
          </p:cNvPr>
          <p:cNvSpPr>
            <a:spLocks noGrp="1"/>
          </p:cNvSpPr>
          <p:nvPr>
            <p:ph idx="1"/>
          </p:nvPr>
        </p:nvSpPr>
        <p:spPr>
          <a:xfrm>
            <a:off x="304800" y="1600200"/>
            <a:ext cx="11582400" cy="266699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 altLang="en-US" sz="2800" dirty="0"/>
              <a:t>Network programming usually focuses on using protocols and understanding data formats.</a:t>
            </a:r>
            <a:endParaRPr lang="en-US" altLang="zh-CN" sz="2800" dirty="0"/>
          </a:p>
          <a:p>
            <a:r>
              <a:rPr lang="en" altLang="en-US" sz="2800" dirty="0"/>
              <a:t>If you don't just want to display the text sent to you by the time server, but want to parse it into a </a:t>
            </a:r>
            <a:r>
              <a:rPr lang="en" altLang="zh-CN" sz="2800" dirty="0"/>
              <a:t>java.util.Date </a:t>
            </a:r>
            <a:r>
              <a:rPr lang="en" altLang="en-US" sz="2800" dirty="0"/>
              <a:t>object, how should you program it?</a:t>
            </a:r>
            <a:br>
              <a:rPr lang="en-US" altLang="zh-CN" sz="2000" dirty="0"/>
            </a:br>
            <a:endParaRPr lang="en-US" altLang="zh-CN" sz="2000" dirty="0"/>
          </a:p>
          <a:p>
            <a:pPr marL="0" indent="0">
              <a:buNone/>
            </a:pPr>
            <a:endParaRPr lang="en-US" altLang="zh-CN" sz="1600" dirty="0"/>
          </a:p>
        </p:txBody>
      </p:sp>
      <p:sp>
        <p:nvSpPr>
          <p:cNvPr id="17412" name="文本框 1">
            <a:extLst>
              <a:ext uri="{FF2B5EF4-FFF2-40B4-BE49-F238E27FC236}">
                <a16:creationId xmlns:a16="http://schemas.microsoft.com/office/drawing/2014/main" id="{13E011CC-7242-4914-A9E0-9443EFED0A0A}"/>
              </a:ext>
            </a:extLst>
          </p:cNvPr>
          <p:cNvSpPr txBox="1">
            <a:spLocks noChangeArrowheads="1"/>
          </p:cNvSpPr>
          <p:nvPr/>
        </p:nvSpPr>
        <p:spPr bwMode="auto">
          <a:xfrm>
            <a:off x="168564" y="4693194"/>
            <a:ext cx="11201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2400" dirty="0"/>
              <a:t>Demonstration programming example </a:t>
            </a:r>
            <a:r>
              <a:rPr lang="en" altLang="zh-CN" sz="2400" dirty="0"/>
              <a:t>ex8-2 </a:t>
            </a:r>
            <a:r>
              <a:rPr lang="en" altLang="en-US" sz="2400" dirty="0"/>
              <a:t>, </a:t>
            </a:r>
            <a:r>
              <a:rPr lang="en" altLang="zh-CN" sz="2400" dirty="0"/>
              <a:t>ch8.Daytime.java </a:t>
            </a:r>
            <a:r>
              <a:rPr lang="en" altLang="en-US" sz="2400" dirty="0"/>
              <a:t>, communicates with the time server </a:t>
            </a:r>
            <a:r>
              <a:rPr lang="en" altLang="zh-CN" sz="2400" dirty="0"/>
              <a:t>time.nist.gov </a:t>
            </a:r>
            <a:r>
              <a:rPr lang="en" altLang="en-US" sz="2400" dirty="0"/>
              <a:t>and converts the time string returned by the time server into a readable time format </a:t>
            </a:r>
            <a:r>
              <a:rPr lang="en" altLang="zh-CN" sz="2400" dirty="0"/>
              <a:t>Date </a:t>
            </a:r>
            <a:r>
              <a:rPr lang="en" altLang="en-US" sz="2400" dirty="0"/>
              <a:t>object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ECE37B-5890-422D-A648-1F5F539A8EEF}"/>
              </a:ext>
            </a:extLst>
          </p:cNvPr>
          <p:cNvSpPr/>
          <p:nvPr/>
        </p:nvSpPr>
        <p:spPr>
          <a:xfrm>
            <a:off x="304800" y="152400"/>
            <a:ext cx="6934200" cy="6642844"/>
          </a:xfrm>
          <a:prstGeom prst="rect">
            <a:avLst/>
          </a:prstGeom>
        </p:spPr>
        <p:txBody>
          <a:bodyPr wrap="square">
            <a:spAutoFit/>
          </a:bodyPr>
          <a:lstStyle/>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java</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text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java</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util</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DaytimeClient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SimpleDateFormat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NIST_FORMAT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SimpleDateFormat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yy</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-MM-dd </a:t>
            </a:r>
            <a:r>
              <a:rPr lang="en-US" sz="950"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HH:mm:ss</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hostname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length</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"time.nist.gov"</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hostname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13</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"ASCII"</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setSoTimeout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15000</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response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Date</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serverTime</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parseNistResponse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"Parsed Date: "</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serverTime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"Formatted: "</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NIST_FORMAT</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format</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serverTime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ParseException</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ex</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"Failed to parse time string: "</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ex</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ex</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"Network error: "</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ex</a:t>
            </a:r>
            <a:r>
              <a:rPr lang="en-US" sz="9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DB837F30-4490-4682-AE7B-8762DC405590}"/>
              </a:ext>
            </a:extLst>
          </p:cNvPr>
          <p:cNvSpPr/>
          <p:nvPr/>
        </p:nvSpPr>
        <p:spPr>
          <a:xfrm>
            <a:off x="6629400" y="381000"/>
            <a:ext cx="5181600" cy="2706254"/>
          </a:xfrm>
          <a:prstGeom prst="rect">
            <a:avLst/>
          </a:prstGeom>
        </p:spPr>
        <p:txBody>
          <a:bodyPr wrap="square">
            <a:spAutoFit/>
          </a:bodyPr>
          <a:lstStyle/>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Date</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parseNistResponse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response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throws</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ParseException</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Extract the date portion (JJJJJ YY-MM-DD HH:MM:SS ...)</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parts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trim</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split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parts</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length</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&lt;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3</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throw</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ParseException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"Invalid NIST format"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Combine date and time parts (YY-MM-DD HH:MM:SS)</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dateTimeString</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parts</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parts</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2</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Parse according to NIST's format</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synchronized</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NIST_FORMAT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NIST_FORMAT</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parse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dateTimeString</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p>
        </p:txBody>
      </p:sp>
      <p:sp>
        <p:nvSpPr>
          <p:cNvPr id="4" name="Rectangle 3">
            <a:extLst>
              <a:ext uri="{FF2B5EF4-FFF2-40B4-BE49-F238E27FC236}">
                <a16:creationId xmlns:a16="http://schemas.microsoft.com/office/drawing/2014/main" id="{61F7D7A2-541D-45A1-92E4-EC4A4A74F837}"/>
              </a:ext>
            </a:extLst>
          </p:cNvPr>
          <p:cNvSpPr/>
          <p:nvPr/>
        </p:nvSpPr>
        <p:spPr>
          <a:xfrm>
            <a:off x="7128164" y="3581400"/>
            <a:ext cx="4911436" cy="2554545"/>
          </a:xfrm>
          <a:prstGeom prst="rect">
            <a:avLst/>
          </a:prstGeom>
        </p:spPr>
        <p:txBody>
          <a:bodyPr wrap="square">
            <a:spAutoFit/>
          </a:bodyPr>
          <a:lstStyle/>
          <a:p>
            <a:pPr>
              <a:spcAft>
                <a:spcPts val="1000"/>
              </a:spcAft>
            </a:pPr>
            <a:r>
              <a:rPr lang="en-US" sz="1400" b="1" dirty="0">
                <a:solidFill>
                  <a:srgbClr val="FF0000"/>
                </a:solidFill>
              </a:rPr>
              <a:t>Alternative (Java 8+):</a:t>
            </a:r>
          </a:p>
          <a:p>
            <a:pPr>
              <a:spcAft>
                <a:spcPts val="1000"/>
              </a:spcAft>
            </a:pPr>
            <a:r>
              <a:rPr lang="en-US" sz="1200" dirty="0"/>
              <a:t>private static Instant parseNistResponseJava8(String response) {</a:t>
            </a:r>
          </a:p>
          <a:p>
            <a:pPr>
              <a:spcAft>
                <a:spcPts val="1000"/>
              </a:spcAft>
            </a:pPr>
            <a:r>
              <a:rPr lang="en-US" sz="1200" dirty="0"/>
              <a:t>    </a:t>
            </a:r>
            <a:r>
              <a:rPr lang="en-US" sz="1200" dirty="0" err="1"/>
              <a:t>DateTimeFormatter</a:t>
            </a:r>
            <a:r>
              <a:rPr lang="en-US" sz="1200" dirty="0"/>
              <a:t> formatter = </a:t>
            </a:r>
            <a:r>
              <a:rPr lang="en-US" sz="1200" dirty="0" err="1"/>
              <a:t>DateTimeFormatter.ofPattern</a:t>
            </a:r>
            <a:r>
              <a:rPr lang="en-US" sz="1200" dirty="0"/>
              <a:t>("</a:t>
            </a:r>
            <a:r>
              <a:rPr lang="en-US" sz="1200" dirty="0" err="1"/>
              <a:t>yy</a:t>
            </a:r>
            <a:r>
              <a:rPr lang="en-US" sz="1200" dirty="0"/>
              <a:t>-MM-dd </a:t>
            </a:r>
            <a:r>
              <a:rPr lang="en-US" sz="1200" dirty="0" err="1"/>
              <a:t>HH:mm:ss</a:t>
            </a:r>
            <a:r>
              <a:rPr lang="en-US" sz="1200" dirty="0"/>
              <a:t>");</a:t>
            </a:r>
          </a:p>
          <a:p>
            <a:pPr>
              <a:spcAft>
                <a:spcPts val="1000"/>
              </a:spcAft>
            </a:pPr>
            <a:r>
              <a:rPr lang="en-US" sz="1200" dirty="0"/>
              <a:t>    String[] parts = </a:t>
            </a:r>
            <a:r>
              <a:rPr lang="en-US" sz="1200" dirty="0" err="1"/>
              <a:t>response.trim</a:t>
            </a:r>
            <a:r>
              <a:rPr lang="en-US" sz="1200" dirty="0"/>
              <a:t>().split("\\s+");</a:t>
            </a:r>
          </a:p>
          <a:p>
            <a:pPr>
              <a:spcAft>
                <a:spcPts val="1000"/>
              </a:spcAft>
            </a:pPr>
            <a:r>
              <a:rPr lang="en-US" sz="1200" dirty="0"/>
              <a:t>    </a:t>
            </a:r>
            <a:r>
              <a:rPr lang="en-US" sz="1200" dirty="0" err="1"/>
              <a:t>LocalDateTime</a:t>
            </a:r>
            <a:r>
              <a:rPr lang="en-US" sz="1200" dirty="0"/>
              <a:t> </a:t>
            </a:r>
            <a:r>
              <a:rPr lang="en-US" sz="1200" dirty="0" err="1"/>
              <a:t>ldt</a:t>
            </a:r>
            <a:r>
              <a:rPr lang="en-US" sz="1200" dirty="0"/>
              <a:t> = </a:t>
            </a:r>
            <a:r>
              <a:rPr lang="en-US" sz="1200" dirty="0" err="1"/>
              <a:t>LocalDateTime.parse</a:t>
            </a:r>
            <a:r>
              <a:rPr lang="en-US" sz="1200" dirty="0"/>
              <a:t>(parts[1] + " " + parts[2], formatter);</a:t>
            </a:r>
          </a:p>
          <a:p>
            <a:pPr>
              <a:spcAft>
                <a:spcPts val="1000"/>
              </a:spcAft>
            </a:pPr>
            <a:r>
              <a:rPr lang="en-US" sz="1200" dirty="0"/>
              <a:t>    return </a:t>
            </a:r>
            <a:r>
              <a:rPr lang="en-US" sz="1200" dirty="0" err="1"/>
              <a:t>ldt.atZone</a:t>
            </a:r>
            <a:r>
              <a:rPr lang="en-US" sz="1200" dirty="0"/>
              <a:t>(</a:t>
            </a:r>
            <a:r>
              <a:rPr lang="en-US" sz="1200" dirty="0" err="1"/>
              <a:t>ZoneOffset.UTC</a:t>
            </a:r>
            <a:r>
              <a:rPr lang="en-US" sz="1200" dirty="0"/>
              <a:t>).</a:t>
            </a:r>
            <a:r>
              <a:rPr lang="en-US" sz="1200" dirty="0" err="1"/>
              <a:t>toInstant</a:t>
            </a:r>
            <a:r>
              <a:rPr lang="en-US" sz="1200" dirty="0"/>
              <a:t>();</a:t>
            </a:r>
          </a:p>
          <a:p>
            <a:pPr>
              <a:spcAft>
                <a:spcPts val="1000"/>
              </a:spcAft>
            </a:pPr>
            <a:r>
              <a:rPr lang="en-US" sz="1200" dirty="0"/>
              <a:t>}</a:t>
            </a:r>
          </a:p>
        </p:txBody>
      </p:sp>
      <p:sp>
        <p:nvSpPr>
          <p:cNvPr id="5" name="Rectangle 4">
            <a:extLst>
              <a:ext uri="{FF2B5EF4-FFF2-40B4-BE49-F238E27FC236}">
                <a16:creationId xmlns:a16="http://schemas.microsoft.com/office/drawing/2014/main" id="{84D14C8E-264D-4C47-AEC1-C5AB5FFA1854}"/>
              </a:ext>
            </a:extLst>
          </p:cNvPr>
          <p:cNvSpPr/>
          <p:nvPr/>
        </p:nvSpPr>
        <p:spPr bwMode="auto">
          <a:xfrm>
            <a:off x="6934200" y="3429000"/>
            <a:ext cx="5181600" cy="2706254"/>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6D49B065-32B0-4420-82FC-E4AE19D09F98}"/>
              </a:ext>
            </a:extLst>
          </p:cNvPr>
          <p:cNvSpPr>
            <a:spLocks noGrp="1"/>
          </p:cNvSpPr>
          <p:nvPr>
            <p:ph type="title"/>
          </p:nvPr>
        </p:nvSpPr>
        <p:spPr>
          <a:xfrm>
            <a:off x="304800" y="152400"/>
            <a:ext cx="11353799" cy="1371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 altLang="en-US" sz="3200" b="1" dirty="0"/>
              <a:t>Programmatically </a:t>
            </a:r>
            <a:r>
              <a:rPr lang="en-US" altLang="en-US" sz="3200" b="1" dirty="0"/>
              <a:t>H</a:t>
            </a:r>
            <a:r>
              <a:rPr lang="en" altLang="en-US" sz="3200" b="1" dirty="0"/>
              <a:t>andle </a:t>
            </a:r>
            <a:r>
              <a:rPr lang="en-US" altLang="en-US" sz="3200" b="1" dirty="0"/>
              <a:t>C</a:t>
            </a:r>
            <a:r>
              <a:rPr lang="en" altLang="en-US" sz="3200" b="1" dirty="0"/>
              <a:t>omplex </a:t>
            </a:r>
            <a:r>
              <a:rPr lang="en-US" altLang="en-US" sz="3200" b="1" dirty="0"/>
              <a:t>D</a:t>
            </a:r>
            <a:r>
              <a:rPr lang="en" altLang="en-US" sz="3200" b="1" dirty="0"/>
              <a:t>ata </a:t>
            </a:r>
            <a:r>
              <a:rPr lang="en-US" altLang="en-US" sz="3200" b="1" dirty="0"/>
              <a:t>F</a:t>
            </a:r>
            <a:r>
              <a:rPr lang="en" altLang="en-US" sz="3200" b="1" dirty="0"/>
              <a:t>ormats returned by the </a:t>
            </a:r>
            <a:r>
              <a:rPr lang="en-US" altLang="en-US" sz="3200" b="1" dirty="0"/>
              <a:t>S</a:t>
            </a:r>
            <a:r>
              <a:rPr lang="en" altLang="en-US" sz="3200" b="1" dirty="0"/>
              <a:t>erver</a:t>
            </a:r>
          </a:p>
        </p:txBody>
      </p:sp>
      <p:sp>
        <p:nvSpPr>
          <p:cNvPr id="19459" name="内容占位符 2">
            <a:extLst>
              <a:ext uri="{FF2B5EF4-FFF2-40B4-BE49-F238E27FC236}">
                <a16:creationId xmlns:a16="http://schemas.microsoft.com/office/drawing/2014/main" id="{E049461D-C3B6-4492-A2CE-A6D3F49CD2DE}"/>
              </a:ext>
            </a:extLst>
          </p:cNvPr>
          <p:cNvSpPr>
            <a:spLocks noGrp="1"/>
          </p:cNvSpPr>
          <p:nvPr>
            <p:ph idx="1"/>
          </p:nvPr>
        </p:nvSpPr>
        <p:spPr>
          <a:xfrm>
            <a:off x="152400" y="1791495"/>
            <a:ext cx="11582400" cy="285670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 altLang="en-US" sz="2800" dirty="0"/>
              <a:t>When a network program encounters different protocols, it may encounter unfamiliar and complex data formats. </a:t>
            </a:r>
          </a:p>
          <a:p>
            <a:r>
              <a:rPr lang="en" altLang="en-US" sz="2800" dirty="0"/>
              <a:t>In this case, the program must read the raw bytes and interpret them byte by byte.</a:t>
            </a:r>
            <a:endParaRPr lang="en-US" altLang="zh-CN" sz="2800" dirty="0"/>
          </a:p>
          <a:p>
            <a:r>
              <a:rPr lang="en" altLang="en-US" sz="2800" dirty="0"/>
              <a:t>You must write your own code to handle data in any format sent by the server</a:t>
            </a:r>
            <a:br>
              <a:rPr lang="en-US" altLang="zh-CN" sz="2000" dirty="0"/>
            </a:br>
            <a:endParaRPr lang="en-US" altLang="zh-CN" sz="2000" dirty="0"/>
          </a:p>
        </p:txBody>
      </p:sp>
      <p:sp>
        <p:nvSpPr>
          <p:cNvPr id="19460" name="文本框 1">
            <a:extLst>
              <a:ext uri="{FF2B5EF4-FFF2-40B4-BE49-F238E27FC236}">
                <a16:creationId xmlns:a16="http://schemas.microsoft.com/office/drawing/2014/main" id="{D6F51DFE-2D8E-4F03-B67F-FBB77EE6A867}"/>
              </a:ext>
            </a:extLst>
          </p:cNvPr>
          <p:cNvSpPr txBox="1">
            <a:spLocks noChangeArrowheads="1"/>
          </p:cNvSpPr>
          <p:nvPr/>
        </p:nvSpPr>
        <p:spPr bwMode="auto">
          <a:xfrm>
            <a:off x="304800" y="5181600"/>
            <a:ext cx="11277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2400" dirty="0"/>
              <a:t>Demonstration programming example </a:t>
            </a:r>
            <a:r>
              <a:rPr lang="en" altLang="zh-CN" sz="2400" dirty="0"/>
              <a:t>ex8-3 </a:t>
            </a:r>
            <a:r>
              <a:rPr lang="en" altLang="en-US" sz="2400" dirty="0"/>
              <a:t>, </a:t>
            </a:r>
            <a:r>
              <a:rPr lang="en" altLang="zh-CN" sz="2400" dirty="0"/>
              <a:t>ch8.Time.java </a:t>
            </a:r>
            <a:r>
              <a:rPr lang="en" altLang="en-US" sz="2400" dirty="0"/>
              <a:t>, time protocol client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1">
            <a:extLst>
              <a:ext uri="{FF2B5EF4-FFF2-40B4-BE49-F238E27FC236}">
                <a16:creationId xmlns:a16="http://schemas.microsoft.com/office/drawing/2014/main" id="{26544648-854C-4C7C-98FC-0D8101F3C06F}"/>
              </a:ext>
            </a:extLst>
          </p:cNvPr>
          <p:cNvSpPr txBox="1">
            <a:spLocks noChangeArrowheads="1"/>
          </p:cNvSpPr>
          <p:nvPr/>
        </p:nvSpPr>
        <p:spPr bwMode="auto">
          <a:xfrm>
            <a:off x="4038600" y="152876"/>
            <a:ext cx="381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2400" b="1" dirty="0">
                <a:solidFill>
                  <a:srgbClr val="FF0000"/>
                </a:solidFill>
              </a:rPr>
              <a:t>Time Protocol Client</a:t>
            </a:r>
          </a:p>
        </p:txBody>
      </p:sp>
      <p:sp>
        <p:nvSpPr>
          <p:cNvPr id="2" name="Rectangle 1">
            <a:extLst>
              <a:ext uri="{FF2B5EF4-FFF2-40B4-BE49-F238E27FC236}">
                <a16:creationId xmlns:a16="http://schemas.microsoft.com/office/drawing/2014/main" id="{D55E131B-3601-4C21-A793-31F5E532A32D}"/>
              </a:ext>
            </a:extLst>
          </p:cNvPr>
          <p:cNvSpPr/>
          <p:nvPr/>
        </p:nvSpPr>
        <p:spPr>
          <a:xfrm>
            <a:off x="228600" y="352901"/>
            <a:ext cx="11201400" cy="6152197"/>
          </a:xfrm>
          <a:prstGeom prst="rect">
            <a:avLst/>
          </a:prstGeom>
        </p:spPr>
        <p:txBody>
          <a:bodyPr wrap="square">
            <a:spAutoFit/>
          </a:bodyPr>
          <a:lstStyle/>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java</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text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java</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util</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TimeClient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HOSTNAME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"time.nist.gov"</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TIME_PORT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37</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long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EPOCH_DIFF</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2208988800L</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Seconds between 1900 and 1970</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d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getDateFromNetwork</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"Network time: "</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d</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ParseException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ex</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"Error: "</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ex</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框 1">
            <a:extLst>
              <a:ext uri="{FF2B5EF4-FFF2-40B4-BE49-F238E27FC236}">
                <a16:creationId xmlns:a16="http://schemas.microsoft.com/office/drawing/2014/main" id="{AD400D7F-1788-4B13-A323-3F1BB6DF1CEF}"/>
              </a:ext>
            </a:extLst>
          </p:cNvPr>
          <p:cNvSpPr txBox="1">
            <a:spLocks noChangeArrowheads="1"/>
          </p:cNvSpPr>
          <p:nvPr/>
        </p:nvSpPr>
        <p:spPr bwMode="auto">
          <a:xfrm>
            <a:off x="3913188" y="43801"/>
            <a:ext cx="34782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2400" b="1" dirty="0">
                <a:solidFill>
                  <a:srgbClr val="FF0000"/>
                </a:solidFill>
              </a:rPr>
              <a:t>Time Protocol Client</a:t>
            </a:r>
          </a:p>
        </p:txBody>
      </p:sp>
      <p:sp>
        <p:nvSpPr>
          <p:cNvPr id="2" name="Rectangle 1">
            <a:extLst>
              <a:ext uri="{FF2B5EF4-FFF2-40B4-BE49-F238E27FC236}">
                <a16:creationId xmlns:a16="http://schemas.microsoft.com/office/drawing/2014/main" id="{38593B5B-8978-4C1B-B4E6-F82A8C587615}"/>
              </a:ext>
            </a:extLst>
          </p:cNvPr>
          <p:cNvSpPr/>
          <p:nvPr/>
        </p:nvSpPr>
        <p:spPr>
          <a:xfrm>
            <a:off x="304800" y="257175"/>
            <a:ext cx="9525000" cy="4179927"/>
          </a:xfrm>
          <a:prstGeom prst="rect">
            <a:avLst/>
          </a:prstGeom>
        </p:spPr>
        <p:txBody>
          <a:bodyPr wrap="square">
            <a:spAutoFit/>
          </a:bodyPr>
          <a:lstStyle/>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getDateFromNetwork</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throws</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ParseException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HOSTNAME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TIME_PORT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DataInputStream</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in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DataInputStream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Read 4-byte time value (big-endian)</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long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secondsSince1900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readInt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xFFFFFFFFL</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Convert to Java epoch (milliseconds since 1970)</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long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millisecondsSince1970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secondsSince1900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EPOCH_DIFF</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1000</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millisecondsSince1970</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SimSun" panose="02010600030101010101" pitchFamily="2" charset="-122"/>
              <a:cs typeface="Times New Roman" panose="02020603050405020304" pitchFamily="18" charset="0"/>
            </a:endParaRPr>
          </a:p>
          <a:p>
            <a:pPr lvl="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p>
        </p:txBody>
      </p:sp>
      <p:sp>
        <p:nvSpPr>
          <p:cNvPr id="3" name="Rectangle 2">
            <a:extLst>
              <a:ext uri="{FF2B5EF4-FFF2-40B4-BE49-F238E27FC236}">
                <a16:creationId xmlns:a16="http://schemas.microsoft.com/office/drawing/2014/main" id="{4B5CE90C-0A39-460B-AA49-F7906CBAEAA4}"/>
              </a:ext>
            </a:extLst>
          </p:cNvPr>
          <p:cNvSpPr/>
          <p:nvPr/>
        </p:nvSpPr>
        <p:spPr>
          <a:xfrm>
            <a:off x="3733800" y="4484221"/>
            <a:ext cx="8077200" cy="2118913"/>
          </a:xfrm>
          <a:prstGeom prst="rect">
            <a:avLst/>
          </a:prstGeom>
        </p:spPr>
        <p:txBody>
          <a:bodyPr wrap="square">
            <a:spAutoFit/>
          </a:bodyPr>
          <a:lstStyle/>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Instant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getInstantFromNetwork</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throws</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HOSTNAME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TIME_PORT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DataInputStream</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in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DataInputStream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long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secondsSince1900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readInt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xFFFFFFFFL</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Instant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ofEpochSecond</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secondsSince1900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EPOCH_DIFF</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p:txBody>
      </p:sp>
      <p:sp>
        <p:nvSpPr>
          <p:cNvPr id="4" name="Rectangle 3">
            <a:extLst>
              <a:ext uri="{FF2B5EF4-FFF2-40B4-BE49-F238E27FC236}">
                <a16:creationId xmlns:a16="http://schemas.microsoft.com/office/drawing/2014/main" id="{6E268906-5383-491A-AB96-7A0229AF1E11}"/>
              </a:ext>
            </a:extLst>
          </p:cNvPr>
          <p:cNvSpPr/>
          <p:nvPr/>
        </p:nvSpPr>
        <p:spPr>
          <a:xfrm>
            <a:off x="3733800" y="4038600"/>
            <a:ext cx="5628464" cy="369332"/>
          </a:xfrm>
          <a:prstGeom prst="rect">
            <a:avLst/>
          </a:prstGeom>
        </p:spPr>
        <p:txBody>
          <a:bodyPr wrap="none">
            <a:spAutoFit/>
          </a:bodyPr>
          <a:lstStyle/>
          <a:p>
            <a:r>
              <a:rPr lang="en-US" b="1" dirty="0"/>
              <a:t>Java (8+) consider using Instant instead of Date:</a:t>
            </a:r>
          </a:p>
        </p:txBody>
      </p:sp>
      <p:sp>
        <p:nvSpPr>
          <p:cNvPr id="7" name="Rectangle 6">
            <a:extLst>
              <a:ext uri="{FF2B5EF4-FFF2-40B4-BE49-F238E27FC236}">
                <a16:creationId xmlns:a16="http://schemas.microsoft.com/office/drawing/2014/main" id="{8A4C2899-850F-438E-9A03-97B16CF3890C}"/>
              </a:ext>
            </a:extLst>
          </p:cNvPr>
          <p:cNvSpPr/>
          <p:nvPr/>
        </p:nvSpPr>
        <p:spPr bwMode="auto">
          <a:xfrm>
            <a:off x="2971800" y="3894571"/>
            <a:ext cx="8839200" cy="2706254"/>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FFD1EE19-4A74-4CDC-93D8-A1C4B72F6445}"/>
              </a:ext>
            </a:extLst>
          </p:cNvPr>
          <p:cNvSpPr>
            <a:spLocks noGrp="1"/>
          </p:cNvSpPr>
          <p:nvPr>
            <p:ph type="title"/>
          </p:nvPr>
        </p:nvSpPr>
        <p:spPr>
          <a:xfrm>
            <a:off x="1752600" y="111991"/>
            <a:ext cx="7775575" cy="4381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 altLang="en-US" sz="3200" b="1" dirty="0"/>
              <a:t>Writing to the </a:t>
            </a:r>
            <a:r>
              <a:rPr lang="en-US" altLang="en-US" sz="3200" b="1" dirty="0"/>
              <a:t>S</a:t>
            </a:r>
            <a:r>
              <a:rPr lang="en" altLang="en-US" sz="3200" b="1" dirty="0"/>
              <a:t>erver using S</a:t>
            </a:r>
            <a:r>
              <a:rPr lang="en" altLang="zh-CN" sz="3200" b="1" dirty="0"/>
              <a:t>ocket</a:t>
            </a:r>
          </a:p>
        </p:txBody>
      </p:sp>
      <p:sp>
        <p:nvSpPr>
          <p:cNvPr id="22531" name="内容占位符 2">
            <a:extLst>
              <a:ext uri="{FF2B5EF4-FFF2-40B4-BE49-F238E27FC236}">
                <a16:creationId xmlns:a16="http://schemas.microsoft.com/office/drawing/2014/main" id="{FBC3D893-E6B0-4C8D-8E4F-8B9B7973D153}"/>
              </a:ext>
            </a:extLst>
          </p:cNvPr>
          <p:cNvSpPr>
            <a:spLocks noGrp="1"/>
          </p:cNvSpPr>
          <p:nvPr>
            <p:ph idx="1"/>
          </p:nvPr>
        </p:nvSpPr>
        <p:spPr>
          <a:xfrm>
            <a:off x="318654" y="685800"/>
            <a:ext cx="11720945" cy="4876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buFont typeface="+mj-lt"/>
              <a:buAutoNum type="arabicPeriod"/>
            </a:pPr>
            <a:r>
              <a:rPr lang="en-US" altLang="en-US" sz="2000" dirty="0"/>
              <a:t>Socket Communication Basics </a:t>
            </a:r>
          </a:p>
          <a:p>
            <a:pPr marL="857250" lvl="1" indent="-457200"/>
            <a:r>
              <a:rPr lang="en-US" altLang="en-US" sz="1600" dirty="0"/>
              <a:t>To write to a server using Socket, you need to request both an output stream and an input stream from the socket. Use the output stream to send data through the socket while simultaneously using the input stream to read data.</a:t>
            </a:r>
          </a:p>
          <a:p>
            <a:pPr marL="457200" indent="-457200">
              <a:buFont typeface="+mj-lt"/>
              <a:buAutoNum type="arabicPeriod"/>
            </a:pPr>
            <a:r>
              <a:rPr lang="en-US" altLang="en-US" sz="1800" dirty="0"/>
              <a:t>DICT Protocol Specification (RFC 2229)</a:t>
            </a:r>
          </a:p>
          <a:p>
            <a:pPr lvl="1"/>
            <a:r>
              <a:rPr lang="en-US" altLang="en-US" sz="1600" dirty="0"/>
              <a:t>Using the dictionary (</a:t>
            </a:r>
            <a:r>
              <a:rPr lang="en-US" altLang="en-US" sz="1600" dirty="0" err="1"/>
              <a:t>dict</a:t>
            </a:r>
            <a:r>
              <a:rPr lang="en-US" altLang="en-US" sz="1600" dirty="0"/>
              <a:t>) protocol defined in RFC 2229:</a:t>
            </a:r>
          </a:p>
          <a:p>
            <a:pPr lvl="1"/>
            <a:r>
              <a:rPr lang="en-US" altLang="en-US" sz="1800" dirty="0"/>
              <a:t>Connect via: telnet dict.org 2628</a:t>
            </a:r>
          </a:p>
          <a:p>
            <a:pPr lvl="1"/>
            <a:r>
              <a:rPr lang="en-US" altLang="en-US" sz="1800" dirty="0"/>
              <a:t>When the server is operational (status code 220), the available dictionaries may change.</a:t>
            </a:r>
          </a:p>
          <a:p>
            <a:pPr lvl="1"/>
            <a:r>
              <a:rPr lang="en-US" altLang="en-US" sz="1800" dirty="0"/>
              <a:t>Use SHOW DB to view all databases</a:t>
            </a:r>
          </a:p>
          <a:p>
            <a:pPr lvl="1"/>
            <a:r>
              <a:rPr lang="en-US" altLang="en-US" sz="1800" dirty="0"/>
              <a:t>Query words using the format: DEFINE &lt;database-code&gt; &lt;word&gt;</a:t>
            </a:r>
          </a:p>
          <a:p>
            <a:pPr lvl="1"/>
            <a:r>
              <a:rPr lang="en-US" altLang="en-US" sz="1800" dirty="0"/>
              <a:t>Example: DEFINE </a:t>
            </a:r>
            <a:r>
              <a:rPr lang="en-US" altLang="en-US" sz="1800" dirty="0" err="1"/>
              <a:t>fd-eng-fra</a:t>
            </a:r>
            <a:r>
              <a:rPr lang="en-US" altLang="en-US" sz="1800" dirty="0"/>
              <a:t> XXXX“</a:t>
            </a:r>
          </a:p>
          <a:p>
            <a:pPr>
              <a:buFont typeface="+mj-lt"/>
              <a:buAutoNum type="arabicPeriod"/>
            </a:pPr>
            <a:r>
              <a:rPr lang="en-US" altLang="zh-CN" sz="1800" dirty="0"/>
              <a:t>Protocol Client Implementation</a:t>
            </a:r>
          </a:p>
          <a:p>
            <a:pPr marL="0" indent="0">
              <a:buNone/>
            </a:pPr>
            <a:endParaRPr lang="en-US" altLang="zh-CN" sz="1800" dirty="0"/>
          </a:p>
          <a:p>
            <a:pPr marL="114300" lvl="1" indent="0" latinLnBrk="1">
              <a:lnSpc>
                <a:spcPct val="107000"/>
              </a:lnSpc>
              <a:spcBef>
                <a:spcPts val="0"/>
              </a:spcBef>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Establish connection to DICT server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"dict.org"</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2628</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114300" lvl="1" indent="0" latinLnBrk="1">
              <a:lnSpc>
                <a:spcPct val="107000"/>
              </a:lnSpc>
              <a:spcBef>
                <a:spcPts val="0"/>
              </a:spcBef>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Get I/O </a:t>
            </a:r>
            <a:r>
              <a:rPr lang="en-US" sz="13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out </a:t>
            </a:r>
            <a:r>
              <a:rPr lang="en-US" sz="13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3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3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3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getOutputStream</a:t>
            </a:r>
            <a:r>
              <a:rPr lang="en-US" sz="13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3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3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3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3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3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OutputStreamWriter</a:t>
            </a:r>
            <a:r>
              <a:rPr lang="en-US" sz="13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3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3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3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"UTF-8"</a:t>
            </a:r>
            <a:r>
              <a:rPr lang="en-US" sz="13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300" dirty="0">
              <a:latin typeface="Calibri" panose="020F0502020204030204" pitchFamily="34" charset="0"/>
              <a:ea typeface="SimSun" panose="02010600030101010101" pitchFamily="2" charset="-122"/>
              <a:cs typeface="Times New Roman" panose="02020603050405020304" pitchFamily="18" charset="0"/>
            </a:endParaRPr>
          </a:p>
          <a:p>
            <a:pPr marL="114300" lvl="1" indent="0" latinLnBrk="1">
              <a:lnSpc>
                <a:spcPct val="107000"/>
              </a:lnSpc>
              <a:spcBef>
                <a:spcPts val="0"/>
              </a:spcBef>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Send query command (CRLF terminated)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write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"DEFINE </a:t>
            </a:r>
            <a:r>
              <a:rPr lang="en-US" sz="1400"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eng-lat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gold\r\n"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flush</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22532" name="文本框 1">
            <a:extLst>
              <a:ext uri="{FF2B5EF4-FFF2-40B4-BE49-F238E27FC236}">
                <a16:creationId xmlns:a16="http://schemas.microsoft.com/office/drawing/2014/main" id="{9A75FBE2-B2B1-492A-B3C1-2637863D1BA3}"/>
              </a:ext>
            </a:extLst>
          </p:cNvPr>
          <p:cNvSpPr txBox="1">
            <a:spLocks noChangeArrowheads="1"/>
          </p:cNvSpPr>
          <p:nvPr/>
        </p:nvSpPr>
        <p:spPr bwMode="auto">
          <a:xfrm>
            <a:off x="318654" y="5791200"/>
            <a:ext cx="1158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1800" dirty="0">
                <a:solidFill>
                  <a:srgbClr val="FF0000"/>
                </a:solidFill>
              </a:rPr>
              <a:t>Demonstration example code </a:t>
            </a:r>
            <a:r>
              <a:rPr lang="en" altLang="zh-CN" sz="1800" dirty="0">
                <a:solidFill>
                  <a:srgbClr val="FF0000"/>
                </a:solidFill>
              </a:rPr>
              <a:t>ex8-4,ch8.DictClient.java </a:t>
            </a:r>
            <a:r>
              <a:rPr lang="en" altLang="en-US" sz="1800" dirty="0">
                <a:solidFill>
                  <a:srgbClr val="FF0000"/>
                </a:solidFill>
              </a:rPr>
              <a:t>A network-based English </a:t>
            </a:r>
            <a:r>
              <a:rPr lang="en" altLang="zh-CN" sz="1800" dirty="0">
                <a:solidFill>
                  <a:srgbClr val="FF0000"/>
                </a:solidFill>
              </a:rPr>
              <a:t>- </a:t>
            </a:r>
            <a:r>
              <a:rPr lang="en" altLang="en-US" sz="1800" dirty="0">
                <a:solidFill>
                  <a:srgbClr val="FF0000"/>
                </a:solidFill>
              </a:rPr>
              <a:t>Latin translation program, client implementation of </a:t>
            </a:r>
            <a:r>
              <a:rPr lang="en" altLang="zh-CN" sz="1800" dirty="0">
                <a:solidFill>
                  <a:srgbClr val="FF0000"/>
                </a:solidFill>
              </a:rPr>
              <a:t>dict protocol application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909396-756F-4A50-8B02-CE55DFBF67D2}"/>
              </a:ext>
            </a:extLst>
          </p:cNvPr>
          <p:cNvSpPr/>
          <p:nvPr/>
        </p:nvSpPr>
        <p:spPr>
          <a:xfrm>
            <a:off x="304800" y="228600"/>
            <a:ext cx="9982200" cy="4524315"/>
          </a:xfrm>
          <a:prstGeom prst="rect">
            <a:avLst/>
          </a:prstGeom>
        </p:spPr>
        <p:txBody>
          <a:bodyPr wrap="square">
            <a:spAutoFit/>
          </a:bodyPr>
          <a:lstStyle/>
          <a:p>
            <a:r>
              <a:rPr lang="en-US" b="1" u="sng" dirty="0"/>
              <a:t>Key Protocol Details:</a:t>
            </a:r>
          </a:p>
          <a:p>
            <a:endParaRPr lang="en-US" sz="1600" dirty="0"/>
          </a:p>
          <a:p>
            <a:pPr marL="342900" indent="-342900">
              <a:buFont typeface="+mj-lt"/>
              <a:buAutoNum type="arabicPeriod"/>
            </a:pPr>
            <a:r>
              <a:rPr lang="en-US" sz="1600" dirty="0"/>
              <a:t>Connection Establishment</a:t>
            </a:r>
          </a:p>
          <a:p>
            <a:pPr marL="742950" lvl="1" indent="-285750">
              <a:buFont typeface="Wingdings" panose="05000000000000000000" pitchFamily="2" charset="2"/>
              <a:buChar char="v"/>
            </a:pPr>
            <a:r>
              <a:rPr lang="en-US" sz="1600" dirty="0"/>
              <a:t>Server: dict.org (TCP port 2628)</a:t>
            </a:r>
          </a:p>
          <a:p>
            <a:pPr marL="742950" lvl="1" indent="-285750">
              <a:buFont typeface="Wingdings" panose="05000000000000000000" pitchFamily="2" charset="2"/>
              <a:buChar char="v"/>
            </a:pPr>
            <a:r>
              <a:rPr lang="en-US" sz="1600" dirty="0"/>
              <a:t>Encoding: UTF-8 (RFC required)</a:t>
            </a:r>
          </a:p>
          <a:p>
            <a:pPr marL="742950" lvl="1" indent="-285750">
              <a:buFont typeface="Wingdings" panose="05000000000000000000" pitchFamily="2" charset="2"/>
              <a:buChar char="v"/>
            </a:pPr>
            <a:r>
              <a:rPr lang="en-US" sz="1600" dirty="0"/>
              <a:t>Line endings: CRLF (\r\n)</a:t>
            </a:r>
          </a:p>
          <a:p>
            <a:endParaRPr lang="en-US" sz="1600" dirty="0"/>
          </a:p>
          <a:p>
            <a:r>
              <a:rPr lang="en-US" sz="1600" dirty="0"/>
              <a:t>2. Protocol Workflow</a:t>
            </a:r>
          </a:p>
          <a:p>
            <a:pPr marL="742950" lvl="1" indent="-285750">
              <a:buFont typeface="Wingdings" panose="05000000000000000000" pitchFamily="2" charset="2"/>
              <a:buChar char="v"/>
            </a:pPr>
            <a:r>
              <a:rPr lang="en-US" sz="1600" dirty="0"/>
              <a:t>Client: DEFINE &lt;database&gt; &lt;word&gt;\r\n</a:t>
            </a:r>
          </a:p>
          <a:p>
            <a:pPr marL="742950" lvl="1" indent="-285750">
              <a:buFont typeface="Wingdings" panose="05000000000000000000" pitchFamily="2" charset="2"/>
              <a:buChar char="v"/>
            </a:pPr>
            <a:r>
              <a:rPr lang="en-US" sz="1600" dirty="0"/>
              <a:t>Server: 150 definitions found</a:t>
            </a:r>
          </a:p>
          <a:p>
            <a:pPr marL="742950" lvl="1" indent="-285750">
              <a:buFont typeface="Wingdings" panose="05000000000000000000" pitchFamily="2" charset="2"/>
              <a:buChar char="v"/>
            </a:pPr>
            <a:r>
              <a:rPr lang="en-US" sz="1600" dirty="0"/>
              <a:t>Server: &lt;definition text&gt;</a:t>
            </a:r>
          </a:p>
          <a:p>
            <a:pPr marL="742950" lvl="1" indent="-285750">
              <a:buFont typeface="Wingdings" panose="05000000000000000000" pitchFamily="2" charset="2"/>
              <a:buChar char="v"/>
            </a:pPr>
            <a:r>
              <a:rPr lang="en-US" sz="1600" dirty="0"/>
              <a:t>Server: 250 ok</a:t>
            </a:r>
          </a:p>
          <a:p>
            <a:pPr lvl="1"/>
            <a:endParaRPr lang="en-US" sz="1600" dirty="0"/>
          </a:p>
          <a:p>
            <a:r>
              <a:rPr lang="en-US" sz="1600" dirty="0"/>
              <a:t>3. Available Commands</a:t>
            </a:r>
          </a:p>
          <a:p>
            <a:pPr marL="742950" lvl="1" indent="-285750">
              <a:buFont typeface="Wingdings" panose="05000000000000000000" pitchFamily="2" charset="2"/>
              <a:buChar char="v"/>
            </a:pPr>
            <a:r>
              <a:rPr lang="en-US" sz="1600" dirty="0"/>
              <a:t>SHOW DB - List all dictionaries</a:t>
            </a:r>
          </a:p>
          <a:p>
            <a:pPr marL="742950" lvl="1" indent="-285750">
              <a:buFont typeface="Wingdings" panose="05000000000000000000" pitchFamily="2" charset="2"/>
              <a:buChar char="v"/>
            </a:pPr>
            <a:r>
              <a:rPr lang="en-US" sz="1600" dirty="0"/>
              <a:t>DEFINE &lt;</a:t>
            </a:r>
            <a:r>
              <a:rPr lang="en-US" sz="1600" dirty="0" err="1"/>
              <a:t>db</a:t>
            </a:r>
            <a:r>
              <a:rPr lang="en-US" sz="1600" dirty="0"/>
              <a:t>&gt; &lt;word&gt; - Get definition</a:t>
            </a:r>
          </a:p>
          <a:p>
            <a:pPr marL="742950" lvl="1" indent="-285750">
              <a:buFont typeface="Wingdings" panose="05000000000000000000" pitchFamily="2" charset="2"/>
              <a:buChar char="v"/>
            </a:pPr>
            <a:r>
              <a:rPr lang="en-US" sz="1600" dirty="0"/>
              <a:t>MATCH &lt;</a:t>
            </a:r>
            <a:r>
              <a:rPr lang="en-US" sz="1600" dirty="0" err="1"/>
              <a:t>db</a:t>
            </a:r>
            <a:r>
              <a:rPr lang="en-US" sz="1600" dirty="0"/>
              <a:t>&gt; &lt;strategy&gt; &lt;word&gt; - Find similar words</a:t>
            </a:r>
          </a:p>
          <a:p>
            <a:pPr marL="742950" lvl="1" indent="-285750">
              <a:buFont typeface="Wingdings" panose="05000000000000000000" pitchFamily="2" charset="2"/>
              <a:buChar char="v"/>
            </a:pPr>
            <a:r>
              <a:rPr lang="en-US" sz="1600" dirty="0"/>
              <a:t>QUIT - End session</a:t>
            </a:r>
          </a:p>
        </p:txBody>
      </p:sp>
      <p:sp>
        <p:nvSpPr>
          <p:cNvPr id="3" name="Rectangle 2">
            <a:extLst>
              <a:ext uri="{FF2B5EF4-FFF2-40B4-BE49-F238E27FC236}">
                <a16:creationId xmlns:a16="http://schemas.microsoft.com/office/drawing/2014/main" id="{97EAB3C0-7654-4AE2-977A-FC0352FB4E62}"/>
              </a:ext>
            </a:extLst>
          </p:cNvPr>
          <p:cNvSpPr/>
          <p:nvPr/>
        </p:nvSpPr>
        <p:spPr>
          <a:xfrm>
            <a:off x="6248400" y="1676400"/>
            <a:ext cx="5791200" cy="4914166"/>
          </a:xfrm>
          <a:prstGeom prst="rect">
            <a:avLst/>
          </a:prstGeom>
        </p:spPr>
        <p:txBody>
          <a:bodyPr wrap="square">
            <a:spAutoFit/>
          </a:bodyPr>
          <a:lstStyle/>
          <a:p>
            <a:pPr>
              <a:spcAft>
                <a:spcPts val="400"/>
              </a:spcAft>
            </a:pPr>
            <a:r>
              <a:rPr lang="en-US" dirty="0"/>
              <a:t>$ telnet dict.org 2628</a:t>
            </a:r>
          </a:p>
          <a:p>
            <a:pPr>
              <a:spcAft>
                <a:spcPts val="400"/>
              </a:spcAft>
            </a:pPr>
            <a:r>
              <a:rPr lang="en-US" dirty="0"/>
              <a:t>220 dict.org </a:t>
            </a:r>
            <a:r>
              <a:rPr lang="en-US" dirty="0" err="1"/>
              <a:t>dictd</a:t>
            </a:r>
            <a:r>
              <a:rPr lang="en-US" dirty="0"/>
              <a:t> 1.12.1/rf on Linux 4.19.0-10-amd64 &lt;</a:t>
            </a:r>
            <a:r>
              <a:rPr lang="en-US" dirty="0" err="1"/>
              <a:t>auth.mime</a:t>
            </a:r>
            <a:r>
              <a:rPr lang="en-US" dirty="0"/>
              <a:t>&gt; &lt;17056986.2345.1634567890@dict.org&gt;</a:t>
            </a:r>
          </a:p>
          <a:p>
            <a:pPr>
              <a:spcAft>
                <a:spcPts val="400"/>
              </a:spcAft>
            </a:pPr>
            <a:r>
              <a:rPr lang="en-US" dirty="0"/>
              <a:t>SHOW DB</a:t>
            </a:r>
          </a:p>
          <a:p>
            <a:pPr>
              <a:spcAft>
                <a:spcPts val="400"/>
              </a:spcAft>
            </a:pPr>
            <a:r>
              <a:rPr lang="en-US" dirty="0"/>
              <a:t>110 3 databases present</a:t>
            </a:r>
          </a:p>
          <a:p>
            <a:pPr>
              <a:spcAft>
                <a:spcPts val="400"/>
              </a:spcAft>
            </a:pPr>
            <a:r>
              <a:rPr lang="en-US" dirty="0"/>
              <a:t>00-eng-fra English-French</a:t>
            </a:r>
          </a:p>
          <a:p>
            <a:pPr>
              <a:spcAft>
                <a:spcPts val="400"/>
              </a:spcAft>
            </a:pPr>
            <a:r>
              <a:rPr lang="en-US" dirty="0"/>
              <a:t>01-eng-lat English-Latin</a:t>
            </a:r>
          </a:p>
          <a:p>
            <a:pPr>
              <a:spcAft>
                <a:spcPts val="400"/>
              </a:spcAft>
            </a:pPr>
            <a:r>
              <a:rPr lang="en-US" dirty="0"/>
              <a:t>02-fra-eng French-English</a:t>
            </a:r>
          </a:p>
          <a:p>
            <a:pPr>
              <a:spcAft>
                <a:spcPts val="400"/>
              </a:spcAft>
            </a:pPr>
            <a:r>
              <a:rPr lang="en-US" dirty="0"/>
              <a:t>.</a:t>
            </a:r>
          </a:p>
          <a:p>
            <a:pPr>
              <a:spcAft>
                <a:spcPts val="400"/>
              </a:spcAft>
            </a:pPr>
            <a:r>
              <a:rPr lang="en-US" dirty="0"/>
              <a:t>DEFINE </a:t>
            </a:r>
            <a:r>
              <a:rPr lang="en-US" dirty="0" err="1"/>
              <a:t>eng-lat</a:t>
            </a:r>
            <a:r>
              <a:rPr lang="en-US" dirty="0"/>
              <a:t> gold</a:t>
            </a:r>
          </a:p>
          <a:p>
            <a:pPr>
              <a:spcAft>
                <a:spcPts val="400"/>
              </a:spcAft>
            </a:pPr>
            <a:r>
              <a:rPr lang="en-US" dirty="0"/>
              <a:t>150 1 definitions found</a:t>
            </a:r>
          </a:p>
          <a:p>
            <a:pPr>
              <a:spcAft>
                <a:spcPts val="400"/>
              </a:spcAft>
            </a:pPr>
            <a:r>
              <a:rPr lang="en-US" dirty="0"/>
              <a:t>151 "gold" </a:t>
            </a:r>
            <a:r>
              <a:rPr lang="en-US" dirty="0" err="1"/>
              <a:t>eng-lat</a:t>
            </a:r>
            <a:r>
              <a:rPr lang="en-US" dirty="0"/>
              <a:t> "aurum, </a:t>
            </a:r>
            <a:r>
              <a:rPr lang="en-US" dirty="0" err="1"/>
              <a:t>i</a:t>
            </a:r>
            <a:r>
              <a:rPr lang="en-US" dirty="0"/>
              <a:t>, n."</a:t>
            </a:r>
          </a:p>
          <a:p>
            <a:pPr>
              <a:spcAft>
                <a:spcPts val="400"/>
              </a:spcAft>
            </a:pPr>
            <a:r>
              <a:rPr lang="en-US" dirty="0"/>
              <a:t>gold (noun): aurum, </a:t>
            </a:r>
            <a:r>
              <a:rPr lang="en-US" dirty="0" err="1"/>
              <a:t>i</a:t>
            </a:r>
            <a:r>
              <a:rPr lang="en-US" dirty="0"/>
              <a:t>, n.</a:t>
            </a:r>
          </a:p>
          <a:p>
            <a:pPr>
              <a:spcAft>
                <a:spcPts val="400"/>
              </a:spcAft>
            </a:pPr>
            <a:r>
              <a:rPr lang="en-US" dirty="0"/>
              <a:t>.</a:t>
            </a:r>
          </a:p>
          <a:p>
            <a:pPr>
              <a:spcAft>
                <a:spcPts val="400"/>
              </a:spcAft>
            </a:pPr>
            <a:r>
              <a:rPr lang="en-US" dirty="0"/>
              <a:t>250 ok</a:t>
            </a:r>
          </a:p>
        </p:txBody>
      </p:sp>
      <p:sp>
        <p:nvSpPr>
          <p:cNvPr id="4" name="Rectangle 3">
            <a:extLst>
              <a:ext uri="{FF2B5EF4-FFF2-40B4-BE49-F238E27FC236}">
                <a16:creationId xmlns:a16="http://schemas.microsoft.com/office/drawing/2014/main" id="{1968A172-E713-4B7D-88C6-244CB64297C5}"/>
              </a:ext>
            </a:extLst>
          </p:cNvPr>
          <p:cNvSpPr/>
          <p:nvPr/>
        </p:nvSpPr>
        <p:spPr>
          <a:xfrm>
            <a:off x="6253019" y="1219200"/>
            <a:ext cx="2159566" cy="369332"/>
          </a:xfrm>
          <a:prstGeom prst="rect">
            <a:avLst/>
          </a:prstGeom>
        </p:spPr>
        <p:txBody>
          <a:bodyPr wrap="none">
            <a:spAutoFit/>
          </a:bodyPr>
          <a:lstStyle/>
          <a:p>
            <a:r>
              <a:rPr lang="en-US" b="1" dirty="0"/>
              <a:t>Example Session:</a:t>
            </a:r>
          </a:p>
        </p:txBody>
      </p:sp>
      <p:sp>
        <p:nvSpPr>
          <p:cNvPr id="7" name="Rectangle 6">
            <a:extLst>
              <a:ext uri="{FF2B5EF4-FFF2-40B4-BE49-F238E27FC236}">
                <a16:creationId xmlns:a16="http://schemas.microsoft.com/office/drawing/2014/main" id="{FA7C7679-AD08-4316-ADCE-3A1D04395A55}"/>
              </a:ext>
            </a:extLst>
          </p:cNvPr>
          <p:cNvSpPr/>
          <p:nvPr/>
        </p:nvSpPr>
        <p:spPr bwMode="auto">
          <a:xfrm>
            <a:off x="6019798" y="1066800"/>
            <a:ext cx="6019802" cy="5534025"/>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F1C264-8C42-4051-9C5E-6C5580AE7A0F}"/>
              </a:ext>
            </a:extLst>
          </p:cNvPr>
          <p:cNvSpPr/>
          <p:nvPr/>
        </p:nvSpPr>
        <p:spPr>
          <a:xfrm>
            <a:off x="381000" y="0"/>
            <a:ext cx="11430000" cy="6577763"/>
          </a:xfrm>
          <a:prstGeom prst="rect">
            <a:avLst/>
          </a:prstGeom>
        </p:spPr>
        <p:txBody>
          <a:bodyPr wrap="square">
            <a:spAutoFit/>
          </a:bodyPr>
          <a:lstStyle/>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DictClient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DICT_SERVER</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"dict.org"</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DICT_PORT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2628</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CHARSET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"UTF-8"</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DICT_SERVER</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DICT_PORT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out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getOutputStream</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in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OutputStreamWriter</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CHARSET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CHARSET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"Server: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Read server greeting</a:t>
            </a:r>
            <a:endParaRPr lang="en-US"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	     String</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query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"DEFINE </a:t>
            </a:r>
            <a:r>
              <a:rPr lang="en-US" sz="1050"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eng-lat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gold\r\n"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Send definition request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Latin translation of "gold"</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write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query</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writer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flush</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Print response</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response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startsWith</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"250"</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End of transmission</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break</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ex</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"Connection error: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ex</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SimSun" panose="02010600030101010101" pitchFamily="2" charset="-122"/>
              <a:cs typeface="Times New Roman" panose="02020603050405020304" pitchFamily="18" charset="0"/>
            </a:endParaRPr>
          </a:p>
        </p:txBody>
      </p:sp>
      <p:sp>
        <p:nvSpPr>
          <p:cNvPr id="23554" name="文本框 1">
            <a:extLst>
              <a:ext uri="{FF2B5EF4-FFF2-40B4-BE49-F238E27FC236}">
                <a16:creationId xmlns:a16="http://schemas.microsoft.com/office/drawing/2014/main" id="{AD7E3AE1-8B41-4F19-A792-374DEA0ACCF8}"/>
              </a:ext>
            </a:extLst>
          </p:cNvPr>
          <p:cNvSpPr txBox="1">
            <a:spLocks noChangeArrowheads="1"/>
          </p:cNvSpPr>
          <p:nvPr/>
        </p:nvSpPr>
        <p:spPr bwMode="auto">
          <a:xfrm>
            <a:off x="5867400" y="838200"/>
            <a:ext cx="5715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2000" b="1" dirty="0">
                <a:solidFill>
                  <a:srgbClr val="FF0000"/>
                </a:solidFill>
              </a:rPr>
              <a:t>A web-based English </a:t>
            </a:r>
            <a:r>
              <a:rPr lang="en" altLang="zh-CN" sz="2000" b="1" dirty="0">
                <a:solidFill>
                  <a:srgbClr val="FF0000"/>
                </a:solidFill>
              </a:rPr>
              <a:t>- </a:t>
            </a:r>
            <a:r>
              <a:rPr lang="en" altLang="en-US" sz="2000" b="1" dirty="0">
                <a:solidFill>
                  <a:srgbClr val="FF0000"/>
                </a:solidFill>
              </a:rPr>
              <a:t>Latin translation program, client for </a:t>
            </a:r>
            <a:r>
              <a:rPr lang="en" altLang="zh-CN" sz="2000" b="1" dirty="0">
                <a:solidFill>
                  <a:srgbClr val="FF0000"/>
                </a:solidFill>
              </a:rPr>
              <a:t>dict protocol applications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89F6BA22-6131-46DB-9325-62D2326B833C}"/>
              </a:ext>
            </a:extLst>
          </p:cNvPr>
          <p:cNvSpPr>
            <a:spLocks noGrp="1"/>
          </p:cNvSpPr>
          <p:nvPr>
            <p:ph type="title"/>
          </p:nvPr>
        </p:nvSpPr>
        <p:spPr>
          <a:xfrm>
            <a:off x="1565276" y="228600"/>
            <a:ext cx="8874123"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en-US" sz="3200" b="1" dirty="0"/>
              <a:t>Socket Closure Methods Explained</a:t>
            </a:r>
            <a:endParaRPr lang="en-US" sz="2800" dirty="0"/>
          </a:p>
        </p:txBody>
      </p:sp>
      <p:sp>
        <p:nvSpPr>
          <p:cNvPr id="25603" name="内容占位符 2">
            <a:extLst>
              <a:ext uri="{FF2B5EF4-FFF2-40B4-BE49-F238E27FC236}">
                <a16:creationId xmlns:a16="http://schemas.microsoft.com/office/drawing/2014/main" id="{FE530C90-00D3-4DDF-B085-26992FE509E8}"/>
              </a:ext>
            </a:extLst>
          </p:cNvPr>
          <p:cNvSpPr>
            <a:spLocks noGrp="1"/>
          </p:cNvSpPr>
          <p:nvPr>
            <p:ph idx="1"/>
          </p:nvPr>
        </p:nvSpPr>
        <p:spPr>
          <a:xfrm>
            <a:off x="304800" y="914400"/>
            <a:ext cx="11582399" cy="457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en-US" sz="2000" b="1" dirty="0"/>
              <a:t>Complete Closure</a:t>
            </a:r>
            <a:endParaRPr lang="en-US" sz="1800" dirty="0"/>
          </a:p>
          <a:p>
            <a:pPr lvl="1"/>
            <a:r>
              <a:rPr lang="en-US" sz="1600" dirty="0"/>
              <a:t>"The </a:t>
            </a:r>
            <a:r>
              <a:rPr lang="en-US" sz="1200" dirty="0"/>
              <a:t>close()</a:t>
            </a:r>
            <a:r>
              <a:rPr lang="en-US" sz="1600" dirty="0"/>
              <a:t> method simultaneously shuts down both input and output streams of the socket."</a:t>
            </a:r>
            <a:endParaRPr lang="en-US" sz="1400" dirty="0"/>
          </a:p>
          <a:p>
            <a:pPr lvl="0"/>
            <a:r>
              <a:rPr lang="en-US" sz="2000" b="1" dirty="0"/>
              <a:t>Half-Closure Mechanism</a:t>
            </a:r>
            <a:endParaRPr lang="en-US" sz="1800" dirty="0"/>
          </a:p>
          <a:p>
            <a:pPr lvl="1"/>
            <a:r>
              <a:rPr lang="en-US" sz="1600" dirty="0"/>
              <a:t>"To partially terminate only one direction (either input or output), use:"</a:t>
            </a:r>
            <a:endParaRPr lang="en-US" sz="1400" dirty="0"/>
          </a:p>
          <a:p>
            <a:pPr lvl="1" latinLnBrk="1"/>
            <a:r>
              <a:rPr lang="en-US" sz="1600" dirty="0" err="1"/>
              <a:t>socket.shutdownInput</a:t>
            </a:r>
            <a:r>
              <a:rPr lang="en-US" sz="1600" dirty="0"/>
              <a:t>();  </a:t>
            </a:r>
            <a:r>
              <a:rPr lang="en-US" sz="1600" i="1" dirty="0"/>
              <a:t>// Disables input stream</a:t>
            </a:r>
            <a:endParaRPr lang="en-US" sz="2400" dirty="0"/>
          </a:p>
          <a:p>
            <a:pPr lvl="1" latinLnBrk="1"/>
            <a:r>
              <a:rPr lang="en-US" sz="1600" dirty="0" err="1"/>
              <a:t>socket.shutdownOutput</a:t>
            </a:r>
            <a:r>
              <a:rPr lang="en-US" sz="1600" dirty="0"/>
              <a:t>(); </a:t>
            </a:r>
            <a:r>
              <a:rPr lang="en-US" sz="1600" i="1" dirty="0"/>
              <a:t>// Disables output stream</a:t>
            </a:r>
            <a:endParaRPr lang="en-US" sz="2400" dirty="0"/>
          </a:p>
          <a:p>
            <a:pPr lvl="1"/>
            <a:r>
              <a:rPr lang="en-US" sz="1600" dirty="0"/>
              <a:t>"Note: You must still call </a:t>
            </a:r>
            <a:r>
              <a:rPr lang="en-US" sz="1200" dirty="0"/>
              <a:t>close()</a:t>
            </a:r>
            <a:r>
              <a:rPr lang="en-US" sz="1600" dirty="0"/>
              <a:t> afterward."</a:t>
            </a:r>
            <a:endParaRPr lang="en-US" sz="1400" dirty="0"/>
          </a:p>
          <a:p>
            <a:pPr lvl="0"/>
            <a:r>
              <a:rPr lang="en-US" sz="2000" b="1" dirty="0"/>
              <a:t>Half-Closure Technical Behavior</a:t>
            </a:r>
            <a:endParaRPr lang="en-US" sz="1800" dirty="0"/>
          </a:p>
          <a:p>
            <a:pPr lvl="1"/>
            <a:r>
              <a:rPr lang="en-US" sz="1600" dirty="0"/>
              <a:t>"Half-closing doesn't actually terminate socket -only modifies attached streams to simulate end-of-stream conditions."</a:t>
            </a:r>
            <a:endParaRPr lang="en-US" sz="1400" dirty="0"/>
          </a:p>
          <a:p>
            <a:pPr lvl="1"/>
            <a:r>
              <a:rPr lang="en-US" sz="1600" dirty="0"/>
              <a:t>"No socket-associated resources (e.g., ports) are released during half-closure."</a:t>
            </a:r>
            <a:endParaRPr lang="en-US" sz="1400" dirty="0"/>
          </a:p>
          <a:p>
            <a:pPr lvl="1"/>
            <a:r>
              <a:rPr lang="en-US" sz="1600" dirty="0"/>
              <a:t>"Post-shutdown behaviors:"</a:t>
            </a:r>
            <a:endParaRPr lang="en-US" sz="1400" dirty="0"/>
          </a:p>
          <a:p>
            <a:pPr lvl="2"/>
            <a:r>
              <a:rPr lang="en-US" sz="1400" dirty="0"/>
              <a:t>"Reading from </a:t>
            </a:r>
            <a:r>
              <a:rPr lang="en-US" sz="1000" dirty="0" err="1"/>
              <a:t>shutdownInput</a:t>
            </a:r>
            <a:r>
              <a:rPr lang="en-US" sz="1000" dirty="0"/>
              <a:t>()</a:t>
            </a:r>
            <a:r>
              <a:rPr lang="en-US" sz="1400" dirty="0"/>
              <a:t> streams returns </a:t>
            </a:r>
            <a:r>
              <a:rPr lang="en-US" sz="1000" dirty="0"/>
              <a:t>-1</a:t>
            </a:r>
            <a:r>
              <a:rPr lang="en-US" sz="1400" dirty="0"/>
              <a:t>"</a:t>
            </a:r>
            <a:endParaRPr lang="en-US" sz="1200" dirty="0"/>
          </a:p>
          <a:p>
            <a:pPr lvl="2"/>
            <a:r>
              <a:rPr lang="en-US" sz="1400" dirty="0"/>
              <a:t>"Writing to </a:t>
            </a:r>
            <a:r>
              <a:rPr lang="en-US" sz="1000" dirty="0" err="1"/>
              <a:t>shutdownOutput</a:t>
            </a:r>
            <a:r>
              <a:rPr lang="en-US" sz="1000" dirty="0"/>
              <a:t>()</a:t>
            </a:r>
            <a:r>
              <a:rPr lang="en-US" sz="1400" dirty="0"/>
              <a:t> streams throws </a:t>
            </a:r>
            <a:r>
              <a:rPr lang="en-US" sz="1000" dirty="0" err="1"/>
              <a:t>IOException</a:t>
            </a:r>
            <a:r>
              <a:rPr lang="en-US" sz="1400" dirty="0"/>
              <a:t>"</a:t>
            </a:r>
            <a:endParaRPr lang="en-US" sz="1200" dirty="0"/>
          </a:p>
          <a:p>
            <a:pPr lvl="0"/>
            <a:r>
              <a:rPr lang="en-US" sz="2000" b="1" dirty="0"/>
              <a:t>Mandatory Final Closure</a:t>
            </a:r>
            <a:endParaRPr lang="en-US" sz="1800" dirty="0"/>
          </a:p>
          <a:p>
            <a:pPr lvl="1"/>
            <a:r>
              <a:rPr lang="en-US" sz="1600" dirty="0"/>
              <a:t>"Even after half-closing one or both directions, you must eventually call </a:t>
            </a:r>
            <a:r>
              <a:rPr lang="en-US" sz="1200" dirty="0"/>
              <a:t>close()</a:t>
            </a:r>
            <a:r>
              <a:rPr lang="en-US" sz="1600" dirty="0"/>
              <a:t> to release all resources."</a:t>
            </a:r>
            <a:endParaRPr lang="en-US" sz="1400" dirty="0"/>
          </a:p>
          <a:p>
            <a:pPr lvl="0"/>
            <a:r>
              <a:rPr lang="en-US" sz="2000" b="1" dirty="0"/>
              <a:t>Status Checking</a:t>
            </a:r>
            <a:r>
              <a:rPr lang="zh-CN" altLang="en-US" sz="2000" b="1" dirty="0"/>
              <a:t>： </a:t>
            </a:r>
            <a:r>
              <a:rPr lang="en-US" altLang="zh-CN" sz="1400" dirty="0"/>
              <a:t>"To verify stream states:“</a:t>
            </a:r>
          </a:p>
          <a:p>
            <a:pPr lvl="1"/>
            <a:r>
              <a:rPr lang="en-US" altLang="zh-CN" sz="1800" dirty="0" err="1"/>
              <a:t>socket.isInputShutdown</a:t>
            </a:r>
            <a:r>
              <a:rPr lang="en-US" altLang="zh-CN" sz="1800" dirty="0"/>
              <a:t>();  // Returns Boolean</a:t>
            </a:r>
          </a:p>
          <a:p>
            <a:pPr lvl="1"/>
            <a:r>
              <a:rPr lang="en-US" altLang="zh-CN" sz="1800" dirty="0" err="1"/>
              <a:t>socket.isOutputShutdown</a:t>
            </a:r>
            <a:r>
              <a:rPr lang="en-US" altLang="zh-CN" sz="1800" dirty="0"/>
              <a:t>(); // Returns </a:t>
            </a:r>
            <a:r>
              <a:rPr lang="en-US" altLang="zh-CN" sz="1800" dirty="0" err="1"/>
              <a:t>boolean</a:t>
            </a:r>
            <a:endParaRPr lang="en-US" altLang="zh-CN" sz="1800" dirty="0"/>
          </a:p>
          <a:p>
            <a:pPr marL="0" indent="0">
              <a:buNone/>
            </a:pPr>
            <a:endParaRPr lang="zh-CN" altLang="en-US" sz="1800" dirty="0"/>
          </a:p>
        </p:txBody>
      </p:sp>
      <p:sp>
        <p:nvSpPr>
          <p:cNvPr id="25604" name="文本框 2">
            <a:extLst>
              <a:ext uri="{FF2B5EF4-FFF2-40B4-BE49-F238E27FC236}">
                <a16:creationId xmlns:a16="http://schemas.microsoft.com/office/drawing/2014/main" id="{C294C37B-529B-4505-AE2E-0428A663C9E7}"/>
              </a:ext>
            </a:extLst>
          </p:cNvPr>
          <p:cNvSpPr txBox="1">
            <a:spLocks noChangeArrowheads="1"/>
          </p:cNvSpPr>
          <p:nvPr/>
        </p:nvSpPr>
        <p:spPr bwMode="auto">
          <a:xfrm>
            <a:off x="6705600" y="2487757"/>
            <a:ext cx="5943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zh-CN" sz="2000" dirty="0"/>
              <a:t>Public boolean isInputShutdown()</a:t>
            </a:r>
          </a:p>
          <a:p>
            <a:pPr>
              <a:spcBef>
                <a:spcPct val="0"/>
              </a:spcBef>
              <a:buClrTx/>
              <a:buSzTx/>
              <a:buFontTx/>
              <a:buNone/>
            </a:pPr>
            <a:r>
              <a:rPr lang="en" altLang="zh-CN" sz="2000" dirty="0"/>
              <a:t>Public boolean isOutputShutdown()</a:t>
            </a:r>
            <a:endParaRPr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2BD67235-A0E1-49E8-8AE5-DAE7500DC01D}"/>
              </a:ext>
            </a:extLst>
          </p:cNvPr>
          <p:cNvSpPr>
            <a:spLocks noGrp="1"/>
          </p:cNvSpPr>
          <p:nvPr>
            <p:ph type="title"/>
          </p:nvPr>
        </p:nvSpPr>
        <p:spPr>
          <a:xfrm>
            <a:off x="1295400" y="152398"/>
            <a:ext cx="9601199" cy="68580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US" sz="3600" b="1" dirty="0" err="1">
                <a:latin typeface="Times New Roman" panose="02020603050405020304" pitchFamily="18" charset="0"/>
                <a:cs typeface="Times New Roman" panose="02020603050405020304" pitchFamily="18" charset="0"/>
              </a:rPr>
              <a:t>Java.net.Socket</a:t>
            </a:r>
            <a:r>
              <a:rPr lang="en-US" sz="3600" b="1" dirty="0">
                <a:latin typeface="Times New Roman" panose="02020603050405020304" pitchFamily="18" charset="0"/>
                <a:cs typeface="Times New Roman" panose="02020603050405020304" pitchFamily="18" charset="0"/>
              </a:rPr>
              <a:t> Class Technical Overview</a:t>
            </a:r>
            <a:endParaRPr lang="zh-CN" altLang="en-US" sz="2400" dirty="0">
              <a:latin typeface="Times New Roman" panose="02020603050405020304" pitchFamily="18" charset="0"/>
              <a:cs typeface="Times New Roman" panose="02020603050405020304" pitchFamily="18" charset="0"/>
            </a:endParaRPr>
          </a:p>
        </p:txBody>
      </p:sp>
      <p:sp>
        <p:nvSpPr>
          <p:cNvPr id="26627" name="内容占位符 2">
            <a:extLst>
              <a:ext uri="{FF2B5EF4-FFF2-40B4-BE49-F238E27FC236}">
                <a16:creationId xmlns:a16="http://schemas.microsoft.com/office/drawing/2014/main" id="{F1FADB18-63E8-49BD-96CA-73A563AAE0EC}"/>
              </a:ext>
            </a:extLst>
          </p:cNvPr>
          <p:cNvSpPr>
            <a:spLocks noGrp="1"/>
          </p:cNvSpPr>
          <p:nvPr>
            <p:ph idx="1"/>
          </p:nvPr>
        </p:nvSpPr>
        <p:spPr>
          <a:xfrm>
            <a:off x="304800" y="731983"/>
            <a:ext cx="11734800" cy="5943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buFont typeface="+mj-lt"/>
              <a:buAutoNum type="arabicPeriod"/>
            </a:pPr>
            <a:r>
              <a:rPr lang="en-US" sz="1600" b="1" dirty="0"/>
              <a:t>Core Functionality</a:t>
            </a:r>
            <a:endParaRPr lang="en-US" sz="1400" dirty="0"/>
          </a:p>
          <a:p>
            <a:pPr lvl="1"/>
            <a:r>
              <a:rPr lang="en-US" sz="1400" dirty="0"/>
              <a:t>"The </a:t>
            </a:r>
            <a:r>
              <a:rPr lang="en-US" sz="1050" dirty="0" err="1"/>
              <a:t>java.net.Socket</a:t>
            </a:r>
            <a:r>
              <a:rPr lang="en-US" sz="1400" dirty="0"/>
              <a:t> class serves as Java's fundamental class for client-side TCP operations."</a:t>
            </a:r>
            <a:endParaRPr lang="en-US" sz="1100" dirty="0"/>
          </a:p>
          <a:p>
            <a:pPr lvl="1"/>
            <a:r>
              <a:rPr lang="en-US" sz="1400" dirty="0"/>
              <a:t>"It interacts directly with the host OS's native TCP stack through native code implementation."</a:t>
            </a:r>
            <a:endParaRPr lang="en-US" sz="1100" dirty="0"/>
          </a:p>
          <a:p>
            <a:pPr>
              <a:buFont typeface="+mj-lt"/>
              <a:buAutoNum type="arabicPeriod"/>
            </a:pPr>
            <a:r>
              <a:rPr lang="en-US" sz="1600" b="1" dirty="0"/>
              <a:t>Higher-Level Dependencies</a:t>
            </a:r>
          </a:p>
          <a:p>
            <a:pPr lvl="1"/>
            <a:r>
              <a:rPr lang="en-US" sz="1400" dirty="0"/>
              <a:t>"All client-oriented TCP connection classes (URL, </a:t>
            </a:r>
            <a:r>
              <a:rPr lang="en-US" sz="1400" dirty="0" err="1"/>
              <a:t>URLConnection</a:t>
            </a:r>
            <a:r>
              <a:rPr lang="en-US" sz="1400" dirty="0"/>
              <a:t>, Applet, </a:t>
            </a:r>
            <a:r>
              <a:rPr lang="en-US" sz="1400" dirty="0" err="1"/>
              <a:t>JEditorPane</a:t>
            </a:r>
            <a:r>
              <a:rPr lang="en-US" sz="1400" dirty="0"/>
              <a:t>) ultimately invoke this class's methods for underlying network operations."</a:t>
            </a:r>
            <a:endParaRPr lang="en-US" sz="1100" dirty="0"/>
          </a:p>
          <a:p>
            <a:pPr lvl="0">
              <a:buFont typeface="+mj-lt"/>
              <a:buAutoNum type="arabicPeriod"/>
            </a:pPr>
            <a:r>
              <a:rPr lang="en-US" sz="1600" b="1" dirty="0"/>
              <a:t>Key Features</a:t>
            </a:r>
          </a:p>
          <a:p>
            <a:pPr marL="400050" lvl="2" indent="0">
              <a:buNone/>
            </a:pPr>
            <a:r>
              <a:rPr lang="en-US" sz="1100" b="1" dirty="0">
                <a:cs typeface="+mn-cs"/>
              </a:rPr>
              <a:t>  </a:t>
            </a:r>
            <a:r>
              <a:rPr lang="en-US" sz="1200" b="1" dirty="0">
                <a:cs typeface="+mn-cs"/>
              </a:rPr>
              <a:t>Basic Constructors</a:t>
            </a:r>
          </a:p>
          <a:p>
            <a:pPr lvl="1" latinLnBrk="1"/>
            <a:r>
              <a:rPr lang="en-US" sz="1400" dirty="0"/>
              <a:t>new Socket() </a:t>
            </a:r>
            <a:r>
              <a:rPr lang="en-US" sz="1400" i="1" dirty="0"/>
              <a:t>// Unconnected instance</a:t>
            </a:r>
            <a:endParaRPr lang="en-US" sz="2400" dirty="0"/>
          </a:p>
          <a:p>
            <a:pPr lvl="1" latinLnBrk="1"/>
            <a:r>
              <a:rPr lang="en-US" sz="1400" dirty="0"/>
              <a:t>new Socket(String host, int port) </a:t>
            </a:r>
            <a:r>
              <a:rPr lang="en-US" sz="1400" i="1" dirty="0"/>
              <a:t>// Immediate connection</a:t>
            </a:r>
            <a:endParaRPr lang="en-US" sz="2400" dirty="0"/>
          </a:p>
          <a:p>
            <a:pPr marL="400050" lvl="2" indent="0">
              <a:buNone/>
            </a:pPr>
            <a:r>
              <a:rPr lang="en-US" sz="1200" b="1" dirty="0">
                <a:cs typeface="+mn-cs"/>
              </a:rPr>
              <a:t>Local Interface Selection</a:t>
            </a:r>
          </a:p>
          <a:p>
            <a:pPr lvl="1" latinLnBrk="1"/>
            <a:r>
              <a:rPr lang="en-US" sz="1400" dirty="0"/>
              <a:t>new Socket(Proxy proxy) </a:t>
            </a:r>
            <a:r>
              <a:rPr lang="en-US" sz="1400" i="1" dirty="0"/>
              <a:t>// Proxy configuration</a:t>
            </a:r>
            <a:endParaRPr lang="en-US" sz="2400" dirty="0"/>
          </a:p>
          <a:p>
            <a:pPr lvl="1" latinLnBrk="1"/>
            <a:r>
              <a:rPr lang="en-US" sz="1400" dirty="0"/>
              <a:t>new Socket(</a:t>
            </a:r>
            <a:r>
              <a:rPr lang="en-US" sz="1400" dirty="0" err="1"/>
              <a:t>InetAddress</a:t>
            </a:r>
            <a:r>
              <a:rPr lang="en-US" sz="1400" dirty="0"/>
              <a:t> address, int port, </a:t>
            </a:r>
            <a:r>
              <a:rPr lang="en-US" sz="1400" dirty="0" err="1"/>
              <a:t>InetAddress</a:t>
            </a:r>
            <a:r>
              <a:rPr lang="en-US" sz="1400" dirty="0"/>
              <a:t> </a:t>
            </a:r>
            <a:r>
              <a:rPr lang="en-US" sz="1400" dirty="0" err="1"/>
              <a:t>localAddr</a:t>
            </a:r>
            <a:r>
              <a:rPr lang="en-US" sz="1400" dirty="0"/>
              <a:t>, int </a:t>
            </a:r>
            <a:r>
              <a:rPr lang="en-US" sz="1400" dirty="0" err="1"/>
              <a:t>localPort</a:t>
            </a:r>
            <a:r>
              <a:rPr lang="en-US" sz="1400" dirty="0"/>
              <a:t>)</a:t>
            </a:r>
            <a:endParaRPr lang="en-US" sz="2400" dirty="0"/>
          </a:p>
          <a:p>
            <a:pPr marL="400050" lvl="2" indent="0">
              <a:buNone/>
            </a:pPr>
            <a:r>
              <a:rPr lang="en-US" sz="1200" b="1" dirty="0">
                <a:cs typeface="+mn-cs"/>
              </a:rPr>
              <a:t>Connection Control</a:t>
            </a:r>
          </a:p>
          <a:p>
            <a:pPr lvl="1" latinLnBrk="1"/>
            <a:r>
              <a:rPr lang="en-US" sz="1400" dirty="0"/>
              <a:t>connect(</a:t>
            </a:r>
            <a:r>
              <a:rPr lang="en-US" sz="1400" dirty="0" err="1"/>
              <a:t>SocketAddress</a:t>
            </a:r>
            <a:r>
              <a:rPr lang="en-US" sz="1400" dirty="0"/>
              <a:t> endpoint) </a:t>
            </a:r>
            <a:r>
              <a:rPr lang="en-US" sz="1400" i="1" dirty="0"/>
              <a:t>// Explicit connection</a:t>
            </a:r>
            <a:endParaRPr lang="en-US" sz="2400" dirty="0"/>
          </a:p>
          <a:p>
            <a:pPr lvl="1" latinLnBrk="1"/>
            <a:r>
              <a:rPr lang="en-US" sz="1400" dirty="0" err="1"/>
              <a:t>isConnected</a:t>
            </a:r>
            <a:r>
              <a:rPr lang="en-US" sz="1400" dirty="0"/>
              <a:t>() </a:t>
            </a:r>
            <a:r>
              <a:rPr lang="en-US" sz="1400" i="1" dirty="0"/>
              <a:t>// Status check</a:t>
            </a:r>
            <a:endParaRPr lang="en-US" sz="2400" dirty="0"/>
          </a:p>
          <a:p>
            <a:pPr marL="400050" lvl="2" indent="0">
              <a:buNone/>
            </a:pPr>
            <a:r>
              <a:rPr lang="en-US" sz="1400" b="1" dirty="0">
                <a:cs typeface="+mn-cs"/>
              </a:rPr>
              <a:t>Socket Intelligence</a:t>
            </a:r>
          </a:p>
          <a:p>
            <a:pPr lvl="1" latinLnBrk="1"/>
            <a:r>
              <a:rPr lang="en-US" sz="1400" dirty="0" err="1"/>
              <a:t>getInetAddress</a:t>
            </a:r>
            <a:r>
              <a:rPr lang="en-US" sz="1400" dirty="0"/>
              <a:t>() </a:t>
            </a:r>
            <a:r>
              <a:rPr lang="en-US" sz="1400" i="1" dirty="0"/>
              <a:t>// Remote address</a:t>
            </a:r>
            <a:endParaRPr lang="en-US" sz="2400" dirty="0"/>
          </a:p>
          <a:p>
            <a:pPr lvl="1" latinLnBrk="1"/>
            <a:r>
              <a:rPr lang="en-US" sz="1400" dirty="0" err="1"/>
              <a:t>getPort</a:t>
            </a:r>
            <a:r>
              <a:rPr lang="en-US" sz="1400" dirty="0"/>
              <a:t>() </a:t>
            </a:r>
            <a:r>
              <a:rPr lang="en-US" sz="1400" i="1" dirty="0"/>
              <a:t>// Remote port</a:t>
            </a:r>
            <a:endParaRPr lang="en-US" sz="2400" dirty="0"/>
          </a:p>
          <a:p>
            <a:pPr lvl="1" latinLnBrk="1"/>
            <a:r>
              <a:rPr lang="en-US" sz="1400" dirty="0" err="1"/>
              <a:t>getLocalPort</a:t>
            </a:r>
            <a:r>
              <a:rPr lang="en-US" sz="1400" dirty="0"/>
              <a:t>() </a:t>
            </a:r>
            <a:r>
              <a:rPr lang="en-US" sz="1400" i="1" dirty="0"/>
              <a:t>// Local binding</a:t>
            </a:r>
            <a:endParaRPr lang="en-US" sz="2400" dirty="0"/>
          </a:p>
          <a:p>
            <a:pPr marL="457200" lvl="1" indent="0">
              <a:buNone/>
            </a:pPr>
            <a:r>
              <a:rPr lang="en-US" sz="1400" b="1" dirty="0">
                <a:cs typeface="+mn-cs"/>
              </a:rPr>
              <a:t>Resource Management</a:t>
            </a:r>
          </a:p>
          <a:p>
            <a:pPr lvl="1" latinLnBrk="1"/>
            <a:r>
              <a:rPr lang="en-US" sz="1400" dirty="0"/>
              <a:t>close() </a:t>
            </a:r>
            <a:r>
              <a:rPr lang="en-US" sz="1400" i="1" dirty="0"/>
              <a:t>// Terminates connection</a:t>
            </a:r>
            <a:endParaRPr lang="en-US" sz="2400" dirty="0"/>
          </a:p>
          <a:p>
            <a:pPr lvl="1" latinLnBrk="1"/>
            <a:r>
              <a:rPr lang="en-US" sz="1400" dirty="0" err="1"/>
              <a:t>isClosed</a:t>
            </a:r>
            <a:r>
              <a:rPr lang="en-US" sz="1400" dirty="0"/>
              <a:t>() </a:t>
            </a:r>
            <a:r>
              <a:rPr lang="en-US" sz="1400" i="1" dirty="0"/>
              <a:t>// Closure status</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B2E105-6020-41E3-B39B-981A8B483290}"/>
              </a:ext>
            </a:extLst>
          </p:cNvPr>
          <p:cNvSpPr>
            <a:spLocks noGrp="1"/>
          </p:cNvSpPr>
          <p:nvPr>
            <p:ph type="sldNum" sz="quarter" idx="12"/>
          </p:nvPr>
        </p:nvSpPr>
        <p:spPr/>
        <p:txBody>
          <a:bodyPr/>
          <a:lstStyle/>
          <a:p>
            <a:pPr>
              <a:defRPr/>
            </a:pPr>
            <a:fld id="{373F13DE-3DA7-498E-AF00-CA1584652D0A}" type="slidenum">
              <a:rPr lang="en-US" altLang="zh-CN" smtClean="0"/>
              <a:pPr>
                <a:defRPr/>
              </a:pPr>
              <a:t>23</a:t>
            </a:fld>
            <a:endParaRPr lang="en-US" altLang="zh-CN"/>
          </a:p>
        </p:txBody>
      </p:sp>
      <p:sp>
        <p:nvSpPr>
          <p:cNvPr id="3" name="Rectangle 2">
            <a:extLst>
              <a:ext uri="{FF2B5EF4-FFF2-40B4-BE49-F238E27FC236}">
                <a16:creationId xmlns:a16="http://schemas.microsoft.com/office/drawing/2014/main" id="{439E3A12-4D09-40E4-A882-E894C44C3849}"/>
              </a:ext>
            </a:extLst>
          </p:cNvPr>
          <p:cNvSpPr/>
          <p:nvPr/>
        </p:nvSpPr>
        <p:spPr>
          <a:xfrm>
            <a:off x="3886200" y="381000"/>
            <a:ext cx="3118354" cy="400110"/>
          </a:xfrm>
          <a:prstGeom prst="rect">
            <a:avLst/>
          </a:prstGeom>
        </p:spPr>
        <p:txBody>
          <a:bodyPr wrap="none">
            <a:spAutoFit/>
          </a:bodyPr>
          <a:lstStyle/>
          <a:p>
            <a:r>
              <a:rPr lang="en-US" sz="2000" b="1" dirty="0">
                <a:solidFill>
                  <a:srgbClr val="FF0000"/>
                </a:solidFill>
                <a:latin typeface="quote-cjk-patch"/>
              </a:rPr>
              <a:t>Technical Comparison Table</a:t>
            </a:r>
            <a:endParaRPr lang="en-US" sz="2000" dirty="0">
              <a:solidFill>
                <a:srgbClr val="FF0000"/>
              </a:solidFill>
            </a:endParaRPr>
          </a:p>
        </p:txBody>
      </p:sp>
      <p:graphicFrame>
        <p:nvGraphicFramePr>
          <p:cNvPr id="4" name="Table 3">
            <a:extLst>
              <a:ext uri="{FF2B5EF4-FFF2-40B4-BE49-F238E27FC236}">
                <a16:creationId xmlns:a16="http://schemas.microsoft.com/office/drawing/2014/main" id="{8211C6F3-BD92-44F5-B8C6-0A804DA09C78}"/>
              </a:ext>
            </a:extLst>
          </p:cNvPr>
          <p:cNvGraphicFramePr>
            <a:graphicFrameLocks noGrp="1"/>
          </p:cNvGraphicFramePr>
          <p:nvPr>
            <p:extLst>
              <p:ext uri="{D42A27DB-BD31-4B8C-83A1-F6EECF244321}">
                <p14:modId xmlns:p14="http://schemas.microsoft.com/office/powerpoint/2010/main" val="2588455800"/>
              </p:ext>
            </p:extLst>
          </p:nvPr>
        </p:nvGraphicFramePr>
        <p:xfrm>
          <a:off x="533400" y="990600"/>
          <a:ext cx="11388725" cy="2321179"/>
        </p:xfrm>
        <a:graphic>
          <a:graphicData uri="http://schemas.openxmlformats.org/drawingml/2006/table">
            <a:tbl>
              <a:tblPr firstRow="1" firstCol="1" bandRow="1"/>
              <a:tblGrid>
                <a:gridCol w="2487193">
                  <a:extLst>
                    <a:ext uri="{9D8B030D-6E8A-4147-A177-3AD203B41FA5}">
                      <a16:colId xmlns:a16="http://schemas.microsoft.com/office/drawing/2014/main" val="1094822022"/>
                    </a:ext>
                  </a:extLst>
                </a:gridCol>
                <a:gridCol w="4450766">
                  <a:extLst>
                    <a:ext uri="{9D8B030D-6E8A-4147-A177-3AD203B41FA5}">
                      <a16:colId xmlns:a16="http://schemas.microsoft.com/office/drawing/2014/main" val="3181537770"/>
                    </a:ext>
                  </a:extLst>
                </a:gridCol>
                <a:gridCol w="4450766">
                  <a:extLst>
                    <a:ext uri="{9D8B030D-6E8A-4147-A177-3AD203B41FA5}">
                      <a16:colId xmlns:a16="http://schemas.microsoft.com/office/drawing/2014/main" val="521050011"/>
                    </a:ext>
                  </a:extLst>
                </a:gridCol>
              </a:tblGrid>
              <a:tr h="0">
                <a:tc>
                  <a:txBody>
                    <a:bodyPr/>
                    <a:lstStyle/>
                    <a:p>
                      <a:pPr marL="0" marR="0">
                        <a:lnSpc>
                          <a:spcPct val="107000"/>
                        </a:lnSpc>
                        <a:spcBef>
                          <a:spcPts val="0"/>
                        </a:spcBef>
                        <a:spcAft>
                          <a:spcPts val="0"/>
                        </a:spcAft>
                      </a:pPr>
                      <a:r>
                        <a:rPr lang="en-US" sz="1400" b="1">
                          <a:solidFill>
                            <a:srgbClr val="002060"/>
                          </a:solidFill>
                          <a:effectLst/>
                          <a:latin typeface="Segoe UI" panose="020B0502040204020203" pitchFamily="34" charset="0"/>
                          <a:ea typeface="Times New Roman" panose="02020603050405020304" pitchFamily="18" charset="0"/>
                          <a:cs typeface="Times New Roman" panose="02020603050405020304" pitchFamily="18" charset="0"/>
                        </a:rPr>
                        <a:t>Feature</a:t>
                      </a:r>
                      <a:endParaRPr lang="en-US" sz="140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002060"/>
                          </a:solidFill>
                          <a:effectLst/>
                          <a:latin typeface="Segoe UI" panose="020B0502040204020203" pitchFamily="34" charset="0"/>
                          <a:ea typeface="Times New Roman" panose="02020603050405020304" pitchFamily="18" charset="0"/>
                          <a:cs typeface="Times New Roman" panose="02020603050405020304" pitchFamily="18" charset="0"/>
                        </a:rPr>
                        <a:t>Method/Constructor</a:t>
                      </a:r>
                      <a:endParaRPr lang="en-US" sz="140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dirty="0">
                          <a:solidFill>
                            <a:srgbClr val="002060"/>
                          </a:solidFill>
                          <a:effectLst/>
                          <a:latin typeface="Segoe UI" panose="020B0502040204020203" pitchFamily="34" charset="0"/>
                          <a:ea typeface="Times New Roman" panose="02020603050405020304" pitchFamily="18" charset="0"/>
                          <a:cs typeface="Times New Roman" panose="02020603050405020304" pitchFamily="18" charset="0"/>
                        </a:rPr>
                        <a:t>Protocol Level</a:t>
                      </a:r>
                      <a:endParaRPr lang="en-US" sz="1400" dirty="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1910822"/>
                  </a:ext>
                </a:extLst>
              </a:tr>
              <a:tr h="0">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Basic Connection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Socket(String, int)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TCP SYN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07382896"/>
                  </a:ext>
                </a:extLst>
              </a:tr>
              <a:tr h="0">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Delayed Connection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US" sz="12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connect()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Lazy TCP handshake</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82039671"/>
                  </a:ext>
                </a:extLst>
              </a:tr>
              <a:tr h="0">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Local Binding</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Socket(addr, port, localAddr, localPort)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IP layer control</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00335951"/>
                  </a:ext>
                </a:extLst>
              </a:tr>
              <a:tr h="0">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Proxy Support</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Socket(Proxy)</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Application-layer routing</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5834134"/>
                  </a:ext>
                </a:extLst>
              </a:tr>
              <a:tr h="0">
                <a:tc>
                  <a:txBody>
                    <a:bodyPr/>
                    <a:lstStyle/>
                    <a:p>
                      <a:pPr marL="0" marR="0">
                        <a:lnSpc>
                          <a:spcPct val="107000"/>
                        </a:lnSpc>
                        <a:spcBef>
                          <a:spcPts val="0"/>
                        </a:spcBef>
                        <a:spcAft>
                          <a:spcPts val="0"/>
                        </a:spcAft>
                      </a:pP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Status Checks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isConnected()</a:t>
                      </a:r>
                      <a:r>
                        <a:rPr lang="en-US" sz="12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a:t>
                      </a:r>
                      <a:r>
                        <a:rPr lang="en-US" sz="12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isClosed()</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2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TCP state tracking</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91297699"/>
                  </a:ext>
                </a:extLst>
              </a:tr>
            </a:tbl>
          </a:graphicData>
        </a:graphic>
      </p:graphicFrame>
    </p:spTree>
    <p:extLst>
      <p:ext uri="{BB962C8B-B14F-4D97-AF65-F5344CB8AC3E}">
        <p14:creationId xmlns:p14="http://schemas.microsoft.com/office/powerpoint/2010/main" val="2108795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框 1">
            <a:extLst>
              <a:ext uri="{FF2B5EF4-FFF2-40B4-BE49-F238E27FC236}">
                <a16:creationId xmlns:a16="http://schemas.microsoft.com/office/drawing/2014/main" id="{D79E04B3-8BDB-4C55-958D-97C26BD9A367}"/>
              </a:ext>
            </a:extLst>
          </p:cNvPr>
          <p:cNvSpPr txBox="1">
            <a:spLocks noChangeArrowheads="1"/>
          </p:cNvSpPr>
          <p:nvPr/>
        </p:nvSpPr>
        <p:spPr bwMode="auto">
          <a:xfrm>
            <a:off x="7259782" y="457200"/>
            <a:ext cx="4343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 altLang="en-US" sz="2000" dirty="0">
                <a:solidFill>
                  <a:srgbClr val="FF0000"/>
                </a:solidFill>
              </a:rPr>
              <a:t>Program implementation: Check which of the first </a:t>
            </a:r>
            <a:r>
              <a:rPr lang="en" altLang="zh-CN" sz="2000" dirty="0">
                <a:solidFill>
                  <a:srgbClr val="FF0000"/>
                </a:solidFill>
              </a:rPr>
              <a:t>1024 ports on the specified host have TCP </a:t>
            </a:r>
            <a:r>
              <a:rPr lang="en" altLang="en-US" sz="2000" dirty="0">
                <a:solidFill>
                  <a:srgbClr val="FF0000"/>
                </a:solidFill>
              </a:rPr>
              <a:t>servers installed</a:t>
            </a:r>
          </a:p>
        </p:txBody>
      </p:sp>
      <p:sp>
        <p:nvSpPr>
          <p:cNvPr id="2" name="Rectangle 1">
            <a:extLst>
              <a:ext uri="{FF2B5EF4-FFF2-40B4-BE49-F238E27FC236}">
                <a16:creationId xmlns:a16="http://schemas.microsoft.com/office/drawing/2014/main" id="{14AB5792-028B-44DF-99DE-33AB2AF49812}"/>
              </a:ext>
            </a:extLst>
          </p:cNvPr>
          <p:cNvSpPr/>
          <p:nvPr/>
        </p:nvSpPr>
        <p:spPr>
          <a:xfrm>
            <a:off x="304800" y="149959"/>
            <a:ext cx="11277600" cy="6555641"/>
          </a:xfrm>
          <a:prstGeom prst="rect">
            <a:avLst/>
          </a:prstGeom>
        </p:spPr>
        <p:txBody>
          <a:bodyPr wrap="square">
            <a:spAutoFit/>
          </a:bodyPr>
          <a:lstStyle/>
          <a:p>
            <a:r>
              <a:rPr lang="en-US" sz="1400" dirty="0"/>
              <a:t>import java.net.*;</a:t>
            </a:r>
          </a:p>
          <a:p>
            <a:r>
              <a:rPr lang="en-US" sz="1400" dirty="0"/>
              <a:t>import </a:t>
            </a:r>
            <a:r>
              <a:rPr lang="en-US" sz="1400" dirty="0" err="1"/>
              <a:t>java.util</a:t>
            </a:r>
            <a:r>
              <a:rPr lang="en-US" sz="1400" dirty="0"/>
              <a:t>.*;</a:t>
            </a:r>
          </a:p>
          <a:p>
            <a:endParaRPr lang="en-US" sz="1400" dirty="0"/>
          </a:p>
          <a:p>
            <a:r>
              <a:rPr lang="en-US" sz="1400" dirty="0"/>
              <a:t>public class </a:t>
            </a:r>
            <a:r>
              <a:rPr lang="en-US" sz="1400" dirty="0" err="1"/>
              <a:t>PortScanner</a:t>
            </a:r>
            <a:r>
              <a:rPr lang="en-US" sz="1400" dirty="0"/>
              <a:t> {</a:t>
            </a:r>
          </a:p>
          <a:p>
            <a:r>
              <a:rPr lang="en-US" sz="1400" dirty="0"/>
              <a:t>    </a:t>
            </a:r>
          </a:p>
          <a:p>
            <a:r>
              <a:rPr lang="en-US" sz="1400" dirty="0"/>
              <a:t>    public static void main(String[] </a:t>
            </a:r>
            <a:r>
              <a:rPr lang="en-US" sz="1400" dirty="0" err="1"/>
              <a:t>args</a:t>
            </a:r>
            <a:r>
              <a:rPr lang="en-US" sz="1400" dirty="0"/>
              <a:t>) {</a:t>
            </a:r>
          </a:p>
          <a:p>
            <a:r>
              <a:rPr lang="en-US" sz="1400" dirty="0"/>
              <a:t>        // Parse command line arguments</a:t>
            </a:r>
          </a:p>
          <a:p>
            <a:r>
              <a:rPr lang="en-US" sz="1400" dirty="0"/>
              <a:t>        String host = </a:t>
            </a:r>
            <a:r>
              <a:rPr lang="en-US" sz="1400" dirty="0" err="1"/>
              <a:t>args.length</a:t>
            </a:r>
            <a:r>
              <a:rPr lang="en-US" sz="1400" dirty="0"/>
              <a:t> &gt; 0 ? </a:t>
            </a:r>
            <a:r>
              <a:rPr lang="en-US" sz="1400" dirty="0" err="1"/>
              <a:t>args</a:t>
            </a:r>
            <a:r>
              <a:rPr lang="en-US" sz="1400" dirty="0"/>
              <a:t>[0] : "localhost";</a:t>
            </a:r>
          </a:p>
          <a:p>
            <a:r>
              <a:rPr lang="en-US" sz="1400" dirty="0"/>
              <a:t>        int </a:t>
            </a:r>
            <a:r>
              <a:rPr lang="en-US" sz="1400" dirty="0" err="1"/>
              <a:t>startPort</a:t>
            </a:r>
            <a:r>
              <a:rPr lang="en-US" sz="1400" dirty="0"/>
              <a:t> = </a:t>
            </a:r>
            <a:r>
              <a:rPr lang="en-US" sz="1400" dirty="0" err="1"/>
              <a:t>args.length</a:t>
            </a:r>
            <a:r>
              <a:rPr lang="en-US" sz="1400" dirty="0"/>
              <a:t> &gt; 1 ? </a:t>
            </a:r>
            <a:r>
              <a:rPr lang="en-US" sz="1400" dirty="0" err="1"/>
              <a:t>Integer.parseInt</a:t>
            </a:r>
            <a:r>
              <a:rPr lang="en-US" sz="1400" dirty="0"/>
              <a:t>(</a:t>
            </a:r>
            <a:r>
              <a:rPr lang="en-US" sz="1400" dirty="0" err="1"/>
              <a:t>args</a:t>
            </a:r>
            <a:r>
              <a:rPr lang="en-US" sz="1400" dirty="0"/>
              <a:t>[1]) : 1;</a:t>
            </a:r>
          </a:p>
          <a:p>
            <a:r>
              <a:rPr lang="en-US" sz="1400" dirty="0"/>
              <a:t>        int </a:t>
            </a:r>
            <a:r>
              <a:rPr lang="en-US" sz="1400" dirty="0" err="1"/>
              <a:t>endPort</a:t>
            </a:r>
            <a:r>
              <a:rPr lang="en-US" sz="1400" dirty="0"/>
              <a:t> = </a:t>
            </a:r>
            <a:r>
              <a:rPr lang="en-US" sz="1400" dirty="0" err="1"/>
              <a:t>args.length</a:t>
            </a:r>
            <a:r>
              <a:rPr lang="en-US" sz="1400" dirty="0"/>
              <a:t> &gt; 2 ? </a:t>
            </a:r>
            <a:r>
              <a:rPr lang="en-US" sz="1400" dirty="0" err="1"/>
              <a:t>Integer.parseInt</a:t>
            </a:r>
            <a:r>
              <a:rPr lang="en-US" sz="1400" dirty="0"/>
              <a:t>(</a:t>
            </a:r>
            <a:r>
              <a:rPr lang="en-US" sz="1400" dirty="0" err="1"/>
              <a:t>args</a:t>
            </a:r>
            <a:r>
              <a:rPr lang="en-US" sz="1400" dirty="0"/>
              <a:t>[2]) : 1024;</a:t>
            </a:r>
          </a:p>
          <a:p>
            <a:r>
              <a:rPr lang="en-US" sz="1400" dirty="0"/>
              <a:t>        int timeout = </a:t>
            </a:r>
            <a:r>
              <a:rPr lang="en-US" sz="1400" dirty="0" err="1"/>
              <a:t>args.length</a:t>
            </a:r>
            <a:r>
              <a:rPr lang="en-US" sz="1400" dirty="0"/>
              <a:t> &gt; 3 ? </a:t>
            </a:r>
            <a:r>
              <a:rPr lang="en-US" sz="1400" dirty="0" err="1"/>
              <a:t>Integer.parseInt</a:t>
            </a:r>
            <a:r>
              <a:rPr lang="en-US" sz="1400" dirty="0"/>
              <a:t>(</a:t>
            </a:r>
            <a:r>
              <a:rPr lang="en-US" sz="1400" dirty="0" err="1"/>
              <a:t>args</a:t>
            </a:r>
            <a:r>
              <a:rPr lang="en-US" sz="1400" dirty="0"/>
              <a:t>[3]) : 200;</a:t>
            </a:r>
          </a:p>
          <a:p>
            <a:endParaRPr lang="en-US" sz="1400" dirty="0"/>
          </a:p>
          <a:p>
            <a:r>
              <a:rPr lang="en-US" sz="1400" dirty="0"/>
              <a:t>        </a:t>
            </a:r>
            <a:r>
              <a:rPr lang="en-US" sz="1400" dirty="0" err="1"/>
              <a:t>System.out.printf</a:t>
            </a:r>
            <a:r>
              <a:rPr lang="en-US" sz="1400" dirty="0"/>
              <a:t>("Scanning %s (ports %d-%d)...\n", host, </a:t>
            </a:r>
            <a:r>
              <a:rPr lang="en-US" sz="1400" dirty="0" err="1"/>
              <a:t>startPort</a:t>
            </a:r>
            <a:r>
              <a:rPr lang="en-US" sz="1400" dirty="0"/>
              <a:t>, </a:t>
            </a:r>
            <a:r>
              <a:rPr lang="en-US" sz="1400" dirty="0" err="1"/>
              <a:t>endPort</a:t>
            </a:r>
            <a:r>
              <a:rPr lang="en-US" sz="1400" dirty="0"/>
              <a:t>);</a:t>
            </a:r>
          </a:p>
          <a:p>
            <a:r>
              <a:rPr lang="en-US" sz="1400" dirty="0"/>
              <a:t>        </a:t>
            </a:r>
          </a:p>
          <a:p>
            <a:r>
              <a:rPr lang="en-US" sz="1400" dirty="0"/>
              <a:t>        // Scan ports</a:t>
            </a:r>
          </a:p>
          <a:p>
            <a:r>
              <a:rPr lang="en-US" sz="1400" dirty="0"/>
              <a:t>        for (int port = </a:t>
            </a:r>
            <a:r>
              <a:rPr lang="en-US" sz="1400" dirty="0" err="1"/>
              <a:t>startPort</a:t>
            </a:r>
            <a:r>
              <a:rPr lang="en-US" sz="1400" dirty="0"/>
              <a:t>; port &lt;= </a:t>
            </a:r>
            <a:r>
              <a:rPr lang="en-US" sz="1400" dirty="0" err="1"/>
              <a:t>endPort</a:t>
            </a:r>
            <a:r>
              <a:rPr lang="en-US" sz="1400" dirty="0"/>
              <a:t>; port++) {</a:t>
            </a:r>
          </a:p>
          <a:p>
            <a:r>
              <a:rPr lang="en-US" sz="1400" dirty="0"/>
              <a:t>            try (Socket </a:t>
            </a:r>
            <a:r>
              <a:rPr lang="en-US" sz="1400" dirty="0" err="1"/>
              <a:t>socket</a:t>
            </a:r>
            <a:r>
              <a:rPr lang="en-US" sz="1400" dirty="0"/>
              <a:t> = new Socket()) {</a:t>
            </a:r>
          </a:p>
          <a:p>
            <a:r>
              <a:rPr lang="en-US" sz="1400" dirty="0"/>
              <a:t>                </a:t>
            </a:r>
            <a:r>
              <a:rPr lang="en-US" sz="1400" dirty="0" err="1"/>
              <a:t>socket.connect</a:t>
            </a:r>
            <a:r>
              <a:rPr lang="en-US" sz="1400" dirty="0"/>
              <a:t>(new </a:t>
            </a:r>
            <a:r>
              <a:rPr lang="en-US" sz="1400" dirty="0" err="1"/>
              <a:t>InetSocketAddress</a:t>
            </a:r>
            <a:r>
              <a:rPr lang="en-US" sz="1400" dirty="0"/>
              <a:t>(host, port), timeout);</a:t>
            </a:r>
          </a:p>
          <a:p>
            <a:r>
              <a:rPr lang="en-US" sz="1400" dirty="0"/>
              <a:t>                </a:t>
            </a:r>
            <a:r>
              <a:rPr lang="en-US" sz="1400" dirty="0" err="1"/>
              <a:t>System.out.printf</a:t>
            </a:r>
            <a:r>
              <a:rPr lang="en-US" sz="1400" dirty="0"/>
              <a:t>("Port %d: OPEN - %s\n", port, </a:t>
            </a:r>
            <a:r>
              <a:rPr lang="en-US" sz="1400" dirty="0" err="1"/>
              <a:t>getServiceName</a:t>
            </a:r>
            <a:r>
              <a:rPr lang="en-US" sz="1400" dirty="0"/>
              <a:t>(port));</a:t>
            </a:r>
          </a:p>
          <a:p>
            <a:r>
              <a:rPr lang="en-US" sz="1400" dirty="0"/>
              <a:t>            } catch (Exception ex) {</a:t>
            </a:r>
          </a:p>
          <a:p>
            <a:r>
              <a:rPr lang="en-US" sz="1400" dirty="0"/>
              <a:t>                // Closed/filtered port</a:t>
            </a:r>
          </a:p>
          <a:p>
            <a:r>
              <a:rPr lang="en-US" sz="1400" dirty="0"/>
              <a:t>            }</a:t>
            </a:r>
          </a:p>
          <a:p>
            <a:r>
              <a:rPr lang="en-US" sz="1400" dirty="0"/>
              <a:t>        }</a:t>
            </a:r>
          </a:p>
          <a:p>
            <a:r>
              <a:rPr lang="en-US" sz="1400" dirty="0"/>
              <a:t>    }</a:t>
            </a:r>
          </a:p>
          <a:p>
            <a:endParaRPr lang="en-US" sz="1400" dirty="0"/>
          </a:p>
          <a:p>
            <a:r>
              <a:rPr lang="en-US" sz="1400" dirty="0"/>
              <a:t>    private static String </a:t>
            </a:r>
            <a:r>
              <a:rPr lang="en-US" sz="1400" dirty="0" err="1"/>
              <a:t>getServiceName</a:t>
            </a:r>
            <a:r>
              <a:rPr lang="en-US" sz="1400" dirty="0"/>
              <a:t>(int port) {</a:t>
            </a:r>
          </a:p>
          <a:p>
            <a:r>
              <a:rPr lang="en-US" sz="1400" dirty="0"/>
              <a:t>        return </a:t>
            </a:r>
            <a:r>
              <a:rPr lang="en-US" sz="1400" dirty="0" err="1"/>
              <a:t>Optional.ofNullable</a:t>
            </a:r>
            <a:r>
              <a:rPr lang="en-US" sz="1400" dirty="0"/>
              <a:t>(</a:t>
            </a:r>
            <a:r>
              <a:rPr lang="en-US" sz="1400" dirty="0" err="1"/>
              <a:t>ServiceName.getServiceName</a:t>
            </a:r>
            <a:r>
              <a:rPr lang="en-US" sz="1400" dirty="0"/>
              <a:t>(port))</a:t>
            </a:r>
          </a:p>
          <a:p>
            <a:r>
              <a:rPr lang="en-US" sz="1400" dirty="0"/>
              <a:t>                      .</a:t>
            </a:r>
            <a:r>
              <a:rPr lang="en-US" sz="1400" dirty="0" err="1"/>
              <a:t>orElse</a:t>
            </a:r>
            <a:r>
              <a:rPr lang="en-US" sz="1400" dirty="0"/>
              <a:t>("Unknown service");</a:t>
            </a:r>
          </a:p>
          <a:p>
            <a:r>
              <a:rPr lang="en-US" sz="1400" dirty="0"/>
              <a:t>    }</a:t>
            </a:r>
          </a:p>
          <a:p>
            <a:r>
              <a:rPr lang="en-US" sz="1400" dirty="0"/>
              <a:t>}</a:t>
            </a:r>
          </a:p>
        </p:txBody>
      </p:sp>
      <p:sp>
        <p:nvSpPr>
          <p:cNvPr id="3" name="Rectangle 2">
            <a:extLst>
              <a:ext uri="{FF2B5EF4-FFF2-40B4-BE49-F238E27FC236}">
                <a16:creationId xmlns:a16="http://schemas.microsoft.com/office/drawing/2014/main" id="{4284B22E-BFD8-4D8D-89B9-577CB68503D1}"/>
              </a:ext>
            </a:extLst>
          </p:cNvPr>
          <p:cNvSpPr/>
          <p:nvPr/>
        </p:nvSpPr>
        <p:spPr>
          <a:xfrm>
            <a:off x="6934200" y="2590800"/>
            <a:ext cx="5105399" cy="2800767"/>
          </a:xfrm>
          <a:prstGeom prst="rect">
            <a:avLst/>
          </a:prstGeom>
        </p:spPr>
        <p:txBody>
          <a:bodyPr wrap="square">
            <a:spAutoFit/>
          </a:bodyPr>
          <a:lstStyle/>
          <a:p>
            <a:pPr>
              <a:buFont typeface="+mj-lt"/>
              <a:buAutoNum type="arabicPeriod"/>
            </a:pPr>
            <a:r>
              <a:rPr lang="en-US" sz="1600" b="1" dirty="0">
                <a:solidFill>
                  <a:srgbClr val="404040"/>
                </a:solidFill>
                <a:latin typeface="quote-cjk-patch"/>
              </a:rPr>
              <a:t>Command-line Parameters</a:t>
            </a:r>
            <a:r>
              <a:rPr lang="en-US" sz="1600" dirty="0">
                <a:solidFill>
                  <a:srgbClr val="404040"/>
                </a:solidFill>
                <a:latin typeface="quote-cjk-patch"/>
              </a:rPr>
              <a:t>:</a:t>
            </a:r>
          </a:p>
          <a:p>
            <a:pPr marL="742950" lvl="1" indent="-285750">
              <a:buFont typeface="+mj-lt"/>
              <a:buAutoNum type="arabicPeriod"/>
            </a:pPr>
            <a:r>
              <a:rPr lang="en-US" sz="1600" dirty="0" err="1">
                <a:solidFill>
                  <a:srgbClr val="404040"/>
                </a:solidFill>
                <a:latin typeface="quote-cjk-patch"/>
              </a:rPr>
              <a:t>Arg</a:t>
            </a:r>
            <a:r>
              <a:rPr lang="en-US" sz="1600" dirty="0">
                <a:solidFill>
                  <a:srgbClr val="404040"/>
                </a:solidFill>
                <a:latin typeface="quote-cjk-patch"/>
              </a:rPr>
              <a:t> 0: Hostname/IP (default: localhost)</a:t>
            </a:r>
          </a:p>
          <a:p>
            <a:pPr marL="742950" lvl="1" indent="-285750">
              <a:buFont typeface="+mj-lt"/>
              <a:buAutoNum type="arabicPeriod"/>
            </a:pPr>
            <a:r>
              <a:rPr lang="en-US" sz="1600" dirty="0" err="1">
                <a:solidFill>
                  <a:srgbClr val="404040"/>
                </a:solidFill>
                <a:latin typeface="quote-cjk-patch"/>
              </a:rPr>
              <a:t>Arg</a:t>
            </a:r>
            <a:r>
              <a:rPr lang="en-US" sz="1600" dirty="0">
                <a:solidFill>
                  <a:srgbClr val="404040"/>
                </a:solidFill>
                <a:latin typeface="quote-cjk-patch"/>
              </a:rPr>
              <a:t> 1: Start port (default: 1)</a:t>
            </a:r>
          </a:p>
          <a:p>
            <a:pPr marL="742950" lvl="1" indent="-285750">
              <a:buFont typeface="+mj-lt"/>
              <a:buAutoNum type="arabicPeriod"/>
            </a:pPr>
            <a:r>
              <a:rPr lang="en-US" sz="1600" dirty="0" err="1">
                <a:solidFill>
                  <a:srgbClr val="404040"/>
                </a:solidFill>
                <a:latin typeface="quote-cjk-patch"/>
              </a:rPr>
              <a:t>Arg</a:t>
            </a:r>
            <a:r>
              <a:rPr lang="en-US" sz="1600" dirty="0">
                <a:solidFill>
                  <a:srgbClr val="404040"/>
                </a:solidFill>
                <a:latin typeface="quote-cjk-patch"/>
              </a:rPr>
              <a:t> 2: End port (default: 1024)</a:t>
            </a:r>
          </a:p>
          <a:p>
            <a:pPr marL="742950" lvl="1" indent="-285750">
              <a:buFont typeface="+mj-lt"/>
              <a:buAutoNum type="arabicPeriod"/>
            </a:pPr>
            <a:r>
              <a:rPr lang="en-US" sz="1600" dirty="0" err="1">
                <a:solidFill>
                  <a:srgbClr val="404040"/>
                </a:solidFill>
                <a:latin typeface="quote-cjk-patch"/>
              </a:rPr>
              <a:t>Arg</a:t>
            </a:r>
            <a:r>
              <a:rPr lang="en-US" sz="1600" dirty="0">
                <a:solidFill>
                  <a:srgbClr val="404040"/>
                </a:solidFill>
                <a:latin typeface="quote-cjk-patch"/>
              </a:rPr>
              <a:t> 3: Timeout </a:t>
            </a:r>
            <a:r>
              <a:rPr lang="en-US" sz="1600" dirty="0" err="1">
                <a:solidFill>
                  <a:srgbClr val="404040"/>
                </a:solidFill>
                <a:latin typeface="quote-cjk-patch"/>
              </a:rPr>
              <a:t>ms</a:t>
            </a:r>
            <a:r>
              <a:rPr lang="en-US" sz="1600" dirty="0">
                <a:solidFill>
                  <a:srgbClr val="404040"/>
                </a:solidFill>
                <a:latin typeface="quote-cjk-patch"/>
              </a:rPr>
              <a:t> (default: 200)</a:t>
            </a:r>
          </a:p>
          <a:p>
            <a:pPr lvl="1"/>
            <a:endParaRPr lang="en-US" sz="1600" dirty="0">
              <a:solidFill>
                <a:srgbClr val="404040"/>
              </a:solidFill>
              <a:latin typeface="quote-cjk-patch"/>
            </a:endParaRPr>
          </a:p>
          <a:p>
            <a:pPr>
              <a:buFont typeface="+mj-lt"/>
              <a:buAutoNum type="arabicPeriod"/>
            </a:pPr>
            <a:r>
              <a:rPr lang="en-US" sz="1600" b="1" dirty="0">
                <a:solidFill>
                  <a:srgbClr val="404040"/>
                </a:solidFill>
                <a:latin typeface="quote-cjk-patch"/>
              </a:rPr>
              <a:t>Technical Implementation</a:t>
            </a:r>
            <a:r>
              <a:rPr lang="en-US" sz="1600" dirty="0">
                <a:solidFill>
                  <a:srgbClr val="404040"/>
                </a:solidFill>
                <a:latin typeface="quote-cjk-patch"/>
              </a:rPr>
              <a:t>:</a:t>
            </a:r>
          </a:p>
          <a:p>
            <a:pPr marL="742950" lvl="1" indent="-285750">
              <a:buFont typeface="+mj-lt"/>
              <a:buAutoNum type="arabicPeriod"/>
            </a:pPr>
            <a:r>
              <a:rPr lang="en-US" sz="1600" dirty="0">
                <a:solidFill>
                  <a:srgbClr val="404040"/>
                </a:solidFill>
                <a:latin typeface="quote-cjk-patch"/>
              </a:rPr>
              <a:t>Uses non-blocking socket connection with timeout</a:t>
            </a:r>
          </a:p>
          <a:p>
            <a:pPr marL="742950" lvl="1" indent="-285750">
              <a:buFont typeface="+mj-lt"/>
              <a:buAutoNum type="arabicPeriod"/>
            </a:pPr>
            <a:r>
              <a:rPr lang="en-US" sz="1600" dirty="0">
                <a:solidFill>
                  <a:srgbClr val="404040"/>
                </a:solidFill>
                <a:latin typeface="quote-cjk-patch"/>
              </a:rPr>
              <a:t>Auto-closes sockets via try-with-resources</a:t>
            </a:r>
          </a:p>
          <a:p>
            <a:pPr marL="742950" lvl="1" indent="-285750">
              <a:buFont typeface="+mj-lt"/>
              <a:buAutoNum type="arabicPeriod"/>
            </a:pPr>
            <a:r>
              <a:rPr lang="en-US" sz="1600" dirty="0">
                <a:solidFill>
                  <a:srgbClr val="404040"/>
                </a:solidFill>
                <a:latin typeface="quote-cjk-patch"/>
              </a:rPr>
              <a:t>Includes service name resolution</a:t>
            </a:r>
          </a:p>
          <a:p>
            <a:pPr marL="742950" lvl="1" indent="-285750">
              <a:buFont typeface="+mj-lt"/>
              <a:buAutoNum type="arabicPeriod"/>
            </a:pPr>
            <a:r>
              <a:rPr lang="en-US" sz="1600" dirty="0">
                <a:solidFill>
                  <a:srgbClr val="404040"/>
                </a:solidFill>
                <a:latin typeface="quote-cjk-patch"/>
              </a:rPr>
              <a:t>Silent failure for closed ports</a:t>
            </a:r>
            <a:endParaRPr lang="en-US" sz="1600" b="0" i="0" dirty="0">
              <a:solidFill>
                <a:srgbClr val="404040"/>
              </a:solidFill>
              <a:effectLst/>
              <a:latin typeface="quote-cjk-patch"/>
            </a:endParaRPr>
          </a:p>
        </p:txBody>
      </p:sp>
      <p:sp>
        <p:nvSpPr>
          <p:cNvPr id="6" name="Rectangle 5">
            <a:extLst>
              <a:ext uri="{FF2B5EF4-FFF2-40B4-BE49-F238E27FC236}">
                <a16:creationId xmlns:a16="http://schemas.microsoft.com/office/drawing/2014/main" id="{4DC39DF5-E981-4E58-85F6-B94C0C1B6C30}"/>
              </a:ext>
            </a:extLst>
          </p:cNvPr>
          <p:cNvSpPr/>
          <p:nvPr/>
        </p:nvSpPr>
        <p:spPr bwMode="auto">
          <a:xfrm>
            <a:off x="6934201" y="2590800"/>
            <a:ext cx="5056908" cy="2862322"/>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13AEF4-6DC5-4050-BBB4-479906A785DE}"/>
              </a:ext>
            </a:extLst>
          </p:cNvPr>
          <p:cNvSpPr>
            <a:spLocks noGrp="1"/>
          </p:cNvSpPr>
          <p:nvPr>
            <p:ph type="sldNum" sz="quarter" idx="12"/>
          </p:nvPr>
        </p:nvSpPr>
        <p:spPr/>
        <p:txBody>
          <a:bodyPr/>
          <a:lstStyle/>
          <a:p>
            <a:pPr>
              <a:defRPr/>
            </a:pPr>
            <a:fld id="{2DDC9467-6456-4A72-BDC3-23028523D5A0}" type="slidenum">
              <a:rPr lang="en-US" altLang="zh-CN" smtClean="0"/>
              <a:pPr>
                <a:defRPr/>
              </a:pPr>
              <a:t>25</a:t>
            </a:fld>
            <a:endParaRPr lang="en-US" altLang="zh-CN"/>
          </a:p>
        </p:txBody>
      </p:sp>
      <p:sp>
        <p:nvSpPr>
          <p:cNvPr id="5" name="Rectangle 4">
            <a:extLst>
              <a:ext uri="{FF2B5EF4-FFF2-40B4-BE49-F238E27FC236}">
                <a16:creationId xmlns:a16="http://schemas.microsoft.com/office/drawing/2014/main" id="{7E41A5BD-1657-44CB-9EB2-25CB4A9EB6CA}"/>
              </a:ext>
            </a:extLst>
          </p:cNvPr>
          <p:cNvSpPr/>
          <p:nvPr/>
        </p:nvSpPr>
        <p:spPr>
          <a:xfrm>
            <a:off x="304800" y="304800"/>
            <a:ext cx="11582400" cy="5899757"/>
          </a:xfrm>
          <a:prstGeom prst="rect">
            <a:avLst/>
          </a:prstGeom>
        </p:spPr>
        <p:txBody>
          <a:bodyPr wrap="square">
            <a:spAutoFit/>
          </a:bodyPr>
          <a:lstStyle/>
          <a:p>
            <a:pPr marL="0" marR="0">
              <a:lnSpc>
                <a:spcPct val="107000"/>
              </a:lnSpc>
              <a:spcBef>
                <a:spcPts val="1370"/>
              </a:spcBef>
              <a:spcAft>
                <a:spcPts val="103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Code Explanation: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Optional</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ofNullable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ServiceName</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getServiceName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port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orElse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"Unknown service"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latin typeface="Calibri" panose="020F0502020204030204" pitchFamily="34" charset="0"/>
                <a:ea typeface="SimSun" panose="02010600030101010101" pitchFamily="2" charset="-122"/>
                <a:cs typeface="Times New Roman" panose="02020603050405020304" pitchFamily="18" charset="0"/>
              </a:rPr>
              <a:t>This line uses Java's Optional class to safely handle potential null values from service name lookup, with a clear fallback. </a:t>
            </a: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latin typeface="Calibri" panose="020F0502020204030204" pitchFamily="34" charset="0"/>
                <a:ea typeface="SimSun" panose="02010600030101010101" pitchFamily="2" charset="-122"/>
                <a:cs typeface="Times New Roman" panose="02020603050405020304" pitchFamily="18" charset="0"/>
              </a:rPr>
              <a:t>Here's the detailed breakdown</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ServiceName.getServiceName</a:t>
            </a:r>
            <a:r>
              <a:rPr lang="en-US" sz="16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(port)</a:t>
            </a:r>
          </a:p>
          <a:p>
            <a:pPr marL="628650" marR="0" lvl="1" indent="-171450">
              <a:lnSpc>
                <a:spcPts val="2145"/>
              </a:lnSpc>
              <a:spcBef>
                <a:spcPts val="0"/>
              </a:spcBef>
              <a:spcAft>
                <a:spcPts val="800"/>
              </a:spcAft>
              <a:buSzPts val="1000"/>
              <a:buFont typeface="Wingdings" panose="05000000000000000000" pitchFamily="2" charset="2"/>
              <a:buChar char="v"/>
              <a:tabLst>
                <a:tab pos="9144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Calls the system's service name resolution (typically from </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etc</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/services</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on Unix or registry on Windows)</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628650" marR="0" lvl="1" indent="-171450">
              <a:lnSpc>
                <a:spcPts val="2145"/>
              </a:lnSpc>
              <a:spcBef>
                <a:spcPts val="0"/>
              </a:spcBef>
              <a:spcAft>
                <a:spcPts val="300"/>
              </a:spcAft>
              <a:buSzPts val="1000"/>
              <a:buFont typeface="Wingdings" panose="05000000000000000000" pitchFamily="2" charset="2"/>
              <a:buChar char="v"/>
              <a:tabLst>
                <a:tab pos="9144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Returns either:</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1085850" marR="0" lvl="2" indent="-171450">
              <a:lnSpc>
                <a:spcPts val="2145"/>
              </a:lnSpc>
              <a:spcBef>
                <a:spcPts val="0"/>
              </a:spcBef>
              <a:spcAft>
                <a:spcPts val="800"/>
              </a:spcAft>
              <a:buSzPts val="1000"/>
              <a:buFont typeface="Wingdings" panose="05000000000000000000" pitchFamily="2" charset="2"/>
              <a:buChar char="v"/>
              <a:tabLst>
                <a:tab pos="13716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The official service name (e.g., "http" for port 80) as a </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String</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1085850" marR="0" lvl="2" indent="-171450">
              <a:lnSpc>
                <a:spcPts val="2145"/>
              </a:lnSpc>
              <a:spcBef>
                <a:spcPts val="0"/>
              </a:spcBef>
              <a:spcAft>
                <a:spcPts val="800"/>
              </a:spcAft>
              <a:buSzPts val="1000"/>
              <a:buFont typeface="Wingdings" panose="05000000000000000000" pitchFamily="2" charset="2"/>
              <a:buChar char="v"/>
              <a:tabLst>
                <a:tab pos="1371600" algn="l"/>
              </a:tabLst>
            </a:pP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if no service is registered for that port</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342900" indent="-342900">
              <a:lnSpc>
                <a:spcPts val="2145"/>
              </a:lnSpc>
              <a:spcBef>
                <a:spcPts val="0"/>
              </a:spcBef>
              <a:spcAft>
                <a:spcPts val="300"/>
              </a:spcAft>
              <a:tabLst>
                <a:tab pos="457200" algn="l"/>
              </a:tabLst>
            </a:pPr>
            <a:r>
              <a:rPr lang="en-US" sz="1600" b="1" dirty="0" err="1">
                <a:solidFill>
                  <a:srgbClr val="404040"/>
                </a:solidFill>
                <a:latin typeface="Courier New" panose="02070309020205020404" pitchFamily="49" charset="0"/>
                <a:cs typeface="Times New Roman" panose="02020603050405020304" pitchFamily="18" charset="0"/>
              </a:rPr>
              <a:t>Optional.ofNullable</a:t>
            </a:r>
            <a:r>
              <a:rPr lang="en-US" sz="1600" b="1" dirty="0">
                <a:solidFill>
                  <a:srgbClr val="404040"/>
                </a:solidFill>
                <a:latin typeface="Courier New" panose="02070309020205020404" pitchFamily="49" charset="0"/>
                <a:cs typeface="Times New Roman" panose="02020603050405020304" pitchFamily="18" charset="0"/>
              </a:rPr>
              <a:t>()</a:t>
            </a:r>
          </a:p>
          <a:p>
            <a:pPr marL="742950" marR="0" lvl="1" indent="-285750">
              <a:lnSpc>
                <a:spcPts val="2145"/>
              </a:lnSpc>
              <a:spcBef>
                <a:spcPts val="0"/>
              </a:spcBef>
              <a:spcAft>
                <a:spcPts val="300"/>
              </a:spcAft>
              <a:buSzPts val="1000"/>
              <a:buFont typeface="Wingdings" panose="05000000000000000000" pitchFamily="2" charset="2"/>
              <a:buChar char="v"/>
              <a:tabLst>
                <a:tab pos="9144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Wraps the result in an </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Optional&lt;String&gt;</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container:</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1143000" marR="0" lvl="2" indent="-228600">
              <a:lnSpc>
                <a:spcPts val="2145"/>
              </a:lnSpc>
              <a:spcBef>
                <a:spcPts val="0"/>
              </a:spcBef>
              <a:spcAft>
                <a:spcPts val="800"/>
              </a:spcAft>
              <a:buSzPts val="1000"/>
              <a:buFont typeface="Wingdings" panose="05000000000000000000" pitchFamily="2" charset="2"/>
              <a:buChar char="v"/>
              <a:tabLst>
                <a:tab pos="13716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If </a:t>
            </a:r>
            <a:r>
              <a:rPr lang="en-US" sz="1200" b="1"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getServiceName</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returns a string → </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Optional</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contains that value</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1143000" marR="0" lvl="2" indent="-228600">
              <a:lnSpc>
                <a:spcPts val="2145"/>
              </a:lnSpc>
              <a:spcBef>
                <a:spcPts val="0"/>
              </a:spcBef>
              <a:spcAft>
                <a:spcPts val="800"/>
              </a:spcAft>
              <a:buSzPts val="1000"/>
              <a:buFont typeface="Wingdings" panose="05000000000000000000" pitchFamily="2" charset="2"/>
              <a:buChar char="v"/>
              <a:tabLst>
                <a:tab pos="13716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If </a:t>
            </a:r>
            <a:r>
              <a:rPr lang="en-US" sz="1200" b="1"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getServiceName</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returns null → Creates an empty </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Optional</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Courier New" panose="02070309020205020404" pitchFamily="49" charset="0"/>
                <a:cs typeface="Times New Roman" panose="02020603050405020304" pitchFamily="18" charset="0"/>
              </a:rPr>
              <a:t>.</a:t>
            </a:r>
            <a:r>
              <a:rPr lang="en-US" sz="1600" b="1" dirty="0" err="1">
                <a:solidFill>
                  <a:srgbClr val="404040"/>
                </a:solidFill>
                <a:latin typeface="Courier New" panose="02070309020205020404" pitchFamily="49" charset="0"/>
                <a:cs typeface="Times New Roman" panose="02020603050405020304" pitchFamily="18" charset="0"/>
              </a:rPr>
              <a:t>orElse</a:t>
            </a:r>
            <a:r>
              <a:rPr lang="en-US" sz="1600" b="1" dirty="0">
                <a:solidFill>
                  <a:srgbClr val="404040"/>
                </a:solidFill>
                <a:latin typeface="Courier New" panose="02070309020205020404" pitchFamily="49" charset="0"/>
                <a:cs typeface="Times New Roman" panose="02020603050405020304" pitchFamily="18" charset="0"/>
              </a:rPr>
              <a:t>("Unknown service")</a:t>
            </a:r>
          </a:p>
          <a:p>
            <a:pPr marL="742950" marR="0" lvl="1" indent="-285750">
              <a:lnSpc>
                <a:spcPts val="2145"/>
              </a:lnSpc>
              <a:spcBef>
                <a:spcPts val="0"/>
              </a:spcBef>
              <a:spcAft>
                <a:spcPts val="800"/>
              </a:spcAft>
              <a:buSzPts val="1000"/>
              <a:buFont typeface="Wingdings" panose="05000000000000000000" pitchFamily="2" charset="2"/>
              <a:buChar char="v"/>
              <a:tabLst>
                <a:tab pos="9144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Provides a fallback value when the </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Optional</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is empty</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742950" marR="0" lvl="1" indent="-285750">
              <a:lnSpc>
                <a:spcPts val="2145"/>
              </a:lnSpc>
              <a:spcBef>
                <a:spcPts val="0"/>
              </a:spcBef>
              <a:spcAft>
                <a:spcPts val="300"/>
              </a:spcAft>
              <a:buSzPts val="1000"/>
              <a:buFont typeface="Wingdings" panose="05000000000000000000" pitchFamily="2" charset="2"/>
              <a:buChar char="v"/>
              <a:tabLst>
                <a:tab pos="9144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Returns either:</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1143000" marR="0" lvl="2" indent="-228600">
              <a:lnSpc>
                <a:spcPts val="2145"/>
              </a:lnSpc>
              <a:spcBef>
                <a:spcPts val="0"/>
              </a:spcBef>
              <a:spcAft>
                <a:spcPts val="800"/>
              </a:spcAft>
              <a:buSzPts val="1000"/>
              <a:buFont typeface="Wingdings" panose="05000000000000000000" pitchFamily="2" charset="2"/>
              <a:buChar char="v"/>
              <a:tabLst>
                <a:tab pos="13716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The actual service name if present</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1143000" marR="0" lvl="2" indent="-228600">
              <a:lnSpc>
                <a:spcPts val="2145"/>
              </a:lnSpc>
              <a:spcBef>
                <a:spcPts val="0"/>
              </a:spcBef>
              <a:spcAft>
                <a:spcPts val="800"/>
              </a:spcAft>
              <a:buSzPts val="1000"/>
              <a:buFont typeface="Wingdings" panose="05000000000000000000" pitchFamily="2" charset="2"/>
              <a:buChar char="v"/>
              <a:tabLst>
                <a:tab pos="13716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The string "Unknown service" if the original lookup was null</a:t>
            </a:r>
            <a:endParaRPr lang="en-US" sz="1400" b="1"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975C697D-E519-412B-9242-33E33B384C87}"/>
              </a:ext>
            </a:extLst>
          </p:cNvPr>
          <p:cNvSpPr/>
          <p:nvPr/>
        </p:nvSpPr>
        <p:spPr bwMode="auto">
          <a:xfrm>
            <a:off x="284018" y="264132"/>
            <a:ext cx="11603182" cy="6289068"/>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957911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3C254A2A-C3D0-458A-AFB2-DDDEEFBD9338}"/>
              </a:ext>
            </a:extLst>
          </p:cNvPr>
          <p:cNvSpPr>
            <a:spLocks noGrp="1"/>
          </p:cNvSpPr>
          <p:nvPr>
            <p:ph type="title"/>
          </p:nvPr>
        </p:nvSpPr>
        <p:spPr>
          <a:xfrm>
            <a:off x="152401" y="152400"/>
            <a:ext cx="4800600" cy="838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US" altLang="en-US" sz="2400" b="1" dirty="0"/>
              <a:t>Specifying Local Interface for Socket Connection</a:t>
            </a:r>
            <a:endParaRPr lang="en" altLang="en-US" sz="2400" b="1" dirty="0"/>
          </a:p>
        </p:txBody>
      </p:sp>
      <p:sp>
        <p:nvSpPr>
          <p:cNvPr id="29699" name="内容占位符 2">
            <a:extLst>
              <a:ext uri="{FF2B5EF4-FFF2-40B4-BE49-F238E27FC236}">
                <a16:creationId xmlns:a16="http://schemas.microsoft.com/office/drawing/2014/main" id="{7982225D-BD0D-48D3-AA33-15B3FE25C2C3}"/>
              </a:ext>
            </a:extLst>
          </p:cNvPr>
          <p:cNvSpPr>
            <a:spLocks noGrp="1"/>
          </p:cNvSpPr>
          <p:nvPr>
            <p:ph idx="1"/>
          </p:nvPr>
        </p:nvSpPr>
        <p:spPr>
          <a:xfrm>
            <a:off x="61192" y="990600"/>
            <a:ext cx="4739408" cy="5715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800"/>
              </a:spcBef>
              <a:buFont typeface="+mj-lt"/>
              <a:buAutoNum type="arabicPeriod"/>
            </a:pPr>
            <a:r>
              <a:rPr lang="en-US" altLang="zh-CN" sz="1600" b="1" dirty="0">
                <a:latin typeface="Times New Roman" panose="02020603050405020304" pitchFamily="18" charset="0"/>
                <a:cs typeface="Times New Roman" panose="02020603050405020304" pitchFamily="18" charset="0"/>
              </a:rPr>
              <a:t>When you create a socket, The first two parameters are used to specify the remote host. </a:t>
            </a:r>
          </a:p>
          <a:p>
            <a:pPr>
              <a:spcBef>
                <a:spcPts val="800"/>
              </a:spcBef>
              <a:buFont typeface="+mj-lt"/>
              <a:buAutoNum type="arabicPeriod"/>
            </a:pPr>
            <a:r>
              <a:rPr lang="en-US" altLang="zh-CN" sz="1600" b="1" dirty="0">
                <a:latin typeface="Times New Roman" panose="02020603050405020304" pitchFamily="18" charset="0"/>
                <a:cs typeface="Times New Roman" panose="02020603050405020304" pitchFamily="18" charset="0"/>
              </a:rPr>
              <a:t>You can explicitly specify the local network interface (IP) and port through the latter two parameters (optional, automatically assigned by the system if null/0 ) </a:t>
            </a:r>
          </a:p>
          <a:p>
            <a:pPr>
              <a:spcBef>
                <a:spcPts val="800"/>
              </a:spcBef>
              <a:buFont typeface="+mj-lt"/>
              <a:buAutoNum type="arabicPeriod"/>
            </a:pPr>
            <a:r>
              <a:rPr lang="en-US" altLang="zh-CN" sz="1600" b="1" dirty="0">
                <a:latin typeface="Times New Roman" panose="02020603050405020304" pitchFamily="18" charset="0"/>
                <a:cs typeface="Times New Roman" panose="02020603050405020304" pitchFamily="18" charset="0"/>
              </a:rPr>
              <a:t>If the local interface or port is unavailable (such as occupied or unauthorized), </a:t>
            </a:r>
            <a:r>
              <a:rPr lang="en-US" altLang="zh-CN" sz="1600" b="1" dirty="0" err="1">
                <a:latin typeface="Times New Roman" panose="02020603050405020304" pitchFamily="18" charset="0"/>
                <a:cs typeface="Times New Roman" panose="02020603050405020304" pitchFamily="18" charset="0"/>
              </a:rPr>
              <a:t>BindException</a:t>
            </a:r>
            <a:r>
              <a:rPr lang="en-US" altLang="zh-CN" sz="1600" b="1" dirty="0">
                <a:latin typeface="Times New Roman" panose="02020603050405020304" pitchFamily="18" charset="0"/>
                <a:cs typeface="Times New Roman" panose="02020603050405020304" pitchFamily="18" charset="0"/>
              </a:rPr>
              <a:t> (a subclass of </a:t>
            </a:r>
            <a:r>
              <a:rPr lang="en-US" altLang="zh-CN" sz="1600" b="1" dirty="0" err="1">
                <a:latin typeface="Times New Roman" panose="02020603050405020304" pitchFamily="18" charset="0"/>
                <a:cs typeface="Times New Roman" panose="02020603050405020304" pitchFamily="18" charset="0"/>
              </a:rPr>
              <a:t>IOException</a:t>
            </a:r>
            <a:r>
              <a:rPr lang="en-US" altLang="zh-CN" sz="1600" b="1" dirty="0">
                <a:latin typeface="Times New Roman" panose="02020603050405020304" pitchFamily="18" charset="0"/>
                <a:cs typeface="Times New Roman" panose="02020603050405020304" pitchFamily="18" charset="0"/>
              </a:rPr>
              <a:t>) is thrown.</a:t>
            </a:r>
          </a:p>
          <a:p>
            <a:pPr marL="0" indent="0">
              <a:spcBef>
                <a:spcPts val="800"/>
              </a:spcBef>
              <a:buNone/>
            </a:pPr>
            <a:r>
              <a:rPr lang="en-US" altLang="zh-CN" sz="1800" dirty="0">
                <a:latin typeface="Times New Roman" panose="02020603050405020304" pitchFamily="18" charset="0"/>
                <a:cs typeface="Times New Roman" panose="02020603050405020304" pitchFamily="18" charset="0"/>
              </a:rPr>
              <a:t>Exceptions</a:t>
            </a:r>
          </a:p>
          <a:p>
            <a:pPr marL="0" indent="0">
              <a:spcBef>
                <a:spcPts val="800"/>
              </a:spcBef>
              <a:buNone/>
            </a:pPr>
            <a:r>
              <a:rPr lang="en-US" altLang="zh-CN" sz="1450" dirty="0" err="1">
                <a:latin typeface="Times New Roman" panose="02020603050405020304" pitchFamily="18" charset="0"/>
                <a:cs typeface="Times New Roman" panose="02020603050405020304" pitchFamily="18" charset="0"/>
              </a:rPr>
              <a:t>BindException</a:t>
            </a:r>
            <a:r>
              <a:rPr lang="en-US" altLang="zh-CN" sz="1450" dirty="0">
                <a:latin typeface="Times New Roman" panose="02020603050405020304" pitchFamily="18" charset="0"/>
                <a:cs typeface="Times New Roman" panose="02020603050405020304" pitchFamily="18" charset="0"/>
              </a:rPr>
              <a:t>: Local port/IP unavailable (already in use or invalid). </a:t>
            </a:r>
            <a:r>
              <a:rPr lang="en-US" altLang="zh-CN" sz="1450" dirty="0" err="1">
                <a:latin typeface="Times New Roman" panose="02020603050405020304" pitchFamily="18" charset="0"/>
                <a:cs typeface="Times New Roman" panose="02020603050405020304" pitchFamily="18" charset="0"/>
              </a:rPr>
              <a:t>IOException</a:t>
            </a:r>
            <a:r>
              <a:rPr lang="en-US" altLang="zh-CN" sz="1450" dirty="0">
                <a:latin typeface="Times New Roman" panose="02020603050405020304" pitchFamily="18" charset="0"/>
                <a:cs typeface="Times New Roman" panose="02020603050405020304" pitchFamily="18" charset="0"/>
              </a:rPr>
              <a:t>: General network failures (e.g., remote host unreachable).</a:t>
            </a:r>
          </a:p>
          <a:p>
            <a:pPr marL="0" indent="0">
              <a:spcBef>
                <a:spcPts val="800"/>
              </a:spcBef>
              <a:buNone/>
            </a:pPr>
            <a:r>
              <a:rPr lang="en-US" altLang="zh-CN" sz="1450" dirty="0">
                <a:latin typeface="Times New Roman" panose="02020603050405020304" pitchFamily="18" charset="0"/>
                <a:cs typeface="Times New Roman" panose="02020603050405020304" pitchFamily="18" charset="0"/>
              </a:rPr>
              <a:t>Local Parameter Behavior: </a:t>
            </a:r>
            <a:r>
              <a:rPr lang="en-US" altLang="zh-CN" sz="1450" dirty="0" err="1">
                <a:latin typeface="Times New Roman" panose="02020603050405020304" pitchFamily="18" charset="0"/>
                <a:cs typeface="Times New Roman" panose="02020603050405020304" pitchFamily="18" charset="0"/>
              </a:rPr>
              <a:t>localAddr</a:t>
            </a:r>
            <a:r>
              <a:rPr lang="en-US" altLang="zh-CN" sz="1450" dirty="0">
                <a:latin typeface="Times New Roman" panose="02020603050405020304" pitchFamily="18" charset="0"/>
                <a:cs typeface="Times New Roman" panose="02020603050405020304" pitchFamily="18" charset="0"/>
              </a:rPr>
              <a:t>: Pass null to let OS choose the local IP (useful for multi-homed hosts). </a:t>
            </a:r>
            <a:r>
              <a:rPr lang="en-US" altLang="zh-CN" sz="1450" dirty="0" err="1">
                <a:latin typeface="Times New Roman" panose="02020603050405020304" pitchFamily="18" charset="0"/>
                <a:cs typeface="Times New Roman" panose="02020603050405020304" pitchFamily="18" charset="0"/>
              </a:rPr>
              <a:t>localPort</a:t>
            </a:r>
            <a:r>
              <a:rPr lang="en-US" altLang="zh-CN" sz="1450" dirty="0">
                <a:latin typeface="Times New Roman" panose="02020603050405020304" pitchFamily="18" charset="0"/>
                <a:cs typeface="Times New Roman" panose="02020603050405020304" pitchFamily="18" charset="0"/>
              </a:rPr>
              <a:t>: Use 0 for auto-assigned ephemeral ports.</a:t>
            </a:r>
          </a:p>
          <a:p>
            <a:pPr marL="0" indent="0">
              <a:spcBef>
                <a:spcPts val="800"/>
              </a:spcBef>
              <a:buNone/>
            </a:pPr>
            <a:r>
              <a:rPr lang="en-US" altLang="zh-CN" sz="1450" dirty="0">
                <a:latin typeface="Times New Roman" panose="02020603050405020304" pitchFamily="18" charset="0"/>
                <a:cs typeface="Times New Roman" panose="02020603050405020304" pitchFamily="18" charset="0"/>
              </a:rPr>
              <a:t>Typical Use Cases: Multi-NIC servers forcing outbound traffic through a specific interface.</a:t>
            </a:r>
          </a:p>
          <a:p>
            <a:pPr marL="0" indent="0">
              <a:spcBef>
                <a:spcPts val="800"/>
              </a:spcBef>
              <a:buNone/>
            </a:pPr>
            <a:r>
              <a:rPr lang="en-US" altLang="zh-CN" sz="1450" dirty="0">
                <a:latin typeface="Times New Roman" panose="02020603050405020304" pitchFamily="18" charset="0"/>
                <a:cs typeface="Times New Roman" panose="02020603050405020304" pitchFamily="18" charset="0"/>
              </a:rPr>
              <a:t>Applications requiring fixed local ports (must ensure availability).</a:t>
            </a:r>
            <a:endParaRPr lang="zh-CN" altLang="en-US" sz="145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7DF3011-31EA-4D7E-BB1F-9A3A053E0C41}"/>
              </a:ext>
            </a:extLst>
          </p:cNvPr>
          <p:cNvSpPr/>
          <p:nvPr/>
        </p:nvSpPr>
        <p:spPr>
          <a:xfrm>
            <a:off x="4572000" y="152400"/>
            <a:ext cx="7467600" cy="6458115"/>
          </a:xfrm>
          <a:prstGeom prst="rect">
            <a:avLst/>
          </a:prstGeom>
        </p:spPr>
        <p:txBody>
          <a:bodyPr wrap="square">
            <a:spAutoFit/>
          </a:bodyPr>
          <a:lstStyle/>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LocalInterfaceSocket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r>
              <a:rPr lang="zh-CN" altLang="en-US" sz="1100" b="1" i="1" dirty="0">
                <a:solidFill>
                  <a:srgbClr val="A0A1A7"/>
                </a:solidFill>
                <a:latin typeface="Calibri" panose="020F0502020204030204" pitchFamily="34" charset="0"/>
                <a:ea typeface="Microsoft YaHei" panose="020B0503020204020204" pitchFamily="34" charset="-122"/>
                <a:cs typeface="Microsoft YaHei" panose="020B0503020204020204" pitchFamily="34" charset="-122"/>
              </a:rPr>
              <a:t>远程主机（例如：</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Google DNS</a:t>
            </a:r>
            <a:r>
              <a:rPr lang="zh-CN" altLang="en-US" sz="1100" b="1" i="1" dirty="0">
                <a:solidFill>
                  <a:srgbClr val="A0A1A7"/>
                </a:solidFill>
                <a:latin typeface="Calibri" panose="020F0502020204030204" pitchFamily="34" charset="0"/>
                <a:ea typeface="Microsoft YaHei" panose="020B0503020204020204" pitchFamily="34" charset="-122"/>
                <a:cs typeface="Microsoft YaHei" panose="020B0503020204020204" pitchFamily="34" charset="-122"/>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InetAddress</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remoteAddr</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InetAddress</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getByName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"8.8.8.8"</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53</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DNS</a:t>
            </a:r>
            <a:r>
              <a:rPr lang="zh-CN" altLang="en-US" sz="1100" b="1" i="1" dirty="0">
                <a:solidFill>
                  <a:srgbClr val="A0A1A7"/>
                </a:solidFill>
                <a:latin typeface="Calibri" panose="020F0502020204030204" pitchFamily="34" charset="0"/>
                <a:ea typeface="Microsoft YaHei" panose="020B0503020204020204" pitchFamily="34" charset="-122"/>
                <a:cs typeface="Microsoft YaHei" panose="020B0503020204020204" pitchFamily="34" charset="-122"/>
              </a:rPr>
              <a:t>端口</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r>
              <a:rPr lang="zh-CN" altLang="en-US" sz="1100" b="1" i="1" dirty="0">
                <a:solidFill>
                  <a:srgbClr val="A0A1A7"/>
                </a:solidFill>
                <a:latin typeface="Calibri" panose="020F0502020204030204" pitchFamily="34" charset="0"/>
                <a:ea typeface="Microsoft YaHei" panose="020B0503020204020204" pitchFamily="34" charset="-122"/>
                <a:cs typeface="Microsoft YaHei" panose="020B0503020204020204" pitchFamily="34" charset="-122"/>
              </a:rPr>
              <a:t>本地接口（例如：绑定到特定网卡）</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InetAddress</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localAddr</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InetAddress</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getByName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"192.168.1.100"</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60000</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r>
              <a:rPr lang="zh-CN" altLang="en-US" sz="1100" b="1" i="1" dirty="0">
                <a:solidFill>
                  <a:srgbClr val="A0A1A7"/>
                </a:solidFill>
                <a:latin typeface="Calibri" panose="020F0502020204030204" pitchFamily="34" charset="0"/>
                <a:ea typeface="Microsoft YaHei" panose="020B0503020204020204" pitchFamily="34" charset="-122"/>
                <a:cs typeface="Microsoft YaHei" panose="020B0503020204020204" pitchFamily="34" charset="-122"/>
              </a:rPr>
              <a:t>本地临时端口</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r>
              <a:rPr lang="zh-CN" altLang="en-US" sz="1100" b="1" i="1" dirty="0">
                <a:solidFill>
                  <a:srgbClr val="A0A1A7"/>
                </a:solidFill>
                <a:latin typeface="Calibri" panose="020F0502020204030204" pitchFamily="34" charset="0"/>
                <a:ea typeface="Microsoft YaHei" panose="020B0503020204020204" pitchFamily="34" charset="-122"/>
                <a:cs typeface="Microsoft YaHei" panose="020B0503020204020204" pitchFamily="34" charset="-122"/>
              </a:rPr>
              <a:t>创建</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Socket</a:t>
            </a:r>
            <a:r>
              <a:rPr lang="zh-CN" altLang="en-US" sz="1100" b="1" i="1" dirty="0">
                <a:solidFill>
                  <a:srgbClr val="A0A1A7"/>
                </a:solidFill>
                <a:latin typeface="Calibri" panose="020F0502020204030204" pitchFamily="34" charset="0"/>
                <a:ea typeface="Microsoft YaHei" panose="020B0503020204020204" pitchFamily="34" charset="-122"/>
                <a:cs typeface="Microsoft YaHei" panose="020B0503020204020204" pitchFamily="34" charset="-122"/>
              </a:rPr>
              <a:t>并绑定本地接口</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remoteAddr</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remotePort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localAddr</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localPort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"Socket</a:t>
            </a:r>
            <a:r>
              <a:rPr lang="zh-CN" altLang="en-US" sz="1100" b="1" dirty="0">
                <a:solidFill>
                  <a:srgbClr val="50A14F"/>
                </a:solidFill>
                <a:latin typeface="Calibri" panose="020F0502020204030204" pitchFamily="34" charset="0"/>
                <a:ea typeface="Microsoft YaHei" panose="020B0503020204020204" pitchFamily="34" charset="-122"/>
                <a:cs typeface="Microsoft YaHei" panose="020B0503020204020204" pitchFamily="34" charset="-122"/>
              </a:rPr>
              <a:t>已绑定到本地接口</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localAddr</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localPort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close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BindException</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zh-CN" altLang="en-US" sz="1100" b="1" dirty="0">
                <a:solidFill>
                  <a:srgbClr val="50A14F"/>
                </a:solidFill>
                <a:latin typeface="Calibri" panose="020F0502020204030204" pitchFamily="34" charset="0"/>
                <a:ea typeface="Microsoft YaHei" panose="020B0503020204020204" pitchFamily="34" charset="-122"/>
                <a:cs typeface="Microsoft YaHei" panose="020B0503020204020204" pitchFamily="34" charset="-122"/>
              </a:rPr>
              <a:t>绑定失败：端口可能已被占用或无权限！</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zh-CN" altLang="en-US" sz="1100" b="1" dirty="0">
                <a:solidFill>
                  <a:srgbClr val="50A14F"/>
                </a:solidFill>
                <a:latin typeface="Calibri" panose="020F0502020204030204" pitchFamily="34" charset="0"/>
                <a:ea typeface="Microsoft YaHei" panose="020B0503020204020204" pitchFamily="34" charset="-122"/>
                <a:cs typeface="Microsoft YaHei" panose="020B0503020204020204" pitchFamily="34" charset="-122"/>
              </a:rPr>
              <a:t>网络错误</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A14383-2BD0-4A3C-BE7C-025E925BF992}"/>
              </a:ext>
            </a:extLst>
          </p:cNvPr>
          <p:cNvSpPr/>
          <p:nvPr/>
        </p:nvSpPr>
        <p:spPr>
          <a:xfrm>
            <a:off x="304800" y="304800"/>
            <a:ext cx="11734800" cy="2197781"/>
          </a:xfrm>
          <a:prstGeom prst="rect">
            <a:avLst/>
          </a:prstGeom>
        </p:spPr>
        <p:txBody>
          <a:bodyPr wrap="square">
            <a:spAutoFit/>
          </a:bodyPr>
          <a:lstStyle/>
          <a:p>
            <a:pPr marL="0" marR="0">
              <a:lnSpc>
                <a:spcPts val="2145"/>
              </a:lnSpc>
              <a:spcBef>
                <a:spcPts val="1370"/>
              </a:spcBef>
              <a:spcAft>
                <a:spcPts val="103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Alternative Approach (Java 8+)</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a:lnSpc>
                <a:spcPts val="2145"/>
              </a:lnSpc>
              <a:spcBef>
                <a:spcPts val="1030"/>
              </a:spcBef>
              <a:spcAft>
                <a:spcPts val="103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For more control, bind before connecting:</a:t>
            </a:r>
            <a:endParaRPr lang="en-US" sz="1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Unconnected</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bind</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localAddr</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localPort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Bind locally</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connect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remoteAddr</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remotePort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Connect remote</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Calibri" panose="020F0502020204030204" pitchFamily="34" charset="0"/>
                <a:ea typeface="SimSun" panose="02010600030101010101" pitchFamily="2" charset="-122"/>
                <a:cs typeface="Times New Roman" panose="02020603050405020304" pitchFamily="18" charset="0"/>
              </a:rPr>
              <a:t> </a:t>
            </a:r>
            <a:endParaRPr lang="en-US" sz="1400" dirty="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5A1E3237-7298-40B5-92B9-A5CB85266000}"/>
              </a:ext>
            </a:extLst>
          </p:cNvPr>
          <p:cNvSpPr>
            <a:spLocks noGrp="1"/>
          </p:cNvSpPr>
          <p:nvPr>
            <p:ph type="title"/>
          </p:nvPr>
        </p:nvSpPr>
        <p:spPr>
          <a:xfrm>
            <a:off x="1752601" y="152400"/>
            <a:ext cx="7775575" cy="4381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l"/>
            <a:r>
              <a:rPr lang="en" altLang="zh-CN" sz="3200" dirty="0"/>
              <a:t>SocketAddress</a:t>
            </a:r>
            <a:endParaRPr lang="zh-CN" altLang="en-US" sz="3200" dirty="0"/>
          </a:p>
        </p:txBody>
      </p:sp>
      <p:sp>
        <p:nvSpPr>
          <p:cNvPr id="31747" name="内容占位符 2">
            <a:extLst>
              <a:ext uri="{FF2B5EF4-FFF2-40B4-BE49-F238E27FC236}">
                <a16:creationId xmlns:a16="http://schemas.microsoft.com/office/drawing/2014/main" id="{FBFF0F67-8AAA-4D96-9FA4-138FDCAFD821}"/>
              </a:ext>
            </a:extLst>
          </p:cNvPr>
          <p:cNvSpPr>
            <a:spLocks noGrp="1"/>
          </p:cNvSpPr>
          <p:nvPr>
            <p:ph idx="1"/>
          </p:nvPr>
        </p:nvSpPr>
        <p:spPr>
          <a:xfrm>
            <a:off x="190500" y="615950"/>
            <a:ext cx="11811000" cy="59372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 altLang="en-US" sz="2000" dirty="0">
                <a:solidFill>
                  <a:srgbClr val="FF0000"/>
                </a:solidFill>
                <a:latin typeface="Times New Roman" panose="02020603050405020304" pitchFamily="18" charset="0"/>
                <a:cs typeface="Times New Roman" panose="02020603050405020304" pitchFamily="18" charset="0"/>
              </a:rPr>
              <a:t>Currently only </a:t>
            </a:r>
            <a:r>
              <a:rPr lang="en" altLang="zh-CN" sz="2000" dirty="0">
                <a:solidFill>
                  <a:srgbClr val="FF0000"/>
                </a:solidFill>
                <a:latin typeface="Times New Roman" panose="02020603050405020304" pitchFamily="18" charset="0"/>
                <a:cs typeface="Times New Roman" panose="02020603050405020304" pitchFamily="18" charset="0"/>
              </a:rPr>
              <a:t>TCP/IP Socket supported </a:t>
            </a:r>
            <a:r>
              <a:rPr lang="en" altLang="en-US" sz="2000" dirty="0">
                <a:solidFill>
                  <a:srgbClr val="FF0000"/>
                </a:solidFill>
                <a:latin typeface="Times New Roman" panose="02020603050405020304" pitchFamily="18" charset="0"/>
                <a:cs typeface="Times New Roman" panose="02020603050405020304" pitchFamily="18" charset="0"/>
              </a:rPr>
              <a:t>, all of which are instances of </a:t>
            </a:r>
            <a:r>
              <a:rPr lang="en-US" altLang="en-US" sz="2000" dirty="0" err="1">
                <a:solidFill>
                  <a:srgbClr val="FF0000"/>
                </a:solidFill>
                <a:latin typeface="Times New Roman" panose="02020603050405020304" pitchFamily="18" charset="0"/>
                <a:cs typeface="Times New Roman" panose="02020603050405020304" pitchFamily="18" charset="0"/>
              </a:rPr>
              <a:t>InetSocketAddress</a:t>
            </a:r>
            <a:r>
              <a:rPr lang="en-US" altLang="en-US" sz="2000" dirty="0">
                <a:solidFill>
                  <a:srgbClr val="FF0000"/>
                </a:solidFill>
                <a:latin typeface="Times New Roman" panose="02020603050405020304" pitchFamily="18" charset="0"/>
                <a:cs typeface="Times New Roman" panose="02020603050405020304" pitchFamily="18" charset="0"/>
              </a:rPr>
              <a:t>.</a:t>
            </a:r>
            <a:endParaRPr lang="en-US" altLang="zh-CN" sz="2000" dirty="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 altLang="zh-CN" sz="1800" dirty="0">
                <a:latin typeface="Times New Roman" panose="02020603050405020304" pitchFamily="18" charset="0"/>
                <a:cs typeface="Times New Roman" panose="02020603050405020304" pitchFamily="18" charset="0"/>
              </a:rPr>
              <a:t>public SocketAddress getRemoteSocketAddress()</a:t>
            </a:r>
          </a:p>
          <a:p>
            <a:pPr lvl="1">
              <a:buFont typeface="Wingdings" panose="05000000000000000000" pitchFamily="2" charset="2"/>
              <a:buChar char="p"/>
            </a:pPr>
            <a:r>
              <a:rPr lang="en" altLang="zh-CN" sz="1800" dirty="0">
                <a:latin typeface="Times New Roman" panose="02020603050405020304" pitchFamily="18" charset="0"/>
                <a:cs typeface="Times New Roman" panose="02020603050405020304" pitchFamily="18" charset="0"/>
              </a:rPr>
              <a:t>public SocketAddress getLocalSocketAddress()</a:t>
            </a:r>
          </a:p>
          <a:p>
            <a:r>
              <a:rPr lang="en-US" altLang="zh-CN" sz="2000" dirty="0">
                <a:solidFill>
                  <a:srgbClr val="FF0000"/>
                </a:solidFill>
                <a:latin typeface="Times New Roman" panose="02020603050405020304" pitchFamily="18" charset="0"/>
                <a:cs typeface="Times New Roman" panose="02020603050405020304" pitchFamily="18" charset="0"/>
              </a:rPr>
              <a:t>Socket Address Methods:</a:t>
            </a:r>
          </a:p>
          <a:p>
            <a:pPr lvl="2">
              <a:buFont typeface="Wingdings" panose="05000000000000000000" pitchFamily="2" charset="2"/>
              <a:buChar char="p"/>
            </a:pPr>
            <a:r>
              <a:rPr lang="en-US" altLang="zh-CN" sz="1800" dirty="0">
                <a:latin typeface="Times New Roman" panose="02020603050405020304" pitchFamily="18" charset="0"/>
                <a:cs typeface="Times New Roman" panose="02020603050405020304" pitchFamily="18" charset="0"/>
              </a:rPr>
              <a:t>public </a:t>
            </a:r>
            <a:r>
              <a:rPr lang="en-US" altLang="zh-CN" sz="1800" dirty="0" err="1">
                <a:latin typeface="Times New Roman" panose="02020603050405020304" pitchFamily="18" charset="0"/>
                <a:cs typeface="Times New Roman" panose="02020603050405020304" pitchFamily="18" charset="0"/>
              </a:rPr>
              <a:t>SocketAddress</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getRemoteSocketAddress</a:t>
            </a:r>
            <a:r>
              <a:rPr lang="en-US" altLang="zh-CN" sz="1800" dirty="0">
                <a:latin typeface="Times New Roman" panose="02020603050405020304" pitchFamily="18" charset="0"/>
                <a:cs typeface="Times New Roman" panose="02020603050405020304" pitchFamily="18" charset="0"/>
              </a:rPr>
              <a:t>()</a:t>
            </a:r>
          </a:p>
          <a:p>
            <a:pPr lvl="3">
              <a:buFont typeface="Wingdings" panose="05000000000000000000" pitchFamily="2" charset="2"/>
              <a:buChar char="p"/>
            </a:pPr>
            <a:r>
              <a:rPr lang="en-US" altLang="zh-CN" sz="1400" dirty="0">
                <a:latin typeface="Times New Roman" panose="02020603050405020304" pitchFamily="18" charset="0"/>
                <a:cs typeface="Times New Roman" panose="02020603050405020304" pitchFamily="18" charset="0"/>
              </a:rPr>
              <a:t>→ Returns the remote endpoint (IP + port) the socket is connected to.</a:t>
            </a:r>
          </a:p>
          <a:p>
            <a:pPr lvl="2">
              <a:buFont typeface="Wingdings" panose="05000000000000000000" pitchFamily="2" charset="2"/>
              <a:buChar char="p"/>
            </a:pPr>
            <a:r>
              <a:rPr lang="en-US" altLang="zh-CN" sz="1800" dirty="0">
                <a:latin typeface="Times New Roman" panose="02020603050405020304" pitchFamily="18" charset="0"/>
                <a:cs typeface="Times New Roman" panose="02020603050405020304" pitchFamily="18" charset="0"/>
              </a:rPr>
              <a:t>public </a:t>
            </a:r>
            <a:r>
              <a:rPr lang="en-US" altLang="zh-CN" sz="1800" dirty="0" err="1">
                <a:latin typeface="Times New Roman" panose="02020603050405020304" pitchFamily="18" charset="0"/>
                <a:cs typeface="Times New Roman" panose="02020603050405020304" pitchFamily="18" charset="0"/>
              </a:rPr>
              <a:t>SocketAddress</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getLocalSocketAddress</a:t>
            </a:r>
            <a:r>
              <a:rPr lang="en-US" altLang="zh-CN" sz="1800" dirty="0">
                <a:latin typeface="Times New Roman" panose="02020603050405020304" pitchFamily="18" charset="0"/>
                <a:cs typeface="Times New Roman" panose="02020603050405020304" pitchFamily="18" charset="0"/>
              </a:rPr>
              <a:t>()</a:t>
            </a:r>
          </a:p>
          <a:p>
            <a:pPr lvl="3">
              <a:buFont typeface="Wingdings" panose="05000000000000000000" pitchFamily="2" charset="2"/>
              <a:buChar char="p"/>
            </a:pPr>
            <a:r>
              <a:rPr lang="en-US" altLang="zh-CN" sz="1400" dirty="0">
                <a:latin typeface="Times New Roman" panose="02020603050405020304" pitchFamily="18" charset="0"/>
                <a:cs typeface="Times New Roman" panose="02020603050405020304" pitchFamily="18" charset="0"/>
              </a:rPr>
              <a:t>→ Returns the local endpoint (IP + port) the socket is bound to.</a:t>
            </a:r>
          </a:p>
          <a:p>
            <a:pPr lvl="2">
              <a:buFont typeface="Wingdings" panose="05000000000000000000" pitchFamily="2" charset="2"/>
              <a:buChar char="p"/>
            </a:pPr>
            <a:r>
              <a:rPr lang="en-US" altLang="zh-CN" sz="1800" dirty="0">
                <a:latin typeface="Times New Roman" panose="02020603050405020304" pitchFamily="18" charset="0"/>
                <a:cs typeface="Times New Roman" panose="02020603050405020304" pitchFamily="18" charset="0"/>
              </a:rPr>
              <a:t>Used with </a:t>
            </a:r>
            <a:r>
              <a:rPr lang="en-US" altLang="zh-CN" sz="1800" dirty="0" err="1">
                <a:latin typeface="Times New Roman" panose="02020603050405020304" pitchFamily="18" charset="0"/>
                <a:cs typeface="Times New Roman" panose="02020603050405020304" pitchFamily="18" charset="0"/>
              </a:rPr>
              <a:t>socket.connect</a:t>
            </a:r>
            <a:r>
              <a:rPr lang="en-US" altLang="zh-CN" sz="1800" dirty="0">
                <a:latin typeface="Times New Roman" panose="02020603050405020304" pitchFamily="18" charset="0"/>
                <a:cs typeface="Times New Roman" panose="02020603050405020304" pitchFamily="18" charset="0"/>
              </a:rPr>
              <a:t>() to specify connection targets.</a:t>
            </a:r>
            <a:endParaRPr lang="en" altLang="zh-CN" sz="1800" dirty="0">
              <a:latin typeface="Times New Roman" panose="02020603050405020304" pitchFamily="18" charset="0"/>
              <a:cs typeface="Times New Roman" panose="02020603050405020304" pitchFamily="18" charset="0"/>
            </a:endParaRPr>
          </a:p>
          <a:p>
            <a:r>
              <a:rPr lang="en-US" altLang="zh-CN" sz="2000" dirty="0" err="1">
                <a:solidFill>
                  <a:srgbClr val="FF0000"/>
                </a:solidFill>
                <a:latin typeface="Times New Roman" panose="02020603050405020304" pitchFamily="18" charset="0"/>
                <a:cs typeface="Times New Roman" panose="02020603050405020304" pitchFamily="18" charset="0"/>
              </a:rPr>
              <a:t>InetSocketAddress</a:t>
            </a:r>
            <a:r>
              <a:rPr lang="en-US" altLang="zh-CN" sz="2000" dirty="0">
                <a:solidFill>
                  <a:srgbClr val="FF0000"/>
                </a:solidFill>
                <a:latin typeface="Times New Roman" panose="02020603050405020304" pitchFamily="18" charset="0"/>
                <a:cs typeface="Times New Roman" panose="02020603050405020304" pitchFamily="18" charset="0"/>
              </a:rPr>
              <a:t> Constructors:</a:t>
            </a:r>
          </a:p>
          <a:p>
            <a:pPr lvl="1"/>
            <a:r>
              <a:rPr lang="en-US" altLang="zh-CN" sz="1800" dirty="0" err="1">
                <a:latin typeface="Times New Roman" panose="02020603050405020304" pitchFamily="18" charset="0"/>
                <a:cs typeface="Times New Roman" panose="02020603050405020304" pitchFamily="18" charset="0"/>
              </a:rPr>
              <a:t>InetSocketAddress</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InetAddress</a:t>
            </a:r>
            <a:r>
              <a:rPr lang="en-US" altLang="zh-CN" sz="1800" dirty="0">
                <a:latin typeface="Times New Roman" panose="02020603050405020304" pitchFamily="18" charset="0"/>
                <a:cs typeface="Times New Roman" panose="02020603050405020304" pitchFamily="18" charset="0"/>
              </a:rPr>
              <a:t> address, int port)</a:t>
            </a:r>
          </a:p>
          <a:p>
            <a:pPr lvl="2"/>
            <a:r>
              <a:rPr lang="en-US" altLang="zh-CN" sz="1400" dirty="0">
                <a:latin typeface="Times New Roman" panose="02020603050405020304" pitchFamily="18" charset="0"/>
                <a:cs typeface="Times New Roman" panose="02020603050405020304" pitchFamily="18" charset="0"/>
              </a:rPr>
              <a:t>→ Creates an address from an existing </a:t>
            </a:r>
            <a:r>
              <a:rPr lang="en-US" altLang="zh-CN" sz="1400" dirty="0" err="1">
                <a:latin typeface="Times New Roman" panose="02020603050405020304" pitchFamily="18" charset="0"/>
                <a:cs typeface="Times New Roman" panose="02020603050405020304" pitchFamily="18" charset="0"/>
              </a:rPr>
              <a:t>InetAddress</a:t>
            </a:r>
            <a:r>
              <a:rPr lang="en-US" altLang="zh-CN" sz="1400" dirty="0">
                <a:latin typeface="Times New Roman" panose="02020603050405020304" pitchFamily="18" charset="0"/>
                <a:cs typeface="Times New Roman" panose="02020603050405020304" pitchFamily="18" charset="0"/>
              </a:rPr>
              <a:t> and port.</a:t>
            </a:r>
          </a:p>
          <a:p>
            <a:pPr lvl="1"/>
            <a:r>
              <a:rPr lang="en-US" altLang="zh-CN" sz="1800" dirty="0" err="1">
                <a:latin typeface="Times New Roman" panose="02020603050405020304" pitchFamily="18" charset="0"/>
                <a:cs typeface="Times New Roman" panose="02020603050405020304" pitchFamily="18" charset="0"/>
              </a:rPr>
              <a:t>InetSocketAddress</a:t>
            </a:r>
            <a:r>
              <a:rPr lang="en-US" altLang="zh-CN" sz="1800" dirty="0">
                <a:latin typeface="Times New Roman" panose="02020603050405020304" pitchFamily="18" charset="0"/>
                <a:cs typeface="Times New Roman" panose="02020603050405020304" pitchFamily="18" charset="0"/>
              </a:rPr>
              <a:t>(String host, int port)</a:t>
            </a:r>
          </a:p>
          <a:p>
            <a:pPr lvl="2"/>
            <a:r>
              <a:rPr lang="en-US" altLang="zh-CN" sz="1400" dirty="0">
                <a:latin typeface="Times New Roman" panose="02020603050405020304" pitchFamily="18" charset="0"/>
                <a:cs typeface="Times New Roman" panose="02020603050405020304" pitchFamily="18" charset="0"/>
              </a:rPr>
              <a:t>→ Resolves a hostname (DNS lookup) to create an address.</a:t>
            </a:r>
          </a:p>
          <a:p>
            <a:pPr lvl="1"/>
            <a:r>
              <a:rPr lang="en-US" altLang="zh-CN" sz="1800" dirty="0" err="1">
                <a:latin typeface="Times New Roman" panose="02020603050405020304" pitchFamily="18" charset="0"/>
                <a:cs typeface="Times New Roman" panose="02020603050405020304" pitchFamily="18" charset="0"/>
              </a:rPr>
              <a:t>InetSocketAddress</a:t>
            </a:r>
            <a:r>
              <a:rPr lang="en-US" altLang="zh-CN" sz="1800" dirty="0">
                <a:latin typeface="Times New Roman" panose="02020603050405020304" pitchFamily="18" charset="0"/>
                <a:cs typeface="Times New Roman" panose="02020603050405020304" pitchFamily="18" charset="0"/>
              </a:rPr>
              <a:t>(int port)</a:t>
            </a:r>
          </a:p>
          <a:p>
            <a:pPr lvl="2"/>
            <a:r>
              <a:rPr lang="en-US" altLang="zh-CN" sz="1400" dirty="0">
                <a:latin typeface="Times New Roman" panose="02020603050405020304" pitchFamily="18" charset="0"/>
                <a:cs typeface="Times New Roman" panose="02020603050405020304" pitchFamily="18" charset="0"/>
              </a:rPr>
              <a:t>→ Binds to all local interfaces (wildcard address) on the given port.</a:t>
            </a:r>
          </a:p>
          <a:p>
            <a:pPr lvl="1"/>
            <a:r>
              <a:rPr lang="en-US" altLang="zh-CN" sz="1800" dirty="0">
                <a:latin typeface="Times New Roman" panose="02020603050405020304" pitchFamily="18" charset="0"/>
                <a:cs typeface="Times New Roman" panose="02020603050405020304" pitchFamily="18" charset="0"/>
              </a:rPr>
              <a:t>static </a:t>
            </a:r>
            <a:r>
              <a:rPr lang="en-US" altLang="zh-CN" sz="1800" dirty="0" err="1">
                <a:latin typeface="Times New Roman" panose="02020603050405020304" pitchFamily="18" charset="0"/>
                <a:cs typeface="Times New Roman" panose="02020603050405020304" pitchFamily="18" charset="0"/>
              </a:rPr>
              <a:t>InetSocketAddress</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createUnresolved</a:t>
            </a:r>
            <a:r>
              <a:rPr lang="en-US" altLang="zh-CN" sz="1800" dirty="0">
                <a:latin typeface="Times New Roman" panose="02020603050405020304" pitchFamily="18" charset="0"/>
                <a:cs typeface="Times New Roman" panose="02020603050405020304" pitchFamily="18" charset="0"/>
              </a:rPr>
              <a:t>(String host, int port)</a:t>
            </a:r>
          </a:p>
          <a:p>
            <a:pPr lvl="2"/>
            <a:r>
              <a:rPr lang="en-US" altLang="zh-CN" sz="1400" dirty="0">
                <a:latin typeface="Times New Roman" panose="02020603050405020304" pitchFamily="18" charset="0"/>
                <a:cs typeface="Times New Roman" panose="02020603050405020304" pitchFamily="18" charset="0"/>
              </a:rPr>
              <a:t>→ Creates an address without DNS lookup (lazy resolution).</a:t>
            </a:r>
            <a:endParaRPr lang="en" altLang="zh-CN" sz="14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552F253-2732-493F-B196-632992CA32F4}"/>
              </a:ext>
            </a:extLst>
          </p:cNvPr>
          <p:cNvSpPr/>
          <p:nvPr/>
        </p:nvSpPr>
        <p:spPr>
          <a:xfrm>
            <a:off x="7346373" y="5175996"/>
            <a:ext cx="4838700" cy="1668149"/>
          </a:xfrm>
          <a:prstGeom prst="rect">
            <a:avLst/>
          </a:prstGeom>
        </p:spPr>
        <p:txBody>
          <a:bodyPr wrap="square">
            <a:spAutoFit/>
          </a:bodyPr>
          <a:lstStyle/>
          <a:p>
            <a:pPr marL="342900" indent="-342900">
              <a:spcBef>
                <a:spcPct val="20000"/>
              </a:spcBef>
              <a:buClr>
                <a:schemeClr val="folHlink"/>
              </a:buClr>
              <a:buSzPct val="85000"/>
              <a:buFont typeface="Wingdings 2" panose="05020102010507070707" pitchFamily="18" charset="2"/>
              <a:buChar char="¡"/>
            </a:pPr>
            <a:r>
              <a:rPr lang="en-US" sz="2000" dirty="0">
                <a:solidFill>
                  <a:srgbClr val="FF0000"/>
                </a:solidFill>
                <a:latin typeface="Times New Roman" panose="02020603050405020304" pitchFamily="18" charset="0"/>
                <a:ea typeface="+mn-ea"/>
                <a:cs typeface="Times New Roman" panose="02020603050405020304" pitchFamily="18" charset="0"/>
              </a:rPr>
              <a:t>Key Methods of </a:t>
            </a:r>
            <a:r>
              <a:rPr lang="en-US" sz="2000" dirty="0" err="1">
                <a:solidFill>
                  <a:srgbClr val="FF0000"/>
                </a:solidFill>
                <a:latin typeface="Times New Roman" panose="02020603050405020304" pitchFamily="18" charset="0"/>
                <a:ea typeface="+mn-ea"/>
                <a:cs typeface="Times New Roman" panose="02020603050405020304" pitchFamily="18" charset="0"/>
              </a:rPr>
              <a:t>InetSocketAddress</a:t>
            </a:r>
            <a:r>
              <a:rPr lang="en-US" sz="2000" dirty="0">
                <a:solidFill>
                  <a:srgbClr val="FF0000"/>
                </a:solidFill>
                <a:latin typeface="Times New Roman" panose="02020603050405020304" pitchFamily="18" charset="0"/>
                <a:ea typeface="+mn-ea"/>
                <a:cs typeface="Times New Roman" panose="02020603050405020304" pitchFamily="18" charset="0"/>
              </a:rPr>
              <a:t>:</a:t>
            </a:r>
          </a:p>
          <a:p>
            <a:pPr marL="800100" lvl="1" indent="-342900">
              <a:spcBef>
                <a:spcPct val="20000"/>
              </a:spcBef>
              <a:buClr>
                <a:schemeClr val="folHlink"/>
              </a:buClr>
              <a:buSzPct val="85000"/>
              <a:buFont typeface="Wingdings 2" panose="05020102010507070707" pitchFamily="18" charset="2"/>
              <a:buChar char="¡"/>
            </a:pPr>
            <a:r>
              <a:rPr lang="en-US" sz="1400" dirty="0" err="1"/>
              <a:t>getAddress</a:t>
            </a:r>
            <a:r>
              <a:rPr lang="en-US" sz="1400" dirty="0"/>
              <a:t>() → Returns the </a:t>
            </a:r>
            <a:r>
              <a:rPr lang="en-US" sz="1400" dirty="0" err="1"/>
              <a:t>InetAddress</a:t>
            </a:r>
            <a:r>
              <a:rPr lang="en-US" sz="1400" dirty="0"/>
              <a:t> (IP).</a:t>
            </a:r>
          </a:p>
          <a:p>
            <a:pPr marL="800100" lvl="1" indent="-342900">
              <a:spcBef>
                <a:spcPct val="20000"/>
              </a:spcBef>
              <a:buClr>
                <a:schemeClr val="folHlink"/>
              </a:buClr>
              <a:buSzPct val="85000"/>
              <a:buFont typeface="Wingdings 2" panose="05020102010507070707" pitchFamily="18" charset="2"/>
              <a:buChar char="¡"/>
            </a:pPr>
            <a:r>
              <a:rPr lang="en-US" sz="1400" dirty="0" err="1"/>
              <a:t>getPort</a:t>
            </a:r>
            <a:r>
              <a:rPr lang="en-US" sz="1400" dirty="0"/>
              <a:t>() → Returns the port number.</a:t>
            </a:r>
          </a:p>
          <a:p>
            <a:pPr marL="800100" lvl="1" indent="-342900">
              <a:spcBef>
                <a:spcPct val="20000"/>
              </a:spcBef>
              <a:buClr>
                <a:schemeClr val="folHlink"/>
              </a:buClr>
              <a:buSzPct val="85000"/>
              <a:buFont typeface="Wingdings 2" panose="05020102010507070707" pitchFamily="18" charset="2"/>
              <a:buChar char="¡"/>
            </a:pPr>
            <a:r>
              <a:rPr lang="en-US" sz="1400" dirty="0" err="1"/>
              <a:t>getHostName</a:t>
            </a:r>
            <a:r>
              <a:rPr lang="en-US" sz="1400" dirty="0"/>
              <a:t>() → Returns the resolved hostname (or raw string if unresolved).</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B67F68-090E-4055-A094-3FA19EE7A6A2}"/>
              </a:ext>
            </a:extLst>
          </p:cNvPr>
          <p:cNvSpPr>
            <a:spLocks noGrp="1"/>
          </p:cNvSpPr>
          <p:nvPr>
            <p:ph type="sldNum" sz="quarter" idx="12"/>
          </p:nvPr>
        </p:nvSpPr>
        <p:spPr/>
        <p:txBody>
          <a:bodyPr/>
          <a:lstStyle/>
          <a:p>
            <a:pPr>
              <a:defRPr/>
            </a:pPr>
            <a:fld id="{373F13DE-3DA7-498E-AF00-CA1584652D0A}" type="slidenum">
              <a:rPr lang="en-US" altLang="zh-CN" smtClean="0"/>
              <a:pPr>
                <a:defRPr/>
              </a:pPr>
              <a:t>29</a:t>
            </a:fld>
            <a:endParaRPr lang="en-US" altLang="zh-CN"/>
          </a:p>
        </p:txBody>
      </p:sp>
      <p:sp>
        <p:nvSpPr>
          <p:cNvPr id="3" name="Rectangle 2">
            <a:extLst>
              <a:ext uri="{FF2B5EF4-FFF2-40B4-BE49-F238E27FC236}">
                <a16:creationId xmlns:a16="http://schemas.microsoft.com/office/drawing/2014/main" id="{4D330B34-4DB0-43DE-A524-8367D9AAAF77}"/>
              </a:ext>
            </a:extLst>
          </p:cNvPr>
          <p:cNvSpPr/>
          <p:nvPr/>
        </p:nvSpPr>
        <p:spPr>
          <a:xfrm>
            <a:off x="3733800" y="161225"/>
            <a:ext cx="3865161" cy="369332"/>
          </a:xfrm>
          <a:prstGeom prst="rect">
            <a:avLst/>
          </a:prstGeom>
        </p:spPr>
        <p:txBody>
          <a:bodyPr wrap="none">
            <a:spAutoFit/>
          </a:bodyPr>
          <a:lstStyle/>
          <a:p>
            <a:r>
              <a:rPr lang="en-US" b="1" dirty="0">
                <a:solidFill>
                  <a:srgbClr val="FF0000"/>
                </a:solidFill>
              </a:rPr>
              <a:t>When to Use Which Constructor?</a:t>
            </a:r>
          </a:p>
        </p:txBody>
      </p:sp>
      <p:graphicFrame>
        <p:nvGraphicFramePr>
          <p:cNvPr id="4" name="Table 3">
            <a:extLst>
              <a:ext uri="{FF2B5EF4-FFF2-40B4-BE49-F238E27FC236}">
                <a16:creationId xmlns:a16="http://schemas.microsoft.com/office/drawing/2014/main" id="{EFB1F292-D990-44AC-95BE-5D29D5F787A7}"/>
              </a:ext>
            </a:extLst>
          </p:cNvPr>
          <p:cNvGraphicFramePr>
            <a:graphicFrameLocks noGrp="1"/>
          </p:cNvGraphicFramePr>
          <p:nvPr>
            <p:extLst>
              <p:ext uri="{D42A27DB-BD31-4B8C-83A1-F6EECF244321}">
                <p14:modId xmlns:p14="http://schemas.microsoft.com/office/powerpoint/2010/main" val="3893899629"/>
              </p:ext>
            </p:extLst>
          </p:nvPr>
        </p:nvGraphicFramePr>
        <p:xfrm>
          <a:off x="304800" y="674132"/>
          <a:ext cx="11388725" cy="2074545"/>
        </p:xfrm>
        <a:graphic>
          <a:graphicData uri="http://schemas.openxmlformats.org/drawingml/2006/table">
            <a:tbl>
              <a:tblPr firstRow="1" firstCol="1" bandRow="1"/>
              <a:tblGrid>
                <a:gridCol w="4297891">
                  <a:extLst>
                    <a:ext uri="{9D8B030D-6E8A-4147-A177-3AD203B41FA5}">
                      <a16:colId xmlns:a16="http://schemas.microsoft.com/office/drawing/2014/main" val="2594349286"/>
                    </a:ext>
                  </a:extLst>
                </a:gridCol>
                <a:gridCol w="4419600">
                  <a:extLst>
                    <a:ext uri="{9D8B030D-6E8A-4147-A177-3AD203B41FA5}">
                      <a16:colId xmlns:a16="http://schemas.microsoft.com/office/drawing/2014/main" val="3228994106"/>
                    </a:ext>
                  </a:extLst>
                </a:gridCol>
                <a:gridCol w="2671234">
                  <a:extLst>
                    <a:ext uri="{9D8B030D-6E8A-4147-A177-3AD203B41FA5}">
                      <a16:colId xmlns:a16="http://schemas.microsoft.com/office/drawing/2014/main" val="4173671139"/>
                    </a:ext>
                  </a:extLst>
                </a:gridCol>
              </a:tblGrid>
              <a:tr h="0">
                <a:tc>
                  <a:txBody>
                    <a:bodyPr/>
                    <a:lstStyle/>
                    <a:p>
                      <a:pPr marL="457200" marR="0" lvl="1">
                        <a:lnSpc>
                          <a:spcPct val="107000"/>
                        </a:lnSpc>
                        <a:spcBef>
                          <a:spcPts val="0"/>
                        </a:spcBef>
                        <a:spcAft>
                          <a:spcPts val="800"/>
                        </a:spcAft>
                      </a:pPr>
                      <a:r>
                        <a:rPr lang="en-US" sz="1600" b="1"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rPr>
                        <a:t>Constructor</a:t>
                      </a:r>
                      <a:endParaRPr lang="en-US" sz="1200"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600" b="1"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rPr>
                        <a:t>Use Case</a:t>
                      </a:r>
                      <a:endParaRPr lang="en-US" sz="1200"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600" b="1"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rPr>
                        <a:t>DNS Lookup?</a:t>
                      </a:r>
                      <a:endParaRPr lang="en-US" sz="1200"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71908899"/>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InetSocketAddress</a:t>
                      </a:r>
                      <a:r>
                        <a:rPr lang="en-US" sz="1400" b="1" dirty="0">
                          <a:effectLst/>
                          <a:latin typeface="Calibri" panose="020F0502020204030204" pitchFamily="34" charset="0"/>
                          <a:ea typeface="SimSun" panose="02010600030101010101" pitchFamily="2" charset="-122"/>
                          <a:cs typeface="Times New Roman" panose="02020603050405020304" pitchFamily="18" charset="0"/>
                        </a:rPr>
                        <a:t>(</a:t>
                      </a: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InetAddress</a:t>
                      </a:r>
                      <a:r>
                        <a:rPr lang="en-US" sz="1400" b="1" dirty="0">
                          <a:effectLst/>
                          <a:latin typeface="Calibri" panose="020F0502020204030204" pitchFamily="34" charset="0"/>
                          <a:ea typeface="SimSun" panose="02010600030101010101" pitchFamily="2" charset="-122"/>
                          <a:cs typeface="Times New Roman" panose="02020603050405020304" pitchFamily="18" charset="0"/>
                        </a:rPr>
                        <a:t>, port)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Pre-resolved IPs (e.g., cached addresses)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dirty="0">
                          <a:effectLst/>
                          <a:latin typeface="Calibri" panose="020F0502020204030204" pitchFamily="34" charset="0"/>
                          <a:ea typeface="SimSun" panose="02010600030101010101" pitchFamily="2" charset="-122"/>
                          <a:cs typeface="Times New Roman" panose="02020603050405020304" pitchFamily="18" charset="0"/>
                        </a:rPr>
                        <a:t>No</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7522211"/>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InetSocketAddress</a:t>
                      </a:r>
                      <a:r>
                        <a:rPr lang="en-US" sz="1400" b="1" dirty="0">
                          <a:effectLst/>
                          <a:latin typeface="Calibri" panose="020F0502020204030204" pitchFamily="34" charset="0"/>
                          <a:ea typeface="SimSun" panose="02010600030101010101" pitchFamily="2" charset="-122"/>
                          <a:cs typeface="Times New Roman" panose="02020603050405020304" pitchFamily="18" charset="0"/>
                        </a:rPr>
                        <a:t>(String host, port)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Hostnames needing DNS resolution (e.g., "google.com")</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Yes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80753263"/>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InetSocketAddress</a:t>
                      </a:r>
                      <a:r>
                        <a:rPr lang="en-US" sz="1400" b="1" dirty="0">
                          <a:effectLst/>
                          <a:latin typeface="Calibri" panose="020F0502020204030204" pitchFamily="34" charset="0"/>
                          <a:ea typeface="SimSun" panose="02010600030101010101" pitchFamily="2" charset="-122"/>
                          <a:cs typeface="Times New Roman" panose="02020603050405020304" pitchFamily="18" charset="0"/>
                        </a:rPr>
                        <a:t>(port)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Binding to all local NICs (e.g., server sockets)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N/A</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4458225"/>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createUnresolved</a:t>
                      </a:r>
                      <a:r>
                        <a:rPr lang="en-US" sz="1400" b="1" dirty="0">
                          <a:effectLst/>
                          <a:latin typeface="Calibri" panose="020F0502020204030204" pitchFamily="34" charset="0"/>
                          <a:ea typeface="SimSun" panose="02010600030101010101" pitchFamily="2" charset="-122"/>
                          <a:cs typeface="Times New Roman" panose="02020603050405020304" pitchFamily="18" charset="0"/>
                        </a:rPr>
                        <a: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Defer DNS lookup (e.g., for delayed resolution)</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dirty="0">
                          <a:effectLst/>
                          <a:latin typeface="Calibri" panose="020F0502020204030204" pitchFamily="34" charset="0"/>
                          <a:ea typeface="SimSun" panose="02010600030101010101" pitchFamily="2" charset="-122"/>
                          <a:cs typeface="Times New Roman" panose="02020603050405020304" pitchFamily="18" charset="0"/>
                        </a:rPr>
                        <a:t>No</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67012788"/>
                  </a:ext>
                </a:extLst>
              </a:tr>
            </a:tbl>
          </a:graphicData>
        </a:graphic>
      </p:graphicFrame>
      <p:sp>
        <p:nvSpPr>
          <p:cNvPr id="5" name="Rectangle 4">
            <a:extLst>
              <a:ext uri="{FF2B5EF4-FFF2-40B4-BE49-F238E27FC236}">
                <a16:creationId xmlns:a16="http://schemas.microsoft.com/office/drawing/2014/main" id="{66A9868C-4E3C-451F-A792-6070C3D9B7B9}"/>
              </a:ext>
            </a:extLst>
          </p:cNvPr>
          <p:cNvSpPr/>
          <p:nvPr/>
        </p:nvSpPr>
        <p:spPr>
          <a:xfrm>
            <a:off x="139171" y="3479050"/>
            <a:ext cx="11963400" cy="2841034"/>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Method 1: Direct IP connection</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remote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"192.168.1.1"</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80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connect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Method 2: Lazy DNS resolution (no immediate lookup)</a:t>
            </a:r>
            <a:endParaRPr lang="en-US" sz="2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unresolved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createUnresolved</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"example.com"</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443</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DEAA54A6-5B9E-4FDE-AC55-D63B9D019600}"/>
              </a:ext>
            </a:extLst>
          </p:cNvPr>
          <p:cNvSpPr/>
          <p:nvPr/>
        </p:nvSpPr>
        <p:spPr>
          <a:xfrm>
            <a:off x="304800" y="3009618"/>
            <a:ext cx="4506362" cy="369332"/>
          </a:xfrm>
          <a:prstGeom prst="rect">
            <a:avLst/>
          </a:prstGeom>
        </p:spPr>
        <p:txBody>
          <a:bodyPr wrap="none">
            <a:spAutoFit/>
          </a:bodyPr>
          <a:lstStyle/>
          <a:p>
            <a:r>
              <a:rPr lang="en-US" b="1" u="sng" dirty="0"/>
              <a:t>Example: Connecting to a Remote Host</a:t>
            </a:r>
          </a:p>
        </p:txBody>
      </p:sp>
    </p:spTree>
    <p:extLst>
      <p:ext uri="{BB962C8B-B14F-4D97-AF65-F5344CB8AC3E}">
        <p14:creationId xmlns:p14="http://schemas.microsoft.com/office/powerpoint/2010/main" val="3604917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D99888-FC8F-4181-B463-E7BA96F0F235}"/>
              </a:ext>
            </a:extLst>
          </p:cNvPr>
          <p:cNvSpPr>
            <a:spLocks noGrp="1"/>
          </p:cNvSpPr>
          <p:nvPr>
            <p:ph type="sldNum" sz="quarter" idx="12"/>
          </p:nvPr>
        </p:nvSpPr>
        <p:spPr/>
        <p:txBody>
          <a:bodyPr/>
          <a:lstStyle/>
          <a:p>
            <a:pPr>
              <a:defRPr/>
            </a:pPr>
            <a:fld id="{373F13DE-3DA7-498E-AF00-CA1584652D0A}" type="slidenum">
              <a:rPr lang="en-US" altLang="zh-CN" smtClean="0"/>
              <a:pPr>
                <a:defRPr/>
              </a:pPr>
              <a:t>30</a:t>
            </a:fld>
            <a:endParaRPr lang="en-US" altLang="zh-CN"/>
          </a:p>
        </p:txBody>
      </p:sp>
      <p:sp>
        <p:nvSpPr>
          <p:cNvPr id="3" name="Rectangle 2">
            <a:extLst>
              <a:ext uri="{FF2B5EF4-FFF2-40B4-BE49-F238E27FC236}">
                <a16:creationId xmlns:a16="http://schemas.microsoft.com/office/drawing/2014/main" id="{619173DD-75A0-45B2-9C71-0D945D85F058}"/>
              </a:ext>
            </a:extLst>
          </p:cNvPr>
          <p:cNvSpPr/>
          <p:nvPr/>
        </p:nvSpPr>
        <p:spPr>
          <a:xfrm>
            <a:off x="152400" y="381000"/>
            <a:ext cx="8371417" cy="5775684"/>
          </a:xfrm>
          <a:prstGeom prst="rect">
            <a:avLst/>
          </a:prstGeom>
        </p:spPr>
        <p:txBody>
          <a:bodyPr wrap="square">
            <a:spAutoFit/>
          </a:bodyPr>
          <a:lstStyle/>
          <a:p>
            <a:pPr marL="0" marR="0">
              <a:lnSpc>
                <a:spcPts val="2145"/>
              </a:lnSpc>
              <a:spcBef>
                <a:spcPts val="1370"/>
              </a:spcBef>
              <a:spcAft>
                <a:spcPts val="103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4. Best Practices</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For Servers</a:t>
            </a:r>
            <a:r>
              <a:rPr lang="en-US" sz="16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Bind to all interfaces on port 8080</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ServerSocket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server </a:t>
            </a:r>
            <a:r>
              <a:rPr lang="en-US" sz="16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ServerSocket</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server</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bind</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8080</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endPar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For Clients</a:t>
            </a:r>
            <a:r>
              <a:rPr lang="en-US" sz="16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With explicit timeout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connect</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"google.com"</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80</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5s timeout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endPar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Address Validation</a:t>
            </a:r>
            <a:r>
              <a:rPr lang="en-US" sz="16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addr</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"example.com"</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80</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addr</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isUnresolved</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"Hostname could not be resolved!"</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Calibri" panose="020F0502020204030204" pitchFamily="34" charset="0"/>
                <a:ea typeface="SimSun" panose="02010600030101010101" pitchFamily="2" charset="-122"/>
                <a:cs typeface="Times New Roman" panose="02020603050405020304" pitchFamily="18" charset="0"/>
              </a:rPr>
              <a:t> </a:t>
            </a:r>
          </a:p>
        </p:txBody>
      </p:sp>
      <p:sp>
        <p:nvSpPr>
          <p:cNvPr id="4" name="Rectangle 3">
            <a:extLst>
              <a:ext uri="{FF2B5EF4-FFF2-40B4-BE49-F238E27FC236}">
                <a16:creationId xmlns:a16="http://schemas.microsoft.com/office/drawing/2014/main" id="{BB6D5734-FC14-46D8-B972-DA7DB377F351}"/>
              </a:ext>
            </a:extLst>
          </p:cNvPr>
          <p:cNvSpPr/>
          <p:nvPr/>
        </p:nvSpPr>
        <p:spPr>
          <a:xfrm>
            <a:off x="8839200" y="457200"/>
            <a:ext cx="3200400" cy="4801314"/>
          </a:xfrm>
          <a:prstGeom prst="rect">
            <a:avLst/>
          </a:prstGeom>
        </p:spPr>
        <p:txBody>
          <a:bodyPr wrap="square">
            <a:spAutoFit/>
          </a:bodyPr>
          <a:lstStyle/>
          <a:p>
            <a:r>
              <a:rPr lang="en-US" dirty="0"/>
              <a:t>Summary</a:t>
            </a:r>
          </a:p>
          <a:p>
            <a:r>
              <a:rPr lang="en-US" dirty="0" err="1"/>
              <a:t>InetSocketAddress</a:t>
            </a:r>
            <a:r>
              <a:rPr lang="en-US" dirty="0"/>
              <a:t> is Java’s standard way to represent TCP/IP endpoints.</a:t>
            </a:r>
          </a:p>
          <a:p>
            <a:endParaRPr lang="en-US" dirty="0"/>
          </a:p>
          <a:p>
            <a:r>
              <a:rPr lang="en-US" dirty="0"/>
              <a:t>Use </a:t>
            </a:r>
            <a:r>
              <a:rPr lang="en-US" dirty="0" err="1"/>
              <a:t>getRemoteSocketAddress</a:t>
            </a:r>
            <a:r>
              <a:rPr lang="en-US" dirty="0"/>
              <a:t>() /</a:t>
            </a:r>
            <a:r>
              <a:rPr lang="en-US" dirty="0" err="1"/>
              <a:t>getLocalSocketAddress</a:t>
            </a:r>
            <a:r>
              <a:rPr lang="en-US" dirty="0"/>
              <a:t>() to inspect connections.</a:t>
            </a:r>
          </a:p>
          <a:p>
            <a:endParaRPr lang="en-US" dirty="0"/>
          </a:p>
          <a:p>
            <a:r>
              <a:rPr lang="en-US" dirty="0"/>
              <a:t>Choose constructors based on DNS needs (immediate vs. lazy resolution).</a:t>
            </a:r>
          </a:p>
          <a:p>
            <a:endParaRPr lang="en-US" dirty="0"/>
          </a:p>
          <a:p>
            <a:r>
              <a:rPr lang="en-US" dirty="0"/>
              <a:t>Always handle unresolved addresses and invalid ports defensively.</a:t>
            </a:r>
          </a:p>
        </p:txBody>
      </p:sp>
      <p:sp>
        <p:nvSpPr>
          <p:cNvPr id="5" name="Rectangle 4">
            <a:extLst>
              <a:ext uri="{FF2B5EF4-FFF2-40B4-BE49-F238E27FC236}">
                <a16:creationId xmlns:a16="http://schemas.microsoft.com/office/drawing/2014/main" id="{02840A2B-9846-40A6-BF13-95672B48C04B}"/>
              </a:ext>
            </a:extLst>
          </p:cNvPr>
          <p:cNvSpPr/>
          <p:nvPr/>
        </p:nvSpPr>
        <p:spPr bwMode="auto">
          <a:xfrm>
            <a:off x="8790709" y="304800"/>
            <a:ext cx="3200400" cy="5148322"/>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
        <p:nvSpPr>
          <p:cNvPr id="6" name="Rectangle 5">
            <a:extLst>
              <a:ext uri="{FF2B5EF4-FFF2-40B4-BE49-F238E27FC236}">
                <a16:creationId xmlns:a16="http://schemas.microsoft.com/office/drawing/2014/main" id="{F54D2705-4C32-4A0F-ABE1-8F1A0B50B7F1}"/>
              </a:ext>
            </a:extLst>
          </p:cNvPr>
          <p:cNvSpPr/>
          <p:nvPr/>
        </p:nvSpPr>
        <p:spPr bwMode="auto">
          <a:xfrm>
            <a:off x="103908" y="152400"/>
            <a:ext cx="8371417" cy="5638800"/>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517933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372808-BC5F-4E34-ACC5-DA429A4ABB5B}"/>
              </a:ext>
            </a:extLst>
          </p:cNvPr>
          <p:cNvSpPr/>
          <p:nvPr/>
        </p:nvSpPr>
        <p:spPr>
          <a:xfrm>
            <a:off x="3115056" y="228600"/>
            <a:ext cx="5961888" cy="461665"/>
          </a:xfrm>
          <a:prstGeom prst="rect">
            <a:avLst/>
          </a:prstGeom>
        </p:spPr>
        <p:txBody>
          <a:bodyPr wrap="none">
            <a:spAutoFit/>
          </a:bodyPr>
          <a:lstStyle/>
          <a:p>
            <a:r>
              <a:rPr lang="en-US" sz="2400" b="1" dirty="0">
                <a:solidFill>
                  <a:srgbClr val="FF0000"/>
                </a:solidFill>
              </a:rPr>
              <a:t>Java Proxy Socket Configuration Guide</a:t>
            </a:r>
          </a:p>
        </p:txBody>
      </p:sp>
      <p:sp>
        <p:nvSpPr>
          <p:cNvPr id="7" name="Rectangle 6">
            <a:extLst>
              <a:ext uri="{FF2B5EF4-FFF2-40B4-BE49-F238E27FC236}">
                <a16:creationId xmlns:a16="http://schemas.microsoft.com/office/drawing/2014/main" id="{20F31705-C0FC-445A-B497-20D5B100029F}"/>
              </a:ext>
            </a:extLst>
          </p:cNvPr>
          <p:cNvSpPr/>
          <p:nvPr/>
        </p:nvSpPr>
        <p:spPr>
          <a:xfrm>
            <a:off x="457200" y="914400"/>
            <a:ext cx="10820400" cy="610808"/>
          </a:xfrm>
          <a:prstGeom prst="rect">
            <a:avLst/>
          </a:prstGeom>
        </p:spPr>
        <p:txBody>
          <a:bodyPr wrap="square">
            <a:spAutoFit/>
          </a:bodyPr>
          <a:lstStyle/>
          <a:p>
            <a:pPr marL="0" marR="0">
              <a:lnSpc>
                <a:spcPts val="2145"/>
              </a:lnSpc>
              <a:spcBef>
                <a:spcPts val="1370"/>
              </a:spcBef>
              <a:spcAft>
                <a:spcPts val="1030"/>
              </a:spcAft>
            </a:pPr>
            <a:r>
              <a:rPr lang="en-US" sz="14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1. Proxy Socket Basics </a:t>
            </a:r>
            <a:br>
              <a:rPr lang="en-US" sz="14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sz="14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Java's </a:t>
            </a:r>
            <a:r>
              <a:rPr lang="en-US" sz="1100"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4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class supports proxies through: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proxy</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Constructor for proxy-aware sockets</a:t>
            </a:r>
            <a:endParaRPr lang="en-US" sz="1100" dirty="0">
              <a:latin typeface="Calibri" panose="020F0502020204030204" pitchFamily="34" charset="0"/>
              <a:ea typeface="SimSun" panose="02010600030101010101" pitchFamily="2" charset="-122"/>
              <a:cs typeface="Times New Roman" panose="02020603050405020304" pitchFamily="18" charset="0"/>
            </a:endParaRPr>
          </a:p>
        </p:txBody>
      </p:sp>
      <p:sp>
        <p:nvSpPr>
          <p:cNvPr id="8" name="Rectangle 7">
            <a:extLst>
              <a:ext uri="{FF2B5EF4-FFF2-40B4-BE49-F238E27FC236}">
                <a16:creationId xmlns:a16="http://schemas.microsoft.com/office/drawing/2014/main" id="{891FEE5B-AB51-48F7-BAE6-AE16CAEC8E6A}"/>
              </a:ext>
            </a:extLst>
          </p:cNvPr>
          <p:cNvSpPr/>
          <p:nvPr/>
        </p:nvSpPr>
        <p:spPr>
          <a:xfrm>
            <a:off x="506412" y="1676400"/>
            <a:ext cx="1398588" cy="307777"/>
          </a:xfrm>
          <a:prstGeom prst="rect">
            <a:avLst/>
          </a:prstGeom>
        </p:spPr>
        <p:txBody>
          <a:bodyPr wrap="none">
            <a:spAutoFit/>
          </a:bodyPr>
          <a:lstStyle/>
          <a:p>
            <a:r>
              <a:rPr lang="en-US" sz="1400" b="1" dirty="0">
                <a:solidFill>
                  <a:srgbClr val="404040"/>
                </a:solidFill>
                <a:latin typeface="Segoe UI" panose="020B0502040204020203" pitchFamily="34" charset="0"/>
                <a:ea typeface="Times New Roman" panose="02020603050405020304" pitchFamily="18" charset="0"/>
              </a:rPr>
              <a:t>2. Proxy Types</a:t>
            </a:r>
            <a:endParaRPr lang="en-US" sz="1400" dirty="0"/>
          </a:p>
        </p:txBody>
      </p:sp>
      <p:graphicFrame>
        <p:nvGraphicFramePr>
          <p:cNvPr id="9" name="Table 8">
            <a:extLst>
              <a:ext uri="{FF2B5EF4-FFF2-40B4-BE49-F238E27FC236}">
                <a16:creationId xmlns:a16="http://schemas.microsoft.com/office/drawing/2014/main" id="{32EBAEF3-A9D2-4B26-B9C5-C777AC0E883A}"/>
              </a:ext>
            </a:extLst>
          </p:cNvPr>
          <p:cNvGraphicFramePr>
            <a:graphicFrameLocks noGrp="1"/>
          </p:cNvGraphicFramePr>
          <p:nvPr>
            <p:extLst>
              <p:ext uri="{D42A27DB-BD31-4B8C-83A1-F6EECF244321}">
                <p14:modId xmlns:p14="http://schemas.microsoft.com/office/powerpoint/2010/main" val="1321662776"/>
              </p:ext>
            </p:extLst>
          </p:nvPr>
        </p:nvGraphicFramePr>
        <p:xfrm>
          <a:off x="483321" y="2135369"/>
          <a:ext cx="11388725" cy="1563751"/>
        </p:xfrm>
        <a:graphic>
          <a:graphicData uri="http://schemas.openxmlformats.org/drawingml/2006/table">
            <a:tbl>
              <a:tblPr firstRow="1" firstCol="1" bandRow="1"/>
              <a:tblGrid>
                <a:gridCol w="2487193">
                  <a:extLst>
                    <a:ext uri="{9D8B030D-6E8A-4147-A177-3AD203B41FA5}">
                      <a16:colId xmlns:a16="http://schemas.microsoft.com/office/drawing/2014/main" val="1533093886"/>
                    </a:ext>
                  </a:extLst>
                </a:gridCol>
                <a:gridCol w="4450766">
                  <a:extLst>
                    <a:ext uri="{9D8B030D-6E8A-4147-A177-3AD203B41FA5}">
                      <a16:colId xmlns:a16="http://schemas.microsoft.com/office/drawing/2014/main" val="3707524002"/>
                    </a:ext>
                  </a:extLst>
                </a:gridCol>
                <a:gridCol w="4450766">
                  <a:extLst>
                    <a:ext uri="{9D8B030D-6E8A-4147-A177-3AD203B41FA5}">
                      <a16:colId xmlns:a16="http://schemas.microsoft.com/office/drawing/2014/main" val="1128706289"/>
                    </a:ext>
                  </a:extLst>
                </a:gridCol>
              </a:tblGrid>
              <a:tr h="0">
                <a:tc>
                  <a:txBody>
                    <a:bodyPr/>
                    <a:lstStyle/>
                    <a:p>
                      <a:pPr marL="457200" marR="0" lvl="1">
                        <a:lnSpc>
                          <a:spcPct val="107000"/>
                        </a:lnSpc>
                        <a:spcBef>
                          <a:spcPts val="0"/>
                        </a:spcBef>
                        <a:spcAft>
                          <a:spcPts val="0"/>
                        </a:spcAft>
                      </a:pPr>
                      <a:r>
                        <a:rPr lang="en-US" sz="1400" b="1" dirty="0">
                          <a:solidFill>
                            <a:srgbClr val="CC00CC"/>
                          </a:solidFill>
                          <a:effectLst/>
                          <a:latin typeface="Times New Roman" panose="02020603050405020304" pitchFamily="18" charset="0"/>
                          <a:ea typeface="Times New Roman" panose="02020603050405020304" pitchFamily="18" charset="0"/>
                          <a:cs typeface="Times New Roman" panose="02020603050405020304" pitchFamily="18" charset="0"/>
                        </a:rPr>
                        <a:t>Type (</a:t>
                      </a:r>
                      <a:r>
                        <a:rPr lang="en-US" sz="1400" b="1" dirty="0" err="1">
                          <a:solidFill>
                            <a:srgbClr val="CC00CC"/>
                          </a:solidFill>
                          <a:effectLst/>
                          <a:latin typeface="Courier New" panose="02070309020205020404" pitchFamily="49" charset="0"/>
                          <a:ea typeface="Times New Roman" panose="02020603050405020304" pitchFamily="18" charset="0"/>
                          <a:cs typeface="Times New Roman" panose="02020603050405020304" pitchFamily="18" charset="0"/>
                        </a:rPr>
                        <a:t>Proxy.Type</a:t>
                      </a:r>
                      <a:r>
                        <a:rPr lang="en-US" sz="1400" b="1" dirty="0">
                          <a:solidFill>
                            <a:srgbClr val="CC00CC"/>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b="1" dirty="0">
                          <a:solidFill>
                            <a:srgbClr val="CC00CC"/>
                          </a:solidFill>
                          <a:effectLst/>
                          <a:latin typeface="Times New Roman" panose="02020603050405020304" pitchFamily="18" charset="0"/>
                          <a:ea typeface="Times New Roman" panose="02020603050405020304" pitchFamily="18" charset="0"/>
                          <a:cs typeface="Times New Roman" panose="02020603050405020304" pitchFamily="18" charset="0"/>
                        </a:rPr>
                        <a:t>Use Case</a:t>
                      </a:r>
                      <a:endParaRPr lang="en-US" sz="1200"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b="1" dirty="0">
                          <a:solidFill>
                            <a:srgbClr val="CC00CC"/>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endParaRPr lang="en-US" sz="1200" dirty="0">
                        <a:solidFill>
                          <a:srgbClr val="CC00CC"/>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0076"/>
                  </a:ext>
                </a:extLst>
              </a:tr>
              <a:tr h="0">
                <a:tc>
                  <a:txBody>
                    <a:bodyPr/>
                    <a:lstStyle/>
                    <a:p>
                      <a:pPr marL="457200" marR="0" lvl="1">
                        <a:lnSpc>
                          <a:spcPct val="107000"/>
                        </a:lnSpc>
                        <a:spcBef>
                          <a:spcPts val="0"/>
                        </a:spcBef>
                        <a:spcAft>
                          <a:spcPts val="0"/>
                        </a:spcAft>
                      </a:pPr>
                      <a:r>
                        <a:rPr lang="en-US" sz="1200" b="1">
                          <a:effectLst/>
                          <a:latin typeface="Courier New" panose="02070309020205020404" pitchFamily="49" charset="0"/>
                          <a:ea typeface="Times New Roman" panose="02020603050405020304" pitchFamily="18" charset="0"/>
                          <a:cs typeface="Times New Roman" panose="02020603050405020304" pitchFamily="18" charset="0"/>
                        </a:rPr>
                        <a:t>SOCKS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Generic TCP proxy (v4/v5)</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b="1">
                          <a:effectLst/>
                          <a:latin typeface="Courier New" panose="02070309020205020404" pitchFamily="49" charset="0"/>
                          <a:ea typeface="Times New Roman" panose="02020603050405020304" pitchFamily="18" charset="0"/>
                          <a:cs typeface="Times New Roman" panose="02020603050405020304" pitchFamily="18" charset="0"/>
                        </a:rPr>
                        <a:t>new Proxy(Type.SOCKS, addr)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44682"/>
                  </a:ext>
                </a:extLst>
              </a:tr>
              <a:tr h="0">
                <a:tc>
                  <a:txBody>
                    <a:bodyPr/>
                    <a:lstStyle/>
                    <a:p>
                      <a:pPr marL="457200" marR="0" lvl="1">
                        <a:lnSpc>
                          <a:spcPct val="107000"/>
                        </a:lnSpc>
                        <a:spcBef>
                          <a:spcPts val="0"/>
                        </a:spcBef>
                        <a:spcAft>
                          <a:spcPts val="0"/>
                        </a:spcAft>
                      </a:pPr>
                      <a:r>
                        <a:rPr lang="en-US" sz="1200" b="1">
                          <a:effectLst/>
                          <a:latin typeface="Courier New" panose="02070309020205020404" pitchFamily="49" charset="0"/>
                          <a:ea typeface="Times New Roman" panose="02020603050405020304" pitchFamily="18" charset="0"/>
                          <a:cs typeface="Times New Roman" panose="02020603050405020304" pitchFamily="18" charset="0"/>
                        </a:rPr>
                        <a:t>HTTP</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HTTP CONNECT tunneling</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b="1">
                          <a:effectLst/>
                          <a:latin typeface="Courier New" panose="02070309020205020404" pitchFamily="49" charset="0"/>
                          <a:ea typeface="Times New Roman" panose="02020603050405020304" pitchFamily="18" charset="0"/>
                          <a:cs typeface="Times New Roman" panose="02020603050405020304" pitchFamily="18" charset="0"/>
                        </a:rPr>
                        <a:t>new Proxy(Type.HTTP, addr)</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4868464"/>
                  </a:ext>
                </a:extLst>
              </a:tr>
              <a:tr h="0">
                <a:tc>
                  <a:txBody>
                    <a:bodyPr/>
                    <a:lstStyle/>
                    <a:p>
                      <a:pPr marL="457200" marR="0" lvl="1">
                        <a:lnSpc>
                          <a:spcPct val="107000"/>
                        </a:lnSpc>
                        <a:spcBef>
                          <a:spcPts val="0"/>
                        </a:spcBef>
                        <a:spcAft>
                          <a:spcPts val="0"/>
                        </a:spcAft>
                      </a:pPr>
                      <a:r>
                        <a:rPr lang="en-US" sz="1200" b="1" dirty="0">
                          <a:effectLst/>
                          <a:latin typeface="Courier New" panose="02070309020205020404" pitchFamily="49" charset="0"/>
                          <a:ea typeface="Times New Roman" panose="02020603050405020304" pitchFamily="18" charset="0"/>
                          <a:cs typeface="Times New Roman" panose="02020603050405020304" pitchFamily="18" charset="0"/>
                        </a:rPr>
                        <a:t>DIRECT</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No proxy (bypass)</a:t>
                      </a:r>
                      <a:endParaRPr lang="en-US" sz="110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b="1" dirty="0" err="1">
                          <a:effectLst/>
                          <a:latin typeface="Courier New" panose="02070309020205020404" pitchFamily="49" charset="0"/>
                          <a:ea typeface="Times New Roman" panose="02020603050405020304" pitchFamily="18" charset="0"/>
                          <a:cs typeface="Times New Roman" panose="02020603050405020304" pitchFamily="18" charset="0"/>
                        </a:rPr>
                        <a:t>Proxy.NO_PROXY</a:t>
                      </a:r>
                      <a:endParaRPr lang="en-US"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3978117"/>
                  </a:ext>
                </a:extLst>
              </a:tr>
            </a:tbl>
          </a:graphicData>
        </a:graphic>
      </p:graphicFrame>
      <p:sp>
        <p:nvSpPr>
          <p:cNvPr id="10" name="Rectangle 9">
            <a:extLst>
              <a:ext uri="{FF2B5EF4-FFF2-40B4-BE49-F238E27FC236}">
                <a16:creationId xmlns:a16="http://schemas.microsoft.com/office/drawing/2014/main" id="{FE14DD9A-5455-4281-A848-0B4FE0B4F80A}"/>
              </a:ext>
            </a:extLst>
          </p:cNvPr>
          <p:cNvSpPr/>
          <p:nvPr/>
        </p:nvSpPr>
        <p:spPr>
          <a:xfrm>
            <a:off x="457200" y="3850312"/>
            <a:ext cx="2539478" cy="307777"/>
          </a:xfrm>
          <a:prstGeom prst="rect">
            <a:avLst/>
          </a:prstGeom>
        </p:spPr>
        <p:txBody>
          <a:bodyPr wrap="none">
            <a:spAutoFit/>
          </a:bodyPr>
          <a:lstStyle/>
          <a:p>
            <a:r>
              <a:rPr lang="en-US" sz="1400" b="1" dirty="0">
                <a:solidFill>
                  <a:srgbClr val="404040"/>
                </a:solidFill>
                <a:latin typeface="Segoe UI" panose="020B0502040204020203" pitchFamily="34" charset="0"/>
              </a:rPr>
              <a:t>3. Implementation Methods</a:t>
            </a:r>
          </a:p>
        </p:txBody>
      </p:sp>
      <p:sp>
        <p:nvSpPr>
          <p:cNvPr id="11" name="Rectangle 10">
            <a:extLst>
              <a:ext uri="{FF2B5EF4-FFF2-40B4-BE49-F238E27FC236}">
                <a16:creationId xmlns:a16="http://schemas.microsoft.com/office/drawing/2014/main" id="{95585454-74FC-4CFC-9CDD-8B778CF197AA}"/>
              </a:ext>
            </a:extLst>
          </p:cNvPr>
          <p:cNvSpPr/>
          <p:nvPr/>
        </p:nvSpPr>
        <p:spPr>
          <a:xfrm>
            <a:off x="452582" y="4155392"/>
            <a:ext cx="3339376" cy="307777"/>
          </a:xfrm>
          <a:prstGeom prst="rect">
            <a:avLst/>
          </a:prstGeom>
        </p:spPr>
        <p:txBody>
          <a:bodyPr wrap="none">
            <a:spAutoFit/>
          </a:bodyPr>
          <a:lstStyle/>
          <a:p>
            <a:r>
              <a:rPr lang="en-US" sz="1400" dirty="0">
                <a:solidFill>
                  <a:srgbClr val="FF0000"/>
                </a:solidFill>
              </a:rPr>
              <a:t>Method 1: System-Wide Proxy (Default)</a:t>
            </a:r>
          </a:p>
        </p:txBody>
      </p:sp>
      <p:sp>
        <p:nvSpPr>
          <p:cNvPr id="12" name="Rectangle 11">
            <a:extLst>
              <a:ext uri="{FF2B5EF4-FFF2-40B4-BE49-F238E27FC236}">
                <a16:creationId xmlns:a16="http://schemas.microsoft.com/office/drawing/2014/main" id="{BEDBCA06-D7B6-4753-8546-BABBB5069BA7}"/>
              </a:ext>
            </a:extLst>
          </p:cNvPr>
          <p:cNvSpPr/>
          <p:nvPr/>
        </p:nvSpPr>
        <p:spPr>
          <a:xfrm>
            <a:off x="304800" y="4359090"/>
            <a:ext cx="10591800" cy="2050690"/>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Set JVM properties (affects all sockets)</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setProperty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socksProxyHost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"proxy.example.com"</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setProperty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socksProxyPort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"1080"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All sockets will now use this proxy</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2400" b="1" dirty="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1368CE-D2B1-4A33-85DC-92D89513292D}"/>
              </a:ext>
            </a:extLst>
          </p:cNvPr>
          <p:cNvSpPr>
            <a:spLocks noGrp="1"/>
          </p:cNvSpPr>
          <p:nvPr>
            <p:ph type="sldNum" sz="quarter" idx="12"/>
          </p:nvPr>
        </p:nvSpPr>
        <p:spPr/>
        <p:txBody>
          <a:bodyPr/>
          <a:lstStyle/>
          <a:p>
            <a:pPr>
              <a:defRPr/>
            </a:pPr>
            <a:fld id="{2DDC9467-6456-4A72-BDC3-23028523D5A0}" type="slidenum">
              <a:rPr lang="en-US" altLang="zh-CN" smtClean="0"/>
              <a:pPr>
                <a:defRPr/>
              </a:pPr>
              <a:t>32</a:t>
            </a:fld>
            <a:endParaRPr lang="en-US" altLang="zh-CN"/>
          </a:p>
        </p:txBody>
      </p:sp>
      <p:sp>
        <p:nvSpPr>
          <p:cNvPr id="5" name="Rectangle 4">
            <a:extLst>
              <a:ext uri="{FF2B5EF4-FFF2-40B4-BE49-F238E27FC236}">
                <a16:creationId xmlns:a16="http://schemas.microsoft.com/office/drawing/2014/main" id="{5959B8C3-642E-452C-89BE-AA7517516D12}"/>
              </a:ext>
            </a:extLst>
          </p:cNvPr>
          <p:cNvSpPr/>
          <p:nvPr/>
        </p:nvSpPr>
        <p:spPr>
          <a:xfrm>
            <a:off x="152400" y="152400"/>
            <a:ext cx="2841034" cy="369332"/>
          </a:xfrm>
          <a:prstGeom prst="rect">
            <a:avLst/>
          </a:prstGeom>
        </p:spPr>
        <p:txBody>
          <a:bodyPr wrap="none">
            <a:spAutoFit/>
          </a:bodyPr>
          <a:lstStyle/>
          <a:p>
            <a:r>
              <a:rPr lang="en-US" b="1" dirty="0">
                <a:solidFill>
                  <a:srgbClr val="FF0000"/>
                </a:solidFill>
                <a:latin typeface="quote-cjk-patch"/>
              </a:rPr>
              <a:t>Method 2: Per-Socket Proxy</a:t>
            </a:r>
            <a:endParaRPr lang="en-US" b="0" i="0" dirty="0">
              <a:solidFill>
                <a:srgbClr val="FF0000"/>
              </a:solidFill>
              <a:effectLst/>
              <a:latin typeface="quote-cjk-patch"/>
            </a:endParaRPr>
          </a:p>
        </p:txBody>
      </p:sp>
      <p:sp>
        <p:nvSpPr>
          <p:cNvPr id="6" name="Rectangle 5">
            <a:extLst>
              <a:ext uri="{FF2B5EF4-FFF2-40B4-BE49-F238E27FC236}">
                <a16:creationId xmlns:a16="http://schemas.microsoft.com/office/drawing/2014/main" id="{2172FB3F-A6CF-4957-AFD6-49D36D75096C}"/>
              </a:ext>
            </a:extLst>
          </p:cNvPr>
          <p:cNvSpPr/>
          <p:nvPr/>
        </p:nvSpPr>
        <p:spPr>
          <a:xfrm>
            <a:off x="152400" y="822966"/>
            <a:ext cx="11544300" cy="4026552"/>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Create proxy address</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proxyAddr</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"proxy.example.com"</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1080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SOCKS proxy</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socksProxy</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Type</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proxyAddr</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socksSocket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socksProxy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HTTP proxy (for HTTPS tunneling)</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httpProxy</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Type</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proxyAddr</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httpSocket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httpProxy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Bypass proxy</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directSocket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NO_PROXY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60206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63C2FB-1AFF-4694-B902-FE6E55B3D049}"/>
              </a:ext>
            </a:extLst>
          </p:cNvPr>
          <p:cNvSpPr>
            <a:spLocks noGrp="1"/>
          </p:cNvSpPr>
          <p:nvPr>
            <p:ph type="sldNum" sz="quarter" idx="12"/>
          </p:nvPr>
        </p:nvSpPr>
        <p:spPr/>
        <p:txBody>
          <a:bodyPr/>
          <a:lstStyle/>
          <a:p>
            <a:pPr>
              <a:defRPr/>
            </a:pPr>
            <a:fld id="{373F13DE-3DA7-498E-AF00-CA1584652D0A}" type="slidenum">
              <a:rPr lang="en-US" altLang="zh-CN" smtClean="0"/>
              <a:pPr>
                <a:defRPr/>
              </a:pPr>
              <a:t>33</a:t>
            </a:fld>
            <a:endParaRPr lang="en-US" altLang="zh-CN"/>
          </a:p>
        </p:txBody>
      </p:sp>
      <p:sp>
        <p:nvSpPr>
          <p:cNvPr id="3" name="Rectangle 2">
            <a:extLst>
              <a:ext uri="{FF2B5EF4-FFF2-40B4-BE49-F238E27FC236}">
                <a16:creationId xmlns:a16="http://schemas.microsoft.com/office/drawing/2014/main" id="{42AAAF0D-D280-4837-9676-A4AC45D65CF1}"/>
              </a:ext>
            </a:extLst>
          </p:cNvPr>
          <p:cNvSpPr/>
          <p:nvPr/>
        </p:nvSpPr>
        <p:spPr>
          <a:xfrm>
            <a:off x="457200" y="306618"/>
            <a:ext cx="1566839" cy="369332"/>
          </a:xfrm>
          <a:prstGeom prst="rect">
            <a:avLst/>
          </a:prstGeom>
        </p:spPr>
        <p:txBody>
          <a:bodyPr wrap="none">
            <a:spAutoFit/>
          </a:bodyPr>
          <a:lstStyle/>
          <a:p>
            <a:r>
              <a:rPr lang="en-US" b="1" dirty="0">
                <a:solidFill>
                  <a:srgbClr val="FF0000"/>
                </a:solidFill>
                <a:latin typeface="quote-cjk-patch"/>
              </a:rPr>
              <a:t>Error Handling</a:t>
            </a:r>
            <a:endParaRPr lang="en-US" dirty="0">
              <a:solidFill>
                <a:srgbClr val="FF0000"/>
              </a:solidFill>
              <a:latin typeface="quote-cjk-patch"/>
            </a:endParaRPr>
          </a:p>
        </p:txBody>
      </p:sp>
      <p:graphicFrame>
        <p:nvGraphicFramePr>
          <p:cNvPr id="4" name="Table 3">
            <a:extLst>
              <a:ext uri="{FF2B5EF4-FFF2-40B4-BE49-F238E27FC236}">
                <a16:creationId xmlns:a16="http://schemas.microsoft.com/office/drawing/2014/main" id="{862604A9-3285-470B-8BF1-FDBCD9C23317}"/>
              </a:ext>
            </a:extLst>
          </p:cNvPr>
          <p:cNvGraphicFramePr>
            <a:graphicFrameLocks noGrp="1"/>
          </p:cNvGraphicFramePr>
          <p:nvPr>
            <p:extLst>
              <p:ext uri="{D42A27DB-BD31-4B8C-83A1-F6EECF244321}">
                <p14:modId xmlns:p14="http://schemas.microsoft.com/office/powerpoint/2010/main" val="1230786128"/>
              </p:ext>
            </p:extLst>
          </p:nvPr>
        </p:nvGraphicFramePr>
        <p:xfrm>
          <a:off x="260927" y="718914"/>
          <a:ext cx="11388725" cy="1937195"/>
        </p:xfrm>
        <a:graphic>
          <a:graphicData uri="http://schemas.openxmlformats.org/drawingml/2006/table">
            <a:tbl>
              <a:tblPr firstRow="1" firstCol="1" bandRow="1"/>
              <a:tblGrid>
                <a:gridCol w="2487193">
                  <a:extLst>
                    <a:ext uri="{9D8B030D-6E8A-4147-A177-3AD203B41FA5}">
                      <a16:colId xmlns:a16="http://schemas.microsoft.com/office/drawing/2014/main" val="3088171283"/>
                    </a:ext>
                  </a:extLst>
                </a:gridCol>
                <a:gridCol w="4450766">
                  <a:extLst>
                    <a:ext uri="{9D8B030D-6E8A-4147-A177-3AD203B41FA5}">
                      <a16:colId xmlns:a16="http://schemas.microsoft.com/office/drawing/2014/main" val="721955613"/>
                    </a:ext>
                  </a:extLst>
                </a:gridCol>
                <a:gridCol w="4450766">
                  <a:extLst>
                    <a:ext uri="{9D8B030D-6E8A-4147-A177-3AD203B41FA5}">
                      <a16:colId xmlns:a16="http://schemas.microsoft.com/office/drawing/2014/main" val="1480126252"/>
                    </a:ext>
                  </a:extLst>
                </a:gridCol>
              </a:tblGrid>
              <a:tr h="0">
                <a:tc>
                  <a:txBody>
                    <a:bodyPr/>
                    <a:lstStyle/>
                    <a:p>
                      <a:pPr marL="0" marR="0" algn="ctr">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Scenario</a:t>
                      </a:r>
                      <a:endParaRPr lang="en-US"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Exception</a:t>
                      </a:r>
                      <a:endParaRPr lang="en-US"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Solution</a:t>
                      </a:r>
                      <a:endParaRPr lang="en-US"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06848001"/>
                  </a:ext>
                </a:extLst>
              </a:tr>
              <a:tr h="0">
                <a:tc>
                  <a:txBody>
                    <a:bodyPr/>
                    <a:lstStyle/>
                    <a:p>
                      <a:pPr marL="457200" marR="0" lvl="1">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Proxy unreachable</a:t>
                      </a:r>
                      <a:endParaRPr lang="en-US" sz="14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6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SocketTimeoutException</a:t>
                      </a:r>
                      <a:endParaRPr lang="en-US" sz="2000" b="1">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Check proxy IP/port</a:t>
                      </a:r>
                      <a:endParaRPr lang="en-US" sz="1400" b="1">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10048546"/>
                  </a:ext>
                </a:extLst>
              </a:tr>
              <a:tr h="0">
                <a:tc>
                  <a:txBody>
                    <a:bodyPr/>
                    <a:lstStyle/>
                    <a:p>
                      <a:pPr marL="457200" marR="0" lvl="1">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Authentication required</a:t>
                      </a:r>
                      <a:endParaRPr lang="en-US" sz="1400" b="1">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6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IOException</a:t>
                      </a:r>
                      <a:endParaRPr lang="en-US" sz="2000" b="1">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Use </a:t>
                      </a:r>
                      <a:r>
                        <a:rPr lang="en-US" sz="11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Authenticator</a:t>
                      </a:r>
                      <a:r>
                        <a:rPr lang="en-US" sz="1400" b="1">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 class</a:t>
                      </a:r>
                      <a:endParaRPr lang="en-US" sz="1400" b="1">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0104208"/>
                  </a:ext>
                </a:extLst>
              </a:tr>
              <a:tr h="0">
                <a:tc>
                  <a:txBody>
                    <a:bodyPr/>
                    <a:lstStyle/>
                    <a:p>
                      <a:pPr marL="457200" marR="0" lvl="1">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Protocol mismatch</a:t>
                      </a:r>
                      <a:endParaRPr lang="en-US" sz="14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600" b="1" dirty="0" err="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IllegalArgumentException</a:t>
                      </a:r>
                      <a:endParaRPr lang="en-US" sz="2000" b="1"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0"/>
                        </a:spcAft>
                      </a:pPr>
                      <a:r>
                        <a:rPr lang="en-US" sz="1400"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Verify proxy type</a:t>
                      </a:r>
                      <a:endParaRPr lang="en-US" sz="1400" b="1"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64786539"/>
                  </a:ext>
                </a:extLst>
              </a:tr>
            </a:tbl>
          </a:graphicData>
        </a:graphic>
      </p:graphicFrame>
      <p:sp>
        <p:nvSpPr>
          <p:cNvPr id="5" name="Rectangle 4">
            <a:extLst>
              <a:ext uri="{FF2B5EF4-FFF2-40B4-BE49-F238E27FC236}">
                <a16:creationId xmlns:a16="http://schemas.microsoft.com/office/drawing/2014/main" id="{33F4FC08-2CE7-4420-9DD8-B197D74C0D81}"/>
              </a:ext>
            </a:extLst>
          </p:cNvPr>
          <p:cNvSpPr/>
          <p:nvPr/>
        </p:nvSpPr>
        <p:spPr>
          <a:xfrm>
            <a:off x="228600" y="2656109"/>
            <a:ext cx="3260444" cy="369332"/>
          </a:xfrm>
          <a:prstGeom prst="rect">
            <a:avLst/>
          </a:prstGeom>
        </p:spPr>
        <p:txBody>
          <a:bodyPr wrap="none">
            <a:spAutoFit/>
          </a:bodyPr>
          <a:lstStyle/>
          <a:p>
            <a:r>
              <a:rPr lang="en-US" b="1" dirty="0">
                <a:solidFill>
                  <a:srgbClr val="FF0000"/>
                </a:solidFill>
                <a:latin typeface="quote-cjk-patch"/>
              </a:rPr>
              <a:t>Advanced: Proxy Authentication</a:t>
            </a:r>
            <a:endParaRPr lang="en-US" dirty="0">
              <a:solidFill>
                <a:srgbClr val="FF0000"/>
              </a:solidFill>
              <a:latin typeface="quote-cjk-patch"/>
            </a:endParaRPr>
          </a:p>
        </p:txBody>
      </p:sp>
      <p:sp>
        <p:nvSpPr>
          <p:cNvPr id="6" name="Rectangle 5">
            <a:extLst>
              <a:ext uri="{FF2B5EF4-FFF2-40B4-BE49-F238E27FC236}">
                <a16:creationId xmlns:a16="http://schemas.microsoft.com/office/drawing/2014/main" id="{C9C1DD6D-0D1B-40E6-88C6-C5A35869379B}"/>
              </a:ext>
            </a:extLst>
          </p:cNvPr>
          <p:cNvSpPr/>
          <p:nvPr/>
        </p:nvSpPr>
        <p:spPr>
          <a:xfrm>
            <a:off x="228600" y="3067005"/>
            <a:ext cx="11299055" cy="3631379"/>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Set JVM-wide credentials</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Authenticator</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setDefault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Authenticator</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protected</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PasswordAuthentication</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getPasswordAuthentication</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PasswordAuthentication</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"username"</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"password"</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toCharArray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423432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C171BC-5D31-416C-9ADF-E27DF9023399}"/>
              </a:ext>
            </a:extLst>
          </p:cNvPr>
          <p:cNvSpPr>
            <a:spLocks noGrp="1"/>
          </p:cNvSpPr>
          <p:nvPr>
            <p:ph type="sldNum" sz="quarter" idx="12"/>
          </p:nvPr>
        </p:nvSpPr>
        <p:spPr/>
        <p:txBody>
          <a:bodyPr/>
          <a:lstStyle/>
          <a:p>
            <a:pPr>
              <a:defRPr/>
            </a:pPr>
            <a:fld id="{373F13DE-3DA7-498E-AF00-CA1584652D0A}" type="slidenum">
              <a:rPr lang="en-US" altLang="zh-CN" smtClean="0"/>
              <a:pPr>
                <a:defRPr/>
              </a:pPr>
              <a:t>34</a:t>
            </a:fld>
            <a:endParaRPr lang="en-US" altLang="zh-CN"/>
          </a:p>
        </p:txBody>
      </p:sp>
      <p:sp>
        <p:nvSpPr>
          <p:cNvPr id="3" name="Rectangle 2">
            <a:extLst>
              <a:ext uri="{FF2B5EF4-FFF2-40B4-BE49-F238E27FC236}">
                <a16:creationId xmlns:a16="http://schemas.microsoft.com/office/drawing/2014/main" id="{BEE5454B-7BDF-4D98-96FC-9DDFA0484B72}"/>
              </a:ext>
            </a:extLst>
          </p:cNvPr>
          <p:cNvSpPr/>
          <p:nvPr/>
        </p:nvSpPr>
        <p:spPr>
          <a:xfrm>
            <a:off x="533400" y="228600"/>
            <a:ext cx="2570447" cy="461665"/>
          </a:xfrm>
          <a:prstGeom prst="rect">
            <a:avLst/>
          </a:prstGeom>
        </p:spPr>
        <p:txBody>
          <a:bodyPr wrap="none">
            <a:spAutoFit/>
          </a:bodyPr>
          <a:lstStyle/>
          <a:p>
            <a:r>
              <a:rPr lang="en-US" sz="2400" b="1" dirty="0">
                <a:solidFill>
                  <a:srgbClr val="FF0000"/>
                </a:solidFill>
                <a:latin typeface="quote-cjk-patch"/>
              </a:rPr>
              <a:t>Complete Example</a:t>
            </a:r>
            <a:endParaRPr lang="en-US" sz="2400" dirty="0">
              <a:solidFill>
                <a:srgbClr val="FF0000"/>
              </a:solidFill>
              <a:latin typeface="quote-cjk-patch"/>
            </a:endParaRPr>
          </a:p>
        </p:txBody>
      </p:sp>
      <p:sp>
        <p:nvSpPr>
          <p:cNvPr id="4" name="Rectangle 3">
            <a:extLst>
              <a:ext uri="{FF2B5EF4-FFF2-40B4-BE49-F238E27FC236}">
                <a16:creationId xmlns:a16="http://schemas.microsoft.com/office/drawing/2014/main" id="{C3512E7A-FAD8-4796-91A7-406E09048974}"/>
              </a:ext>
            </a:extLst>
          </p:cNvPr>
          <p:cNvSpPr/>
          <p:nvPr/>
        </p:nvSpPr>
        <p:spPr>
          <a:xfrm>
            <a:off x="403707" y="826501"/>
            <a:ext cx="11353800" cy="5212068"/>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ProxySocketDemo</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throws</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Custom SOCKS proxy</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Type</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socks.proxy</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1080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connect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InetSocketAddress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"example.com"</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80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"Connected via proxy!"</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53870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4D14810-93AE-409E-9CF8-36F3789B7872}"/>
              </a:ext>
            </a:extLst>
          </p:cNvPr>
          <p:cNvSpPr/>
          <p:nvPr/>
        </p:nvSpPr>
        <p:spPr>
          <a:xfrm>
            <a:off x="2518706" y="304800"/>
            <a:ext cx="7154587" cy="523220"/>
          </a:xfrm>
          <a:prstGeom prst="rect">
            <a:avLst/>
          </a:prstGeom>
        </p:spPr>
        <p:txBody>
          <a:bodyPr wrap="none">
            <a:spAutoFit/>
          </a:bodyPr>
          <a:lstStyle/>
          <a:p>
            <a:r>
              <a:rPr lang="en-US" altLang="zh-CN" sz="2800" b="1" dirty="0">
                <a:solidFill>
                  <a:srgbClr val="FF0000"/>
                </a:solidFill>
                <a:latin typeface="quote-cjk-patch"/>
              </a:rPr>
              <a:t>J</a:t>
            </a:r>
            <a:r>
              <a:rPr lang="fr-FR" sz="2800" b="1" dirty="0">
                <a:solidFill>
                  <a:srgbClr val="FF0000"/>
                </a:solidFill>
                <a:latin typeface="quote-cjk-patch"/>
              </a:rPr>
              <a:t>ava Socket Information &amp; Configuration Guide</a:t>
            </a:r>
            <a:endParaRPr lang="fr-FR" sz="2800" b="0" i="0" dirty="0">
              <a:solidFill>
                <a:srgbClr val="FF0000"/>
              </a:solidFill>
              <a:effectLst/>
              <a:latin typeface="quote-cjk-patch"/>
            </a:endParaRPr>
          </a:p>
        </p:txBody>
      </p:sp>
      <p:sp>
        <p:nvSpPr>
          <p:cNvPr id="7" name="Rectangle 6">
            <a:extLst>
              <a:ext uri="{FF2B5EF4-FFF2-40B4-BE49-F238E27FC236}">
                <a16:creationId xmlns:a16="http://schemas.microsoft.com/office/drawing/2014/main" id="{BFD73D41-9A53-46CC-9812-AB32045D5EE8}"/>
              </a:ext>
            </a:extLst>
          </p:cNvPr>
          <p:cNvSpPr/>
          <p:nvPr/>
        </p:nvSpPr>
        <p:spPr>
          <a:xfrm>
            <a:off x="609600" y="1066800"/>
            <a:ext cx="8763000" cy="2031325"/>
          </a:xfrm>
          <a:prstGeom prst="rect">
            <a:avLst/>
          </a:prstGeom>
        </p:spPr>
        <p:txBody>
          <a:bodyPr wrap="square">
            <a:spAutoFit/>
          </a:bodyPr>
          <a:lstStyle/>
          <a:p>
            <a:pPr marL="342900" indent="-342900">
              <a:buAutoNum type="arabicPeriod"/>
            </a:pPr>
            <a:r>
              <a:rPr lang="en-US" b="1" dirty="0">
                <a:solidFill>
                  <a:srgbClr val="FF00FF"/>
                </a:solidFill>
              </a:rPr>
              <a:t>Retrieving Socket Information</a:t>
            </a:r>
          </a:p>
          <a:p>
            <a:endParaRPr lang="en-US" dirty="0"/>
          </a:p>
          <a:p>
            <a:r>
              <a:rPr lang="en-US" dirty="0"/>
              <a:t>A Socket object can access these key properties:</a:t>
            </a:r>
          </a:p>
          <a:p>
            <a:pPr marL="742950" lvl="1" indent="-285750">
              <a:buFont typeface="Wingdings" panose="05000000000000000000" pitchFamily="2" charset="2"/>
              <a:buChar char="v"/>
            </a:pPr>
            <a:r>
              <a:rPr lang="en-US" dirty="0"/>
              <a:t>Remote Address (</a:t>
            </a:r>
            <a:r>
              <a:rPr lang="en-US" dirty="0" err="1"/>
              <a:t>getInetAddress</a:t>
            </a:r>
            <a:r>
              <a:rPr lang="en-US" dirty="0"/>
              <a:t>())</a:t>
            </a:r>
          </a:p>
          <a:p>
            <a:pPr marL="742950" lvl="1" indent="-285750">
              <a:buFont typeface="Wingdings" panose="05000000000000000000" pitchFamily="2" charset="2"/>
              <a:buChar char="v"/>
            </a:pPr>
            <a:r>
              <a:rPr lang="en-US" dirty="0"/>
              <a:t>Remote Port (</a:t>
            </a:r>
            <a:r>
              <a:rPr lang="en-US" dirty="0" err="1"/>
              <a:t>getPort</a:t>
            </a:r>
            <a:r>
              <a:rPr lang="en-US" dirty="0"/>
              <a:t>())</a:t>
            </a:r>
          </a:p>
          <a:p>
            <a:pPr marL="742950" lvl="1" indent="-285750">
              <a:buFont typeface="Wingdings" panose="05000000000000000000" pitchFamily="2" charset="2"/>
              <a:buChar char="v"/>
            </a:pPr>
            <a:r>
              <a:rPr lang="en-US" dirty="0"/>
              <a:t>Local Address (</a:t>
            </a:r>
            <a:r>
              <a:rPr lang="en-US" dirty="0" err="1"/>
              <a:t>getLocalAddress</a:t>
            </a:r>
            <a:r>
              <a:rPr lang="en-US" dirty="0"/>
              <a:t>())</a:t>
            </a:r>
          </a:p>
          <a:p>
            <a:pPr marL="742950" lvl="1" indent="-285750">
              <a:buFont typeface="Wingdings" panose="05000000000000000000" pitchFamily="2" charset="2"/>
              <a:buChar char="v"/>
            </a:pPr>
            <a:r>
              <a:rPr lang="en-US" dirty="0"/>
              <a:t>Local Port (</a:t>
            </a:r>
            <a:r>
              <a:rPr lang="en-US" dirty="0" err="1"/>
              <a:t>getLocalPort</a:t>
            </a:r>
            <a:r>
              <a:rPr lang="en-US" dirty="0"/>
              <a:t>())</a:t>
            </a:r>
          </a:p>
        </p:txBody>
      </p:sp>
      <p:sp>
        <p:nvSpPr>
          <p:cNvPr id="8" name="Rectangle 7">
            <a:extLst>
              <a:ext uri="{FF2B5EF4-FFF2-40B4-BE49-F238E27FC236}">
                <a16:creationId xmlns:a16="http://schemas.microsoft.com/office/drawing/2014/main" id="{085424A4-1006-4D49-B4A2-87D28D45DC01}"/>
              </a:ext>
            </a:extLst>
          </p:cNvPr>
          <p:cNvSpPr/>
          <p:nvPr/>
        </p:nvSpPr>
        <p:spPr>
          <a:xfrm>
            <a:off x="609600" y="3704987"/>
            <a:ext cx="10515600" cy="2050690"/>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InetAddress</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remoteIP</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getInetAddress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Remote host IP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remotePort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getPort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Remote port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InetAddress</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localIP</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getLocalAddress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Local bound IP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localPort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getLocalPort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Local bound port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SimSun" panose="02010600030101010101" pitchFamily="2" charset="-122"/>
                <a:cs typeface="Times New Roman" panose="02020603050405020304" pitchFamily="18" charset="0"/>
              </a:rPr>
              <a:t> </a:t>
            </a:r>
            <a:endParaRPr lang="en-US" sz="2400" b="1" dirty="0">
              <a:effectLst/>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322159-E581-4CF3-86D3-F69B4F22EA4D}"/>
              </a:ext>
            </a:extLst>
          </p:cNvPr>
          <p:cNvSpPr>
            <a:spLocks noGrp="1"/>
          </p:cNvSpPr>
          <p:nvPr>
            <p:ph type="sldNum" sz="quarter" idx="12"/>
          </p:nvPr>
        </p:nvSpPr>
        <p:spPr/>
        <p:txBody>
          <a:bodyPr/>
          <a:lstStyle/>
          <a:p>
            <a:pPr>
              <a:defRPr/>
            </a:pPr>
            <a:fld id="{373F13DE-3DA7-498E-AF00-CA1584652D0A}" type="slidenum">
              <a:rPr lang="en-US" altLang="zh-CN" smtClean="0"/>
              <a:pPr>
                <a:defRPr/>
              </a:pPr>
              <a:t>36</a:t>
            </a:fld>
            <a:endParaRPr lang="en-US" altLang="zh-CN"/>
          </a:p>
        </p:txBody>
      </p:sp>
      <p:sp>
        <p:nvSpPr>
          <p:cNvPr id="3" name="Rectangle 2">
            <a:extLst>
              <a:ext uri="{FF2B5EF4-FFF2-40B4-BE49-F238E27FC236}">
                <a16:creationId xmlns:a16="http://schemas.microsoft.com/office/drawing/2014/main" id="{0D4D1643-980B-44C1-BBA3-599825845D36}"/>
              </a:ext>
            </a:extLst>
          </p:cNvPr>
          <p:cNvSpPr/>
          <p:nvPr/>
        </p:nvSpPr>
        <p:spPr>
          <a:xfrm>
            <a:off x="533400" y="381000"/>
            <a:ext cx="4044697" cy="369332"/>
          </a:xfrm>
          <a:prstGeom prst="rect">
            <a:avLst/>
          </a:prstGeom>
        </p:spPr>
        <p:txBody>
          <a:bodyPr wrap="none">
            <a:spAutoFit/>
          </a:bodyPr>
          <a:lstStyle/>
          <a:p>
            <a:r>
              <a:rPr lang="en-US" b="1" dirty="0">
                <a:solidFill>
                  <a:srgbClr val="FF00FF"/>
                </a:solidFill>
              </a:rPr>
              <a:t>2. Socket Connection State Checks</a:t>
            </a:r>
          </a:p>
        </p:txBody>
      </p:sp>
      <p:graphicFrame>
        <p:nvGraphicFramePr>
          <p:cNvPr id="4" name="Table 3">
            <a:extLst>
              <a:ext uri="{FF2B5EF4-FFF2-40B4-BE49-F238E27FC236}">
                <a16:creationId xmlns:a16="http://schemas.microsoft.com/office/drawing/2014/main" id="{B9B40969-424C-4855-9855-44F3A592F955}"/>
              </a:ext>
            </a:extLst>
          </p:cNvPr>
          <p:cNvGraphicFramePr>
            <a:graphicFrameLocks noGrp="1"/>
          </p:cNvGraphicFramePr>
          <p:nvPr>
            <p:extLst>
              <p:ext uri="{D42A27DB-BD31-4B8C-83A1-F6EECF244321}">
                <p14:modId xmlns:p14="http://schemas.microsoft.com/office/powerpoint/2010/main" val="2420097097"/>
              </p:ext>
            </p:extLst>
          </p:nvPr>
        </p:nvGraphicFramePr>
        <p:xfrm>
          <a:off x="304800" y="914400"/>
          <a:ext cx="11388725" cy="1257173"/>
        </p:xfrm>
        <a:graphic>
          <a:graphicData uri="http://schemas.openxmlformats.org/drawingml/2006/table">
            <a:tbl>
              <a:tblPr firstRow="1" firstCol="1" bandRow="1"/>
              <a:tblGrid>
                <a:gridCol w="2487193">
                  <a:extLst>
                    <a:ext uri="{9D8B030D-6E8A-4147-A177-3AD203B41FA5}">
                      <a16:colId xmlns:a16="http://schemas.microsoft.com/office/drawing/2014/main" val="842862481"/>
                    </a:ext>
                  </a:extLst>
                </a:gridCol>
                <a:gridCol w="4450766">
                  <a:extLst>
                    <a:ext uri="{9D8B030D-6E8A-4147-A177-3AD203B41FA5}">
                      <a16:colId xmlns:a16="http://schemas.microsoft.com/office/drawing/2014/main" val="2359771886"/>
                    </a:ext>
                  </a:extLst>
                </a:gridCol>
                <a:gridCol w="4450766">
                  <a:extLst>
                    <a:ext uri="{9D8B030D-6E8A-4147-A177-3AD203B41FA5}">
                      <a16:colId xmlns:a16="http://schemas.microsoft.com/office/drawing/2014/main" val="2726214207"/>
                    </a:ext>
                  </a:extLst>
                </a:gridCol>
              </a:tblGrid>
              <a:tr h="0">
                <a:tc>
                  <a:txBody>
                    <a:bodyPr/>
                    <a:lstStyle/>
                    <a:p>
                      <a:pPr marL="457200" marR="0" lvl="1">
                        <a:lnSpc>
                          <a:spcPct val="107000"/>
                        </a:lnSpc>
                        <a:spcBef>
                          <a:spcPts val="0"/>
                        </a:spcBef>
                        <a:spcAft>
                          <a:spcPts val="800"/>
                        </a:spcAft>
                      </a:pPr>
                      <a:r>
                        <a:rPr lang="en-US" sz="1600" b="1" dirty="0">
                          <a:solidFill>
                            <a:srgbClr val="002060"/>
                          </a:solidFill>
                          <a:effectLst/>
                          <a:latin typeface="Calibri" panose="020F0502020204030204" pitchFamily="34" charset="0"/>
                          <a:ea typeface="SimSun" panose="02010600030101010101" pitchFamily="2" charset="-122"/>
                          <a:cs typeface="Times New Roman" panose="02020603050405020304" pitchFamily="18" charset="0"/>
                        </a:rPr>
                        <a:t>Method</a:t>
                      </a:r>
                      <a:endParaRPr lang="en-US" sz="1200" dirty="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600" b="1">
                          <a:solidFill>
                            <a:srgbClr val="002060"/>
                          </a:solidFill>
                          <a:effectLst/>
                          <a:latin typeface="Calibri" panose="020F0502020204030204" pitchFamily="34" charset="0"/>
                          <a:ea typeface="SimSun" panose="02010600030101010101" pitchFamily="2" charset="-122"/>
                          <a:cs typeface="Times New Roman" panose="02020603050405020304" pitchFamily="18" charset="0"/>
                        </a:rPr>
                        <a:t>Purpose</a:t>
                      </a:r>
                      <a:endParaRPr lang="en-US" sz="120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600" b="1" dirty="0">
                          <a:solidFill>
                            <a:srgbClr val="002060"/>
                          </a:solidFill>
                          <a:effectLst/>
                          <a:latin typeface="Calibri" panose="020F0502020204030204" pitchFamily="34" charset="0"/>
                          <a:ea typeface="SimSun" panose="02010600030101010101" pitchFamily="2" charset="-122"/>
                          <a:cs typeface="Times New Roman" panose="02020603050405020304" pitchFamily="18" charset="0"/>
                        </a:rPr>
                        <a:t>Behavior</a:t>
                      </a:r>
                      <a:endParaRPr lang="en-US" sz="1200" dirty="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05055269"/>
                  </a:ext>
                </a:extLst>
              </a:tr>
              <a:tr h="0">
                <a:tc>
                  <a:txBody>
                    <a:bodyPr/>
                    <a:lstStyle/>
                    <a:p>
                      <a:pPr marL="457200" marR="0" lvl="1">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isConnected()</a:t>
                      </a:r>
                      <a:endParaRPr lang="en-US" sz="1100" b="1">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Checks if socket was ever connected</a:t>
                      </a:r>
                      <a:endParaRPr lang="en-US" sz="1100" b="1">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dirty="0">
                          <a:effectLst/>
                          <a:latin typeface="Calibri" panose="020F0502020204030204" pitchFamily="34" charset="0"/>
                          <a:ea typeface="SimSun" panose="02010600030101010101" pitchFamily="2" charset="-122"/>
                          <a:cs typeface="Times New Roman" panose="02020603050405020304" pitchFamily="18" charset="0"/>
                        </a:rPr>
                        <a:t>Returns true even if closed later</a:t>
                      </a:r>
                      <a:endParaRPr lang="en-US" sz="1100" b="1"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8785019"/>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isClosed</a:t>
                      </a:r>
                      <a:r>
                        <a:rPr lang="en-US" sz="1400" b="1" dirty="0">
                          <a:effectLst/>
                          <a:latin typeface="Calibri" panose="020F0502020204030204" pitchFamily="34" charset="0"/>
                          <a:ea typeface="SimSun" panose="02010600030101010101" pitchFamily="2" charset="-122"/>
                          <a:cs typeface="Times New Roman" panose="02020603050405020304" pitchFamily="18" charset="0"/>
                        </a:rPr>
                        <a:t>()</a:t>
                      </a:r>
                      <a:endParaRPr lang="en-US" sz="11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Checks if socket is closed</a:t>
                      </a:r>
                      <a:endParaRPr lang="en-US" sz="1100" b="1">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dirty="0">
                          <a:effectLst/>
                          <a:latin typeface="Calibri" panose="020F0502020204030204" pitchFamily="34" charset="0"/>
                          <a:ea typeface="SimSun" panose="02010600030101010101" pitchFamily="2" charset="-122"/>
                          <a:cs typeface="Times New Roman" panose="02020603050405020304" pitchFamily="18" charset="0"/>
                        </a:rPr>
                        <a:t>Returns false if never connected</a:t>
                      </a:r>
                      <a:endParaRPr lang="en-US" sz="1100" b="1" dirty="0">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38507409"/>
                  </a:ext>
                </a:extLst>
              </a:tr>
            </a:tbl>
          </a:graphicData>
        </a:graphic>
      </p:graphicFrame>
      <p:sp>
        <p:nvSpPr>
          <p:cNvPr id="5" name="Rectangle 4">
            <a:extLst>
              <a:ext uri="{FF2B5EF4-FFF2-40B4-BE49-F238E27FC236}">
                <a16:creationId xmlns:a16="http://schemas.microsoft.com/office/drawing/2014/main" id="{FA1213E5-974B-40C5-A4A3-EA29C6EEE6D3}"/>
              </a:ext>
            </a:extLst>
          </p:cNvPr>
          <p:cNvSpPr/>
          <p:nvPr/>
        </p:nvSpPr>
        <p:spPr>
          <a:xfrm>
            <a:off x="304800" y="2417826"/>
            <a:ext cx="4215641" cy="369332"/>
          </a:xfrm>
          <a:prstGeom prst="rect">
            <a:avLst/>
          </a:prstGeom>
        </p:spPr>
        <p:txBody>
          <a:bodyPr wrap="none">
            <a:spAutoFit/>
          </a:bodyPr>
          <a:lstStyle/>
          <a:p>
            <a:r>
              <a:rPr lang="en-US" dirty="0"/>
              <a:t>Correct Way to Check an Open Socket:</a:t>
            </a:r>
          </a:p>
        </p:txBody>
      </p:sp>
      <p:sp>
        <p:nvSpPr>
          <p:cNvPr id="7" name="Rectangle 6">
            <a:extLst>
              <a:ext uri="{FF2B5EF4-FFF2-40B4-BE49-F238E27FC236}">
                <a16:creationId xmlns:a16="http://schemas.microsoft.com/office/drawing/2014/main" id="{22BC31AC-2BE7-4924-B7D1-E51831D94AD2}"/>
              </a:ext>
            </a:extLst>
          </p:cNvPr>
          <p:cNvSpPr/>
          <p:nvPr/>
        </p:nvSpPr>
        <p:spPr>
          <a:xfrm>
            <a:off x="304800" y="2402437"/>
            <a:ext cx="8763000" cy="769441"/>
          </a:xfrm>
          <a:prstGeom prst="rect">
            <a:avLst/>
          </a:prstGeom>
        </p:spPr>
        <p:txBody>
          <a:bodyPr wrap="square">
            <a:spAutoFit/>
          </a:bodyPr>
          <a:lstStyle/>
          <a:p>
            <a:pPr lvl="0"/>
            <a:r>
              <a:rPr lang="en-US" altLang="en-US" dirty="0" err="1">
                <a:solidFill>
                  <a:srgbClr val="A626A4"/>
                </a:solidFill>
                <a:latin typeface="Arial Unicode MS" panose="020B0604020202020204" pitchFamily="34" charset="-128"/>
                <a:ea typeface="Menlo"/>
              </a:rPr>
              <a:t>boolean</a:t>
            </a:r>
            <a:r>
              <a:rPr lang="en-US" altLang="en-US" dirty="0">
                <a:solidFill>
                  <a:srgbClr val="494949"/>
                </a:solidFill>
                <a:latin typeface="Arial Unicode MS" panose="020B0604020202020204" pitchFamily="34" charset="-128"/>
                <a:ea typeface="Menlo"/>
              </a:rPr>
              <a:t> </a:t>
            </a:r>
            <a:r>
              <a:rPr lang="en-US" altLang="en-US" dirty="0" err="1">
                <a:solidFill>
                  <a:srgbClr val="494949"/>
                </a:solidFill>
                <a:latin typeface="Arial Unicode MS" panose="020B0604020202020204" pitchFamily="34" charset="-128"/>
                <a:ea typeface="Menlo"/>
              </a:rPr>
              <a:t>isOpen</a:t>
            </a:r>
            <a:r>
              <a:rPr lang="en-US" altLang="en-US" dirty="0">
                <a:solidFill>
                  <a:srgbClr val="494949"/>
                </a:solidFill>
                <a:latin typeface="Arial Unicode MS" panose="020B0604020202020204" pitchFamily="34" charset="-128"/>
                <a:ea typeface="Menlo"/>
              </a:rPr>
              <a:t> </a:t>
            </a:r>
            <a:r>
              <a:rPr lang="en-US" altLang="en-US" dirty="0">
                <a:solidFill>
                  <a:srgbClr val="4078F2"/>
                </a:solidFill>
                <a:latin typeface="Arial Unicode MS" panose="020B0604020202020204" pitchFamily="34" charset="-128"/>
                <a:ea typeface="Menlo"/>
              </a:rPr>
              <a:t>=</a:t>
            </a:r>
            <a:r>
              <a:rPr lang="en-US" altLang="en-US" dirty="0">
                <a:solidFill>
                  <a:srgbClr val="494949"/>
                </a:solidFill>
                <a:latin typeface="Arial Unicode MS" panose="020B0604020202020204" pitchFamily="34" charset="-128"/>
                <a:ea typeface="Menlo"/>
              </a:rPr>
              <a:t> </a:t>
            </a:r>
            <a:r>
              <a:rPr lang="en-US" altLang="en-US" dirty="0" err="1">
                <a:solidFill>
                  <a:srgbClr val="494949"/>
                </a:solidFill>
                <a:latin typeface="Arial Unicode MS" panose="020B0604020202020204" pitchFamily="34" charset="-128"/>
                <a:ea typeface="Menlo"/>
              </a:rPr>
              <a:t>socket</a:t>
            </a:r>
            <a:r>
              <a:rPr lang="en-US" altLang="en-US" dirty="0" err="1">
                <a:solidFill>
                  <a:srgbClr val="383A42"/>
                </a:solidFill>
                <a:latin typeface="Arial Unicode MS" panose="020B0604020202020204" pitchFamily="34" charset="-128"/>
                <a:ea typeface="Menlo"/>
              </a:rPr>
              <a:t>.</a:t>
            </a:r>
            <a:r>
              <a:rPr lang="en-US" altLang="en-US" dirty="0" err="1">
                <a:solidFill>
                  <a:srgbClr val="4078F2"/>
                </a:solidFill>
                <a:latin typeface="Arial Unicode MS" panose="020B0604020202020204" pitchFamily="34" charset="-128"/>
                <a:ea typeface="Menlo"/>
              </a:rPr>
              <a:t>isConnected</a:t>
            </a:r>
            <a:r>
              <a:rPr lang="en-US" altLang="en-US" dirty="0">
                <a:solidFill>
                  <a:srgbClr val="383A42"/>
                </a:solidFill>
                <a:latin typeface="Arial Unicode MS" panose="020B0604020202020204" pitchFamily="34" charset="-128"/>
                <a:ea typeface="Menlo"/>
              </a:rPr>
              <a:t>()</a:t>
            </a:r>
            <a:r>
              <a:rPr lang="en-US" altLang="en-US" dirty="0">
                <a:solidFill>
                  <a:srgbClr val="494949"/>
                </a:solidFill>
                <a:latin typeface="Arial Unicode MS" panose="020B0604020202020204" pitchFamily="34" charset="-128"/>
                <a:ea typeface="Menlo"/>
              </a:rPr>
              <a:t> </a:t>
            </a:r>
            <a:r>
              <a:rPr lang="en-US" altLang="en-US" dirty="0">
                <a:solidFill>
                  <a:srgbClr val="4078F2"/>
                </a:solidFill>
                <a:latin typeface="Arial Unicode MS" panose="020B0604020202020204" pitchFamily="34" charset="-128"/>
                <a:ea typeface="Menlo"/>
              </a:rPr>
              <a:t>&amp;&amp;</a:t>
            </a:r>
            <a:r>
              <a:rPr lang="en-US" altLang="en-US" dirty="0">
                <a:solidFill>
                  <a:srgbClr val="494949"/>
                </a:solidFill>
                <a:latin typeface="Arial Unicode MS" panose="020B0604020202020204" pitchFamily="34" charset="-128"/>
                <a:ea typeface="Menlo"/>
              </a:rPr>
              <a:t> </a:t>
            </a:r>
            <a:r>
              <a:rPr lang="en-US" altLang="en-US" dirty="0">
                <a:solidFill>
                  <a:srgbClr val="4078F2"/>
                </a:solidFill>
                <a:latin typeface="Arial Unicode MS" panose="020B0604020202020204" pitchFamily="34" charset="-128"/>
                <a:ea typeface="Menlo"/>
              </a:rPr>
              <a:t>!</a:t>
            </a:r>
            <a:r>
              <a:rPr lang="en-US" altLang="en-US" dirty="0" err="1">
                <a:solidFill>
                  <a:srgbClr val="494949"/>
                </a:solidFill>
                <a:latin typeface="Arial Unicode MS" panose="020B0604020202020204" pitchFamily="34" charset="-128"/>
                <a:ea typeface="Menlo"/>
              </a:rPr>
              <a:t>socket</a:t>
            </a:r>
            <a:r>
              <a:rPr lang="en-US" altLang="en-US" dirty="0" err="1">
                <a:solidFill>
                  <a:srgbClr val="383A42"/>
                </a:solidFill>
                <a:latin typeface="Arial Unicode MS" panose="020B0604020202020204" pitchFamily="34" charset="-128"/>
                <a:ea typeface="Menlo"/>
              </a:rPr>
              <a:t>.</a:t>
            </a:r>
            <a:r>
              <a:rPr lang="en-US" altLang="en-US" dirty="0" err="1">
                <a:solidFill>
                  <a:srgbClr val="4078F2"/>
                </a:solidFill>
                <a:latin typeface="Arial Unicode MS" panose="020B0604020202020204" pitchFamily="34" charset="-128"/>
                <a:ea typeface="Menlo"/>
              </a:rPr>
              <a:t>isClosed</a:t>
            </a:r>
            <a:r>
              <a:rPr lang="en-US" altLang="en-US" dirty="0">
                <a:solidFill>
                  <a:srgbClr val="383A42"/>
                </a:solidFill>
                <a:latin typeface="Arial Unicode MS" panose="020B0604020202020204" pitchFamily="34" charset="-128"/>
                <a:ea typeface="Menlo"/>
              </a:rPr>
              <a:t>();</a:t>
            </a:r>
            <a:r>
              <a:rPr lang="en-US" altLang="en-US" dirty="0">
                <a:solidFill>
                  <a:srgbClr val="494949"/>
                </a:solidFill>
                <a:latin typeface="Arial Unicode MS" panose="020B0604020202020204" pitchFamily="34" charset="-128"/>
                <a:ea typeface="Menlo"/>
              </a:rPr>
              <a:t> </a:t>
            </a:r>
            <a:endParaRPr lang="en-US" altLang="en-US" sz="4400" dirty="0"/>
          </a:p>
        </p:txBody>
      </p:sp>
    </p:spTree>
    <p:extLst>
      <p:ext uri="{BB962C8B-B14F-4D97-AF65-F5344CB8AC3E}">
        <p14:creationId xmlns:p14="http://schemas.microsoft.com/office/powerpoint/2010/main" val="28395966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75F0DF-9366-46B2-8940-ADA4C42A02BE}"/>
              </a:ext>
            </a:extLst>
          </p:cNvPr>
          <p:cNvSpPr>
            <a:spLocks noGrp="1"/>
          </p:cNvSpPr>
          <p:nvPr>
            <p:ph type="sldNum" sz="quarter" idx="12"/>
          </p:nvPr>
        </p:nvSpPr>
        <p:spPr>
          <a:xfrm>
            <a:off x="8897309" y="6324600"/>
            <a:ext cx="3052233" cy="476250"/>
          </a:xfrm>
        </p:spPr>
        <p:txBody>
          <a:bodyPr/>
          <a:lstStyle/>
          <a:p>
            <a:pPr>
              <a:defRPr/>
            </a:pPr>
            <a:fld id="{373F13DE-3DA7-498E-AF00-CA1584652D0A}" type="slidenum">
              <a:rPr lang="en-US" altLang="zh-CN" smtClean="0"/>
              <a:pPr>
                <a:defRPr/>
              </a:pPr>
              <a:t>37</a:t>
            </a:fld>
            <a:endParaRPr lang="en-US" altLang="zh-CN" dirty="0"/>
          </a:p>
        </p:txBody>
      </p:sp>
      <p:sp>
        <p:nvSpPr>
          <p:cNvPr id="3" name="Rectangle 2">
            <a:extLst>
              <a:ext uri="{FF2B5EF4-FFF2-40B4-BE49-F238E27FC236}">
                <a16:creationId xmlns:a16="http://schemas.microsoft.com/office/drawing/2014/main" id="{7763FB5B-BE34-415B-A26A-516059F09BD2}"/>
              </a:ext>
            </a:extLst>
          </p:cNvPr>
          <p:cNvSpPr/>
          <p:nvPr/>
        </p:nvSpPr>
        <p:spPr>
          <a:xfrm>
            <a:off x="350982" y="192551"/>
            <a:ext cx="11598560" cy="400110"/>
          </a:xfrm>
          <a:prstGeom prst="rect">
            <a:avLst/>
          </a:prstGeom>
        </p:spPr>
        <p:txBody>
          <a:bodyPr wrap="none">
            <a:spAutoFit/>
          </a:bodyPr>
          <a:lstStyle/>
          <a:p>
            <a:r>
              <a:rPr lang="en-US" sz="2000" b="1" dirty="0">
                <a:solidFill>
                  <a:srgbClr val="FF00FF"/>
                </a:solidFill>
                <a:latin typeface="quote-cjk-patch"/>
              </a:rPr>
              <a:t>3. Socket Options (TCP Tuning): </a:t>
            </a:r>
            <a:r>
              <a:rPr lang="en-US" sz="2000" b="1" dirty="0">
                <a:solidFill>
                  <a:srgbClr val="FF0000"/>
                </a:solidFill>
              </a:rPr>
              <a:t>Java supports 9 critical options to control low-level TCP behavior</a:t>
            </a:r>
          </a:p>
        </p:txBody>
      </p:sp>
      <p:sp>
        <p:nvSpPr>
          <p:cNvPr id="4" name="Rectangle 3">
            <a:extLst>
              <a:ext uri="{FF2B5EF4-FFF2-40B4-BE49-F238E27FC236}">
                <a16:creationId xmlns:a16="http://schemas.microsoft.com/office/drawing/2014/main" id="{F87CE591-27C5-4B0E-8B22-6AEFBF5587B8}"/>
              </a:ext>
            </a:extLst>
          </p:cNvPr>
          <p:cNvSpPr/>
          <p:nvPr/>
        </p:nvSpPr>
        <p:spPr>
          <a:xfrm>
            <a:off x="350982" y="2108814"/>
            <a:ext cx="10668000" cy="646331"/>
          </a:xfrm>
          <a:prstGeom prst="rect">
            <a:avLst/>
          </a:prstGeom>
        </p:spPr>
        <p:txBody>
          <a:bodyPr wrap="square">
            <a:spAutoFit/>
          </a:bodyPr>
          <a:lstStyle/>
          <a:p>
            <a:pPr marL="342900" indent="-342900">
              <a:buAutoNum type="alphaUcPeriod"/>
            </a:pPr>
            <a:r>
              <a:rPr lang="en-US" b="1" dirty="0">
                <a:solidFill>
                  <a:srgbClr val="FF0000"/>
                </a:solidFill>
              </a:rPr>
              <a:t>TCP_NODELAY (Nagle’s Algorithm):  Purpose: Disable buffering for low-latency packets.</a:t>
            </a:r>
          </a:p>
          <a:p>
            <a:pPr lvl="1"/>
            <a:r>
              <a:rPr lang="en-US" b="1" dirty="0">
                <a:solidFill>
                  <a:srgbClr val="FF0000"/>
                </a:solidFill>
              </a:rPr>
              <a:t>Use Case: Real-time apps (e.g., gaming, VoIP).</a:t>
            </a:r>
          </a:p>
        </p:txBody>
      </p:sp>
      <p:sp>
        <p:nvSpPr>
          <p:cNvPr id="5" name="Rectangle 4">
            <a:extLst>
              <a:ext uri="{FF2B5EF4-FFF2-40B4-BE49-F238E27FC236}">
                <a16:creationId xmlns:a16="http://schemas.microsoft.com/office/drawing/2014/main" id="{A7DF8E4A-12D4-485B-B673-DC12A75BE501}"/>
              </a:ext>
            </a:extLst>
          </p:cNvPr>
          <p:cNvSpPr/>
          <p:nvPr/>
        </p:nvSpPr>
        <p:spPr>
          <a:xfrm>
            <a:off x="360218" y="3002722"/>
            <a:ext cx="8991600" cy="766364"/>
          </a:xfrm>
          <a:prstGeom prst="rect">
            <a:avLst/>
          </a:prstGeom>
        </p:spPr>
        <p:txBody>
          <a:bodyPr wrap="square">
            <a:spAutoFit/>
          </a:bodyPr>
          <a:lstStyle/>
          <a:p>
            <a:pPr marL="0" marR="0">
              <a:lnSpc>
                <a:spcPct val="107000"/>
              </a:lnSpc>
              <a:spcBef>
                <a:spcPts val="0"/>
              </a:spcBef>
              <a:spcAft>
                <a:spcPts val="800"/>
              </a:spcAft>
            </a:pPr>
            <a:r>
              <a:rPr lang="en-US" b="1" dirty="0" err="1">
                <a:solidFill>
                  <a:srgbClr val="494949"/>
                </a:solidFill>
                <a:latin typeface="Courier New" panose="02070309020205020404" pitchFamily="49" charset="0"/>
                <a:ea typeface="SimSun" panose="02010600030101010101" pitchFamily="2" charset="-122"/>
                <a:cs typeface="Times New Roman" panose="02020603050405020304" pitchFamily="18" charset="0"/>
              </a:rPr>
              <a:t>socket</a:t>
            </a:r>
            <a:r>
              <a:rPr lang="en-US" b="1" dirty="0" err="1">
                <a:solidFill>
                  <a:srgbClr val="383A42"/>
                </a:solidFill>
                <a:latin typeface="Courier New" panose="02070309020205020404" pitchFamily="49" charset="0"/>
                <a:ea typeface="SimSun" panose="02010600030101010101" pitchFamily="2" charset="-122"/>
                <a:cs typeface="Times New Roman" panose="02020603050405020304" pitchFamily="18" charset="0"/>
              </a:rPr>
              <a:t>.</a:t>
            </a:r>
            <a:r>
              <a:rPr lang="en-US" b="1" dirty="0" err="1">
                <a:solidFill>
                  <a:srgbClr val="4078F2"/>
                </a:solidFill>
                <a:latin typeface="Courier New" panose="02070309020205020404" pitchFamily="49" charset="0"/>
                <a:ea typeface="SimSun" panose="02010600030101010101" pitchFamily="2" charset="-122"/>
                <a:cs typeface="Times New Roman" panose="02020603050405020304" pitchFamily="18" charset="0"/>
              </a:rPr>
              <a:t>setTcpNoDelay</a:t>
            </a:r>
            <a:r>
              <a:rPr lang="en-US" b="1" dirty="0">
                <a:solidFill>
                  <a:srgbClr val="383A42"/>
                </a:solidFill>
                <a:latin typeface="Courier New" panose="02070309020205020404" pitchFamily="49" charset="0"/>
                <a:ea typeface="SimSun" panose="02010600030101010101" pitchFamily="2" charset="-122"/>
                <a:cs typeface="Times New Roman" panose="02020603050405020304" pitchFamily="18" charset="0"/>
              </a:rPr>
              <a:t>(</a:t>
            </a:r>
            <a:r>
              <a:rPr lang="en-US" b="1" dirty="0">
                <a:solidFill>
                  <a:srgbClr val="B76B01"/>
                </a:solidFill>
                <a:latin typeface="Courier New" panose="02070309020205020404" pitchFamily="49" charset="0"/>
                <a:ea typeface="SimSun" panose="02010600030101010101" pitchFamily="2" charset="-122"/>
                <a:cs typeface="Times New Roman" panose="02020603050405020304" pitchFamily="18" charset="0"/>
              </a:rPr>
              <a:t>true</a:t>
            </a:r>
            <a:r>
              <a:rPr lang="en-US" b="1" dirty="0">
                <a:solidFill>
                  <a:srgbClr val="383A42"/>
                </a:solidFill>
                <a:latin typeface="Courier New" panose="02070309020205020404" pitchFamily="49" charset="0"/>
                <a:ea typeface="SimSun" panose="02010600030101010101" pitchFamily="2" charset="-122"/>
                <a:cs typeface="Times New Roman" panose="02020603050405020304" pitchFamily="18" charset="0"/>
              </a:rPr>
              <a:t>);</a:t>
            </a:r>
            <a:r>
              <a:rPr lang="en-US" b="1" dirty="0">
                <a:solidFill>
                  <a:srgbClr val="494949"/>
                </a:solidFill>
                <a:latin typeface="Courier New" panose="02070309020205020404" pitchFamily="49" charset="0"/>
                <a:ea typeface="SimSun" panose="02010600030101010101" pitchFamily="2" charset="-122"/>
                <a:cs typeface="Times New Roman" panose="02020603050405020304" pitchFamily="18" charset="0"/>
              </a:rPr>
              <a:t> </a:t>
            </a:r>
            <a:r>
              <a:rPr lang="en-US" b="1" i="1" dirty="0">
                <a:solidFill>
                  <a:srgbClr val="A0A1A7"/>
                </a:solidFill>
                <a:latin typeface="Courier New" panose="02070309020205020404" pitchFamily="49" charset="0"/>
                <a:ea typeface="SimSun" panose="02010600030101010101" pitchFamily="2" charset="-122"/>
                <a:cs typeface="Times New Roman" panose="02020603050405020304" pitchFamily="18" charset="0"/>
              </a:rPr>
              <a:t>// Disable Nagle (send immediately) </a:t>
            </a:r>
            <a:r>
              <a:rPr lang="en-US" b="1" dirty="0" err="1">
                <a:solidFill>
                  <a:srgbClr val="A626A4"/>
                </a:solidFill>
                <a:latin typeface="Courier New" panose="02070309020205020404" pitchFamily="49" charset="0"/>
                <a:ea typeface="SimSun" panose="02010600030101010101" pitchFamily="2" charset="-122"/>
                <a:cs typeface="Times New Roman" panose="02020603050405020304" pitchFamily="18" charset="0"/>
              </a:rPr>
              <a:t>boolean</a:t>
            </a:r>
            <a:r>
              <a:rPr lang="en-US" b="1" dirty="0">
                <a:solidFill>
                  <a:srgbClr val="494949"/>
                </a:solidFill>
                <a:latin typeface="Courier New" panose="02070309020205020404" pitchFamily="49" charset="0"/>
                <a:ea typeface="SimSun" panose="02010600030101010101" pitchFamily="2" charset="-122"/>
                <a:cs typeface="Times New Roman" panose="02020603050405020304" pitchFamily="18" charset="0"/>
              </a:rPr>
              <a:t> enabled </a:t>
            </a:r>
            <a:r>
              <a:rPr lang="en-US" b="1" dirty="0">
                <a:solidFill>
                  <a:srgbClr val="4078F2"/>
                </a:solidFill>
                <a:latin typeface="Courier New" panose="02070309020205020404" pitchFamily="49" charset="0"/>
                <a:ea typeface="SimSun" panose="02010600030101010101" pitchFamily="2" charset="-122"/>
                <a:cs typeface="Times New Roman" panose="02020603050405020304" pitchFamily="18" charset="0"/>
              </a:rPr>
              <a:t>=</a:t>
            </a:r>
            <a:r>
              <a:rPr lang="en-US" b="1" dirty="0">
                <a:solidFill>
                  <a:srgbClr val="494949"/>
                </a:solidFill>
                <a:latin typeface="Courier New" panose="02070309020205020404" pitchFamily="49" charset="0"/>
                <a:ea typeface="SimSun" panose="02010600030101010101" pitchFamily="2" charset="-122"/>
                <a:cs typeface="Times New Roman" panose="02020603050405020304" pitchFamily="18" charset="0"/>
              </a:rPr>
              <a:t> </a:t>
            </a:r>
            <a:r>
              <a:rPr lang="en-US" b="1" dirty="0" err="1">
                <a:solidFill>
                  <a:srgbClr val="494949"/>
                </a:solidFill>
                <a:latin typeface="Courier New" panose="02070309020205020404" pitchFamily="49" charset="0"/>
                <a:ea typeface="SimSun" panose="02010600030101010101" pitchFamily="2" charset="-122"/>
                <a:cs typeface="Times New Roman" panose="02020603050405020304" pitchFamily="18" charset="0"/>
              </a:rPr>
              <a:t>socket</a:t>
            </a:r>
            <a:r>
              <a:rPr lang="en-US" b="1" dirty="0" err="1">
                <a:solidFill>
                  <a:srgbClr val="383A42"/>
                </a:solidFill>
                <a:latin typeface="Courier New" panose="02070309020205020404" pitchFamily="49" charset="0"/>
                <a:ea typeface="SimSun" panose="02010600030101010101" pitchFamily="2" charset="-122"/>
                <a:cs typeface="Times New Roman" panose="02020603050405020304" pitchFamily="18" charset="0"/>
              </a:rPr>
              <a:t>.</a:t>
            </a:r>
            <a:r>
              <a:rPr lang="en-US" b="1" dirty="0" err="1">
                <a:solidFill>
                  <a:srgbClr val="4078F2"/>
                </a:solidFill>
                <a:latin typeface="Courier New" panose="02070309020205020404" pitchFamily="49" charset="0"/>
                <a:ea typeface="SimSun" panose="02010600030101010101" pitchFamily="2" charset="-122"/>
                <a:cs typeface="Times New Roman" panose="02020603050405020304" pitchFamily="18" charset="0"/>
              </a:rPr>
              <a:t>getTcpNoDelay</a:t>
            </a:r>
            <a:r>
              <a:rPr lang="en-US" b="1" dirty="0">
                <a:solidFill>
                  <a:srgbClr val="383A42"/>
                </a:solidFill>
                <a:latin typeface="Courier New" panose="02070309020205020404" pitchFamily="49" charset="0"/>
                <a:ea typeface="SimSun" panose="02010600030101010101" pitchFamily="2" charset="-122"/>
                <a:cs typeface="Times New Roman" panose="02020603050405020304" pitchFamily="18" charset="0"/>
              </a:rPr>
              <a:t>();</a:t>
            </a:r>
            <a:endParaRPr lang="en-US" sz="2400" b="1"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690F522E-2E7D-4ED4-8C6C-FCA66E6E47EC}"/>
              </a:ext>
            </a:extLst>
          </p:cNvPr>
          <p:cNvSpPr/>
          <p:nvPr/>
        </p:nvSpPr>
        <p:spPr>
          <a:xfrm>
            <a:off x="279016" y="4000729"/>
            <a:ext cx="11557000" cy="923330"/>
          </a:xfrm>
          <a:prstGeom prst="rect">
            <a:avLst/>
          </a:prstGeom>
        </p:spPr>
        <p:txBody>
          <a:bodyPr wrap="square">
            <a:spAutoFit/>
          </a:bodyPr>
          <a:lstStyle/>
          <a:p>
            <a:r>
              <a:rPr lang="en-US" b="1" dirty="0">
                <a:solidFill>
                  <a:srgbClr val="FF0000"/>
                </a:solidFill>
              </a:rPr>
              <a:t>B. SO_LINGER (Graceful Shutdown):      Purpose: Control lingering data on close().</a:t>
            </a:r>
          </a:p>
          <a:p>
            <a:r>
              <a:rPr lang="en-US" dirty="0"/>
              <a:t>SO_LINGER option specifies how to handle datagrams that have not been sent when Socket closes.</a:t>
            </a:r>
          </a:p>
          <a:p>
            <a:r>
              <a:rPr lang="en-US" dirty="0"/>
              <a:t>The close() method returns immediately by default, but the system still attempts to send the remaining data.</a:t>
            </a:r>
          </a:p>
        </p:txBody>
      </p:sp>
      <p:sp>
        <p:nvSpPr>
          <p:cNvPr id="7" name="Rectangle 6">
            <a:extLst>
              <a:ext uri="{FF2B5EF4-FFF2-40B4-BE49-F238E27FC236}">
                <a16:creationId xmlns:a16="http://schemas.microsoft.com/office/drawing/2014/main" id="{95746AB4-8530-4CAC-B3A0-37FBFBE9C634}"/>
              </a:ext>
            </a:extLst>
          </p:cNvPr>
          <p:cNvSpPr/>
          <p:nvPr/>
        </p:nvSpPr>
        <p:spPr>
          <a:xfrm>
            <a:off x="350982" y="5014670"/>
            <a:ext cx="10875434" cy="865173"/>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setSoLinger</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true</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Wait 10 secs for pending data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lingerTime</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getSoLinger</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-1 = unset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16" name="Rectangle 15">
            <a:extLst>
              <a:ext uri="{FF2B5EF4-FFF2-40B4-BE49-F238E27FC236}">
                <a16:creationId xmlns:a16="http://schemas.microsoft.com/office/drawing/2014/main" id="{3CBA2FA2-B1B4-4DCA-AFDE-F76FB5E2CC64}"/>
              </a:ext>
            </a:extLst>
          </p:cNvPr>
          <p:cNvSpPr/>
          <p:nvPr/>
        </p:nvSpPr>
        <p:spPr>
          <a:xfrm>
            <a:off x="456816" y="746065"/>
            <a:ext cx="11201400" cy="1200329"/>
          </a:xfrm>
          <a:prstGeom prst="rect">
            <a:avLst/>
          </a:prstGeom>
        </p:spPr>
        <p:txBody>
          <a:bodyPr wrap="square">
            <a:spAutoFit/>
          </a:bodyPr>
          <a:lstStyle/>
          <a:p>
            <a:pPr marL="285750" indent="-285750">
              <a:buFont typeface="Wingdings" panose="05000000000000000000" pitchFamily="2" charset="2"/>
              <a:buChar char="v"/>
            </a:pPr>
            <a:r>
              <a:rPr lang="en-US" dirty="0"/>
              <a:t>TCP socket options allow fine-grained control over how sockets behave at the transport layer. </a:t>
            </a:r>
          </a:p>
          <a:p>
            <a:pPr marL="285750" indent="-285750">
              <a:buFont typeface="Wingdings" panose="05000000000000000000" pitchFamily="2" charset="2"/>
              <a:buChar char="v"/>
            </a:pPr>
            <a:r>
              <a:rPr lang="en-US" dirty="0"/>
              <a:t>Java exposes these through methods in the Socket class, which map to low-level OS TCP stack configurations. </a:t>
            </a:r>
          </a:p>
          <a:p>
            <a:pPr marL="285750" indent="-285750">
              <a:buFont typeface="Wingdings" panose="05000000000000000000" pitchFamily="2" charset="2"/>
              <a:buChar char="v"/>
            </a:pPr>
            <a:r>
              <a:rPr lang="en-US" dirty="0"/>
              <a:t>Here's a detailed breakdown:</a:t>
            </a:r>
          </a:p>
        </p:txBody>
      </p:sp>
    </p:spTree>
    <p:extLst>
      <p:ext uri="{BB962C8B-B14F-4D97-AF65-F5344CB8AC3E}">
        <p14:creationId xmlns:p14="http://schemas.microsoft.com/office/powerpoint/2010/main" val="30103744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D900EC-7CAC-4132-B5A8-899267D499EA}"/>
              </a:ext>
            </a:extLst>
          </p:cNvPr>
          <p:cNvSpPr>
            <a:spLocks noGrp="1"/>
          </p:cNvSpPr>
          <p:nvPr>
            <p:ph type="sldNum" sz="quarter" idx="12"/>
          </p:nvPr>
        </p:nvSpPr>
        <p:spPr>
          <a:xfrm>
            <a:off x="8966201" y="6169025"/>
            <a:ext cx="3052233" cy="476250"/>
          </a:xfrm>
        </p:spPr>
        <p:txBody>
          <a:bodyPr/>
          <a:lstStyle/>
          <a:p>
            <a:pPr>
              <a:defRPr/>
            </a:pPr>
            <a:fld id="{373F13DE-3DA7-498E-AF00-CA1584652D0A}" type="slidenum">
              <a:rPr lang="en-US" altLang="zh-CN" smtClean="0"/>
              <a:pPr>
                <a:defRPr/>
              </a:pPr>
              <a:t>38</a:t>
            </a:fld>
            <a:endParaRPr lang="en-US" altLang="zh-CN"/>
          </a:p>
        </p:txBody>
      </p:sp>
      <p:sp>
        <p:nvSpPr>
          <p:cNvPr id="3" name="Rectangle 2">
            <a:extLst>
              <a:ext uri="{FF2B5EF4-FFF2-40B4-BE49-F238E27FC236}">
                <a16:creationId xmlns:a16="http://schemas.microsoft.com/office/drawing/2014/main" id="{4C0A398A-036C-459B-87C9-857E8EB3B9C6}"/>
              </a:ext>
            </a:extLst>
          </p:cNvPr>
          <p:cNvSpPr/>
          <p:nvPr/>
        </p:nvSpPr>
        <p:spPr>
          <a:xfrm>
            <a:off x="142008" y="1904799"/>
            <a:ext cx="11834091" cy="369332"/>
          </a:xfrm>
          <a:prstGeom prst="rect">
            <a:avLst/>
          </a:prstGeom>
        </p:spPr>
        <p:txBody>
          <a:bodyPr wrap="square">
            <a:spAutoFit/>
          </a:bodyPr>
          <a:lstStyle/>
          <a:p>
            <a:r>
              <a:rPr lang="en-US" b="1" u="sng" dirty="0">
                <a:solidFill>
                  <a:srgbClr val="FF0000"/>
                </a:solidFill>
              </a:rPr>
              <a:t>D. SO_RCVBUF / SO_SNDBUF (Buffer Sizes) : Purpose: Suggest buffer sizes to OS (actual size may differ).</a:t>
            </a:r>
          </a:p>
        </p:txBody>
      </p:sp>
      <p:sp>
        <p:nvSpPr>
          <p:cNvPr id="4" name="Rectangle 3">
            <a:extLst>
              <a:ext uri="{FF2B5EF4-FFF2-40B4-BE49-F238E27FC236}">
                <a16:creationId xmlns:a16="http://schemas.microsoft.com/office/drawing/2014/main" id="{2732B6B1-EBC7-402E-91F8-53435CF6AFB4}"/>
              </a:ext>
            </a:extLst>
          </p:cNvPr>
          <p:cNvSpPr/>
          <p:nvPr/>
        </p:nvSpPr>
        <p:spPr>
          <a:xfrm>
            <a:off x="585354" y="2696540"/>
            <a:ext cx="9144000" cy="865173"/>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setReceiveBufferSize</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64</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1024</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64KB receive buffer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setSendBufferSize</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128</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1024</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128KB send buffer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5" name="Rectangle 4">
            <a:extLst>
              <a:ext uri="{FF2B5EF4-FFF2-40B4-BE49-F238E27FC236}">
                <a16:creationId xmlns:a16="http://schemas.microsoft.com/office/drawing/2014/main" id="{95433BE1-81AD-41E9-8590-F7DDC02DA397}"/>
              </a:ext>
            </a:extLst>
          </p:cNvPr>
          <p:cNvSpPr/>
          <p:nvPr/>
        </p:nvSpPr>
        <p:spPr>
          <a:xfrm>
            <a:off x="564572" y="3616152"/>
            <a:ext cx="11406909" cy="369332"/>
          </a:xfrm>
          <a:prstGeom prst="rect">
            <a:avLst/>
          </a:prstGeom>
        </p:spPr>
        <p:txBody>
          <a:bodyPr wrap="square">
            <a:spAutoFit/>
          </a:bodyPr>
          <a:lstStyle/>
          <a:p>
            <a:r>
              <a:rPr lang="en-US" dirty="0"/>
              <a:t>Trade-off:  Too small → Underutilized bandwidth.   Too large → Network congestion.</a:t>
            </a:r>
          </a:p>
        </p:txBody>
      </p:sp>
      <p:sp>
        <p:nvSpPr>
          <p:cNvPr id="6" name="Rectangle 5">
            <a:extLst>
              <a:ext uri="{FF2B5EF4-FFF2-40B4-BE49-F238E27FC236}">
                <a16:creationId xmlns:a16="http://schemas.microsoft.com/office/drawing/2014/main" id="{92880440-481D-4DCB-9B82-D7F4305DA9AE}"/>
              </a:ext>
            </a:extLst>
          </p:cNvPr>
          <p:cNvSpPr/>
          <p:nvPr/>
        </p:nvSpPr>
        <p:spPr>
          <a:xfrm>
            <a:off x="142008" y="4109000"/>
            <a:ext cx="11332634" cy="369332"/>
          </a:xfrm>
          <a:prstGeom prst="rect">
            <a:avLst/>
          </a:prstGeom>
        </p:spPr>
        <p:txBody>
          <a:bodyPr wrap="square">
            <a:spAutoFit/>
          </a:bodyPr>
          <a:lstStyle/>
          <a:p>
            <a:r>
              <a:rPr lang="en-US" b="1" u="sng" dirty="0">
                <a:solidFill>
                  <a:srgbClr val="FF0000"/>
                </a:solidFill>
              </a:rPr>
              <a:t>E. SO_KEEPALIVE (Connection Liveness):   Purpose: Detect dead connections.</a:t>
            </a:r>
          </a:p>
        </p:txBody>
      </p:sp>
      <p:sp>
        <p:nvSpPr>
          <p:cNvPr id="7" name="Rectangle 6">
            <a:extLst>
              <a:ext uri="{FF2B5EF4-FFF2-40B4-BE49-F238E27FC236}">
                <a16:creationId xmlns:a16="http://schemas.microsoft.com/office/drawing/2014/main" id="{992003BE-194E-4E55-8462-0939B7A5A931}"/>
              </a:ext>
            </a:extLst>
          </p:cNvPr>
          <p:cNvSpPr/>
          <p:nvPr/>
        </p:nvSpPr>
        <p:spPr>
          <a:xfrm>
            <a:off x="406785" y="4538112"/>
            <a:ext cx="9982200" cy="369332"/>
          </a:xfrm>
          <a:prstGeom prst="rect">
            <a:avLst/>
          </a:prstGeom>
        </p:spPr>
        <p:txBody>
          <a:bodyPr wrap="square">
            <a:spAutoFit/>
          </a:bodyPr>
          <a:lstStyle/>
          <a:p>
            <a:r>
              <a:rPr lang="en-US" dirty="0"/>
              <a:t>Behavior:  Probes every 2 hours (idle).  Gives up after 11 minutes of no response.</a:t>
            </a:r>
          </a:p>
        </p:txBody>
      </p:sp>
      <p:sp>
        <p:nvSpPr>
          <p:cNvPr id="9" name="Rectangle 8">
            <a:extLst>
              <a:ext uri="{FF2B5EF4-FFF2-40B4-BE49-F238E27FC236}">
                <a16:creationId xmlns:a16="http://schemas.microsoft.com/office/drawing/2014/main" id="{052806C2-93B2-4863-BEE8-29343067B231}"/>
              </a:ext>
            </a:extLst>
          </p:cNvPr>
          <p:cNvSpPr/>
          <p:nvPr/>
        </p:nvSpPr>
        <p:spPr>
          <a:xfrm>
            <a:off x="383310" y="4622237"/>
            <a:ext cx="10610274" cy="769441"/>
          </a:xfrm>
          <a:prstGeom prst="rect">
            <a:avLst/>
          </a:prstGeom>
        </p:spPr>
        <p:txBody>
          <a:bodyPr wrap="square">
            <a:spAutoFit/>
          </a:bodyPr>
          <a:lstStyle/>
          <a:p>
            <a:pPr lvl="0"/>
            <a:r>
              <a:rPr lang="en-US" altLang="en-US" dirty="0" err="1">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socket</a:t>
            </a:r>
            <a:r>
              <a:rPr lang="en-US" altLang="en-US" dirty="0" err="1">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dirty="0" err="1">
                <a:solidFill>
                  <a:srgbClr val="4078F2"/>
                </a:solidFill>
                <a:latin typeface="Arial Unicode MS" panose="020B0604020202020204" pitchFamily="34" charset="-128"/>
                <a:ea typeface="Times New Roman" panose="02020603050405020304" pitchFamily="18" charset="0"/>
                <a:cs typeface="Courier New" panose="02070309020205020404" pitchFamily="49" charset="0"/>
              </a:rPr>
              <a:t>setKeepAlive</a:t>
            </a:r>
            <a:r>
              <a:rPr lang="en-US" altLang="en-US" dirty="0">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dirty="0">
                <a:solidFill>
                  <a:srgbClr val="B76B01"/>
                </a:solidFill>
                <a:latin typeface="Arial Unicode MS" panose="020B0604020202020204" pitchFamily="34" charset="-128"/>
                <a:ea typeface="Times New Roman" panose="02020603050405020304" pitchFamily="18" charset="0"/>
                <a:cs typeface="Courier New" panose="02070309020205020404" pitchFamily="49" charset="0"/>
              </a:rPr>
              <a:t>true</a:t>
            </a:r>
            <a:r>
              <a:rPr lang="en-US" altLang="en-US" dirty="0">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dirty="0" err="1">
                <a:solidFill>
                  <a:srgbClr val="A626A4"/>
                </a:solidFill>
                <a:latin typeface="Arial Unicode MS" panose="020B0604020202020204" pitchFamily="34" charset="-128"/>
                <a:ea typeface="Times New Roman" panose="02020603050405020304" pitchFamily="18" charset="0"/>
                <a:cs typeface="Courier New" panose="02070309020205020404" pitchFamily="49" charset="0"/>
              </a:rPr>
              <a:t>boolean</a:t>
            </a:r>
            <a:r>
              <a:rPr lang="en-US" altLang="en-US"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enabled </a:t>
            </a:r>
            <a:r>
              <a:rPr lang="en-US" altLang="en-US" dirty="0">
                <a:solidFill>
                  <a:srgbClr val="4078F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dirty="0" err="1">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socket</a:t>
            </a:r>
            <a:r>
              <a:rPr lang="en-US" altLang="en-US" dirty="0" err="1">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dirty="0" err="1">
                <a:solidFill>
                  <a:srgbClr val="4078F2"/>
                </a:solidFill>
                <a:latin typeface="Arial Unicode MS" panose="020B0604020202020204" pitchFamily="34" charset="-128"/>
                <a:ea typeface="Times New Roman" panose="02020603050405020304" pitchFamily="18" charset="0"/>
                <a:cs typeface="Courier New" panose="02070309020205020404" pitchFamily="49" charset="0"/>
              </a:rPr>
              <a:t>getKeepAlive</a:t>
            </a:r>
            <a:r>
              <a:rPr lang="en-US" altLang="en-US" dirty="0">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endParaRPr lang="en-US" altLang="en-US" sz="4400" dirty="0"/>
          </a:p>
        </p:txBody>
      </p:sp>
      <p:sp>
        <p:nvSpPr>
          <p:cNvPr id="10" name="Rectangle 9">
            <a:extLst>
              <a:ext uri="{FF2B5EF4-FFF2-40B4-BE49-F238E27FC236}">
                <a16:creationId xmlns:a16="http://schemas.microsoft.com/office/drawing/2014/main" id="{3165505D-2B87-45F4-BB79-037D8084D826}"/>
              </a:ext>
            </a:extLst>
          </p:cNvPr>
          <p:cNvSpPr/>
          <p:nvPr/>
        </p:nvSpPr>
        <p:spPr>
          <a:xfrm>
            <a:off x="165099" y="5483679"/>
            <a:ext cx="10363200" cy="369332"/>
          </a:xfrm>
          <a:prstGeom prst="rect">
            <a:avLst/>
          </a:prstGeom>
        </p:spPr>
        <p:txBody>
          <a:bodyPr wrap="square">
            <a:spAutoFit/>
          </a:bodyPr>
          <a:lstStyle/>
          <a:p>
            <a:r>
              <a:rPr lang="en-US" b="1" dirty="0">
                <a:solidFill>
                  <a:srgbClr val="FF0000"/>
                </a:solidFill>
              </a:rPr>
              <a:t>F. OOBINLINE (Urgent Data) : Purpose: Handle TCP "urgent" data (rarely used).</a:t>
            </a:r>
          </a:p>
        </p:txBody>
      </p:sp>
      <p:sp>
        <p:nvSpPr>
          <p:cNvPr id="11" name="Rectangle 10">
            <a:extLst>
              <a:ext uri="{FF2B5EF4-FFF2-40B4-BE49-F238E27FC236}">
                <a16:creationId xmlns:a16="http://schemas.microsoft.com/office/drawing/2014/main" id="{381A3E8A-2453-4221-B8D1-3560816BCE80}"/>
              </a:ext>
            </a:extLst>
          </p:cNvPr>
          <p:cNvSpPr/>
          <p:nvPr/>
        </p:nvSpPr>
        <p:spPr>
          <a:xfrm>
            <a:off x="727363" y="5820820"/>
            <a:ext cx="9725890" cy="865173"/>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setOOBInline</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true</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Process urgent data in-band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sendUrgentData</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0xFF</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Send urgent byte</a:t>
            </a:r>
            <a:endParaRPr lang="en-US" sz="2400" b="1"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5" name="Rectangle 14">
            <a:extLst>
              <a:ext uri="{FF2B5EF4-FFF2-40B4-BE49-F238E27FC236}">
                <a16:creationId xmlns:a16="http://schemas.microsoft.com/office/drawing/2014/main" id="{A9288DC1-556A-4358-BCF3-4B5E52EF2A07}"/>
              </a:ext>
            </a:extLst>
          </p:cNvPr>
          <p:cNvSpPr/>
          <p:nvPr/>
        </p:nvSpPr>
        <p:spPr>
          <a:xfrm>
            <a:off x="214362" y="163576"/>
            <a:ext cx="11582400" cy="646331"/>
          </a:xfrm>
          <a:prstGeom prst="rect">
            <a:avLst/>
          </a:prstGeom>
        </p:spPr>
        <p:txBody>
          <a:bodyPr wrap="square">
            <a:spAutoFit/>
          </a:bodyPr>
          <a:lstStyle/>
          <a:p>
            <a:r>
              <a:rPr lang="en-US" b="1" dirty="0">
                <a:solidFill>
                  <a:srgbClr val="FF0000"/>
                </a:solidFill>
              </a:rPr>
              <a:t>C. SO_TIMEOUT (Read Timeout) :     Purpose: Set max blocking time for read().</a:t>
            </a:r>
          </a:p>
          <a:p>
            <a:r>
              <a:rPr lang="en-US" b="1" dirty="0">
                <a:solidFill>
                  <a:srgbClr val="FF0000"/>
                </a:solidFill>
              </a:rPr>
              <a:t>Setting SO_TIMEOUT ensures that the call is not blocked for more than a fixed number of milliseconds.</a:t>
            </a:r>
          </a:p>
        </p:txBody>
      </p:sp>
      <p:sp>
        <p:nvSpPr>
          <p:cNvPr id="16" name="Rectangle 15">
            <a:extLst>
              <a:ext uri="{FF2B5EF4-FFF2-40B4-BE49-F238E27FC236}">
                <a16:creationId xmlns:a16="http://schemas.microsoft.com/office/drawing/2014/main" id="{A6D66C82-8A20-4C0A-8FF9-BD2895E126EA}"/>
              </a:ext>
            </a:extLst>
          </p:cNvPr>
          <p:cNvSpPr/>
          <p:nvPr/>
        </p:nvSpPr>
        <p:spPr>
          <a:xfrm>
            <a:off x="562457" y="879994"/>
            <a:ext cx="10251979" cy="865173"/>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setSoTimeout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5-second timeout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timeout </a:t>
            </a:r>
            <a:r>
              <a:rPr lang="en-US"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getSoTimeout</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0 = infinite  </a:t>
            </a:r>
            <a:endParaRPr lang="en-US" sz="24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17" name="Rectangle 16">
            <a:extLst>
              <a:ext uri="{FF2B5EF4-FFF2-40B4-BE49-F238E27FC236}">
                <a16:creationId xmlns:a16="http://schemas.microsoft.com/office/drawing/2014/main" id="{F409EAD0-571B-48BB-AFB5-621875AC67D7}"/>
              </a:ext>
            </a:extLst>
          </p:cNvPr>
          <p:cNvSpPr/>
          <p:nvPr/>
        </p:nvSpPr>
        <p:spPr>
          <a:xfrm>
            <a:off x="615372" y="2383247"/>
            <a:ext cx="11023600" cy="369332"/>
          </a:xfrm>
          <a:prstGeom prst="rect">
            <a:avLst/>
          </a:prstGeom>
        </p:spPr>
        <p:txBody>
          <a:bodyPr wrap="square">
            <a:spAutoFit/>
          </a:bodyPr>
          <a:lstStyle/>
          <a:p>
            <a:r>
              <a:rPr lang="en-US" dirty="0"/>
              <a:t>Note: Timeout triggers </a:t>
            </a:r>
            <a:r>
              <a:rPr lang="en-US" dirty="0" err="1"/>
              <a:t>SocketTimeoutException</a:t>
            </a:r>
            <a:r>
              <a:rPr lang="en-US" dirty="0"/>
              <a:t>, not connection closure.</a:t>
            </a:r>
          </a:p>
        </p:txBody>
      </p:sp>
    </p:spTree>
    <p:extLst>
      <p:ext uri="{BB962C8B-B14F-4D97-AF65-F5344CB8AC3E}">
        <p14:creationId xmlns:p14="http://schemas.microsoft.com/office/powerpoint/2010/main" val="3196809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DD0691-97BB-42DE-833C-6E08D6E4AA60}"/>
              </a:ext>
            </a:extLst>
          </p:cNvPr>
          <p:cNvSpPr>
            <a:spLocks noGrp="1"/>
          </p:cNvSpPr>
          <p:nvPr>
            <p:ph type="sldNum" sz="quarter" idx="12"/>
          </p:nvPr>
        </p:nvSpPr>
        <p:spPr/>
        <p:txBody>
          <a:bodyPr/>
          <a:lstStyle/>
          <a:p>
            <a:pPr>
              <a:defRPr/>
            </a:pPr>
            <a:fld id="{373F13DE-3DA7-498E-AF00-CA1584652D0A}" type="slidenum">
              <a:rPr lang="en-US" altLang="zh-CN" smtClean="0"/>
              <a:pPr>
                <a:defRPr/>
              </a:pPr>
              <a:t>39</a:t>
            </a:fld>
            <a:endParaRPr lang="en-US" altLang="zh-CN"/>
          </a:p>
        </p:txBody>
      </p:sp>
      <p:sp>
        <p:nvSpPr>
          <p:cNvPr id="3" name="Rectangle 2">
            <a:extLst>
              <a:ext uri="{FF2B5EF4-FFF2-40B4-BE49-F238E27FC236}">
                <a16:creationId xmlns:a16="http://schemas.microsoft.com/office/drawing/2014/main" id="{ECC77E2B-F653-4D24-8806-F4389335116E}"/>
              </a:ext>
            </a:extLst>
          </p:cNvPr>
          <p:cNvSpPr/>
          <p:nvPr/>
        </p:nvSpPr>
        <p:spPr>
          <a:xfrm>
            <a:off x="204162" y="2286000"/>
            <a:ext cx="11506200" cy="369332"/>
          </a:xfrm>
          <a:prstGeom prst="rect">
            <a:avLst/>
          </a:prstGeom>
        </p:spPr>
        <p:txBody>
          <a:bodyPr wrap="square">
            <a:spAutoFit/>
          </a:bodyPr>
          <a:lstStyle/>
          <a:p>
            <a:r>
              <a:rPr lang="en-US" b="1" dirty="0">
                <a:solidFill>
                  <a:srgbClr val="FF0000"/>
                </a:solidFill>
              </a:rPr>
              <a:t>H. IP_TOS (Quality of Service) : Purpose: Set IP header’s Type-of-Service field.</a:t>
            </a:r>
          </a:p>
        </p:txBody>
      </p:sp>
      <p:sp>
        <p:nvSpPr>
          <p:cNvPr id="4" name="Rectangle 3">
            <a:extLst>
              <a:ext uri="{FF2B5EF4-FFF2-40B4-BE49-F238E27FC236}">
                <a16:creationId xmlns:a16="http://schemas.microsoft.com/office/drawing/2014/main" id="{03F0C783-E461-4FB8-9404-815308BBF420}"/>
              </a:ext>
            </a:extLst>
          </p:cNvPr>
          <p:cNvSpPr/>
          <p:nvPr/>
        </p:nvSpPr>
        <p:spPr>
          <a:xfrm>
            <a:off x="381000" y="2743200"/>
            <a:ext cx="9715500" cy="383888"/>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setTrafficClass</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0x10</a:t>
            </a:r>
            <a:r>
              <a:rPr lang="en-US"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Low delay (e.g., VoIP)  </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6" name="Rectangle 5">
            <a:extLst>
              <a:ext uri="{FF2B5EF4-FFF2-40B4-BE49-F238E27FC236}">
                <a16:creationId xmlns:a16="http://schemas.microsoft.com/office/drawing/2014/main" id="{A805D155-8B53-4D67-AEDA-562277CCD60A}"/>
              </a:ext>
            </a:extLst>
          </p:cNvPr>
          <p:cNvSpPr/>
          <p:nvPr/>
        </p:nvSpPr>
        <p:spPr>
          <a:xfrm>
            <a:off x="228600" y="268524"/>
            <a:ext cx="10972800" cy="369332"/>
          </a:xfrm>
          <a:prstGeom prst="rect">
            <a:avLst/>
          </a:prstGeom>
        </p:spPr>
        <p:txBody>
          <a:bodyPr wrap="square">
            <a:spAutoFit/>
          </a:bodyPr>
          <a:lstStyle/>
          <a:p>
            <a:r>
              <a:rPr lang="en-US" b="1" dirty="0">
                <a:solidFill>
                  <a:srgbClr val="FF0000"/>
                </a:solidFill>
              </a:rPr>
              <a:t>G. SO_REUSEADDR (Port Reuse) : Purpose: Bypass TIME_WAIT state for rapid port reuse</a:t>
            </a:r>
          </a:p>
        </p:txBody>
      </p:sp>
      <p:sp>
        <p:nvSpPr>
          <p:cNvPr id="7" name="Rectangle 6">
            <a:extLst>
              <a:ext uri="{FF2B5EF4-FFF2-40B4-BE49-F238E27FC236}">
                <a16:creationId xmlns:a16="http://schemas.microsoft.com/office/drawing/2014/main" id="{A4E4A6B2-5C04-4B26-9305-187BA9BBE399}"/>
              </a:ext>
            </a:extLst>
          </p:cNvPr>
          <p:cNvSpPr/>
          <p:nvPr/>
        </p:nvSpPr>
        <p:spPr>
          <a:xfrm>
            <a:off x="467783" y="843115"/>
            <a:ext cx="11256434" cy="1087477"/>
          </a:xfrm>
          <a:prstGeom prst="rect">
            <a:avLst/>
          </a:prstGeom>
        </p:spPr>
        <p:txBody>
          <a:bodyPr wrap="square">
            <a:spAutoFit/>
          </a:bodyPr>
          <a:lstStyle/>
          <a:p>
            <a:pPr lvl="0">
              <a:spcAft>
                <a:spcPts val="1000"/>
              </a:spcAft>
            </a:pPr>
            <a:r>
              <a:rPr lang="en-US" altLang="en-US" sz="1600" dirty="0">
                <a:solidFill>
                  <a:srgbClr val="B76B01"/>
                </a:solidFill>
                <a:latin typeface="Arial Unicode MS" panose="020B0604020202020204" pitchFamily="34" charset="-128"/>
                <a:ea typeface="Times New Roman" panose="02020603050405020304" pitchFamily="18" charset="0"/>
                <a:cs typeface="Courier New" panose="02070309020205020404" pitchFamily="49" charset="0"/>
              </a:rPr>
              <a:t>Socket</a:t>
            </a:r>
            <a:r>
              <a:rPr lang="en-US" altLang="en-US" sz="1600"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sz="1600" dirty="0" err="1">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socket</a:t>
            </a:r>
            <a:r>
              <a:rPr lang="en-US" altLang="en-US" sz="1600"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sz="1600" dirty="0">
                <a:solidFill>
                  <a:srgbClr val="4078F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sz="1600"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sz="1600" dirty="0">
                <a:solidFill>
                  <a:srgbClr val="A626A4"/>
                </a:solidFill>
                <a:latin typeface="Arial Unicode MS" panose="020B0604020202020204" pitchFamily="34" charset="-128"/>
                <a:ea typeface="Times New Roman" panose="02020603050405020304" pitchFamily="18" charset="0"/>
                <a:cs typeface="Courier New" panose="02070309020205020404" pitchFamily="49" charset="0"/>
              </a:rPr>
              <a:t>new</a:t>
            </a:r>
            <a:r>
              <a:rPr lang="en-US" altLang="en-US" sz="1600"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sz="1600" dirty="0">
                <a:solidFill>
                  <a:srgbClr val="B76B01"/>
                </a:solidFill>
                <a:latin typeface="Arial Unicode MS" panose="020B0604020202020204" pitchFamily="34" charset="-128"/>
                <a:ea typeface="Times New Roman" panose="02020603050405020304" pitchFamily="18" charset="0"/>
                <a:cs typeface="Courier New" panose="02070309020205020404" pitchFamily="49" charset="0"/>
              </a:rPr>
              <a:t>Socket</a:t>
            </a:r>
            <a:r>
              <a:rPr lang="en-US" altLang="en-US" sz="1600" dirty="0">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sz="1600"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sz="1600" i="1" dirty="0">
                <a:solidFill>
                  <a:srgbClr val="A0A1A7"/>
                </a:solidFill>
                <a:latin typeface="Arial Unicode MS" panose="020B0604020202020204" pitchFamily="34" charset="-128"/>
                <a:ea typeface="Times New Roman" panose="02020603050405020304" pitchFamily="18" charset="0"/>
                <a:cs typeface="Courier New" panose="02070309020205020404" pitchFamily="49" charset="0"/>
              </a:rPr>
              <a:t>// Unconnected  </a:t>
            </a:r>
          </a:p>
          <a:p>
            <a:pPr lvl="0">
              <a:spcAft>
                <a:spcPts val="1000"/>
              </a:spcAft>
            </a:pPr>
            <a:r>
              <a:rPr lang="en-US" altLang="en-US" sz="1600" dirty="0" err="1">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socket</a:t>
            </a:r>
            <a:r>
              <a:rPr lang="en-US" altLang="en-US" sz="1600" dirty="0" err="1">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sz="1600" dirty="0" err="1">
                <a:solidFill>
                  <a:srgbClr val="4078F2"/>
                </a:solidFill>
                <a:latin typeface="Arial Unicode MS" panose="020B0604020202020204" pitchFamily="34" charset="-128"/>
                <a:ea typeface="Times New Roman" panose="02020603050405020304" pitchFamily="18" charset="0"/>
                <a:cs typeface="Courier New" panose="02070309020205020404" pitchFamily="49" charset="0"/>
              </a:rPr>
              <a:t>setReuseAddress</a:t>
            </a:r>
            <a:r>
              <a:rPr lang="en-US" altLang="en-US" sz="1600" dirty="0">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sz="1600" dirty="0">
                <a:solidFill>
                  <a:srgbClr val="B76B01"/>
                </a:solidFill>
                <a:latin typeface="Arial Unicode MS" panose="020B0604020202020204" pitchFamily="34" charset="-128"/>
                <a:ea typeface="Times New Roman" panose="02020603050405020304" pitchFamily="18" charset="0"/>
                <a:cs typeface="Courier New" panose="02070309020205020404" pitchFamily="49" charset="0"/>
              </a:rPr>
              <a:t>true</a:t>
            </a:r>
            <a:r>
              <a:rPr lang="en-US" altLang="en-US" sz="1600" dirty="0">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sz="1600" dirty="0">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  </a:t>
            </a:r>
            <a:r>
              <a:rPr lang="en-US" altLang="en-US" sz="1600" i="1" dirty="0">
                <a:solidFill>
                  <a:srgbClr val="A0A1A7"/>
                </a:solidFill>
                <a:latin typeface="Arial Unicode MS" panose="020B0604020202020204" pitchFamily="34" charset="-128"/>
                <a:ea typeface="Times New Roman" panose="02020603050405020304" pitchFamily="18" charset="0"/>
                <a:cs typeface="Courier New" panose="02070309020205020404" pitchFamily="49" charset="0"/>
              </a:rPr>
              <a:t>// Must set BEFORE bind/connect  </a:t>
            </a:r>
          </a:p>
          <a:p>
            <a:pPr lvl="0">
              <a:spcAft>
                <a:spcPts val="1000"/>
              </a:spcAft>
            </a:pPr>
            <a:r>
              <a:rPr lang="en-US" altLang="en-US" sz="1600" dirty="0" err="1">
                <a:solidFill>
                  <a:srgbClr val="494949"/>
                </a:solidFill>
                <a:latin typeface="Arial Unicode MS" panose="020B0604020202020204" pitchFamily="34" charset="-128"/>
                <a:ea typeface="Times New Roman" panose="02020603050405020304" pitchFamily="18" charset="0"/>
                <a:cs typeface="Courier New" panose="02070309020205020404" pitchFamily="49" charset="0"/>
              </a:rPr>
              <a:t>socket</a:t>
            </a:r>
            <a:r>
              <a:rPr lang="en-US" altLang="en-US" sz="1600" dirty="0" err="1">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sz="1600" dirty="0" err="1">
                <a:solidFill>
                  <a:srgbClr val="4078F2"/>
                </a:solidFill>
                <a:latin typeface="Arial Unicode MS" panose="020B0604020202020204" pitchFamily="34" charset="-128"/>
                <a:ea typeface="Times New Roman" panose="02020603050405020304" pitchFamily="18" charset="0"/>
                <a:cs typeface="Courier New" panose="02070309020205020404" pitchFamily="49" charset="0"/>
              </a:rPr>
              <a:t>connect</a:t>
            </a:r>
            <a:r>
              <a:rPr lang="en-US" altLang="en-US" sz="1600" dirty="0">
                <a:solidFill>
                  <a:srgbClr val="383A42"/>
                </a:solidFill>
                <a:latin typeface="Arial Unicode MS" panose="020B0604020202020204" pitchFamily="34" charset="-128"/>
                <a:ea typeface="Times New Roman" panose="02020603050405020304" pitchFamily="18" charset="0"/>
                <a:cs typeface="Courier New" panose="02070309020205020404" pitchFamily="49" charset="0"/>
              </a:rPr>
              <a:t>(...);</a:t>
            </a:r>
            <a:r>
              <a:rPr lang="en-US" altLang="en-US" sz="900" dirty="0"/>
              <a:t> </a:t>
            </a:r>
            <a:endParaRPr lang="en-US" altLang="en-US" sz="2000" dirty="0"/>
          </a:p>
        </p:txBody>
      </p:sp>
    </p:spTree>
    <p:extLst>
      <p:ext uri="{BB962C8B-B14F-4D97-AF65-F5344CB8AC3E}">
        <p14:creationId xmlns:p14="http://schemas.microsoft.com/office/powerpoint/2010/main" val="3845958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25B455-DEAA-4498-B55A-FE9944C11573}"/>
              </a:ext>
            </a:extLst>
          </p:cNvPr>
          <p:cNvSpPr>
            <a:spLocks noGrp="1"/>
          </p:cNvSpPr>
          <p:nvPr>
            <p:ph type="sldNum" sz="quarter" idx="12"/>
          </p:nvPr>
        </p:nvSpPr>
        <p:spPr/>
        <p:txBody>
          <a:bodyPr/>
          <a:lstStyle/>
          <a:p>
            <a:pPr>
              <a:defRPr/>
            </a:pPr>
            <a:fld id="{373F13DE-3DA7-498E-AF00-CA1584652D0A}" type="slidenum">
              <a:rPr lang="en-US" altLang="zh-CN" smtClean="0"/>
              <a:pPr>
                <a:defRPr/>
              </a:pPr>
              <a:t>40</a:t>
            </a:fld>
            <a:endParaRPr lang="en-US" altLang="zh-CN"/>
          </a:p>
        </p:txBody>
      </p:sp>
      <p:sp>
        <p:nvSpPr>
          <p:cNvPr id="3" name="Rectangle 2">
            <a:extLst>
              <a:ext uri="{FF2B5EF4-FFF2-40B4-BE49-F238E27FC236}">
                <a16:creationId xmlns:a16="http://schemas.microsoft.com/office/drawing/2014/main" id="{4740A200-8B25-4DEC-8CEE-B53C951287C5}"/>
              </a:ext>
            </a:extLst>
          </p:cNvPr>
          <p:cNvSpPr/>
          <p:nvPr/>
        </p:nvSpPr>
        <p:spPr>
          <a:xfrm>
            <a:off x="228600" y="228600"/>
            <a:ext cx="3262432" cy="461665"/>
          </a:xfrm>
          <a:prstGeom prst="rect">
            <a:avLst/>
          </a:prstGeom>
        </p:spPr>
        <p:txBody>
          <a:bodyPr wrap="none">
            <a:spAutoFit/>
          </a:bodyPr>
          <a:lstStyle/>
          <a:p>
            <a:r>
              <a:rPr lang="en-US" sz="2400" b="1" dirty="0">
                <a:solidFill>
                  <a:srgbClr val="FF00FF"/>
                </a:solidFill>
              </a:rPr>
              <a:t>4. Socket Exceptions</a:t>
            </a:r>
          </a:p>
        </p:txBody>
      </p:sp>
      <p:graphicFrame>
        <p:nvGraphicFramePr>
          <p:cNvPr id="4" name="Table 3">
            <a:extLst>
              <a:ext uri="{FF2B5EF4-FFF2-40B4-BE49-F238E27FC236}">
                <a16:creationId xmlns:a16="http://schemas.microsoft.com/office/drawing/2014/main" id="{619CAB70-B3E8-421A-8431-760FDBC1262A}"/>
              </a:ext>
            </a:extLst>
          </p:cNvPr>
          <p:cNvGraphicFramePr>
            <a:graphicFrameLocks noGrp="1"/>
          </p:cNvGraphicFramePr>
          <p:nvPr>
            <p:extLst>
              <p:ext uri="{D42A27DB-BD31-4B8C-83A1-F6EECF244321}">
                <p14:modId xmlns:p14="http://schemas.microsoft.com/office/powerpoint/2010/main" val="869511370"/>
              </p:ext>
            </p:extLst>
          </p:nvPr>
        </p:nvGraphicFramePr>
        <p:xfrm>
          <a:off x="152400" y="1029701"/>
          <a:ext cx="5334000" cy="2105724"/>
        </p:xfrm>
        <a:graphic>
          <a:graphicData uri="http://schemas.openxmlformats.org/drawingml/2006/table">
            <a:tbl>
              <a:tblPr firstRow="1" firstCol="1" bandRow="1"/>
              <a:tblGrid>
                <a:gridCol w="2514600">
                  <a:extLst>
                    <a:ext uri="{9D8B030D-6E8A-4147-A177-3AD203B41FA5}">
                      <a16:colId xmlns:a16="http://schemas.microsoft.com/office/drawing/2014/main" val="1802806610"/>
                    </a:ext>
                  </a:extLst>
                </a:gridCol>
                <a:gridCol w="2819400">
                  <a:extLst>
                    <a:ext uri="{9D8B030D-6E8A-4147-A177-3AD203B41FA5}">
                      <a16:colId xmlns:a16="http://schemas.microsoft.com/office/drawing/2014/main" val="2830383286"/>
                    </a:ext>
                  </a:extLst>
                </a:gridCol>
              </a:tblGrid>
              <a:tr h="0">
                <a:tc>
                  <a:txBody>
                    <a:bodyPr/>
                    <a:lstStyle/>
                    <a:p>
                      <a:pPr marL="457200" marR="0" lvl="1">
                        <a:lnSpc>
                          <a:spcPct val="107000"/>
                        </a:lnSpc>
                        <a:spcBef>
                          <a:spcPts val="0"/>
                        </a:spcBef>
                        <a:spcAft>
                          <a:spcPts val="800"/>
                        </a:spcAft>
                      </a:pPr>
                      <a:r>
                        <a:rPr lang="en-US" sz="1800" b="1">
                          <a:solidFill>
                            <a:srgbClr val="002060"/>
                          </a:solidFill>
                          <a:effectLst/>
                          <a:latin typeface="Calibri" panose="020F0502020204030204" pitchFamily="34" charset="0"/>
                          <a:ea typeface="SimSun" panose="02010600030101010101" pitchFamily="2" charset="-122"/>
                          <a:cs typeface="Times New Roman" panose="02020603050405020304" pitchFamily="18" charset="0"/>
                        </a:rPr>
                        <a:t>Exception</a:t>
                      </a:r>
                      <a:endParaRPr lang="en-US" sz="180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800" b="1" dirty="0">
                          <a:solidFill>
                            <a:srgbClr val="002060"/>
                          </a:solidFill>
                          <a:effectLst/>
                          <a:latin typeface="Calibri" panose="020F0502020204030204" pitchFamily="34" charset="0"/>
                          <a:ea typeface="SimSun" panose="02010600030101010101" pitchFamily="2" charset="-122"/>
                          <a:cs typeface="Times New Roman" panose="02020603050405020304" pitchFamily="18" charset="0"/>
                        </a:rPr>
                        <a:t>Cause</a:t>
                      </a:r>
                      <a:endParaRPr lang="en-US" sz="1800" dirty="0">
                        <a:solidFill>
                          <a:srgbClr val="002060"/>
                        </a:solidFill>
                        <a:effectLst/>
                        <a:latin typeface="Calibri" panose="020F0502020204030204" pitchFamily="34" charset="0"/>
                        <a:ea typeface="SimSun"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64494775"/>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BindException</a:t>
                      </a:r>
                      <a:endParaRPr lang="en-US" sz="14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Port in use / no permission</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84953786"/>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ConnectException</a:t>
                      </a:r>
                      <a:endParaRPr lang="en-US" sz="14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dirty="0">
                          <a:effectLst/>
                          <a:latin typeface="Calibri" panose="020F0502020204030204" pitchFamily="34" charset="0"/>
                          <a:ea typeface="SimSun" panose="02010600030101010101" pitchFamily="2" charset="-122"/>
                          <a:cs typeface="Times New Roman" panose="02020603050405020304" pitchFamily="18" charset="0"/>
                        </a:rPr>
                        <a:t>Remote refused (port not listening)</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49042"/>
                  </a:ext>
                </a:extLst>
              </a:tr>
              <a:tr h="0">
                <a:tc>
                  <a:txBody>
                    <a:bodyPr/>
                    <a:lstStyle/>
                    <a:p>
                      <a:pPr marL="457200" marR="0" lvl="1">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NoRouteToHostException</a:t>
                      </a: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a:effectLst/>
                          <a:latin typeface="Calibri" panose="020F0502020204030204" pitchFamily="34" charset="0"/>
                          <a:ea typeface="SimSun" panose="02010600030101010101" pitchFamily="2" charset="-122"/>
                          <a:cs typeface="Times New Roman" panose="02020603050405020304" pitchFamily="18" charset="0"/>
                        </a:rPr>
                        <a:t>Network unreachable</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52136501"/>
                  </a:ext>
                </a:extLst>
              </a:tr>
              <a:tr h="0">
                <a:tc>
                  <a:txBody>
                    <a:bodyPr/>
                    <a:lstStyle/>
                    <a:p>
                      <a:pPr marL="457200" marR="0" lvl="1">
                        <a:lnSpc>
                          <a:spcPct val="107000"/>
                        </a:lnSpc>
                        <a:spcBef>
                          <a:spcPts val="0"/>
                        </a:spcBef>
                        <a:spcAft>
                          <a:spcPts val="800"/>
                        </a:spcAft>
                      </a:pPr>
                      <a:r>
                        <a:rPr lang="en-US" sz="1400" b="1" dirty="0" err="1">
                          <a:effectLst/>
                          <a:latin typeface="Calibri" panose="020F0502020204030204" pitchFamily="34" charset="0"/>
                          <a:ea typeface="SimSun" panose="02010600030101010101" pitchFamily="2" charset="-122"/>
                          <a:cs typeface="Times New Roman" panose="02020603050405020304" pitchFamily="18" charset="0"/>
                        </a:rPr>
                        <a:t>ProtocolException</a:t>
                      </a:r>
                      <a:endParaRPr lang="en-US" sz="14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b="1" dirty="0">
                          <a:effectLst/>
                          <a:latin typeface="Calibri" panose="020F0502020204030204" pitchFamily="34" charset="0"/>
                          <a:ea typeface="SimSun" panose="02010600030101010101" pitchFamily="2" charset="-122"/>
                          <a:cs typeface="Times New Roman" panose="02020603050405020304" pitchFamily="18" charset="0"/>
                        </a:rPr>
                        <a:t>Invalid TCP/IP data</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94202317"/>
                  </a:ext>
                </a:extLst>
              </a:tr>
            </a:tbl>
          </a:graphicData>
        </a:graphic>
      </p:graphicFrame>
      <p:sp>
        <p:nvSpPr>
          <p:cNvPr id="5" name="Rectangle 4">
            <a:extLst>
              <a:ext uri="{FF2B5EF4-FFF2-40B4-BE49-F238E27FC236}">
                <a16:creationId xmlns:a16="http://schemas.microsoft.com/office/drawing/2014/main" id="{E40C058D-897D-4181-BB37-00D1B9E9D128}"/>
              </a:ext>
            </a:extLst>
          </p:cNvPr>
          <p:cNvSpPr/>
          <p:nvPr/>
        </p:nvSpPr>
        <p:spPr>
          <a:xfrm>
            <a:off x="5638800" y="459432"/>
            <a:ext cx="1962012" cy="369332"/>
          </a:xfrm>
          <a:prstGeom prst="rect">
            <a:avLst/>
          </a:prstGeom>
        </p:spPr>
        <p:txBody>
          <a:bodyPr wrap="none">
            <a:spAutoFit/>
          </a:bodyPr>
          <a:lstStyle/>
          <a:p>
            <a:r>
              <a:rPr lang="en-US" b="1" dirty="0">
                <a:solidFill>
                  <a:srgbClr val="FF0066"/>
                </a:solidFill>
                <a:latin typeface="quote-cjk-patch"/>
              </a:rPr>
              <a:t>Handling Example</a:t>
            </a:r>
            <a:r>
              <a:rPr lang="en-US" dirty="0">
                <a:solidFill>
                  <a:srgbClr val="FF0066"/>
                </a:solidFill>
                <a:latin typeface="quote-cjk-patch"/>
              </a:rPr>
              <a:t>:</a:t>
            </a:r>
            <a:endParaRPr lang="en-US" dirty="0">
              <a:solidFill>
                <a:srgbClr val="FF0066"/>
              </a:solidFill>
            </a:endParaRPr>
          </a:p>
        </p:txBody>
      </p:sp>
      <p:sp>
        <p:nvSpPr>
          <p:cNvPr id="6" name="Rectangle 5">
            <a:extLst>
              <a:ext uri="{FF2B5EF4-FFF2-40B4-BE49-F238E27FC236}">
                <a16:creationId xmlns:a16="http://schemas.microsoft.com/office/drawing/2014/main" id="{5D17F105-959E-451C-8AA4-1DF6251B66AF}"/>
              </a:ext>
            </a:extLst>
          </p:cNvPr>
          <p:cNvSpPr/>
          <p:nvPr/>
        </p:nvSpPr>
        <p:spPr>
          <a:xfrm>
            <a:off x="5583766" y="1050483"/>
            <a:ext cx="6455834" cy="2241896"/>
          </a:xfrm>
          <a:prstGeom prst="rect">
            <a:avLst/>
          </a:prstGeom>
        </p:spPr>
        <p:txBody>
          <a:bodyPr wrap="square">
            <a:spAutoFit/>
          </a:bodyPr>
          <a:lstStyle/>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"example.com"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80</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ConnectException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"Remote service is down!"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"General network error: "</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SimSun" panose="02010600030101010101" pitchFamily="2" charset="-122"/>
              <a:cs typeface="Times New Roman" panose="02020603050405020304" pitchFamily="18" charset="0"/>
            </a:endParaRPr>
          </a:p>
          <a:p>
            <a:pPr marL="0" marR="0" latinLnBrk="1">
              <a:lnSpc>
                <a:spcPct val="10700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SimSun" panose="02010600030101010101" pitchFamily="2" charset="-122"/>
              <a:cs typeface="Times New Roman" panose="02020603050405020304" pitchFamily="18" charset="0"/>
            </a:endParaRPr>
          </a:p>
        </p:txBody>
      </p:sp>
      <p:sp>
        <p:nvSpPr>
          <p:cNvPr id="7" name="Rectangle 6">
            <a:extLst>
              <a:ext uri="{FF2B5EF4-FFF2-40B4-BE49-F238E27FC236}">
                <a16:creationId xmlns:a16="http://schemas.microsoft.com/office/drawing/2014/main" id="{BB32A998-E7C9-4FBB-8ABA-A8F702EE83D5}"/>
              </a:ext>
            </a:extLst>
          </p:cNvPr>
          <p:cNvSpPr/>
          <p:nvPr/>
        </p:nvSpPr>
        <p:spPr>
          <a:xfrm>
            <a:off x="228600" y="3781610"/>
            <a:ext cx="11811000" cy="1585049"/>
          </a:xfrm>
          <a:prstGeom prst="rect">
            <a:avLst/>
          </a:prstGeom>
        </p:spPr>
        <p:txBody>
          <a:bodyPr wrap="square">
            <a:spAutoFit/>
          </a:bodyPr>
          <a:lstStyle/>
          <a:p>
            <a:pPr>
              <a:spcAft>
                <a:spcPts val="1000"/>
              </a:spcAft>
            </a:pPr>
            <a:r>
              <a:rPr lang="en-US" dirty="0"/>
              <a:t>Key Takeaways</a:t>
            </a:r>
          </a:p>
          <a:p>
            <a:pPr marL="742950" lvl="1" indent="-285750">
              <a:spcAft>
                <a:spcPts val="1000"/>
              </a:spcAft>
              <a:buFont typeface="Wingdings" panose="05000000000000000000" pitchFamily="2" charset="2"/>
              <a:buChar char="v"/>
            </a:pPr>
            <a:r>
              <a:rPr lang="en-US" dirty="0"/>
              <a:t>Use get[Local/Remote]Address()/Port() for connection diagnostics.</a:t>
            </a:r>
          </a:p>
          <a:p>
            <a:pPr marL="742950" lvl="1" indent="-285750">
              <a:spcAft>
                <a:spcPts val="1000"/>
              </a:spcAft>
              <a:buFont typeface="Wingdings" panose="05000000000000000000" pitchFamily="2" charset="2"/>
              <a:buChar char="v"/>
            </a:pPr>
            <a:r>
              <a:rPr lang="en-US" dirty="0"/>
              <a:t>Critical Options: TCP_NODELAY (latency), SO_TIMEOUT (robustness), SO_REUSEADDR (server apps).</a:t>
            </a:r>
          </a:p>
          <a:p>
            <a:pPr marL="742950" lvl="1" indent="-285750">
              <a:spcAft>
                <a:spcPts val="1000"/>
              </a:spcAft>
              <a:buFont typeface="Wingdings" panose="05000000000000000000" pitchFamily="2" charset="2"/>
              <a:buChar char="v"/>
            </a:pPr>
            <a:r>
              <a:rPr lang="en-US" dirty="0"/>
              <a:t>Always handle </a:t>
            </a:r>
            <a:r>
              <a:rPr lang="en-US" dirty="0" err="1"/>
              <a:t>SocketException</a:t>
            </a:r>
            <a:r>
              <a:rPr lang="en-US" dirty="0"/>
              <a:t> for option-related errors.</a:t>
            </a:r>
          </a:p>
        </p:txBody>
      </p:sp>
      <p:sp>
        <p:nvSpPr>
          <p:cNvPr id="8" name="Rectangle 7">
            <a:extLst>
              <a:ext uri="{FF2B5EF4-FFF2-40B4-BE49-F238E27FC236}">
                <a16:creationId xmlns:a16="http://schemas.microsoft.com/office/drawing/2014/main" id="{0FE9E7AD-87CF-4D87-8AF6-6FFEF8BA37A2}"/>
              </a:ext>
            </a:extLst>
          </p:cNvPr>
          <p:cNvSpPr/>
          <p:nvPr/>
        </p:nvSpPr>
        <p:spPr bwMode="auto">
          <a:xfrm>
            <a:off x="180108" y="3514098"/>
            <a:ext cx="11859492" cy="2105724"/>
          </a:xfrm>
          <a:prstGeom prst="rect">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283099581"/>
      </p:ext>
    </p:extLst>
  </p:cSld>
  <p:clrMapOvr>
    <a:masterClrMapping/>
  </p:clrMapOvr>
</p:sld>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4876</TotalTime>
  <Words>5872</Words>
  <Application>Microsoft Office PowerPoint</Application>
  <PresentationFormat>Widescreen</PresentationFormat>
  <Paragraphs>742</Paragraphs>
  <Slides>40</Slides>
  <Notes>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40</vt:i4>
      </vt:variant>
    </vt:vector>
  </HeadingPairs>
  <TitlesOfParts>
    <vt:vector size="58" baseType="lpstr">
      <vt:lpstr>Arial Unicode MS</vt:lpstr>
      <vt:lpstr>仿宋_GB2312</vt:lpstr>
      <vt:lpstr>Menlo</vt:lpstr>
      <vt:lpstr>Microsoft YaHei</vt:lpstr>
      <vt:lpstr>quote-cjk-patch</vt:lpstr>
      <vt:lpstr>SimSun</vt:lpstr>
      <vt:lpstr>SimSun</vt:lpstr>
      <vt:lpstr>STXingkai</vt:lpstr>
      <vt:lpstr>楷体</vt:lpstr>
      <vt:lpstr>Arial</vt:lpstr>
      <vt:lpstr>Calibri</vt:lpstr>
      <vt:lpstr>Courier New</vt:lpstr>
      <vt:lpstr>Segoe UI</vt:lpstr>
      <vt:lpstr>Symbol</vt:lpstr>
      <vt:lpstr>Times New Roman</vt:lpstr>
      <vt:lpstr>Wingdings</vt:lpstr>
      <vt:lpstr>Wingdings 2</vt:lpstr>
      <vt:lpstr>砖雕艺术</vt:lpstr>
      <vt:lpstr>PowerPoint Presentation</vt:lpstr>
      <vt:lpstr>Internet Data Transmission</vt:lpstr>
      <vt:lpstr>Socket</vt:lpstr>
      <vt:lpstr>PowerPoint Presentation</vt:lpstr>
      <vt:lpstr>Socket implementation in Java</vt:lpstr>
      <vt:lpstr>Java Socket Programming Workflow:</vt:lpstr>
      <vt:lpstr>Telnet Protocol Overview </vt:lpstr>
      <vt:lpstr>Using the telnet command</vt:lpstr>
      <vt:lpstr>Date Format</vt:lpstr>
      <vt:lpstr>Socket Programming</vt:lpstr>
      <vt:lpstr>Set a timeout for the socket connection</vt:lpstr>
      <vt:lpstr>PowerPoint Presentation</vt:lpstr>
      <vt:lpstr>Protocol Implementation and Data Format Processing</vt:lpstr>
      <vt:lpstr>PowerPoint Presentation</vt:lpstr>
      <vt:lpstr>Programmatically Handle Complex Data Formats returned by the Server</vt:lpstr>
      <vt:lpstr>PowerPoint Presentation</vt:lpstr>
      <vt:lpstr>PowerPoint Presentation</vt:lpstr>
      <vt:lpstr>Writing to the Server using Socket</vt:lpstr>
      <vt:lpstr>PowerPoint Presentation</vt:lpstr>
      <vt:lpstr>PowerPoint Presentation</vt:lpstr>
      <vt:lpstr>Socket Closure Methods Explained</vt:lpstr>
      <vt:lpstr>Java.net.Socket Class Technical Overview</vt:lpstr>
      <vt:lpstr>PowerPoint Presentation</vt:lpstr>
      <vt:lpstr>PowerPoint Presentation</vt:lpstr>
      <vt:lpstr>PowerPoint Presentation</vt:lpstr>
      <vt:lpstr>Specifying Local Interface for Socket Connection</vt:lpstr>
      <vt:lpstr>PowerPoint Presentation</vt:lpstr>
      <vt:lpstr>SocketAddress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Basker George</dc:creator>
  <cp:lastModifiedBy>Basker George</cp:lastModifiedBy>
  <cp:revision>1006</cp:revision>
  <cp:lastPrinted>1601-01-01T00:00:00Z</cp:lastPrinted>
  <dcterms:created xsi:type="dcterms:W3CDTF">1601-01-01T00:00:00Z</dcterms:created>
  <dcterms:modified xsi:type="dcterms:W3CDTF">2025-06-05T10:16:12Z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