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0"/>
  </p:handoutMasterIdLst>
  <p:sldIdLst>
    <p:sldId id="256" r:id="rId3"/>
    <p:sldId id="419" r:id="rId5"/>
    <p:sldId id="352" r:id="rId6"/>
    <p:sldId id="353" r:id="rId7"/>
    <p:sldId id="448" r:id="rId8"/>
    <p:sldId id="354" r:id="rId9"/>
    <p:sldId id="449" r:id="rId10"/>
    <p:sldId id="450" r:id="rId11"/>
    <p:sldId id="451" r:id="rId12"/>
    <p:sldId id="420" r:id="rId13"/>
    <p:sldId id="452" r:id="rId14"/>
    <p:sldId id="453" r:id="rId15"/>
    <p:sldId id="454" r:id="rId16"/>
    <p:sldId id="357" r:id="rId17"/>
    <p:sldId id="358" r:id="rId18"/>
    <p:sldId id="381" r:id="rId19"/>
    <p:sldId id="455" r:id="rId20"/>
    <p:sldId id="423" r:id="rId21"/>
    <p:sldId id="360" r:id="rId22"/>
    <p:sldId id="456" r:id="rId23"/>
    <p:sldId id="382" r:id="rId24"/>
    <p:sldId id="427" r:id="rId25"/>
    <p:sldId id="428" r:id="rId26"/>
    <p:sldId id="362" r:id="rId27"/>
    <p:sldId id="383" r:id="rId28"/>
    <p:sldId id="429" r:id="rId29"/>
    <p:sldId id="363" r:id="rId30"/>
    <p:sldId id="384" r:id="rId31"/>
    <p:sldId id="385" r:id="rId32"/>
    <p:sldId id="459" r:id="rId33"/>
    <p:sldId id="457" r:id="rId34"/>
    <p:sldId id="430" r:id="rId35"/>
    <p:sldId id="431" r:id="rId36"/>
    <p:sldId id="432" r:id="rId37"/>
    <p:sldId id="458" r:id="rId38"/>
    <p:sldId id="386" r:id="rId39"/>
    <p:sldId id="387" r:id="rId40"/>
    <p:sldId id="388" r:id="rId41"/>
    <p:sldId id="389" r:id="rId42"/>
    <p:sldId id="391" r:id="rId43"/>
    <p:sldId id="433" r:id="rId44"/>
    <p:sldId id="392" r:id="rId45"/>
    <p:sldId id="434" r:id="rId46"/>
    <p:sldId id="390" r:id="rId47"/>
    <p:sldId id="435" r:id="rId48"/>
    <p:sldId id="436" r:id="rId49"/>
    <p:sldId id="393" r:id="rId50"/>
    <p:sldId id="437" r:id="rId51"/>
    <p:sldId id="364" r:id="rId52"/>
    <p:sldId id="397" r:id="rId53"/>
    <p:sldId id="398" r:id="rId54"/>
    <p:sldId id="399" r:id="rId55"/>
    <p:sldId id="400" r:id="rId56"/>
    <p:sldId id="401" r:id="rId57"/>
    <p:sldId id="402" r:id="rId58"/>
    <p:sldId id="438" r:id="rId59"/>
    <p:sldId id="403" r:id="rId60"/>
    <p:sldId id="396" r:id="rId61"/>
    <p:sldId id="404" r:id="rId62"/>
    <p:sldId id="365" r:id="rId63"/>
    <p:sldId id="405" r:id="rId64"/>
    <p:sldId id="366" r:id="rId65"/>
    <p:sldId id="407" r:id="rId66"/>
    <p:sldId id="406" r:id="rId67"/>
    <p:sldId id="439" r:id="rId68"/>
    <p:sldId id="440" r:id="rId69"/>
    <p:sldId id="441" r:id="rId70"/>
    <p:sldId id="442" r:id="rId71"/>
    <p:sldId id="443" r:id="rId72"/>
    <p:sldId id="395" r:id="rId73"/>
    <p:sldId id="408" r:id="rId74"/>
    <p:sldId id="368" r:id="rId75"/>
    <p:sldId id="369" r:id="rId76"/>
    <p:sldId id="414" r:id="rId77"/>
    <p:sldId id="409" r:id="rId78"/>
    <p:sldId id="370" r:id="rId79"/>
    <p:sldId id="444" r:id="rId80"/>
    <p:sldId id="371" r:id="rId81"/>
    <p:sldId id="410" r:id="rId82"/>
    <p:sldId id="372" r:id="rId83"/>
    <p:sldId id="373" r:id="rId84"/>
    <p:sldId id="374" r:id="rId85"/>
    <p:sldId id="375" r:id="rId86"/>
    <p:sldId id="376" r:id="rId87"/>
    <p:sldId id="411" r:id="rId88"/>
    <p:sldId id="412" r:id="rId89"/>
    <p:sldId id="445" r:id="rId90"/>
    <p:sldId id="446" r:id="rId91"/>
    <p:sldId id="413" r:id="rId92"/>
    <p:sldId id="447" r:id="rId93"/>
    <p:sldId id="394" r:id="rId94"/>
    <p:sldId id="415" r:id="rId95"/>
    <p:sldId id="416" r:id="rId96"/>
    <p:sldId id="417" r:id="rId97"/>
    <p:sldId id="418" r:id="rId98"/>
    <p:sldId id="426" r:id="rId99"/>
  </p:sldIdLst>
  <p:sldSz cx="12192000" cy="6858000"/>
  <p:notesSz cx="7099300" cy="10234295"/>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00"/>
    <a:srgbClr val="003300"/>
    <a:srgbClr val="990099"/>
    <a:srgbClr val="FF3399"/>
    <a:srgbClr val="CC00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94843" autoAdjust="0"/>
  </p:normalViewPr>
  <p:slideViewPr>
    <p:cSldViewPr showGuides="1">
      <p:cViewPr varScale="1">
        <p:scale>
          <a:sx n="113" d="100"/>
          <a:sy n="113" d="100"/>
        </p:scale>
        <p:origin x="474"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3060" y="114"/>
      </p:cViewPr>
      <p:guideLst/>
    </p:cSldViewPr>
  </p:notes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5"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fld id="{C4F97103-C260-4D9E-B2CC-A265135CD1F2}" type="datetime1">
              <a:rPr lang="zh-CN" altLang="en-US"/>
            </a:fld>
            <a:endParaRPr lang="en-US" altLang="zh-CN"/>
          </a:p>
        </p:txBody>
      </p:sp>
      <p:sp>
        <p:nvSpPr>
          <p:cNvPr id="74756"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7"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a:defRPr/>
            </a:pPr>
            <a:fld id="{660F90B4-8053-4B87-AD48-CA3B4042BA70}"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3"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defRPr sz="1300">
                <a:latin typeface="Arial" panose="020B0604020202020204" pitchFamily="34" charset="0"/>
                <a:ea typeface="宋体" panose="02010600030101010101" pitchFamily="2" charset="-122"/>
              </a:defRPr>
            </a:lvl1pPr>
          </a:lstStyle>
          <a:p>
            <a:pPr>
              <a:defRPr/>
            </a:pPr>
            <a:fld id="{D65345B6-D1A2-4034-943A-9F92CDACED67}" type="datetime1">
              <a:rPr lang="zh-CN" altLang="en-US"/>
            </a:fld>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5"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1686"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7"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defRPr sz="1300"/>
            </a:lvl1pPr>
          </a:lstStyle>
          <a:p>
            <a:pPr>
              <a:defRPr/>
            </a:pPr>
            <a:fld id="{5EE7D90B-1269-4ECD-A639-A680B8E5750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91A5675-AF45-4780-A133-2E87FADE636B}" type="slidenum">
              <a:rPr lang="en-US" altLang="zh-CN" smtClean="0"/>
            </a:fld>
            <a:endParaRPr lang="en-US" altLang="zh-CN"/>
          </a:p>
        </p:txBody>
      </p:sp>
      <p:sp>
        <p:nvSpPr>
          <p:cNvPr id="6147" name="Rectangle 2"/>
          <p:cNvSpPr>
            <a:spLocks noGrp="1" noRot="1" noChangeAspect="1" noChangeArrowheads="1" noTextEdit="1"/>
          </p:cNvSpPr>
          <p:nvPr>
            <p:ph type="sldImg"/>
          </p:nvPr>
        </p:nvSpPr>
        <p:spPr>
          <a:xfrm>
            <a:off x="139700" y="768350"/>
            <a:ext cx="6819900" cy="3836988"/>
          </a:xfrm>
        </p:spPr>
      </p:sp>
      <p:sp>
        <p:nvSpPr>
          <p:cNvPr id="61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xfrm>
            <a:off x="139700" y="768350"/>
            <a:ext cx="6819900" cy="3836988"/>
          </a:xfrm>
        </p:spPr>
      </p:sp>
      <p:sp>
        <p:nvSpPr>
          <p:cNvPr id="11267"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11268"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AFE7DF-2679-4207-99CD-09269E2487F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a:xfrm>
            <a:off x="139700" y="768350"/>
            <a:ext cx="6819900" cy="3836988"/>
          </a:xfrm>
        </p:spPr>
      </p:sp>
      <p:sp>
        <p:nvSpPr>
          <p:cNvPr id="13315"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13316"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7C2FDFC-04B0-474B-88F2-F7EDD63FB06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xfrm>
            <a:off x="139700" y="768350"/>
            <a:ext cx="6819900" cy="3836988"/>
          </a:xfrm>
        </p:spPr>
      </p:sp>
      <p:sp>
        <p:nvSpPr>
          <p:cNvPr id="28675"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28676"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CFEB5F-D9E0-47EF-BE85-E3D401770FE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xfrm>
            <a:off x="139700" y="768350"/>
            <a:ext cx="6819900" cy="3836988"/>
          </a:xfrm>
        </p:spPr>
      </p:sp>
      <p:sp>
        <p:nvSpPr>
          <p:cNvPr id="30723"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30724"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659FE17-949A-4601-B53C-ADEEF3A43AD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139700" y="768350"/>
            <a:ext cx="6819900" cy="3836988"/>
          </a:xfrm>
        </p:spPr>
      </p:sp>
      <p:sp>
        <p:nvSpPr>
          <p:cNvPr id="37891"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37892"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DDD47A-929E-48BE-89DC-D912F89D35A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xfrm>
            <a:off x="139700" y="768350"/>
            <a:ext cx="6819900" cy="3836988"/>
          </a:xfrm>
        </p:spPr>
      </p:sp>
      <p:sp>
        <p:nvSpPr>
          <p:cNvPr id="39939"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39940"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2C8CE50-A9E3-42F3-8BAB-F806C14EBF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xfrm>
            <a:off x="139700" y="768350"/>
            <a:ext cx="6819900" cy="3836988"/>
          </a:xfrm>
        </p:spPr>
      </p:sp>
      <p:sp>
        <p:nvSpPr>
          <p:cNvPr id="41987"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41988"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A952C3-8103-4FF5-AFC0-C377EC4FFC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xfrm>
            <a:off x="139700" y="768350"/>
            <a:ext cx="6819900" cy="3836988"/>
          </a:xfrm>
        </p:spPr>
      </p:sp>
      <p:sp>
        <p:nvSpPr>
          <p:cNvPr id="49155"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49156"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133D24F-9597-40B1-80B3-45164CFC215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xfrm>
            <a:off x="139700" y="768350"/>
            <a:ext cx="6819900" cy="3836988"/>
          </a:xfrm>
        </p:spPr>
      </p:sp>
      <p:sp>
        <p:nvSpPr>
          <p:cNvPr id="51203"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51204"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D638285-A821-4E84-B1CA-E34343930059}"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xfrm>
            <a:off x="139700" y="768350"/>
            <a:ext cx="6819900" cy="3836988"/>
          </a:xfrm>
        </p:spPr>
      </p:sp>
      <p:sp>
        <p:nvSpPr>
          <p:cNvPr id="53251"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53252"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37C7130-7BE5-4915-B34D-B283B3659371}"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xfrm>
            <a:off x="139700" y="768350"/>
            <a:ext cx="6819900" cy="3836988"/>
          </a:xfrm>
        </p:spPr>
      </p:sp>
      <p:sp>
        <p:nvSpPr>
          <p:cNvPr id="55299"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55300"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3B5961F-1ACD-4982-8A27-1F5421FD2E0E}"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xfrm>
            <a:off x="139700" y="768350"/>
            <a:ext cx="6819900" cy="3836988"/>
          </a:xfrm>
        </p:spPr>
      </p:sp>
      <p:sp>
        <p:nvSpPr>
          <p:cNvPr id="58371"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58372"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AD8B523-1680-4B13-A257-2949E8668ADF}"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xfrm>
            <a:off x="139700" y="768350"/>
            <a:ext cx="6819900" cy="3836988"/>
          </a:xfrm>
        </p:spPr>
      </p:sp>
      <p:sp>
        <p:nvSpPr>
          <p:cNvPr id="60419"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60420"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5085DD-CAB5-4019-A0E3-9D6E1C96EE4E}"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xfrm>
            <a:off x="139700" y="768350"/>
            <a:ext cx="6819900" cy="3836988"/>
          </a:xfrm>
        </p:spPr>
      </p:sp>
      <p:sp>
        <p:nvSpPr>
          <p:cNvPr id="62467"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62468"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62FB98F-D7AD-461A-BF12-FBBE261EF8ED}"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xfrm>
            <a:off x="139700" y="768350"/>
            <a:ext cx="6819900" cy="3836988"/>
          </a:xfrm>
        </p:spPr>
      </p:sp>
      <p:sp>
        <p:nvSpPr>
          <p:cNvPr id="64515"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64516"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8E2CCE6-38AD-4B3A-9504-0585A65E1E50}"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xfrm>
            <a:off x="139700" y="768350"/>
            <a:ext cx="6819900" cy="3836988"/>
          </a:xfrm>
        </p:spPr>
      </p:sp>
      <p:sp>
        <p:nvSpPr>
          <p:cNvPr id="66563"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66564"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1D86693-285C-44C7-8B34-CAA01989D3D1}"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xfrm>
            <a:off x="139700" y="768350"/>
            <a:ext cx="6819900" cy="3836988"/>
          </a:xfrm>
        </p:spPr>
      </p:sp>
      <p:sp>
        <p:nvSpPr>
          <p:cNvPr id="68611"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68612"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58036B9-3B6F-4008-8A44-2810D7DA8EAB}"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xfrm>
            <a:off x="139700" y="768350"/>
            <a:ext cx="6819900" cy="3836988"/>
          </a:xfrm>
        </p:spPr>
      </p:sp>
      <p:sp>
        <p:nvSpPr>
          <p:cNvPr id="70659"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70660"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E02D82E-29EC-4E0A-86F3-D32AAF4A1B3B}"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xfrm>
            <a:off x="139700" y="768350"/>
            <a:ext cx="6819900" cy="3836988"/>
          </a:xfrm>
        </p:spPr>
      </p:sp>
      <p:sp>
        <p:nvSpPr>
          <p:cNvPr id="72707"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72708"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9532E66-7D7A-4061-92B3-0FC90190CA88}"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xfrm>
            <a:off x="139700" y="768350"/>
            <a:ext cx="6819900" cy="3836988"/>
          </a:xfrm>
        </p:spPr>
      </p:sp>
      <p:sp>
        <p:nvSpPr>
          <p:cNvPr id="74755"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74756"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3318FA-22D5-4778-8A34-3E2FA946757D}"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xfrm>
            <a:off x="139700" y="768350"/>
            <a:ext cx="6819900" cy="3836988"/>
          </a:xfrm>
        </p:spPr>
      </p:sp>
      <p:sp>
        <p:nvSpPr>
          <p:cNvPr id="76803"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76804"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A02ECC-6C63-4F4B-9532-034F4960E699}"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9634"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endParaRPr lang="zh-CN" altLang="en-US" noProof="0"/>
          </a:p>
        </p:txBody>
      </p:sp>
      <p:sp>
        <p:nvSpPr>
          <p:cNvPr id="69635" name="Rectangle 3"/>
          <p:cNvSpPr>
            <a:spLocks noGrp="1" noRot="1" noChangeArrowheads="1"/>
          </p:cNvSpPr>
          <p:nvPr>
            <p:ph type="subTitle" idx="1"/>
          </p:nvPr>
        </p:nvSpPr>
        <p:spPr>
          <a:xfrm>
            <a:off x="1828800" y="3886200"/>
            <a:ext cx="8534400" cy="1752600"/>
          </a:xfrm>
        </p:spPr>
        <p:txBody>
          <a:bodyPr/>
          <a:lstStyle>
            <a:lvl1pPr marL="0" indent="0" algn="ctr">
              <a:buFont typeface="Wingdings 2" panose="05020102010507070707" pitchFamily="18" charset="2"/>
              <a:buNone/>
              <a:defRPr/>
            </a:lvl1pPr>
          </a:lstStyle>
          <a:p>
            <a:pPr lvl="0"/>
            <a:r>
              <a:rPr lang="zh-CN" altLang="en-US" noProof="0"/>
              <a:t>单击此处编辑母版副标题样式</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95FDCE6-A7A8-4C19-B95A-CEC990D9494A}"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08D8E75-19A4-468E-83BC-8FD0505362CF}"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71BE336-7A27-479D-AAD1-F206663944B9}"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EF7DEC3-A863-4C43-B9CD-6A3AF90DE4CF}"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6C646E0E-EE02-4E1C-BAAA-38DD66723B8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B5480FD-2FE3-4DB8-A104-627316789689}"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ED69E8C7-F9B4-4FB8-9138-8E1DB967F9BC}"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DEB723A-2112-4258-BD19-C9F03D08682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0CF7058-4D66-4EEF-B87B-AE98ADA9664E}"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4E19281-0EB4-460F-A57E-531EC6C9A4DF}"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AA07E59-993A-4C22-839D-1A2BE00205B6}"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0"/>
            <a:ext cx="113876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02168"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3CFFD5D-B0A8-41B6-925A-271ED8BAA36C}"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402167" y="228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Rot="1" noChangeArrowheads="1"/>
          </p:cNvSpPr>
          <p:nvPr>
            <p:ph type="body" idx="1"/>
          </p:nvPr>
        </p:nvSpPr>
        <p:spPr bwMode="auto">
          <a:xfrm>
            <a:off x="402167" y="1600200"/>
            <a:ext cx="11387667"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8612" name="Rectangle 4"/>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6861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r>
              <a:rPr lang="en-US" altLang="zh-CN"/>
              <a:t>CSASC</a:t>
            </a:r>
            <a:endParaRPr lang="en-US" altLang="zh-CN"/>
          </a:p>
        </p:txBody>
      </p:sp>
      <p:sp>
        <p:nvSpPr>
          <p:cNvPr id="68614" name="Rectangle 6"/>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a:defRPr/>
            </a:pPr>
            <a:fld id="{507672C9-A9DB-4D1C-81AC-F6F092B4FD1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http://www.szu.edu.cn/szu.asp"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hyperlink" Target="http://www.orielly.co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afeaulait.org/"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afeaulait.org/books/jnp4/postquery.phtml"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hyperlink" Target="http://www.cafeaulait.org/sliders&#19981;&#23384;&#22312;&#26102;&#65292;&#26381;&#21153;&#22120;&#36820;&#22238;404" TargetMode="Externa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download.oracle.com/technetwork/java/javase/6/docs/zh/api/java/net/URLConnection.html"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9A590A8-8526-4417-90F0-9CD012BED5EF}" type="slidenum">
              <a:rPr lang="en-US" altLang="zh-CN" sz="1400"/>
            </a:fld>
            <a:endParaRPr lang="en-US" altLang="zh-CN" sz="1400"/>
          </a:p>
        </p:txBody>
      </p:sp>
      <p:sp>
        <p:nvSpPr>
          <p:cNvPr id="5123" name="Rectangle 6"/>
          <p:cNvSpPr>
            <a:spLocks noRot="1" noChangeArrowheads="1"/>
          </p:cNvSpPr>
          <p:nvPr/>
        </p:nvSpPr>
        <p:spPr bwMode="auto">
          <a:xfrm>
            <a:off x="1447800" y="1828800"/>
            <a:ext cx="85407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4800" b="1" dirty="0">
                <a:solidFill>
                  <a:srgbClr val="FF0000"/>
                </a:solidFill>
                <a:latin typeface="华文行楷" panose="02010800040101010101" pitchFamily="2" charset="-122"/>
                <a:ea typeface="华文行楷" panose="02010800040101010101" pitchFamily="2" charset="-122"/>
              </a:rPr>
              <a:t>Internet Programming</a:t>
            </a:r>
            <a:endParaRPr lang="en-US" altLang="zh-CN" sz="4800" b="1" dirty="0">
              <a:solidFill>
                <a:srgbClr val="FF0000"/>
              </a:solidFill>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GB" altLang="en-US" sz="4800" b="1" dirty="0">
                <a:latin typeface="华文行楷" panose="02010800040101010101" pitchFamily="2" charset="-122"/>
                <a:ea typeface="华文行楷" panose="02010800040101010101" pitchFamily="2" charset="-122"/>
              </a:rPr>
              <a:t>Chapter </a:t>
            </a:r>
            <a:r>
              <a:rPr lang="en-GB" altLang="zh-CN" sz="4800" b="1" dirty="0">
                <a:latin typeface="华文行楷" panose="02010800040101010101" pitchFamily="2" charset="-122"/>
                <a:ea typeface="华文行楷" panose="02010800040101010101" pitchFamily="2" charset="-122"/>
              </a:rPr>
              <a:t>7</a:t>
            </a:r>
            <a:r>
              <a:rPr lang="en-GB" altLang="en-US" sz="4800" b="1" dirty="0">
                <a:latin typeface="华文行楷" panose="02010800040101010101" pitchFamily="2" charset="-122"/>
                <a:ea typeface="华文行楷" panose="02010800040101010101" pitchFamily="2" charset="-122"/>
              </a:rPr>
              <a:t>​</a:t>
            </a:r>
            <a:endParaRPr lang="en-US" altLang="zh-CN" sz="4800" b="1" dirty="0">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GB" altLang="zh-CN" sz="4800" b="1" dirty="0" err="1">
                <a:latin typeface="黑体" panose="02010609060101010101" pitchFamily="49" charset="-122"/>
                <a:ea typeface="黑体" panose="02010609060101010101" pitchFamily="49" charset="-122"/>
              </a:rPr>
              <a:t>URLConnection</a:t>
            </a:r>
            <a:endParaRPr lang="en-US" altLang="zh-CN" sz="4800" dirty="0">
              <a:latin typeface="黑体" panose="02010609060101010101" pitchFamily="49" charset="-122"/>
              <a:ea typeface="黑体" panose="02010609060101010101" pitchFamily="49" charset="-122"/>
            </a:endParaRPr>
          </a:p>
        </p:txBody>
      </p:sp>
      <p:sp>
        <p:nvSpPr>
          <p:cNvPr id="5124" name="Rectangle 8"/>
          <p:cNvSpPr>
            <a:spLocks noRot="1" noChangeArrowheads="1"/>
          </p:cNvSpPr>
          <p:nvPr/>
        </p:nvSpPr>
        <p:spPr bwMode="auto">
          <a:xfrm>
            <a:off x="990600" y="5594350"/>
            <a:ext cx="10439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2000" b="1" dirty="0">
                <a:solidFill>
                  <a:schemeClr val="tx2"/>
                </a:solidFill>
              </a:rPr>
              <a:t>School of Computer </a:t>
            </a:r>
            <a:r>
              <a:rPr lang="en-US" altLang="en-US" sz="2000" b="1" dirty="0">
                <a:solidFill>
                  <a:schemeClr val="tx2"/>
                </a:solidFill>
              </a:rPr>
              <a:t>Science </a:t>
            </a:r>
            <a:r>
              <a:rPr lang="en-GB" altLang="en-US" sz="2000" b="1" dirty="0">
                <a:solidFill>
                  <a:schemeClr val="tx2"/>
                </a:solidFill>
              </a:rPr>
              <a:t>and Software </a:t>
            </a:r>
            <a:r>
              <a:rPr lang="en-US" altLang="zh-CN" sz="2000" b="1" dirty="0">
                <a:solidFill>
                  <a:schemeClr val="tx2"/>
                </a:solidFill>
              </a:rPr>
              <a:t>Engineering</a:t>
            </a:r>
            <a:r>
              <a:rPr lang="en-GB" altLang="en-US" sz="2000" b="1" dirty="0">
                <a:solidFill>
                  <a:schemeClr val="tx2"/>
                </a:solidFill>
              </a:rPr>
              <a:t>, Shenzhen University</a:t>
            </a:r>
            <a:endParaRPr lang="zh-CN" altLang="en-US" sz="2000" b="1" i="1" dirty="0">
              <a:solidFill>
                <a:schemeClr val="tx2"/>
              </a:solidFill>
            </a:endParaRPr>
          </a:p>
        </p:txBody>
      </p:sp>
      <p:pic>
        <p:nvPicPr>
          <p:cNvPr id="5125" name="Picture 10" descr="sz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228601"/>
            <a:ext cx="25146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algn="l"/>
            <a:r>
              <a:rPr lang="en-GB" altLang="en-US" sz="3200" b="1" dirty="0">
                <a:solidFill>
                  <a:srgbClr val="C00000"/>
                </a:solidFill>
              </a:rPr>
              <a:t>Main </a:t>
            </a:r>
            <a:r>
              <a:rPr lang="en-US" altLang="en-US" sz="3200" b="1" dirty="0">
                <a:solidFill>
                  <a:srgbClr val="C00000"/>
                </a:solidFill>
              </a:rPr>
              <a:t>C</a:t>
            </a:r>
            <a:r>
              <a:rPr lang="en-GB" altLang="en-US" sz="3200" b="1" dirty="0">
                <a:solidFill>
                  <a:srgbClr val="C00000"/>
                </a:solidFill>
              </a:rPr>
              <a:t>ontent</a:t>
            </a:r>
            <a:endParaRPr lang="en-GB" altLang="en-US" sz="3200" b="1" dirty="0">
              <a:solidFill>
                <a:srgbClr val="C00000"/>
              </a:solidFill>
            </a:endParaRPr>
          </a:p>
        </p:txBody>
      </p:sp>
      <p:sp>
        <p:nvSpPr>
          <p:cNvPr id="7171" name="内容占位符 2"/>
          <p:cNvSpPr>
            <a:spLocks noGrp="1"/>
          </p:cNvSpPr>
          <p:nvPr>
            <p:ph idx="1"/>
          </p:nvPr>
        </p:nvSpPr>
        <p:spPr>
          <a:xfrm>
            <a:off x="1828800" y="1219201"/>
            <a:ext cx="8540750" cy="44989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buFont typeface="Wingdings" panose="05000000000000000000" pitchFamily="2" charset="2"/>
              <a:buChar char="n"/>
            </a:pPr>
            <a:r>
              <a:rPr lang="en-GB" altLang="zh-CN" sz="2800" dirty="0">
                <a:solidFill>
                  <a:schemeClr val="tx2"/>
                </a:solidFill>
                <a:latin typeface="宋体" panose="02010600030101010101" pitchFamily="2" charset="-122"/>
              </a:rPr>
              <a:t>1. </a:t>
            </a:r>
            <a:r>
              <a:rPr lang="en-GB" altLang="en-US" sz="2800" dirty="0">
                <a:solidFill>
                  <a:schemeClr val="tx2"/>
                </a:solidFill>
                <a:latin typeface="宋体" panose="02010600030101010101" pitchFamily="2" charset="-122"/>
              </a:rPr>
              <a:t>Introduction to URLConnection</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GB" altLang="zh-CN" sz="2800" dirty="0">
                <a:solidFill>
                  <a:schemeClr val="tx2"/>
                </a:solidFill>
                <a:latin typeface="宋体" panose="02010600030101010101" pitchFamily="2" charset="-122"/>
              </a:rPr>
              <a:t>2. </a:t>
            </a:r>
            <a:r>
              <a:rPr lang="en-GB" altLang="en-US" sz="2800" dirty="0">
                <a:solidFill>
                  <a:schemeClr val="tx2"/>
                </a:solidFill>
                <a:latin typeface="宋体" panose="02010600030101010101" pitchFamily="2" charset="-122"/>
              </a:rPr>
              <a:t>Read </a:t>
            </a:r>
            <a:r>
              <a:rPr lang="en-US" altLang="en-US" sz="2800" dirty="0">
                <a:solidFill>
                  <a:schemeClr val="tx2"/>
                </a:solidFill>
                <a:latin typeface="宋体" panose="02010600030101010101" pitchFamily="2" charset="-122"/>
              </a:rPr>
              <a:t>S</a:t>
            </a:r>
            <a:r>
              <a:rPr lang="en-GB" altLang="en-US" sz="2800" dirty="0">
                <a:solidFill>
                  <a:schemeClr val="tx2"/>
                </a:solidFill>
                <a:latin typeface="宋体" panose="02010600030101010101" pitchFamily="2" charset="-122"/>
              </a:rPr>
              <a:t>erver Data</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GB" altLang="zh-CN" sz="2800" dirty="0">
                <a:solidFill>
                  <a:schemeClr val="tx2"/>
                </a:solidFill>
                <a:latin typeface="宋体" panose="02010600030101010101" pitchFamily="2" charset="-122"/>
              </a:rPr>
              <a:t>3. </a:t>
            </a:r>
            <a:r>
              <a:rPr lang="en-GB" altLang="en-US" sz="2800" dirty="0">
                <a:solidFill>
                  <a:schemeClr val="tx2"/>
                </a:solidFill>
                <a:latin typeface="宋体" panose="02010600030101010101" pitchFamily="2" charset="-122"/>
              </a:rPr>
              <a:t>Cache</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GB" altLang="zh-CN" sz="2800" dirty="0">
                <a:solidFill>
                  <a:schemeClr val="tx2"/>
                </a:solidFill>
                <a:latin typeface="宋体" panose="02010600030101010101" pitchFamily="2" charset="-122"/>
              </a:rPr>
              <a:t>4. </a:t>
            </a:r>
            <a:r>
              <a:rPr lang="en-GB" altLang="en-US" sz="2800" dirty="0">
                <a:solidFill>
                  <a:schemeClr val="tx2"/>
                </a:solidFill>
                <a:latin typeface="宋体" panose="02010600030101010101" pitchFamily="2" charset="-122"/>
              </a:rPr>
              <a:t>Connection and </a:t>
            </a:r>
            <a:r>
              <a:rPr lang="en-US" altLang="en-US" sz="2800" dirty="0">
                <a:solidFill>
                  <a:schemeClr val="tx2"/>
                </a:solidFill>
                <a:latin typeface="宋体" panose="02010600030101010101" pitchFamily="2" charset="-122"/>
              </a:rPr>
              <a:t>Request</a:t>
            </a:r>
            <a:r>
              <a:rPr lang="en-GB" altLang="en-US" sz="2800" dirty="0">
                <a:solidFill>
                  <a:schemeClr val="tx2"/>
                </a:solidFill>
                <a:latin typeface="宋体" panose="02010600030101010101" pitchFamily="2" charset="-122"/>
              </a:rPr>
              <a:t> </a:t>
            </a:r>
            <a:r>
              <a:rPr lang="en-US" altLang="en-US" sz="2800" dirty="0">
                <a:solidFill>
                  <a:schemeClr val="tx2"/>
                </a:solidFill>
                <a:latin typeface="宋体" panose="02010600030101010101" pitchFamily="2" charset="-122"/>
              </a:rPr>
              <a:t>C</a:t>
            </a:r>
            <a:r>
              <a:rPr lang="en-GB" altLang="en-US" sz="2800" dirty="0">
                <a:solidFill>
                  <a:schemeClr val="tx2"/>
                </a:solidFill>
                <a:latin typeface="宋体" panose="02010600030101010101" pitchFamily="2" charset="-122"/>
              </a:rPr>
              <a:t>onfiguration</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GB" altLang="zh-CN" sz="2800" dirty="0">
                <a:solidFill>
                  <a:schemeClr val="tx2"/>
                </a:solidFill>
                <a:latin typeface="宋体" panose="02010600030101010101" pitchFamily="2" charset="-122"/>
              </a:rPr>
              <a:t>5. Writ</a:t>
            </a:r>
            <a:r>
              <a:rPr lang="en-US" altLang="en-US" sz="2800" dirty="0">
                <a:solidFill>
                  <a:schemeClr val="tx2"/>
                </a:solidFill>
                <a:latin typeface="宋体" panose="02010600030101010101" pitchFamily="2" charset="-122"/>
              </a:rPr>
              <a:t>ing</a:t>
            </a:r>
            <a:r>
              <a:rPr lang="en-GB" altLang="en-US" sz="2800" dirty="0">
                <a:solidFill>
                  <a:schemeClr val="tx2"/>
                </a:solidFill>
                <a:latin typeface="宋体" panose="02010600030101010101" pitchFamily="2" charset="-122"/>
              </a:rPr>
              <a:t> Data to the server</a:t>
            </a:r>
            <a:endParaRPr lang="en-US"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r>
              <a:rPr lang="en-GB" altLang="zh-CN" sz="2800" dirty="0">
                <a:solidFill>
                  <a:schemeClr val="tx2"/>
                </a:solidFill>
                <a:latin typeface="宋体" panose="02010600030101010101" pitchFamily="2" charset="-122"/>
              </a:rPr>
              <a:t>6.HttpURLConnection</a:t>
            </a:r>
            <a:endParaRPr lang="en-GB" altLang="zh-CN" sz="2800" dirty="0">
              <a:solidFill>
                <a:schemeClr val="tx2"/>
              </a:solidFill>
              <a:latin typeface="宋体" panose="02010600030101010101" pitchFamily="2" charset="-122"/>
            </a:endParaRPr>
          </a:p>
          <a:p>
            <a:pPr eaLnBrk="1" hangingPunct="1">
              <a:lnSpc>
                <a:spcPct val="150000"/>
              </a:lnSpc>
              <a:buFont typeface="Wingdings" panose="05000000000000000000" pitchFamily="2" charset="2"/>
              <a:buChar char="n"/>
            </a:pPr>
            <a:endParaRPr lang="en-US" altLang="zh-CN" sz="2800" dirty="0">
              <a:solidFill>
                <a:schemeClr val="tx2"/>
              </a:solidFill>
              <a:latin typeface="宋体" panose="02010600030101010101" pitchFamily="2" charset="-122"/>
            </a:endParaRPr>
          </a:p>
          <a:p>
            <a:pPr eaLnBrk="1" hangingPunct="1">
              <a:lnSpc>
                <a:spcPct val="150000"/>
              </a:lnSpc>
              <a:buFont typeface="Wingdings 2" panose="05020102010507070707" pitchFamily="18" charset="2"/>
              <a:buNone/>
            </a:pPr>
            <a:r>
              <a:rPr lang="en-GB" altLang="zh-CN" dirty="0">
                <a:solidFill>
                  <a:schemeClr val="tx2"/>
                </a:solidFill>
                <a:latin typeface="宋体" panose="02010600030101010101" pitchFamily="2" charset="-122"/>
              </a:rPr>
              <a:t>  </a:t>
            </a:r>
            <a:endParaRPr lang="zh-CN" altLang="en-US" dirty="0"/>
          </a:p>
        </p:txBody>
      </p:sp>
      <p:sp>
        <p:nvSpPr>
          <p:cNvPr id="7172" name="灯片编号占位符 2"/>
          <p:cNvSpPr>
            <a:spLocks noGrp="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0DF6DE2-6C6C-4FFD-9A2F-6BE023C99BEA}" type="slidenum">
              <a:rPr lang="en-US" altLang="zh-CN" sz="1400"/>
            </a:fld>
            <a:endParaRPr lang="en-US" altLang="zh-CN"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17651" y="0"/>
            <a:ext cx="7775575" cy="838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zh-CN" sz="3200" b="1">
                <a:solidFill>
                  <a:srgbClr val="C00000"/>
                </a:solidFill>
              </a:rPr>
              <a:t>1. </a:t>
            </a:r>
            <a:r>
              <a:rPr lang="en-GB" altLang="en-US" sz="3200" b="1">
                <a:solidFill>
                  <a:srgbClr val="C00000"/>
                </a:solidFill>
              </a:rPr>
              <a:t>Introduction to URLConnection</a:t>
            </a:r>
            <a:endParaRPr lang="en-GB" altLang="en-US" sz="3200" b="1">
              <a:solidFill>
                <a:srgbClr val="C00000"/>
              </a:solidFill>
            </a:endParaRPr>
          </a:p>
        </p:txBody>
      </p:sp>
      <p:sp>
        <p:nvSpPr>
          <p:cNvPr id="7" name="Rectangle 6"/>
          <p:cNvSpPr/>
          <p:nvPr/>
        </p:nvSpPr>
        <p:spPr>
          <a:xfrm>
            <a:off x="685800" y="1143000"/>
            <a:ext cx="10134600" cy="5432449"/>
          </a:xfrm>
          <a:prstGeom prst="rect">
            <a:avLst/>
          </a:prstGeom>
        </p:spPr>
        <p:txBody>
          <a:bodyPr wrap="square">
            <a:spAutoFit/>
          </a:bodyPr>
          <a:lstStyle/>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URL Connection Overview</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dirty="0">
                <a:latin typeface="Calibri" panose="020F0502020204030204" pitchFamily="34" charset="0"/>
                <a:ea typeface="宋体" panose="02010600030101010101" pitchFamily="2" charset="-122"/>
                <a:cs typeface="Times New Roman" panose="02020603050405020304" pitchFamily="18" charset="0"/>
              </a:rPr>
              <a:t>The </a:t>
            </a:r>
            <a:r>
              <a:rPr lang="en-US" sz="2400" dirty="0" err="1">
                <a:latin typeface="Calibri" panose="020F0502020204030204" pitchFamily="34" charset="0"/>
                <a:ea typeface="宋体" panose="02010600030101010101" pitchFamily="2" charset="-122"/>
                <a:cs typeface="Times New Roman" panose="02020603050405020304" pitchFamily="18" charset="0"/>
              </a:rPr>
              <a:t>URLConnection</a:t>
            </a:r>
            <a:r>
              <a:rPr lang="en-US" sz="2400" dirty="0">
                <a:latin typeface="Calibri" panose="020F0502020204030204" pitchFamily="34" charset="0"/>
                <a:ea typeface="宋体" panose="02010600030101010101" pitchFamily="2" charset="-122"/>
                <a:cs typeface="Times New Roman" panose="02020603050405020304" pitchFamily="18" charset="0"/>
              </a:rPr>
              <a:t> class is an </a:t>
            </a:r>
            <a:r>
              <a:rPr lang="en-US" sz="2400" b="1" dirty="0">
                <a:latin typeface="Calibri" panose="020F0502020204030204" pitchFamily="34" charset="0"/>
                <a:ea typeface="宋体" panose="02010600030101010101" pitchFamily="2" charset="-122"/>
                <a:cs typeface="Times New Roman" panose="02020603050405020304" pitchFamily="18" charset="0"/>
              </a:rPr>
              <a:t>abstract</a:t>
            </a:r>
            <a:r>
              <a:rPr lang="en-US" sz="2400" dirty="0">
                <a:latin typeface="Calibri" panose="020F0502020204030204" pitchFamily="34" charset="0"/>
                <a:ea typeface="宋体" panose="02010600030101010101" pitchFamily="2" charset="-122"/>
                <a:cs typeface="Times New Roman" panose="02020603050405020304" pitchFamily="18" charset="0"/>
              </a:rPr>
              <a:t> base class (extending Object) that represents a connection to a URL.</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v"/>
              <a:tabLst>
                <a:tab pos="457200" algn="l"/>
              </a:tabLst>
            </a:pPr>
            <a:r>
              <a:rPr lang="en-US" sz="2400" dirty="0" err="1">
                <a:latin typeface="Calibri" panose="020F0502020204030204" pitchFamily="34" charset="0"/>
                <a:ea typeface="宋体" panose="02010600030101010101" pitchFamily="2" charset="-122"/>
                <a:cs typeface="Times New Roman" panose="02020603050405020304" pitchFamily="18" charset="0"/>
              </a:rPr>
              <a:t>HttpURLConnection</a:t>
            </a:r>
            <a:r>
              <a:rPr lang="en-US" sz="2400" dirty="0">
                <a:latin typeface="Calibri" panose="020F0502020204030204" pitchFamily="34" charset="0"/>
                <a:ea typeface="宋体" panose="02010600030101010101" pitchFamily="2" charset="-122"/>
                <a:cs typeface="Times New Roman" panose="02020603050405020304" pitchFamily="18" charset="0"/>
              </a:rPr>
              <a:t> is a subclass of </a:t>
            </a:r>
            <a:r>
              <a:rPr lang="en-US" sz="2400" dirty="0" err="1">
                <a:latin typeface="Calibri" panose="020F0502020204030204" pitchFamily="34" charset="0"/>
                <a:ea typeface="宋体" panose="02010600030101010101" pitchFamily="2" charset="-122"/>
                <a:cs typeface="Times New Roman" panose="02020603050405020304" pitchFamily="18" charset="0"/>
              </a:rPr>
              <a:t>URLConnection</a:t>
            </a:r>
            <a:r>
              <a:rPr lang="en-US" sz="2400" dirty="0">
                <a:latin typeface="Calibri" panose="020F0502020204030204" pitchFamily="34" charset="0"/>
                <a:ea typeface="宋体" panose="02010600030101010101" pitchFamily="2" charset="-122"/>
                <a:cs typeface="Times New Roman" panose="02020603050405020304" pitchFamily="18" charset="0"/>
              </a:rPr>
              <a:t> specifically designed for </a:t>
            </a:r>
            <a:r>
              <a:rPr lang="en-US" sz="2400" b="1" dirty="0">
                <a:latin typeface="Calibri" panose="020F0502020204030204" pitchFamily="34" charset="0"/>
                <a:ea typeface="宋体" panose="02010600030101010101" pitchFamily="2" charset="-122"/>
                <a:cs typeface="Times New Roman" panose="02020603050405020304" pitchFamily="18" charset="0"/>
              </a:rPr>
              <a:t>HTTP</a:t>
            </a:r>
            <a:r>
              <a:rPr lang="en-US" sz="2400" dirty="0">
                <a:latin typeface="Calibri" panose="020F0502020204030204" pitchFamily="34" charset="0"/>
                <a:ea typeface="宋体" panose="02010600030101010101" pitchFamily="2" charset="-122"/>
                <a:cs typeface="Times New Roman" panose="02020603050405020304" pitchFamily="18" charset="0"/>
              </a:rPr>
              <a:t> communication.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v"/>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It offers </a:t>
            </a:r>
            <a:r>
              <a:rPr lang="en-US" sz="2400" b="1" dirty="0">
                <a:latin typeface="Calibri" panose="020F0502020204030204" pitchFamily="34" charset="0"/>
                <a:ea typeface="宋体" panose="02010600030101010101" pitchFamily="2" charset="-122"/>
                <a:cs typeface="Times New Roman" panose="02020603050405020304" pitchFamily="18" charset="0"/>
              </a:rPr>
              <a:t>enhanced control</a:t>
            </a:r>
            <a:r>
              <a:rPr lang="en-US" sz="2400" dirty="0">
                <a:latin typeface="Calibri" panose="020F0502020204030204" pitchFamily="34" charset="0"/>
                <a:ea typeface="宋体" panose="02010600030101010101" pitchFamily="2" charset="-122"/>
                <a:cs typeface="Times New Roman" panose="02020603050405020304" pitchFamily="18" charset="0"/>
              </a:rPr>
              <a:t> over interactions with HTTP servers.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Key Features: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dirty="0">
                <a:latin typeface="Segoe UI Emoji" panose="020B0502040204020203" pitchFamily="34" charset="0"/>
                <a:ea typeface="宋体" panose="02010600030101010101" pitchFamily="2" charset="-122"/>
                <a:cs typeface="Segoe UI Emoji" panose="020B0502040204020203" pitchFamily="34" charset="0"/>
              </a:rPr>
              <a:t>✔</a:t>
            </a:r>
            <a:r>
              <a:rPr lang="en-US" sz="2400" dirty="0">
                <a:latin typeface="Calibri" panose="020F0502020204030204" pitchFamily="34" charset="0"/>
                <a:ea typeface="宋体" panose="02010600030101010101" pitchFamily="2" charset="-122"/>
                <a:cs typeface="Times New Roman" panose="02020603050405020304" pitchFamily="18" charset="0"/>
              </a:rPr>
              <a:t> </a:t>
            </a:r>
            <a:r>
              <a:rPr lang="en-US" sz="2400" b="1" dirty="0">
                <a:latin typeface="Calibri" panose="020F0502020204030204" pitchFamily="34" charset="0"/>
                <a:ea typeface="宋体" panose="02010600030101010101" pitchFamily="2" charset="-122"/>
                <a:cs typeface="Times New Roman" panose="02020603050405020304" pitchFamily="18" charset="0"/>
              </a:rPr>
              <a:t>Inspect server headers</a:t>
            </a:r>
            <a:r>
              <a:rPr lang="en-US" sz="2400" dirty="0">
                <a:latin typeface="Calibri" panose="020F0502020204030204" pitchFamily="34" charset="0"/>
                <a:ea typeface="宋体" panose="02010600030101010101" pitchFamily="2" charset="-122"/>
                <a:cs typeface="Times New Roman" panose="02020603050405020304" pitchFamily="18" charset="0"/>
              </a:rPr>
              <a:t> – Analyze response headers sent by the server.</a:t>
            </a:r>
            <a:br>
              <a:rPr lang="en-US" sz="2400" dirty="0">
                <a:latin typeface="Calibri" panose="020F0502020204030204" pitchFamily="34" charset="0"/>
                <a:ea typeface="宋体" panose="02010600030101010101" pitchFamily="2" charset="-122"/>
                <a:cs typeface="Times New Roman" panose="02020603050405020304" pitchFamily="18" charset="0"/>
              </a:rPr>
            </a:br>
            <a:r>
              <a:rPr lang="en-US" sz="2400" dirty="0">
                <a:latin typeface="Segoe UI Emoji" panose="020B0502040204020203" pitchFamily="34" charset="0"/>
                <a:ea typeface="宋体" panose="02010600030101010101" pitchFamily="2" charset="-122"/>
                <a:cs typeface="Segoe UI Emoji" panose="020B0502040204020203" pitchFamily="34" charset="0"/>
              </a:rPr>
              <a:t>✔</a:t>
            </a:r>
            <a:r>
              <a:rPr lang="en-US" sz="2400" dirty="0">
                <a:latin typeface="Calibri" panose="020F0502020204030204" pitchFamily="34" charset="0"/>
                <a:ea typeface="宋体" panose="02010600030101010101" pitchFamily="2" charset="-122"/>
                <a:cs typeface="Calibri" panose="020F0502020204030204" pitchFamily="34" charset="0"/>
              </a:rPr>
              <a:t> </a:t>
            </a:r>
            <a:r>
              <a:rPr lang="en-US" sz="2400" b="1" dirty="0">
                <a:latin typeface="Calibri" panose="020F0502020204030204" pitchFamily="34" charset="0"/>
                <a:ea typeface="宋体" panose="02010600030101010101" pitchFamily="2" charset="-122"/>
                <a:cs typeface="Times New Roman" panose="02020603050405020304" pitchFamily="18" charset="0"/>
              </a:rPr>
              <a:t>Customize request headers</a:t>
            </a:r>
            <a:r>
              <a:rPr lang="en-US" sz="2400" dirty="0">
                <a:latin typeface="Calibri" panose="020F0502020204030204" pitchFamily="34" charset="0"/>
                <a:ea typeface="宋体" panose="02010600030101010101" pitchFamily="2" charset="-122"/>
                <a:cs typeface="Times New Roman" panose="02020603050405020304" pitchFamily="18" charset="0"/>
              </a:rPr>
              <a:t> – Modify headers in client requests.</a:t>
            </a:r>
            <a:br>
              <a:rPr lang="en-US" sz="2400" dirty="0">
                <a:latin typeface="Calibri" panose="020F0502020204030204" pitchFamily="34" charset="0"/>
                <a:ea typeface="宋体" panose="02010600030101010101" pitchFamily="2" charset="-122"/>
                <a:cs typeface="Times New Roman" panose="02020603050405020304" pitchFamily="18" charset="0"/>
              </a:rPr>
            </a:br>
            <a:r>
              <a:rPr lang="en-US" sz="2400" dirty="0">
                <a:latin typeface="Segoe UI Emoji" panose="020B0502040204020203" pitchFamily="34" charset="0"/>
                <a:ea typeface="宋体" panose="02010600030101010101" pitchFamily="2" charset="-122"/>
                <a:cs typeface="Segoe UI Emoji" panose="020B0502040204020203" pitchFamily="34" charset="0"/>
              </a:rPr>
              <a:t>✔</a:t>
            </a:r>
            <a:r>
              <a:rPr lang="en-US" sz="2400" dirty="0">
                <a:latin typeface="Calibri" panose="020F0502020204030204" pitchFamily="34" charset="0"/>
                <a:ea typeface="宋体" panose="02010600030101010101" pitchFamily="2" charset="-122"/>
                <a:cs typeface="Calibri" panose="020F0502020204030204" pitchFamily="34" charset="0"/>
              </a:rPr>
              <a:t> </a:t>
            </a:r>
            <a:r>
              <a:rPr lang="en-US" sz="2400" b="1" dirty="0">
                <a:latin typeface="Calibri" panose="020F0502020204030204" pitchFamily="34" charset="0"/>
                <a:ea typeface="宋体" panose="02010600030101010101" pitchFamily="2" charset="-122"/>
                <a:cs typeface="Times New Roman" panose="02020603050405020304" pitchFamily="18" charset="0"/>
              </a:rPr>
              <a:t>Support for HTTP methods</a:t>
            </a:r>
            <a:r>
              <a:rPr lang="en-US" sz="2400" dirty="0">
                <a:latin typeface="Calibri" panose="020F0502020204030204" pitchFamily="34" charset="0"/>
                <a:ea typeface="宋体" panose="02010600030101010101" pitchFamily="2" charset="-122"/>
                <a:cs typeface="Times New Roman" panose="02020603050405020304" pitchFamily="18" charset="0"/>
              </a:rPr>
              <a:t> – Use </a:t>
            </a:r>
            <a:r>
              <a:rPr lang="en-US" sz="2400" b="1" dirty="0">
                <a:latin typeface="Calibri" panose="020F0502020204030204" pitchFamily="34" charset="0"/>
                <a:ea typeface="宋体" panose="02010600030101010101" pitchFamily="2" charset="-122"/>
                <a:cs typeface="Times New Roman" panose="02020603050405020304" pitchFamily="18" charset="0"/>
              </a:rPr>
              <a:t>GET, POST, PUT</a:t>
            </a:r>
            <a:r>
              <a:rPr lang="en-US" sz="2400" dirty="0">
                <a:latin typeface="Calibri" panose="020F0502020204030204" pitchFamily="34" charset="0"/>
                <a:ea typeface="宋体" panose="02010600030101010101" pitchFamily="2" charset="-122"/>
                <a:cs typeface="Times New Roman" panose="02020603050405020304" pitchFamily="18" charset="0"/>
              </a:rPr>
              <a:t>, etc., to send data to the server.</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dirty="0">
                <a:latin typeface="Calibri" panose="020F0502020204030204" pitchFamily="34" charset="0"/>
                <a:ea typeface="宋体" panose="02010600030101010101" pitchFamily="2" charset="-122"/>
                <a:cs typeface="Times New Roman" panose="02020603050405020304" pitchFamily="18" charset="0"/>
              </a:rPr>
              <a:t>This class is useful for </a:t>
            </a:r>
            <a:r>
              <a:rPr lang="en-US" sz="2400" b="1" dirty="0">
                <a:latin typeface="Calibri" panose="020F0502020204030204" pitchFamily="34" charset="0"/>
                <a:ea typeface="宋体" panose="02010600030101010101" pitchFamily="2" charset="-122"/>
                <a:cs typeface="Times New Roman" panose="02020603050405020304" pitchFamily="18" charset="0"/>
              </a:rPr>
              <a:t>fine-grained HTTP communication</a:t>
            </a:r>
            <a:r>
              <a:rPr lang="en-US" sz="2400" dirty="0">
                <a:latin typeface="Calibri" panose="020F0502020204030204" pitchFamily="34" charset="0"/>
                <a:ea typeface="宋体" panose="02010600030101010101" pitchFamily="2" charset="-122"/>
                <a:cs typeface="Times New Roman" panose="02020603050405020304" pitchFamily="18" charset="0"/>
              </a:rPr>
              <a:t> in Java. </a:t>
            </a:r>
            <a:endParaRPr lang="en-US" sz="2400"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1066800" y="304800"/>
            <a:ext cx="8540750" cy="474132"/>
          </a:xfrm>
        </p:spPr>
        <p:txBody>
          <a:bodyPr/>
          <a:lstStyle/>
          <a:p>
            <a:pPr algn="l"/>
            <a:r>
              <a:rPr lang="en-GB" altLang="zh-CN" sz="3200" b="1" dirty="0"/>
              <a:t>The </a:t>
            </a:r>
            <a:r>
              <a:rPr lang="en-US" altLang="zh-CN" sz="3200" b="1" dirty="0"/>
              <a:t>Steps to Use </a:t>
            </a:r>
            <a:r>
              <a:rPr lang="en-US" altLang="zh-CN" sz="3200" b="1" dirty="0" err="1"/>
              <a:t>URLConnection</a:t>
            </a:r>
            <a:r>
              <a:rPr lang="en-US" altLang="zh-CN" sz="3200" b="1" dirty="0"/>
              <a:t> Class</a:t>
            </a:r>
            <a:endParaRPr lang="en-GB" altLang="en-US" sz="3200" b="1" dirty="0"/>
          </a:p>
        </p:txBody>
      </p:sp>
      <p:sp>
        <p:nvSpPr>
          <p:cNvPr id="2" name="Rectangle 1"/>
          <p:cNvSpPr/>
          <p:nvPr/>
        </p:nvSpPr>
        <p:spPr>
          <a:xfrm>
            <a:off x="457200" y="990600"/>
            <a:ext cx="10439400" cy="2496196"/>
          </a:xfrm>
          <a:prstGeom prst="rect">
            <a:avLst/>
          </a:prstGeom>
        </p:spPr>
        <p:txBody>
          <a:bodyPr wrap="square">
            <a:spAutoFit/>
          </a:bodyPr>
          <a:lstStyle/>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1. Create a URL Object</a:t>
            </a:r>
            <a:r>
              <a:rPr lang="en-US" sz="1400" b="1" dirty="0">
                <a:latin typeface="Calibri" panose="020F0502020204030204" pitchFamily="34" charset="0"/>
                <a:ea typeface="宋体" panose="02010600030101010101" pitchFamily="2" charset="-122"/>
                <a:cs typeface="Times New Roman" panose="02020603050405020304" pitchFamily="18" charset="0"/>
              </a:rPr>
              <a:t>: </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Initialize a </a:t>
            </a:r>
            <a:r>
              <a:rPr lang="en-US" sz="1200" b="1"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object with the target endpoint.</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"https://example.com/</a:t>
            </a:r>
            <a:r>
              <a:rPr lang="en-US" sz="140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api</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2.  Open a Connection: </a:t>
            </a:r>
            <a:r>
              <a:rPr lang="en-US" sz="1600" b="1" dirty="0">
                <a:solidFill>
                  <a:srgbClr val="404040"/>
                </a:solidFill>
                <a:latin typeface="Segoe UI" panose="020B0502040204020203" pitchFamily="34" charset="0"/>
                <a:cs typeface="Times New Roman" panose="02020603050405020304" pitchFamily="18" charset="0"/>
              </a:rPr>
              <a:t>Obtain a </a:t>
            </a:r>
            <a:r>
              <a:rPr lang="en-US" sz="1600" b="1" dirty="0" err="1">
                <a:solidFill>
                  <a:srgbClr val="404040"/>
                </a:solidFill>
                <a:latin typeface="Segoe UI" panose="020B0502040204020203" pitchFamily="34" charset="0"/>
                <a:cs typeface="Times New Roman" panose="02020603050405020304" pitchFamily="18" charset="0"/>
              </a:rPr>
              <a:t>URLConnection</a:t>
            </a:r>
            <a:r>
              <a:rPr lang="en-US" sz="1600" b="1" dirty="0">
                <a:solidFill>
                  <a:srgbClr val="404040"/>
                </a:solidFill>
                <a:latin typeface="Segoe UI" panose="020B0502040204020203" pitchFamily="34" charset="0"/>
                <a:cs typeface="Times New Roman" panose="02020603050405020304" pitchFamily="18" charset="0"/>
              </a:rPr>
              <a:t> (or </a:t>
            </a:r>
            <a:r>
              <a:rPr lang="en-US" sz="1600" b="1" dirty="0" err="1">
                <a:solidFill>
                  <a:srgbClr val="404040"/>
                </a:solidFill>
                <a:latin typeface="Segoe UI" panose="020B0502040204020203" pitchFamily="34" charset="0"/>
                <a:cs typeface="Times New Roman" panose="02020603050405020304" pitchFamily="18" charset="0"/>
              </a:rPr>
              <a:t>HttpURLConnection</a:t>
            </a:r>
            <a:r>
              <a:rPr lang="en-US" sz="1600" b="1" dirty="0">
                <a:solidFill>
                  <a:srgbClr val="404040"/>
                </a:solidFill>
                <a:latin typeface="Segoe UI" panose="020B0502040204020203" pitchFamily="34" charset="0"/>
                <a:cs typeface="Times New Roman" panose="02020603050405020304" pitchFamily="18" charset="0"/>
              </a:rPr>
              <a:t>) instance.</a:t>
            </a:r>
            <a:endParaRPr lang="en-US" sz="1600" b="1" dirty="0">
              <a:solidFill>
                <a:srgbClr val="404040"/>
              </a:solidFill>
              <a:latin typeface="Segoe UI" panose="020B0502040204020203" pitchFamily="34" charset="0"/>
              <a:cs typeface="Times New Roman" panose="02020603050405020304" pitchFamily="18"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URLConnection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3. Configure the Connection (Optional</a:t>
            </a:r>
            <a:r>
              <a:rPr lang="en-US" sz="1600" b="1" dirty="0">
                <a:solidFill>
                  <a:srgbClr val="404040"/>
                </a:solidFill>
                <a:latin typeface="Segoe UI" panose="020B0502040204020203" pitchFamily="34" charset="0"/>
                <a:cs typeface="Times New Roman" panose="02020603050405020304" pitchFamily="18" charset="0"/>
              </a:rPr>
              <a:t>): Set request properties (headers, timeouts, etc.).</a:t>
            </a:r>
            <a:endParaRPr lang="en-US" sz="1600" b="1" dirty="0">
              <a:solidFill>
                <a:srgbClr val="404040"/>
              </a:solidFill>
              <a:latin typeface="Segoe UI" panose="020B0502040204020203" pitchFamily="34" charset="0"/>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setRequestProperty</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"User-Agent"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MyApp</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/1.0"</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setConnectTimeout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5-second timeout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setReadTimeout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Rectangle 2"/>
          <p:cNvSpPr/>
          <p:nvPr/>
        </p:nvSpPr>
        <p:spPr>
          <a:xfrm>
            <a:off x="457200" y="3437467"/>
            <a:ext cx="9889067" cy="3257943"/>
          </a:xfrm>
          <a:prstGeom prst="rect">
            <a:avLst/>
          </a:prstGeom>
        </p:spPr>
        <p:txBody>
          <a:bodyPr wrap="square">
            <a:spAutoFit/>
          </a:bodyPr>
          <a:lstStyle/>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4. </a:t>
            </a:r>
            <a:r>
              <a:rPr lang="en-US" sz="1600" b="1" dirty="0">
                <a:solidFill>
                  <a:srgbClr val="404040"/>
                </a:solidFill>
                <a:latin typeface="Segoe UI" panose="020B0502040204020203" pitchFamily="34" charset="0"/>
                <a:cs typeface="Times New Roman" panose="02020603050405020304" pitchFamily="18" charset="0"/>
              </a:rPr>
              <a:t>Read Header Information: Access response headers from the server.</a:t>
            </a:r>
            <a:endParaRPr lang="en-US" sz="1600" b="1" dirty="0">
              <a:solidFill>
                <a:srgbClr val="404040"/>
              </a:solidFill>
              <a:latin typeface="Segoe UI" panose="020B0502040204020203" pitchFamily="34" charset="0"/>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getHeaderField</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"Content-Type: "</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endParaRPr lang="en-US" sz="12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endParaRPr>
          </a:p>
          <a:p>
            <a:pPr marL="34290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cs typeface="Times New Roman" panose="02020603050405020304" pitchFamily="18" charset="0"/>
              </a:rPr>
              <a:t>5. Read Data (GET Request): Open an input stream to read the response body.</a:t>
            </a:r>
            <a:endParaRPr lang="en-US" sz="1600" b="1" dirty="0">
              <a:solidFill>
                <a:srgbClr val="404040"/>
              </a:solidFill>
              <a:latin typeface="Segoe UI" panose="020B0502040204020203" pitchFamily="34" charset="0"/>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2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08D8E75-19A4-468E-83BC-8FD0505362CF}" type="slidenum">
              <a:rPr lang="en-US" altLang="zh-CN" smtClean="0"/>
            </a:fld>
            <a:endParaRPr lang="en-US" altLang="zh-CN"/>
          </a:p>
        </p:txBody>
      </p:sp>
      <p:sp>
        <p:nvSpPr>
          <p:cNvPr id="5" name="Rectangle 4"/>
          <p:cNvSpPr/>
          <p:nvPr/>
        </p:nvSpPr>
        <p:spPr>
          <a:xfrm>
            <a:off x="381000" y="533400"/>
            <a:ext cx="11201400" cy="2623795"/>
          </a:xfrm>
          <a:prstGeom prst="rect">
            <a:avLst/>
          </a:prstGeom>
        </p:spPr>
        <p:txBody>
          <a:bodyPr wrap="square">
            <a:spAutoFit/>
          </a:bodyPr>
          <a:lstStyle/>
          <a:p>
            <a:pPr marL="342900" marR="0" lvl="0" indent="-342900">
              <a:lnSpc>
                <a:spcPts val="2145"/>
              </a:lnSpc>
              <a:spcBef>
                <a:spcPts val="0"/>
              </a:spcBef>
              <a:spcAft>
                <a:spcPts val="300"/>
              </a:spcAft>
              <a:tabLst>
                <a:tab pos="457200" algn="l"/>
              </a:tabLst>
            </a:pPr>
            <a:r>
              <a:rPr lang="en-US" sz="14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6. Write Data (POST/PUT Request): For sending data (e.g., JSON), enable output and write to the stream.</a:t>
            </a:r>
            <a:endParaRPr lang="en-US" sz="1200"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setDoOutput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true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Enable output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os</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getOutputStream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OutputStreamWriter</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osw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OutputStreamWriter</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os</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osw</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write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"{\"key\":\"value\"}"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Example JSON payload</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osw</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flush</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1"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endParaRPr>
          </a:p>
          <a:p>
            <a:pPr lvl="1"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4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7. Close the Connection: </a:t>
            </a:r>
            <a:r>
              <a:rPr lang="en-US" sz="1400" b="1" dirty="0">
                <a:solidFill>
                  <a:srgbClr val="404040"/>
                </a:solidFill>
                <a:latin typeface="Segoe UI" panose="020B0502040204020203" pitchFamily="34" charset="0"/>
                <a:cs typeface="Times New Roman" panose="02020603050405020304" pitchFamily="18" charset="0"/>
              </a:rPr>
              <a:t>Ensure resources are released (handled automatically with try-with-resources).</a:t>
            </a:r>
            <a:endParaRPr lang="en-US" sz="1400" b="1" dirty="0">
              <a:solidFill>
                <a:srgbClr val="404040"/>
              </a:solidFill>
              <a:latin typeface="Segoe UI" panose="020B0502040204020203" pitchFamily="34" charset="0"/>
              <a:cs typeface="Times New Roman" panose="02020603050405020304" pitchFamily="18"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FF0000"/>
                </a:solidFill>
                <a:latin typeface="Courier New" panose="02070309020205020404" pitchFamily="49" charset="0"/>
                <a:ea typeface="Times New Roman" panose="02020603050405020304" pitchFamily="18" charset="0"/>
                <a:cs typeface="Times New Roman" panose="02020603050405020304" pitchFamily="18" charset="0"/>
              </a:rPr>
              <a:t>// Implicitly closed by try-with-resources</a:t>
            </a:r>
            <a:endParaRPr lang="en-US" sz="1400" b="1"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 name="Rectangle 6"/>
          <p:cNvSpPr/>
          <p:nvPr/>
        </p:nvSpPr>
        <p:spPr>
          <a:xfrm>
            <a:off x="381000" y="3560393"/>
            <a:ext cx="11201400" cy="2332433"/>
          </a:xfrm>
          <a:prstGeom prst="rect">
            <a:avLst/>
          </a:prstGeom>
        </p:spPr>
        <p:txBody>
          <a:bodyPr wrap="square">
            <a:spAutoFit/>
          </a:bodyPr>
          <a:lstStyle/>
          <a:p>
            <a:pPr marL="0" marR="0">
              <a:lnSpc>
                <a:spcPct val="107000"/>
              </a:lnSpc>
              <a:spcBef>
                <a:spcPts val="1370"/>
              </a:spcBef>
              <a:spcAft>
                <a:spcPts val="1030"/>
              </a:spcAft>
            </a:pP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Key Notes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buSzPts val="1000"/>
              <a:buFont typeface="Wingdings" panose="05000000000000000000" pitchFamily="2" charset="2"/>
              <a:buChar char="v"/>
              <a:tabLst>
                <a:tab pos="457200" algn="l"/>
              </a:tabLst>
            </a:pP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For HTTP-specific features</a:t>
            </a:r>
            <a:r>
              <a:rPr lang="en-US" sz="20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cast to </a:t>
            </a:r>
            <a:r>
              <a:rPr lang="en-US" sz="1600"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20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lvl="2"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httpConn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lvl="2"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httpConn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setRequestMethod</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"POST"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SzPts val="1000"/>
              <a:buFont typeface="Wingdings" panose="05000000000000000000" pitchFamily="2" charset="2"/>
              <a:buChar char="v"/>
              <a:tabLst>
                <a:tab pos="457200" algn="l"/>
              </a:tabLst>
            </a:pP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Error Handling</a:t>
            </a:r>
            <a:r>
              <a:rPr lang="en-US" sz="20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Always check response codes (e.g., </a:t>
            </a:r>
            <a:r>
              <a:rPr lang="en-US" sz="1600"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httpConn.getResponseCode</a:t>
            </a:r>
            <a:r>
              <a:rPr lang="en-US" sz="1600"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 == 200</a:t>
            </a:r>
            <a:r>
              <a:rPr lang="en-US" sz="20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SzPts val="1000"/>
              <a:buFont typeface="Wingdings" panose="05000000000000000000" pitchFamily="2" charset="2"/>
              <a:buChar char="v"/>
              <a:tabLst>
                <a:tab pos="457200" algn="l"/>
              </a:tabLst>
            </a:pP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Cleanup</a:t>
            </a:r>
            <a:r>
              <a:rPr lang="en-US" sz="20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Use </a:t>
            </a:r>
            <a:r>
              <a:rPr lang="en-US" sz="1600" dirty="0">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try-with-resources</a:t>
            </a:r>
            <a:r>
              <a:rPr lang="en-US" sz="2000"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to auto-close streams.</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1524000" y="34925"/>
            <a:ext cx="8540750" cy="533400"/>
          </a:xfrm>
        </p:spPr>
        <p:txBody>
          <a:bodyPr/>
          <a:lstStyle/>
          <a:p>
            <a:pPr algn="l"/>
            <a:r>
              <a:rPr lang="en-GB" altLang="en-US" sz="2800"/>
              <a:t>Creating </a:t>
            </a:r>
            <a:r>
              <a:rPr lang="en-GB" altLang="zh-CN" sz="2800"/>
              <a:t>a URLConnection </a:t>
            </a:r>
            <a:r>
              <a:rPr lang="en-GB" altLang="en-US" sz="2800"/>
              <a:t>Object</a:t>
            </a:r>
            <a:endParaRPr lang="en-GB" altLang="en-US" sz="2800"/>
          </a:p>
        </p:txBody>
      </p:sp>
      <p:sp>
        <p:nvSpPr>
          <p:cNvPr id="9219" name="内容占位符 2"/>
          <p:cNvSpPr>
            <a:spLocks noGrp="1"/>
          </p:cNvSpPr>
          <p:nvPr>
            <p:ph idx="1"/>
          </p:nvPr>
        </p:nvSpPr>
        <p:spPr>
          <a:xfrm>
            <a:off x="304800" y="685801"/>
            <a:ext cx="11277599" cy="5867399"/>
          </a:xfrm>
        </p:spPr>
        <p:txBody>
          <a:bodyPr/>
          <a:lstStyle/>
          <a:p>
            <a:r>
              <a:rPr lang="en-GB" altLang="zh-CN" sz="2200" dirty="0">
                <a:latin typeface="Times New Roman" panose="02020603050405020304" pitchFamily="18" charset="0"/>
                <a:cs typeface="Times New Roman" panose="02020603050405020304" pitchFamily="18" charset="0"/>
              </a:rPr>
              <a:t>URLConnection </a:t>
            </a:r>
            <a:r>
              <a:rPr lang="en-GB" altLang="en-US" sz="2200" dirty="0">
                <a:latin typeface="Times New Roman" panose="02020603050405020304" pitchFamily="18" charset="0"/>
                <a:cs typeface="Times New Roman" panose="02020603050405020304" pitchFamily="18" charset="0"/>
              </a:rPr>
              <a:t>class has only one constructor for the persisted type </a:t>
            </a:r>
            <a:r>
              <a:rPr lang="en-GB" altLang="en-US" sz="2200" b="1" dirty="0">
                <a:solidFill>
                  <a:srgbClr val="006699"/>
                </a:solidFill>
                <a:latin typeface="Times New Roman" panose="02020603050405020304" pitchFamily="18" charset="0"/>
                <a:cs typeface="Times New Roman" panose="02020603050405020304" pitchFamily="18" charset="0"/>
              </a:rPr>
              <a:t>:</a:t>
            </a:r>
            <a:endParaRPr lang="en-US" altLang="zh-CN" sz="2200" b="1" dirty="0">
              <a:solidFill>
                <a:srgbClr val="006699"/>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400" b="1" dirty="0">
                <a:solidFill>
                  <a:srgbClr val="006699"/>
                </a:solidFill>
                <a:latin typeface="Times New Roman" panose="02020603050405020304" pitchFamily="18" charset="0"/>
                <a:cs typeface="Times New Roman" panose="02020603050405020304" pitchFamily="18" charset="0"/>
              </a:rPr>
              <a:t>     </a:t>
            </a:r>
            <a:r>
              <a:rPr lang="en-GB" altLang="zh-CN" sz="2000" b="1" dirty="0">
                <a:solidFill>
                  <a:srgbClr val="006699"/>
                </a:solidFill>
                <a:latin typeface="Times New Roman" panose="02020603050405020304" pitchFamily="18" charset="0"/>
                <a:cs typeface="Times New Roman" panose="02020603050405020304" pitchFamily="18" charset="0"/>
              </a:rPr>
              <a:t>protected URLConnection(URL url)</a:t>
            </a:r>
            <a:endParaRPr lang="en-GB" altLang="zh-CN" sz="2000" b="1" dirty="0">
              <a:solidFill>
                <a:srgbClr val="006699"/>
              </a:solidFill>
              <a:latin typeface="Times New Roman" panose="02020603050405020304" pitchFamily="18" charset="0"/>
              <a:cs typeface="Times New Roman" panose="02020603050405020304" pitchFamily="18" charset="0"/>
            </a:endParaRPr>
          </a:p>
          <a:p>
            <a:r>
              <a:rPr lang="en-GB" altLang="en-US" sz="2200" dirty="0">
                <a:latin typeface="Times New Roman" panose="02020603050405020304" pitchFamily="18" charset="0"/>
                <a:cs typeface="Times New Roman" panose="02020603050405020304" pitchFamily="18" charset="0"/>
              </a:rPr>
              <a:t>For example, if you want to write a protocol handler, you need to derive a subclass of </a:t>
            </a:r>
            <a:r>
              <a:rPr lang="en-GB" altLang="zh-CN" sz="2200" dirty="0">
                <a:latin typeface="Times New Roman" panose="02020603050405020304" pitchFamily="18" charset="0"/>
                <a:cs typeface="Times New Roman" panose="02020603050405020304" pitchFamily="18" charset="0"/>
              </a:rPr>
              <a:t>URLConnection </a:t>
            </a:r>
            <a:r>
              <a:rPr lang="en-GB" altLang="en-US" sz="2200" dirty="0">
                <a:latin typeface="Times New Roman" panose="02020603050405020304" pitchFamily="18" charset="0"/>
                <a:cs typeface="Times New Roman" panose="02020603050405020304" pitchFamily="18" charset="0"/>
              </a:rPr>
              <a:t>to use this constructor.</a:t>
            </a:r>
            <a:endParaRPr lang="en-US" altLang="zh-CN" sz="2200" dirty="0">
              <a:latin typeface="Times New Roman" panose="02020603050405020304" pitchFamily="18" charset="0"/>
              <a:cs typeface="Times New Roman" panose="02020603050405020304" pitchFamily="18" charset="0"/>
            </a:endParaRPr>
          </a:p>
          <a:p>
            <a:r>
              <a:rPr lang="en-GB" altLang="en-US" sz="2200" dirty="0">
                <a:latin typeface="Times New Roman" panose="02020603050405020304" pitchFamily="18" charset="0"/>
                <a:cs typeface="Times New Roman" panose="02020603050405020304" pitchFamily="18" charset="0"/>
              </a:rPr>
              <a:t>Usually use the </a:t>
            </a:r>
            <a:r>
              <a:rPr lang="en-GB" altLang="zh-CN" sz="2200" dirty="0">
                <a:solidFill>
                  <a:srgbClr val="FF0000"/>
                </a:solidFill>
                <a:latin typeface="Times New Roman" panose="02020603050405020304" pitchFamily="18" charset="0"/>
                <a:cs typeface="Times New Roman" panose="02020603050405020304" pitchFamily="18" charset="0"/>
              </a:rPr>
              <a:t>openConnection method </a:t>
            </a:r>
            <a:r>
              <a:rPr lang="en-GB" altLang="en-US" sz="2200" dirty="0">
                <a:solidFill>
                  <a:srgbClr val="FF0000"/>
                </a:solidFill>
                <a:latin typeface="Times New Roman" panose="02020603050405020304" pitchFamily="18" charset="0"/>
                <a:cs typeface="Times New Roman" panose="02020603050405020304" pitchFamily="18" charset="0"/>
              </a:rPr>
              <a:t>of this class to create an object</a:t>
            </a:r>
            <a:endParaRPr lang="en-US" altLang="zh-CN" sz="2200" dirty="0">
              <a:solidFill>
                <a:srgbClr val="FF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b="1" dirty="0">
                <a:solidFill>
                  <a:srgbClr val="006699"/>
                </a:solidFill>
                <a:latin typeface="Times New Roman" panose="02020603050405020304" pitchFamily="18" charset="0"/>
                <a:cs typeface="Times New Roman" panose="02020603050405020304" pitchFamily="18" charset="0"/>
              </a:rPr>
              <a:t>try</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lvl="1">
              <a:buNone/>
            </a:pPr>
            <a:r>
              <a:rPr lang="en-GB" altLang="zh-CN" sz="1600" dirty="0">
                <a:solidFill>
                  <a:srgbClr val="000088"/>
                </a:solidFill>
                <a:latin typeface="Times New Roman" panose="02020603050405020304" pitchFamily="18" charset="0"/>
                <a:cs typeface="Times New Roman" panose="02020603050405020304" pitchFamily="18" charset="0"/>
              </a:rPr>
              <a:t>URL</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u</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555555"/>
                </a:solidFill>
                <a:latin typeface="Times New Roman" panose="02020603050405020304" pitchFamily="18" charset="0"/>
                <a:cs typeface="Times New Roman" panose="02020603050405020304" pitchFamily="18" charset="0"/>
              </a:rPr>
              <a:t>=</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b="1" dirty="0">
                <a:solidFill>
                  <a:srgbClr val="006699"/>
                </a:solidFill>
                <a:latin typeface="Times New Roman" panose="02020603050405020304" pitchFamily="18" charset="0"/>
                <a:cs typeface="Times New Roman" panose="02020603050405020304" pitchFamily="18" charset="0"/>
              </a:rPr>
              <a:t>new</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URL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CC3300"/>
                </a:solidFill>
                <a:latin typeface="Times New Roman" panose="02020603050405020304" pitchFamily="18" charset="0"/>
                <a:cs typeface="Times New Roman" panose="02020603050405020304" pitchFamily="18" charset="0"/>
              </a:rPr>
              <a:t>"http://www.szu.edu.cn/" </a:t>
            </a:r>
            <a:r>
              <a:rPr lang="en-GB" altLang="zh-CN" sz="1600" dirty="0">
                <a:solidFill>
                  <a:srgbClr val="555555"/>
                </a:solidFill>
                <a:latin typeface="Times New Roman" panose="02020603050405020304" pitchFamily="18" charset="0"/>
                <a:cs typeface="Times New Roman" panose="02020603050405020304" pitchFamily="18" charset="0"/>
              </a:rPr>
              <a:t>);</a:t>
            </a:r>
            <a:endParaRPr lang="en-US" altLang="zh-CN" sz="1600" dirty="0">
              <a:solidFill>
                <a:srgbClr val="000000"/>
              </a:solidFill>
              <a:latin typeface="Times New Roman" panose="02020603050405020304" pitchFamily="18" charset="0"/>
              <a:cs typeface="Times New Roman" panose="02020603050405020304" pitchFamily="18" charset="0"/>
            </a:endParaRPr>
          </a:p>
          <a:p>
            <a:pPr lvl="1">
              <a:buNone/>
            </a:pPr>
            <a:r>
              <a:rPr lang="en-GB" altLang="zh-CN" sz="1600" dirty="0">
                <a:solidFill>
                  <a:srgbClr val="000088"/>
                </a:solidFill>
                <a:latin typeface="Times New Roman" panose="02020603050405020304" pitchFamily="18" charset="0"/>
                <a:cs typeface="Times New Roman" panose="02020603050405020304" pitchFamily="18" charset="0"/>
              </a:rPr>
              <a:t>URLConnection</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uc</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555555"/>
                </a:solidFill>
                <a:latin typeface="Times New Roman" panose="02020603050405020304" pitchFamily="18" charset="0"/>
                <a:cs typeface="Times New Roman" panose="02020603050405020304" pitchFamily="18" charset="0"/>
              </a:rPr>
              <a:t>=</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u </a:t>
            </a:r>
            <a:r>
              <a:rPr lang="en-GB" altLang="zh-CN" sz="1600" dirty="0">
                <a:solidFill>
                  <a:srgbClr val="555555"/>
                </a:solidFill>
                <a:latin typeface="Times New Roman" panose="02020603050405020304" pitchFamily="18" charset="0"/>
                <a:cs typeface="Times New Roman" panose="02020603050405020304" pitchFamily="18" charset="0"/>
              </a:rPr>
              <a:t>.openConnection () </a:t>
            </a:r>
            <a:endParaRPr lang="en-US" altLang="zh-CN" sz="1600" dirty="0">
              <a:solidFill>
                <a:srgbClr val="000000"/>
              </a:solidFill>
              <a:latin typeface="Times New Roman" panose="02020603050405020304" pitchFamily="18" charset="0"/>
              <a:cs typeface="Times New Roman" panose="02020603050405020304" pitchFamily="18" charset="0"/>
            </a:endParaRPr>
          </a:p>
          <a:p>
            <a:pPr lvl="1">
              <a:buNone/>
            </a:pPr>
            <a:r>
              <a:rPr lang="en-GB" altLang="zh-CN" sz="1600" i="1" dirty="0">
                <a:solidFill>
                  <a:srgbClr val="35586C"/>
                </a:solidFill>
                <a:latin typeface="Times New Roman" panose="02020603050405020304" pitchFamily="18" charset="0"/>
                <a:cs typeface="Times New Roman" panose="02020603050405020304" pitchFamily="18" charset="0"/>
              </a:rPr>
              <a:t>// read from the URL...</a:t>
            </a:r>
            <a:endParaRPr lang="en-US" altLang="zh-CN" sz="1600" dirty="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b="1" dirty="0">
                <a:solidFill>
                  <a:srgbClr val="006699"/>
                </a:solidFill>
                <a:latin typeface="Times New Roman" panose="02020603050405020304" pitchFamily="18" charset="0"/>
                <a:cs typeface="Times New Roman" panose="02020603050405020304" pitchFamily="18" charset="0"/>
              </a:rPr>
              <a:t>catch</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555555"/>
                </a:solidFill>
                <a:latin typeface="Times New Roman" panose="02020603050405020304" pitchFamily="18" charset="0"/>
                <a:cs typeface="Times New Roman" panose="02020603050405020304" pitchFamily="18" charset="0"/>
              </a:rPr>
              <a:t>( </a:t>
            </a:r>
            <a:r>
              <a:rPr lang="en-GB" altLang="zh-CN" sz="2000" dirty="0">
                <a:solidFill>
                  <a:srgbClr val="000088"/>
                </a:solidFill>
                <a:latin typeface="Times New Roman" panose="02020603050405020304" pitchFamily="18" charset="0"/>
                <a:cs typeface="Times New Roman" panose="02020603050405020304" pitchFamily="18" charset="0"/>
              </a:rPr>
              <a:t>MalformedURLException</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000088"/>
                </a:solidFill>
                <a:latin typeface="Times New Roman" panose="02020603050405020304" pitchFamily="18" charset="0"/>
                <a:cs typeface="Times New Roman" panose="02020603050405020304" pitchFamily="18" charset="0"/>
              </a:rPr>
              <a:t>ex </a:t>
            </a:r>
            <a:r>
              <a:rPr lang="en-GB" altLang="zh-CN" sz="2000" dirty="0">
                <a:solidFill>
                  <a:srgbClr val="555555"/>
                </a:solidFill>
                <a:latin typeface="Times New Roman" panose="02020603050405020304" pitchFamily="18" charset="0"/>
                <a:cs typeface="Times New Roman" panose="02020603050405020304" pitchFamily="18" charset="0"/>
              </a:rPr>
              <a:t>)</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lvl="1">
              <a:buNone/>
            </a:pPr>
            <a:r>
              <a:rPr lang="en-GB" altLang="zh-CN" sz="1600" dirty="0">
                <a:solidFill>
                  <a:srgbClr val="000088"/>
                </a:solidFill>
                <a:latin typeface="Times New Roman" panose="02020603050405020304" pitchFamily="18" charset="0"/>
                <a:cs typeface="Times New Roman" panose="02020603050405020304" pitchFamily="18" charset="0"/>
              </a:rPr>
              <a:t>System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330099"/>
                </a:solidFill>
                <a:latin typeface="Times New Roman" panose="02020603050405020304" pitchFamily="18" charset="0"/>
                <a:cs typeface="Times New Roman" panose="02020603050405020304" pitchFamily="18" charset="0"/>
              </a:rPr>
              <a:t>err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330099"/>
                </a:solidFill>
                <a:latin typeface="Times New Roman" panose="02020603050405020304" pitchFamily="18" charset="0"/>
                <a:cs typeface="Times New Roman" panose="02020603050405020304" pitchFamily="18" charset="0"/>
              </a:rPr>
              <a:t>println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ex </a:t>
            </a:r>
            <a:r>
              <a:rPr lang="en-GB" altLang="zh-CN" sz="1600" dirty="0">
                <a:solidFill>
                  <a:srgbClr val="555555"/>
                </a:solidFill>
                <a:latin typeface="Times New Roman" panose="02020603050405020304" pitchFamily="18" charset="0"/>
                <a:cs typeface="Times New Roman" panose="02020603050405020304" pitchFamily="18" charset="0"/>
              </a:rPr>
              <a:t>);</a:t>
            </a:r>
            <a:endParaRPr lang="en-US" altLang="zh-CN" sz="1600" dirty="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rgbClr val="555555"/>
                </a:solidFill>
                <a:latin typeface="Times New Roman" panose="02020603050405020304" pitchFamily="18" charset="0"/>
                <a:cs typeface="Times New Roman" panose="02020603050405020304" pitchFamily="18" charset="0"/>
              </a:rPr>
              <a:t>}</a:t>
            </a:r>
            <a:endParaRPr lang="en-GB" altLang="zh-CN" sz="2000" dirty="0">
              <a:solidFill>
                <a:srgbClr val="555555"/>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b="1" dirty="0">
                <a:solidFill>
                  <a:srgbClr val="006699"/>
                </a:solidFill>
                <a:latin typeface="Times New Roman" panose="02020603050405020304" pitchFamily="18" charset="0"/>
                <a:cs typeface="Times New Roman" panose="02020603050405020304" pitchFamily="18" charset="0"/>
              </a:rPr>
              <a:t>catch</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555555"/>
                </a:solidFill>
                <a:latin typeface="Times New Roman" panose="02020603050405020304" pitchFamily="18" charset="0"/>
                <a:cs typeface="Times New Roman" panose="02020603050405020304" pitchFamily="18" charset="0"/>
              </a:rPr>
              <a:t>( </a:t>
            </a:r>
            <a:r>
              <a:rPr lang="en-GB" altLang="zh-CN" sz="2000" dirty="0">
                <a:solidFill>
                  <a:srgbClr val="000088"/>
                </a:solidFill>
                <a:latin typeface="Times New Roman" panose="02020603050405020304" pitchFamily="18" charset="0"/>
                <a:cs typeface="Times New Roman" panose="02020603050405020304" pitchFamily="18" charset="0"/>
              </a:rPr>
              <a:t>IOException</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000088"/>
                </a:solidFill>
                <a:latin typeface="Times New Roman" panose="02020603050405020304" pitchFamily="18" charset="0"/>
                <a:cs typeface="Times New Roman" panose="02020603050405020304" pitchFamily="18" charset="0"/>
              </a:rPr>
              <a:t>ex </a:t>
            </a:r>
            <a:r>
              <a:rPr lang="en-GB" altLang="zh-CN" sz="2000" dirty="0">
                <a:solidFill>
                  <a:srgbClr val="555555"/>
                </a:solidFill>
                <a:latin typeface="Times New Roman" panose="02020603050405020304" pitchFamily="18" charset="0"/>
                <a:cs typeface="Times New Roman" panose="02020603050405020304" pitchFamily="18" charset="0"/>
              </a:rPr>
              <a:t>)</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zh-CN" sz="2000" dirty="0">
                <a:solidFill>
                  <a:srgbClr val="555555"/>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lvl="1">
              <a:buNone/>
            </a:pPr>
            <a:r>
              <a:rPr lang="en-GB" altLang="zh-CN" sz="1600" dirty="0">
                <a:solidFill>
                  <a:srgbClr val="000088"/>
                </a:solidFill>
                <a:latin typeface="Times New Roman" panose="02020603050405020304" pitchFamily="18" charset="0"/>
                <a:cs typeface="Times New Roman" panose="02020603050405020304" pitchFamily="18" charset="0"/>
              </a:rPr>
              <a:t>System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330099"/>
                </a:solidFill>
                <a:latin typeface="Times New Roman" panose="02020603050405020304" pitchFamily="18" charset="0"/>
                <a:cs typeface="Times New Roman" panose="02020603050405020304" pitchFamily="18" charset="0"/>
              </a:rPr>
              <a:t>err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330099"/>
                </a:solidFill>
                <a:latin typeface="Times New Roman" panose="02020603050405020304" pitchFamily="18" charset="0"/>
                <a:cs typeface="Times New Roman" panose="02020603050405020304" pitchFamily="18" charset="0"/>
              </a:rPr>
              <a:t>println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ex </a:t>
            </a:r>
            <a:r>
              <a:rPr lang="en-GB" altLang="zh-CN" sz="1600" dirty="0">
                <a:solidFill>
                  <a:srgbClr val="555555"/>
                </a:solidFill>
                <a:latin typeface="Times New Roman" panose="02020603050405020304" pitchFamily="18" charset="0"/>
                <a:cs typeface="Times New Roman" panose="02020603050405020304" pitchFamily="18" charset="0"/>
              </a:rPr>
              <a:t>);</a:t>
            </a:r>
            <a:endParaRPr lang="en-GB" altLang="zh-CN" sz="1600" dirty="0">
              <a:solidFill>
                <a:srgbClr val="555555"/>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rgbClr val="555555"/>
                </a:solidFill>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245533" y="415672"/>
            <a:ext cx="11506200" cy="6093078"/>
          </a:xfrm>
          <a:prstGeom prst="rect">
            <a:avLst/>
          </a:prstGeom>
        </p:spPr>
        <p:txBody>
          <a:bodyPr wrap="square">
            <a:spAutoFit/>
          </a:bodyPr>
          <a:lstStyle/>
          <a:p>
            <a:pPr marL="0" marR="0">
              <a:lnSpc>
                <a:spcPct val="107000"/>
              </a:lnSpc>
              <a:spcBef>
                <a:spcPts val="1370"/>
              </a:spcBef>
              <a:spcAft>
                <a:spcPts val="1030"/>
              </a:spcAft>
            </a:pP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Example: Complete GET Request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throws</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Exception</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"https:\\www.szu.edu.cn"</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URLConnection</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2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2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2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2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2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152400" y="183128"/>
            <a:ext cx="6705600" cy="5457648"/>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383A42"/>
                </a:solidFill>
                <a:latin typeface="Courier New" panose="02070309020205020404" pitchFamily="49" charset="0"/>
                <a:ea typeface="宋体" panose="02010600030101010101" pitchFamily="2" charset="-122"/>
                <a:cs typeface="Times New Roman" panose="02020603050405020304" pitchFamily="18" charset="0"/>
              </a:rPr>
              <a:t>	</a:t>
            </a:r>
            <a:r>
              <a:rPr lang="en-US" sz="12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2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2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null;</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endParaRPr>
          </a:p>
          <a:p>
            <a:pPr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383A42"/>
                </a:solidFill>
                <a:latin typeface="Courier New" panose="02070309020205020404" pitchFamily="49" charset="0"/>
                <a:ea typeface="宋体" panose="02010600030101010101" pitchFamily="2" charset="-122"/>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2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2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2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"https:\\www.szu.edu.cn"</a:t>
            </a:r>
            <a:r>
              <a:rPr lang="en-US" sz="12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Set timeout (important!)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setConnectTimeout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5 seconds</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setReadTimeout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i="1" dirty="0">
                <a:solidFill>
                  <a:srgbClr val="FF0000"/>
                </a:solidFill>
                <a:latin typeface="Courier New" panose="02070309020205020404" pitchFamily="49" charset="0"/>
                <a:ea typeface="Times New Roman" panose="02020603050405020304" pitchFamily="18" charset="0"/>
                <a:cs typeface="Times New Roman" panose="02020603050405020304" pitchFamily="18" charset="0"/>
              </a:rPr>
              <a:t>// Handle response</a:t>
            </a:r>
            <a:endParaRPr lang="en-US" sz="1200"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responseCode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getResponseCode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responseCode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dirty="0" err="1">
                <a:solidFill>
                  <a:srgbClr val="383A42"/>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B76B01"/>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HTTP_OK</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else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i="1" dirty="0">
                <a:solidFill>
                  <a:srgbClr val="FF0000"/>
                </a:solidFill>
                <a:latin typeface="Courier New" panose="02070309020205020404" pitchFamily="49" charset="0"/>
                <a:cs typeface="Times New Roman" panose="02020603050405020304" pitchFamily="18" charset="0"/>
              </a:rPr>
              <a:t>// Handle HTTP error codes (4xx, 5xx)</a:t>
            </a:r>
            <a:endParaRPr lang="en-US" sz="1000" i="1" dirty="0">
              <a:solidFill>
                <a:srgbClr val="FF0000"/>
              </a:solidFill>
              <a:latin typeface="Courier New" panose="02070309020205020404" pitchFamily="49" charset="0"/>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 Error: "</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responseCode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3"/>
          <p:cNvSpPr/>
          <p:nvPr/>
        </p:nvSpPr>
        <p:spPr>
          <a:xfrm>
            <a:off x="5562600" y="1389374"/>
            <a:ext cx="6096000" cy="5332101"/>
          </a:xfrm>
          <a:prstGeom prst="rect">
            <a:avLst/>
          </a:prstGeom>
        </p:spPr>
        <p:txBody>
          <a:bodyPr>
            <a:spAutoFit/>
          </a:bodyPr>
          <a:lstStyle/>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FF0000"/>
                </a:solidFill>
                <a:latin typeface="Courier New" panose="02070309020205020404" pitchFamily="49" charset="0"/>
                <a:ea typeface="Times New Roman" panose="02020603050405020304" pitchFamily="18" charset="0"/>
                <a:cs typeface="Times New Roman" panose="02020603050405020304" pitchFamily="18" charset="0"/>
              </a:rPr>
              <a:t>// Optionally read error stream</a:t>
            </a:r>
            <a:endParaRPr lang="en-US" sz="1200" b="1"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errorReader</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getErrorStream</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errorLine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errorLine</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errorReader</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errorLine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MalformedURLException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"Invalid URL: "</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SocketTimeoutException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"Connection timed out: "</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"I/O Error: "</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Exception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"Unexpected error: "</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finally</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Ensure connection is disconnected</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disconnect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2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3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p>
        </p:txBody>
      </p:sp>
      <p:sp>
        <p:nvSpPr>
          <p:cNvPr id="5" name="Rectangle 4"/>
          <p:cNvSpPr/>
          <p:nvPr/>
        </p:nvSpPr>
        <p:spPr>
          <a:xfrm>
            <a:off x="3886200" y="152400"/>
            <a:ext cx="4519186" cy="369332"/>
          </a:xfrm>
          <a:prstGeom prst="rect">
            <a:avLst/>
          </a:prstGeom>
        </p:spPr>
        <p:txBody>
          <a:bodyPr wrap="none">
            <a:spAutoFit/>
          </a:bodyPr>
          <a:lstStyle/>
          <a:p>
            <a:r>
              <a:rPr lang="en-US" b="1" dirty="0">
                <a:solidFill>
                  <a:srgbClr val="FF0000"/>
                </a:solidFill>
              </a:rPr>
              <a:t>Error Handling in </a:t>
            </a:r>
            <a:r>
              <a:rPr lang="en-US" b="1" dirty="0" err="1">
                <a:solidFill>
                  <a:srgbClr val="FF0000"/>
                </a:solidFill>
              </a:rPr>
              <a:t>URLConnection</a:t>
            </a:r>
            <a:r>
              <a:rPr lang="en-US" b="1" dirty="0">
                <a:solidFill>
                  <a:srgbClr val="FF0000"/>
                </a:solidFill>
              </a:rPr>
              <a:t> Code</a:t>
            </a:r>
            <a:endParaRPr lang="en-US"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5" name="Rectangle 4"/>
          <p:cNvSpPr/>
          <p:nvPr/>
        </p:nvSpPr>
        <p:spPr>
          <a:xfrm>
            <a:off x="228600" y="122646"/>
            <a:ext cx="5638800" cy="5852756"/>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MAX_RETRIES</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3</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private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RETRY_DELAY_MS</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1000</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boolean</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success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false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&lt;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MAX_RETRIES</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&amp;&amp;</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success</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"https://example.com/</a:t>
            </a:r>
            <a:r>
              <a:rPr lang="en-US" sz="1000"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api</a:t>
            </a:r>
            <a:r>
              <a:rPr lang="en-US" sz="10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setConnectTimeout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setReadTimeout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5000</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setRequestMethod</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"GET"</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responseCode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getResponseCode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responseCode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HTTP_OK</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0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success </a:t>
            </a:r>
            <a:r>
              <a:rPr lang="en-US" sz="10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true</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6" name="Rectangle 5"/>
          <p:cNvSpPr/>
          <p:nvPr/>
        </p:nvSpPr>
        <p:spPr>
          <a:xfrm>
            <a:off x="4619007" y="228600"/>
            <a:ext cx="3466590" cy="369332"/>
          </a:xfrm>
          <a:prstGeom prst="rect">
            <a:avLst/>
          </a:prstGeom>
        </p:spPr>
        <p:txBody>
          <a:bodyPr wrap="none">
            <a:spAutoFit/>
          </a:bodyPr>
          <a:lstStyle/>
          <a:p>
            <a:r>
              <a:rPr lang="en-US" b="1" dirty="0">
                <a:solidFill>
                  <a:srgbClr val="FF0000"/>
                </a:solidFill>
                <a:latin typeface="DeepSeek-CJK-patch"/>
              </a:rPr>
              <a:t>Enhanced Version with Retry Logic</a:t>
            </a:r>
            <a:endParaRPr lang="en-US" b="1" i="0" dirty="0">
              <a:solidFill>
                <a:srgbClr val="FF0000"/>
              </a:solidFill>
              <a:effectLst/>
              <a:latin typeface="DeepSeek-CJK-patch"/>
            </a:endParaRPr>
          </a:p>
        </p:txBody>
      </p:sp>
      <p:sp>
        <p:nvSpPr>
          <p:cNvPr id="7" name="Rectangle 6"/>
          <p:cNvSpPr/>
          <p:nvPr/>
        </p:nvSpPr>
        <p:spPr>
          <a:xfrm>
            <a:off x="6096000" y="1219200"/>
            <a:ext cx="6019800" cy="4661148"/>
          </a:xfrm>
          <a:prstGeom prst="rect">
            <a:avLst/>
          </a:prstGeom>
        </p:spPr>
        <p:txBody>
          <a:bodyPr wrap="square">
            <a:spAutoFit/>
          </a:bodyPr>
          <a:lstStyle/>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else</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"Attempt "</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failed with HTTP "</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responseCode</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Thread</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sleep</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RETRY_DELAY_MS</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Exception</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"Attempt "</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failed: "</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retryCount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&lt;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MAX_RETRIES</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Thread</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sleep</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RETRY_DELAY_MS</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InterruptedException</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ie</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Thread</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currentThread</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interrupt</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finally</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disconnect</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success</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00"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"Failed after "</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MAX_RETRIES</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attempts"</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800"/>
              </a:spcAft>
            </a:pPr>
            <a:r>
              <a:rPr lang="en-US" sz="1050" dirty="0">
                <a:solidFill>
                  <a:srgbClr val="080808"/>
                </a:solidFill>
                <a:latin typeface="Calibri" panose="020F0502020204030204" pitchFamily="34" charset="0"/>
                <a:ea typeface="宋体" panose="02010600030101010101" pitchFamily="2" charset="-122"/>
                <a:cs typeface="Times New Roman" panose="02020603050405020304" pitchFamily="18" charset="0"/>
              </a:rPr>
              <a:t> </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1447800" y="307975"/>
            <a:ext cx="8540750" cy="533400"/>
          </a:xfrm>
        </p:spPr>
        <p:txBody>
          <a:bodyPr/>
          <a:lstStyle/>
          <a:p>
            <a:pPr algn="l"/>
            <a:r>
              <a:rPr lang="en-GB" altLang="zh-CN" sz="2800" dirty="0"/>
              <a:t>2. </a:t>
            </a:r>
            <a:r>
              <a:rPr lang="en-GB" altLang="en-US" sz="2800" dirty="0"/>
              <a:t>Read </a:t>
            </a:r>
            <a:r>
              <a:rPr lang="en-US" altLang="en-US" sz="2800" dirty="0"/>
              <a:t>D</a:t>
            </a:r>
            <a:r>
              <a:rPr lang="en-GB" altLang="en-US" sz="2800" dirty="0"/>
              <a:t>ata from the </a:t>
            </a:r>
            <a:r>
              <a:rPr lang="en-US" altLang="en-US" sz="2800" dirty="0"/>
              <a:t>S</a:t>
            </a:r>
            <a:r>
              <a:rPr lang="en-GB" altLang="en-US" sz="2800" dirty="0"/>
              <a:t>erver</a:t>
            </a:r>
            <a:endParaRPr lang="en-GB" altLang="en-US" sz="2800" dirty="0"/>
          </a:p>
        </p:txBody>
      </p:sp>
      <p:sp>
        <p:nvSpPr>
          <p:cNvPr id="12291" name="内容占位符 2"/>
          <p:cNvSpPr>
            <a:spLocks noGrp="1"/>
          </p:cNvSpPr>
          <p:nvPr>
            <p:ph idx="1"/>
          </p:nvPr>
        </p:nvSpPr>
        <p:spPr>
          <a:xfrm>
            <a:off x="457200" y="1066800"/>
            <a:ext cx="11353800" cy="5483225"/>
          </a:xfrm>
        </p:spPr>
        <p:txBody>
          <a:bodyPr/>
          <a:lstStyle/>
          <a:p>
            <a:r>
              <a:rPr lang="en-GB" altLang="en-US" sz="2400" dirty="0">
                <a:latin typeface="Times New Roman" panose="02020603050405020304" pitchFamily="18" charset="0"/>
                <a:cs typeface="Times New Roman" panose="02020603050405020304" pitchFamily="18" charset="0"/>
              </a:rPr>
              <a:t>Use a </a:t>
            </a:r>
            <a:r>
              <a:rPr lang="en-GB" altLang="zh-CN" sz="2400" dirty="0">
                <a:latin typeface="Times New Roman" panose="02020603050405020304" pitchFamily="18" charset="0"/>
                <a:cs typeface="Times New Roman" panose="02020603050405020304" pitchFamily="18" charset="0"/>
              </a:rPr>
              <a:t>URLConnection </a:t>
            </a:r>
            <a:r>
              <a:rPr lang="en-GB" altLang="en-US" sz="2400" dirty="0">
                <a:latin typeface="Times New Roman" panose="02020603050405020304" pitchFamily="18" charset="0"/>
                <a:cs typeface="Times New Roman" panose="02020603050405020304" pitchFamily="18" charset="0"/>
              </a:rPr>
              <a:t>object to get data from a </a:t>
            </a:r>
            <a:r>
              <a:rPr lang="en-GB" altLang="zh-CN" sz="2400" dirty="0">
                <a:latin typeface="Times New Roman" panose="02020603050405020304" pitchFamily="18" charset="0"/>
                <a:cs typeface="Times New Roman" panose="02020603050405020304" pitchFamily="18" charset="0"/>
              </a:rPr>
              <a:t>URL </a:t>
            </a:r>
            <a:r>
              <a:rPr lang="en-GB" altLang="en-US" sz="2400" dirty="0">
                <a:latin typeface="Times New Roman" panose="02020603050405020304" pitchFamily="18" charset="0"/>
                <a:cs typeface="Times New Roman" panose="02020603050405020304" pitchFamily="18" charset="0"/>
              </a:rPr>
              <a:t>. Basic programming steps </a:t>
            </a:r>
            <a:r>
              <a:rPr lang="en-GB" altLang="en-US" sz="24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4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marL="457200" lvl="1" indent="0">
              <a:buNone/>
            </a:pP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1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Construct a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object</a:t>
            </a:r>
            <a:endParaRPr lang="en-US"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marL="457200" lvl="1" indent="0">
              <a:buNone/>
            </a:pP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2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Call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the openConnection() method of this URL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object to obtain the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URLConnection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object </a:t>
            </a:r>
            <a:endParaRPr lang="en-US"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marL="457200" lvl="1" indent="0">
              <a:buNone/>
            </a:pP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3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Call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the getInputStream()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method </a:t>
            </a:r>
            <a:endParaRPr lang="en-US"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pPr marL="457200" lvl="1" indent="0">
              <a:buNone/>
            </a:pP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 </a:t>
            </a:r>
            <a:r>
              <a:rPr lang="en-GB"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4 ) </a:t>
            </a:r>
            <a:r>
              <a:rPr lang="en-GB" altLang="en-US"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rPr>
              <a:t>Read the input stream </a:t>
            </a:r>
            <a:endParaRPr lang="en-US" altLang="zh-CN" sz="2000" b="1" dirty="0">
              <a:solidFill>
                <a:srgbClr val="006699"/>
              </a:solidFill>
              <a:latin typeface="Times New Roman" panose="02020603050405020304" pitchFamily="18" charset="0"/>
              <a:cs typeface="Times New Roman" panose="02020603050405020304" pitchFamily="18" charset="0"/>
              <a:sym typeface="Wingdings" panose="05000000000000000000" pitchFamily="2" charset="2"/>
            </a:endParaRPr>
          </a:p>
          <a:p>
            <a:r>
              <a:rPr lang="en-GB" altLang="zh-CN" sz="2400" dirty="0">
                <a:latin typeface="Times New Roman" panose="02020603050405020304" pitchFamily="18" charset="0"/>
                <a:cs typeface="Times New Roman" panose="02020603050405020304" pitchFamily="18" charset="0"/>
                <a:sym typeface="Wingdings" panose="05000000000000000000" pitchFamily="2" charset="2"/>
              </a:rPr>
              <a:t>The URL connection </a:t>
            </a:r>
            <a:r>
              <a:rPr lang="en-GB" altLang="en-US" sz="2400" dirty="0">
                <a:latin typeface="Times New Roman" panose="02020603050405020304" pitchFamily="18" charset="0"/>
                <a:cs typeface="Times New Roman" panose="02020603050405020304" pitchFamily="18" charset="0"/>
                <a:sym typeface="Wingdings" panose="05000000000000000000" pitchFamily="2" charset="2"/>
              </a:rPr>
              <a:t>'s </a:t>
            </a:r>
            <a:r>
              <a:rPr lang="en-GB" altLang="zh-CN" sz="2400" dirty="0">
                <a:latin typeface="Times New Roman" panose="02020603050405020304" pitchFamily="18" charset="0"/>
                <a:cs typeface="Times New Roman" panose="02020603050405020304" pitchFamily="18" charset="0"/>
                <a:sym typeface="Wingdings" panose="05000000000000000000" pitchFamily="2" charset="2"/>
              </a:rPr>
              <a:t>getInputStream() </a:t>
            </a:r>
            <a:r>
              <a:rPr lang="en-GB" altLang="en-US" sz="2400" dirty="0">
                <a:latin typeface="Times New Roman" panose="02020603050405020304" pitchFamily="18" charset="0"/>
                <a:cs typeface="Times New Roman" panose="02020603050405020304" pitchFamily="18" charset="0"/>
                <a:sym typeface="Wingdings" panose="05000000000000000000" pitchFamily="2" charset="2"/>
              </a:rPr>
              <a:t>method returns a generic </a:t>
            </a:r>
            <a:r>
              <a:rPr lang="en-GB" altLang="zh-CN" sz="2400" dirty="0">
                <a:latin typeface="Times New Roman" panose="02020603050405020304" pitchFamily="18" charset="0"/>
                <a:cs typeface="Times New Roman" panose="02020603050405020304" pitchFamily="18" charset="0"/>
                <a:sym typeface="Wingdings" panose="05000000000000000000" pitchFamily="2" charset="2"/>
              </a:rPr>
              <a:t>Input Stream </a:t>
            </a:r>
            <a:r>
              <a:rPr lang="en-GB" altLang="en-US" sz="2400" dirty="0">
                <a:latin typeface="Times New Roman" panose="02020603050405020304" pitchFamily="18" charset="0"/>
                <a:cs typeface="Times New Roman" panose="02020603050405020304" pitchFamily="18" charset="0"/>
                <a:sym typeface="Wingdings" panose="05000000000000000000" pitchFamily="2" charset="2"/>
              </a:rPr>
              <a:t>that can be used to read and parse the data sent by the server.</a:t>
            </a:r>
            <a:endParaRPr lang="en-US" altLang="zh-CN" sz="2400" dirty="0">
              <a:latin typeface="Times New Roman" panose="02020603050405020304" pitchFamily="18" charset="0"/>
              <a:cs typeface="Times New Roman" panose="02020603050405020304" pitchFamily="18" charset="0"/>
              <a:sym typeface="Wingdings" panose="05000000000000000000" pitchFamily="2" charset="2"/>
            </a:endParaRPr>
          </a:p>
          <a:p>
            <a:endParaRPr lang="en-US" altLang="zh-CN" sz="2200" b="1" dirty="0">
              <a:solidFill>
                <a:srgbClr val="0066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381000" y="381000"/>
            <a:ext cx="11125200" cy="523220"/>
          </a:xfrm>
          <a:prstGeom prst="rect">
            <a:avLst/>
          </a:prstGeom>
        </p:spPr>
        <p:txBody>
          <a:bodyPr wrap="square">
            <a:spAutoFit/>
          </a:bodyPr>
          <a:lstStyle/>
          <a:p>
            <a:pPr algn="ctr"/>
            <a:r>
              <a:rPr lang="en-US" sz="2800" b="1" dirty="0">
                <a:solidFill>
                  <a:srgbClr val="FF0000"/>
                </a:solidFill>
              </a:rPr>
              <a:t>Reading Data from a Server using </a:t>
            </a:r>
            <a:r>
              <a:rPr lang="en-US" sz="2800" b="1" dirty="0" err="1">
                <a:solidFill>
                  <a:srgbClr val="FF0000"/>
                </a:solidFill>
              </a:rPr>
              <a:t>URLConnection</a:t>
            </a:r>
            <a:endParaRPr lang="en-US" sz="2800" b="1" dirty="0">
              <a:solidFill>
                <a:srgbClr val="FF0000"/>
              </a:solidFill>
            </a:endParaRPr>
          </a:p>
        </p:txBody>
      </p:sp>
      <p:sp>
        <p:nvSpPr>
          <p:cNvPr id="4" name="Rectangle 3"/>
          <p:cNvSpPr/>
          <p:nvPr/>
        </p:nvSpPr>
        <p:spPr>
          <a:xfrm>
            <a:off x="381000" y="1295400"/>
            <a:ext cx="6934200" cy="4722703"/>
          </a:xfrm>
          <a:prstGeom prst="rect">
            <a:avLst/>
          </a:prstGeom>
        </p:spPr>
        <p:txBody>
          <a:bodyPr wrap="square">
            <a:spAutoFit/>
          </a:bodyPr>
          <a:lstStyle/>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1. Construct URL</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URL</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"https://example.com/</a:t>
            </a:r>
            <a:r>
              <a:rPr lang="en-US" sz="1400" b="1" dirty="0" err="1">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api</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/data"</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0" marR="0">
              <a:lnSpc>
                <a:spcPts val="2145"/>
              </a:lnSpc>
              <a:spcBef>
                <a:spcPts val="0"/>
              </a:spcBef>
              <a:spcAft>
                <a:spcPts val="5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Validates the URL format (throws </a:t>
            </a:r>
            <a:r>
              <a:rPr lang="en-US" sz="12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MalformedURLException</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if invalid).</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2. Open Connection</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URLConnection</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5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Returns a </a:t>
            </a:r>
            <a:r>
              <a:rPr lang="en-US" sz="12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URLConnection</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(parent class of </a:t>
            </a:r>
            <a:r>
              <a:rPr lang="en-US" sz="1200" b="1"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5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For HTTPS, Java automatically handles SSL.</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a:lnSpc>
                <a:spcPct val="107000"/>
              </a:lnSpc>
              <a:spcBef>
                <a:spcPts val="0"/>
              </a:spcBef>
              <a:spcAft>
                <a:spcPts val="5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3. Get Input Stream</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5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Opens a stream to read server response.</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5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Throws </a:t>
            </a:r>
            <a:r>
              <a:rPr lang="en-US" sz="1600" b="1" dirty="0" err="1">
                <a:solidFill>
                  <a:srgbClr val="404040"/>
                </a:solidFill>
                <a:latin typeface="Segoe UI" panose="020B0502040204020203" pitchFamily="34" charset="0"/>
                <a:ea typeface="Times New Roman" panose="02020603050405020304" pitchFamily="18" charset="0"/>
                <a:cs typeface="Times New Roman" panose="02020603050405020304" pitchFamily="18" charset="0"/>
              </a:rPr>
              <a:t>IOException</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if connection fails (e.g., 404).</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300"/>
              </a:spcAft>
              <a:tabLst>
                <a:tab pos="457200" algn="l"/>
              </a:tabLs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4. Read Data</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404040"/>
                </a:solidFill>
                <a:latin typeface="Calibri" panose="020F0502020204030204" pitchFamily="34" charset="0"/>
                <a:ea typeface="宋体" panose="02010600030101010101" pitchFamily="2" charset="-122"/>
                <a:cs typeface="Times New Roman" panose="02020603050405020304" pitchFamily="18" charset="0"/>
              </a:rPr>
              <a:t>           </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Uses </a:t>
            </a:r>
            <a:r>
              <a:rPr lang="en-US" sz="1600" b="1" dirty="0" err="1">
                <a:solidFill>
                  <a:srgbClr val="404040"/>
                </a:solidFill>
                <a:latin typeface="Segoe UI" panose="020B0502040204020203" pitchFamily="34" charset="0"/>
                <a:ea typeface="Times New Roman" panose="02020603050405020304" pitchFamily="18" charset="0"/>
                <a:cs typeface="Times New Roman" panose="02020603050405020304" pitchFamily="18" charset="0"/>
              </a:rPr>
              <a:t>BufferedReader</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 for efficient line-by-line reading.</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5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04040"/>
                </a:solidFill>
                <a:latin typeface="Calibri" panose="020F0502020204030204" pitchFamily="34" charset="0"/>
                <a:ea typeface="宋体" panose="02010600030101010101" pitchFamily="2" charset="-122"/>
                <a:cs typeface="Times New Roman" panose="02020603050405020304" pitchFamily="18" charset="0"/>
              </a:rPr>
              <a:t>              </a:t>
            </a: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StringBuilder accumulates the full response.</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2286000" y="334406"/>
            <a:ext cx="7848600" cy="6387069"/>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UrlDataReader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1. Construct a URL object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"https://www.szu.edu.cn"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2. Open connection</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URLConnection</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3. Get input stream</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4. Read data</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StringBuilder</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response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StringBuilder</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append</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close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"Server Response:\n"</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response</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toString</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MalformedURLException</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"Invalid URL: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"Connection Error: "</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05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5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5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0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76200" y="76200"/>
            <a:ext cx="6934200" cy="5005345"/>
          </a:xfrm>
          <a:prstGeom prst="rect">
            <a:avLst/>
          </a:prstGeom>
        </p:spPr>
        <p:txBody>
          <a:bodyPr wrap="square">
            <a:spAutoFit/>
          </a:bodyPr>
          <a:lstStyle/>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EnhancedUrlDataReader</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1. URL</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"https://jsonplaceholder.typicode.com/posts/1"</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2. Open connection (cast to </a:t>
            </a:r>
            <a:r>
              <a:rPr lang="en-US" sz="10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for HTTP-specific features)</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connection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setRequestMethod</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"GET"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setRequestProperty</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"Accept"</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"application/json"</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3. Check response code</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status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getResponseCode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status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HttpURLConnection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HTTP_OK</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4. Read successful response</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0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10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10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3"/>
          <p:cNvSpPr/>
          <p:nvPr/>
        </p:nvSpPr>
        <p:spPr>
          <a:xfrm>
            <a:off x="6172200" y="2554553"/>
            <a:ext cx="5791200" cy="4227247"/>
          </a:xfrm>
          <a:prstGeom prst="rect">
            <a:avLst/>
          </a:prstGeom>
        </p:spPr>
        <p:txBody>
          <a:bodyPr wrap="square">
            <a:spAutoFit/>
          </a:bodyPr>
          <a:lstStyle/>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else</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Read error stream if request failed</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BufferedReader</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connection</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getErrorStream</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"Error "</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status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line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reader</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readLine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line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Exception</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9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printStackTrace</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2000" b="1" dirty="0"/>
          </a:p>
        </p:txBody>
      </p:sp>
      <p:sp>
        <p:nvSpPr>
          <p:cNvPr id="5" name="Rectangle 4"/>
          <p:cNvSpPr/>
          <p:nvPr/>
        </p:nvSpPr>
        <p:spPr>
          <a:xfrm>
            <a:off x="4191000" y="339885"/>
            <a:ext cx="5786777" cy="369332"/>
          </a:xfrm>
          <a:prstGeom prst="rect">
            <a:avLst/>
          </a:prstGeom>
        </p:spPr>
        <p:txBody>
          <a:bodyPr wrap="none">
            <a:spAutoFit/>
          </a:bodyPr>
          <a:lstStyle/>
          <a:p>
            <a:r>
              <a:rPr lang="en-US" b="1" dirty="0">
                <a:solidFill>
                  <a:srgbClr val="FF0000"/>
                </a:solidFill>
              </a:rPr>
              <a:t>Enhanced Version (With Headers &amp; Error Handling)</a:t>
            </a:r>
            <a:endParaRPr lang="en-US" b="1"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600200" y="609600"/>
            <a:ext cx="8540750" cy="685800"/>
          </a:xfrm>
        </p:spPr>
        <p:txBody>
          <a:bodyPr/>
          <a:lstStyle/>
          <a:p>
            <a:pPr algn="l"/>
            <a:r>
              <a:rPr lang="en-GB" altLang="en-US" sz="3200" dirty="0"/>
              <a:t>Difference between </a:t>
            </a:r>
            <a:r>
              <a:rPr lang="en-GB" altLang="zh-CN" sz="3200" dirty="0"/>
              <a:t>URL </a:t>
            </a:r>
            <a:r>
              <a:rPr lang="en-GB" altLang="en-US" sz="3200" dirty="0"/>
              <a:t>and </a:t>
            </a:r>
            <a:r>
              <a:rPr lang="en-GB" altLang="zh-CN" sz="3200" dirty="0"/>
              <a:t>URLConnection</a:t>
            </a:r>
            <a:endParaRPr lang="en-GB" altLang="zh-CN" sz="3200" dirty="0"/>
          </a:p>
        </p:txBody>
      </p:sp>
      <p:sp>
        <p:nvSpPr>
          <p:cNvPr id="22531" name="内容占位符 2"/>
          <p:cNvSpPr>
            <a:spLocks noGrp="1"/>
          </p:cNvSpPr>
          <p:nvPr>
            <p:ph idx="1"/>
          </p:nvPr>
        </p:nvSpPr>
        <p:spPr>
          <a:xfrm>
            <a:off x="762000" y="1905001"/>
            <a:ext cx="9982200" cy="3124199"/>
          </a:xfrm>
        </p:spPr>
        <p:txBody>
          <a:bodyPr/>
          <a:lstStyle/>
          <a:p>
            <a:r>
              <a:rPr lang="en-GB" altLang="zh-CN" sz="2800" dirty="0"/>
              <a:t>URLConnection </a:t>
            </a:r>
            <a:r>
              <a:rPr lang="en-GB" altLang="en-US" sz="2800" dirty="0"/>
              <a:t>provides access to </a:t>
            </a:r>
            <a:r>
              <a:rPr lang="en-GB" altLang="zh-CN" sz="2800" dirty="0"/>
              <a:t>HTTP </a:t>
            </a:r>
            <a:r>
              <a:rPr lang="en-GB" altLang="en-US" sz="2800" dirty="0"/>
              <a:t>header information</a:t>
            </a:r>
            <a:endParaRPr lang="en-US" altLang="zh-CN" sz="2800" dirty="0"/>
          </a:p>
          <a:p>
            <a:r>
              <a:rPr lang="en-GB" altLang="zh-CN" sz="2800" dirty="0"/>
              <a:t>URLConnection </a:t>
            </a:r>
            <a:r>
              <a:rPr lang="en-GB" altLang="en-US" sz="2800" dirty="0"/>
              <a:t>can configure the request parameters sent to the server</a:t>
            </a:r>
            <a:endParaRPr lang="en-US" altLang="zh-CN" sz="2800" dirty="0"/>
          </a:p>
          <a:p>
            <a:r>
              <a:rPr lang="en-GB" altLang="en-US" sz="2800" dirty="0"/>
              <a:t>In addition to reading server data, </a:t>
            </a:r>
            <a:r>
              <a:rPr lang="en-GB" altLang="zh-CN" sz="2800" dirty="0"/>
              <a:t>URLConnection can also write </a:t>
            </a:r>
            <a:r>
              <a:rPr lang="en-GB" altLang="en-US" sz="2800" dirty="0">
                <a:solidFill>
                  <a:srgbClr val="FF0000"/>
                </a:solidFill>
              </a:rPr>
              <a:t>data to the server.</a:t>
            </a:r>
            <a:endParaRPr lang="en-GB" altLang="en-US" sz="2800"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066800" y="662781"/>
            <a:ext cx="8540750" cy="496888"/>
          </a:xfrm>
        </p:spPr>
        <p:txBody>
          <a:bodyPr/>
          <a:lstStyle/>
          <a:p>
            <a:r>
              <a:rPr lang="en-GB" altLang="en-US" sz="3200" b="1" dirty="0"/>
              <a:t>Read</a:t>
            </a:r>
            <a:r>
              <a:rPr lang="en-US" altLang="en-US" sz="3200" b="1" dirty="0"/>
              <a:t>ing</a:t>
            </a:r>
            <a:r>
              <a:rPr lang="en-GB" altLang="en-US" sz="3200" b="1" dirty="0"/>
              <a:t> </a:t>
            </a:r>
            <a:r>
              <a:rPr lang="en-GB" altLang="zh-CN" sz="3200" b="1" dirty="0"/>
              <a:t>HTTP H</a:t>
            </a:r>
            <a:r>
              <a:rPr lang="en-GB" altLang="en-US" sz="3200" b="1" dirty="0"/>
              <a:t>eader</a:t>
            </a:r>
            <a:endParaRPr lang="en-GB" altLang="en-US" sz="3200" b="1" dirty="0"/>
          </a:p>
        </p:txBody>
      </p:sp>
      <p:sp>
        <p:nvSpPr>
          <p:cNvPr id="3" name="内容占位符 2"/>
          <p:cNvSpPr>
            <a:spLocks noGrp="1"/>
          </p:cNvSpPr>
          <p:nvPr>
            <p:ph idx="1"/>
          </p:nvPr>
        </p:nvSpPr>
        <p:spPr>
          <a:xfrm>
            <a:off x="911224" y="1371600"/>
            <a:ext cx="10061575" cy="4498975"/>
          </a:xfrm>
        </p:spPr>
        <p:txBody>
          <a:bodyPr/>
          <a:lstStyle/>
          <a:p>
            <a:r>
              <a:rPr lang="en-GB" altLang="en-US" sz="2800" dirty="0"/>
              <a:t>The common fields in the header of response are: </a:t>
            </a:r>
            <a:endParaRPr lang="en-US" altLang="zh-CN" sz="2800" dirty="0"/>
          </a:p>
          <a:p>
            <a:pPr lvl="1">
              <a:buFont typeface="Wingdings" panose="05000000000000000000" pitchFamily="2" charset="2"/>
              <a:buChar char="p"/>
            </a:pPr>
            <a:r>
              <a:rPr lang="en-GB" altLang="zh-CN" sz="2400" dirty="0"/>
              <a:t>Content-type</a:t>
            </a:r>
            <a:endParaRPr lang="en-GB" altLang="zh-CN" sz="2400" dirty="0"/>
          </a:p>
          <a:p>
            <a:pPr lvl="1">
              <a:buFont typeface="Wingdings" panose="05000000000000000000" pitchFamily="2" charset="2"/>
              <a:buChar char="p"/>
            </a:pPr>
            <a:r>
              <a:rPr lang="en-GB" altLang="zh-CN" sz="2400" dirty="0"/>
              <a:t>Content-length</a:t>
            </a:r>
            <a:endParaRPr lang="en-GB" altLang="zh-CN" sz="2400" dirty="0"/>
          </a:p>
          <a:p>
            <a:pPr lvl="1">
              <a:buFont typeface="Wingdings" panose="05000000000000000000" pitchFamily="2" charset="2"/>
              <a:buChar char="p"/>
            </a:pPr>
            <a:r>
              <a:rPr lang="en-GB" altLang="zh-CN" sz="2400" dirty="0"/>
              <a:t>Content-encoding</a:t>
            </a:r>
            <a:endParaRPr lang="en-GB" altLang="zh-CN" sz="2400" dirty="0"/>
          </a:p>
          <a:p>
            <a:pPr lvl="1">
              <a:buFont typeface="Wingdings" panose="05000000000000000000" pitchFamily="2" charset="2"/>
              <a:buChar char="p"/>
            </a:pPr>
            <a:r>
              <a:rPr lang="en-GB" altLang="zh-CN" sz="2400" dirty="0"/>
              <a:t>Date</a:t>
            </a:r>
            <a:endParaRPr lang="en-GB" altLang="zh-CN" sz="2400" dirty="0"/>
          </a:p>
          <a:p>
            <a:pPr lvl="1">
              <a:buFont typeface="Wingdings" panose="05000000000000000000" pitchFamily="2" charset="2"/>
              <a:buChar char="p"/>
            </a:pPr>
            <a:r>
              <a:rPr lang="en-GB" altLang="zh-CN" sz="2400" dirty="0"/>
              <a:t>Last-modified</a:t>
            </a:r>
            <a:endParaRPr lang="en-GB" altLang="zh-CN" sz="2400" dirty="0"/>
          </a:p>
          <a:p>
            <a:pPr lvl="1">
              <a:buFont typeface="Wingdings" panose="05000000000000000000" pitchFamily="2" charset="2"/>
              <a:buChar char="p"/>
            </a:pPr>
            <a:r>
              <a:rPr lang="en-GB" altLang="zh-CN" sz="2400" dirty="0"/>
              <a:t>Expires</a:t>
            </a:r>
            <a:endParaRPr lang="en-US" altLang="zh-CN" dirty="0"/>
          </a:p>
        </p:txBody>
      </p:sp>
      <p:sp>
        <p:nvSpPr>
          <p:cNvPr id="23556" name="矩形 3"/>
          <p:cNvSpPr>
            <a:spLocks noChangeArrowheads="1"/>
          </p:cNvSpPr>
          <p:nvPr/>
        </p:nvSpPr>
        <p:spPr bwMode="auto">
          <a:xfrm>
            <a:off x="5638799" y="2624137"/>
            <a:ext cx="5334000" cy="28622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b="1" dirty="0">
                <a:solidFill>
                  <a:srgbClr val="FF0000"/>
                </a:solidFill>
                <a:latin typeface="Times New Roman" panose="02020603050405020304" pitchFamily="18" charset="0"/>
                <a:cs typeface="Times New Roman" panose="02020603050405020304" pitchFamily="18" charset="0"/>
              </a:rPr>
              <a:t>HTTP headers </a:t>
            </a:r>
            <a:r>
              <a:rPr lang="en-GB" altLang="en-US" sz="1800" b="1" dirty="0">
                <a:solidFill>
                  <a:srgbClr val="FF0000"/>
                </a:solidFill>
                <a:latin typeface="Times New Roman" panose="02020603050405020304" pitchFamily="18" charset="0"/>
                <a:cs typeface="Times New Roman" panose="02020603050405020304" pitchFamily="18" charset="0"/>
              </a:rPr>
              <a:t>in a response from an </a:t>
            </a:r>
            <a:r>
              <a:rPr lang="en-GB" altLang="zh-CN" sz="1800" b="1" dirty="0">
                <a:solidFill>
                  <a:srgbClr val="FF0000"/>
                </a:solidFill>
                <a:latin typeface="Times New Roman" panose="02020603050405020304" pitchFamily="18" charset="0"/>
                <a:cs typeface="Times New Roman" panose="02020603050405020304" pitchFamily="18" charset="0"/>
              </a:rPr>
              <a:t>Appache web server </a:t>
            </a:r>
            <a:r>
              <a:rPr lang="en-GB" altLang="en-US" sz="1800" b="1" dirty="0">
                <a:solidFill>
                  <a:srgbClr val="FF0000"/>
                </a:solidFill>
                <a:latin typeface="Times New Roman" panose="02020603050405020304" pitchFamily="18" charset="0"/>
                <a:cs typeface="Times New Roman" panose="02020603050405020304" pitchFamily="18" charset="0"/>
              </a:rPr>
              <a:t>:</a:t>
            </a:r>
            <a:endParaRPr lang="en-US" altLang="zh-CN" sz="18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18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HTTP/1.1 301 Moved Permanently</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Date: Sun, 21 Apr 2013 15:12:46 GMT</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Server: Apache</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Location: http://www.ibiblio.org/</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Content-Length: 296</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Connection: close</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Content-type: text/html; charset = iso-8859-1</a:t>
            </a:r>
            <a:endParaRPr lang="en-GB" altLang="zh-CN" sz="1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401637" y="120700"/>
            <a:ext cx="9759950" cy="609600"/>
          </a:xfrm>
        </p:spPr>
        <p:txBody>
          <a:bodyPr/>
          <a:lstStyle/>
          <a:p>
            <a:pPr algn="l"/>
            <a:r>
              <a:rPr lang="en-GB" altLang="en-US" sz="3200" b="1" dirty="0"/>
              <a:t>Methods for obtaining </a:t>
            </a:r>
            <a:r>
              <a:rPr lang="en-US" altLang="en-US" sz="3200" b="1" dirty="0"/>
              <a:t>H</a:t>
            </a:r>
            <a:r>
              <a:rPr lang="en-GB" altLang="en-US" sz="3200" b="1" dirty="0"/>
              <a:t>eader </a:t>
            </a:r>
            <a:r>
              <a:rPr lang="en-US" altLang="en-US" sz="3200" b="1" dirty="0"/>
              <a:t>F</a:t>
            </a:r>
            <a:r>
              <a:rPr lang="en-GB" altLang="en-US" sz="3200" b="1" dirty="0"/>
              <a:t>ield Information </a:t>
            </a:r>
            <a:endParaRPr lang="en-GB" altLang="en-US" sz="3200" b="1" dirty="0"/>
          </a:p>
        </p:txBody>
      </p:sp>
      <p:sp>
        <p:nvSpPr>
          <p:cNvPr id="5" name="Rectangle 4"/>
          <p:cNvSpPr/>
          <p:nvPr/>
        </p:nvSpPr>
        <p:spPr>
          <a:xfrm>
            <a:off x="160866" y="612066"/>
            <a:ext cx="3689856" cy="369332"/>
          </a:xfrm>
          <a:prstGeom prst="rect">
            <a:avLst/>
          </a:prstGeom>
        </p:spPr>
        <p:txBody>
          <a:bodyPr wrap="none">
            <a:spAutoFit/>
          </a:bodyPr>
          <a:lstStyle/>
          <a:p>
            <a:r>
              <a:rPr lang="en-US" b="1" dirty="0">
                <a:solidFill>
                  <a:srgbClr val="FF0000"/>
                </a:solidFill>
              </a:rPr>
              <a:t>1. Core Header Access Methods</a:t>
            </a:r>
            <a:endParaRPr lang="en-US" b="1" dirty="0">
              <a:solidFill>
                <a:srgbClr val="FF0000"/>
              </a:solidFill>
            </a:endParaRPr>
          </a:p>
        </p:txBody>
      </p:sp>
      <p:graphicFrame>
        <p:nvGraphicFramePr>
          <p:cNvPr id="6" name="Table 5"/>
          <p:cNvGraphicFramePr>
            <a:graphicFrameLocks noGrp="1"/>
          </p:cNvGraphicFramePr>
          <p:nvPr/>
        </p:nvGraphicFramePr>
        <p:xfrm>
          <a:off x="228600" y="1002551"/>
          <a:ext cx="11388726" cy="2245233"/>
        </p:xfrm>
        <a:graphic>
          <a:graphicData uri="http://schemas.openxmlformats.org/drawingml/2006/table">
            <a:tbl>
              <a:tblPr firstRow="1" firstCol="1" bandRow="1"/>
              <a:tblGrid>
                <a:gridCol w="2783911"/>
                <a:gridCol w="2362106"/>
                <a:gridCol w="6242709"/>
              </a:tblGrid>
              <a:tr h="0">
                <a:tc>
                  <a:txBody>
                    <a:bodyPr/>
                    <a:lstStyle/>
                    <a:p>
                      <a:pPr marL="0" marR="0" algn="ctr">
                        <a:lnSpc>
                          <a:spcPct val="107000"/>
                        </a:lnSpc>
                        <a:spcBef>
                          <a:spcPts val="0"/>
                        </a:spcBef>
                        <a:spcAft>
                          <a:spcPts val="800"/>
                        </a:spcAft>
                      </a:pPr>
                      <a:r>
                        <a:rPr lang="en-US" sz="1600" b="1" dirty="0">
                          <a:effectLst/>
                          <a:latin typeface="Calibri" panose="020F0502020204030204" pitchFamily="34" charset="0"/>
                          <a:ea typeface="宋体" panose="02010600030101010101" pitchFamily="2" charset="-122"/>
                          <a:cs typeface="Times New Roman" panose="02020603050405020304" pitchFamily="18" charset="0"/>
                        </a:rPr>
                        <a:t>Method</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600" b="1">
                          <a:effectLst/>
                          <a:latin typeface="Calibri" panose="020F0502020204030204" pitchFamily="34" charset="0"/>
                          <a:ea typeface="宋体" panose="02010600030101010101" pitchFamily="2" charset="-122"/>
                          <a:cs typeface="Times New Roman" panose="02020603050405020304" pitchFamily="18" charset="0"/>
                        </a:rPr>
                        <a:t>Returns</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600" b="1" dirty="0">
                          <a:effectLst/>
                          <a:latin typeface="Calibri" panose="020F0502020204030204" pitchFamily="34" charset="0"/>
                          <a:ea typeface="宋体" panose="02010600030101010101" pitchFamily="2" charset="-122"/>
                          <a:cs typeface="Times New Roman" panose="02020603050405020304" pitchFamily="18" charset="0"/>
                        </a:rPr>
                        <a:t>Description</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8790">
                <a:tc>
                  <a:txBody>
                    <a:bodyPr/>
                    <a:lstStyle/>
                    <a:p>
                      <a:pPr marL="0" marR="0">
                        <a:lnSpc>
                          <a:spcPct val="107000"/>
                        </a:lnSpc>
                        <a:spcBef>
                          <a:spcPts val="0"/>
                        </a:spcBef>
                        <a:spcAft>
                          <a:spcPts val="800"/>
                        </a:spcAft>
                      </a:pPr>
                      <a:r>
                        <a:rPr lang="en-US" sz="1600" b="1" dirty="0" err="1">
                          <a:effectLst/>
                          <a:latin typeface="Calibri" panose="020F0502020204030204" pitchFamily="34" charset="0"/>
                          <a:ea typeface="宋体" panose="02010600030101010101" pitchFamily="2" charset="-122"/>
                          <a:cs typeface="Times New Roman" panose="02020603050405020304" pitchFamily="18" charset="0"/>
                        </a:rPr>
                        <a:t>getHeaderField</a:t>
                      </a:r>
                      <a:r>
                        <a:rPr lang="en-US" sz="1600" b="1" dirty="0">
                          <a:effectLst/>
                          <a:latin typeface="Calibri" panose="020F0502020204030204" pitchFamily="34" charset="0"/>
                          <a:ea typeface="宋体" panose="02010600030101010101" pitchFamily="2" charset="-122"/>
                          <a:cs typeface="Times New Roman" panose="02020603050405020304" pitchFamily="18" charset="0"/>
                        </a:rPr>
                        <a:t>(String name)</a:t>
                      </a:r>
                      <a:endParaRPr lang="en-US" sz="1200" b="1"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dirty="0">
                          <a:effectLst/>
                          <a:latin typeface="Calibri" panose="020F0502020204030204" pitchFamily="34" charset="0"/>
                          <a:ea typeface="宋体" panose="02010600030101010101" pitchFamily="2" charset="-122"/>
                          <a:cs typeface="Times New Roman" panose="02020603050405020304" pitchFamily="18" charset="0"/>
                        </a:rPr>
                        <a:t>String</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Gets the value of a specific header field (case-insensitive). Returns null if missing.</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dirty="0" err="1">
                          <a:effectLst/>
                          <a:latin typeface="Calibri" panose="020F0502020204030204" pitchFamily="34" charset="0"/>
                          <a:ea typeface="宋体" panose="02010600030101010101" pitchFamily="2" charset="-122"/>
                          <a:cs typeface="Times New Roman" panose="02020603050405020304" pitchFamily="18" charset="0"/>
                        </a:rPr>
                        <a:t>getHeaderFields</a:t>
                      </a:r>
                      <a:r>
                        <a:rPr lang="en-US" sz="1600" b="1" dirty="0">
                          <a:effectLst/>
                          <a:latin typeface="Calibri" panose="020F0502020204030204" pitchFamily="34" charset="0"/>
                          <a:ea typeface="宋体" panose="02010600030101010101" pitchFamily="2" charset="-122"/>
                          <a:cs typeface="Times New Roman" panose="02020603050405020304" pitchFamily="18" charset="0"/>
                        </a:rPr>
                        <a:t>()</a:t>
                      </a:r>
                      <a:endParaRPr lang="en-US" sz="1200" b="1"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Map&lt;String, List&lt;String&gt;&gt;</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Returns all headers as a map where each key maps to a list of values.</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47040">
                <a:tc>
                  <a:txBody>
                    <a:bodyPr/>
                    <a:lstStyle/>
                    <a:p>
                      <a:pPr marL="0" marR="0">
                        <a:lnSpc>
                          <a:spcPct val="107000"/>
                        </a:lnSpc>
                        <a:spcBef>
                          <a:spcPts val="0"/>
                        </a:spcBef>
                        <a:spcAft>
                          <a:spcPts val="800"/>
                        </a:spcAft>
                      </a:pPr>
                      <a:r>
                        <a:rPr lang="en-US" sz="1600" b="1" dirty="0" err="1">
                          <a:effectLst/>
                          <a:latin typeface="Calibri" panose="020F0502020204030204" pitchFamily="34" charset="0"/>
                          <a:ea typeface="宋体" panose="02010600030101010101" pitchFamily="2" charset="-122"/>
                          <a:cs typeface="Times New Roman" panose="02020603050405020304" pitchFamily="18" charset="0"/>
                        </a:rPr>
                        <a:t>getHeaderFieldKey</a:t>
                      </a:r>
                      <a:r>
                        <a:rPr lang="en-US" sz="1600" b="1" dirty="0">
                          <a:effectLst/>
                          <a:latin typeface="Calibri" panose="020F0502020204030204" pitchFamily="34" charset="0"/>
                          <a:ea typeface="宋体" panose="02010600030101010101" pitchFamily="2" charset="-122"/>
                          <a:cs typeface="Times New Roman" panose="02020603050405020304" pitchFamily="18" charset="0"/>
                        </a:rPr>
                        <a:t>(int n)</a:t>
                      </a:r>
                      <a:endParaRPr lang="en-US" sz="1200" b="1"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String</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Gets the name of the nth header field (0-based). Rarely used.</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24180">
                <a:tc>
                  <a:txBody>
                    <a:bodyPr/>
                    <a:lstStyle/>
                    <a:p>
                      <a:pPr marL="0" marR="0">
                        <a:lnSpc>
                          <a:spcPct val="107000"/>
                        </a:lnSpc>
                        <a:spcBef>
                          <a:spcPts val="0"/>
                        </a:spcBef>
                        <a:spcAft>
                          <a:spcPts val="800"/>
                        </a:spcAft>
                      </a:pPr>
                      <a:r>
                        <a:rPr lang="en-US" sz="1600" b="1" dirty="0" err="1">
                          <a:effectLst/>
                          <a:latin typeface="Calibri" panose="020F0502020204030204" pitchFamily="34" charset="0"/>
                          <a:ea typeface="宋体" panose="02010600030101010101" pitchFamily="2" charset="-122"/>
                          <a:cs typeface="Times New Roman" panose="02020603050405020304" pitchFamily="18" charset="0"/>
                        </a:rPr>
                        <a:t>getHeaderField</a:t>
                      </a:r>
                      <a:r>
                        <a:rPr lang="en-US" sz="1600" b="1" dirty="0">
                          <a:effectLst/>
                          <a:latin typeface="Calibri" panose="020F0502020204030204" pitchFamily="34" charset="0"/>
                          <a:ea typeface="宋体" panose="02010600030101010101" pitchFamily="2" charset="-122"/>
                          <a:cs typeface="Times New Roman" panose="02020603050405020304" pitchFamily="18" charset="0"/>
                        </a:rPr>
                        <a:t>(int n)</a:t>
                      </a:r>
                      <a:endParaRPr lang="en-US" sz="1200" b="1"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dirty="0">
                          <a:effectLst/>
                          <a:latin typeface="Calibri" panose="020F0502020204030204" pitchFamily="34" charset="0"/>
                          <a:ea typeface="宋体" panose="02010600030101010101" pitchFamily="2" charset="-122"/>
                          <a:cs typeface="Times New Roman" panose="02020603050405020304" pitchFamily="18" charset="0"/>
                        </a:rPr>
                        <a:t>String</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dirty="0">
                          <a:effectLst/>
                          <a:latin typeface="Calibri" panose="020F0502020204030204" pitchFamily="34" charset="0"/>
                          <a:ea typeface="宋体" panose="02010600030101010101" pitchFamily="2" charset="-122"/>
                          <a:cs typeface="Times New Roman" panose="02020603050405020304" pitchFamily="18" charset="0"/>
                        </a:rPr>
                        <a:t>Gets the value of the nth header field. Rarely used.</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
        <p:nvSpPr>
          <p:cNvPr id="7" name="Rectangle 6"/>
          <p:cNvSpPr/>
          <p:nvPr/>
        </p:nvSpPr>
        <p:spPr>
          <a:xfrm>
            <a:off x="194733" y="3278169"/>
            <a:ext cx="5301451" cy="369332"/>
          </a:xfrm>
          <a:prstGeom prst="rect">
            <a:avLst/>
          </a:prstGeom>
        </p:spPr>
        <p:txBody>
          <a:bodyPr wrap="none">
            <a:spAutoFit/>
          </a:bodyPr>
          <a:lstStyle/>
          <a:p>
            <a:r>
              <a:rPr lang="en-US" b="1" dirty="0">
                <a:solidFill>
                  <a:srgbClr val="FF0000"/>
                </a:solidFill>
              </a:rPr>
              <a:t>2. Convenience Methods for Common Headers</a:t>
            </a:r>
            <a:endParaRPr lang="en-US" b="1" dirty="0">
              <a:solidFill>
                <a:srgbClr val="FF0000"/>
              </a:solidFill>
            </a:endParaRPr>
          </a:p>
        </p:txBody>
      </p:sp>
      <p:graphicFrame>
        <p:nvGraphicFramePr>
          <p:cNvPr id="8" name="Table 7"/>
          <p:cNvGraphicFramePr>
            <a:graphicFrameLocks noGrp="1"/>
          </p:cNvGraphicFramePr>
          <p:nvPr/>
        </p:nvGraphicFramePr>
        <p:xfrm>
          <a:off x="304800" y="3689808"/>
          <a:ext cx="11388725" cy="3047492"/>
        </p:xfrm>
        <a:graphic>
          <a:graphicData uri="http://schemas.openxmlformats.org/drawingml/2006/table">
            <a:tbl>
              <a:tblPr firstRow="1" firstCol="1" bandRow="1"/>
              <a:tblGrid>
                <a:gridCol w="2487193"/>
                <a:gridCol w="4450766"/>
                <a:gridCol w="4450766"/>
              </a:tblGrid>
              <a:tr h="0">
                <a:tc>
                  <a:txBody>
                    <a:bodyPr/>
                    <a:lstStyle/>
                    <a:p>
                      <a:pPr marL="0" marR="0" algn="ctr">
                        <a:lnSpc>
                          <a:spcPct val="107000"/>
                        </a:lnSpc>
                        <a:spcBef>
                          <a:spcPts val="0"/>
                        </a:spcBef>
                        <a:spcAft>
                          <a:spcPts val="800"/>
                        </a:spcAft>
                      </a:pPr>
                      <a:r>
                        <a:rPr lang="en-US" sz="1400" b="1">
                          <a:effectLst/>
                          <a:latin typeface="Calibri" panose="020F0502020204030204" pitchFamily="34" charset="0"/>
                          <a:ea typeface="宋体" panose="02010600030101010101" pitchFamily="2" charset="-122"/>
                          <a:cs typeface="Times New Roman" panose="02020603050405020304" pitchFamily="18" charset="0"/>
                        </a:rPr>
                        <a:t>Method</a:t>
                      </a:r>
                      <a:endParaRPr lang="en-US" sz="140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400" b="1">
                          <a:effectLst/>
                          <a:latin typeface="Calibri" panose="020F0502020204030204" pitchFamily="34" charset="0"/>
                          <a:ea typeface="宋体" panose="02010600030101010101" pitchFamily="2" charset="-122"/>
                          <a:cs typeface="Times New Roman" panose="02020603050405020304" pitchFamily="18" charset="0"/>
                        </a:rPr>
                        <a:t>Typical Example Value</a:t>
                      </a:r>
                      <a:endParaRPr lang="en-US" sz="14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400" b="1" dirty="0">
                          <a:effectLst/>
                          <a:latin typeface="Calibri" panose="020F0502020204030204" pitchFamily="34" charset="0"/>
                          <a:ea typeface="宋体" panose="02010600030101010101" pitchFamily="2" charset="-122"/>
                          <a:cs typeface="Times New Roman" panose="02020603050405020304" pitchFamily="18" charset="0"/>
                        </a:rPr>
                        <a:t>Notes</a:t>
                      </a:r>
                      <a:endParaRPr lang="en-US" sz="1400" dirty="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a:effectLst/>
                          <a:latin typeface="Calibri" panose="020F0502020204030204" pitchFamily="34" charset="0"/>
                          <a:ea typeface="宋体" panose="02010600030101010101" pitchFamily="2" charset="-122"/>
                          <a:cs typeface="Times New Roman" panose="02020603050405020304" pitchFamily="18" charset="0"/>
                        </a:rPr>
                        <a:t>getContentType()</a:t>
                      </a:r>
                      <a:endParaRPr lang="en-US" sz="1200" b="1">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"text/html; charset=UTF-8"</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Combines MIME type + charset</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dirty="0" err="1">
                          <a:effectLst/>
                          <a:latin typeface="Calibri" panose="020F0502020204030204" pitchFamily="34" charset="0"/>
                          <a:ea typeface="宋体" panose="02010600030101010101" pitchFamily="2" charset="-122"/>
                          <a:cs typeface="Times New Roman" panose="02020603050405020304" pitchFamily="18" charset="0"/>
                        </a:rPr>
                        <a:t>getContentLength</a:t>
                      </a:r>
                      <a:r>
                        <a:rPr lang="en-US" sz="1600" b="1" dirty="0">
                          <a:effectLst/>
                          <a:latin typeface="Calibri" panose="020F0502020204030204" pitchFamily="34" charset="0"/>
                          <a:ea typeface="宋体" panose="02010600030101010101" pitchFamily="2" charset="-122"/>
                          <a:cs typeface="Times New Roman" panose="02020603050405020304" pitchFamily="18" charset="0"/>
                        </a:rPr>
                        <a:t>()</a:t>
                      </a:r>
                      <a:endParaRPr lang="en-US" sz="1200" b="1"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1352 (bytes)</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Returns -1 if chunked encoding</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a:effectLst/>
                          <a:latin typeface="Calibri" panose="020F0502020204030204" pitchFamily="34" charset="0"/>
                          <a:ea typeface="宋体" panose="02010600030101010101" pitchFamily="2" charset="-122"/>
                          <a:cs typeface="Times New Roman" panose="02020603050405020304" pitchFamily="18" charset="0"/>
                        </a:rPr>
                        <a:t>getContentEncoding()</a:t>
                      </a:r>
                      <a:endParaRPr lang="en-US" sz="1200" b="1">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"gzip"</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Compression type</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a:effectLst/>
                          <a:latin typeface="Calibri" panose="020F0502020204030204" pitchFamily="34" charset="0"/>
                          <a:ea typeface="宋体" panose="02010600030101010101" pitchFamily="2" charset="-122"/>
                          <a:cs typeface="Times New Roman" panose="02020603050405020304" pitchFamily="18" charset="0"/>
                        </a:rPr>
                        <a:t>getDate()</a:t>
                      </a:r>
                      <a:endParaRPr lang="en-US" sz="1200" b="1">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long (milliseconds)</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When response was sent</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a:effectLst/>
                          <a:latin typeface="Calibri" panose="020F0502020204030204" pitchFamily="34" charset="0"/>
                          <a:ea typeface="宋体" panose="02010600030101010101" pitchFamily="2" charset="-122"/>
                          <a:cs typeface="Times New Roman" panose="02020603050405020304" pitchFamily="18" charset="0"/>
                        </a:rPr>
                        <a:t>getExpiration()</a:t>
                      </a:r>
                      <a:endParaRPr lang="en-US" sz="1200" b="1">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long (ms)</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Cache expiry time</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marL="0" marR="0">
                        <a:lnSpc>
                          <a:spcPct val="107000"/>
                        </a:lnSpc>
                        <a:spcBef>
                          <a:spcPts val="0"/>
                        </a:spcBef>
                        <a:spcAft>
                          <a:spcPts val="800"/>
                        </a:spcAft>
                      </a:pPr>
                      <a:r>
                        <a:rPr lang="en-US" sz="1600" b="1" dirty="0" err="1">
                          <a:effectLst/>
                          <a:latin typeface="Calibri" panose="020F0502020204030204" pitchFamily="34" charset="0"/>
                          <a:ea typeface="宋体" panose="02010600030101010101" pitchFamily="2" charset="-122"/>
                          <a:cs typeface="Times New Roman" panose="02020603050405020304" pitchFamily="18" charset="0"/>
                        </a:rPr>
                        <a:t>getLastModified</a:t>
                      </a:r>
                      <a:r>
                        <a:rPr lang="en-US" sz="1600" b="1" dirty="0">
                          <a:effectLst/>
                          <a:latin typeface="Calibri" panose="020F0502020204030204" pitchFamily="34" charset="0"/>
                          <a:ea typeface="宋体" panose="02010600030101010101" pitchFamily="2" charset="-122"/>
                          <a:cs typeface="Times New Roman" panose="02020603050405020304" pitchFamily="18" charset="0"/>
                        </a:rPr>
                        <a:t>()</a:t>
                      </a:r>
                      <a:endParaRPr lang="en-US" sz="1200" b="1" dirty="0">
                        <a:effectLst/>
                        <a:latin typeface="Calibri" panose="020F0502020204030204" pitchFamily="34" charset="0"/>
                        <a:ea typeface="宋体" panose="02010600030101010101" pitchFamily="2" charset="-122"/>
                        <a:cs typeface="Times New Roman" panose="02020603050405020304" pitchFamily="18" charset="0"/>
                      </a:endParaRPr>
                    </a:p>
                  </a:txBody>
                  <a:tcPr marL="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a:effectLst/>
                          <a:latin typeface="Calibri" panose="020F0502020204030204" pitchFamily="34" charset="0"/>
                          <a:ea typeface="宋体" panose="02010600030101010101" pitchFamily="2" charset="-122"/>
                          <a:cs typeface="Times New Roman" panose="02020603050405020304" pitchFamily="18" charset="0"/>
                        </a:rPr>
                        <a:t>long (ms)</a:t>
                      </a:r>
                      <a:endParaRPr lang="en-US" sz="110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7000"/>
                        </a:lnSpc>
                        <a:spcBef>
                          <a:spcPts val="0"/>
                        </a:spcBef>
                        <a:spcAft>
                          <a:spcPts val="800"/>
                        </a:spcAft>
                      </a:pPr>
                      <a:r>
                        <a:rPr lang="en-US" sz="1400" dirty="0">
                          <a:effectLst/>
                          <a:latin typeface="Calibri" panose="020F0502020204030204" pitchFamily="34" charset="0"/>
                          <a:ea typeface="宋体" panose="02010600030101010101" pitchFamily="2" charset="-122"/>
                          <a:cs typeface="Times New Roman" panose="02020603050405020304" pitchFamily="18" charset="0"/>
                        </a:rPr>
                        <a:t>Resource modification time</a:t>
                      </a:r>
                      <a:endParaRPr lang="en-US" sz="1100" dirty="0">
                        <a:effectLst/>
                        <a:latin typeface="Calibri" panose="020F0502020204030204" pitchFamily="34" charset="0"/>
                        <a:ea typeface="宋体" panose="02010600030101010101" pitchFamily="2" charset="-122"/>
                        <a:cs typeface="Times New Roman" panose="02020603050405020304" pitchFamily="18" charset="0"/>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304800" y="381000"/>
            <a:ext cx="10668000" cy="5606599"/>
          </a:xfrm>
          <a:prstGeom prst="rect">
            <a:avLst/>
          </a:prstGeom>
        </p:spPr>
        <p:txBody>
          <a:bodyPr wrap="square">
            <a:spAutoFit/>
          </a:bodyPr>
          <a:lstStyle/>
          <a:p>
            <a:pPr marL="0" marR="0">
              <a:lnSpc>
                <a:spcPct val="107000"/>
              </a:lnSpc>
              <a:spcBef>
                <a:spcPts val="1370"/>
              </a:spcBef>
              <a:spcAft>
                <a:spcPts val="103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3. Usage Examples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ts val="2145"/>
              </a:lnSpc>
              <a:spcBef>
                <a:spcPts val="1370"/>
              </a:spcBef>
              <a:spcAft>
                <a:spcPts val="8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Getting Specific Headers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URLConnection</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conn </a:t>
            </a:r>
            <a:r>
              <a:rPr lang="en-US" sz="16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"https://example.com"</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openConnection</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getHeaderField</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server </a:t>
            </a:r>
            <a:r>
              <a:rPr lang="en-US" sz="16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a:t>
            </a:r>
            <a:r>
              <a:rPr lang="en-US" sz="16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getHeaderField</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6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"Server"</a:t>
            </a:r>
            <a:r>
              <a:rPr lang="en-US" sz="16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ts val="2145"/>
              </a:lnSpc>
              <a:spcBef>
                <a:spcPts val="1370"/>
              </a:spcBef>
              <a:spcAft>
                <a:spcPts val="8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Reading All Headers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Map</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&lt;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List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&lt;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&gt;&gt;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headers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getHeaderFields</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headers</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forEach</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key</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values</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key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values</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2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a:lnSpc>
                <a:spcPts val="2145"/>
              </a:lnSpc>
              <a:spcBef>
                <a:spcPts val="1370"/>
              </a:spcBef>
              <a:spcAft>
                <a:spcPts val="800"/>
              </a:spcAft>
            </a:pPr>
            <a:r>
              <a:rPr lang="en-US" sz="16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Checking Content Details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getContentType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startsWith</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"text/html"</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Handle HTML response</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conn</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getContentLength</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10_000</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Large file - stream it instead of loading to memory</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667019"/>
            <a:ext cx="11201400" cy="6160789"/>
          </a:xfrm>
          <a:prstGeom prst="rect">
            <a:avLst/>
          </a:prstGeom>
        </p:spPr>
        <p:txBody>
          <a:bodyPr wrap="square">
            <a:spAutoFit/>
          </a:bodyPr>
          <a:lstStyle/>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Get Content-Type header (e.g., "text/html; charset=UTF-8")</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uc</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getContentType</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encoding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"ISO-8859-1"</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Default fallback encoding</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Extract charset if specified</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encodingStart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indexOf</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"charset="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encodingStart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1</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encoding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contentType</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substring</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encodingStart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8</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trim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Handle cases like: charset=UTF-8; other-params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encoding</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contains</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encoding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encoding</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substring</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0</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encoding</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indexOf</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trim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Create properly encoded reader</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raw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uc</a:t>
            </a:r>
            <a:r>
              <a:rPr lang="en-US" sz="14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getInputStream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BufferedInputStream</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buffered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BufferedInputStream</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raw</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reader </a:t>
            </a:r>
            <a:r>
              <a:rPr lang="en-US" sz="14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InputStreamReader</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buffered</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encoding</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Now read characters correctly</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6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4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7652" name="矩形 3"/>
          <p:cNvSpPr>
            <a:spLocks noChangeArrowheads="1"/>
          </p:cNvSpPr>
          <p:nvPr/>
        </p:nvSpPr>
        <p:spPr bwMode="auto">
          <a:xfrm>
            <a:off x="685800" y="151121"/>
            <a:ext cx="7010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u="sng" dirty="0">
                <a:solidFill>
                  <a:srgbClr val="FF0000"/>
                </a:solidFill>
              </a:rPr>
              <a:t>D</a:t>
            </a:r>
            <a:r>
              <a:rPr lang="en-GB" altLang="zh-CN" sz="2000" b="1" u="sng" dirty="0">
                <a:solidFill>
                  <a:srgbClr val="FF0000"/>
                </a:solidFill>
              </a:rPr>
              <a:t>ownloading a web p</a:t>
            </a:r>
            <a:r>
              <a:rPr lang="en-US" altLang="zh-CN" sz="2000" b="1" u="sng" dirty="0">
                <a:solidFill>
                  <a:srgbClr val="FF0000"/>
                </a:solidFill>
              </a:rPr>
              <a:t>a</a:t>
            </a:r>
            <a:r>
              <a:rPr lang="en-GB" altLang="zh-CN" sz="2000" b="1" u="sng" dirty="0">
                <a:solidFill>
                  <a:srgbClr val="FF0000"/>
                </a:solidFill>
              </a:rPr>
              <a:t>ge </a:t>
            </a:r>
            <a:r>
              <a:rPr lang="en-GB" altLang="en-US" sz="2000" b="1" u="sng" dirty="0">
                <a:solidFill>
                  <a:srgbClr val="FF0000"/>
                </a:solidFill>
              </a:rPr>
              <a:t>with the correct character set .</a:t>
            </a:r>
            <a:endParaRPr lang="en-GB" altLang="en-US" sz="2000" b="1" u="sng" dirty="0">
              <a:solidFill>
                <a:srgbClr val="FF0000"/>
              </a:solidFill>
            </a:endParaRPr>
          </a:p>
        </p:txBody>
      </p:sp>
      <p:sp>
        <p:nvSpPr>
          <p:cNvPr id="4" name="Rectangle 3"/>
          <p:cNvSpPr/>
          <p:nvPr/>
        </p:nvSpPr>
        <p:spPr>
          <a:xfrm>
            <a:off x="8610600" y="304800"/>
            <a:ext cx="3175000" cy="6247864"/>
          </a:xfrm>
          <a:prstGeom prst="rect">
            <a:avLst/>
          </a:prstGeom>
        </p:spPr>
        <p:txBody>
          <a:bodyPr wrap="square">
            <a:spAutoFit/>
          </a:bodyPr>
          <a:lstStyle/>
          <a:p>
            <a:r>
              <a:rPr lang="en-US" sz="1600" dirty="0">
                <a:solidFill>
                  <a:srgbClr val="404040"/>
                </a:solidFill>
                <a:latin typeface="DeepSeek-CJK-patch"/>
              </a:rPr>
              <a:t>Key Points:</a:t>
            </a:r>
            <a:endParaRPr lang="en-US" sz="1600" dirty="0">
              <a:solidFill>
                <a:srgbClr val="404040"/>
              </a:solidFill>
              <a:latin typeface="DeepSeek-CJK-patch"/>
            </a:endParaRPr>
          </a:p>
          <a:p>
            <a:pPr>
              <a:buFont typeface="+mj-lt"/>
              <a:buAutoNum type="arabicPeriod"/>
            </a:pPr>
            <a:r>
              <a:rPr lang="en-US" sz="1600" dirty="0">
                <a:solidFill>
                  <a:srgbClr val="404040"/>
                </a:solidFill>
                <a:latin typeface="DeepSeek-CJK-patch"/>
              </a:rPr>
              <a:t>The code tries to detect and honor the server-specified character encoding</a:t>
            </a:r>
            <a:endParaRPr lang="en-US" sz="1600" dirty="0">
              <a:solidFill>
                <a:srgbClr val="404040"/>
              </a:solidFill>
              <a:latin typeface="DeepSeek-CJK-patch"/>
            </a:endParaRPr>
          </a:p>
          <a:p>
            <a:pPr>
              <a:buFont typeface="+mj-lt"/>
              <a:buAutoNum type="arabicPeriod"/>
            </a:pPr>
            <a:r>
              <a:rPr lang="en-US" sz="1600" dirty="0">
                <a:solidFill>
                  <a:srgbClr val="404040"/>
                </a:solidFill>
                <a:latin typeface="DeepSeek-CJK-patch"/>
              </a:rPr>
              <a:t>Proper encoding handling prevents text corruption (especially important for non-ASCII content)</a:t>
            </a:r>
            <a:endParaRPr lang="en-US" sz="1600" dirty="0">
              <a:solidFill>
                <a:srgbClr val="404040"/>
              </a:solidFill>
              <a:latin typeface="DeepSeek-CJK-patch"/>
            </a:endParaRPr>
          </a:p>
          <a:p>
            <a:pPr>
              <a:buFont typeface="+mj-lt"/>
              <a:buAutoNum type="arabicPeriod"/>
            </a:pPr>
            <a:r>
              <a:rPr lang="en-US" sz="1600" dirty="0">
                <a:solidFill>
                  <a:srgbClr val="404040"/>
                </a:solidFill>
                <a:latin typeface="DeepSeek-CJK-patch"/>
              </a:rPr>
              <a:t>Always:</a:t>
            </a:r>
            <a:endParaRPr lang="en-US" sz="1600" dirty="0">
              <a:solidFill>
                <a:srgbClr val="404040"/>
              </a:solidFill>
              <a:latin typeface="DeepSeek-CJK-patch"/>
            </a:endParaRPr>
          </a:p>
          <a:p>
            <a:pPr marL="742950" lvl="1" indent="-285750">
              <a:buFont typeface="+mj-lt"/>
              <a:buAutoNum type="arabicPeriod"/>
            </a:pPr>
            <a:r>
              <a:rPr lang="en-US" sz="1600" dirty="0">
                <a:solidFill>
                  <a:srgbClr val="404040"/>
                </a:solidFill>
                <a:latin typeface="DeepSeek-CJK-patch"/>
              </a:rPr>
              <a:t>Check if charset is specified (may not be present)</a:t>
            </a:r>
            <a:endParaRPr lang="en-US" sz="1600" dirty="0">
              <a:solidFill>
                <a:srgbClr val="404040"/>
              </a:solidFill>
              <a:latin typeface="DeepSeek-CJK-patch"/>
            </a:endParaRPr>
          </a:p>
          <a:p>
            <a:pPr marL="742950" lvl="1" indent="-285750">
              <a:buFont typeface="+mj-lt"/>
              <a:buAutoNum type="arabicPeriod"/>
            </a:pPr>
            <a:r>
              <a:rPr lang="en-US" sz="1600" dirty="0">
                <a:solidFill>
                  <a:srgbClr val="404040"/>
                </a:solidFill>
                <a:latin typeface="DeepSeek-CJK-patch"/>
              </a:rPr>
              <a:t>Provide a default encoding (ISO-8859-1 is HTTP default)</a:t>
            </a:r>
            <a:endParaRPr lang="en-US" sz="1600" dirty="0">
              <a:solidFill>
                <a:srgbClr val="404040"/>
              </a:solidFill>
              <a:latin typeface="DeepSeek-CJK-patch"/>
            </a:endParaRPr>
          </a:p>
          <a:p>
            <a:pPr marL="742950" lvl="1" indent="-285750">
              <a:buFont typeface="+mj-lt"/>
              <a:buAutoNum type="arabicPeriod"/>
            </a:pPr>
            <a:r>
              <a:rPr lang="en-US" sz="1600" dirty="0">
                <a:solidFill>
                  <a:srgbClr val="404040"/>
                </a:solidFill>
                <a:latin typeface="DeepSeek-CJK-patch"/>
              </a:rPr>
              <a:t>Clean up the charset value (remove trailing semicolons/whitespace)</a:t>
            </a:r>
            <a:endParaRPr lang="en-US" sz="1600" dirty="0">
              <a:solidFill>
                <a:srgbClr val="404040"/>
              </a:solidFill>
              <a:latin typeface="DeepSeek-CJK-patch"/>
            </a:endParaRPr>
          </a:p>
          <a:p>
            <a:r>
              <a:rPr lang="en-US" sz="1600" dirty="0">
                <a:solidFill>
                  <a:srgbClr val="404040"/>
                </a:solidFill>
                <a:latin typeface="DeepSeek-CJK-patch"/>
              </a:rPr>
              <a:t>Without this encoding handling, you might see garbled text when reading:</a:t>
            </a:r>
            <a:endParaRPr lang="en-US" sz="1600" dirty="0">
              <a:solidFill>
                <a:srgbClr val="404040"/>
              </a:solidFill>
              <a:latin typeface="DeepSeek-CJK-patch"/>
            </a:endParaRPr>
          </a:p>
          <a:p>
            <a:pPr>
              <a:buFont typeface="Arial" panose="020B0604020202020204" pitchFamily="34" charset="0"/>
              <a:buChar char="•"/>
            </a:pPr>
            <a:r>
              <a:rPr lang="en-US" sz="1600" dirty="0">
                <a:solidFill>
                  <a:srgbClr val="404040"/>
                </a:solidFill>
                <a:latin typeface="DeepSeek-CJK-patch"/>
              </a:rPr>
              <a:t>Non-English characters (</a:t>
            </a:r>
            <a:r>
              <a:rPr lang="en-US" sz="1600" dirty="0" err="1">
                <a:solidFill>
                  <a:srgbClr val="404040"/>
                </a:solidFill>
                <a:latin typeface="DeepSeek-CJK-patch"/>
              </a:rPr>
              <a:t>中文</a:t>
            </a:r>
            <a:r>
              <a:rPr lang="en-US" sz="1600" dirty="0">
                <a:solidFill>
                  <a:srgbClr val="404040"/>
                </a:solidFill>
                <a:latin typeface="DeepSeek-CJK-patch"/>
              </a:rPr>
              <a:t>, </a:t>
            </a:r>
            <a:r>
              <a:rPr lang="en-US" sz="1600" dirty="0" err="1">
                <a:solidFill>
                  <a:srgbClr val="404040"/>
                </a:solidFill>
                <a:latin typeface="DeepSeek-CJK-patch"/>
              </a:rPr>
              <a:t>русский</a:t>
            </a:r>
            <a:r>
              <a:rPr lang="en-US" sz="1600" dirty="0">
                <a:solidFill>
                  <a:srgbClr val="404040"/>
                </a:solidFill>
                <a:latin typeface="DeepSeek-CJK-patch"/>
              </a:rPr>
              <a:t>)</a:t>
            </a:r>
            <a:endParaRPr lang="en-US" sz="1600" dirty="0">
              <a:solidFill>
                <a:srgbClr val="404040"/>
              </a:solidFill>
              <a:latin typeface="DeepSeek-CJK-patch"/>
            </a:endParaRPr>
          </a:p>
          <a:p>
            <a:pPr>
              <a:buFont typeface="Arial" panose="020B0604020202020204" pitchFamily="34" charset="0"/>
              <a:buChar char="•"/>
            </a:pPr>
            <a:r>
              <a:rPr lang="en-US" sz="1600" dirty="0">
                <a:solidFill>
                  <a:srgbClr val="404040"/>
                </a:solidFill>
                <a:latin typeface="DeepSeek-CJK-patch"/>
              </a:rPr>
              <a:t>Special symbols (€, ©, é)</a:t>
            </a:r>
            <a:endParaRPr lang="en-US" sz="1600" dirty="0">
              <a:solidFill>
                <a:srgbClr val="404040"/>
              </a:solidFill>
              <a:latin typeface="DeepSeek-CJK-patch"/>
            </a:endParaRPr>
          </a:p>
          <a:p>
            <a:pPr>
              <a:buFont typeface="Arial" panose="020B0604020202020204" pitchFamily="34" charset="0"/>
              <a:buChar char="•"/>
            </a:pPr>
            <a:r>
              <a:rPr lang="en-US" sz="1600" dirty="0">
                <a:solidFill>
                  <a:srgbClr val="404040"/>
                </a:solidFill>
                <a:latin typeface="DeepSeek-CJK-patch"/>
              </a:rPr>
              <a:t>Smart quotes and other formatting characters</a:t>
            </a:r>
            <a:endParaRPr lang="en-US" sz="1600" b="0" i="0" dirty="0">
              <a:solidFill>
                <a:srgbClr val="404040"/>
              </a:solidFill>
              <a:effectLst/>
              <a:latin typeface="DeepSeek-CJK-patch"/>
            </a:endParaRPr>
          </a:p>
        </p:txBody>
      </p:sp>
      <p:sp>
        <p:nvSpPr>
          <p:cNvPr id="6" name="Rectangle 5"/>
          <p:cNvSpPr/>
          <p:nvPr/>
        </p:nvSpPr>
        <p:spPr bwMode="auto">
          <a:xfrm>
            <a:off x="8610600" y="208722"/>
            <a:ext cx="3505200" cy="649687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Rectangle 10"/>
          <p:cNvSpPr/>
          <p:nvPr/>
        </p:nvSpPr>
        <p:spPr bwMode="auto">
          <a:xfrm>
            <a:off x="162464" y="743219"/>
            <a:ext cx="8270336" cy="603858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矩形 3"/>
          <p:cNvSpPr>
            <a:spLocks noChangeArrowheads="1"/>
          </p:cNvSpPr>
          <p:nvPr/>
        </p:nvSpPr>
        <p:spPr bwMode="auto">
          <a:xfrm>
            <a:off x="533400" y="228600"/>
            <a:ext cx="10668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GB" altLang="en-US" sz="2400" b="1" dirty="0">
                <a:solidFill>
                  <a:srgbClr val="FF0000"/>
                </a:solidFill>
              </a:rPr>
              <a:t>Example : </a:t>
            </a:r>
            <a:r>
              <a:rPr lang="en-US" altLang="en-US" sz="2400" b="1" dirty="0">
                <a:solidFill>
                  <a:srgbClr val="FF0000"/>
                </a:solidFill>
              </a:rPr>
              <a:t>R</a:t>
            </a:r>
            <a:r>
              <a:rPr lang="en-GB" altLang="en-US" sz="2400" b="1" dirty="0">
                <a:solidFill>
                  <a:srgbClr val="FF0000"/>
                </a:solidFill>
              </a:rPr>
              <a:t>eliably </a:t>
            </a:r>
            <a:r>
              <a:rPr lang="en-US" altLang="en-US" sz="2400" b="1" dirty="0">
                <a:solidFill>
                  <a:srgbClr val="FF0000"/>
                </a:solidFill>
              </a:rPr>
              <a:t>D</a:t>
            </a:r>
            <a:r>
              <a:rPr lang="en-GB" altLang="en-US" sz="2400" b="1" dirty="0">
                <a:solidFill>
                  <a:srgbClr val="FF0000"/>
                </a:solidFill>
              </a:rPr>
              <a:t>ownload a </a:t>
            </a:r>
            <a:r>
              <a:rPr lang="en-US" altLang="en-US" sz="2400" b="1" dirty="0">
                <a:solidFill>
                  <a:srgbClr val="FF0000"/>
                </a:solidFill>
              </a:rPr>
              <a:t>B</a:t>
            </a:r>
            <a:r>
              <a:rPr lang="en-GB" altLang="en-US" sz="2400" b="1" dirty="0">
                <a:solidFill>
                  <a:srgbClr val="FF0000"/>
                </a:solidFill>
              </a:rPr>
              <a:t>inary file </a:t>
            </a:r>
            <a:r>
              <a:rPr lang="en-US" altLang="en-US" sz="2400" b="1" dirty="0">
                <a:solidFill>
                  <a:srgbClr val="FF0000"/>
                </a:solidFill>
              </a:rPr>
              <a:t>and saves it to disk.</a:t>
            </a:r>
            <a:r>
              <a:rPr lang="en-GB" altLang="en-US" sz="2400" b="1" dirty="0">
                <a:solidFill>
                  <a:srgbClr val="FF0000"/>
                </a:solidFill>
              </a:rPr>
              <a:t> </a:t>
            </a:r>
            <a:endParaRPr lang="en-US" altLang="zh-CN" sz="2400" b="1" dirty="0">
              <a:solidFill>
                <a:srgbClr val="FF0000"/>
              </a:solidFill>
            </a:endParaRPr>
          </a:p>
        </p:txBody>
      </p:sp>
      <p:sp>
        <p:nvSpPr>
          <p:cNvPr id="4" name="Rectangle 3"/>
          <p:cNvSpPr/>
          <p:nvPr/>
        </p:nvSpPr>
        <p:spPr>
          <a:xfrm>
            <a:off x="342900" y="924148"/>
            <a:ext cx="11506200" cy="5379037"/>
          </a:xfrm>
          <a:prstGeom prst="rect">
            <a:avLst/>
          </a:prstGeom>
        </p:spPr>
        <p:txBody>
          <a:bodyPr wrap="square">
            <a:spAutoFit/>
          </a:bodyPr>
          <a:lstStyle/>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io</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java</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net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nio</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Files</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nio</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import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java</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nio</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StandardCopyOption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class</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BinaryFileDownloader</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main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args</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fileUrl</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"https://example.com/sample.pdf"</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Replace with actual URL</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"downloaded_file.pdf"</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Local filename</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downloadFile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fileUrl</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out</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"File downloaded successfully to: "</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File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getAbsolutePath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catch</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System</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err</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println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50A14F"/>
                </a:solidFill>
                <a:latin typeface="Courier New" panose="02070309020205020404" pitchFamily="49" charset="0"/>
                <a:ea typeface="Times New Roman" panose="02020603050405020304" pitchFamily="18" charset="0"/>
                <a:cs typeface="Times New Roman" panose="02020603050405020304" pitchFamily="18" charset="0"/>
              </a:rPr>
              <a:t>"Download failed: "</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getMessage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e</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printStackTrace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100"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685800" y="349982"/>
            <a:ext cx="10134600" cy="6354560"/>
          </a:xfrm>
          <a:prstGeom prst="rect">
            <a:avLst/>
          </a:prstGeom>
        </p:spPr>
        <p:txBody>
          <a:bodyPr wrap="square">
            <a:spAutoFit/>
          </a:bodyPr>
          <a:lstStyle/>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public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static</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downloadFile</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fileUrl</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String</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throws</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IOException</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1. Open connection to URL</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new</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fileUrl</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try</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InputStream</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in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url</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openStream</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2. Create parent directories if needed</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Path</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parentDir</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Path</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of</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getParent</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parentDir</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A626A4"/>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Files</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createDirectories</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parentDir</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3. Stream data directly to file (Java 9+)</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Files</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copy</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in</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Path</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078F2"/>
                </a:solidFill>
                <a:latin typeface="Courier New" panose="02070309020205020404" pitchFamily="49" charset="0"/>
                <a:ea typeface="Times New Roman" panose="02020603050405020304" pitchFamily="18" charset="0"/>
                <a:cs typeface="Times New Roman" panose="02020603050405020304" pitchFamily="18" charset="0"/>
              </a:rPr>
              <a:t>of</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StandardCopyOption</a:t>
            </a:r>
            <a:r>
              <a:rPr lang="en-US" sz="1100" b="1" dirty="0" err="1">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dirty="0" err="1">
                <a:solidFill>
                  <a:srgbClr val="B76B01"/>
                </a:solidFill>
                <a:latin typeface="Courier New" panose="02070309020205020404" pitchFamily="49" charset="0"/>
                <a:ea typeface="Times New Roman" panose="02020603050405020304" pitchFamily="18" charset="0"/>
                <a:cs typeface="Times New Roman" panose="02020603050405020304" pitchFamily="18" charset="0"/>
              </a:rPr>
              <a:t>REPLACE_EXISTING</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Alternative for Java 8:</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try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FileOutputStream</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out = new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FileOutputStream</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savePath</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byte[] buffer = new byte[8192];</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int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bytesRead</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while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bytesRead</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in.read</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(buffer)) != -1)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out.write</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(buffer, 0, </a:t>
            </a:r>
            <a:r>
              <a:rPr lang="en-US" sz="1100" b="1" i="1" dirty="0" err="1">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bytesRead</a:t>
            </a: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i="1" dirty="0">
                <a:solidFill>
                  <a:srgbClr val="A0A1A7"/>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494949"/>
                </a:solidFill>
                <a:latin typeface="Courier New" panose="02070309020205020404" pitchFamily="49" charset="0"/>
                <a:ea typeface="Times New Roman" panose="02020603050405020304" pitchFamily="18" charset="0"/>
                <a:cs typeface="Times New Roman" panose="02020603050405020304" pitchFamily="18" charset="0"/>
              </a:rPr>
              <a:t>    </a:t>
            </a: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b="1" dirty="0">
                <a:solidFill>
                  <a:srgbClr val="383A42"/>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a:lnSpc>
                <a:spcPct val="107000"/>
              </a:lnSpc>
              <a:spcBef>
                <a:spcPts val="0"/>
              </a:spcBef>
              <a:spcAft>
                <a:spcPts val="400"/>
              </a:spcAft>
            </a:pPr>
            <a:r>
              <a:rPr lang="en-US" sz="1400" b="1" dirty="0">
                <a:solidFill>
                  <a:srgbClr val="080808"/>
                </a:solidFill>
                <a:latin typeface="Calibri" panose="020F0502020204030204" pitchFamily="34" charset="0"/>
                <a:ea typeface="宋体" panose="02010600030101010101" pitchFamily="2" charset="-122"/>
                <a:cs typeface="Times New Roman" panose="02020603050405020304" pitchFamily="18" charset="0"/>
              </a:rPr>
              <a:t>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152400" y="1143001"/>
            <a:ext cx="11430000" cy="4498975"/>
          </a:xfrm>
        </p:spPr>
        <p:txBody>
          <a:bodyPr/>
          <a:lstStyle/>
          <a:p>
            <a:r>
              <a:rPr lang="en-GB" altLang="en-US" sz="2800" b="1" dirty="0">
                <a:solidFill>
                  <a:srgbClr val="FF0000"/>
                </a:solidFill>
                <a:latin typeface="Times New Roman" panose="02020603050405020304" pitchFamily="18" charset="0"/>
                <a:cs typeface="Times New Roman" panose="02020603050405020304" pitchFamily="18" charset="0"/>
              </a:rPr>
              <a:t>Code Example CH</a:t>
            </a:r>
            <a:r>
              <a:rPr lang="en-GB" altLang="zh-CN" sz="2800" b="1" dirty="0">
                <a:solidFill>
                  <a:srgbClr val="FF0000"/>
                </a:solidFill>
                <a:latin typeface="Times New Roman" panose="02020603050405020304" pitchFamily="18" charset="0"/>
                <a:cs typeface="Times New Roman" panose="02020603050405020304" pitchFamily="18" charset="0"/>
              </a:rPr>
              <a:t>7. HeaderViewer</a:t>
            </a:r>
            <a:endParaRPr lang="en-GB" altLang="zh-CN" sz="2800" b="1" dirty="0">
              <a:solidFill>
                <a:srgbClr val="FF0000"/>
              </a:solidFill>
              <a:latin typeface="Times New Roman" panose="02020603050405020304" pitchFamily="18" charset="0"/>
              <a:cs typeface="Times New Roman" panose="02020603050405020304" pitchFamily="18" charset="0"/>
            </a:endParaRPr>
          </a:p>
          <a:p>
            <a:r>
              <a:rPr lang="en-GB" altLang="en-US" sz="2800" dirty="0"/>
              <a:t>Read </a:t>
            </a:r>
            <a:r>
              <a:rPr lang="en-GB" altLang="zh-CN" sz="2800" dirty="0"/>
              <a:t>the URL from the command line and use the six methods </a:t>
            </a:r>
            <a:r>
              <a:rPr lang="en-GB" altLang="en-US" sz="2800" dirty="0"/>
              <a:t>to access the header information to display the content type, content length, content encoding, last modified date, expiration date, and current date.</a:t>
            </a:r>
            <a:endParaRPr lang="en-US" altLang="zh-CN" sz="2800" dirty="0"/>
          </a:p>
          <a:p>
            <a:r>
              <a:rPr lang="en-GB" altLang="en-US" sz="2400" dirty="0"/>
              <a:t>Run </a:t>
            </a:r>
            <a:r>
              <a:rPr lang="en-GB" altLang="zh-CN" sz="2400" dirty="0"/>
              <a:t>HeaderViewer and </a:t>
            </a:r>
            <a:r>
              <a:rPr lang="en-GB" altLang="en-US" sz="2400" dirty="0"/>
              <a:t>enter </a:t>
            </a:r>
            <a:r>
              <a:rPr lang="en-GB" altLang="zh-CN" sz="2400" dirty="0">
                <a:hlinkClick r:id="rId1"/>
              </a:rPr>
              <a:t>http://www.szu.edu.cn/szu.asp </a:t>
            </a:r>
            <a:r>
              <a:rPr lang="en-GB" altLang="en-US" sz="2400" dirty="0"/>
              <a:t>as the parameter.</a:t>
            </a:r>
            <a:endParaRPr lang="en-GB" altLang="en-US" sz="2400" dirty="0"/>
          </a:p>
        </p:txBody>
      </p:sp>
      <p:sp>
        <p:nvSpPr>
          <p:cNvPr id="36868" name="矩形 6"/>
          <p:cNvSpPr>
            <a:spLocks noChangeArrowheads="1"/>
          </p:cNvSpPr>
          <p:nvPr/>
        </p:nvSpPr>
        <p:spPr bwMode="auto">
          <a:xfrm>
            <a:off x="8282517" y="6096000"/>
            <a:ext cx="2117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HeaderViewer.java</a:t>
            </a:r>
            <a:endParaRPr lang="zh-CN" altLang="en-US" sz="1800"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114800"/>
            <a:ext cx="6629400" cy="1649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标题 1"/>
          <p:cNvSpPr>
            <a:spLocks noGrp="1"/>
          </p:cNvSpPr>
          <p:nvPr>
            <p:ph type="title"/>
          </p:nvPr>
        </p:nvSpPr>
        <p:spPr>
          <a:xfrm>
            <a:off x="2257425" y="366713"/>
            <a:ext cx="7219949" cy="685800"/>
          </a:xfrm>
        </p:spPr>
        <p:txBody>
          <a:bodyPr/>
          <a:lstStyle/>
          <a:p>
            <a:pPr algn="l"/>
            <a:r>
              <a:rPr lang="en-GB" altLang="en-US" sz="3200" b="1" dirty="0">
                <a:solidFill>
                  <a:srgbClr val="FF0000"/>
                </a:solidFill>
              </a:rPr>
              <a:t>Example: </a:t>
            </a:r>
            <a:r>
              <a:rPr lang="en-US" altLang="en-US" sz="3200" b="1" dirty="0">
                <a:solidFill>
                  <a:srgbClr val="FF0000"/>
                </a:solidFill>
              </a:rPr>
              <a:t>Access the </a:t>
            </a:r>
            <a:r>
              <a:rPr lang="en-GB" altLang="en-US" sz="3200" b="1" dirty="0">
                <a:solidFill>
                  <a:srgbClr val="FF0000"/>
                </a:solidFill>
              </a:rPr>
              <a:t> </a:t>
            </a:r>
            <a:r>
              <a:rPr lang="en-US" altLang="en-US" sz="3200" b="1" dirty="0">
                <a:solidFill>
                  <a:srgbClr val="FF0000"/>
                </a:solidFill>
              </a:rPr>
              <a:t>Header Info</a:t>
            </a:r>
            <a:endParaRPr lang="en-GB" altLang="en-US" sz="3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67745"/>
            <a:ext cx="10515600" cy="661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4" name="标题 1"/>
          <p:cNvSpPr>
            <a:spLocks noGrp="1"/>
          </p:cNvSpPr>
          <p:nvPr>
            <p:ph type="title"/>
          </p:nvPr>
        </p:nvSpPr>
        <p:spPr>
          <a:xfrm>
            <a:off x="5715001" y="159278"/>
            <a:ext cx="6248399" cy="1263649"/>
          </a:xfrm>
        </p:spPr>
        <p:txBody>
          <a:bodyPr/>
          <a:lstStyle/>
          <a:p>
            <a:pPr algn="l"/>
            <a:r>
              <a:rPr lang="en-GB" altLang="en-US" sz="3200" b="1" dirty="0">
                <a:solidFill>
                  <a:srgbClr val="FF0000"/>
                </a:solidFill>
              </a:rPr>
              <a:t>Example: </a:t>
            </a:r>
            <a:r>
              <a:rPr lang="en-US" altLang="en-US" sz="3200" b="1" dirty="0">
                <a:solidFill>
                  <a:srgbClr val="FF0000"/>
                </a:solidFill>
              </a:rPr>
              <a:t>Accessing the </a:t>
            </a:r>
            <a:r>
              <a:rPr lang="en-GB" altLang="en-US" sz="3200" b="1" dirty="0">
                <a:solidFill>
                  <a:srgbClr val="FF0000"/>
                </a:solidFill>
              </a:rPr>
              <a:t> </a:t>
            </a:r>
            <a:r>
              <a:rPr lang="en-US" altLang="en-US" sz="3200" b="1" dirty="0">
                <a:solidFill>
                  <a:srgbClr val="FF0000"/>
                </a:solidFill>
              </a:rPr>
              <a:t>Header Info using Convenience Method </a:t>
            </a:r>
            <a:endParaRPr lang="en-GB" altLang="en-US" sz="3200"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104900"/>
            <a:ext cx="104394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2362200" y="457200"/>
            <a:ext cx="6781800" cy="1295400"/>
          </a:xfrm>
        </p:spPr>
        <p:txBody>
          <a:bodyPr/>
          <a:lstStyle/>
          <a:p>
            <a:r>
              <a:rPr lang="en-US" altLang="en-US" sz="3200" b="1" dirty="0">
                <a:solidFill>
                  <a:srgbClr val="FF0000"/>
                </a:solidFill>
              </a:rPr>
              <a:t>Accessing the </a:t>
            </a:r>
            <a:r>
              <a:rPr lang="en-GB" altLang="en-US" sz="3200" b="1" dirty="0">
                <a:solidFill>
                  <a:srgbClr val="FF0000"/>
                </a:solidFill>
              </a:rPr>
              <a:t> </a:t>
            </a:r>
            <a:r>
              <a:rPr lang="en-US" altLang="en-US" sz="3200" b="1" dirty="0">
                <a:solidFill>
                  <a:srgbClr val="FF0000"/>
                </a:solidFill>
              </a:rPr>
              <a:t>Header Info using </a:t>
            </a:r>
            <a:br>
              <a:rPr lang="en-US" altLang="en-US" sz="3200" b="1" dirty="0">
                <a:solidFill>
                  <a:srgbClr val="FF0000"/>
                </a:solidFill>
              </a:rPr>
            </a:br>
            <a:r>
              <a:rPr lang="en-GB" altLang="en-US" sz="3200" b="1" dirty="0"/>
              <a:t>get</a:t>
            </a:r>
            <a:r>
              <a:rPr lang="en-US" altLang="en-US" sz="3200" b="1" dirty="0"/>
              <a:t>H</a:t>
            </a:r>
            <a:r>
              <a:rPr lang="en-GB" altLang="en-US" sz="3200" b="1" dirty="0"/>
              <a:t>eader</a:t>
            </a:r>
            <a:r>
              <a:rPr lang="en-US" altLang="en-US" sz="3200" b="1" dirty="0"/>
              <a:t>F</a:t>
            </a:r>
            <a:r>
              <a:rPr lang="en-GB" altLang="en-US" sz="3200" b="1" dirty="0"/>
              <a:t>ield() </a:t>
            </a:r>
            <a:r>
              <a:rPr lang="en-US" altLang="en-US" sz="3200" b="1" dirty="0"/>
              <a:t>M</a:t>
            </a:r>
            <a:r>
              <a:rPr lang="en-GB" altLang="en-US" sz="3200" b="1" dirty="0"/>
              <a:t>ethod</a:t>
            </a:r>
            <a:endParaRPr lang="en-GB" altLang="en-US" sz="3200" b="1" dirty="0"/>
          </a:p>
        </p:txBody>
      </p:sp>
      <p:sp>
        <p:nvSpPr>
          <p:cNvPr id="3" name="内容占位符 2"/>
          <p:cNvSpPr>
            <a:spLocks noGrp="1"/>
          </p:cNvSpPr>
          <p:nvPr>
            <p:ph idx="1"/>
          </p:nvPr>
        </p:nvSpPr>
        <p:spPr>
          <a:xfrm>
            <a:off x="990600" y="2514600"/>
            <a:ext cx="9809161" cy="2997994"/>
          </a:xfrm>
        </p:spPr>
        <p:txBody>
          <a:bodyPr>
            <a:normAutofit/>
          </a:bodyPr>
          <a:lstStyle/>
          <a:p>
            <a:pPr>
              <a:defRPr/>
            </a:pPr>
            <a:r>
              <a:rPr lang="en-GB" altLang="zh-CN" dirty="0"/>
              <a:t>public String </a:t>
            </a:r>
            <a:r>
              <a:rPr lang="en-GB" altLang="zh-CN" dirty="0" err="1"/>
              <a:t>getHeaderField </a:t>
            </a:r>
            <a:r>
              <a:rPr lang="en-GB" altLang="zh-CN" dirty="0"/>
              <a:t>(String name)</a:t>
            </a:r>
            <a:endParaRPr lang="en-GB" altLang="zh-CN" dirty="0"/>
          </a:p>
          <a:p>
            <a:pPr lvl="1">
              <a:defRPr/>
            </a:pPr>
            <a:r>
              <a:rPr lang="en-GB" altLang="zh-CN" sz="2400" dirty="0">
                <a:solidFill>
                  <a:srgbClr val="000088"/>
                </a:solidFill>
                <a:latin typeface="Times New Roman" panose="02020603050405020304" pitchFamily="18" charset="0"/>
                <a:cs typeface="Times New Roman" panose="02020603050405020304" pitchFamily="18" charset="0"/>
              </a:rPr>
              <a:t>String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err="1">
                <a:solidFill>
                  <a:srgbClr val="000088"/>
                </a:solidFill>
                <a:latin typeface="Times New Roman" panose="02020603050405020304" pitchFamily="18" charset="0"/>
                <a:cs typeface="Times New Roman" panose="02020603050405020304" pitchFamily="18" charset="0"/>
              </a:rPr>
              <a:t>contentType</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err="1">
                <a:solidFill>
                  <a:srgbClr val="000088"/>
                </a:solidFill>
                <a:latin typeface="Times New Roman" panose="02020603050405020304" pitchFamily="18" charset="0"/>
                <a:cs typeface="Times New Roman" panose="02020603050405020304" pitchFamily="18" charset="0"/>
              </a:rPr>
              <a:t>uc </a:t>
            </a:r>
            <a:r>
              <a:rPr lang="en-GB" altLang="zh-CN" sz="2400" dirty="0" err="1">
                <a:solidFill>
                  <a:srgbClr val="555555"/>
                </a:solidFill>
                <a:latin typeface="Times New Roman" panose="02020603050405020304" pitchFamily="18" charset="0"/>
                <a:cs typeface="Times New Roman" panose="02020603050405020304" pitchFamily="18" charset="0"/>
              </a:rPr>
              <a:t>.getHeaderField </a:t>
            </a:r>
            <a:r>
              <a:rPr lang="en-GB" altLang="zh-CN" sz="2400" dirty="0" err="1">
                <a:solidFill>
                  <a:srgbClr val="330099"/>
                </a:solidFill>
                <a:latin typeface="Times New Roman" panose="02020603050405020304" pitchFamily="18" charset="0"/>
                <a:cs typeface="Times New Roman" panose="02020603050405020304" pitchFamily="18" charset="0"/>
              </a:rPr>
              <a:t>( </a:t>
            </a:r>
            <a:r>
              <a:rPr lang="en-GB" altLang="zh-CN" sz="2400" dirty="0">
                <a:solidFill>
                  <a:srgbClr val="CC3300"/>
                </a:solidFill>
                <a:latin typeface="Times New Roman" panose="02020603050405020304" pitchFamily="18" charset="0"/>
                <a:cs typeface="Times New Roman" panose="02020603050405020304" pitchFamily="18" charset="0"/>
              </a:rPr>
              <a:t>"content-type" </a:t>
            </a:r>
            <a:r>
              <a:rPr lang="en-GB" altLang="zh-CN" sz="2400" dirty="0">
                <a:solidFill>
                  <a:srgbClr val="555555"/>
                </a:solidFill>
                <a:latin typeface="Times New Roman" panose="02020603050405020304" pitchFamily="18" charset="0"/>
                <a:cs typeface="Times New Roman" panose="02020603050405020304" pitchFamily="18" charset="0"/>
              </a:rPr>
              <a:t>) </a:t>
            </a:r>
            <a:endParaRPr lang="en-US" altLang="zh-CN" sz="2400" dirty="0">
              <a:solidFill>
                <a:srgbClr val="000000"/>
              </a:solidFill>
              <a:latin typeface="Times New Roman" panose="02020603050405020304" pitchFamily="18" charset="0"/>
              <a:cs typeface="Times New Roman" panose="02020603050405020304" pitchFamily="18" charset="0"/>
            </a:endParaRPr>
          </a:p>
          <a:p>
            <a:pPr lvl="1">
              <a:defRPr/>
            </a:pPr>
            <a:r>
              <a:rPr lang="en-GB" altLang="zh-CN" sz="2400" dirty="0">
                <a:solidFill>
                  <a:srgbClr val="000088"/>
                </a:solidFill>
                <a:latin typeface="Times New Roman" panose="02020603050405020304" pitchFamily="18" charset="0"/>
                <a:cs typeface="Times New Roman" panose="02020603050405020304" pitchFamily="18" charset="0"/>
              </a:rPr>
              <a:t>String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err="1">
                <a:solidFill>
                  <a:srgbClr val="000088"/>
                </a:solidFill>
                <a:latin typeface="Times New Roman" panose="02020603050405020304" pitchFamily="18" charset="0"/>
                <a:cs typeface="Times New Roman" panose="02020603050405020304" pitchFamily="18" charset="0"/>
              </a:rPr>
              <a:t>contentEncoding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err="1">
                <a:solidFill>
                  <a:srgbClr val="000088"/>
                </a:solidFill>
                <a:latin typeface="Times New Roman" panose="02020603050405020304" pitchFamily="18" charset="0"/>
                <a:cs typeface="Times New Roman" panose="02020603050405020304" pitchFamily="18" charset="0"/>
              </a:rPr>
              <a:t>uc </a:t>
            </a:r>
            <a:r>
              <a:rPr lang="en-GB" altLang="zh-CN" sz="2400" dirty="0" err="1">
                <a:solidFill>
                  <a:srgbClr val="555555"/>
                </a:solidFill>
                <a:latin typeface="Times New Roman" panose="02020603050405020304" pitchFamily="18" charset="0"/>
                <a:cs typeface="Times New Roman" panose="02020603050405020304" pitchFamily="18" charset="0"/>
              </a:rPr>
              <a:t>. </a:t>
            </a:r>
            <a:r>
              <a:rPr lang="en-GB" altLang="zh-CN" sz="2400" dirty="0" err="1">
                <a:solidFill>
                  <a:srgbClr val="330099"/>
                </a:solidFill>
                <a:latin typeface="Times New Roman" panose="02020603050405020304" pitchFamily="18" charset="0"/>
                <a:cs typeface="Times New Roman" panose="02020603050405020304" pitchFamily="18" charset="0"/>
              </a:rPr>
              <a:t>getHeaderField </a:t>
            </a:r>
            <a:r>
              <a:rPr lang="en-GB" altLang="zh-CN" sz="2400" dirty="0">
                <a:solidFill>
                  <a:srgbClr val="555555"/>
                </a:solidFill>
                <a:latin typeface="Times New Roman" panose="02020603050405020304" pitchFamily="18" charset="0"/>
                <a:cs typeface="Times New Roman" panose="02020603050405020304" pitchFamily="18" charset="0"/>
              </a:rPr>
              <a:t>( </a:t>
            </a:r>
            <a:r>
              <a:rPr lang="en-GB" altLang="zh-CN" sz="2400" dirty="0">
                <a:solidFill>
                  <a:srgbClr val="CC3300"/>
                </a:solidFill>
                <a:latin typeface="Times New Roman" panose="02020603050405020304" pitchFamily="18" charset="0"/>
                <a:cs typeface="Times New Roman" panose="02020603050405020304" pitchFamily="18" charset="0"/>
              </a:rPr>
              <a:t>"content-encoding" </a:t>
            </a:r>
            <a:r>
              <a:rPr lang="en-GB" altLang="zh-CN" sz="2400" dirty="0">
                <a:solidFill>
                  <a:srgbClr val="555555"/>
                </a:solidFill>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a:p>
            <a:pPr lvl="1">
              <a:defRPr/>
            </a:pPr>
            <a:r>
              <a:rPr lang="en-GB" altLang="zh-CN" sz="2400" dirty="0">
                <a:solidFill>
                  <a:srgbClr val="000088"/>
                </a:solidFill>
                <a:latin typeface="Times New Roman" panose="02020603050405020304" pitchFamily="18" charset="0"/>
                <a:cs typeface="Times New Roman" panose="02020603050405020304" pitchFamily="18" charset="0"/>
              </a:rPr>
              <a:t>String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US" altLang="zh-CN" sz="2400" dirty="0">
                <a:solidFill>
                  <a:srgbClr val="1B1C20"/>
                </a:solidFill>
                <a:latin typeface="Times New Roman" panose="02020603050405020304" pitchFamily="18" charset="0"/>
                <a:cs typeface="Times New Roman" panose="02020603050405020304" pitchFamily="18" charset="0"/>
              </a:rPr>
              <a:t>date_</a:t>
            </a:r>
            <a:r>
              <a:rPr lang="en-GB" altLang="zh-CN" sz="2400" dirty="0">
                <a:solidFill>
                  <a:srgbClr val="000088"/>
                </a:solidFill>
                <a:latin typeface="Times New Roman" panose="02020603050405020304" pitchFamily="18" charset="0"/>
                <a:cs typeface="Times New Roman" panose="02020603050405020304" pitchFamily="18" charset="0"/>
              </a:rPr>
              <a:t>data</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uc </a:t>
            </a:r>
            <a:r>
              <a:rPr lang="en-GB" altLang="zh-CN" sz="2400" dirty="0">
                <a:solidFill>
                  <a:srgbClr val="555555"/>
                </a:solidFill>
                <a:latin typeface="Times New Roman" panose="02020603050405020304" pitchFamily="18" charset="0"/>
                <a:cs typeface="Times New Roman" panose="02020603050405020304" pitchFamily="18" charset="0"/>
              </a:rPr>
              <a:t>.getHeaderField </a:t>
            </a:r>
            <a:r>
              <a:rPr lang="en-GB" altLang="zh-CN" sz="2400" dirty="0">
                <a:solidFill>
                  <a:srgbClr val="330099"/>
                </a:solidFill>
                <a:latin typeface="Times New Roman" panose="02020603050405020304" pitchFamily="18" charset="0"/>
                <a:cs typeface="Times New Roman" panose="02020603050405020304" pitchFamily="18" charset="0"/>
              </a:rPr>
              <a:t>( </a:t>
            </a:r>
            <a:r>
              <a:rPr lang="en-GB" altLang="zh-CN" sz="2400" dirty="0">
                <a:solidFill>
                  <a:srgbClr val="CC3300"/>
                </a:solidFill>
                <a:latin typeface="Times New Roman" panose="02020603050405020304" pitchFamily="18" charset="0"/>
                <a:cs typeface="Times New Roman" panose="02020603050405020304" pitchFamily="18" charset="0"/>
              </a:rPr>
              <a:t>"date" </a:t>
            </a:r>
            <a:r>
              <a:rPr lang="en-GB" altLang="zh-CN" sz="2400" dirty="0">
                <a:solidFill>
                  <a:srgbClr val="555555"/>
                </a:solidFill>
                <a:latin typeface="Times New Roman" panose="02020603050405020304" pitchFamily="18" charset="0"/>
                <a:cs typeface="Times New Roman" panose="02020603050405020304" pitchFamily="18" charset="0"/>
              </a:rPr>
              <a:t>) </a:t>
            </a:r>
            <a:endParaRPr lang="en-US" altLang="zh-CN" sz="2400" dirty="0">
              <a:solidFill>
                <a:srgbClr val="000000"/>
              </a:solidFill>
              <a:latin typeface="Times New Roman" panose="02020603050405020304" pitchFamily="18" charset="0"/>
              <a:cs typeface="Times New Roman" panose="02020603050405020304" pitchFamily="18" charset="0"/>
            </a:endParaRPr>
          </a:p>
          <a:p>
            <a:pPr lvl="1">
              <a:defRPr/>
            </a:pPr>
            <a:r>
              <a:rPr lang="en-GB" altLang="zh-CN" sz="2400" dirty="0">
                <a:solidFill>
                  <a:srgbClr val="000088"/>
                </a:solidFill>
                <a:latin typeface="Times New Roman" panose="02020603050405020304" pitchFamily="18" charset="0"/>
                <a:cs typeface="Times New Roman" panose="02020603050405020304" pitchFamily="18" charset="0"/>
              </a:rPr>
              <a:t>String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expires</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err="1">
                <a:solidFill>
                  <a:srgbClr val="000088"/>
                </a:solidFill>
                <a:latin typeface="Times New Roman" panose="02020603050405020304" pitchFamily="18" charset="0"/>
                <a:cs typeface="Times New Roman" panose="02020603050405020304" pitchFamily="18" charset="0"/>
              </a:rPr>
              <a:t>uc </a:t>
            </a:r>
            <a:r>
              <a:rPr lang="en-GB" altLang="zh-CN" sz="2400" dirty="0" err="1">
                <a:solidFill>
                  <a:srgbClr val="555555"/>
                </a:solidFill>
                <a:latin typeface="Times New Roman" panose="02020603050405020304" pitchFamily="18" charset="0"/>
                <a:cs typeface="Times New Roman" panose="02020603050405020304" pitchFamily="18" charset="0"/>
              </a:rPr>
              <a:t>.getHeaderField </a:t>
            </a:r>
            <a:r>
              <a:rPr lang="en-GB" altLang="zh-CN" sz="2400" dirty="0" err="1">
                <a:solidFill>
                  <a:srgbClr val="330099"/>
                </a:solidFill>
                <a:latin typeface="Times New Roman" panose="02020603050405020304" pitchFamily="18" charset="0"/>
                <a:cs typeface="Times New Roman" panose="02020603050405020304" pitchFamily="18" charset="0"/>
              </a:rPr>
              <a:t>( </a:t>
            </a:r>
            <a:r>
              <a:rPr lang="en-GB" altLang="zh-CN" sz="2400" dirty="0">
                <a:solidFill>
                  <a:srgbClr val="CC3300"/>
                </a:solidFill>
                <a:latin typeface="Times New Roman" panose="02020603050405020304" pitchFamily="18" charset="0"/>
                <a:cs typeface="Times New Roman" panose="02020603050405020304" pitchFamily="18" charset="0"/>
              </a:rPr>
              <a:t>"expires" </a:t>
            </a:r>
            <a:r>
              <a:rPr lang="en-GB" altLang="zh-CN" sz="2400" dirty="0">
                <a:solidFill>
                  <a:srgbClr val="555555"/>
                </a:solidFill>
                <a:latin typeface="Times New Roman" panose="02020603050405020304" pitchFamily="18" charset="0"/>
                <a:cs typeface="Times New Roman" panose="02020603050405020304" pitchFamily="18" charset="0"/>
              </a:rPr>
              <a:t>) </a:t>
            </a:r>
            <a:endParaRPr lang="en-US" altLang="zh-CN" sz="2400" dirty="0">
              <a:solidFill>
                <a:srgbClr val="000000"/>
              </a:solidFill>
              <a:latin typeface="Times New Roman" panose="02020603050405020304" pitchFamily="18" charset="0"/>
              <a:cs typeface="Times New Roman" panose="02020603050405020304" pitchFamily="18" charset="0"/>
            </a:endParaRPr>
          </a:p>
          <a:p>
            <a:pPr lvl="1">
              <a:defRPr/>
            </a:pPr>
            <a:r>
              <a:rPr lang="en-GB" altLang="zh-CN" sz="2400" dirty="0">
                <a:solidFill>
                  <a:srgbClr val="000088"/>
                </a:solidFill>
                <a:latin typeface="Times New Roman" panose="02020603050405020304" pitchFamily="18" charset="0"/>
                <a:cs typeface="Times New Roman" panose="02020603050405020304" pitchFamily="18" charset="0"/>
              </a:rPr>
              <a:t>String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contentLength</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uc </a:t>
            </a:r>
            <a:r>
              <a:rPr lang="en-GB" altLang="zh-CN" sz="2400" dirty="0">
                <a:solidFill>
                  <a:srgbClr val="555555"/>
                </a:solidFill>
                <a:latin typeface="Times New Roman" panose="02020603050405020304" pitchFamily="18" charset="0"/>
                <a:cs typeface="Times New Roman" panose="02020603050405020304" pitchFamily="18" charset="0"/>
              </a:rPr>
              <a:t>.getHeaderField </a:t>
            </a:r>
            <a:r>
              <a:rPr lang="en-GB" altLang="zh-CN" sz="2400" dirty="0">
                <a:solidFill>
                  <a:srgbClr val="330099"/>
                </a:solidFill>
                <a:latin typeface="Times New Roman" panose="02020603050405020304" pitchFamily="18" charset="0"/>
                <a:cs typeface="Times New Roman" panose="02020603050405020304" pitchFamily="18" charset="0"/>
              </a:rPr>
              <a:t>( </a:t>
            </a:r>
            <a:r>
              <a:rPr lang="en-GB" altLang="zh-CN" sz="2400" dirty="0">
                <a:solidFill>
                  <a:srgbClr val="CC3300"/>
                </a:solidFill>
                <a:latin typeface="Times New Roman" panose="02020603050405020304" pitchFamily="18" charset="0"/>
                <a:cs typeface="Times New Roman" panose="02020603050405020304" pitchFamily="18" charset="0"/>
              </a:rPr>
              <a:t>"Content-length" </a:t>
            </a:r>
            <a:r>
              <a:rPr lang="en-GB" altLang="zh-CN" sz="2400" dirty="0">
                <a:solidFill>
                  <a:srgbClr val="555555"/>
                </a:solidFill>
                <a:latin typeface="Times New Roman" panose="02020603050405020304" pitchFamily="18" charset="0"/>
                <a:cs typeface="Times New Roman" panose="02020603050405020304" pitchFamily="18" charset="0"/>
              </a:rPr>
              <a:t>) ;</a:t>
            </a:r>
            <a:endParaRPr lang="en-GB" altLang="zh-CN" sz="2400" dirty="0">
              <a:solidFill>
                <a:srgbClr val="55555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228600" y="278343"/>
            <a:ext cx="11734800" cy="719137"/>
          </a:xfrm>
        </p:spPr>
        <p:txBody>
          <a:bodyPr/>
          <a:lstStyle/>
          <a:p>
            <a:r>
              <a:rPr lang="en-US" altLang="en-US" sz="2800" b="1" dirty="0"/>
              <a:t>g</a:t>
            </a:r>
            <a:r>
              <a:rPr lang="en-GB" altLang="en-US" sz="2800" b="1" dirty="0"/>
              <a:t>etHeaderField</a:t>
            </a:r>
            <a:r>
              <a:rPr lang="en-US" altLang="en-US" sz="2800" b="1" dirty="0"/>
              <a:t>()</a:t>
            </a:r>
            <a:r>
              <a:rPr lang="en-GB" altLang="en-US" sz="2800" b="1" dirty="0"/>
              <a:t> method to </a:t>
            </a:r>
            <a:r>
              <a:rPr lang="en-US" altLang="en-US" sz="2800" b="1" dirty="0"/>
              <a:t>get</a:t>
            </a:r>
            <a:r>
              <a:rPr lang="en-GB" altLang="en-US" sz="2800" b="1" dirty="0"/>
              <a:t> entire </a:t>
            </a:r>
            <a:r>
              <a:rPr lang="en-GB" altLang="zh-CN" sz="2800" b="1" dirty="0"/>
              <a:t>HTTP </a:t>
            </a:r>
            <a:r>
              <a:rPr lang="en-US" altLang="zh-CN" sz="2800" b="1" dirty="0"/>
              <a:t>response</a:t>
            </a:r>
            <a:endParaRPr lang="en-GB" altLang="en-US" sz="2800" b="1" dirty="0"/>
          </a:p>
        </p:txBody>
      </p:sp>
      <p:sp>
        <p:nvSpPr>
          <p:cNvPr id="17411" name="内容占位符 2"/>
          <p:cNvSpPr>
            <a:spLocks noGrp="1"/>
          </p:cNvSpPr>
          <p:nvPr>
            <p:ph idx="1"/>
          </p:nvPr>
        </p:nvSpPr>
        <p:spPr>
          <a:xfrm>
            <a:off x="152400" y="1143001"/>
            <a:ext cx="11887200" cy="4498975"/>
          </a:xfrm>
        </p:spPr>
        <p:txBody>
          <a:bodyPr/>
          <a:lstStyle/>
          <a:p>
            <a:r>
              <a:rPr lang="en-GB" altLang="en-US" sz="2400" dirty="0">
                <a:latin typeface="Times New Roman" panose="02020603050405020304" pitchFamily="18" charset="0"/>
                <a:cs typeface="Times New Roman" panose="02020603050405020304" pitchFamily="18" charset="0"/>
              </a:rPr>
              <a:t>Programming implementation: Provide any </a:t>
            </a:r>
            <a:r>
              <a:rPr lang="en-GB" altLang="zh-CN" sz="2400" dirty="0">
                <a:latin typeface="Times New Roman" panose="02020603050405020304" pitchFamily="18" charset="0"/>
                <a:cs typeface="Times New Roman" panose="02020603050405020304" pitchFamily="18" charset="0"/>
              </a:rPr>
              <a:t>URL </a:t>
            </a:r>
            <a:r>
              <a:rPr lang="en-GB" altLang="en-US" sz="2400" dirty="0">
                <a:latin typeface="Times New Roman" panose="02020603050405020304" pitchFamily="18" charset="0"/>
                <a:cs typeface="Times New Roman" panose="02020603050405020304" pitchFamily="18" charset="0"/>
              </a:rPr>
              <a:t>and display the entire header of the </a:t>
            </a:r>
            <a:r>
              <a:rPr lang="en-GB" altLang="zh-CN" sz="2400" dirty="0">
                <a:latin typeface="Times New Roman" panose="02020603050405020304" pitchFamily="18" charset="0"/>
                <a:cs typeface="Times New Roman" panose="02020603050405020304" pitchFamily="18" charset="0"/>
              </a:rPr>
              <a:t>HTTP </a:t>
            </a:r>
            <a:r>
              <a:rPr lang="en-GB" altLang="en-US" sz="2400" dirty="0">
                <a:latin typeface="Times New Roman" panose="02020603050405020304" pitchFamily="18" charset="0"/>
                <a:cs typeface="Times New Roman" panose="02020603050405020304" pitchFamily="18" charset="0"/>
              </a:rPr>
              <a:t>server response in the console.</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Demonstration example code </a:t>
            </a:r>
            <a:r>
              <a:rPr lang="en-GB" altLang="zh-CN" sz="2400" dirty="0">
                <a:latin typeface="Times New Roman" panose="02020603050405020304" pitchFamily="18" charset="0"/>
                <a:cs typeface="Times New Roman" panose="02020603050405020304" pitchFamily="18" charset="0"/>
              </a:rPr>
              <a:t>ch7. AllHeaders.java</a:t>
            </a:r>
            <a:endParaRPr lang="en-GB"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Input parameter </a:t>
            </a:r>
            <a:r>
              <a:rPr lang="en-GB" altLang="zh-CN" sz="2400" dirty="0">
                <a:latin typeface="Times New Roman" panose="02020603050405020304" pitchFamily="18" charset="0"/>
                <a:cs typeface="Times New Roman" panose="02020603050405020304" pitchFamily="18" charset="0"/>
              </a:rPr>
              <a:t>http://www.szu.edu.cn/szu.asp </a:t>
            </a:r>
            <a:r>
              <a:rPr lang="en-GB" altLang="en-US" sz="2400" dirty="0">
                <a:latin typeface="Times New Roman" panose="02020603050405020304" pitchFamily="18" charset="0"/>
                <a:cs typeface="Times New Roman" panose="02020603050405020304" pitchFamily="18" charset="0"/>
              </a:rPr>
              <a:t>, running result:</a:t>
            </a:r>
            <a:endParaRPr lang="en-US" altLang="zh-CN" sz="24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p:txBody>
      </p:sp>
      <p:pic>
        <p:nvPicPr>
          <p:cNvPr id="573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3048000"/>
            <a:ext cx="8320088"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a:spLocks noChangeArrowheads="1"/>
          </p:cNvSpPr>
          <p:nvPr/>
        </p:nvSpPr>
        <p:spPr bwMode="auto">
          <a:xfrm>
            <a:off x="2438400" y="5933018"/>
            <a:ext cx="6248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solidFill>
                  <a:srgbClr val="FF0000"/>
                </a:solidFill>
              </a:rPr>
              <a:t>Different servers may have different sets of headers.</a:t>
            </a:r>
            <a:endParaRPr lang="en-GB" altLang="en-US" sz="1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558925" y="115889"/>
            <a:ext cx="8540750" cy="719137"/>
          </a:xfrm>
        </p:spPr>
        <p:txBody>
          <a:bodyPr/>
          <a:lstStyle/>
          <a:p>
            <a:pPr algn="l"/>
            <a:r>
              <a:rPr lang="en-GB" altLang="en-US" sz="2800"/>
              <a:t>Use the Get Any Header Field method to display the entire </a:t>
            </a:r>
            <a:r>
              <a:rPr lang="en-GB" altLang="zh-CN" sz="2800"/>
              <a:t>HTTP </a:t>
            </a:r>
            <a:r>
              <a:rPr lang="en-GB" altLang="en-US" sz="2800"/>
              <a:t>request</a:t>
            </a:r>
            <a:endParaRPr lang="en-GB" altLang="en-US" sz="2800"/>
          </a:p>
        </p:txBody>
      </p:sp>
      <p:pic>
        <p:nvPicPr>
          <p:cNvPr id="45059"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73214" y="115889"/>
            <a:ext cx="9018587" cy="649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文本框 8"/>
          <p:cNvSpPr txBox="1">
            <a:spLocks noChangeArrowheads="1"/>
          </p:cNvSpPr>
          <p:nvPr/>
        </p:nvSpPr>
        <p:spPr bwMode="auto">
          <a:xfrm>
            <a:off x="5243514" y="6246813"/>
            <a:ext cx="1677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solidFill>
                  <a:srgbClr val="FF0000"/>
                </a:solidFill>
                <a:latin typeface="Times New Roman" panose="02020603050405020304" pitchFamily="18" charset="0"/>
                <a:cs typeface="Times New Roman" panose="02020603050405020304" pitchFamily="18" charset="0"/>
              </a:rPr>
              <a:t>AllHeaders.java</a:t>
            </a:r>
            <a:endParaRPr lang="en-GB" altLang="zh-CN" sz="18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1825625" y="228600"/>
            <a:ext cx="8540750" cy="685800"/>
          </a:xfrm>
        </p:spPr>
        <p:txBody>
          <a:bodyPr/>
          <a:lstStyle/>
          <a:p>
            <a:pPr algn="l"/>
            <a:r>
              <a:rPr lang="en-GB" altLang="en-US" sz="3200"/>
              <a:t>Methods for getting arbitrary header fields</a:t>
            </a:r>
            <a:endParaRPr lang="en-GB" altLang="en-US" sz="3200"/>
          </a:p>
        </p:txBody>
      </p:sp>
      <p:sp>
        <p:nvSpPr>
          <p:cNvPr id="46083" name="内容占位符 2"/>
          <p:cNvSpPr>
            <a:spLocks noGrp="1"/>
          </p:cNvSpPr>
          <p:nvPr>
            <p:ph idx="1"/>
          </p:nvPr>
        </p:nvSpPr>
        <p:spPr>
          <a:xfrm>
            <a:off x="762000" y="1143001"/>
            <a:ext cx="10744200" cy="4498975"/>
          </a:xfrm>
        </p:spPr>
        <p:txBody>
          <a:bodyPr/>
          <a:lstStyle/>
          <a:p>
            <a:r>
              <a:rPr lang="en-GB" altLang="zh-CN" sz="2800" dirty="0">
                <a:latin typeface="Times New Roman" panose="02020603050405020304" pitchFamily="18" charset="0"/>
                <a:cs typeface="Times New Roman" panose="02020603050405020304" pitchFamily="18" charset="0"/>
              </a:rPr>
              <a:t>public String getHeaderFieldKey(int n)</a:t>
            </a:r>
            <a:endParaRPr lang="en-GB" altLang="zh-CN" sz="2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400" dirty="0">
                <a:latin typeface="Times New Roman" panose="02020603050405020304" pitchFamily="18" charset="0"/>
                <a:cs typeface="Times New Roman" panose="02020603050405020304" pitchFamily="18" charset="0"/>
              </a:rPr>
              <a:t>The </a:t>
            </a:r>
            <a:r>
              <a:rPr lang="en-GB" altLang="zh-CN" sz="2400" dirty="0">
                <a:latin typeface="Times New Roman" panose="02020603050405020304" pitchFamily="18" charset="0"/>
                <a:cs typeface="Times New Roman" panose="02020603050405020304" pitchFamily="18" charset="0"/>
              </a:rPr>
              <a:t>nth </a:t>
            </a:r>
            <a:r>
              <a:rPr lang="en-GB" altLang="en-US" sz="2400" dirty="0">
                <a:latin typeface="Times New Roman" panose="02020603050405020304" pitchFamily="18" charset="0"/>
                <a:cs typeface="Times New Roman" panose="02020603050405020304" pitchFamily="18" charset="0"/>
              </a:rPr>
              <a:t>field name</a:t>
            </a:r>
            <a:endParaRPr lang="en-US" altLang="zh-CN" sz="2400" dirty="0">
              <a:latin typeface="Times New Roman" panose="02020603050405020304" pitchFamily="18" charset="0"/>
              <a:cs typeface="Times New Roman" panose="02020603050405020304" pitchFamily="18" charset="0"/>
            </a:endParaRPr>
          </a:p>
          <a:p>
            <a:r>
              <a:rPr lang="en-GB" altLang="zh-CN" sz="2800" dirty="0">
                <a:latin typeface="Times New Roman" panose="02020603050405020304" pitchFamily="18" charset="0"/>
                <a:cs typeface="Times New Roman" panose="02020603050405020304" pitchFamily="18" charset="0"/>
              </a:rPr>
              <a:t>public String getHeaderField(int n)</a:t>
            </a:r>
            <a:endParaRPr lang="en-GB" altLang="zh-CN" sz="2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400" dirty="0">
                <a:latin typeface="Times New Roman" panose="02020603050405020304" pitchFamily="18" charset="0"/>
                <a:cs typeface="Times New Roman" panose="02020603050405020304" pitchFamily="18" charset="0"/>
              </a:rPr>
              <a:t>The nth </a:t>
            </a:r>
            <a:r>
              <a:rPr lang="en-GB" altLang="en-US" sz="2400" dirty="0">
                <a:latin typeface="Times New Roman" panose="02020603050405020304" pitchFamily="18" charset="0"/>
                <a:cs typeface="Times New Roman" panose="02020603050405020304" pitchFamily="18" charset="0"/>
              </a:rPr>
              <a:t>field value</a:t>
            </a:r>
            <a:endParaRPr lang="en-US" altLang="zh-CN" sz="2400" dirty="0">
              <a:latin typeface="Times New Roman" panose="02020603050405020304" pitchFamily="18" charset="0"/>
              <a:cs typeface="Times New Roman" panose="02020603050405020304" pitchFamily="18" charset="0"/>
            </a:endParaRPr>
          </a:p>
          <a:p>
            <a:r>
              <a:rPr lang="en-GB" altLang="en-US" sz="2800" dirty="0">
                <a:latin typeface="Times New Roman" panose="02020603050405020304" pitchFamily="18" charset="0"/>
                <a:cs typeface="Times New Roman" panose="02020603050405020304" pitchFamily="18" charset="0"/>
              </a:rPr>
              <a:t>These two methods can realize the traversal of all header fields</a:t>
            </a:r>
            <a:endParaRPr lang="en-US" altLang="zh-CN" sz="2800" dirty="0">
              <a:latin typeface="Times New Roman" panose="02020603050405020304" pitchFamily="18" charset="0"/>
              <a:cs typeface="Times New Roman" panose="02020603050405020304" pitchFamily="18" charset="0"/>
            </a:endParaRPr>
          </a:p>
          <a:p>
            <a:r>
              <a:rPr lang="en-GB" altLang="en-US" sz="2800" dirty="0">
                <a:latin typeface="Times New Roman" panose="02020603050405020304" pitchFamily="18" charset="0"/>
                <a:cs typeface="Times New Roman" panose="02020603050405020304" pitchFamily="18" charset="0"/>
              </a:rPr>
              <a:t>(Because it is impossible to predict which fields the </a:t>
            </a:r>
            <a:r>
              <a:rPr lang="en-GB" altLang="zh-CN" sz="2800" dirty="0">
                <a:latin typeface="Times New Roman" panose="02020603050405020304" pitchFamily="18" charset="0"/>
                <a:cs typeface="Times New Roman" panose="02020603050405020304" pitchFamily="18" charset="0"/>
              </a:rPr>
              <a:t>HTTP </a:t>
            </a:r>
            <a:r>
              <a:rPr lang="en-GB" altLang="en-US" sz="2800" dirty="0">
                <a:latin typeface="Times New Roman" panose="02020603050405020304" pitchFamily="18" charset="0"/>
                <a:cs typeface="Times New Roman" panose="02020603050405020304" pitchFamily="18" charset="0"/>
              </a:rPr>
              <a:t>server will send)</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1600200" y="152400"/>
            <a:ext cx="8540750" cy="609600"/>
          </a:xfrm>
        </p:spPr>
        <p:txBody>
          <a:bodyPr/>
          <a:lstStyle/>
          <a:p>
            <a:pPr algn="l"/>
            <a:r>
              <a:rPr lang="en-GB" altLang="zh-CN" sz="3200" b="1" dirty="0"/>
              <a:t>3. </a:t>
            </a:r>
            <a:r>
              <a:rPr lang="en-US" altLang="zh-CN" sz="3200" b="1" dirty="0"/>
              <a:t>Web Caching: Purpose and Mechanisms</a:t>
            </a:r>
            <a:endParaRPr lang="en-GB" altLang="en-US" sz="3200" b="1" dirty="0"/>
          </a:p>
        </p:txBody>
      </p:sp>
      <p:sp>
        <p:nvSpPr>
          <p:cNvPr id="2" name="Rectangle 1"/>
          <p:cNvSpPr/>
          <p:nvPr/>
        </p:nvSpPr>
        <p:spPr>
          <a:xfrm>
            <a:off x="193675" y="762000"/>
            <a:ext cx="11845925" cy="3001463"/>
          </a:xfrm>
          <a:prstGeom prst="rect">
            <a:avLst/>
          </a:prstGeom>
        </p:spPr>
        <p:txBody>
          <a:bodyPr wrap="square">
            <a:spAutoFit/>
          </a:bodyPr>
          <a:lstStyle/>
          <a:p>
            <a:pPr marL="0" marR="0">
              <a:lnSpc>
                <a:spcPct val="107000"/>
              </a:lnSpc>
              <a:spcBef>
                <a:spcPts val="0"/>
              </a:spcBef>
              <a:spcAft>
                <a:spcPts val="800"/>
              </a:spcAft>
            </a:pPr>
            <a:r>
              <a:rPr lang="en-US" sz="16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Why Caching Matters: </a:t>
            </a:r>
            <a:r>
              <a:rPr lang="en-US" sz="1600" dirty="0">
                <a:latin typeface="Calibri" panose="020F0502020204030204" pitchFamily="34" charset="0"/>
                <a:ea typeface="宋体" panose="02010600030101010101" pitchFamily="2" charset="-122"/>
                <a:cs typeface="Times New Roman" panose="02020603050405020304" pitchFamily="18" charset="0"/>
              </a:rPr>
              <a:t>Caching stores frequently accessed web resources (like pages or images) locally after their initial download from a server. Subsequent requests for the same resource load from this local cache instead of repeatedly fetching them from the remote server. This:</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342900" indent="-342900">
              <a:lnSpc>
                <a:spcPct val="107000"/>
              </a:lnSpc>
              <a:spcBef>
                <a:spcPts val="0"/>
              </a:spcBef>
              <a:spcAft>
                <a:spcPts val="800"/>
              </a:spcAft>
              <a:buSzPts val="1000"/>
              <a:buFont typeface="Wingdings" panose="05000000000000000000" pitchFamily="2" charset="2"/>
              <a:buChar char="v"/>
              <a:tabLst>
                <a:tab pos="457200" algn="l"/>
              </a:tabLst>
            </a:pPr>
            <a:r>
              <a:rPr lang="en-US" sz="1600" b="1" dirty="0">
                <a:latin typeface="Calibri" panose="020F0502020204030204" pitchFamily="34" charset="0"/>
                <a:ea typeface="宋体" panose="02010600030101010101" pitchFamily="2" charset="-122"/>
                <a:cs typeface="Times New Roman" panose="02020603050405020304" pitchFamily="18" charset="0"/>
              </a:rPr>
              <a:t>Reduces latency</a:t>
            </a:r>
            <a:r>
              <a:rPr lang="en-US" sz="1600" dirty="0">
                <a:latin typeface="Calibri" panose="020F0502020204030204" pitchFamily="34" charset="0"/>
                <a:ea typeface="宋体" panose="02010600030101010101" pitchFamily="2" charset="-122"/>
                <a:cs typeface="Times New Roman" panose="02020603050405020304" pitchFamily="18" charset="0"/>
              </a:rPr>
              <a:t> (faster load times).</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342900" indent="-342900">
              <a:lnSpc>
                <a:spcPct val="107000"/>
              </a:lnSpc>
              <a:spcBef>
                <a:spcPts val="0"/>
              </a:spcBef>
              <a:spcAft>
                <a:spcPts val="800"/>
              </a:spcAft>
              <a:buSzPts val="1000"/>
              <a:buFont typeface="Wingdings" panose="05000000000000000000" pitchFamily="2" charset="2"/>
              <a:buChar char="v"/>
              <a:tabLst>
                <a:tab pos="4572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Lowers bandwidth usage</a:t>
            </a:r>
            <a:r>
              <a:rPr lang="en-US" sz="1400" dirty="0">
                <a:latin typeface="Calibri" panose="020F0502020204030204" pitchFamily="34" charset="0"/>
                <a:ea typeface="宋体" panose="02010600030101010101" pitchFamily="2" charset="-122"/>
                <a:cs typeface="Times New Roman" panose="02020603050405020304" pitchFamily="18" charset="0"/>
              </a:rPr>
              <a:t> (fewer redundant downloads).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342900" indent="-342900">
              <a:lnSpc>
                <a:spcPct val="107000"/>
              </a:lnSpc>
              <a:spcBef>
                <a:spcPts val="0"/>
              </a:spcBef>
              <a:spcAft>
                <a:spcPts val="800"/>
              </a:spcAft>
              <a:buSzPts val="1000"/>
              <a:buFont typeface="Wingdings" panose="05000000000000000000" pitchFamily="2" charset="2"/>
              <a:buChar char="v"/>
              <a:tabLst>
                <a:tab pos="4572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Decreases server load</a:t>
            </a:r>
            <a:r>
              <a:rPr lang="en-US" sz="1400" dirty="0">
                <a:latin typeface="Calibri" panose="020F0502020204030204" pitchFamily="34" charset="0"/>
                <a:ea typeface="宋体" panose="02010600030101010101" pitchFamily="2" charset="-122"/>
                <a:cs typeface="Times New Roman" panose="02020603050405020304" pitchFamily="18" charset="0"/>
              </a:rPr>
              <a:t> (fewer repeated requests).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Default Caching Behavior</a:t>
            </a:r>
            <a:endParaRPr lang="en-US" sz="1600"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v"/>
              <a:tabLst>
                <a:tab pos="457200" algn="l"/>
              </a:tabLst>
            </a:pPr>
            <a:r>
              <a:rPr lang="en-US" sz="1600" b="1" dirty="0">
                <a:latin typeface="Calibri" panose="020F0502020204030204" pitchFamily="34" charset="0"/>
                <a:ea typeface="宋体" panose="02010600030101010101" pitchFamily="2" charset="-122"/>
                <a:cs typeface="Times New Roman" panose="02020603050405020304" pitchFamily="18" charset="0"/>
              </a:rPr>
              <a:t>GET requests over HTTP</a:t>
            </a:r>
            <a:r>
              <a:rPr lang="en-US" sz="1600" dirty="0">
                <a:latin typeface="Calibri" panose="020F0502020204030204" pitchFamily="34" charset="0"/>
                <a:ea typeface="宋体" panose="02010600030101010101" pitchFamily="2" charset="-122"/>
                <a:cs typeface="Times New Roman" panose="02020603050405020304" pitchFamily="18" charset="0"/>
              </a:rPr>
              <a:t> are cacheable by default.</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v"/>
              <a:tabLst>
                <a:tab pos="457200" algn="l"/>
              </a:tabLst>
            </a:pPr>
            <a:r>
              <a:rPr lang="en-US" sz="1600" b="1" dirty="0">
                <a:latin typeface="Calibri" panose="020F0502020204030204" pitchFamily="34" charset="0"/>
                <a:ea typeface="宋体" panose="02010600030101010101" pitchFamily="2" charset="-122"/>
                <a:cs typeface="Times New Roman" panose="02020603050405020304" pitchFamily="18" charset="0"/>
              </a:rPr>
              <a:t>POST requests</a:t>
            </a:r>
            <a:r>
              <a:rPr lang="en-US" sz="1600" dirty="0">
                <a:latin typeface="Calibri" panose="020F0502020204030204" pitchFamily="34" charset="0"/>
                <a:ea typeface="宋体" panose="02010600030101010101" pitchFamily="2" charset="-122"/>
                <a:cs typeface="Times New Roman" panose="02020603050405020304" pitchFamily="18" charset="0"/>
              </a:rPr>
              <a:t> are typically not cached due to their non-idempotent nature. </a:t>
            </a:r>
            <a:r>
              <a:rPr lang="en-US" sz="1050" b="1" dirty="0">
                <a:latin typeface="Calibri" panose="020F0502020204030204" pitchFamily="34" charset="0"/>
                <a:ea typeface="宋体" panose="02010600030101010101" pitchFamily="2" charset="-122"/>
                <a:cs typeface="Times New Roman" panose="02020603050405020304" pitchFamily="18" charset="0"/>
              </a:rPr>
              <a:t>(</a:t>
            </a:r>
            <a:r>
              <a:rPr lang="en-US" sz="1050" b="1" dirty="0"/>
              <a:t>meaning that subsequent calls with the same input can yield different results.</a:t>
            </a:r>
            <a:r>
              <a:rPr lang="en-US" sz="1050" b="1" dirty="0">
                <a:latin typeface="Calibri" panose="020F0502020204030204" pitchFamily="34" charset="0"/>
                <a:ea typeface="宋体" panose="02010600030101010101" pitchFamily="2" charset="-122"/>
                <a:cs typeface="Times New Roman" panose="02020603050405020304" pitchFamily="18" charset="0"/>
              </a:rPr>
              <a:t>)</a:t>
            </a:r>
            <a:endParaRPr lang="en-US" sz="1600" b="1"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Rectangle 2"/>
          <p:cNvSpPr/>
          <p:nvPr/>
        </p:nvSpPr>
        <p:spPr>
          <a:xfrm>
            <a:off x="269875" y="3794946"/>
            <a:ext cx="11541125" cy="2803909"/>
          </a:xfrm>
          <a:prstGeom prst="rect">
            <a:avLst/>
          </a:prstGeom>
        </p:spPr>
        <p:txBody>
          <a:bodyPr wrap="square">
            <a:spAutoFit/>
          </a:bodyPr>
          <a:lstStyle/>
          <a:p>
            <a:pPr marL="0" marR="0">
              <a:lnSpc>
                <a:spcPct val="107000"/>
              </a:lnSpc>
              <a:spcBef>
                <a:spcPts val="0"/>
              </a:spcBef>
              <a:spcAft>
                <a:spcPts val="800"/>
              </a:spcAft>
            </a:pPr>
            <a:r>
              <a:rPr lang="en-US" sz="16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Cache Control Mechanisms</a:t>
            </a:r>
            <a:endParaRPr lang="en-US" sz="1600" b="1"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600" dirty="0">
                <a:latin typeface="Calibri" panose="020F0502020204030204" pitchFamily="34" charset="0"/>
                <a:ea typeface="宋体" panose="02010600030101010101" pitchFamily="2" charset="-122"/>
                <a:cs typeface="Times New Roman" panose="02020603050405020304" pitchFamily="18" charset="0"/>
              </a:rPr>
              <a:t>Expires</a:t>
            </a:r>
            <a:r>
              <a:rPr lang="en-US" sz="1600" b="1" dirty="0">
                <a:latin typeface="Calibri" panose="020F0502020204030204" pitchFamily="34" charset="0"/>
                <a:ea typeface="宋体" panose="02010600030101010101" pitchFamily="2" charset="-122"/>
                <a:cs typeface="Times New Roman" panose="02020603050405020304" pitchFamily="18" charset="0"/>
              </a:rPr>
              <a:t> Header : </a:t>
            </a:r>
            <a:r>
              <a:rPr lang="en-US" sz="1600" dirty="0">
                <a:latin typeface="Calibri" panose="020F0502020204030204" pitchFamily="34" charset="0"/>
                <a:ea typeface="宋体" panose="02010600030101010101" pitchFamily="2" charset="-122"/>
                <a:cs typeface="Times New Roman" panose="02020603050405020304" pitchFamily="18" charset="0"/>
              </a:rPr>
              <a:t>Specifies an absolute expiration time (e.g., Expires: Wed, 21 Oct 2025 07:28:00 GMT). After this time, the cached resource is considered stale.</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600" dirty="0">
                <a:latin typeface="Calibri" panose="020F0502020204030204" pitchFamily="34" charset="0"/>
                <a:ea typeface="宋体" panose="02010600030101010101" pitchFamily="2" charset="-122"/>
                <a:cs typeface="Times New Roman" panose="02020603050405020304" pitchFamily="18" charset="0"/>
              </a:rPr>
              <a:t>Cache-Control</a:t>
            </a:r>
            <a:r>
              <a:rPr lang="en-US" sz="1600" b="1" dirty="0">
                <a:latin typeface="Calibri" panose="020F0502020204030204" pitchFamily="34" charset="0"/>
                <a:ea typeface="宋体" panose="02010600030101010101" pitchFamily="2" charset="-122"/>
                <a:cs typeface="Times New Roman" panose="02020603050405020304" pitchFamily="18" charset="0"/>
              </a:rPr>
              <a:t> Header:  </a:t>
            </a:r>
            <a:r>
              <a:rPr lang="en-US" sz="1600" dirty="0">
                <a:latin typeface="Calibri" panose="020F0502020204030204" pitchFamily="34" charset="0"/>
                <a:ea typeface="宋体" panose="02010600030101010101" pitchFamily="2" charset="-122"/>
                <a:cs typeface="Times New Roman" panose="02020603050405020304" pitchFamily="18" charset="0"/>
              </a:rPr>
              <a:t>Offers granular control via directives:</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v"/>
              <a:tabLst>
                <a:tab pos="1371600" algn="l"/>
              </a:tabLst>
            </a:pPr>
            <a:r>
              <a:rPr lang="en-US" sz="1600" dirty="0">
                <a:latin typeface="Calibri" panose="020F0502020204030204" pitchFamily="34" charset="0"/>
                <a:ea typeface="宋体" panose="02010600030101010101" pitchFamily="2" charset="-122"/>
                <a:cs typeface="Times New Roman" panose="02020603050405020304" pitchFamily="18" charset="0"/>
              </a:rPr>
              <a:t>max-age=3600: Cache for 1 hour (relative expiration).</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v"/>
              <a:tabLst>
                <a:tab pos="1371600" algn="l"/>
              </a:tabLst>
            </a:pPr>
            <a:r>
              <a:rPr lang="en-US" sz="1600" dirty="0">
                <a:latin typeface="Calibri" panose="020F0502020204030204" pitchFamily="34" charset="0"/>
                <a:ea typeface="宋体" panose="02010600030101010101" pitchFamily="2" charset="-122"/>
                <a:cs typeface="Times New Roman" panose="02020603050405020304" pitchFamily="18" charset="0"/>
              </a:rPr>
              <a:t>no-cache: Revalidate with the server before using the cache.</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v"/>
              <a:tabLst>
                <a:tab pos="1371600" algn="l"/>
              </a:tabLst>
            </a:pPr>
            <a:r>
              <a:rPr lang="en-US" sz="1600" dirty="0">
                <a:latin typeface="Calibri" panose="020F0502020204030204" pitchFamily="34" charset="0"/>
                <a:ea typeface="宋体" panose="02010600030101010101" pitchFamily="2" charset="-122"/>
                <a:cs typeface="Times New Roman" panose="02020603050405020304" pitchFamily="18" charset="0"/>
              </a:rPr>
              <a:t>no-store: Disallows caching entirely (for sensitive data).</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v"/>
              <a:tabLst>
                <a:tab pos="1371600" algn="l"/>
              </a:tabLst>
            </a:pPr>
            <a:r>
              <a:rPr lang="en-US" sz="1600" dirty="0">
                <a:latin typeface="Calibri" panose="020F0502020204030204" pitchFamily="34" charset="0"/>
                <a:ea typeface="宋体" panose="02010600030101010101" pitchFamily="2" charset="-122"/>
                <a:cs typeface="Times New Roman" panose="02020603050405020304" pitchFamily="18" charset="0"/>
              </a:rPr>
              <a:t>public/private: Controls whether shared (CDN) or private (browser-only) caching is allowed.</a:t>
            </a:r>
            <a:endParaRPr lang="en-US" sz="1600"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1676400" y="88901"/>
            <a:ext cx="8540750" cy="557213"/>
          </a:xfrm>
        </p:spPr>
        <p:txBody>
          <a:bodyPr/>
          <a:lstStyle/>
          <a:p>
            <a:pPr algn="l"/>
            <a:r>
              <a:rPr lang="en-GB" altLang="zh-CN" sz="3200"/>
              <a:t>Web </a:t>
            </a:r>
            <a:r>
              <a:rPr lang="en-GB" altLang="en-US" sz="3200"/>
              <a:t>Cache</a:t>
            </a:r>
            <a:endParaRPr lang="en-GB" altLang="en-US" sz="3200"/>
          </a:p>
        </p:txBody>
      </p:sp>
      <p:sp>
        <p:nvSpPr>
          <p:cNvPr id="18435" name="内容占位符 2"/>
          <p:cNvSpPr>
            <a:spLocks noGrp="1"/>
          </p:cNvSpPr>
          <p:nvPr>
            <p:ph idx="1"/>
          </p:nvPr>
        </p:nvSpPr>
        <p:spPr>
          <a:xfrm>
            <a:off x="304800" y="666750"/>
            <a:ext cx="11582399" cy="5810250"/>
          </a:xfrm>
        </p:spPr>
        <p:txBody>
          <a:bodyPr/>
          <a:lstStyle/>
          <a:p>
            <a:r>
              <a:rPr lang="en-GB" altLang="zh-CN" sz="2200" dirty="0">
                <a:latin typeface="Times New Roman" panose="02020603050405020304" pitchFamily="18" charset="0"/>
                <a:cs typeface="Times New Roman" panose="02020603050405020304" pitchFamily="18" charset="0"/>
              </a:rPr>
              <a:t>HTTP </a:t>
            </a:r>
            <a:r>
              <a:rPr lang="en-GB" altLang="en-US" sz="2200" dirty="0">
                <a:latin typeface="Times New Roman" panose="02020603050405020304" pitchFamily="18" charset="0"/>
                <a:cs typeface="Times New Roman" panose="02020603050405020304" pitchFamily="18" charset="0"/>
              </a:rPr>
              <a:t>client program sees the following </a:t>
            </a:r>
            <a:r>
              <a:rPr lang="en-GB" altLang="zh-CN" sz="2200" dirty="0">
                <a:latin typeface="Times New Roman" panose="02020603050405020304" pitchFamily="18" charset="0"/>
                <a:cs typeface="Times New Roman" panose="02020603050405020304" pitchFamily="18" charset="0"/>
              </a:rPr>
              <a:t>HTTP </a:t>
            </a:r>
            <a:r>
              <a:rPr lang="en-GB" altLang="en-US" sz="2200" dirty="0">
                <a:latin typeface="Times New Roman" panose="02020603050405020304" pitchFamily="18" charset="0"/>
                <a:cs typeface="Times New Roman" panose="02020603050405020304" pitchFamily="18" charset="0"/>
              </a:rPr>
              <a:t>response header and there is a resource with </a:t>
            </a:r>
            <a:r>
              <a:rPr lang="en-GB" altLang="zh-CN" sz="2200" dirty="0">
                <a:latin typeface="Times New Roman" panose="02020603050405020304" pitchFamily="18" charset="0"/>
                <a:cs typeface="Times New Roman" panose="02020603050405020304" pitchFamily="18" charset="0"/>
              </a:rPr>
              <a:t>Etag 67099097696afcf1b67e in the local cache </a:t>
            </a:r>
            <a:r>
              <a:rPr lang="en-GB" altLang="en-US" sz="2200" dirty="0">
                <a:latin typeface="Times New Roman" panose="02020603050405020304" pitchFamily="18" charset="0"/>
                <a:cs typeface="Times New Roman" panose="02020603050405020304" pitchFamily="18" charset="0"/>
              </a:rPr>
              <a:t>, Does it still need to load the entire document?</a:t>
            </a:r>
            <a:endParaRPr lang="en-US" altLang="zh-CN" sz="2200" dirty="0">
              <a:latin typeface="Times New Roman" panose="02020603050405020304" pitchFamily="18" charset="0"/>
              <a:cs typeface="Times New Roman" panose="02020603050405020304" pitchFamily="18" charset="0"/>
            </a:endParaRPr>
          </a:p>
          <a:p>
            <a:pPr marL="0" indent="0">
              <a:buNone/>
            </a:pPr>
            <a:endParaRPr lang="en-US" altLang="zh-CN" sz="22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sp>
        <p:nvSpPr>
          <p:cNvPr id="48132" name="矩形 3"/>
          <p:cNvSpPr>
            <a:spLocks noChangeArrowheads="1"/>
          </p:cNvSpPr>
          <p:nvPr/>
        </p:nvSpPr>
        <p:spPr bwMode="auto">
          <a:xfrm>
            <a:off x="638175" y="2057400"/>
            <a:ext cx="5334000" cy="3140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solidFill>
                  <a:srgbClr val="FF0000"/>
                </a:solidFill>
                <a:latin typeface="Times New Roman" panose="02020603050405020304" pitchFamily="18" charset="0"/>
                <a:cs typeface="Times New Roman" panose="02020603050405020304" pitchFamily="18" charset="0"/>
              </a:rPr>
              <a:t>An </a:t>
            </a:r>
            <a:r>
              <a:rPr lang="en-GB" altLang="zh-CN" sz="1800" b="1" dirty="0">
                <a:solidFill>
                  <a:srgbClr val="FF0000"/>
                </a:solidFill>
                <a:latin typeface="Times New Roman" panose="02020603050405020304" pitchFamily="18" charset="0"/>
                <a:cs typeface="Times New Roman" panose="02020603050405020304" pitchFamily="18" charset="0"/>
              </a:rPr>
              <a:t>HTTP </a:t>
            </a:r>
            <a:r>
              <a:rPr lang="en-GB" altLang="en-US" sz="1800" b="1" dirty="0">
                <a:solidFill>
                  <a:srgbClr val="FF0000"/>
                </a:solidFill>
                <a:latin typeface="Times New Roman" panose="02020603050405020304" pitchFamily="18" charset="0"/>
                <a:cs typeface="Times New Roman" panose="02020603050405020304" pitchFamily="18" charset="0"/>
              </a:rPr>
              <a:t>response header:</a:t>
            </a:r>
            <a:endParaRPr lang="en-US" altLang="zh-CN" sz="18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18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HTTP/1.1 200 OK</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Date: Sun, 21 Apr 2013 15:12:46 GMT</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Server: Apache</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Connection: close</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Content-type: text/html; charset = iso-8859-1</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FF0000"/>
                </a:solidFill>
                <a:latin typeface="Times New Roman" panose="02020603050405020304" pitchFamily="18" charset="0"/>
                <a:cs typeface="Times New Roman" panose="02020603050405020304" pitchFamily="18" charset="0"/>
              </a:rPr>
              <a:t>Cache-control: max-age=604800</a:t>
            </a:r>
            <a:endParaRPr lang="en-GB" altLang="zh-CN" sz="18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latin typeface="Times New Roman" panose="02020603050405020304" pitchFamily="18" charset="0"/>
                <a:cs typeface="Times New Roman" panose="02020603050405020304" pitchFamily="18" charset="0"/>
              </a:rPr>
              <a:t>Expires: Sun,28 Apr 2013 15:12:46GMT</a:t>
            </a:r>
            <a:endParaRPr lang="en-GB" altLang="zh-CN" sz="18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FF0000"/>
                </a:solidFill>
                <a:latin typeface="Times New Roman" panose="02020603050405020304" pitchFamily="18" charset="0"/>
                <a:cs typeface="Times New Roman" panose="02020603050405020304" pitchFamily="18" charset="0"/>
              </a:rPr>
              <a:t>Last-modified: Sat, 20 Apr 2013 09:55:04 GMT</a:t>
            </a:r>
            <a:endParaRPr lang="en-GB" altLang="zh-CN" sz="18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err="1">
                <a:latin typeface="Times New Roman" panose="02020603050405020304" pitchFamily="18" charset="0"/>
                <a:cs typeface="Times New Roman" panose="02020603050405020304" pitchFamily="18" charset="0"/>
              </a:rPr>
              <a:t>Etag </a:t>
            </a:r>
            <a:r>
              <a:rPr lang="en-GB" altLang="zh-CN" sz="1800" dirty="0">
                <a:latin typeface="Times New Roman" panose="02020603050405020304" pitchFamily="18" charset="0"/>
                <a:cs typeface="Times New Roman" panose="02020603050405020304" pitchFamily="18" charset="0"/>
              </a:rPr>
              <a:t>: “67099097696afcf1b67e”</a:t>
            </a:r>
            <a:endParaRPr lang="en-GB" altLang="zh-CN" sz="1800" dirty="0">
              <a:latin typeface="Times New Roman" panose="02020603050405020304" pitchFamily="18" charset="0"/>
              <a:cs typeface="Times New Roman" panose="02020603050405020304" pitchFamily="18" charset="0"/>
            </a:endParaRPr>
          </a:p>
        </p:txBody>
      </p:sp>
      <p:sp>
        <p:nvSpPr>
          <p:cNvPr id="7" name="矩形 6"/>
          <p:cNvSpPr>
            <a:spLocks noChangeArrowheads="1"/>
          </p:cNvSpPr>
          <p:nvPr/>
        </p:nvSpPr>
        <p:spPr bwMode="auto">
          <a:xfrm>
            <a:off x="6705600" y="2590800"/>
            <a:ext cx="472439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en-GB" altLang="en-US" sz="1800" dirty="0"/>
              <a:t>Resources can be cached </a:t>
            </a:r>
            <a:r>
              <a:rPr lang="en-GB" altLang="zh-CN" sz="1800" dirty="0">
                <a:solidFill>
                  <a:srgbClr val="FF0000"/>
                </a:solidFill>
                <a:latin typeface="Times New Roman" panose="02020603050405020304" pitchFamily="18" charset="0"/>
                <a:cs typeface="Times New Roman" panose="02020603050405020304" pitchFamily="18" charset="0"/>
              </a:rPr>
              <a:t>604800</a:t>
            </a:r>
            <a:endParaRPr lang="en-GB" altLang="zh-CN" sz="18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en-US" sz="1800" dirty="0"/>
              <a:t>seconds, that is, cached for one week.</a:t>
            </a:r>
            <a:endParaRPr lang="en-US" altLang="zh-CN" sz="1800" dirty="0"/>
          </a:p>
          <a:p>
            <a:pPr>
              <a:spcBef>
                <a:spcPct val="0"/>
              </a:spcBef>
              <a:buClrTx/>
              <a:buSzTx/>
              <a:buFontTx/>
              <a:buNone/>
            </a:pPr>
            <a:r>
              <a:rPr lang="en-GB" altLang="en-US" sz="1800" dirty="0"/>
              <a:t>There is already a newer copy in the cache.</a:t>
            </a:r>
            <a:endParaRPr lang="en-US" altLang="zh-CN" sz="1800" dirty="0"/>
          </a:p>
          <a:p>
            <a:pPr>
              <a:spcBef>
                <a:spcPct val="0"/>
              </a:spcBef>
              <a:buClrTx/>
              <a:buSzTx/>
              <a:buFontTx/>
              <a:buNone/>
            </a:pPr>
            <a:r>
              <a:rPr lang="en-GB" altLang="en-US" sz="1800" dirty="0"/>
              <a:t>No need to load the entire document.</a:t>
            </a:r>
            <a:endParaRPr lang="en-GB"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304800" y="92994"/>
            <a:ext cx="11485034" cy="6628481"/>
          </a:xfrm>
          <a:prstGeom prst="rect">
            <a:avLst/>
          </a:prstGeom>
        </p:spPr>
        <p:txBody>
          <a:bodyPr wrap="square">
            <a:spAutoFit/>
          </a:bodyPr>
          <a:lstStyle/>
          <a:p>
            <a:pPr marL="0" marR="0">
              <a:lnSpc>
                <a:spcPct val="107000"/>
              </a:lnSpc>
              <a:spcBef>
                <a:spcPts val="0"/>
              </a:spcBef>
              <a:spcAft>
                <a:spcPts val="800"/>
              </a:spcAft>
            </a:pPr>
            <a:r>
              <a:rPr lang="en-US" sz="1600" b="1" u="sng"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ETag</a:t>
            </a:r>
            <a:r>
              <a:rPr lang="en-US" sz="1600" b="1"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(Entity Tag) </a:t>
            </a:r>
            <a:r>
              <a:rPr lang="en-US" sz="1400" dirty="0">
                <a:latin typeface="Times New Roman" panose="02020603050405020304" pitchFamily="18" charset="0"/>
                <a:ea typeface="宋体" panose="02010600030101010101" pitchFamily="2" charset="-122"/>
                <a:cs typeface="Times New Roman" panose="02020603050405020304" pitchFamily="18" charset="0"/>
              </a:rPr>
              <a:t>is an HTTP header that helps with caching and validation of resources. Here's a brief overview:</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Purpose: The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header is used to identify a specific version of a resource, such as a web page, image, or file. It allows the client (usually a web browser) to determine if the resource has changed since it was last accessed.</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 </a:t>
            </a:r>
            <a:r>
              <a:rPr 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How it works</a:t>
            </a:r>
            <a:endParaRPr lang="en-US" b="1"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1. Server generates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When a client requests a resource, the server generates an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 based on the resource's content, such as a hash of the file's contents.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2. Server sends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with resource: The server includes the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 in the response headers along with the resource.</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3. Client stores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The client stores the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 along with the cached resource.</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4. Client sends If-None-Match header: When the client requests the same resource again, it includes the stored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 in the If-None-Match header.</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5. Server checks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The server checks the If-None-Match header and compares the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 with the current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 of the resource.</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6. Server responds: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    - If the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values match, the server responds with a 304 Not Modified status code, indicating that the resource has not changed.</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    - If the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a:t>
            </a:r>
            <a:r>
              <a:rPr lang="en-US" sz="1400" dirty="0">
                <a:latin typeface="Times New Roman" panose="02020603050405020304" pitchFamily="18" charset="0"/>
                <a:ea typeface="宋体" panose="02010600030101010101" pitchFamily="2" charset="-122"/>
                <a:cs typeface="Times New Roman" panose="02020603050405020304" pitchFamily="18" charset="0"/>
              </a:rPr>
              <a:t> values do not match, the server responds with a 200 OK status code and the updated resource.</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 </a:t>
            </a:r>
            <a:r>
              <a:rPr 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Benefits</a:t>
            </a:r>
            <a:endParaRPr 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1. Reduced bandwidth: By using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ETags</a:t>
            </a:r>
            <a:r>
              <a:rPr lang="en-US" sz="1400" dirty="0">
                <a:latin typeface="Times New Roman" panose="02020603050405020304" pitchFamily="18" charset="0"/>
                <a:ea typeface="宋体" panose="02010600030101010101" pitchFamily="2" charset="-122"/>
                <a:cs typeface="Times New Roman" panose="02020603050405020304" pitchFamily="18" charset="0"/>
              </a:rPr>
              <a:t>, clients can avoid downloading resources that have not changed, reducing bandwidth usage.</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2. Improved performance: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ETags</a:t>
            </a:r>
            <a:r>
              <a:rPr lang="en-US" sz="1400" dirty="0">
                <a:latin typeface="Times New Roman" panose="02020603050405020304" pitchFamily="18" charset="0"/>
                <a:ea typeface="宋体" panose="02010600030101010101" pitchFamily="2" charset="-122"/>
                <a:cs typeface="Times New Roman" panose="02020603050405020304" pitchFamily="18" charset="0"/>
              </a:rPr>
              <a:t> help clients display cached resources quickly, improving page load times.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Types of </a:t>
            </a:r>
            <a:r>
              <a:rPr lang="en-US"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ETags</a:t>
            </a:r>
            <a:endParaRPr 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1. Strong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ETags</a:t>
            </a:r>
            <a:r>
              <a:rPr lang="en-US" sz="1400" dirty="0">
                <a:latin typeface="Times New Roman" panose="02020603050405020304" pitchFamily="18" charset="0"/>
                <a:ea typeface="宋体" panose="02010600030101010101" pitchFamily="2" charset="-122"/>
                <a:cs typeface="Times New Roman" panose="02020603050405020304" pitchFamily="18" charset="0"/>
              </a:rPr>
              <a:t>: These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ETags</a:t>
            </a:r>
            <a:r>
              <a:rPr lang="en-US" sz="1400" dirty="0">
                <a:latin typeface="Times New Roman" panose="02020603050405020304" pitchFamily="18" charset="0"/>
                <a:ea typeface="宋体" panose="02010600030101010101" pitchFamily="2" charset="-122"/>
                <a:cs typeface="Times New Roman" panose="02020603050405020304" pitchFamily="18" charset="0"/>
              </a:rPr>
              <a:t> are generated based on the exact content of the resource.</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2. Weak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ETags</a:t>
            </a:r>
            <a:r>
              <a:rPr lang="en-US" sz="1400" dirty="0">
                <a:latin typeface="Times New Roman" panose="02020603050405020304" pitchFamily="18" charset="0"/>
                <a:ea typeface="宋体" panose="02010600030101010101" pitchFamily="2" charset="-122"/>
                <a:cs typeface="Times New Roman" panose="02020603050405020304" pitchFamily="18" charset="0"/>
              </a:rPr>
              <a:t>: These </a:t>
            </a:r>
            <a:r>
              <a:rPr lang="en-US" sz="1400" dirty="0" err="1">
                <a:latin typeface="Times New Roman" panose="02020603050405020304" pitchFamily="18" charset="0"/>
                <a:ea typeface="宋体" panose="02010600030101010101" pitchFamily="2" charset="-122"/>
                <a:cs typeface="Times New Roman" panose="02020603050405020304" pitchFamily="18" charset="0"/>
              </a:rPr>
              <a:t>ETags</a:t>
            </a:r>
            <a:r>
              <a:rPr lang="en-US" sz="1400" dirty="0">
                <a:latin typeface="Times New Roman" panose="02020603050405020304" pitchFamily="18" charset="0"/>
                <a:ea typeface="宋体" panose="02010600030101010101" pitchFamily="2" charset="-122"/>
                <a:cs typeface="Times New Roman" panose="02020603050405020304" pitchFamily="18" charset="0"/>
              </a:rPr>
              <a:t> are generated based on a semantic representation of the resource, which may not be exact.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Times New Roman" panose="02020603050405020304" pitchFamily="18" charset="0"/>
                <a:ea typeface="宋体" panose="02010600030101010101" pitchFamily="2" charset="-122"/>
                <a:cs typeface="Times New Roman" panose="02020603050405020304" pitchFamily="18" charset="0"/>
              </a:rPr>
              <a:t> </a:t>
            </a:r>
            <a:r>
              <a:rPr lang="en-US" sz="1400" dirty="0" err="1">
                <a:latin typeface="Times New Roman" panose="02020603050405020304" pitchFamily="18" charset="0"/>
                <a:ea typeface="宋体" panose="02010600030101010101" pitchFamily="2" charset="-122"/>
              </a:rPr>
              <a:t>ETags</a:t>
            </a:r>
            <a:r>
              <a:rPr lang="en-US" sz="1400" dirty="0">
                <a:latin typeface="Times New Roman" panose="02020603050405020304" pitchFamily="18" charset="0"/>
                <a:ea typeface="宋体" panose="02010600030101010101" pitchFamily="2" charset="-122"/>
              </a:rPr>
              <a:t> are an essential part of HTTP caching and help optimize web performance by reducing unnecessary resource transfers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08D8E75-19A4-468E-83BC-8FD0505362CF}" type="slidenum">
              <a:rPr lang="en-US" altLang="zh-CN" smtClean="0"/>
            </a:fld>
            <a:endParaRPr lang="en-US" altLang="zh-CN"/>
          </a:p>
        </p:txBody>
      </p:sp>
      <p:sp>
        <p:nvSpPr>
          <p:cNvPr id="5" name="Rectangle 4"/>
          <p:cNvSpPr/>
          <p:nvPr/>
        </p:nvSpPr>
        <p:spPr>
          <a:xfrm>
            <a:off x="381000" y="228600"/>
            <a:ext cx="7467600" cy="4836773"/>
          </a:xfrm>
          <a:prstGeom prst="rect">
            <a:avLst/>
          </a:prstGeom>
        </p:spPr>
        <p:txBody>
          <a:bodyPr wrap="square">
            <a:spAutoFit/>
          </a:bodyPr>
          <a:lstStyle/>
          <a:p>
            <a:pPr marL="0" marR="0">
              <a:lnSpc>
                <a:spcPct val="107000"/>
              </a:lnSpc>
              <a:spcBef>
                <a:spcPts val="0"/>
              </a:spcBef>
              <a:spcAft>
                <a:spcPts val="800"/>
              </a:spcAft>
            </a:pPr>
            <a:r>
              <a:rPr lang="en-US" sz="20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HTTP Caching Behavior Based on Cache-Control Headers</a:t>
            </a:r>
            <a:endParaRPr lang="en-US" sz="2000" b="1"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400" dirty="0">
                <a:latin typeface="Calibri" panose="020F0502020204030204" pitchFamily="34" charset="0"/>
                <a:ea typeface="宋体" panose="02010600030101010101" pitchFamily="2" charset="-122"/>
                <a:cs typeface="Times New Roman" panose="02020603050405020304" pitchFamily="18" charset="0"/>
              </a:rPr>
              <a:t>HTTP clients analyze the Cache-Control header to optimize resource loading:</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Valid Cached Content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mj-lt"/>
              <a:buAutoNum type="arabicPeriod"/>
              <a:tabLst>
                <a:tab pos="914400" algn="l"/>
              </a:tabLst>
            </a:pPr>
            <a:r>
              <a:rPr lang="en-US" sz="1400" dirty="0">
                <a:latin typeface="Calibri" panose="020F0502020204030204" pitchFamily="34" charset="0"/>
                <a:ea typeface="宋体" panose="02010600030101010101" pitchFamily="2" charset="-122"/>
                <a:cs typeface="Times New Roman" panose="02020603050405020304" pitchFamily="18" charset="0"/>
              </a:rPr>
              <a:t>When the local cache contains a resource copy that </a:t>
            </a:r>
            <a:r>
              <a:rPr lang="en-US" sz="1400" b="1" dirty="0">
                <a:latin typeface="Calibri" panose="020F0502020204030204" pitchFamily="34" charset="0"/>
                <a:ea typeface="宋体" panose="02010600030101010101" pitchFamily="2" charset="-122"/>
                <a:cs typeface="Times New Roman" panose="02020603050405020304" pitchFamily="18" charset="0"/>
              </a:rPr>
              <a:t>hasn't expired</a:t>
            </a:r>
            <a:r>
              <a:rPr lang="en-US" sz="1400" dirty="0">
                <a:latin typeface="Calibri" panose="020F0502020204030204" pitchFamily="34" charset="0"/>
                <a:ea typeface="宋体" panose="02010600030101010101" pitchFamily="2" charset="-122"/>
                <a:cs typeface="Times New Roman" panose="02020603050405020304" pitchFamily="18" charset="0"/>
              </a:rPr>
              <a:t> (per max-age or Expires directives), the client: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Serves the cached version immediately</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Avoids unnecessary server requests</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dirty="0">
                <a:latin typeface="Calibri" panose="020F0502020204030204" pitchFamily="34" charset="0"/>
                <a:ea typeface="宋体" panose="02010600030101010101" pitchFamily="2" charset="-122"/>
                <a:cs typeface="Times New Roman" panose="02020603050405020304" pitchFamily="18" charset="0"/>
              </a:rPr>
              <a:t>Example: Static assets like CSS/JS with Cache-Control: max-age=31536000 (1 year)</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Expired but Potentially Usable Content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mj-lt"/>
              <a:buAutoNum type="arabicPeriod" startAt="2"/>
              <a:tabLst>
                <a:tab pos="914400" algn="l"/>
              </a:tabLst>
            </a:pPr>
            <a:r>
              <a:rPr lang="en-US" sz="1400" dirty="0">
                <a:latin typeface="Calibri" panose="020F0502020204030204" pitchFamily="34" charset="0"/>
                <a:ea typeface="宋体" panose="02010600030101010101" pitchFamily="2" charset="-122"/>
                <a:cs typeface="Times New Roman" panose="02020603050405020304" pitchFamily="18" charset="0"/>
              </a:rPr>
              <a:t>If the cached resource </a:t>
            </a:r>
            <a:r>
              <a:rPr lang="en-US" sz="1400" b="1" dirty="0">
                <a:latin typeface="Calibri" panose="020F0502020204030204" pitchFamily="34" charset="0"/>
                <a:ea typeface="宋体" panose="02010600030101010101" pitchFamily="2" charset="-122"/>
                <a:cs typeface="Times New Roman" panose="02020603050405020304" pitchFamily="18" charset="0"/>
              </a:rPr>
              <a:t>has expired</a:t>
            </a:r>
            <a:r>
              <a:rPr lang="en-US" sz="1400" dirty="0">
                <a:latin typeface="Calibri" panose="020F0502020204030204" pitchFamily="34" charset="0"/>
                <a:ea typeface="宋体" panose="02010600030101010101" pitchFamily="2" charset="-122"/>
                <a:cs typeface="Times New Roman" panose="02020603050405020304" pitchFamily="18" charset="0"/>
              </a:rPr>
              <a:t> but might still be valid, the client:</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dirty="0">
                <a:latin typeface="Calibri" panose="020F0502020204030204" pitchFamily="34" charset="0"/>
                <a:ea typeface="宋体" panose="02010600030101010101" pitchFamily="2" charset="-122"/>
                <a:cs typeface="Times New Roman" panose="02020603050405020304" pitchFamily="18" charset="0"/>
              </a:rPr>
              <a:t>First sends a </a:t>
            </a:r>
            <a:r>
              <a:rPr lang="en-US" sz="1400" b="1" dirty="0">
                <a:latin typeface="Calibri" panose="020F0502020204030204" pitchFamily="34" charset="0"/>
                <a:ea typeface="宋体" panose="02010600030101010101" pitchFamily="2" charset="-122"/>
                <a:cs typeface="Times New Roman" panose="02020603050405020304" pitchFamily="18" charset="0"/>
              </a:rPr>
              <a:t>conditional request</a:t>
            </a:r>
            <a:r>
              <a:rPr lang="en-US" sz="1400" dirty="0">
                <a:latin typeface="Calibri" panose="020F0502020204030204" pitchFamily="34" charset="0"/>
                <a:ea typeface="宋体" panose="02010600030101010101" pitchFamily="2" charset="-122"/>
                <a:cs typeface="Times New Roman" panose="02020603050405020304" pitchFamily="18" charset="0"/>
              </a:rPr>
              <a:t> (e.g., HEAD or GET with If-Modified-Since/If-None-Match)</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dirty="0">
                <a:latin typeface="Calibri" panose="020F0502020204030204" pitchFamily="34" charset="0"/>
                <a:ea typeface="宋体" panose="02010600030101010101" pitchFamily="2" charset="-122"/>
                <a:cs typeface="Times New Roman" panose="02020603050405020304" pitchFamily="18" charset="0"/>
              </a:rPr>
              <a:t>Checks if the server's version changed via lightweight header verification</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Receives </a:t>
            </a:r>
            <a:r>
              <a:rPr lang="en-US" sz="1400" dirty="0">
                <a:latin typeface="Calibri" panose="020F0502020204030204" pitchFamily="34" charset="0"/>
                <a:ea typeface="宋体" panose="02010600030101010101" pitchFamily="2" charset="-122"/>
                <a:cs typeface="Times New Roman" panose="02020603050405020304" pitchFamily="18" charset="0"/>
              </a:rPr>
              <a:t>304 Not Modified: Keeps using the cached version</a:t>
            </a:r>
            <a:endParaRPr lang="en-US" sz="1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400" b="1" dirty="0">
                <a:latin typeface="Calibri" panose="020F0502020204030204" pitchFamily="34" charset="0"/>
                <a:ea typeface="宋体" panose="02010600030101010101" pitchFamily="2" charset="-122"/>
                <a:cs typeface="Times New Roman" panose="02020603050405020304" pitchFamily="18" charset="0"/>
              </a:rPr>
              <a:t>Receives </a:t>
            </a:r>
            <a:r>
              <a:rPr lang="en-US" sz="1400" dirty="0">
                <a:latin typeface="Calibri" panose="020F0502020204030204" pitchFamily="34" charset="0"/>
                <a:ea typeface="宋体" panose="02010600030101010101" pitchFamily="2" charset="-122"/>
                <a:cs typeface="Times New Roman" panose="02020603050405020304" pitchFamily="18" charset="0"/>
              </a:rPr>
              <a:t>200 OK: Downloads the fresh resource and updates the cache</a:t>
            </a:r>
            <a:endParaRPr lang="en-US" sz="14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7869766" y="1633377"/>
            <a:ext cx="3941234" cy="3591246"/>
          </a:xfrm>
          <a:prstGeom prst="rect">
            <a:avLst/>
          </a:prstGeom>
        </p:spPr>
      </p:pic>
      <p:sp>
        <p:nvSpPr>
          <p:cNvPr id="7" name="Rectangle 6"/>
          <p:cNvSpPr/>
          <p:nvPr/>
        </p:nvSpPr>
        <p:spPr>
          <a:xfrm>
            <a:off x="893234" y="5615827"/>
            <a:ext cx="10896600" cy="646331"/>
          </a:xfrm>
          <a:prstGeom prst="rect">
            <a:avLst/>
          </a:prstGeom>
        </p:spPr>
        <p:txBody>
          <a:bodyPr wrap="square">
            <a:spAutoFit/>
          </a:bodyPr>
          <a:lstStyle/>
          <a:p>
            <a:r>
              <a:rPr lang="en-US" b="1" dirty="0">
                <a:solidFill>
                  <a:srgbClr val="FF0000"/>
                </a:solidFill>
              </a:rPr>
              <a:t>This caching strategy balances freshness and performance, governed by Cache-Control directives like max-age, must-revalidate, and no-cache.</a:t>
            </a:r>
            <a:endParaRPr lang="en-US" b="1"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1676400" y="88901"/>
            <a:ext cx="8540750" cy="557213"/>
          </a:xfrm>
        </p:spPr>
        <p:txBody>
          <a:bodyPr/>
          <a:lstStyle/>
          <a:p>
            <a:pPr algn="l"/>
            <a:r>
              <a:rPr lang="en-GB" altLang="zh-CN" sz="3200" dirty="0"/>
              <a:t>Web </a:t>
            </a:r>
            <a:r>
              <a:rPr lang="en-GB" altLang="en-US" sz="3200" dirty="0"/>
              <a:t>Cache</a:t>
            </a:r>
            <a:endParaRPr lang="en-GB" altLang="en-US" sz="3200" dirty="0"/>
          </a:p>
        </p:txBody>
      </p:sp>
      <p:sp>
        <p:nvSpPr>
          <p:cNvPr id="10" name="矩形 6"/>
          <p:cNvSpPr>
            <a:spLocks noChangeArrowheads="1"/>
          </p:cNvSpPr>
          <p:nvPr/>
        </p:nvSpPr>
        <p:spPr bwMode="auto">
          <a:xfrm>
            <a:off x="4648200" y="122768"/>
            <a:ext cx="685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en-GB" altLang="en-US" sz="1800" dirty="0">
                <a:solidFill>
                  <a:srgbClr val="FF0000"/>
                </a:solidFill>
              </a:rPr>
              <a:t>Parsing and Querying </a:t>
            </a:r>
            <a:r>
              <a:rPr lang="en-GB" altLang="zh-CN" sz="1800" dirty="0">
                <a:solidFill>
                  <a:srgbClr val="FF0000"/>
                </a:solidFill>
              </a:rPr>
              <a:t>Cache- Ch7.CacheControl.java </a:t>
            </a:r>
            <a:r>
              <a:rPr lang="en-GB" altLang="en-US" sz="1800" dirty="0">
                <a:solidFill>
                  <a:srgbClr val="FF0000"/>
                </a:solidFill>
              </a:rPr>
              <a:t>.</a:t>
            </a:r>
            <a:endParaRPr lang="en-GB" altLang="en-US" sz="1800" dirty="0">
              <a:solidFill>
                <a:srgbClr val="FF0000"/>
              </a:solidFill>
            </a:endParaRPr>
          </a:p>
        </p:txBody>
      </p:sp>
      <p:sp>
        <p:nvSpPr>
          <p:cNvPr id="5" name="Rectangle 4"/>
          <p:cNvSpPr/>
          <p:nvPr/>
        </p:nvSpPr>
        <p:spPr>
          <a:xfrm>
            <a:off x="603250" y="889844"/>
            <a:ext cx="10598150" cy="4801314"/>
          </a:xfrm>
          <a:prstGeom prst="rect">
            <a:avLst/>
          </a:prstGeom>
        </p:spPr>
        <p:txBody>
          <a:bodyPr wrap="square">
            <a:spAutoFit/>
          </a:bodyPr>
          <a:lstStyle/>
          <a:p>
            <a:r>
              <a:rPr lang="en-US" dirty="0"/>
              <a:t>import </a:t>
            </a:r>
            <a:r>
              <a:rPr lang="en-US" dirty="0" err="1"/>
              <a:t>java.time.Duration</a:t>
            </a:r>
            <a:r>
              <a:rPr lang="en-US" dirty="0"/>
              <a:t>;</a:t>
            </a:r>
            <a:endParaRPr lang="en-US" dirty="0"/>
          </a:p>
          <a:p>
            <a:r>
              <a:rPr lang="en-US" dirty="0"/>
              <a:t>import </a:t>
            </a:r>
            <a:r>
              <a:rPr lang="en-US" dirty="0" err="1"/>
              <a:t>java.time.Instant</a:t>
            </a:r>
            <a:r>
              <a:rPr lang="en-US" dirty="0"/>
              <a:t>;</a:t>
            </a:r>
            <a:endParaRPr lang="en-US" dirty="0"/>
          </a:p>
          <a:p>
            <a:r>
              <a:rPr lang="en-US" dirty="0"/>
              <a:t>import </a:t>
            </a:r>
            <a:r>
              <a:rPr lang="en-US" dirty="0" err="1"/>
              <a:t>java.util.Collections</a:t>
            </a:r>
            <a:r>
              <a:rPr lang="en-US" dirty="0"/>
              <a:t>;</a:t>
            </a:r>
            <a:endParaRPr lang="en-US" dirty="0"/>
          </a:p>
          <a:p>
            <a:r>
              <a:rPr lang="en-US" dirty="0"/>
              <a:t>import </a:t>
            </a:r>
            <a:r>
              <a:rPr lang="en-US" dirty="0" err="1"/>
              <a:t>java.util.HashMap</a:t>
            </a:r>
            <a:r>
              <a:rPr lang="en-US" dirty="0"/>
              <a:t>;</a:t>
            </a:r>
            <a:endParaRPr lang="en-US" dirty="0"/>
          </a:p>
          <a:p>
            <a:r>
              <a:rPr lang="en-US" dirty="0"/>
              <a:t>import </a:t>
            </a:r>
            <a:r>
              <a:rPr lang="en-US" dirty="0" err="1"/>
              <a:t>java.util.Map</a:t>
            </a:r>
            <a:r>
              <a:rPr lang="en-US" dirty="0"/>
              <a:t>;</a:t>
            </a:r>
            <a:endParaRPr lang="en-US" dirty="0"/>
          </a:p>
          <a:p>
            <a:r>
              <a:rPr lang="en-US" dirty="0"/>
              <a:t>import </a:t>
            </a:r>
            <a:r>
              <a:rPr lang="en-US" dirty="0" err="1"/>
              <a:t>java.util.Objects</a:t>
            </a:r>
            <a:r>
              <a:rPr lang="en-US" dirty="0"/>
              <a:t>;</a:t>
            </a:r>
            <a:endParaRPr lang="en-US" dirty="0"/>
          </a:p>
          <a:p>
            <a:endParaRPr lang="en-US" dirty="0"/>
          </a:p>
          <a:p>
            <a:r>
              <a:rPr lang="en-US" dirty="0"/>
              <a:t>/**</a:t>
            </a:r>
            <a:endParaRPr lang="en-US" dirty="0"/>
          </a:p>
          <a:p>
            <a:r>
              <a:rPr lang="en-US" dirty="0"/>
              <a:t> * Represents HTTP Cache-Control header functionality</a:t>
            </a:r>
            <a:endParaRPr lang="en-US" dirty="0"/>
          </a:p>
          <a:p>
            <a:r>
              <a:rPr lang="en-US" dirty="0"/>
              <a:t> * Based on RFC 7234 (HTTP/1.1 Caching)</a:t>
            </a:r>
            <a:endParaRPr lang="en-US" dirty="0"/>
          </a:p>
          <a:p>
            <a:r>
              <a:rPr lang="en-US" dirty="0"/>
              <a:t> */</a:t>
            </a:r>
            <a:endParaRPr lang="en-US" dirty="0"/>
          </a:p>
          <a:p>
            <a:r>
              <a:rPr lang="en-US" dirty="0"/>
              <a:t>public class </a:t>
            </a:r>
            <a:r>
              <a:rPr lang="en-US" dirty="0" err="1"/>
              <a:t>CacheControl</a:t>
            </a:r>
            <a:r>
              <a:rPr lang="en-US" dirty="0"/>
              <a:t> {</a:t>
            </a:r>
            <a:endParaRPr lang="en-US" dirty="0"/>
          </a:p>
          <a:p>
            <a:r>
              <a:rPr lang="en-US" dirty="0"/>
              <a:t>    private final Map&lt;String, String&gt; directives;</a:t>
            </a:r>
            <a:endParaRPr lang="en-US" dirty="0"/>
          </a:p>
          <a:p>
            <a:endParaRPr lang="en-US" dirty="0"/>
          </a:p>
          <a:p>
            <a:r>
              <a:rPr lang="en-US" dirty="0"/>
              <a:t>    public </a:t>
            </a:r>
            <a:r>
              <a:rPr lang="en-US" dirty="0" err="1"/>
              <a:t>CacheControl</a:t>
            </a:r>
            <a:r>
              <a:rPr lang="en-US" dirty="0"/>
              <a:t>(Map&lt;String, String&gt; directives) {</a:t>
            </a:r>
            <a:endParaRPr lang="en-US" dirty="0"/>
          </a:p>
          <a:p>
            <a:r>
              <a:rPr lang="en-US" dirty="0"/>
              <a:t>        </a:t>
            </a:r>
            <a:r>
              <a:rPr lang="en-US" dirty="0" err="1"/>
              <a:t>this.directives</a:t>
            </a:r>
            <a:r>
              <a:rPr lang="en-US" dirty="0"/>
              <a:t> = </a:t>
            </a:r>
            <a:r>
              <a:rPr lang="en-US" dirty="0" err="1"/>
              <a:t>Collections.unmodifiableMap</a:t>
            </a:r>
            <a:r>
              <a:rPr lang="en-US" dirty="0"/>
              <a:t>(new HashMap&lt;&gt;(</a:t>
            </a:r>
            <a:r>
              <a:rPr lang="en-US" dirty="0" err="1"/>
              <a:t>directies</a:t>
            </a:r>
            <a:r>
              <a:rPr lang="en-US" dirty="0"/>
              <a:t>));</a:t>
            </a:r>
            <a:endParaRPr lang="en-US" dirty="0"/>
          </a:p>
          <a:p>
            <a:r>
              <a:rPr lang="en-US" dirty="0"/>
              <a:t>    }</a:t>
            </a:r>
            <a:endParaRPr lang="en-US" dirty="0"/>
          </a:p>
        </p:txBody>
      </p:sp>
      <p:sp>
        <p:nvSpPr>
          <p:cNvPr id="2" name="Rectangle 1"/>
          <p:cNvSpPr/>
          <p:nvPr/>
        </p:nvSpPr>
        <p:spPr>
          <a:xfrm>
            <a:off x="4419600" y="647148"/>
            <a:ext cx="7061200" cy="1200329"/>
          </a:xfrm>
          <a:prstGeom prst="rect">
            <a:avLst/>
          </a:prstGeom>
        </p:spPr>
        <p:txBody>
          <a:bodyPr wrap="square">
            <a:spAutoFit/>
          </a:bodyPr>
          <a:lstStyle/>
          <a:p>
            <a:r>
              <a:rPr lang="en-US" dirty="0">
                <a:solidFill>
                  <a:schemeClr val="tx2"/>
                </a:solidFill>
              </a:rPr>
              <a:t>This class parses and manages HTTP Cache-Control headers to:</a:t>
            </a:r>
            <a:endParaRPr lang="en-US" dirty="0">
              <a:solidFill>
                <a:schemeClr val="tx2"/>
              </a:solidFill>
            </a:endParaRPr>
          </a:p>
          <a:p>
            <a:pPr marL="800100" lvl="1" indent="-342900">
              <a:buFont typeface="+mj-lt"/>
              <a:buAutoNum type="arabicPeriod"/>
            </a:pPr>
            <a:r>
              <a:rPr lang="en-US" dirty="0">
                <a:solidFill>
                  <a:schemeClr val="tx2"/>
                </a:solidFill>
              </a:rPr>
              <a:t>Determine if responses can be cached</a:t>
            </a:r>
            <a:endParaRPr lang="en-US" dirty="0">
              <a:solidFill>
                <a:schemeClr val="tx2"/>
              </a:solidFill>
            </a:endParaRPr>
          </a:p>
          <a:p>
            <a:pPr marL="800100" lvl="1" indent="-342900">
              <a:buFont typeface="+mj-lt"/>
              <a:buAutoNum type="arabicPeriod"/>
            </a:pPr>
            <a:r>
              <a:rPr lang="en-US" dirty="0">
                <a:solidFill>
                  <a:schemeClr val="tx2"/>
                </a:solidFill>
              </a:rPr>
              <a:t>Calculate expiration times</a:t>
            </a:r>
            <a:endParaRPr lang="en-US" dirty="0">
              <a:solidFill>
                <a:schemeClr val="tx2"/>
              </a:solidFill>
            </a:endParaRPr>
          </a:p>
          <a:p>
            <a:pPr marL="800100" lvl="1" indent="-342900">
              <a:buFont typeface="+mj-lt"/>
              <a:buAutoNum type="arabicPeriod"/>
            </a:pPr>
            <a:r>
              <a:rPr lang="en-US" dirty="0">
                <a:solidFill>
                  <a:schemeClr val="tx2"/>
                </a:solidFill>
              </a:rPr>
              <a:t>Validate cached resources</a:t>
            </a:r>
            <a:endParaRPr lang="en-US" dirty="0">
              <a:solidFill>
                <a:schemeClr val="tx2"/>
              </a:solidFill>
            </a:endParaRPr>
          </a:p>
        </p:txBody>
      </p:sp>
      <p:sp>
        <p:nvSpPr>
          <p:cNvPr id="7" name="Rectangle 6"/>
          <p:cNvSpPr/>
          <p:nvPr/>
        </p:nvSpPr>
        <p:spPr bwMode="auto">
          <a:xfrm>
            <a:off x="4334933" y="88901"/>
            <a:ext cx="7245350" cy="207727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Rectangle 2"/>
          <p:cNvSpPr/>
          <p:nvPr/>
        </p:nvSpPr>
        <p:spPr>
          <a:xfrm>
            <a:off x="7352242" y="3200400"/>
            <a:ext cx="4038600" cy="923330"/>
          </a:xfrm>
          <a:prstGeom prst="rect">
            <a:avLst/>
          </a:prstGeom>
        </p:spPr>
        <p:txBody>
          <a:bodyPr wrap="square">
            <a:spAutoFit/>
          </a:bodyPr>
          <a:lstStyle/>
          <a:p>
            <a:pPr marL="342900" indent="-342900">
              <a:buFont typeface="+mj-lt"/>
              <a:buAutoNum type="arabicPeriod"/>
            </a:pPr>
            <a:r>
              <a:rPr lang="en-US" dirty="0"/>
              <a:t>Stores cache directives like max-age, no-cache as key-value pairs</a:t>
            </a:r>
            <a:endParaRPr lang="en-US" dirty="0"/>
          </a:p>
          <a:p>
            <a:pPr marL="342900" indent="-342900">
              <a:buFont typeface="+mj-lt"/>
              <a:buAutoNum type="arabicPeriod"/>
            </a:pPr>
            <a:r>
              <a:rPr lang="en-US" dirty="0"/>
              <a:t>Immutable to ensure thread safety</a:t>
            </a:r>
            <a:endParaRPr lang="en-US" dirty="0"/>
          </a:p>
        </p:txBody>
      </p:sp>
      <p:sp>
        <p:nvSpPr>
          <p:cNvPr id="9" name="Rectangle 8"/>
          <p:cNvSpPr/>
          <p:nvPr/>
        </p:nvSpPr>
        <p:spPr bwMode="auto">
          <a:xfrm>
            <a:off x="7352242" y="3124200"/>
            <a:ext cx="4236508" cy="10668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6" name="Straight Arrow Connector 5"/>
          <p:cNvCxnSpPr/>
          <p:nvPr/>
        </p:nvCxnSpPr>
        <p:spPr bwMode="auto">
          <a:xfrm flipH="1">
            <a:off x="5257800" y="3581400"/>
            <a:ext cx="2057400" cy="685800"/>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1676400" y="88901"/>
            <a:ext cx="8540750" cy="557213"/>
          </a:xfrm>
        </p:spPr>
        <p:txBody>
          <a:bodyPr/>
          <a:lstStyle/>
          <a:p>
            <a:pPr algn="l"/>
            <a:r>
              <a:rPr lang="en-GB" altLang="zh-CN" sz="3200"/>
              <a:t>Web </a:t>
            </a:r>
            <a:r>
              <a:rPr lang="en-GB" altLang="en-US" sz="3200"/>
              <a:t>Cache</a:t>
            </a:r>
            <a:endParaRPr lang="en-GB" altLang="en-US" sz="3200"/>
          </a:p>
        </p:txBody>
      </p:sp>
      <p:sp>
        <p:nvSpPr>
          <p:cNvPr id="2" name="Rectangle 1"/>
          <p:cNvSpPr/>
          <p:nvPr/>
        </p:nvSpPr>
        <p:spPr>
          <a:xfrm>
            <a:off x="533400" y="838200"/>
            <a:ext cx="7010400" cy="4801314"/>
          </a:xfrm>
          <a:prstGeom prst="rect">
            <a:avLst/>
          </a:prstGeom>
        </p:spPr>
        <p:txBody>
          <a:bodyPr wrap="square">
            <a:spAutoFit/>
          </a:bodyPr>
          <a:lstStyle/>
          <a:p>
            <a:r>
              <a:rPr lang="en-US" dirty="0"/>
              <a:t>public static </a:t>
            </a:r>
            <a:r>
              <a:rPr lang="en-US" dirty="0" err="1"/>
              <a:t>CacheControl</a:t>
            </a:r>
            <a:r>
              <a:rPr lang="en-US" dirty="0"/>
              <a:t> parse(String </a:t>
            </a:r>
            <a:r>
              <a:rPr lang="en-US" dirty="0" err="1"/>
              <a:t>headerValue</a:t>
            </a:r>
            <a:r>
              <a:rPr lang="en-US" dirty="0"/>
              <a:t>) {</a:t>
            </a:r>
            <a:endParaRPr lang="en-US" dirty="0"/>
          </a:p>
          <a:p>
            <a:r>
              <a:rPr lang="en-US" dirty="0"/>
              <a:t>        if (</a:t>
            </a:r>
            <a:r>
              <a:rPr lang="en-US" dirty="0" err="1"/>
              <a:t>headerValue</a:t>
            </a:r>
            <a:r>
              <a:rPr lang="en-US" dirty="0"/>
              <a:t> == null || </a:t>
            </a:r>
            <a:r>
              <a:rPr lang="en-US" dirty="0" err="1"/>
              <a:t>headerValue.trim</a:t>
            </a:r>
            <a:r>
              <a:rPr lang="en-US" dirty="0"/>
              <a:t>().</a:t>
            </a:r>
            <a:r>
              <a:rPr lang="en-US" dirty="0" err="1"/>
              <a:t>isEmpty</a:t>
            </a:r>
            <a:r>
              <a:rPr lang="en-US" dirty="0"/>
              <a:t>()) {</a:t>
            </a:r>
            <a:endParaRPr lang="en-US" dirty="0"/>
          </a:p>
          <a:p>
            <a:r>
              <a:rPr lang="en-US" dirty="0"/>
              <a:t>            return new </a:t>
            </a:r>
            <a:r>
              <a:rPr lang="en-US" dirty="0" err="1"/>
              <a:t>CacheControl</a:t>
            </a:r>
            <a:r>
              <a:rPr lang="en-US" dirty="0"/>
              <a:t>(</a:t>
            </a:r>
            <a:r>
              <a:rPr lang="en-US" dirty="0" err="1"/>
              <a:t>Collections.emptyMap</a:t>
            </a:r>
            <a:r>
              <a:rPr lang="en-US" dirty="0"/>
              <a:t>());</a:t>
            </a:r>
            <a:endParaRPr lang="en-US" dirty="0"/>
          </a:p>
          <a:p>
            <a:r>
              <a:rPr lang="en-US" dirty="0"/>
              <a:t>        }</a:t>
            </a:r>
            <a:endParaRPr lang="en-US" dirty="0"/>
          </a:p>
          <a:p>
            <a:endParaRPr lang="en-US" dirty="0"/>
          </a:p>
          <a:p>
            <a:r>
              <a:rPr lang="en-US" dirty="0"/>
              <a:t>        Map&lt;String, String&gt; directives = new HashMap&lt;&gt;();</a:t>
            </a:r>
            <a:endParaRPr lang="en-US" dirty="0"/>
          </a:p>
          <a:p>
            <a:r>
              <a:rPr lang="en-US" dirty="0"/>
              <a:t>        String[] parts = </a:t>
            </a:r>
            <a:r>
              <a:rPr lang="en-US" dirty="0" err="1"/>
              <a:t>headerValue.split</a:t>
            </a:r>
            <a:r>
              <a:rPr lang="en-US" dirty="0"/>
              <a:t>(",");</a:t>
            </a:r>
            <a:endParaRPr lang="en-US" dirty="0"/>
          </a:p>
          <a:p>
            <a:endParaRPr lang="en-US" dirty="0"/>
          </a:p>
          <a:p>
            <a:r>
              <a:rPr lang="en-US" dirty="0"/>
              <a:t>        for (String part : parts) {</a:t>
            </a:r>
            <a:endParaRPr lang="en-US" dirty="0"/>
          </a:p>
          <a:p>
            <a:r>
              <a:rPr lang="en-US" dirty="0"/>
              <a:t>            String[] </a:t>
            </a:r>
            <a:r>
              <a:rPr lang="en-US" dirty="0" err="1"/>
              <a:t>keyValue</a:t>
            </a:r>
            <a:r>
              <a:rPr lang="en-US" dirty="0"/>
              <a:t> = </a:t>
            </a:r>
            <a:r>
              <a:rPr lang="en-US" dirty="0" err="1"/>
              <a:t>part.trim</a:t>
            </a:r>
            <a:r>
              <a:rPr lang="en-US" dirty="0"/>
              <a:t>().split("=", 2);</a:t>
            </a:r>
            <a:endParaRPr lang="en-US" dirty="0"/>
          </a:p>
          <a:p>
            <a:r>
              <a:rPr lang="en-US" dirty="0"/>
              <a:t>            String key = </a:t>
            </a:r>
            <a:r>
              <a:rPr lang="en-US" dirty="0" err="1"/>
              <a:t>keyValue</a:t>
            </a:r>
            <a:r>
              <a:rPr lang="en-US" dirty="0"/>
              <a:t>[0].</a:t>
            </a:r>
            <a:r>
              <a:rPr lang="en-US" dirty="0" err="1"/>
              <a:t>toLowerCase</a:t>
            </a:r>
            <a:r>
              <a:rPr lang="en-US" dirty="0"/>
              <a:t>();</a:t>
            </a:r>
            <a:endParaRPr lang="en-US" dirty="0"/>
          </a:p>
          <a:p>
            <a:r>
              <a:rPr lang="en-US" dirty="0"/>
              <a:t>            String value = </a:t>
            </a:r>
            <a:r>
              <a:rPr lang="en-US" dirty="0" err="1"/>
              <a:t>keyValue.length</a:t>
            </a:r>
            <a:r>
              <a:rPr lang="en-US" dirty="0"/>
              <a:t> &gt; 1 ? </a:t>
            </a:r>
            <a:r>
              <a:rPr lang="en-US" dirty="0" err="1"/>
              <a:t>keyValue</a:t>
            </a:r>
            <a:r>
              <a:rPr lang="en-US" dirty="0"/>
              <a:t>[1] : "true";</a:t>
            </a:r>
            <a:endParaRPr lang="en-US" dirty="0"/>
          </a:p>
          <a:p>
            <a:r>
              <a:rPr lang="en-US" dirty="0"/>
              <a:t>            </a:t>
            </a:r>
            <a:r>
              <a:rPr lang="en-US" dirty="0" err="1"/>
              <a:t>directives.put</a:t>
            </a:r>
            <a:r>
              <a:rPr lang="en-US" dirty="0"/>
              <a:t>(key, value);</a:t>
            </a:r>
            <a:endParaRPr lang="en-US" dirty="0"/>
          </a:p>
          <a:p>
            <a:r>
              <a:rPr lang="en-US" dirty="0"/>
              <a:t>        }</a:t>
            </a:r>
            <a:endParaRPr lang="en-US" dirty="0"/>
          </a:p>
          <a:p>
            <a:endParaRPr lang="en-US" dirty="0"/>
          </a:p>
          <a:p>
            <a:r>
              <a:rPr lang="en-US" dirty="0"/>
              <a:t>        return new </a:t>
            </a:r>
            <a:r>
              <a:rPr lang="en-US" dirty="0" err="1"/>
              <a:t>CacheControl</a:t>
            </a:r>
            <a:r>
              <a:rPr lang="en-US" dirty="0"/>
              <a:t>(directives);</a:t>
            </a:r>
            <a:endParaRPr lang="en-US" dirty="0"/>
          </a:p>
          <a:p>
            <a:r>
              <a:rPr lang="en-US" dirty="0"/>
              <a:t>    }</a:t>
            </a:r>
            <a:endParaRPr lang="en-US" dirty="0"/>
          </a:p>
        </p:txBody>
      </p:sp>
      <p:sp>
        <p:nvSpPr>
          <p:cNvPr id="3" name="Rectangle 2"/>
          <p:cNvSpPr/>
          <p:nvPr/>
        </p:nvSpPr>
        <p:spPr>
          <a:xfrm>
            <a:off x="7382933" y="2438400"/>
            <a:ext cx="4800600" cy="1077218"/>
          </a:xfrm>
          <a:prstGeom prst="rect">
            <a:avLst/>
          </a:prstGeom>
        </p:spPr>
        <p:txBody>
          <a:bodyPr wrap="square">
            <a:spAutoFit/>
          </a:bodyPr>
          <a:lstStyle/>
          <a:p>
            <a:pPr marL="342900" indent="-342900">
              <a:buFont typeface="+mj-lt"/>
              <a:buAutoNum type="arabicPeriod"/>
            </a:pPr>
            <a:r>
              <a:rPr lang="en-US" sz="1600" dirty="0"/>
              <a:t>Splits header strings into individual directives</a:t>
            </a:r>
            <a:endParaRPr lang="en-US" sz="1600" dirty="0"/>
          </a:p>
          <a:p>
            <a:pPr marL="342900" indent="-342900">
              <a:buFont typeface="+mj-lt"/>
              <a:buAutoNum type="arabicPeriod"/>
            </a:pPr>
            <a:r>
              <a:rPr lang="en-US" sz="1600" dirty="0"/>
              <a:t>Normalizes keys to lowercase</a:t>
            </a:r>
            <a:endParaRPr lang="en-US" sz="1600" dirty="0"/>
          </a:p>
          <a:p>
            <a:pPr marL="342900" indent="-342900">
              <a:buFont typeface="+mj-lt"/>
              <a:buAutoNum type="arabicPeriod"/>
            </a:pPr>
            <a:r>
              <a:rPr lang="en-US" sz="1600" dirty="0"/>
              <a:t>Handles both flags (public) and key-values (max-age=3600)</a:t>
            </a:r>
            <a:endParaRPr lang="en-US" sz="1600" dirty="0"/>
          </a:p>
        </p:txBody>
      </p:sp>
      <p:sp>
        <p:nvSpPr>
          <p:cNvPr id="6" name="Rectangle 5"/>
          <p:cNvSpPr/>
          <p:nvPr/>
        </p:nvSpPr>
        <p:spPr bwMode="auto">
          <a:xfrm>
            <a:off x="7382933" y="1905000"/>
            <a:ext cx="4648200" cy="161061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Rectangle 7"/>
          <p:cNvSpPr/>
          <p:nvPr/>
        </p:nvSpPr>
        <p:spPr>
          <a:xfrm>
            <a:off x="8229600" y="1987034"/>
            <a:ext cx="1941557" cy="369332"/>
          </a:xfrm>
          <a:prstGeom prst="rect">
            <a:avLst/>
          </a:prstGeom>
        </p:spPr>
        <p:txBody>
          <a:bodyPr wrap="none">
            <a:spAutoFit/>
          </a:bodyPr>
          <a:lstStyle/>
          <a:p>
            <a:r>
              <a:rPr lang="en-US" b="1" dirty="0"/>
              <a:t> Header Parsing</a:t>
            </a:r>
            <a:endParaRPr lang="en-US"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330200"/>
            <a:ext cx="5791200" cy="6370975"/>
          </a:xfrm>
          <a:prstGeom prst="rect">
            <a:avLst/>
          </a:prstGeom>
        </p:spPr>
        <p:txBody>
          <a:bodyPr wrap="square">
            <a:spAutoFit/>
          </a:bodyPr>
          <a:lstStyle/>
          <a:p>
            <a:r>
              <a:rPr lang="en-US" sz="1200" dirty="0"/>
              <a:t>public </a:t>
            </a:r>
            <a:r>
              <a:rPr lang="en-US" sz="1200" dirty="0" err="1"/>
              <a:t>boolean</a:t>
            </a:r>
            <a:r>
              <a:rPr lang="en-US" sz="1200" dirty="0"/>
              <a:t> </a:t>
            </a:r>
            <a:r>
              <a:rPr lang="en-US" sz="1200" dirty="0" err="1"/>
              <a:t>isPublic</a:t>
            </a:r>
            <a:r>
              <a:rPr lang="en-US" sz="1200" dirty="0"/>
              <a:t>() {</a:t>
            </a:r>
            <a:endParaRPr lang="en-US" sz="1200" dirty="0"/>
          </a:p>
          <a:p>
            <a:r>
              <a:rPr lang="en-US" sz="1200" dirty="0"/>
              <a:t>        return "</a:t>
            </a:r>
            <a:r>
              <a:rPr lang="en-US" sz="1200" dirty="0" err="1"/>
              <a:t>true".equals</a:t>
            </a:r>
            <a:r>
              <a:rPr lang="en-US" sz="1200" dirty="0"/>
              <a:t>(</a:t>
            </a:r>
            <a:r>
              <a:rPr lang="en-US" sz="1200" dirty="0" err="1"/>
              <a:t>directives.get</a:t>
            </a:r>
            <a:r>
              <a:rPr lang="en-US" sz="1200" dirty="0"/>
              <a:t>("public"));</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isPrivate</a:t>
            </a:r>
            <a:r>
              <a:rPr lang="en-US" sz="1200" dirty="0"/>
              <a:t>() {</a:t>
            </a:r>
            <a:endParaRPr lang="en-US" sz="1200" dirty="0"/>
          </a:p>
          <a:p>
            <a:r>
              <a:rPr lang="en-US" sz="1200" dirty="0"/>
              <a:t>        return </a:t>
            </a:r>
            <a:r>
              <a:rPr lang="en-US" sz="1200" dirty="0" err="1"/>
              <a:t>directives.containsKey</a:t>
            </a:r>
            <a:r>
              <a:rPr lang="en-US" sz="1200" dirty="0"/>
              <a:t>("private");</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noCache</a:t>
            </a:r>
            <a:r>
              <a:rPr lang="en-US" sz="1200" dirty="0"/>
              <a:t>() {</a:t>
            </a:r>
            <a:endParaRPr lang="en-US" sz="1200" dirty="0"/>
          </a:p>
          <a:p>
            <a:r>
              <a:rPr lang="en-US" sz="1200" dirty="0"/>
              <a:t>        return </a:t>
            </a:r>
            <a:r>
              <a:rPr lang="en-US" sz="1200" dirty="0" err="1"/>
              <a:t>directives.containsKey</a:t>
            </a:r>
            <a:r>
              <a:rPr lang="en-US" sz="1200" dirty="0"/>
              <a:t>("no-cache");</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noStore</a:t>
            </a:r>
            <a:r>
              <a:rPr lang="en-US" sz="1200" dirty="0"/>
              <a:t>() {</a:t>
            </a:r>
            <a:endParaRPr lang="en-US" sz="1200" dirty="0"/>
          </a:p>
          <a:p>
            <a:r>
              <a:rPr lang="en-US" sz="1200" dirty="0"/>
              <a:t>        return "</a:t>
            </a:r>
            <a:r>
              <a:rPr lang="en-US" sz="1200" dirty="0" err="1"/>
              <a:t>true".equals</a:t>
            </a:r>
            <a:r>
              <a:rPr lang="en-US" sz="1200" dirty="0"/>
              <a:t>(</a:t>
            </a:r>
            <a:r>
              <a:rPr lang="en-US" sz="1200" dirty="0" err="1"/>
              <a:t>directives.get</a:t>
            </a:r>
            <a:r>
              <a:rPr lang="en-US" sz="1200" dirty="0"/>
              <a:t>("no-store"));</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noTransform</a:t>
            </a:r>
            <a:r>
              <a:rPr lang="en-US" sz="1200" dirty="0"/>
              <a:t>() {</a:t>
            </a:r>
            <a:endParaRPr lang="en-US" sz="1200" dirty="0"/>
          </a:p>
          <a:p>
            <a:r>
              <a:rPr lang="en-US" sz="1200" dirty="0"/>
              <a:t>        return "</a:t>
            </a:r>
            <a:r>
              <a:rPr lang="en-US" sz="1200" dirty="0" err="1"/>
              <a:t>true".equals</a:t>
            </a:r>
            <a:r>
              <a:rPr lang="en-US" sz="1200" dirty="0"/>
              <a:t>(</a:t>
            </a:r>
            <a:r>
              <a:rPr lang="en-US" sz="1200" dirty="0" err="1"/>
              <a:t>directives.get</a:t>
            </a:r>
            <a:r>
              <a:rPr lang="en-US" sz="1200" dirty="0"/>
              <a:t>("no-transform"));</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mustRevalidate</a:t>
            </a:r>
            <a:r>
              <a:rPr lang="en-US" sz="1200" dirty="0"/>
              <a:t>() {</a:t>
            </a:r>
            <a:endParaRPr lang="en-US" sz="1200" dirty="0"/>
          </a:p>
          <a:p>
            <a:r>
              <a:rPr lang="en-US" sz="1200" dirty="0"/>
              <a:t>        return "</a:t>
            </a:r>
            <a:r>
              <a:rPr lang="en-US" sz="1200" dirty="0" err="1"/>
              <a:t>true".equals</a:t>
            </a:r>
            <a:r>
              <a:rPr lang="en-US" sz="1200" dirty="0"/>
              <a:t>(</a:t>
            </a:r>
            <a:r>
              <a:rPr lang="en-US" sz="1200" dirty="0" err="1"/>
              <a:t>directives.get</a:t>
            </a:r>
            <a:r>
              <a:rPr lang="en-US" sz="1200" dirty="0"/>
              <a:t>("must-revalidate"));</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proxyRevalidate</a:t>
            </a:r>
            <a:r>
              <a:rPr lang="en-US" sz="1200" dirty="0"/>
              <a:t>() {</a:t>
            </a:r>
            <a:endParaRPr lang="en-US" sz="1200" dirty="0"/>
          </a:p>
          <a:p>
            <a:r>
              <a:rPr lang="en-US" sz="1200" dirty="0"/>
              <a:t>        return "</a:t>
            </a:r>
            <a:r>
              <a:rPr lang="en-US" sz="1200" dirty="0" err="1"/>
              <a:t>true".equals</a:t>
            </a:r>
            <a:r>
              <a:rPr lang="en-US" sz="1200" dirty="0"/>
              <a:t>(</a:t>
            </a:r>
            <a:r>
              <a:rPr lang="en-US" sz="1200" dirty="0" err="1"/>
              <a:t>directives.get</a:t>
            </a:r>
            <a:r>
              <a:rPr lang="en-US" sz="1200" dirty="0"/>
              <a:t>("proxy-revalidate"));</a:t>
            </a:r>
            <a:endParaRPr lang="en-US" sz="1200" dirty="0"/>
          </a:p>
          <a:p>
            <a:r>
              <a:rPr lang="en-US" sz="1200" dirty="0"/>
              <a:t>    }</a:t>
            </a:r>
            <a:endParaRPr lang="en-US" sz="1200" dirty="0"/>
          </a:p>
          <a:p>
            <a:endParaRPr lang="en-US" sz="1200" dirty="0"/>
          </a:p>
          <a:p>
            <a:r>
              <a:rPr lang="en-US" sz="1200" dirty="0"/>
              <a:t>    public Duration </a:t>
            </a:r>
            <a:r>
              <a:rPr lang="en-US" sz="1200" dirty="0" err="1"/>
              <a:t>getMaxAge</a:t>
            </a:r>
            <a:r>
              <a:rPr lang="en-US" sz="1200" dirty="0"/>
              <a:t>() {</a:t>
            </a:r>
            <a:endParaRPr lang="en-US" sz="1200" dirty="0"/>
          </a:p>
          <a:p>
            <a:r>
              <a:rPr lang="en-US" sz="1200" dirty="0"/>
              <a:t>        String </a:t>
            </a:r>
            <a:r>
              <a:rPr lang="en-US" sz="1200" dirty="0" err="1"/>
              <a:t>maxAge</a:t>
            </a:r>
            <a:r>
              <a:rPr lang="en-US" sz="1200" dirty="0"/>
              <a:t> = </a:t>
            </a:r>
            <a:r>
              <a:rPr lang="en-US" sz="1200" dirty="0" err="1"/>
              <a:t>directives.get</a:t>
            </a:r>
            <a:r>
              <a:rPr lang="en-US" sz="1200" dirty="0"/>
              <a:t>("max-age");</a:t>
            </a:r>
            <a:endParaRPr lang="en-US" sz="1200" dirty="0"/>
          </a:p>
          <a:p>
            <a:r>
              <a:rPr lang="en-US" sz="1200" dirty="0"/>
              <a:t>        return </a:t>
            </a:r>
            <a:r>
              <a:rPr lang="en-US" sz="1200" dirty="0" err="1"/>
              <a:t>maxAge</a:t>
            </a:r>
            <a:r>
              <a:rPr lang="en-US" sz="1200" dirty="0"/>
              <a:t> != null ? </a:t>
            </a:r>
            <a:r>
              <a:rPr lang="en-US" sz="1200" dirty="0" err="1"/>
              <a:t>Duration.ofSeconds</a:t>
            </a:r>
            <a:r>
              <a:rPr lang="en-US" sz="1200" dirty="0"/>
              <a:t>(</a:t>
            </a:r>
            <a:r>
              <a:rPr lang="en-US" sz="1200" dirty="0" err="1"/>
              <a:t>Long.parseLong</a:t>
            </a:r>
            <a:r>
              <a:rPr lang="en-US" sz="1200" dirty="0"/>
              <a:t>(</a:t>
            </a:r>
            <a:r>
              <a:rPr lang="en-US" sz="1200" dirty="0" err="1"/>
              <a:t>maxAge</a:t>
            </a:r>
            <a:r>
              <a:rPr lang="en-US" sz="1200" dirty="0"/>
              <a:t>)) : null;</a:t>
            </a:r>
            <a:endParaRPr lang="en-US" sz="1200" dirty="0"/>
          </a:p>
          <a:p>
            <a:r>
              <a:rPr lang="en-US" sz="1200" dirty="0"/>
              <a:t>    }</a:t>
            </a:r>
            <a:endParaRPr lang="en-US" sz="1200" dirty="0"/>
          </a:p>
          <a:p>
            <a:endParaRPr lang="en-US" sz="1200" dirty="0"/>
          </a:p>
        </p:txBody>
      </p:sp>
      <p:sp>
        <p:nvSpPr>
          <p:cNvPr id="6" name="Rectangle 5"/>
          <p:cNvSpPr/>
          <p:nvPr/>
        </p:nvSpPr>
        <p:spPr>
          <a:xfrm>
            <a:off x="5943600" y="1674941"/>
            <a:ext cx="6096000" cy="4878259"/>
          </a:xfrm>
          <a:prstGeom prst="rect">
            <a:avLst/>
          </a:prstGeom>
        </p:spPr>
        <p:txBody>
          <a:bodyPr>
            <a:spAutoFit/>
          </a:bodyPr>
          <a:lstStyle/>
          <a:p>
            <a:r>
              <a:rPr lang="en-US" sz="1200" dirty="0"/>
              <a:t> public Duration </a:t>
            </a:r>
            <a:r>
              <a:rPr lang="en-US" sz="1200" dirty="0" err="1"/>
              <a:t>getSMaxAge</a:t>
            </a:r>
            <a:r>
              <a:rPr lang="en-US" sz="1200" dirty="0"/>
              <a:t>() {</a:t>
            </a:r>
            <a:endParaRPr lang="en-US" sz="1200" dirty="0"/>
          </a:p>
          <a:p>
            <a:r>
              <a:rPr lang="en-US" sz="1200" dirty="0"/>
              <a:t>        String </a:t>
            </a:r>
            <a:r>
              <a:rPr lang="en-US" sz="1200" dirty="0" err="1"/>
              <a:t>sMaxAge</a:t>
            </a:r>
            <a:r>
              <a:rPr lang="en-US" sz="1200" dirty="0"/>
              <a:t> = </a:t>
            </a:r>
            <a:r>
              <a:rPr lang="en-US" sz="1200" dirty="0" err="1"/>
              <a:t>directives.get</a:t>
            </a:r>
            <a:r>
              <a:rPr lang="en-US" sz="1200" dirty="0"/>
              <a:t>("s-</a:t>
            </a:r>
            <a:r>
              <a:rPr lang="en-US" sz="1200" dirty="0" err="1"/>
              <a:t>maxage</a:t>
            </a:r>
            <a:r>
              <a:rPr lang="en-US" sz="1200" dirty="0"/>
              <a:t>");</a:t>
            </a:r>
            <a:endParaRPr lang="en-US" sz="1200" dirty="0"/>
          </a:p>
          <a:p>
            <a:r>
              <a:rPr lang="en-US" sz="1200" dirty="0"/>
              <a:t>        return </a:t>
            </a:r>
            <a:r>
              <a:rPr lang="en-US" sz="1200" dirty="0" err="1"/>
              <a:t>sMaxAge</a:t>
            </a:r>
            <a:r>
              <a:rPr lang="en-US" sz="1200" dirty="0"/>
              <a:t> != null ? </a:t>
            </a:r>
            <a:r>
              <a:rPr lang="en-US" sz="1200" dirty="0" err="1"/>
              <a:t>Duration.ofSeconds</a:t>
            </a:r>
            <a:r>
              <a:rPr lang="en-US" sz="1200" dirty="0"/>
              <a:t>(</a:t>
            </a:r>
            <a:r>
              <a:rPr lang="en-US" sz="1200" dirty="0" err="1"/>
              <a:t>Long.parseLong</a:t>
            </a:r>
            <a:r>
              <a:rPr lang="en-US" sz="1200" dirty="0"/>
              <a:t>(</a:t>
            </a:r>
            <a:r>
              <a:rPr lang="en-US" sz="1200" dirty="0" err="1"/>
              <a:t>sMaxAge</a:t>
            </a:r>
            <a:r>
              <a:rPr lang="en-US" sz="1200" dirty="0"/>
              <a:t>)) : null;</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isCacheAllowed</a:t>
            </a:r>
            <a:r>
              <a:rPr lang="en-US" sz="1200" dirty="0"/>
              <a:t>() {</a:t>
            </a:r>
            <a:endParaRPr lang="en-US" sz="1200" dirty="0"/>
          </a:p>
          <a:p>
            <a:r>
              <a:rPr lang="en-US" sz="1200" dirty="0"/>
              <a:t>        return !</a:t>
            </a:r>
            <a:r>
              <a:rPr lang="en-US" sz="1200" dirty="0" err="1"/>
              <a:t>noStore</a:t>
            </a:r>
            <a:r>
              <a:rPr lang="en-US" sz="1200" dirty="0"/>
              <a:t>();</a:t>
            </a:r>
            <a:endParaRPr lang="en-US" sz="1200" dirty="0"/>
          </a:p>
          <a:p>
            <a:r>
              <a:rPr lang="en-US" sz="1200" dirty="0"/>
              <a:t>    }</a:t>
            </a:r>
            <a:endParaRPr lang="en-US" sz="1200" dirty="0"/>
          </a:p>
          <a:p>
            <a:endParaRPr lang="en-US" sz="1200" dirty="0"/>
          </a:p>
          <a:p>
            <a:r>
              <a:rPr lang="en-US" sz="1200" dirty="0"/>
              <a:t>    public </a:t>
            </a:r>
            <a:r>
              <a:rPr lang="en-US" sz="1200" dirty="0" err="1"/>
              <a:t>boolean</a:t>
            </a:r>
            <a:r>
              <a:rPr lang="en-US" sz="1200" dirty="0"/>
              <a:t> </a:t>
            </a:r>
            <a:r>
              <a:rPr lang="en-US" sz="1200" dirty="0" err="1"/>
              <a:t>requiresValidation</a:t>
            </a:r>
            <a:r>
              <a:rPr lang="en-US" sz="1200" dirty="0"/>
              <a:t>(Instant </a:t>
            </a:r>
            <a:r>
              <a:rPr lang="en-US" sz="1200" dirty="0" err="1"/>
              <a:t>cachedDate</a:t>
            </a:r>
            <a:r>
              <a:rPr lang="en-US" sz="1200" dirty="0"/>
              <a:t>) {</a:t>
            </a:r>
            <a:endParaRPr lang="en-US" sz="1200" dirty="0"/>
          </a:p>
          <a:p>
            <a:r>
              <a:rPr lang="en-US" sz="1200" dirty="0"/>
              <a:t>        if (</a:t>
            </a:r>
            <a:r>
              <a:rPr lang="en-US" sz="1200" dirty="0" err="1"/>
              <a:t>noCache</a:t>
            </a:r>
            <a:r>
              <a:rPr lang="en-US" sz="1200" dirty="0"/>
              <a:t>() || </a:t>
            </a:r>
            <a:r>
              <a:rPr lang="en-US" sz="1200" dirty="0" err="1"/>
              <a:t>mustRevalidate</a:t>
            </a:r>
            <a:r>
              <a:rPr lang="en-US" sz="1200" dirty="0"/>
              <a:t>()) {</a:t>
            </a:r>
            <a:endParaRPr lang="en-US" sz="1200" dirty="0"/>
          </a:p>
          <a:p>
            <a:r>
              <a:rPr lang="en-US" sz="1200" dirty="0"/>
              <a:t>            return true;</a:t>
            </a:r>
            <a:endParaRPr lang="en-US" sz="1200" dirty="0"/>
          </a:p>
          <a:p>
            <a:r>
              <a:rPr lang="en-US" sz="1200" dirty="0"/>
              <a:t>        }</a:t>
            </a:r>
            <a:endParaRPr lang="en-US" sz="1200" dirty="0"/>
          </a:p>
          <a:p>
            <a:endParaRPr lang="en-US" sz="1200" dirty="0"/>
          </a:p>
          <a:p>
            <a:r>
              <a:rPr lang="en-US" sz="1200" dirty="0"/>
              <a:t>        Duration </a:t>
            </a:r>
            <a:r>
              <a:rPr lang="en-US" sz="1200" dirty="0" err="1"/>
              <a:t>maxAge</a:t>
            </a:r>
            <a:r>
              <a:rPr lang="en-US" sz="1200" dirty="0"/>
              <a:t> = </a:t>
            </a:r>
            <a:r>
              <a:rPr lang="en-US" sz="1200" dirty="0" err="1"/>
              <a:t>getMaxAge</a:t>
            </a:r>
            <a:r>
              <a:rPr lang="en-US" sz="1200" dirty="0"/>
              <a:t>();</a:t>
            </a:r>
            <a:endParaRPr lang="en-US" sz="1200" dirty="0"/>
          </a:p>
          <a:p>
            <a:r>
              <a:rPr lang="en-US" sz="1200" dirty="0"/>
              <a:t>        if (</a:t>
            </a:r>
            <a:r>
              <a:rPr lang="en-US" sz="1200" dirty="0" err="1"/>
              <a:t>maxAge</a:t>
            </a:r>
            <a:r>
              <a:rPr lang="en-US" sz="1200" dirty="0"/>
              <a:t> != null) {</a:t>
            </a:r>
            <a:endParaRPr lang="en-US" sz="1200" dirty="0"/>
          </a:p>
          <a:p>
            <a:r>
              <a:rPr lang="en-US" sz="1200" dirty="0"/>
              <a:t>            return </a:t>
            </a:r>
            <a:r>
              <a:rPr lang="en-US" sz="1200" dirty="0" err="1"/>
              <a:t>cachedDate.plus</a:t>
            </a:r>
            <a:r>
              <a:rPr lang="en-US" sz="1200" dirty="0"/>
              <a:t>(</a:t>
            </a:r>
            <a:r>
              <a:rPr lang="en-US" sz="1200" dirty="0" err="1"/>
              <a:t>maxAge</a:t>
            </a:r>
            <a:r>
              <a:rPr lang="en-US" sz="1200" dirty="0"/>
              <a:t>).</a:t>
            </a:r>
            <a:r>
              <a:rPr lang="en-US" sz="1200" dirty="0" err="1"/>
              <a:t>isBefore</a:t>
            </a:r>
            <a:r>
              <a:rPr lang="en-US" sz="1200" dirty="0"/>
              <a:t>(</a:t>
            </a:r>
            <a:r>
              <a:rPr lang="en-US" sz="1200" dirty="0" err="1"/>
              <a:t>Instant.now</a:t>
            </a:r>
            <a:r>
              <a:rPr lang="en-US" sz="1200" dirty="0"/>
              <a:t>());</a:t>
            </a:r>
            <a:endParaRPr lang="en-US" sz="1200" dirty="0"/>
          </a:p>
          <a:p>
            <a:r>
              <a:rPr lang="en-US" sz="1200" dirty="0"/>
              <a:t>        }</a:t>
            </a:r>
            <a:endParaRPr lang="en-US" sz="1200" dirty="0"/>
          </a:p>
          <a:p>
            <a:endParaRPr lang="en-US" sz="1100" dirty="0"/>
          </a:p>
          <a:p>
            <a:r>
              <a:rPr lang="en-US" sz="1200" dirty="0"/>
              <a:t>        return false;</a:t>
            </a:r>
            <a:endParaRPr lang="en-US" sz="1200" dirty="0"/>
          </a:p>
          <a:p>
            <a:r>
              <a:rPr lang="en-US" sz="1200" dirty="0"/>
              <a:t>    }</a:t>
            </a:r>
            <a:endParaRPr lang="en-US" sz="1200" dirty="0"/>
          </a:p>
          <a:p>
            <a:endParaRPr lang="en-US" sz="1200" dirty="0"/>
          </a:p>
          <a:p>
            <a:r>
              <a:rPr lang="en-US" sz="1200" dirty="0"/>
              <a:t>    @Override</a:t>
            </a:r>
            <a:endParaRPr lang="en-US" sz="1200" dirty="0"/>
          </a:p>
          <a:p>
            <a:r>
              <a:rPr lang="en-US" sz="1200" dirty="0"/>
              <a:t>    public String </a:t>
            </a:r>
            <a:r>
              <a:rPr lang="en-US" sz="1200" dirty="0" err="1"/>
              <a:t>toString</a:t>
            </a:r>
            <a:r>
              <a:rPr lang="en-US" sz="1200" dirty="0"/>
              <a:t>() {</a:t>
            </a:r>
            <a:endParaRPr lang="en-US" sz="1200" dirty="0"/>
          </a:p>
          <a:p>
            <a:r>
              <a:rPr lang="en-US" sz="1200" dirty="0"/>
              <a:t>        return "</a:t>
            </a:r>
            <a:r>
              <a:rPr lang="en-US" sz="1200" dirty="0" err="1"/>
              <a:t>CacheControl</a:t>
            </a:r>
            <a:r>
              <a:rPr lang="en-US" sz="1200" dirty="0"/>
              <a:t>{" + directives + '}';</a:t>
            </a:r>
            <a:endParaRPr lang="en-US" sz="1200" dirty="0"/>
          </a:p>
          <a:p>
            <a:r>
              <a:rPr lang="en-US" sz="1200" dirty="0"/>
              <a:t>    }</a:t>
            </a:r>
            <a:endParaRPr lang="en-US" sz="1200" dirty="0"/>
          </a:p>
        </p:txBody>
      </p:sp>
      <p:sp>
        <p:nvSpPr>
          <p:cNvPr id="7" name="Rectangle 6"/>
          <p:cNvSpPr/>
          <p:nvPr/>
        </p:nvSpPr>
        <p:spPr>
          <a:xfrm>
            <a:off x="4800600" y="228600"/>
            <a:ext cx="6096000" cy="1200329"/>
          </a:xfrm>
          <a:prstGeom prst="rect">
            <a:avLst/>
          </a:prstGeom>
        </p:spPr>
        <p:txBody>
          <a:bodyPr>
            <a:spAutoFit/>
          </a:bodyPr>
          <a:lstStyle/>
          <a:p>
            <a:r>
              <a:rPr lang="en-US" dirty="0"/>
              <a:t>Boolean methods to check specific policies:</a:t>
            </a:r>
            <a:endParaRPr lang="en-US" dirty="0"/>
          </a:p>
          <a:p>
            <a:pPr marL="800100" lvl="1" indent="-342900">
              <a:buFont typeface="+mj-lt"/>
              <a:buAutoNum type="arabicPeriod"/>
            </a:pPr>
            <a:r>
              <a:rPr lang="en-US" dirty="0" err="1"/>
              <a:t>noStore</a:t>
            </a:r>
            <a:r>
              <a:rPr lang="en-US" dirty="0"/>
              <a:t>(): Disables all caching</a:t>
            </a:r>
            <a:endParaRPr lang="en-US" dirty="0"/>
          </a:p>
          <a:p>
            <a:pPr marL="800100" lvl="1" indent="-342900">
              <a:buFont typeface="+mj-lt"/>
              <a:buAutoNum type="arabicPeriod"/>
            </a:pPr>
            <a:r>
              <a:rPr lang="en-US" dirty="0" err="1"/>
              <a:t>isPublic</a:t>
            </a:r>
            <a:r>
              <a:rPr lang="en-US" dirty="0"/>
              <a:t>(): Allows shared (proxy) caching</a:t>
            </a:r>
            <a:endParaRPr lang="en-US" dirty="0"/>
          </a:p>
          <a:p>
            <a:pPr marL="800100" lvl="1" indent="-342900">
              <a:buFont typeface="+mj-lt"/>
              <a:buAutoNum type="arabicPeriod"/>
            </a:pPr>
            <a:r>
              <a:rPr lang="en-US" dirty="0" err="1"/>
              <a:t>mustRevalidate</a:t>
            </a:r>
            <a:r>
              <a:rPr lang="en-US" dirty="0"/>
              <a:t>(): Requires server validation</a:t>
            </a:r>
            <a:endParaRPr lang="en-US" dirty="0"/>
          </a:p>
        </p:txBody>
      </p:sp>
      <p:sp>
        <p:nvSpPr>
          <p:cNvPr id="10" name="Rectangle 9"/>
          <p:cNvSpPr/>
          <p:nvPr/>
        </p:nvSpPr>
        <p:spPr bwMode="auto">
          <a:xfrm>
            <a:off x="4724400" y="131425"/>
            <a:ext cx="6477000" cy="129750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Rectangle 10"/>
          <p:cNvSpPr/>
          <p:nvPr/>
        </p:nvSpPr>
        <p:spPr bwMode="auto">
          <a:xfrm>
            <a:off x="5943600" y="1674940"/>
            <a:ext cx="6019800" cy="495445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8" name="Connector: Elbow 17"/>
          <p:cNvCxnSpPr/>
          <p:nvPr/>
        </p:nvCxnSpPr>
        <p:spPr bwMode="auto">
          <a:xfrm>
            <a:off x="3059175" y="347132"/>
            <a:ext cx="2884425" cy="5050175"/>
          </a:xfrm>
          <a:prstGeom prst="bentConnector3">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D69E8C7-F9B4-4FB8-9138-8E1DB967F9BC}" type="slidenum">
              <a:rPr lang="en-US" altLang="zh-CN" smtClean="0"/>
            </a:fld>
            <a:endParaRPr lang="en-US" altLang="zh-CN"/>
          </a:p>
        </p:txBody>
      </p:sp>
      <p:sp>
        <p:nvSpPr>
          <p:cNvPr id="3" name="Rectangle 2"/>
          <p:cNvSpPr/>
          <p:nvPr/>
        </p:nvSpPr>
        <p:spPr>
          <a:xfrm>
            <a:off x="277283" y="136524"/>
            <a:ext cx="5361517" cy="6494085"/>
          </a:xfrm>
          <a:prstGeom prst="rect">
            <a:avLst/>
          </a:prstGeom>
        </p:spPr>
        <p:txBody>
          <a:bodyPr wrap="square">
            <a:spAutoFit/>
          </a:bodyPr>
          <a:lstStyle/>
          <a:p>
            <a:r>
              <a:rPr lang="en-US" sz="1300" b="1" dirty="0">
                <a:solidFill>
                  <a:srgbClr val="00B050"/>
                </a:solidFill>
              </a:rPr>
              <a:t>// Builder pattern for creating Cache-Control headers</a:t>
            </a:r>
            <a:endParaRPr lang="en-US" sz="1300" b="1" dirty="0">
              <a:solidFill>
                <a:srgbClr val="00B050"/>
              </a:solidFill>
            </a:endParaRPr>
          </a:p>
          <a:p>
            <a:r>
              <a:rPr lang="en-US" sz="1300" dirty="0"/>
              <a:t>    public static class Builder {</a:t>
            </a:r>
            <a:endParaRPr lang="en-US" sz="1300" dirty="0"/>
          </a:p>
          <a:p>
            <a:r>
              <a:rPr lang="en-US" sz="1300" dirty="0"/>
              <a:t>        private final Map&lt;String, String&gt; directives = new HashMap&lt;&gt;();</a:t>
            </a:r>
            <a:endParaRPr lang="en-US" sz="1300" dirty="0"/>
          </a:p>
          <a:p>
            <a:endParaRPr lang="en-US" sz="1300" dirty="0"/>
          </a:p>
          <a:p>
            <a:r>
              <a:rPr lang="en-US" sz="1300" dirty="0"/>
              <a:t>        public Builder </a:t>
            </a:r>
            <a:r>
              <a:rPr lang="en-US" sz="1300" dirty="0" err="1"/>
              <a:t>publicCache</a:t>
            </a:r>
            <a:r>
              <a:rPr lang="en-US" sz="1300" dirty="0"/>
              <a:t>() {</a:t>
            </a:r>
            <a:endParaRPr lang="en-US" sz="1300" dirty="0"/>
          </a:p>
          <a:p>
            <a:r>
              <a:rPr lang="en-US" sz="1300" dirty="0"/>
              <a:t>            </a:t>
            </a:r>
            <a:r>
              <a:rPr lang="en-US" sz="1300" dirty="0" err="1"/>
              <a:t>directives.put</a:t>
            </a:r>
            <a:r>
              <a:rPr lang="en-US" sz="1300" dirty="0"/>
              <a:t>("public", "true");</a:t>
            </a:r>
            <a:endParaRPr lang="en-US" sz="1300" dirty="0"/>
          </a:p>
          <a:p>
            <a:r>
              <a:rPr lang="en-US" sz="1300" dirty="0"/>
              <a:t>            return this;                         }</a:t>
            </a:r>
            <a:endParaRPr lang="en-US" sz="1300" dirty="0"/>
          </a:p>
          <a:p>
            <a:endParaRPr lang="en-US" sz="1300" dirty="0"/>
          </a:p>
          <a:p>
            <a:r>
              <a:rPr lang="en-US" sz="1300" dirty="0"/>
              <a:t>        public Builder </a:t>
            </a:r>
            <a:r>
              <a:rPr lang="en-US" sz="1300" dirty="0" err="1"/>
              <a:t>privateCache</a:t>
            </a:r>
            <a:r>
              <a:rPr lang="en-US" sz="1300" dirty="0"/>
              <a:t>() {</a:t>
            </a:r>
            <a:endParaRPr lang="en-US" sz="1300" dirty="0"/>
          </a:p>
          <a:p>
            <a:r>
              <a:rPr lang="en-US" sz="1300" dirty="0"/>
              <a:t>            </a:t>
            </a:r>
            <a:r>
              <a:rPr lang="en-US" sz="1300" dirty="0" err="1"/>
              <a:t>directives.put</a:t>
            </a:r>
            <a:r>
              <a:rPr lang="en-US" sz="1300" dirty="0"/>
              <a:t>("private", "true");</a:t>
            </a:r>
            <a:endParaRPr lang="en-US" sz="1300" dirty="0"/>
          </a:p>
          <a:p>
            <a:r>
              <a:rPr lang="en-US" sz="1300" dirty="0"/>
              <a:t>            return this;	        }</a:t>
            </a:r>
            <a:endParaRPr lang="en-US" sz="1300" dirty="0"/>
          </a:p>
          <a:p>
            <a:endParaRPr lang="en-US" sz="1300" dirty="0"/>
          </a:p>
          <a:p>
            <a:r>
              <a:rPr lang="en-US" sz="1300" dirty="0"/>
              <a:t>        public Builder </a:t>
            </a:r>
            <a:r>
              <a:rPr lang="en-US" sz="1300" dirty="0" err="1"/>
              <a:t>noCache</a:t>
            </a:r>
            <a:r>
              <a:rPr lang="en-US" sz="1300" dirty="0"/>
              <a:t>() {</a:t>
            </a:r>
            <a:endParaRPr lang="en-US" sz="1300" dirty="0"/>
          </a:p>
          <a:p>
            <a:r>
              <a:rPr lang="en-US" sz="1300" dirty="0"/>
              <a:t>            </a:t>
            </a:r>
            <a:r>
              <a:rPr lang="en-US" sz="1300" dirty="0" err="1"/>
              <a:t>directives.put</a:t>
            </a:r>
            <a:r>
              <a:rPr lang="en-US" sz="1300" dirty="0"/>
              <a:t>("no-cache", "true");</a:t>
            </a:r>
            <a:endParaRPr lang="en-US" sz="1300" dirty="0"/>
          </a:p>
          <a:p>
            <a:r>
              <a:rPr lang="en-US" sz="1300" dirty="0"/>
              <a:t>            return this; 	  }</a:t>
            </a:r>
            <a:endParaRPr lang="en-US" sz="1300" dirty="0"/>
          </a:p>
          <a:p>
            <a:endParaRPr lang="en-US" sz="1300" dirty="0"/>
          </a:p>
          <a:p>
            <a:r>
              <a:rPr lang="en-US" sz="1300" dirty="0"/>
              <a:t>        public Builder </a:t>
            </a:r>
            <a:r>
              <a:rPr lang="en-US" sz="1300" dirty="0" err="1"/>
              <a:t>noStore</a:t>
            </a:r>
            <a:r>
              <a:rPr lang="en-US" sz="1300" dirty="0"/>
              <a:t>() {</a:t>
            </a:r>
            <a:endParaRPr lang="en-US" sz="1300" dirty="0"/>
          </a:p>
          <a:p>
            <a:r>
              <a:rPr lang="en-US" sz="1300" dirty="0"/>
              <a:t>            </a:t>
            </a:r>
            <a:r>
              <a:rPr lang="en-US" sz="1300" dirty="0" err="1"/>
              <a:t>directives.put</a:t>
            </a:r>
            <a:r>
              <a:rPr lang="en-US" sz="1300" dirty="0"/>
              <a:t>("no-store", "true");</a:t>
            </a:r>
            <a:endParaRPr lang="en-US" sz="1300" dirty="0"/>
          </a:p>
          <a:p>
            <a:r>
              <a:rPr lang="en-US" sz="1300" dirty="0"/>
              <a:t>            return this;	 }</a:t>
            </a:r>
            <a:endParaRPr lang="en-US" sz="1300" dirty="0"/>
          </a:p>
          <a:p>
            <a:endParaRPr lang="en-US" sz="1300" dirty="0"/>
          </a:p>
          <a:p>
            <a:r>
              <a:rPr lang="en-US" sz="1300" dirty="0"/>
              <a:t>        public Builder </a:t>
            </a:r>
            <a:r>
              <a:rPr lang="en-US" sz="1300" dirty="0" err="1"/>
              <a:t>maxAge</a:t>
            </a:r>
            <a:r>
              <a:rPr lang="en-US" sz="1300" dirty="0"/>
              <a:t>(Duration duration) {</a:t>
            </a:r>
            <a:endParaRPr lang="en-US" sz="1300" dirty="0"/>
          </a:p>
          <a:p>
            <a:r>
              <a:rPr lang="en-US" sz="1300" dirty="0"/>
              <a:t>            </a:t>
            </a:r>
            <a:r>
              <a:rPr lang="en-US" sz="1300" dirty="0" err="1"/>
              <a:t>directives.put</a:t>
            </a:r>
            <a:r>
              <a:rPr lang="en-US" sz="1300" dirty="0"/>
              <a:t>("max-age", </a:t>
            </a:r>
            <a:r>
              <a:rPr lang="en-US" sz="1300" dirty="0" err="1"/>
              <a:t>String.valueOf</a:t>
            </a:r>
            <a:r>
              <a:rPr lang="en-US" sz="1300" dirty="0"/>
              <a:t>(</a:t>
            </a:r>
            <a:r>
              <a:rPr lang="en-US" sz="1300" dirty="0" err="1"/>
              <a:t>duration.getSeconds</a:t>
            </a:r>
            <a:r>
              <a:rPr lang="en-US" sz="1300" dirty="0"/>
              <a:t>()));</a:t>
            </a:r>
            <a:endParaRPr lang="en-US" sz="1300" dirty="0"/>
          </a:p>
          <a:p>
            <a:r>
              <a:rPr lang="en-US" sz="1300" dirty="0"/>
              <a:t>            return this;		     }</a:t>
            </a:r>
            <a:endParaRPr lang="en-US" sz="1300" dirty="0"/>
          </a:p>
          <a:p>
            <a:endParaRPr lang="en-US" sz="1300" dirty="0"/>
          </a:p>
          <a:p>
            <a:r>
              <a:rPr lang="en-US" sz="1300" dirty="0"/>
              <a:t>        public Builder </a:t>
            </a:r>
            <a:r>
              <a:rPr lang="en-US" sz="1300" dirty="0" err="1"/>
              <a:t>mustRevalidate</a:t>
            </a:r>
            <a:r>
              <a:rPr lang="en-US" sz="1300" dirty="0"/>
              <a:t>() {</a:t>
            </a:r>
            <a:endParaRPr lang="en-US" sz="1300" dirty="0"/>
          </a:p>
          <a:p>
            <a:r>
              <a:rPr lang="en-US" sz="1300" dirty="0"/>
              <a:t>            </a:t>
            </a:r>
            <a:r>
              <a:rPr lang="en-US" sz="1300" dirty="0" err="1"/>
              <a:t>directives.put</a:t>
            </a:r>
            <a:r>
              <a:rPr lang="en-US" sz="1300" dirty="0"/>
              <a:t>("must-revalidate", "true");</a:t>
            </a:r>
            <a:endParaRPr lang="en-US" sz="1300" dirty="0"/>
          </a:p>
          <a:p>
            <a:r>
              <a:rPr lang="en-US" sz="1300" dirty="0"/>
              <a:t>            return this;	        }</a:t>
            </a:r>
            <a:endParaRPr lang="en-US" sz="1300" dirty="0"/>
          </a:p>
          <a:p>
            <a:endParaRPr lang="en-US" sz="1300" dirty="0"/>
          </a:p>
          <a:p>
            <a:r>
              <a:rPr lang="en-US" sz="1300" dirty="0"/>
              <a:t>        public </a:t>
            </a:r>
            <a:r>
              <a:rPr lang="en-US" sz="1300" dirty="0" err="1"/>
              <a:t>CacheControl</a:t>
            </a:r>
            <a:r>
              <a:rPr lang="en-US" sz="1300" dirty="0"/>
              <a:t> build() {</a:t>
            </a:r>
            <a:endParaRPr lang="en-US" sz="1300" dirty="0"/>
          </a:p>
          <a:p>
            <a:r>
              <a:rPr lang="en-US" sz="1300" dirty="0"/>
              <a:t>            return new </a:t>
            </a:r>
            <a:r>
              <a:rPr lang="en-US" sz="1300" dirty="0" err="1"/>
              <a:t>CacheControl</a:t>
            </a:r>
            <a:r>
              <a:rPr lang="en-US" sz="1300" dirty="0"/>
              <a:t>(directives);        }</a:t>
            </a:r>
            <a:endParaRPr lang="en-US" sz="1300" dirty="0"/>
          </a:p>
          <a:p>
            <a:r>
              <a:rPr lang="en-US" sz="1300" dirty="0"/>
              <a:t>    }</a:t>
            </a:r>
            <a:endParaRPr lang="en-US" sz="1300" dirty="0"/>
          </a:p>
        </p:txBody>
      </p:sp>
      <p:sp>
        <p:nvSpPr>
          <p:cNvPr id="4" name="Rectangle 3"/>
          <p:cNvSpPr/>
          <p:nvPr/>
        </p:nvSpPr>
        <p:spPr>
          <a:xfrm>
            <a:off x="6106585" y="2224828"/>
            <a:ext cx="5816599" cy="4278094"/>
          </a:xfrm>
          <a:prstGeom prst="rect">
            <a:avLst/>
          </a:prstGeom>
        </p:spPr>
        <p:txBody>
          <a:bodyPr wrap="square">
            <a:spAutoFit/>
          </a:bodyPr>
          <a:lstStyle/>
          <a:p>
            <a:r>
              <a:rPr lang="en-US" sz="1600" dirty="0">
                <a:solidFill>
                  <a:srgbClr val="00B050"/>
                </a:solidFill>
              </a:rPr>
              <a:t>// Example usage</a:t>
            </a:r>
            <a:endParaRPr lang="en-US" sz="1600" dirty="0">
              <a:solidFill>
                <a:srgbClr val="00B050"/>
              </a:solidFill>
            </a:endParaRPr>
          </a:p>
          <a:p>
            <a:r>
              <a:rPr lang="en-US" sz="1600" dirty="0"/>
              <a:t>    public static void main(String[] </a:t>
            </a:r>
            <a:r>
              <a:rPr lang="en-US" sz="1600" dirty="0" err="1"/>
              <a:t>args</a:t>
            </a:r>
            <a:r>
              <a:rPr lang="en-US" sz="1600" dirty="0"/>
              <a:t>) {</a:t>
            </a:r>
            <a:endParaRPr lang="en-US" sz="1600" dirty="0"/>
          </a:p>
          <a:p>
            <a:r>
              <a:rPr lang="en-US" sz="1600" dirty="0">
                <a:solidFill>
                  <a:srgbClr val="00B050"/>
                </a:solidFill>
              </a:rPr>
              <a:t>        // Parse from header</a:t>
            </a:r>
            <a:endParaRPr lang="en-US" sz="1600" dirty="0">
              <a:solidFill>
                <a:srgbClr val="00B050"/>
              </a:solidFill>
            </a:endParaRPr>
          </a:p>
          <a:p>
            <a:r>
              <a:rPr lang="en-US" sz="1600" dirty="0"/>
              <a:t>        </a:t>
            </a:r>
            <a:r>
              <a:rPr lang="en-US" sz="1600" dirty="0" err="1"/>
              <a:t>CacheControl</a:t>
            </a:r>
            <a:r>
              <a:rPr lang="en-US" sz="1600" dirty="0"/>
              <a:t> cc = </a:t>
            </a:r>
            <a:r>
              <a:rPr lang="en-US" sz="1600" dirty="0" err="1"/>
              <a:t>CacheControl.parse</a:t>
            </a:r>
            <a:r>
              <a:rPr lang="en-US" sz="1600" dirty="0"/>
              <a:t>("max-age=3600, public, must-revalidate");</a:t>
            </a:r>
            <a:endParaRPr lang="en-US" sz="1600" dirty="0"/>
          </a:p>
          <a:p>
            <a:r>
              <a:rPr lang="en-US" sz="1600" dirty="0"/>
              <a:t>        </a:t>
            </a:r>
            <a:r>
              <a:rPr lang="en-US" sz="1600" dirty="0" err="1"/>
              <a:t>System.out.println</a:t>
            </a:r>
            <a:r>
              <a:rPr lang="en-US" sz="1600" dirty="0"/>
              <a:t>("Max-Age: " + </a:t>
            </a:r>
            <a:r>
              <a:rPr lang="en-US" sz="1600" dirty="0" err="1"/>
              <a:t>cc.getMaxAge</a:t>
            </a:r>
            <a:r>
              <a:rPr lang="en-US" sz="1600" dirty="0"/>
              <a:t>());</a:t>
            </a:r>
            <a:endParaRPr lang="en-US" sz="1600" dirty="0"/>
          </a:p>
          <a:p>
            <a:r>
              <a:rPr lang="en-US" sz="1600" dirty="0"/>
              <a:t>        </a:t>
            </a:r>
            <a:r>
              <a:rPr lang="en-US" sz="1600" dirty="0" err="1"/>
              <a:t>System.out.println</a:t>
            </a:r>
            <a:r>
              <a:rPr lang="en-US" sz="1600" dirty="0"/>
              <a:t>("Must revalidate? " + </a:t>
            </a:r>
            <a:r>
              <a:rPr lang="en-US" sz="1600" dirty="0" err="1"/>
              <a:t>cc.mustRevalidate</a:t>
            </a:r>
            <a:r>
              <a:rPr lang="en-US" sz="1600" dirty="0"/>
              <a:t>());</a:t>
            </a:r>
            <a:endParaRPr lang="en-US" sz="1600" dirty="0"/>
          </a:p>
          <a:p>
            <a:endParaRPr lang="en-US" sz="1600" dirty="0"/>
          </a:p>
          <a:p>
            <a:r>
              <a:rPr lang="en-US" sz="1600" dirty="0"/>
              <a:t>        </a:t>
            </a:r>
            <a:r>
              <a:rPr lang="en-US" sz="1600" b="1" dirty="0">
                <a:solidFill>
                  <a:srgbClr val="00B050"/>
                </a:solidFill>
              </a:rPr>
              <a:t>// Build new header</a:t>
            </a:r>
            <a:endParaRPr lang="en-US" sz="1600" b="1" dirty="0">
              <a:solidFill>
                <a:srgbClr val="00B050"/>
              </a:solidFill>
            </a:endParaRPr>
          </a:p>
          <a:p>
            <a:r>
              <a:rPr lang="en-US" sz="1600" dirty="0"/>
              <a:t>        </a:t>
            </a:r>
            <a:r>
              <a:rPr lang="en-US" sz="1600" dirty="0" err="1"/>
              <a:t>CacheControl</a:t>
            </a:r>
            <a:r>
              <a:rPr lang="en-US" sz="1600" dirty="0"/>
              <a:t> </a:t>
            </a:r>
            <a:r>
              <a:rPr lang="en-US" sz="1600" dirty="0" err="1"/>
              <a:t>newCC</a:t>
            </a:r>
            <a:r>
              <a:rPr lang="en-US" sz="1600" dirty="0"/>
              <a:t> = new </a:t>
            </a:r>
            <a:r>
              <a:rPr lang="en-US" sz="1600" dirty="0" err="1"/>
              <a:t>CacheControl.Builder</a:t>
            </a:r>
            <a:r>
              <a:rPr lang="en-US" sz="1600" dirty="0"/>
              <a:t>()</a:t>
            </a:r>
            <a:endParaRPr lang="en-US" sz="1600" dirty="0"/>
          </a:p>
          <a:p>
            <a:r>
              <a:rPr lang="en-US" sz="1600" dirty="0"/>
              <a:t>            .</a:t>
            </a:r>
            <a:r>
              <a:rPr lang="en-US" sz="1600" dirty="0" err="1"/>
              <a:t>maxAge</a:t>
            </a:r>
            <a:r>
              <a:rPr lang="en-US" sz="1600" dirty="0"/>
              <a:t>(</a:t>
            </a:r>
            <a:r>
              <a:rPr lang="en-US" sz="1600" dirty="0" err="1"/>
              <a:t>Duration.ofHours</a:t>
            </a:r>
            <a:r>
              <a:rPr lang="en-US" sz="1600" dirty="0"/>
              <a:t>(1))</a:t>
            </a:r>
            <a:endParaRPr lang="en-US" sz="1600" dirty="0"/>
          </a:p>
          <a:p>
            <a:r>
              <a:rPr lang="en-US" sz="1600" dirty="0"/>
              <a:t>            .</a:t>
            </a:r>
            <a:r>
              <a:rPr lang="en-US" sz="1600" dirty="0" err="1"/>
              <a:t>mustRevalidate</a:t>
            </a:r>
            <a:r>
              <a:rPr lang="en-US" sz="1600" dirty="0"/>
              <a:t>()</a:t>
            </a:r>
            <a:endParaRPr lang="en-US" sz="1600" dirty="0"/>
          </a:p>
          <a:p>
            <a:r>
              <a:rPr lang="en-US" sz="1600" dirty="0"/>
              <a:t>            .build();</a:t>
            </a:r>
            <a:endParaRPr lang="en-US" sz="1600" dirty="0"/>
          </a:p>
          <a:p>
            <a:r>
              <a:rPr lang="en-US" sz="1600" dirty="0"/>
              <a:t>        </a:t>
            </a:r>
            <a:r>
              <a:rPr lang="en-US" sz="1600" dirty="0" err="1"/>
              <a:t>System.out.println</a:t>
            </a:r>
            <a:r>
              <a:rPr lang="en-US" sz="1600" dirty="0"/>
              <a:t>("Constructed: " + </a:t>
            </a:r>
            <a:r>
              <a:rPr lang="en-US" sz="1600" dirty="0" err="1"/>
              <a:t>newCC</a:t>
            </a:r>
            <a:r>
              <a:rPr lang="en-US" sz="1600" dirty="0"/>
              <a:t>);</a:t>
            </a:r>
            <a:endParaRPr lang="en-US" sz="1600" dirty="0"/>
          </a:p>
          <a:p>
            <a:r>
              <a:rPr lang="en-US" sz="1600" dirty="0"/>
              <a:t>    }</a:t>
            </a:r>
            <a:endParaRPr lang="en-US" sz="1600" dirty="0"/>
          </a:p>
          <a:p>
            <a:r>
              <a:rPr lang="en-US" sz="1600" dirty="0"/>
              <a:t>}</a:t>
            </a:r>
            <a:endParaRPr lang="en-US" sz="1600" dirty="0"/>
          </a:p>
        </p:txBody>
      </p:sp>
      <p:sp>
        <p:nvSpPr>
          <p:cNvPr id="5" name="Rectangle 4"/>
          <p:cNvSpPr/>
          <p:nvPr/>
        </p:nvSpPr>
        <p:spPr>
          <a:xfrm>
            <a:off x="3454401" y="990600"/>
            <a:ext cx="7467599" cy="646331"/>
          </a:xfrm>
          <a:prstGeom prst="rect">
            <a:avLst/>
          </a:prstGeom>
        </p:spPr>
        <p:txBody>
          <a:bodyPr wrap="square">
            <a:spAutoFit/>
          </a:bodyPr>
          <a:lstStyle/>
          <a:p>
            <a:pPr marL="342900" indent="-342900">
              <a:buFont typeface="+mj-lt"/>
              <a:buAutoNum type="arabicPeriod"/>
            </a:pPr>
            <a:r>
              <a:rPr lang="en-US" dirty="0">
                <a:solidFill>
                  <a:srgbClr val="00B050"/>
                </a:solidFill>
              </a:rPr>
              <a:t>It's an inner class dedicated to constructing </a:t>
            </a:r>
            <a:r>
              <a:rPr lang="en-US" dirty="0" err="1">
                <a:solidFill>
                  <a:srgbClr val="00B050"/>
                </a:solidFill>
              </a:rPr>
              <a:t>CacheControl</a:t>
            </a:r>
            <a:r>
              <a:rPr lang="en-US" dirty="0">
                <a:solidFill>
                  <a:srgbClr val="00B050"/>
                </a:solidFill>
              </a:rPr>
              <a:t> objects.</a:t>
            </a:r>
            <a:endParaRPr lang="en-US" dirty="0">
              <a:solidFill>
                <a:srgbClr val="00B050"/>
              </a:solidFill>
            </a:endParaRPr>
          </a:p>
          <a:p>
            <a:pPr marL="342900" indent="-342900">
              <a:buFont typeface="+mj-lt"/>
              <a:buAutoNum type="arabicPeriod"/>
            </a:pPr>
            <a:r>
              <a:rPr lang="en-US" dirty="0">
                <a:solidFill>
                  <a:srgbClr val="00B050"/>
                </a:solidFill>
              </a:rPr>
              <a:t>Uses a Map to temporarily store directives like max-age, public, etc.</a:t>
            </a:r>
            <a:endParaRPr lang="en-US" dirty="0">
              <a:solidFill>
                <a:srgbClr val="00B050"/>
              </a:solidFill>
            </a:endParaRPr>
          </a:p>
        </p:txBody>
      </p:sp>
      <p:cxnSp>
        <p:nvCxnSpPr>
          <p:cNvPr id="6" name="Straight Arrow Connector 5"/>
          <p:cNvCxnSpPr/>
          <p:nvPr/>
        </p:nvCxnSpPr>
        <p:spPr bwMode="auto">
          <a:xfrm flipH="1" flipV="1">
            <a:off x="2958041" y="838200"/>
            <a:ext cx="623359" cy="228600"/>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p:cNvSpPr/>
          <p:nvPr/>
        </p:nvSpPr>
        <p:spPr bwMode="auto">
          <a:xfrm>
            <a:off x="3488268" y="864080"/>
            <a:ext cx="7560732" cy="96472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Rectangle 9"/>
          <p:cNvSpPr/>
          <p:nvPr/>
        </p:nvSpPr>
        <p:spPr bwMode="auto">
          <a:xfrm>
            <a:off x="5410200" y="2199427"/>
            <a:ext cx="6512984" cy="445706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1676400" y="152401"/>
            <a:ext cx="8540750" cy="685800"/>
          </a:xfrm>
        </p:spPr>
        <p:txBody>
          <a:bodyPr/>
          <a:lstStyle/>
          <a:p>
            <a:pPr algn="l"/>
            <a:r>
              <a:rPr lang="en-GB" altLang="zh-CN" sz="3200" dirty="0"/>
              <a:t>Java Web </a:t>
            </a:r>
            <a:r>
              <a:rPr lang="en-GB" altLang="en-US" sz="3200" dirty="0"/>
              <a:t>Cache​</a:t>
            </a:r>
            <a:endParaRPr lang="en-GB" altLang="en-US" sz="3200" dirty="0"/>
          </a:p>
        </p:txBody>
      </p:sp>
      <p:sp>
        <p:nvSpPr>
          <p:cNvPr id="56323" name="内容占位符 2"/>
          <p:cNvSpPr>
            <a:spLocks noGrp="1"/>
          </p:cNvSpPr>
          <p:nvPr>
            <p:ph idx="1"/>
          </p:nvPr>
        </p:nvSpPr>
        <p:spPr>
          <a:xfrm>
            <a:off x="457200" y="838201"/>
            <a:ext cx="10820400" cy="5135563"/>
          </a:xfrm>
        </p:spPr>
        <p:txBody>
          <a:bodyPr/>
          <a:lstStyle/>
          <a:p>
            <a:r>
              <a:rPr lang="en-US" altLang="zh-CN" sz="2800" dirty="0"/>
              <a:t>JVM only supports one shared cache. </a:t>
            </a:r>
            <a:endParaRPr lang="en-US" altLang="zh-CN" sz="2800" dirty="0"/>
          </a:p>
          <a:p>
            <a:r>
              <a:rPr lang="en-US" altLang="zh-CN" sz="2800" dirty="0"/>
              <a:t>To use the cache in an HTTP client program, you need to use three custom subclasses to install the system-level cache used by the URL class.</a:t>
            </a:r>
            <a:endParaRPr lang="en-US" altLang="zh-CN" sz="2800" dirty="0"/>
          </a:p>
          <a:p>
            <a:pPr lvl="1"/>
            <a:r>
              <a:rPr lang="en-US" altLang="zh-CN" sz="2400" dirty="0"/>
              <a:t>A specific subclass of </a:t>
            </a:r>
            <a:r>
              <a:rPr lang="en-US" altLang="zh-CN" sz="2400" dirty="0" err="1"/>
              <a:t>ResponseCache</a:t>
            </a:r>
            <a:endParaRPr lang="en-US" altLang="zh-CN" sz="2400" dirty="0"/>
          </a:p>
          <a:p>
            <a:pPr lvl="1"/>
            <a:r>
              <a:rPr lang="en-US" altLang="zh-CN" sz="2400" dirty="0"/>
              <a:t>A specific subclass of </a:t>
            </a:r>
            <a:r>
              <a:rPr lang="en-US" altLang="zh-CN" sz="2400" dirty="0" err="1"/>
              <a:t>CacheRequest</a:t>
            </a:r>
            <a:endParaRPr lang="en-US" altLang="zh-CN" sz="2400" dirty="0"/>
          </a:p>
          <a:p>
            <a:pPr lvl="1"/>
            <a:r>
              <a:rPr lang="en-US" altLang="zh-CN" sz="2400" dirty="0"/>
              <a:t>A specific subclass of </a:t>
            </a:r>
            <a:r>
              <a:rPr lang="en-US" altLang="zh-CN" sz="2400" dirty="0" err="1"/>
              <a:t>CacheResponse</a:t>
            </a:r>
            <a:endParaRPr lang="en-US" altLang="zh-CN" sz="2400" dirty="0"/>
          </a:p>
          <a:p>
            <a:r>
              <a:rPr lang="en-US" altLang="zh-CN" sz="2800" dirty="0"/>
              <a:t>Use the </a:t>
            </a:r>
            <a:r>
              <a:rPr lang="en-US" altLang="zh-CN" sz="2800" dirty="0" err="1"/>
              <a:t>ResponseCache.setDefault</a:t>
            </a:r>
            <a:r>
              <a:rPr lang="en-US" altLang="zh-CN" sz="2800" dirty="0"/>
              <a:t>() method to install the custom cache subclass object as the default cache to handle the custom </a:t>
            </a:r>
            <a:r>
              <a:rPr lang="en-US" altLang="zh-CN" sz="2800" dirty="0" err="1"/>
              <a:t>CacheRequest</a:t>
            </a:r>
            <a:r>
              <a:rPr lang="en-US" altLang="zh-CN" sz="2800" dirty="0"/>
              <a:t> and </a:t>
            </a:r>
            <a:r>
              <a:rPr lang="en-US" altLang="zh-CN" sz="2800" dirty="0" err="1"/>
              <a:t>CacheResponse</a:t>
            </a:r>
            <a:r>
              <a:rPr lang="en-US" altLang="zh-CN" sz="2800" dirty="0"/>
              <a:t> subclasses.</a:t>
            </a:r>
            <a:endParaRPr lang="en-US" altLang="zh-CN"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1600200" y="26989"/>
            <a:ext cx="8540750" cy="623887"/>
          </a:xfrm>
        </p:spPr>
        <p:txBody>
          <a:bodyPr/>
          <a:lstStyle/>
          <a:p>
            <a:pPr algn="l"/>
            <a:r>
              <a:rPr lang="en-GB" altLang="zh-CN" sz="3200"/>
              <a:t>Java Web </a:t>
            </a:r>
            <a:r>
              <a:rPr lang="en-GB" altLang="en-US" sz="3200"/>
              <a:t>Cache </a:t>
            </a:r>
            <a:r>
              <a:rPr lang="en-GB" altLang="zh-CN" sz="3200"/>
              <a:t>- </a:t>
            </a:r>
            <a:r>
              <a:rPr lang="en-GB" altLang="zh-CN" sz="2800">
                <a:solidFill>
                  <a:srgbClr val="FF0000"/>
                </a:solidFill>
              </a:rPr>
              <a:t>CacheRequest </a:t>
            </a:r>
            <a:r>
              <a:rPr lang="en-GB" altLang="en-US" sz="2800">
                <a:solidFill>
                  <a:srgbClr val="FF0000"/>
                </a:solidFill>
              </a:rPr>
              <a:t>Class</a:t>
            </a:r>
            <a:r>
              <a:rPr lang="en-GB" altLang="en-US" sz="3200"/>
              <a:t>​</a:t>
            </a:r>
            <a:endParaRPr lang="en-GB" altLang="en-US" sz="3200"/>
          </a:p>
        </p:txBody>
      </p:sp>
      <p:sp>
        <p:nvSpPr>
          <p:cNvPr id="57347" name="内容占位符 2"/>
          <p:cNvSpPr>
            <a:spLocks noGrp="1"/>
          </p:cNvSpPr>
          <p:nvPr>
            <p:ph idx="1"/>
          </p:nvPr>
        </p:nvSpPr>
        <p:spPr>
          <a:xfrm>
            <a:off x="304800" y="914401"/>
            <a:ext cx="11353800" cy="5135563"/>
          </a:xfrm>
        </p:spPr>
        <p:txBody>
          <a:bodyPr/>
          <a:lstStyle/>
          <a:p>
            <a:r>
              <a:rPr lang="en-US" altLang="zh-CN" sz="2400" dirty="0"/>
              <a:t>The put() method of </a:t>
            </a:r>
            <a:r>
              <a:rPr lang="en-US" altLang="zh-CN" sz="2400" dirty="0" err="1"/>
              <a:t>ResponseCache</a:t>
            </a:r>
            <a:r>
              <a:rPr lang="en-US" altLang="zh-CN" sz="2400" dirty="0"/>
              <a:t> returns an object of type </a:t>
            </a:r>
            <a:r>
              <a:rPr lang="en-US" altLang="zh-CN" sz="2400" dirty="0" err="1"/>
              <a:t>CacheRequest</a:t>
            </a:r>
            <a:r>
              <a:rPr lang="en-US" altLang="zh-CN" sz="2400" dirty="0"/>
              <a:t>.</a:t>
            </a:r>
            <a:endParaRPr lang="en-US" altLang="zh-CN" sz="2400" dirty="0"/>
          </a:p>
          <a:p>
            <a:r>
              <a:rPr lang="en-US" altLang="zh-CN" sz="2400" dirty="0"/>
              <a:t>The </a:t>
            </a:r>
            <a:r>
              <a:rPr lang="en-US" altLang="zh-CN" sz="2400" dirty="0" err="1"/>
              <a:t>CacheRequest</a:t>
            </a:r>
            <a:r>
              <a:rPr lang="en-US" altLang="zh-CN" sz="2400" dirty="0"/>
              <a:t> class represents a channel for storing resources in </a:t>
            </a:r>
            <a:r>
              <a:rPr lang="en-US" altLang="zh-CN" sz="2400" dirty="0" err="1"/>
              <a:t>ResponseCache</a:t>
            </a:r>
            <a:r>
              <a:rPr lang="en-US" altLang="zh-CN" sz="2400" dirty="0"/>
              <a:t>.</a:t>
            </a:r>
            <a:endParaRPr lang="en-US" altLang="zh-CN" sz="2400" dirty="0"/>
          </a:p>
          <a:p>
            <a:r>
              <a:rPr lang="en-US" altLang="zh-CN" sz="2400" dirty="0"/>
              <a:t>An instance of the </a:t>
            </a:r>
            <a:r>
              <a:rPr lang="en-US" altLang="zh-CN" sz="2400" dirty="0" err="1"/>
              <a:t>CacheRequest</a:t>
            </a:r>
            <a:r>
              <a:rPr lang="en-US" altLang="zh-CN" sz="2400" dirty="0"/>
              <a:t> class wraps an </a:t>
            </a:r>
            <a:r>
              <a:rPr lang="en-US" altLang="zh-CN" sz="2400" dirty="0" err="1"/>
              <a:t>OutputStream</a:t>
            </a:r>
            <a:r>
              <a:rPr lang="en-US" altLang="zh-CN" sz="2400" dirty="0"/>
              <a:t> object that the HTTP client program can call to store resource data in the cache.</a:t>
            </a:r>
            <a:endParaRPr lang="en-US" altLang="zh-CN" sz="2400" dirty="0"/>
          </a:p>
          <a:p>
            <a:r>
              <a:rPr lang="en-US" altLang="zh-CN" sz="2400" dirty="0" err="1"/>
              <a:t>CacheRequest</a:t>
            </a:r>
            <a:r>
              <a:rPr lang="en-US" altLang="zh-CN" sz="2400" dirty="0"/>
              <a:t> class ex7-7 CacheRequest.java:</a:t>
            </a:r>
            <a:endParaRPr lang="en-US" altLang="zh-CN" sz="2400" dirty="0"/>
          </a:p>
          <a:p>
            <a:endParaRPr lang="en-US" altLang="zh-CN" sz="2800" dirty="0"/>
          </a:p>
        </p:txBody>
      </p:sp>
      <p:sp>
        <p:nvSpPr>
          <p:cNvPr id="4" name="矩形 3"/>
          <p:cNvSpPr>
            <a:spLocks noChangeArrowheads="1"/>
          </p:cNvSpPr>
          <p:nvPr/>
        </p:nvSpPr>
        <p:spPr bwMode="auto">
          <a:xfrm>
            <a:off x="990600" y="3657600"/>
            <a:ext cx="9982200" cy="22463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b="1" dirty="0">
                <a:solidFill>
                  <a:srgbClr val="FF0000"/>
                </a:solidFill>
                <a:latin typeface="Times New Roman" panose="02020603050405020304" pitchFamily="18" charset="0"/>
                <a:cs typeface="Times New Roman" panose="02020603050405020304" pitchFamily="18" charset="0"/>
              </a:rPr>
              <a:t>Package java.net</a:t>
            </a:r>
            <a:endParaRPr lang="en-GB" altLang="zh-CN" sz="20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class CacheRequest {</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 Returns the OutputStream </a:t>
            </a:r>
            <a:r>
              <a:rPr lang="en-GB" altLang="en-US" sz="2000" dirty="0">
                <a:latin typeface="Times New Roman" panose="02020603050405020304" pitchFamily="18" charset="0"/>
                <a:cs typeface="Times New Roman" panose="02020603050405020304" pitchFamily="18" charset="0"/>
              </a:rPr>
              <a:t>that can write the response body to </a:t>
            </a:r>
            <a:r>
              <a:rPr lang="en-GB" altLang="zh-CN" sz="2000" dirty="0">
                <a:latin typeface="Times New Roman" panose="02020603050405020304" pitchFamily="18" charset="0"/>
                <a:cs typeface="Times New Roman" panose="02020603050405020304" pitchFamily="18" charset="0"/>
              </a:rPr>
              <a:t>the cache </a:t>
            </a:r>
            <a:r>
              <a:rPr lang="en-GB" altLang="en-US" sz="2000" dirty="0">
                <a:latin typeface="Times New Roman" panose="02020603050405020304" pitchFamily="18" charset="0"/>
                <a:cs typeface="Times New Roman" panose="02020603050405020304" pitchFamily="18" charset="0"/>
              </a:rPr>
              <a:t>library</a:t>
            </a:r>
            <a:endParaRPr lang="en-GB" altLang="en-US"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OutputStream getBody( ) throws IOException;</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void abort() ; // </a:t>
            </a:r>
            <a:r>
              <a:rPr lang="en-GB" altLang="en-US" sz="2000" dirty="0">
                <a:latin typeface="Times New Roman" panose="02020603050405020304" pitchFamily="18" charset="0"/>
                <a:cs typeface="Times New Roman" panose="02020603050405020304" pitchFamily="18" charset="0"/>
              </a:rPr>
              <a:t>Abort the attempt to cache the response</a:t>
            </a:r>
            <a:endParaRPr lang="en-US"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a:t>
            </a:r>
            <a:endParaRPr lang="en-GB" altLang="zh-C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1524000" y="76200"/>
            <a:ext cx="8540750" cy="685800"/>
          </a:xfrm>
        </p:spPr>
        <p:txBody>
          <a:bodyPr/>
          <a:lstStyle/>
          <a:p>
            <a:pPr algn="l"/>
            <a:r>
              <a:rPr lang="en-GB" altLang="en-US" sz="3200" dirty="0"/>
              <a:t>Custom </a:t>
            </a:r>
            <a:r>
              <a:rPr lang="en-GB" altLang="zh-CN" sz="3200" dirty="0"/>
              <a:t>CacheRequest </a:t>
            </a:r>
            <a:r>
              <a:rPr lang="en-GB" altLang="en-US" sz="3200" dirty="0"/>
              <a:t>subclass</a:t>
            </a:r>
            <a:endParaRPr lang="en-GB" altLang="en-US" sz="3200" dirty="0"/>
          </a:p>
        </p:txBody>
      </p:sp>
      <p:sp>
        <p:nvSpPr>
          <p:cNvPr id="59395" name="内容占位符 2"/>
          <p:cNvSpPr>
            <a:spLocks noGrp="1"/>
          </p:cNvSpPr>
          <p:nvPr>
            <p:ph idx="1"/>
          </p:nvPr>
        </p:nvSpPr>
        <p:spPr>
          <a:xfrm>
            <a:off x="152400" y="745067"/>
            <a:ext cx="11887200" cy="1219200"/>
          </a:xfrm>
        </p:spPr>
        <p:txBody>
          <a:bodyPr/>
          <a:lstStyle/>
          <a:p>
            <a:r>
              <a:rPr lang="en-GB" altLang="en-US" sz="2000" dirty="0"/>
              <a:t>Customize a </a:t>
            </a:r>
            <a:r>
              <a:rPr lang="en-GB" altLang="zh-CN" sz="2000" dirty="0"/>
              <a:t>CacheRequest </a:t>
            </a:r>
            <a:r>
              <a:rPr lang="en-GB" altLang="en-US" sz="2000" dirty="0"/>
              <a:t>subclass to return a </a:t>
            </a:r>
            <a:r>
              <a:rPr lang="en-GB" altLang="zh-CN" sz="2000" dirty="0"/>
              <a:t>ByteArrayOutputStream </a:t>
            </a:r>
            <a:r>
              <a:rPr lang="en-GB" altLang="en-US" sz="2000" dirty="0"/>
              <a:t>and support the </a:t>
            </a:r>
            <a:r>
              <a:rPr lang="en-GB" altLang="zh-CN" sz="2000" dirty="0"/>
              <a:t>put() method </a:t>
            </a:r>
            <a:r>
              <a:rPr lang="en-GB" altLang="en-US" sz="2000" dirty="0"/>
              <a:t>of </a:t>
            </a:r>
            <a:r>
              <a:rPr lang="en-GB" altLang="zh-CN" sz="2000" dirty="0"/>
              <a:t>the ResponseCache object </a:t>
            </a:r>
            <a:r>
              <a:rPr lang="en-GB" altLang="en-US" sz="2000" dirty="0"/>
              <a:t>to store resource data in the cache as a byte array file.</a:t>
            </a:r>
            <a:endParaRPr lang="en-US" altLang="zh-CN" sz="2000" dirty="0"/>
          </a:p>
          <a:p>
            <a:r>
              <a:rPr lang="en-GB" altLang="en-US" sz="2000" dirty="0"/>
              <a:t>Demonstration subclass code example </a:t>
            </a:r>
            <a:r>
              <a:rPr lang="en-GB" altLang="zh-CN" sz="2000" dirty="0"/>
              <a:t>ch7. SimpleCacheRequest.java</a:t>
            </a:r>
            <a:endParaRPr lang="en-GB" altLang="zh-CN" sz="2000" dirty="0"/>
          </a:p>
          <a:p>
            <a:pPr marL="0" indent="0">
              <a:buNone/>
            </a:pPr>
            <a:endParaRPr lang="en-US" altLang="zh-CN" sz="2400" dirty="0"/>
          </a:p>
        </p:txBody>
      </p:sp>
      <p:pic>
        <p:nvPicPr>
          <p:cNvPr id="5939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1981200"/>
            <a:ext cx="66294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544638" y="0"/>
            <a:ext cx="8540750" cy="685800"/>
          </a:xfrm>
        </p:spPr>
        <p:txBody>
          <a:bodyPr/>
          <a:lstStyle/>
          <a:p>
            <a:pPr algn="l"/>
            <a:r>
              <a:rPr lang="en-GB" altLang="zh-CN" sz="3200"/>
              <a:t>Java Web </a:t>
            </a:r>
            <a:r>
              <a:rPr lang="en-GB" altLang="en-US" sz="3200"/>
              <a:t>Cache </a:t>
            </a:r>
            <a:r>
              <a:rPr lang="en-GB" altLang="zh-CN" sz="3200"/>
              <a:t>-- </a:t>
            </a:r>
            <a:r>
              <a:rPr lang="en-GB" altLang="zh-CN" sz="2800"/>
              <a:t>CacheResponse </a:t>
            </a:r>
            <a:r>
              <a:rPr lang="en-GB" altLang="en-US" sz="2800"/>
              <a:t>Class</a:t>
            </a:r>
            <a:r>
              <a:rPr lang="en-GB" altLang="en-US" sz="3200"/>
              <a:t>​</a:t>
            </a:r>
            <a:endParaRPr lang="en-GB" altLang="en-US" sz="3200"/>
          </a:p>
        </p:txBody>
      </p:sp>
      <p:sp>
        <p:nvSpPr>
          <p:cNvPr id="61443" name="内容占位符 2"/>
          <p:cNvSpPr>
            <a:spLocks noGrp="1"/>
          </p:cNvSpPr>
          <p:nvPr>
            <p:ph idx="1"/>
          </p:nvPr>
        </p:nvSpPr>
        <p:spPr>
          <a:xfrm>
            <a:off x="381000" y="838201"/>
            <a:ext cx="11582400" cy="2438399"/>
          </a:xfrm>
        </p:spPr>
        <p:txBody>
          <a:bodyPr/>
          <a:lstStyle/>
          <a:p>
            <a:r>
              <a:rPr lang="en-GB" altLang="zh-CN" sz="2000" dirty="0"/>
              <a:t>get() method </a:t>
            </a:r>
            <a:r>
              <a:rPr lang="en-GB" altLang="en-US" sz="2000" dirty="0"/>
              <a:t>of </a:t>
            </a:r>
            <a:r>
              <a:rPr lang="en-GB" altLang="zh-CN" sz="2000" dirty="0"/>
              <a:t>ResponseCache </a:t>
            </a:r>
            <a:r>
              <a:rPr lang="en-GB" altLang="en-US" sz="2000" dirty="0"/>
              <a:t>obtains the data and headers of the resource from the cache, and returns them in an object of type </a:t>
            </a:r>
            <a:endParaRPr lang="en-US" altLang="zh-CN" sz="2000" dirty="0"/>
          </a:p>
          <a:p>
            <a:r>
              <a:rPr lang="en-GB" altLang="zh-CN" sz="2000" dirty="0"/>
              <a:t>The CacheResponse </a:t>
            </a:r>
            <a:r>
              <a:rPr lang="en-GB" altLang="en-US" sz="2000" dirty="0"/>
              <a:t>class represents a channel for retrieving resources in </a:t>
            </a:r>
            <a:endParaRPr lang="en-US" altLang="zh-CN" sz="2000" dirty="0"/>
          </a:p>
          <a:p>
            <a:r>
              <a:rPr lang="en-GB" altLang="zh-CN" sz="2000" dirty="0"/>
              <a:t>The CacheResponse </a:t>
            </a:r>
            <a:r>
              <a:rPr lang="en-GB" altLang="en-US" sz="2000" dirty="0"/>
              <a:t>class wraps the data and header of a </a:t>
            </a:r>
            <a:r>
              <a:rPr lang="en-GB" altLang="zh-CN" sz="2000" dirty="0"/>
              <a:t>URI request resource. </a:t>
            </a:r>
            <a:endParaRPr lang="en-GB" altLang="zh-CN" sz="2000" dirty="0"/>
          </a:p>
          <a:p>
            <a:r>
              <a:rPr lang="en-GB" altLang="zh-CN" sz="2000" dirty="0"/>
              <a:t>The HTTP </a:t>
            </a:r>
            <a:r>
              <a:rPr lang="en-GB" altLang="en-US" sz="2000" dirty="0"/>
              <a:t>client program can call this object to retrieve the resource data or header from the cache.</a:t>
            </a:r>
            <a:endParaRPr lang="en-US" altLang="zh-CN" sz="2000" dirty="0"/>
          </a:p>
          <a:p>
            <a:r>
              <a:rPr lang="en-GB" altLang="zh-CN" sz="2000" dirty="0"/>
              <a:t>CacheResponse </a:t>
            </a:r>
            <a:r>
              <a:rPr lang="en-GB" altLang="en-US" sz="2000" dirty="0"/>
              <a:t>class </a:t>
            </a:r>
            <a:r>
              <a:rPr lang="en-GB" altLang="zh-CN" sz="2000" dirty="0"/>
              <a:t>ex7-9 CacheResponse </a:t>
            </a:r>
            <a:r>
              <a:rPr lang="en-GB" altLang="en-US" sz="2000" dirty="0"/>
              <a:t>:</a:t>
            </a:r>
            <a:endParaRPr lang="en-US" altLang="zh-CN" sz="2000" dirty="0"/>
          </a:p>
        </p:txBody>
      </p:sp>
      <p:sp>
        <p:nvSpPr>
          <p:cNvPr id="4" name="矩形 3"/>
          <p:cNvSpPr>
            <a:spLocks noChangeArrowheads="1"/>
          </p:cNvSpPr>
          <p:nvPr/>
        </p:nvSpPr>
        <p:spPr bwMode="auto">
          <a:xfrm>
            <a:off x="533400" y="3733800"/>
            <a:ext cx="10972800" cy="193899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b="1" dirty="0">
                <a:solidFill>
                  <a:srgbClr val="FF0000"/>
                </a:solidFill>
                <a:latin typeface="Times New Roman" panose="02020603050405020304" pitchFamily="18" charset="0"/>
                <a:cs typeface="Times New Roman" panose="02020603050405020304" pitchFamily="18" charset="0"/>
              </a:rPr>
              <a:t>Package java.net</a:t>
            </a:r>
            <a:endParaRPr lang="en-GB" altLang="zh-CN" sz="20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class CacheResponse{</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Return the body of the response as </a:t>
            </a:r>
            <a:r>
              <a:rPr lang="en-GB" altLang="zh-CN" sz="2000" dirty="0">
                <a:latin typeface="Times New Roman" panose="02020603050405020304" pitchFamily="18" charset="0"/>
                <a:cs typeface="Times New Roman" panose="02020603050405020304" pitchFamily="18" charset="0"/>
              </a:rPr>
              <a:t>an InputStream</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Map&lt;String, List&lt;String&gt;&gt; getHeaders( ) throws IOException;</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InputStream getBody() throws IOException; // </a:t>
            </a:r>
            <a:r>
              <a:rPr lang="en-GB" altLang="en-US" sz="2000" dirty="0">
                <a:latin typeface="Times New Roman" panose="02020603050405020304" pitchFamily="18" charset="0"/>
                <a:cs typeface="Times New Roman" panose="02020603050405020304" pitchFamily="18" charset="0"/>
              </a:rPr>
              <a:t>Return the response header as a </a:t>
            </a:r>
            <a:r>
              <a:rPr lang="en-GB" altLang="zh-CN" sz="2000" dirty="0">
                <a:latin typeface="Times New Roman" panose="02020603050405020304" pitchFamily="18" charset="0"/>
                <a:cs typeface="Times New Roman" panose="02020603050405020304" pitchFamily="18" charset="0"/>
              </a:rPr>
              <a:t>Map}</a:t>
            </a:r>
            <a:endParaRPr lang="en-GB" altLang="zh-C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1676400" y="6350"/>
            <a:ext cx="8540750" cy="685800"/>
          </a:xfrm>
        </p:spPr>
        <p:txBody>
          <a:bodyPr/>
          <a:lstStyle/>
          <a:p>
            <a:pPr algn="l"/>
            <a:r>
              <a:rPr lang="en-GB" altLang="en-US" sz="3200"/>
              <a:t>Custom </a:t>
            </a:r>
            <a:r>
              <a:rPr lang="en-GB" altLang="zh-CN" sz="3200"/>
              <a:t>CacheResponse </a:t>
            </a:r>
            <a:r>
              <a:rPr lang="en-GB" altLang="en-US" sz="3200"/>
              <a:t>subclass</a:t>
            </a:r>
            <a:endParaRPr lang="en-GB" altLang="en-US" sz="3200"/>
          </a:p>
        </p:txBody>
      </p:sp>
      <p:sp>
        <p:nvSpPr>
          <p:cNvPr id="63491" name="内容占位符 2"/>
          <p:cNvSpPr>
            <a:spLocks noGrp="1"/>
          </p:cNvSpPr>
          <p:nvPr>
            <p:ph idx="1"/>
          </p:nvPr>
        </p:nvSpPr>
        <p:spPr>
          <a:xfrm>
            <a:off x="228600" y="675217"/>
            <a:ext cx="11887200" cy="1898649"/>
          </a:xfrm>
        </p:spPr>
        <p:txBody>
          <a:bodyPr/>
          <a:lstStyle/>
          <a:p>
            <a:r>
              <a:rPr lang="en-GB" altLang="en-US" sz="2200" dirty="0"/>
              <a:t>Customize a </a:t>
            </a:r>
            <a:r>
              <a:rPr lang="en-GB" altLang="zh-CN" sz="2200" dirty="0"/>
              <a:t>CacheResponse </a:t>
            </a:r>
            <a:r>
              <a:rPr lang="en-GB" altLang="en-US" sz="2200" dirty="0"/>
              <a:t>subclass, bind it to a custom </a:t>
            </a:r>
            <a:r>
              <a:rPr lang="en-GB" altLang="zh-CN" sz="2200" dirty="0"/>
              <a:t>CacheRequest </a:t>
            </a:r>
            <a:r>
              <a:rPr lang="en-GB" altLang="en-US" sz="2200" dirty="0"/>
              <a:t>subclass ( </a:t>
            </a:r>
            <a:r>
              <a:rPr lang="en-GB" altLang="zh-CN" sz="2200" dirty="0"/>
              <a:t>SimpleCacheRequest </a:t>
            </a:r>
            <a:r>
              <a:rPr lang="en-GB" altLang="en-US" sz="2200" dirty="0"/>
              <a:t>) object and a </a:t>
            </a:r>
            <a:r>
              <a:rPr lang="en-GB" altLang="zh-CN" sz="2200" dirty="0"/>
              <a:t>CacheControl </a:t>
            </a:r>
            <a:r>
              <a:rPr lang="en-GB" altLang="en-US" sz="2200" dirty="0"/>
              <a:t>object, and support the </a:t>
            </a:r>
            <a:r>
              <a:rPr lang="en-GB" altLang="zh-CN" sz="2200" dirty="0"/>
              <a:t>get() method </a:t>
            </a:r>
            <a:r>
              <a:rPr lang="en-GB" altLang="en-US" sz="2200" dirty="0"/>
              <a:t>of the </a:t>
            </a:r>
            <a:r>
              <a:rPr lang="en-GB" altLang="zh-CN" sz="2200" dirty="0"/>
              <a:t>ResponseCache object </a:t>
            </a:r>
            <a:r>
              <a:rPr lang="en-GB" altLang="en-US" sz="2200" dirty="0"/>
              <a:t>to read resource data or headers from the cache.</a:t>
            </a:r>
            <a:endParaRPr lang="en-US" altLang="zh-CN" sz="2200" dirty="0"/>
          </a:p>
          <a:p>
            <a:r>
              <a:rPr lang="en-GB" altLang="en-US" sz="2200" dirty="0"/>
              <a:t>Demonstrates a custom </a:t>
            </a:r>
            <a:r>
              <a:rPr lang="en-GB" altLang="zh-CN" sz="2200" dirty="0"/>
              <a:t>CacheResponse </a:t>
            </a:r>
            <a:r>
              <a:rPr lang="en-GB" altLang="en-US" sz="2200" dirty="0"/>
              <a:t>subclass code example </a:t>
            </a:r>
            <a:r>
              <a:rPr lang="en-GB" altLang="zh-CN" sz="2200" dirty="0"/>
              <a:t>ch7.SimpleCacheResponse </a:t>
            </a:r>
            <a:r>
              <a:rPr lang="en-GB" altLang="en-US" sz="2200" dirty="0"/>
              <a:t>.</a:t>
            </a:r>
            <a:endParaRPr lang="en-US" altLang="zh-CN" sz="2200" dirty="0"/>
          </a:p>
          <a:p>
            <a:endParaRPr lang="en-US" altLang="zh-CN" sz="2800" dirty="0"/>
          </a:p>
        </p:txBody>
      </p:sp>
      <p:pic>
        <p:nvPicPr>
          <p:cNvPr id="6349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2573866"/>
            <a:ext cx="68421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1676400" y="6350"/>
            <a:ext cx="8540750" cy="685800"/>
          </a:xfrm>
        </p:spPr>
        <p:txBody>
          <a:bodyPr/>
          <a:lstStyle/>
          <a:p>
            <a:pPr algn="l"/>
            <a:r>
              <a:rPr lang="en-GB" altLang="en-US" sz="3200"/>
              <a:t>Custom </a:t>
            </a:r>
            <a:r>
              <a:rPr lang="en-GB" altLang="zh-CN" sz="3200"/>
              <a:t>CacheResponse </a:t>
            </a:r>
            <a:r>
              <a:rPr lang="en-GB" altLang="en-US" sz="3200"/>
              <a:t>subclass</a:t>
            </a:r>
            <a:endParaRPr lang="en-GB" altLang="en-US" sz="3200"/>
          </a:p>
        </p:txBody>
      </p:sp>
      <p:pic>
        <p:nvPicPr>
          <p:cNvPr id="65539"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17650" y="6351"/>
            <a:ext cx="7931150" cy="663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1676400" y="74613"/>
            <a:ext cx="8540750" cy="685800"/>
          </a:xfrm>
        </p:spPr>
        <p:txBody>
          <a:bodyPr/>
          <a:lstStyle/>
          <a:p>
            <a:pPr algn="l"/>
            <a:r>
              <a:rPr lang="en-GB" altLang="zh-CN" sz="3200"/>
              <a:t>Java </a:t>
            </a:r>
            <a:r>
              <a:rPr lang="en-GB" altLang="en-US" sz="3200"/>
              <a:t>Web Cache </a:t>
            </a:r>
            <a:r>
              <a:rPr lang="en-GB" altLang="zh-CN" sz="3200"/>
              <a:t>- ResponseCache </a:t>
            </a:r>
            <a:r>
              <a:rPr lang="en-GB" altLang="en-US" sz="2800"/>
              <a:t>Class</a:t>
            </a:r>
            <a:endParaRPr lang="en-GB" altLang="en-US" sz="2800"/>
          </a:p>
        </p:txBody>
      </p:sp>
      <p:sp>
        <p:nvSpPr>
          <p:cNvPr id="67587" name="内容占位符 2"/>
          <p:cNvSpPr>
            <a:spLocks noGrp="1"/>
          </p:cNvSpPr>
          <p:nvPr>
            <p:ph idx="1"/>
          </p:nvPr>
        </p:nvSpPr>
        <p:spPr>
          <a:xfrm>
            <a:off x="228600" y="1295400"/>
            <a:ext cx="11734800" cy="3886199"/>
          </a:xfrm>
        </p:spPr>
        <p:txBody>
          <a:bodyPr/>
          <a:lstStyle/>
          <a:p>
            <a:r>
              <a:rPr lang="en-GB" altLang="en-US" sz="2400" dirty="0"/>
              <a:t>Represents an implementation of </a:t>
            </a:r>
            <a:r>
              <a:rPr lang="en-GB" altLang="zh-CN" sz="2400" dirty="0"/>
              <a:t>a URLConnection </a:t>
            </a:r>
            <a:r>
              <a:rPr lang="en-GB" altLang="en-US" sz="2400" dirty="0"/>
              <a:t>cache.</a:t>
            </a:r>
            <a:endParaRPr lang="en-US" altLang="zh-CN" sz="2400" dirty="0"/>
          </a:p>
          <a:p>
            <a:r>
              <a:rPr lang="en-GB" altLang="en-US" sz="2400" dirty="0"/>
              <a:t>Its instance can be registered with the system through </a:t>
            </a:r>
            <a:r>
              <a:rPr lang="en-GB" altLang="zh-CN" sz="2400" dirty="0"/>
              <a:t>ResponseCache.setDefault(ResponseCache) , </a:t>
            </a:r>
            <a:r>
              <a:rPr lang="en-GB" altLang="en-US" sz="2400" dirty="0"/>
              <a:t>and the system will call this object </a:t>
            </a:r>
            <a:r>
              <a:rPr lang="en-GB" altLang="zh-CN" sz="2400" dirty="0"/>
              <a:t>:</a:t>
            </a:r>
            <a:endParaRPr lang="en-GB" altLang="zh-CN" sz="2400" dirty="0"/>
          </a:p>
          <a:p>
            <a:pPr marL="857250" lvl="1" indent="-457200">
              <a:buFont typeface="+mj-lt"/>
              <a:buAutoNum type="arabicPeriod"/>
            </a:pPr>
            <a:r>
              <a:rPr lang="en-GB" altLang="en-US" sz="2000" dirty="0"/>
              <a:t>Store resource data retrieved from external sources in the cache.</a:t>
            </a:r>
            <a:endParaRPr lang="en-US" altLang="zh-CN" sz="2000" dirty="0"/>
          </a:p>
          <a:p>
            <a:pPr marL="857250" lvl="1" indent="-457200">
              <a:buFont typeface="+mj-lt"/>
              <a:buAutoNum type="arabicPeriod"/>
            </a:pPr>
            <a:r>
              <a:rPr lang="en-GB" altLang="en-US" sz="2000" dirty="0"/>
              <a:t>Attempt to retrieve the requested resource, which may be stored in the cache.</a:t>
            </a:r>
            <a:endParaRPr lang="en-US" altLang="zh-CN" sz="2000" dirty="0"/>
          </a:p>
          <a:p>
            <a:r>
              <a:rPr lang="en-GB" altLang="zh-CN" sz="2400" dirty="0"/>
              <a:t>The ResponseCache </a:t>
            </a:r>
            <a:r>
              <a:rPr lang="en-GB" altLang="en-US" sz="2400" dirty="0"/>
              <a:t>implementation decides which resources should be cached </a:t>
            </a:r>
            <a:r>
              <a:rPr lang="en-GB" altLang="zh-CN" sz="2400" dirty="0"/>
              <a:t>and </a:t>
            </a:r>
            <a:r>
              <a:rPr lang="en-GB" altLang="en-US" sz="2400" dirty="0"/>
              <a:t>for how long. If the requested resource cannot be retrieved from the cache </a:t>
            </a:r>
            <a:r>
              <a:rPr lang="en-GB" altLang="zh-CN" sz="2400" dirty="0"/>
              <a:t>, </a:t>
            </a:r>
            <a:r>
              <a:rPr lang="en-GB" altLang="en-US" sz="2400" dirty="0"/>
              <a:t>the protocol handler will fetch the resource from its original location.</a:t>
            </a:r>
            <a:endParaRPr lang="en-US" altLang="zh-CN" sz="2400" dirty="0"/>
          </a:p>
          <a:p>
            <a:r>
              <a:rPr lang="en-GB" altLang="zh-CN" sz="2400" dirty="0"/>
              <a:t>ResponseCache </a:t>
            </a:r>
            <a:r>
              <a:rPr lang="en-GB" altLang="en-US" sz="2400" dirty="0"/>
              <a:t>Class</a:t>
            </a:r>
            <a:r>
              <a:rPr lang="en-GB" altLang="en-US" sz="2800" dirty="0"/>
              <a:t> </a:t>
            </a:r>
            <a:r>
              <a:rPr lang="en-GB" altLang="en-US" sz="2400" dirty="0"/>
              <a:t>as follows </a:t>
            </a:r>
            <a:r>
              <a:rPr lang="en-GB" altLang="en-US" sz="2000" dirty="0"/>
              <a:t>:</a:t>
            </a:r>
            <a:endParaRPr lang="en-US" altLang="zh-CN" sz="2800" dirty="0"/>
          </a:p>
          <a:p>
            <a:endParaRPr lang="en-US" altLang="zh-CN" sz="2400" dirty="0"/>
          </a:p>
          <a:p>
            <a:endParaRPr lang="en-US" altLang="zh-CN"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1676400" y="74613"/>
            <a:ext cx="8540750" cy="685800"/>
          </a:xfrm>
        </p:spPr>
        <p:txBody>
          <a:bodyPr/>
          <a:lstStyle/>
          <a:p>
            <a:pPr algn="l"/>
            <a:r>
              <a:rPr lang="en-GB" altLang="zh-CN" sz="3200"/>
              <a:t>Java </a:t>
            </a:r>
            <a:r>
              <a:rPr lang="en-GB" altLang="en-US" sz="3200"/>
              <a:t>Web Cache </a:t>
            </a:r>
            <a:r>
              <a:rPr lang="en-GB" altLang="zh-CN" sz="3200"/>
              <a:t>- ResponseCache </a:t>
            </a:r>
            <a:r>
              <a:rPr lang="en-GB" altLang="en-US" sz="2800"/>
              <a:t>Class</a:t>
            </a:r>
            <a:endParaRPr lang="en-GB" altLang="en-US" sz="2800"/>
          </a:p>
        </p:txBody>
      </p:sp>
      <p:sp>
        <p:nvSpPr>
          <p:cNvPr id="4" name="矩形 3"/>
          <p:cNvSpPr>
            <a:spLocks noChangeArrowheads="1"/>
          </p:cNvSpPr>
          <p:nvPr/>
        </p:nvSpPr>
        <p:spPr bwMode="auto">
          <a:xfrm>
            <a:off x="269875" y="1295400"/>
            <a:ext cx="11353800" cy="353943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b="1" dirty="0">
                <a:solidFill>
                  <a:srgbClr val="FF0000"/>
                </a:solidFill>
                <a:latin typeface="Times New Roman" panose="02020603050405020304" pitchFamily="18" charset="0"/>
                <a:cs typeface="Times New Roman" panose="02020603050405020304" pitchFamily="18" charset="0"/>
              </a:rPr>
              <a:t>Package java.net</a:t>
            </a:r>
            <a:endParaRPr lang="en-GB" altLang="zh-CN" sz="20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400" b="1"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class ResponseCache extends Object {</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Retrieve cached responses based on request </a:t>
            </a:r>
            <a:r>
              <a:rPr lang="en-GB" altLang="zh-CN" sz="2000" dirty="0">
                <a:latin typeface="Times New Roman" panose="02020603050405020304" pitchFamily="18" charset="0"/>
                <a:cs typeface="Times New Roman" panose="02020603050405020304" pitchFamily="18" charset="0"/>
              </a:rPr>
              <a:t>uri, </a:t>
            </a:r>
            <a:r>
              <a:rPr lang="en-GB" altLang="en-US" sz="2000" dirty="0">
                <a:latin typeface="Times New Roman" panose="02020603050405020304" pitchFamily="18" charset="0"/>
                <a:cs typeface="Times New Roman" panose="02020603050405020304" pitchFamily="18" charset="0"/>
              </a:rPr>
              <a:t>request method and request headers.</a:t>
            </a:r>
            <a:endParaRPr lang="en-US"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CacheResponse get(URI uri, String rqstMethod, Map&lt;String,List&lt;String&gt;&gt; rqstHeaders)</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throws IOException;</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The protocol handler calls this method after retrieving a resource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and </a:t>
            </a:r>
            <a:r>
              <a:rPr lang="en-GB" altLang="zh-CN" sz="2000" dirty="0">
                <a:latin typeface="Times New Roman" panose="02020603050405020304" pitchFamily="18" charset="0"/>
                <a:cs typeface="Times New Roman" panose="02020603050405020304" pitchFamily="18" charset="0"/>
              </a:rPr>
              <a:t>ResponseCache </a:t>
            </a:r>
            <a:r>
              <a:rPr lang="en-GB" altLang="en-US" sz="2000" dirty="0">
                <a:latin typeface="Times New Roman" panose="02020603050405020304" pitchFamily="18" charset="0"/>
                <a:cs typeface="Times New Roman" panose="02020603050405020304" pitchFamily="18" charset="0"/>
              </a:rPr>
              <a:t>must decide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whether to store the cached resource.</a:t>
            </a:r>
            <a:endParaRPr lang="en-US"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public abstract CacheRequest put(URI uri, URLConnection conn) throws IOExceiption;</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 …</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latin typeface="Times New Roman" panose="02020603050405020304" pitchFamily="18" charset="0"/>
                <a:cs typeface="Times New Roman" panose="02020603050405020304" pitchFamily="18" charset="0"/>
              </a:rPr>
              <a:t>}</a:t>
            </a:r>
            <a:endParaRPr lang="en-GB" altLang="zh-C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1676400" y="152400"/>
            <a:ext cx="8540750" cy="609600"/>
          </a:xfrm>
        </p:spPr>
        <p:txBody>
          <a:bodyPr/>
          <a:lstStyle/>
          <a:p>
            <a:pPr algn="l"/>
            <a:r>
              <a:rPr lang="en-GB" altLang="en-US" sz="3200"/>
              <a:t>Custom </a:t>
            </a:r>
            <a:r>
              <a:rPr lang="en-GB" altLang="zh-CN" sz="3200"/>
              <a:t>ResponseCache </a:t>
            </a:r>
            <a:r>
              <a:rPr lang="en-GB" altLang="en-US" sz="3200"/>
              <a:t>subclass</a:t>
            </a:r>
            <a:endParaRPr lang="en-GB" altLang="en-US" sz="3200"/>
          </a:p>
        </p:txBody>
      </p:sp>
      <p:sp>
        <p:nvSpPr>
          <p:cNvPr id="71683" name="内容占位符 2"/>
          <p:cNvSpPr>
            <a:spLocks noGrp="1"/>
          </p:cNvSpPr>
          <p:nvPr>
            <p:ph idx="1"/>
          </p:nvPr>
        </p:nvSpPr>
        <p:spPr>
          <a:xfrm>
            <a:off x="304800" y="796926"/>
            <a:ext cx="11658600" cy="2251075"/>
          </a:xfrm>
        </p:spPr>
        <p:txBody>
          <a:bodyPr/>
          <a:lstStyle/>
          <a:p>
            <a:r>
              <a:rPr lang="en-GB" altLang="en-US" sz="2200" dirty="0"/>
              <a:t>Create a custom </a:t>
            </a:r>
            <a:r>
              <a:rPr lang="en-GB" altLang="zh-CN" sz="2200" dirty="0"/>
              <a:t>ResponseCache </a:t>
            </a:r>
            <a:r>
              <a:rPr lang="en-GB" altLang="en-US" sz="2200" dirty="0"/>
              <a:t>subclass that uses a large thread-safe </a:t>
            </a:r>
            <a:r>
              <a:rPr lang="en-GB" altLang="zh-CN" sz="2200" dirty="0"/>
              <a:t>HasheMap </a:t>
            </a:r>
            <a:r>
              <a:rPr lang="en-GB" altLang="en-US" sz="2200" dirty="0"/>
              <a:t>to store a limited number of responses in memory.</a:t>
            </a:r>
            <a:endParaRPr lang="en-US" altLang="zh-CN" sz="2200" dirty="0"/>
          </a:p>
          <a:p>
            <a:r>
              <a:rPr lang="en-GB" altLang="en-US" sz="2200" dirty="0"/>
              <a:t>Demonstrates custom </a:t>
            </a:r>
            <a:r>
              <a:rPr lang="en-GB" altLang="zh-CN" sz="2200" dirty="0"/>
              <a:t>ResponseCache </a:t>
            </a:r>
            <a:r>
              <a:rPr lang="en-GB" altLang="en-US" sz="2200" dirty="0"/>
              <a:t>subclass code example </a:t>
            </a:r>
            <a:r>
              <a:rPr lang="en-GB" altLang="zh-CN" sz="2200" dirty="0"/>
              <a:t>ex7-11 ch7.MemoryCache </a:t>
            </a:r>
            <a:r>
              <a:rPr lang="en-GB" altLang="en-US" sz="2200" dirty="0"/>
              <a:t>.</a:t>
            </a:r>
            <a:endParaRPr lang="en-US" altLang="zh-CN" sz="2200" dirty="0"/>
          </a:p>
          <a:p>
            <a:endParaRPr lang="en-US" altLang="zh-CN" sz="2800" dirty="0"/>
          </a:p>
        </p:txBody>
      </p:sp>
      <p:pic>
        <p:nvPicPr>
          <p:cNvPr id="7168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2000" y="2273301"/>
            <a:ext cx="960120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1676400" y="152400"/>
            <a:ext cx="8540750" cy="609600"/>
          </a:xfrm>
        </p:spPr>
        <p:txBody>
          <a:bodyPr/>
          <a:lstStyle/>
          <a:p>
            <a:pPr algn="l"/>
            <a:r>
              <a:rPr lang="en-GB" altLang="en-US" sz="3200"/>
              <a:t>Custom </a:t>
            </a:r>
            <a:r>
              <a:rPr lang="en-GB" altLang="zh-CN" sz="3200"/>
              <a:t>ResponseCache </a:t>
            </a:r>
            <a:r>
              <a:rPr lang="en-GB" altLang="en-US" sz="3200"/>
              <a:t>subclass</a:t>
            </a:r>
            <a:endParaRPr lang="en-GB" altLang="en-US" sz="3200"/>
          </a:p>
        </p:txBody>
      </p:sp>
      <p:pic>
        <p:nvPicPr>
          <p:cNvPr id="73731"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06525" y="914400"/>
            <a:ext cx="9080500" cy="482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1676400" y="152400"/>
            <a:ext cx="8540750" cy="609600"/>
          </a:xfrm>
        </p:spPr>
        <p:txBody>
          <a:bodyPr/>
          <a:lstStyle/>
          <a:p>
            <a:pPr algn="l"/>
            <a:r>
              <a:rPr lang="en-GB" altLang="en-US" sz="3200"/>
              <a:t>Custom </a:t>
            </a:r>
            <a:r>
              <a:rPr lang="en-GB" altLang="zh-CN" sz="3200"/>
              <a:t>ResponseCache </a:t>
            </a:r>
            <a:r>
              <a:rPr lang="en-GB" altLang="en-US" sz="3200"/>
              <a:t>subclass</a:t>
            </a:r>
            <a:endParaRPr lang="en-GB" altLang="en-US" sz="3200"/>
          </a:p>
        </p:txBody>
      </p:sp>
      <p:pic>
        <p:nvPicPr>
          <p:cNvPr id="7577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762000"/>
            <a:ext cx="80772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1524000" y="115888"/>
            <a:ext cx="8540750" cy="685800"/>
          </a:xfrm>
        </p:spPr>
        <p:txBody>
          <a:bodyPr/>
          <a:lstStyle/>
          <a:p>
            <a:pPr algn="l"/>
            <a:r>
              <a:rPr lang="en-GB" altLang="zh-CN" sz="3200"/>
              <a:t>4. </a:t>
            </a:r>
            <a:r>
              <a:rPr lang="en-GB" altLang="en-US" sz="3200"/>
              <a:t>Configure </a:t>
            </a:r>
            <a:r>
              <a:rPr lang="en-GB" altLang="zh-CN" sz="3200"/>
              <a:t>URLConnection</a:t>
            </a:r>
            <a:r>
              <a:rPr lang="en-GB" altLang="en-US" sz="3200"/>
              <a:t>​</a:t>
            </a:r>
            <a:endParaRPr lang="en-GB" altLang="en-US" sz="3200"/>
          </a:p>
        </p:txBody>
      </p:sp>
      <p:sp>
        <p:nvSpPr>
          <p:cNvPr id="2" name="Rectangle 1"/>
          <p:cNvSpPr/>
          <p:nvPr/>
        </p:nvSpPr>
        <p:spPr>
          <a:xfrm>
            <a:off x="609600" y="801688"/>
            <a:ext cx="11125200" cy="5267276"/>
          </a:xfrm>
          <a:prstGeom prst="rect">
            <a:avLst/>
          </a:prstGeom>
        </p:spPr>
        <p:txBody>
          <a:bodyPr wrap="square">
            <a:spAutoFit/>
          </a:bodyPr>
          <a:lstStyle/>
          <a:p>
            <a:pPr marL="342900" marR="0" indent="-342900">
              <a:lnSpc>
                <a:spcPct val="107000"/>
              </a:lnSpc>
              <a:spcBef>
                <a:spcPts val="0"/>
              </a:spcBef>
              <a:spcAft>
                <a:spcPts val="800"/>
              </a:spcAft>
              <a:buFont typeface="Arial" panose="020B0604020202020204" pitchFamily="34" charset="0"/>
              <a:buChar char="•"/>
            </a:pPr>
            <a:r>
              <a:rPr lang="en-US" sz="1600" b="1" dirty="0">
                <a:latin typeface="Calibri" panose="020F0502020204030204" pitchFamily="34" charset="0"/>
                <a:ea typeface="宋体" panose="02010600030101010101" pitchFamily="2" charset="-122"/>
                <a:cs typeface="Times New Roman" panose="02020603050405020304" pitchFamily="18" charset="0"/>
              </a:rPr>
              <a:t>The abstract class </a:t>
            </a:r>
            <a:r>
              <a:rPr lang="en-US" sz="1600" b="1" dirty="0" err="1">
                <a:latin typeface="Calibri" panose="020F0502020204030204" pitchFamily="34" charset="0"/>
                <a:ea typeface="宋体" panose="02010600030101010101" pitchFamily="2" charset="-122"/>
                <a:cs typeface="Times New Roman" panose="02020603050405020304" pitchFamily="18" charset="0"/>
              </a:rPr>
              <a:t>URLConnection</a:t>
            </a:r>
            <a:r>
              <a:rPr lang="en-US" sz="1600" b="1" dirty="0">
                <a:latin typeface="Calibri" panose="020F0502020204030204" pitchFamily="34" charset="0"/>
                <a:ea typeface="宋体" panose="02010600030101010101" pitchFamily="2" charset="-122"/>
                <a:cs typeface="Times New Roman" panose="02020603050405020304" pitchFamily="18" charset="0"/>
              </a:rPr>
              <a:t> is a superclass that represents the communication link between an application and a URL.</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342900" marR="0" indent="-342900">
              <a:lnSpc>
                <a:spcPct val="107000"/>
              </a:lnSpc>
              <a:spcBef>
                <a:spcPts val="0"/>
              </a:spcBef>
              <a:spcAft>
                <a:spcPts val="800"/>
              </a:spcAft>
              <a:buFont typeface="Arial" panose="020B0604020202020204" pitchFamily="34" charset="0"/>
              <a:buChar char="•"/>
            </a:pPr>
            <a:r>
              <a:rPr lang="en-US" sz="1600" b="1" dirty="0">
                <a:latin typeface="Calibri" panose="020F0502020204030204" pitchFamily="34" charset="0"/>
                <a:ea typeface="宋体" panose="02010600030101010101" pitchFamily="2" charset="-122"/>
                <a:cs typeface="Times New Roman" panose="02020603050405020304" pitchFamily="18" charset="0"/>
              </a:rPr>
              <a:t>Instances of this class can be used to read and write the resource referenced by this URL. </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342900" marR="0" indent="-342900">
              <a:lnSpc>
                <a:spcPct val="107000"/>
              </a:lnSpc>
              <a:spcBef>
                <a:spcPts val="0"/>
              </a:spcBef>
              <a:spcAft>
                <a:spcPts val="800"/>
              </a:spcAft>
              <a:buFont typeface="Arial" panose="020B0604020202020204" pitchFamily="34" charset="0"/>
              <a:buChar char="•"/>
            </a:pPr>
            <a:r>
              <a:rPr lang="en-US" sz="1400" b="1" dirty="0">
                <a:latin typeface="Calibri" panose="020F0502020204030204" pitchFamily="34" charset="0"/>
                <a:ea typeface="宋体" panose="02010600030101010101" pitchFamily="2" charset="-122"/>
                <a:cs typeface="Times New Roman" panose="02020603050405020304" pitchFamily="18" charset="0"/>
              </a:rPr>
              <a:t>Configuring </a:t>
            </a:r>
            <a:r>
              <a:rPr lang="en-US" sz="1400" b="1" dirty="0" err="1">
                <a:latin typeface="Calibri" panose="020F0502020204030204" pitchFamily="34" charset="0"/>
                <a:ea typeface="宋体" panose="02010600030101010101" pitchFamily="2" charset="-122"/>
                <a:cs typeface="Times New Roman" panose="02020603050405020304" pitchFamily="18" charset="0"/>
              </a:rPr>
              <a:t>URLConnection</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sz="1400" b="1" dirty="0">
                <a:latin typeface="Calibri" panose="020F0502020204030204" pitchFamily="34" charset="0"/>
                <a:ea typeface="宋体" panose="02010600030101010101" pitchFamily="2" charset="-122"/>
                <a:cs typeface="Times New Roman" panose="02020603050405020304" pitchFamily="18" charset="0"/>
              </a:rPr>
              <a:t>1. Set request method: Use the </a:t>
            </a:r>
            <a:r>
              <a:rPr lang="en-US" sz="1400" b="1" dirty="0" err="1">
                <a:latin typeface="Calibri" panose="020F0502020204030204" pitchFamily="34" charset="0"/>
                <a:ea typeface="宋体" panose="02010600030101010101" pitchFamily="2" charset="-122"/>
                <a:cs typeface="Times New Roman" panose="02020603050405020304" pitchFamily="18" charset="0"/>
              </a:rPr>
              <a:t>setRequestMethod</a:t>
            </a:r>
            <a:r>
              <a:rPr lang="en-US" sz="1400" b="1" dirty="0">
                <a:latin typeface="Calibri" panose="020F0502020204030204" pitchFamily="34" charset="0"/>
                <a:ea typeface="宋体" panose="02010600030101010101" pitchFamily="2" charset="-122"/>
                <a:cs typeface="Times New Roman" panose="02020603050405020304" pitchFamily="18" charset="0"/>
              </a:rPr>
              <a:t>() method to specify the request method (e.g., GET, POST, PUT, DELETE).</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sz="1400" b="1" dirty="0">
                <a:latin typeface="Calibri" panose="020F0502020204030204" pitchFamily="34" charset="0"/>
                <a:ea typeface="宋体" panose="02010600030101010101" pitchFamily="2" charset="-122"/>
                <a:cs typeface="Times New Roman" panose="02020603050405020304" pitchFamily="18" charset="0"/>
              </a:rPr>
              <a:t>2. Set request headers: Use the </a:t>
            </a:r>
            <a:r>
              <a:rPr lang="en-US" sz="1400" b="1" dirty="0" err="1">
                <a:latin typeface="Calibri" panose="020F0502020204030204" pitchFamily="34" charset="0"/>
                <a:ea typeface="宋体" panose="02010600030101010101" pitchFamily="2" charset="-122"/>
                <a:cs typeface="Times New Roman" panose="02020603050405020304" pitchFamily="18" charset="0"/>
              </a:rPr>
              <a:t>setRequestProperty</a:t>
            </a:r>
            <a:r>
              <a:rPr lang="en-US" sz="1400" b="1" dirty="0">
                <a:latin typeface="Calibri" panose="020F0502020204030204" pitchFamily="34" charset="0"/>
                <a:ea typeface="宋体" panose="02010600030101010101" pitchFamily="2" charset="-122"/>
                <a:cs typeface="Times New Roman" panose="02020603050405020304" pitchFamily="18" charset="0"/>
              </a:rPr>
              <a:t>() method to set request headers, such as Content-Type, Accept, or Authorization.</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sz="1400" b="1" dirty="0">
                <a:latin typeface="Calibri" panose="020F0502020204030204" pitchFamily="34" charset="0"/>
                <a:ea typeface="宋体" panose="02010600030101010101" pitchFamily="2" charset="-122"/>
                <a:cs typeface="Times New Roman" panose="02020603050405020304" pitchFamily="18" charset="0"/>
              </a:rPr>
              <a:t>3. Set timeouts: Use the </a:t>
            </a:r>
            <a:r>
              <a:rPr lang="en-US" sz="1400" b="1" dirty="0" err="1">
                <a:latin typeface="Calibri" panose="020F0502020204030204" pitchFamily="34" charset="0"/>
                <a:ea typeface="宋体" panose="02010600030101010101" pitchFamily="2" charset="-122"/>
                <a:cs typeface="Times New Roman" panose="02020603050405020304" pitchFamily="18" charset="0"/>
              </a:rPr>
              <a:t>setConnectTimeout</a:t>
            </a:r>
            <a:r>
              <a:rPr lang="en-US" sz="1400" b="1" dirty="0">
                <a:latin typeface="Calibri" panose="020F0502020204030204" pitchFamily="34" charset="0"/>
                <a:ea typeface="宋体" panose="02010600030101010101" pitchFamily="2" charset="-122"/>
                <a:cs typeface="Times New Roman" panose="02020603050405020304" pitchFamily="18" charset="0"/>
              </a:rPr>
              <a:t>() and </a:t>
            </a:r>
            <a:r>
              <a:rPr lang="en-US" sz="1400" b="1" dirty="0" err="1">
                <a:latin typeface="Calibri" panose="020F0502020204030204" pitchFamily="34" charset="0"/>
                <a:ea typeface="宋体" panose="02010600030101010101" pitchFamily="2" charset="-122"/>
                <a:cs typeface="Times New Roman" panose="02020603050405020304" pitchFamily="18" charset="0"/>
              </a:rPr>
              <a:t>setReadTimeout</a:t>
            </a:r>
            <a:r>
              <a:rPr lang="en-US" sz="1400" b="1" dirty="0">
                <a:latin typeface="Calibri" panose="020F0502020204030204" pitchFamily="34" charset="0"/>
                <a:ea typeface="宋体" panose="02010600030101010101" pitchFamily="2" charset="-122"/>
                <a:cs typeface="Times New Roman" panose="02020603050405020304" pitchFamily="18" charset="0"/>
              </a:rPr>
              <a:t>() methods to set timeouts for connecting and reading data.</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sz="1400" b="1" dirty="0">
                <a:latin typeface="Calibri" panose="020F0502020204030204" pitchFamily="34" charset="0"/>
                <a:ea typeface="宋体" panose="02010600030101010101" pitchFamily="2" charset="-122"/>
                <a:cs typeface="Times New Roman" panose="02020603050405020304" pitchFamily="18" charset="0"/>
              </a:rPr>
              <a:t>4. Set caching: Use the </a:t>
            </a:r>
            <a:r>
              <a:rPr lang="en-US" sz="1400" b="1" dirty="0" err="1">
                <a:latin typeface="Calibri" panose="020F0502020204030204" pitchFamily="34" charset="0"/>
                <a:ea typeface="宋体" panose="02010600030101010101" pitchFamily="2" charset="-122"/>
                <a:cs typeface="Times New Roman" panose="02020603050405020304" pitchFamily="18" charset="0"/>
              </a:rPr>
              <a:t>setUseCaches</a:t>
            </a:r>
            <a:r>
              <a:rPr lang="en-US" sz="1400" b="1" dirty="0">
                <a:latin typeface="Calibri" panose="020F0502020204030204" pitchFamily="34" charset="0"/>
                <a:ea typeface="宋体" panose="02010600030101010101" pitchFamily="2" charset="-122"/>
                <a:cs typeface="Times New Roman" panose="02020603050405020304" pitchFamily="18" charset="0"/>
              </a:rPr>
              <a:t>() method to enable or disable caching.</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2">
              <a:lnSpc>
                <a:spcPct val="107000"/>
              </a:lnSpc>
              <a:spcBef>
                <a:spcPts val="0"/>
              </a:spcBef>
              <a:spcAft>
                <a:spcPts val="800"/>
              </a:spcAft>
            </a:pPr>
            <a:r>
              <a:rPr lang="en-US" sz="1400" b="1" dirty="0">
                <a:latin typeface="Calibri" panose="020F0502020204030204" pitchFamily="34" charset="0"/>
                <a:ea typeface="宋体" panose="02010600030101010101" pitchFamily="2" charset="-122"/>
                <a:cs typeface="Times New Roman" panose="02020603050405020304" pitchFamily="18" charset="0"/>
              </a:rPr>
              <a:t>URL </a:t>
            </a:r>
            <a:r>
              <a:rPr lang="en-US" sz="1400" b="1" dirty="0" err="1">
                <a:latin typeface="Calibri" panose="020F0502020204030204" pitchFamily="34" charset="0"/>
                <a:ea typeface="宋体" panose="02010600030101010101" pitchFamily="2" charset="-122"/>
                <a:cs typeface="Times New Roman" panose="02020603050405020304" pitchFamily="18" charset="0"/>
              </a:rPr>
              <a:t>url</a:t>
            </a:r>
            <a:r>
              <a:rPr lang="en-US" sz="1400" b="1" dirty="0">
                <a:latin typeface="Calibri" panose="020F0502020204030204" pitchFamily="34" charset="0"/>
                <a:ea typeface="宋体" panose="02010600030101010101" pitchFamily="2" charset="-122"/>
                <a:cs typeface="Times New Roman" panose="02020603050405020304" pitchFamily="18" charset="0"/>
              </a:rPr>
              <a:t> = new URL("https://example.com");</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2">
              <a:lnSpc>
                <a:spcPct val="107000"/>
              </a:lnSpc>
              <a:spcBef>
                <a:spcPts val="0"/>
              </a:spcBef>
              <a:spcAft>
                <a:spcPts val="800"/>
              </a:spcAft>
            </a:pPr>
            <a:r>
              <a:rPr lang="en-US" sz="1400" b="1" dirty="0" err="1">
                <a:latin typeface="Calibri" panose="020F0502020204030204" pitchFamily="34" charset="0"/>
                <a:ea typeface="宋体" panose="02010600030101010101" pitchFamily="2" charset="-122"/>
                <a:cs typeface="Times New Roman" panose="02020603050405020304" pitchFamily="18" charset="0"/>
              </a:rPr>
              <a:t>URLConnection</a:t>
            </a:r>
            <a:r>
              <a:rPr lang="en-US" sz="1400" b="1" dirty="0">
                <a:latin typeface="Calibri" panose="020F0502020204030204" pitchFamily="34" charset="0"/>
                <a:ea typeface="宋体" panose="02010600030101010101" pitchFamily="2" charset="-122"/>
                <a:cs typeface="Times New Roman" panose="02020603050405020304" pitchFamily="18" charset="0"/>
              </a:rPr>
              <a:t> connection = </a:t>
            </a:r>
            <a:r>
              <a:rPr lang="en-US" sz="1400" b="1" dirty="0" err="1">
                <a:latin typeface="Calibri" panose="020F0502020204030204" pitchFamily="34" charset="0"/>
                <a:ea typeface="宋体" panose="02010600030101010101" pitchFamily="2" charset="-122"/>
                <a:cs typeface="Times New Roman" panose="02020603050405020304" pitchFamily="18" charset="0"/>
              </a:rPr>
              <a:t>url.openConnection</a:t>
            </a:r>
            <a:r>
              <a:rPr lang="en-US" sz="1400" b="1" dirty="0">
                <a:latin typeface="Calibri" panose="020F0502020204030204" pitchFamily="34" charset="0"/>
                <a:ea typeface="宋体" panose="02010600030101010101" pitchFamily="2" charset="-122"/>
                <a:cs typeface="Times New Roman" panose="02020603050405020304" pitchFamily="18" charset="0"/>
              </a:rPr>
              <a:t>();</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2">
              <a:lnSpc>
                <a:spcPct val="107000"/>
              </a:lnSpc>
              <a:spcBef>
                <a:spcPts val="0"/>
              </a:spcBef>
              <a:spcAft>
                <a:spcPts val="800"/>
              </a:spcAft>
            </a:pPr>
            <a:r>
              <a:rPr lang="en-US" sz="1400" b="1" dirty="0" err="1">
                <a:latin typeface="Calibri" panose="020F0502020204030204" pitchFamily="34" charset="0"/>
                <a:ea typeface="宋体" panose="02010600030101010101" pitchFamily="2" charset="-122"/>
                <a:cs typeface="Times New Roman" panose="02020603050405020304" pitchFamily="18" charset="0"/>
              </a:rPr>
              <a:t>connection.setRequestMethod</a:t>
            </a:r>
            <a:r>
              <a:rPr lang="en-US" sz="1400" b="1" dirty="0">
                <a:latin typeface="Calibri" panose="020F0502020204030204" pitchFamily="34" charset="0"/>
                <a:ea typeface="宋体" panose="02010600030101010101" pitchFamily="2" charset="-122"/>
                <a:cs typeface="Times New Roman" panose="02020603050405020304" pitchFamily="18" charset="0"/>
              </a:rPr>
              <a:t>("GET");</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2">
              <a:lnSpc>
                <a:spcPct val="107000"/>
              </a:lnSpc>
              <a:spcBef>
                <a:spcPts val="0"/>
              </a:spcBef>
              <a:spcAft>
                <a:spcPts val="800"/>
              </a:spcAft>
            </a:pPr>
            <a:r>
              <a:rPr lang="en-US" sz="1400" b="1" dirty="0" err="1">
                <a:latin typeface="Calibri" panose="020F0502020204030204" pitchFamily="34" charset="0"/>
                <a:ea typeface="宋体" panose="02010600030101010101" pitchFamily="2" charset="-122"/>
                <a:cs typeface="Times New Roman" panose="02020603050405020304" pitchFamily="18" charset="0"/>
              </a:rPr>
              <a:t>connection.setRequestProperty</a:t>
            </a:r>
            <a:r>
              <a:rPr lang="en-US" sz="1400" b="1" dirty="0">
                <a:latin typeface="Calibri" panose="020F0502020204030204" pitchFamily="34" charset="0"/>
                <a:ea typeface="宋体" panose="02010600030101010101" pitchFamily="2" charset="-122"/>
                <a:cs typeface="Times New Roman" panose="02020603050405020304" pitchFamily="18" charset="0"/>
              </a:rPr>
              <a:t>("Accept", "application/json");</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2">
              <a:lnSpc>
                <a:spcPct val="107000"/>
              </a:lnSpc>
              <a:spcBef>
                <a:spcPts val="0"/>
              </a:spcBef>
              <a:spcAft>
                <a:spcPts val="800"/>
              </a:spcAft>
            </a:pPr>
            <a:r>
              <a:rPr lang="en-US" sz="1400" b="1" dirty="0" err="1">
                <a:latin typeface="Calibri" panose="020F0502020204030204" pitchFamily="34" charset="0"/>
                <a:ea typeface="宋体" panose="02010600030101010101" pitchFamily="2" charset="-122"/>
                <a:cs typeface="Times New Roman" panose="02020603050405020304" pitchFamily="18" charset="0"/>
              </a:rPr>
              <a:t>connection.setConnectTimeout</a:t>
            </a:r>
            <a:r>
              <a:rPr lang="en-US" sz="1400" b="1" dirty="0">
                <a:latin typeface="Calibri" panose="020F0502020204030204" pitchFamily="34" charset="0"/>
                <a:ea typeface="宋体" panose="02010600030101010101" pitchFamily="2" charset="-122"/>
                <a:cs typeface="Times New Roman" panose="02020603050405020304" pitchFamily="18" charset="0"/>
              </a:rPr>
              <a:t>(5000);</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lvl="2">
              <a:lnSpc>
                <a:spcPct val="107000"/>
              </a:lnSpc>
              <a:spcBef>
                <a:spcPts val="0"/>
              </a:spcBef>
              <a:spcAft>
                <a:spcPts val="800"/>
              </a:spcAft>
            </a:pPr>
            <a:r>
              <a:rPr lang="en-US" sz="1400" b="1" dirty="0" err="1">
                <a:latin typeface="Calibri" panose="020F0502020204030204" pitchFamily="34" charset="0"/>
                <a:ea typeface="宋体" panose="02010600030101010101" pitchFamily="2" charset="-122"/>
                <a:cs typeface="Times New Roman" panose="02020603050405020304" pitchFamily="18" charset="0"/>
              </a:rPr>
              <a:t>connection.setReadTimeout</a:t>
            </a:r>
            <a:r>
              <a:rPr lang="en-US" sz="1400" b="1" dirty="0">
                <a:latin typeface="Calibri" panose="020F0502020204030204" pitchFamily="34" charset="0"/>
                <a:ea typeface="宋体" panose="02010600030101010101" pitchFamily="2" charset="-122"/>
                <a:cs typeface="Times New Roman" panose="02020603050405020304" pitchFamily="18" charset="0"/>
              </a:rPr>
              <a:t>(5000);</a:t>
            </a:r>
            <a:endParaRPr lang="en-US" sz="1400" b="1" dirty="0">
              <a:latin typeface="Calibri" panose="020F0502020204030204" pitchFamily="34" charset="0"/>
              <a:ea typeface="宋体" panose="02010600030101010101" pitchFamily="2" charset="-122"/>
              <a:cs typeface="Times New Roman" panose="02020603050405020304" pitchFamily="18" charset="0"/>
            </a:endParaRPr>
          </a:p>
          <a:p>
            <a:pPr marL="342900" marR="0" indent="-342900">
              <a:lnSpc>
                <a:spcPct val="107000"/>
              </a:lnSpc>
              <a:spcBef>
                <a:spcPts val="0"/>
              </a:spcBef>
              <a:spcAft>
                <a:spcPts val="800"/>
              </a:spcAft>
              <a:buFont typeface="Arial" panose="020B0604020202020204" pitchFamily="34" charset="0"/>
              <a:buChar char="•"/>
            </a:pPr>
            <a:r>
              <a:rPr lang="en-US" sz="1600" b="1" dirty="0">
                <a:latin typeface="Calibri" panose="020F0502020204030204" pitchFamily="34" charset="0"/>
                <a:ea typeface="宋体" panose="02010600030101010101" pitchFamily="2" charset="-122"/>
                <a:cs typeface="Times New Roman" panose="02020603050405020304" pitchFamily="18" charset="0"/>
              </a:rPr>
              <a:t>The </a:t>
            </a:r>
            <a:r>
              <a:rPr lang="en-US" sz="1600" b="1" dirty="0" err="1">
                <a:latin typeface="Calibri" panose="020F0502020204030204" pitchFamily="34" charset="0"/>
                <a:ea typeface="宋体" panose="02010600030101010101" pitchFamily="2" charset="-122"/>
                <a:cs typeface="Times New Roman" panose="02020603050405020304" pitchFamily="18" charset="0"/>
              </a:rPr>
              <a:t>URLConnection</a:t>
            </a:r>
            <a:r>
              <a:rPr lang="en-US" sz="1600" b="1" dirty="0">
                <a:latin typeface="Calibri" panose="020F0502020204030204" pitchFamily="34" charset="0"/>
                <a:ea typeface="宋体" panose="02010600030101010101" pitchFamily="2" charset="-122"/>
                <a:cs typeface="Times New Roman" panose="02020603050405020304" pitchFamily="18" charset="0"/>
              </a:rPr>
              <a:t> class has seven protected instance fields that can be accessed and modified to configure and define how the client makes requests to the server. These fields are accessed and modified using the get and set methods corresponding to the fields.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779992" y="5029200"/>
            <a:ext cx="1080240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rgbClr val="FF0000"/>
                </a:solidFill>
              </a:rPr>
              <a:t>doOutput=true </a:t>
            </a:r>
            <a:r>
              <a:rPr lang="en-GB" altLang="zh-CN" sz="2000" dirty="0"/>
              <a:t>; // </a:t>
            </a:r>
            <a:r>
              <a:rPr lang="en-GB" altLang="en-US" sz="2000" dirty="0"/>
              <a:t>Indicates that in addition to reading data through this </a:t>
            </a:r>
            <a:r>
              <a:rPr lang="en-GB" altLang="zh-CN" sz="2000" dirty="0"/>
              <a:t>URLConnection </a:t>
            </a:r>
            <a:r>
              <a:rPr lang="en-GB" altLang="en-US" sz="2000" dirty="0"/>
              <a:t>, data can also be written to the server.</a:t>
            </a:r>
            <a:endParaRPr lang="en-US" altLang="zh-CN" sz="2000" dirty="0"/>
          </a:p>
          <a:p>
            <a:pPr>
              <a:spcBef>
                <a:spcPct val="0"/>
              </a:spcBef>
              <a:buClrTx/>
              <a:buSzTx/>
              <a:buFontTx/>
              <a:buNone/>
            </a:pPr>
            <a:r>
              <a:rPr lang="en-GB" altLang="zh-CN" sz="2000" dirty="0">
                <a:solidFill>
                  <a:srgbClr val="FF0000"/>
                </a:solidFill>
              </a:rPr>
              <a:t>useCaches=false </a:t>
            </a:r>
            <a:r>
              <a:rPr lang="en-GB" altLang="zh-CN" sz="2000" dirty="0"/>
              <a:t>; // </a:t>
            </a:r>
            <a:r>
              <a:rPr lang="en-GB" altLang="en-US" sz="2000" dirty="0"/>
              <a:t>Indicates that the connection will bypass all local caches and re-download the file from the server.</a:t>
            </a:r>
            <a:endParaRPr lang="en-GB" altLang="en-US" sz="2000" dirty="0"/>
          </a:p>
        </p:txBody>
      </p:sp>
      <p:pic>
        <p:nvPicPr>
          <p:cNvPr id="3" name="Picture 2"/>
          <p:cNvPicPr>
            <a:picLocks noChangeAspect="1"/>
          </p:cNvPicPr>
          <p:nvPr/>
        </p:nvPicPr>
        <p:blipFill>
          <a:blip r:embed="rId1"/>
          <a:stretch>
            <a:fillRect/>
          </a:stretch>
        </p:blipFill>
        <p:spPr>
          <a:xfrm>
            <a:off x="914400" y="990600"/>
            <a:ext cx="8696325" cy="3733800"/>
          </a:xfrm>
          <a:prstGeom prst="rect">
            <a:avLst/>
          </a:prstGeom>
        </p:spPr>
      </p:pic>
      <p:sp>
        <p:nvSpPr>
          <p:cNvPr id="8" name="标题 1"/>
          <p:cNvSpPr>
            <a:spLocks noGrp="1"/>
          </p:cNvSpPr>
          <p:nvPr>
            <p:ph type="title"/>
          </p:nvPr>
        </p:nvSpPr>
        <p:spPr>
          <a:xfrm>
            <a:off x="1752600" y="152400"/>
            <a:ext cx="8540750" cy="685800"/>
          </a:xfrm>
        </p:spPr>
        <p:txBody>
          <a:bodyPr/>
          <a:lstStyle/>
          <a:p>
            <a:pPr algn="l"/>
            <a:r>
              <a:rPr lang="en-GB" altLang="zh-CN" sz="3200" dirty="0"/>
              <a:t>Protected URL url </a:t>
            </a:r>
            <a:r>
              <a:rPr lang="en-GB" altLang="en-US" sz="3200" dirty="0"/>
              <a:t>field</a:t>
            </a:r>
            <a:endParaRPr lang="en-GB"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1752600" y="152400"/>
            <a:ext cx="8540750" cy="685800"/>
          </a:xfrm>
        </p:spPr>
        <p:txBody>
          <a:bodyPr/>
          <a:lstStyle/>
          <a:p>
            <a:pPr algn="l"/>
            <a:r>
              <a:rPr lang="en-GB" altLang="zh-CN" sz="3200" dirty="0"/>
              <a:t>Protected URL url </a:t>
            </a:r>
            <a:r>
              <a:rPr lang="en-GB" altLang="en-US" sz="3200" dirty="0"/>
              <a:t>field</a:t>
            </a:r>
            <a:endParaRPr lang="en-GB" altLang="en-US" sz="3200" dirty="0"/>
          </a:p>
        </p:txBody>
      </p:sp>
      <p:sp>
        <p:nvSpPr>
          <p:cNvPr id="79875" name="内容占位符 2"/>
          <p:cNvSpPr>
            <a:spLocks noGrp="1"/>
          </p:cNvSpPr>
          <p:nvPr>
            <p:ph idx="1"/>
          </p:nvPr>
        </p:nvSpPr>
        <p:spPr>
          <a:xfrm>
            <a:off x="152400" y="844551"/>
            <a:ext cx="11963400" cy="2127249"/>
          </a:xfrm>
        </p:spPr>
        <p:txBody>
          <a:bodyPr/>
          <a:lstStyle/>
          <a:p>
            <a:r>
              <a:rPr lang="en-GB" altLang="zh-CN" sz="2200" dirty="0">
                <a:latin typeface="Times New Roman" panose="02020603050405020304" pitchFamily="18" charset="0"/>
                <a:cs typeface="Times New Roman" panose="02020603050405020304" pitchFamily="18" charset="0"/>
              </a:rPr>
              <a:t>The url </a:t>
            </a:r>
            <a:r>
              <a:rPr lang="en-GB" altLang="en-US" sz="2200" dirty="0">
                <a:latin typeface="Times New Roman" panose="02020603050405020304" pitchFamily="18" charset="0"/>
                <a:cs typeface="Times New Roman" panose="02020603050405020304" pitchFamily="18" charset="0"/>
              </a:rPr>
              <a:t>field specifies </a:t>
            </a:r>
            <a:r>
              <a:rPr lang="en-GB" altLang="zh-CN" sz="2200" dirty="0">
                <a:latin typeface="Times New Roman" panose="02020603050405020304" pitchFamily="18" charset="0"/>
                <a:cs typeface="Times New Roman" panose="02020603050405020304" pitchFamily="18" charset="0"/>
              </a:rPr>
              <a:t>the URL to which this URLConnection </a:t>
            </a:r>
            <a:r>
              <a:rPr lang="en-GB" altLang="en-US" sz="2200" dirty="0">
                <a:latin typeface="Times New Roman" panose="02020603050405020304" pitchFamily="18" charset="0"/>
                <a:cs typeface="Times New Roman" panose="02020603050405020304" pitchFamily="18" charset="0"/>
              </a:rPr>
              <a:t>connects .</a:t>
            </a:r>
            <a:endParaRPr lang="en-US" altLang="zh-CN" sz="2200" dirty="0">
              <a:latin typeface="Times New Roman" panose="02020603050405020304" pitchFamily="18" charset="0"/>
              <a:cs typeface="Times New Roman" panose="02020603050405020304" pitchFamily="18" charset="0"/>
            </a:endParaRPr>
          </a:p>
          <a:p>
            <a:r>
              <a:rPr lang="en-GB" altLang="en-US" sz="2200" dirty="0">
                <a:latin typeface="Times New Roman" panose="02020603050405020304" pitchFamily="18" charset="0"/>
                <a:cs typeface="Times New Roman" panose="02020603050405020304" pitchFamily="18" charset="0"/>
              </a:rPr>
              <a:t>The constructor sets this field when creating </a:t>
            </a:r>
            <a:r>
              <a:rPr lang="en-GB" altLang="zh-CN" sz="2200" dirty="0">
                <a:latin typeface="Times New Roman" panose="02020603050405020304" pitchFamily="18" charset="0"/>
                <a:cs typeface="Times New Roman" panose="02020603050405020304" pitchFamily="18" charset="0"/>
              </a:rPr>
              <a:t>the URLConnection </a:t>
            </a:r>
            <a:r>
              <a:rPr lang="en-GB" altLang="en-US" sz="2200" dirty="0">
                <a:latin typeface="Times New Roman" panose="02020603050405020304" pitchFamily="18" charset="0"/>
                <a:cs typeface="Times New Roman" panose="02020603050405020304" pitchFamily="18" charset="0"/>
              </a:rPr>
              <a:t>and cannot be changed afterwards.</a:t>
            </a:r>
            <a:endParaRPr lang="en-US" altLang="zh-CN" sz="2200" dirty="0">
              <a:latin typeface="Times New Roman" panose="02020603050405020304" pitchFamily="18" charset="0"/>
              <a:cs typeface="Times New Roman" panose="02020603050405020304" pitchFamily="18" charset="0"/>
            </a:endParaRPr>
          </a:p>
          <a:p>
            <a:r>
              <a:rPr lang="en-GB" altLang="en-US" sz="2200" dirty="0">
                <a:latin typeface="Times New Roman" panose="02020603050405020304" pitchFamily="18" charset="0"/>
                <a:cs typeface="Times New Roman" panose="02020603050405020304" pitchFamily="18" charset="0"/>
              </a:rPr>
              <a:t>You can call </a:t>
            </a:r>
            <a:r>
              <a:rPr lang="en-GB" altLang="zh-CN" sz="2200" dirty="0">
                <a:latin typeface="Times New Roman" panose="02020603050405020304" pitchFamily="18" charset="0"/>
                <a:cs typeface="Times New Roman" panose="02020603050405020304" pitchFamily="18" charset="0"/>
              </a:rPr>
              <a:t>getURL() </a:t>
            </a:r>
            <a:r>
              <a:rPr lang="en-GB" altLang="en-US" sz="2200" dirty="0">
                <a:latin typeface="Times New Roman" panose="02020603050405020304" pitchFamily="18" charset="0"/>
                <a:cs typeface="Times New Roman" panose="02020603050405020304" pitchFamily="18" charset="0"/>
              </a:rPr>
              <a:t>to get the value of this field.</a:t>
            </a:r>
            <a:endParaRPr lang="en-US" altLang="zh-CN" sz="2200" dirty="0">
              <a:latin typeface="Times New Roman" panose="02020603050405020304" pitchFamily="18" charset="0"/>
              <a:cs typeface="Times New Roman" panose="02020603050405020304" pitchFamily="18" charset="0"/>
            </a:endParaRPr>
          </a:p>
          <a:p>
            <a:r>
              <a:rPr lang="en-GB" altLang="zh-CN" sz="2200" dirty="0">
                <a:latin typeface="Times New Roman" panose="02020603050405020304" pitchFamily="18" charset="0"/>
                <a:cs typeface="Times New Roman" panose="02020603050405020304" pitchFamily="18" charset="0"/>
              </a:rPr>
              <a:t>Ex7-12 URLPrinter.java </a:t>
            </a:r>
            <a:r>
              <a:rPr lang="en-GB" altLang="en-US" sz="2200" dirty="0">
                <a:latin typeface="Times New Roman" panose="02020603050405020304" pitchFamily="18" charset="0"/>
                <a:cs typeface="Times New Roman" panose="02020603050405020304" pitchFamily="18" charset="0"/>
              </a:rPr>
              <a:t>opens a </a:t>
            </a:r>
            <a:r>
              <a:rPr lang="en-GB" altLang="zh-CN" sz="2200" dirty="0">
                <a:latin typeface="Times New Roman" panose="02020603050405020304" pitchFamily="18" charset="0"/>
                <a:cs typeface="Times New Roman" panose="02020603050405020304" pitchFamily="18" charset="0"/>
              </a:rPr>
              <a:t>URLConnection pointing </a:t>
            </a:r>
            <a:r>
              <a:rPr lang="en-GB" altLang="en-US" sz="2200" dirty="0">
                <a:latin typeface="Times New Roman" panose="02020603050405020304" pitchFamily="18" charset="0"/>
                <a:cs typeface="Times New Roman" panose="02020603050405020304" pitchFamily="18" charset="0"/>
              </a:rPr>
              <a:t>to </a:t>
            </a:r>
            <a:r>
              <a:rPr lang="en-GB" altLang="zh-CN" sz="2200" dirty="0">
                <a:latin typeface="Times New Roman" panose="02020603050405020304" pitchFamily="18" charset="0"/>
                <a:cs typeface="Times New Roman" panose="02020603050405020304" pitchFamily="18" charset="0"/>
                <a:hlinkClick r:id="rId1"/>
              </a:rPr>
              <a:t>http://www.orielly.com/ </a:t>
            </a:r>
            <a:r>
              <a:rPr lang="en-GB" altLang="en-US" sz="2200" dirty="0">
                <a:latin typeface="Times New Roman" panose="02020603050405020304" pitchFamily="18" charset="0"/>
                <a:cs typeface="Times New Roman" panose="02020603050405020304" pitchFamily="18" charset="0"/>
              </a:rPr>
              <a:t>, obtains </a:t>
            </a:r>
            <a:r>
              <a:rPr lang="en-GB" altLang="zh-CN" sz="2200" dirty="0">
                <a:latin typeface="Times New Roman" panose="02020603050405020304" pitchFamily="18" charset="0"/>
                <a:cs typeface="Times New Roman" panose="02020603050405020304" pitchFamily="18" charset="0"/>
              </a:rPr>
              <a:t>the URL of this connection </a:t>
            </a:r>
            <a:r>
              <a:rPr lang="en-GB" altLang="en-US" sz="2200" dirty="0">
                <a:latin typeface="Times New Roman" panose="02020603050405020304" pitchFamily="18" charset="0"/>
                <a:cs typeface="Times New Roman" panose="02020603050405020304" pitchFamily="18" charset="0"/>
              </a:rPr>
              <a:t>, and displays it.</a:t>
            </a:r>
            <a:endParaRPr lang="en-US" altLang="zh-CN" sz="2200" dirty="0">
              <a:latin typeface="Times New Roman" panose="02020603050405020304" pitchFamily="18" charset="0"/>
              <a:cs typeface="Times New Roman" panose="02020603050405020304" pitchFamily="18" charset="0"/>
            </a:endParaRPr>
          </a:p>
          <a:p>
            <a:endParaRPr lang="zh-CN" altLang="en-US" dirty="0"/>
          </a:p>
        </p:txBody>
      </p:sp>
      <p:pic>
        <p:nvPicPr>
          <p:cNvPr id="7987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978151"/>
            <a:ext cx="79375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矩形 4"/>
          <p:cNvSpPr>
            <a:spLocks noChangeArrowheads="1"/>
          </p:cNvSpPr>
          <p:nvPr/>
        </p:nvSpPr>
        <p:spPr bwMode="auto">
          <a:xfrm>
            <a:off x="5194300" y="3213100"/>
            <a:ext cx="4281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solidFill>
                  <a:srgbClr val="FF0000"/>
                </a:solidFill>
                <a:latin typeface="Times New Roman" panose="02020603050405020304" pitchFamily="18" charset="0"/>
                <a:cs typeface="Times New Roman" panose="02020603050405020304" pitchFamily="18" charset="0"/>
              </a:rPr>
              <a:t>Demonstration </a:t>
            </a:r>
            <a:r>
              <a:rPr lang="en-GB" altLang="zh-CN" sz="2000">
                <a:solidFill>
                  <a:srgbClr val="FF0000"/>
                </a:solidFill>
                <a:latin typeface="Times New Roman" panose="02020603050405020304" pitchFamily="18" charset="0"/>
                <a:cs typeface="Times New Roman" panose="02020603050405020304" pitchFamily="18" charset="0"/>
              </a:rPr>
              <a:t>ch7.URLPrinter.java</a:t>
            </a:r>
            <a:endParaRPr lang="en-GB" altLang="zh-CN" sz="20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1524000" y="203201"/>
            <a:ext cx="8540750" cy="685800"/>
          </a:xfrm>
        </p:spPr>
        <p:txBody>
          <a:bodyPr/>
          <a:lstStyle/>
          <a:p>
            <a:pPr algn="l"/>
            <a:r>
              <a:rPr lang="en-GB" altLang="zh-CN" sz="3200" dirty="0"/>
              <a:t>Protected boolean connected</a:t>
            </a:r>
            <a:endParaRPr lang="zh-CN" altLang="en-US" sz="3200" dirty="0"/>
          </a:p>
        </p:txBody>
      </p:sp>
      <p:sp>
        <p:nvSpPr>
          <p:cNvPr id="80899" name="内容占位符 2"/>
          <p:cNvSpPr>
            <a:spLocks noGrp="1"/>
          </p:cNvSpPr>
          <p:nvPr>
            <p:ph idx="1"/>
          </p:nvPr>
        </p:nvSpPr>
        <p:spPr>
          <a:xfrm>
            <a:off x="304800" y="914401"/>
            <a:ext cx="11582400" cy="5135563"/>
          </a:xfrm>
        </p:spPr>
        <p:txBody>
          <a:bodyPr/>
          <a:lstStyle/>
          <a:p>
            <a:r>
              <a:rPr lang="en-US" altLang="en-US" sz="2800" dirty="0">
                <a:latin typeface="Times New Roman" panose="02020603050405020304" pitchFamily="18" charset="0"/>
                <a:cs typeface="Times New Roman" panose="02020603050405020304" pitchFamily="18" charset="0"/>
              </a:rPr>
              <a:t>When the connection is open, connected is true. </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Set by any method that causes the </a:t>
            </a:r>
            <a:r>
              <a:rPr lang="en-US" altLang="en-US" sz="2800" dirty="0" err="1">
                <a:latin typeface="Times New Roman" panose="02020603050405020304" pitchFamily="18" charset="0"/>
                <a:cs typeface="Times New Roman" panose="02020603050405020304" pitchFamily="18" charset="0"/>
              </a:rPr>
              <a:t>URLConnection</a:t>
            </a:r>
            <a:r>
              <a:rPr lang="en-US" altLang="en-US" sz="2800" dirty="0">
                <a:latin typeface="Times New Roman" panose="02020603050405020304" pitchFamily="18" charset="0"/>
                <a:cs typeface="Times New Roman" panose="02020603050405020304" pitchFamily="18" charset="0"/>
              </a:rPr>
              <a:t> to connect</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When the connection is closed, connected is false</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There is no direct way to read or change the value of connected</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This variable can only be accessed by instances of </a:t>
            </a:r>
            <a:r>
              <a:rPr lang="en-US" altLang="en-US" sz="2800" dirty="0" err="1">
                <a:latin typeface="Times New Roman" panose="02020603050405020304" pitchFamily="18" charset="0"/>
                <a:cs typeface="Times New Roman" panose="02020603050405020304" pitchFamily="18" charset="0"/>
              </a:rPr>
              <a:t>java.net.URLConnection</a:t>
            </a:r>
            <a:r>
              <a:rPr lang="en-US" altLang="en-US" sz="2800" dirty="0">
                <a:latin typeface="Times New Roman" panose="02020603050405020304" pitchFamily="18" charset="0"/>
                <a:cs typeface="Times New Roman" panose="02020603050405020304" pitchFamily="18" charset="0"/>
              </a:rPr>
              <a:t> and its subclasses.</a:t>
            </a:r>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Note: When deriving a </a:t>
            </a:r>
            <a:r>
              <a:rPr lang="en-US" altLang="en-US" sz="2800" dirty="0" err="1">
                <a:latin typeface="Times New Roman" panose="02020603050405020304" pitchFamily="18" charset="0"/>
                <a:cs typeface="Times New Roman" panose="02020603050405020304" pitchFamily="18" charset="0"/>
              </a:rPr>
              <a:t>URLConnection</a:t>
            </a:r>
            <a:r>
              <a:rPr lang="en-US" altLang="en-US" sz="2800" dirty="0">
                <a:latin typeface="Times New Roman" panose="02020603050405020304" pitchFamily="18" charset="0"/>
                <a:cs typeface="Times New Roman" panose="02020603050405020304" pitchFamily="18" charset="0"/>
              </a:rPr>
              <a:t> subclass to write a protocol handler, set the value of this field correctly, otherwise the program may have serious bugs and difficult to diagnose</a:t>
            </a:r>
            <a:r>
              <a:rPr lang="en-GB" altLang="zh-CN" sz="2800" dirty="0"/>
              <a:t>.</a:t>
            </a:r>
            <a:endParaRPr lang="en-GB" altLang="zh-CN" sz="2800" dirty="0"/>
          </a:p>
          <a:p>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1649413" y="152400"/>
            <a:ext cx="8540750" cy="685800"/>
          </a:xfrm>
        </p:spPr>
        <p:txBody>
          <a:bodyPr/>
          <a:lstStyle/>
          <a:p>
            <a:pPr algn="l"/>
            <a:r>
              <a:rPr lang="en-GB" altLang="zh-CN" sz="3200"/>
              <a:t>Protected boolean allowUserInteraction</a:t>
            </a:r>
            <a:endParaRPr lang="zh-CN" altLang="en-US" sz="3200"/>
          </a:p>
        </p:txBody>
      </p:sp>
      <p:sp>
        <p:nvSpPr>
          <p:cNvPr id="81923" name="内容占位符 2"/>
          <p:cNvSpPr>
            <a:spLocks noGrp="1"/>
          </p:cNvSpPr>
          <p:nvPr>
            <p:ph idx="1"/>
          </p:nvPr>
        </p:nvSpPr>
        <p:spPr>
          <a:xfrm>
            <a:off x="76200" y="990601"/>
            <a:ext cx="12115800" cy="2819399"/>
          </a:xfrm>
        </p:spPr>
        <p:txBody>
          <a:bodyPr/>
          <a:lstStyle/>
          <a:p>
            <a:r>
              <a:rPr lang="en-US" altLang="en-US" sz="2400" dirty="0">
                <a:latin typeface="Times New Roman" panose="02020603050405020304" pitchFamily="18" charset="0"/>
                <a:cs typeface="Times New Roman" panose="02020603050405020304" pitchFamily="18" charset="0"/>
              </a:rPr>
              <a:t>This field indicates whether user interaction is allowed.  The default value is false.</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When the connection is closed, connected is false.</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It can only be accessed through the get/set method corresponding to this field.</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It can only be set before the </a:t>
            </a:r>
            <a:r>
              <a:rPr lang="en-US" altLang="en-US" sz="2400" dirty="0" err="1">
                <a:latin typeface="Times New Roman" panose="02020603050405020304" pitchFamily="18" charset="0"/>
                <a:cs typeface="Times New Roman" panose="02020603050405020304" pitchFamily="18" charset="0"/>
              </a:rPr>
              <a:t>URLConnection</a:t>
            </a:r>
            <a:r>
              <a:rPr lang="en-US" altLang="en-US" sz="2400" dirty="0">
                <a:latin typeface="Times New Roman" panose="02020603050405020304" pitchFamily="18" charset="0"/>
                <a:cs typeface="Times New Roman" panose="02020603050405020304" pitchFamily="18" charset="0"/>
              </a:rPr>
              <a:t> is connected, otherwise an </a:t>
            </a:r>
            <a:r>
              <a:rPr lang="en-US" altLang="en-US" sz="2400" dirty="0" err="1">
                <a:latin typeface="Times New Roman" panose="02020603050405020304" pitchFamily="18" charset="0"/>
                <a:cs typeface="Times New Roman" panose="02020603050405020304" pitchFamily="18" charset="0"/>
              </a:rPr>
              <a:t>IllegalStateException</a:t>
            </a:r>
            <a:r>
              <a:rPr lang="en-US" altLang="en-US" sz="2400" dirty="0">
                <a:latin typeface="Times New Roman" panose="02020603050405020304" pitchFamily="18" charset="0"/>
                <a:cs typeface="Times New Roman" panose="02020603050405020304" pitchFamily="18" charset="0"/>
              </a:rPr>
              <a:t> will be thrown.</a:t>
            </a:r>
            <a:endParaRPr lang="en-GB" altLang="en-US" sz="2400" dirty="0"/>
          </a:p>
        </p:txBody>
      </p:sp>
      <p:sp>
        <p:nvSpPr>
          <p:cNvPr id="81924" name="矩形 4"/>
          <p:cNvSpPr>
            <a:spLocks noChangeArrowheads="1"/>
          </p:cNvSpPr>
          <p:nvPr/>
        </p:nvSpPr>
        <p:spPr bwMode="auto">
          <a:xfrm>
            <a:off x="990600" y="3962401"/>
            <a:ext cx="9525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400" dirty="0">
                <a:solidFill>
                  <a:srgbClr val="000000"/>
                </a:solidFill>
                <a:latin typeface="Times New Roman" panose="02020603050405020304" pitchFamily="18" charset="0"/>
                <a:cs typeface="Times New Roman" panose="02020603050405020304" pitchFamily="18" charset="0"/>
              </a:rPr>
              <a:t>URL u=new URL("http://www.example.com/passwordProtectedPage.html");</a:t>
            </a:r>
            <a:endParaRPr lang="en-GB" altLang="zh-CN" sz="24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400" dirty="0">
                <a:solidFill>
                  <a:srgbClr val="000000"/>
                </a:solidFill>
                <a:latin typeface="Times New Roman" panose="02020603050405020304" pitchFamily="18" charset="0"/>
                <a:cs typeface="Times New Roman" panose="02020603050405020304" pitchFamily="18" charset="0"/>
              </a:rPr>
              <a:t>URLConnection uc = u.openConnection(); // </a:t>
            </a:r>
            <a:r>
              <a:rPr lang="en-GB" altLang="en-US" sz="2400" dirty="0">
                <a:solidFill>
                  <a:srgbClr val="000000"/>
                </a:solidFill>
                <a:latin typeface="Times New Roman" panose="02020603050405020304" pitchFamily="18" charset="0"/>
                <a:cs typeface="Times New Roman" panose="02020603050405020304" pitchFamily="18" charset="0"/>
              </a:rPr>
              <a:t>Get the connection object</a:t>
            </a:r>
            <a:endParaRPr lang="en-US" altLang="zh-CN" sz="24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400" dirty="0">
                <a:solidFill>
                  <a:srgbClr val="FF0000"/>
                </a:solidFill>
                <a:latin typeface="Times New Roman" panose="02020603050405020304" pitchFamily="18" charset="0"/>
                <a:cs typeface="Times New Roman" panose="02020603050405020304" pitchFamily="18" charset="0"/>
              </a:rPr>
              <a:t>Uc.setAllowUserInteraction(true);</a:t>
            </a:r>
            <a:endParaRPr lang="en-GB" altLang="zh-CN" sz="24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400" dirty="0">
                <a:solidFill>
                  <a:srgbClr val="000000"/>
                </a:solidFill>
                <a:latin typeface="Times New Roman" panose="02020603050405020304" pitchFamily="18" charset="0"/>
                <a:cs typeface="Times New Roman" panose="02020603050405020304" pitchFamily="18" charset="0"/>
              </a:rPr>
              <a:t>InputStream in uc.getInputStream(); // </a:t>
            </a:r>
            <a:r>
              <a:rPr lang="en-GB" altLang="en-US" sz="2400" dirty="0">
                <a:solidFill>
                  <a:srgbClr val="000000"/>
                </a:solidFill>
                <a:latin typeface="Times New Roman" panose="02020603050405020304" pitchFamily="18" charset="0"/>
                <a:cs typeface="Times New Roman" panose="02020603050405020304" pitchFamily="18" charset="0"/>
              </a:rPr>
              <a:t>Establish input connection</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xfrm>
            <a:off x="1630363" y="107950"/>
            <a:ext cx="8540750" cy="685800"/>
          </a:xfrm>
        </p:spPr>
        <p:txBody>
          <a:bodyPr/>
          <a:lstStyle/>
          <a:p>
            <a:pPr algn="l"/>
            <a:r>
              <a:rPr lang="en-GB" altLang="zh-CN" sz="3200"/>
              <a:t>Protected boolean doInput</a:t>
            </a:r>
            <a:endParaRPr lang="zh-CN" altLang="en-US" sz="3200"/>
          </a:p>
        </p:txBody>
      </p:sp>
      <p:sp>
        <p:nvSpPr>
          <p:cNvPr id="82947" name="内容占位符 2"/>
          <p:cNvSpPr>
            <a:spLocks noGrp="1"/>
          </p:cNvSpPr>
          <p:nvPr>
            <p:ph idx="1"/>
          </p:nvPr>
        </p:nvSpPr>
        <p:spPr>
          <a:xfrm>
            <a:off x="152400" y="793751"/>
            <a:ext cx="11963400" cy="2482849"/>
          </a:xfrm>
        </p:spPr>
        <p:txBody>
          <a:bodyPr/>
          <a:lstStyle/>
          <a:p>
            <a:r>
              <a:rPr lang="en-GB" altLang="en-US" sz="2400" dirty="0">
                <a:latin typeface="Times New Roman" panose="02020603050405020304" pitchFamily="18" charset="0"/>
                <a:cs typeface="Times New Roman" panose="02020603050405020304" pitchFamily="18" charset="0"/>
              </a:rPr>
              <a:t>This field indicates whether </a:t>
            </a:r>
            <a:r>
              <a:rPr lang="en-GB" altLang="zh-CN" sz="2400" dirty="0">
                <a:latin typeface="Times New Roman" panose="02020603050405020304" pitchFamily="18" charset="0"/>
                <a:cs typeface="Times New Roman" panose="02020603050405020304" pitchFamily="18" charset="0"/>
              </a:rPr>
              <a:t>the URLConnection </a:t>
            </a:r>
            <a:r>
              <a:rPr lang="en-GB" altLang="en-US" sz="2400" dirty="0">
                <a:latin typeface="Times New Roman" panose="02020603050405020304" pitchFamily="18" charset="0"/>
                <a:cs typeface="Times New Roman" panose="02020603050405020304" pitchFamily="18" charset="0"/>
              </a:rPr>
              <a:t>can be used to write to the server.</a:t>
            </a:r>
            <a:endParaRPr lang="en-US" altLang="zh-CN" sz="24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rPr>
              <a:t>doInput </a:t>
            </a:r>
            <a:r>
              <a:rPr lang="en-GB" altLang="en-US" sz="2400" dirty="0">
                <a:latin typeface="Times New Roman" panose="02020603050405020304" pitchFamily="18" charset="0"/>
                <a:cs typeface="Times New Roman" panose="02020603050405020304" pitchFamily="18" charset="0"/>
              </a:rPr>
              <a:t>is </a:t>
            </a:r>
            <a:r>
              <a:rPr lang="en-US" altLang="en-US" sz="2400" dirty="0">
                <a:latin typeface="Times New Roman" panose="02020603050405020304" pitchFamily="18" charset="0"/>
                <a:cs typeface="Times New Roman" panose="02020603050405020304" pitchFamily="18" charset="0"/>
              </a:rPr>
              <a:t>set </a:t>
            </a:r>
            <a:r>
              <a:rPr lang="en-GB" altLang="zh-CN" sz="2400" dirty="0">
                <a:latin typeface="Times New Roman" panose="02020603050405020304" pitchFamily="18" charset="0"/>
                <a:cs typeface="Times New Roman" panose="02020603050405020304" pitchFamily="18" charset="0"/>
              </a:rPr>
              <a:t>true </a:t>
            </a:r>
            <a:r>
              <a:rPr lang="en-GB" altLang="en-US" sz="2400" dirty="0">
                <a:latin typeface="Times New Roman" panose="02020603050405020304" pitchFamily="18" charset="0"/>
                <a:cs typeface="Times New Roman" panose="02020603050405020304" pitchFamily="18" charset="0"/>
              </a:rPr>
              <a:t>to indicate that the connection is used to read </a:t>
            </a:r>
            <a:r>
              <a:rPr lang="en-GB" altLang="zh-CN" sz="2400"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write the server</a:t>
            </a:r>
            <a:endParaRPr lang="en-US" altLang="zh-CN" sz="24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rPr>
              <a:t>doInput </a:t>
            </a:r>
            <a:r>
              <a:rPr lang="en-GB" altLang="en-US" sz="2400" dirty="0">
                <a:latin typeface="Times New Roman" panose="02020603050405020304" pitchFamily="18" charset="0"/>
                <a:cs typeface="Times New Roman" panose="02020603050405020304" pitchFamily="18" charset="0"/>
              </a:rPr>
              <a:t>is </a:t>
            </a:r>
            <a:r>
              <a:rPr lang="en-US" altLang="en-US" sz="2400" dirty="0">
                <a:latin typeface="Times New Roman" panose="02020603050405020304" pitchFamily="18" charset="0"/>
                <a:cs typeface="Times New Roman" panose="02020603050405020304" pitchFamily="18" charset="0"/>
              </a:rPr>
              <a:t>set </a:t>
            </a:r>
            <a:r>
              <a:rPr lang="en-GB" altLang="zh-CN" sz="2400" dirty="0">
                <a:latin typeface="Times New Roman" panose="02020603050405020304" pitchFamily="18" charset="0"/>
                <a:cs typeface="Times New Roman" panose="02020603050405020304" pitchFamily="18" charset="0"/>
              </a:rPr>
              <a:t>false </a:t>
            </a:r>
            <a:r>
              <a:rPr lang="en-GB" altLang="en-US" sz="2400" dirty="0">
                <a:latin typeface="Times New Roman" panose="02020603050405020304" pitchFamily="18" charset="0"/>
                <a:cs typeface="Times New Roman" panose="02020603050405020304" pitchFamily="18" charset="0"/>
              </a:rPr>
              <a:t>which means the connection can only be used to read from the server.</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The default value is </a:t>
            </a:r>
            <a:r>
              <a:rPr lang="en-GB" altLang="zh-CN" sz="2400" dirty="0">
                <a:latin typeface="Times New Roman" panose="02020603050405020304" pitchFamily="18" charset="0"/>
                <a:cs typeface="Times New Roman" panose="02020603050405020304" pitchFamily="18" charset="0"/>
              </a:rPr>
              <a:t>true</a:t>
            </a:r>
            <a:endParaRPr lang="en-GB"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The field is accessed using the corresponding </a:t>
            </a:r>
            <a:r>
              <a:rPr lang="en-GB" altLang="zh-CN" sz="2400" dirty="0">
                <a:latin typeface="Times New Roman" panose="02020603050405020304" pitchFamily="18" charset="0"/>
                <a:cs typeface="Times New Roman" panose="02020603050405020304" pitchFamily="18" charset="0"/>
              </a:rPr>
              <a:t>get/set </a:t>
            </a:r>
            <a:r>
              <a:rPr lang="en-GB" altLang="en-US" sz="2400" dirty="0">
                <a:latin typeface="Times New Roman" panose="02020603050405020304" pitchFamily="18" charset="0"/>
                <a:cs typeface="Times New Roman" panose="02020603050405020304" pitchFamily="18" charset="0"/>
              </a:rPr>
              <a:t>method</a:t>
            </a:r>
            <a:endParaRPr lang="en-US" altLang="zh-CN" sz="2400" dirty="0">
              <a:latin typeface="Times New Roman" panose="02020603050405020304" pitchFamily="18" charset="0"/>
              <a:cs typeface="Times New Roman" panose="02020603050405020304" pitchFamily="18" charset="0"/>
            </a:endParaRPr>
          </a:p>
          <a:p>
            <a:endParaRPr lang="zh-CN" altLang="en-US" sz="2400" dirty="0"/>
          </a:p>
        </p:txBody>
      </p:sp>
      <p:sp>
        <p:nvSpPr>
          <p:cNvPr id="82948" name="矩形 4"/>
          <p:cNvSpPr>
            <a:spLocks noChangeArrowheads="1"/>
          </p:cNvSpPr>
          <p:nvPr/>
        </p:nvSpPr>
        <p:spPr bwMode="auto">
          <a:xfrm>
            <a:off x="1535113" y="3276600"/>
            <a:ext cx="86106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Try{</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URL u=new URL("http://www.oreilly.com");</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URLConnection uc = u.openConnection(); // </a:t>
            </a:r>
            <a:r>
              <a:rPr lang="en-GB" altLang="en-US" sz="2000" dirty="0">
                <a:solidFill>
                  <a:srgbClr val="000000"/>
                </a:solidFill>
                <a:latin typeface="Times New Roman" panose="02020603050405020304" pitchFamily="18" charset="0"/>
                <a:cs typeface="Times New Roman" panose="02020603050405020304" pitchFamily="18" charset="0"/>
              </a:rPr>
              <a:t>Get the connection object</a:t>
            </a: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if(!uc.getDoInput()){</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uc.setDoInput(true);</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 </a:t>
            </a:r>
            <a:r>
              <a:rPr lang="en-GB" altLang="en-US" sz="2000" dirty="0">
                <a:solidFill>
                  <a:srgbClr val="000000"/>
                </a:solidFill>
                <a:latin typeface="Times New Roman" panose="02020603050405020304" pitchFamily="18" charset="0"/>
                <a:cs typeface="Times New Roman" panose="02020603050405020304" pitchFamily="18" charset="0"/>
              </a:rPr>
              <a:t>Read from the connection </a:t>
            </a:r>
            <a:r>
              <a:rPr lang="en-GB" altLang="zh-CN" sz="2000" dirty="0">
                <a:solidFill>
                  <a:srgbClr val="000000"/>
                </a:solidFill>
                <a:latin typeface="Times New Roman" panose="02020603050405020304" pitchFamily="18" charset="0"/>
                <a:cs typeface="Times New Roman" panose="02020603050405020304" pitchFamily="18" charset="0"/>
              </a:rPr>
              <a:t>...</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en-US" sz="2000" dirty="0">
                <a:solidFill>
                  <a:srgbClr val="000000"/>
                </a:solidFill>
                <a:latin typeface="Times New Roman" panose="02020603050405020304" pitchFamily="18" charset="0"/>
                <a:cs typeface="Times New Roman" panose="02020603050405020304" pitchFamily="18" charset="0"/>
              </a:rPr>
              <a:t>} </a:t>
            </a:r>
            <a:r>
              <a:rPr lang="en-GB" altLang="zh-CN" sz="2000" dirty="0">
                <a:solidFill>
                  <a:srgbClr val="000000"/>
                </a:solidFill>
                <a:latin typeface="Times New Roman" panose="02020603050405020304" pitchFamily="18" charset="0"/>
                <a:cs typeface="Times New Roman" panose="02020603050405020304" pitchFamily="18" charset="0"/>
              </a:rPr>
              <a:t>catch(IOException ex){</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System.out.println(ex);</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a:t>
            </a:r>
            <a:endParaRPr lang="en-GB" altLang="zh-CN"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1716088" y="152400"/>
            <a:ext cx="8540750" cy="685800"/>
          </a:xfrm>
        </p:spPr>
        <p:txBody>
          <a:bodyPr/>
          <a:lstStyle/>
          <a:p>
            <a:pPr algn="l"/>
            <a:r>
              <a:rPr lang="en-GB" altLang="zh-CN" sz="3200"/>
              <a:t>Protected boolean doOutput</a:t>
            </a:r>
            <a:endParaRPr lang="zh-CN" altLang="en-US" sz="3200"/>
          </a:p>
        </p:txBody>
      </p:sp>
      <p:sp>
        <p:nvSpPr>
          <p:cNvPr id="83971" name="内容占位符 2"/>
          <p:cNvSpPr>
            <a:spLocks noGrp="1"/>
          </p:cNvSpPr>
          <p:nvPr>
            <p:ph idx="1"/>
          </p:nvPr>
        </p:nvSpPr>
        <p:spPr>
          <a:xfrm>
            <a:off x="152400" y="914400"/>
            <a:ext cx="12039600" cy="2133600"/>
          </a:xfrm>
        </p:spPr>
        <p:txBody>
          <a:bodyPr/>
          <a:lstStyle/>
          <a:p>
            <a:r>
              <a:rPr lang="en-GB" altLang="en-US" sz="2000" dirty="0">
                <a:latin typeface="Times New Roman" panose="02020603050405020304" pitchFamily="18" charset="0"/>
                <a:cs typeface="Times New Roman" panose="02020603050405020304" pitchFamily="18" charset="0"/>
              </a:rPr>
              <a:t>This field indicates whether the program can use </a:t>
            </a:r>
            <a:r>
              <a:rPr lang="en-GB" altLang="zh-CN" sz="2000" dirty="0">
                <a:latin typeface="Times New Roman" panose="02020603050405020304" pitchFamily="18" charset="0"/>
                <a:cs typeface="Times New Roman" panose="02020603050405020304" pitchFamily="18" charset="0"/>
              </a:rPr>
              <a:t>URLConnection </a:t>
            </a:r>
            <a:r>
              <a:rPr lang="en-GB" altLang="en-US" sz="2000" dirty="0">
                <a:latin typeface="Times New Roman" panose="02020603050405020304" pitchFamily="18" charset="0"/>
                <a:cs typeface="Times New Roman" panose="02020603050405020304" pitchFamily="18" charset="0"/>
              </a:rPr>
              <a:t>to send output back to the server.</a:t>
            </a:r>
            <a:endParaRPr lang="en-US" altLang="zh-CN" sz="20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doOutput </a:t>
            </a:r>
            <a:r>
              <a:rPr lang="en-GB" altLang="en-US" sz="2000" dirty="0">
                <a:latin typeface="Times New Roman" panose="02020603050405020304" pitchFamily="18" charset="0"/>
                <a:cs typeface="Times New Roman" panose="02020603050405020304" pitchFamily="18" charset="0"/>
              </a:rPr>
              <a:t>is </a:t>
            </a:r>
            <a:r>
              <a:rPr lang="en-GB" altLang="zh-CN" sz="2000" dirty="0">
                <a:latin typeface="Times New Roman" panose="02020603050405020304" pitchFamily="18" charset="0"/>
                <a:cs typeface="Times New Roman" panose="02020603050405020304" pitchFamily="18" charset="0"/>
              </a:rPr>
              <a:t>true </a:t>
            </a:r>
            <a:r>
              <a:rPr lang="en-GB" altLang="en-US" sz="2000" dirty="0">
                <a:latin typeface="Times New Roman" panose="02020603050405020304" pitchFamily="18" charset="0"/>
                <a:cs typeface="Times New Roman" panose="02020603050405020304" pitchFamily="18" charset="0"/>
              </a:rPr>
              <a:t>, indicating that the connection is used to write data to the server</a:t>
            </a:r>
            <a:endParaRPr lang="en-US" altLang="zh-CN" sz="20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doOutput </a:t>
            </a:r>
            <a:r>
              <a:rPr lang="en-GB" altLang="en-US" sz="2000" dirty="0">
                <a:latin typeface="Times New Roman" panose="02020603050405020304" pitchFamily="18" charset="0"/>
                <a:cs typeface="Times New Roman" panose="02020603050405020304" pitchFamily="18" charset="0"/>
              </a:rPr>
              <a:t>is </a:t>
            </a:r>
            <a:r>
              <a:rPr lang="en-GB" altLang="zh-CN" sz="2000" dirty="0">
                <a:latin typeface="Times New Roman" panose="02020603050405020304" pitchFamily="18" charset="0"/>
                <a:cs typeface="Times New Roman" panose="02020603050405020304" pitchFamily="18" charset="0"/>
              </a:rPr>
              <a:t>false </a:t>
            </a:r>
            <a:r>
              <a:rPr lang="en-GB" altLang="en-US" sz="2000" dirty="0">
                <a:latin typeface="Times New Roman" panose="02020603050405020304" pitchFamily="18" charset="0"/>
                <a:cs typeface="Times New Roman" panose="02020603050405020304" pitchFamily="18" charset="0"/>
              </a:rPr>
              <a:t>which means the connection cannot be used to write data to the server.</a:t>
            </a:r>
            <a:endParaRPr lang="en-US" altLang="zh-CN"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The default value is </a:t>
            </a:r>
            <a:r>
              <a:rPr lang="en-GB" altLang="zh-CN" sz="2000" dirty="0">
                <a:latin typeface="Times New Roman" panose="02020603050405020304" pitchFamily="18" charset="0"/>
                <a:cs typeface="Times New Roman" panose="02020603050405020304" pitchFamily="18" charset="0"/>
              </a:rPr>
              <a:t>false</a:t>
            </a:r>
            <a:endParaRPr lang="en-GB" altLang="zh-CN"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The field is accessed using the corresponding </a:t>
            </a:r>
            <a:r>
              <a:rPr lang="en-GB" altLang="zh-CN" sz="2000" dirty="0">
                <a:latin typeface="Times New Roman" panose="02020603050405020304" pitchFamily="18" charset="0"/>
                <a:cs typeface="Times New Roman" panose="02020603050405020304" pitchFamily="18" charset="0"/>
              </a:rPr>
              <a:t>get/set </a:t>
            </a:r>
            <a:r>
              <a:rPr lang="en-GB" altLang="en-US" sz="2000" dirty="0">
                <a:latin typeface="Times New Roman" panose="02020603050405020304" pitchFamily="18" charset="0"/>
                <a:cs typeface="Times New Roman" panose="02020603050405020304" pitchFamily="18" charset="0"/>
              </a:rPr>
              <a:t>method</a:t>
            </a:r>
            <a:endParaRPr lang="en-US" altLang="zh-CN" sz="2000" dirty="0">
              <a:latin typeface="Times New Roman" panose="02020603050405020304" pitchFamily="18" charset="0"/>
              <a:cs typeface="Times New Roman" panose="02020603050405020304" pitchFamily="18" charset="0"/>
            </a:endParaRPr>
          </a:p>
          <a:p>
            <a:endParaRPr lang="zh-CN" altLang="en-US" sz="2400" dirty="0"/>
          </a:p>
        </p:txBody>
      </p:sp>
      <p:sp>
        <p:nvSpPr>
          <p:cNvPr id="83972" name="矩形 4"/>
          <p:cNvSpPr>
            <a:spLocks noChangeArrowheads="1"/>
          </p:cNvSpPr>
          <p:nvPr/>
        </p:nvSpPr>
        <p:spPr bwMode="auto">
          <a:xfrm>
            <a:off x="1295400" y="3167857"/>
            <a:ext cx="10591800"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Try{</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URL u=new URL("http://www.oreilly.com");</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URLConnection uc = u.openConnection(); // </a:t>
            </a:r>
            <a:r>
              <a:rPr lang="en-GB" altLang="en-US" sz="2000" dirty="0">
                <a:solidFill>
                  <a:srgbClr val="000000"/>
                </a:solidFill>
                <a:latin typeface="Times New Roman" panose="02020603050405020304" pitchFamily="18" charset="0"/>
                <a:cs typeface="Times New Roman" panose="02020603050405020304" pitchFamily="18" charset="0"/>
              </a:rPr>
              <a:t>Get the connection object</a:t>
            </a: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if(!uc.getDoOutput()){</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uc.setDoOutput(true);</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 </a:t>
            </a:r>
            <a:r>
              <a:rPr lang="en-GB" altLang="en-US" sz="2000" dirty="0">
                <a:solidFill>
                  <a:srgbClr val="000000"/>
                </a:solidFill>
                <a:latin typeface="Times New Roman" panose="02020603050405020304" pitchFamily="18" charset="0"/>
                <a:cs typeface="Times New Roman" panose="02020603050405020304" pitchFamily="18" charset="0"/>
              </a:rPr>
              <a:t>Write to connection </a:t>
            </a:r>
            <a:r>
              <a:rPr lang="en-GB" altLang="zh-CN" sz="2000" dirty="0">
                <a:solidFill>
                  <a:srgbClr val="000000"/>
                </a:solidFill>
                <a:latin typeface="Times New Roman" panose="02020603050405020304" pitchFamily="18" charset="0"/>
                <a:cs typeface="Times New Roman" panose="02020603050405020304" pitchFamily="18" charset="0"/>
              </a:rPr>
              <a:t>...</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en-US" sz="2000" dirty="0">
                <a:solidFill>
                  <a:srgbClr val="000000"/>
                </a:solidFill>
                <a:latin typeface="Times New Roman" panose="02020603050405020304" pitchFamily="18" charset="0"/>
                <a:cs typeface="Times New Roman" panose="02020603050405020304" pitchFamily="18" charset="0"/>
              </a:rPr>
              <a:t>} </a:t>
            </a:r>
            <a:r>
              <a:rPr lang="en-GB" altLang="zh-CN" sz="2000" dirty="0">
                <a:solidFill>
                  <a:srgbClr val="000000"/>
                </a:solidFill>
                <a:latin typeface="Times New Roman" panose="02020603050405020304" pitchFamily="18" charset="0"/>
                <a:cs typeface="Times New Roman" panose="02020603050405020304" pitchFamily="18" charset="0"/>
              </a:rPr>
              <a:t>catch(IOException ex){</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System.out.println(ex);</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a:t>
            </a:r>
            <a:endParaRPr lang="en-GB" altLang="zh-CN"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xfrm>
            <a:off x="1593850" y="15875"/>
            <a:ext cx="8540750" cy="685800"/>
          </a:xfrm>
        </p:spPr>
        <p:txBody>
          <a:bodyPr/>
          <a:lstStyle/>
          <a:p>
            <a:pPr algn="l"/>
            <a:r>
              <a:rPr lang="en-GB" altLang="zh-CN" sz="3200"/>
              <a:t>Protected boolean ifModifiedSince</a:t>
            </a:r>
            <a:endParaRPr lang="zh-CN" altLang="en-US" sz="3200"/>
          </a:p>
        </p:txBody>
      </p:sp>
      <p:sp>
        <p:nvSpPr>
          <p:cNvPr id="29699" name="内容占位符 2"/>
          <p:cNvSpPr>
            <a:spLocks noGrp="1"/>
          </p:cNvSpPr>
          <p:nvPr>
            <p:ph idx="1"/>
          </p:nvPr>
        </p:nvSpPr>
        <p:spPr>
          <a:xfrm>
            <a:off x="533400" y="861218"/>
            <a:ext cx="8210550" cy="5135563"/>
          </a:xfrm>
        </p:spPr>
        <p:txBody>
          <a:bodyPr/>
          <a:lstStyle/>
          <a:p>
            <a:r>
              <a:rPr lang="en-US" altLang="en-US" sz="2400" dirty="0">
                <a:latin typeface="Times New Roman" panose="02020603050405020304" pitchFamily="18" charset="0"/>
                <a:cs typeface="Times New Roman" panose="02020603050405020304" pitchFamily="18" charset="0"/>
              </a:rPr>
              <a:t>This field indicates the date placed in the If-Modified-Since field of the </a:t>
            </a:r>
            <a:r>
              <a:rPr lang="en-US" altLang="en-US" sz="2400" dirty="0" err="1">
                <a:latin typeface="Times New Roman" panose="02020603050405020304" pitchFamily="18" charset="0"/>
                <a:cs typeface="Times New Roman" panose="02020603050405020304" pitchFamily="18" charset="0"/>
              </a:rPr>
              <a:t>URLConnection</a:t>
            </a:r>
            <a:r>
              <a:rPr lang="en-US" altLang="en-US" sz="2400" dirty="0">
                <a:latin typeface="Times New Roman" panose="02020603050405020304" pitchFamily="18" charset="0"/>
                <a:cs typeface="Times New Roman" panose="02020603050405020304" pitchFamily="18" charset="0"/>
              </a:rPr>
              <a:t> connection request header.</a:t>
            </a:r>
            <a:endParaRPr lang="en-US" altLang="zh-CN" sz="24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pPr marL="0" indent="0">
              <a:buNone/>
            </a:pPr>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endParaRPr lang="en-US" altLang="zh-CN" sz="2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endParaRPr lang="en-US" altLang="zh-CN" sz="28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The value of this field is </a:t>
            </a:r>
            <a:r>
              <a:rPr lang="en-GB" altLang="zh-CN" sz="2400" dirty="0">
                <a:latin typeface="Times New Roman" panose="02020603050405020304" pitchFamily="18" charset="0"/>
                <a:cs typeface="Times New Roman" panose="02020603050405020304" pitchFamily="18" charset="0"/>
              </a:rPr>
              <a:t>long </a:t>
            </a:r>
            <a:r>
              <a:rPr lang="en-GB" altLang="en-US" sz="2400" dirty="0">
                <a:latin typeface="Times New Roman" panose="02020603050405020304" pitchFamily="18" charset="0"/>
                <a:cs typeface="Times New Roman" panose="02020603050405020304" pitchFamily="18" charset="0"/>
              </a:rPr>
              <a:t>type </a:t>
            </a:r>
            <a:r>
              <a:rPr lang="en-GB" altLang="zh-CN" sz="2400" dirty="0">
                <a:latin typeface="Times New Roman" panose="02020603050405020304" pitchFamily="18" charset="0"/>
                <a:cs typeface="Times New Roman" panose="02020603050405020304" pitchFamily="18" charset="0"/>
              </a:rPr>
              <a:t>.</a:t>
            </a:r>
            <a:endParaRPr lang="en-GB"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the number of milliseconds since 00:00:00 </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Access method:</a:t>
            </a:r>
            <a:endParaRPr lang="en-US" altLang="zh-CN" sz="2400" dirty="0">
              <a:latin typeface="Times New Roman" panose="02020603050405020304" pitchFamily="18" charset="0"/>
              <a:cs typeface="Times New Roman" panose="02020603050405020304" pitchFamily="18" charset="0"/>
            </a:endParaRPr>
          </a:p>
          <a:p>
            <a:endParaRPr lang="zh-CN" altLang="en-US" sz="2800" dirty="0"/>
          </a:p>
        </p:txBody>
      </p:sp>
      <p:sp>
        <p:nvSpPr>
          <p:cNvPr id="84996" name="矩形 4"/>
          <p:cNvSpPr>
            <a:spLocks noChangeArrowheads="1"/>
          </p:cNvSpPr>
          <p:nvPr/>
        </p:nvSpPr>
        <p:spPr bwMode="auto">
          <a:xfrm>
            <a:off x="3158067" y="5695552"/>
            <a:ext cx="6096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Public long getIfModifiedSince()</a:t>
            </a:r>
            <a:endParaRPr lang="en-GB"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Public void setIfModifiedSince(long ifModifiedSince)</a:t>
            </a:r>
            <a:endParaRPr lang="en-GB" altLang="zh-CN" sz="2000" dirty="0">
              <a:solidFill>
                <a:schemeClr val="tx2"/>
              </a:solidFill>
              <a:latin typeface="Times New Roman" panose="02020603050405020304" pitchFamily="18" charset="0"/>
              <a:cs typeface="Times New Roman" panose="02020603050405020304" pitchFamily="18" charset="0"/>
            </a:endParaRPr>
          </a:p>
        </p:txBody>
      </p:sp>
      <p:pic>
        <p:nvPicPr>
          <p:cNvPr id="8499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9400" y="2895600"/>
            <a:ext cx="5232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998" name="矩形 1"/>
          <p:cNvSpPr>
            <a:spLocks noChangeArrowheads="1"/>
          </p:cNvSpPr>
          <p:nvPr/>
        </p:nvSpPr>
        <p:spPr bwMode="auto">
          <a:xfrm>
            <a:off x="1955800" y="1844675"/>
            <a:ext cx="1219200" cy="7620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Client</a:t>
            </a:r>
            <a:endParaRPr lang="en-GB" altLang="en-US" sz="1800"/>
          </a:p>
        </p:txBody>
      </p:sp>
      <p:sp>
        <p:nvSpPr>
          <p:cNvPr id="84999" name="矩形 6"/>
          <p:cNvSpPr>
            <a:spLocks noChangeArrowheads="1"/>
          </p:cNvSpPr>
          <p:nvPr/>
        </p:nvSpPr>
        <p:spPr bwMode="auto">
          <a:xfrm>
            <a:off x="6934200" y="1825096"/>
            <a:ext cx="1219200" cy="7620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server</a:t>
            </a:r>
            <a:endParaRPr lang="en-GB" altLang="en-US" sz="1800"/>
          </a:p>
        </p:txBody>
      </p:sp>
      <p:cxnSp>
        <p:nvCxnSpPr>
          <p:cNvPr id="85000" name="直接连接符 4"/>
          <p:cNvCxnSpPr>
            <a:cxnSpLocks noChangeShapeType="1"/>
            <a:endCxn id="84999" idx="1"/>
          </p:cNvCxnSpPr>
          <p:nvPr/>
        </p:nvCxnSpPr>
        <p:spPr bwMode="auto">
          <a:xfrm>
            <a:off x="3208338" y="2206096"/>
            <a:ext cx="3725862" cy="0"/>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001" name="矩形 5"/>
          <p:cNvSpPr>
            <a:spLocks noChangeArrowheads="1"/>
          </p:cNvSpPr>
          <p:nvPr/>
        </p:nvSpPr>
        <p:spPr bwMode="auto">
          <a:xfrm>
            <a:off x="1552575" y="4038600"/>
            <a:ext cx="4013200" cy="381000"/>
          </a:xfrm>
          <a:prstGeom prst="rect">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85002" name="TextBox 7"/>
          <p:cNvSpPr txBox="1">
            <a:spLocks noChangeArrowheads="1"/>
          </p:cNvSpPr>
          <p:nvPr/>
        </p:nvSpPr>
        <p:spPr bwMode="auto">
          <a:xfrm>
            <a:off x="8356600" y="1224148"/>
            <a:ext cx="364966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The server considers </a:t>
            </a:r>
            <a:r>
              <a:rPr lang="en-GB" altLang="zh-CN" sz="1800" dirty="0"/>
              <a:t>the If-Modified-Since </a:t>
            </a:r>
            <a:r>
              <a:rPr lang="en-GB" altLang="en-US" sz="1800" dirty="0"/>
              <a:t>field and sends the requested document if it has been modified since this time. Otherwise, it does not send the document and replies with a "Not Modified" message. The client loads the document from its local cache.</a:t>
            </a:r>
            <a:endParaRPr lang="en-GB" altLang="en-US" sz="1800" dirty="0"/>
          </a:p>
        </p:txBody>
      </p:sp>
      <p:pic>
        <p:nvPicPr>
          <p:cNvPr id="850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2700" y="4267201"/>
            <a:ext cx="41529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004" name="矩形 14"/>
          <p:cNvSpPr>
            <a:spLocks noChangeArrowheads="1"/>
          </p:cNvSpPr>
          <p:nvPr/>
        </p:nvSpPr>
        <p:spPr bwMode="auto">
          <a:xfrm>
            <a:off x="6226175" y="4191000"/>
            <a:ext cx="3200400" cy="381000"/>
          </a:xfrm>
          <a:prstGeom prst="rect">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1677988" y="6350"/>
            <a:ext cx="8540750" cy="685800"/>
          </a:xfrm>
        </p:spPr>
        <p:txBody>
          <a:bodyPr/>
          <a:lstStyle/>
          <a:p>
            <a:pPr algn="l"/>
            <a:r>
              <a:rPr lang="en-GB" altLang="zh-CN" sz="3200"/>
              <a:t>ifModifiedSince </a:t>
            </a:r>
            <a:r>
              <a:rPr lang="en-GB" altLang="en-US" sz="3200"/>
              <a:t>Application Example</a:t>
            </a:r>
            <a:endParaRPr lang="en-GB" altLang="en-US" sz="3200"/>
          </a:p>
        </p:txBody>
      </p:sp>
      <p:sp>
        <p:nvSpPr>
          <p:cNvPr id="86019" name="矩形 4"/>
          <p:cNvSpPr>
            <a:spLocks noChangeArrowheads="1"/>
          </p:cNvSpPr>
          <p:nvPr/>
        </p:nvSpPr>
        <p:spPr bwMode="auto">
          <a:xfrm>
            <a:off x="228600" y="914400"/>
            <a:ext cx="11506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400" dirty="0">
                <a:solidFill>
                  <a:srgbClr val="000000"/>
                </a:solidFill>
                <a:latin typeface="Times New Roman" panose="02020603050405020304" pitchFamily="18" charset="0"/>
                <a:cs typeface="Times New Roman" panose="02020603050405020304" pitchFamily="18" charset="0"/>
              </a:rPr>
              <a:t>Demonstration </a:t>
            </a:r>
            <a:r>
              <a:rPr lang="en-GB" altLang="zh-CN" sz="2400" dirty="0">
                <a:solidFill>
                  <a:srgbClr val="000000"/>
                </a:solidFill>
                <a:latin typeface="Times New Roman" panose="02020603050405020304" pitchFamily="18" charset="0"/>
                <a:cs typeface="Times New Roman" panose="02020603050405020304" pitchFamily="18" charset="0"/>
              </a:rPr>
              <a:t>Ex7-13, ch7.Last24.java </a:t>
            </a:r>
            <a:r>
              <a:rPr lang="en-GB" altLang="en-US" sz="2400" dirty="0">
                <a:solidFill>
                  <a:srgbClr val="000000"/>
                </a:solidFill>
                <a:latin typeface="Times New Roman" panose="02020603050405020304" pitchFamily="18" charset="0"/>
                <a:cs typeface="Times New Roman" panose="02020603050405020304" pitchFamily="18" charset="0"/>
              </a:rPr>
              <a:t>prints the default value of </a:t>
            </a:r>
            <a:r>
              <a:rPr lang="en-GB" altLang="zh-CN" sz="2400" dirty="0">
                <a:solidFill>
                  <a:srgbClr val="000000"/>
                </a:solidFill>
                <a:latin typeface="Times New Roman" panose="02020603050405020304" pitchFamily="18" charset="0"/>
                <a:cs typeface="Times New Roman" panose="02020603050405020304" pitchFamily="18" charset="0"/>
              </a:rPr>
              <a:t>ifModifiedSince </a:t>
            </a:r>
            <a:r>
              <a:rPr lang="en-GB" altLang="en-US" sz="2400" dirty="0">
                <a:solidFill>
                  <a:srgbClr val="000000"/>
                </a:solidFill>
                <a:latin typeface="Times New Roman" panose="02020603050405020304" pitchFamily="18" charset="0"/>
                <a:cs typeface="Times New Roman" panose="02020603050405020304" pitchFamily="18" charset="0"/>
              </a:rPr>
              <a:t>, sets this value to </a:t>
            </a:r>
            <a:r>
              <a:rPr lang="en-GB" altLang="zh-CN" sz="2400" dirty="0">
                <a:solidFill>
                  <a:srgbClr val="000000"/>
                </a:solidFill>
                <a:latin typeface="Times New Roman" panose="02020603050405020304" pitchFamily="18" charset="0"/>
                <a:cs typeface="Times New Roman" panose="02020603050405020304" pitchFamily="18" charset="0"/>
              </a:rPr>
              <a:t>24 </a:t>
            </a:r>
            <a:r>
              <a:rPr lang="en-GB" altLang="en-US" sz="2400" dirty="0">
                <a:solidFill>
                  <a:srgbClr val="000000"/>
                </a:solidFill>
                <a:latin typeface="Times New Roman" panose="02020603050405020304" pitchFamily="18" charset="0"/>
                <a:cs typeface="Times New Roman" panose="02020603050405020304" pitchFamily="18" charset="0"/>
              </a:rPr>
              <a:t>hours ago, and prints this new value. It then downloads and displays the document, but only displays the document if it has been modified within the last </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pic>
        <p:nvPicPr>
          <p:cNvPr id="8602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77988" y="2971800"/>
            <a:ext cx="86614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1677988" y="6350"/>
            <a:ext cx="8540750" cy="685800"/>
          </a:xfrm>
        </p:spPr>
        <p:txBody>
          <a:bodyPr/>
          <a:lstStyle/>
          <a:p>
            <a:pPr algn="l"/>
            <a:r>
              <a:rPr lang="en-GB" altLang="zh-CN" sz="3200"/>
              <a:t>ifModifiedSince </a:t>
            </a:r>
            <a:r>
              <a:rPr lang="en-GB" altLang="en-US" sz="3200"/>
              <a:t>Application Example</a:t>
            </a:r>
            <a:endParaRPr lang="en-GB" altLang="en-US" sz="3200"/>
          </a:p>
        </p:txBody>
      </p:sp>
      <p:pic>
        <p:nvPicPr>
          <p:cNvPr id="8704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58926" y="-26988"/>
            <a:ext cx="9109075" cy="624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1609725" y="34925"/>
            <a:ext cx="8540750" cy="685800"/>
          </a:xfrm>
        </p:spPr>
        <p:txBody>
          <a:bodyPr/>
          <a:lstStyle/>
          <a:p>
            <a:pPr algn="l"/>
            <a:r>
              <a:rPr lang="en-GB" altLang="zh-CN" sz="3200"/>
              <a:t>Protected boolean useCaches</a:t>
            </a:r>
            <a:endParaRPr lang="zh-CN" altLang="en-US" sz="3200"/>
          </a:p>
        </p:txBody>
      </p:sp>
      <p:sp>
        <p:nvSpPr>
          <p:cNvPr id="88067" name="内容占位符 2"/>
          <p:cNvSpPr>
            <a:spLocks noGrp="1"/>
          </p:cNvSpPr>
          <p:nvPr>
            <p:ph idx="1"/>
          </p:nvPr>
        </p:nvSpPr>
        <p:spPr>
          <a:xfrm>
            <a:off x="457200" y="785814"/>
            <a:ext cx="10591800" cy="2492373"/>
          </a:xfrm>
        </p:spPr>
        <p:txBody>
          <a:bodyPr/>
          <a:lstStyle/>
          <a:p>
            <a:r>
              <a:rPr lang="en-GB" altLang="en-US" sz="2000" dirty="0">
                <a:latin typeface="Times New Roman" panose="02020603050405020304" pitchFamily="18" charset="0"/>
                <a:cs typeface="Times New Roman" panose="02020603050405020304" pitchFamily="18" charset="0"/>
              </a:rPr>
              <a:t>Some clients (such as </a:t>
            </a:r>
            <a:r>
              <a:rPr lang="en-GB" altLang="zh-CN" sz="2000" dirty="0">
                <a:latin typeface="Times New Roman" panose="02020603050405020304" pitchFamily="18" charset="0"/>
                <a:cs typeface="Times New Roman" panose="02020603050405020304" pitchFamily="18" charset="0"/>
              </a:rPr>
              <a:t>web </a:t>
            </a:r>
            <a:r>
              <a:rPr lang="en-GB" altLang="en-US" sz="2000" dirty="0">
                <a:latin typeface="Times New Roman" panose="02020603050405020304" pitchFamily="18" charset="0"/>
                <a:cs typeface="Times New Roman" panose="02020603050405020304" pitchFamily="18" charset="0"/>
              </a:rPr>
              <a:t>browsers) can retrieve documents from a local cache.</a:t>
            </a:r>
            <a:endParaRPr lang="en-US" altLang="zh-CN" sz="20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Applets </a:t>
            </a:r>
            <a:r>
              <a:rPr lang="en-GB" altLang="en-US" sz="2000" dirty="0">
                <a:latin typeface="Times New Roman" panose="02020603050405020304" pitchFamily="18" charset="0"/>
                <a:cs typeface="Times New Roman" panose="02020603050405020304" pitchFamily="18" charset="0"/>
              </a:rPr>
              <a:t>can access the browser's cache.</a:t>
            </a:r>
            <a:endParaRPr lang="en-US" altLang="zh-CN"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Standalone applications can use </a:t>
            </a:r>
            <a:r>
              <a:rPr lang="en-GB" altLang="zh-CN" sz="2000" dirty="0" err="1">
                <a:latin typeface="Times New Roman" panose="02020603050405020304" pitchFamily="18" charset="0"/>
                <a:cs typeface="Times New Roman" panose="02020603050405020304" pitchFamily="18" charset="0"/>
              </a:rPr>
              <a:t>the java.net.ResponseCache </a:t>
            </a:r>
            <a:r>
              <a:rPr lang="en-GB" altLang="en-US" sz="2000" dirty="0">
                <a:latin typeface="Times New Roman" panose="02020603050405020304" pitchFamily="18" charset="0"/>
                <a:cs typeface="Times New Roman" panose="02020603050405020304" pitchFamily="18" charset="0"/>
              </a:rPr>
              <a:t>class</a:t>
            </a:r>
            <a:endParaRPr lang="en-US" altLang="zh-CN"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If there is a cache, the </a:t>
            </a:r>
            <a:r>
              <a:rPr lang="en-GB" altLang="zh-CN" sz="2000" dirty="0" err="1">
                <a:latin typeface="Times New Roman" panose="02020603050405020304" pitchFamily="18" charset="0"/>
                <a:cs typeface="Times New Roman" panose="02020603050405020304" pitchFamily="18" charset="0"/>
              </a:rPr>
              <a:t>useCaches </a:t>
            </a:r>
            <a:r>
              <a:rPr lang="en-GB" altLang="en-US" sz="2000" dirty="0">
                <a:latin typeface="Times New Roman" panose="02020603050405020304" pitchFamily="18" charset="0"/>
                <a:cs typeface="Times New Roman" panose="02020603050405020304" pitchFamily="18" charset="0"/>
              </a:rPr>
              <a:t>variable determines whether the cache can be used.</a:t>
            </a:r>
            <a:endParaRPr lang="en-US" altLang="zh-CN" sz="2000" dirty="0">
              <a:latin typeface="Times New Roman" panose="02020603050405020304" pitchFamily="18" charset="0"/>
              <a:cs typeface="Times New Roman" panose="02020603050405020304" pitchFamily="18" charset="0"/>
            </a:endParaRPr>
          </a:p>
          <a:p>
            <a:r>
              <a:rPr lang="en-GB" altLang="zh-CN" sz="2000" dirty="0" err="1">
                <a:latin typeface="Times New Roman" panose="02020603050405020304" pitchFamily="18" charset="0"/>
                <a:cs typeface="Times New Roman" panose="02020603050405020304" pitchFamily="18" charset="0"/>
              </a:rPr>
              <a:t>useCahces </a:t>
            </a:r>
            <a:r>
              <a:rPr lang="en-GB" altLang="en-US" sz="2000" dirty="0">
                <a:latin typeface="Times New Roman" panose="02020603050405020304" pitchFamily="18" charset="0"/>
                <a:cs typeface="Times New Roman" panose="02020603050405020304" pitchFamily="18" charset="0"/>
              </a:rPr>
              <a:t>variable is </a:t>
            </a:r>
            <a:r>
              <a:rPr lang="en-GB" altLang="zh-CN" sz="2000" dirty="0">
                <a:latin typeface="Times New Roman" panose="02020603050405020304" pitchFamily="18" charset="0"/>
                <a:cs typeface="Times New Roman" panose="02020603050405020304" pitchFamily="18" charset="0"/>
              </a:rPr>
              <a:t>true </a:t>
            </a:r>
            <a:r>
              <a:rPr lang="en-GB" altLang="en-US" sz="2000" dirty="0">
                <a:latin typeface="Times New Roman" panose="02020603050405020304" pitchFamily="18" charset="0"/>
                <a:cs typeface="Times New Roman" panose="02020603050405020304" pitchFamily="18" charset="0"/>
              </a:rPr>
              <a:t>to indicate that the cache will be used, </a:t>
            </a:r>
            <a:r>
              <a:rPr lang="en-GB" altLang="zh-CN" sz="2000" dirty="0">
                <a:latin typeface="Times New Roman" panose="02020603050405020304" pitchFamily="18" charset="0"/>
                <a:cs typeface="Times New Roman" panose="02020603050405020304" pitchFamily="18" charset="0"/>
              </a:rPr>
              <a:t>false </a:t>
            </a:r>
            <a:r>
              <a:rPr lang="en-GB" altLang="en-US" sz="2000" dirty="0">
                <a:latin typeface="Times New Roman" panose="02020603050405020304" pitchFamily="18" charset="0"/>
                <a:cs typeface="Times New Roman" panose="02020603050405020304" pitchFamily="18" charset="0"/>
              </a:rPr>
              <a:t>to indicate that the cache will not be used. The default value is </a:t>
            </a:r>
            <a:r>
              <a:rPr lang="en-GB" altLang="zh-CN" sz="2000" dirty="0">
                <a:latin typeface="Times New Roman" panose="02020603050405020304" pitchFamily="18" charset="0"/>
                <a:cs typeface="Times New Roman" panose="02020603050405020304" pitchFamily="18" charset="0"/>
              </a:rPr>
              <a:t>true</a:t>
            </a:r>
            <a:endParaRPr lang="en-GB" altLang="zh-CN" sz="20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get </a:t>
            </a:r>
            <a:r>
              <a:rPr lang="en-GB" altLang="en-US" sz="2000" dirty="0">
                <a:latin typeface="Times New Roman" panose="02020603050405020304" pitchFamily="18" charset="0"/>
                <a:cs typeface="Times New Roman" panose="02020603050405020304" pitchFamily="18" charset="0"/>
              </a:rPr>
              <a:t>and </a:t>
            </a:r>
            <a:r>
              <a:rPr lang="en-GB" altLang="zh-CN" sz="2000" dirty="0">
                <a:latin typeface="Times New Roman" panose="02020603050405020304" pitchFamily="18" charset="0"/>
                <a:cs typeface="Times New Roman" panose="02020603050405020304" pitchFamily="18" charset="0"/>
              </a:rPr>
              <a:t>set methods </a:t>
            </a:r>
            <a:r>
              <a:rPr lang="en-GB" altLang="en-US" sz="2000" dirty="0">
                <a:latin typeface="Times New Roman" panose="02020603050405020304" pitchFamily="18" charset="0"/>
                <a:cs typeface="Times New Roman" panose="02020603050405020304" pitchFamily="18" charset="0"/>
              </a:rPr>
              <a:t>corresponding to the variable to access this variable.</a:t>
            </a:r>
            <a:endParaRPr lang="en-US" altLang="zh-CN" sz="2000" dirty="0">
              <a:latin typeface="Times New Roman" panose="02020603050405020304" pitchFamily="18" charset="0"/>
              <a:cs typeface="Times New Roman" panose="02020603050405020304" pitchFamily="18" charset="0"/>
            </a:endParaRPr>
          </a:p>
        </p:txBody>
      </p:sp>
      <p:sp>
        <p:nvSpPr>
          <p:cNvPr id="88068" name="矩形 4"/>
          <p:cNvSpPr>
            <a:spLocks noChangeArrowheads="1"/>
          </p:cNvSpPr>
          <p:nvPr/>
        </p:nvSpPr>
        <p:spPr bwMode="auto">
          <a:xfrm>
            <a:off x="762000" y="3533746"/>
            <a:ext cx="108204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000000"/>
                </a:solidFill>
                <a:latin typeface="Times New Roman" panose="02020603050405020304" pitchFamily="18" charset="0"/>
                <a:cs typeface="Times New Roman" panose="02020603050405020304" pitchFamily="18" charset="0"/>
              </a:rPr>
              <a:t>Disable caching in your application to ensure that you always get the latest version of the document. This can be done by setting </a:t>
            </a:r>
            <a:r>
              <a:rPr lang="en-GB" altLang="zh-CN" sz="2000" dirty="0" err="1">
                <a:solidFill>
                  <a:srgbClr val="000000"/>
                </a:solidFill>
                <a:latin typeface="Times New Roman" panose="02020603050405020304" pitchFamily="18" charset="0"/>
                <a:cs typeface="Times New Roman" panose="02020603050405020304" pitchFamily="18" charset="0"/>
              </a:rPr>
              <a:t>useCaches to </a:t>
            </a:r>
            <a:r>
              <a:rPr lang="en-GB" altLang="zh-CN" sz="2000" dirty="0">
                <a:solidFill>
                  <a:srgbClr val="000000"/>
                </a:solidFill>
                <a:latin typeface="Times New Roman" panose="02020603050405020304" pitchFamily="18" charset="0"/>
                <a:cs typeface="Times New Roman" panose="02020603050405020304" pitchFamily="18" charset="0"/>
              </a:rPr>
              <a:t>false </a:t>
            </a:r>
            <a:r>
              <a:rPr lang="en-GB" altLang="en-US" sz="2000" dirty="0">
                <a:solidFill>
                  <a:srgbClr val="000000"/>
                </a:solidFill>
                <a:latin typeface="Times New Roman" panose="02020603050405020304" pitchFamily="18" charset="0"/>
                <a:cs typeface="Times New Roman" panose="02020603050405020304" pitchFamily="18" charset="0"/>
              </a:rPr>
              <a:t>:</a:t>
            </a: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Try{</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            </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}catch( </a:t>
            </a:r>
            <a:r>
              <a:rPr lang="en-GB" altLang="zh-CN" sz="2000" dirty="0" err="1">
                <a:solidFill>
                  <a:srgbClr val="000000"/>
                </a:solidFill>
                <a:latin typeface="Times New Roman" panose="02020603050405020304" pitchFamily="18" charset="0"/>
                <a:cs typeface="Times New Roman" panose="02020603050405020304" pitchFamily="18" charset="0"/>
              </a:rPr>
              <a:t>IOException </a:t>
            </a:r>
            <a:r>
              <a:rPr lang="en-GB" altLang="zh-CN" sz="2000" dirty="0">
                <a:solidFill>
                  <a:srgbClr val="000000"/>
                </a:solidFill>
                <a:latin typeface="Times New Roman" panose="02020603050405020304" pitchFamily="18" charset="0"/>
                <a:cs typeface="Times New Roman" panose="02020603050405020304" pitchFamily="18" charset="0"/>
              </a:rPr>
              <a:t>ex){</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 </a:t>
            </a:r>
            <a:r>
              <a:rPr lang="en-GB" altLang="zh-CN" sz="2000" dirty="0" err="1">
                <a:solidFill>
                  <a:srgbClr val="000000"/>
                </a:solidFill>
                <a:latin typeface="Times New Roman" panose="02020603050405020304" pitchFamily="18" charset="0"/>
                <a:cs typeface="Times New Roman" panose="02020603050405020304" pitchFamily="18" charset="0"/>
              </a:rPr>
              <a:t>System.err.println </a:t>
            </a:r>
            <a:r>
              <a:rPr lang="en-GB" altLang="zh-CN" sz="2000" dirty="0">
                <a:solidFill>
                  <a:srgbClr val="000000"/>
                </a:solidFill>
                <a:latin typeface="Times New Roman" panose="02020603050405020304" pitchFamily="18" charset="0"/>
                <a:cs typeface="Times New Roman" panose="02020603050405020304" pitchFamily="18" charset="0"/>
              </a:rPr>
              <a:t>(ex);</a:t>
            </a:r>
            <a:endParaRPr lang="en-GB" altLang="zh-CN" sz="20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000000"/>
                </a:solidFill>
                <a:latin typeface="Times New Roman" panose="02020603050405020304" pitchFamily="18" charset="0"/>
                <a:cs typeface="Times New Roman" panose="02020603050405020304" pitchFamily="18" charset="0"/>
              </a:rPr>
              <a:t>}</a:t>
            </a:r>
            <a:endParaRPr lang="en-GB" altLang="zh-CN" sz="2000" dirty="0">
              <a:solidFill>
                <a:srgbClr val="000000"/>
              </a:solidFill>
              <a:latin typeface="Times New Roman" panose="02020603050405020304" pitchFamily="18" charset="0"/>
              <a:cs typeface="Times New Roman" panose="02020603050405020304" pitchFamily="18" charset="0"/>
            </a:endParaRPr>
          </a:p>
        </p:txBody>
      </p:sp>
      <p:sp>
        <p:nvSpPr>
          <p:cNvPr id="5" name="矩形 4"/>
          <p:cNvSpPr>
            <a:spLocks noChangeArrowheads="1"/>
          </p:cNvSpPr>
          <p:nvPr/>
        </p:nvSpPr>
        <p:spPr bwMode="auto">
          <a:xfrm>
            <a:off x="2362200" y="5048194"/>
            <a:ext cx="3276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uc.setUseCatches(false);</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 </a:t>
            </a:r>
            <a:r>
              <a:rPr lang="en-GB" altLang="en-US" sz="2000" dirty="0">
                <a:solidFill>
                  <a:schemeClr val="tx2"/>
                </a:solidFill>
                <a:latin typeface="Times New Roman" panose="02020603050405020304" pitchFamily="18" charset="0"/>
                <a:cs typeface="Times New Roman" panose="02020603050405020304" pitchFamily="18" charset="0"/>
              </a:rPr>
              <a:t>Read the document </a:t>
            </a:r>
            <a:r>
              <a:rPr lang="en-GB" altLang="zh-CN" sz="2000" dirty="0">
                <a:solidFill>
                  <a:schemeClr val="tx2"/>
                </a:solidFill>
                <a:latin typeface="Times New Roman" panose="02020603050405020304" pitchFamily="18" charset="0"/>
                <a:cs typeface="Times New Roman" panose="02020603050405020304" pitchFamily="18" charset="0"/>
              </a:rPr>
              <a:t>...</a:t>
            </a:r>
            <a:endParaRPr lang="en-GB" altLang="zh-CN" sz="2000" dirty="0">
              <a:solidFill>
                <a:schemeClr val="tx2"/>
              </a:solidFill>
              <a:latin typeface="Times New Roman" panose="02020603050405020304" pitchFamily="18" charset="0"/>
              <a:cs typeface="Times New Roman" panose="02020603050405020304" pitchFamily="18" charset="0"/>
            </a:endParaRPr>
          </a:p>
        </p:txBody>
      </p:sp>
      <p:sp>
        <p:nvSpPr>
          <p:cNvPr id="6" name="矩形 5"/>
          <p:cNvSpPr>
            <a:spLocks noChangeArrowheads="1"/>
          </p:cNvSpPr>
          <p:nvPr/>
        </p:nvSpPr>
        <p:spPr bwMode="auto">
          <a:xfrm>
            <a:off x="2286000" y="4346518"/>
            <a:ext cx="548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URL u = new URL("http://www.soucebot.com/");</a:t>
            </a:r>
            <a:endParaRPr lang="en-GB" altLang="zh-CN" sz="2000" dirty="0">
              <a:solidFill>
                <a:schemeClr val="tx2"/>
              </a:solidFill>
              <a:latin typeface="Times New Roman" panose="02020603050405020304" pitchFamily="18" charset="0"/>
              <a:cs typeface="Times New Roman" panose="02020603050405020304" pitchFamily="18" charset="0"/>
            </a:endParaRPr>
          </a:p>
        </p:txBody>
      </p:sp>
      <p:sp>
        <p:nvSpPr>
          <p:cNvPr id="7" name="矩形 6"/>
          <p:cNvSpPr>
            <a:spLocks noChangeArrowheads="1"/>
          </p:cNvSpPr>
          <p:nvPr/>
        </p:nvSpPr>
        <p:spPr bwMode="auto">
          <a:xfrm>
            <a:off x="2286000" y="4764089"/>
            <a:ext cx="5029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URLConnection uc = u.openConnection();</a:t>
            </a:r>
            <a:endParaRPr lang="en-GB" altLang="zh-CN" sz="2000"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xfrm>
            <a:off x="685800" y="236536"/>
            <a:ext cx="9906000" cy="685800"/>
          </a:xfrm>
        </p:spPr>
        <p:txBody>
          <a:bodyPr/>
          <a:lstStyle/>
          <a:p>
            <a:pPr algn="l"/>
            <a:r>
              <a:rPr lang="en-GB" altLang="en-US" sz="3200" dirty="0"/>
              <a:t>Configure </a:t>
            </a:r>
            <a:r>
              <a:rPr lang="en-GB" altLang="zh-CN" sz="3200" dirty="0"/>
              <a:t>HTTP </a:t>
            </a:r>
            <a:r>
              <a:rPr lang="en-GB" altLang="en-US" sz="3200" dirty="0"/>
              <a:t>client request header information</a:t>
            </a:r>
            <a:endParaRPr lang="en-GB" altLang="en-US" sz="3200" dirty="0"/>
          </a:p>
        </p:txBody>
      </p:sp>
      <p:sp>
        <p:nvSpPr>
          <p:cNvPr id="89091" name="内容占位符 2"/>
          <p:cNvSpPr>
            <a:spLocks noGrp="1"/>
          </p:cNvSpPr>
          <p:nvPr>
            <p:ph idx="1"/>
          </p:nvPr>
        </p:nvSpPr>
        <p:spPr>
          <a:xfrm>
            <a:off x="228600" y="1143001"/>
            <a:ext cx="11658600" cy="5135563"/>
          </a:xfrm>
        </p:spPr>
        <p:txBody>
          <a:bodyPr/>
          <a:lstStyle/>
          <a:p>
            <a:r>
              <a:rPr lang="en-GB" altLang="zh-CN" sz="2400" dirty="0">
                <a:latin typeface="Times New Roman" panose="02020603050405020304" pitchFamily="18" charset="0"/>
                <a:cs typeface="Times New Roman" panose="02020603050405020304" pitchFamily="18" charset="0"/>
              </a:rPr>
              <a:t>HTTP </a:t>
            </a:r>
            <a:r>
              <a:rPr lang="en-GB" altLang="en-US" sz="2400" dirty="0">
                <a:latin typeface="Times New Roman" panose="02020603050405020304" pitchFamily="18" charset="0"/>
                <a:cs typeface="Times New Roman" panose="02020603050405020304" pitchFamily="18" charset="0"/>
              </a:rPr>
              <a:t>client sends a request line and a header to the server. </a:t>
            </a:r>
            <a:r>
              <a:rPr lang="en-GB" altLang="zh-CN" sz="2400" dirty="0">
                <a:latin typeface="Times New Roman" panose="02020603050405020304" pitchFamily="18" charset="0"/>
                <a:cs typeface="Times New Roman" panose="02020603050405020304" pitchFamily="18" charset="0"/>
              </a:rPr>
              <a:t>The Web </a:t>
            </a:r>
            <a:r>
              <a:rPr lang="en-GB" altLang="en-US" sz="2400" dirty="0">
                <a:latin typeface="Times New Roman" panose="02020603050405020304" pitchFamily="18" charset="0"/>
                <a:cs typeface="Times New Roman" panose="02020603050405020304" pitchFamily="18" charset="0"/>
              </a:rPr>
              <a:t>server provides different pages to different clients based on this information.</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Control the request format and response format by setting fields in the client request header and the server response header.</a:t>
            </a:r>
            <a:endParaRPr lang="en-US" altLang="zh-CN" sz="2400" dirty="0">
              <a:latin typeface="Times New Roman" panose="02020603050405020304" pitchFamily="18" charset="0"/>
              <a:cs typeface="Times New Roman" panose="02020603050405020304" pitchFamily="18" charset="0"/>
            </a:endParaRPr>
          </a:p>
          <a:p>
            <a:r>
              <a:rPr lang="en-GB" altLang="en-US" sz="2800" dirty="0">
                <a:latin typeface="Times New Roman" panose="02020603050405020304" pitchFamily="18" charset="0"/>
                <a:cs typeface="Times New Roman" panose="02020603050405020304" pitchFamily="18" charset="0"/>
              </a:rPr>
              <a:t>Fields </a:t>
            </a:r>
            <a:endParaRPr lang="en-US" altLang="zh-CN" sz="2800" dirty="0">
              <a:latin typeface="Times New Roman" panose="02020603050405020304" pitchFamily="18" charset="0"/>
              <a:cs typeface="Times New Roman" panose="02020603050405020304" pitchFamily="18" charset="0"/>
            </a:endParaRPr>
          </a:p>
          <a:p>
            <a:r>
              <a:rPr lang="en-GB" altLang="en-US" sz="2800" dirty="0">
                <a:latin typeface="Times New Roman" panose="02020603050405020304" pitchFamily="18" charset="0"/>
                <a:cs typeface="Times New Roman" panose="02020603050405020304" pitchFamily="18" charset="0"/>
              </a:rPr>
              <a:t>Only applicable to </a:t>
            </a:r>
            <a:r>
              <a:rPr lang="en-GB" altLang="zh-CN" sz="2800" dirty="0">
                <a:latin typeface="Times New Roman" panose="02020603050405020304" pitchFamily="18" charset="0"/>
                <a:cs typeface="Times New Roman" panose="02020603050405020304" pitchFamily="18" charset="0"/>
              </a:rPr>
              <a:t>HTTP </a:t>
            </a:r>
            <a:r>
              <a:rPr lang="en-GB" altLang="en-US" sz="2800" dirty="0">
                <a:latin typeface="Times New Roman" panose="02020603050405020304" pitchFamily="18" charset="0"/>
                <a:cs typeface="Times New Roman" panose="02020603050405020304" pitchFamily="18" charset="0"/>
              </a:rPr>
              <a:t>protocol, setting method:</a:t>
            </a:r>
            <a:endParaRPr lang="en-US" altLang="zh-CN" sz="28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rPr>
              <a:t>public void </a:t>
            </a:r>
            <a:r>
              <a:rPr lang="en-GB" altLang="zh-CN" sz="2400" dirty="0" err="1">
                <a:latin typeface="Times New Roman" panose="02020603050405020304" pitchFamily="18" charset="0"/>
                <a:cs typeface="Times New Roman" panose="02020603050405020304" pitchFamily="18" charset="0"/>
              </a:rPr>
              <a:t>setRequestProperty </a:t>
            </a:r>
            <a:r>
              <a:rPr lang="en-GB" altLang="zh-CN" sz="2400" dirty="0">
                <a:latin typeface="Times New Roman" panose="02020603050405020304" pitchFamily="18" charset="0"/>
                <a:cs typeface="Times New Roman" panose="02020603050405020304" pitchFamily="18" charset="0"/>
              </a:rPr>
              <a:t>(String name, String value)</a:t>
            </a:r>
            <a:endParaRPr lang="en-GB" altLang="zh-CN" sz="24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rPr>
              <a:t>public void </a:t>
            </a:r>
            <a:r>
              <a:rPr lang="en-GB" altLang="zh-CN" sz="2400" dirty="0" err="1">
                <a:latin typeface="Times New Roman" panose="02020603050405020304" pitchFamily="18" charset="0"/>
                <a:cs typeface="Times New Roman" panose="02020603050405020304" pitchFamily="18" charset="0"/>
              </a:rPr>
              <a:t>addRequestProperty </a:t>
            </a:r>
            <a:r>
              <a:rPr lang="en-GB" altLang="zh-CN" sz="2400" dirty="0">
                <a:latin typeface="Times New Roman" panose="02020603050405020304" pitchFamily="18" charset="0"/>
                <a:cs typeface="Times New Roman" panose="02020603050405020304" pitchFamily="18" charset="0"/>
              </a:rPr>
              <a:t>(String name, String value)</a:t>
            </a:r>
            <a:endParaRPr lang="en-GB" altLang="zh-CN" sz="2400" dirty="0">
              <a:latin typeface="Times New Roman" panose="02020603050405020304" pitchFamily="18" charset="0"/>
              <a:cs typeface="Times New Roman" panose="02020603050405020304" pitchFamily="18" charset="0"/>
            </a:endParaRPr>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a:xfrm>
            <a:off x="762000" y="228600"/>
            <a:ext cx="9604375" cy="685800"/>
          </a:xfrm>
        </p:spPr>
        <p:txBody>
          <a:bodyPr/>
          <a:lstStyle/>
          <a:p>
            <a:pPr algn="l"/>
            <a:r>
              <a:rPr lang="en-GB" altLang="en-US" sz="3200" dirty="0"/>
              <a:t>Configure </a:t>
            </a:r>
            <a:r>
              <a:rPr lang="en-GB" altLang="zh-CN" sz="3200" dirty="0"/>
              <a:t>HTTP </a:t>
            </a:r>
            <a:r>
              <a:rPr lang="en-GB" altLang="en-US" sz="3200" dirty="0"/>
              <a:t>client request header information</a:t>
            </a:r>
            <a:endParaRPr lang="en-GB" altLang="en-US" sz="3200" dirty="0"/>
          </a:p>
        </p:txBody>
      </p:sp>
      <p:sp>
        <p:nvSpPr>
          <p:cNvPr id="90115" name="内容占位符 2"/>
          <p:cNvSpPr>
            <a:spLocks noGrp="1"/>
          </p:cNvSpPr>
          <p:nvPr>
            <p:ph idx="1"/>
          </p:nvPr>
        </p:nvSpPr>
        <p:spPr>
          <a:xfrm>
            <a:off x="228600" y="1046164"/>
            <a:ext cx="11582400" cy="1728787"/>
          </a:xfrm>
        </p:spPr>
        <p:txBody>
          <a:bodyPr/>
          <a:lstStyle/>
          <a:p>
            <a:r>
              <a:rPr lang="en-GB" altLang="zh-CN" sz="2400" dirty="0">
                <a:latin typeface="Times New Roman" panose="02020603050405020304" pitchFamily="18" charset="0"/>
                <a:cs typeface="Times New Roman" panose="02020603050405020304" pitchFamily="18" charset="0"/>
              </a:rPr>
              <a:t>A cookie </a:t>
            </a:r>
            <a:r>
              <a:rPr lang="en-GB" altLang="en-US" sz="2400" dirty="0">
                <a:latin typeface="Times New Roman" panose="02020603050405020304" pitchFamily="18" charset="0"/>
                <a:cs typeface="Times New Roman" panose="02020603050405020304" pitchFamily="18" charset="0"/>
              </a:rPr>
              <a:t>is a collection of name </a:t>
            </a:r>
            <a:r>
              <a:rPr lang="en-GB" altLang="zh-CN" sz="2400" dirty="0">
                <a:latin typeface="Times New Roman" panose="02020603050405020304" pitchFamily="18" charset="0"/>
                <a:cs typeface="Times New Roman" panose="02020603050405020304" pitchFamily="18" charset="0"/>
              </a:rPr>
              <a:t>- </a:t>
            </a:r>
            <a:r>
              <a:rPr lang="en-GB" altLang="en-US" sz="2400" dirty="0">
                <a:latin typeface="Times New Roman" panose="02020603050405020304" pitchFamily="18" charset="0"/>
                <a:cs typeface="Times New Roman" panose="02020603050405020304" pitchFamily="18" charset="0"/>
              </a:rPr>
              <a:t>value pairs. </a:t>
            </a:r>
            <a:r>
              <a:rPr lang="en-GB" altLang="zh-CN" sz="2400" dirty="0">
                <a:latin typeface="Times New Roman" panose="02020603050405020304" pitchFamily="18" charset="0"/>
                <a:cs typeface="Times New Roman" panose="02020603050405020304" pitchFamily="18" charset="0"/>
              </a:rPr>
              <a:t>Cookies are used between HTTP </a:t>
            </a:r>
            <a:r>
              <a:rPr lang="en-GB" altLang="en-US" sz="2400" dirty="0">
                <a:latin typeface="Times New Roman" panose="02020603050405020304" pitchFamily="18" charset="0"/>
                <a:cs typeface="Times New Roman" panose="02020603050405020304" pitchFamily="18" charset="0"/>
              </a:rPr>
              <a:t>clients and servers to store some limited persistent information. The server sends a </a:t>
            </a:r>
            <a:r>
              <a:rPr lang="en-GB" altLang="zh-CN" sz="2400" dirty="0">
                <a:latin typeface="Times New Roman" panose="02020603050405020304" pitchFamily="18" charset="0"/>
                <a:cs typeface="Times New Roman" panose="02020603050405020304" pitchFamily="18" charset="0"/>
              </a:rPr>
              <a:t>cookie </a:t>
            </a:r>
            <a:r>
              <a:rPr lang="en-GB" altLang="en-US" sz="2400" dirty="0">
                <a:latin typeface="Times New Roman" panose="02020603050405020304" pitchFamily="18" charset="0"/>
                <a:cs typeface="Times New Roman" panose="02020603050405020304" pitchFamily="18" charset="0"/>
              </a:rPr>
              <a:t>to the client using the </a:t>
            </a:r>
            <a:r>
              <a:rPr lang="en-GB" altLang="zh-CN" sz="2400" dirty="0">
                <a:latin typeface="Times New Roman" panose="02020603050405020304" pitchFamily="18" charset="0"/>
                <a:cs typeface="Times New Roman" panose="02020603050405020304" pitchFamily="18" charset="0"/>
              </a:rPr>
              <a:t>HTTP response header </a:t>
            </a:r>
            <a:r>
              <a:rPr lang="en-GB" altLang="en-US" sz="2400" dirty="0">
                <a:latin typeface="Times New Roman" panose="02020603050405020304" pitchFamily="18" charset="0"/>
                <a:cs typeface="Times New Roman" panose="02020603050405020304" pitchFamily="18" charset="0"/>
              </a:rPr>
              <a:t>. After that, when the client requests </a:t>
            </a:r>
            <a:r>
              <a:rPr lang="en-GB" altLang="zh-CN" sz="2400" dirty="0">
                <a:latin typeface="Times New Roman" panose="02020603050405020304" pitchFamily="18" charset="0"/>
                <a:cs typeface="Times New Roman" panose="02020603050405020304" pitchFamily="18" charset="0"/>
              </a:rPr>
              <a:t>the URL of this server, the </a:t>
            </a:r>
            <a:r>
              <a:rPr lang="en-GB" altLang="zh-CN" sz="2400" u="sng" dirty="0">
                <a:latin typeface="Times New Roman" panose="02020603050405020304" pitchFamily="18" charset="0"/>
                <a:cs typeface="Times New Roman" panose="02020603050405020304" pitchFamily="18" charset="0"/>
              </a:rPr>
              <a:t>cookie </a:t>
            </a:r>
            <a:r>
              <a:rPr lang="en-GB" altLang="en-US" sz="2400" u="sng" dirty="0">
                <a:latin typeface="Times New Roman" panose="02020603050405020304" pitchFamily="18" charset="0"/>
                <a:cs typeface="Times New Roman" panose="02020603050405020304" pitchFamily="18" charset="0"/>
              </a:rPr>
              <a:t>field </a:t>
            </a:r>
            <a:r>
              <a:rPr lang="en-GB" altLang="en-US" sz="2400" dirty="0">
                <a:latin typeface="Times New Roman" panose="02020603050405020304" pitchFamily="18" charset="0"/>
                <a:cs typeface="Times New Roman" panose="02020603050405020304" pitchFamily="18" charset="0"/>
              </a:rPr>
              <a:t>will be </a:t>
            </a:r>
            <a:r>
              <a:rPr lang="en-GB" altLang="en-US" sz="2400" u="sng" dirty="0">
                <a:latin typeface="Times New Roman" panose="02020603050405020304" pitchFamily="18" charset="0"/>
                <a:cs typeface="Times New Roman" panose="02020603050405020304" pitchFamily="18" charset="0"/>
              </a:rPr>
              <a:t>included in </a:t>
            </a:r>
            <a:r>
              <a:rPr lang="en-GB" altLang="zh-CN" sz="2400" dirty="0">
                <a:latin typeface="Times New Roman" panose="02020603050405020304" pitchFamily="18" charset="0"/>
                <a:cs typeface="Times New Roman" panose="02020603050405020304" pitchFamily="18" charset="0"/>
              </a:rPr>
              <a:t>the HTTP </a:t>
            </a:r>
            <a:r>
              <a:rPr lang="en-GB" altLang="en-US" sz="2400" dirty="0">
                <a:latin typeface="Times New Roman" panose="02020603050405020304" pitchFamily="18" charset="0"/>
                <a:cs typeface="Times New Roman" panose="02020603050405020304" pitchFamily="18" charset="0"/>
              </a:rPr>
              <a:t>request header :</a:t>
            </a:r>
            <a:endParaRPr lang="en-US" altLang="zh-CN" sz="2400" dirty="0">
              <a:latin typeface="Times New Roman" panose="02020603050405020304" pitchFamily="18" charset="0"/>
              <a:cs typeface="Times New Roman" panose="02020603050405020304" pitchFamily="18" charset="0"/>
            </a:endParaRPr>
          </a:p>
          <a:p>
            <a:endParaRPr lang="zh-CN" altLang="en-US" dirty="0"/>
          </a:p>
        </p:txBody>
      </p:sp>
      <p:sp>
        <p:nvSpPr>
          <p:cNvPr id="36868" name="矩形 4"/>
          <p:cNvSpPr>
            <a:spLocks noChangeArrowheads="1"/>
          </p:cNvSpPr>
          <p:nvPr/>
        </p:nvSpPr>
        <p:spPr bwMode="auto">
          <a:xfrm>
            <a:off x="1787526" y="4210050"/>
            <a:ext cx="875506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a:solidFill>
                  <a:srgbClr val="000088"/>
                </a:solidFill>
                <a:latin typeface="Times New Roman" panose="02020603050405020304" pitchFamily="18" charset="0"/>
                <a:cs typeface="Times New Roman" panose="02020603050405020304" pitchFamily="18" charset="0"/>
              </a:rPr>
              <a:t>uc </a:t>
            </a:r>
            <a:r>
              <a:rPr lang="en-GB" altLang="zh-CN" sz="2000">
                <a:solidFill>
                  <a:srgbClr val="555555"/>
                </a:solidFill>
                <a:latin typeface="Times New Roman" panose="02020603050405020304" pitchFamily="18" charset="0"/>
                <a:cs typeface="Times New Roman" panose="02020603050405020304" pitchFamily="18" charset="0"/>
              </a:rPr>
              <a:t>. </a:t>
            </a:r>
            <a:r>
              <a:rPr lang="en-GB" altLang="zh-CN" sz="2000">
                <a:solidFill>
                  <a:srgbClr val="330099"/>
                </a:solidFill>
                <a:latin typeface="Times New Roman" panose="02020603050405020304" pitchFamily="18" charset="0"/>
                <a:cs typeface="Times New Roman" panose="02020603050405020304" pitchFamily="18" charset="0"/>
              </a:rPr>
              <a:t>setRequestProperty </a:t>
            </a:r>
            <a:r>
              <a:rPr lang="en-GB" altLang="zh-CN" sz="2000">
                <a:solidFill>
                  <a:srgbClr val="555555"/>
                </a:solidFill>
                <a:latin typeface="Times New Roman" panose="02020603050405020304" pitchFamily="18" charset="0"/>
                <a:cs typeface="Times New Roman" panose="02020603050405020304" pitchFamily="18" charset="0"/>
              </a:rPr>
              <a:t>( </a:t>
            </a:r>
            <a:r>
              <a:rPr lang="en-GB" altLang="zh-CN" sz="2000">
                <a:solidFill>
                  <a:srgbClr val="CC3300"/>
                </a:solidFill>
                <a:latin typeface="Times New Roman" panose="02020603050405020304" pitchFamily="18" charset="0"/>
                <a:cs typeface="Times New Roman" panose="02020603050405020304" pitchFamily="18" charset="0"/>
              </a:rPr>
              <a:t>"Cookie" </a:t>
            </a:r>
            <a:r>
              <a:rPr lang="en-GB"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a:solidFill>
                  <a:srgbClr val="CC3300"/>
                </a:solidFill>
                <a:latin typeface="Times New Roman" panose="02020603050405020304" pitchFamily="18" charset="0"/>
                <a:cs typeface="Times New Roman" panose="02020603050405020304" pitchFamily="18" charset="0"/>
              </a:rPr>
              <a:t>"username=elharo; password=ACD0X9F23JJJn6G; session=100678945" </a:t>
            </a:r>
            <a:r>
              <a:rPr lang="en-GB" altLang="zh-CN" sz="2000">
                <a:solidFill>
                  <a:srgbClr val="555555"/>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p:txBody>
      </p:sp>
      <p:sp>
        <p:nvSpPr>
          <p:cNvPr id="2" name="文本框 1"/>
          <p:cNvSpPr txBox="1">
            <a:spLocks noChangeArrowheads="1"/>
          </p:cNvSpPr>
          <p:nvPr/>
        </p:nvSpPr>
        <p:spPr bwMode="auto">
          <a:xfrm>
            <a:off x="2200276" y="2808289"/>
            <a:ext cx="834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solidFill>
                  <a:schemeClr val="tx2"/>
                </a:solidFill>
              </a:rPr>
              <a:t>Cookie: usename=elharo; password=ACD0X9F23JJJn6G; session=100678945</a:t>
            </a:r>
            <a:endParaRPr lang="zh-CN" altLang="en-US" sz="1800">
              <a:solidFill>
                <a:schemeClr val="tx2"/>
              </a:solidFill>
            </a:endParaRPr>
          </a:p>
        </p:txBody>
      </p:sp>
      <p:sp>
        <p:nvSpPr>
          <p:cNvPr id="3" name="文本框 2"/>
          <p:cNvSpPr txBox="1">
            <a:spLocks noChangeArrowheads="1"/>
          </p:cNvSpPr>
          <p:nvPr/>
        </p:nvSpPr>
        <p:spPr bwMode="auto">
          <a:xfrm>
            <a:off x="2346326" y="3352801"/>
            <a:ext cx="77120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400"/>
              <a:t>Given a </a:t>
            </a:r>
            <a:r>
              <a:rPr lang="en-GB" altLang="zh-CN" sz="2400"/>
              <a:t>URLConnection </a:t>
            </a:r>
            <a:r>
              <a:rPr lang="en-GB" altLang="en-US" sz="2400"/>
              <a:t>object </a:t>
            </a:r>
            <a:r>
              <a:rPr lang="en-GB" altLang="zh-CN" sz="2400"/>
              <a:t>uc, </a:t>
            </a:r>
            <a:r>
              <a:rPr lang="en-GB" altLang="en-US" sz="2400"/>
              <a:t>how do I add this </a:t>
            </a:r>
            <a:r>
              <a:rPr lang="en-GB" altLang="zh-CN" sz="2400"/>
              <a:t>cookie </a:t>
            </a:r>
            <a:r>
              <a:rPr lang="en-GB" altLang="en-US" sz="2400"/>
              <a:t>to the connection?</a:t>
            </a:r>
            <a:endParaRPr lang="en-GB"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6868"/>
                                        </p:tgtEl>
                                        <p:attrNameLst>
                                          <p:attrName>style.visibility</p:attrName>
                                        </p:attrNameLst>
                                      </p:cBhvr>
                                      <p:to>
                                        <p:strVal val="visible"/>
                                      </p:to>
                                    </p:set>
                                    <p:anim calcmode="lin" valueType="num">
                                      <p:cBhvr>
                                        <p:cTn id="18" dur="500" fill="hold"/>
                                        <p:tgtEl>
                                          <p:spTgt spid="36868"/>
                                        </p:tgtEl>
                                        <p:attrNameLst>
                                          <p:attrName>ppt_w</p:attrName>
                                        </p:attrNameLst>
                                      </p:cBhvr>
                                      <p:tavLst>
                                        <p:tav tm="0">
                                          <p:val>
                                            <p:fltVal val="0"/>
                                          </p:val>
                                        </p:tav>
                                        <p:tav tm="100000">
                                          <p:val>
                                            <p:strVal val="#ppt_w"/>
                                          </p:val>
                                        </p:tav>
                                      </p:tavLst>
                                    </p:anim>
                                    <p:anim calcmode="lin" valueType="num">
                                      <p:cBhvr>
                                        <p:cTn id="19" dur="500" fill="hold"/>
                                        <p:tgtEl>
                                          <p:spTgt spid="36868"/>
                                        </p:tgtEl>
                                        <p:attrNameLst>
                                          <p:attrName>ppt_h</p:attrName>
                                        </p:attrNameLst>
                                      </p:cBhvr>
                                      <p:tavLst>
                                        <p:tav tm="0">
                                          <p:val>
                                            <p:fltVal val="0"/>
                                          </p:val>
                                        </p:tav>
                                        <p:tav tm="100000">
                                          <p:val>
                                            <p:strVal val="#ppt_h"/>
                                          </p:val>
                                        </p:tav>
                                      </p:tavLst>
                                    </p:anim>
                                    <p:animEffect transition="in" filter="fade">
                                      <p:cBhvr>
                                        <p:cTn id="20"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2" grpId="0"/>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a:xfrm>
            <a:off x="1825625" y="228600"/>
            <a:ext cx="8540750" cy="762000"/>
          </a:xfrm>
        </p:spPr>
        <p:txBody>
          <a:bodyPr/>
          <a:lstStyle/>
          <a:p>
            <a:pPr algn="l"/>
            <a:r>
              <a:rPr lang="en-GB" altLang="zh-CN" sz="3200" dirty="0"/>
              <a:t>5. </a:t>
            </a:r>
            <a:r>
              <a:rPr lang="en-GB" altLang="en-US" sz="3200" dirty="0"/>
              <a:t>Write data to the server</a:t>
            </a:r>
            <a:endParaRPr lang="en-GB" altLang="en-US" sz="3200" dirty="0"/>
          </a:p>
        </p:txBody>
      </p:sp>
      <p:sp>
        <p:nvSpPr>
          <p:cNvPr id="24579" name="内容占位符 2"/>
          <p:cNvSpPr>
            <a:spLocks noGrp="1"/>
          </p:cNvSpPr>
          <p:nvPr>
            <p:ph idx="1"/>
          </p:nvPr>
        </p:nvSpPr>
        <p:spPr>
          <a:xfrm>
            <a:off x="152400" y="1219201"/>
            <a:ext cx="11887200" cy="4498975"/>
          </a:xfrm>
        </p:spPr>
        <p:txBody>
          <a:bodyPr/>
          <a:lstStyle/>
          <a:p>
            <a:r>
              <a:rPr lang="en-GB" altLang="en-US" sz="2400" dirty="0">
                <a:latin typeface="Times New Roman" panose="02020603050405020304" pitchFamily="18" charset="0"/>
                <a:cs typeface="Times New Roman" panose="02020603050405020304" pitchFamily="18" charset="0"/>
              </a:rPr>
              <a:t>write data to </a:t>
            </a:r>
            <a:r>
              <a:rPr lang="en-GB" altLang="zh-CN" sz="2400" dirty="0" err="1">
                <a:latin typeface="Times New Roman" panose="02020603050405020304" pitchFamily="18" charset="0"/>
                <a:cs typeface="Times New Roman" panose="02020603050405020304" pitchFamily="18" charset="0"/>
              </a:rPr>
              <a:t>URLConnection </a:t>
            </a:r>
            <a:r>
              <a:rPr lang="en-GB" altLang="en-US" sz="2400" dirty="0">
                <a:latin typeface="Times New Roman" panose="02020603050405020304" pitchFamily="18" charset="0"/>
                <a:cs typeface="Times New Roman" panose="02020603050405020304" pitchFamily="18" charset="0"/>
              </a:rPr>
              <a:t>in the client program , for example, use </a:t>
            </a:r>
            <a:r>
              <a:rPr lang="en-GB" altLang="zh-CN" sz="2400" dirty="0">
                <a:latin typeface="Times New Roman" panose="02020603050405020304" pitchFamily="18" charset="0"/>
                <a:cs typeface="Times New Roman" panose="02020603050405020304" pitchFamily="18" charset="0"/>
              </a:rPr>
              <a:t>POST to submit a form </a:t>
            </a:r>
            <a:r>
              <a:rPr lang="en-GB" altLang="en-US" sz="2400" dirty="0">
                <a:latin typeface="Times New Roman" panose="02020603050405020304" pitchFamily="18" charset="0"/>
                <a:cs typeface="Times New Roman" panose="02020603050405020304" pitchFamily="18" charset="0"/>
              </a:rPr>
              <a:t>to a </a:t>
            </a:r>
            <a:r>
              <a:rPr lang="en-GB" altLang="zh-CN" sz="2400" dirty="0">
                <a:latin typeface="Times New Roman" panose="02020603050405020304" pitchFamily="18" charset="0"/>
                <a:cs typeface="Times New Roman" panose="02020603050405020304" pitchFamily="18" charset="0"/>
              </a:rPr>
              <a:t>web </a:t>
            </a:r>
            <a:r>
              <a:rPr lang="en-GB" altLang="en-US" sz="2400" dirty="0">
                <a:latin typeface="Times New Roman" panose="02020603050405020304" pitchFamily="18" charset="0"/>
                <a:cs typeface="Times New Roman" panose="02020603050405020304" pitchFamily="18" charset="0"/>
              </a:rPr>
              <a:t>server, or use </a:t>
            </a:r>
            <a:r>
              <a:rPr lang="en-GB" altLang="zh-CN" sz="2400" dirty="0">
                <a:latin typeface="Times New Roman" panose="02020603050405020304" pitchFamily="18" charset="0"/>
                <a:cs typeface="Times New Roman" panose="02020603050405020304" pitchFamily="18" charset="0"/>
              </a:rPr>
              <a:t>PUT </a:t>
            </a:r>
            <a:r>
              <a:rPr lang="en-GB" altLang="en-US" sz="2400" dirty="0">
                <a:latin typeface="Times New Roman" panose="02020603050405020304" pitchFamily="18" charset="0"/>
                <a:cs typeface="Times New Roman" panose="02020603050405020304" pitchFamily="18" charset="0"/>
              </a:rPr>
              <a:t>to upload a file.</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Then use </a:t>
            </a:r>
            <a:r>
              <a:rPr lang="en-GB" altLang="zh-CN" sz="2400" dirty="0" err="1">
                <a:latin typeface="Times New Roman" panose="02020603050405020304" pitchFamily="18" charset="0"/>
                <a:cs typeface="Times New Roman" panose="02020603050405020304" pitchFamily="18" charset="0"/>
              </a:rPr>
              <a:t>the getOutputStream </a:t>
            </a:r>
            <a:r>
              <a:rPr lang="en-GB" altLang="zh-CN" sz="2400" dirty="0">
                <a:latin typeface="Times New Roman" panose="02020603050405020304" pitchFamily="18" charset="0"/>
                <a:cs typeface="Times New Roman" panose="02020603050405020304" pitchFamily="18" charset="0"/>
              </a:rPr>
              <a:t>() method </a:t>
            </a:r>
            <a:r>
              <a:rPr lang="en-GB" altLang="en-US" sz="2400" dirty="0">
                <a:latin typeface="Times New Roman" panose="02020603050405020304" pitchFamily="18" charset="0"/>
                <a:cs typeface="Times New Roman" panose="02020603050405020304" pitchFamily="18" charset="0"/>
              </a:rPr>
              <a:t>of </a:t>
            </a:r>
            <a:r>
              <a:rPr lang="en-GB" altLang="zh-CN" sz="2400" dirty="0" err="1">
                <a:latin typeface="Times New Roman" panose="02020603050405020304" pitchFamily="18" charset="0"/>
                <a:cs typeface="Times New Roman" panose="02020603050405020304" pitchFamily="18" charset="0"/>
              </a:rPr>
              <a:t>URLConnection </a:t>
            </a:r>
            <a:r>
              <a:rPr lang="en-GB" altLang="en-US" sz="2400" dirty="0">
                <a:latin typeface="Times New Roman" panose="02020603050405020304" pitchFamily="18" charset="0"/>
                <a:cs typeface="Times New Roman" panose="02020603050405020304" pitchFamily="18" charset="0"/>
              </a:rPr>
              <a:t>to return an </a:t>
            </a:r>
            <a:r>
              <a:rPr lang="en-GB" altLang="zh-CN" sz="2400" dirty="0" err="1">
                <a:latin typeface="Times New Roman" panose="02020603050405020304" pitchFamily="18" charset="0"/>
                <a:cs typeface="Times New Roman" panose="02020603050405020304" pitchFamily="18" charset="0"/>
              </a:rPr>
              <a:t>OutputStream </a:t>
            </a:r>
            <a:r>
              <a:rPr lang="en-GB" altLang="en-US" sz="2400" dirty="0">
                <a:latin typeface="Times New Roman" panose="02020603050405020304" pitchFamily="18" charset="0"/>
                <a:cs typeface="Times New Roman" panose="02020603050405020304" pitchFamily="18" charset="0"/>
              </a:rPr>
              <a:t>for writing data to the server.</a:t>
            </a:r>
            <a:endParaRPr lang="en-US" altLang="zh-CN" sz="2400" dirty="0">
              <a:latin typeface="Times New Roman" panose="02020603050405020304" pitchFamily="18" charset="0"/>
              <a:cs typeface="Times New Roman" panose="02020603050405020304" pitchFamily="18" charset="0"/>
            </a:endParaRPr>
          </a:p>
          <a:p>
            <a:r>
              <a:rPr lang="en-GB" altLang="en-US" sz="2400" b="1" dirty="0">
                <a:latin typeface="Times New Roman" panose="02020603050405020304" pitchFamily="18" charset="0"/>
                <a:cs typeface="Times New Roman" panose="02020603050405020304" pitchFamily="18" charset="0"/>
              </a:rPr>
              <a:t>step:</a:t>
            </a:r>
            <a:endParaRPr lang="en-US" altLang="zh-CN" sz="24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200" dirty="0" err="1">
                <a:latin typeface="Times New Roman" panose="02020603050405020304" pitchFamily="18" charset="0"/>
                <a:cs typeface="Times New Roman" panose="02020603050405020304" pitchFamily="18" charset="0"/>
              </a:rPr>
              <a:t>URLConnection</a:t>
            </a:r>
            <a:r>
              <a:rPr lang="en-GB" altLang="zh-CN" sz="2200" dirty="0">
                <a:latin typeface="Times New Roman" panose="02020603050405020304" pitchFamily="18" charset="0"/>
                <a:cs typeface="Times New Roman" panose="02020603050405020304" pitchFamily="18" charset="0"/>
              </a:rPr>
              <a:t> </a:t>
            </a:r>
            <a:r>
              <a:rPr lang="en-GB" altLang="zh-CN" sz="2200" dirty="0" err="1">
                <a:latin typeface="Times New Roman" panose="02020603050405020304" pitchFamily="18" charset="0"/>
                <a:cs typeface="Times New Roman" panose="02020603050405020304" pitchFamily="18" charset="0"/>
              </a:rPr>
              <a:t>uc </a:t>
            </a:r>
            <a:r>
              <a:rPr lang="en-GB" altLang="zh-CN" sz="2200" dirty="0">
                <a:latin typeface="Times New Roman" panose="02020603050405020304" pitchFamily="18" charset="0"/>
                <a:cs typeface="Times New Roman" panose="02020603050405020304" pitchFamily="18" charset="0"/>
              </a:rPr>
              <a:t>= </a:t>
            </a:r>
            <a:r>
              <a:rPr lang="en-GB" altLang="zh-CN" sz="2200" dirty="0" err="1">
                <a:latin typeface="Times New Roman" panose="02020603050405020304" pitchFamily="18" charset="0"/>
                <a:cs typeface="Times New Roman" panose="02020603050405020304" pitchFamily="18" charset="0"/>
              </a:rPr>
              <a:t>u.openConnection </a:t>
            </a:r>
            <a:r>
              <a:rPr lang="en-GB" altLang="zh-CN" sz="2200" dirty="0">
                <a:latin typeface="Times New Roman" panose="02020603050405020304" pitchFamily="18" charset="0"/>
                <a:cs typeface="Times New Roman" panose="02020603050405020304" pitchFamily="18" charset="0"/>
              </a:rPr>
              <a:t>();</a:t>
            </a:r>
            <a:endParaRPr lang="en-GB" altLang="zh-CN" sz="2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200" dirty="0" err="1">
                <a:solidFill>
                  <a:srgbClr val="FF0000"/>
                </a:solidFill>
                <a:latin typeface="Times New Roman" panose="02020603050405020304" pitchFamily="18" charset="0"/>
                <a:cs typeface="Times New Roman" panose="02020603050405020304" pitchFamily="18" charset="0"/>
              </a:rPr>
              <a:t>uc.setDoOutput </a:t>
            </a:r>
            <a:r>
              <a:rPr lang="en-GB" altLang="zh-CN" sz="2200" dirty="0">
                <a:solidFill>
                  <a:srgbClr val="FF0000"/>
                </a:solidFill>
                <a:latin typeface="Times New Roman" panose="02020603050405020304" pitchFamily="18" charset="0"/>
                <a:cs typeface="Times New Roman" panose="02020603050405020304" pitchFamily="18" charset="0"/>
              </a:rPr>
              <a:t>(true); // </a:t>
            </a:r>
            <a:r>
              <a:rPr lang="en-GB" altLang="zh-CN" sz="2000" dirty="0" err="1">
                <a:solidFill>
                  <a:srgbClr val="FF0000"/>
                </a:solidFill>
                <a:latin typeface="Times New Roman" panose="02020603050405020304" pitchFamily="18" charset="0"/>
                <a:cs typeface="Times New Roman" panose="02020603050405020304" pitchFamily="18" charset="0"/>
              </a:rPr>
              <a:t>URLConnection </a:t>
            </a:r>
            <a:r>
              <a:rPr lang="en-GB" altLang="en-US" sz="2000" dirty="0">
                <a:solidFill>
                  <a:srgbClr val="FF0000"/>
                </a:solidFill>
                <a:latin typeface="Times New Roman" panose="02020603050405020304" pitchFamily="18" charset="0"/>
                <a:cs typeface="Times New Roman" panose="02020603050405020304" pitchFamily="18" charset="0"/>
              </a:rPr>
              <a:t>does not allow output by default, set it to allow</a:t>
            </a:r>
            <a:endParaRPr lang="en-US" altLang="zh-CN" sz="2000"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200" dirty="0" err="1">
                <a:latin typeface="Times New Roman" panose="02020603050405020304" pitchFamily="18" charset="0"/>
                <a:cs typeface="Times New Roman" panose="02020603050405020304" pitchFamily="18" charset="0"/>
              </a:rPr>
              <a:t>uc.getOutputStream </a:t>
            </a:r>
            <a:r>
              <a:rPr lang="en-GB" altLang="zh-CN" sz="2200" dirty="0">
                <a:latin typeface="Times New Roman" panose="02020603050405020304" pitchFamily="18" charset="0"/>
                <a:cs typeface="Times New Roman" panose="02020603050405020304" pitchFamily="18" charset="0"/>
              </a:rPr>
              <a:t>();</a:t>
            </a:r>
            <a:endParaRPr lang="en-GB" altLang="zh-CN" sz="22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200" dirty="0">
                <a:latin typeface="Times New Roman" panose="02020603050405020304" pitchFamily="18" charset="0"/>
                <a:cs typeface="Times New Roman" panose="02020603050405020304" pitchFamily="18" charset="0"/>
              </a:rPr>
              <a:t>// </a:t>
            </a:r>
            <a:r>
              <a:rPr lang="en-GB" altLang="en-US" sz="2200" dirty="0">
                <a:latin typeface="Times New Roman" panose="02020603050405020304" pitchFamily="18" charset="0"/>
                <a:cs typeface="Times New Roman" panose="02020603050405020304" pitchFamily="18" charset="0"/>
              </a:rPr>
              <a:t>Start writing </a:t>
            </a:r>
            <a:r>
              <a:rPr lang="en-GB" altLang="zh-CN" sz="2200" dirty="0">
                <a:latin typeface="Times New Roman" panose="02020603050405020304" pitchFamily="18" charset="0"/>
                <a:cs typeface="Times New Roman" panose="02020603050405020304" pitchFamily="18" charset="0"/>
              </a:rPr>
              <a:t>...</a:t>
            </a:r>
            <a:endParaRPr lang="en-GB" altLang="zh-CN" sz="2200" dirty="0">
              <a:latin typeface="Times New Roman" panose="02020603050405020304" pitchFamily="18" charset="0"/>
              <a:cs typeface="Times New Roman" panose="02020603050405020304" pitchFamily="18" charset="0"/>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685800" y="114300"/>
            <a:ext cx="8540750" cy="533400"/>
          </a:xfrm>
        </p:spPr>
        <p:txBody>
          <a:bodyPr/>
          <a:lstStyle/>
          <a:p>
            <a:pPr algn="l"/>
            <a:r>
              <a:rPr lang="en-GB" altLang="en-US" sz="3200" dirty="0"/>
              <a:t>How to write?</a:t>
            </a:r>
            <a:endParaRPr lang="en-GB" altLang="en-US" sz="3200" dirty="0"/>
          </a:p>
        </p:txBody>
      </p:sp>
      <p:sp>
        <p:nvSpPr>
          <p:cNvPr id="92163" name="内容占位符 2"/>
          <p:cNvSpPr>
            <a:spLocks noGrp="1"/>
          </p:cNvSpPr>
          <p:nvPr>
            <p:ph idx="1"/>
          </p:nvPr>
        </p:nvSpPr>
        <p:spPr>
          <a:xfrm>
            <a:off x="381000" y="914400"/>
            <a:ext cx="10972800" cy="5562600"/>
          </a:xfrm>
        </p:spPr>
        <p:txBody>
          <a:bodyPr/>
          <a:lstStyle/>
          <a:p>
            <a:r>
              <a:rPr lang="en-GB" altLang="en-US" sz="2400" dirty="0">
                <a:latin typeface="Times New Roman" panose="02020603050405020304" pitchFamily="18" charset="0"/>
                <a:cs typeface="Times New Roman" panose="02020603050405020304" pitchFamily="18" charset="0"/>
              </a:rPr>
              <a:t>getting </a:t>
            </a:r>
            <a:r>
              <a:rPr lang="en-GB" altLang="zh-CN" sz="2400" dirty="0" err="1">
                <a:latin typeface="Times New Roman" panose="02020603050405020304" pitchFamily="18" charset="0"/>
                <a:cs typeface="Times New Roman" panose="02020603050405020304" pitchFamily="18" charset="0"/>
              </a:rPr>
              <a:t>the OutputStream </a:t>
            </a:r>
            <a:r>
              <a:rPr lang="en-GB" altLang="en-US" sz="2400" dirty="0">
                <a:latin typeface="Times New Roman" panose="02020603050405020304" pitchFamily="18" charset="0"/>
                <a:cs typeface="Times New Roman" panose="02020603050405020304" pitchFamily="18" charset="0"/>
              </a:rPr>
              <a:t>, chain it to a convenient class such as a buffer class.</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Such as buffered classes </a:t>
            </a:r>
            <a:r>
              <a:rPr lang="en-GB" altLang="zh-CN" sz="2400" dirty="0" err="1">
                <a:latin typeface="Times New Roman" panose="02020603050405020304" pitchFamily="18" charset="0"/>
                <a:cs typeface="Times New Roman" panose="02020603050405020304" pitchFamily="18" charset="0"/>
              </a:rPr>
              <a:t>BufferedOutputStream </a:t>
            </a:r>
            <a:r>
              <a:rPr lang="en-GB" altLang="en-US" sz="2400" dirty="0">
                <a:latin typeface="Times New Roman" panose="02020603050405020304" pitchFamily="18" charset="0"/>
                <a:cs typeface="Times New Roman" panose="02020603050405020304" pitchFamily="18" charset="0"/>
              </a:rPr>
              <a:t>or </a:t>
            </a:r>
            <a:r>
              <a:rPr lang="en-GB" altLang="zh-CN" sz="2400" dirty="0" err="1">
                <a:latin typeface="Times New Roman" panose="02020603050405020304" pitchFamily="18" charset="0"/>
                <a:cs typeface="Times New Roman" panose="02020603050405020304" pitchFamily="18" charset="0"/>
              </a:rPr>
              <a:t>BufferedWriter </a:t>
            </a:r>
            <a:r>
              <a:rPr lang="en-GB"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Write class </a:t>
            </a:r>
            <a:r>
              <a:rPr lang="en-GB" altLang="zh-CN" sz="2400" dirty="0" err="1">
                <a:latin typeface="Times New Roman" panose="02020603050405020304" pitchFamily="18" charset="0"/>
                <a:cs typeface="Times New Roman" panose="02020603050405020304" pitchFamily="18" charset="0"/>
              </a:rPr>
              <a:t>DataOutputStream </a:t>
            </a:r>
            <a:r>
              <a:rPr lang="en-GB" altLang="en-US" sz="2400" dirty="0">
                <a:latin typeface="Times New Roman" panose="02020603050405020304" pitchFamily="18" charset="0"/>
                <a:cs typeface="Times New Roman" panose="02020603050405020304" pitchFamily="18" charset="0"/>
              </a:rPr>
              <a:t>or </a:t>
            </a:r>
            <a:r>
              <a:rPr lang="en-GB" altLang="zh-CN" sz="2400" dirty="0" err="1">
                <a:latin typeface="Times New Roman" panose="02020603050405020304" pitchFamily="18" charset="0"/>
                <a:cs typeface="Times New Roman" panose="02020603050405020304" pitchFamily="18" charset="0"/>
              </a:rPr>
              <a:t>OutputStreamWriter</a:t>
            </a:r>
            <a:endParaRPr lang="en-US" altLang="zh-CN" sz="2400" dirty="0">
              <a:latin typeface="Times New Roman" panose="02020603050405020304" pitchFamily="18" charset="0"/>
              <a:cs typeface="Times New Roman" panose="02020603050405020304" pitchFamily="18" charset="0"/>
            </a:endParaRPr>
          </a:p>
          <a:p>
            <a:pPr marL="0" indent="0">
              <a:buNone/>
            </a:pPr>
            <a:r>
              <a:rPr lang="en-GB" altLang="zh-CN" sz="2000" dirty="0">
                <a:latin typeface="Times New Roman" panose="02020603050405020304" pitchFamily="18" charset="0"/>
                <a:cs typeface="Times New Roman" panose="02020603050405020304" pitchFamily="18" charset="0"/>
              </a:rPr>
              <a:t>Try{</a:t>
            </a:r>
            <a:endParaRPr lang="en-GB" altLang="zh-CN" sz="20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r>
              <a:rPr lang="en-GB" altLang="zh-CN" sz="2000" dirty="0">
                <a:latin typeface="Times New Roman" panose="02020603050405020304" pitchFamily="18" charset="0"/>
                <a:cs typeface="Times New Roman" panose="02020603050405020304" pitchFamily="18" charset="0"/>
              </a:rPr>
              <a:t>}catch( IOExceptionex ){</a:t>
            </a:r>
            <a:endParaRPr lang="en-GB" altLang="zh-CN" sz="2000" dirty="0">
              <a:latin typeface="Times New Roman" panose="02020603050405020304" pitchFamily="18" charset="0"/>
              <a:cs typeface="Times New Roman" panose="02020603050405020304" pitchFamily="18" charset="0"/>
            </a:endParaRPr>
          </a:p>
          <a:p>
            <a:pPr marL="0" indent="0">
              <a:buNone/>
            </a:pPr>
            <a:r>
              <a:rPr lang="en-GB" altLang="zh-CN" sz="2000" dirty="0">
                <a:latin typeface="Times New Roman" panose="02020603050405020304" pitchFamily="18" charset="0"/>
                <a:cs typeface="Times New Roman" panose="02020603050405020304" pitchFamily="18" charset="0"/>
              </a:rPr>
              <a:t>     System.err.println (ex);</a:t>
            </a:r>
            <a:endParaRPr lang="en-GB" altLang="zh-CN" sz="2000" dirty="0">
              <a:latin typeface="Times New Roman" panose="02020603050405020304" pitchFamily="18" charset="0"/>
              <a:cs typeface="Times New Roman" panose="02020603050405020304" pitchFamily="18" charset="0"/>
            </a:endParaRPr>
          </a:p>
          <a:p>
            <a:pPr marL="0" indent="0">
              <a:buNone/>
            </a:pPr>
            <a:r>
              <a:rPr lang="en-GB" altLang="zh-CN" sz="20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endParaRPr lang="zh-CN" altLang="en-US" dirty="0"/>
          </a:p>
        </p:txBody>
      </p:sp>
      <p:sp>
        <p:nvSpPr>
          <p:cNvPr id="92164" name="文本框 1"/>
          <p:cNvSpPr txBox="1">
            <a:spLocks noChangeArrowheads="1"/>
          </p:cNvSpPr>
          <p:nvPr/>
        </p:nvSpPr>
        <p:spPr bwMode="auto">
          <a:xfrm>
            <a:off x="1066800" y="2271184"/>
            <a:ext cx="66325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solidFill>
                  <a:schemeClr val="tx2"/>
                </a:solidFill>
              </a:rPr>
              <a:t>URL u = new URL("http://www.somehost.com/ </a:t>
            </a:r>
            <a:r>
              <a:rPr lang="en-GB" altLang="zh-CN" sz="1800" dirty="0" err="1">
                <a:solidFill>
                  <a:schemeClr val="tx2"/>
                </a:solidFill>
              </a:rPr>
              <a:t>cgi </a:t>
            </a:r>
            <a:r>
              <a:rPr lang="en-GB" altLang="zh-CN" sz="1800" dirty="0">
                <a:solidFill>
                  <a:schemeClr val="tx2"/>
                </a:solidFill>
              </a:rPr>
              <a:t>-bin/ </a:t>
            </a:r>
            <a:r>
              <a:rPr lang="en-GB" altLang="zh-CN" sz="1800" dirty="0" err="1">
                <a:solidFill>
                  <a:schemeClr val="tx2"/>
                </a:solidFill>
              </a:rPr>
              <a:t>acgi </a:t>
            </a:r>
            <a:r>
              <a:rPr lang="en-GB" altLang="zh-CN" sz="1800" dirty="0">
                <a:solidFill>
                  <a:schemeClr val="tx2"/>
                </a:solidFill>
              </a:rPr>
              <a:t>");</a:t>
            </a:r>
            <a:endParaRPr lang="en-GB" altLang="zh-CN" sz="1800" dirty="0">
              <a:solidFill>
                <a:schemeClr val="tx2"/>
              </a:solidFill>
            </a:endParaRPr>
          </a:p>
          <a:p>
            <a:pPr>
              <a:spcBef>
                <a:spcPct val="0"/>
              </a:spcBef>
              <a:buClrTx/>
              <a:buSzTx/>
              <a:buFontTx/>
              <a:buNone/>
            </a:pPr>
            <a:r>
              <a:rPr lang="en-GB" altLang="zh-CN" sz="1800" dirty="0">
                <a:solidFill>
                  <a:schemeClr val="tx2"/>
                </a:solidFill>
              </a:rPr>
              <a:t>// </a:t>
            </a:r>
            <a:r>
              <a:rPr lang="en-GB" altLang="en-US" sz="1800" dirty="0">
                <a:solidFill>
                  <a:schemeClr val="tx2"/>
                </a:solidFill>
              </a:rPr>
              <a:t>Open the connection and prepare </a:t>
            </a:r>
            <a:r>
              <a:rPr lang="en-GB" altLang="zh-CN" sz="1800" dirty="0">
                <a:solidFill>
                  <a:schemeClr val="tx2"/>
                </a:solidFill>
              </a:rPr>
              <a:t>to post</a:t>
            </a:r>
            <a:endParaRPr lang="en-GB" altLang="zh-CN" sz="1800" dirty="0">
              <a:solidFill>
                <a:schemeClr val="tx2"/>
              </a:solidFill>
            </a:endParaRPr>
          </a:p>
          <a:p>
            <a:pPr>
              <a:spcBef>
                <a:spcPct val="0"/>
              </a:spcBef>
              <a:buClrTx/>
              <a:buSzTx/>
              <a:buFontTx/>
              <a:buNone/>
            </a:pPr>
            <a:r>
              <a:rPr lang="en-GB" altLang="zh-CN" sz="1800" dirty="0" err="1">
                <a:solidFill>
                  <a:schemeClr val="tx2"/>
                </a:solidFill>
              </a:rPr>
              <a:t>URLConnection</a:t>
            </a:r>
            <a:r>
              <a:rPr lang="en-GB" altLang="zh-CN" sz="1800" dirty="0">
                <a:solidFill>
                  <a:schemeClr val="tx2"/>
                </a:solidFill>
              </a:rPr>
              <a:t> </a:t>
            </a:r>
            <a:r>
              <a:rPr lang="en-GB" altLang="zh-CN" sz="1800" dirty="0" err="1">
                <a:solidFill>
                  <a:schemeClr val="tx2"/>
                </a:solidFill>
              </a:rPr>
              <a:t>uc </a:t>
            </a:r>
            <a:r>
              <a:rPr lang="en-GB" altLang="zh-CN" sz="1800" dirty="0">
                <a:solidFill>
                  <a:schemeClr val="tx2"/>
                </a:solidFill>
              </a:rPr>
              <a:t>= </a:t>
            </a:r>
            <a:r>
              <a:rPr lang="en-GB" altLang="zh-CN" sz="1800" dirty="0" err="1">
                <a:solidFill>
                  <a:schemeClr val="tx2"/>
                </a:solidFill>
              </a:rPr>
              <a:t>u.openConnection </a:t>
            </a:r>
            <a:r>
              <a:rPr lang="en-GB" altLang="zh-CN" sz="1800" dirty="0">
                <a:solidFill>
                  <a:schemeClr val="tx2"/>
                </a:solidFill>
              </a:rPr>
              <a:t>();</a:t>
            </a:r>
            <a:endParaRPr lang="en-GB" altLang="zh-CN" sz="1800" dirty="0">
              <a:solidFill>
                <a:schemeClr val="tx2"/>
              </a:solidFill>
            </a:endParaRPr>
          </a:p>
          <a:p>
            <a:pPr>
              <a:spcBef>
                <a:spcPct val="0"/>
              </a:spcBef>
              <a:buClrTx/>
              <a:buSzTx/>
              <a:buFontTx/>
              <a:buNone/>
            </a:pPr>
            <a:r>
              <a:rPr lang="en-GB" altLang="zh-CN" sz="1800" dirty="0" err="1">
                <a:solidFill>
                  <a:schemeClr val="tx2"/>
                </a:solidFill>
              </a:rPr>
              <a:t>uc.setDoOutput </a:t>
            </a:r>
            <a:r>
              <a:rPr lang="en-GB" altLang="zh-CN" sz="1800" dirty="0">
                <a:solidFill>
                  <a:schemeClr val="tx2"/>
                </a:solidFill>
              </a:rPr>
              <a:t>(true);</a:t>
            </a:r>
            <a:endParaRPr lang="zh-CN" altLang="en-US" sz="1800" dirty="0">
              <a:solidFill>
                <a:schemeClr val="tx2"/>
              </a:solidFill>
            </a:endParaRPr>
          </a:p>
        </p:txBody>
      </p:sp>
      <p:sp>
        <p:nvSpPr>
          <p:cNvPr id="92165" name="文本框 2"/>
          <p:cNvSpPr txBox="1">
            <a:spLocks noChangeArrowheads="1"/>
          </p:cNvSpPr>
          <p:nvPr/>
        </p:nvSpPr>
        <p:spPr bwMode="auto">
          <a:xfrm>
            <a:off x="1066800" y="3424767"/>
            <a:ext cx="96012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err="1">
                <a:solidFill>
                  <a:srgbClr val="FF0000"/>
                </a:solidFill>
              </a:rPr>
              <a:t>OutputStream </a:t>
            </a:r>
            <a:r>
              <a:rPr lang="en-GB" altLang="zh-CN" sz="1800" dirty="0">
                <a:solidFill>
                  <a:srgbClr val="FF0000"/>
                </a:solidFill>
              </a:rPr>
              <a:t>raw = </a:t>
            </a:r>
            <a:r>
              <a:rPr lang="en-GB" altLang="zh-CN" sz="1800" dirty="0" err="1">
                <a:solidFill>
                  <a:srgbClr val="FF0000"/>
                </a:solidFill>
              </a:rPr>
              <a:t>uc.getOutputStream </a:t>
            </a:r>
            <a:r>
              <a:rPr lang="en-GB" altLang="zh-CN" sz="1800" dirty="0">
                <a:solidFill>
                  <a:srgbClr val="FF0000"/>
                </a:solidFill>
              </a:rPr>
              <a:t>();</a:t>
            </a:r>
            <a:endParaRPr lang="en-GB" altLang="zh-CN" sz="1800" dirty="0">
              <a:solidFill>
                <a:srgbClr val="FF0000"/>
              </a:solidFill>
            </a:endParaRPr>
          </a:p>
          <a:p>
            <a:pPr>
              <a:spcBef>
                <a:spcPct val="0"/>
              </a:spcBef>
              <a:buClrTx/>
              <a:buSzTx/>
              <a:buFontTx/>
              <a:buNone/>
            </a:pPr>
            <a:r>
              <a:rPr lang="en-GB" altLang="zh-CN" sz="1800" dirty="0" err="1">
                <a:solidFill>
                  <a:srgbClr val="FF0000"/>
                </a:solidFill>
              </a:rPr>
              <a:t>OutputStream </a:t>
            </a:r>
            <a:r>
              <a:rPr lang="en-GB" altLang="zh-CN" sz="1800" dirty="0">
                <a:solidFill>
                  <a:srgbClr val="FF0000"/>
                </a:solidFill>
              </a:rPr>
              <a:t>buffered = new </a:t>
            </a:r>
            <a:r>
              <a:rPr lang="en-GB" altLang="zh-CN" sz="1800" dirty="0" err="1">
                <a:solidFill>
                  <a:srgbClr val="FF0000"/>
                </a:solidFill>
              </a:rPr>
              <a:t>BufferedOutputStream </a:t>
            </a:r>
            <a:r>
              <a:rPr lang="en-GB" altLang="zh-CN" sz="1800" dirty="0">
                <a:solidFill>
                  <a:srgbClr val="FF0000"/>
                </a:solidFill>
              </a:rPr>
              <a:t>(raw);</a:t>
            </a:r>
            <a:endParaRPr lang="en-GB" altLang="zh-CN" sz="1800" dirty="0">
              <a:solidFill>
                <a:srgbClr val="FF0000"/>
              </a:solidFill>
            </a:endParaRPr>
          </a:p>
          <a:p>
            <a:pPr>
              <a:spcBef>
                <a:spcPct val="0"/>
              </a:spcBef>
              <a:buClrTx/>
              <a:buSzTx/>
              <a:buFontTx/>
              <a:buNone/>
            </a:pPr>
            <a:r>
              <a:rPr lang="en-GB" altLang="zh-CN" sz="1800" dirty="0" err="1">
                <a:solidFill>
                  <a:srgbClr val="FF0000"/>
                </a:solidFill>
              </a:rPr>
              <a:t>OutputStreamWriter </a:t>
            </a:r>
            <a:r>
              <a:rPr lang="en-GB" altLang="zh-CN" sz="1800" dirty="0">
                <a:solidFill>
                  <a:srgbClr val="FF0000"/>
                </a:solidFill>
              </a:rPr>
              <a:t>out = new </a:t>
            </a:r>
            <a:r>
              <a:rPr lang="en-GB" altLang="zh-CN" sz="1800" dirty="0" err="1">
                <a:solidFill>
                  <a:srgbClr val="FF0000"/>
                </a:solidFill>
              </a:rPr>
              <a:t>OutputStreamWriter </a:t>
            </a:r>
            <a:r>
              <a:rPr lang="en-GB" altLang="zh-CN" sz="1800" dirty="0">
                <a:solidFill>
                  <a:srgbClr val="FF0000"/>
                </a:solidFill>
              </a:rPr>
              <a:t>( </a:t>
            </a:r>
            <a:r>
              <a:rPr lang="en-GB" altLang="zh-CN" sz="1800" dirty="0" err="1">
                <a:solidFill>
                  <a:srgbClr val="FF0000"/>
                </a:solidFill>
              </a:rPr>
              <a:t>buffedred </a:t>
            </a:r>
            <a:r>
              <a:rPr lang="en-GB" altLang="zh-CN" sz="1800" dirty="0">
                <a:solidFill>
                  <a:srgbClr val="FF0000"/>
                </a:solidFill>
              </a:rPr>
              <a:t>, “8859-1”);</a:t>
            </a:r>
            <a:endParaRPr lang="en-GB" altLang="zh-CN" sz="1800" dirty="0">
              <a:solidFill>
                <a:srgbClr val="FF0000"/>
              </a:solidFill>
            </a:endParaRPr>
          </a:p>
          <a:p>
            <a:pPr>
              <a:spcBef>
                <a:spcPct val="0"/>
              </a:spcBef>
              <a:buClrTx/>
              <a:buSzTx/>
              <a:buFontTx/>
              <a:buNone/>
            </a:pPr>
            <a:r>
              <a:rPr lang="en-GB" altLang="zh-CN" sz="1800" dirty="0" err="1">
                <a:solidFill>
                  <a:srgbClr val="FF0000"/>
                </a:solidFill>
              </a:rPr>
              <a:t>out.write </a:t>
            </a:r>
            <a:r>
              <a:rPr lang="en-GB" altLang="zh-CN" sz="1800" dirty="0">
                <a:solidFill>
                  <a:srgbClr val="FF0000"/>
                </a:solidFill>
              </a:rPr>
              <a:t>(“first= </a:t>
            </a:r>
            <a:r>
              <a:rPr lang="en-GB" altLang="zh-CN" sz="1800" dirty="0" err="1">
                <a:solidFill>
                  <a:srgbClr val="FF0000"/>
                </a:solidFill>
              </a:rPr>
              <a:t>Julie&amp;middle </a:t>
            </a:r>
            <a:r>
              <a:rPr lang="en-GB" altLang="zh-CN" sz="1800" dirty="0">
                <a:solidFill>
                  <a:srgbClr val="FF0000"/>
                </a:solidFill>
              </a:rPr>
              <a:t>=&amp;last= </a:t>
            </a:r>
            <a:r>
              <a:rPr lang="en-GB" altLang="zh-CN" sz="1800" dirty="0" err="1">
                <a:solidFill>
                  <a:srgbClr val="FF0000"/>
                </a:solidFill>
              </a:rPr>
              <a:t>Harting&amp;work </a:t>
            </a:r>
            <a:r>
              <a:rPr lang="en-GB" altLang="zh-CN" sz="1800" dirty="0">
                <a:solidFill>
                  <a:srgbClr val="FF0000"/>
                </a:solidFill>
              </a:rPr>
              <a:t>= </a:t>
            </a:r>
            <a:r>
              <a:rPr lang="en-GB" altLang="zh-CN" sz="1800" dirty="0" err="1">
                <a:solidFill>
                  <a:srgbClr val="FF0000"/>
                </a:solidFill>
              </a:rPr>
              <a:t>String+Quartet </a:t>
            </a:r>
            <a:r>
              <a:rPr lang="en-GB" altLang="zh-CN" sz="1800" dirty="0">
                <a:solidFill>
                  <a:srgbClr val="FF0000"/>
                </a:solidFill>
              </a:rPr>
              <a:t>\r\n”);</a:t>
            </a:r>
            <a:endParaRPr lang="en-GB" altLang="zh-CN" sz="1800" dirty="0">
              <a:solidFill>
                <a:srgbClr val="FF0000"/>
              </a:solidFill>
            </a:endParaRPr>
          </a:p>
          <a:p>
            <a:pPr>
              <a:spcBef>
                <a:spcPct val="0"/>
              </a:spcBef>
              <a:buClrTx/>
              <a:buSzTx/>
              <a:buFontTx/>
              <a:buNone/>
            </a:pPr>
            <a:r>
              <a:rPr lang="en-GB" altLang="zh-CN" sz="1800" dirty="0" err="1">
                <a:solidFill>
                  <a:srgbClr val="FF0000"/>
                </a:solidFill>
              </a:rPr>
              <a:t>out.flush </a:t>
            </a:r>
            <a:r>
              <a:rPr lang="en-GB" altLang="zh-CN" sz="1800" dirty="0">
                <a:solidFill>
                  <a:srgbClr val="FF0000"/>
                </a:solidFill>
              </a:rPr>
              <a:t>();</a:t>
            </a:r>
            <a:endParaRPr lang="en-GB" altLang="zh-CN" sz="1800" dirty="0">
              <a:solidFill>
                <a:srgbClr val="FF0000"/>
              </a:solidFill>
            </a:endParaRPr>
          </a:p>
          <a:p>
            <a:pPr>
              <a:spcBef>
                <a:spcPct val="0"/>
              </a:spcBef>
              <a:buClrTx/>
              <a:buSzTx/>
              <a:buFontTx/>
              <a:buNone/>
            </a:pPr>
            <a:r>
              <a:rPr lang="en-GB" altLang="zh-CN" sz="1800" dirty="0" err="1">
                <a:solidFill>
                  <a:srgbClr val="FF0000"/>
                </a:solidFill>
              </a:rPr>
              <a:t>out.close </a:t>
            </a:r>
            <a:r>
              <a:rPr lang="en-GB" altLang="zh-CN" sz="1800" dirty="0">
                <a:solidFill>
                  <a:srgbClr val="FF0000"/>
                </a:solidFill>
              </a:rPr>
              <a:t>();</a:t>
            </a:r>
            <a:endParaRPr lang="zh-CN" altLang="en-US" sz="1800" dirty="0">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1825625" y="228600"/>
            <a:ext cx="8540750" cy="762000"/>
          </a:xfrm>
        </p:spPr>
        <p:txBody>
          <a:bodyPr/>
          <a:lstStyle/>
          <a:p>
            <a:pPr algn="l"/>
            <a:r>
              <a:rPr lang="en-GB" altLang="zh-CN" sz="3200"/>
              <a:t>POST </a:t>
            </a:r>
            <a:r>
              <a:rPr lang="en-GB" altLang="en-US" sz="3200"/>
              <a:t>request</a:t>
            </a:r>
            <a:endParaRPr lang="en-GB" altLang="en-US" sz="3200"/>
          </a:p>
        </p:txBody>
      </p:sp>
      <p:sp>
        <p:nvSpPr>
          <p:cNvPr id="3" name="内容占位符 2"/>
          <p:cNvSpPr>
            <a:spLocks noGrp="1"/>
          </p:cNvSpPr>
          <p:nvPr>
            <p:ph idx="1"/>
          </p:nvPr>
        </p:nvSpPr>
        <p:spPr>
          <a:xfrm>
            <a:off x="457200" y="2720543"/>
            <a:ext cx="10972800" cy="3871912"/>
          </a:xfrm>
        </p:spPr>
        <p:txBody>
          <a:bodyPr>
            <a:normAutofit/>
          </a:bodyPr>
          <a:lstStyle/>
          <a:p>
            <a:pPr>
              <a:lnSpc>
                <a:spcPct val="80000"/>
              </a:lnSpc>
            </a:pPr>
            <a:r>
              <a:rPr lang="en-GB" altLang="en-US" sz="2200" dirty="0">
                <a:solidFill>
                  <a:srgbClr val="1B1C20"/>
                </a:solidFill>
                <a:latin typeface="Times New Roman" panose="02020603050405020304" pitchFamily="18" charset="0"/>
                <a:cs typeface="Times New Roman" panose="02020603050405020304" pitchFamily="18" charset="0"/>
              </a:rPr>
              <a:t>of a client </a:t>
            </a:r>
            <a:r>
              <a:rPr lang="en-GB" altLang="zh-CN" sz="2200" dirty="0">
                <a:solidFill>
                  <a:srgbClr val="1B1C20"/>
                </a:solidFill>
                <a:latin typeface="Times New Roman" panose="02020603050405020304" pitchFamily="18" charset="0"/>
                <a:cs typeface="Times New Roman" panose="02020603050405020304" pitchFamily="18" charset="0"/>
              </a:rPr>
              <a:t>POST </a:t>
            </a:r>
            <a:r>
              <a:rPr lang="en-GB" altLang="en-US" sz="2200" dirty="0">
                <a:solidFill>
                  <a:srgbClr val="1B1C20"/>
                </a:solidFill>
                <a:latin typeface="Times New Roman" panose="02020603050405020304" pitchFamily="18" charset="0"/>
                <a:cs typeface="Times New Roman" panose="02020603050405020304" pitchFamily="18" charset="0"/>
              </a:rPr>
              <a:t>request and server response:</a:t>
            </a:r>
            <a:endParaRPr lang="en-US" altLang="zh-CN" sz="2200" dirty="0">
              <a:solidFill>
                <a:srgbClr val="1B1C2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telnet </a:t>
            </a:r>
            <a:r>
              <a:rPr lang="en-GB" altLang="zh-CN" sz="2200" dirty="0">
                <a:solidFill>
                  <a:srgbClr val="1B1C20"/>
                </a:solidFill>
                <a:latin typeface="Times New Roman" panose="02020603050405020304" pitchFamily="18" charset="0"/>
                <a:cs typeface="Times New Roman" panose="02020603050405020304" pitchFamily="18" charset="0"/>
                <a:hlinkClick r:id="rId1"/>
              </a:rPr>
              <a:t>www.cafeaulait.org </a:t>
            </a:r>
            <a:r>
              <a:rPr lang="en-GB" altLang="zh-CN" sz="2200" dirty="0">
                <a:solidFill>
                  <a:srgbClr val="1B1C20"/>
                </a:solidFill>
                <a:latin typeface="Times New Roman" panose="02020603050405020304" pitchFamily="18" charset="0"/>
                <a:cs typeface="Times New Roman" panose="02020603050405020304" pitchFamily="18" charset="0"/>
              </a:rPr>
              <a:t>80</a:t>
            </a:r>
            <a:endParaRPr lang="en-GB" altLang="zh-CN" sz="2200" dirty="0">
              <a:solidFill>
                <a:srgbClr val="1B1C2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Trying 152.19.134.41…</a:t>
            </a:r>
            <a:endParaRPr lang="en-GB" altLang="zh-CN" sz="2200" dirty="0">
              <a:solidFill>
                <a:srgbClr val="1B1C2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Connected to www.cafeaulait.org</a:t>
            </a:r>
            <a:endParaRPr lang="en-GB" altLang="zh-CN" sz="2200" dirty="0">
              <a:solidFill>
                <a:srgbClr val="1B1C2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POST /books/jnp3/postquery.phtml HTTP/1.0</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Accept: text/plain</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Content-type: application/x-www-form- </a:t>
            </a:r>
            <a:r>
              <a:rPr lang="en-GB" altLang="zh-CN" sz="2200" dirty="0" err="1">
                <a:solidFill>
                  <a:srgbClr val="1B1C20"/>
                </a:solidFill>
                <a:latin typeface="Times New Roman" panose="02020603050405020304" pitchFamily="18" charset="0"/>
                <a:cs typeface="Times New Roman" panose="02020603050405020304" pitchFamily="18" charset="0"/>
              </a:rPr>
              <a:t>urlencoded</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Content-length: 63</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Connection: close</a:t>
            </a:r>
            <a:endParaRPr lang="en-US" altLang="zh-CN" sz="2200" dirty="0">
              <a:solidFill>
                <a:srgbClr val="00000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1B1C20"/>
                </a:solidFill>
                <a:latin typeface="Times New Roman" panose="02020603050405020304" pitchFamily="18" charset="0"/>
                <a:cs typeface="Times New Roman" panose="02020603050405020304" pitchFamily="18" charset="0"/>
              </a:rPr>
              <a:t>Host: www.cafeaulait.org</a:t>
            </a:r>
            <a:endParaRPr lang="en-GB" altLang="zh-CN" sz="2200" dirty="0">
              <a:solidFill>
                <a:srgbClr val="1B1C20"/>
              </a:solidFill>
              <a:latin typeface="Times New Roman" panose="02020603050405020304" pitchFamily="18" charset="0"/>
              <a:cs typeface="Times New Roman" panose="02020603050405020304" pitchFamily="18" charset="0"/>
            </a:endParaRPr>
          </a:p>
          <a:p>
            <a:pPr>
              <a:lnSpc>
                <a:spcPct val="80000"/>
              </a:lnSpc>
            </a:pPr>
            <a:r>
              <a:rPr lang="en-GB" altLang="zh-CN" sz="2200" dirty="0">
                <a:solidFill>
                  <a:srgbClr val="FF0000"/>
                </a:solidFill>
                <a:latin typeface="Times New Roman" panose="02020603050405020304" pitchFamily="18" charset="0"/>
                <a:cs typeface="Times New Roman" panose="02020603050405020304" pitchFamily="18" charset="0"/>
              </a:rPr>
              <a:t>username= </a:t>
            </a:r>
            <a:r>
              <a:rPr lang="en-GB" altLang="zh-CN" sz="2200" dirty="0" err="1">
                <a:solidFill>
                  <a:srgbClr val="FF0000"/>
                </a:solidFill>
                <a:latin typeface="Times New Roman" panose="02020603050405020304" pitchFamily="18" charset="0"/>
                <a:cs typeface="Times New Roman" panose="02020603050405020304" pitchFamily="18" charset="0"/>
              </a:rPr>
              <a:t>Elliote+Rusty+Harold&amp;email </a:t>
            </a:r>
            <a:r>
              <a:rPr lang="en-GB" altLang="zh-CN" sz="2200" dirty="0">
                <a:solidFill>
                  <a:srgbClr val="FF0000"/>
                </a:solidFill>
                <a:latin typeface="Times New Roman" panose="02020603050405020304" pitchFamily="18" charset="0"/>
                <a:cs typeface="Times New Roman" panose="02020603050405020304" pitchFamily="18" charset="0"/>
              </a:rPr>
              <a:t>=elharo%40ibiblio%2eorg</a:t>
            </a:r>
            <a:endParaRPr lang="en-GB" altLang="zh-CN" sz="2200" dirty="0">
              <a:solidFill>
                <a:srgbClr val="FF0000"/>
              </a:solidFill>
              <a:latin typeface="Times New Roman" panose="02020603050405020304" pitchFamily="18" charset="0"/>
              <a:cs typeface="Times New Roman" panose="02020603050405020304" pitchFamily="18" charset="0"/>
            </a:endParaRPr>
          </a:p>
        </p:txBody>
      </p:sp>
      <p:sp>
        <p:nvSpPr>
          <p:cNvPr id="5" name="矩形 4"/>
          <p:cNvSpPr>
            <a:spLocks noChangeArrowheads="1"/>
          </p:cNvSpPr>
          <p:nvPr/>
        </p:nvSpPr>
        <p:spPr bwMode="auto">
          <a:xfrm>
            <a:off x="304800" y="1001713"/>
            <a:ext cx="11658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en-GB" altLang="en-US" sz="2000" dirty="0"/>
              <a:t>sending a request with </a:t>
            </a:r>
            <a:r>
              <a:rPr lang="en-GB" altLang="zh-CN" sz="2000" dirty="0"/>
              <a:t>POST and GET </a:t>
            </a:r>
            <a:r>
              <a:rPr lang="en-GB" altLang="en-US" sz="2000" dirty="0"/>
              <a:t>is:</a:t>
            </a:r>
            <a:endParaRPr lang="en-US" altLang="zh-CN" sz="2000" dirty="0"/>
          </a:p>
          <a:p>
            <a:pPr>
              <a:spcBef>
                <a:spcPct val="0"/>
              </a:spcBef>
              <a:buClrTx/>
              <a:buSzTx/>
              <a:buFont typeface="Wingdings 2" panose="05020102010507070707" pitchFamily="18" charset="2"/>
              <a:buNone/>
            </a:pPr>
            <a:r>
              <a:rPr lang="en-GB" altLang="en-US" sz="2000" dirty="0"/>
              <a:t>( </a:t>
            </a:r>
            <a:r>
              <a:rPr lang="en-GB" altLang="zh-CN" sz="2000" dirty="0"/>
              <a:t>1 ) Call </a:t>
            </a:r>
            <a:r>
              <a:rPr lang="en-GB" altLang="zh-CN" sz="2000" dirty="0" err="1"/>
              <a:t>setDoOutput </a:t>
            </a:r>
            <a:r>
              <a:rPr lang="en-GB" altLang="zh-CN" sz="2000" dirty="0"/>
              <a:t>(true) </a:t>
            </a:r>
            <a:r>
              <a:rPr lang="en-GB" altLang="en-US" sz="2000" dirty="0"/>
              <a:t>first .</a:t>
            </a:r>
            <a:endParaRPr lang="en-US" altLang="zh-CN" sz="2000" dirty="0"/>
          </a:p>
          <a:p>
            <a:pPr>
              <a:spcBef>
                <a:spcPct val="0"/>
              </a:spcBef>
              <a:buClrTx/>
              <a:buSzTx/>
              <a:buFont typeface="Wingdings 2" panose="05020102010507070707" pitchFamily="18" charset="2"/>
              <a:buNone/>
            </a:pPr>
            <a:r>
              <a:rPr lang="en-GB" altLang="en-US" sz="2000" dirty="0"/>
              <a:t>( </a:t>
            </a:r>
            <a:r>
              <a:rPr lang="en-GB" altLang="zh-CN" sz="2000" dirty="0"/>
              <a:t>2 </a:t>
            </a:r>
            <a:r>
              <a:rPr lang="en-GB" altLang="en-US" sz="2000" dirty="0"/>
              <a:t>) Use </a:t>
            </a:r>
            <a:r>
              <a:rPr lang="en-GB" altLang="zh-CN" sz="2000" dirty="0" err="1"/>
              <a:t>the getOutputStream </a:t>
            </a:r>
            <a:r>
              <a:rPr lang="en-GB" altLang="zh-CN" sz="2000" dirty="0"/>
              <a:t>() method </a:t>
            </a:r>
            <a:r>
              <a:rPr lang="en-GB" altLang="en-US" sz="2000" dirty="0"/>
              <a:t>of </a:t>
            </a:r>
            <a:r>
              <a:rPr lang="en-GB" altLang="zh-CN" sz="2000" dirty="0" err="1"/>
              <a:t>URLConnection </a:t>
            </a:r>
            <a:r>
              <a:rPr lang="en-GB" altLang="en-US" sz="2000" dirty="0"/>
              <a:t>to write the query string instead of appending it to </a:t>
            </a:r>
            <a:r>
              <a:rPr lang="en-GB" altLang="zh-CN" sz="2000" dirty="0"/>
              <a:t>the URL </a:t>
            </a:r>
            <a:r>
              <a:rPr lang="en-GB" altLang="en-US" sz="2000" dirty="0"/>
              <a:t>(sending </a:t>
            </a:r>
            <a:r>
              <a:rPr lang="en-GB" altLang="zh-CN" sz="2000" dirty="0"/>
              <a:t>an x-www-form </a:t>
            </a:r>
            <a:r>
              <a:rPr lang="en-GB" altLang="zh-CN" sz="2000" dirty="0" err="1"/>
              <a:t>-url </a:t>
            </a:r>
            <a:r>
              <a:rPr lang="en-GB" altLang="zh-CN" sz="2000" dirty="0"/>
              <a:t>-encoded </a:t>
            </a:r>
            <a:r>
              <a:rPr lang="en-GB" altLang="en-US" sz="2000" dirty="0"/>
              <a:t>string).</a:t>
            </a:r>
            <a:endParaRPr lang="en-US" altLang="zh-CN" sz="2000" dirty="0"/>
          </a:p>
          <a:p>
            <a:pPr>
              <a:spcBef>
                <a:spcPct val="0"/>
              </a:spcBef>
              <a:buClrTx/>
              <a:buSzTx/>
              <a:buFont typeface="Wingdings 2" panose="05020102010507070707" pitchFamily="18" charset="2"/>
              <a:buNone/>
            </a:pPr>
            <a:r>
              <a:rPr lang="en-GB" altLang="zh-CN" sz="2000" dirty="0"/>
              <a:t>Java </a:t>
            </a:r>
            <a:r>
              <a:rPr lang="en-GB" altLang="en-US" sz="2000" dirty="0"/>
              <a:t>buffers any data written to an output stream until the stream is closed.</a:t>
            </a:r>
            <a:endParaRPr lang="en-GB"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1825625" y="228600"/>
            <a:ext cx="8540750" cy="762000"/>
          </a:xfrm>
        </p:spPr>
        <p:txBody>
          <a:bodyPr/>
          <a:lstStyle/>
          <a:p>
            <a:pPr algn="l"/>
            <a:r>
              <a:rPr lang="en-GB" altLang="en-US" sz="3200"/>
              <a:t>Server Response</a:t>
            </a:r>
            <a:endParaRPr lang="en-GB" altLang="en-US" sz="3200"/>
          </a:p>
        </p:txBody>
      </p:sp>
      <p:sp>
        <p:nvSpPr>
          <p:cNvPr id="5" name="矩形 4"/>
          <p:cNvSpPr>
            <a:spLocks noChangeArrowheads="1"/>
          </p:cNvSpPr>
          <p:nvPr/>
        </p:nvSpPr>
        <p:spPr bwMode="auto">
          <a:xfrm>
            <a:off x="1825625" y="1001713"/>
            <a:ext cx="8153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en-GB" altLang="zh-CN" sz="2000"/>
              <a:t>HTTP/1.1 200 OK</a:t>
            </a:r>
            <a:endParaRPr lang="en-GB" altLang="zh-CN" sz="2000"/>
          </a:p>
          <a:p>
            <a:pPr>
              <a:spcBef>
                <a:spcPct val="0"/>
              </a:spcBef>
              <a:buClrTx/>
              <a:buSzTx/>
              <a:buFont typeface="Wingdings 2" panose="05020102010507070707" pitchFamily="18" charset="2"/>
              <a:buNone/>
            </a:pPr>
            <a:r>
              <a:rPr lang="en-GB" altLang="zh-CN" sz="2000"/>
              <a:t>Date: Sat, 04 May 2013 13:27:24 GMT</a:t>
            </a:r>
            <a:endParaRPr lang="en-GB" altLang="zh-CN" sz="2000"/>
          </a:p>
          <a:p>
            <a:pPr>
              <a:spcBef>
                <a:spcPct val="0"/>
              </a:spcBef>
              <a:buClrTx/>
              <a:buSzTx/>
              <a:buFont typeface="Wingdings 2" panose="05020102010507070707" pitchFamily="18" charset="2"/>
              <a:buNone/>
            </a:pPr>
            <a:r>
              <a:rPr lang="en-GB" altLang="zh-CN" sz="2000"/>
              <a:t>Server: Apache</a:t>
            </a:r>
            <a:endParaRPr lang="en-GB" altLang="zh-CN" sz="2000"/>
          </a:p>
          <a:p>
            <a:pPr>
              <a:spcBef>
                <a:spcPct val="0"/>
              </a:spcBef>
              <a:buClrTx/>
              <a:buSzTx/>
              <a:buFont typeface="Wingdings 2" panose="05020102010507070707" pitchFamily="18" charset="2"/>
              <a:buNone/>
            </a:pPr>
            <a:r>
              <a:rPr lang="en-GB" altLang="zh-CN" sz="2000"/>
              <a:t>Content-Style-Type: text/css</a:t>
            </a:r>
            <a:endParaRPr lang="en-GB" altLang="zh-CN" sz="2000"/>
          </a:p>
          <a:p>
            <a:pPr>
              <a:spcBef>
                <a:spcPct val="0"/>
              </a:spcBef>
              <a:buClrTx/>
              <a:buSzTx/>
              <a:buFont typeface="Wingdings 2" panose="05020102010507070707" pitchFamily="18" charset="2"/>
              <a:buNone/>
            </a:pPr>
            <a:r>
              <a:rPr lang="en-GB" altLang="zh-CN" sz="2000"/>
              <a:t>Content-Length: 864</a:t>
            </a:r>
            <a:endParaRPr lang="en-GB" altLang="zh-CN" sz="2000"/>
          </a:p>
          <a:p>
            <a:pPr>
              <a:spcBef>
                <a:spcPct val="0"/>
              </a:spcBef>
              <a:buClrTx/>
              <a:buSzTx/>
              <a:buFont typeface="Wingdings 2" panose="05020102010507070707" pitchFamily="18" charset="2"/>
              <a:buNone/>
            </a:pPr>
            <a:r>
              <a:rPr lang="en-GB" altLang="zh-CN" sz="2000"/>
              <a:t>Connection: close</a:t>
            </a:r>
            <a:endParaRPr lang="en-GB" altLang="zh-CN" sz="2000"/>
          </a:p>
          <a:p>
            <a:pPr>
              <a:spcBef>
                <a:spcPct val="0"/>
              </a:spcBef>
              <a:buClrTx/>
              <a:buSzTx/>
              <a:buFont typeface="Wingdings 2" panose="05020102010507070707" pitchFamily="18" charset="2"/>
              <a:buNone/>
            </a:pPr>
            <a:r>
              <a:rPr lang="en-GB" altLang="zh-CN" sz="2000"/>
              <a:t>Content-Type: text/html; charset=utf-8</a:t>
            </a:r>
            <a:endParaRPr lang="en-GB" altLang="zh-CN" sz="2000"/>
          </a:p>
          <a:p>
            <a:pPr>
              <a:spcBef>
                <a:spcPct val="0"/>
              </a:spcBef>
              <a:buClrTx/>
              <a:buSzTx/>
              <a:buFont typeface="Wingdings 2" panose="05020102010507070707" pitchFamily="18" charset="2"/>
              <a:buNone/>
            </a:pPr>
            <a:endParaRPr lang="en-US" altLang="zh-CN" sz="2000"/>
          </a:p>
          <a:p>
            <a:pPr>
              <a:spcBef>
                <a:spcPct val="0"/>
              </a:spcBef>
              <a:buClrTx/>
              <a:buSzTx/>
              <a:buFont typeface="Wingdings 2" panose="05020102010507070707" pitchFamily="18" charset="2"/>
              <a:buNone/>
            </a:pPr>
            <a:r>
              <a:rPr lang="en-GB" altLang="zh-CN" sz="2000"/>
              <a:t>&lt;html xmlns=http://www.w3.org/1999/xhtml&gt;</a:t>
            </a:r>
            <a:endParaRPr lang="en-GB" altLang="zh-CN" sz="2000"/>
          </a:p>
          <a:p>
            <a:pPr>
              <a:spcBef>
                <a:spcPct val="0"/>
              </a:spcBef>
              <a:buClrTx/>
              <a:buSzTx/>
              <a:buFont typeface="Wingdings 2" panose="05020102010507070707" pitchFamily="18" charset="2"/>
              <a:buNone/>
            </a:pPr>
            <a:r>
              <a:rPr lang="en-GB" altLang="zh-CN" sz="2000"/>
              <a:t>&lt;head&gt;</a:t>
            </a:r>
            <a:endParaRPr lang="en-GB" altLang="zh-CN" sz="2000"/>
          </a:p>
          <a:p>
            <a:pPr>
              <a:spcBef>
                <a:spcPct val="0"/>
              </a:spcBef>
              <a:buClrTx/>
              <a:buSzTx/>
              <a:buFont typeface="Wingdings 2" panose="05020102010507070707" pitchFamily="18" charset="2"/>
              <a:buNone/>
            </a:pPr>
            <a:r>
              <a:rPr lang="en-GB" altLang="zh-CN" sz="2000"/>
              <a:t>&lt;title&gt;Query Results&lt;/title&gt;</a:t>
            </a:r>
            <a:endParaRPr lang="en-GB" altLang="zh-CN" sz="2000"/>
          </a:p>
          <a:p>
            <a:pPr>
              <a:spcBef>
                <a:spcPct val="0"/>
              </a:spcBef>
              <a:buClrTx/>
              <a:buSzTx/>
              <a:buFont typeface="Wingdings 2" panose="05020102010507070707" pitchFamily="18" charset="2"/>
              <a:buNone/>
            </a:pPr>
            <a:r>
              <a:rPr lang="en-GB" altLang="zh-CN" sz="2000"/>
              <a:t>&lt;/head&gt;</a:t>
            </a:r>
            <a:endParaRPr lang="en-GB" altLang="zh-CN" sz="2000"/>
          </a:p>
          <a:p>
            <a:pPr>
              <a:spcBef>
                <a:spcPct val="0"/>
              </a:spcBef>
              <a:buClrTx/>
              <a:buSzTx/>
              <a:buFont typeface="Wingdings 2" panose="05020102010507070707" pitchFamily="18" charset="2"/>
              <a:buNone/>
            </a:pPr>
            <a:r>
              <a:rPr lang="en-GB" altLang="zh-CN" sz="2000"/>
              <a:t>&lt;body&gt;</a:t>
            </a:r>
            <a:endParaRPr lang="en-GB" altLang="zh-CN" sz="2000"/>
          </a:p>
          <a:p>
            <a:pPr>
              <a:spcBef>
                <a:spcPct val="0"/>
              </a:spcBef>
              <a:buClrTx/>
              <a:buSzTx/>
              <a:buFont typeface="Wingdings 2" panose="05020102010507070707" pitchFamily="18" charset="2"/>
              <a:buNone/>
            </a:pPr>
            <a:r>
              <a:rPr lang="en-GB" altLang="zh-CN" sz="2000"/>
              <a:t>&lt;h1&gt;Query Results&lt;/h1&gt;</a:t>
            </a:r>
            <a:endParaRPr lang="en-GB" altLang="zh-CN" sz="2000"/>
          </a:p>
          <a:p>
            <a:pPr>
              <a:spcBef>
                <a:spcPct val="0"/>
              </a:spcBef>
              <a:buClrTx/>
              <a:buSzTx/>
              <a:buFont typeface="Wingdings 2" panose="05020102010507070707" pitchFamily="18" charset="2"/>
              <a:buNone/>
            </a:pPr>
            <a:r>
              <a:rPr lang="en-GB" altLang="zh-CN" sz="2000"/>
              <a:t>&lt;p&gt;You submitted the following name/value pairs:&lt;/p&gt;</a:t>
            </a:r>
            <a:endParaRPr lang="en-GB" altLang="zh-CN" sz="2000"/>
          </a:p>
          <a:p>
            <a:pPr>
              <a:spcBef>
                <a:spcPct val="0"/>
              </a:spcBef>
              <a:buClrTx/>
              <a:buSzTx/>
              <a:buFont typeface="Wingdings 2" panose="05020102010507070707" pitchFamily="18" charset="2"/>
              <a:buNone/>
            </a:pPr>
            <a:r>
              <a:rPr lang="en-GB" altLang="zh-CN" sz="2000"/>
              <a:t>…</a:t>
            </a:r>
            <a:endParaRPr lang="en-GB" altLang="zh-CN" sz="2000"/>
          </a:p>
          <a:p>
            <a:pPr>
              <a:spcBef>
                <a:spcPct val="0"/>
              </a:spcBef>
              <a:buClrTx/>
              <a:buSzTx/>
              <a:buFont typeface="Wingdings 2" panose="05020102010507070707" pitchFamily="18" charset="2"/>
              <a:buNone/>
            </a:pPr>
            <a:r>
              <a:rPr lang="en-GB" altLang="zh-CN" sz="2000"/>
              <a:t>&lt;/body&gt;</a:t>
            </a:r>
            <a:endParaRPr lang="en-GB" altLang="zh-CN" sz="2000"/>
          </a:p>
          <a:p>
            <a:pPr>
              <a:spcBef>
                <a:spcPct val="0"/>
              </a:spcBef>
              <a:buClrTx/>
              <a:buSzTx/>
              <a:buFont typeface="Wingdings 2" panose="05020102010507070707" pitchFamily="18" charset="2"/>
              <a:buNone/>
            </a:pPr>
            <a:r>
              <a:rPr lang="en-GB" altLang="zh-CN" sz="2000"/>
              <a:t>&lt;/html&gt;</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1825625" y="228600"/>
            <a:ext cx="8540750" cy="762000"/>
          </a:xfrm>
        </p:spPr>
        <p:txBody>
          <a:bodyPr/>
          <a:lstStyle/>
          <a:p>
            <a:pPr algn="l"/>
            <a:r>
              <a:rPr lang="en-GB" altLang="zh-CN" sz="3200"/>
              <a:t>POST </a:t>
            </a:r>
            <a:r>
              <a:rPr lang="en-GB" altLang="en-US" sz="3200"/>
              <a:t>request programming example</a:t>
            </a:r>
            <a:endParaRPr lang="en-GB" altLang="en-US" sz="3200"/>
          </a:p>
        </p:txBody>
      </p:sp>
      <p:sp>
        <p:nvSpPr>
          <p:cNvPr id="95235" name="内容占位符 2"/>
          <p:cNvSpPr>
            <a:spLocks noGrp="1"/>
          </p:cNvSpPr>
          <p:nvPr>
            <p:ph idx="1"/>
          </p:nvPr>
        </p:nvSpPr>
        <p:spPr>
          <a:xfrm>
            <a:off x="457200" y="1143000"/>
            <a:ext cx="11277599" cy="3124200"/>
          </a:xfrm>
        </p:spPr>
        <p:txBody>
          <a:bodyPr/>
          <a:lstStyle/>
          <a:p>
            <a:r>
              <a:rPr lang="en-GB" altLang="en-US" sz="2400" dirty="0">
                <a:solidFill>
                  <a:srgbClr val="000000"/>
                </a:solidFill>
                <a:latin typeface="Times New Roman" panose="02020603050405020304" pitchFamily="18" charset="0"/>
                <a:cs typeface="Times New Roman" panose="02020603050405020304" pitchFamily="18" charset="0"/>
              </a:rPr>
              <a:t>Write a program to submit a form to an </a:t>
            </a:r>
            <a:r>
              <a:rPr lang="en-GB" altLang="zh-CN" sz="2400" dirty="0">
                <a:solidFill>
                  <a:srgbClr val="000000"/>
                </a:solidFill>
                <a:latin typeface="Times New Roman" panose="02020603050405020304" pitchFamily="18" charset="0"/>
                <a:cs typeface="Times New Roman" panose="02020603050405020304" pitchFamily="18" charset="0"/>
              </a:rPr>
              <a:t>HTTP </a:t>
            </a:r>
            <a:r>
              <a:rPr lang="en-GB" altLang="en-US" sz="2400" dirty="0">
                <a:solidFill>
                  <a:srgbClr val="000000"/>
                </a:solidFill>
                <a:latin typeface="Times New Roman" panose="02020603050405020304" pitchFamily="18" charset="0"/>
                <a:cs typeface="Times New Roman" panose="02020603050405020304" pitchFamily="18" charset="0"/>
              </a:rPr>
              <a:t>server: Use the </a:t>
            </a:r>
            <a:r>
              <a:rPr lang="en-GB" altLang="zh-CN" sz="2400" dirty="0" err="1">
                <a:solidFill>
                  <a:srgbClr val="000000"/>
                </a:solidFill>
                <a:latin typeface="Times New Roman" panose="02020603050405020304" pitchFamily="18" charset="0"/>
                <a:cs typeface="Times New Roman" panose="02020603050405020304" pitchFamily="18" charset="0"/>
              </a:rPr>
              <a:t>URLConnection </a:t>
            </a:r>
            <a:r>
              <a:rPr lang="en-GB" altLang="en-US" sz="2400" dirty="0">
                <a:solidFill>
                  <a:srgbClr val="000000"/>
                </a:solidFill>
                <a:latin typeface="Times New Roman" panose="02020603050405020304" pitchFamily="18" charset="0"/>
                <a:cs typeface="Times New Roman" panose="02020603050405020304" pitchFamily="18" charset="0"/>
              </a:rPr>
              <a:t>class and </a:t>
            </a:r>
            <a:r>
              <a:rPr lang="en-GB" altLang="zh-CN" sz="2400" dirty="0" err="1">
                <a:solidFill>
                  <a:srgbClr val="000000"/>
                </a:solidFill>
                <a:latin typeface="Times New Roman" panose="02020603050405020304" pitchFamily="18" charset="0"/>
                <a:cs typeface="Times New Roman" panose="02020603050405020304" pitchFamily="18" charset="0"/>
              </a:rPr>
              <a:t>the QueryString </a:t>
            </a:r>
            <a:r>
              <a:rPr lang="en-GB" altLang="en-US" sz="2400" dirty="0">
                <a:solidFill>
                  <a:srgbClr val="000000"/>
                </a:solidFill>
                <a:latin typeface="Times New Roman" panose="02020603050405020304" pitchFamily="18" charset="0"/>
                <a:cs typeface="Times New Roman" panose="02020603050405020304" pitchFamily="18" charset="0"/>
              </a:rPr>
              <a:t>class from Chapter </a:t>
            </a:r>
            <a:r>
              <a:rPr lang="en-GB" altLang="zh-CN" sz="2400" dirty="0">
                <a:solidFill>
                  <a:srgbClr val="000000"/>
                </a:solidFill>
                <a:latin typeface="Times New Roman" panose="02020603050405020304" pitchFamily="18" charset="0"/>
                <a:cs typeface="Times New Roman" panose="02020603050405020304" pitchFamily="18" charset="0"/>
              </a:rPr>
              <a:t>5 to submit (post) </a:t>
            </a:r>
            <a:r>
              <a:rPr lang="en-GB" altLang="en-US" sz="2400" dirty="0">
                <a:solidFill>
                  <a:srgbClr val="000000"/>
                </a:solidFill>
                <a:latin typeface="Times New Roman" panose="02020603050405020304" pitchFamily="18" charset="0"/>
                <a:cs typeface="Times New Roman" panose="02020603050405020304" pitchFamily="18" charset="0"/>
              </a:rPr>
              <a:t>the form data. Send the name </a:t>
            </a:r>
            <a:r>
              <a:rPr lang="en-GB" altLang="zh-CN" sz="2400" dirty="0">
                <a:solidFill>
                  <a:srgbClr val="000000"/>
                </a:solidFill>
                <a:latin typeface="Times New Roman" panose="02020603050405020304" pitchFamily="18" charset="0"/>
                <a:cs typeface="Times New Roman" panose="02020603050405020304" pitchFamily="18" charset="0"/>
              </a:rPr>
              <a:t>" </a:t>
            </a:r>
            <a:r>
              <a:rPr lang="en-GB" altLang="zh-CN" sz="2400" dirty="0" err="1">
                <a:solidFill>
                  <a:srgbClr val="000000"/>
                </a:solidFill>
                <a:latin typeface="Times New Roman" panose="02020603050405020304" pitchFamily="18" charset="0"/>
                <a:cs typeface="Times New Roman" panose="02020603050405020304" pitchFamily="18" charset="0"/>
              </a:rPr>
              <a:t>Elliotte </a:t>
            </a:r>
            <a:r>
              <a:rPr lang="en-GB" altLang="zh-CN" sz="2400" dirty="0">
                <a:solidFill>
                  <a:srgbClr val="000000"/>
                </a:solidFill>
                <a:latin typeface="Times New Roman" panose="02020603050405020304" pitchFamily="18" charset="0"/>
                <a:cs typeface="Times New Roman" panose="02020603050405020304" pitchFamily="18" charset="0"/>
              </a:rPr>
              <a:t>Rusty Harold" </a:t>
            </a:r>
            <a:r>
              <a:rPr lang="en-GB" altLang="en-US" sz="2400" dirty="0">
                <a:solidFill>
                  <a:srgbClr val="000000"/>
                </a:solidFill>
                <a:latin typeface="Times New Roman" panose="02020603050405020304" pitchFamily="18" charset="0"/>
                <a:cs typeface="Times New Roman" panose="02020603050405020304" pitchFamily="18" charset="0"/>
              </a:rPr>
              <a:t>and the email address </a:t>
            </a:r>
            <a:r>
              <a:rPr lang="en-GB" altLang="zh-CN" sz="2400" dirty="0">
                <a:solidFill>
                  <a:srgbClr val="000000"/>
                </a:solidFill>
                <a:latin typeface="Times New Roman" panose="02020603050405020304" pitchFamily="18" charset="0"/>
                <a:cs typeface="Times New Roman" panose="02020603050405020304" pitchFamily="18" charset="0"/>
              </a:rPr>
              <a:t>elharo@biblio.org to the server resource </a:t>
            </a:r>
            <a:r>
              <a:rPr lang="en-GB" altLang="en-US" sz="2400" dirty="0">
                <a:solidFill>
                  <a:srgbClr val="000000"/>
                </a:solidFill>
                <a:latin typeface="Times New Roman" panose="02020603050405020304" pitchFamily="18" charset="0"/>
                <a:cs typeface="Times New Roman" panose="02020603050405020304" pitchFamily="18" charset="0"/>
              </a:rPr>
              <a:t>. The server resource, located at </a:t>
            </a:r>
            <a:r>
              <a:rPr lang="en-GB" altLang="zh-CN" sz="2400" dirty="0">
                <a:solidFill>
                  <a:srgbClr val="000000"/>
                </a:solidFill>
                <a:latin typeface="Times New Roman" panose="02020603050405020304" pitchFamily="18" charset="0"/>
                <a:cs typeface="Times New Roman" panose="02020603050405020304" pitchFamily="18" charset="0"/>
              </a:rPr>
              <a:t>http://www.cafeaulait.org/books/jnp4/postquery.html, </a:t>
            </a:r>
            <a:r>
              <a:rPr lang="en-GB" altLang="en-US" sz="2400" dirty="0">
                <a:solidFill>
                  <a:srgbClr val="000000"/>
                </a:solidFill>
                <a:latin typeface="Times New Roman" panose="02020603050405020304" pitchFamily="18" charset="0"/>
                <a:cs typeface="Times New Roman" panose="02020603050405020304" pitchFamily="18" charset="0"/>
              </a:rPr>
              <a:t>is a form tester that accepts any input using </a:t>
            </a:r>
            <a:r>
              <a:rPr lang="en-GB" altLang="zh-CN" sz="2400" dirty="0">
                <a:solidFill>
                  <a:srgbClr val="FF0000"/>
                </a:solidFill>
                <a:latin typeface="Times New Roman" panose="02020603050405020304" pitchFamily="18" charset="0"/>
                <a:cs typeface="Times New Roman" panose="02020603050405020304" pitchFamily="18" charset="0"/>
              </a:rPr>
              <a:t>the POST </a:t>
            </a:r>
            <a:r>
              <a:rPr lang="en-GB" altLang="en-US" sz="2400" dirty="0">
                <a:solidFill>
                  <a:srgbClr val="FF0000"/>
                </a:solidFill>
                <a:latin typeface="Times New Roman" panose="02020603050405020304" pitchFamily="18" charset="0"/>
                <a:cs typeface="Times New Roman" panose="02020603050405020304" pitchFamily="18" charset="0"/>
              </a:rPr>
              <a:t>or </a:t>
            </a:r>
            <a:r>
              <a:rPr lang="en-GB" altLang="zh-CN" sz="2400" dirty="0">
                <a:solidFill>
                  <a:srgbClr val="FF0000"/>
                </a:solidFill>
                <a:latin typeface="Times New Roman" panose="02020603050405020304" pitchFamily="18" charset="0"/>
                <a:cs typeface="Times New Roman" panose="02020603050405020304" pitchFamily="18" charset="0"/>
              </a:rPr>
              <a:t>GET </a:t>
            </a:r>
            <a:r>
              <a:rPr lang="en-GB" altLang="en-US" sz="2400" dirty="0">
                <a:solidFill>
                  <a:srgbClr val="FF0000"/>
                </a:solidFill>
                <a:latin typeface="Times New Roman" panose="02020603050405020304" pitchFamily="18" charset="0"/>
                <a:cs typeface="Times New Roman" panose="02020603050405020304" pitchFamily="18" charset="0"/>
              </a:rPr>
              <a:t>method </a:t>
            </a:r>
            <a:r>
              <a:rPr lang="en-GB" altLang="zh-CN" sz="2400" dirty="0">
                <a:solidFill>
                  <a:srgbClr val="FF0000"/>
                </a:solidFill>
                <a:latin typeface="Times New Roman" panose="02020603050405020304" pitchFamily="18" charset="0"/>
                <a:cs typeface="Times New Roman" panose="02020603050405020304" pitchFamily="18" charset="0"/>
              </a:rPr>
              <a:t>and </a:t>
            </a:r>
            <a:r>
              <a:rPr lang="en-GB" altLang="en-US" sz="2400" dirty="0">
                <a:solidFill>
                  <a:srgbClr val="FF0000"/>
                </a:solidFill>
                <a:latin typeface="Times New Roman" panose="02020603050405020304" pitchFamily="18" charset="0"/>
                <a:cs typeface="Times New Roman" panose="02020603050405020304" pitchFamily="18" charset="0"/>
              </a:rPr>
              <a:t>returns an </a:t>
            </a:r>
            <a:r>
              <a:rPr lang="en-GB" altLang="zh-CN" sz="2400" dirty="0">
                <a:solidFill>
                  <a:srgbClr val="FF0000"/>
                </a:solidFill>
                <a:latin typeface="Times New Roman" panose="02020603050405020304" pitchFamily="18" charset="0"/>
                <a:cs typeface="Times New Roman" panose="02020603050405020304" pitchFamily="18" charset="0"/>
              </a:rPr>
              <a:t>HTML </a:t>
            </a:r>
            <a:r>
              <a:rPr lang="en-GB" altLang="en-US" sz="2400" dirty="0">
                <a:solidFill>
                  <a:srgbClr val="FF0000"/>
                </a:solidFill>
                <a:latin typeface="Times New Roman" panose="02020603050405020304" pitchFamily="18" charset="0"/>
                <a:cs typeface="Times New Roman" panose="02020603050405020304" pitchFamily="18" charset="0"/>
              </a:rPr>
              <a:t>page </a:t>
            </a:r>
            <a:r>
              <a:rPr lang="en-GB" altLang="zh-CN" sz="2400" dirty="0">
                <a:solidFill>
                  <a:srgbClr val="FF0000"/>
                </a:solidFill>
                <a:latin typeface="Times New Roman" panose="02020603050405020304" pitchFamily="18" charset="0"/>
                <a:cs typeface="Times New Roman" panose="02020603050405020304" pitchFamily="18" charset="0"/>
              </a:rPr>
              <a:t>showing </a:t>
            </a:r>
            <a:r>
              <a:rPr lang="en-GB" altLang="en-US" sz="2400" dirty="0">
                <a:solidFill>
                  <a:srgbClr val="FF0000"/>
                </a:solidFill>
                <a:latin typeface="Times New Roman" panose="02020603050405020304" pitchFamily="18" charset="0"/>
                <a:cs typeface="Times New Roman" panose="02020603050405020304" pitchFamily="18" charset="0"/>
              </a:rPr>
              <a:t>the submitted name and value. The data returned is </a:t>
            </a:r>
            <a:r>
              <a:rPr lang="en-GB" altLang="zh-CN" sz="2400" dirty="0">
                <a:solidFill>
                  <a:srgbClr val="FF0000"/>
                </a:solidFill>
                <a:latin typeface="Times New Roman" panose="02020603050405020304" pitchFamily="18" charset="0"/>
                <a:cs typeface="Times New Roman" panose="02020603050405020304" pitchFamily="18" charset="0"/>
              </a:rPr>
              <a:t>HTML</a:t>
            </a:r>
            <a:endParaRPr lang="en-GB" altLang="zh-CN" sz="2400" dirty="0">
              <a:solidFill>
                <a:srgbClr val="FF0000"/>
              </a:solidFill>
              <a:latin typeface="Times New Roman" panose="02020603050405020304" pitchFamily="18" charset="0"/>
              <a:cs typeface="Times New Roman" panose="02020603050405020304" pitchFamily="18" charset="0"/>
            </a:endParaRPr>
          </a:p>
        </p:txBody>
      </p:sp>
      <p:sp>
        <p:nvSpPr>
          <p:cNvPr id="95236" name="矩形 4"/>
          <p:cNvSpPr>
            <a:spLocks noChangeArrowheads="1"/>
          </p:cNvSpPr>
          <p:nvPr/>
        </p:nvSpPr>
        <p:spPr bwMode="auto">
          <a:xfrm>
            <a:off x="2008188" y="4237038"/>
            <a:ext cx="815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2" panose="05020102010507070707" pitchFamily="18" charset="2"/>
              <a:buNone/>
            </a:pPr>
            <a:r>
              <a:rPr lang="en-GB" altLang="en-US" sz="2400"/>
              <a:t>Demonstration example code: </a:t>
            </a:r>
            <a:r>
              <a:rPr lang="en-GB" altLang="zh-CN" sz="2400"/>
              <a:t>ch7.FormPoster.java</a:t>
            </a:r>
            <a:endParaRPr lang="zh-CN" altLang="en-US"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a:xfrm>
            <a:off x="1825625" y="228600"/>
            <a:ext cx="8540750" cy="762000"/>
          </a:xfrm>
        </p:spPr>
        <p:txBody>
          <a:bodyPr/>
          <a:lstStyle/>
          <a:p>
            <a:r>
              <a:rPr lang="en-GB" altLang="zh-CN" sz="3200"/>
              <a:t>POST </a:t>
            </a:r>
            <a:r>
              <a:rPr lang="en-GB" altLang="en-US" sz="3200"/>
              <a:t>request programming example</a:t>
            </a:r>
            <a:endParaRPr lang="en-GB" altLang="en-US" sz="3200"/>
          </a:p>
        </p:txBody>
      </p:sp>
      <p:pic>
        <p:nvPicPr>
          <p:cNvPr id="96259"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38288" y="0"/>
            <a:ext cx="8062912" cy="654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xfrm>
            <a:off x="1825625" y="228600"/>
            <a:ext cx="8540750" cy="762000"/>
          </a:xfrm>
        </p:spPr>
        <p:txBody>
          <a:bodyPr/>
          <a:lstStyle/>
          <a:p>
            <a:r>
              <a:rPr lang="en-GB" altLang="zh-CN" sz="3200"/>
              <a:t>POST </a:t>
            </a:r>
            <a:r>
              <a:rPr lang="en-GB" altLang="en-US" sz="3200"/>
              <a:t>request programming example</a:t>
            </a:r>
            <a:endParaRPr lang="en-GB" altLang="en-US" sz="3200"/>
          </a:p>
        </p:txBody>
      </p:sp>
      <p:pic>
        <p:nvPicPr>
          <p:cNvPr id="9728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067800" cy="565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1825625" y="228600"/>
            <a:ext cx="8540750" cy="762000"/>
          </a:xfrm>
        </p:spPr>
        <p:txBody>
          <a:bodyPr/>
          <a:lstStyle/>
          <a:p>
            <a:r>
              <a:rPr lang="en-GB" altLang="zh-CN" sz="3200"/>
              <a:t>POST </a:t>
            </a:r>
            <a:r>
              <a:rPr lang="en-GB" altLang="en-US" sz="3200"/>
              <a:t>request programming example</a:t>
            </a:r>
            <a:endParaRPr lang="en-GB" altLang="en-US" sz="3200"/>
          </a:p>
        </p:txBody>
      </p:sp>
      <p:pic>
        <p:nvPicPr>
          <p:cNvPr id="9830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30351" y="228600"/>
            <a:ext cx="868997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1825625" y="228600"/>
            <a:ext cx="8540750" cy="762000"/>
          </a:xfrm>
        </p:spPr>
        <p:txBody>
          <a:bodyPr/>
          <a:lstStyle/>
          <a:p>
            <a:r>
              <a:rPr lang="en-GB" altLang="zh-CN" sz="3200"/>
              <a:t>POST </a:t>
            </a:r>
            <a:r>
              <a:rPr lang="en-GB" altLang="en-US" sz="3200"/>
              <a:t>request programming example</a:t>
            </a:r>
            <a:endParaRPr lang="en-GB" altLang="en-US" sz="3200"/>
          </a:p>
        </p:txBody>
      </p:sp>
      <p:pic>
        <p:nvPicPr>
          <p:cNvPr id="99331"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990600"/>
            <a:ext cx="7086600"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914400"/>
            <a:ext cx="8215312"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4" name="标题 1"/>
          <p:cNvSpPr>
            <a:spLocks noGrp="1"/>
          </p:cNvSpPr>
          <p:nvPr>
            <p:ph type="title"/>
          </p:nvPr>
        </p:nvSpPr>
        <p:spPr>
          <a:xfrm>
            <a:off x="2286000" y="0"/>
            <a:ext cx="8540750" cy="762000"/>
          </a:xfrm>
        </p:spPr>
        <p:txBody>
          <a:bodyPr/>
          <a:lstStyle/>
          <a:p>
            <a:r>
              <a:rPr lang="en-GB" altLang="zh-CN" sz="3200" dirty="0"/>
              <a:t>POST </a:t>
            </a:r>
            <a:r>
              <a:rPr lang="en-GB" altLang="en-US" sz="3200" dirty="0"/>
              <a:t>request programming example</a:t>
            </a:r>
            <a:endParaRPr lang="en-GB" altLang="en-US" sz="3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a:xfrm>
            <a:off x="1825625" y="228600"/>
            <a:ext cx="8540750" cy="762000"/>
          </a:xfrm>
        </p:spPr>
        <p:txBody>
          <a:bodyPr/>
          <a:lstStyle/>
          <a:p>
            <a:pPr algn="l"/>
            <a:r>
              <a:rPr lang="en-GB" altLang="zh-CN" sz="3200"/>
              <a:t>POST </a:t>
            </a:r>
            <a:r>
              <a:rPr lang="en-GB" altLang="en-US" sz="3200"/>
              <a:t>request example analysis and testing</a:t>
            </a:r>
            <a:endParaRPr lang="en-GB" altLang="en-US" sz="3200"/>
          </a:p>
        </p:txBody>
      </p:sp>
      <p:sp>
        <p:nvSpPr>
          <p:cNvPr id="101379" name="内容占位符 2"/>
          <p:cNvSpPr>
            <a:spLocks noGrp="1"/>
          </p:cNvSpPr>
          <p:nvPr>
            <p:ph idx="1"/>
          </p:nvPr>
        </p:nvSpPr>
        <p:spPr>
          <a:xfrm>
            <a:off x="304800" y="1166813"/>
            <a:ext cx="11734800" cy="5135562"/>
          </a:xfrm>
        </p:spPr>
        <p:txBody>
          <a:bodyPr/>
          <a:lstStyle/>
          <a:p>
            <a:r>
              <a:rPr lang="en-GB" altLang="zh-CN" sz="2600" dirty="0" err="1">
                <a:solidFill>
                  <a:srgbClr val="000000"/>
                </a:solidFill>
                <a:latin typeface="Times New Roman" panose="02020603050405020304" pitchFamily="18" charset="0"/>
                <a:cs typeface="Times New Roman" panose="02020603050405020304" pitchFamily="18" charset="0"/>
              </a:rPr>
              <a:t>FormPoster </a:t>
            </a:r>
            <a:r>
              <a:rPr lang="en-GB" altLang="en-US" sz="2600" dirty="0">
                <a:solidFill>
                  <a:srgbClr val="000000"/>
                </a:solidFill>
                <a:latin typeface="Times New Roman" panose="02020603050405020304" pitchFamily="18" charset="0"/>
                <a:cs typeface="Times New Roman" panose="02020603050405020304" pitchFamily="18" charset="0"/>
              </a:rPr>
              <a:t>uses </a:t>
            </a:r>
            <a:r>
              <a:rPr lang="en-GB" altLang="zh-CN" sz="2600" dirty="0" err="1">
                <a:solidFill>
                  <a:srgbClr val="000000"/>
                </a:solidFill>
                <a:latin typeface="Times New Roman" panose="02020603050405020304" pitchFamily="18" charset="0"/>
                <a:cs typeface="Times New Roman" panose="02020603050405020304" pitchFamily="18" charset="0"/>
              </a:rPr>
              <a:t>the URLConnection </a:t>
            </a:r>
            <a:r>
              <a:rPr lang="en-GB" altLang="en-US" sz="2600" dirty="0">
                <a:solidFill>
                  <a:srgbClr val="000000"/>
                </a:solidFill>
                <a:latin typeface="Times New Roman" panose="02020603050405020304" pitchFamily="18" charset="0"/>
                <a:cs typeface="Times New Roman" panose="02020603050405020304" pitchFamily="18" charset="0"/>
              </a:rPr>
              <a:t>class and </a:t>
            </a:r>
            <a:r>
              <a:rPr lang="en-GB" altLang="zh-CN" sz="2600" dirty="0" err="1">
                <a:solidFill>
                  <a:srgbClr val="000000"/>
                </a:solidFill>
                <a:latin typeface="Times New Roman" panose="02020603050405020304" pitchFamily="18" charset="0"/>
                <a:cs typeface="Times New Roman" panose="02020603050405020304" pitchFamily="18" charset="0"/>
              </a:rPr>
              <a:t>the QueryString </a:t>
            </a:r>
            <a:r>
              <a:rPr lang="en-GB" altLang="en-US" sz="2600" dirty="0">
                <a:solidFill>
                  <a:srgbClr val="000000"/>
                </a:solidFill>
                <a:latin typeface="Times New Roman" panose="02020603050405020304" pitchFamily="18" charset="0"/>
                <a:cs typeface="Times New Roman" panose="02020603050405020304" pitchFamily="18" charset="0"/>
              </a:rPr>
              <a:t>class to submit </a:t>
            </a:r>
            <a:r>
              <a:rPr lang="en-GB" altLang="zh-CN" sz="2600" dirty="0">
                <a:solidFill>
                  <a:srgbClr val="000000"/>
                </a:solidFill>
                <a:latin typeface="Times New Roman" panose="02020603050405020304" pitchFamily="18" charset="0"/>
                <a:cs typeface="Times New Roman" panose="02020603050405020304" pitchFamily="18" charset="0"/>
              </a:rPr>
              <a:t>POST </a:t>
            </a:r>
            <a:r>
              <a:rPr lang="en-GB" altLang="en-US" sz="2600" dirty="0">
                <a:solidFill>
                  <a:srgbClr val="000000"/>
                </a:solidFill>
                <a:latin typeface="Times New Roman" panose="02020603050405020304" pitchFamily="18" charset="0"/>
                <a:cs typeface="Times New Roman" panose="02020603050405020304" pitchFamily="18" charset="0"/>
              </a:rPr>
              <a:t>form data.</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en-GB" altLang="zh-CN" sz="2600" dirty="0">
                <a:solidFill>
                  <a:srgbClr val="000000"/>
                </a:solidFill>
                <a:latin typeface="Times New Roman" panose="02020603050405020304" pitchFamily="18" charset="0"/>
                <a:cs typeface="Times New Roman" panose="02020603050405020304" pitchFamily="18" charset="0"/>
              </a:rPr>
              <a:t>the URL </a:t>
            </a:r>
            <a:r>
              <a:rPr lang="en-GB" altLang="en-US" sz="2600" dirty="0">
                <a:solidFill>
                  <a:srgbClr val="000000"/>
                </a:solidFill>
                <a:latin typeface="Times New Roman" panose="02020603050405020304" pitchFamily="18" charset="0"/>
                <a:cs typeface="Times New Roman" panose="02020603050405020304" pitchFamily="18" charset="0"/>
              </a:rPr>
              <a:t>in the constructor .</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en-GB" altLang="en-US" sz="2600" dirty="0">
                <a:solidFill>
                  <a:srgbClr val="000000"/>
                </a:solidFill>
                <a:latin typeface="Times New Roman" panose="02020603050405020304" pitchFamily="18" charset="0"/>
                <a:cs typeface="Times New Roman" panose="02020603050405020304" pitchFamily="18" charset="0"/>
              </a:rPr>
              <a:t>The query string is constructed using the </a:t>
            </a:r>
            <a:r>
              <a:rPr lang="en-GB" altLang="zh-CN" sz="2600" dirty="0">
                <a:solidFill>
                  <a:srgbClr val="000000"/>
                </a:solidFill>
                <a:latin typeface="Times New Roman" panose="02020603050405020304" pitchFamily="18" charset="0"/>
                <a:cs typeface="Times New Roman" panose="02020603050405020304" pitchFamily="18" charset="0"/>
              </a:rPr>
              <a:t>add() </a:t>
            </a:r>
            <a:r>
              <a:rPr lang="en-GB" altLang="en-US" sz="2600" dirty="0">
                <a:solidFill>
                  <a:srgbClr val="000000"/>
                </a:solidFill>
                <a:latin typeface="Times New Roman" panose="02020603050405020304" pitchFamily="18" charset="0"/>
                <a:cs typeface="Times New Roman" panose="02020603050405020304" pitchFamily="18" charset="0"/>
              </a:rPr>
              <a:t>method.</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en-GB" altLang="zh-CN" sz="2600" dirty="0">
                <a:solidFill>
                  <a:srgbClr val="000000"/>
                </a:solidFill>
                <a:latin typeface="Times New Roman" panose="02020603050405020304" pitchFamily="18" charset="0"/>
                <a:cs typeface="Times New Roman" panose="02020603050405020304" pitchFamily="18" charset="0"/>
              </a:rPr>
              <a:t>The Post() </a:t>
            </a:r>
            <a:r>
              <a:rPr lang="en-GB" altLang="en-US" sz="2600" dirty="0">
                <a:solidFill>
                  <a:srgbClr val="000000"/>
                </a:solidFill>
                <a:latin typeface="Times New Roman" panose="02020603050405020304" pitchFamily="18" charset="0"/>
                <a:cs typeface="Times New Roman" panose="02020603050405020304" pitchFamily="18" charset="0"/>
              </a:rPr>
              <a:t>method is responsible for sending data to the server and returns an input stream containing the server's response.</a:t>
            </a:r>
            <a:endParaRPr lang="en-US" altLang="zh-CN" sz="2600" dirty="0">
              <a:solidFill>
                <a:srgbClr val="000000"/>
              </a:solidFill>
              <a:latin typeface="Times New Roman" panose="02020603050405020304" pitchFamily="18" charset="0"/>
              <a:cs typeface="Times New Roman" panose="02020603050405020304" pitchFamily="18" charset="0"/>
            </a:endParaRPr>
          </a:p>
          <a:p>
            <a:r>
              <a:rPr lang="en-GB" altLang="zh-CN" sz="2600" dirty="0">
                <a:solidFill>
                  <a:srgbClr val="000000"/>
                </a:solidFill>
                <a:latin typeface="Times New Roman" panose="02020603050405020304" pitchFamily="18" charset="0"/>
                <a:cs typeface="Times New Roman" panose="02020603050405020304" pitchFamily="18" charset="0"/>
              </a:rPr>
              <a:t>The Main() </a:t>
            </a:r>
            <a:r>
              <a:rPr lang="en-GB" altLang="en-US" sz="2600" dirty="0">
                <a:solidFill>
                  <a:srgbClr val="000000"/>
                </a:solidFill>
                <a:latin typeface="Times New Roman" panose="02020603050405020304" pitchFamily="18" charset="0"/>
                <a:cs typeface="Times New Roman" panose="02020603050405020304" pitchFamily="18" charset="0"/>
              </a:rPr>
              <a:t>method implements a test that </a:t>
            </a:r>
            <a:r>
              <a:rPr lang="en-GB" altLang="en-US" sz="2200" dirty="0">
                <a:latin typeface="Times New Roman" panose="02020603050405020304" pitchFamily="18" charset="0"/>
                <a:cs typeface="Times New Roman" panose="02020603050405020304" pitchFamily="18" charset="0"/>
              </a:rPr>
              <a:t>sends the name " </a:t>
            </a:r>
            <a:r>
              <a:rPr lang="en-GB" altLang="zh-CN" sz="2200" dirty="0" err="1">
                <a:latin typeface="Times New Roman" panose="02020603050405020304" pitchFamily="18" charset="0"/>
                <a:cs typeface="Times New Roman" panose="02020603050405020304" pitchFamily="18" charset="0"/>
              </a:rPr>
              <a:t>Elliotte </a:t>
            </a:r>
            <a:r>
              <a:rPr lang="en-GB" altLang="zh-CN" sz="2200" dirty="0">
                <a:latin typeface="Times New Roman" panose="02020603050405020304" pitchFamily="18" charset="0"/>
                <a:cs typeface="Times New Roman" panose="02020603050405020304" pitchFamily="18" charset="0"/>
              </a:rPr>
              <a:t>Rusty Harold </a:t>
            </a:r>
            <a:r>
              <a:rPr lang="en-GB" altLang="en-US" sz="2200" dirty="0">
                <a:latin typeface="Times New Roman" panose="02020603050405020304" pitchFamily="18" charset="0"/>
                <a:cs typeface="Times New Roman" panose="02020603050405020304" pitchFamily="18" charset="0"/>
              </a:rPr>
              <a:t>" and the email address </a:t>
            </a:r>
            <a:r>
              <a:rPr lang="en-GB" altLang="zh-CN" sz="2200" dirty="0">
                <a:latin typeface="Times New Roman" panose="02020603050405020304" pitchFamily="18" charset="0"/>
                <a:cs typeface="Times New Roman" panose="02020603050405020304" pitchFamily="18" charset="0"/>
              </a:rPr>
              <a:t>elharo@ibiblio.org </a:t>
            </a:r>
            <a:r>
              <a:rPr lang="en-GB" altLang="en-US" sz="2200" dirty="0">
                <a:solidFill>
                  <a:srgbClr val="000000"/>
                </a:solidFill>
                <a:latin typeface="Times New Roman" panose="02020603050405020304" pitchFamily="18" charset="0"/>
                <a:cs typeface="Times New Roman" panose="02020603050405020304" pitchFamily="18" charset="0"/>
              </a:rPr>
              <a:t>to the resource located at </a:t>
            </a:r>
            <a:r>
              <a:rPr lang="en-GB" altLang="zh-CN" sz="2200" b="1" dirty="0">
                <a:latin typeface="Times New Roman" panose="02020603050405020304" pitchFamily="18" charset="0"/>
                <a:cs typeface="Times New Roman" panose="02020603050405020304" pitchFamily="18" charset="0"/>
                <a:hlinkClick r:id="rId1"/>
              </a:rPr>
              <a:t>http://www.cafeaulait.org/books/jnp4/postquery.phtml </a:t>
            </a:r>
            <a:r>
              <a:rPr lang="en-GB" altLang="en-US" sz="2200" dirty="0">
                <a:latin typeface="Times New Roman" panose="02020603050405020304" pitchFamily="18" charset="0"/>
                <a:cs typeface="Times New Roman" panose="02020603050405020304" pitchFamily="18" charset="0"/>
              </a:rPr>
              <a:t>. This </a:t>
            </a:r>
            <a:r>
              <a:rPr lang="en-GB" altLang="zh-CN" sz="2200" dirty="0">
                <a:latin typeface="Times New Roman" panose="02020603050405020304" pitchFamily="18" charset="0"/>
                <a:cs typeface="Times New Roman" panose="02020603050405020304" pitchFamily="18" charset="0"/>
              </a:rPr>
              <a:t>Web </a:t>
            </a:r>
            <a:r>
              <a:rPr lang="en-GB" altLang="en-US" sz="2200" dirty="0">
                <a:latin typeface="Times New Roman" panose="02020603050405020304" pitchFamily="18" charset="0"/>
                <a:cs typeface="Times New Roman" panose="02020603050405020304" pitchFamily="18" charset="0"/>
              </a:rPr>
              <a:t>resource is a form tester that accepts any input using </a:t>
            </a:r>
            <a:r>
              <a:rPr lang="en-GB" altLang="zh-CN" sz="2200" dirty="0">
                <a:latin typeface="Times New Roman" panose="02020603050405020304" pitchFamily="18" charset="0"/>
                <a:cs typeface="Times New Roman" panose="02020603050405020304" pitchFamily="18" charset="0"/>
              </a:rPr>
              <a:t>the POST </a:t>
            </a:r>
            <a:r>
              <a:rPr lang="en-GB" altLang="en-US" sz="2200" dirty="0">
                <a:latin typeface="Times New Roman" panose="02020603050405020304" pitchFamily="18" charset="0"/>
                <a:cs typeface="Times New Roman" panose="02020603050405020304" pitchFamily="18" charset="0"/>
              </a:rPr>
              <a:t>or </a:t>
            </a:r>
            <a:r>
              <a:rPr lang="en-GB" altLang="zh-CN" sz="2200" dirty="0">
                <a:latin typeface="Times New Roman" panose="02020603050405020304" pitchFamily="18" charset="0"/>
                <a:cs typeface="Times New Roman" panose="02020603050405020304" pitchFamily="18" charset="0"/>
              </a:rPr>
              <a:t>GET </a:t>
            </a:r>
            <a:r>
              <a:rPr lang="en-GB" altLang="en-US" sz="2200" dirty="0">
                <a:latin typeface="Times New Roman" panose="02020603050405020304" pitchFamily="18" charset="0"/>
                <a:cs typeface="Times New Roman" panose="02020603050405020304" pitchFamily="18" charset="0"/>
              </a:rPr>
              <a:t>method and returns an unparsed </a:t>
            </a:r>
            <a:r>
              <a:rPr lang="en-GB" altLang="zh-CN" sz="2200" dirty="0">
                <a:latin typeface="Times New Roman" panose="02020603050405020304" pitchFamily="18" charset="0"/>
                <a:cs typeface="Times New Roman" panose="02020603050405020304" pitchFamily="18" charset="0"/>
              </a:rPr>
              <a:t>HTML </a:t>
            </a:r>
            <a:r>
              <a:rPr lang="en-GB" altLang="en-US" sz="2200" dirty="0">
                <a:latin typeface="Times New Roman" panose="02020603050405020304" pitchFamily="18" charset="0"/>
                <a:cs typeface="Times New Roman" panose="02020603050405020304" pitchFamily="18" charset="0"/>
              </a:rPr>
              <a:t>page showing the submitted name and value </a:t>
            </a:r>
            <a:r>
              <a:rPr lang="en-GB" altLang="en-US" sz="2400" dirty="0">
                <a:latin typeface="Times New Roman" panose="02020603050405020304" pitchFamily="18" charset="0"/>
                <a:cs typeface="Times New Roman" panose="02020603050405020304" pitchFamily="18" charset="0"/>
              </a:rPr>
              <a:t>.</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762000" y="76200"/>
            <a:ext cx="9531350" cy="762000"/>
          </a:xfrm>
        </p:spPr>
        <p:txBody>
          <a:bodyPr/>
          <a:lstStyle/>
          <a:p>
            <a:pPr algn="l"/>
            <a:r>
              <a:rPr lang="en-GB" altLang="en-US" sz="3200" dirty="0"/>
              <a:t>Summary of submitting form data programming</a:t>
            </a:r>
            <a:endParaRPr lang="en-GB" altLang="en-US" sz="3200" dirty="0"/>
          </a:p>
        </p:txBody>
      </p:sp>
      <p:sp>
        <p:nvSpPr>
          <p:cNvPr id="102403" name="内容占位符 2"/>
          <p:cNvSpPr>
            <a:spLocks noGrp="1"/>
          </p:cNvSpPr>
          <p:nvPr>
            <p:ph idx="1"/>
          </p:nvPr>
        </p:nvSpPr>
        <p:spPr>
          <a:xfrm>
            <a:off x="457200" y="990600"/>
            <a:ext cx="11430000" cy="5135563"/>
          </a:xfrm>
        </p:spPr>
        <p:txBody>
          <a:bodyPr/>
          <a:lstStyle/>
          <a:p>
            <a:r>
              <a:rPr lang="en-GB" altLang="zh-CN" sz="2000" dirty="0">
                <a:solidFill>
                  <a:srgbClr val="000000"/>
                </a:solidFill>
                <a:latin typeface="Times New Roman" panose="02020603050405020304" pitchFamily="18" charset="0"/>
                <a:cs typeface="Times New Roman" panose="02020603050405020304" pitchFamily="18" charset="0"/>
              </a:rPr>
              <a:t>1. Determine the name - </a:t>
            </a:r>
            <a:r>
              <a:rPr lang="en-GB" altLang="en-US" sz="2000" dirty="0">
                <a:solidFill>
                  <a:srgbClr val="000000"/>
                </a:solidFill>
                <a:latin typeface="Times New Roman" panose="02020603050405020304" pitchFamily="18" charset="0"/>
                <a:cs typeface="Times New Roman" panose="02020603050405020304" pitchFamily="18" charset="0"/>
              </a:rPr>
              <a:t>value pairs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2. </a:t>
            </a:r>
            <a:r>
              <a:rPr lang="en-GB" altLang="en-US" sz="2000" dirty="0">
                <a:solidFill>
                  <a:srgbClr val="000000"/>
                </a:solidFill>
                <a:latin typeface="Times New Roman" panose="02020603050405020304" pitchFamily="18" charset="0"/>
                <a:cs typeface="Times New Roman" panose="02020603050405020304" pitchFamily="18" charset="0"/>
              </a:rPr>
              <a:t>Write a server-side program that accepts and processes requests. If you do not use custom data encoding, you can test this program using a normal </a:t>
            </a:r>
            <a:r>
              <a:rPr lang="en-GB" altLang="zh-CN" sz="2000" dirty="0">
                <a:solidFill>
                  <a:srgbClr val="000000"/>
                </a:solidFill>
                <a:latin typeface="Times New Roman" panose="02020603050405020304" pitchFamily="18" charset="0"/>
                <a:cs typeface="Times New Roman" panose="02020603050405020304" pitchFamily="18" charset="0"/>
              </a:rPr>
              <a:t>HTML </a:t>
            </a:r>
            <a:r>
              <a:rPr lang="en-GB" altLang="en-US" sz="2000" dirty="0">
                <a:solidFill>
                  <a:srgbClr val="000000"/>
                </a:solidFill>
                <a:latin typeface="Times New Roman" panose="02020603050405020304" pitchFamily="18" charset="0"/>
                <a:cs typeface="Times New Roman" panose="02020603050405020304" pitchFamily="18" charset="0"/>
              </a:rPr>
              <a:t>form and a </a:t>
            </a:r>
            <a:r>
              <a:rPr lang="en-GB" altLang="zh-CN" sz="2000" dirty="0">
                <a:solidFill>
                  <a:srgbClr val="000000"/>
                </a:solidFill>
                <a:latin typeface="Times New Roman" panose="02020603050405020304" pitchFamily="18" charset="0"/>
                <a:cs typeface="Times New Roman" panose="02020603050405020304" pitchFamily="18" charset="0"/>
              </a:rPr>
              <a:t>Web </a:t>
            </a:r>
            <a:r>
              <a:rPr lang="en-GB" altLang="en-US" sz="2000" dirty="0">
                <a:solidFill>
                  <a:srgbClr val="000000"/>
                </a:solidFill>
                <a:latin typeface="Times New Roman" panose="02020603050405020304" pitchFamily="18" charset="0"/>
                <a:cs typeface="Times New Roman" panose="02020603050405020304" pitchFamily="18" charset="0"/>
              </a:rPr>
              <a:t>browser.</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3. </a:t>
            </a:r>
            <a:r>
              <a:rPr lang="en-GB" altLang="en-US" sz="2000" dirty="0">
                <a:solidFill>
                  <a:srgbClr val="000000"/>
                </a:solidFill>
                <a:latin typeface="Times New Roman" panose="02020603050405020304" pitchFamily="18" charset="0"/>
                <a:cs typeface="Times New Roman" panose="02020603050405020304" pitchFamily="18" charset="0"/>
              </a:rPr>
              <a:t>Create a query string in the Java program. The string format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name1=value1&amp;name2=value2&amp;name3=value3 Each name and value is passed to </a:t>
            </a:r>
            <a:r>
              <a:rPr lang="en-GB" altLang="zh-CN" sz="2000" dirty="0" err="1">
                <a:solidFill>
                  <a:srgbClr val="000000"/>
                </a:solidFill>
                <a:latin typeface="Times New Roman" panose="02020603050405020304" pitchFamily="18" charset="0"/>
                <a:cs typeface="Times New Roman" panose="02020603050405020304" pitchFamily="18" charset="0"/>
              </a:rPr>
              <a:t>URLEncoder.encode </a:t>
            </a:r>
            <a:r>
              <a:rPr lang="en-GB" altLang="zh-CN" sz="2000" dirty="0">
                <a:solidFill>
                  <a:srgbClr val="000000"/>
                </a:solidFill>
                <a:latin typeface="Times New Roman" panose="02020603050405020304" pitchFamily="18" charset="0"/>
                <a:cs typeface="Times New Roman" panose="02020603050405020304" pitchFamily="18" charset="0"/>
              </a:rPr>
              <a:t>() </a:t>
            </a:r>
            <a:r>
              <a:rPr lang="en-GB" altLang="en-US" sz="2000" dirty="0">
                <a:solidFill>
                  <a:srgbClr val="000000"/>
                </a:solidFill>
                <a:latin typeface="Times New Roman" panose="02020603050405020304" pitchFamily="18" charset="0"/>
                <a:cs typeface="Times New Roman" panose="02020603050405020304" pitchFamily="18" charset="0"/>
              </a:rPr>
              <a:t>before being added to the query string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4. </a:t>
            </a:r>
            <a:r>
              <a:rPr lang="en-GB" altLang="en-US" sz="2000" dirty="0">
                <a:solidFill>
                  <a:srgbClr val="000000"/>
                </a:solidFill>
                <a:latin typeface="Times New Roman" panose="02020603050405020304" pitchFamily="18" charset="0"/>
                <a:cs typeface="Times New Roman" panose="02020603050405020304" pitchFamily="18" charset="0"/>
              </a:rPr>
              <a:t>Open a </a:t>
            </a:r>
            <a:r>
              <a:rPr lang="en-GB" altLang="zh-CN" sz="2000" dirty="0" err="1">
                <a:solidFill>
                  <a:srgbClr val="000000"/>
                </a:solidFill>
                <a:latin typeface="Times New Roman" panose="02020603050405020304" pitchFamily="18" charset="0"/>
                <a:cs typeface="Times New Roman" panose="02020603050405020304" pitchFamily="18" charset="0"/>
              </a:rPr>
              <a:t>URLConnection pointing to </a:t>
            </a:r>
            <a:r>
              <a:rPr lang="en-GB" altLang="zh-CN" sz="2000" dirty="0">
                <a:solidFill>
                  <a:srgbClr val="000000"/>
                </a:solidFill>
                <a:latin typeface="Times New Roman" panose="02020603050405020304" pitchFamily="18" charset="0"/>
                <a:cs typeface="Times New Roman" panose="02020603050405020304" pitchFamily="18" charset="0"/>
              </a:rPr>
              <a:t>the URL </a:t>
            </a:r>
            <a:r>
              <a:rPr lang="en-GB" altLang="en-US" sz="2000" dirty="0">
                <a:solidFill>
                  <a:srgbClr val="000000"/>
                </a:solidFill>
                <a:latin typeface="Times New Roman" panose="02020603050405020304" pitchFamily="18" charset="0"/>
                <a:cs typeface="Times New Roman" panose="02020603050405020304" pitchFamily="18" charset="0"/>
              </a:rPr>
              <a:t>of the program that will receive the data</a:t>
            </a:r>
            <a:endParaRPr lang="en-GB" altLang="en-US"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5. </a:t>
            </a:r>
            <a:r>
              <a:rPr lang="en-GB" altLang="en-US" sz="2000" dirty="0">
                <a:solidFill>
                  <a:srgbClr val="000000"/>
                </a:solidFill>
                <a:latin typeface="Times New Roman" panose="02020603050405020304" pitchFamily="18" charset="0"/>
                <a:cs typeface="Times New Roman" panose="02020603050405020304" pitchFamily="18" charset="0"/>
              </a:rPr>
              <a:t>Call </a:t>
            </a:r>
            <a:r>
              <a:rPr lang="en-GB" altLang="zh-CN" sz="2000" dirty="0" err="1">
                <a:solidFill>
                  <a:srgbClr val="000000"/>
                </a:solidFill>
                <a:latin typeface="Times New Roman" panose="02020603050405020304" pitchFamily="18" charset="0"/>
                <a:cs typeface="Times New Roman" panose="02020603050405020304" pitchFamily="18" charset="0"/>
              </a:rPr>
              <a:t>setDoOutput </a:t>
            </a:r>
            <a:r>
              <a:rPr lang="en-GB" altLang="zh-CN" sz="2000" dirty="0">
                <a:solidFill>
                  <a:srgbClr val="000000"/>
                </a:solidFill>
                <a:latin typeface="Times New Roman" panose="02020603050405020304" pitchFamily="18" charset="0"/>
                <a:cs typeface="Times New Roman" panose="02020603050405020304" pitchFamily="18" charset="0"/>
              </a:rPr>
              <a:t>(true) </a:t>
            </a:r>
            <a:r>
              <a:rPr lang="en-GB" altLang="en-US" sz="2000" dirty="0">
                <a:solidFill>
                  <a:srgbClr val="000000"/>
                </a:solidFill>
                <a:latin typeface="Times New Roman" panose="02020603050405020304" pitchFamily="18" charset="0"/>
                <a:cs typeface="Times New Roman" panose="02020603050405020304" pitchFamily="18" charset="0"/>
              </a:rPr>
              <a:t>to set </a:t>
            </a:r>
            <a:r>
              <a:rPr lang="en-GB" altLang="zh-CN" sz="2000" dirty="0" err="1">
                <a:solidFill>
                  <a:srgbClr val="000000"/>
                </a:solidFill>
                <a:latin typeface="Times New Roman" panose="02020603050405020304" pitchFamily="18" charset="0"/>
                <a:cs typeface="Times New Roman" panose="02020603050405020304" pitchFamily="18" charset="0"/>
              </a:rPr>
              <a:t>doOutput </a:t>
            </a:r>
            <a:r>
              <a:rPr lang="en-GB" altLang="en-US" sz="2000" dirty="0">
                <a:solidFill>
                  <a:srgbClr val="000000"/>
                </a:solidFill>
                <a:latin typeface="Times New Roman" panose="02020603050405020304" pitchFamily="18" charset="0"/>
                <a:cs typeface="Times New Roman" panose="02020603050405020304" pitchFamily="18" charset="0"/>
              </a:rPr>
              <a:t>to </a:t>
            </a:r>
            <a:r>
              <a:rPr lang="en-GB" altLang="zh-CN" sz="2000" dirty="0">
                <a:solidFill>
                  <a:srgbClr val="000000"/>
                </a:solidFill>
                <a:latin typeface="Times New Roman" panose="02020603050405020304" pitchFamily="18" charset="0"/>
                <a:cs typeface="Times New Roman" panose="02020603050405020304" pitchFamily="18" charset="0"/>
              </a:rPr>
              <a:t>true</a:t>
            </a:r>
            <a:endParaRPr lang="en-GB"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6. </a:t>
            </a:r>
            <a:r>
              <a:rPr lang="en-GB" altLang="en-US" sz="2000" dirty="0">
                <a:solidFill>
                  <a:srgbClr val="000000"/>
                </a:solidFill>
                <a:latin typeface="Times New Roman" panose="02020603050405020304" pitchFamily="18" charset="0"/>
                <a:cs typeface="Times New Roman" panose="02020603050405020304" pitchFamily="18" charset="0"/>
              </a:rPr>
              <a:t>Write the query string to </a:t>
            </a:r>
            <a:r>
              <a:rPr lang="en-GB" altLang="zh-CN" sz="2000" dirty="0" err="1">
                <a:solidFill>
                  <a:srgbClr val="000000"/>
                </a:solidFill>
                <a:latin typeface="Times New Roman" panose="02020603050405020304" pitchFamily="18" charset="0"/>
                <a:cs typeface="Times New Roman" panose="02020603050405020304" pitchFamily="18" charset="0"/>
              </a:rPr>
              <a:t>the URLConnection </a:t>
            </a:r>
            <a:r>
              <a:rPr lang="en-GB" altLang="en-US" sz="2000" dirty="0">
                <a:solidFill>
                  <a:srgbClr val="000000"/>
                </a:solidFill>
                <a:latin typeface="Times New Roman" panose="02020603050405020304" pitchFamily="18" charset="0"/>
                <a:cs typeface="Times New Roman" panose="02020603050405020304" pitchFamily="18" charset="0"/>
              </a:rPr>
              <a:t>'s </a:t>
            </a:r>
            <a:r>
              <a:rPr lang="en-GB" altLang="zh-CN" sz="2000" dirty="0" err="1">
                <a:solidFill>
                  <a:srgbClr val="000000"/>
                </a:solidFill>
                <a:latin typeface="Times New Roman" panose="02020603050405020304" pitchFamily="18" charset="0"/>
                <a:cs typeface="Times New Roman" panose="02020603050405020304" pitchFamily="18" charset="0"/>
              </a:rPr>
              <a:t>OutputStream</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7. </a:t>
            </a:r>
            <a:r>
              <a:rPr lang="en-GB" altLang="en-US" sz="2000" dirty="0">
                <a:solidFill>
                  <a:srgbClr val="000000"/>
                </a:solidFill>
                <a:latin typeface="Times New Roman" panose="02020603050405020304" pitchFamily="18" charset="0"/>
                <a:cs typeface="Times New Roman" panose="02020603050405020304" pitchFamily="18" charset="0"/>
              </a:rPr>
              <a:t>Close </a:t>
            </a:r>
            <a:r>
              <a:rPr lang="en-GB" altLang="zh-CN" sz="2000" dirty="0" err="1">
                <a:solidFill>
                  <a:srgbClr val="000000"/>
                </a:solidFill>
                <a:latin typeface="Times New Roman" panose="02020603050405020304" pitchFamily="18" charset="0"/>
                <a:cs typeface="Times New Roman" panose="02020603050405020304" pitchFamily="18" charset="0"/>
              </a:rPr>
              <a:t>the OutputStream </a:t>
            </a: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GB" altLang="zh-CN" sz="2000" dirty="0">
                <a:solidFill>
                  <a:srgbClr val="000000"/>
                </a:solidFill>
                <a:latin typeface="Times New Roman" panose="02020603050405020304" pitchFamily="18" charset="0"/>
                <a:cs typeface="Times New Roman" panose="02020603050405020304" pitchFamily="18" charset="0"/>
              </a:rPr>
              <a:t>8. </a:t>
            </a:r>
            <a:r>
              <a:rPr lang="en-GB" altLang="en-US" sz="2000" dirty="0">
                <a:solidFill>
                  <a:srgbClr val="000000"/>
                </a:solidFill>
                <a:latin typeface="Times New Roman" panose="02020603050405020304" pitchFamily="18" charset="0"/>
                <a:cs typeface="Times New Roman" panose="02020603050405020304" pitchFamily="18" charset="0"/>
              </a:rPr>
              <a:t>Read the server response </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1825625" y="152400"/>
            <a:ext cx="8540750" cy="838200"/>
          </a:xfrm>
        </p:spPr>
        <p:txBody>
          <a:bodyPr/>
          <a:lstStyle/>
          <a:p>
            <a:pPr algn="l"/>
            <a:r>
              <a:rPr lang="en-GB" altLang="en-US" sz="3200" dirty="0"/>
              <a:t>Guessing </a:t>
            </a:r>
            <a:r>
              <a:rPr lang="en-GB" altLang="zh-CN" sz="3200" dirty="0"/>
              <a:t>MIME </a:t>
            </a:r>
            <a:r>
              <a:rPr lang="en-GB" altLang="en-US" sz="3200" dirty="0"/>
              <a:t>media type</a:t>
            </a:r>
            <a:endParaRPr lang="en-GB" altLang="en-US" sz="3200" dirty="0"/>
          </a:p>
        </p:txBody>
      </p:sp>
      <p:sp>
        <p:nvSpPr>
          <p:cNvPr id="103427" name="内容占位符 2"/>
          <p:cNvSpPr>
            <a:spLocks noGrp="1"/>
          </p:cNvSpPr>
          <p:nvPr>
            <p:ph idx="1"/>
          </p:nvPr>
        </p:nvSpPr>
        <p:spPr>
          <a:xfrm>
            <a:off x="304800" y="1295400"/>
            <a:ext cx="11582400" cy="4038600"/>
          </a:xfrm>
        </p:spPr>
        <p:txBody>
          <a:bodyPr/>
          <a:lstStyle/>
          <a:p>
            <a:r>
              <a:rPr lang="en-GB" altLang="en-US" sz="2000" dirty="0">
                <a:latin typeface="Times New Roman" panose="02020603050405020304" pitchFamily="18" charset="0"/>
                <a:cs typeface="Times New Roman" panose="02020603050405020304" pitchFamily="18" charset="0"/>
              </a:rPr>
              <a:t>In a heterogeneous network environment, not all protocols and servers will use standard </a:t>
            </a:r>
            <a:r>
              <a:rPr lang="en-GB" altLang="zh-CN" sz="2000" dirty="0">
                <a:latin typeface="Times New Roman" panose="02020603050405020304" pitchFamily="18" charset="0"/>
                <a:cs typeface="Times New Roman" panose="02020603050405020304" pitchFamily="18" charset="0"/>
              </a:rPr>
              <a:t>MIME </a:t>
            </a:r>
            <a:r>
              <a:rPr lang="en-GB" altLang="en-US" sz="2000" dirty="0">
                <a:latin typeface="Times New Roman" panose="02020603050405020304" pitchFamily="18" charset="0"/>
                <a:cs typeface="Times New Roman" panose="02020603050405020304" pitchFamily="18" charset="0"/>
              </a:rPr>
              <a:t>types to correctly specify the type of files being transferred.</a:t>
            </a:r>
            <a:endParaRPr lang="en-US" altLang="zh-CN" sz="20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The FTP protocol </a:t>
            </a:r>
            <a:r>
              <a:rPr lang="en-GB" altLang="en-US" sz="2000" dirty="0">
                <a:latin typeface="Times New Roman" panose="02020603050405020304" pitchFamily="18" charset="0"/>
                <a:cs typeface="Times New Roman" panose="02020603050405020304" pitchFamily="18" charset="0"/>
              </a:rPr>
              <a:t>appeared earlier </a:t>
            </a:r>
            <a:endParaRPr lang="en-US" altLang="zh-CN" sz="20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HTTP </a:t>
            </a:r>
            <a:r>
              <a:rPr lang="en-GB" altLang="en-US" sz="2000" dirty="0">
                <a:latin typeface="Times New Roman" panose="02020603050405020304" pitchFamily="18" charset="0"/>
                <a:cs typeface="Times New Roman" panose="02020603050405020304" pitchFamily="18" charset="0"/>
              </a:rPr>
              <a:t>servers that use MIME do not provide MIME headers </a:t>
            </a:r>
            <a:r>
              <a:rPr lang="en-GB" altLang="zh-CN" sz="2000" dirty="0">
                <a:latin typeface="Times New Roman" panose="02020603050405020304" pitchFamily="18" charset="0"/>
                <a:cs typeface="Times New Roman" panose="02020603050405020304" pitchFamily="18" charset="0"/>
              </a:rPr>
              <a:t>, or </a:t>
            </a:r>
            <a:r>
              <a:rPr lang="en-GB" altLang="en-US" sz="2000" dirty="0">
                <a:latin typeface="Times New Roman" panose="02020603050405020304" pitchFamily="18" charset="0"/>
                <a:cs typeface="Times New Roman" panose="02020603050405020304" pitchFamily="18" charset="0"/>
              </a:rPr>
              <a:t>provide </a:t>
            </a:r>
            <a:r>
              <a:rPr lang="en-GB" altLang="zh-CN" sz="2000" dirty="0">
                <a:latin typeface="Times New Roman" panose="02020603050405020304" pitchFamily="18" charset="0"/>
                <a:cs typeface="Times New Roman" panose="02020603050405020304" pitchFamily="18" charset="0"/>
              </a:rPr>
              <a:t>incorrect </a:t>
            </a:r>
            <a:r>
              <a:rPr lang="en-GB" altLang="en-US" sz="2000" dirty="0">
                <a:latin typeface="Times New Roman" panose="02020603050405020304" pitchFamily="18" charset="0"/>
                <a:cs typeface="Times New Roman" panose="02020603050405020304" pitchFamily="18" charset="0"/>
              </a:rPr>
              <a:t>headers.</a:t>
            </a:r>
            <a:endParaRPr lang="en-US" altLang="zh-CN" sz="2000" dirty="0">
              <a:latin typeface="Times New Roman" panose="02020603050405020304" pitchFamily="18" charset="0"/>
              <a:cs typeface="Times New Roman" panose="02020603050405020304" pitchFamily="18" charset="0"/>
            </a:endParaRPr>
          </a:p>
          <a:p>
            <a:r>
              <a:rPr lang="en-GB" altLang="en-US" sz="2000" dirty="0">
                <a:solidFill>
                  <a:srgbClr val="FF0000"/>
                </a:solidFill>
                <a:latin typeface="Times New Roman" panose="02020603050405020304" pitchFamily="18" charset="0"/>
                <a:cs typeface="Times New Roman" panose="02020603050405020304" pitchFamily="18" charset="0"/>
              </a:rPr>
              <a:t>When programming, </a:t>
            </a:r>
            <a:r>
              <a:rPr lang="en-GB" altLang="en-US" sz="2000" dirty="0">
                <a:latin typeface="Times New Roman" panose="02020603050405020304" pitchFamily="18" charset="0"/>
                <a:cs typeface="Times New Roman" panose="02020603050405020304" pitchFamily="18" charset="0"/>
              </a:rPr>
              <a:t>we need to determine the </a:t>
            </a:r>
            <a:r>
              <a:rPr lang="en-GB" altLang="zh-CN" sz="2000" dirty="0">
                <a:solidFill>
                  <a:srgbClr val="FF0000"/>
                </a:solidFill>
                <a:latin typeface="Times New Roman" panose="02020603050405020304" pitchFamily="18" charset="0"/>
                <a:cs typeface="Times New Roman" panose="02020603050405020304" pitchFamily="18" charset="0"/>
              </a:rPr>
              <a:t>MIME </a:t>
            </a:r>
            <a:r>
              <a:rPr lang="en-GB" altLang="en-US" sz="2000" dirty="0">
                <a:solidFill>
                  <a:srgbClr val="FF0000"/>
                </a:solidFill>
                <a:latin typeface="Times New Roman" panose="02020603050405020304" pitchFamily="18" charset="0"/>
                <a:cs typeface="Times New Roman" panose="02020603050405020304" pitchFamily="18" charset="0"/>
              </a:rPr>
              <a:t>type of the data. There are two methods to call</a:t>
            </a:r>
            <a:endParaRPr lang="en-US" altLang="zh-CN" sz="2000" dirty="0">
              <a:solidFill>
                <a:srgbClr val="FF0000"/>
              </a:solidFill>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public static String </a:t>
            </a:r>
            <a:r>
              <a:rPr lang="en-GB" altLang="zh-CN" sz="2000" dirty="0" err="1">
                <a:solidFill>
                  <a:schemeClr val="tx2"/>
                </a:solidFill>
                <a:latin typeface="Times New Roman" panose="02020603050405020304" pitchFamily="18" charset="0"/>
                <a:cs typeface="Times New Roman" panose="02020603050405020304" pitchFamily="18" charset="0"/>
              </a:rPr>
              <a:t>guessContentTypeFromName </a:t>
            </a:r>
            <a:r>
              <a:rPr lang="en-GB" altLang="zh-CN" sz="2000" dirty="0">
                <a:latin typeface="Times New Roman" panose="02020603050405020304" pitchFamily="18" charset="0"/>
                <a:cs typeface="Times New Roman" panose="02020603050405020304" pitchFamily="18" charset="0"/>
              </a:rPr>
              <a:t>(String name)</a:t>
            </a:r>
            <a:endParaRPr lang="en-GB" altLang="zh-CN" sz="2000" dirty="0">
              <a:latin typeface="Times New Roman" panose="02020603050405020304" pitchFamily="18" charset="0"/>
              <a:cs typeface="Times New Roman" panose="02020603050405020304" pitchFamily="18" charset="0"/>
            </a:endParaRPr>
          </a:p>
          <a:p>
            <a:pPr marL="457200" lvl="1" indent="0">
              <a:buNone/>
            </a:pPr>
            <a:r>
              <a:rPr lang="en-GB" altLang="en-US" sz="1800" dirty="0">
                <a:latin typeface="Times New Roman" panose="02020603050405020304" pitchFamily="18" charset="0"/>
                <a:cs typeface="Times New Roman" panose="02020603050405020304" pitchFamily="18" charset="0"/>
              </a:rPr>
              <a:t>Guess the type based on the file name</a:t>
            </a:r>
            <a:endParaRPr lang="en-US" altLang="zh-CN" sz="1800" dirty="0">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public static String </a:t>
            </a:r>
            <a:r>
              <a:rPr lang="en-GB" altLang="zh-CN" sz="2000" dirty="0" err="1">
                <a:solidFill>
                  <a:schemeClr val="tx2"/>
                </a:solidFill>
                <a:latin typeface="Times New Roman" panose="02020603050405020304" pitchFamily="18" charset="0"/>
                <a:cs typeface="Times New Roman" panose="02020603050405020304" pitchFamily="18" charset="0"/>
              </a:rPr>
              <a:t>guessContentTypeFromStream </a:t>
            </a:r>
            <a:r>
              <a:rPr lang="en-GB" altLang="zh-CN" sz="2000" dirty="0">
                <a:latin typeface="Times New Roman" panose="02020603050405020304" pitchFamily="18" charset="0"/>
                <a:cs typeface="Times New Roman" panose="02020603050405020304" pitchFamily="18" charset="0"/>
              </a:rPr>
              <a:t>( </a:t>
            </a:r>
            <a:r>
              <a:rPr lang="en-GB" altLang="zh-CN" sz="2000" dirty="0" err="1">
                <a:latin typeface="Times New Roman" panose="02020603050405020304" pitchFamily="18" charset="0"/>
                <a:cs typeface="Times New Roman" panose="02020603050405020304" pitchFamily="18" charset="0"/>
              </a:rPr>
              <a:t>InputStream </a:t>
            </a:r>
            <a:r>
              <a:rPr lang="en-GB" altLang="zh-CN" sz="2000" dirty="0">
                <a:latin typeface="Times New Roman" panose="02020603050405020304" pitchFamily="18" charset="0"/>
                <a:cs typeface="Times New Roman" panose="02020603050405020304" pitchFamily="18" charset="0"/>
              </a:rPr>
              <a:t>in)</a:t>
            </a:r>
            <a:endParaRPr lang="en-GB" altLang="zh-CN" sz="2000" dirty="0">
              <a:latin typeface="Times New Roman" panose="02020603050405020304" pitchFamily="18" charset="0"/>
              <a:cs typeface="Times New Roman" panose="02020603050405020304" pitchFamily="18" charset="0"/>
            </a:endParaRPr>
          </a:p>
          <a:p>
            <a:pPr marL="457200" lvl="1" indent="0">
              <a:buNone/>
            </a:pPr>
            <a:r>
              <a:rPr lang="en-GB" altLang="en-US" sz="2000" dirty="0">
                <a:latin typeface="Times New Roman" panose="02020603050405020304" pitchFamily="18" charset="0"/>
                <a:cs typeface="Times New Roman" panose="02020603050405020304" pitchFamily="18" charset="0"/>
              </a:rPr>
              <a:t>Guess the content type based on the first few bytes of data in the stream ( </a:t>
            </a:r>
            <a:r>
              <a:rPr lang="en-GB" altLang="zh-CN" sz="2000" dirty="0">
                <a:latin typeface="Times New Roman" panose="02020603050405020304" pitchFamily="18" charset="0"/>
                <a:cs typeface="Times New Roman" panose="02020603050405020304" pitchFamily="18" charset="0"/>
              </a:rPr>
              <a:t>in </a:t>
            </a:r>
            <a:r>
              <a:rPr lang="en-GB" altLang="en-US" sz="2000" dirty="0">
                <a:latin typeface="Times New Roman" panose="02020603050405020304" pitchFamily="18" charset="0"/>
                <a:cs typeface="Times New Roman" panose="02020603050405020304" pitchFamily="18" charset="0"/>
              </a:rPr>
              <a:t>must support marking, and after reading the previous bytes, it can return to the beginning of the stream)</a:t>
            </a:r>
            <a:endParaRPr lang="en-US" altLang="zh-CN" sz="2000" dirty="0">
              <a:latin typeface="Times New Roman" panose="02020603050405020304" pitchFamily="18" charset="0"/>
              <a:cs typeface="Times New Roman" panose="02020603050405020304" pitchFamily="18" charset="0"/>
            </a:endParaRPr>
          </a:p>
          <a:p>
            <a:pPr marL="457200" lvl="1" indent="0">
              <a:buNone/>
            </a:pPr>
            <a:r>
              <a:rPr lang="en-GB" altLang="en-US" sz="2000" dirty="0">
                <a:solidFill>
                  <a:schemeClr val="tx2"/>
                </a:solidFill>
                <a:latin typeface="Times New Roman" panose="02020603050405020304" pitchFamily="18" charset="0"/>
                <a:cs typeface="Times New Roman" panose="02020603050405020304" pitchFamily="18" charset="0"/>
              </a:rPr>
              <a:t>The first method is preferred</a:t>
            </a:r>
            <a:endParaRPr lang="en-GB" altLang="en-US" sz="2000"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xfrm>
            <a:off x="1825625" y="228600"/>
            <a:ext cx="8540750" cy="685800"/>
          </a:xfrm>
        </p:spPr>
        <p:txBody>
          <a:bodyPr/>
          <a:lstStyle/>
          <a:p>
            <a:pPr algn="l"/>
            <a:r>
              <a:rPr lang="en-GB" altLang="zh-CN" sz="3200"/>
              <a:t>HttpURLConnection </a:t>
            </a:r>
            <a:r>
              <a:rPr lang="en-GB" altLang="en-US" sz="3200"/>
              <a:t>Class</a:t>
            </a:r>
            <a:endParaRPr lang="en-GB" altLang="en-US" sz="3200"/>
          </a:p>
        </p:txBody>
      </p:sp>
      <p:sp>
        <p:nvSpPr>
          <p:cNvPr id="3" name="内容占位符 2"/>
          <p:cNvSpPr>
            <a:spLocks noGrp="1"/>
          </p:cNvSpPr>
          <p:nvPr>
            <p:ph idx="1"/>
          </p:nvPr>
        </p:nvSpPr>
        <p:spPr>
          <a:xfrm>
            <a:off x="457200" y="1447800"/>
            <a:ext cx="11277599" cy="3810000"/>
          </a:xfrm>
        </p:spPr>
        <p:txBody>
          <a:bodyPr/>
          <a:lstStyle/>
          <a:p>
            <a:r>
              <a:rPr lang="en-GB" altLang="zh-CN" sz="2000" dirty="0" err="1">
                <a:latin typeface="Times New Roman" panose="02020603050405020304" pitchFamily="18" charset="0"/>
                <a:cs typeface="Times New Roman" panose="02020603050405020304" pitchFamily="18" charset="0"/>
              </a:rPr>
              <a:t>The Java.net.HttpURLConnection </a:t>
            </a:r>
            <a:r>
              <a:rPr lang="en-GB" altLang="en-US" sz="2000" dirty="0">
                <a:latin typeface="Times New Roman" panose="02020603050405020304" pitchFamily="18" charset="0"/>
                <a:cs typeface="Times New Roman" panose="02020603050405020304" pitchFamily="18" charset="0"/>
              </a:rPr>
              <a:t>class is an abstract subclass of </a:t>
            </a:r>
            <a:endParaRPr lang="en-US" altLang="zh-CN"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Contains more constants for handling </a:t>
            </a:r>
            <a:r>
              <a:rPr lang="en-GB" altLang="zh-CN" sz="2000" dirty="0">
                <a:latin typeface="Times New Roman" panose="02020603050405020304" pitchFamily="18" charset="0"/>
                <a:cs typeface="Times New Roman" panose="02020603050405020304" pitchFamily="18" charset="0"/>
              </a:rPr>
              <a:t>HTTP </a:t>
            </a:r>
            <a:r>
              <a:rPr lang="en-GB" altLang="en-US" sz="2000" dirty="0">
                <a:latin typeface="Times New Roman" panose="02020603050405020304" pitchFamily="18" charset="0"/>
                <a:cs typeface="Times New Roman" panose="02020603050405020304" pitchFamily="18" charset="0"/>
              </a:rPr>
              <a:t>request methods and </a:t>
            </a:r>
            <a:r>
              <a:rPr lang="en-GB" altLang="zh-CN" sz="2000" dirty="0">
                <a:latin typeface="Times New Roman" panose="02020603050405020304" pitchFamily="18" charset="0"/>
                <a:cs typeface="Times New Roman" panose="02020603050405020304" pitchFamily="18" charset="0"/>
              </a:rPr>
              <a:t>HTTP </a:t>
            </a:r>
            <a:r>
              <a:rPr lang="en-GB" altLang="en-US" sz="2000" dirty="0">
                <a:latin typeface="Times New Roman" panose="02020603050405020304" pitchFamily="18" charset="0"/>
                <a:cs typeface="Times New Roman" panose="02020603050405020304" pitchFamily="18" charset="0"/>
              </a:rPr>
              <a:t>response codes, </a:t>
            </a:r>
            <a:r>
              <a:rPr lang="en-GB" altLang="en-US" sz="1800" dirty="0">
                <a:latin typeface="Times New Roman" panose="02020603050405020304" pitchFamily="18" charset="0"/>
                <a:cs typeface="Times New Roman" panose="02020603050405020304" pitchFamily="18" charset="0"/>
              </a:rPr>
              <a:t>such as getting and setting the request method, determining whether to redirect, getting the response code and message, and determining whether a proxy server is used.</a:t>
            </a:r>
            <a:endParaRPr lang="en-US" altLang="zh-CN" sz="18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It is an abstract class </a:t>
            </a:r>
            <a:r>
              <a:rPr lang="en-GB" altLang="zh-CN" sz="2000" dirty="0">
                <a:latin typeface="Times New Roman" panose="02020603050405020304" pitchFamily="18" charset="0"/>
                <a:cs typeface="Times New Roman" panose="02020603050405020304" pitchFamily="18" charset="0"/>
              </a:rPr>
              <a:t>, and </a:t>
            </a:r>
            <a:r>
              <a:rPr lang="en-GB" altLang="en-US" sz="2000" dirty="0">
                <a:latin typeface="Times New Roman" panose="02020603050405020304" pitchFamily="18" charset="0"/>
                <a:cs typeface="Times New Roman" panose="02020603050405020304" pitchFamily="18" charset="0"/>
              </a:rPr>
              <a:t>its object cannot be created directly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A forced conversion method is required </a:t>
            </a:r>
            <a:r>
              <a:rPr lang="en-GB" altLang="zh-CN" sz="2000" dirty="0">
                <a:latin typeface="Times New Roman" panose="02020603050405020304" pitchFamily="18" charset="0"/>
                <a:cs typeface="Times New Roman" panose="02020603050405020304" pitchFamily="18" charset="0"/>
              </a:rPr>
              <a:t>:</a:t>
            </a:r>
            <a:endParaRPr lang="en-GB" altLang="zh-CN" sz="20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000088"/>
                </a:solidFill>
                <a:latin typeface="Times New Roman" panose="02020603050405020304" pitchFamily="18" charset="0"/>
                <a:cs typeface="Times New Roman" panose="02020603050405020304" pitchFamily="18" charset="0"/>
              </a:rPr>
              <a:t>URL</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u</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555555"/>
                </a:solidFill>
                <a:latin typeface="Times New Roman" panose="02020603050405020304" pitchFamily="18" charset="0"/>
                <a:cs typeface="Times New Roman" panose="02020603050405020304" pitchFamily="18" charset="0"/>
              </a:rPr>
              <a:t>=</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b="1" dirty="0">
                <a:solidFill>
                  <a:srgbClr val="006699"/>
                </a:solidFill>
                <a:latin typeface="Times New Roman" panose="02020603050405020304" pitchFamily="18" charset="0"/>
                <a:cs typeface="Times New Roman" panose="02020603050405020304" pitchFamily="18" charset="0"/>
              </a:rPr>
              <a:t>new</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000088"/>
                </a:solidFill>
                <a:latin typeface="Times New Roman" panose="02020603050405020304" pitchFamily="18" charset="0"/>
                <a:cs typeface="Times New Roman" panose="02020603050405020304" pitchFamily="18" charset="0"/>
              </a:rPr>
              <a:t>URL </a:t>
            </a:r>
            <a:r>
              <a:rPr lang="en-GB" altLang="zh-CN" sz="1600" dirty="0">
                <a:solidFill>
                  <a:srgbClr val="555555"/>
                </a:solidFill>
                <a:latin typeface="Times New Roman" panose="02020603050405020304" pitchFamily="18" charset="0"/>
                <a:cs typeface="Times New Roman" panose="02020603050405020304" pitchFamily="18" charset="0"/>
              </a:rPr>
              <a:t>( </a:t>
            </a:r>
            <a:r>
              <a:rPr lang="en-GB" altLang="zh-CN" sz="1600" dirty="0">
                <a:solidFill>
                  <a:srgbClr val="CC3300"/>
                </a:solidFill>
                <a:latin typeface="Times New Roman" panose="02020603050405020304" pitchFamily="18" charset="0"/>
                <a:cs typeface="Times New Roman" panose="02020603050405020304" pitchFamily="18" charset="0"/>
              </a:rPr>
              <a:t>"http://lesswrong.com/" </a:t>
            </a:r>
            <a:r>
              <a:rPr lang="en-GB" altLang="zh-CN" sz="1600" dirty="0">
                <a:solidFill>
                  <a:srgbClr val="555555"/>
                </a:solidFill>
                <a:latin typeface="Times New Roman" panose="02020603050405020304" pitchFamily="18" charset="0"/>
                <a:cs typeface="Times New Roman" panose="02020603050405020304" pitchFamily="18" charset="0"/>
              </a:rPr>
              <a:t>);</a:t>
            </a:r>
            <a:endParaRPr lang="en-US" altLang="zh-CN" sz="1600" dirty="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err="1">
                <a:solidFill>
                  <a:srgbClr val="000088"/>
                </a:solidFill>
                <a:latin typeface="Times New Roman" panose="02020603050405020304" pitchFamily="18" charset="0"/>
                <a:cs typeface="Times New Roman" panose="02020603050405020304" pitchFamily="18" charset="0"/>
              </a:rPr>
              <a:t>URLConnection</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err="1">
                <a:solidFill>
                  <a:srgbClr val="000088"/>
                </a:solidFill>
                <a:latin typeface="Times New Roman" panose="02020603050405020304" pitchFamily="18" charset="0"/>
                <a:cs typeface="Times New Roman" panose="02020603050405020304" pitchFamily="18" charset="0"/>
              </a:rPr>
              <a:t>uc</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a:solidFill>
                  <a:srgbClr val="555555"/>
                </a:solidFill>
                <a:latin typeface="Times New Roman" panose="02020603050405020304" pitchFamily="18" charset="0"/>
                <a:cs typeface="Times New Roman" panose="02020603050405020304" pitchFamily="18" charset="0"/>
              </a:rPr>
              <a:t>=</a:t>
            </a:r>
            <a:r>
              <a:rPr lang="en-GB" altLang="zh-CN" sz="1600" dirty="0">
                <a:solidFill>
                  <a:srgbClr val="1B1C20"/>
                </a:solidFill>
                <a:latin typeface="Times New Roman" panose="02020603050405020304" pitchFamily="18" charset="0"/>
                <a:cs typeface="Times New Roman" panose="02020603050405020304" pitchFamily="18" charset="0"/>
              </a:rPr>
              <a:t> </a:t>
            </a:r>
            <a:r>
              <a:rPr lang="en-GB" altLang="zh-CN" sz="1600" dirty="0" err="1">
                <a:solidFill>
                  <a:srgbClr val="000088"/>
                </a:solidFill>
                <a:latin typeface="Times New Roman" panose="02020603050405020304" pitchFamily="18" charset="0"/>
                <a:cs typeface="Times New Roman" panose="02020603050405020304" pitchFamily="18" charset="0"/>
              </a:rPr>
              <a:t>u </a:t>
            </a:r>
            <a:r>
              <a:rPr lang="en-GB" altLang="zh-CN" sz="1600" dirty="0" err="1">
                <a:solidFill>
                  <a:srgbClr val="555555"/>
                </a:solidFill>
                <a:latin typeface="Times New Roman" panose="02020603050405020304" pitchFamily="18" charset="0"/>
                <a:cs typeface="Times New Roman" panose="02020603050405020304" pitchFamily="18" charset="0"/>
              </a:rPr>
              <a:t>.openConnection </a:t>
            </a:r>
            <a:r>
              <a:rPr lang="en-GB" altLang="zh-CN" sz="1600" dirty="0">
                <a:solidFill>
                  <a:srgbClr val="555555"/>
                </a:solidFill>
                <a:latin typeface="Times New Roman" panose="02020603050405020304" pitchFamily="18" charset="0"/>
                <a:cs typeface="Times New Roman" panose="02020603050405020304" pitchFamily="18" charset="0"/>
              </a:rPr>
              <a:t>() </a:t>
            </a:r>
            <a:endParaRPr lang="en-US" altLang="zh-CN" sz="1600" dirty="0">
              <a:solidFill>
                <a:srgbClr val="00000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err="1">
                <a:solidFill>
                  <a:srgbClr val="FF0000"/>
                </a:solidFill>
                <a:latin typeface="Times New Roman" panose="02020603050405020304" pitchFamily="18" charset="0"/>
                <a:cs typeface="Times New Roman" panose="02020603050405020304" pitchFamily="18" charset="0"/>
              </a:rPr>
              <a:t>HttpURLConnection </a:t>
            </a:r>
            <a:r>
              <a:rPr lang="en-GB" altLang="zh-CN" sz="1600" dirty="0">
                <a:solidFill>
                  <a:srgbClr val="FF0000"/>
                </a:solidFill>
                <a:latin typeface="Times New Roman" panose="02020603050405020304" pitchFamily="18" charset="0"/>
                <a:cs typeface="Times New Roman" panose="02020603050405020304" pitchFamily="18" charset="0"/>
              </a:rPr>
              <a:t>http = ( </a:t>
            </a:r>
            <a:r>
              <a:rPr lang="en-GB" altLang="zh-CN" sz="1600" dirty="0" err="1">
                <a:solidFill>
                  <a:srgbClr val="FF0000"/>
                </a:solidFill>
                <a:latin typeface="Times New Roman" panose="02020603050405020304" pitchFamily="18" charset="0"/>
                <a:cs typeface="Times New Roman" panose="02020603050405020304" pitchFamily="18" charset="0"/>
              </a:rPr>
              <a:t>HttpURLConnection </a:t>
            </a:r>
            <a:r>
              <a:rPr lang="en-GB" altLang="zh-CN" sz="1600" dirty="0">
                <a:solidFill>
                  <a:srgbClr val="FF0000"/>
                </a:solidFill>
                <a:latin typeface="Times New Roman" panose="02020603050405020304" pitchFamily="18" charset="0"/>
                <a:cs typeface="Times New Roman" panose="02020603050405020304" pitchFamily="18" charset="0"/>
              </a:rPr>
              <a:t>) </a:t>
            </a:r>
            <a:r>
              <a:rPr lang="en-GB" altLang="zh-CN" sz="1600" dirty="0" err="1">
                <a:solidFill>
                  <a:srgbClr val="FF0000"/>
                </a:solidFill>
                <a:latin typeface="Times New Roman" panose="02020603050405020304" pitchFamily="18" charset="0"/>
                <a:cs typeface="Times New Roman" panose="02020603050405020304" pitchFamily="18" charset="0"/>
              </a:rPr>
              <a:t>uc </a:t>
            </a:r>
            <a:r>
              <a:rPr lang="en-GB" altLang="zh-CN" sz="1600" dirty="0">
                <a:solidFill>
                  <a:srgbClr val="FF0000"/>
                </a:solidFill>
                <a:latin typeface="Times New Roman" panose="02020603050405020304" pitchFamily="18" charset="0"/>
                <a:cs typeface="Times New Roman" panose="02020603050405020304" pitchFamily="18" charset="0"/>
              </a:rPr>
              <a:t>;</a:t>
            </a:r>
            <a:endParaRPr lang="en-GB" altLang="zh-CN" sz="1600" dirty="0">
              <a:solidFill>
                <a:srgbClr val="FF0000"/>
              </a:solidFill>
              <a:latin typeface="Times New Roman" panose="02020603050405020304" pitchFamily="18" charset="0"/>
              <a:cs typeface="Times New Roman" panose="02020603050405020304" pitchFamily="18" charset="0"/>
            </a:endParaRPr>
          </a:p>
          <a:p>
            <a:r>
              <a:rPr lang="en-GB" altLang="zh-CN" sz="2000" dirty="0">
                <a:latin typeface="Times New Roman" panose="02020603050405020304" pitchFamily="18" charset="0"/>
                <a:cs typeface="Times New Roman" panose="02020603050405020304" pitchFamily="18" charset="0"/>
              </a:rPr>
              <a:t>public void </a:t>
            </a:r>
            <a:r>
              <a:rPr lang="en-GB" altLang="zh-CN" sz="2000" dirty="0" err="1">
                <a:latin typeface="Times New Roman" panose="02020603050405020304" pitchFamily="18" charset="0"/>
                <a:cs typeface="Times New Roman" panose="02020603050405020304" pitchFamily="18" charset="0"/>
              </a:rPr>
              <a:t>setRequestMethod </a:t>
            </a:r>
            <a:r>
              <a:rPr lang="en-GB" altLang="zh-CN" sz="2000" dirty="0">
                <a:latin typeface="Times New Roman" panose="02020603050405020304" pitchFamily="18" charset="0"/>
                <a:cs typeface="Times New Roman" panose="02020603050405020304" pitchFamily="18" charset="0"/>
              </a:rPr>
              <a:t>(String method) throws </a:t>
            </a:r>
            <a:r>
              <a:rPr lang="en-GB" altLang="zh-CN" sz="2000" dirty="0" err="1">
                <a:latin typeface="Times New Roman" panose="02020603050405020304" pitchFamily="18" charset="0"/>
                <a:cs typeface="Times New Roman" panose="02020603050405020304" pitchFamily="18" charset="0"/>
              </a:rPr>
              <a:t>ProtocolException</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altLang="en-US" sz="2000" dirty="0">
                <a:latin typeface="Times New Roman" panose="02020603050405020304" pitchFamily="18" charset="0"/>
                <a:cs typeface="Times New Roman" panose="02020603050405020304" pitchFamily="18" charset="0"/>
              </a:rPr>
              <a:t>Set the request method: </a:t>
            </a:r>
            <a:r>
              <a:rPr lang="en-GB" altLang="zh-CN" sz="2000" dirty="0">
                <a:latin typeface="Times New Roman" panose="02020603050405020304" pitchFamily="18" charset="0"/>
                <a:cs typeface="Times New Roman" panose="02020603050405020304" pitchFamily="18" charset="0"/>
              </a:rPr>
              <a:t>GET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POST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HEAD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PUT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DELETE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OPTIONS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TRACE</a:t>
            </a:r>
            <a:endParaRPr lang="en-GB"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GB" altLang="en-US" sz="2000" b="1" dirty="0">
                <a:solidFill>
                  <a:srgbClr val="FF0000"/>
                </a:solidFill>
                <a:latin typeface="Times New Roman" panose="02020603050405020304" pitchFamily="18" charset="0"/>
                <a:cs typeface="Times New Roman" panose="02020603050405020304" pitchFamily="18" charset="0"/>
              </a:rPr>
              <a:t>All capital letters are required</a:t>
            </a:r>
            <a:endParaRPr lang="en-US" altLang="zh-CN" sz="2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a:xfrm>
            <a:off x="1825625" y="228600"/>
            <a:ext cx="8540750" cy="685800"/>
          </a:xfrm>
        </p:spPr>
        <p:txBody>
          <a:bodyPr/>
          <a:lstStyle/>
          <a:p>
            <a:pPr algn="l"/>
            <a:r>
              <a:rPr lang="en-GB" altLang="zh-CN" sz="3200"/>
              <a:t>HttpURLConnection </a:t>
            </a:r>
            <a:r>
              <a:rPr lang="en-GB" altLang="en-US" sz="3200"/>
              <a:t>and </a:t>
            </a:r>
            <a:r>
              <a:rPr lang="en-GB" altLang="zh-CN" sz="3200"/>
              <a:t>URLConnection</a:t>
            </a:r>
            <a:endParaRPr lang="zh-CN" altLang="en-US" sz="3200"/>
          </a:p>
        </p:txBody>
      </p:sp>
      <p:sp>
        <p:nvSpPr>
          <p:cNvPr id="105475" name="内容占位符 2"/>
          <p:cNvSpPr>
            <a:spLocks noGrp="1"/>
          </p:cNvSpPr>
          <p:nvPr>
            <p:ph idx="1"/>
          </p:nvPr>
        </p:nvSpPr>
        <p:spPr>
          <a:xfrm>
            <a:off x="190500" y="1143000"/>
            <a:ext cx="11811000" cy="5486400"/>
          </a:xfrm>
        </p:spPr>
        <p:txBody>
          <a:bodyPr/>
          <a:lstStyle/>
          <a:p>
            <a:r>
              <a:rPr lang="en-GB" altLang="zh-CN" sz="2000" dirty="0" err="1">
                <a:latin typeface="Times New Roman" panose="02020603050405020304" pitchFamily="18" charset="0"/>
                <a:cs typeface="Times New Roman" panose="02020603050405020304" pitchFamily="18" charset="0"/>
              </a:rPr>
              <a:t>URLConnection </a:t>
            </a:r>
            <a:r>
              <a:rPr lang="en-GB" altLang="en-US" sz="2000" dirty="0">
                <a:latin typeface="Times New Roman" panose="02020603050405020304" pitchFamily="18" charset="0"/>
                <a:cs typeface="Times New Roman" panose="02020603050405020304" pitchFamily="18" charset="0"/>
              </a:rPr>
              <a:t>and </a:t>
            </a:r>
            <a:r>
              <a:rPr lang="en-GB" altLang="zh-CN" sz="2000" dirty="0" err="1">
                <a:latin typeface="Times New Roman" panose="02020603050405020304" pitchFamily="18" charset="0"/>
                <a:cs typeface="Times New Roman" panose="02020603050405020304" pitchFamily="18" charset="0"/>
              </a:rPr>
              <a:t>HttpURLConnection </a:t>
            </a:r>
            <a:r>
              <a:rPr lang="en-GB" altLang="en-US" sz="2000" dirty="0">
                <a:latin typeface="Times New Roman" panose="02020603050405020304" pitchFamily="18" charset="0"/>
                <a:cs typeface="Times New Roman" panose="02020603050405020304" pitchFamily="18" charset="0"/>
              </a:rPr>
              <a:t>are both abstract classes, and objects cannot be instantiated directly. Their objects are mainly </a:t>
            </a:r>
            <a:r>
              <a:rPr lang="en-GB" altLang="en-US" sz="2000" dirty="0">
                <a:solidFill>
                  <a:srgbClr val="FF0000"/>
                </a:solidFill>
                <a:latin typeface="Times New Roman" panose="02020603050405020304" pitchFamily="18" charset="0"/>
                <a:cs typeface="Times New Roman" panose="02020603050405020304" pitchFamily="18" charset="0"/>
              </a:rPr>
              <a:t>obtained through the </a:t>
            </a:r>
            <a:r>
              <a:rPr lang="en-GB" altLang="zh-CN" sz="2000" dirty="0" err="1">
                <a:solidFill>
                  <a:srgbClr val="FF0000"/>
                </a:solidFill>
                <a:latin typeface="Times New Roman" panose="02020603050405020304" pitchFamily="18" charset="0"/>
                <a:cs typeface="Times New Roman" panose="02020603050405020304" pitchFamily="18" charset="0"/>
              </a:rPr>
              <a:t>openconnection method </a:t>
            </a:r>
            <a:r>
              <a:rPr lang="en-GB" altLang="en-US" sz="2000" dirty="0">
                <a:solidFill>
                  <a:srgbClr val="FF0000"/>
                </a:solidFill>
                <a:latin typeface="Times New Roman" panose="02020603050405020304" pitchFamily="18" charset="0"/>
                <a:cs typeface="Times New Roman" panose="02020603050405020304" pitchFamily="18" charset="0"/>
              </a:rPr>
              <a:t>of </a:t>
            </a:r>
            <a:r>
              <a:rPr lang="en-GB" altLang="zh-CN" sz="2000" dirty="0">
                <a:solidFill>
                  <a:srgbClr val="FF0000"/>
                </a:solidFill>
                <a:latin typeface="Times New Roman" panose="02020603050405020304" pitchFamily="18" charset="0"/>
                <a:cs typeface="Times New Roman" panose="02020603050405020304" pitchFamily="18" charset="0"/>
              </a:rPr>
              <a:t>the URL </a:t>
            </a:r>
            <a:r>
              <a:rPr lang="en-GB"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GB" altLang="zh-CN" sz="2000" dirty="0" err="1">
                <a:latin typeface="Times New Roman" panose="02020603050405020304" pitchFamily="18" charset="0"/>
                <a:cs typeface="Times New Roman" panose="02020603050405020304" pitchFamily="18" charset="0"/>
              </a:rPr>
              <a:t>openConnection </a:t>
            </a:r>
            <a:r>
              <a:rPr lang="en-GB" altLang="en-US" sz="2000" dirty="0">
                <a:latin typeface="Times New Roman" panose="02020603050405020304" pitchFamily="18" charset="0"/>
                <a:cs typeface="Times New Roman" panose="02020603050405020304" pitchFamily="18" charset="0"/>
              </a:rPr>
              <a:t>method </a:t>
            </a:r>
            <a:r>
              <a:rPr lang="en-GB" altLang="en-US" sz="2000" u="sng" dirty="0">
                <a:latin typeface="Times New Roman" panose="02020603050405020304" pitchFamily="18" charset="0"/>
                <a:cs typeface="Times New Roman" panose="02020603050405020304" pitchFamily="18" charset="0"/>
              </a:rPr>
              <a:t>only creates </a:t>
            </a:r>
            <a:r>
              <a:rPr lang="en-GB" altLang="zh-CN" sz="2000" dirty="0" err="1">
                <a:latin typeface="Times New Roman" panose="02020603050405020304" pitchFamily="18" charset="0"/>
                <a:cs typeface="Times New Roman" panose="02020603050405020304" pitchFamily="18" charset="0"/>
              </a:rPr>
              <a:t>a URLConnection </a:t>
            </a:r>
            <a:r>
              <a:rPr lang="en-GB" altLang="en-US" sz="2000" dirty="0">
                <a:latin typeface="Times New Roman" panose="02020603050405020304" pitchFamily="18" charset="0"/>
                <a:cs typeface="Times New Roman" panose="02020603050405020304" pitchFamily="18" charset="0"/>
              </a:rPr>
              <a:t>or </a:t>
            </a:r>
            <a:r>
              <a:rPr lang="en-GB" altLang="zh-CN" sz="2000" dirty="0" err="1">
                <a:latin typeface="Times New Roman" panose="02020603050405020304" pitchFamily="18" charset="0"/>
                <a:cs typeface="Times New Roman" panose="02020603050405020304" pitchFamily="18" charset="0"/>
              </a:rPr>
              <a:t>HttpURLConnection </a:t>
            </a:r>
            <a:r>
              <a:rPr lang="en-GB" altLang="en-US" sz="2000" u="sng" dirty="0">
                <a:latin typeface="Times New Roman" panose="02020603050405020304" pitchFamily="18" charset="0"/>
                <a:cs typeface="Times New Roman" panose="02020603050405020304" pitchFamily="18" charset="0"/>
              </a:rPr>
              <a:t>instance </a:t>
            </a:r>
            <a:r>
              <a:rPr lang="en-GB" altLang="en-US" sz="2000" dirty="0">
                <a:latin typeface="Times New Roman" panose="02020603050405020304" pitchFamily="18" charset="0"/>
                <a:cs typeface="Times New Roman" panose="02020603050405020304" pitchFamily="18" charset="0"/>
              </a:rPr>
              <a:t>and </a:t>
            </a:r>
            <a:r>
              <a:rPr lang="en-GB" altLang="en-US" sz="2000" u="sng" dirty="0">
                <a:latin typeface="Times New Roman" panose="02020603050405020304" pitchFamily="18" charset="0"/>
                <a:cs typeface="Times New Roman" panose="02020603050405020304" pitchFamily="18" charset="0"/>
              </a:rPr>
              <a:t>does not perform a real connection operation </a:t>
            </a:r>
            <a:r>
              <a:rPr lang="en-GB" altLang="en-US" sz="2000" dirty="0">
                <a:latin typeface="Times New Roman" panose="02020603050405020304" pitchFamily="18" charset="0"/>
                <a:cs typeface="Times New Roman" panose="02020603050405020304" pitchFamily="18" charset="0"/>
              </a:rPr>
              <a:t>. In addition, </a:t>
            </a:r>
            <a:r>
              <a:rPr lang="en-GB" altLang="en-US" sz="2000" u="sng" dirty="0">
                <a:latin typeface="Times New Roman" panose="02020603050405020304" pitchFamily="18" charset="0"/>
                <a:cs typeface="Times New Roman" panose="02020603050405020304" pitchFamily="18" charset="0"/>
              </a:rPr>
              <a:t>a new instance will be created each time </a:t>
            </a:r>
            <a:r>
              <a:rPr lang="en-GB" altLang="zh-CN" sz="2000" u="sng" dirty="0" err="1">
                <a:latin typeface="Times New Roman" panose="02020603050405020304" pitchFamily="18" charset="0"/>
                <a:cs typeface="Times New Roman" panose="02020603050405020304" pitchFamily="18" charset="0"/>
              </a:rPr>
              <a:t>openConnection is called </a:t>
            </a:r>
            <a:r>
              <a:rPr lang="en-GB"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r>
              <a:rPr lang="en-GB" altLang="zh-CN" sz="2000" dirty="0" err="1">
                <a:latin typeface="Times New Roman" panose="02020603050405020304" pitchFamily="18" charset="0"/>
                <a:cs typeface="Times New Roman" panose="02020603050405020304" pitchFamily="18" charset="0"/>
              </a:rPr>
              <a:t>openConnection </a:t>
            </a:r>
            <a:r>
              <a:rPr lang="en-GB" altLang="en-US" sz="2000" dirty="0">
                <a:latin typeface="Times New Roman" panose="02020603050405020304" pitchFamily="18" charset="0"/>
                <a:cs typeface="Times New Roman" panose="02020603050405020304" pitchFamily="18" charset="0"/>
              </a:rPr>
              <a:t>does not perform the connection operation is that some properties of </a:t>
            </a:r>
            <a:r>
              <a:rPr lang="en-GB" altLang="zh-CN" sz="2000" dirty="0" err="1">
                <a:latin typeface="Times New Roman" panose="02020603050405020304" pitchFamily="18" charset="0"/>
                <a:cs typeface="Times New Roman" panose="02020603050405020304" pitchFamily="18" charset="0"/>
              </a:rPr>
              <a:t>the URLConnection </a:t>
            </a:r>
            <a:r>
              <a:rPr lang="en-GB" altLang="en-US" sz="2000" dirty="0">
                <a:latin typeface="Times New Roman" panose="02020603050405020304" pitchFamily="18" charset="0"/>
                <a:cs typeface="Times New Roman" panose="02020603050405020304" pitchFamily="18" charset="0"/>
              </a:rPr>
              <a:t>or </a:t>
            </a:r>
            <a:r>
              <a:rPr lang="en-GB" altLang="zh-CN" sz="2000" dirty="0" err="1">
                <a:latin typeface="Times New Roman" panose="02020603050405020304" pitchFamily="18" charset="0"/>
                <a:cs typeface="Times New Roman" panose="02020603050405020304" pitchFamily="18" charset="0"/>
              </a:rPr>
              <a:t>HttpURLConnection </a:t>
            </a:r>
            <a:r>
              <a:rPr lang="en-GB" altLang="en-US" sz="2000" u="sng" dirty="0">
                <a:latin typeface="Times New Roman" panose="02020603050405020304" pitchFamily="18" charset="0"/>
                <a:cs typeface="Times New Roman" panose="02020603050405020304" pitchFamily="18" charset="0"/>
              </a:rPr>
              <a:t>instance can be set before the connection operation is performed </a:t>
            </a:r>
            <a:r>
              <a:rPr lang="en-GB" altLang="en-US" sz="2000" dirty="0">
                <a:latin typeface="Times New Roman" panose="02020603050405020304" pitchFamily="18" charset="0"/>
                <a:cs typeface="Times New Roman" panose="02020603050405020304" pitchFamily="18" charset="0"/>
              </a:rPr>
              <a:t>, such as setting a timeout value.</a:t>
            </a:r>
            <a:endParaRPr lang="en-US" altLang="zh-CN" sz="2000" dirty="0">
              <a:latin typeface="Times New Roman" panose="02020603050405020304" pitchFamily="18" charset="0"/>
              <a:cs typeface="Times New Roman" panose="02020603050405020304" pitchFamily="18" charset="0"/>
            </a:endParaRPr>
          </a:p>
          <a:p>
            <a:r>
              <a:rPr lang="en-GB" altLang="en-US" sz="2000" dirty="0">
                <a:latin typeface="Times New Roman" panose="02020603050405020304" pitchFamily="18" charset="0"/>
                <a:cs typeface="Times New Roman" panose="02020603050405020304" pitchFamily="18" charset="0"/>
              </a:rPr>
              <a:t>Regardless of </a:t>
            </a:r>
            <a:r>
              <a:rPr lang="en-GB" altLang="zh-CN" sz="2000" dirty="0" err="1">
                <a:latin typeface="Times New Roman" panose="02020603050405020304" pitchFamily="18" charset="0"/>
                <a:cs typeface="Times New Roman" panose="02020603050405020304" pitchFamily="18" charset="0"/>
              </a:rPr>
              <a:t>URLConnection </a:t>
            </a:r>
            <a:r>
              <a:rPr lang="en-GB" altLang="en-US" sz="2000" dirty="0">
                <a:latin typeface="Times New Roman" panose="02020603050405020304" pitchFamily="18" charset="0"/>
                <a:cs typeface="Times New Roman" panose="02020603050405020304" pitchFamily="18" charset="0"/>
              </a:rPr>
              <a:t>or </a:t>
            </a:r>
            <a:r>
              <a:rPr lang="en-GB" altLang="zh-CN" sz="2000" dirty="0" err="1">
                <a:latin typeface="Times New Roman" panose="02020603050405020304" pitchFamily="18" charset="0"/>
                <a:cs typeface="Times New Roman" panose="02020603050405020304" pitchFamily="18" charset="0"/>
              </a:rPr>
              <a:t>HttPURLConnection </a:t>
            </a:r>
            <a:r>
              <a:rPr lang="en-GB" altLang="en-US" sz="2000" dirty="0">
                <a:latin typeface="Times New Roman" panose="02020603050405020304" pitchFamily="18" charset="0"/>
                <a:cs typeface="Times New Roman" panose="02020603050405020304" pitchFamily="18" charset="0"/>
              </a:rPr>
              <a:t>instance, its </a:t>
            </a:r>
            <a:r>
              <a:rPr lang="en-GB" altLang="zh-CN" sz="2000" dirty="0" err="1">
                <a:latin typeface="Times New Roman" panose="02020603050405020304" pitchFamily="18" charset="0"/>
                <a:cs typeface="Times New Roman" panose="02020603050405020304" pitchFamily="18" charset="0"/>
              </a:rPr>
              <a:t>getInputStream </a:t>
            </a:r>
            <a:r>
              <a:rPr lang="en-GB" altLang="en-US" sz="2000" dirty="0">
                <a:latin typeface="Times New Roman" panose="02020603050405020304" pitchFamily="18" charset="0"/>
                <a:cs typeface="Times New Roman" panose="02020603050405020304" pitchFamily="18" charset="0"/>
              </a:rPr>
              <a:t>and other application layer operations will call the </a:t>
            </a:r>
            <a:r>
              <a:rPr lang="en-GB" altLang="zh-CN" sz="2000" dirty="0">
                <a:latin typeface="Times New Roman" panose="02020603050405020304" pitchFamily="18" charset="0"/>
                <a:cs typeface="Times New Roman" panose="02020603050405020304" pitchFamily="18" charset="0"/>
              </a:rPr>
              <a:t>connect </a:t>
            </a:r>
            <a:r>
              <a:rPr lang="en-GB" altLang="en-US" sz="2000" dirty="0">
                <a:latin typeface="Times New Roman" panose="02020603050405020304" pitchFamily="18" charset="0"/>
                <a:cs typeface="Times New Roman" panose="02020603050405020304" pitchFamily="18" charset="0"/>
              </a:rPr>
              <a:t>operation. However, </a:t>
            </a:r>
            <a:r>
              <a:rPr lang="en-GB" altLang="zh-CN" sz="2000" dirty="0" err="1">
                <a:latin typeface="Times New Roman" panose="02020603050405020304" pitchFamily="18" charset="0"/>
                <a:cs typeface="Times New Roman" panose="02020603050405020304" pitchFamily="18" charset="0"/>
              </a:rPr>
              <a:t>connectTimeout is not the same </a:t>
            </a:r>
            <a:r>
              <a:rPr lang="en-GB" altLang="en-US" sz="2000" dirty="0">
                <a:latin typeface="Times New Roman" panose="02020603050405020304" pitchFamily="18" charset="0"/>
                <a:cs typeface="Times New Roman" panose="02020603050405020304" pitchFamily="18" charset="0"/>
              </a:rPr>
              <a:t>as </a:t>
            </a:r>
            <a:r>
              <a:rPr lang="en-GB" altLang="zh-CN" sz="2000" dirty="0" err="1">
                <a:latin typeface="Times New Roman" panose="02020603050405020304" pitchFamily="18" charset="0"/>
                <a:cs typeface="Times New Roman" panose="02020603050405020304" pitchFamily="18" charset="0"/>
              </a:rPr>
              <a:t>ReaderTimeout . It is possible that </a:t>
            </a:r>
            <a:r>
              <a:rPr lang="en-GB" altLang="zh-CN" sz="2000" dirty="0">
                <a:latin typeface="Times New Roman" panose="02020603050405020304" pitchFamily="18" charset="0"/>
                <a:cs typeface="Times New Roman" panose="02020603050405020304" pitchFamily="18" charset="0"/>
              </a:rPr>
              <a:t>Reader </a:t>
            </a:r>
            <a:r>
              <a:rPr lang="en-GB" altLang="en-US" sz="2000" dirty="0">
                <a:latin typeface="Times New Roman" panose="02020603050405020304" pitchFamily="18" charset="0"/>
                <a:cs typeface="Times New Roman" panose="02020603050405020304" pitchFamily="18" charset="0"/>
              </a:rPr>
              <a:t>times out even when the connection is established.</a:t>
            </a:r>
            <a:endParaRPr lang="en-GB"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a:xfrm>
            <a:off x="1825625" y="228600"/>
            <a:ext cx="8540750" cy="685800"/>
          </a:xfrm>
        </p:spPr>
        <p:txBody>
          <a:bodyPr/>
          <a:lstStyle/>
          <a:p>
            <a:pPr algn="l"/>
            <a:r>
              <a:rPr lang="en-GB" altLang="en-US" sz="3200"/>
              <a:t>Request method</a:t>
            </a:r>
            <a:endParaRPr lang="en-GB" altLang="en-US" sz="3200"/>
          </a:p>
        </p:txBody>
      </p:sp>
      <p:sp>
        <p:nvSpPr>
          <p:cNvPr id="106499" name="内容占位符 2"/>
          <p:cNvSpPr>
            <a:spLocks noGrp="1"/>
          </p:cNvSpPr>
          <p:nvPr>
            <p:ph idx="1"/>
          </p:nvPr>
        </p:nvSpPr>
        <p:spPr>
          <a:xfrm>
            <a:off x="533400" y="914400"/>
            <a:ext cx="11048999" cy="5029200"/>
          </a:xfrm>
        </p:spPr>
        <p:txBody>
          <a:bodyPr/>
          <a:lstStyle/>
          <a:p>
            <a:r>
              <a:rPr lang="en-GB" altLang="zh-CN" sz="2400" dirty="0">
                <a:latin typeface="Times New Roman" panose="02020603050405020304" pitchFamily="18" charset="0"/>
                <a:cs typeface="Times New Roman" panose="02020603050405020304" pitchFamily="18" charset="0"/>
              </a:rPr>
              <a:t>web </a:t>
            </a:r>
            <a:r>
              <a:rPr lang="en-GB" altLang="en-US" sz="2400" dirty="0">
                <a:latin typeface="Times New Roman" panose="02020603050405020304" pitchFamily="18" charset="0"/>
                <a:cs typeface="Times New Roman" panose="02020603050405020304" pitchFamily="18" charset="0"/>
              </a:rPr>
              <a:t>client contacts a </a:t>
            </a:r>
            <a:r>
              <a:rPr lang="en-GB" altLang="zh-CN" sz="2400" dirty="0">
                <a:latin typeface="Times New Roman" panose="02020603050405020304" pitchFamily="18" charset="0"/>
                <a:cs typeface="Times New Roman" panose="02020603050405020304" pitchFamily="18" charset="0"/>
              </a:rPr>
              <a:t>web </a:t>
            </a:r>
            <a:r>
              <a:rPr lang="en-GB" altLang="en-US" sz="2400" dirty="0">
                <a:latin typeface="Times New Roman" panose="02020603050405020304" pitchFamily="18" charset="0"/>
                <a:cs typeface="Times New Roman" panose="02020603050405020304" pitchFamily="18" charset="0"/>
              </a:rPr>
              <a:t>server, the first thing it sends is a request line. For example:</a:t>
            </a:r>
            <a:endParaRPr lang="en-US" altLang="zh-CN" sz="24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rPr>
              <a:t>GET catalog/ </a:t>
            </a:r>
            <a:r>
              <a:rPr lang="en-GB" altLang="zh-CN" sz="2400" dirty="0" err="1">
                <a:latin typeface="Times New Roman" panose="02020603050405020304" pitchFamily="18" charset="0"/>
                <a:cs typeface="Times New Roman" panose="02020603050405020304" pitchFamily="18" charset="0"/>
              </a:rPr>
              <a:t>jfcnut </a:t>
            </a:r>
            <a:r>
              <a:rPr lang="en-GB" altLang="zh-CN" sz="2400" dirty="0">
                <a:latin typeface="Times New Roman" panose="02020603050405020304" pitchFamily="18" charset="0"/>
                <a:cs typeface="Times New Roman" panose="02020603050405020304" pitchFamily="18" charset="0"/>
              </a:rPr>
              <a:t>/index.html HTTP/1.0</a:t>
            </a:r>
            <a:endParaRPr lang="en-GB" altLang="zh-C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GET </a:t>
            </a:r>
            <a:r>
              <a:rPr lang="en-GB" altLang="en-US" sz="2000" dirty="0">
                <a:latin typeface="Times New Roman" panose="02020603050405020304" pitchFamily="18" charset="0"/>
                <a:cs typeface="Times New Roman" panose="02020603050405020304" pitchFamily="18" charset="0"/>
              </a:rPr>
              <a:t>method: The </a:t>
            </a:r>
            <a:r>
              <a:rPr lang="en-GB" altLang="zh-CN" sz="2000" dirty="0">
                <a:latin typeface="Times New Roman" panose="02020603050405020304" pitchFamily="18" charset="0"/>
                <a:cs typeface="Times New Roman" panose="02020603050405020304" pitchFamily="18" charset="0"/>
              </a:rPr>
              <a:t>web </a:t>
            </a:r>
            <a:r>
              <a:rPr lang="en-GB" altLang="en-US" sz="2000" dirty="0">
                <a:latin typeface="Times New Roman" panose="02020603050405020304" pitchFamily="18" charset="0"/>
                <a:cs typeface="Times New Roman" panose="02020603050405020304" pitchFamily="18" charset="0"/>
              </a:rPr>
              <a:t>client gets the file from the server</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POST </a:t>
            </a:r>
            <a:r>
              <a:rPr lang="en-GB" altLang="en-US" sz="2000" dirty="0">
                <a:latin typeface="Times New Roman" panose="02020603050405020304" pitchFamily="18" charset="0"/>
                <a:cs typeface="Times New Roman" panose="02020603050405020304" pitchFamily="18" charset="0"/>
              </a:rPr>
              <a:t>method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The client submits data to the form to send a request and get a response</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PUT </a:t>
            </a:r>
            <a:r>
              <a:rPr lang="en-GB" altLang="en-US" sz="2000" dirty="0">
                <a:latin typeface="Times New Roman" panose="02020603050405020304" pitchFamily="18" charset="0"/>
                <a:cs typeface="Times New Roman" panose="02020603050405020304" pitchFamily="18" charset="0"/>
              </a:rPr>
              <a:t>method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upload files to the server</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DELETE </a:t>
            </a:r>
            <a:r>
              <a:rPr lang="en-GB" altLang="en-US" sz="2000" dirty="0">
                <a:latin typeface="Times New Roman" panose="02020603050405020304" pitchFamily="18" charset="0"/>
                <a:cs typeface="Times New Roman" panose="02020603050405020304" pitchFamily="18" charset="0"/>
              </a:rPr>
              <a:t>method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delete the server file</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HEAD </a:t>
            </a:r>
            <a:r>
              <a:rPr lang="en-GB" altLang="en-US" sz="2000" dirty="0">
                <a:latin typeface="Times New Roman" panose="02020603050405020304" pitchFamily="18" charset="0"/>
                <a:cs typeface="Times New Roman" panose="02020603050405020304" pitchFamily="18" charset="0"/>
              </a:rPr>
              <a:t>method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only request the header of the document</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OPTIONS </a:t>
            </a:r>
            <a:r>
              <a:rPr lang="en-GB" altLang="en-US" sz="2000" dirty="0">
                <a:latin typeface="Times New Roman" panose="02020603050405020304" pitchFamily="18" charset="0"/>
                <a:cs typeface="Times New Roman" panose="02020603050405020304" pitchFamily="18" charset="0"/>
              </a:rPr>
              <a:t>method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Ask the server for a list of options supported by a specified </a:t>
            </a:r>
            <a:endParaRPr lang="en-US"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zh-CN" sz="2000" dirty="0">
                <a:latin typeface="Times New Roman" panose="02020603050405020304" pitchFamily="18" charset="0"/>
                <a:cs typeface="Times New Roman" panose="02020603050405020304" pitchFamily="18" charset="0"/>
              </a:rPr>
              <a:t>TRACE </a:t>
            </a:r>
            <a:r>
              <a:rPr lang="en-GB" altLang="en-US" sz="2000" dirty="0">
                <a:latin typeface="Times New Roman" panose="02020603050405020304" pitchFamily="18" charset="0"/>
                <a:cs typeface="Times New Roman" panose="02020603050405020304" pitchFamily="18" charset="0"/>
              </a:rPr>
              <a:t>method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trace the request itself</a:t>
            </a:r>
            <a:endParaRPr lang="en-US" altLang="zh-CN" sz="20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rPr>
              <a:t>public void </a:t>
            </a:r>
            <a:r>
              <a:rPr lang="en-GB" altLang="zh-CN" sz="2400" dirty="0" err="1">
                <a:latin typeface="Times New Roman" panose="02020603050405020304" pitchFamily="18" charset="0"/>
                <a:cs typeface="Times New Roman" panose="02020603050405020304" pitchFamily="18" charset="0"/>
              </a:rPr>
              <a:t>setRequestMethod </a:t>
            </a:r>
            <a:r>
              <a:rPr lang="en-GB" altLang="zh-CN" sz="2400" dirty="0">
                <a:latin typeface="Times New Roman" panose="02020603050405020304" pitchFamily="18" charset="0"/>
                <a:cs typeface="Times New Roman" panose="02020603050405020304" pitchFamily="18" charset="0"/>
              </a:rPr>
              <a:t>(String method) throws </a:t>
            </a:r>
            <a:r>
              <a:rPr lang="en-GB" altLang="zh-CN" sz="2400" dirty="0" err="1">
                <a:latin typeface="Times New Roman" panose="02020603050405020304" pitchFamily="18" charset="0"/>
                <a:cs typeface="Times New Roman" panose="02020603050405020304" pitchFamily="18" charset="0"/>
              </a:rPr>
              <a:t>ProtocolException</a:t>
            </a:r>
            <a:endParaRPr lang="en-US" altLang="zh-C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000" dirty="0">
                <a:latin typeface="Times New Roman" panose="02020603050405020304" pitchFamily="18" charset="0"/>
                <a:cs typeface="Times New Roman" panose="02020603050405020304" pitchFamily="18" charset="0"/>
              </a:rPr>
              <a:t>Set the request method: </a:t>
            </a:r>
            <a:r>
              <a:rPr lang="en-GB" altLang="zh-CN" sz="2000" dirty="0">
                <a:latin typeface="Times New Roman" panose="02020603050405020304" pitchFamily="18" charset="0"/>
                <a:cs typeface="Times New Roman" panose="02020603050405020304" pitchFamily="18" charset="0"/>
              </a:rPr>
              <a:t>GET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POST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HEAD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PUT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DELETE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OPTIONS </a:t>
            </a:r>
            <a:r>
              <a:rPr lang="en-GB" altLang="en-US" sz="2000" dirty="0">
                <a:latin typeface="Times New Roman" panose="02020603050405020304" pitchFamily="18" charset="0"/>
                <a:cs typeface="Times New Roman" panose="02020603050405020304" pitchFamily="18" charset="0"/>
              </a:rPr>
              <a:t>, </a:t>
            </a:r>
            <a:r>
              <a:rPr lang="en-GB" altLang="zh-CN" sz="2000" dirty="0">
                <a:latin typeface="Times New Roman" panose="02020603050405020304" pitchFamily="18" charset="0"/>
                <a:cs typeface="Times New Roman" panose="02020603050405020304" pitchFamily="18" charset="0"/>
              </a:rPr>
              <a:t>TRACE</a:t>
            </a:r>
            <a:endParaRPr lang="en-GB"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000" dirty="0">
                <a:latin typeface="Times New Roman" panose="02020603050405020304" pitchFamily="18" charset="0"/>
                <a:cs typeface="Times New Roman" panose="02020603050405020304" pitchFamily="18" charset="0"/>
              </a:rPr>
              <a:t>All capital letters are required</a:t>
            </a:r>
            <a:endParaRPr lang="en-US" altLang="zh-CN" sz="2000" dirty="0">
              <a:latin typeface="Times New Roman" panose="02020603050405020304" pitchFamily="18" charset="0"/>
              <a:cs typeface="Times New Roman" panose="02020603050405020304" pitchFamily="18" charset="0"/>
            </a:endParaRPr>
          </a:p>
          <a:p>
            <a:endParaRPr lang="zh-CN" altLang="en-US" dirty="0"/>
          </a:p>
        </p:txBody>
      </p:sp>
      <p:sp>
        <p:nvSpPr>
          <p:cNvPr id="106500" name="椭圆 1"/>
          <p:cNvSpPr>
            <a:spLocks noChangeArrowheads="1"/>
          </p:cNvSpPr>
          <p:nvPr/>
        </p:nvSpPr>
        <p:spPr bwMode="auto">
          <a:xfrm>
            <a:off x="2362200" y="1676400"/>
            <a:ext cx="685800" cy="533400"/>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a:xfrm>
            <a:off x="1524000" y="0"/>
            <a:ext cx="8540750" cy="609600"/>
          </a:xfrm>
        </p:spPr>
        <p:txBody>
          <a:bodyPr/>
          <a:lstStyle/>
          <a:p>
            <a:pPr algn="l"/>
            <a:r>
              <a:rPr lang="en-GB" altLang="zh-CN" sz="3200"/>
              <a:t>HEAD </a:t>
            </a:r>
            <a:r>
              <a:rPr lang="en-GB" altLang="en-US" sz="3200"/>
              <a:t>method</a:t>
            </a:r>
            <a:endParaRPr lang="en-GB" altLang="en-US" sz="3200"/>
          </a:p>
        </p:txBody>
      </p:sp>
      <p:sp>
        <p:nvSpPr>
          <p:cNvPr id="107523" name="内容占位符 2"/>
          <p:cNvSpPr>
            <a:spLocks noGrp="1"/>
          </p:cNvSpPr>
          <p:nvPr>
            <p:ph idx="1"/>
          </p:nvPr>
        </p:nvSpPr>
        <p:spPr>
          <a:xfrm>
            <a:off x="304800" y="914400"/>
            <a:ext cx="11582400" cy="4498975"/>
          </a:xfrm>
        </p:spPr>
        <p:txBody>
          <a:bodyPr/>
          <a:lstStyle/>
          <a:p>
            <a:r>
              <a:rPr lang="en-GB" altLang="en-US" sz="2800" dirty="0"/>
              <a:t>The request information is the same as </a:t>
            </a:r>
            <a:r>
              <a:rPr lang="en-GB" altLang="zh-CN" sz="2800" dirty="0"/>
              <a:t>GET </a:t>
            </a:r>
            <a:r>
              <a:rPr lang="en-GB" altLang="en-US" sz="2800" dirty="0"/>
              <a:t>, telling the server to only return </a:t>
            </a:r>
            <a:r>
              <a:rPr lang="en-GB" altLang="zh-CN" sz="2800" dirty="0"/>
              <a:t>the HTTP </a:t>
            </a:r>
            <a:r>
              <a:rPr lang="en-GB" altLang="en-US" sz="2800" dirty="0"/>
              <a:t>header without actually sending the file.</a:t>
            </a:r>
            <a:endParaRPr lang="en-US" altLang="zh-CN" sz="2800" dirty="0"/>
          </a:p>
          <a:p>
            <a:r>
              <a:rPr lang="en-GB" altLang="en-US" sz="2800" dirty="0"/>
              <a:t>The server only returns the header information</a:t>
            </a:r>
            <a:endParaRPr lang="en-US" altLang="zh-CN" sz="2800" dirty="0"/>
          </a:p>
          <a:p>
            <a:r>
              <a:rPr lang="en-GB" altLang="en-US" sz="2800" dirty="0"/>
              <a:t>This method is often used to check if a file has been modified since it was last cached.</a:t>
            </a:r>
            <a:endParaRPr lang="en-US" altLang="zh-CN" sz="2800" dirty="0"/>
          </a:p>
          <a:p>
            <a:r>
              <a:rPr lang="en-GB" altLang="en-US" sz="2800" dirty="0"/>
              <a:t>Reduce the acquisition and transmission of unnecessary information to make the program more efficient</a:t>
            </a:r>
            <a:endParaRPr lang="en-US" altLang="zh-CN" sz="2800" dirty="0"/>
          </a:p>
          <a:p>
            <a:r>
              <a:rPr lang="en-GB" altLang="en-US" sz="2400" dirty="0"/>
              <a:t>Programmatically use the </a:t>
            </a:r>
            <a:r>
              <a:rPr lang="en-GB" altLang="zh-CN" sz="2400" dirty="0"/>
              <a:t>HEAD </a:t>
            </a:r>
            <a:r>
              <a:rPr lang="en-GB" altLang="en-US" sz="2400" dirty="0"/>
              <a:t>request method </a:t>
            </a:r>
            <a:r>
              <a:rPr lang="en-GB" altLang="zh-CN" sz="2400" dirty="0"/>
              <a:t>to </a:t>
            </a:r>
            <a:r>
              <a:rPr lang="en-GB" altLang="en-US" sz="2400" dirty="0"/>
              <a:t>obtain and display the last modification time of </a:t>
            </a:r>
            <a:r>
              <a:rPr lang="en-GB" altLang="zh-CN" sz="2400" dirty="0"/>
              <a:t>the URL </a:t>
            </a:r>
            <a:r>
              <a:rPr lang="en-GB" altLang="en-US" sz="2400" dirty="0"/>
              <a:t>file on the server </a:t>
            </a:r>
            <a:r>
              <a:rPr lang="en-GB" altLang="zh-CN" sz="2400" dirty="0"/>
              <a:t>.</a:t>
            </a:r>
            <a:endParaRPr lang="en-GB" altLang="zh-CN" sz="2400" dirty="0"/>
          </a:p>
          <a:p>
            <a:r>
              <a:rPr lang="en-GB" altLang="en-US" sz="2400" dirty="0"/>
              <a:t>Programming Example </a:t>
            </a:r>
            <a:r>
              <a:rPr lang="en-GB" altLang="zh-CN" sz="2400" dirty="0"/>
              <a:t>ch7.LastModified.java</a:t>
            </a:r>
            <a:endParaRPr lang="zh-CN" alt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a:xfrm>
            <a:off x="1524000" y="0"/>
            <a:ext cx="8540750" cy="609600"/>
          </a:xfrm>
        </p:spPr>
        <p:txBody>
          <a:bodyPr/>
          <a:lstStyle/>
          <a:p>
            <a:pPr algn="l"/>
            <a:r>
              <a:rPr lang="en-GB" altLang="zh-CN" sz="3200"/>
              <a:t>HEAD </a:t>
            </a:r>
            <a:r>
              <a:rPr lang="en-GB" altLang="en-US" sz="3200"/>
              <a:t>method</a:t>
            </a:r>
            <a:endParaRPr lang="en-GB" altLang="en-US" sz="3200"/>
          </a:p>
        </p:txBody>
      </p:sp>
      <p:pic>
        <p:nvPicPr>
          <p:cNvPr id="10854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03362" y="0"/>
            <a:ext cx="9012238" cy="648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p:cNvSpPr>
          <p:nvPr>
            <p:ph type="title"/>
          </p:nvPr>
        </p:nvSpPr>
        <p:spPr>
          <a:xfrm>
            <a:off x="1538288" y="152400"/>
            <a:ext cx="8540750" cy="457200"/>
          </a:xfrm>
        </p:spPr>
        <p:txBody>
          <a:bodyPr/>
          <a:lstStyle/>
          <a:p>
            <a:pPr algn="l"/>
            <a:r>
              <a:rPr lang="en-GB" altLang="zh-CN" sz="3200"/>
              <a:t>DELETE </a:t>
            </a:r>
            <a:r>
              <a:rPr lang="en-GB" altLang="en-US" sz="3200"/>
              <a:t>method</a:t>
            </a:r>
            <a:endParaRPr lang="en-GB" altLang="en-US" sz="3200"/>
          </a:p>
        </p:txBody>
      </p:sp>
      <p:sp>
        <p:nvSpPr>
          <p:cNvPr id="109571" name="内容占位符 2"/>
          <p:cNvSpPr>
            <a:spLocks noGrp="1"/>
          </p:cNvSpPr>
          <p:nvPr>
            <p:ph idx="1"/>
          </p:nvPr>
        </p:nvSpPr>
        <p:spPr>
          <a:xfrm>
            <a:off x="609600" y="1166813"/>
            <a:ext cx="11277600" cy="5135562"/>
          </a:xfrm>
        </p:spPr>
        <p:txBody>
          <a:bodyPr/>
          <a:lstStyle/>
          <a:p>
            <a:r>
              <a:rPr lang="en-GB" altLang="zh-CN" sz="2400" dirty="0">
                <a:solidFill>
                  <a:srgbClr val="1B1C20"/>
                </a:solidFill>
                <a:latin typeface="Times New Roman" panose="02020603050405020304" pitchFamily="18" charset="0"/>
                <a:cs typeface="Times New Roman" panose="02020603050405020304" pitchFamily="18" charset="0"/>
              </a:rPr>
              <a:t>DELETE </a:t>
            </a:r>
            <a:r>
              <a:rPr lang="en-GB" altLang="en-US" sz="2400" dirty="0">
                <a:solidFill>
                  <a:srgbClr val="1B1C20"/>
                </a:solidFill>
                <a:latin typeface="Times New Roman" panose="02020603050405020304" pitchFamily="18" charset="0"/>
                <a:cs typeface="Times New Roman" panose="02020603050405020304" pitchFamily="18" charset="0"/>
              </a:rPr>
              <a:t>method is used to delete the file located at the specified </a:t>
            </a:r>
            <a:endParaRPr lang="en-US" altLang="zh-CN" sz="2400" dirty="0">
              <a:solidFill>
                <a:srgbClr val="1B1C20"/>
              </a:solidFill>
              <a:latin typeface="Times New Roman" panose="02020603050405020304" pitchFamily="18" charset="0"/>
              <a:cs typeface="Times New Roman" panose="02020603050405020304" pitchFamily="18" charset="0"/>
            </a:endParaRPr>
          </a:p>
          <a:p>
            <a:r>
              <a:rPr lang="en-GB" altLang="en-US" sz="2400" dirty="0">
                <a:solidFill>
                  <a:srgbClr val="1B1C20"/>
                </a:solidFill>
                <a:latin typeface="Times New Roman" panose="02020603050405020304" pitchFamily="18" charset="0"/>
                <a:cs typeface="Times New Roman" panose="02020603050405020304" pitchFamily="18" charset="0"/>
              </a:rPr>
              <a:t>This method has security risks </a:t>
            </a:r>
            <a:r>
              <a:rPr lang="en-GB" altLang="zh-CN" sz="2400" dirty="0">
                <a:solidFill>
                  <a:srgbClr val="1B1C20"/>
                </a:solidFill>
                <a:latin typeface="Times New Roman" panose="02020603050405020304" pitchFamily="18" charset="0"/>
                <a:cs typeface="Times New Roman" panose="02020603050405020304" pitchFamily="18" charset="0"/>
              </a:rPr>
              <a:t>, and </a:t>
            </a:r>
            <a:r>
              <a:rPr lang="en-GB" altLang="en-US" sz="2400" dirty="0">
                <a:solidFill>
                  <a:srgbClr val="1B1C20"/>
                </a:solidFill>
                <a:latin typeface="Times New Roman" panose="02020603050405020304" pitchFamily="18" charset="0"/>
                <a:cs typeface="Times New Roman" panose="02020603050405020304" pitchFamily="18" charset="0"/>
              </a:rPr>
              <a:t>many server configurations may not support this method </a:t>
            </a:r>
            <a:r>
              <a:rPr lang="en-GB" altLang="zh-CN" sz="2400" dirty="0">
                <a:solidFill>
                  <a:srgbClr val="1B1C20"/>
                </a:solidFill>
                <a:latin typeface="Times New Roman" panose="02020603050405020304" pitchFamily="18" charset="0"/>
                <a:cs typeface="Times New Roman" panose="02020603050405020304" pitchFamily="18" charset="0"/>
              </a:rPr>
              <a:t>.</a:t>
            </a:r>
            <a:endParaRPr lang="en-GB" altLang="zh-CN" sz="2400" dirty="0">
              <a:solidFill>
                <a:srgbClr val="1B1C20"/>
              </a:solidFill>
              <a:latin typeface="Times New Roman" panose="02020603050405020304" pitchFamily="18" charset="0"/>
              <a:cs typeface="Times New Roman" panose="02020603050405020304" pitchFamily="18" charset="0"/>
            </a:endParaRPr>
          </a:p>
          <a:p>
            <a:r>
              <a:rPr lang="en-GB" altLang="en-US" sz="2400" dirty="0">
                <a:solidFill>
                  <a:srgbClr val="1B1C20"/>
                </a:solidFill>
                <a:latin typeface="Times New Roman" panose="02020603050405020304" pitchFamily="18" charset="0"/>
                <a:cs typeface="Times New Roman" panose="02020603050405020304" pitchFamily="18" charset="0"/>
              </a:rPr>
              <a:t>Usually requires identity authentication to be completed before support </a:t>
            </a:r>
            <a:r>
              <a:rPr lang="en-GB" altLang="zh-CN" sz="2400" dirty="0">
                <a:solidFill>
                  <a:srgbClr val="1B1C20"/>
                </a:solidFill>
                <a:latin typeface="Times New Roman" panose="02020603050405020304" pitchFamily="18" charset="0"/>
                <a:cs typeface="Times New Roman" panose="02020603050405020304" pitchFamily="18" charset="0"/>
              </a:rPr>
              <a:t>.</a:t>
            </a:r>
            <a:endParaRPr lang="en-GB" altLang="zh-CN" sz="2400" dirty="0">
              <a:solidFill>
                <a:srgbClr val="1B1C20"/>
              </a:solidFill>
              <a:latin typeface="Times New Roman" panose="02020603050405020304" pitchFamily="18" charset="0"/>
              <a:cs typeface="Times New Roman" panose="02020603050405020304" pitchFamily="18" charset="0"/>
            </a:endParaRPr>
          </a:p>
          <a:p>
            <a:r>
              <a:rPr lang="en-GB" altLang="en-US" sz="2400" dirty="0">
                <a:solidFill>
                  <a:srgbClr val="1B1C20"/>
                </a:solidFill>
                <a:latin typeface="Times New Roman" panose="02020603050405020304" pitchFamily="18" charset="0"/>
                <a:cs typeface="Times New Roman" panose="02020603050405020304" pitchFamily="18" charset="0"/>
              </a:rPr>
              <a:t>A typical </a:t>
            </a:r>
            <a:r>
              <a:rPr lang="en-GB" altLang="zh-CN" sz="2400" dirty="0">
                <a:solidFill>
                  <a:srgbClr val="1B1C20"/>
                </a:solidFill>
                <a:latin typeface="Times New Roman" panose="02020603050405020304" pitchFamily="18" charset="0"/>
                <a:cs typeface="Times New Roman" panose="02020603050405020304" pitchFamily="18" charset="0"/>
              </a:rPr>
              <a:t>DELETE </a:t>
            </a:r>
            <a:r>
              <a:rPr lang="en-GB" altLang="en-US" sz="2400" dirty="0">
                <a:solidFill>
                  <a:srgbClr val="1B1C20"/>
                </a:solidFill>
                <a:latin typeface="Times New Roman" panose="02020603050405020304" pitchFamily="18" charset="0"/>
                <a:cs typeface="Times New Roman" panose="02020603050405020304" pitchFamily="18" charset="0"/>
              </a:rPr>
              <a:t>request:</a:t>
            </a:r>
            <a:endParaRPr lang="en-US" altLang="zh-CN" sz="2400" dirty="0">
              <a:solidFill>
                <a:srgbClr val="1B1C20"/>
              </a:solidFill>
              <a:latin typeface="Times New Roman" panose="02020603050405020304" pitchFamily="18" charset="0"/>
              <a:cs typeface="Times New Roman" panose="02020603050405020304" pitchFamily="18" charset="0"/>
            </a:endParaRPr>
          </a:p>
          <a:p>
            <a:pPr marL="400050" lvl="1" indent="0">
              <a:buNone/>
            </a:pPr>
            <a:r>
              <a:rPr lang="en-GB" altLang="zh-CN" sz="2400" dirty="0">
                <a:solidFill>
                  <a:schemeClr val="tx2"/>
                </a:solidFill>
                <a:latin typeface="Times New Roman" panose="02020603050405020304" pitchFamily="18" charset="0"/>
                <a:cs typeface="Times New Roman" panose="02020603050405020304" pitchFamily="18" charset="0"/>
              </a:rPr>
              <a:t>DELETE /javafaq/2008march.html HTTP/1.1</a:t>
            </a:r>
            <a:endParaRPr lang="en-GB" altLang="zh-CN" sz="2400" dirty="0">
              <a:solidFill>
                <a:schemeClr val="tx2"/>
              </a:solidFill>
              <a:latin typeface="Times New Roman" panose="02020603050405020304" pitchFamily="18" charset="0"/>
              <a:cs typeface="Times New Roman" panose="02020603050405020304" pitchFamily="18" charset="0"/>
            </a:endParaRPr>
          </a:p>
          <a:p>
            <a:pPr marL="400050" lvl="1" indent="0">
              <a:buNone/>
            </a:pPr>
            <a:r>
              <a:rPr lang="en-GB" altLang="zh-CN" sz="2400" dirty="0">
                <a:solidFill>
                  <a:schemeClr val="tx2"/>
                </a:solidFill>
                <a:latin typeface="Times New Roman" panose="02020603050405020304" pitchFamily="18" charset="0"/>
                <a:cs typeface="Times New Roman" panose="02020603050405020304" pitchFamily="18" charset="0"/>
              </a:rPr>
              <a:t>Host: www.ibiblio.org</a:t>
            </a:r>
            <a:endParaRPr lang="en-GB" altLang="zh-CN" sz="2400" dirty="0">
              <a:solidFill>
                <a:schemeClr val="tx2"/>
              </a:solidFill>
              <a:latin typeface="Times New Roman" panose="02020603050405020304" pitchFamily="18" charset="0"/>
              <a:cs typeface="Times New Roman" panose="02020603050405020304" pitchFamily="18" charset="0"/>
            </a:endParaRPr>
          </a:p>
          <a:p>
            <a:pPr marL="400050" lvl="1" indent="0">
              <a:buNone/>
            </a:pPr>
            <a:r>
              <a:rPr lang="en-GB" altLang="zh-CN" sz="2400" dirty="0">
                <a:solidFill>
                  <a:schemeClr val="tx2"/>
                </a:solidFill>
                <a:latin typeface="Times New Roman" panose="02020603050405020304" pitchFamily="18" charset="0"/>
                <a:cs typeface="Times New Roman" panose="02020603050405020304" pitchFamily="18" charset="0"/>
              </a:rPr>
              <a:t>Accept: text/html, image/gif, image/jpeg, *; q=.2, */*; q=.2</a:t>
            </a:r>
            <a:endParaRPr lang="en-GB" altLang="zh-CN" sz="2400" dirty="0">
              <a:solidFill>
                <a:schemeClr val="tx2"/>
              </a:solidFill>
              <a:latin typeface="Times New Roman" panose="02020603050405020304" pitchFamily="18" charset="0"/>
              <a:cs typeface="Times New Roman" panose="02020603050405020304" pitchFamily="18" charset="0"/>
            </a:endParaRPr>
          </a:p>
          <a:p>
            <a:pPr marL="400050" lvl="1" indent="0">
              <a:buNone/>
            </a:pPr>
            <a:r>
              <a:rPr lang="en-GB" altLang="zh-CN" sz="2400" dirty="0">
                <a:solidFill>
                  <a:schemeClr val="tx2"/>
                </a:solidFill>
                <a:latin typeface="Times New Roman" panose="02020603050405020304" pitchFamily="18" charset="0"/>
                <a:cs typeface="Times New Roman" panose="02020603050405020304" pitchFamily="18" charset="0"/>
              </a:rPr>
              <a:t>Connection: close</a:t>
            </a:r>
            <a:endParaRPr lang="en-GB" altLang="zh-CN" sz="2400" dirty="0">
              <a:solidFill>
                <a:schemeClr val="tx2"/>
              </a:solidFill>
              <a:latin typeface="Times New Roman" panose="02020603050405020304" pitchFamily="18" charset="0"/>
              <a:cs typeface="Times New Roman" panose="02020603050405020304" pitchFamily="18" charset="0"/>
            </a:endParaRPr>
          </a:p>
          <a:p>
            <a:endParaRPr lang="en-US" altLang="zh-CN" sz="2400" dirty="0"/>
          </a:p>
          <a:p>
            <a:endParaRPr lang="zh-CN" alt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p:cNvSpPr>
            <a:spLocks noGrp="1"/>
          </p:cNvSpPr>
          <p:nvPr>
            <p:ph type="title"/>
          </p:nvPr>
        </p:nvSpPr>
        <p:spPr>
          <a:xfrm>
            <a:off x="1530350" y="58738"/>
            <a:ext cx="8540750" cy="609600"/>
          </a:xfrm>
        </p:spPr>
        <p:txBody>
          <a:bodyPr/>
          <a:lstStyle/>
          <a:p>
            <a:pPr algn="l"/>
            <a:r>
              <a:rPr lang="en-GB" altLang="en-US" sz="3200"/>
              <a:t>Response to server </a:t>
            </a:r>
            <a:r>
              <a:rPr lang="en-GB" altLang="zh-CN" sz="3200"/>
              <a:t>DELETE</a:t>
            </a:r>
            <a:endParaRPr lang="en-GB" altLang="zh-CN" sz="3200"/>
          </a:p>
        </p:txBody>
      </p:sp>
      <p:sp>
        <p:nvSpPr>
          <p:cNvPr id="110595" name="内容占位符 2"/>
          <p:cNvSpPr>
            <a:spLocks noGrp="1"/>
          </p:cNvSpPr>
          <p:nvPr>
            <p:ph idx="1"/>
          </p:nvPr>
        </p:nvSpPr>
        <p:spPr>
          <a:xfrm>
            <a:off x="228600" y="738188"/>
            <a:ext cx="11734799" cy="1471612"/>
          </a:xfrm>
        </p:spPr>
        <p:txBody>
          <a:bodyPr/>
          <a:lstStyle/>
          <a:p>
            <a:r>
              <a:rPr lang="en-GB" altLang="en-US" sz="2000" dirty="0">
                <a:solidFill>
                  <a:srgbClr val="1B1C20"/>
                </a:solidFill>
                <a:latin typeface="Times New Roman" panose="02020603050405020304" pitchFamily="18" charset="0"/>
                <a:cs typeface="Times New Roman" panose="02020603050405020304" pitchFamily="18" charset="0"/>
              </a:rPr>
              <a:t>The server may deny the request or require authentication.</a:t>
            </a:r>
            <a:endParaRPr lang="en-US" altLang="zh-CN" sz="2000" dirty="0">
              <a:solidFill>
                <a:srgbClr val="1B1C20"/>
              </a:solidFill>
              <a:latin typeface="Times New Roman" panose="02020603050405020304" pitchFamily="18" charset="0"/>
              <a:cs typeface="Times New Roman" panose="02020603050405020304" pitchFamily="18" charset="0"/>
            </a:endParaRPr>
          </a:p>
          <a:p>
            <a:r>
              <a:rPr lang="en-GB" altLang="en-US" sz="2000" dirty="0">
                <a:solidFill>
                  <a:srgbClr val="1B1C20"/>
                </a:solidFill>
                <a:latin typeface="Times New Roman" panose="02020603050405020304" pitchFamily="18" charset="0"/>
                <a:cs typeface="Times New Roman" panose="02020603050405020304" pitchFamily="18" charset="0"/>
              </a:rPr>
              <a:t>If the request is accepted, how the deletion is responded to depends on the implementation details of the server vendor, and the file may be deleted, moved to the recycle bin, or marked as unreadable.</a:t>
            </a:r>
            <a:endParaRPr lang="en-US" altLang="zh-CN" sz="2000" dirty="0">
              <a:solidFill>
                <a:srgbClr val="1B1C20"/>
              </a:solidFill>
              <a:latin typeface="Times New Roman" panose="02020603050405020304" pitchFamily="18" charset="0"/>
              <a:cs typeface="Times New Roman" panose="02020603050405020304" pitchFamily="18" charset="0"/>
            </a:endParaRPr>
          </a:p>
          <a:p>
            <a:r>
              <a:rPr lang="en-GB" altLang="en-US" sz="2000" dirty="0">
                <a:solidFill>
                  <a:srgbClr val="1B1C20"/>
                </a:solidFill>
                <a:latin typeface="Times New Roman" panose="02020603050405020304" pitchFamily="18" charset="0"/>
                <a:cs typeface="Times New Roman" panose="02020603050405020304" pitchFamily="18" charset="0"/>
              </a:rPr>
              <a:t>Reject request response:</a:t>
            </a:r>
            <a:endParaRPr lang="en-US" altLang="zh-CN" sz="2000" dirty="0">
              <a:solidFill>
                <a:srgbClr val="1B1C20"/>
              </a:solidFill>
              <a:latin typeface="Times New Roman" panose="02020603050405020304" pitchFamily="18" charset="0"/>
              <a:cs typeface="Times New Roman" panose="02020603050405020304" pitchFamily="18" charset="0"/>
            </a:endParaRPr>
          </a:p>
          <a:p>
            <a:endParaRPr lang="en-US" altLang="zh-CN" sz="2400" dirty="0"/>
          </a:p>
          <a:p>
            <a:endParaRPr lang="zh-CN" altLang="en-US" sz="2400" dirty="0"/>
          </a:p>
        </p:txBody>
      </p:sp>
      <p:sp>
        <p:nvSpPr>
          <p:cNvPr id="110596" name="矩形 4"/>
          <p:cNvSpPr>
            <a:spLocks noChangeArrowheads="1"/>
          </p:cNvSpPr>
          <p:nvPr/>
        </p:nvSpPr>
        <p:spPr bwMode="auto">
          <a:xfrm>
            <a:off x="1814514" y="2362201"/>
            <a:ext cx="8853487"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HTTP/1.1 405 Method Not Allowed</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Date: Sat, 04 May 2013 13:22:12 GMT</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Server: Apache</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Allow: GET,HEAD,POST,OPTIONS,TRACE</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Content-Length: 334</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Connection: close</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Content-Type: text/html; charset=iso-8859-1</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&lt;!DOCTYPE HTML PUBLIC "-//IETF//DTD HTML 2.0//EN"&gt;</a:t>
            </a:r>
            <a:endParaRPr lang="en-US" altLang="zh-CN" sz="1800" dirty="0">
              <a:solidFill>
                <a:srgbClr val="00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&lt;html&gt;</a:t>
            </a:r>
            <a:endParaRPr lang="en-GB" altLang="zh-CN" sz="1800" dirty="0">
              <a:solidFill>
                <a:srgbClr val="1B1C2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&lt;head&gt;</a:t>
            </a:r>
            <a:endParaRPr lang="en-GB" altLang="zh-CN" sz="1800" dirty="0">
              <a:solidFill>
                <a:srgbClr val="1B1C2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&lt;title&gt;405 Method Not Allowed&lt;/title&gt;</a:t>
            </a:r>
            <a:endParaRPr lang="en-GB" altLang="zh-CN" sz="1800" dirty="0">
              <a:solidFill>
                <a:srgbClr val="1B1C2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&lt;/head&gt;&lt;body&gt;</a:t>
            </a:r>
            <a:endParaRPr lang="en-GB" altLang="zh-CN" sz="1800" dirty="0">
              <a:solidFill>
                <a:srgbClr val="1B1C2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a:t>
            </a:r>
            <a:endParaRPr lang="en-GB" altLang="zh-CN" sz="1800" dirty="0">
              <a:solidFill>
                <a:srgbClr val="1B1C2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&lt;/body&gt;</a:t>
            </a:r>
            <a:endParaRPr lang="en-GB" altLang="zh-CN" sz="1800" dirty="0">
              <a:solidFill>
                <a:srgbClr val="1B1C2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rgbClr val="1B1C20"/>
                </a:solidFill>
                <a:latin typeface="Times New Roman" panose="02020603050405020304" pitchFamily="18" charset="0"/>
                <a:cs typeface="Times New Roman" panose="02020603050405020304" pitchFamily="18" charset="0"/>
              </a:rPr>
              <a:t>&lt;/html&gt;</a:t>
            </a:r>
            <a:endParaRPr lang="en-US" altLang="zh-CN"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a:xfrm>
            <a:off x="1524000" y="0"/>
            <a:ext cx="8540750" cy="762000"/>
          </a:xfrm>
        </p:spPr>
        <p:txBody>
          <a:bodyPr/>
          <a:lstStyle/>
          <a:p>
            <a:pPr algn="l"/>
            <a:r>
              <a:rPr lang="en-GB" altLang="zh-CN" sz="3200"/>
              <a:t>PUT </a:t>
            </a:r>
            <a:r>
              <a:rPr lang="en-GB" altLang="en-US" sz="3200"/>
              <a:t>Method</a:t>
            </a:r>
            <a:endParaRPr lang="en-GB" altLang="en-US" sz="3200"/>
          </a:p>
        </p:txBody>
      </p:sp>
      <p:sp>
        <p:nvSpPr>
          <p:cNvPr id="68611" name="内容占位符 2"/>
          <p:cNvSpPr>
            <a:spLocks noGrp="1"/>
          </p:cNvSpPr>
          <p:nvPr>
            <p:ph idx="1"/>
          </p:nvPr>
        </p:nvSpPr>
        <p:spPr>
          <a:xfrm>
            <a:off x="228600" y="762000"/>
            <a:ext cx="11887200" cy="5791200"/>
          </a:xfrm>
        </p:spPr>
        <p:txBody>
          <a:bodyPr/>
          <a:lstStyle/>
          <a:p>
            <a:pPr>
              <a:buFont typeface="Wingdings" panose="05000000000000000000" pitchFamily="2" charset="2"/>
              <a:buChar char="n"/>
            </a:pPr>
            <a:r>
              <a:rPr lang="en-GB" altLang="en-US" sz="2000" dirty="0">
                <a:solidFill>
                  <a:srgbClr val="1B1C20"/>
                </a:solidFill>
                <a:latin typeface="Times New Roman" panose="02020603050405020304" pitchFamily="18" charset="0"/>
                <a:cs typeface="Times New Roman" panose="02020603050405020304" pitchFamily="18" charset="0"/>
              </a:rPr>
              <a:t>This approach allows clients </a:t>
            </a:r>
            <a:r>
              <a:rPr lang="en-GB" altLang="en-US" sz="2000" dirty="0">
                <a:solidFill>
                  <a:srgbClr val="FF0000"/>
                </a:solidFill>
                <a:latin typeface="Times New Roman" panose="02020603050405020304" pitchFamily="18" charset="0"/>
                <a:cs typeface="Times New Roman" panose="02020603050405020304" pitchFamily="18" charset="0"/>
              </a:rPr>
              <a:t>to place documents in the abstract hierarchy of the website </a:t>
            </a:r>
            <a:r>
              <a:rPr lang="en-GB" altLang="en-US" sz="2000" dirty="0">
                <a:solidFill>
                  <a:srgbClr val="1B1C20"/>
                </a:solidFill>
                <a:latin typeface="Times New Roman" panose="02020603050405020304" pitchFamily="18" charset="0"/>
                <a:cs typeface="Times New Roman" panose="02020603050405020304" pitchFamily="18" charset="0"/>
              </a:rPr>
              <a:t>without having to know how the website maps to the actual local file system.</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en-GB" altLang="zh-CN" sz="2000" dirty="0">
                <a:solidFill>
                  <a:srgbClr val="1B1C20"/>
                </a:solidFill>
                <a:latin typeface="Times New Roman" panose="02020603050405020304" pitchFamily="18" charset="0"/>
                <a:cs typeface="Times New Roman" panose="02020603050405020304" pitchFamily="18" charset="0"/>
              </a:rPr>
              <a:t>the PUT </a:t>
            </a:r>
            <a:r>
              <a:rPr lang="en-GB" altLang="en-US" sz="2000" dirty="0">
                <a:solidFill>
                  <a:srgbClr val="1B1C20"/>
                </a:solidFill>
                <a:latin typeface="Times New Roman" panose="02020603050405020304" pitchFamily="18" charset="0"/>
                <a:cs typeface="Times New Roman" panose="02020603050405020304" pitchFamily="18" charset="0"/>
              </a:rPr>
              <a:t>method usually requires identity authentication </a:t>
            </a:r>
            <a:r>
              <a:rPr lang="en-GB" altLang="zh-CN" sz="2000" dirty="0">
                <a:solidFill>
                  <a:srgbClr val="1B1C20"/>
                </a:solidFill>
                <a:latin typeface="Times New Roman" panose="02020603050405020304" pitchFamily="18" charset="0"/>
                <a:cs typeface="Times New Roman" panose="02020603050405020304" pitchFamily="18" charset="0"/>
              </a:rPr>
              <a:t>, </a:t>
            </a:r>
            <a:r>
              <a:rPr lang="en-GB" altLang="en-US" sz="2000" dirty="0">
                <a:solidFill>
                  <a:srgbClr val="1B1C20"/>
                </a:solidFill>
                <a:latin typeface="Times New Roman" panose="02020603050405020304" pitchFamily="18" charset="0"/>
                <a:cs typeface="Times New Roman" panose="02020603050405020304" pitchFamily="18" charset="0"/>
              </a:rPr>
              <a:t>and the server must be specially configured to support </a:t>
            </a:r>
            <a:r>
              <a:rPr lang="en-GB" altLang="zh-CN" sz="2000" dirty="0">
                <a:solidFill>
                  <a:srgbClr val="1B1C20"/>
                </a:solidFill>
                <a:latin typeface="Times New Roman" panose="02020603050405020304" pitchFamily="18" charset="0"/>
                <a:cs typeface="Times New Roman" panose="02020603050405020304" pitchFamily="18" charset="0"/>
              </a:rPr>
              <a:t>the PUT </a:t>
            </a:r>
            <a:r>
              <a:rPr lang="en-GB" altLang="en-US" sz="2000" dirty="0">
                <a:solidFill>
                  <a:srgbClr val="1B1C20"/>
                </a:solidFill>
                <a:latin typeface="Times New Roman" panose="02020603050405020304" pitchFamily="18" charset="0"/>
                <a:cs typeface="Times New Roman" panose="02020603050405020304" pitchFamily="18" charset="0"/>
              </a:rPr>
              <a:t>method. Most servers do not directly support </a:t>
            </a:r>
            <a:r>
              <a:rPr lang="en-GB" altLang="zh-CN" sz="2000" dirty="0">
                <a:solidFill>
                  <a:srgbClr val="1B1C20"/>
                </a:solidFill>
                <a:latin typeface="Times New Roman" panose="02020603050405020304" pitchFamily="18" charset="0"/>
                <a:cs typeface="Times New Roman" panose="02020603050405020304" pitchFamily="18" charset="0"/>
              </a:rPr>
              <a:t>the PUT </a:t>
            </a:r>
            <a:r>
              <a:rPr lang="en-GB" altLang="en-US" sz="2000" dirty="0">
                <a:solidFill>
                  <a:srgbClr val="1B1C20"/>
                </a:solidFill>
                <a:latin typeface="Times New Roman" panose="02020603050405020304" pitchFamily="18" charset="0"/>
                <a:cs typeface="Times New Roman" panose="02020603050405020304" pitchFamily="18" charset="0"/>
              </a:rPr>
              <a:t>method .</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en-GB" altLang="en-US" sz="2000" dirty="0">
                <a:solidFill>
                  <a:srgbClr val="1B1C20"/>
                </a:solidFill>
                <a:latin typeface="Times New Roman" panose="02020603050405020304" pitchFamily="18" charset="0"/>
                <a:cs typeface="Times New Roman" panose="02020603050405020304" pitchFamily="18" charset="0"/>
              </a:rPr>
              <a:t>How an editor uses </a:t>
            </a:r>
            <a:r>
              <a:rPr lang="en-GB" altLang="zh-CN" sz="2000" dirty="0">
                <a:solidFill>
                  <a:srgbClr val="1B1C20"/>
                </a:solidFill>
                <a:latin typeface="Times New Roman" panose="02020603050405020304" pitchFamily="18" charset="0"/>
                <a:cs typeface="Times New Roman" panose="02020603050405020304" pitchFamily="18" charset="0"/>
              </a:rPr>
              <a:t>PUT </a:t>
            </a:r>
            <a:r>
              <a:rPr lang="en-GB" altLang="en-US" sz="2000" dirty="0">
                <a:solidFill>
                  <a:srgbClr val="1B1C20"/>
                </a:solidFill>
                <a:latin typeface="Times New Roman" panose="02020603050405020304" pitchFamily="18" charset="0"/>
                <a:cs typeface="Times New Roman" panose="02020603050405020304" pitchFamily="18" charset="0"/>
              </a:rPr>
              <a:t>to store a file on </a:t>
            </a:r>
            <a:r>
              <a:rPr lang="en-GB" altLang="zh-CN" sz="2000" dirty="0">
                <a:solidFill>
                  <a:srgbClr val="1B1C20"/>
                </a:solidFill>
                <a:latin typeface="Times New Roman" panose="02020603050405020304" pitchFamily="18" charset="0"/>
                <a:cs typeface="Times New Roman" panose="02020603050405020304" pitchFamily="18" charset="0"/>
              </a:rPr>
              <a:t>a web </a:t>
            </a:r>
            <a:r>
              <a:rPr lang="en-GB" altLang="en-US" sz="2000" dirty="0">
                <a:solidFill>
                  <a:srgbClr val="1B1C20"/>
                </a:solidFill>
                <a:latin typeface="Times New Roman" panose="02020603050405020304" pitchFamily="18" charset="0"/>
                <a:cs typeface="Times New Roman" panose="02020603050405020304" pitchFamily="18" charset="0"/>
              </a:rPr>
              <a:t>server:</a:t>
            </a:r>
            <a:endParaRPr lang="en-US" altLang="zh-CN" sz="2000" dirty="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800" dirty="0">
                <a:solidFill>
                  <a:srgbClr val="1B1C20"/>
                </a:solidFill>
                <a:latin typeface="Times New Roman" panose="02020603050405020304" pitchFamily="18" charset="0"/>
                <a:cs typeface="Times New Roman" panose="02020603050405020304" pitchFamily="18" charset="0"/>
              </a:rPr>
              <a:t>PUT /blog/wp-app.php </a:t>
            </a:r>
            <a:r>
              <a:rPr lang="en-GB" altLang="zh-CN" sz="1800" dirty="0" err="1">
                <a:solidFill>
                  <a:srgbClr val="1B1C20"/>
                </a:solidFill>
                <a:latin typeface="Times New Roman" panose="02020603050405020304" pitchFamily="18" charset="0"/>
                <a:cs typeface="Times New Roman" panose="02020603050405020304" pitchFamily="18" charset="0"/>
              </a:rPr>
              <a:t>/service/pomdoros.html </a:t>
            </a:r>
            <a:r>
              <a:rPr lang="en-GB" altLang="zh-CN" sz="1800" dirty="0">
                <a:solidFill>
                  <a:srgbClr val="1B1C20"/>
                </a:solidFill>
                <a:latin typeface="Times New Roman" panose="02020603050405020304" pitchFamily="18" charset="0"/>
                <a:cs typeface="Times New Roman" panose="02020603050405020304" pitchFamily="18" charset="0"/>
              </a:rPr>
              <a:t>HTTP/1.1</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800" dirty="0">
                <a:solidFill>
                  <a:srgbClr val="1B1C20"/>
                </a:solidFill>
                <a:latin typeface="Times New Roman" panose="02020603050405020304" pitchFamily="18" charset="0"/>
                <a:cs typeface="Times New Roman" panose="02020603050405020304" pitchFamily="18" charset="0"/>
              </a:rPr>
              <a:t>Host: www.elharo.com</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800" dirty="0">
                <a:solidFill>
                  <a:srgbClr val="1B1C20"/>
                </a:solidFill>
                <a:latin typeface="Times New Roman" panose="02020603050405020304" pitchFamily="18" charset="0"/>
                <a:cs typeface="Times New Roman" panose="02020603050405020304" pitchFamily="18" charset="0"/>
              </a:rPr>
              <a:t>Authorization: Basic ZGFmZnk6c2VjZXJldA==</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800" dirty="0">
                <a:solidFill>
                  <a:srgbClr val="1B1C20"/>
                </a:solidFill>
                <a:latin typeface="Times New Roman" panose="02020603050405020304" pitchFamily="18" charset="0"/>
                <a:cs typeface="Times New Roman" panose="02020603050405020304" pitchFamily="18" charset="0"/>
              </a:rPr>
              <a:t>Content-Type: application/ </a:t>
            </a:r>
            <a:r>
              <a:rPr lang="en-GB" altLang="zh-CN" sz="1800" dirty="0" err="1">
                <a:solidFill>
                  <a:srgbClr val="1B1C20"/>
                </a:solidFill>
                <a:latin typeface="Times New Roman" panose="02020603050405020304" pitchFamily="18" charset="0"/>
                <a:cs typeface="Times New Roman" panose="02020603050405020304" pitchFamily="18" charset="0"/>
              </a:rPr>
              <a:t>atom+xml;type </a:t>
            </a:r>
            <a:r>
              <a:rPr lang="en-GB" altLang="zh-CN" sz="1800" dirty="0">
                <a:solidFill>
                  <a:srgbClr val="1B1C20"/>
                </a:solidFill>
                <a:latin typeface="Times New Roman" panose="02020603050405020304" pitchFamily="18" charset="0"/>
                <a:cs typeface="Times New Roman" panose="02020603050405020304" pitchFamily="18" charset="0"/>
              </a:rPr>
              <a:t>=entry</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800" dirty="0">
                <a:solidFill>
                  <a:srgbClr val="1B1C20"/>
                </a:solidFill>
                <a:latin typeface="Times New Roman" panose="02020603050405020304" pitchFamily="18" charset="0"/>
                <a:cs typeface="Times New Roman" panose="02020603050405020304" pitchFamily="18" charset="0"/>
              </a:rPr>
              <a:t>Content-Length: 329</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800" dirty="0">
                <a:solidFill>
                  <a:srgbClr val="1B1C20"/>
                </a:solidFill>
                <a:latin typeface="Times New Roman" panose="02020603050405020304" pitchFamily="18" charset="0"/>
                <a:cs typeface="Times New Roman" panose="02020603050405020304" pitchFamily="18" charset="0"/>
              </a:rPr>
              <a:t>If-Match: "e180ee84f0671b1"</a:t>
            </a:r>
            <a:endParaRPr lang="en-US" altLang="zh-CN" sz="18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&lt;?xml version="1.0" ?&gt;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&lt;entry </a:t>
            </a:r>
            <a:r>
              <a:rPr lang="en-GB" altLang="zh-CN" sz="1600" dirty="0" err="1">
                <a:solidFill>
                  <a:srgbClr val="1B1C20"/>
                </a:solidFill>
                <a:latin typeface="Times New Roman" panose="02020603050405020304" pitchFamily="18" charset="0"/>
                <a:cs typeface="Times New Roman" panose="02020603050405020304" pitchFamily="18" charset="0"/>
              </a:rPr>
              <a:t>xmlns </a:t>
            </a:r>
            <a:r>
              <a:rPr lang="en-GB" altLang="zh-CN" sz="1600" dirty="0">
                <a:solidFill>
                  <a:srgbClr val="1B1C20"/>
                </a:solidFill>
                <a:latin typeface="Times New Roman" panose="02020603050405020304" pitchFamily="18" charset="0"/>
                <a:cs typeface="Times New Roman" panose="02020603050405020304" pitchFamily="18" charset="0"/>
              </a:rPr>
              <a:t>="http://www.w3.org/2005/Atom"&gt;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&lt;title&gt;The Power of </a:t>
            </a:r>
            <a:r>
              <a:rPr lang="en-GB" altLang="zh-CN" sz="1600" dirty="0" err="1">
                <a:solidFill>
                  <a:srgbClr val="1B1C20"/>
                </a:solidFill>
                <a:latin typeface="Times New Roman" panose="02020603050405020304" pitchFamily="18" charset="0"/>
                <a:cs typeface="Times New Roman" panose="02020603050405020304" pitchFamily="18" charset="0"/>
              </a:rPr>
              <a:t>Pomodoros </a:t>
            </a:r>
            <a:r>
              <a:rPr lang="en-GB" altLang="zh-CN" sz="1600" dirty="0">
                <a:solidFill>
                  <a:srgbClr val="1B1C20"/>
                </a:solidFill>
                <a:latin typeface="Times New Roman" panose="02020603050405020304" pitchFamily="18" charset="0"/>
                <a:cs typeface="Times New Roman" panose="02020603050405020304" pitchFamily="18" charset="0"/>
              </a:rPr>
              <a:t>&lt;/title&gt;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&lt;id&gt;urn:uuid:1225c695-cfb8-4ebb-aaaa-80da344efa6a&lt;/id&gt;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&lt;updated&gt;2013-02-23T19:22:11Z&lt;/updated&gt;</a:t>
            </a:r>
            <a:endParaRPr lang="en-US" altLang="zh-CN" sz="1600" dirty="0">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&lt;author&gt;&lt;name&gt; </a:t>
            </a:r>
            <a:r>
              <a:rPr lang="en-GB" altLang="zh-CN" sz="1600" dirty="0" err="1">
                <a:solidFill>
                  <a:srgbClr val="1B1C20"/>
                </a:solidFill>
                <a:latin typeface="Times New Roman" panose="02020603050405020304" pitchFamily="18" charset="0"/>
                <a:cs typeface="Times New Roman" panose="02020603050405020304" pitchFamily="18" charset="0"/>
              </a:rPr>
              <a:t>Elliotte </a:t>
            </a:r>
            <a:r>
              <a:rPr lang="en-GB" altLang="zh-CN" sz="1600" dirty="0">
                <a:solidFill>
                  <a:srgbClr val="1B1C20"/>
                </a:solidFill>
                <a:latin typeface="Times New Roman" panose="02020603050405020304" pitchFamily="18" charset="0"/>
                <a:cs typeface="Times New Roman" panose="02020603050405020304" pitchFamily="18" charset="0"/>
              </a:rPr>
              <a:t>Harold&lt;/name&gt;&lt;/author&gt; &lt;content&gt;Until recently…. &lt;/content&gt;</a:t>
            </a:r>
            <a:endParaRPr lang="en-GB" altLang="zh-CN" sz="1600" dirty="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1600" dirty="0">
                <a:solidFill>
                  <a:srgbClr val="1B1C20"/>
                </a:solidFill>
                <a:latin typeface="Times New Roman" panose="02020603050405020304" pitchFamily="18" charset="0"/>
                <a:cs typeface="Times New Roman" panose="02020603050405020304" pitchFamily="18" charset="0"/>
              </a:rPr>
              <a:t>&lt;/entry&gt;</a:t>
            </a:r>
            <a:endParaRPr lang="en-GB" altLang="zh-CN" sz="1600" dirty="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endParaRPr lang="en-US" altLang="zh-C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a:xfrm>
            <a:off x="1906588" y="76200"/>
            <a:ext cx="8540750" cy="609600"/>
          </a:xfrm>
        </p:spPr>
        <p:txBody>
          <a:bodyPr/>
          <a:lstStyle/>
          <a:p>
            <a:pPr algn="l"/>
            <a:r>
              <a:rPr lang="en-GB" altLang="zh-CN" sz="3200"/>
              <a:t>OPTIONS </a:t>
            </a:r>
            <a:r>
              <a:rPr lang="en-GB" altLang="en-US" sz="3200"/>
              <a:t>method</a:t>
            </a:r>
            <a:endParaRPr lang="en-GB" altLang="en-US" sz="3200"/>
          </a:p>
        </p:txBody>
      </p:sp>
      <p:sp>
        <p:nvSpPr>
          <p:cNvPr id="69635" name="内容占位符 2"/>
          <p:cNvSpPr>
            <a:spLocks noGrp="1"/>
          </p:cNvSpPr>
          <p:nvPr>
            <p:ph idx="1"/>
          </p:nvPr>
        </p:nvSpPr>
        <p:spPr>
          <a:xfrm>
            <a:off x="228600" y="855664"/>
            <a:ext cx="11811000" cy="2822575"/>
          </a:xfrm>
        </p:spPr>
        <p:txBody>
          <a:bodyPr/>
          <a:lstStyle/>
          <a:p>
            <a:pPr>
              <a:buFont typeface="Wingdings" panose="05000000000000000000" pitchFamily="2" charset="2"/>
              <a:buChar char="n"/>
            </a:pPr>
            <a:r>
              <a:rPr lang="en-GB" altLang="zh-CN" sz="2400" dirty="0">
                <a:solidFill>
                  <a:srgbClr val="1B1C20"/>
                </a:solidFill>
                <a:latin typeface="Times New Roman" panose="02020603050405020304" pitchFamily="18" charset="0"/>
                <a:cs typeface="Times New Roman" panose="02020603050405020304" pitchFamily="18" charset="0"/>
              </a:rPr>
              <a:t>The OPTIONS </a:t>
            </a:r>
            <a:r>
              <a:rPr lang="en-GB" altLang="en-US" sz="2400" dirty="0">
                <a:solidFill>
                  <a:srgbClr val="1B1C20"/>
                </a:solidFill>
                <a:latin typeface="Times New Roman" panose="02020603050405020304" pitchFamily="18" charset="0"/>
                <a:cs typeface="Times New Roman" panose="02020603050405020304" pitchFamily="18" charset="0"/>
              </a:rPr>
              <a:t>request method asks </a:t>
            </a:r>
            <a:r>
              <a:rPr lang="en-GB" altLang="en-US" sz="2400" dirty="0">
                <a:solidFill>
                  <a:srgbClr val="FF0000"/>
                </a:solidFill>
                <a:latin typeface="Times New Roman" panose="02020603050405020304" pitchFamily="18" charset="0"/>
                <a:cs typeface="Times New Roman" panose="02020603050405020304" pitchFamily="18" charset="0"/>
              </a:rPr>
              <a:t>which options </a:t>
            </a:r>
            <a:endParaRPr lang="en-US" altLang="zh-CN" sz="24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en-GB" altLang="en-US" sz="2400" dirty="0">
                <a:solidFill>
                  <a:srgbClr val="1B1C20"/>
                </a:solidFill>
                <a:latin typeface="Times New Roman" panose="02020603050405020304" pitchFamily="18" charset="0"/>
                <a:cs typeface="Times New Roman" panose="02020603050405020304" pitchFamily="18" charset="0"/>
              </a:rPr>
              <a:t>If the requested </a:t>
            </a:r>
            <a:r>
              <a:rPr lang="en-GB" altLang="zh-CN" sz="2400" dirty="0">
                <a:solidFill>
                  <a:srgbClr val="1B1C20"/>
                </a:solidFill>
                <a:latin typeface="Times New Roman" panose="02020603050405020304" pitchFamily="18" charset="0"/>
                <a:cs typeface="Times New Roman" panose="02020603050405020304" pitchFamily="18" charset="0"/>
              </a:rPr>
              <a:t>URL </a:t>
            </a:r>
            <a:r>
              <a:rPr lang="en-GB" altLang="en-US" sz="2400" dirty="0">
                <a:solidFill>
                  <a:srgbClr val="1B1C20"/>
                </a:solidFill>
                <a:latin typeface="Times New Roman" panose="02020603050405020304" pitchFamily="18" charset="0"/>
                <a:cs typeface="Times New Roman" panose="02020603050405020304" pitchFamily="18" charset="0"/>
              </a:rPr>
              <a:t>is an asterisk </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en-US"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en-US" sz="2400" dirty="0">
                <a:solidFill>
                  <a:srgbClr val="1B1C20"/>
                </a:solidFill>
                <a:latin typeface="Times New Roman" panose="02020603050405020304" pitchFamily="18" charset="0"/>
                <a:cs typeface="Times New Roman" panose="02020603050405020304" pitchFamily="18" charset="0"/>
              </a:rPr>
              <a:t>the request will apply to the entire server instead of a specific URL on the server </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en-US" sz="2400" dirty="0">
                <a:solidFill>
                  <a:srgbClr val="1B1C20"/>
                </a:solidFill>
                <a:latin typeface="Times New Roman" panose="02020603050405020304" pitchFamily="18" charset="0"/>
                <a:cs typeface="Times New Roman" panose="02020603050405020304" pitchFamily="18" charset="0"/>
              </a:rPr>
              <a:t>For example, the request </a:t>
            </a:r>
            <a:r>
              <a:rPr lang="en-GB" altLang="zh-CN" sz="2400" dirty="0">
                <a:solidFill>
                  <a:srgbClr val="1B1C20"/>
                </a:solidFill>
                <a:latin typeface="Times New Roman" panose="02020603050405020304" pitchFamily="18" charset="0"/>
                <a:cs typeface="Times New Roman" panose="02020603050405020304" pitchFamily="18" charset="0"/>
              </a:rPr>
              <a:t>:</a:t>
            </a:r>
            <a:endParaRPr lang="en-GB" altLang="zh-CN" sz="2400" dirty="0">
              <a:solidFill>
                <a:srgbClr val="1B1C20"/>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chemeClr val="tx2"/>
                </a:solidFill>
                <a:latin typeface="Times New Roman" panose="02020603050405020304" pitchFamily="18" charset="0"/>
                <a:cs typeface="Times New Roman" panose="02020603050405020304" pitchFamily="18" charset="0"/>
              </a:rPr>
              <a:t>OPTIONS /xml/ HTTP/1.1</a:t>
            </a:r>
            <a:endParaRPr lang="en-GB" altLang="zh-CN" sz="2000" dirty="0">
              <a:solidFill>
                <a:schemeClr val="tx2"/>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chemeClr val="tx2"/>
                </a:solidFill>
                <a:latin typeface="Times New Roman" panose="02020603050405020304" pitchFamily="18" charset="0"/>
                <a:cs typeface="Times New Roman" panose="02020603050405020304" pitchFamily="18" charset="0"/>
              </a:rPr>
              <a:t>Host: www.ibiblio.org</a:t>
            </a:r>
            <a:endParaRPr lang="en-GB" altLang="zh-CN" sz="2000" dirty="0">
              <a:solidFill>
                <a:schemeClr val="tx2"/>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chemeClr val="tx2"/>
                </a:solidFill>
                <a:latin typeface="Times New Roman" panose="02020603050405020304" pitchFamily="18" charset="0"/>
                <a:cs typeface="Times New Roman" panose="02020603050405020304" pitchFamily="18" charset="0"/>
              </a:rPr>
              <a:t>Accept: text/html, image/gif, image/jpeg, *; q=.2, */*; q=.2</a:t>
            </a:r>
            <a:endParaRPr lang="en-GB" altLang="zh-CN" sz="2000" dirty="0">
              <a:solidFill>
                <a:schemeClr val="tx2"/>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r>
              <a:rPr lang="en-GB" altLang="zh-CN" sz="2000" dirty="0">
                <a:solidFill>
                  <a:schemeClr val="tx2"/>
                </a:solidFill>
                <a:latin typeface="Times New Roman" panose="02020603050405020304" pitchFamily="18" charset="0"/>
                <a:cs typeface="Times New Roman" panose="02020603050405020304" pitchFamily="18" charset="0"/>
              </a:rPr>
              <a:t>Connection: close</a:t>
            </a:r>
            <a:endParaRPr lang="en-GB" altLang="zh-CN" sz="2000" dirty="0">
              <a:solidFill>
                <a:schemeClr val="tx2"/>
              </a:solidFill>
              <a:latin typeface="Times New Roman" panose="02020603050405020304" pitchFamily="18" charset="0"/>
              <a:cs typeface="Times New Roman" panose="02020603050405020304" pitchFamily="18" charset="0"/>
            </a:endParaRPr>
          </a:p>
          <a:p>
            <a:pPr>
              <a:buFont typeface="Wingdings 2" panose="05020102010507070707" pitchFamily="18" charset="2"/>
              <a:buNone/>
            </a:pPr>
            <a:endParaRPr lang="zh-CN" altLang="en-US" dirty="0"/>
          </a:p>
        </p:txBody>
      </p:sp>
      <p:sp>
        <p:nvSpPr>
          <p:cNvPr id="69636" name="矩形 3"/>
          <p:cNvSpPr>
            <a:spLocks noChangeArrowheads="1"/>
          </p:cNvSpPr>
          <p:nvPr/>
        </p:nvSpPr>
        <p:spPr bwMode="auto">
          <a:xfrm>
            <a:off x="381000" y="3657601"/>
            <a:ext cx="112776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panose="05000000000000000000" pitchFamily="2" charset="2"/>
              <a:buChar char="n"/>
            </a:pPr>
            <a:r>
              <a:rPr lang="en-GB" altLang="en-US" sz="2400" dirty="0">
                <a:latin typeface="Times New Roman" panose="02020603050405020304" pitchFamily="18" charset="0"/>
                <a:cs typeface="Times New Roman" panose="02020603050405020304" pitchFamily="18" charset="0"/>
              </a:rPr>
              <a:t>Server response to </a:t>
            </a:r>
            <a:r>
              <a:rPr lang="en-GB" altLang="zh-CN" sz="2400" dirty="0">
                <a:latin typeface="Times New Roman" panose="02020603050405020304" pitchFamily="18" charset="0"/>
                <a:cs typeface="Times New Roman" panose="02020603050405020304" pitchFamily="18" charset="0"/>
              </a:rPr>
              <a:t>OPTIONS </a:t>
            </a:r>
            <a:r>
              <a:rPr lang="en-GB" altLang="en-US" sz="2400" dirty="0">
                <a:latin typeface="Times New Roman" panose="02020603050405020304" pitchFamily="18" charset="0"/>
                <a:cs typeface="Times New Roman" panose="02020603050405020304" pitchFamily="18" charset="0"/>
              </a:rPr>
              <a:t>request </a:t>
            </a:r>
            <a:r>
              <a:rPr lang="en-GB" altLang="zh-CN" sz="2400" dirty="0">
                <a:latin typeface="Times New Roman" panose="02020603050405020304" pitchFamily="18" charset="0"/>
                <a:cs typeface="Times New Roman" panose="02020603050405020304" pitchFamily="18" charset="0"/>
              </a:rPr>
              <a:t>:</a:t>
            </a:r>
            <a:endParaRPr lang="en-GB" altLang="zh-CN" sz="24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HTTP/1.1 200 OK</a:t>
            </a:r>
            <a:endParaRPr lang="en-GB"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Date: Sat, 04 May 2013 13:52:53 GMT</a:t>
            </a:r>
            <a:endParaRPr lang="en-GB"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Server: Apache</a:t>
            </a:r>
            <a:endParaRPr lang="en-GB"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rgbClr val="FF0000"/>
                </a:solidFill>
                <a:latin typeface="Times New Roman" panose="02020603050405020304" pitchFamily="18" charset="0"/>
                <a:cs typeface="Times New Roman" panose="02020603050405020304" pitchFamily="18" charset="0"/>
              </a:rPr>
              <a:t>Allow: GET,HEAD,POST,OPTIONS,TRACE</a:t>
            </a:r>
            <a:endParaRPr lang="en-GB"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Content-Style-Type: text/ </a:t>
            </a:r>
            <a:r>
              <a:rPr lang="en-GB" altLang="zh-CN" sz="2000" dirty="0" err="1">
                <a:solidFill>
                  <a:schemeClr val="tx2"/>
                </a:solidFill>
                <a:latin typeface="Times New Roman" panose="02020603050405020304" pitchFamily="18" charset="0"/>
                <a:cs typeface="Times New Roman" panose="02020603050405020304" pitchFamily="18" charset="0"/>
              </a:rPr>
              <a:t>css</a:t>
            </a:r>
            <a:endParaRPr lang="en-US"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Content-Length: 0</a:t>
            </a:r>
            <a:endParaRPr lang="en-GB"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Connection: close</a:t>
            </a:r>
            <a:endParaRPr lang="en-GB" altLang="zh-CN" sz="20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2000" dirty="0">
                <a:solidFill>
                  <a:schemeClr val="tx2"/>
                </a:solidFill>
                <a:latin typeface="Times New Roman" panose="02020603050405020304" pitchFamily="18" charset="0"/>
                <a:cs typeface="Times New Roman" panose="02020603050405020304" pitchFamily="18" charset="0"/>
              </a:rPr>
              <a:t>Content-Type: text/html; charset=utf-8</a:t>
            </a:r>
            <a:endParaRPr lang="en-GB" altLang="zh-CN" sz="2000"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1825625" y="228600"/>
            <a:ext cx="8540750" cy="609600"/>
          </a:xfrm>
        </p:spPr>
        <p:txBody>
          <a:bodyPr/>
          <a:lstStyle/>
          <a:p>
            <a:pPr algn="l"/>
            <a:r>
              <a:rPr lang="en-GB" altLang="zh-CN" sz="3200"/>
              <a:t>TRACE </a:t>
            </a:r>
            <a:r>
              <a:rPr lang="en-GB" altLang="en-US" sz="3200"/>
              <a:t>Method</a:t>
            </a:r>
            <a:endParaRPr lang="en-GB" altLang="en-US" sz="3200"/>
          </a:p>
        </p:txBody>
      </p:sp>
      <p:sp>
        <p:nvSpPr>
          <p:cNvPr id="70659" name="矩形 3"/>
          <p:cNvSpPr>
            <a:spLocks noChangeArrowheads="1"/>
          </p:cNvSpPr>
          <p:nvPr/>
        </p:nvSpPr>
        <p:spPr bwMode="auto">
          <a:xfrm>
            <a:off x="1825625" y="939800"/>
            <a:ext cx="82296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panose="05000000000000000000" pitchFamily="2" charset="2"/>
              <a:buChar char="n"/>
            </a:pPr>
            <a:r>
              <a:rPr lang="en-GB" altLang="zh-CN" sz="2000" dirty="0">
                <a:latin typeface="Times New Roman" panose="02020603050405020304" pitchFamily="18" charset="0"/>
                <a:cs typeface="Times New Roman" panose="02020603050405020304" pitchFamily="18" charset="0"/>
              </a:rPr>
              <a:t>The TRACE </a:t>
            </a:r>
            <a:r>
              <a:rPr lang="en-GB" altLang="en-US" sz="2000" dirty="0">
                <a:latin typeface="Times New Roman" panose="02020603050405020304" pitchFamily="18" charset="0"/>
                <a:cs typeface="Times New Roman" panose="02020603050405020304" pitchFamily="18" charset="0"/>
              </a:rPr>
              <a:t>method sends the </a:t>
            </a:r>
            <a:r>
              <a:rPr lang="en-GB" altLang="zh-CN" sz="2000" dirty="0">
                <a:latin typeface="Times New Roman" panose="02020603050405020304" pitchFamily="18" charset="0"/>
                <a:cs typeface="Times New Roman" panose="02020603050405020304" pitchFamily="18" charset="0"/>
              </a:rPr>
              <a:t>HTTP </a:t>
            </a:r>
            <a:r>
              <a:rPr lang="en-GB" altLang="en-US" sz="2000" dirty="0">
                <a:latin typeface="Times New Roman" panose="02020603050405020304" pitchFamily="18" charset="0"/>
                <a:cs typeface="Times New Roman" panose="02020603050405020304" pitchFamily="18" charset="0"/>
              </a:rPr>
              <a:t>header </a:t>
            </a:r>
            <a:r>
              <a:rPr lang="en-GB" altLang="zh-CN"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which the server receives from the client </a:t>
            </a:r>
            <a:r>
              <a:rPr lang="en-GB" altLang="zh-CN" sz="2000" dirty="0">
                <a:latin typeface="Times New Roman" panose="02020603050405020304" pitchFamily="18" charset="0"/>
                <a:cs typeface="Times New Roman" panose="02020603050405020304" pitchFamily="18" charset="0"/>
              </a:rPr>
              <a:t>to see what changes have been made by the proxy </a:t>
            </a:r>
            <a:r>
              <a:rPr lang="en-GB" altLang="en-US" sz="2000" dirty="0">
                <a:latin typeface="Times New Roman" panose="02020603050405020304" pitchFamily="18" charset="0"/>
                <a:cs typeface="Times New Roman" panose="02020603050405020304" pitchFamily="18" charset="0"/>
              </a:rPr>
              <a:t>server between the server and the client </a:t>
            </a:r>
            <a:r>
              <a:rPr lang="en-GB" altLang="zh-CN" sz="2000" dirty="0">
                <a:latin typeface="Times New Roman" panose="02020603050405020304" pitchFamily="18" charset="0"/>
                <a:cs typeface="Times New Roman" panose="02020603050405020304" pitchFamily="18" charset="0"/>
              </a:rPr>
              <a:t>.</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 typeface="Wingdings" panose="05000000000000000000" pitchFamily="2" charset="2"/>
              <a:buChar char="n"/>
            </a:pPr>
            <a:r>
              <a:rPr lang="en-GB" altLang="zh-CN" sz="2000" dirty="0">
                <a:latin typeface="Times New Roman" panose="02020603050405020304" pitchFamily="18" charset="0"/>
                <a:cs typeface="Times New Roman" panose="02020603050405020304" pitchFamily="18" charset="0"/>
              </a:rPr>
              <a:t>TRACE </a:t>
            </a:r>
            <a:r>
              <a:rPr lang="en-GB" altLang="en-US" sz="2000" dirty="0">
                <a:latin typeface="Times New Roman" panose="02020603050405020304" pitchFamily="18" charset="0"/>
                <a:cs typeface="Times New Roman" panose="02020603050405020304" pitchFamily="18" charset="0"/>
              </a:rPr>
              <a:t>request </a:t>
            </a:r>
            <a:r>
              <a:rPr lang="en-GB" altLang="zh-CN" sz="2000" dirty="0">
                <a:latin typeface="Times New Roman" panose="02020603050405020304" pitchFamily="18" charset="0"/>
                <a:cs typeface="Times New Roman" panose="02020603050405020304" pitchFamily="18" charset="0"/>
              </a:rPr>
              <a:t>:</a:t>
            </a:r>
            <a:endParaRPr lang="en-GB" altLang="zh-CN" sz="2000" dirty="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chemeClr val="tx2"/>
                </a:solidFill>
                <a:latin typeface="Times New Roman" panose="02020603050405020304" pitchFamily="18" charset="0"/>
                <a:cs typeface="Times New Roman" panose="02020603050405020304" pitchFamily="18" charset="0"/>
              </a:rPr>
              <a:t>TRACE /xml/ HTTP/1.1</a:t>
            </a:r>
            <a:endParaRPr lang="en-GB" altLang="zh-CN" sz="18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chemeClr val="tx2"/>
                </a:solidFill>
                <a:latin typeface="Times New Roman" panose="02020603050405020304" pitchFamily="18" charset="0"/>
                <a:cs typeface="Times New Roman" panose="02020603050405020304" pitchFamily="18" charset="0"/>
              </a:rPr>
              <a:t>Hello: Push me</a:t>
            </a:r>
            <a:endParaRPr lang="en-GB" altLang="zh-CN" sz="18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chemeClr val="tx2"/>
                </a:solidFill>
                <a:latin typeface="Times New Roman" panose="02020603050405020304" pitchFamily="18" charset="0"/>
                <a:cs typeface="Times New Roman" panose="02020603050405020304" pitchFamily="18" charset="0"/>
              </a:rPr>
              <a:t>Host: www.ibiblio.org</a:t>
            </a:r>
            <a:endParaRPr lang="en-GB" altLang="zh-CN" sz="18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chemeClr val="tx2"/>
                </a:solidFill>
                <a:latin typeface="Times New Roman" panose="02020603050405020304" pitchFamily="18" charset="0"/>
                <a:cs typeface="Times New Roman" panose="02020603050405020304" pitchFamily="18" charset="0"/>
              </a:rPr>
              <a:t>Accept: text/html, image/gif, image/jpeg, *; q=.2, */*; q=.2</a:t>
            </a:r>
            <a:endParaRPr lang="en-GB" altLang="zh-CN" sz="1800" dirty="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dirty="0">
                <a:solidFill>
                  <a:schemeClr val="tx2"/>
                </a:solidFill>
                <a:latin typeface="Times New Roman" panose="02020603050405020304" pitchFamily="18" charset="0"/>
                <a:cs typeface="Times New Roman" panose="02020603050405020304" pitchFamily="18" charset="0"/>
              </a:rPr>
              <a:t>Connection: close</a:t>
            </a:r>
            <a:endParaRPr lang="en-GB" altLang="zh-CN" sz="1800" dirty="0">
              <a:solidFill>
                <a:schemeClr val="tx2"/>
              </a:solidFill>
              <a:latin typeface="Times New Roman" panose="02020603050405020304" pitchFamily="18" charset="0"/>
              <a:cs typeface="Times New Roman" panose="02020603050405020304" pitchFamily="18" charset="0"/>
            </a:endParaRPr>
          </a:p>
        </p:txBody>
      </p:sp>
      <p:sp>
        <p:nvSpPr>
          <p:cNvPr id="70660" name="矩形 4"/>
          <p:cNvSpPr>
            <a:spLocks noChangeArrowheads="1"/>
          </p:cNvSpPr>
          <p:nvPr/>
        </p:nvSpPr>
        <p:spPr bwMode="auto">
          <a:xfrm>
            <a:off x="1825626" y="3441700"/>
            <a:ext cx="67341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Wingdings" panose="05000000000000000000" pitchFamily="2" charset="2"/>
              <a:buChar char="n"/>
            </a:pPr>
            <a:r>
              <a:rPr lang="en-GB" altLang="en-US" sz="2000">
                <a:latin typeface="Times New Roman" panose="02020603050405020304" pitchFamily="18" charset="0"/>
                <a:cs typeface="Times New Roman" panose="02020603050405020304" pitchFamily="18" charset="0"/>
              </a:rPr>
              <a:t>Server response to </a:t>
            </a:r>
            <a:r>
              <a:rPr lang="en-GB" altLang="zh-CN" sz="2000">
                <a:latin typeface="Times New Roman" panose="02020603050405020304" pitchFamily="18" charset="0"/>
                <a:cs typeface="Times New Roman" panose="02020603050405020304" pitchFamily="18" charset="0"/>
              </a:rPr>
              <a:t>TRACE </a:t>
            </a:r>
            <a:r>
              <a:rPr lang="en-GB" altLang="en-US" sz="2000">
                <a:latin typeface="Times New Roman" panose="02020603050405020304" pitchFamily="18" charset="0"/>
                <a:cs typeface="Times New Roman" panose="02020603050405020304" pitchFamily="18" charset="0"/>
              </a:rPr>
              <a:t>request</a:t>
            </a:r>
            <a:endParaRPr lang="en-US" altLang="zh-CN" sz="200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chemeClr val="tx2"/>
                </a:solidFill>
                <a:latin typeface="Times New Roman" panose="02020603050405020304" pitchFamily="18" charset="0"/>
                <a:cs typeface="Times New Roman" panose="02020603050405020304" pitchFamily="18" charset="0"/>
              </a:rPr>
              <a:t>HTTP/1.1 200 OK</a:t>
            </a:r>
            <a:endParaRPr lang="en-GB" altLang="zh-CN" sz="180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chemeClr val="tx2"/>
                </a:solidFill>
                <a:latin typeface="Times New Roman" panose="02020603050405020304" pitchFamily="18" charset="0"/>
                <a:cs typeface="Times New Roman" panose="02020603050405020304" pitchFamily="18" charset="0"/>
              </a:rPr>
              <a:t>Date: Sat, 04 May 2013 14:41:40 GMT</a:t>
            </a:r>
            <a:endParaRPr lang="en-GB" altLang="zh-CN" sz="180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chemeClr val="tx2"/>
                </a:solidFill>
                <a:latin typeface="Times New Roman" panose="02020603050405020304" pitchFamily="18" charset="0"/>
                <a:cs typeface="Times New Roman" panose="02020603050405020304" pitchFamily="18" charset="0"/>
              </a:rPr>
              <a:t>Server: Apache</a:t>
            </a:r>
            <a:endParaRPr lang="en-GB" altLang="zh-CN" sz="180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chemeClr val="tx2"/>
                </a:solidFill>
                <a:latin typeface="Times New Roman" panose="02020603050405020304" pitchFamily="18" charset="0"/>
                <a:cs typeface="Times New Roman" panose="02020603050405020304" pitchFamily="18" charset="0"/>
              </a:rPr>
              <a:t>Connection: close</a:t>
            </a:r>
            <a:endParaRPr lang="en-GB" altLang="zh-CN" sz="180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chemeClr val="tx2"/>
                </a:solidFill>
                <a:latin typeface="Times New Roman" panose="02020603050405020304" pitchFamily="18" charset="0"/>
                <a:cs typeface="Times New Roman" panose="02020603050405020304" pitchFamily="18" charset="0"/>
              </a:rPr>
              <a:t>Content-Type: message/http</a:t>
            </a:r>
            <a:endParaRPr lang="en-GB" altLang="zh-CN" sz="1800">
              <a:solidFill>
                <a:schemeClr val="tx2"/>
              </a:solidFill>
              <a:latin typeface="Times New Roman" panose="02020603050405020304" pitchFamily="18" charset="0"/>
              <a:cs typeface="Times New Roman" panose="02020603050405020304" pitchFamily="18" charset="0"/>
            </a:endParaRPr>
          </a:p>
          <a:p>
            <a:pPr>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rgbClr val="FF0000"/>
                </a:solidFill>
                <a:latin typeface="Times New Roman" panose="02020603050405020304" pitchFamily="18" charset="0"/>
                <a:cs typeface="Times New Roman" panose="02020603050405020304" pitchFamily="18" charset="0"/>
              </a:rPr>
              <a:t>TRACE /xml/ HTTP/1.1</a:t>
            </a:r>
            <a:endParaRPr lang="en-GB" altLang="zh-CN" sz="180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rgbClr val="FF0000"/>
                </a:solidFill>
                <a:latin typeface="Times New Roman" panose="02020603050405020304" pitchFamily="18" charset="0"/>
                <a:cs typeface="Times New Roman" panose="02020603050405020304" pitchFamily="18" charset="0"/>
              </a:rPr>
              <a:t>Hello: Push me</a:t>
            </a:r>
            <a:endParaRPr lang="en-GB" altLang="zh-CN" sz="180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rgbClr val="FF0000"/>
                </a:solidFill>
                <a:latin typeface="Times New Roman" panose="02020603050405020304" pitchFamily="18" charset="0"/>
                <a:cs typeface="Times New Roman" panose="02020603050405020304" pitchFamily="18" charset="0"/>
              </a:rPr>
              <a:t>Host: www.ibiblio.org</a:t>
            </a:r>
            <a:endParaRPr lang="en-GB" altLang="zh-CN" sz="180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rgbClr val="FF0000"/>
                </a:solidFill>
                <a:latin typeface="Times New Roman" panose="02020603050405020304" pitchFamily="18" charset="0"/>
                <a:cs typeface="Times New Roman" panose="02020603050405020304" pitchFamily="18" charset="0"/>
              </a:rPr>
              <a:t>Accept: text/html, image/gif, image/jpeg, *; q=.2, */*; q=.2</a:t>
            </a:r>
            <a:endParaRPr lang="en-GB" altLang="zh-CN" sz="1800">
              <a:solidFill>
                <a:srgbClr val="FF0000"/>
              </a:solidFill>
              <a:latin typeface="Times New Roman" panose="02020603050405020304" pitchFamily="18" charset="0"/>
              <a:cs typeface="Times New Roman" panose="02020603050405020304" pitchFamily="18" charset="0"/>
            </a:endParaRPr>
          </a:p>
          <a:p>
            <a:pPr>
              <a:spcBef>
                <a:spcPct val="0"/>
              </a:spcBef>
              <a:buClrTx/>
              <a:buSzTx/>
              <a:buFontTx/>
              <a:buNone/>
            </a:pPr>
            <a:r>
              <a:rPr lang="en-GB" altLang="zh-CN" sz="1800">
                <a:solidFill>
                  <a:srgbClr val="FF0000"/>
                </a:solidFill>
                <a:latin typeface="Times New Roman" panose="02020603050405020304" pitchFamily="18" charset="0"/>
                <a:cs typeface="Times New Roman" panose="02020603050405020304" pitchFamily="18" charset="0"/>
              </a:rPr>
              <a:t>Connection: close</a:t>
            </a:r>
            <a:endParaRPr lang="en-GB" altLang="zh-CN" sz="1800">
              <a:solidFill>
                <a:srgbClr val="FF0000"/>
              </a:solidFill>
              <a:latin typeface="Times New Roman" panose="02020603050405020304" pitchFamily="18" charset="0"/>
              <a:cs typeface="Times New Roman" panose="02020603050405020304" pitchFamily="18" charset="0"/>
            </a:endParaRPr>
          </a:p>
        </p:txBody>
      </p:sp>
      <p:sp>
        <p:nvSpPr>
          <p:cNvPr id="113669" name="椭圆形标注 1"/>
          <p:cNvSpPr>
            <a:spLocks noChangeArrowheads="1"/>
          </p:cNvSpPr>
          <p:nvPr/>
        </p:nvSpPr>
        <p:spPr bwMode="auto">
          <a:xfrm>
            <a:off x="6705600" y="3411538"/>
            <a:ext cx="4495800" cy="1046162"/>
          </a:xfrm>
          <a:prstGeom prst="wedgeEllipseCallout">
            <a:avLst>
              <a:gd name="adj1" fmla="val -107931"/>
              <a:gd name="adj2" fmla="val 118963"/>
            </a:avLst>
          </a:prstGeom>
          <a:solidFill>
            <a:schemeClr val="tx2"/>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solidFill>
                  <a:srgbClr val="FF0000"/>
                </a:solidFill>
              </a:rPr>
              <a:t>The first </a:t>
            </a:r>
            <a:r>
              <a:rPr lang="en-GB" altLang="zh-CN" sz="1600" dirty="0">
                <a:solidFill>
                  <a:srgbClr val="FF0000"/>
                </a:solidFill>
              </a:rPr>
              <a:t>5 </a:t>
            </a:r>
            <a:r>
              <a:rPr lang="en-GB" altLang="en-US" sz="1600" dirty="0">
                <a:solidFill>
                  <a:srgbClr val="FF0000"/>
                </a:solidFill>
              </a:rPr>
              <a:t>lines are the normal </a:t>
            </a:r>
            <a:r>
              <a:rPr lang="en-GB" altLang="zh-CN" sz="1600" dirty="0">
                <a:solidFill>
                  <a:srgbClr val="FF0000"/>
                </a:solidFill>
              </a:rPr>
              <a:t>HTTP response </a:t>
            </a:r>
            <a:r>
              <a:rPr lang="en-GB" altLang="en-US" sz="1600" dirty="0">
                <a:solidFill>
                  <a:srgbClr val="FF0000"/>
                </a:solidFill>
              </a:rPr>
              <a:t>headers from the server.</a:t>
            </a:r>
            <a:endParaRPr lang="en-GB" altLang="en-US" sz="1600" dirty="0">
              <a:solidFill>
                <a:srgbClr val="FF0000"/>
              </a:solidFill>
            </a:endParaRPr>
          </a:p>
        </p:txBody>
      </p:sp>
      <p:sp>
        <p:nvSpPr>
          <p:cNvPr id="6" name="椭圆形标注 5"/>
          <p:cNvSpPr/>
          <p:nvPr/>
        </p:nvSpPr>
        <p:spPr bwMode="auto">
          <a:xfrm>
            <a:off x="6985000" y="4991100"/>
            <a:ext cx="4902200" cy="1333500"/>
          </a:xfrm>
          <a:prstGeom prst="wedgeEllipseCallout">
            <a:avLst>
              <a:gd name="adj1" fmla="val -110578"/>
              <a:gd name="adj2" fmla="val 29957"/>
            </a:avLst>
          </a:prstGeom>
          <a:solidFill>
            <a:srgbClr val="FF0000"/>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sz="1600" dirty="0">
                <a:solidFill>
                  <a:srgbClr val="060606"/>
                </a:solidFill>
              </a:rPr>
              <a:t>The following is the echo of the original client request </a:t>
            </a:r>
            <a:r>
              <a:rPr lang="en-GB" altLang="zh-CN" sz="1600" dirty="0">
                <a:solidFill>
                  <a:srgbClr val="060606"/>
                </a:solidFill>
              </a:rPr>
              <a:t>. </a:t>
            </a:r>
            <a:r>
              <a:rPr lang="en-GB" altLang="en-US" sz="1600" dirty="0">
                <a:solidFill>
                  <a:srgbClr val="060606"/>
                </a:solidFill>
              </a:rPr>
              <a:t>If there is a proxy </a:t>
            </a:r>
            <a:r>
              <a:rPr lang="en-GB" altLang="zh-CN" sz="1600" dirty="0">
                <a:solidFill>
                  <a:srgbClr val="060606"/>
                </a:solidFill>
              </a:rPr>
              <a:t>, </a:t>
            </a:r>
            <a:r>
              <a:rPr lang="en-GB" altLang="en-US" sz="1600" dirty="0">
                <a:solidFill>
                  <a:srgbClr val="060606"/>
                </a:solidFill>
              </a:rPr>
              <a:t>the echo may be different from the original request.</a:t>
            </a:r>
            <a:endParaRPr lang="en-GB" altLang="en-US" sz="1600" dirty="0">
              <a:solidFill>
                <a:srgbClr val="060606"/>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a:xfrm>
            <a:off x="1524000" y="0"/>
            <a:ext cx="8540750" cy="533400"/>
          </a:xfrm>
        </p:spPr>
        <p:txBody>
          <a:bodyPr/>
          <a:lstStyle/>
          <a:p>
            <a:pPr algn="l"/>
            <a:r>
              <a:rPr lang="en-GB" altLang="en-US" sz="3200"/>
              <a:t>Disconnect from the server</a:t>
            </a:r>
            <a:endParaRPr lang="en-GB" altLang="en-US" sz="3200"/>
          </a:p>
        </p:txBody>
      </p:sp>
      <p:sp>
        <p:nvSpPr>
          <p:cNvPr id="114691" name="内容占位符 2"/>
          <p:cNvSpPr>
            <a:spLocks noGrp="1"/>
          </p:cNvSpPr>
          <p:nvPr>
            <p:ph idx="1"/>
          </p:nvPr>
        </p:nvSpPr>
        <p:spPr>
          <a:xfrm>
            <a:off x="1676400" y="762000"/>
            <a:ext cx="8540750" cy="5486400"/>
          </a:xfrm>
        </p:spPr>
        <p:txBody>
          <a:bodyPr/>
          <a:lstStyle/>
          <a:p>
            <a:r>
              <a:rPr lang="en-GB" altLang="zh-CN" sz="2400">
                <a:latin typeface="Times New Roman" panose="02020603050405020304" pitchFamily="18" charset="0"/>
                <a:cs typeface="Times New Roman" panose="02020603050405020304" pitchFamily="18" charset="0"/>
              </a:rPr>
              <a:t>HTTP1.1 </a:t>
            </a:r>
            <a:r>
              <a:rPr lang="en-GB" altLang="en-US" sz="2400">
                <a:latin typeface="Times New Roman" panose="02020603050405020304" pitchFamily="18" charset="0"/>
                <a:cs typeface="Times New Roman" panose="02020603050405020304" pitchFamily="18" charset="0"/>
              </a:rPr>
              <a:t>supports persistent connections </a:t>
            </a:r>
            <a:r>
              <a:rPr lang="en-GB" altLang="zh-CN" sz="2400">
                <a:latin typeface="Times New Roman" panose="02020603050405020304" pitchFamily="18" charset="0"/>
                <a:cs typeface="Times New Roman" panose="02020603050405020304" pitchFamily="18" charset="0"/>
              </a:rPr>
              <a:t>. When </a:t>
            </a:r>
            <a:r>
              <a:rPr lang="en-GB" altLang="en-US" sz="2400">
                <a:latin typeface="Times New Roman" panose="02020603050405020304" pitchFamily="18" charset="0"/>
                <a:cs typeface="Times New Roman" panose="02020603050405020304" pitchFamily="18" charset="0"/>
              </a:rPr>
              <a:t>using </a:t>
            </a:r>
            <a:r>
              <a:rPr lang="en-GB" altLang="zh-CN" sz="2400">
                <a:latin typeface="Times New Roman" panose="02020603050405020304" pitchFamily="18" charset="0"/>
                <a:cs typeface="Times New Roman" panose="02020603050405020304" pitchFamily="18" charset="0"/>
              </a:rPr>
              <a:t>Keep-Alive </a:t>
            </a:r>
            <a:r>
              <a:rPr lang="en-GB" altLang="en-US" sz="2400">
                <a:latin typeface="Times New Roman" panose="02020603050405020304" pitchFamily="18" charset="0"/>
                <a:cs typeface="Times New Roman" panose="02020603050405020304" pitchFamily="18" charset="0"/>
              </a:rPr>
              <a:t>, the server </a:t>
            </a:r>
            <a:r>
              <a:rPr lang="en-GB" altLang="en-US" sz="2400">
                <a:solidFill>
                  <a:srgbClr val="FF0000"/>
                </a:solidFill>
                <a:latin typeface="Times New Roman" panose="02020603050405020304" pitchFamily="18" charset="0"/>
                <a:cs typeface="Times New Roman" panose="02020603050405020304" pitchFamily="18" charset="0"/>
              </a:rPr>
              <a:t>will not close the connection immediately </a:t>
            </a:r>
            <a:r>
              <a:rPr lang="en-GB" altLang="en-US" sz="2400">
                <a:latin typeface="Times New Roman" panose="02020603050405020304" pitchFamily="18" charset="0"/>
                <a:cs typeface="Times New Roman" panose="02020603050405020304" pitchFamily="18" charset="0"/>
              </a:rPr>
              <a:t>after sending the last byte of data to the client .</a:t>
            </a:r>
            <a:endParaRPr lang="en-US" altLang="zh-CN" sz="2400">
              <a:latin typeface="Times New Roman" panose="02020603050405020304" pitchFamily="18" charset="0"/>
              <a:cs typeface="Times New Roman" panose="02020603050405020304" pitchFamily="18" charset="0"/>
            </a:endParaRPr>
          </a:p>
          <a:p>
            <a:r>
              <a:rPr lang="en-GB" altLang="en-US" sz="2400">
                <a:latin typeface="Times New Roman" panose="02020603050405020304" pitchFamily="18" charset="0"/>
                <a:cs typeface="Times New Roman" panose="02020603050405020304" pitchFamily="18" charset="0"/>
              </a:rPr>
              <a:t>It is best </a:t>
            </a:r>
            <a:r>
              <a:rPr lang="en-GB" altLang="en-US" sz="2400">
                <a:solidFill>
                  <a:srgbClr val="FF0000"/>
                </a:solidFill>
                <a:latin typeface="Times New Roman" panose="02020603050405020304" pitchFamily="18" charset="0"/>
                <a:cs typeface="Times New Roman" panose="02020603050405020304" pitchFamily="18" charset="0"/>
              </a:rPr>
              <a:t>for the client to close the connection when it confirms that the work is complete.</a:t>
            </a:r>
            <a:endParaRPr lang="en-US" altLang="zh-CN" sz="2400">
              <a:solidFill>
                <a:srgbClr val="FF0000"/>
              </a:solidFill>
              <a:latin typeface="Times New Roman" panose="02020603050405020304" pitchFamily="18" charset="0"/>
              <a:cs typeface="Times New Roman" panose="02020603050405020304" pitchFamily="18" charset="0"/>
            </a:endParaRPr>
          </a:p>
          <a:p>
            <a:r>
              <a:rPr lang="en-GB" altLang="zh-CN" sz="2400">
                <a:latin typeface="Times New Roman" panose="02020603050405020304" pitchFamily="18" charset="0"/>
                <a:cs typeface="Times New Roman" panose="02020603050405020304" pitchFamily="18" charset="0"/>
              </a:rPr>
              <a:t>HttpURLConnection </a:t>
            </a:r>
            <a:r>
              <a:rPr lang="en-GB" altLang="en-US" sz="2400">
                <a:latin typeface="Times New Roman" panose="02020603050405020304" pitchFamily="18" charset="0"/>
                <a:cs typeface="Times New Roman" panose="02020603050405020304" pitchFamily="18" charset="0"/>
              </a:rPr>
              <a:t>class reuses </a:t>
            </a:r>
            <a:r>
              <a:rPr lang="en-GB" altLang="zh-CN" sz="2400">
                <a:latin typeface="Times New Roman" panose="02020603050405020304" pitchFamily="18" charset="0"/>
                <a:cs typeface="Times New Roman" panose="02020603050405020304" pitchFamily="18" charset="0"/>
              </a:rPr>
              <a:t>the socket </a:t>
            </a:r>
            <a:r>
              <a:rPr lang="en-GB" altLang="en-US" sz="2400">
                <a:latin typeface="Times New Roman" panose="02020603050405020304" pitchFamily="18" charset="0"/>
                <a:cs typeface="Times New Roman" panose="02020603050405020304" pitchFamily="18" charset="0"/>
              </a:rPr>
              <a:t>if you connect to the same server again </a:t>
            </a:r>
            <a:r>
              <a:rPr lang="en-GB" altLang="en-US" sz="2400">
                <a:solidFill>
                  <a:srgbClr val="FF0000"/>
                </a:solidFill>
                <a:latin typeface="Times New Roman" panose="02020603050405020304" pitchFamily="18" charset="0"/>
                <a:cs typeface="Times New Roman" panose="02020603050405020304" pitchFamily="18" charset="0"/>
              </a:rPr>
              <a:t>until the server closes the connection </a:t>
            </a:r>
            <a:r>
              <a:rPr lang="en-GB" altLang="en-US"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a:p>
            <a:r>
              <a:rPr lang="en-GB" altLang="en-US" sz="2400">
                <a:latin typeface="Times New Roman" panose="02020603050405020304" pitchFamily="18" charset="0"/>
                <a:cs typeface="Times New Roman" panose="02020603050405020304" pitchFamily="18" charset="0"/>
              </a:rPr>
              <a:t>The client needs to call the method to explicitly disconnect:</a:t>
            </a:r>
            <a:endParaRPr lang="en-US" altLang="zh-CN" sz="2400">
              <a:latin typeface="Times New Roman" panose="02020603050405020304" pitchFamily="18" charset="0"/>
              <a:cs typeface="Times New Roman" panose="02020603050405020304" pitchFamily="18" charset="0"/>
            </a:endParaRPr>
          </a:p>
          <a:p>
            <a:r>
              <a:rPr lang="en-GB" altLang="zh-CN" sz="2800">
                <a:solidFill>
                  <a:schemeClr val="tx2"/>
                </a:solidFill>
                <a:latin typeface="Times New Roman" panose="02020603050405020304" pitchFamily="18" charset="0"/>
                <a:cs typeface="Times New Roman" panose="02020603050405020304" pitchFamily="18" charset="0"/>
              </a:rPr>
              <a:t>public void HttpURLConnection.disconnect()</a:t>
            </a:r>
            <a:endParaRPr lang="en-GB" altLang="zh-CN" sz="2800">
              <a:solidFill>
                <a:schemeClr val="tx2"/>
              </a:solidFill>
              <a:latin typeface="Times New Roman" panose="02020603050405020304" pitchFamily="18" charset="0"/>
              <a:cs typeface="Times New Roman" panose="02020603050405020304" pitchFamily="18" charset="0"/>
            </a:endParaRPr>
          </a:p>
          <a:p>
            <a:r>
              <a:rPr lang="en-GB" altLang="en-US" sz="2400">
                <a:latin typeface="Times New Roman" panose="02020603050405020304" pitchFamily="18" charset="0"/>
                <a:cs typeface="Times New Roman" panose="02020603050405020304" pitchFamily="18" charset="0"/>
              </a:rPr>
              <a:t>If there is an open stream on the connection:</a:t>
            </a:r>
            <a:endParaRPr lang="en-US" altLang="zh-CN" sz="240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200">
                <a:solidFill>
                  <a:srgbClr val="FF0000"/>
                </a:solidFill>
                <a:latin typeface="Times New Roman" panose="02020603050405020304" pitchFamily="18" charset="0"/>
                <a:cs typeface="Times New Roman" panose="02020603050405020304" pitchFamily="18" charset="0"/>
              </a:rPr>
              <a:t>Disconnecting closes the stream</a:t>
            </a:r>
            <a:endParaRPr lang="en-US" altLang="zh-CN" sz="220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200">
                <a:solidFill>
                  <a:srgbClr val="FF0000"/>
                </a:solidFill>
                <a:latin typeface="Times New Roman" panose="02020603050405020304" pitchFamily="18" charset="0"/>
                <a:cs typeface="Times New Roman" panose="02020603050405020304" pitchFamily="18" charset="0"/>
              </a:rPr>
              <a:t>Closing the stream does not disconnect</a:t>
            </a:r>
            <a:endParaRPr lang="en-GB" altLang="en-US" sz="22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a:xfrm>
            <a:off x="1535113" y="30163"/>
            <a:ext cx="8540750" cy="685800"/>
          </a:xfrm>
        </p:spPr>
        <p:txBody>
          <a:bodyPr/>
          <a:lstStyle/>
          <a:p>
            <a:pPr algn="l"/>
            <a:r>
              <a:rPr lang="en-GB" altLang="en-US" sz="3200"/>
              <a:t>Processing the server's response</a:t>
            </a:r>
            <a:endParaRPr lang="en-GB" altLang="en-US" sz="3200"/>
          </a:p>
        </p:txBody>
      </p:sp>
      <p:sp>
        <p:nvSpPr>
          <p:cNvPr id="115715" name="内容占位符 2"/>
          <p:cNvSpPr>
            <a:spLocks noGrp="1"/>
          </p:cNvSpPr>
          <p:nvPr>
            <p:ph idx="1"/>
          </p:nvPr>
        </p:nvSpPr>
        <p:spPr>
          <a:xfrm>
            <a:off x="297657" y="776289"/>
            <a:ext cx="8027988" cy="890587"/>
          </a:xfrm>
        </p:spPr>
        <p:txBody>
          <a:bodyPr/>
          <a:lstStyle/>
          <a:p>
            <a:r>
              <a:rPr lang="en-GB" altLang="en-US" sz="2400" dirty="0">
                <a:latin typeface="Times New Roman" panose="02020603050405020304" pitchFamily="18" charset="0"/>
                <a:cs typeface="Times New Roman" panose="02020603050405020304" pitchFamily="18" charset="0"/>
              </a:rPr>
              <a:t>Different responses</a:t>
            </a:r>
            <a:endParaRPr lang="en-GB" altLang="en-US" sz="2400" dirty="0">
              <a:latin typeface="Times New Roman" panose="02020603050405020304" pitchFamily="18" charset="0"/>
              <a:cs typeface="Times New Roman" panose="02020603050405020304" pitchFamily="18" charset="0"/>
            </a:endParaRPr>
          </a:p>
        </p:txBody>
      </p:sp>
      <p:pic>
        <p:nvPicPr>
          <p:cNvPr id="11571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1524001"/>
            <a:ext cx="3625850"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7"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99138" y="1620839"/>
            <a:ext cx="4017962" cy="2600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15718" name="线形标注 1 3"/>
          <p:cNvSpPr/>
          <p:nvPr/>
        </p:nvSpPr>
        <p:spPr bwMode="auto">
          <a:xfrm>
            <a:off x="4011216" y="635001"/>
            <a:ext cx="3255169" cy="812800"/>
          </a:xfrm>
          <a:prstGeom prst="borderCallout1">
            <a:avLst>
              <a:gd name="adj1" fmla="val 46611"/>
              <a:gd name="adj2" fmla="val -2032"/>
              <a:gd name="adj3" fmla="val 104139"/>
              <a:gd name="adj4" fmla="val -49184"/>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FF0000"/>
                </a:solidFill>
              </a:rPr>
              <a:t>200 OK </a:t>
            </a:r>
            <a:r>
              <a:rPr lang="en-GB" altLang="en-US" sz="1600" dirty="0">
                <a:solidFill>
                  <a:srgbClr val="FF0000"/>
                </a:solidFill>
              </a:rPr>
              <a:t>response, indicating that the requested document was found</a:t>
            </a:r>
            <a:endParaRPr lang="en-GB" altLang="en-US" sz="1600" dirty="0">
              <a:solidFill>
                <a:srgbClr val="FF0000"/>
              </a:solidFill>
            </a:endParaRPr>
          </a:p>
        </p:txBody>
      </p:sp>
      <p:sp>
        <p:nvSpPr>
          <p:cNvPr id="115719" name="线形标注 1 6"/>
          <p:cNvSpPr/>
          <p:nvPr/>
        </p:nvSpPr>
        <p:spPr bwMode="auto">
          <a:xfrm>
            <a:off x="7803356" y="631826"/>
            <a:ext cx="4116387" cy="857250"/>
          </a:xfrm>
          <a:prstGeom prst="borderCallout1">
            <a:avLst>
              <a:gd name="adj1" fmla="val 51995"/>
              <a:gd name="adj2" fmla="val -486"/>
              <a:gd name="adj3" fmla="val 121102"/>
              <a:gd name="adj4" fmla="val -16636"/>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FF0000"/>
                </a:solidFill>
              </a:rPr>
              <a:t>A 404 NotFound </a:t>
            </a:r>
            <a:r>
              <a:rPr lang="en-GB" altLang="en-US" sz="1600" dirty="0">
                <a:solidFill>
                  <a:srgbClr val="FF0000"/>
                </a:solidFill>
              </a:rPr>
              <a:t>response indicates that the requested </a:t>
            </a:r>
            <a:r>
              <a:rPr lang="en-GB" altLang="zh-CN" sz="1600" dirty="0">
                <a:solidFill>
                  <a:srgbClr val="FF0000"/>
                </a:solidFill>
              </a:rPr>
              <a:t>URL </a:t>
            </a:r>
            <a:r>
              <a:rPr lang="en-GB" altLang="en-US" sz="1600" dirty="0">
                <a:solidFill>
                  <a:srgbClr val="FF0000"/>
                </a:solidFill>
              </a:rPr>
              <a:t>no longer points to a document</a:t>
            </a:r>
            <a:endParaRPr lang="en-GB" altLang="en-US" sz="1600" dirty="0">
              <a:solidFill>
                <a:srgbClr val="FF0000"/>
              </a:solidFill>
            </a:endParaRPr>
          </a:p>
        </p:txBody>
      </p:sp>
      <p:pic>
        <p:nvPicPr>
          <p:cNvPr id="115720"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83263" y="4197350"/>
            <a:ext cx="51435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21"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41464" y="4791076"/>
            <a:ext cx="4097337"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22" name="线形标注 1 9"/>
          <p:cNvSpPr/>
          <p:nvPr/>
        </p:nvSpPr>
        <p:spPr bwMode="auto">
          <a:xfrm>
            <a:off x="6019801" y="5562600"/>
            <a:ext cx="6095999" cy="1142999"/>
          </a:xfrm>
          <a:prstGeom prst="borderCallout1">
            <a:avLst>
              <a:gd name="adj1" fmla="val 51995"/>
              <a:gd name="adj2" fmla="val -486"/>
              <a:gd name="adj3" fmla="val -44287"/>
              <a:gd name="adj4" fmla="val -40893"/>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FF0000"/>
                </a:solidFill>
              </a:rPr>
              <a:t>301 </a:t>
            </a:r>
            <a:r>
              <a:rPr lang="en-GB" altLang="en-US" sz="1600" dirty="0">
                <a:solidFill>
                  <a:srgbClr val="FF0000"/>
                </a:solidFill>
              </a:rPr>
              <a:t>response code indicates that the requested resource has been permanently moved to a new location, and the browser should redirect to the new location and update all bookmarks pointing to the old location.</a:t>
            </a:r>
            <a:endParaRPr lang="en-GB" altLang="en-US" sz="1600" dirty="0">
              <a:solidFill>
                <a:srgbClr val="FF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a:xfrm>
            <a:off x="1503363" y="6350"/>
            <a:ext cx="8540751" cy="685800"/>
          </a:xfrm>
        </p:spPr>
        <p:txBody>
          <a:bodyPr/>
          <a:lstStyle/>
          <a:p>
            <a:pPr algn="l"/>
            <a:r>
              <a:rPr lang="en-GB" altLang="en-US" sz="3200"/>
              <a:t>Processing the server's response</a:t>
            </a:r>
            <a:endParaRPr lang="en-GB" altLang="en-US" sz="3200"/>
          </a:p>
        </p:txBody>
      </p:sp>
      <p:sp>
        <p:nvSpPr>
          <p:cNvPr id="116739" name="内容占位符 2"/>
          <p:cNvSpPr>
            <a:spLocks noGrp="1"/>
          </p:cNvSpPr>
          <p:nvPr>
            <p:ph idx="1"/>
          </p:nvPr>
        </p:nvSpPr>
        <p:spPr>
          <a:xfrm>
            <a:off x="304800" y="914401"/>
            <a:ext cx="11582399" cy="5562599"/>
          </a:xfrm>
        </p:spPr>
        <p:txBody>
          <a:bodyPr/>
          <a:lstStyle/>
          <a:p>
            <a:r>
              <a:rPr lang="en-GB" altLang="en-US" sz="2400" dirty="0">
                <a:latin typeface="Times New Roman" panose="02020603050405020304" pitchFamily="18" charset="0"/>
                <a:cs typeface="Times New Roman" panose="02020603050405020304" pitchFamily="18" charset="0"/>
              </a:rPr>
              <a:t>Get the response code </a:t>
            </a:r>
            <a:r>
              <a:rPr lang="en-GB" altLang="en-US" sz="2400" b="1" dirty="0">
                <a:solidFill>
                  <a:srgbClr val="006699"/>
                </a:solidFill>
                <a:latin typeface="Times New Roman" panose="02020603050405020304" pitchFamily="18" charset="0"/>
                <a:cs typeface="Times New Roman" panose="02020603050405020304" pitchFamily="18" charset="0"/>
              </a:rPr>
              <a:t>:</a:t>
            </a:r>
            <a:endParaRPr lang="en-US" altLang="zh-CN" sz="2400" b="1" dirty="0">
              <a:solidFill>
                <a:srgbClr val="006699"/>
              </a:solidFill>
              <a:latin typeface="Times New Roman" panose="02020603050405020304" pitchFamily="18" charset="0"/>
              <a:cs typeface="Times New Roman" panose="02020603050405020304" pitchFamily="18" charset="0"/>
            </a:endParaRPr>
          </a:p>
          <a:p>
            <a:r>
              <a:rPr lang="en-GB" altLang="zh-CN" sz="2400" b="1" dirty="0">
                <a:solidFill>
                  <a:srgbClr val="006699"/>
                </a:solidFill>
                <a:latin typeface="Times New Roman" panose="02020603050405020304" pitchFamily="18" charset="0"/>
                <a:cs typeface="Times New Roman" panose="02020603050405020304" pitchFamily="18" charset="0"/>
              </a:rPr>
              <a:t>public</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7788"/>
                </a:solidFill>
                <a:latin typeface="Times New Roman" panose="02020603050405020304" pitchFamily="18" charset="0"/>
                <a:cs typeface="Times New Roman" panose="02020603050405020304" pitchFamily="18" charset="0"/>
              </a:rPr>
              <a:t>int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CC00FF"/>
                </a:solidFill>
                <a:latin typeface="Times New Roman" panose="02020603050405020304" pitchFamily="18" charset="0"/>
                <a:cs typeface="Times New Roman" panose="02020603050405020304" pitchFamily="18" charset="0"/>
              </a:rPr>
              <a:t>getResponseCode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6699"/>
                </a:solidFill>
                <a:latin typeface="Times New Roman" panose="02020603050405020304" pitchFamily="18" charset="0"/>
                <a:cs typeface="Times New Roman" panose="02020603050405020304" pitchFamily="18" charset="0"/>
              </a:rPr>
              <a:t>throws</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IOException</a:t>
            </a:r>
            <a:endParaRPr lang="en-GB" altLang="zh-CN" sz="2400" dirty="0">
              <a:solidFill>
                <a:srgbClr val="000088"/>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400" dirty="0">
                <a:solidFill>
                  <a:srgbClr val="000088"/>
                </a:solidFill>
                <a:latin typeface="Times New Roman" panose="02020603050405020304" pitchFamily="18" charset="0"/>
                <a:cs typeface="Times New Roman" panose="02020603050405020304" pitchFamily="18" charset="0"/>
              </a:rPr>
              <a:t>Get the response code</a:t>
            </a:r>
            <a:endParaRPr lang="en-US" altLang="zh-CN" sz="2400" dirty="0">
              <a:solidFill>
                <a:srgbClr val="000088"/>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en-GB" altLang="en-US" sz="2400" dirty="0">
                <a:latin typeface="Times New Roman" panose="02020603050405020304" pitchFamily="18" charset="0"/>
                <a:cs typeface="Times New Roman" panose="02020603050405020304" pitchFamily="18" charset="0"/>
              </a:rPr>
              <a:t>The text string following the response code is called the response message </a:t>
            </a:r>
            <a:r>
              <a:rPr lang="en-GB" altLang="zh-CN" sz="2400" dirty="0">
                <a:latin typeface="Times New Roman" panose="02020603050405020304" pitchFamily="18" charset="0"/>
                <a:cs typeface="Times New Roman" panose="02020603050405020304" pitchFamily="18" charset="0"/>
              </a:rPr>
              <a:t>.</a:t>
            </a:r>
            <a:endParaRPr lang="en-GB" altLang="zh-C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n"/>
            </a:pPr>
            <a:r>
              <a:rPr lang="en-GB" altLang="zh-CN" sz="2400" b="1" dirty="0">
                <a:solidFill>
                  <a:srgbClr val="006699"/>
                </a:solidFill>
                <a:latin typeface="Times New Roman" panose="02020603050405020304" pitchFamily="18" charset="0"/>
                <a:cs typeface="Times New Roman" panose="02020603050405020304" pitchFamily="18" charset="0"/>
              </a:rPr>
              <a:t>public</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String</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CC00FF"/>
                </a:solidFill>
                <a:latin typeface="Times New Roman" panose="02020603050405020304" pitchFamily="18" charset="0"/>
                <a:cs typeface="Times New Roman" panose="02020603050405020304" pitchFamily="18" charset="0"/>
              </a:rPr>
              <a:t>getResponseMessage </a:t>
            </a:r>
            <a:r>
              <a:rPr lang="en-GB" altLang="zh-CN" sz="2400" dirty="0">
                <a:solidFill>
                  <a:srgbClr val="555555"/>
                </a:solidFill>
                <a:latin typeface="Times New Roman" panose="02020603050405020304" pitchFamily="18" charset="0"/>
                <a:cs typeface="Times New Roman" panose="02020603050405020304" pitchFamily="18" charset="0"/>
              </a:rPr>
              <a:t>()</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6699"/>
                </a:solidFill>
                <a:latin typeface="Times New Roman" panose="02020603050405020304" pitchFamily="18" charset="0"/>
                <a:cs typeface="Times New Roman" panose="02020603050405020304" pitchFamily="18" charset="0"/>
              </a:rPr>
              <a:t>throws</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IOException</a:t>
            </a:r>
            <a:endParaRPr lang="en-GB" altLang="zh-CN" sz="2400" dirty="0">
              <a:solidFill>
                <a:srgbClr val="000088"/>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400" dirty="0">
                <a:solidFill>
                  <a:srgbClr val="000088"/>
                </a:solidFill>
                <a:latin typeface="Times New Roman" panose="02020603050405020304" pitchFamily="18" charset="0"/>
                <a:cs typeface="Times New Roman" panose="02020603050405020304" pitchFamily="18" charset="0"/>
              </a:rPr>
              <a:t>Get the response message</a:t>
            </a:r>
            <a:endParaRPr lang="en-US" altLang="zh-CN" sz="2400" dirty="0">
              <a:solidFill>
                <a:srgbClr val="000088"/>
              </a:solidFill>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By default, </a:t>
            </a:r>
            <a:r>
              <a:rPr lang="en-GB" altLang="zh-CN" sz="2400" dirty="0">
                <a:latin typeface="Times New Roman" panose="02020603050405020304" pitchFamily="18" charset="0"/>
                <a:cs typeface="Times New Roman" panose="02020603050405020304" pitchFamily="18" charset="0"/>
              </a:rPr>
              <a:t>HttpURLConnection </a:t>
            </a:r>
            <a:r>
              <a:rPr lang="en-GB" altLang="en-US" sz="2400" dirty="0">
                <a:latin typeface="Times New Roman" panose="02020603050405020304" pitchFamily="18" charset="0"/>
                <a:cs typeface="Times New Roman" panose="02020603050405020304" pitchFamily="18" charset="0"/>
              </a:rPr>
              <a:t>follows redirects, and when a </a:t>
            </a:r>
            <a:r>
              <a:rPr lang="en-GB" altLang="zh-CN" sz="2400" dirty="0">
                <a:latin typeface="Times New Roman" panose="02020603050405020304" pitchFamily="18" charset="0"/>
                <a:cs typeface="Times New Roman" panose="02020603050405020304" pitchFamily="18" charset="0"/>
              </a:rPr>
              <a:t>300- </a:t>
            </a:r>
            <a:r>
              <a:rPr lang="en-GB" altLang="en-US" sz="2400" dirty="0">
                <a:latin typeface="Times New Roman" panose="02020603050405020304" pitchFamily="18" charset="0"/>
                <a:cs typeface="Times New Roman" panose="02020603050405020304" pitchFamily="18" charset="0"/>
              </a:rPr>
              <a:t>level response code is encountered, the browser automatically loads the document from the new location. To prevent security risks, you can call a method to determine whether to follow redirects:</a:t>
            </a:r>
            <a:endParaRPr lang="en-US" altLang="zh-CN" sz="2400" dirty="0">
              <a:latin typeface="Times New Roman" panose="02020603050405020304" pitchFamily="18" charset="0"/>
              <a:cs typeface="Times New Roman" panose="02020603050405020304" pitchFamily="18" charset="0"/>
            </a:endParaRPr>
          </a:p>
          <a:p>
            <a:r>
              <a:rPr lang="en-GB" altLang="zh-CN" sz="2400" b="1" dirty="0">
                <a:solidFill>
                  <a:srgbClr val="006699"/>
                </a:solidFill>
                <a:latin typeface="Times New Roman" panose="02020603050405020304" pitchFamily="18" charset="0"/>
                <a:cs typeface="Times New Roman" panose="02020603050405020304" pitchFamily="18" charset="0"/>
              </a:rPr>
              <a:t>public</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6699"/>
                </a:solidFill>
                <a:latin typeface="Times New Roman" panose="02020603050405020304" pitchFamily="18" charset="0"/>
                <a:cs typeface="Times New Roman" panose="02020603050405020304" pitchFamily="18" charset="0"/>
              </a:rPr>
              <a:t>static</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7788"/>
                </a:solidFill>
                <a:latin typeface="Times New Roman" panose="02020603050405020304" pitchFamily="18" charset="0"/>
                <a:cs typeface="Times New Roman" panose="02020603050405020304" pitchFamily="18" charset="0"/>
              </a:rPr>
              <a:t>boolean</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CC00FF"/>
                </a:solidFill>
                <a:latin typeface="Times New Roman" panose="02020603050405020304" pitchFamily="18" charset="0"/>
                <a:cs typeface="Times New Roman" panose="02020603050405020304" pitchFamily="18" charset="0"/>
              </a:rPr>
              <a:t>getFollowRedirects </a:t>
            </a:r>
            <a:r>
              <a:rPr lang="en-GB" altLang="zh-CN" sz="2400" dirty="0">
                <a:solidFill>
                  <a:srgbClr val="555555"/>
                </a:solidFill>
                <a:latin typeface="Times New Roman" panose="02020603050405020304" pitchFamily="18" charset="0"/>
                <a:cs typeface="Times New Roman" panose="02020603050405020304" pitchFamily="18" charset="0"/>
              </a:rPr>
              <a:t>()</a:t>
            </a:r>
            <a:endParaRPr lang="en-GB" altLang="zh-CN" sz="2400" dirty="0">
              <a:solidFill>
                <a:srgbClr val="555555"/>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000" dirty="0">
                <a:latin typeface="Times New Roman" panose="02020603050405020304" pitchFamily="18" charset="0"/>
                <a:cs typeface="Times New Roman" panose="02020603050405020304" pitchFamily="18" charset="0"/>
              </a:rPr>
              <a:t>Returns </a:t>
            </a:r>
            <a:r>
              <a:rPr lang="en-GB" altLang="zh-CN" sz="2000" dirty="0">
                <a:latin typeface="Times New Roman" panose="02020603050405020304" pitchFamily="18" charset="0"/>
                <a:cs typeface="Times New Roman" panose="02020603050405020304" pitchFamily="18" charset="0"/>
              </a:rPr>
              <a:t>true </a:t>
            </a:r>
            <a:r>
              <a:rPr lang="en-GB" altLang="en-US" sz="2000" dirty="0">
                <a:latin typeface="Times New Roman" panose="02020603050405020304" pitchFamily="18" charset="0"/>
                <a:cs typeface="Times New Roman" panose="02020603050405020304" pitchFamily="18" charset="0"/>
              </a:rPr>
              <a:t>to follow the redirect, otherwise returns </a:t>
            </a:r>
            <a:r>
              <a:rPr lang="en-GB" altLang="zh-CN" sz="2000" dirty="0">
                <a:latin typeface="Times New Roman" panose="02020603050405020304" pitchFamily="18" charset="0"/>
                <a:cs typeface="Times New Roman" panose="02020603050405020304" pitchFamily="18" charset="0"/>
              </a:rPr>
              <a:t>false</a:t>
            </a:r>
            <a:endParaRPr lang="en-GB" altLang="zh-CN" sz="2000" dirty="0">
              <a:latin typeface="Times New Roman" panose="02020603050405020304" pitchFamily="18" charset="0"/>
              <a:cs typeface="Times New Roman" panose="02020603050405020304" pitchFamily="18" charset="0"/>
            </a:endParaRPr>
          </a:p>
          <a:p>
            <a:r>
              <a:rPr lang="en-GB" altLang="zh-CN" sz="2400" b="1" dirty="0">
                <a:solidFill>
                  <a:srgbClr val="006699"/>
                </a:solidFill>
                <a:latin typeface="Times New Roman" panose="02020603050405020304" pitchFamily="18" charset="0"/>
                <a:cs typeface="Times New Roman" panose="02020603050405020304" pitchFamily="18" charset="0"/>
              </a:rPr>
              <a:t>public</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6699"/>
                </a:solidFill>
                <a:latin typeface="Times New Roman" panose="02020603050405020304" pitchFamily="18" charset="0"/>
                <a:cs typeface="Times New Roman" panose="02020603050405020304" pitchFamily="18" charset="0"/>
              </a:rPr>
              <a:t>static</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b="1" dirty="0">
                <a:solidFill>
                  <a:srgbClr val="007788"/>
                </a:solidFill>
                <a:latin typeface="Times New Roman" panose="02020603050405020304" pitchFamily="18" charset="0"/>
                <a:cs typeface="Times New Roman" panose="02020603050405020304" pitchFamily="18" charset="0"/>
              </a:rPr>
              <a:t>void </a:t>
            </a:r>
            <a:r>
              <a:rPr lang="en-GB" altLang="zh-CN" sz="2400" dirty="0">
                <a:solidFill>
                  <a:srgbClr val="CC00FF"/>
                </a:solidFill>
                <a:latin typeface="Times New Roman" panose="02020603050405020304" pitchFamily="18" charset="0"/>
                <a:cs typeface="Times New Roman" panose="02020603050405020304" pitchFamily="18" charset="0"/>
              </a:rPr>
              <a:t>setFollowRedirects </a:t>
            </a:r>
            <a:r>
              <a:rPr lang="en-GB" altLang="zh-CN" sz="2400" dirty="0">
                <a:solidFill>
                  <a:srgbClr val="555555"/>
                </a:solidFill>
                <a:latin typeface="Times New Roman" panose="02020603050405020304" pitchFamily="18" charset="0"/>
                <a:cs typeface="Times New Roman" panose="02020603050405020304" pitchFamily="18" charset="0"/>
              </a:rPr>
              <a:t>( </a:t>
            </a:r>
            <a:r>
              <a:rPr lang="en-GB" altLang="zh-CN" sz="2400" b="1" dirty="0">
                <a:solidFill>
                  <a:srgbClr val="007788"/>
                </a:solidFill>
                <a:latin typeface="Times New Roman" panose="02020603050405020304" pitchFamily="18" charset="0"/>
                <a:cs typeface="Times New Roman" panose="02020603050405020304" pitchFamily="18" charset="0"/>
              </a:rPr>
              <a:t>boolean</a:t>
            </a:r>
            <a:r>
              <a:rPr lang="en-GB" altLang="zh-CN" sz="2400" dirty="0">
                <a:solidFill>
                  <a:srgbClr val="1B1C20"/>
                </a:solidFill>
                <a:latin typeface="Times New Roman" panose="02020603050405020304" pitchFamily="18" charset="0"/>
                <a:cs typeface="Times New Roman" panose="02020603050405020304" pitchFamily="18" charset="0"/>
              </a:rPr>
              <a:t> </a:t>
            </a:r>
            <a:r>
              <a:rPr lang="en-GB" altLang="zh-CN" sz="2400" dirty="0">
                <a:solidFill>
                  <a:srgbClr val="000088"/>
                </a:solidFill>
                <a:latin typeface="Times New Roman" panose="02020603050405020304" pitchFamily="18" charset="0"/>
                <a:cs typeface="Times New Roman" panose="02020603050405020304" pitchFamily="18" charset="0"/>
              </a:rPr>
              <a:t>follow </a:t>
            </a:r>
            <a:r>
              <a:rPr lang="en-GB" altLang="zh-CN" sz="2400" dirty="0">
                <a:solidFill>
                  <a:srgbClr val="555555"/>
                </a:solidFill>
                <a:latin typeface="Times New Roman" panose="02020603050405020304" pitchFamily="18" charset="0"/>
                <a:cs typeface="Times New Roman" panose="02020603050405020304" pitchFamily="18" charset="0"/>
              </a:rPr>
              <a:t>)</a:t>
            </a:r>
            <a:endParaRPr lang="en-GB" altLang="zh-CN" sz="2400" dirty="0">
              <a:solidFill>
                <a:srgbClr val="555555"/>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000" dirty="0">
                <a:latin typeface="Times New Roman" panose="02020603050405020304" pitchFamily="18" charset="0"/>
                <a:cs typeface="Times New Roman" panose="02020603050405020304" pitchFamily="18" charset="0"/>
              </a:rPr>
              <a:t>Set to </a:t>
            </a:r>
            <a:r>
              <a:rPr lang="en-GB" altLang="zh-CN" sz="2000" dirty="0">
                <a:latin typeface="Times New Roman" panose="02020603050405020304" pitchFamily="18" charset="0"/>
                <a:cs typeface="Times New Roman" panose="02020603050405020304" pitchFamily="18" charset="0"/>
              </a:rPr>
              <a:t>true </a:t>
            </a:r>
            <a:r>
              <a:rPr lang="en-GB" altLang="en-US" sz="2000" dirty="0">
                <a:latin typeface="Times New Roman" panose="02020603050405020304" pitchFamily="18" charset="0"/>
                <a:cs typeface="Times New Roman" panose="02020603050405020304" pitchFamily="18" charset="0"/>
              </a:rPr>
              <a:t>to allow </a:t>
            </a:r>
            <a:r>
              <a:rPr lang="en-GB" altLang="zh-CN" sz="2000" dirty="0">
                <a:latin typeface="Times New Roman" panose="02020603050405020304" pitchFamily="18" charset="0"/>
                <a:cs typeface="Times New Roman" panose="02020603050405020304" pitchFamily="18" charset="0"/>
              </a:rPr>
              <a:t>the HttpURLConnection </a:t>
            </a:r>
            <a:r>
              <a:rPr lang="en-GB" altLang="en-US" sz="2000" dirty="0">
                <a:latin typeface="Times New Roman" panose="02020603050405020304" pitchFamily="18" charset="0"/>
                <a:cs typeface="Times New Roman" panose="02020603050405020304" pitchFamily="18" charset="0"/>
              </a:rPr>
              <a:t>object to follow redirects, set to </a:t>
            </a:r>
            <a:r>
              <a:rPr lang="en-GB" altLang="zh-CN" sz="2000" dirty="0">
                <a:latin typeface="Times New Roman" panose="02020603050405020304" pitchFamily="18" charset="0"/>
                <a:cs typeface="Times New Roman" panose="02020603050405020304" pitchFamily="18" charset="0"/>
              </a:rPr>
              <a:t>false </a:t>
            </a:r>
            <a:r>
              <a:rPr lang="en-GB" altLang="en-US" sz="2000" dirty="0">
                <a:latin typeface="Times New Roman" panose="02020603050405020304" pitchFamily="18" charset="0"/>
                <a:cs typeface="Times New Roman" panose="02020603050405020304" pitchFamily="18" charset="0"/>
              </a:rPr>
              <a:t>to prevent following.</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a:xfrm>
            <a:off x="1825625" y="228600"/>
            <a:ext cx="8540750" cy="685800"/>
          </a:xfrm>
        </p:spPr>
        <p:txBody>
          <a:bodyPr/>
          <a:lstStyle/>
          <a:p>
            <a:pPr algn="l"/>
            <a:r>
              <a:rPr lang="en-GB" altLang="en-US" sz="3200"/>
              <a:t>Processing the server's response</a:t>
            </a:r>
            <a:endParaRPr lang="en-GB" altLang="en-US" sz="3200"/>
          </a:p>
        </p:txBody>
      </p:sp>
      <p:sp>
        <p:nvSpPr>
          <p:cNvPr id="117763" name="内容占位符 2"/>
          <p:cNvSpPr>
            <a:spLocks noGrp="1"/>
          </p:cNvSpPr>
          <p:nvPr>
            <p:ph idx="1"/>
          </p:nvPr>
        </p:nvSpPr>
        <p:spPr>
          <a:xfrm>
            <a:off x="381000" y="1616075"/>
            <a:ext cx="11430000" cy="2711449"/>
          </a:xfrm>
        </p:spPr>
        <p:txBody>
          <a:bodyPr/>
          <a:lstStyle/>
          <a:p>
            <a:r>
              <a:rPr lang="en-GB" altLang="zh-CN" sz="2400" dirty="0">
                <a:latin typeface="Times New Roman" panose="02020603050405020304" pitchFamily="18" charset="0"/>
                <a:cs typeface="Times New Roman" panose="02020603050405020304" pitchFamily="18" charset="0"/>
              </a:rPr>
              <a:t>The HttpURLConnection </a:t>
            </a:r>
            <a:r>
              <a:rPr lang="en-GB" altLang="en-US" sz="2400" dirty="0">
                <a:latin typeface="Times New Roman" panose="02020603050405020304" pitchFamily="18" charset="0"/>
                <a:cs typeface="Times New Roman" panose="02020603050405020304" pitchFamily="18" charset="0"/>
              </a:rPr>
              <a:t>class includes </a:t>
            </a:r>
            <a:r>
              <a:rPr lang="en-GB" altLang="zh-CN" sz="2400" dirty="0">
                <a:latin typeface="Times New Roman" panose="02020603050405020304" pitchFamily="18" charset="0"/>
                <a:cs typeface="Times New Roman" panose="02020603050405020304" pitchFamily="18" charset="0"/>
              </a:rPr>
              <a:t>36 </a:t>
            </a:r>
            <a:r>
              <a:rPr lang="en-GB" altLang="en-US" sz="2400" dirty="0">
                <a:latin typeface="Times New Roman" panose="02020603050405020304" pitchFamily="18" charset="0"/>
                <a:cs typeface="Times New Roman" panose="02020603050405020304" pitchFamily="18" charset="0"/>
              </a:rPr>
              <a:t>named constants representing common response codes.</a:t>
            </a:r>
            <a:endParaRPr lang="en-US" altLang="zh-C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000" dirty="0">
                <a:latin typeface="Times New Roman" panose="02020603050405020304" pitchFamily="18" charset="0"/>
                <a:cs typeface="Times New Roman" panose="02020603050405020304" pitchFamily="18" charset="0"/>
              </a:rPr>
              <a:t>For example, </a:t>
            </a:r>
            <a:r>
              <a:rPr lang="en-GB" altLang="zh-CN" sz="2000" dirty="0">
                <a:latin typeface="Times New Roman" panose="02020603050405020304" pitchFamily="18" charset="0"/>
                <a:cs typeface="Times New Roman" panose="02020603050405020304" pitchFamily="18" charset="0"/>
              </a:rPr>
              <a:t>HttpURLConnection.OK,</a:t>
            </a:r>
            <a:endParaRPr lang="en-GB" altLang="zh-C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p"/>
            </a:pPr>
            <a:r>
              <a:rPr lang="en-GB" altLang="en-US" sz="2000" dirty="0">
                <a:latin typeface="Times New Roman" panose="02020603050405020304" pitchFamily="18" charset="0"/>
                <a:cs typeface="Times New Roman" panose="02020603050405020304" pitchFamily="18" charset="0"/>
              </a:rPr>
              <a:t>For example, </a:t>
            </a:r>
            <a:r>
              <a:rPr lang="en-GB" altLang="zh-CN" sz="2000" dirty="0">
                <a:latin typeface="Times New Roman" panose="02020603050405020304" pitchFamily="18" charset="0"/>
                <a:cs typeface="Times New Roman" panose="02020603050405020304" pitchFamily="18" charset="0"/>
              </a:rPr>
              <a:t>HttpURLConnection.NOT_FOUND</a:t>
            </a:r>
            <a:endParaRPr lang="en-GB" altLang="zh-CN" sz="2000" dirty="0">
              <a:latin typeface="Times New Roman" panose="02020603050405020304" pitchFamily="18" charset="0"/>
              <a:cs typeface="Times New Roman" panose="02020603050405020304" pitchFamily="18" charset="0"/>
            </a:endParaRPr>
          </a:p>
          <a:p>
            <a:r>
              <a:rPr lang="en-GB" altLang="en-US" sz="2400" dirty="0">
                <a:latin typeface="Times New Roman" panose="02020603050405020304" pitchFamily="18" charset="0"/>
                <a:cs typeface="Times New Roman" panose="02020603050405020304" pitchFamily="18" charset="0"/>
              </a:rPr>
              <a:t>The demonstration example program </a:t>
            </a:r>
            <a:r>
              <a:rPr lang="en-GB" altLang="zh-CN" sz="2400" dirty="0">
                <a:latin typeface="Times New Roman" panose="02020603050405020304" pitchFamily="18" charset="0"/>
                <a:cs typeface="Times New Roman" panose="02020603050405020304" pitchFamily="18" charset="0"/>
              </a:rPr>
              <a:t>ch7.SourceViewer3.java </a:t>
            </a:r>
            <a:r>
              <a:rPr lang="en-GB" altLang="en-US" sz="2400" dirty="0">
                <a:latin typeface="Times New Roman" panose="02020603050405020304" pitchFamily="18" charset="0"/>
                <a:cs typeface="Times New Roman" panose="02020603050405020304" pitchFamily="18" charset="0"/>
              </a:rPr>
              <a:t>modifies the previous source code viewing program and can view the response message.</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36525"/>
            <a:ext cx="11277600" cy="658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6" name="标题 1"/>
          <p:cNvSpPr>
            <a:spLocks noGrp="1"/>
          </p:cNvSpPr>
          <p:nvPr>
            <p:ph type="title"/>
          </p:nvPr>
        </p:nvSpPr>
        <p:spPr>
          <a:xfrm>
            <a:off x="3651250" y="304800"/>
            <a:ext cx="8540750" cy="685800"/>
          </a:xfrm>
        </p:spPr>
        <p:txBody>
          <a:bodyPr/>
          <a:lstStyle/>
          <a:p>
            <a:pPr algn="l"/>
            <a:r>
              <a:rPr lang="en-GB" altLang="en-US" sz="3200" dirty="0"/>
              <a:t>Processing the server's response</a:t>
            </a:r>
            <a:endParaRPr lang="en-GB" altLang="en-US" sz="3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a:xfrm>
            <a:off x="1825625" y="228600"/>
            <a:ext cx="8540750" cy="685800"/>
          </a:xfrm>
        </p:spPr>
        <p:txBody>
          <a:bodyPr/>
          <a:lstStyle/>
          <a:p>
            <a:pPr algn="l"/>
            <a:r>
              <a:rPr lang="en-GB" altLang="en-US" sz="3200"/>
              <a:t>Processing the server's response</a:t>
            </a:r>
            <a:endParaRPr lang="en-GB" altLang="en-US" sz="3200"/>
          </a:p>
        </p:txBody>
      </p:sp>
      <p:pic>
        <p:nvPicPr>
          <p:cNvPr id="11981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87514" y="1295401"/>
            <a:ext cx="881697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a:xfrm>
            <a:off x="1538288" y="12700"/>
            <a:ext cx="8540750" cy="685800"/>
          </a:xfrm>
        </p:spPr>
        <p:txBody>
          <a:bodyPr/>
          <a:lstStyle/>
          <a:p>
            <a:pPr algn="l"/>
            <a:r>
              <a:rPr lang="en-GB" altLang="en-US" sz="3200"/>
              <a:t>Reading the error stream</a:t>
            </a:r>
            <a:endParaRPr lang="en-GB" altLang="en-US" sz="3200"/>
          </a:p>
        </p:txBody>
      </p:sp>
      <p:sp>
        <p:nvSpPr>
          <p:cNvPr id="120835" name="内容占位符 2"/>
          <p:cNvSpPr>
            <a:spLocks noGrp="1"/>
          </p:cNvSpPr>
          <p:nvPr>
            <p:ph idx="1"/>
          </p:nvPr>
        </p:nvSpPr>
        <p:spPr>
          <a:xfrm>
            <a:off x="228600" y="698500"/>
            <a:ext cx="11582400" cy="2559050"/>
          </a:xfrm>
        </p:spPr>
        <p:txBody>
          <a:bodyPr/>
          <a:lstStyle/>
          <a:p>
            <a:r>
              <a:rPr lang="en-GB" altLang="en-US" sz="2400" dirty="0">
                <a:latin typeface="Times New Roman" panose="02020603050405020304" pitchFamily="18" charset="0"/>
                <a:cs typeface="Times New Roman" panose="02020603050405020304" pitchFamily="18" charset="0"/>
              </a:rPr>
              <a:t>The server encountered an error and still returned useful information in the message body</a:t>
            </a:r>
            <a:endParaRPr lang="en-US" altLang="zh-CN" sz="2400" dirty="0">
              <a:latin typeface="Times New Roman" panose="02020603050405020304" pitchFamily="18" charset="0"/>
              <a:cs typeface="Times New Roman" panose="02020603050405020304" pitchFamily="18" charset="0"/>
            </a:endParaRPr>
          </a:p>
          <a:p>
            <a:r>
              <a:rPr lang="en-GB" altLang="zh-CN" sz="2400" dirty="0">
                <a:latin typeface="Times New Roman" panose="02020603050405020304" pitchFamily="18" charset="0"/>
                <a:cs typeface="Times New Roman" panose="02020603050405020304" pitchFamily="18" charset="0"/>
                <a:hlinkClick r:id="rId1"/>
              </a:rPr>
              <a:t>http://www.cafeaulait.org/sliders </a:t>
            </a:r>
            <a:r>
              <a:rPr lang="en-GB" altLang="en-US" sz="2400" dirty="0">
                <a:latin typeface="Times New Roman" panose="02020603050405020304" pitchFamily="18" charset="0"/>
                <a:cs typeface="Times New Roman" panose="02020603050405020304" pitchFamily="18" charset="0"/>
              </a:rPr>
              <a:t>requested by the client </a:t>
            </a:r>
            <a:r>
              <a:rPr lang="en-GB" altLang="en-US" sz="2400" dirty="0">
                <a:latin typeface="Times New Roman" panose="02020603050405020304" pitchFamily="18" charset="0"/>
                <a:cs typeface="Times New Roman" panose="02020603050405020304" pitchFamily="18" charset="0"/>
                <a:hlinkClick r:id="rId1"/>
              </a:rPr>
              <a:t>does not exist, the server returns </a:t>
            </a:r>
            <a:r>
              <a:rPr lang="en-GB" altLang="zh-CN" sz="2400" dirty="0">
                <a:latin typeface="Times New Roman" panose="02020603050405020304" pitchFamily="18" charset="0"/>
                <a:cs typeface="Times New Roman" panose="02020603050405020304" pitchFamily="18" charset="0"/>
                <a:hlinkClick r:id="rId1"/>
              </a:rPr>
              <a:t>a 404 </a:t>
            </a:r>
            <a:r>
              <a:rPr lang="en-GB" altLang="en-US" sz="2400" dirty="0">
                <a:latin typeface="Times New Roman" panose="02020603050405020304" pitchFamily="18" charset="0"/>
                <a:cs typeface="Times New Roman" panose="02020603050405020304" pitchFamily="18" charset="0"/>
              </a:rPr>
              <a:t>error code and sends a search page to help the user determine where the missing page may be.</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73851" y="2638426"/>
            <a:ext cx="4291012"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457200" y="4184650"/>
            <a:ext cx="474345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chemeClr val="tx2"/>
                </a:solidFill>
              </a:rPr>
              <a:t>Demonstration coding example: </a:t>
            </a:r>
            <a:r>
              <a:rPr lang="en-GB" altLang="zh-CN" sz="2000" dirty="0">
                <a:solidFill>
                  <a:schemeClr val="tx2"/>
                </a:solidFill>
              </a:rPr>
              <a:t>ch7.SourceView4.java </a:t>
            </a:r>
            <a:r>
              <a:rPr lang="en-GB" altLang="en-US" sz="2000" dirty="0">
                <a:solidFill>
                  <a:schemeClr val="tx2"/>
                </a:solidFill>
              </a:rPr>
              <a:t>, the program reads data from the input stream. If the reading fails, it reads the error stream.</a:t>
            </a:r>
            <a:endParaRPr lang="en-GB" altLang="en-US" sz="2000" dirty="0">
              <a:solidFill>
                <a:schemeClr val="tx2"/>
              </a:solidFill>
            </a:endParaRPr>
          </a:p>
        </p:txBody>
      </p:sp>
      <p:sp>
        <p:nvSpPr>
          <p:cNvPr id="4" name="文本框 3"/>
          <p:cNvSpPr txBox="1">
            <a:spLocks noChangeArrowheads="1"/>
          </p:cNvSpPr>
          <p:nvPr/>
        </p:nvSpPr>
        <p:spPr bwMode="auto">
          <a:xfrm>
            <a:off x="381000" y="2657475"/>
            <a:ext cx="61563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Public InputStream getErrorStream()</a:t>
            </a:r>
            <a:endParaRPr lang="en-GB" altLang="zh-CN" sz="1800" dirty="0"/>
          </a:p>
          <a:p>
            <a:pPr>
              <a:spcBef>
                <a:spcPct val="0"/>
              </a:spcBef>
              <a:buClrTx/>
              <a:buSzTx/>
              <a:buFontTx/>
              <a:buNone/>
            </a:pPr>
            <a:r>
              <a:rPr lang="en-GB" altLang="en-US" sz="1800" dirty="0"/>
              <a:t>After </a:t>
            </a:r>
            <a:endParaRPr lang="en-US" altLang="zh-CN" sz="1800" dirty="0"/>
          </a:p>
          <a:p>
            <a:pPr>
              <a:spcBef>
                <a:spcPct val="0"/>
              </a:spcBef>
              <a:buClrTx/>
              <a:buSzTx/>
              <a:buFontTx/>
              <a:buNone/>
            </a:pPr>
            <a:r>
              <a:rPr lang="en-GB" altLang="en-US" sz="1800" dirty="0"/>
              <a:t>You can call this method in </a:t>
            </a:r>
            <a:r>
              <a:rPr lang="en-GB" altLang="zh-CN" sz="1800" dirty="0"/>
              <a:t>the catch block to get the error stream.</a:t>
            </a:r>
            <a:endParaRPr lang="en-GB"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a:xfrm>
            <a:off x="1538288" y="12700"/>
            <a:ext cx="8540750" cy="685800"/>
          </a:xfrm>
        </p:spPr>
        <p:txBody>
          <a:bodyPr/>
          <a:lstStyle/>
          <a:p>
            <a:pPr algn="l"/>
            <a:r>
              <a:rPr lang="en-GB" altLang="en-US" sz="3200"/>
              <a:t>Reading the error stream</a:t>
            </a:r>
            <a:endParaRPr lang="en-GB" altLang="en-US" sz="3200"/>
          </a:p>
        </p:txBody>
      </p:sp>
      <p:pic>
        <p:nvPicPr>
          <p:cNvPr id="121859"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1"/>
            <a:ext cx="7848600"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0"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629150"/>
            <a:ext cx="82359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p:cNvSpPr>
            <a:spLocks noGrp="1"/>
          </p:cNvSpPr>
          <p:nvPr>
            <p:ph type="title"/>
          </p:nvPr>
        </p:nvSpPr>
        <p:spPr>
          <a:xfrm>
            <a:off x="1825625" y="228600"/>
            <a:ext cx="8540750" cy="685800"/>
          </a:xfrm>
        </p:spPr>
        <p:txBody>
          <a:bodyPr/>
          <a:lstStyle/>
          <a:p>
            <a:r>
              <a:rPr lang="en-GB" altLang="en-US" sz="3200"/>
              <a:t>Other Reference Resources</a:t>
            </a:r>
            <a:endParaRPr lang="en-GB" altLang="en-US" sz="3200"/>
          </a:p>
        </p:txBody>
      </p:sp>
      <p:sp>
        <p:nvSpPr>
          <p:cNvPr id="122883" name="内容占位符 2"/>
          <p:cNvSpPr>
            <a:spLocks noGrp="1"/>
          </p:cNvSpPr>
          <p:nvPr>
            <p:ph idx="1"/>
          </p:nvPr>
        </p:nvSpPr>
        <p:spPr>
          <a:xfrm>
            <a:off x="1828800" y="1295401"/>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zh-CN" sz="2400">
                <a:latin typeface="Times New Roman" panose="02020603050405020304" pitchFamily="18" charset="0"/>
                <a:cs typeface="Times New Roman" panose="02020603050405020304" pitchFamily="18" charset="0"/>
              </a:rPr>
              <a:t>URLConnection </a:t>
            </a:r>
            <a:r>
              <a:rPr lang="en-GB" altLang="en-US" sz="2400">
                <a:latin typeface="Times New Roman" panose="02020603050405020304" pitchFamily="18" charset="0"/>
                <a:cs typeface="Times New Roman" panose="02020603050405020304" pitchFamily="18" charset="0"/>
              </a:rPr>
              <a:t>class </a:t>
            </a:r>
            <a:r>
              <a:rPr lang="en-GB" altLang="zh-CN" sz="2400">
                <a:latin typeface="Times New Roman" panose="02020603050405020304" pitchFamily="18" charset="0"/>
                <a:cs typeface="Times New Roman" panose="02020603050405020304" pitchFamily="18" charset="0"/>
                <a:hlinkClick r:id="rId1"/>
              </a:rPr>
              <a:t>http://download.oracle.com/technetwork/java/javase/6/docs/zh/api/java/net/URLConnection.html</a:t>
            </a:r>
            <a:endParaRPr lang="en-US" altLang="zh-CN" sz="2400">
              <a:latin typeface="Times New Roman" panose="02020603050405020304" pitchFamily="18" charset="0"/>
              <a:cs typeface="Times New Roman" panose="02020603050405020304" pitchFamily="18" charset="0"/>
            </a:endParaRPr>
          </a:p>
          <a:p>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a:xfrm>
            <a:off x="457200" y="228600"/>
            <a:ext cx="11277600" cy="685800"/>
          </a:xfrm>
        </p:spPr>
        <p:txBody>
          <a:bodyPr/>
          <a:lstStyle/>
          <a:p>
            <a:pPr algn="l"/>
            <a:r>
              <a:rPr lang="en-GB" altLang="en-US" sz="3200" dirty="0"/>
              <a:t>Using </a:t>
            </a:r>
            <a:r>
              <a:rPr lang="en-GB" altLang="zh-CN" sz="3200" dirty="0"/>
              <a:t>HttpURLConnection </a:t>
            </a:r>
            <a:r>
              <a:rPr lang="en-GB" altLang="en-US" sz="3200" dirty="0"/>
              <a:t>object to interact with </a:t>
            </a:r>
            <a:r>
              <a:rPr lang="en-GB" altLang="zh-CN" sz="3200" dirty="0"/>
              <a:t>the Internet</a:t>
            </a:r>
            <a:endParaRPr lang="en-GB" altLang="zh-CN" sz="3200" dirty="0"/>
          </a:p>
        </p:txBody>
      </p:sp>
      <p:sp>
        <p:nvSpPr>
          <p:cNvPr id="123907" name="内容占位符 2"/>
          <p:cNvSpPr>
            <a:spLocks noGrp="1"/>
          </p:cNvSpPr>
          <p:nvPr>
            <p:ph idx="1"/>
          </p:nvPr>
        </p:nvSpPr>
        <p:spPr>
          <a:xfrm>
            <a:off x="76200" y="1143000"/>
            <a:ext cx="12039600" cy="5135563"/>
          </a:xfrm>
        </p:spPr>
        <p:txBody>
          <a:bodyPr/>
          <a:lstStyle/>
          <a:p>
            <a:r>
              <a:rPr lang="en-GB" altLang="en-US" sz="2000" b="1" dirty="0">
                <a:latin typeface="Times New Roman" panose="02020603050405020304" pitchFamily="18" charset="0"/>
                <a:cs typeface="Times New Roman" panose="02020603050405020304" pitchFamily="18" charset="0"/>
              </a:rPr>
              <a:t>Get web pages </a:t>
            </a:r>
            <a:endParaRPr lang="en-US" altLang="zh-CN" sz="2000" b="1" dirty="0">
              <a:latin typeface="Times New Roman" panose="02020603050405020304" pitchFamily="18" charset="0"/>
              <a:cs typeface="Times New Roman" panose="02020603050405020304" pitchFamily="18" charset="0"/>
            </a:endParaRPr>
          </a:p>
          <a:p>
            <a:pPr>
              <a:lnSpc>
                <a:spcPct val="150000"/>
              </a:lnSpc>
              <a:spcAft>
                <a:spcPts val="800"/>
              </a:spcAft>
            </a:pPr>
            <a:r>
              <a:rPr lang="en-GB" altLang="en-US" sz="2000" dirty="0"/>
              <a:t>Send a request </a:t>
            </a:r>
            <a:r>
              <a:rPr lang="en-GB" altLang="zh-CN" sz="2000" dirty="0"/>
              <a:t>and </a:t>
            </a:r>
            <a:r>
              <a:rPr lang="en-GB" altLang="en-US" sz="2000" dirty="0">
                <a:solidFill>
                  <a:srgbClr val="FF0000"/>
                </a:solidFill>
              </a:rPr>
              <a:t>read the web page back in the form of a stream </a:t>
            </a:r>
            <a:r>
              <a:rPr lang="en-GB" altLang="zh-CN" sz="2000" dirty="0"/>
              <a:t>. </a:t>
            </a:r>
            <a:br>
              <a:rPr lang="zh-CN" altLang="en-US" sz="1600" dirty="0"/>
            </a:br>
            <a:r>
              <a:rPr lang="en-GB" altLang="zh-CN" sz="2000" dirty="0"/>
              <a:t>1) </a:t>
            </a:r>
            <a:r>
              <a:rPr lang="en-GB" altLang="en-US" sz="2000" dirty="0"/>
              <a:t>Create a </a:t>
            </a:r>
            <a:r>
              <a:rPr lang="en-GB" altLang="zh-CN" sz="2000" dirty="0"/>
              <a:t>URL </a:t>
            </a:r>
            <a:r>
              <a:rPr lang="en-GB" altLang="en-US" sz="2000" dirty="0"/>
              <a:t>object </a:t>
            </a:r>
            <a:r>
              <a:rPr lang="en-GB" altLang="zh-CN" sz="2000" dirty="0"/>
              <a:t>: URL </a:t>
            </a:r>
            <a:r>
              <a:rPr lang="en-GB" altLang="zh-CN" sz="2000" dirty="0" err="1"/>
              <a:t>url </a:t>
            </a:r>
            <a:r>
              <a:rPr lang="en-GB" altLang="zh-CN" sz="2000" dirty="0"/>
              <a:t>= new URL("http://www.sohu.com"); </a:t>
            </a:r>
            <a:br>
              <a:rPr lang="en-US" altLang="zh-CN" sz="1600" dirty="0"/>
            </a:br>
            <a:r>
              <a:rPr lang="en-GB" altLang="zh-CN" sz="2000" dirty="0"/>
              <a:t>2) </a:t>
            </a:r>
            <a:r>
              <a:rPr lang="en-GB" altLang="en-US" sz="2000" dirty="0"/>
              <a:t>Use the </a:t>
            </a:r>
            <a:r>
              <a:rPr lang="en-GB" altLang="zh-CN" sz="2000" dirty="0" err="1"/>
              <a:t>HttpURLConnection </a:t>
            </a:r>
            <a:r>
              <a:rPr lang="en-GB" altLang="en-US" sz="2000" dirty="0"/>
              <a:t>object to obtain web page data from the network </a:t>
            </a:r>
            <a:r>
              <a:rPr lang="en-GB" altLang="zh-CN" sz="2000" dirty="0"/>
              <a:t>: </a:t>
            </a:r>
            <a:r>
              <a:rPr lang="en-GB" altLang="zh-CN" sz="2000" dirty="0" err="1"/>
              <a:t>HttpURLConnection </a:t>
            </a:r>
            <a:r>
              <a:rPr lang="en-GB" altLang="zh-CN" sz="2000" dirty="0"/>
              <a:t>conn = ( </a:t>
            </a:r>
            <a:r>
              <a:rPr lang="en-GB" altLang="zh-CN" sz="2000" dirty="0" err="1"/>
              <a:t>HttpURLConnection </a:t>
            </a:r>
            <a:r>
              <a:rPr lang="en-GB" altLang="zh-CN" sz="2000" dirty="0"/>
              <a:t>) </a:t>
            </a:r>
            <a:r>
              <a:rPr lang="en-GB" altLang="zh-CN" sz="2000" dirty="0" err="1"/>
              <a:t>url.openConnection </a:t>
            </a:r>
            <a:r>
              <a:rPr lang="en-GB" altLang="zh-CN" sz="2000" dirty="0"/>
              <a:t>(); </a:t>
            </a:r>
            <a:br>
              <a:rPr lang="en-US" altLang="zh-CN" sz="1600" dirty="0"/>
            </a:br>
            <a:r>
              <a:rPr lang="en-GB" altLang="zh-CN" sz="2000" dirty="0"/>
              <a:t>3) </a:t>
            </a:r>
            <a:r>
              <a:rPr lang="en-GB" altLang="en-US" sz="2000" dirty="0"/>
              <a:t>Set the connection timeout </a:t>
            </a:r>
            <a:r>
              <a:rPr lang="en-GB" altLang="zh-CN" sz="2000" dirty="0"/>
              <a:t>: </a:t>
            </a:r>
            <a:r>
              <a:rPr lang="en-GB" altLang="zh-CN" sz="2000" dirty="0" err="1"/>
              <a:t>conn.setConnectTimeout </a:t>
            </a:r>
            <a:r>
              <a:rPr lang="en-GB" altLang="zh-CN" sz="2000" dirty="0"/>
              <a:t>(6* 1000); </a:t>
            </a:r>
            <a:br>
              <a:rPr lang="en-US" altLang="zh-CN" sz="1600" dirty="0"/>
            </a:br>
            <a:r>
              <a:rPr lang="en-GB" altLang="zh-CN" sz="2000" dirty="0"/>
              <a:t>4) </a:t>
            </a:r>
            <a:r>
              <a:rPr lang="en-GB" altLang="en-US" sz="2000" dirty="0"/>
              <a:t>Judge the response code </a:t>
            </a:r>
            <a:r>
              <a:rPr lang="en-GB" altLang="zh-CN" sz="2000" dirty="0"/>
              <a:t>: if ( </a:t>
            </a:r>
            <a:r>
              <a:rPr lang="en-GB" altLang="zh-CN" sz="2000" dirty="0" err="1"/>
              <a:t>conn.getResponseCode </a:t>
            </a:r>
            <a:r>
              <a:rPr lang="en-GB" altLang="zh-CN" sz="2000" dirty="0"/>
              <a:t>() != 200) throw new </a:t>
            </a:r>
            <a:r>
              <a:rPr lang="en-GB" altLang="zh-CN" sz="2000" dirty="0" err="1"/>
              <a:t>RuntimeException </a:t>
            </a:r>
            <a:r>
              <a:rPr lang="en-GB" altLang="zh-CN" sz="2000" dirty="0"/>
              <a:t>(" </a:t>
            </a:r>
            <a:r>
              <a:rPr lang="en-GB" altLang="en-US" sz="2000" dirty="0"/>
              <a:t>Request </a:t>
            </a:r>
            <a:r>
              <a:rPr lang="en-GB" altLang="zh-CN" sz="2000" dirty="0" err="1"/>
              <a:t>url </a:t>
            </a:r>
            <a:r>
              <a:rPr lang="en-GB" altLang="en-US" sz="2000" dirty="0"/>
              <a:t>failed </a:t>
            </a:r>
            <a:r>
              <a:rPr lang="en-GB" altLang="zh-CN" sz="2000" dirty="0"/>
              <a:t>"); </a:t>
            </a:r>
            <a:br>
              <a:rPr lang="zh-CN" altLang="en-US" sz="1600" dirty="0"/>
            </a:br>
            <a:r>
              <a:rPr lang="en-GB" altLang="zh-CN" sz="2000" dirty="0"/>
              <a:t>5) </a:t>
            </a:r>
            <a:r>
              <a:rPr lang="en-GB" altLang="en-US" sz="2000" dirty="0"/>
              <a:t>Get the input stream returned by the network </a:t>
            </a:r>
            <a:r>
              <a:rPr lang="en-GB" altLang="zh-CN" sz="2000" dirty="0"/>
              <a:t>: </a:t>
            </a:r>
            <a:r>
              <a:rPr lang="en-GB" altLang="zh-CN" sz="2000" dirty="0" err="1"/>
              <a:t>InputStream </a:t>
            </a:r>
            <a:r>
              <a:rPr lang="en-GB" altLang="zh-CN" sz="2000" dirty="0"/>
              <a:t>is = </a:t>
            </a:r>
            <a:r>
              <a:rPr lang="en-GB" altLang="zh-CN" sz="2000" dirty="0" err="1"/>
              <a:t>conn.getInputStream </a:t>
            </a:r>
            <a:r>
              <a:rPr lang="en-GB" altLang="zh-CN" sz="2000" dirty="0"/>
              <a:t>(); </a:t>
            </a:r>
            <a:br>
              <a:rPr lang="en-US" altLang="zh-CN" sz="1600" dirty="0"/>
            </a:br>
            <a:r>
              <a:rPr lang="en-GB" altLang="zh-CN" sz="2000" dirty="0"/>
              <a:t>6) String result = </a:t>
            </a:r>
            <a:r>
              <a:rPr lang="en-GB" altLang="zh-CN" sz="2000" dirty="0" err="1"/>
              <a:t>readData </a:t>
            </a:r>
            <a:r>
              <a:rPr lang="en-GB" altLang="zh-CN" sz="2000" dirty="0"/>
              <a:t>(is, "GBK"); </a:t>
            </a:r>
            <a:br>
              <a:rPr lang="en-US" altLang="zh-CN" sz="1600" dirty="0"/>
            </a:br>
            <a:r>
              <a:rPr lang="en-GB" altLang="zh-CN" sz="2000" dirty="0" err="1"/>
              <a:t>conn.disconnect </a:t>
            </a:r>
            <a:r>
              <a:rPr lang="en-GB" altLang="zh-CN" sz="2000" dirty="0"/>
              <a:t>();</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a:xfrm>
            <a:off x="190500" y="228600"/>
            <a:ext cx="11925300" cy="685800"/>
          </a:xfrm>
        </p:spPr>
        <p:txBody>
          <a:bodyPr/>
          <a:lstStyle/>
          <a:p>
            <a:pPr algn="l"/>
            <a:r>
              <a:rPr lang="en-GB" altLang="en-US" sz="3200" dirty="0"/>
              <a:t>Using the </a:t>
            </a:r>
            <a:r>
              <a:rPr lang="en-GB" altLang="zh-CN" sz="3200" dirty="0"/>
              <a:t>HttpURLConnection </a:t>
            </a:r>
            <a:r>
              <a:rPr lang="en-GB" altLang="en-US" sz="3200" dirty="0"/>
              <a:t>object to interact with </a:t>
            </a:r>
            <a:r>
              <a:rPr lang="en-GB" altLang="zh-CN" sz="3200" dirty="0"/>
              <a:t>the Internet</a:t>
            </a:r>
            <a:endParaRPr lang="en-GB" altLang="zh-CN" sz="3200" dirty="0"/>
          </a:p>
        </p:txBody>
      </p:sp>
      <p:sp>
        <p:nvSpPr>
          <p:cNvPr id="124931" name="内容占位符 2"/>
          <p:cNvSpPr>
            <a:spLocks noGrp="1"/>
          </p:cNvSpPr>
          <p:nvPr>
            <p:ph idx="1"/>
          </p:nvPr>
        </p:nvSpPr>
        <p:spPr>
          <a:xfrm>
            <a:off x="190500" y="1066800"/>
            <a:ext cx="11811000" cy="5105400"/>
          </a:xfrm>
        </p:spPr>
        <p:txBody>
          <a:bodyPr/>
          <a:lstStyle/>
          <a:p>
            <a:r>
              <a:rPr lang="en-GB" altLang="en-US" sz="2800" b="1" dirty="0">
                <a:latin typeface="Times New Roman" panose="02020603050405020304" pitchFamily="18" charset="0"/>
                <a:cs typeface="Times New Roman" panose="02020603050405020304" pitchFamily="18" charset="0"/>
              </a:rPr>
              <a:t>Get files </a:t>
            </a:r>
            <a:endParaRPr lang="en-US" altLang="zh-CN" sz="2800" b="1" dirty="0">
              <a:latin typeface="Times New Roman" panose="02020603050405020304" pitchFamily="18" charset="0"/>
              <a:cs typeface="Times New Roman" panose="02020603050405020304" pitchFamily="18" charset="0"/>
            </a:endParaRPr>
          </a:p>
          <a:p>
            <a:r>
              <a:rPr lang="en-GB" altLang="en-US" sz="2400" dirty="0"/>
              <a:t>Using the </a:t>
            </a:r>
            <a:r>
              <a:rPr lang="en-GB" altLang="zh-CN" sz="2400" dirty="0" err="1"/>
              <a:t>HttpURLConnection </a:t>
            </a:r>
            <a:r>
              <a:rPr lang="en-GB" altLang="en-US" sz="2400" dirty="0"/>
              <a:t>object </a:t>
            </a:r>
            <a:r>
              <a:rPr lang="en-GB" altLang="zh-CN" sz="2400" dirty="0"/>
              <a:t>, </a:t>
            </a:r>
            <a:r>
              <a:rPr lang="en-GB" altLang="en-US" sz="2400" dirty="0"/>
              <a:t>we can </a:t>
            </a:r>
            <a:r>
              <a:rPr lang="en-GB" altLang="en-US" sz="2400" dirty="0">
                <a:solidFill>
                  <a:srgbClr val="FF0000"/>
                </a:solidFill>
              </a:rPr>
              <a:t>get file data from the network</a:t>
            </a:r>
            <a:endParaRPr lang="en-US" altLang="zh-CN" sz="2400" dirty="0">
              <a:solidFill>
                <a:srgbClr val="FF0000"/>
              </a:solidFill>
            </a:endParaRPr>
          </a:p>
          <a:p>
            <a:r>
              <a:rPr lang="en-GB" altLang="zh-CN" sz="2400" dirty="0"/>
              <a:t>1) </a:t>
            </a:r>
            <a:r>
              <a:rPr lang="en-GB" altLang="en-US" sz="2400" dirty="0"/>
              <a:t>Create </a:t>
            </a:r>
            <a:r>
              <a:rPr lang="en-GB" altLang="zh-CN" sz="2400" dirty="0"/>
              <a:t>a URL </a:t>
            </a:r>
            <a:r>
              <a:rPr lang="en-GB" altLang="en-US" sz="2400" dirty="0"/>
              <a:t>object </a:t>
            </a:r>
            <a:r>
              <a:rPr lang="en-GB" altLang="zh-CN" sz="2400" dirty="0"/>
              <a:t>and </a:t>
            </a:r>
            <a:r>
              <a:rPr lang="en-GB" altLang="en-US" sz="2400" dirty="0"/>
              <a:t>pass the file path in </a:t>
            </a:r>
            <a:r>
              <a:rPr lang="en-GB" altLang="zh-CN" sz="2400" dirty="0"/>
              <a:t>: URL </a:t>
            </a:r>
            <a:r>
              <a:rPr lang="en-GB" altLang="zh-CN" sz="2400" dirty="0" err="1"/>
              <a:t>url </a:t>
            </a:r>
            <a:r>
              <a:rPr lang="en-GB" altLang="zh-CN" sz="2400" dirty="0"/>
              <a:t>= new URL("http://photocdn.sohu.com/20100125/Img269812337.jpg");</a:t>
            </a:r>
            <a:endParaRPr lang="en-GB" altLang="zh-CN" sz="2400" dirty="0"/>
          </a:p>
          <a:p>
            <a:r>
              <a:rPr lang="en-GB" altLang="zh-CN" sz="2400" dirty="0"/>
              <a:t>2) </a:t>
            </a:r>
            <a:r>
              <a:rPr lang="en-GB" altLang="en-US" sz="2400" dirty="0"/>
              <a:t>Create an </a:t>
            </a:r>
            <a:r>
              <a:rPr lang="en-GB" altLang="zh-CN" sz="2400" dirty="0" err="1"/>
              <a:t>HttpURLConnection </a:t>
            </a:r>
            <a:r>
              <a:rPr lang="en-GB" altLang="en-US" sz="2400" dirty="0"/>
              <a:t>object </a:t>
            </a:r>
            <a:r>
              <a:rPr lang="en-GB" altLang="zh-CN" sz="2400" dirty="0"/>
              <a:t>and </a:t>
            </a:r>
            <a:r>
              <a:rPr lang="en-GB" altLang="en-US" sz="2400" dirty="0"/>
              <a:t>obtain file data from the network </a:t>
            </a:r>
            <a:r>
              <a:rPr lang="en-GB" altLang="zh-CN" sz="2400" dirty="0"/>
              <a:t>: </a:t>
            </a:r>
            <a:r>
              <a:rPr lang="en-GB" altLang="zh-CN" sz="2400" dirty="0" err="1"/>
              <a:t>HttpURLConnection </a:t>
            </a:r>
            <a:r>
              <a:rPr lang="en-GB" altLang="zh-CN" sz="2400" dirty="0"/>
              <a:t>conn = ( </a:t>
            </a:r>
            <a:r>
              <a:rPr lang="en-GB" altLang="zh-CN" sz="2400" dirty="0" err="1"/>
              <a:t>HttpURLConnection </a:t>
            </a:r>
            <a:r>
              <a:rPr lang="en-GB" altLang="zh-CN" sz="2400" dirty="0"/>
              <a:t>) </a:t>
            </a:r>
            <a:r>
              <a:rPr lang="en-GB" altLang="zh-CN" sz="2400" dirty="0" err="1"/>
              <a:t>url.openConnection </a:t>
            </a:r>
            <a:r>
              <a:rPr lang="en-GB" altLang="zh-CN" sz="2400" dirty="0"/>
              <a:t>();</a:t>
            </a:r>
            <a:endParaRPr lang="en-GB" altLang="zh-CN" sz="2400" dirty="0"/>
          </a:p>
          <a:p>
            <a:r>
              <a:rPr lang="en-GB" altLang="zh-CN" sz="2400" dirty="0"/>
              <a:t>3) </a:t>
            </a:r>
            <a:r>
              <a:rPr lang="en-GB" altLang="en-US" sz="2400" dirty="0"/>
              <a:t>Set the connection timeout </a:t>
            </a:r>
            <a:r>
              <a:rPr lang="en-GB" altLang="zh-CN" sz="2400" dirty="0"/>
              <a:t>: </a:t>
            </a:r>
            <a:r>
              <a:rPr lang="en-GB" altLang="zh-CN" sz="2400" dirty="0" err="1"/>
              <a:t>conn.setConnectTimeout </a:t>
            </a:r>
            <a:r>
              <a:rPr lang="en-GB" altLang="zh-CN" sz="2400" dirty="0"/>
              <a:t>(6* 1000);</a:t>
            </a:r>
            <a:endParaRPr lang="en-GB" altLang="zh-CN" sz="2400" dirty="0"/>
          </a:p>
          <a:p>
            <a:r>
              <a:rPr lang="en-GB" altLang="zh-CN" sz="2400" dirty="0"/>
              <a:t>4) </a:t>
            </a:r>
            <a:r>
              <a:rPr lang="en-GB" altLang="en-US" sz="2400" dirty="0"/>
              <a:t>Judge the response code </a:t>
            </a:r>
            <a:r>
              <a:rPr lang="en-GB" altLang="zh-CN" sz="2400" dirty="0"/>
              <a:t>: if ( </a:t>
            </a:r>
            <a:r>
              <a:rPr lang="en-GB" altLang="zh-CN" sz="2400" dirty="0" err="1"/>
              <a:t>conn.getResponseCode </a:t>
            </a:r>
            <a:r>
              <a:rPr lang="en-GB" altLang="zh-CN" sz="2400" dirty="0"/>
              <a:t>()!=200) throw new </a:t>
            </a:r>
            <a:r>
              <a:rPr lang="en-GB" altLang="zh-CN" sz="2400" dirty="0" err="1"/>
              <a:t>RuntimeException </a:t>
            </a:r>
            <a:r>
              <a:rPr lang="en-GB" altLang="zh-CN" sz="2400" dirty="0"/>
              <a:t>(" </a:t>
            </a:r>
            <a:r>
              <a:rPr lang="en-GB" altLang="en-US" sz="2400" dirty="0"/>
              <a:t>Request </a:t>
            </a:r>
            <a:r>
              <a:rPr lang="en-GB" altLang="zh-CN" sz="2400" dirty="0" err="1"/>
              <a:t>url </a:t>
            </a:r>
            <a:r>
              <a:rPr lang="en-GB" altLang="en-US" sz="2400" dirty="0"/>
              <a:t>failed </a:t>
            </a:r>
            <a:r>
              <a:rPr lang="en-GB" altLang="zh-CN" sz="2400" dirty="0"/>
              <a:t>");</a:t>
            </a:r>
            <a:endParaRPr lang="en-GB" altLang="zh-CN" sz="2400" dirty="0"/>
          </a:p>
          <a:p>
            <a:r>
              <a:rPr lang="en-GB" altLang="zh-CN" sz="2400" dirty="0"/>
              <a:t>5) </a:t>
            </a:r>
            <a:r>
              <a:rPr lang="en-GB" altLang="en-US" sz="2400" dirty="0"/>
              <a:t>Get the input stream returned by the network </a:t>
            </a:r>
            <a:r>
              <a:rPr lang="en-GB" altLang="zh-CN" sz="2400" dirty="0"/>
              <a:t>: </a:t>
            </a:r>
            <a:r>
              <a:rPr lang="en-GB" altLang="zh-CN" sz="2400" dirty="0" err="1"/>
              <a:t>InputStream </a:t>
            </a:r>
            <a:r>
              <a:rPr lang="en-GB" altLang="zh-CN" sz="2400" dirty="0"/>
              <a:t>is = </a:t>
            </a:r>
            <a:r>
              <a:rPr lang="en-GB" altLang="zh-CN" sz="2400" dirty="0" err="1"/>
              <a:t>conn.getInputStream </a:t>
            </a:r>
            <a:r>
              <a:rPr lang="en-GB" altLang="zh-CN" sz="2400" dirty="0"/>
              <a:t>();</a:t>
            </a:r>
            <a:endParaRPr lang="en-GB" altLang="zh-CN" sz="2400" dirty="0"/>
          </a:p>
          <a:p>
            <a:r>
              <a:rPr lang="en-GB" altLang="zh-CN" sz="2400" dirty="0"/>
              <a:t>6) </a:t>
            </a:r>
            <a:r>
              <a:rPr lang="en-GB" altLang="en-US" sz="2400" dirty="0"/>
              <a:t>Write out the obtained file stream </a:t>
            </a:r>
            <a:r>
              <a:rPr lang="en-GB" altLang="zh-CN" sz="2400" dirty="0"/>
              <a:t>: </a:t>
            </a:r>
            <a:r>
              <a:rPr lang="en-GB" altLang="zh-CN" sz="2400" dirty="0" err="1"/>
              <a:t>outStream.write </a:t>
            </a:r>
            <a:r>
              <a:rPr lang="en-GB" altLang="zh-CN" sz="2400" dirty="0"/>
              <a:t>(buffer, 0, </a:t>
            </a:r>
            <a:r>
              <a:rPr lang="en-GB" altLang="zh-CN" sz="2400" dirty="0" err="1"/>
              <a:t>len </a:t>
            </a:r>
            <a:r>
              <a:rPr lang="en-GB" altLang="zh-CN" sz="2400" dirty="0"/>
              <a:t>);</a:t>
            </a:r>
            <a:endParaRPr lang="zh-C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xfrm>
            <a:off x="228600" y="228600"/>
            <a:ext cx="11506200" cy="685800"/>
          </a:xfrm>
        </p:spPr>
        <p:txBody>
          <a:bodyPr/>
          <a:lstStyle/>
          <a:p>
            <a:r>
              <a:rPr lang="en-GB" altLang="en-US" sz="3200" dirty="0"/>
              <a:t>Using </a:t>
            </a:r>
            <a:r>
              <a:rPr lang="en-GB" altLang="zh-CN" sz="3200" dirty="0"/>
              <a:t>HttpURLConnection </a:t>
            </a:r>
            <a:r>
              <a:rPr lang="en-GB" altLang="en-US" sz="3200" dirty="0"/>
              <a:t>object to interact with </a:t>
            </a:r>
            <a:r>
              <a:rPr lang="en-GB" altLang="zh-CN" sz="3200" dirty="0"/>
              <a:t>the Internet</a:t>
            </a:r>
            <a:endParaRPr lang="en-GB" altLang="zh-CN" sz="3200" dirty="0"/>
          </a:p>
        </p:txBody>
      </p:sp>
      <p:sp>
        <p:nvSpPr>
          <p:cNvPr id="125955" name="内容占位符 2"/>
          <p:cNvSpPr>
            <a:spLocks noGrp="1"/>
          </p:cNvSpPr>
          <p:nvPr>
            <p:ph idx="1"/>
          </p:nvPr>
        </p:nvSpPr>
        <p:spPr>
          <a:xfrm>
            <a:off x="381000" y="990600"/>
            <a:ext cx="11582400" cy="5486400"/>
          </a:xfrm>
        </p:spPr>
        <p:txBody>
          <a:bodyPr/>
          <a:lstStyle/>
          <a:p>
            <a:r>
              <a:rPr lang="en-GB" altLang="en-US" sz="2400" b="1" dirty="0">
                <a:latin typeface="Times New Roman" panose="02020603050405020304" pitchFamily="18" charset="0"/>
                <a:cs typeface="Times New Roman" panose="02020603050405020304" pitchFamily="18" charset="0"/>
              </a:rPr>
              <a:t>Send request parameters </a:t>
            </a:r>
            <a:endParaRPr lang="en-US" altLang="zh-CN" sz="2400" b="1" dirty="0">
              <a:latin typeface="Times New Roman" panose="02020603050405020304" pitchFamily="18" charset="0"/>
              <a:cs typeface="Times New Roman" panose="02020603050405020304" pitchFamily="18" charset="0"/>
            </a:endParaRPr>
          </a:p>
          <a:p>
            <a:r>
              <a:rPr lang="en-GB" altLang="zh-CN" sz="1800" dirty="0"/>
              <a:t>1) </a:t>
            </a:r>
            <a:r>
              <a:rPr lang="en-GB" altLang="en-US" sz="1800" dirty="0"/>
              <a:t>Store the address and parameters in </a:t>
            </a:r>
            <a:r>
              <a:rPr lang="en-GB" altLang="zh-CN" sz="1800" dirty="0"/>
              <a:t>a byte </a:t>
            </a:r>
            <a:r>
              <a:rPr lang="en-GB" altLang="en-US" sz="1800" dirty="0"/>
              <a:t>array </a:t>
            </a:r>
            <a:r>
              <a:rPr lang="en-GB" altLang="zh-CN" sz="1800" dirty="0"/>
              <a:t>: byte[] data = </a:t>
            </a:r>
            <a:r>
              <a:rPr lang="en-GB" altLang="zh-CN" sz="1800" dirty="0" err="1"/>
              <a:t>params.toString </a:t>
            </a:r>
            <a:r>
              <a:rPr lang="en-GB" altLang="zh-CN" sz="1800" dirty="0"/>
              <a:t>(). </a:t>
            </a:r>
            <a:r>
              <a:rPr lang="en-GB" altLang="zh-CN" sz="1800" dirty="0" err="1"/>
              <a:t>getBytes </a:t>
            </a:r>
            <a:r>
              <a:rPr lang="en-GB" altLang="zh-CN" sz="1800" dirty="0"/>
              <a:t>();</a:t>
            </a:r>
            <a:endParaRPr lang="en-GB" altLang="zh-CN" sz="1800" dirty="0"/>
          </a:p>
          <a:p>
            <a:r>
              <a:rPr lang="en-GB" altLang="zh-CN" sz="1800" dirty="0"/>
              <a:t>2) </a:t>
            </a:r>
            <a:r>
              <a:rPr lang="en-GB" altLang="en-US" sz="1800" dirty="0"/>
              <a:t>Create </a:t>
            </a:r>
            <a:r>
              <a:rPr lang="en-GB" altLang="zh-CN" sz="1800" dirty="0"/>
              <a:t>a URL </a:t>
            </a:r>
            <a:r>
              <a:rPr lang="en-GB" altLang="en-US" sz="1800" dirty="0"/>
              <a:t>object </a:t>
            </a:r>
            <a:r>
              <a:rPr lang="en-GB" altLang="zh-CN" sz="1800" dirty="0"/>
              <a:t>: URL </a:t>
            </a:r>
            <a:r>
              <a:rPr lang="en-GB" altLang="zh-CN" sz="1800" dirty="0" err="1"/>
              <a:t>realUrl </a:t>
            </a:r>
            <a:r>
              <a:rPr lang="en-GB" altLang="zh-CN" sz="1800" dirty="0"/>
              <a:t>= new URL( </a:t>
            </a:r>
            <a:r>
              <a:rPr lang="en-GB" altLang="zh-CN" sz="1800" dirty="0" err="1"/>
              <a:t>requestUrl </a:t>
            </a:r>
            <a:r>
              <a:rPr lang="en-GB" altLang="zh-CN" sz="1800" dirty="0"/>
              <a:t>);</a:t>
            </a:r>
            <a:endParaRPr lang="en-GB" altLang="zh-CN" sz="1800" dirty="0"/>
          </a:p>
          <a:p>
            <a:r>
              <a:rPr lang="en-GB" altLang="zh-CN" sz="1800" dirty="0"/>
              <a:t>3) </a:t>
            </a:r>
            <a:r>
              <a:rPr lang="en-GB" altLang="en-US" sz="1800" dirty="0"/>
              <a:t>Send a request to the network address through the </a:t>
            </a:r>
            <a:r>
              <a:rPr lang="en-GB" altLang="zh-CN" sz="1800" dirty="0" err="1"/>
              <a:t>HttpURLConnection </a:t>
            </a:r>
            <a:r>
              <a:rPr lang="en-GB" altLang="en-US" sz="1800" dirty="0"/>
              <a:t>object </a:t>
            </a:r>
            <a:r>
              <a:rPr lang="en-GB" altLang="zh-CN" sz="1800" dirty="0"/>
              <a:t>: </a:t>
            </a:r>
            <a:r>
              <a:rPr lang="en-GB" altLang="zh-CN" sz="1800" dirty="0" err="1"/>
              <a:t>HttpURLConnection </a:t>
            </a:r>
            <a:r>
              <a:rPr lang="en-GB" altLang="zh-CN" sz="1800" dirty="0"/>
              <a:t>conn = ( </a:t>
            </a:r>
            <a:r>
              <a:rPr lang="en-GB" altLang="zh-CN" sz="1800" dirty="0" err="1"/>
              <a:t>HttpURLConnection </a:t>
            </a:r>
            <a:r>
              <a:rPr lang="en-GB" altLang="zh-CN" sz="1800" dirty="0"/>
              <a:t>) </a:t>
            </a:r>
            <a:r>
              <a:rPr lang="en-GB" altLang="zh-CN" sz="1800" dirty="0" err="1"/>
              <a:t>realUrl.openConnection </a:t>
            </a:r>
            <a:r>
              <a:rPr lang="en-GB" altLang="zh-CN" sz="1800" dirty="0"/>
              <a:t>() ;</a:t>
            </a:r>
            <a:endParaRPr lang="en-GB" altLang="zh-CN" sz="1800" dirty="0"/>
          </a:p>
          <a:p>
            <a:r>
              <a:rPr lang="en-GB" altLang="zh-CN" sz="1800" dirty="0"/>
              <a:t>4) </a:t>
            </a:r>
            <a:r>
              <a:rPr lang="en-GB" altLang="en-US" sz="1800" dirty="0"/>
              <a:t>Set to allow output </a:t>
            </a:r>
            <a:r>
              <a:rPr lang="en-GB" altLang="zh-CN" sz="1800" dirty="0"/>
              <a:t>: </a:t>
            </a:r>
            <a:r>
              <a:rPr lang="en-GB" altLang="zh-CN" sz="1800" dirty="0" err="1"/>
              <a:t>conn.setDoOutput </a:t>
            </a:r>
            <a:r>
              <a:rPr lang="en-GB" altLang="zh-CN" sz="1800" dirty="0"/>
              <a:t>(true);</a:t>
            </a:r>
            <a:endParaRPr lang="en-GB" altLang="zh-CN" sz="1800" dirty="0"/>
          </a:p>
          <a:p>
            <a:r>
              <a:rPr lang="en-GB" altLang="zh-CN" sz="1800" dirty="0"/>
              <a:t>5) </a:t>
            </a:r>
            <a:r>
              <a:rPr lang="en-GB" altLang="en-US" sz="1800" dirty="0"/>
              <a:t>Set not to use cache </a:t>
            </a:r>
            <a:r>
              <a:rPr lang="en-GB" altLang="zh-CN" sz="1800" dirty="0"/>
              <a:t>: </a:t>
            </a:r>
            <a:r>
              <a:rPr lang="en-GB" altLang="zh-CN" sz="1800" dirty="0" err="1"/>
              <a:t>conn.setUseCaches </a:t>
            </a:r>
            <a:r>
              <a:rPr lang="en-GB" altLang="zh-CN" sz="1800" dirty="0"/>
              <a:t>(false);</a:t>
            </a:r>
            <a:endParaRPr lang="en-GB" altLang="zh-CN" sz="1800" dirty="0"/>
          </a:p>
          <a:p>
            <a:r>
              <a:rPr lang="en-GB" altLang="zh-CN" sz="1800" dirty="0"/>
              <a:t>6) </a:t>
            </a:r>
            <a:r>
              <a:rPr lang="en-GB" altLang="en-US" sz="1800" dirty="0"/>
              <a:t>Set to use </a:t>
            </a:r>
            <a:r>
              <a:rPr lang="en-GB" altLang="zh-CN" sz="1800" dirty="0"/>
              <a:t>POST </a:t>
            </a:r>
            <a:r>
              <a:rPr lang="en-GB" altLang="en-US" sz="1800" dirty="0"/>
              <a:t>method to send </a:t>
            </a:r>
            <a:r>
              <a:rPr lang="en-GB" altLang="zh-CN" sz="1800" dirty="0"/>
              <a:t>: </a:t>
            </a:r>
            <a:r>
              <a:rPr lang="en-GB" altLang="zh-CN" sz="1800" dirty="0" err="1"/>
              <a:t>conn.setRequestMethod </a:t>
            </a:r>
            <a:r>
              <a:rPr lang="en-GB" altLang="zh-CN" sz="1800" dirty="0"/>
              <a:t>("POST");</a:t>
            </a:r>
            <a:endParaRPr lang="en-GB" altLang="zh-CN" sz="1800" dirty="0"/>
          </a:p>
          <a:p>
            <a:r>
              <a:rPr lang="en-GB" altLang="zh-CN" sz="1800" dirty="0"/>
              <a:t>7) </a:t>
            </a:r>
            <a:r>
              <a:rPr lang="en-GB" altLang="en-US" sz="1800" dirty="0"/>
              <a:t>Set to maintain a long connection </a:t>
            </a:r>
            <a:r>
              <a:rPr lang="en-GB" altLang="zh-CN" sz="1800" dirty="0"/>
              <a:t>: </a:t>
            </a:r>
            <a:r>
              <a:rPr lang="en-GB" altLang="zh-CN" sz="1800" dirty="0" err="1"/>
              <a:t>conn.setRequestProperty </a:t>
            </a:r>
            <a:r>
              <a:rPr lang="en-GB" altLang="zh-CN" sz="1800" dirty="0"/>
              <a:t>("Connection", "Keep-Alive");</a:t>
            </a:r>
            <a:endParaRPr lang="en-GB" altLang="zh-CN" sz="1800" dirty="0"/>
          </a:p>
          <a:p>
            <a:r>
              <a:rPr lang="en-GB" altLang="zh-CN" sz="1800" dirty="0"/>
              <a:t>8) </a:t>
            </a:r>
            <a:r>
              <a:rPr lang="en-GB" altLang="en-US" sz="1800" dirty="0"/>
              <a:t>Set the file character set </a:t>
            </a:r>
            <a:r>
              <a:rPr lang="en-GB" altLang="zh-CN" sz="1800" dirty="0"/>
              <a:t>: </a:t>
            </a:r>
            <a:r>
              <a:rPr lang="en-GB" altLang="zh-CN" sz="1800" dirty="0" err="1"/>
              <a:t>conn.setRequestProperty </a:t>
            </a:r>
            <a:r>
              <a:rPr lang="en-GB" altLang="zh-CN" sz="1800" dirty="0"/>
              <a:t>("Charset", "UTF-8");</a:t>
            </a:r>
            <a:endParaRPr lang="en-GB" altLang="zh-CN" sz="1800" dirty="0"/>
          </a:p>
          <a:p>
            <a:r>
              <a:rPr lang="en-GB" altLang="zh-CN" sz="1800" dirty="0"/>
              <a:t>9) </a:t>
            </a:r>
            <a:r>
              <a:rPr lang="en-GB" altLang="en-US" sz="1800" dirty="0"/>
              <a:t>Set the file length </a:t>
            </a:r>
            <a:r>
              <a:rPr lang="en-GB" altLang="zh-CN" sz="1800" dirty="0"/>
              <a:t>: </a:t>
            </a:r>
            <a:r>
              <a:rPr lang="en-GB" altLang="zh-CN" sz="1800" dirty="0" err="1"/>
              <a:t>conn.setRequestProperty </a:t>
            </a:r>
            <a:r>
              <a:rPr lang="en-GB" altLang="zh-CN" sz="1800" dirty="0"/>
              <a:t>("Content-Length", </a:t>
            </a:r>
            <a:r>
              <a:rPr lang="en-GB" altLang="zh-CN" sz="1800" dirty="0" err="1"/>
              <a:t>String.valueOf </a:t>
            </a:r>
            <a:r>
              <a:rPr lang="en-GB" altLang="zh-CN" sz="1800" dirty="0"/>
              <a:t>( </a:t>
            </a:r>
            <a:r>
              <a:rPr lang="en-GB" altLang="zh-CN" sz="1800" dirty="0" err="1"/>
              <a:t>data.length </a:t>
            </a:r>
            <a:r>
              <a:rPr lang="en-GB" altLang="zh-CN" sz="1800" dirty="0"/>
              <a:t>));</a:t>
            </a:r>
            <a:endParaRPr lang="en-GB" altLang="zh-CN" sz="1800" dirty="0"/>
          </a:p>
          <a:p>
            <a:r>
              <a:rPr lang="en-GB" altLang="zh-CN" sz="1800" dirty="0"/>
              <a:t>10) </a:t>
            </a:r>
            <a:r>
              <a:rPr lang="en-GB" altLang="en-US" sz="1800" dirty="0"/>
              <a:t>Set the file type </a:t>
            </a:r>
            <a:r>
              <a:rPr lang="en-GB" altLang="zh-CN" sz="1800" dirty="0"/>
              <a:t>: </a:t>
            </a:r>
            <a:r>
              <a:rPr lang="en-GB" altLang="zh-CN" sz="1800" dirty="0" err="1"/>
              <a:t>conn.setRequestProperty </a:t>
            </a:r>
            <a:r>
              <a:rPr lang="en-GB" altLang="zh-CN" sz="1800" dirty="0"/>
              <a:t>("Content- </a:t>
            </a:r>
            <a:r>
              <a:rPr lang="en-GB" altLang="zh-CN" sz="1800" dirty="0" err="1"/>
              <a:t>Type", "application </a:t>
            </a:r>
            <a:r>
              <a:rPr lang="en-GB" altLang="zh-CN" sz="1800" dirty="0"/>
              <a:t>/x-www-form- </a:t>
            </a:r>
            <a:r>
              <a:rPr lang="en-GB" altLang="zh-CN" sz="1800" dirty="0" err="1"/>
              <a:t>urlencoded </a:t>
            </a:r>
            <a:r>
              <a:rPr lang="en-GB" altLang="zh-CN" sz="1800" dirty="0"/>
              <a:t>");</a:t>
            </a:r>
            <a:endParaRPr lang="en-GB" altLang="zh-CN" sz="1800" dirty="0"/>
          </a:p>
          <a:p>
            <a:r>
              <a:rPr lang="en-GB" altLang="zh-CN" sz="1800" dirty="0"/>
              <a:t>11) </a:t>
            </a:r>
            <a:r>
              <a:rPr lang="en-GB" altLang="en-US" sz="1800" dirty="0"/>
              <a:t>Output in stream mode </a:t>
            </a:r>
            <a:r>
              <a:rPr lang="en-GB" altLang="zh-CN" sz="1800" dirty="0"/>
              <a:t>.</a:t>
            </a:r>
            <a:endParaRPr lang="en-GB" altLang="zh-CN" sz="1800" dirty="0"/>
          </a:p>
          <a:p>
            <a:r>
              <a:rPr lang="en-GB" altLang="en-US" sz="1800" dirty="0"/>
              <a:t>Summary </a:t>
            </a:r>
            <a:r>
              <a:rPr lang="en-GB" altLang="zh-CN" sz="1800" dirty="0"/>
              <a:t>:-- </a:t>
            </a:r>
            <a:r>
              <a:rPr lang="en-GB" altLang="en-US" sz="1800" dirty="0"/>
              <a:t>Sending </a:t>
            </a:r>
            <a:r>
              <a:rPr lang="en-GB" altLang="zh-CN" sz="1800" dirty="0"/>
              <a:t>a POST </a:t>
            </a:r>
            <a:r>
              <a:rPr lang="en-GB" altLang="en-US" sz="1800" dirty="0"/>
              <a:t>request must set output permission</a:t>
            </a:r>
            <a:endParaRPr lang="en-GB" altLang="en-US" sz="1800" dirty="0"/>
          </a:p>
          <a:p>
            <a:r>
              <a:rPr lang="en-GB" altLang="zh-CN" sz="1800" dirty="0"/>
              <a:t>--Don't </a:t>
            </a:r>
            <a:r>
              <a:rPr lang="en-GB" altLang="en-US" sz="1800" dirty="0"/>
              <a:t>use cache </a:t>
            </a:r>
            <a:r>
              <a:rPr lang="en-GB" altLang="zh-CN" sz="1800" dirty="0"/>
              <a:t>, </a:t>
            </a:r>
            <a:r>
              <a:rPr lang="en-GB" altLang="en-US" sz="1800" dirty="0"/>
              <a:t>it may cause problems </a:t>
            </a:r>
            <a:r>
              <a:rPr lang="en-GB" altLang="zh-CN" sz="1800" dirty="0"/>
              <a:t>.</a:t>
            </a:r>
            <a:endParaRPr lang="en-GB" altLang="zh-CN" sz="1800" dirty="0"/>
          </a:p>
          <a:p>
            <a:r>
              <a:rPr lang="en-GB" altLang="zh-CN" sz="1800" dirty="0"/>
              <a:t>--At </a:t>
            </a:r>
            <a:r>
              <a:rPr lang="en-GB" altLang="en-US" sz="1800" dirty="0"/>
              <a:t>the beginning, use </a:t>
            </a:r>
            <a:r>
              <a:rPr lang="en-GB" altLang="zh-CN" sz="1800" dirty="0"/>
              <a:t>the </a:t>
            </a:r>
            <a:r>
              <a:rPr lang="en-GB" altLang="en-US" sz="1800" dirty="0"/>
              <a:t>setRequestProperty </a:t>
            </a:r>
            <a:r>
              <a:rPr lang="en-GB" altLang="zh-CN" sz="1800" dirty="0" err="1"/>
              <a:t>( </a:t>
            </a:r>
            <a:r>
              <a:rPr lang="en-GB" altLang="zh-CN" sz="1800" dirty="0"/>
              <a:t>) </a:t>
            </a:r>
            <a:r>
              <a:rPr lang="en-GB" altLang="en-US" sz="1800" dirty="0"/>
              <a:t>of the </a:t>
            </a:r>
            <a:r>
              <a:rPr lang="en-GB" altLang="zh-CN" sz="1800" dirty="0" err="1"/>
              <a:t>HttpURLConnection object </a:t>
            </a:r>
            <a:r>
              <a:rPr lang="en-GB" altLang="en-US" sz="1800" dirty="0"/>
              <a:t>to generate </a:t>
            </a:r>
            <a:r>
              <a:rPr lang="en-GB" altLang="zh-CN" sz="1800" dirty="0"/>
              <a:t>the HTML </a:t>
            </a:r>
            <a:r>
              <a:rPr lang="en-GB" altLang="en-US" sz="1800" dirty="0"/>
              <a:t>file header </a:t>
            </a:r>
            <a:r>
              <a:rPr lang="en-GB" altLang="zh-CN" sz="1800" dirty="0"/>
              <a:t>.</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p:cNvSpPr>
            <a:spLocks noGrp="1"/>
          </p:cNvSpPr>
          <p:nvPr>
            <p:ph type="title"/>
          </p:nvPr>
        </p:nvSpPr>
        <p:spPr>
          <a:xfrm>
            <a:off x="1825625" y="228600"/>
            <a:ext cx="8540750" cy="685800"/>
          </a:xfrm>
        </p:spPr>
        <p:txBody>
          <a:bodyPr/>
          <a:lstStyle/>
          <a:p>
            <a:r>
              <a:rPr lang="en-GB" altLang="en-US" sz="3200" dirty="0"/>
              <a:t>Summary</a:t>
            </a:r>
            <a:endParaRPr lang="en-GB" altLang="en-US" sz="3200" dirty="0"/>
          </a:p>
        </p:txBody>
      </p:sp>
      <p:sp>
        <p:nvSpPr>
          <p:cNvPr id="126979" name="内容占位符 2"/>
          <p:cNvSpPr>
            <a:spLocks noGrp="1"/>
          </p:cNvSpPr>
          <p:nvPr>
            <p:ph idx="1"/>
          </p:nvPr>
        </p:nvSpPr>
        <p:spPr>
          <a:xfrm>
            <a:off x="1447800" y="2108200"/>
            <a:ext cx="9005887" cy="1828800"/>
          </a:xfrm>
        </p:spPr>
        <p:txBody>
          <a:bodyPr/>
          <a:lstStyle/>
          <a:p>
            <a:r>
              <a:rPr lang="en-GB" altLang="en-US" sz="1800" dirty="0">
                <a:latin typeface="Times New Roman" panose="02020603050405020304" pitchFamily="18" charset="0"/>
                <a:cs typeface="Times New Roman" panose="02020603050405020304" pitchFamily="18" charset="0"/>
              </a:rPr>
              <a:t>Key points</a:t>
            </a:r>
            <a:endParaRPr lang="en-US" altLang="zh-CN" sz="1800" dirty="0">
              <a:latin typeface="Times New Roman" panose="02020603050405020304" pitchFamily="18" charset="0"/>
              <a:cs typeface="Times New Roman" panose="02020603050405020304" pitchFamily="18" charset="0"/>
            </a:endParaRPr>
          </a:p>
          <a:p>
            <a:r>
              <a:rPr lang="en-GB" altLang="zh-CN" sz="1800" dirty="0">
                <a:latin typeface="Times New Roman" panose="02020603050405020304" pitchFamily="18" charset="0"/>
                <a:cs typeface="Times New Roman" panose="02020603050405020304" pitchFamily="18" charset="0"/>
              </a:rPr>
              <a:t>URLConnection </a:t>
            </a:r>
            <a:r>
              <a:rPr lang="en-GB" altLang="en-US" sz="1800" dirty="0">
                <a:latin typeface="Times New Roman" panose="02020603050405020304" pitchFamily="18" charset="0"/>
                <a:cs typeface="Times New Roman" panose="02020603050405020304" pitchFamily="18" charset="0"/>
              </a:rPr>
              <a:t>and its application</a:t>
            </a:r>
            <a:endParaRPr lang="en-US" altLang="zh-CN" sz="1800" dirty="0">
              <a:latin typeface="Times New Roman" panose="02020603050405020304" pitchFamily="18" charset="0"/>
              <a:cs typeface="Times New Roman" panose="02020603050405020304" pitchFamily="18" charset="0"/>
            </a:endParaRPr>
          </a:p>
          <a:p>
            <a:r>
              <a:rPr lang="en-GB" altLang="zh-CN" sz="1800" dirty="0">
                <a:latin typeface="Times New Roman" panose="02020603050405020304" pitchFamily="18" charset="0"/>
                <a:cs typeface="Times New Roman" panose="02020603050405020304" pitchFamily="18" charset="0"/>
              </a:rPr>
              <a:t>HttpURLConnection </a:t>
            </a:r>
            <a:r>
              <a:rPr lang="en-GB" altLang="en-US" sz="1800" dirty="0">
                <a:latin typeface="Times New Roman" panose="02020603050405020304" pitchFamily="18" charset="0"/>
                <a:cs typeface="Times New Roman" panose="02020603050405020304" pitchFamily="18" charset="0"/>
              </a:rPr>
              <a:t>and its application</a:t>
            </a: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2"/>
          <p:cNvSpPr>
            <a:spLocks noChangeArrowheads="1"/>
          </p:cNvSpPr>
          <p:nvPr/>
        </p:nvSpPr>
        <p:spPr bwMode="auto">
          <a:xfrm>
            <a:off x="1524001" y="2129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128003" name="Rectangle 6"/>
          <p:cNvSpPr>
            <a:spLocks noRot="1" noChangeArrowheads="1"/>
          </p:cNvSpPr>
          <p:nvPr/>
        </p:nvSpPr>
        <p:spPr bwMode="auto">
          <a:xfrm>
            <a:off x="2514600" y="2895600"/>
            <a:ext cx="64833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8000" b="1" dirty="0">
                <a:solidFill>
                  <a:srgbClr val="FF0000"/>
                </a:solidFill>
                <a:latin typeface="华文行楷" panose="02010800040101010101" pitchFamily="2" charset="-122"/>
                <a:ea typeface="华文行楷" panose="02010800040101010101" pitchFamily="2" charset="-122"/>
              </a:rPr>
              <a:t>Thanks</a:t>
            </a:r>
            <a:endParaRPr lang="en-US" altLang="zh-CN" sz="8000" b="1" dirty="0">
              <a:solidFill>
                <a:srgbClr val="FF0000"/>
              </a:solidFill>
              <a:latin typeface="华文行楷" panose="02010800040101010101" pitchFamily="2" charset="-122"/>
              <a:ea typeface="华文行楷" panose="02010800040101010101" pitchFamily="2" charset="-122"/>
            </a:endParaRPr>
          </a:p>
        </p:txBody>
      </p:sp>
    </p:spTree>
  </p:cSld>
  <p:clrMapOvr>
    <a:masterClrMapping/>
  </p:clrMapOvr>
</p:sld>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56550</Words>
  <Application>WPS 演示</Application>
  <PresentationFormat>Widescreen</PresentationFormat>
  <Paragraphs>1542</Paragraphs>
  <Slides>96</Slides>
  <Notes>22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96</vt:i4>
      </vt:variant>
    </vt:vector>
  </HeadingPairs>
  <TitlesOfParts>
    <vt:vector size="112" baseType="lpstr">
      <vt:lpstr>Arial</vt:lpstr>
      <vt:lpstr>宋体</vt:lpstr>
      <vt:lpstr>Wingdings</vt:lpstr>
      <vt:lpstr>Wingdings 2</vt:lpstr>
      <vt:lpstr>华文行楷</vt:lpstr>
      <vt:lpstr>黑体</vt:lpstr>
      <vt:lpstr>Calibri</vt:lpstr>
      <vt:lpstr>Times New Roman</vt:lpstr>
      <vt:lpstr>Segoe UI Emoji</vt:lpstr>
      <vt:lpstr>Segoe UI</vt:lpstr>
      <vt:lpstr>Courier New</vt:lpstr>
      <vt:lpstr>DeepSeek-CJK-patch</vt:lpstr>
      <vt:lpstr>Segoe Print</vt:lpstr>
      <vt:lpstr>微软雅黑</vt:lpstr>
      <vt:lpstr>Arial Unicode MS</vt:lpstr>
      <vt:lpstr>砖雕艺术</vt:lpstr>
      <vt:lpstr>PowerPoint 演示文稿</vt:lpstr>
      <vt:lpstr>Main Content</vt:lpstr>
      <vt:lpstr>1. Introduction to URLConnection</vt:lpstr>
      <vt:lpstr>The Steps to Use URLConnection Class</vt:lpstr>
      <vt:lpstr>PowerPoint 演示文稿</vt:lpstr>
      <vt:lpstr>Creating a URLConnection Object</vt:lpstr>
      <vt:lpstr>PowerPoint 演示文稿</vt:lpstr>
      <vt:lpstr>PowerPoint 演示文稿</vt:lpstr>
      <vt:lpstr>PowerPoint 演示文稿</vt:lpstr>
      <vt:lpstr>2. Read Data from the Server</vt:lpstr>
      <vt:lpstr>PowerPoint 演示文稿</vt:lpstr>
      <vt:lpstr>PowerPoint 演示文稿</vt:lpstr>
      <vt:lpstr>PowerPoint 演示文稿</vt:lpstr>
      <vt:lpstr>Difference between URL and URLConnection</vt:lpstr>
      <vt:lpstr>Reading HTTP Header</vt:lpstr>
      <vt:lpstr>Methods for obtaining Header Field Information </vt:lpstr>
      <vt:lpstr>PowerPoint 演示文稿</vt:lpstr>
      <vt:lpstr>PowerPoint 演示文稿</vt:lpstr>
      <vt:lpstr>PowerPoint 演示文稿</vt:lpstr>
      <vt:lpstr>PowerPoint 演示文稿</vt:lpstr>
      <vt:lpstr>Example: Access the  Header Info</vt:lpstr>
      <vt:lpstr>Example: Accessing the  Header Info using Convenience Method </vt:lpstr>
      <vt:lpstr>PowerPoint 演示文稿</vt:lpstr>
      <vt:lpstr>Accessing the  Header Info using  getHeaderField() Method</vt:lpstr>
      <vt:lpstr>getHeaderField() method to get entire HTTP response</vt:lpstr>
      <vt:lpstr>Use the Get Any Header Field method to display the entire HTTP request</vt:lpstr>
      <vt:lpstr>Methods for getting arbitrary header fields</vt:lpstr>
      <vt:lpstr>3. Web Caching: Purpose and Mechanisms</vt:lpstr>
      <vt:lpstr>Web Cache</vt:lpstr>
      <vt:lpstr>PowerPoint 演示文稿</vt:lpstr>
      <vt:lpstr>PowerPoint 演示文稿</vt:lpstr>
      <vt:lpstr>Web Cache</vt:lpstr>
      <vt:lpstr>Web Cache</vt:lpstr>
      <vt:lpstr>PowerPoint 演示文稿</vt:lpstr>
      <vt:lpstr>PowerPoint 演示文稿</vt:lpstr>
      <vt:lpstr>Java Web Cache​</vt:lpstr>
      <vt:lpstr>Java Web Cache - CacheRequest Class​</vt:lpstr>
      <vt:lpstr>Custom CacheRequest subclass</vt:lpstr>
      <vt:lpstr>Java Web Cache -- CacheResponse Class​</vt:lpstr>
      <vt:lpstr>Custom CacheResponse subclass</vt:lpstr>
      <vt:lpstr>Custom CacheResponse subclass</vt:lpstr>
      <vt:lpstr>Java Web Cache - ResponseCache Class</vt:lpstr>
      <vt:lpstr>Java Web Cache - ResponseCache Class</vt:lpstr>
      <vt:lpstr>Custom ResponseCache subclass</vt:lpstr>
      <vt:lpstr>Custom ResponseCache subclass</vt:lpstr>
      <vt:lpstr>Custom ResponseCache subclass</vt:lpstr>
      <vt:lpstr>4. Configure URLConnection​</vt:lpstr>
      <vt:lpstr>Protected URL url field</vt:lpstr>
      <vt:lpstr>Protected URL url field</vt:lpstr>
      <vt:lpstr>Protected boolean connected</vt:lpstr>
      <vt:lpstr>Protected boolean allowUserInteraction</vt:lpstr>
      <vt:lpstr>Protected boolean doInput</vt:lpstr>
      <vt:lpstr>Protected boolean doOutput</vt:lpstr>
      <vt:lpstr>Protected boolean ifModifiedSince</vt:lpstr>
      <vt:lpstr>ifModifiedSince Application Example</vt:lpstr>
      <vt:lpstr>ifModifiedSince Application Example</vt:lpstr>
      <vt:lpstr>Protected boolean useCaches</vt:lpstr>
      <vt:lpstr>Configure HTTP client request header information</vt:lpstr>
      <vt:lpstr>Configure HTTP client request header information</vt:lpstr>
      <vt:lpstr>5. Write data to the server</vt:lpstr>
      <vt:lpstr>How to write?</vt:lpstr>
      <vt:lpstr>POST request</vt:lpstr>
      <vt:lpstr>Server Response</vt:lpstr>
      <vt:lpstr>POST request programming example</vt:lpstr>
      <vt:lpstr>POST request programming example</vt:lpstr>
      <vt:lpstr>POST request programming example</vt:lpstr>
      <vt:lpstr>POST request programming example</vt:lpstr>
      <vt:lpstr>POST request programming example</vt:lpstr>
      <vt:lpstr>POST request programming example</vt:lpstr>
      <vt:lpstr>POST request example analysis and testing</vt:lpstr>
      <vt:lpstr>Summary of submitting form data programming</vt:lpstr>
      <vt:lpstr>Guessing MIME media type</vt:lpstr>
      <vt:lpstr>HttpURLConnection Class</vt:lpstr>
      <vt:lpstr>HttpURLConnection and URLConnection</vt:lpstr>
      <vt:lpstr>Request method</vt:lpstr>
      <vt:lpstr>HEAD method</vt:lpstr>
      <vt:lpstr>HEAD method</vt:lpstr>
      <vt:lpstr>DELETE method</vt:lpstr>
      <vt:lpstr>Response to server DELETE</vt:lpstr>
      <vt:lpstr>PUT Method</vt:lpstr>
      <vt:lpstr>OPTIONS method</vt:lpstr>
      <vt:lpstr>TRACE Method</vt:lpstr>
      <vt:lpstr>Disconnect from the server</vt:lpstr>
      <vt:lpstr>Processing the server's response</vt:lpstr>
      <vt:lpstr>Processing the server's response</vt:lpstr>
      <vt:lpstr>Processing the server's response</vt:lpstr>
      <vt:lpstr>Processing the server's response</vt:lpstr>
      <vt:lpstr>Processing the server's response</vt:lpstr>
      <vt:lpstr>Reading the error stream</vt:lpstr>
      <vt:lpstr>Reading the error stream</vt:lpstr>
      <vt:lpstr>Other Reference Resources</vt:lpstr>
      <vt:lpstr>Using HttpURLConnection object to interact with the Internet</vt:lpstr>
      <vt:lpstr>Using the HttpURLConnection object to interact with the Internet</vt:lpstr>
      <vt:lpstr>Using HttpURLConnection object to interact with the Internet</vt:lpstr>
      <vt:lpstr>Summary</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Basker George</dc:creator>
  <cp:lastModifiedBy>杨韩冰</cp:lastModifiedBy>
  <cp:revision>1300</cp:revision>
  <cp:lastPrinted>2113-01-01T00:00:00Z</cp:lastPrinted>
  <dcterms:created xsi:type="dcterms:W3CDTF">2113-01-01T00:00:00Z</dcterms:created>
  <dcterms:modified xsi:type="dcterms:W3CDTF">2025-05-22T17:00:42Z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D071D07369B341899B26ACD6DDE4259D_12</vt:lpwstr>
  </property>
  <property fmtid="{D5CDD505-2E9C-101B-9397-08002B2CF9AE}" pid="4" name="KSOProductBuildVer">
    <vt:lpwstr>2052-12.1.0.20305</vt:lpwstr>
  </property>
</Properties>
</file>