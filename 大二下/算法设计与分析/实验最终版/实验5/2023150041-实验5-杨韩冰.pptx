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76" r:id="rId5"/>
    <p:sldId id="258" r:id="rId6"/>
    <p:sldId id="277" r:id="rId7"/>
    <p:sldId id="259" r:id="rId8"/>
    <p:sldId id="261" r:id="rId10"/>
    <p:sldId id="278" r:id="rId11"/>
    <p:sldId id="279" r:id="rId12"/>
    <p:sldId id="280" r:id="rId13"/>
    <p:sldId id="281" r:id="rId14"/>
    <p:sldId id="283" r:id="rId15"/>
    <p:sldId id="260" r:id="rId16"/>
    <p:sldId id="262" r:id="rId17"/>
    <p:sldId id="285" r:id="rId18"/>
    <p:sldId id="284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66" r:id="rId31"/>
    <p:sldId id="297" r:id="rId32"/>
    <p:sldId id="272" r:id="rId33"/>
  </p:sldIdLst>
  <p:sldSz cx="18288000" cy="10287000"/>
  <p:notesSz cx="6858000" cy="9144000"/>
  <p:embeddedFontLst>
    <p:embeddedFont>
      <p:font typeface="华文琥珀" panose="02010800040101010101" charset="-122"/>
      <p:regular r:id="rId37"/>
    </p:embeddedFont>
    <p:embeddedFont>
      <p:font typeface="方正黑体简体" panose="02000000000000000000" charset="-122"/>
      <p:regular r:id="rId38"/>
    </p:embeddedFont>
    <p:embeddedFont>
      <p:font typeface="Calibri" panose="020F0502020204030204" charset="0"/>
      <p:regular r:id="rId39"/>
      <p:bold r:id="rId40"/>
      <p:italic r:id="rId41"/>
      <p:boldItalic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B7CC"/>
    <a:srgbClr val="D4DFE2"/>
    <a:srgbClr val="EAF1EA"/>
    <a:srgbClr val="C2C3D2"/>
    <a:srgbClr val="D3DDD9"/>
    <a:srgbClr val="F6E4E3"/>
    <a:srgbClr val="FFFCF7"/>
    <a:srgbClr val="FBEF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205"/>
        <p:guide pos="2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font" Target="fonts/font6.fntdata"/><Relationship Id="rId41" Type="http://schemas.openxmlformats.org/officeDocument/2006/relationships/font" Target="fonts/font5.fntdata"/><Relationship Id="rId40" Type="http://schemas.openxmlformats.org/officeDocument/2006/relationships/font" Target="fonts/font4.fntdata"/><Relationship Id="rId4" Type="http://schemas.openxmlformats.org/officeDocument/2006/relationships/slide" Target="slides/slide2.xml"/><Relationship Id="rId39" Type="http://schemas.openxmlformats.org/officeDocument/2006/relationships/font" Target="fonts/font3.fntdata"/><Relationship Id="rId38" Type="http://schemas.openxmlformats.org/officeDocument/2006/relationships/font" Target="fonts/font2.fntdata"/><Relationship Id="rId37" Type="http://schemas.openxmlformats.org/officeDocument/2006/relationships/font" Target="fonts/font1.fntdata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image" Target="../media/image1.GIF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slide" Target="slide1.xml"/><Relationship Id="rId4" Type="http://schemas.openxmlformats.org/officeDocument/2006/relationships/slide" Target="slide14.xml"/><Relationship Id="rId3" Type="http://schemas.openxmlformats.org/officeDocument/2006/relationships/slide" Target="slide4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GIF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GIF"/><Relationship Id="rId1" Type="http://schemas.openxmlformats.org/officeDocument/2006/relationships/image" Target="../media/image7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GI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GIF"/><Relationship Id="rId1" Type="http://schemas.openxmlformats.org/officeDocument/2006/relationships/image" Target="../media/image3.GIF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GIF"/><Relationship Id="rId2" Type="http://schemas.openxmlformats.org/officeDocument/2006/relationships/image" Target="../media/image18.GIF"/><Relationship Id="rId1" Type="http://schemas.openxmlformats.org/officeDocument/2006/relationships/image" Target="../media/image6.G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0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1" Type="http://schemas.openxmlformats.org/officeDocument/2006/relationships/image" Target="../media/image20.GIF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0.GIF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0.GIF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5.png"/><Relationship Id="rId2" Type="http://schemas.openxmlformats.org/officeDocument/2006/relationships/image" Target="../media/image16.png"/><Relationship Id="rId1" Type="http://schemas.openxmlformats.org/officeDocument/2006/relationships/image" Target="../media/image20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GIF"/><Relationship Id="rId1" Type="http://schemas.openxmlformats.org/officeDocument/2006/relationships/image" Target="../media/image13.GI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GIF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7.png"/><Relationship Id="rId2" Type="http://schemas.openxmlformats.org/officeDocument/2006/relationships/image" Target="../media/image26.GIF"/><Relationship Id="rId1" Type="http://schemas.openxmlformats.org/officeDocument/2006/relationships/image" Target="../media/image13.GIF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7.png"/><Relationship Id="rId2" Type="http://schemas.openxmlformats.org/officeDocument/2006/relationships/image" Target="../media/image26.GIF"/><Relationship Id="rId1" Type="http://schemas.openxmlformats.org/officeDocument/2006/relationships/image" Target="../media/image13.GIF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GIF"/><Relationship Id="rId1" Type="http://schemas.openxmlformats.org/officeDocument/2006/relationships/image" Target="../media/image13.GIF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6.GIF"/><Relationship Id="rId1" Type="http://schemas.openxmlformats.org/officeDocument/2006/relationships/image" Target="../media/image13.GIF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6.GIF"/><Relationship Id="rId1" Type="http://schemas.openxmlformats.org/officeDocument/2006/relationships/image" Target="../media/image13.GIF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1.png"/><Relationship Id="rId2" Type="http://schemas.openxmlformats.org/officeDocument/2006/relationships/image" Target="../media/image26.GIF"/><Relationship Id="rId1" Type="http://schemas.openxmlformats.org/officeDocument/2006/relationships/image" Target="../media/image13.GIF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3.png"/><Relationship Id="rId2" Type="http://schemas.openxmlformats.org/officeDocument/2006/relationships/image" Target="../media/image32.GIF"/><Relationship Id="rId1" Type="http://schemas.openxmlformats.org/officeDocument/2006/relationships/image" Target="../media/image2.GIF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4.png"/><Relationship Id="rId3" Type="http://schemas.openxmlformats.org/officeDocument/2006/relationships/image" Target="../media/image16.png"/><Relationship Id="rId2" Type="http://schemas.openxmlformats.org/officeDocument/2006/relationships/image" Target="../media/image32.GIF"/><Relationship Id="rId1" Type="http://schemas.openxmlformats.org/officeDocument/2006/relationships/image" Target="../media/image2.GIF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5.png"/><Relationship Id="rId3" Type="http://schemas.openxmlformats.org/officeDocument/2006/relationships/image" Target="../media/image16.png"/><Relationship Id="rId2" Type="http://schemas.openxmlformats.org/officeDocument/2006/relationships/image" Target="../media/image32.GIF"/><Relationship Id="rId1" Type="http://schemas.openxmlformats.org/officeDocument/2006/relationships/image" Target="../media/image2.GI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GIF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1.png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GIF"/><Relationship Id="rId2" Type="http://schemas.openxmlformats.org/officeDocument/2006/relationships/image" Target="../media/image13.GIF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20.GIF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36.GIF"/><Relationship Id="rId2" Type="http://schemas.openxmlformats.org/officeDocument/2006/relationships/image" Target="../media/image13.GIF"/><Relationship Id="rId1" Type="http://schemas.openxmlformats.org/officeDocument/2006/relationships/image" Target="../media/image20.GIF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32.GIF"/><Relationship Id="rId1" Type="http://schemas.openxmlformats.org/officeDocument/2006/relationships/image" Target="../media/image2.GIF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32.GIF"/><Relationship Id="rId1" Type="http://schemas.openxmlformats.org/officeDocument/2006/relationships/image" Target="../media/image2.GIF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9.GIF"/><Relationship Id="rId3" Type="http://schemas.openxmlformats.org/officeDocument/2006/relationships/image" Target="../media/image26.GIF"/><Relationship Id="rId2" Type="http://schemas.openxmlformats.org/officeDocument/2006/relationships/image" Target="../media/image1.GIF"/><Relationship Id="rId1" Type="http://schemas.openxmlformats.org/officeDocument/2006/relationships/image" Target="../media/image4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10800000">
            <a:off x="6333452" y="-1797179"/>
            <a:ext cx="15735219" cy="13881357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 rot="0">
            <a:off x="3000870" y="4304347"/>
            <a:ext cx="12286260" cy="2995681"/>
            <a:chOff x="-1" y="1799495"/>
            <a:chExt cx="16381679" cy="3994241"/>
          </a:xfrm>
        </p:grpSpPr>
        <p:sp>
          <p:nvSpPr>
            <p:cNvPr id="4" name="TextBox 4"/>
            <p:cNvSpPr txBox="1"/>
            <p:nvPr/>
          </p:nvSpPr>
          <p:spPr>
            <a:xfrm>
              <a:off x="-1" y="1799495"/>
              <a:ext cx="16381678" cy="22377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90"/>
                </a:lnSpc>
              </a:pPr>
              <a:r>
                <a:rPr lang="en-US" sz="9900">
                  <a:solidFill>
                    <a:srgbClr val="2B2B2B"/>
                  </a:solidFill>
                  <a:latin typeface="华文琥珀" panose="02010800040101010101" charset="-122"/>
                  <a:ea typeface="华文琥珀" panose="02010800040101010101" charset="-122"/>
                  <a:cs typeface="华文琥珀" panose="02010800040101010101" charset="-122"/>
                  <a:sym typeface="Hertical Rough"/>
                </a:rPr>
                <a:t>实验5 图论-桥问题</a:t>
              </a:r>
              <a:endParaRPr lang="en-US" sz="9900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Hertical Rough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5074916"/>
              <a:ext cx="16381678" cy="7188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5"/>
                </a:lnSpc>
                <a:spcBef>
                  <a:spcPct val="0"/>
                </a:spcBef>
              </a:pPr>
              <a:r>
                <a:rPr lang="zh-CN" altLang="en-US" sz="3005" b="1">
                  <a:solidFill>
                    <a:srgbClr val="2B2B2B"/>
                  </a:solidFill>
                  <a:latin typeface="华文琥珀" panose="02010800040101010101" charset="-122"/>
                  <a:ea typeface="华文琥珀" panose="02010800040101010101" charset="-122"/>
                  <a:cs typeface="华文琥珀" panose="02010800040101010101" charset="-122"/>
                  <a:sym typeface="Agrandir" panose="00000500000000000000"/>
                </a:rPr>
                <a:t>杨韩冰</a:t>
              </a:r>
              <a:r>
                <a:rPr lang="en-US" altLang="zh-CN" sz="3005" b="1">
                  <a:solidFill>
                    <a:srgbClr val="2B2B2B"/>
                  </a:solidFill>
                  <a:latin typeface="华文琥珀" panose="02010800040101010101" charset="-122"/>
                  <a:ea typeface="华文琥珀" panose="02010800040101010101" charset="-122"/>
                  <a:cs typeface="华文琥珀" panose="02010800040101010101" charset="-122"/>
                  <a:sym typeface="Agrandir" panose="00000500000000000000"/>
                </a:rPr>
                <a:t>      2023150041</a:t>
              </a:r>
              <a:endParaRPr lang="en-US" altLang="zh-CN" sz="3005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Agrandir" panose="00000500000000000000"/>
              </a:endParaRPr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-7199120">
            <a:off x="-2896988" y="-1002021"/>
            <a:ext cx="5793977" cy="58954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0">
            <a:off x="1524000" y="4076700"/>
            <a:ext cx="5044440" cy="2280920"/>
            <a:chOff x="-249954" y="-1422098"/>
            <a:chExt cx="3460767" cy="1251930"/>
          </a:xfrm>
        </p:grpSpPr>
        <p:sp>
          <p:nvSpPr>
            <p:cNvPr id="4" name="Freeform 4"/>
            <p:cNvSpPr/>
            <p:nvPr/>
          </p:nvSpPr>
          <p:spPr>
            <a:xfrm>
              <a:off x="-249954" y="-1422098"/>
              <a:ext cx="3460767" cy="1251930"/>
            </a:xfrm>
            <a:custGeom>
              <a:avLst/>
              <a:gdLst/>
              <a:ahLst/>
              <a:cxnLst/>
              <a:rect l="l" t="t" r="r" b="b"/>
              <a:pathLst>
                <a:path w="3460767" h="1251930">
                  <a:moveTo>
                    <a:pt x="3336307" y="1251930"/>
                  </a:moveTo>
                  <a:lnTo>
                    <a:pt x="124460" y="1251930"/>
                  </a:lnTo>
                  <a:cubicBezTo>
                    <a:pt x="55880" y="1251930"/>
                    <a:pt x="0" y="1196050"/>
                    <a:pt x="0" y="112747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336307" y="0"/>
                  </a:lnTo>
                  <a:cubicBezTo>
                    <a:pt x="3404887" y="0"/>
                    <a:pt x="3460767" y="55880"/>
                    <a:pt x="3460767" y="124460"/>
                  </a:cubicBezTo>
                  <a:lnTo>
                    <a:pt x="3460767" y="1127470"/>
                  </a:lnTo>
                  <a:cubicBezTo>
                    <a:pt x="3460767" y="1196050"/>
                    <a:pt x="3404887" y="1251930"/>
                    <a:pt x="3336307" y="1251930"/>
                  </a:cubicBezTo>
                  <a:close/>
                </a:path>
              </a:pathLst>
            </a:custGeom>
            <a:solidFill>
              <a:srgbClr val="FFFCF7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2819400" y="4686300"/>
            <a:ext cx="3677920" cy="1076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 u="none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目录</a:t>
            </a:r>
            <a:endParaRPr lang="zh-CN" altLang="en-US" sz="7000" b="1" u="none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9809000" y="2776259"/>
            <a:ext cx="6907145" cy="868440"/>
            <a:chOff x="0" y="0"/>
            <a:chExt cx="9209527" cy="11579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1634311" y="147159"/>
              <a:ext cx="7575216" cy="717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zh-CN" altLang="en-US" sz="3000" b="1">
                  <a:solidFill>
                    <a:srgbClr val="2B2B2B"/>
                  </a:solidFill>
                  <a:latin typeface="Agrandir" panose="00000500000000000000"/>
                  <a:ea typeface="宋体" panose="02010600030101010101" pitchFamily="2" charset="-122"/>
                  <a:cs typeface="Agrandir" panose="00000500000000000000"/>
                  <a:sym typeface="Agrandir" panose="00000500000000000000"/>
                  <a:hlinkClick r:id="rId3" action="ppaction://hlinksldjump"/>
                </a:rPr>
                <a:t>问题分析</a:t>
              </a:r>
              <a:r>
                <a:rPr lang="en-US" sz="3000" b="1">
                  <a:solidFill>
                    <a:srgbClr val="2B2B2B"/>
                  </a:solidFill>
                  <a:latin typeface="Agrandir" panose="00000500000000000000"/>
                  <a:ea typeface="Agrandir" panose="00000500000000000000"/>
                  <a:cs typeface="Agrandir" panose="00000500000000000000"/>
                  <a:sym typeface="Agrandir" panose="00000500000000000000"/>
                  <a:hlinkClick r:id="rId3" action="ppaction://hlinksldjump"/>
                </a:rPr>
                <a:t> </a:t>
              </a:r>
              <a:endParaRPr lang="en-US" sz="3000" b="1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  <a:hlinkClick r:id="rId3" action="ppaction://hlinksldjump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1305" y="370916"/>
              <a:ext cx="421625" cy="349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2B2B2B"/>
                  </a:solidFill>
                  <a:latin typeface="Agrandir Bold" panose="00000800000000000000"/>
                  <a:ea typeface="Agrandir Bold" panose="00000800000000000000"/>
                  <a:cs typeface="Agrandir Bold" panose="00000800000000000000"/>
                  <a:sym typeface="Agrandir Bold" panose="00000800000000000000"/>
                </a:rPr>
                <a:t>1</a:t>
              </a:r>
              <a:endParaRPr lang="en-US" sz="1400" b="1">
                <a:solidFill>
                  <a:srgbClr val="2B2B2B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9809000" y="4064940"/>
            <a:ext cx="6907145" cy="868440"/>
            <a:chOff x="0" y="0"/>
            <a:chExt cx="9209527" cy="1157920"/>
          </a:xfrm>
        </p:grpSpPr>
        <p:sp>
          <p:nvSpPr>
            <p:cNvPr id="17" name="TextBox 17"/>
            <p:cNvSpPr txBox="1"/>
            <p:nvPr/>
          </p:nvSpPr>
          <p:spPr>
            <a:xfrm>
              <a:off x="1634311" y="147159"/>
              <a:ext cx="7575216" cy="717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zh-CN" altLang="en-US" sz="3000" b="1">
                  <a:solidFill>
                    <a:srgbClr val="2B2B2B"/>
                  </a:solidFill>
                  <a:latin typeface="Agrandir" panose="00000500000000000000"/>
                  <a:ea typeface="宋体" panose="02010600030101010101" pitchFamily="2" charset="-122"/>
                  <a:cs typeface="Agrandir" panose="00000500000000000000"/>
                  <a:sym typeface="Agrandir" panose="00000500000000000000"/>
                  <a:hlinkClick r:id="rId4" action="ppaction://hlinksldjump"/>
                </a:rPr>
                <a:t>基准算法</a:t>
              </a:r>
              <a:r>
                <a:rPr lang="en-US" sz="3000" b="1">
                  <a:solidFill>
                    <a:srgbClr val="2B2B2B"/>
                  </a:solidFill>
                  <a:latin typeface="Agrandir" panose="00000500000000000000"/>
                  <a:ea typeface="Agrandir" panose="00000500000000000000"/>
                  <a:cs typeface="Agrandir" panose="00000500000000000000"/>
                  <a:sym typeface="Agrandir" panose="00000500000000000000"/>
                  <a:hlinkClick r:id="rId4" action="ppaction://hlinksldjump"/>
                </a:rPr>
                <a:t> </a:t>
              </a:r>
              <a:endParaRPr lang="en-US" sz="3000" b="1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  <a:hlinkClick r:id="rId4" action="ppaction://hlinksldjump"/>
              </a:endParaRPr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351305" y="370916"/>
              <a:ext cx="421625" cy="349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2B2B2B"/>
                  </a:solidFill>
                  <a:latin typeface="Agrandir Bold" panose="00000800000000000000"/>
                  <a:ea typeface="Agrandir Bold" panose="00000800000000000000"/>
                  <a:cs typeface="Agrandir Bold" panose="00000800000000000000"/>
                  <a:sym typeface="Agrandir Bold" panose="00000800000000000000"/>
                </a:rPr>
                <a:t>2</a:t>
              </a:r>
              <a:endParaRPr lang="en-US" sz="1400" b="1">
                <a:solidFill>
                  <a:srgbClr val="2B2B2B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9809000" y="5353620"/>
            <a:ext cx="6907145" cy="868440"/>
            <a:chOff x="0" y="0"/>
            <a:chExt cx="9209527" cy="1157920"/>
          </a:xfrm>
        </p:grpSpPr>
        <p:sp>
          <p:nvSpPr>
            <p:cNvPr id="21" name="TextBox 21"/>
            <p:cNvSpPr txBox="1"/>
            <p:nvPr/>
          </p:nvSpPr>
          <p:spPr>
            <a:xfrm>
              <a:off x="1634311" y="147159"/>
              <a:ext cx="7575216" cy="717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zh-CN" altLang="en-US" sz="3000" b="1">
                  <a:solidFill>
                    <a:srgbClr val="2B2B2B"/>
                  </a:solidFill>
                  <a:latin typeface="Agrandir" panose="00000500000000000000"/>
                  <a:ea typeface="宋体" panose="02010600030101010101" pitchFamily="2" charset="-122"/>
                  <a:cs typeface="Agrandir" panose="00000500000000000000"/>
                  <a:sym typeface="Agrandir" panose="00000500000000000000"/>
                  <a:hlinkClick r:id="rId5" action="ppaction://hlinksldjump"/>
                </a:rPr>
                <a:t>并查集算法</a:t>
              </a:r>
              <a:r>
                <a:rPr lang="en-US" sz="3000" b="1">
                  <a:solidFill>
                    <a:srgbClr val="2B2B2B"/>
                  </a:solidFill>
                  <a:latin typeface="Agrandir" panose="00000500000000000000"/>
                  <a:ea typeface="Agrandir" panose="00000500000000000000"/>
                  <a:cs typeface="Agrandir" panose="00000500000000000000"/>
                  <a:sym typeface="Agrandir" panose="00000500000000000000"/>
                  <a:hlinkClick r:id="rId5" action="ppaction://hlinksldjump"/>
                </a:rPr>
                <a:t> </a:t>
              </a:r>
              <a:endParaRPr lang="en-US" sz="3000" b="1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  <a:hlinkClick r:id="rId5" action="ppaction://hlinksldjump"/>
              </a:endParaRPr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351305" y="370916"/>
              <a:ext cx="421625" cy="349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2B2B2B"/>
                  </a:solidFill>
                  <a:latin typeface="Agrandir Bold" panose="00000800000000000000"/>
                  <a:ea typeface="Agrandir Bold" panose="00000800000000000000"/>
                  <a:cs typeface="Agrandir Bold" panose="00000800000000000000"/>
                  <a:sym typeface="Agrandir Bold" panose="00000800000000000000"/>
                </a:rPr>
                <a:t>3</a:t>
              </a:r>
              <a:endParaRPr lang="en-US" sz="1400" b="1">
                <a:solidFill>
                  <a:srgbClr val="2B2B2B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 rot="0">
            <a:off x="9809000" y="6642301"/>
            <a:ext cx="6907145" cy="868440"/>
            <a:chOff x="0" y="0"/>
            <a:chExt cx="9209527" cy="1157920"/>
          </a:xfrm>
        </p:grpSpPr>
        <p:sp>
          <p:nvSpPr>
            <p:cNvPr id="25" name="TextBox 25"/>
            <p:cNvSpPr txBox="1"/>
            <p:nvPr/>
          </p:nvSpPr>
          <p:spPr>
            <a:xfrm>
              <a:off x="1634311" y="147159"/>
              <a:ext cx="7575216" cy="717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zh-CN" altLang="en-US" sz="3000" b="1">
                  <a:solidFill>
                    <a:srgbClr val="2B2B2B"/>
                  </a:solidFill>
                  <a:latin typeface="Agrandir" panose="00000500000000000000"/>
                  <a:ea typeface="宋体" panose="02010600030101010101" pitchFamily="2" charset="-122"/>
                  <a:cs typeface="Agrandir" panose="00000500000000000000"/>
                  <a:sym typeface="Agrandir" panose="00000500000000000000"/>
                  <a:hlinkClick r:id="rId5" action="ppaction://hlinksldjump"/>
                </a:rPr>
                <a:t>算法优化</a:t>
              </a:r>
              <a:endParaRPr lang="zh-CN" altLang="en-US" sz="3000" b="1">
                <a:solidFill>
                  <a:srgbClr val="2B2B2B"/>
                </a:solidFill>
                <a:latin typeface="Agrandir" panose="00000500000000000000"/>
                <a:ea typeface="宋体" panose="02010600030101010101" pitchFamily="2" charset="-122"/>
                <a:cs typeface="Agrandir" panose="00000500000000000000"/>
                <a:sym typeface="Agrandir" panose="00000500000000000000"/>
                <a:hlinkClick r:id="rId5" action="ppaction://hlinksldjump"/>
              </a:endParaRPr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351305" y="370916"/>
              <a:ext cx="421625" cy="349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2B2B2B"/>
                  </a:solidFill>
                  <a:latin typeface="Agrandir Bold" panose="00000800000000000000"/>
                  <a:ea typeface="Agrandir Bold" panose="00000800000000000000"/>
                  <a:cs typeface="Agrandir Bold" panose="00000800000000000000"/>
                  <a:sym typeface="Agrandir Bold" panose="00000800000000000000"/>
                </a:rPr>
                <a:t>4</a:t>
              </a:r>
              <a:endParaRPr lang="en-US" sz="1400" b="1">
                <a:solidFill>
                  <a:srgbClr val="2B2B2B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endParaRPr>
            </a:p>
          </p:txBody>
        </p:sp>
      </p:grpSp>
      <p:grpSp>
        <p:nvGrpSpPr>
          <p:cNvPr id="28" name="Group 24"/>
          <p:cNvGrpSpPr/>
          <p:nvPr/>
        </p:nvGrpSpPr>
        <p:grpSpPr>
          <a:xfrm rot="0">
            <a:off x="9809000" y="7928811"/>
            <a:ext cx="6907145" cy="868440"/>
            <a:chOff x="0" y="0"/>
            <a:chExt cx="9209527" cy="1157920"/>
          </a:xfrm>
        </p:grpSpPr>
        <p:sp>
          <p:nvSpPr>
            <p:cNvPr id="29" name="TextBox 25"/>
            <p:cNvSpPr txBox="1"/>
            <p:nvPr/>
          </p:nvSpPr>
          <p:spPr>
            <a:xfrm>
              <a:off x="1634311" y="147159"/>
              <a:ext cx="7575216" cy="717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algn="l">
                <a:lnSpc>
                  <a:spcPts val="4200"/>
                </a:lnSpc>
              </a:pPr>
              <a:r>
                <a:rPr lang="zh-CN" altLang="en-US" sz="3000" b="1">
                  <a:solidFill>
                    <a:srgbClr val="2B2B2B"/>
                  </a:solidFill>
                  <a:latin typeface="Agrandir" panose="00000500000000000000"/>
                  <a:ea typeface="宋体" panose="02010600030101010101" pitchFamily="2" charset="-122"/>
                  <a:cs typeface="Agrandir" panose="00000500000000000000"/>
                  <a:sym typeface="Agrandir" panose="00000500000000000000"/>
                  <a:hlinkClick r:id="rId5" action="ppaction://hlinksldjump"/>
                </a:rPr>
                <a:t>结果分析</a:t>
              </a:r>
              <a:endParaRPr lang="zh-CN" altLang="en-US" sz="3000" b="1">
                <a:solidFill>
                  <a:srgbClr val="2B2B2B"/>
                </a:solidFill>
                <a:latin typeface="Agrandir" panose="00000500000000000000"/>
                <a:ea typeface="宋体" panose="02010600030101010101" pitchFamily="2" charset="-122"/>
                <a:cs typeface="Agrandir" panose="00000500000000000000"/>
                <a:sym typeface="Agrandir" panose="00000500000000000000"/>
                <a:hlinkClick r:id="rId5" action="ppaction://hlinksldjump"/>
              </a:endParaRPr>
            </a:p>
          </p:txBody>
        </p:sp>
        <p:sp>
          <p:nvSpPr>
            <p:cNvPr id="30" name="Freeform 26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1" name="TextBox 27"/>
            <p:cNvSpPr txBox="1"/>
            <p:nvPr/>
          </p:nvSpPr>
          <p:spPr>
            <a:xfrm>
              <a:off x="351305" y="370916"/>
              <a:ext cx="421625" cy="3344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2B2B2B"/>
                  </a:solidFill>
                  <a:latin typeface="Agrandir Bold" panose="00000800000000000000"/>
                  <a:ea typeface="Agrandir Bold" panose="00000800000000000000"/>
                  <a:cs typeface="Agrandir Bold" panose="00000800000000000000"/>
                  <a:sym typeface="Agrandir Bold" panose="00000800000000000000"/>
                </a:rPr>
                <a:t>5</a:t>
              </a:r>
              <a:endParaRPr lang="en-US" sz="1400" b="1">
                <a:solidFill>
                  <a:srgbClr val="2B2B2B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2386853">
            <a:off x="-3305272" y="-1267467"/>
            <a:ext cx="14322769" cy="1323015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049000" y="1919923"/>
            <a:ext cx="6866890" cy="6447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1300" b="1">
                <a:solidFill>
                  <a:srgbClr val="F6E4E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01</a:t>
            </a:r>
            <a:endParaRPr lang="en-US" altLang="zh-CN" sz="41300" b="1">
              <a:solidFill>
                <a:srgbClr val="F6E4E3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515600" y="4389120"/>
            <a:ext cx="5867400" cy="15087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6600" b="1">
                <a:solidFill>
                  <a:schemeClr val="tx1">
                    <a:lumMod val="50000"/>
                    <a:lumOff val="50000"/>
                  </a:schemeClr>
                </a:solidFill>
                <a:latin typeface="华文琥珀" panose="02010800040101010101" charset="-122"/>
                <a:ea typeface="华文琥珀" panose="02010800040101010101" charset="-122"/>
              </a:rPr>
              <a:t>问题分析</a:t>
            </a:r>
            <a:endParaRPr lang="zh-CN" altLang="en-US" sz="6600" b="1">
              <a:solidFill>
                <a:schemeClr val="tx1">
                  <a:lumMod val="50000"/>
                  <a:lumOff val="50000"/>
                </a:schemeClr>
              </a:solidFill>
              <a:latin typeface="华文琥珀" panose="02010800040101010101" charset="-122"/>
              <a:ea typeface="华文琥珀" panose="020108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3203220">
            <a:off x="10008863" y="-265970"/>
            <a:ext cx="11814494" cy="12461864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-5741405">
            <a:off x="8316155" y="8504485"/>
            <a:ext cx="4865516" cy="616878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问题分析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19200" y="2095500"/>
            <a:ext cx="107861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实验要求找出一个</a:t>
            </a:r>
            <a:r>
              <a:rPr lang="zh-CN" altLang="en-US" sz="2400" b="1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无向图</a:t>
            </a:r>
            <a:r>
              <a:rPr lang="en-US" altLang="zh-CN" sz="2400" b="1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G=(V,E)</a:t>
            </a:r>
            <a:r>
              <a:rPr lang="zh-CN" altLang="en-US" sz="2400" b="1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（不一定连通）中的所有</a:t>
            </a:r>
            <a:r>
              <a:rPr lang="en-US" altLang="zh-CN" sz="2400" b="1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“</a:t>
            </a:r>
            <a:r>
              <a:rPr lang="zh-CN" altLang="en-US" sz="2400" b="1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桥</a:t>
            </a:r>
            <a:r>
              <a:rPr lang="en-US" altLang="zh-CN" sz="2400" b="1">
                <a:latin typeface="方正黑体简体" panose="02000000000000000000" charset="-122"/>
                <a:ea typeface="方正黑体简体" panose="02000000000000000000" charset="-122"/>
                <a:cs typeface="方正黑体简体" panose="02000000000000000000" charset="-122"/>
              </a:rPr>
              <a:t>”</a:t>
            </a:r>
            <a:endParaRPr lang="en-US" altLang="zh-CN" sz="2400" b="1">
              <a:latin typeface="方正黑体简体" panose="02000000000000000000" charset="-122"/>
              <a:ea typeface="方正黑体简体" panose="02000000000000000000" charset="-122"/>
              <a:cs typeface="方正黑体简体" panose="020000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219200" y="2994660"/>
            <a:ext cx="9904730" cy="1191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 b="1"/>
              <a:t>什么是</a:t>
            </a:r>
            <a:r>
              <a:rPr lang="en-US" altLang="zh-CN" sz="2400" b="1"/>
              <a:t>“</a:t>
            </a:r>
            <a:r>
              <a:rPr lang="zh-CN" altLang="en-US" sz="2400" b="1"/>
              <a:t>桥</a:t>
            </a:r>
            <a:r>
              <a:rPr lang="en-US" altLang="zh-CN" sz="2400" b="1"/>
              <a:t>”</a:t>
            </a:r>
            <a:r>
              <a:rPr lang="zh-CN" altLang="en-US" sz="2400" b="1"/>
              <a:t>？</a:t>
            </a:r>
            <a:endParaRPr lang="zh-CN" altLang="en-US" sz="2400" b="1"/>
          </a:p>
          <a:p>
            <a:pPr indent="0" fontAlgn="auto">
              <a:lnSpc>
                <a:spcPct val="150000"/>
              </a:lnSpc>
            </a:pPr>
            <a:r>
              <a:rPr lang="zh-CN" altLang="en-US" sz="2400"/>
              <a:t>一条边被称为</a:t>
            </a:r>
            <a:r>
              <a:rPr lang="en-US" altLang="zh-CN" sz="2400"/>
              <a:t>“</a:t>
            </a:r>
            <a:r>
              <a:rPr lang="zh-CN" altLang="en-US" sz="2400"/>
              <a:t>桥</a:t>
            </a:r>
            <a:r>
              <a:rPr lang="en-US" altLang="zh-CN" sz="2400"/>
              <a:t>”</a:t>
            </a:r>
            <a:r>
              <a:rPr lang="zh-CN" altLang="en-US" sz="2400"/>
              <a:t>代表这条边一旦被删除，这张图的连通块数量会增加</a:t>
            </a:r>
            <a:endParaRPr lang="zh-CN" altLang="en-US" sz="2400"/>
          </a:p>
        </p:txBody>
      </p:sp>
      <p:pic>
        <p:nvPicPr>
          <p:cNvPr id="4" name="图片 15" descr="https://upload.wikimedia.org/wikipedia/commons/thumb/b/bf/Undirected.svg/125px-Undirected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4991100"/>
            <a:ext cx="1866900" cy="16878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-2147482597" descr="https://upload.wikimedia.org/wikipedia/commons/thumb/d/df/Graph_cut_edges.svg/200px-Graph_cut_edges.s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4457700"/>
            <a:ext cx="2643505" cy="26435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-2147482604" descr="https://upload.wikimedia.org/wikipedia/commons/thumb/d/df/Graph_cut_edges.svg/200px-Graph_cut_edges.sv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6970" y="4401185"/>
            <a:ext cx="2804795" cy="28047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-2147482525" descr="https://upload.wikimedia.org/wikipedia/commons/thumb/b/bf/Undirected.svg/125px-Undirected.sv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3800" y="4991100"/>
            <a:ext cx="1772285" cy="16027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文本框 13"/>
          <p:cNvSpPr txBox="1"/>
          <p:nvPr/>
        </p:nvSpPr>
        <p:spPr>
          <a:xfrm>
            <a:off x="2133600" y="7048500"/>
            <a:ext cx="27565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没有桥的无向连通图</a:t>
            </a:r>
            <a:endParaRPr lang="zh-CN" altLang="en-US" sz="2000"/>
          </a:p>
        </p:txBody>
      </p:sp>
      <p:sp>
        <p:nvSpPr>
          <p:cNvPr id="15" name="右箭头 14"/>
          <p:cNvSpPr/>
          <p:nvPr/>
        </p:nvSpPr>
        <p:spPr>
          <a:xfrm>
            <a:off x="2971800" y="5753100"/>
            <a:ext cx="914400" cy="381000"/>
          </a:xfrm>
          <a:prstGeom prst="rightArrow">
            <a:avLst/>
          </a:prstGeom>
          <a:solidFill>
            <a:srgbClr val="D3DDD9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9132570" y="5605780"/>
            <a:ext cx="914400" cy="342265"/>
          </a:xfrm>
          <a:prstGeom prst="rightArrow">
            <a:avLst/>
          </a:prstGeom>
          <a:solidFill>
            <a:srgbClr val="D3DDD9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934200" y="7205980"/>
            <a:ext cx="5932805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16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个顶点和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6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个桥的图（桥以红色线段标示）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连通分量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 4--&gt;5</a:t>
            </a:r>
            <a:endParaRPr lang="en-US" altLang="zh-CN" sz="20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 animBg="1"/>
      <p:bldP spid="16" grpId="0" animBg="1"/>
      <p:bldP spid="17" grpId="0"/>
      <p:bldP spid="10" grpId="1"/>
      <p:bldP spid="12" grpId="1"/>
      <p:bldP spid="13" grpId="1"/>
      <p:bldP spid="15" grpId="1" animBg="1"/>
      <p:bldP spid="14" grpId="1"/>
      <p:bldP spid="16" grpId="1" animBg="1"/>
      <p:bldP spid="1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2386853">
            <a:off x="-3305272" y="-1267467"/>
            <a:ext cx="14322769" cy="1323015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049000" y="1919923"/>
            <a:ext cx="6866890" cy="6447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1300" b="1">
                <a:solidFill>
                  <a:srgbClr val="F6E4E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02</a:t>
            </a:r>
            <a:endParaRPr lang="en-US" altLang="zh-CN" sz="41300" b="1">
              <a:solidFill>
                <a:srgbClr val="F6E4E3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515600" y="4389120"/>
            <a:ext cx="5867400" cy="15087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6600" b="1">
                <a:solidFill>
                  <a:schemeClr val="tx1">
                    <a:lumMod val="50000"/>
                    <a:lumOff val="50000"/>
                  </a:schemeClr>
                </a:solidFill>
                <a:latin typeface="华文琥珀" panose="02010800040101010101" charset="-122"/>
                <a:ea typeface="华文琥珀" panose="02010800040101010101" charset="-122"/>
              </a:rPr>
              <a:t>基准算法</a:t>
            </a:r>
            <a:endParaRPr lang="zh-CN" altLang="en-US" sz="6600" b="1">
              <a:solidFill>
                <a:schemeClr val="tx1">
                  <a:lumMod val="50000"/>
                  <a:lumOff val="50000"/>
                </a:schemeClr>
              </a:solidFill>
              <a:latin typeface="华文琥珀" panose="02010800040101010101" charset="-122"/>
              <a:ea typeface="华文琥珀" panose="0201080004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基准算法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19200" y="2019300"/>
            <a:ext cx="911415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b="1">
                <a:latin typeface="+mn-ea"/>
                <a:cs typeface="+mn-ea"/>
                <a:sym typeface="+mn-ea"/>
              </a:rPr>
              <a:t>算法思路：</a:t>
            </a:r>
            <a:endParaRPr lang="en-US" altLang="zh-CN" sz="2000" b="1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+mn-ea"/>
                <a:cs typeface="+mn-ea"/>
              </a:rPr>
              <a:t>“</a:t>
            </a:r>
            <a:r>
              <a:rPr lang="zh-CN" altLang="en-US" sz="2000">
                <a:latin typeface="+mn-ea"/>
                <a:cs typeface="+mn-ea"/>
              </a:rPr>
              <a:t>桥</a:t>
            </a:r>
            <a:r>
              <a:rPr lang="en-US" altLang="zh-CN" sz="2000">
                <a:latin typeface="+mn-ea"/>
                <a:cs typeface="+mn-ea"/>
              </a:rPr>
              <a:t>”</a:t>
            </a:r>
            <a:r>
              <a:rPr lang="zh-CN" altLang="en-US" sz="2000">
                <a:latin typeface="+mn-ea"/>
                <a:cs typeface="+mn-ea"/>
              </a:rPr>
              <a:t>的关键在于改变了图的连通性。</a:t>
            </a:r>
            <a:endParaRPr lang="zh-CN" altLang="en-US" sz="2000">
              <a:latin typeface="+mn-ea"/>
              <a:cs typeface="+mn-ea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+mn-ea"/>
                <a:cs typeface="+mn-ea"/>
              </a:rPr>
              <a:t>遍历每条边</a:t>
            </a:r>
            <a:r>
              <a:rPr lang="en-US" altLang="zh-CN" sz="2000">
                <a:latin typeface="+mn-ea"/>
                <a:cs typeface="+mn-ea"/>
              </a:rPr>
              <a:t> (u, v)</a:t>
            </a:r>
            <a:r>
              <a:rPr lang="zh-CN" altLang="en-US" sz="2000">
                <a:latin typeface="+mn-ea"/>
                <a:cs typeface="+mn-ea"/>
              </a:rPr>
              <a:t>，在不使用该边的前提下，使用</a:t>
            </a:r>
            <a:r>
              <a:rPr lang="en-US" altLang="zh-CN" sz="2000">
                <a:latin typeface="+mn-ea"/>
                <a:cs typeface="+mn-ea"/>
              </a:rPr>
              <a:t> BFS </a:t>
            </a:r>
            <a:r>
              <a:rPr lang="zh-CN" altLang="en-US" sz="2000">
                <a:latin typeface="+mn-ea"/>
                <a:cs typeface="+mn-ea"/>
              </a:rPr>
              <a:t>从</a:t>
            </a:r>
            <a:r>
              <a:rPr lang="en-US" altLang="zh-CN" sz="2000">
                <a:latin typeface="+mn-ea"/>
                <a:cs typeface="+mn-ea"/>
              </a:rPr>
              <a:t> u </a:t>
            </a:r>
            <a:r>
              <a:rPr lang="zh-CN" altLang="en-US" sz="2000">
                <a:latin typeface="+mn-ea"/>
                <a:cs typeface="+mn-ea"/>
              </a:rPr>
              <a:t>出发尝试到达</a:t>
            </a:r>
            <a:r>
              <a:rPr lang="en-US" altLang="zh-CN" sz="2000">
                <a:latin typeface="+mn-ea"/>
                <a:cs typeface="+mn-ea"/>
              </a:rPr>
              <a:t> v</a:t>
            </a:r>
            <a:r>
              <a:rPr lang="zh-CN" altLang="en-US" sz="2000">
                <a:latin typeface="+mn-ea"/>
                <a:cs typeface="+mn-ea"/>
              </a:rPr>
              <a:t>；</a:t>
            </a:r>
            <a:endParaRPr lang="zh-CN" altLang="en-US" sz="2000">
              <a:latin typeface="+mn-ea"/>
              <a:cs typeface="+mn-ea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+mn-ea"/>
                <a:cs typeface="+mn-ea"/>
              </a:rPr>
              <a:t>如果在跳过当前边的条件下，</a:t>
            </a:r>
            <a:r>
              <a:rPr lang="en-US" altLang="zh-CN" sz="2000">
                <a:latin typeface="+mn-ea"/>
                <a:cs typeface="+mn-ea"/>
              </a:rPr>
              <a:t>u </a:t>
            </a:r>
            <a:r>
              <a:rPr lang="zh-CN" altLang="en-US" sz="2000">
                <a:latin typeface="+mn-ea"/>
                <a:cs typeface="+mn-ea"/>
              </a:rPr>
              <a:t>无法访问到</a:t>
            </a:r>
            <a:r>
              <a:rPr lang="en-US" altLang="zh-CN" sz="2000">
                <a:latin typeface="+mn-ea"/>
                <a:cs typeface="+mn-ea"/>
              </a:rPr>
              <a:t> v</a:t>
            </a:r>
            <a:r>
              <a:rPr lang="zh-CN" altLang="en-US" sz="2000">
                <a:latin typeface="+mn-ea"/>
                <a:cs typeface="+mn-ea"/>
              </a:rPr>
              <a:t>，说明这条边的删除断开了它们之间的唯一路径；</a:t>
            </a:r>
            <a:endParaRPr lang="zh-CN" altLang="en-US" sz="2000">
              <a:latin typeface="+mn-ea"/>
              <a:cs typeface="+mn-ea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+mn-ea"/>
                <a:cs typeface="+mn-ea"/>
              </a:rPr>
              <a:t>据此判断该边为</a:t>
            </a:r>
            <a:r>
              <a:rPr lang="en-US" altLang="zh-CN" sz="2000">
                <a:latin typeface="+mn-ea"/>
                <a:cs typeface="+mn-ea"/>
              </a:rPr>
              <a:t>“</a:t>
            </a:r>
            <a:r>
              <a:rPr lang="zh-CN" altLang="en-US" sz="2000">
                <a:latin typeface="+mn-ea"/>
                <a:cs typeface="+mn-ea"/>
              </a:rPr>
              <a:t>桥</a:t>
            </a:r>
            <a:r>
              <a:rPr lang="en-US" altLang="zh-CN" sz="2000">
                <a:latin typeface="+mn-ea"/>
                <a:cs typeface="+mn-ea"/>
              </a:rPr>
              <a:t>”</a:t>
            </a:r>
            <a:r>
              <a:rPr lang="zh-CN" altLang="en-US" sz="2000">
                <a:latin typeface="+mn-ea"/>
                <a:cs typeface="+mn-ea"/>
              </a:rPr>
              <a:t>。</a:t>
            </a:r>
            <a:endParaRPr lang="zh-CN" altLang="en-US" sz="2000">
              <a:latin typeface="+mn-ea"/>
              <a:cs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19200" y="5600700"/>
            <a:ext cx="16141065" cy="4077335"/>
          </a:xfrm>
          <a:prstGeom prst="rect">
            <a:avLst/>
          </a:prstGeom>
          <a:solidFill>
            <a:schemeClr val="bg1"/>
          </a:solidFill>
          <a:ln>
            <a:solidFill>
              <a:srgbClr val="C2C3D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暂时删除边（</a:t>
            </a:r>
            <a:r>
              <a:rPr lang="en-US" altLang="zh-CN"/>
              <a:t>5,9</a:t>
            </a:r>
            <a:r>
              <a:rPr lang="zh-CN" altLang="en-US"/>
              <a:t>）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6057900"/>
            <a:ext cx="2684780" cy="24345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-21474825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5946140"/>
            <a:ext cx="3113405" cy="254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文本框 10"/>
          <p:cNvSpPr txBox="1"/>
          <p:nvPr/>
        </p:nvSpPr>
        <p:spPr>
          <a:xfrm>
            <a:off x="2057400" y="8636000"/>
            <a:ext cx="2141855" cy="36830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暂时删除边（</a:t>
            </a:r>
            <a:r>
              <a:rPr lang="en-US" altLang="zh-CN">
                <a:latin typeface="Times New Roman" panose="02020603050405020304"/>
                <a:ea typeface="Times New Roman" panose="02020603050405020304"/>
              </a:rPr>
              <a:t>1,2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105400" y="8636000"/>
            <a:ext cx="2239010" cy="36830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暂时删除边（</a:t>
            </a:r>
            <a:r>
              <a:rPr lang="en-US" altLang="zh-CN">
                <a:latin typeface="Times New Roman" panose="02020603050405020304"/>
                <a:ea typeface="Times New Roman" panose="02020603050405020304"/>
              </a:rPr>
              <a:t>5,9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-2147482596" descr="https://upload.wikimedia.org/wikipedia/commons/thumb/d/df/Graph_cut_edges.svg/200px-Graph_cut_edges.sv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0" y="5676900"/>
            <a:ext cx="2990850" cy="29908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-2147482598" descr="8744ddf079b754872659cc76c5b46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0" y="5753100"/>
            <a:ext cx="2849245" cy="28181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10744200" y="2297430"/>
            <a:ext cx="5526405" cy="3150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50000"/>
              </a:lnSpc>
              <a:buClrTx/>
              <a:buSzTx/>
              <a:buFont typeface="+mj-lt"/>
              <a:buNone/>
            </a:pPr>
            <a:r>
              <a:rPr lang="zh-CN" altLang="en-US" sz="2000" b="1">
                <a:latin typeface="+mn-ea"/>
                <a:cs typeface="+mn-ea"/>
              </a:rPr>
              <a:t>2.时间复杂度：</a:t>
            </a:r>
            <a:endParaRPr lang="zh-CN" altLang="en-US" sz="2000" b="1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>
                <a:latin typeface="+mn-ea"/>
                <a:cs typeface="+mn-ea"/>
              </a:rPr>
              <a:t>假设图中顶点数为</a:t>
            </a:r>
            <a:r>
              <a:rPr lang="en-US" altLang="zh-CN" sz="2000">
                <a:latin typeface="+mn-ea"/>
                <a:cs typeface="+mn-ea"/>
              </a:rPr>
              <a:t> n</a:t>
            </a:r>
            <a:r>
              <a:rPr lang="zh-CN" altLang="en-US" sz="2000">
                <a:latin typeface="+mn-ea"/>
                <a:cs typeface="+mn-ea"/>
              </a:rPr>
              <a:t>，边数为</a:t>
            </a:r>
            <a:r>
              <a:rPr lang="en-US" altLang="zh-CN" sz="2000">
                <a:latin typeface="+mn-ea"/>
                <a:cs typeface="+mn-ea"/>
              </a:rPr>
              <a:t> m</a:t>
            </a:r>
            <a:r>
              <a:rPr lang="zh-CN" altLang="en-US" sz="2000">
                <a:latin typeface="+mn-ea"/>
                <a:cs typeface="+mn-ea"/>
              </a:rPr>
              <a:t>。</a:t>
            </a:r>
            <a:endParaRPr lang="zh-CN" altLang="en-US" sz="2000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>
                <a:latin typeface="+mn-ea"/>
                <a:cs typeface="+mn-ea"/>
              </a:rPr>
              <a:t>外层循环枚举每条边，执行了</a:t>
            </a:r>
            <a:r>
              <a:rPr lang="en-US" altLang="zh-CN" sz="2000">
                <a:latin typeface="+mn-ea"/>
                <a:cs typeface="+mn-ea"/>
              </a:rPr>
              <a:t>m</a:t>
            </a:r>
            <a:r>
              <a:rPr lang="zh-CN" altLang="en-US" sz="2000">
                <a:latin typeface="+mn-ea"/>
                <a:cs typeface="+mn-ea"/>
              </a:rPr>
              <a:t>次</a:t>
            </a:r>
            <a:endParaRPr lang="zh-CN" altLang="en-US" sz="2000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>
                <a:latin typeface="+mn-ea"/>
                <a:cs typeface="+mn-ea"/>
              </a:rPr>
              <a:t>内层对每条边判断连通性，</a:t>
            </a:r>
            <a:r>
              <a:rPr lang="en-US" altLang="zh-CN" sz="2000">
                <a:latin typeface="+mn-ea"/>
                <a:cs typeface="+mn-ea"/>
              </a:rPr>
              <a:t>BFS</a:t>
            </a:r>
            <a:r>
              <a:rPr lang="zh-CN" altLang="en-US" sz="2000">
                <a:latin typeface="+mn-ea"/>
                <a:cs typeface="+mn-ea"/>
              </a:rPr>
              <a:t>函数内部最多遍历所有的节点和边，复杂度为</a:t>
            </a:r>
            <a:r>
              <a:rPr lang="en-US" altLang="zh-CN" sz="2000">
                <a:latin typeface="+mn-ea"/>
                <a:cs typeface="+mn-ea"/>
              </a:rPr>
              <a:t>O(n+m)</a:t>
            </a:r>
            <a:endParaRPr lang="en-US" altLang="zh-CN" sz="2000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>
                <a:latin typeface="+mn-ea"/>
                <a:cs typeface="+mn-ea"/>
              </a:rPr>
              <a:t>总时间复杂度是</a:t>
            </a:r>
            <a:r>
              <a:rPr lang="en-US" altLang="zh-CN" sz="2000" b="1">
                <a:latin typeface="+mn-ea"/>
                <a:cs typeface="+mn-ea"/>
              </a:rPr>
              <a:t>O(m*(n+m))=O(n*m+m^2)</a:t>
            </a:r>
            <a:endParaRPr lang="en-US" altLang="zh-CN" sz="2000" b="1">
              <a:latin typeface="+mn-ea"/>
              <a:cs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2725400" y="8953500"/>
            <a:ext cx="2589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266700">
              <a:buClrTx/>
              <a:buSzTx/>
              <a:buFontTx/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算法正确性验证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>
            <a:off x="-2511451" y="1028700"/>
            <a:ext cx="19770751" cy="18262535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948815" y="2552700"/>
            <a:ext cx="14931390" cy="245427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zh-CN" altLang="en-US" sz="2800" u="none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基准算法</a:t>
            </a:r>
            <a:r>
              <a:rPr lang="en-US" altLang="zh-CN" sz="2800" u="none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--</a:t>
            </a:r>
            <a:r>
              <a:rPr lang="zh-CN" altLang="en-US" sz="2800" u="none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枚举每一条边，临时删除，然后使用</a:t>
            </a:r>
            <a:r>
              <a:rPr lang="en-US" altLang="zh-CN" sz="2800" u="none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BFS</a:t>
            </a:r>
            <a:r>
              <a:rPr lang="zh-CN" altLang="en-US" sz="2800" u="none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遍历图，判断该边两点是否连通。</a:t>
            </a:r>
            <a:endParaRPr lang="zh-CN" altLang="en-US" sz="2800" u="none">
              <a:solidFill>
                <a:srgbClr val="2B2B2B"/>
              </a:solidFill>
              <a:latin typeface="+mn-ea"/>
              <a:cs typeface="+mn-ea"/>
              <a:sym typeface="Agrandir" panose="00000500000000000000"/>
            </a:endParaRPr>
          </a:p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zh-CN" altLang="en-US" sz="2800" u="none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发现，我们无需每次都完整的遍历整张图，我们真正关心的只是一个问题：</a:t>
            </a:r>
            <a:endParaRPr lang="zh-CN" altLang="en-US" sz="2800" u="none">
              <a:solidFill>
                <a:srgbClr val="2B2B2B"/>
              </a:solidFill>
              <a:latin typeface="+mn-ea"/>
              <a:cs typeface="+mn-ea"/>
              <a:sym typeface="Agrandir" panose="00000500000000000000"/>
            </a:endParaRPr>
          </a:p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endParaRPr lang="zh-CN" altLang="en-US" sz="2800" u="none">
              <a:solidFill>
                <a:srgbClr val="2B2B2B"/>
              </a:solidFill>
              <a:latin typeface="+mn-ea"/>
              <a:cs typeface="+mn-ea"/>
              <a:sym typeface="Agrandir" panose="00000500000000000000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-3982960">
            <a:off x="13745551" y="-3705176"/>
            <a:ext cx="5352514" cy="7410352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-1644077">
            <a:off x="16162301" y="-1063836"/>
            <a:ext cx="5468057" cy="6108036"/>
          </a:xfrm>
          <a:prstGeom prst="rect">
            <a:avLst/>
          </a:prstGeom>
        </p:spPr>
      </p:pic>
      <p:sp>
        <p:nvSpPr>
          <p:cNvPr id="8" name="下箭头 7"/>
          <p:cNvSpPr/>
          <p:nvPr/>
        </p:nvSpPr>
        <p:spPr>
          <a:xfrm>
            <a:off x="8458200" y="6362700"/>
            <a:ext cx="1066800" cy="1828800"/>
          </a:xfrm>
          <a:prstGeom prst="downArrow">
            <a:avLst/>
          </a:prstGeom>
          <a:solidFill>
            <a:srgbClr val="D3DDD9"/>
          </a:solidFill>
          <a:ln>
            <a:solidFill>
              <a:srgbClr val="D3DDD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382000" y="8420100"/>
            <a:ext cx="16846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/>
              <a:t>并查集</a:t>
            </a:r>
            <a:endParaRPr lang="zh-CN" altLang="en-US" sz="3600" b="1"/>
          </a:p>
        </p:txBody>
      </p:sp>
      <p:sp>
        <p:nvSpPr>
          <p:cNvPr id="10" name="文本框 9"/>
          <p:cNvSpPr txBox="1"/>
          <p:nvPr/>
        </p:nvSpPr>
        <p:spPr>
          <a:xfrm>
            <a:off x="3693160" y="5289550"/>
            <a:ext cx="11049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“</a:t>
            </a:r>
            <a:r>
              <a:rPr lang="zh-CN" altLang="en-US" sz="2800" b="1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删掉一条边</a:t>
            </a:r>
            <a:r>
              <a:rPr lang="en-US" altLang="zh-CN" sz="2800" b="1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 (u, v) </a:t>
            </a:r>
            <a:r>
              <a:rPr lang="zh-CN" altLang="en-US" sz="2800" b="1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后，</a:t>
            </a:r>
            <a:r>
              <a:rPr lang="en-US" altLang="zh-CN" sz="2800" b="1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u </a:t>
            </a:r>
            <a:r>
              <a:rPr lang="zh-CN" altLang="en-US" sz="2800" b="1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和</a:t>
            </a:r>
            <a:r>
              <a:rPr lang="en-US" altLang="zh-CN" sz="2800" b="1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 v </a:t>
            </a:r>
            <a:r>
              <a:rPr lang="zh-CN" altLang="en-US" sz="2800" b="1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是否仍属于同一个连通块？</a:t>
            </a:r>
            <a:r>
              <a:rPr lang="en-US" altLang="zh-CN" sz="2800" b="1">
                <a:solidFill>
                  <a:srgbClr val="2B2B2B"/>
                </a:solidFill>
                <a:latin typeface="+mn-ea"/>
                <a:cs typeface="+mn-ea"/>
                <a:sym typeface="Agrandir" panose="00000500000000000000"/>
              </a:rPr>
              <a:t>”</a:t>
            </a:r>
            <a:endParaRPr lang="en-US" altLang="zh-CN" sz="2800" b="1" u="none">
              <a:solidFill>
                <a:srgbClr val="2B2B2B"/>
              </a:solidFill>
              <a:latin typeface="+mn-ea"/>
              <a:cs typeface="+mn-ea"/>
              <a:sym typeface="Agrandir" panose="00000500000000000000"/>
            </a:endParaRPr>
          </a:p>
          <a:p>
            <a:endParaRPr lang="en-US" altLang="zh-CN" sz="2800" b="1" u="none">
              <a:solidFill>
                <a:srgbClr val="2B2B2B"/>
              </a:solidFill>
              <a:latin typeface="+mn-ea"/>
              <a:cs typeface="+mn-ea"/>
              <a:sym typeface="Agrandir" panose="000005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8" grpId="0" animBg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2386853">
            <a:off x="-3305272" y="-1267467"/>
            <a:ext cx="14322769" cy="1323015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049000" y="1919923"/>
            <a:ext cx="6866890" cy="6447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1300" b="1">
                <a:solidFill>
                  <a:srgbClr val="F6E4E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03</a:t>
            </a:r>
            <a:endParaRPr lang="en-US" altLang="zh-CN" sz="41300" b="1">
              <a:solidFill>
                <a:srgbClr val="F6E4E3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515600" y="4389120"/>
            <a:ext cx="5867400" cy="15087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6600" b="1">
                <a:solidFill>
                  <a:schemeClr val="tx1">
                    <a:lumMod val="50000"/>
                    <a:lumOff val="50000"/>
                  </a:schemeClr>
                </a:solidFill>
                <a:latin typeface="华文琥珀" panose="02010800040101010101" charset="-122"/>
                <a:ea typeface="华文琥珀" panose="02010800040101010101" charset="-122"/>
              </a:rPr>
              <a:t>并查集算法</a:t>
            </a:r>
            <a:endParaRPr lang="zh-CN" altLang="en-US" sz="6600" b="1">
              <a:solidFill>
                <a:schemeClr val="tx1">
                  <a:lumMod val="50000"/>
                  <a:lumOff val="50000"/>
                </a:schemeClr>
              </a:solidFill>
              <a:latin typeface="华文琥珀" panose="02010800040101010101" charset="-122"/>
              <a:ea typeface="华文琥珀" panose="0201080004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1425796">
            <a:off x="-4836105" y="-3855776"/>
            <a:ext cx="17005599" cy="1898368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并查集算法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1390" y="195199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EAF1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0" y="3238500"/>
            <a:ext cx="6966585" cy="50057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1600200" y="2933700"/>
            <a:ext cx="8560435" cy="4980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 b="1">
                <a:latin typeface="+mn-ea"/>
                <a:cs typeface="+mn-ea"/>
              </a:rPr>
              <a:t>1.</a:t>
            </a:r>
            <a:r>
              <a:rPr lang="zh-CN" altLang="en-US" sz="2400" b="1">
                <a:latin typeface="+mn-ea"/>
                <a:cs typeface="+mn-ea"/>
              </a:rPr>
              <a:t>并查集思想：</a:t>
            </a:r>
            <a:endParaRPr lang="zh-CN" altLang="en-US" sz="2400" b="1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>
                <a:latin typeface="+mn-ea"/>
                <a:cs typeface="+mn-ea"/>
              </a:rPr>
              <a:t>支持两个主要操作，查找和合并：</a:t>
            </a:r>
            <a:endParaRPr lang="zh-CN" altLang="en-US" sz="2400">
              <a:latin typeface="+mn-ea"/>
              <a:cs typeface="+mn-ea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+mn-ea"/>
                <a:cs typeface="+mn-ea"/>
              </a:rPr>
              <a:t>Find(x)</a:t>
            </a:r>
            <a:r>
              <a:rPr lang="en-US" altLang="zh-CN" sz="2400">
                <a:latin typeface="+mn-ea"/>
                <a:cs typeface="+mn-ea"/>
              </a:rPr>
              <a:t>:</a:t>
            </a:r>
            <a:r>
              <a:rPr lang="zh-CN" altLang="en-US" sz="2400">
                <a:latin typeface="+mn-ea"/>
                <a:cs typeface="+mn-ea"/>
              </a:rPr>
              <a:t>查找</a:t>
            </a:r>
            <a:r>
              <a:rPr lang="en-US" altLang="zh-CN" sz="2400">
                <a:latin typeface="+mn-ea"/>
                <a:cs typeface="+mn-ea"/>
              </a:rPr>
              <a:t>x</a:t>
            </a:r>
            <a:r>
              <a:rPr lang="zh-CN" altLang="en-US" sz="2400">
                <a:latin typeface="+mn-ea"/>
                <a:cs typeface="+mn-ea"/>
              </a:rPr>
              <a:t>所在集合的代表元素（即为根节点）；</a:t>
            </a:r>
            <a:endParaRPr lang="zh-CN" altLang="en-US" sz="2400">
              <a:latin typeface="+mn-ea"/>
              <a:cs typeface="+mn-ea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+mn-ea"/>
                <a:cs typeface="+mn-ea"/>
              </a:rPr>
              <a:t>Union</a:t>
            </a:r>
            <a:r>
              <a:rPr lang="zh-CN" altLang="en-US" sz="2400" b="1">
                <a:latin typeface="+mn-ea"/>
                <a:cs typeface="+mn-ea"/>
              </a:rPr>
              <a:t>（</a:t>
            </a:r>
            <a:r>
              <a:rPr lang="en-US" altLang="zh-CN" sz="2400" b="1">
                <a:latin typeface="+mn-ea"/>
                <a:cs typeface="+mn-ea"/>
              </a:rPr>
              <a:t>x,y</a:t>
            </a:r>
            <a:r>
              <a:rPr lang="zh-CN" altLang="en-US" sz="2400" b="1">
                <a:latin typeface="+mn-ea"/>
                <a:cs typeface="+mn-ea"/>
              </a:rPr>
              <a:t>）</a:t>
            </a:r>
            <a:r>
              <a:rPr lang="en-US" altLang="zh-CN" sz="2400" b="1">
                <a:latin typeface="+mn-ea"/>
                <a:cs typeface="+mn-ea"/>
              </a:rPr>
              <a:t>:</a:t>
            </a:r>
            <a:r>
              <a:rPr lang="zh-CN" altLang="en-US" sz="2400">
                <a:latin typeface="+mn-ea"/>
                <a:cs typeface="+mn-ea"/>
              </a:rPr>
              <a:t>将包含</a:t>
            </a:r>
            <a:r>
              <a:rPr lang="en-US" altLang="zh-CN" sz="2400">
                <a:latin typeface="+mn-ea"/>
                <a:cs typeface="+mn-ea"/>
              </a:rPr>
              <a:t>x</a:t>
            </a:r>
            <a:r>
              <a:rPr lang="zh-CN" altLang="en-US" sz="2400">
                <a:latin typeface="+mn-ea"/>
                <a:cs typeface="+mn-ea"/>
              </a:rPr>
              <a:t>和</a:t>
            </a:r>
            <a:r>
              <a:rPr lang="en-US" altLang="zh-CN" sz="2400">
                <a:latin typeface="+mn-ea"/>
                <a:cs typeface="+mn-ea"/>
              </a:rPr>
              <a:t>y</a:t>
            </a:r>
            <a:r>
              <a:rPr lang="zh-CN" altLang="en-US" sz="2400">
                <a:latin typeface="+mn-ea"/>
                <a:cs typeface="+mn-ea"/>
              </a:rPr>
              <a:t>的两个集合合并，使它们具有相同的根。</a:t>
            </a:r>
            <a:endParaRPr lang="zh-CN" altLang="en-US" sz="2400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>
                <a:latin typeface="+mn-ea"/>
                <a:cs typeface="+mn-ea"/>
              </a:rPr>
              <a:t>(find(x))=Px !=(find(y)=Py) --</a:t>
            </a:r>
            <a:r>
              <a:rPr lang="zh-CN" altLang="en-US" sz="2400">
                <a:latin typeface="+mn-ea"/>
                <a:cs typeface="+mn-ea"/>
              </a:rPr>
              <a:t>不同集合</a:t>
            </a:r>
            <a:endParaRPr lang="zh-CN" altLang="en-US" sz="2400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>
                <a:latin typeface="+mn-ea"/>
                <a:cs typeface="+mn-ea"/>
              </a:rPr>
              <a:t>Union(x</a:t>
            </a:r>
            <a:r>
              <a:rPr lang="zh-CN" altLang="en-US" sz="2400">
                <a:latin typeface="+mn-ea"/>
                <a:cs typeface="+mn-ea"/>
              </a:rPr>
              <a:t>，</a:t>
            </a:r>
            <a:r>
              <a:rPr lang="en-US" altLang="zh-CN" sz="2400">
                <a:latin typeface="+mn-ea"/>
                <a:cs typeface="+mn-ea"/>
              </a:rPr>
              <a:t>y)=&gt;fa[Px]=Py  --x</a:t>
            </a:r>
            <a:r>
              <a:rPr lang="zh-CN" altLang="en-US" sz="2400">
                <a:latin typeface="+mn-ea"/>
                <a:cs typeface="+mn-ea"/>
              </a:rPr>
              <a:t>所在集合整体挂到</a:t>
            </a:r>
            <a:r>
              <a:rPr lang="en-US" altLang="zh-CN" sz="2400">
                <a:latin typeface="+mn-ea"/>
                <a:cs typeface="+mn-ea"/>
              </a:rPr>
              <a:t>y</a:t>
            </a:r>
            <a:r>
              <a:rPr lang="zh-CN" altLang="en-US" sz="2400">
                <a:latin typeface="+mn-ea"/>
                <a:cs typeface="+mn-ea"/>
              </a:rPr>
              <a:t>所在集合上</a:t>
            </a:r>
            <a:endParaRPr lang="zh-CN" altLang="en-US" sz="2400"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1425796">
            <a:off x="-4836105" y="-3855776"/>
            <a:ext cx="17005599" cy="1898368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并查集算法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76630" y="1951990"/>
            <a:ext cx="16576675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EAF1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95400" y="2400300"/>
            <a:ext cx="6628765" cy="4700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3200" b="1">
                <a:latin typeface="+mn-ea"/>
                <a:cs typeface="+mn-ea"/>
              </a:rPr>
              <a:t>1.1 </a:t>
            </a:r>
            <a:r>
              <a:rPr lang="zh-CN" altLang="en-US" sz="3200" b="1">
                <a:latin typeface="+mn-ea"/>
                <a:cs typeface="+mn-ea"/>
              </a:rPr>
              <a:t>并查集</a:t>
            </a:r>
            <a:r>
              <a:rPr lang="en-US" altLang="zh-CN" sz="3200" b="1">
                <a:latin typeface="+mn-ea"/>
                <a:cs typeface="+mn-ea"/>
              </a:rPr>
              <a:t>--</a:t>
            </a:r>
            <a:r>
              <a:rPr lang="zh-CN" altLang="en-US" sz="3200" b="1">
                <a:latin typeface="+mn-ea"/>
                <a:cs typeface="+mn-ea"/>
              </a:rPr>
              <a:t>按秩合并</a:t>
            </a:r>
            <a:endParaRPr lang="zh-CN" altLang="en-US" sz="3200" b="1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400" b="1">
              <a:latin typeface="+mn-ea"/>
              <a:cs typeface="+mn-ea"/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2400">
                <a:latin typeface="+mn-ea"/>
                <a:cs typeface="+mn-ea"/>
              </a:rPr>
              <a:t>在并查集中，每个集合可以用一棵树结构表示，树的根节点即为该集合的代表元素。</a:t>
            </a:r>
            <a:endParaRPr lang="zh-CN" altLang="en-US" sz="2400">
              <a:latin typeface="+mn-ea"/>
              <a:cs typeface="+mn-ea"/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2400">
                <a:latin typeface="+mn-ea"/>
                <a:cs typeface="+mn-ea"/>
              </a:rPr>
              <a:t>随着多个集合不断合并，如果不加以控制，树的高度可能迅速增长，从而导致后续</a:t>
            </a:r>
            <a:r>
              <a:rPr lang="en-US" altLang="zh-CN" sz="2400">
                <a:latin typeface="+mn-ea"/>
                <a:cs typeface="+mn-ea"/>
              </a:rPr>
              <a:t> find(x) </a:t>
            </a:r>
            <a:r>
              <a:rPr lang="zh-CN" altLang="en-US" sz="2400">
                <a:latin typeface="+mn-ea"/>
                <a:cs typeface="+mn-ea"/>
              </a:rPr>
              <a:t>操作在查询根节点时需要遍历大量中间节点，效率大大降低。</a:t>
            </a:r>
            <a:endParaRPr lang="zh-CN" altLang="en-US" sz="2400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400">
              <a:latin typeface="+mn-ea"/>
              <a:cs typeface="+mn-ea"/>
            </a:endParaRPr>
          </a:p>
        </p:txBody>
      </p:sp>
      <p:pic>
        <p:nvPicPr>
          <p:cNvPr id="-2147482514" name="图片 -21474825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5020" y="2470785"/>
            <a:ext cx="8970645" cy="54648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371600" y="7581900"/>
            <a:ext cx="12233275" cy="1672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fontAlgn="auto">
              <a:lnSpc>
                <a:spcPct val="150000"/>
              </a:lnSpc>
            </a:pPr>
            <a:r>
              <a:rPr lang="zh-CN" altLang="en-US" sz="2400">
                <a:latin typeface="+mn-ea"/>
                <a:cs typeface="+mn-ea"/>
                <a:sym typeface="+mn-ea"/>
              </a:rPr>
              <a:t>为每个集合维护一个</a:t>
            </a:r>
            <a:r>
              <a:rPr lang="en-US" altLang="zh-CN" sz="2400">
                <a:latin typeface="+mn-ea"/>
                <a:cs typeface="+mn-ea"/>
                <a:sym typeface="+mn-ea"/>
              </a:rPr>
              <a:t>“</a:t>
            </a:r>
            <a:r>
              <a:rPr lang="zh-CN" altLang="en-US" sz="2400">
                <a:latin typeface="+mn-ea"/>
                <a:cs typeface="+mn-ea"/>
                <a:sym typeface="+mn-ea"/>
              </a:rPr>
              <a:t>秩</a:t>
            </a:r>
            <a:r>
              <a:rPr lang="en-US" altLang="zh-CN" sz="2400">
                <a:latin typeface="+mn-ea"/>
                <a:cs typeface="+mn-ea"/>
                <a:sym typeface="+mn-ea"/>
              </a:rPr>
              <a:t>”</a:t>
            </a:r>
            <a:r>
              <a:rPr lang="zh-CN" altLang="en-US" sz="2400">
                <a:latin typeface="+mn-ea"/>
                <a:cs typeface="+mn-ea"/>
                <a:sym typeface="+mn-ea"/>
              </a:rPr>
              <a:t>值（用</a:t>
            </a:r>
            <a:r>
              <a:rPr lang="en-US" altLang="zh-CN" sz="2400">
                <a:latin typeface="+mn-ea"/>
                <a:cs typeface="+mn-ea"/>
                <a:sym typeface="+mn-ea"/>
              </a:rPr>
              <a:t> rk[] </a:t>
            </a:r>
            <a:r>
              <a:rPr lang="zh-CN" altLang="en-US" sz="2400">
                <a:latin typeface="+mn-ea"/>
                <a:cs typeface="+mn-ea"/>
                <a:sym typeface="+mn-ea"/>
              </a:rPr>
              <a:t>数组表示），秩是对该集合树高的近似估计。</a:t>
            </a:r>
            <a:endParaRPr lang="zh-CN" altLang="en-US" sz="2400">
              <a:latin typeface="+mn-ea"/>
              <a:cs typeface="+mn-ea"/>
              <a:sym typeface="+mn-ea"/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2400">
                <a:latin typeface="+mn-ea"/>
                <a:cs typeface="+mn-ea"/>
                <a:sym typeface="+mn-ea"/>
              </a:rPr>
              <a:t>在合并两个集合时，我们总是将秩较小的树连接到秩较大的树上，以避免合并后树的高度增加，保持结构平衡。</a:t>
            </a:r>
            <a:endParaRPr lang="zh-CN" altLang="en-US" sz="2400">
              <a:latin typeface="+mn-ea"/>
              <a:cs typeface="+mn-ea"/>
            </a:endParaRPr>
          </a:p>
          <a:p>
            <a:pPr fontAlgn="auto">
              <a:lnSpc>
                <a:spcPct val="150000"/>
              </a:lnSpc>
            </a:pPr>
            <a:endParaRPr lang="zh-CN" altLang="en-US" sz="2400">
              <a:latin typeface="+mn-ea"/>
              <a:cs typeface="+mn-ea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7976870" y="2247900"/>
            <a:ext cx="24130" cy="5031105"/>
          </a:xfrm>
          <a:prstGeom prst="line">
            <a:avLst/>
          </a:prstGeom>
          <a:ln w="38100">
            <a:solidFill>
              <a:srgbClr val="D4DFE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1425796">
            <a:off x="-4836105" y="-3855776"/>
            <a:ext cx="17005599" cy="1898368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并查集算法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76630" y="1951990"/>
            <a:ext cx="16576675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EAF1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一条链式结构（</a:t>
            </a:r>
            <a:r>
              <a:rPr lang="en-US" altLang="zh-CN"/>
              <a:t>A </a:t>
            </a:r>
            <a:r>
              <a:rPr lang="en-US" altLang="en-US"/>
              <a:t>→</a:t>
            </a:r>
            <a:r>
              <a:rPr lang="en-US" altLang="zh-CN"/>
              <a:t> B </a:t>
            </a:r>
            <a:r>
              <a:rPr lang="en-US" altLang="en-US"/>
              <a:t>→</a:t>
            </a:r>
            <a:r>
              <a:rPr lang="en-US" altLang="zh-CN"/>
              <a:t> C </a:t>
            </a:r>
            <a:r>
              <a:rPr lang="en-US" altLang="en-US"/>
              <a:t>→</a:t>
            </a:r>
            <a:r>
              <a:rPr lang="en-US" altLang="zh-CN"/>
              <a:t> D </a:t>
            </a:r>
            <a:r>
              <a:rPr lang="en-US" altLang="en-US"/>
              <a:t>→</a:t>
            </a:r>
            <a:r>
              <a:rPr lang="en-US" altLang="zh-CN"/>
              <a:t> E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95400" y="2400300"/>
            <a:ext cx="6070600" cy="3809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3200" b="1">
                <a:latin typeface="+mn-ea"/>
                <a:cs typeface="+mn-ea"/>
              </a:rPr>
              <a:t>1.2 </a:t>
            </a:r>
            <a:r>
              <a:rPr lang="zh-CN" altLang="en-US" sz="3200" b="1">
                <a:latin typeface="+mn-ea"/>
                <a:cs typeface="+mn-ea"/>
              </a:rPr>
              <a:t>并查集</a:t>
            </a:r>
            <a:r>
              <a:rPr lang="en-US" altLang="zh-CN" sz="3200" b="1">
                <a:latin typeface="+mn-ea"/>
                <a:cs typeface="+mn-ea"/>
              </a:rPr>
              <a:t>--</a:t>
            </a:r>
            <a:r>
              <a:rPr lang="zh-CN" altLang="en-US" sz="3200" b="1">
                <a:latin typeface="+mn-ea"/>
                <a:cs typeface="+mn-ea"/>
              </a:rPr>
              <a:t>路径压缩</a:t>
            </a:r>
            <a:endParaRPr lang="zh-CN" altLang="en-US" sz="3200" b="1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400" b="1">
              <a:latin typeface="+mn-ea"/>
              <a:cs typeface="+mn-ea"/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2400">
                <a:latin typeface="+mn-ea"/>
                <a:cs typeface="+mn-ea"/>
              </a:rPr>
              <a:t>在执行</a:t>
            </a:r>
            <a:r>
              <a:rPr lang="en-US" altLang="zh-CN" sz="2400">
                <a:latin typeface="+mn-ea"/>
                <a:cs typeface="+mn-ea"/>
              </a:rPr>
              <a:t> find(x) </a:t>
            </a:r>
            <a:r>
              <a:rPr lang="zh-CN" altLang="en-US" sz="2400">
                <a:latin typeface="+mn-ea"/>
                <a:cs typeface="+mn-ea"/>
              </a:rPr>
              <a:t>操作的同时，将从</a:t>
            </a:r>
            <a:r>
              <a:rPr lang="en-US" altLang="zh-CN" sz="2400">
                <a:latin typeface="+mn-ea"/>
                <a:cs typeface="+mn-ea"/>
              </a:rPr>
              <a:t> x </a:t>
            </a:r>
            <a:r>
              <a:rPr lang="zh-CN" altLang="en-US" sz="2400">
                <a:latin typeface="+mn-ea"/>
                <a:cs typeface="+mn-ea"/>
              </a:rPr>
              <a:t>到根节点路径上的所有节点直接挂到根节点下，从而大幅</a:t>
            </a:r>
            <a:r>
              <a:rPr lang="en-US" altLang="zh-CN" sz="2400">
                <a:latin typeface="+mn-ea"/>
                <a:cs typeface="+mn-ea"/>
              </a:rPr>
              <a:t>“</a:t>
            </a:r>
            <a:r>
              <a:rPr lang="zh-CN" altLang="en-US" sz="2400">
                <a:latin typeface="+mn-ea"/>
                <a:cs typeface="+mn-ea"/>
              </a:rPr>
              <a:t>拉扁</a:t>
            </a:r>
            <a:r>
              <a:rPr lang="en-US" altLang="zh-CN" sz="2400">
                <a:latin typeface="+mn-ea"/>
                <a:cs typeface="+mn-ea"/>
              </a:rPr>
              <a:t>”</a:t>
            </a:r>
            <a:r>
              <a:rPr lang="zh-CN" altLang="en-US" sz="2400">
                <a:latin typeface="+mn-ea"/>
                <a:cs typeface="+mn-ea"/>
              </a:rPr>
              <a:t>原本较深的结构。</a:t>
            </a:r>
            <a:endParaRPr lang="zh-CN" altLang="en-US" sz="2400">
              <a:latin typeface="+mn-ea"/>
              <a:cs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95400" y="7353300"/>
            <a:ext cx="12686030" cy="1672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latin typeface="+mn-ea"/>
                <a:cs typeface="+mn-ea"/>
              </a:rPr>
              <a:t>若不进行路径压缩，树在最坏情况下会退化为链表，</a:t>
            </a:r>
            <a:r>
              <a:rPr lang="en-US" altLang="zh-CN" sz="2400">
                <a:latin typeface="+mn-ea"/>
                <a:cs typeface="+mn-ea"/>
              </a:rPr>
              <a:t>find </a:t>
            </a:r>
            <a:r>
              <a:rPr lang="zh-CN" altLang="en-US" sz="2400">
                <a:latin typeface="+mn-ea"/>
                <a:cs typeface="+mn-ea"/>
              </a:rPr>
              <a:t>操作最坏时间复杂度为</a:t>
            </a:r>
            <a:r>
              <a:rPr lang="en-US" altLang="zh-CN" sz="2400">
                <a:latin typeface="+mn-ea"/>
                <a:cs typeface="+mn-ea"/>
              </a:rPr>
              <a:t> O(n)</a:t>
            </a:r>
            <a:r>
              <a:rPr lang="zh-CN" altLang="en-US" sz="2400">
                <a:latin typeface="+mn-ea"/>
                <a:cs typeface="+mn-ea"/>
              </a:rPr>
              <a:t>；而通过路径压缩，树高大幅降低，查找操作的平均复杂度下降至近似常数时间。</a:t>
            </a:r>
            <a:endParaRPr lang="zh-CN" altLang="en-US" sz="2400">
              <a:latin typeface="+mn-ea"/>
              <a:cs typeface="+mn-ea"/>
            </a:endParaRPr>
          </a:p>
        </p:txBody>
      </p:sp>
      <p:pic>
        <p:nvPicPr>
          <p:cNvPr id="-2147482573" name="图片 -2147482574" descr="86d3af518445ba4604c2397d602eb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324100"/>
            <a:ext cx="4109720" cy="27311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-2147482572" name="图片 -214748257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6400" y="2552700"/>
            <a:ext cx="3957320" cy="219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右箭头 6"/>
          <p:cNvSpPr/>
          <p:nvPr/>
        </p:nvSpPr>
        <p:spPr>
          <a:xfrm>
            <a:off x="11430000" y="3543300"/>
            <a:ext cx="1371600" cy="533400"/>
          </a:xfrm>
          <a:prstGeom prst="rightArrow">
            <a:avLst/>
          </a:prstGeom>
          <a:solidFill>
            <a:srgbClr val="EAF1EA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353800" y="3238500"/>
            <a:ext cx="1619250" cy="469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路径压缩</a:t>
            </a:r>
            <a:endParaRPr lang="zh-CN" altLang="en-US" sz="2000"/>
          </a:p>
        </p:txBody>
      </p:sp>
      <p:sp>
        <p:nvSpPr>
          <p:cNvPr id="11" name="文本框 10"/>
          <p:cNvSpPr txBox="1"/>
          <p:nvPr/>
        </p:nvSpPr>
        <p:spPr>
          <a:xfrm>
            <a:off x="8229600" y="5436235"/>
            <a:ext cx="4157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一条链式结构（</a:t>
            </a:r>
            <a:r>
              <a:rPr lang="en-US" altLang="zh-CN" sz="2000"/>
              <a:t>A </a:t>
            </a:r>
            <a:r>
              <a:rPr lang="en-US" altLang="en-US" sz="2000"/>
              <a:t>→</a:t>
            </a:r>
            <a:r>
              <a:rPr lang="en-US" altLang="zh-CN" sz="2000"/>
              <a:t> B </a:t>
            </a:r>
            <a:r>
              <a:rPr lang="en-US" altLang="en-US" sz="2000"/>
              <a:t>→</a:t>
            </a:r>
            <a:r>
              <a:rPr lang="en-US" altLang="zh-CN" sz="2000"/>
              <a:t> C </a:t>
            </a:r>
            <a:r>
              <a:rPr lang="en-US" altLang="en-US" sz="2000"/>
              <a:t>→</a:t>
            </a:r>
            <a:r>
              <a:rPr lang="en-US" altLang="zh-CN" sz="2000"/>
              <a:t> D </a:t>
            </a:r>
            <a:r>
              <a:rPr lang="en-US" altLang="en-US" sz="2000"/>
              <a:t>→</a:t>
            </a:r>
            <a:r>
              <a:rPr lang="en-US" altLang="zh-CN" sz="2000"/>
              <a:t> E</a:t>
            </a:r>
            <a:r>
              <a:rPr lang="zh-CN" altLang="en-US" sz="2000"/>
              <a:t>）</a:t>
            </a:r>
            <a:endParaRPr lang="zh-CN" altLang="en-US" sz="2000"/>
          </a:p>
        </p:txBody>
      </p:sp>
      <p:sp>
        <p:nvSpPr>
          <p:cNvPr id="12" name="文本框 11"/>
          <p:cNvSpPr txBox="1"/>
          <p:nvPr/>
        </p:nvSpPr>
        <p:spPr>
          <a:xfrm>
            <a:off x="13869670" y="5459730"/>
            <a:ext cx="19640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/>
              <a:t>结构变得扁平化</a:t>
            </a:r>
            <a:endParaRPr lang="zh-CN" altLang="en-US" sz="2000"/>
          </a:p>
        </p:txBody>
      </p:sp>
      <p:cxnSp>
        <p:nvCxnSpPr>
          <p:cNvPr id="13" name="直接连接符 12"/>
          <p:cNvCxnSpPr/>
          <p:nvPr/>
        </p:nvCxnSpPr>
        <p:spPr>
          <a:xfrm>
            <a:off x="7976870" y="2171700"/>
            <a:ext cx="24130" cy="5031105"/>
          </a:xfrm>
          <a:prstGeom prst="line">
            <a:avLst/>
          </a:prstGeom>
          <a:ln w="38100">
            <a:solidFill>
              <a:srgbClr val="D4DFE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214748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214748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11" grpId="0"/>
      <p:bldP spid="8" grpId="0"/>
      <p:bldP spid="7" grpId="0" animBg="1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1425796">
            <a:off x="-4836105" y="-3855776"/>
            <a:ext cx="17005599" cy="1898368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并查集算法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66800" y="1951990"/>
            <a:ext cx="16576675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EAF1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一条链式结构（</a:t>
            </a:r>
            <a:r>
              <a:rPr lang="en-US" altLang="zh-CN"/>
              <a:t>A </a:t>
            </a:r>
            <a:r>
              <a:rPr lang="en-US" altLang="en-US"/>
              <a:t>→</a:t>
            </a:r>
            <a:r>
              <a:rPr lang="en-US" altLang="zh-CN"/>
              <a:t> B </a:t>
            </a:r>
            <a:r>
              <a:rPr lang="en-US" altLang="en-US"/>
              <a:t>→</a:t>
            </a:r>
            <a:r>
              <a:rPr lang="en-US" altLang="zh-CN"/>
              <a:t> C </a:t>
            </a:r>
            <a:r>
              <a:rPr lang="en-US" altLang="en-US"/>
              <a:t>→</a:t>
            </a:r>
            <a:r>
              <a:rPr lang="en-US" altLang="zh-CN"/>
              <a:t> D </a:t>
            </a:r>
            <a:r>
              <a:rPr lang="en-US" altLang="en-US"/>
              <a:t>→</a:t>
            </a:r>
            <a:r>
              <a:rPr lang="en-US" altLang="zh-CN"/>
              <a:t> E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95400" y="2400300"/>
            <a:ext cx="6293485" cy="6405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3200" b="1">
                <a:latin typeface="+mn-ea"/>
                <a:cs typeface="+mn-ea"/>
              </a:rPr>
              <a:t>1.3 </a:t>
            </a:r>
            <a:r>
              <a:rPr lang="zh-CN" altLang="en-US" sz="3200" b="1">
                <a:latin typeface="+mn-ea"/>
                <a:cs typeface="+mn-ea"/>
              </a:rPr>
              <a:t>可撤销并查集</a:t>
            </a:r>
            <a:endParaRPr lang="zh-CN" altLang="en-US" sz="3200" b="1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400" b="1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>
                <a:latin typeface="+mj-ea"/>
                <a:ea typeface="+mj-ea"/>
                <a:cs typeface="+mj-ea"/>
                <a:sym typeface="+mn-ea"/>
              </a:rPr>
              <a:t>并查集没有删除边的操作</a:t>
            </a:r>
            <a:endParaRPr lang="zh-CN" altLang="en-US" sz="2400">
              <a:latin typeface="+mj-ea"/>
              <a:ea typeface="+mj-ea"/>
              <a:cs typeface="+mj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>
                <a:latin typeface="+mj-ea"/>
                <a:ea typeface="+mj-ea"/>
                <a:cs typeface="+mj-ea"/>
                <a:sym typeface="+mn-ea"/>
              </a:rPr>
              <a:t>但是需要有能力撤销之间的</a:t>
            </a:r>
            <a:r>
              <a:rPr lang="en-US" altLang="zh-CN" sz="2400">
                <a:latin typeface="+mj-ea"/>
                <a:ea typeface="+mj-ea"/>
                <a:cs typeface="+mj-ea"/>
                <a:sym typeface="+mn-ea"/>
              </a:rPr>
              <a:t>Union</a:t>
            </a:r>
            <a:r>
              <a:rPr lang="zh-CN" altLang="en-US" sz="2400">
                <a:latin typeface="+mj-ea"/>
                <a:ea typeface="+mj-ea"/>
                <a:cs typeface="+mj-ea"/>
                <a:sym typeface="+mn-ea"/>
              </a:rPr>
              <a:t>操作</a:t>
            </a:r>
            <a:endParaRPr lang="zh-CN" altLang="en-US" sz="2400">
              <a:latin typeface="+mj-ea"/>
              <a:ea typeface="+mj-ea"/>
              <a:cs typeface="+mj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>
                <a:latin typeface="+mj-ea"/>
                <a:ea typeface="+mj-ea"/>
                <a:cs typeface="+mj-ea"/>
                <a:sym typeface="+mn-ea"/>
              </a:rPr>
              <a:t>--</a:t>
            </a:r>
            <a:r>
              <a:rPr lang="zh-CN" altLang="en-US" sz="2400">
                <a:latin typeface="+mj-ea"/>
                <a:ea typeface="+mj-ea"/>
                <a:cs typeface="+mj-ea"/>
                <a:sym typeface="+mn-ea"/>
              </a:rPr>
              <a:t>可以使用栈来实现</a:t>
            </a:r>
            <a:r>
              <a:rPr lang="zh-CN" altLang="en-US" sz="2400" b="1">
                <a:latin typeface="+mj-ea"/>
                <a:ea typeface="+mj-ea"/>
                <a:cs typeface="+mj-ea"/>
                <a:sym typeface="+mn-ea"/>
              </a:rPr>
              <a:t>可撤销并查集</a:t>
            </a:r>
            <a:endParaRPr lang="zh-CN" altLang="en-US" sz="2400">
              <a:latin typeface="+mj-ea"/>
              <a:ea typeface="+mj-ea"/>
              <a:cs typeface="+mj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400">
              <a:latin typeface="+mj-ea"/>
              <a:ea typeface="+mj-ea"/>
              <a:cs typeface="+mj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>
                <a:latin typeface="+mj-ea"/>
                <a:ea typeface="+mj-ea"/>
                <a:cs typeface="+mj-ea"/>
                <a:sym typeface="+mn-ea"/>
              </a:rPr>
              <a:t>在判断一条边是否为</a:t>
            </a:r>
            <a:r>
              <a:rPr lang="en-US" altLang="zh-CN" sz="2400">
                <a:latin typeface="+mj-ea"/>
                <a:ea typeface="+mj-ea"/>
                <a:cs typeface="+mj-ea"/>
                <a:sym typeface="+mn-ea"/>
              </a:rPr>
              <a:t>“</a:t>
            </a:r>
            <a:r>
              <a:rPr lang="zh-CN" altLang="en-US" sz="2400">
                <a:latin typeface="+mj-ea"/>
                <a:ea typeface="+mj-ea"/>
                <a:cs typeface="+mj-ea"/>
                <a:sym typeface="+mn-ea"/>
              </a:rPr>
              <a:t>桥</a:t>
            </a:r>
            <a:r>
              <a:rPr lang="en-US" altLang="zh-CN" sz="2400">
                <a:latin typeface="+mj-ea"/>
                <a:ea typeface="+mj-ea"/>
                <a:cs typeface="+mj-ea"/>
                <a:sym typeface="+mn-ea"/>
              </a:rPr>
              <a:t>”</a:t>
            </a:r>
            <a:r>
              <a:rPr lang="zh-CN" altLang="en-US" sz="2400">
                <a:latin typeface="+mj-ea"/>
                <a:ea typeface="+mj-ea"/>
                <a:cs typeface="+mj-ea"/>
                <a:sym typeface="+mn-ea"/>
              </a:rPr>
              <a:t>时，在合并两个集合时，把变更的状态记录到栈</a:t>
            </a:r>
            <a:r>
              <a:rPr lang="en-US" altLang="zh-CN" sz="2400">
                <a:latin typeface="+mj-ea"/>
                <a:ea typeface="+mj-ea"/>
                <a:cs typeface="+mj-ea"/>
                <a:sym typeface="+mn-ea"/>
              </a:rPr>
              <a:t>temp</a:t>
            </a:r>
            <a:r>
              <a:rPr lang="zh-CN" altLang="en-US" sz="2400">
                <a:latin typeface="+mj-ea"/>
                <a:ea typeface="+mj-ea"/>
                <a:cs typeface="+mj-ea"/>
                <a:sym typeface="+mn-ea"/>
              </a:rPr>
              <a:t>中，判断完成后，</a:t>
            </a:r>
            <a:r>
              <a:rPr lang="en-US" altLang="zh-CN" sz="2400">
                <a:latin typeface="+mj-ea"/>
                <a:ea typeface="+mj-ea"/>
                <a:cs typeface="+mj-ea"/>
                <a:sym typeface="+mn-ea"/>
              </a:rPr>
              <a:t>“</a:t>
            </a:r>
            <a:r>
              <a:rPr lang="zh-CN" altLang="en-US" sz="2400">
                <a:latin typeface="+mj-ea"/>
                <a:ea typeface="+mj-ea"/>
                <a:cs typeface="+mj-ea"/>
                <a:sym typeface="+mn-ea"/>
              </a:rPr>
              <a:t>回滚</a:t>
            </a:r>
            <a:r>
              <a:rPr lang="en-US" altLang="zh-CN" sz="2400">
                <a:latin typeface="+mj-ea"/>
                <a:ea typeface="+mj-ea"/>
                <a:cs typeface="+mj-ea"/>
                <a:sym typeface="+mn-ea"/>
              </a:rPr>
              <a:t>”</a:t>
            </a:r>
            <a:r>
              <a:rPr lang="zh-CN" altLang="en-US" sz="2400">
                <a:latin typeface="+mj-ea"/>
                <a:ea typeface="+mj-ea"/>
                <a:cs typeface="+mj-ea"/>
                <a:sym typeface="+mn-ea"/>
              </a:rPr>
              <a:t>栈中的记录信息，恢复并查集结构。</a:t>
            </a:r>
            <a:endParaRPr lang="zh-CN" altLang="en-US" sz="2400">
              <a:latin typeface="+mj-ea"/>
              <a:ea typeface="+mj-ea"/>
              <a:cs typeface="+mj-ea"/>
            </a:endParaRPr>
          </a:p>
          <a:p>
            <a:pPr indent="457200" fontAlgn="auto">
              <a:lnSpc>
                <a:spcPct val="150000"/>
              </a:lnSpc>
            </a:pPr>
            <a:endParaRPr lang="zh-CN" altLang="en-US" sz="2400">
              <a:latin typeface="+mn-ea"/>
              <a:cs typeface="+mn-ea"/>
            </a:endParaRPr>
          </a:p>
        </p:txBody>
      </p:sp>
      <p:pic>
        <p:nvPicPr>
          <p:cNvPr id="3" name="图片 -2147482574" descr="86d3af518445ba4604c2397d602eb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324100"/>
            <a:ext cx="4109720" cy="27311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-214748257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6400" y="2552700"/>
            <a:ext cx="3957320" cy="219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右箭头 7"/>
          <p:cNvSpPr/>
          <p:nvPr/>
        </p:nvSpPr>
        <p:spPr>
          <a:xfrm>
            <a:off x="11430000" y="3543300"/>
            <a:ext cx="1371600" cy="533400"/>
          </a:xfrm>
          <a:prstGeom prst="rightArrow">
            <a:avLst/>
          </a:prstGeom>
          <a:solidFill>
            <a:srgbClr val="EAF1EA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1353800" y="3238500"/>
            <a:ext cx="1619250" cy="469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路径压缩</a:t>
            </a:r>
            <a:endParaRPr lang="zh-CN" altLang="en-US" sz="2000"/>
          </a:p>
        </p:txBody>
      </p:sp>
      <p:sp>
        <p:nvSpPr>
          <p:cNvPr id="11" name="文本框 10"/>
          <p:cNvSpPr txBox="1"/>
          <p:nvPr/>
        </p:nvSpPr>
        <p:spPr>
          <a:xfrm>
            <a:off x="8229600" y="5436235"/>
            <a:ext cx="4157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一条链式结构（</a:t>
            </a:r>
            <a:r>
              <a:rPr lang="en-US" altLang="zh-CN" sz="2000"/>
              <a:t>A </a:t>
            </a:r>
            <a:r>
              <a:rPr lang="en-US" altLang="en-US" sz="2000"/>
              <a:t>→</a:t>
            </a:r>
            <a:r>
              <a:rPr lang="en-US" altLang="zh-CN" sz="2000"/>
              <a:t> B </a:t>
            </a:r>
            <a:r>
              <a:rPr lang="en-US" altLang="en-US" sz="2000"/>
              <a:t>→</a:t>
            </a:r>
            <a:r>
              <a:rPr lang="en-US" altLang="zh-CN" sz="2000"/>
              <a:t> C </a:t>
            </a:r>
            <a:r>
              <a:rPr lang="en-US" altLang="en-US" sz="2000"/>
              <a:t>→</a:t>
            </a:r>
            <a:r>
              <a:rPr lang="en-US" altLang="zh-CN" sz="2000"/>
              <a:t> D </a:t>
            </a:r>
            <a:r>
              <a:rPr lang="en-US" altLang="en-US" sz="2000"/>
              <a:t>→</a:t>
            </a:r>
            <a:r>
              <a:rPr lang="en-US" altLang="zh-CN" sz="2000"/>
              <a:t> E</a:t>
            </a:r>
            <a:r>
              <a:rPr lang="zh-CN" altLang="en-US" sz="2000"/>
              <a:t>）</a:t>
            </a:r>
            <a:endParaRPr lang="zh-CN" altLang="en-US" sz="2000"/>
          </a:p>
        </p:txBody>
      </p:sp>
      <p:sp>
        <p:nvSpPr>
          <p:cNvPr id="12" name="文本框 11"/>
          <p:cNvSpPr txBox="1"/>
          <p:nvPr/>
        </p:nvSpPr>
        <p:spPr>
          <a:xfrm>
            <a:off x="13869670" y="5459730"/>
            <a:ext cx="19640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/>
              <a:t>结构变得扁平化</a:t>
            </a:r>
            <a:endParaRPr lang="zh-CN" altLang="en-US" sz="2000"/>
          </a:p>
        </p:txBody>
      </p:sp>
      <p:cxnSp>
        <p:nvCxnSpPr>
          <p:cNvPr id="13" name="直接连接符 12"/>
          <p:cNvCxnSpPr/>
          <p:nvPr/>
        </p:nvCxnSpPr>
        <p:spPr>
          <a:xfrm>
            <a:off x="7976870" y="2171700"/>
            <a:ext cx="24130" cy="5031105"/>
          </a:xfrm>
          <a:prstGeom prst="line">
            <a:avLst/>
          </a:prstGeom>
          <a:ln w="38100">
            <a:solidFill>
              <a:srgbClr val="D4DFE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9" grpId="0"/>
      <p:bldP spid="8" grpId="0" animBg="1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1425796">
            <a:off x="-4836105" y="-3855776"/>
            <a:ext cx="17005599" cy="1898368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并查集算法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1390" y="195199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EAF1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47800" y="2476500"/>
            <a:ext cx="8535035" cy="5799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800" b="1">
                <a:latin typeface="+mn-ea"/>
                <a:cs typeface="+mn-ea"/>
              </a:rPr>
              <a:t>2.</a:t>
            </a:r>
            <a:r>
              <a:rPr lang="zh-CN" altLang="en-US" sz="2800" b="1">
                <a:latin typeface="+mn-ea"/>
                <a:cs typeface="+mn-ea"/>
              </a:rPr>
              <a:t>算法过程：</a:t>
            </a:r>
            <a:endParaRPr lang="zh-CN" altLang="en-US" sz="2800" b="1">
              <a:latin typeface="+mn-ea"/>
              <a:cs typeface="+mn-ea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latin typeface="+mn-ea"/>
                <a:cs typeface="+mn-ea"/>
              </a:rPr>
              <a:t>初始化</a:t>
            </a:r>
            <a:r>
              <a:rPr lang="en-US" altLang="zh-CN" sz="2400" b="1">
                <a:latin typeface="+mn-ea"/>
                <a:cs typeface="+mn-ea"/>
              </a:rPr>
              <a:t>:</a:t>
            </a:r>
            <a:r>
              <a:rPr lang="en-US" altLang="zh-CN" sz="2400">
                <a:latin typeface="+mn-ea"/>
                <a:cs typeface="+mn-ea"/>
              </a:rPr>
              <a:t>fa[i]=i--</a:t>
            </a:r>
            <a:r>
              <a:rPr lang="zh-CN" altLang="en-US" sz="2400">
                <a:latin typeface="+mn-ea"/>
                <a:cs typeface="+mn-ea"/>
              </a:rPr>
              <a:t>祖先为自己、</a:t>
            </a:r>
            <a:r>
              <a:rPr lang="en-US" altLang="zh-CN" sz="2400">
                <a:latin typeface="+mn-ea"/>
                <a:cs typeface="+mn-ea"/>
              </a:rPr>
              <a:t>rk[i]=0--</a:t>
            </a:r>
            <a:r>
              <a:rPr lang="zh-CN" altLang="en-US" sz="2400">
                <a:latin typeface="+mn-ea"/>
                <a:cs typeface="+mn-ea"/>
              </a:rPr>
              <a:t>秩为</a:t>
            </a:r>
            <a:r>
              <a:rPr lang="en-US" altLang="zh-CN" sz="2400">
                <a:latin typeface="+mn-ea"/>
                <a:cs typeface="+mn-ea"/>
              </a:rPr>
              <a:t>0</a:t>
            </a:r>
            <a:r>
              <a:rPr lang="zh-CN" altLang="en-US" sz="2400">
                <a:latin typeface="+mn-ea"/>
                <a:cs typeface="+mn-ea"/>
              </a:rPr>
              <a:t>，栈</a:t>
            </a:r>
            <a:r>
              <a:rPr lang="en-US" altLang="zh-CN" sz="2400">
                <a:latin typeface="+mn-ea"/>
                <a:cs typeface="+mn-ea"/>
              </a:rPr>
              <a:t>temp[]--</a:t>
            </a:r>
            <a:r>
              <a:rPr lang="zh-CN" altLang="en-US" sz="2400">
                <a:latin typeface="+mn-ea"/>
                <a:cs typeface="+mn-ea"/>
              </a:rPr>
              <a:t>记录合并状态</a:t>
            </a:r>
            <a:endParaRPr lang="zh-CN" altLang="en-US" sz="2400">
              <a:latin typeface="+mn-ea"/>
              <a:cs typeface="+mn-ea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latin typeface="+mn-ea"/>
                <a:cs typeface="+mn-ea"/>
              </a:rPr>
              <a:t>枚举每条边判断是否是桥：</a:t>
            </a:r>
            <a:r>
              <a:rPr lang="zh-CN" altLang="en-US" sz="2400">
                <a:latin typeface="+mn-ea"/>
                <a:cs typeface="+mn-ea"/>
              </a:rPr>
              <a:t>遍历每条边（</a:t>
            </a:r>
            <a:r>
              <a:rPr lang="en-US" altLang="zh-CN" sz="2400">
                <a:latin typeface="+mn-ea"/>
                <a:cs typeface="+mn-ea"/>
              </a:rPr>
              <a:t>u</a:t>
            </a:r>
            <a:r>
              <a:rPr lang="zh-CN" altLang="en-US" sz="2400">
                <a:latin typeface="+mn-ea"/>
                <a:cs typeface="+mn-ea"/>
              </a:rPr>
              <a:t>，</a:t>
            </a:r>
            <a:r>
              <a:rPr lang="en-US" altLang="zh-CN" sz="2400">
                <a:latin typeface="+mn-ea"/>
                <a:cs typeface="+mn-ea"/>
              </a:rPr>
              <a:t>v</a:t>
            </a:r>
            <a:r>
              <a:rPr lang="zh-CN" altLang="en-US" sz="2400">
                <a:latin typeface="+mn-ea"/>
                <a:cs typeface="+mn-ea"/>
              </a:rPr>
              <a:t>），作为</a:t>
            </a:r>
            <a:r>
              <a:rPr lang="en-US" altLang="zh-CN" sz="2400" b="1">
                <a:latin typeface="+mn-ea"/>
                <a:cs typeface="+mn-ea"/>
              </a:rPr>
              <a:t>“</a:t>
            </a:r>
            <a:r>
              <a:rPr lang="zh-CN" altLang="en-US" sz="2400" b="1">
                <a:latin typeface="+mn-ea"/>
                <a:cs typeface="+mn-ea"/>
              </a:rPr>
              <a:t>当前被删除边</a:t>
            </a:r>
            <a:r>
              <a:rPr lang="en-US" altLang="zh-CN" sz="2400" b="1">
                <a:latin typeface="+mn-ea"/>
                <a:cs typeface="+mn-ea"/>
              </a:rPr>
              <a:t>”</a:t>
            </a:r>
            <a:r>
              <a:rPr lang="zh-CN" altLang="en-US" sz="2400">
                <a:latin typeface="+mn-ea"/>
                <a:cs typeface="+mn-ea"/>
              </a:rPr>
              <a:t>，在跳过该边的前提下，对剩余所有边执行合并操作</a:t>
            </a:r>
            <a:r>
              <a:rPr lang="en-US" altLang="zh-CN" sz="2400">
                <a:latin typeface="+mn-ea"/>
                <a:cs typeface="+mn-ea"/>
              </a:rPr>
              <a:t>Union(x</a:t>
            </a:r>
            <a:r>
              <a:rPr lang="zh-CN" altLang="en-US" sz="2400">
                <a:latin typeface="+mn-ea"/>
                <a:cs typeface="+mn-ea"/>
              </a:rPr>
              <a:t>，</a:t>
            </a:r>
            <a:r>
              <a:rPr lang="en-US" altLang="zh-CN" sz="2400">
                <a:latin typeface="+mn-ea"/>
                <a:cs typeface="+mn-ea"/>
              </a:rPr>
              <a:t>y)</a:t>
            </a:r>
            <a:r>
              <a:rPr lang="zh-CN" altLang="en-US" sz="2400">
                <a:latin typeface="+mn-ea"/>
                <a:cs typeface="+mn-ea"/>
              </a:rPr>
              <a:t>，需要注意在合并操作中</a:t>
            </a:r>
            <a:r>
              <a:rPr lang="zh-CN" altLang="en-US" sz="2400">
                <a:solidFill>
                  <a:srgbClr val="FF0000"/>
                </a:solidFill>
                <a:latin typeface="+mn-ea"/>
                <a:cs typeface="+mn-ea"/>
              </a:rPr>
              <a:t>按秩合并</a:t>
            </a:r>
            <a:r>
              <a:rPr lang="zh-CN" altLang="en-US" sz="2400">
                <a:latin typeface="+mn-ea"/>
                <a:cs typeface="+mn-ea"/>
              </a:rPr>
              <a:t>，并将</a:t>
            </a:r>
            <a:r>
              <a:rPr lang="en-US" altLang="zh-CN" sz="2400">
                <a:latin typeface="+mn-ea"/>
                <a:cs typeface="+mn-ea"/>
              </a:rPr>
              <a:t>fa[]</a:t>
            </a:r>
            <a:r>
              <a:rPr lang="zh-CN" altLang="en-US" sz="2400">
                <a:latin typeface="+mn-ea"/>
                <a:cs typeface="+mn-ea"/>
              </a:rPr>
              <a:t>和</a:t>
            </a:r>
            <a:r>
              <a:rPr lang="en-US" altLang="zh-CN" sz="2400">
                <a:latin typeface="+mn-ea"/>
                <a:cs typeface="+mn-ea"/>
              </a:rPr>
              <a:t>rk[]</a:t>
            </a:r>
            <a:r>
              <a:rPr lang="zh-CN" altLang="en-US" sz="2400">
                <a:latin typeface="+mn-ea"/>
                <a:cs typeface="+mn-ea"/>
              </a:rPr>
              <a:t>的修改记录入栈</a:t>
            </a:r>
            <a:endParaRPr lang="zh-CN" altLang="en-US" sz="2400">
              <a:latin typeface="+mn-ea"/>
              <a:cs typeface="+mn-ea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latin typeface="+mn-ea"/>
                <a:cs typeface="+mn-ea"/>
              </a:rPr>
              <a:t>判断连通性：</a:t>
            </a:r>
            <a:r>
              <a:rPr lang="zh-CN" altLang="en-US" sz="2400">
                <a:latin typeface="+mn-ea"/>
                <a:cs typeface="+mn-ea"/>
              </a:rPr>
              <a:t>判断</a:t>
            </a:r>
            <a:r>
              <a:rPr lang="en-US" altLang="zh-CN" sz="2400">
                <a:latin typeface="+mn-ea"/>
                <a:cs typeface="+mn-ea"/>
              </a:rPr>
              <a:t>find(u)</a:t>
            </a:r>
            <a:r>
              <a:rPr lang="zh-CN" altLang="en-US" sz="2400">
                <a:latin typeface="+mn-ea"/>
                <a:cs typeface="+mn-ea"/>
              </a:rPr>
              <a:t>是否等于</a:t>
            </a:r>
            <a:r>
              <a:rPr lang="en-US" altLang="zh-CN" sz="2400">
                <a:latin typeface="+mn-ea"/>
                <a:cs typeface="+mn-ea"/>
              </a:rPr>
              <a:t>find(v),</a:t>
            </a:r>
            <a:r>
              <a:rPr lang="zh-CN" altLang="en-US" sz="2400">
                <a:latin typeface="+mn-ea"/>
                <a:cs typeface="+mn-ea"/>
              </a:rPr>
              <a:t>等于</a:t>
            </a:r>
            <a:r>
              <a:rPr lang="en-US" altLang="zh-CN" sz="2400">
                <a:latin typeface="+mn-ea"/>
                <a:cs typeface="+mn-ea"/>
              </a:rPr>
              <a:t>--&gt;</a:t>
            </a:r>
            <a:r>
              <a:rPr lang="zh-CN" altLang="en-US" sz="2400">
                <a:latin typeface="+mn-ea"/>
                <a:cs typeface="+mn-ea"/>
              </a:rPr>
              <a:t>不是</a:t>
            </a:r>
            <a:r>
              <a:rPr lang="en-US" altLang="zh-CN" sz="2400">
                <a:latin typeface="+mn-ea"/>
                <a:cs typeface="+mn-ea"/>
              </a:rPr>
              <a:t>“</a:t>
            </a:r>
            <a:r>
              <a:rPr lang="zh-CN" altLang="en-US" sz="2400">
                <a:latin typeface="+mn-ea"/>
                <a:cs typeface="+mn-ea"/>
              </a:rPr>
              <a:t>桥</a:t>
            </a:r>
            <a:r>
              <a:rPr lang="en-US" altLang="zh-CN" sz="2400">
                <a:latin typeface="+mn-ea"/>
                <a:cs typeface="+mn-ea"/>
              </a:rPr>
              <a:t>”;</a:t>
            </a:r>
            <a:r>
              <a:rPr lang="zh-CN" altLang="en-US" sz="2400">
                <a:latin typeface="+mn-ea"/>
                <a:cs typeface="+mn-ea"/>
              </a:rPr>
              <a:t>不等于</a:t>
            </a:r>
            <a:r>
              <a:rPr lang="en-US" altLang="zh-CN" sz="2400">
                <a:latin typeface="+mn-ea"/>
                <a:cs typeface="+mn-ea"/>
              </a:rPr>
              <a:t>--&gt;</a:t>
            </a:r>
            <a:r>
              <a:rPr lang="zh-CN" altLang="en-US" sz="2400">
                <a:latin typeface="+mn-ea"/>
                <a:cs typeface="+mn-ea"/>
              </a:rPr>
              <a:t>是</a:t>
            </a:r>
            <a:r>
              <a:rPr lang="en-US" altLang="zh-CN" sz="2400">
                <a:latin typeface="+mn-ea"/>
                <a:cs typeface="+mn-ea"/>
              </a:rPr>
              <a:t>“</a:t>
            </a:r>
            <a:r>
              <a:rPr lang="zh-CN" altLang="en-US" sz="2400">
                <a:latin typeface="+mn-ea"/>
                <a:cs typeface="+mn-ea"/>
              </a:rPr>
              <a:t>桥</a:t>
            </a:r>
            <a:r>
              <a:rPr lang="en-US" altLang="zh-CN" sz="2400">
                <a:latin typeface="+mn-ea"/>
                <a:cs typeface="+mn-ea"/>
              </a:rPr>
              <a:t>”</a:t>
            </a:r>
            <a:endParaRPr lang="zh-CN" altLang="en-US" sz="2400">
              <a:latin typeface="+mn-ea"/>
              <a:cs typeface="+mn-ea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b="1">
                <a:latin typeface="+mn-ea"/>
                <a:cs typeface="+mn-ea"/>
              </a:rPr>
              <a:t>回滚操作：</a:t>
            </a:r>
            <a:r>
              <a:rPr lang="zh-CN" altLang="en-US" sz="2400">
                <a:latin typeface="+mn-ea"/>
                <a:cs typeface="+mn-ea"/>
              </a:rPr>
              <a:t>调用</a:t>
            </a:r>
            <a:r>
              <a:rPr lang="en-US" altLang="zh-CN" sz="2400">
                <a:latin typeface="+mn-ea"/>
                <a:cs typeface="+mn-ea"/>
              </a:rPr>
              <a:t>Pop()</a:t>
            </a:r>
            <a:r>
              <a:rPr lang="zh-CN" altLang="en-US" sz="2400">
                <a:latin typeface="+mn-ea"/>
                <a:cs typeface="+mn-ea"/>
              </a:rPr>
              <a:t>操作恢复操作前的并查集状态。</a:t>
            </a:r>
            <a:endParaRPr lang="zh-CN" altLang="en-US" sz="2400">
              <a:latin typeface="+mn-ea"/>
              <a:cs typeface="+mn-ea"/>
            </a:endParaRPr>
          </a:p>
        </p:txBody>
      </p:sp>
      <p:pic>
        <p:nvPicPr>
          <p:cNvPr id="-2147482585" name="图片 -2147482586" descr="https://upload.wikimedia.org/wikipedia/commons/thumb/d/df/Graph_cut_edges.svg/200px-Graph_cut_edges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660" y="2324100"/>
            <a:ext cx="3281680" cy="32816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-2147482513" name="图片 -2147482514" descr="1a58fa0f91fc25920ce21dfaa667e69"/>
          <p:cNvPicPr>
            <a:picLocks noChangeAspect="1"/>
          </p:cNvPicPr>
          <p:nvPr/>
        </p:nvPicPr>
        <p:blipFill>
          <a:blip r:embed="rId3"/>
          <a:srcRect t="1651"/>
          <a:stretch>
            <a:fillRect/>
          </a:stretch>
        </p:blipFill>
        <p:spPr>
          <a:xfrm>
            <a:off x="13868400" y="2476500"/>
            <a:ext cx="2897505" cy="32524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10177145" y="5905500"/>
            <a:ext cx="7430770" cy="3081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800" b="1">
                <a:latin typeface="+mn-ea"/>
                <a:cs typeface="+mn-ea"/>
              </a:rPr>
              <a:t>3.时间复杂度：</a:t>
            </a:r>
            <a:endParaRPr lang="en-US" altLang="zh-CN" sz="2800" b="1">
              <a:latin typeface="+mn-ea"/>
              <a:cs typeface="+mn-ea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/>
              <a:t>外层遍历</a:t>
            </a:r>
            <a:r>
              <a:rPr lang="en-US" altLang="zh-CN" sz="2400"/>
              <a:t>m</a:t>
            </a:r>
            <a:r>
              <a:rPr lang="zh-CN" altLang="en-US" sz="2400"/>
              <a:t>条边</a:t>
            </a:r>
            <a:endParaRPr lang="zh-CN" altLang="en-US" sz="2400"/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/>
              <a:t>内层合并</a:t>
            </a:r>
            <a:r>
              <a:rPr lang="en-US" altLang="zh-CN" sz="2400"/>
              <a:t>m-1</a:t>
            </a:r>
            <a:r>
              <a:rPr lang="zh-CN" altLang="en-US" sz="2400"/>
              <a:t>条边，按秩合并复杂度为</a:t>
            </a:r>
            <a:r>
              <a:rPr lang="en-US" altLang="zh-CN" sz="2400"/>
              <a:t>O(log m)</a:t>
            </a:r>
            <a:endParaRPr lang="en-US" altLang="zh-CN" sz="2400"/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/>
              <a:t>初始化和预处理开销</a:t>
            </a:r>
            <a:r>
              <a:rPr lang="en-US" altLang="zh-CN" sz="2400"/>
              <a:t>O(n+m)</a:t>
            </a:r>
            <a:endParaRPr lang="en-US" altLang="zh-CN" sz="2400"/>
          </a:p>
          <a:p>
            <a:pPr indent="0" fontAlgn="auto">
              <a:lnSpc>
                <a:spcPct val="150000"/>
              </a:lnSpc>
            </a:pPr>
            <a:r>
              <a:rPr lang="en-US" altLang="zh-CN" sz="2400"/>
              <a:t>----</a:t>
            </a:r>
            <a:r>
              <a:rPr lang="zh-CN" altLang="en-US" sz="2400"/>
              <a:t>总时间复杂度</a:t>
            </a:r>
            <a:r>
              <a:rPr lang="en-US" altLang="zh-CN" sz="2400" b="1"/>
              <a:t>O( m^2 *log m)</a:t>
            </a:r>
            <a:endParaRPr lang="en-US" altLang="zh-CN" sz="2400"/>
          </a:p>
          <a:p>
            <a:pPr indent="0" fontAlgn="auto">
              <a:lnSpc>
                <a:spcPct val="150000"/>
              </a:lnSpc>
            </a:pPr>
            <a:endParaRPr lang="en-US" altLang="zh-CN" sz="2400"/>
          </a:p>
          <a:p>
            <a:pPr indent="0" fontAlgn="auto">
              <a:lnSpc>
                <a:spcPct val="150000"/>
              </a:lnSpc>
            </a:pP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549784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52099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716451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1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759653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1251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1521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214748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214748258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2147482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385432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2147482585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2147482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65625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35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1251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2262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5965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72385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2147482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2147482513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2147482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398827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4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2147482513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2147482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837552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35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1251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2262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35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75965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72385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2147482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56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2147482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8543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2147482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2147482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2147482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3755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2147482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9882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21474825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21474825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6" grpId="1"/>
      <p:bldP spid="6" grpId="2"/>
      <p:bldP spid="9" grpId="1"/>
      <p:bldP spid="6" grpId="3"/>
      <p:bldP spid="9" grpId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-2868523" y="2438918"/>
            <a:ext cx="10541077" cy="10522453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463659" y="-599139"/>
            <a:ext cx="5865675" cy="523105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562600" y="2439035"/>
            <a:ext cx="106578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Calibri" panose="020F0502020204030204" charset="0"/>
                <a:cs typeface="Calibri" panose="020F0502020204030204" charset="0"/>
              </a:rPr>
              <a:t>尽管比起基准算法效率已有提升，</a:t>
            </a:r>
            <a:endParaRPr lang="zh-CN" alt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zh-CN" altLang="en-US" sz="2400">
                <a:latin typeface="Calibri" panose="020F0502020204030204" charset="0"/>
                <a:cs typeface="Calibri" panose="020F0502020204030204" charset="0"/>
              </a:rPr>
              <a:t>但是在给定的大图数据上仍无法在短时间内得出结果</a:t>
            </a:r>
            <a:r>
              <a:rPr lang="en-US" altLang="zh-CN" sz="2400">
                <a:latin typeface="Calibri" panose="020F0502020204030204" charset="0"/>
                <a:cs typeface="Calibri" panose="020F0502020204030204" charset="0"/>
              </a:rPr>
              <a:t>.</a:t>
            </a:r>
            <a:endParaRPr lang="en-US" altLang="zh-CN" sz="24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15000" y="4381500"/>
            <a:ext cx="949833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2400">
                <a:latin typeface="Calibri" panose="020F0502020204030204" charset="0"/>
                <a:cs typeface="Calibri" panose="020F0502020204030204" charset="0"/>
              </a:rPr>
              <a:t>在每次判断一条边是否为桥时，都需要将图中除该边外的所有边逐一合并入并查集，完成判断后再逐条撤销所有操作。</a:t>
            </a:r>
            <a:endParaRPr lang="zh-CN" altLang="en-US" sz="2400">
              <a:latin typeface="Calibri" panose="020F0502020204030204" charset="0"/>
              <a:cs typeface="Calibri" panose="020F0502020204030204" charset="0"/>
            </a:endParaRPr>
          </a:p>
          <a:p>
            <a:pPr algn="l">
              <a:buClrTx/>
              <a:buSzTx/>
              <a:buNone/>
            </a:pPr>
            <a:endParaRPr lang="zh-CN" altLang="en-US" sz="2400">
              <a:latin typeface="Calibri" panose="020F0502020204030204" charset="0"/>
              <a:cs typeface="Calibri" panose="020F0502020204030204" charset="0"/>
            </a:endParaRPr>
          </a:p>
          <a:p>
            <a:pPr algn="l">
              <a:buClrTx/>
              <a:buSzTx/>
              <a:buNone/>
            </a:pPr>
            <a:r>
              <a:rPr lang="zh-CN" altLang="en-US" sz="2400">
                <a:latin typeface="Calibri" panose="020F0502020204030204" charset="0"/>
                <a:cs typeface="Calibri" panose="020F0502020204030204" charset="0"/>
              </a:rPr>
              <a:t>在这一过程中，会导致前面的边在栈中频繁弹入弹出，而后面的边基本没有太多操作，导致整体性能下降</a:t>
            </a:r>
            <a:r>
              <a:rPr lang="en-US" altLang="zh-CN" sz="2400">
                <a:latin typeface="Calibri" panose="020F0502020204030204" charset="0"/>
                <a:cs typeface="Calibri" panose="020F0502020204030204" charset="0"/>
              </a:rPr>
              <a:t>.</a:t>
            </a:r>
            <a:endParaRPr lang="en-US" altLang="zh-CN" sz="24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458200" y="7429500"/>
            <a:ext cx="368744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8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sym typeface="+mn-ea"/>
              </a:rPr>
              <a:t>“</a:t>
            </a:r>
            <a:r>
              <a:rPr lang="zh-CN" altLang="en-US" sz="88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sym typeface="+mn-ea"/>
              </a:rPr>
              <a:t>优化</a:t>
            </a:r>
            <a:r>
              <a:rPr lang="en-US" altLang="zh-CN" sz="88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sym typeface="+mn-ea"/>
              </a:rPr>
              <a:t>”</a:t>
            </a:r>
            <a:endParaRPr lang="en-US" altLang="zh-CN" sz="8800" b="1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7" grpId="1"/>
      <p:bldP spid="8" grpId="0" build="p"/>
      <p:bldP spid="8" grpId="1"/>
      <p:bldP spid="10" grpId="0" build="p"/>
      <p:bldP spid="10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2386853">
            <a:off x="-3305272" y="-1267467"/>
            <a:ext cx="14322769" cy="1323015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049000" y="1919923"/>
            <a:ext cx="6866890" cy="6447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1300" b="1">
                <a:solidFill>
                  <a:srgbClr val="F6E4E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04</a:t>
            </a:r>
            <a:endParaRPr lang="en-US" altLang="zh-CN" sz="41300" b="1">
              <a:solidFill>
                <a:srgbClr val="F6E4E3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515600" y="4389120"/>
            <a:ext cx="5867400" cy="15087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6600" b="1">
                <a:solidFill>
                  <a:schemeClr val="tx1">
                    <a:lumMod val="50000"/>
                    <a:lumOff val="50000"/>
                  </a:schemeClr>
                </a:solidFill>
                <a:latin typeface="华文琥珀" panose="02010800040101010101" charset="-122"/>
                <a:ea typeface="华文琥珀" panose="02010800040101010101" charset="-122"/>
              </a:rPr>
              <a:t>算法优化</a:t>
            </a:r>
            <a:endParaRPr lang="zh-CN" altLang="en-US" sz="6600" b="1">
              <a:solidFill>
                <a:schemeClr val="tx1">
                  <a:lumMod val="50000"/>
                  <a:lumOff val="50000"/>
                </a:schemeClr>
              </a:solidFill>
              <a:latin typeface="华文琥珀" panose="02010800040101010101" charset="-122"/>
              <a:ea typeface="华文琥珀" panose="0201080004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-2868523" y="2438918"/>
            <a:ext cx="10541077" cy="10522453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463659" y="-599139"/>
            <a:ext cx="5865675" cy="5231058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线段树分治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1390" y="195199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314450" y="2287270"/>
            <a:ext cx="9026525" cy="6426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 b="1"/>
              <a:t>1.1  </a:t>
            </a:r>
            <a:r>
              <a:rPr lang="zh-CN" altLang="en-US" sz="2400" b="1"/>
              <a:t>线段树：</a:t>
            </a:r>
            <a:endParaRPr lang="zh-CN" altLang="en-US" sz="2400" b="1"/>
          </a:p>
          <a:p>
            <a:pPr indent="457200" fontAlgn="auto">
              <a:lnSpc>
                <a:spcPct val="150000"/>
              </a:lnSpc>
            </a:pPr>
            <a:r>
              <a:rPr lang="zh-CN" altLang="en-US" sz="2400"/>
              <a:t>线段树是二叉树结构的衍生，主要用于高效解决数组的区间查询和区间动态修改的问题。</a:t>
            </a:r>
            <a:endParaRPr lang="zh-CN" altLang="en-US" sz="2400"/>
          </a:p>
          <a:p>
            <a:pPr indent="457200" fontAlgn="auto">
              <a:lnSpc>
                <a:spcPct val="150000"/>
              </a:lnSpc>
            </a:pPr>
            <a:r>
              <a:rPr lang="zh-CN" altLang="en-US" sz="2400"/>
              <a:t>其特点是将区间不断对半划分，构建一颗递归式的二叉树结构，使得查询和更新操作能够在</a:t>
            </a:r>
            <a:r>
              <a:rPr lang="en-US" altLang="zh-CN" sz="2400"/>
              <a:t>O(log m)</a:t>
            </a:r>
            <a:r>
              <a:rPr lang="zh-CN" altLang="en-US" sz="2400"/>
              <a:t>时间内完成。</a:t>
            </a:r>
            <a:endParaRPr lang="zh-CN" altLang="en-US" sz="2400"/>
          </a:p>
          <a:p>
            <a:pPr indent="457200" fontAlgn="auto">
              <a:lnSpc>
                <a:spcPct val="150000"/>
              </a:lnSpc>
            </a:pPr>
            <a:endParaRPr lang="zh-CN" altLang="en-US" sz="2400"/>
          </a:p>
          <a:p>
            <a:pPr indent="457200" fontAlgn="auto">
              <a:lnSpc>
                <a:spcPct val="150000"/>
              </a:lnSpc>
            </a:pPr>
            <a:r>
              <a:rPr lang="zh-CN" altLang="en-US" sz="2400"/>
              <a:t>举例而言，如若现在有</a:t>
            </a:r>
            <a:r>
              <a:rPr lang="en-US" altLang="zh-CN" sz="2400"/>
              <a:t>8</a:t>
            </a:r>
            <a:r>
              <a:rPr lang="zh-CN" altLang="en-US" sz="2400"/>
              <a:t>条边，编号为</a:t>
            </a:r>
            <a:r>
              <a:rPr lang="en-US" altLang="zh-CN" sz="2400"/>
              <a:t>[1,8]</a:t>
            </a:r>
            <a:r>
              <a:rPr lang="zh-CN" altLang="en-US" sz="2400"/>
              <a:t>，线段树的结构会递归划分为如图</a:t>
            </a:r>
            <a:r>
              <a:rPr lang="en-US" altLang="zh-CN" sz="2400"/>
              <a:t>10</a:t>
            </a:r>
            <a:r>
              <a:rPr lang="zh-CN" altLang="en-US" sz="2400"/>
              <a:t>所示，当你想要查询边</a:t>
            </a:r>
            <a:r>
              <a:rPr lang="en-US" altLang="zh-CN" sz="2400"/>
              <a:t>1</a:t>
            </a:r>
            <a:r>
              <a:rPr lang="zh-CN" altLang="en-US" sz="2400"/>
              <a:t>时，先查询节点【</a:t>
            </a:r>
            <a:r>
              <a:rPr lang="en-US" altLang="zh-CN" sz="2400"/>
              <a:t>1,8</a:t>
            </a:r>
            <a:r>
              <a:rPr lang="zh-CN" altLang="en-US" sz="2400"/>
              <a:t>】，然后查询节点【</a:t>
            </a:r>
            <a:r>
              <a:rPr lang="en-US" altLang="zh-CN" sz="2400"/>
              <a:t>1,4</a:t>
            </a:r>
            <a:r>
              <a:rPr lang="zh-CN" altLang="en-US" sz="2400"/>
              <a:t>】，查询节点【</a:t>
            </a:r>
            <a:r>
              <a:rPr lang="en-US" altLang="zh-CN" sz="2400"/>
              <a:t>1,2</a:t>
            </a:r>
            <a:r>
              <a:rPr lang="zh-CN" altLang="en-US" sz="2400"/>
              <a:t>】，最后到达边</a:t>
            </a:r>
            <a:r>
              <a:rPr lang="en-US" altLang="zh-CN" sz="2400"/>
              <a:t>1</a:t>
            </a:r>
            <a:r>
              <a:rPr lang="zh-CN" altLang="en-US" sz="2400"/>
              <a:t>，查询路径如红色箭头所示。</a:t>
            </a:r>
            <a:endParaRPr lang="zh-CN" altLang="en-US" sz="2400"/>
          </a:p>
        </p:txBody>
      </p:sp>
      <p:pic>
        <p:nvPicPr>
          <p:cNvPr id="-2147482567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2552700"/>
            <a:ext cx="5957570" cy="5203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-2868523" y="2438918"/>
            <a:ext cx="10541077" cy="10522453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463659" y="-599139"/>
            <a:ext cx="5865675" cy="5231058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线段树分治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1390" y="195199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314450" y="2287270"/>
            <a:ext cx="9026525" cy="6426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 b="1"/>
              <a:t>1.2   </a:t>
            </a:r>
            <a:r>
              <a:rPr lang="zh-CN" altLang="en-US" sz="2400" b="1"/>
              <a:t>线段树使用：</a:t>
            </a:r>
            <a:endParaRPr lang="zh-CN" altLang="en-US" sz="2400" b="1"/>
          </a:p>
          <a:p>
            <a:pPr indent="457200" fontAlgn="auto">
              <a:lnSpc>
                <a:spcPct val="150000"/>
              </a:lnSpc>
            </a:pPr>
            <a:r>
              <a:rPr lang="zh-CN" altLang="en-US" sz="2400"/>
              <a:t>不是使用传统意义上的线段树结构来存储，而是借鉴其</a:t>
            </a:r>
            <a:r>
              <a:rPr lang="en-US" altLang="zh-CN" sz="2400"/>
              <a:t>“</a:t>
            </a:r>
            <a:r>
              <a:rPr lang="zh-CN" altLang="en-US" sz="2400"/>
              <a:t>区间划分</a:t>
            </a:r>
            <a:r>
              <a:rPr lang="en-US" altLang="zh-CN" sz="2400"/>
              <a:t>+</a:t>
            </a:r>
            <a:r>
              <a:rPr lang="zh-CN" altLang="en-US" sz="2400"/>
              <a:t>递归处理</a:t>
            </a:r>
            <a:r>
              <a:rPr lang="en-US" altLang="zh-CN" sz="2400"/>
              <a:t>”</a:t>
            </a:r>
            <a:r>
              <a:rPr lang="zh-CN" altLang="en-US" sz="2400"/>
              <a:t>的模式。</a:t>
            </a:r>
            <a:endParaRPr lang="zh-CN" altLang="en-US" sz="2400"/>
          </a:p>
          <a:p>
            <a:pPr indent="457200" fontAlgn="auto">
              <a:lnSpc>
                <a:spcPct val="150000"/>
              </a:lnSpc>
            </a:pPr>
            <a:endParaRPr lang="zh-CN" altLang="en-US" sz="2400"/>
          </a:p>
          <a:p>
            <a:pPr indent="457200" fontAlgn="auto">
              <a:lnSpc>
                <a:spcPct val="150000"/>
              </a:lnSpc>
            </a:pPr>
            <a:r>
              <a:rPr lang="zh-CN" altLang="en-US" sz="2400"/>
              <a:t>实际上，会用深搜的方法遍历每一个叶子节点，每一个叶子节点相当于一条边，每当访问某一边时，程序按照线段树划分路径进入目标叶节点，并在路径中将右侧子区间所代表的边集合批量合并到并查集中，同时记录相关状态压入操作栈中，待处理完成后再进行撤销操作。</a:t>
            </a:r>
            <a:endParaRPr lang="zh-CN" altLang="en-US" sz="2400"/>
          </a:p>
          <a:p>
            <a:pPr indent="457200" fontAlgn="auto">
              <a:lnSpc>
                <a:spcPct val="150000"/>
              </a:lnSpc>
            </a:pPr>
            <a:r>
              <a:rPr lang="zh-CN" altLang="en-US" sz="2400"/>
              <a:t>查询边</a:t>
            </a:r>
            <a:r>
              <a:rPr lang="en-US" altLang="zh-CN" sz="2400"/>
              <a:t>1</a:t>
            </a:r>
            <a:r>
              <a:rPr lang="zh-CN" altLang="en-US" sz="2400"/>
              <a:t>的操作，会经过节点【</a:t>
            </a:r>
            <a:r>
              <a:rPr lang="en-US" altLang="zh-CN" sz="2400"/>
              <a:t>1,8</a:t>
            </a:r>
            <a:r>
              <a:rPr lang="zh-CN" altLang="en-US" sz="2400"/>
              <a:t>】，【</a:t>
            </a:r>
            <a:r>
              <a:rPr lang="en-US" altLang="zh-CN" sz="2400"/>
              <a:t>1,4</a:t>
            </a:r>
            <a:r>
              <a:rPr lang="zh-CN" altLang="en-US" sz="2400"/>
              <a:t>】，【</a:t>
            </a:r>
            <a:r>
              <a:rPr lang="en-US" altLang="zh-CN" sz="2400"/>
              <a:t>1,2</a:t>
            </a:r>
            <a:r>
              <a:rPr lang="zh-CN" altLang="en-US" sz="2400"/>
              <a:t>】到达节点</a:t>
            </a:r>
            <a:r>
              <a:rPr lang="en-US" altLang="zh-CN" sz="2400"/>
              <a:t>1</a:t>
            </a:r>
            <a:r>
              <a:rPr lang="zh-CN" altLang="en-US" sz="2400"/>
              <a:t>，在这个过程中不断的将右区间，即【</a:t>
            </a:r>
            <a:r>
              <a:rPr lang="en-US" altLang="zh-CN" sz="2400"/>
              <a:t>5,8</a:t>
            </a:r>
            <a:r>
              <a:rPr lang="zh-CN" altLang="en-US" sz="2400"/>
              <a:t>】，【</a:t>
            </a:r>
            <a:r>
              <a:rPr lang="en-US" altLang="zh-CN" sz="2400"/>
              <a:t>3,4</a:t>
            </a:r>
            <a:r>
              <a:rPr lang="zh-CN" altLang="en-US" sz="2400"/>
              <a:t>】压入栈。</a:t>
            </a:r>
            <a:endParaRPr lang="zh-CN" altLang="en-US" sz="2400"/>
          </a:p>
        </p:txBody>
      </p:sp>
      <p:pic>
        <p:nvPicPr>
          <p:cNvPr id="3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2552700"/>
            <a:ext cx="5957570" cy="5203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11353800" y="8038783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黄色块是现查询的节点，绿色块是压入栈的部分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-2868523" y="2438918"/>
            <a:ext cx="10541077" cy="10522453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463659" y="-599139"/>
            <a:ext cx="5865675" cy="5231058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线段树分治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1390" y="195199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95400" y="2183765"/>
            <a:ext cx="14781530" cy="170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 b="1">
                <a:sym typeface="+mn-ea"/>
              </a:rPr>
              <a:t>1.2   </a:t>
            </a:r>
            <a:r>
              <a:rPr lang="zh-CN" altLang="en-US" sz="2400" b="1">
                <a:sym typeface="+mn-ea"/>
              </a:rPr>
              <a:t>线段树使用：</a:t>
            </a:r>
            <a:endParaRPr lang="zh-CN" altLang="en-US" sz="2400" b="1"/>
          </a:p>
          <a:p>
            <a:pPr indent="0" fontAlgn="auto">
              <a:lnSpc>
                <a:spcPct val="150000"/>
              </a:lnSpc>
            </a:pPr>
            <a:r>
              <a:rPr lang="zh-CN" altLang="en-US" sz="2400"/>
              <a:t>在边</a:t>
            </a:r>
            <a:r>
              <a:rPr lang="en-US" altLang="zh-CN" sz="2400"/>
              <a:t> 1 </a:t>
            </a:r>
            <a:r>
              <a:rPr lang="zh-CN" altLang="en-US" sz="2400"/>
              <a:t>判断完成后，程序回溯到</a:t>
            </a:r>
            <a:r>
              <a:rPr lang="en-US" altLang="zh-CN" sz="2400"/>
              <a:t> </a:t>
            </a:r>
            <a:r>
              <a:rPr lang="zh-CN" altLang="en-US" sz="2400"/>
              <a:t>【</a:t>
            </a:r>
            <a:r>
              <a:rPr lang="en-US" altLang="zh-CN" sz="2400"/>
              <a:t>1,2</a:t>
            </a:r>
            <a:r>
              <a:rPr lang="zh-CN" altLang="en-US" sz="2400"/>
              <a:t>】，然后直接进入节点</a:t>
            </a:r>
            <a:r>
              <a:rPr lang="en-US" altLang="zh-CN" sz="2400"/>
              <a:t> 2</a:t>
            </a:r>
            <a:r>
              <a:rPr lang="zh-CN" altLang="en-US" sz="2400"/>
              <a:t>，即可定位边</a:t>
            </a:r>
            <a:r>
              <a:rPr lang="en-US" altLang="zh-CN" sz="2400"/>
              <a:t> 2</a:t>
            </a:r>
            <a:r>
              <a:rPr lang="zh-CN" altLang="en-US" sz="2400"/>
              <a:t>。此时无需额外合并操作和入栈操作。</a:t>
            </a:r>
            <a:endParaRPr lang="zh-CN" altLang="en-US" sz="2400"/>
          </a:p>
          <a:p>
            <a:pPr indent="457200" fontAlgn="auto">
              <a:lnSpc>
                <a:spcPct val="150000"/>
              </a:lnSpc>
            </a:pPr>
            <a:endParaRPr lang="zh-CN" altLang="en-US" sz="2400"/>
          </a:p>
        </p:txBody>
      </p:sp>
      <p:pic>
        <p:nvPicPr>
          <p:cNvPr id="3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4076700"/>
            <a:ext cx="5957570" cy="5203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-2147482565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200" y="4000500"/>
            <a:ext cx="5819775" cy="5245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右箭头 7"/>
          <p:cNvSpPr/>
          <p:nvPr/>
        </p:nvSpPr>
        <p:spPr>
          <a:xfrm>
            <a:off x="7620000" y="5676900"/>
            <a:ext cx="1981200" cy="914400"/>
          </a:xfrm>
          <a:prstGeom prst="rightArrow">
            <a:avLst/>
          </a:prstGeom>
          <a:solidFill>
            <a:srgbClr val="B3B7C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-2868523" y="2438918"/>
            <a:ext cx="10541077" cy="10522453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463659" y="-599139"/>
            <a:ext cx="5865675" cy="5231058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线段树分治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1390" y="195199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95400" y="2183765"/>
            <a:ext cx="14781530" cy="170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 b="1"/>
              <a:t>2.</a:t>
            </a:r>
            <a:r>
              <a:rPr lang="zh-CN" altLang="en-US" sz="2400" b="1"/>
              <a:t>线段树使用：</a:t>
            </a:r>
            <a:endParaRPr lang="zh-CN" altLang="en-US" sz="2400" b="1"/>
          </a:p>
          <a:p>
            <a:pPr indent="0" fontAlgn="auto">
              <a:lnSpc>
                <a:spcPct val="150000"/>
              </a:lnSpc>
            </a:pPr>
            <a:r>
              <a:rPr lang="zh-CN" altLang="en-US" sz="2400"/>
              <a:t>若继续查询</a:t>
            </a:r>
            <a:r>
              <a:rPr lang="en-US" altLang="zh-CN" sz="2400"/>
              <a:t>3</a:t>
            </a:r>
            <a:r>
              <a:rPr lang="zh-CN" altLang="en-US" sz="2400"/>
              <a:t>号边，则如图</a:t>
            </a:r>
            <a:r>
              <a:rPr lang="en-US" altLang="zh-CN" sz="2400"/>
              <a:t>12</a:t>
            </a:r>
            <a:r>
              <a:rPr lang="zh-CN" altLang="en-US" sz="2400"/>
              <a:t>所示，先从节点</a:t>
            </a:r>
            <a:r>
              <a:rPr lang="en-US" altLang="zh-CN" sz="2400"/>
              <a:t>2</a:t>
            </a:r>
            <a:r>
              <a:rPr lang="zh-CN" altLang="en-US" sz="2400"/>
              <a:t>回溯到【</a:t>
            </a:r>
            <a:r>
              <a:rPr lang="en-US" altLang="zh-CN" sz="2400"/>
              <a:t>1,2</a:t>
            </a:r>
            <a:r>
              <a:rPr lang="zh-CN" altLang="en-US" sz="2400"/>
              <a:t>】节点，然后回溯到【</a:t>
            </a:r>
            <a:r>
              <a:rPr lang="en-US" altLang="zh-CN" sz="2400"/>
              <a:t>1,4</a:t>
            </a:r>
            <a:r>
              <a:rPr lang="zh-CN" altLang="en-US" sz="2400"/>
              <a:t>】节点然后再进入【</a:t>
            </a:r>
            <a:r>
              <a:rPr lang="en-US" altLang="zh-CN" sz="2400"/>
              <a:t>3,4</a:t>
            </a:r>
            <a:r>
              <a:rPr lang="zh-CN" altLang="en-US" sz="2400"/>
              <a:t>】节点，从而找到</a:t>
            </a:r>
            <a:r>
              <a:rPr lang="en-US" altLang="zh-CN" sz="2400"/>
              <a:t>3</a:t>
            </a:r>
            <a:r>
              <a:rPr lang="zh-CN" altLang="en-US" sz="2400"/>
              <a:t>号边。</a:t>
            </a:r>
            <a:endParaRPr lang="zh-CN" altLang="en-US" sz="2400"/>
          </a:p>
          <a:p>
            <a:pPr indent="457200" fontAlgn="auto">
              <a:lnSpc>
                <a:spcPct val="150000"/>
              </a:lnSpc>
            </a:pPr>
            <a:endParaRPr lang="zh-CN" altLang="en-US" sz="2400"/>
          </a:p>
        </p:txBody>
      </p:sp>
      <p:pic>
        <p:nvPicPr>
          <p:cNvPr id="7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4152900"/>
            <a:ext cx="5819775" cy="5245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-2147482562" name="图片 -214748256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600" y="4076700"/>
            <a:ext cx="5800090" cy="53384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右箭头 7"/>
          <p:cNvSpPr/>
          <p:nvPr/>
        </p:nvSpPr>
        <p:spPr>
          <a:xfrm>
            <a:off x="7696200" y="5905500"/>
            <a:ext cx="1905000" cy="838200"/>
          </a:xfrm>
          <a:prstGeom prst="rightArrow">
            <a:avLst/>
          </a:prstGeom>
          <a:solidFill>
            <a:srgbClr val="B3B7C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-2868523" y="2438918"/>
            <a:ext cx="10541077" cy="10522453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463659" y="-599139"/>
            <a:ext cx="5865675" cy="5231058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线段树分治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1390" y="195199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95400" y="2183765"/>
            <a:ext cx="14781530" cy="170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 b="1">
                <a:sym typeface="+mn-ea"/>
              </a:rPr>
              <a:t>1.2   </a:t>
            </a:r>
            <a:r>
              <a:rPr lang="zh-CN" altLang="en-US" sz="2400" b="1">
                <a:sym typeface="+mn-ea"/>
              </a:rPr>
              <a:t>线段树使用：</a:t>
            </a:r>
            <a:endParaRPr lang="zh-CN" altLang="en-US" sz="2400" b="1"/>
          </a:p>
          <a:p>
            <a:pPr indent="0" fontAlgn="auto">
              <a:lnSpc>
                <a:spcPct val="150000"/>
              </a:lnSpc>
            </a:pPr>
            <a:r>
              <a:rPr lang="zh-CN" altLang="en-US" sz="2400"/>
              <a:t>而查询</a:t>
            </a:r>
            <a:r>
              <a:rPr lang="en-US" altLang="zh-CN" sz="2400"/>
              <a:t>4</a:t>
            </a:r>
            <a:r>
              <a:rPr lang="zh-CN" altLang="en-US" sz="2400"/>
              <a:t>号边只需先回溯到【</a:t>
            </a:r>
            <a:r>
              <a:rPr lang="en-US" altLang="zh-CN" sz="2400"/>
              <a:t>3,4</a:t>
            </a:r>
            <a:r>
              <a:rPr lang="zh-CN" altLang="en-US" sz="2400"/>
              <a:t>】节点，然后即可找到。</a:t>
            </a:r>
            <a:endParaRPr lang="zh-CN" altLang="en-US" sz="2400"/>
          </a:p>
        </p:txBody>
      </p:sp>
      <p:pic>
        <p:nvPicPr>
          <p:cNvPr id="3" name="图片 -214748256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924300"/>
            <a:ext cx="5800090" cy="53384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-214748256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848100"/>
            <a:ext cx="5892165" cy="52806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右箭头 7"/>
          <p:cNvSpPr/>
          <p:nvPr/>
        </p:nvSpPr>
        <p:spPr>
          <a:xfrm>
            <a:off x="7853045" y="5600700"/>
            <a:ext cx="1981200" cy="762000"/>
          </a:xfrm>
          <a:prstGeom prst="rightArrow">
            <a:avLst/>
          </a:prstGeom>
          <a:solidFill>
            <a:srgbClr val="B3B7C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-2868523" y="2438918"/>
            <a:ext cx="10541077" cy="10522453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463659" y="-599139"/>
            <a:ext cx="5865675" cy="5231058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19200" y="571500"/>
            <a:ext cx="656844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线段树分治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90600" y="194310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95400" y="2183765"/>
            <a:ext cx="8054975" cy="5178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 b="1">
                <a:sym typeface="+mn-ea"/>
              </a:rPr>
              <a:t>1.2   </a:t>
            </a:r>
            <a:r>
              <a:rPr lang="zh-CN" altLang="en-US" sz="2400" b="1">
                <a:sym typeface="+mn-ea"/>
              </a:rPr>
              <a:t>线段树使用：</a:t>
            </a:r>
            <a:endParaRPr lang="zh-CN" altLang="en-US" sz="2400" b="1"/>
          </a:p>
          <a:p>
            <a:pPr indent="0" fontAlgn="auto">
              <a:lnSpc>
                <a:spcPct val="150000"/>
              </a:lnSpc>
            </a:pPr>
            <a:endParaRPr lang="zh-CN" altLang="en-US" sz="2400" b="1"/>
          </a:p>
          <a:p>
            <a:pPr marL="457200" lvl="1" indent="457200" fontAlgn="auto">
              <a:lnSpc>
                <a:spcPct val="150000"/>
              </a:lnSpc>
            </a:pPr>
            <a:r>
              <a:rPr lang="zh-CN" altLang="en-US" sz="2400"/>
              <a:t>在查询完</a:t>
            </a:r>
            <a:r>
              <a:rPr lang="en-US" altLang="zh-CN" sz="2400"/>
              <a:t>4</a:t>
            </a:r>
            <a:r>
              <a:rPr lang="zh-CN" altLang="en-US" sz="2400"/>
              <a:t>号边后，如若要查询</a:t>
            </a:r>
            <a:r>
              <a:rPr lang="en-US" altLang="zh-CN" sz="2400"/>
              <a:t>5</a:t>
            </a:r>
            <a:r>
              <a:rPr lang="zh-CN" altLang="en-US" sz="2400"/>
              <a:t>号边，根据深搜的顺序，先逐步回溯到【</a:t>
            </a:r>
            <a:r>
              <a:rPr lang="en-US" altLang="zh-CN" sz="2400"/>
              <a:t>1,8</a:t>
            </a:r>
            <a:r>
              <a:rPr lang="zh-CN" altLang="en-US" sz="2400"/>
              <a:t>】节点，途中将</a:t>
            </a:r>
            <a:r>
              <a:rPr lang="en-US" altLang="zh-CN" sz="2400"/>
              <a:t>3</a:t>
            </a:r>
            <a:r>
              <a:rPr lang="zh-CN" altLang="en-US" sz="2400"/>
              <a:t>号，【</a:t>
            </a:r>
            <a:r>
              <a:rPr lang="en-US" altLang="zh-CN" sz="2400"/>
              <a:t>1,2</a:t>
            </a:r>
            <a:r>
              <a:rPr lang="zh-CN" altLang="en-US" sz="2400"/>
              <a:t>】号，【</a:t>
            </a:r>
            <a:r>
              <a:rPr lang="en-US" altLang="zh-CN" sz="2400"/>
              <a:t>5,8</a:t>
            </a:r>
            <a:r>
              <a:rPr lang="zh-CN" altLang="en-US" sz="2400"/>
              <a:t>】号节点全部弹出栈；然后进入【</a:t>
            </a:r>
            <a:r>
              <a:rPr lang="en-US" altLang="zh-CN" sz="2400"/>
              <a:t>5,8</a:t>
            </a:r>
            <a:r>
              <a:rPr lang="zh-CN" altLang="en-US" sz="2400"/>
              <a:t>】节点，在进入【</a:t>
            </a:r>
            <a:r>
              <a:rPr lang="en-US" altLang="zh-CN" sz="2400"/>
              <a:t>5,8</a:t>
            </a:r>
            <a:r>
              <a:rPr lang="zh-CN" altLang="en-US" sz="2400"/>
              <a:t>】节点之前，需要先将【</a:t>
            </a:r>
            <a:r>
              <a:rPr lang="en-US" altLang="zh-CN" sz="2400"/>
              <a:t>1,4</a:t>
            </a:r>
            <a:r>
              <a:rPr lang="zh-CN" altLang="en-US" sz="2400"/>
              <a:t>】节点囊括的边压入栈，接着进入【</a:t>
            </a:r>
            <a:r>
              <a:rPr lang="en-US" altLang="zh-CN" sz="2400"/>
              <a:t>5,6</a:t>
            </a:r>
            <a:r>
              <a:rPr lang="zh-CN" altLang="en-US" sz="2400"/>
              <a:t>】节点，同样，在这之前，先把【</a:t>
            </a:r>
            <a:r>
              <a:rPr lang="en-US" altLang="zh-CN" sz="2400"/>
              <a:t>7,8</a:t>
            </a:r>
            <a:r>
              <a:rPr lang="zh-CN" altLang="en-US" sz="2400"/>
              <a:t>】节点压入栈，接着进入</a:t>
            </a:r>
            <a:r>
              <a:rPr lang="en-US" altLang="zh-CN" sz="2400"/>
              <a:t>5</a:t>
            </a:r>
            <a:r>
              <a:rPr lang="zh-CN" altLang="en-US" sz="2400"/>
              <a:t>号节点，进入</a:t>
            </a:r>
            <a:r>
              <a:rPr lang="en-US" altLang="zh-CN" sz="2400"/>
              <a:t>5</a:t>
            </a:r>
            <a:r>
              <a:rPr lang="zh-CN" altLang="en-US" sz="2400"/>
              <a:t>号节点前同样先把</a:t>
            </a:r>
            <a:r>
              <a:rPr lang="en-US" altLang="zh-CN" sz="2400"/>
              <a:t>6</a:t>
            </a:r>
            <a:r>
              <a:rPr lang="zh-CN" altLang="en-US" sz="2400"/>
              <a:t>号节点压入栈。如此即可找到</a:t>
            </a:r>
            <a:r>
              <a:rPr lang="en-US" altLang="zh-CN" sz="2400"/>
              <a:t>5</a:t>
            </a:r>
            <a:r>
              <a:rPr lang="zh-CN" altLang="en-US" sz="2400"/>
              <a:t>号边。</a:t>
            </a:r>
            <a:endParaRPr lang="zh-CN" altLang="en-US" sz="2400"/>
          </a:p>
        </p:txBody>
      </p:sp>
      <p:pic>
        <p:nvPicPr>
          <p:cNvPr id="-2147482560" name="图片 -21474825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857500"/>
            <a:ext cx="6598920" cy="5803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7889712" y="-423652"/>
            <a:ext cx="11467938" cy="2012681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flipH="1">
            <a:off x="-1378933" y="8342980"/>
            <a:ext cx="10522933" cy="242027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990600" y="194310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219200" y="571500"/>
            <a:ext cx="12205335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优化算法</a:t>
            </a: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--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并查集</a:t>
            </a: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+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线段树分治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095500"/>
            <a:ext cx="6696710" cy="739013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8458200" y="2476500"/>
            <a:ext cx="7830185" cy="4184650"/>
          </a:xfrm>
          <a:prstGeom prst="rect">
            <a:avLst/>
          </a:prstGeom>
        </p:spPr>
        <p:txBody>
          <a:bodyPr wrap="square">
            <a:spAutoFit/>
          </a:bodyPr>
          <a:p>
            <a:pPr marL="266700" indent="-266700" algn="l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zh-CN" sz="2400" b="1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2. </a:t>
            </a:r>
            <a:r>
              <a:rPr lang="zh-CN" altLang="en-US" sz="2400" b="1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算法过程：</a:t>
            </a:r>
            <a:endParaRPr lang="en-US" altLang="zh-CN" sz="2400" b="1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85750" indent="-285750" algn="l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l"/>
            </a:pPr>
            <a:r>
              <a:rPr lang="zh-CN" altLang="en-US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将整个边编号区间</a:t>
            </a:r>
            <a:r>
              <a:rPr lang="en-US" altLang="zh-CN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[l,r] </a:t>
            </a:r>
            <a:r>
              <a:rPr lang="zh-CN" altLang="en-US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拆分为左右两段 </a:t>
            </a:r>
            <a:r>
              <a:rPr lang="en-US" altLang="zh-CN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[l,mid] </a:t>
            </a:r>
            <a:r>
              <a:rPr lang="zh-CN" altLang="en-US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与 </a:t>
            </a:r>
            <a:r>
              <a:rPr lang="en-US" altLang="zh-CN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[mid+1,r]</a:t>
            </a:r>
            <a:r>
              <a:rPr lang="zh-CN" altLang="en-US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；</a:t>
            </a:r>
            <a:endParaRPr lang="zh-CN" altLang="en-US" sz="20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85750" indent="-285750" algn="l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l"/>
            </a:pPr>
            <a:r>
              <a:rPr lang="zh-CN" altLang="en-US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将右半区间</a:t>
            </a:r>
            <a:r>
              <a:rPr lang="en-US" altLang="zh-CN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[mid+1,r]</a:t>
            </a:r>
            <a:r>
              <a:rPr lang="zh-CN" altLang="en-US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的所有边合并入并查集，并记录合并状态入栈；</a:t>
            </a:r>
            <a:endParaRPr lang="en-US" altLang="zh-CN" sz="20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85750" indent="-285750" algn="l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l"/>
            </a:pPr>
            <a:r>
              <a:rPr lang="zh-CN" altLang="en-US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递归处理左区间，判断其中边是否为桥；</a:t>
            </a:r>
            <a:endParaRPr lang="zh-CN" altLang="en-US" sz="20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85750" indent="-285750" algn="l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l"/>
            </a:pPr>
            <a:r>
              <a:rPr lang="zh-CN" altLang="en-US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使用</a:t>
            </a:r>
            <a:r>
              <a:rPr lang="en-US" altLang="zh-CN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Pop(siz) </a:t>
            </a:r>
            <a:r>
              <a:rPr lang="zh-CN" altLang="en-US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回滚右区间的合并状态；</a:t>
            </a:r>
            <a:endParaRPr lang="zh-CN" altLang="en-US" sz="20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85750" indent="-285750" algn="l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l"/>
            </a:pPr>
            <a:r>
              <a:rPr lang="zh-CN" altLang="en-US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合并左区间边并递归处理右区间；</a:t>
            </a:r>
            <a:endParaRPr lang="zh-CN" altLang="en-US" sz="20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85750" indent="-285750" algn="l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l"/>
            </a:pPr>
            <a:r>
              <a:rPr lang="zh-CN" altLang="en-US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最后再回滚左区间的合并状态，完成当前层的回溯。</a:t>
            </a:r>
            <a:endParaRPr lang="zh-CN" altLang="en-US" sz="20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7889712" y="-423652"/>
            <a:ext cx="11467938" cy="2012681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flipH="1">
            <a:off x="-1378933" y="8342980"/>
            <a:ext cx="10522933" cy="242027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990600" y="194310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219200" y="571500"/>
            <a:ext cx="12205335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优化算法</a:t>
            </a: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--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并查集</a:t>
            </a: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+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线段树分治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458200" y="2857500"/>
            <a:ext cx="8242300" cy="3928110"/>
          </a:xfrm>
          <a:prstGeom prst="rect">
            <a:avLst/>
          </a:prstGeom>
        </p:spPr>
        <p:txBody>
          <a:bodyPr wrap="square">
            <a:spAutoFit/>
          </a:bodyPr>
          <a:p>
            <a:pPr marL="266700" indent="-26670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zh-CN" sz="2400" b="1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3. </a:t>
            </a:r>
            <a:r>
              <a:rPr lang="zh-CN" altLang="en-US" sz="2400" b="1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复杂度分析：</a:t>
            </a:r>
            <a:endParaRPr lang="en-US" altLang="zh-CN" sz="2400" b="1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85750" indent="-28575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l"/>
            </a:pPr>
            <a:r>
              <a:rPr lang="zh-CN" altLang="en-US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单次合并或查找操作的实际时间复杂度接近常数；</a:t>
            </a:r>
            <a:endParaRPr lang="zh-CN" altLang="en-US" sz="20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85750" indent="-28575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l"/>
            </a:pPr>
            <a:r>
              <a:rPr lang="zh-CN" altLang="en-US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线段树分治框架下，边编号区间被递归划分为左右两部分，总体递归深度为</a:t>
            </a:r>
            <a:r>
              <a:rPr lang="en-US" altLang="zh-CN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O(log m)</a:t>
            </a:r>
            <a:r>
              <a:rPr lang="zh-CN" altLang="en-US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；</a:t>
            </a:r>
            <a:endParaRPr lang="en-US" altLang="zh-CN" sz="20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85750" indent="-28575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l"/>
            </a:pPr>
            <a:r>
              <a:rPr lang="zh-CN" altLang="en-US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每条边最多在</a:t>
            </a:r>
            <a:r>
              <a:rPr lang="en-US" altLang="zh-CN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log m</a:t>
            </a:r>
            <a:r>
              <a:rPr lang="zh-CN" altLang="en-US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层中被合并和撤销一次，因此</a:t>
            </a:r>
            <a:r>
              <a:rPr lang="en-US" altLang="zh-CN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Push </a:t>
            </a:r>
            <a:r>
              <a:rPr lang="zh-CN" altLang="en-US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和</a:t>
            </a:r>
            <a:r>
              <a:rPr lang="en-US" altLang="zh-CN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Pop </a:t>
            </a:r>
            <a:r>
              <a:rPr lang="zh-CN" altLang="en-US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操作的总次数为</a:t>
            </a:r>
            <a:r>
              <a:rPr lang="en-US" altLang="zh-CN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O(mlogm)</a:t>
            </a:r>
            <a:r>
              <a:rPr lang="zh-CN" altLang="en-US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；使用</a:t>
            </a:r>
            <a:r>
              <a:rPr lang="en-US" altLang="zh-CN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Pop(siz) </a:t>
            </a:r>
            <a:r>
              <a:rPr lang="zh-CN" altLang="en-US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回滚右区间的合并状态；</a:t>
            </a:r>
            <a:endParaRPr lang="zh-CN" altLang="en-US" sz="20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285750" indent="-28575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l"/>
            </a:pPr>
            <a:r>
              <a:rPr lang="zh-CN" altLang="en-US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总复杂度为</a:t>
            </a:r>
            <a:r>
              <a:rPr lang="en-US" altLang="zh-CN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 O</a:t>
            </a:r>
            <a:r>
              <a:rPr lang="zh-CN" altLang="en-US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（</a:t>
            </a:r>
            <a:r>
              <a:rPr lang="en-US" altLang="zh-CN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m *(log m)^2</a:t>
            </a:r>
            <a:r>
              <a:rPr lang="zh-CN" altLang="en-US" sz="20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）。</a:t>
            </a:r>
            <a:endParaRPr lang="zh-CN" altLang="en-US" sz="20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pic>
        <p:nvPicPr>
          <p:cNvPr id="-2147482558" name="图片 -2147482559" descr="https://upload.wikimedia.org/wikipedia/commons/thumb/d/df/Graph_cut_edges.svg/200px-Graph_cut_edges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628900"/>
            <a:ext cx="3386455" cy="33864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-2147482511" name="图片 -21474825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933700"/>
            <a:ext cx="3187700" cy="30403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514600" y="6591300"/>
            <a:ext cx="426783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0">
                <a:latin typeface="宋体" panose="02010600030101010101" pitchFamily="2" charset="-122"/>
                <a:ea typeface="宋体" panose="02010600030101010101" pitchFamily="2" charset="-122"/>
              </a:rPr>
              <a:t>算法逻辑正确，程序运行正常</a:t>
            </a:r>
            <a:endParaRPr lang="zh-CN" altLang="en-US" sz="2000" b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7889712" y="-423652"/>
            <a:ext cx="11467938" cy="2012681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flipH="1">
            <a:off x="-1378933" y="8342980"/>
            <a:ext cx="10522933" cy="242027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990600" y="194310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219200" y="571500"/>
            <a:ext cx="13446760" cy="10852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en-US" altLang="zh-CN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Tarjan</a:t>
            </a:r>
            <a:r>
              <a:rPr lang="zh-CN" altLang="en-US" sz="7000" b="1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算法验证优化算法正确性</a:t>
            </a:r>
            <a:endParaRPr lang="zh-CN" altLang="en-US" sz="7000" b="1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47800" y="2476500"/>
            <a:ext cx="10058400" cy="6492875"/>
          </a:xfrm>
          <a:prstGeom prst="rect">
            <a:avLst/>
          </a:prstGeom>
        </p:spPr>
        <p:txBody>
          <a:bodyPr wrap="square">
            <a:spAutoFit/>
          </a:bodyPr>
          <a:p>
            <a:pPr marL="266700" indent="-26670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zh-CN" sz="2800" b="1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1.Tarjan</a:t>
            </a:r>
            <a:r>
              <a:rPr lang="zh-CN" altLang="en-US" sz="2800" b="1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：</a:t>
            </a:r>
            <a:endParaRPr lang="en-US" altLang="zh-CN" sz="2800" b="1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indent="45720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None/>
            </a:pP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Tarjan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算法是基于深度优先搜索（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DFS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）的算法，可用于求解图的连通性问题。</a:t>
            </a:r>
            <a:endParaRPr lang="zh-CN" altLang="en-US" sz="24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342900" indent="-34290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Ø"/>
            </a:pP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dfn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值，表示节点在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DFS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中被访问的时间戳（第几个访问）</a:t>
            </a:r>
            <a:endParaRPr lang="zh-CN" altLang="en-US" sz="24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342900" indent="-34290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Char char="Ø"/>
            </a:pP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low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值，表示节点能通过回边或子节点到达的最早访问的节点的时间戳。</a:t>
            </a:r>
            <a:endParaRPr lang="zh-CN" altLang="en-US" sz="24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indent="45720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None/>
            </a:pP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对于每一条边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(u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，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v)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，如果（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u,v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）是树边，且</a:t>
            </a:r>
            <a:r>
              <a:rPr lang="en-US" altLang="zh-CN" sz="2400" b="1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low[v]&gt;dfn[u]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，那么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(u,v)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就是桥。</a:t>
            </a:r>
            <a:endParaRPr lang="zh-CN" altLang="en-US" sz="24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indent="45720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None/>
            </a:pP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why?</a:t>
            </a:r>
            <a:endParaRPr lang="en-US" altLang="zh-CN" sz="24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indent="45720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charset="0"/>
              <a:buNone/>
            </a:pPr>
            <a:r>
              <a:rPr lang="en-US" altLang="zh-CN" sz="2400" b="1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low[v]&gt;dfn[u]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说明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v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及其字树无法通过非树边回到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u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的祖先，即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(u,v)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是连接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u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和</a:t>
            </a:r>
            <a:r>
              <a:rPr lang="en-US" altLang="zh-CN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v</a:t>
            </a:r>
            <a:r>
              <a:rPr lang="zh-CN" altLang="en-US" sz="240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字树的唯一路径，删除这条边后，图会断开。</a:t>
            </a:r>
            <a:endParaRPr lang="zh-CN" altLang="en-US" sz="240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pic>
        <p:nvPicPr>
          <p:cNvPr id="-2147482544" name="图片 -2147482545" descr="https://upload.wikimedia.org/wikipedia/commons/thumb/d/df/Graph_cut_edges.svg/200px-Graph_cut_edges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2324100"/>
            <a:ext cx="3129915" cy="31299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-2147482540" name="图片 -21474825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6800" y="5732145"/>
            <a:ext cx="2848610" cy="32372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2386853">
            <a:off x="-3305272" y="-1267467"/>
            <a:ext cx="14322769" cy="1323015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049000" y="1919923"/>
            <a:ext cx="6866890" cy="6447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1300" b="1">
                <a:solidFill>
                  <a:srgbClr val="F6E4E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05</a:t>
            </a:r>
            <a:endParaRPr lang="en-US" altLang="zh-CN" sz="41300" b="1">
              <a:solidFill>
                <a:srgbClr val="F6E4E3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515600" y="4389120"/>
            <a:ext cx="5867400" cy="15087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6600" b="1">
                <a:solidFill>
                  <a:schemeClr val="tx1">
                    <a:lumMod val="50000"/>
                    <a:lumOff val="50000"/>
                  </a:schemeClr>
                </a:solidFill>
                <a:latin typeface="华文琥珀" panose="02010800040101010101" charset="-122"/>
                <a:ea typeface="华文琥珀" panose="02010800040101010101" charset="-122"/>
              </a:rPr>
              <a:t>结果分析</a:t>
            </a:r>
            <a:endParaRPr lang="zh-CN" altLang="en-US" sz="6600" b="1">
              <a:solidFill>
                <a:schemeClr val="tx1">
                  <a:lumMod val="50000"/>
                  <a:lumOff val="50000"/>
                </a:schemeClr>
              </a:solidFill>
              <a:latin typeface="华文琥珀" panose="02010800040101010101" charset="-122"/>
              <a:ea typeface="华文琥珀" panose="02010800040101010101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6481524">
            <a:off x="-5112611" y="-2789595"/>
            <a:ext cx="14212948" cy="1586619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8540967">
            <a:off x="11045685" y="-4839949"/>
            <a:ext cx="8031035" cy="801684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-3311130">
            <a:off x="14790428" y="6444896"/>
            <a:ext cx="5413008" cy="5626807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14400" y="647813"/>
            <a:ext cx="16230600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en-US" altLang="zh-CN" sz="6000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1.</a:t>
            </a:r>
            <a:r>
              <a:rPr lang="zh-CN" altLang="en-US" sz="6000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Agrandir" panose="00000500000000000000"/>
                <a:sym typeface="Agrandir" panose="00000500000000000000"/>
              </a:rPr>
              <a:t>实验数据</a:t>
            </a:r>
            <a:endParaRPr lang="zh-CN" altLang="en-US" sz="6000">
              <a:solidFill>
                <a:srgbClr val="2B2B2B"/>
              </a:solidFill>
              <a:latin typeface="华文琥珀" panose="02010800040101010101" charset="-122"/>
              <a:ea typeface="华文琥珀" panose="02010800040101010101" charset="-122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90600" y="194310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295400" y="2552700"/>
            <a:ext cx="6096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（</a:t>
            </a:r>
            <a:r>
              <a:rPr lang="en-US" altLang="zh-CN" sz="2400" b="1"/>
              <a:t>1</a:t>
            </a:r>
            <a:r>
              <a:rPr lang="zh-CN" altLang="en-US" sz="2400" b="1"/>
              <a:t>）图例数据</a:t>
            </a:r>
            <a:r>
              <a:rPr lang="en-US" altLang="zh-CN" sz="2400" b="1"/>
              <a:t>---</a:t>
            </a:r>
            <a:r>
              <a:rPr lang="zh-CN" altLang="en-US" sz="2400" b="1"/>
              <a:t>算法正确性验证：</a:t>
            </a:r>
            <a:endParaRPr lang="zh-CN" altLang="en-US" sz="2400" b="1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3238500"/>
            <a:ext cx="4550410" cy="470217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239000" y="255238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indent="0" defTabSz="914400">
              <a:lnSpc>
                <a:spcPct val="100000"/>
              </a:lnSpc>
              <a:buClrTx/>
              <a:buSzTx/>
              <a:buFont typeface="+mj-ea"/>
              <a:buNone/>
            </a:pPr>
            <a:r>
              <a:rPr lang="zh-CN" altLang="en-US" sz="2400" b="1"/>
              <a:t>（</a:t>
            </a:r>
            <a:r>
              <a:rPr lang="en-US" altLang="en-US" sz="2400" b="1"/>
              <a:t>2</a:t>
            </a:r>
            <a:r>
              <a:rPr lang="zh-CN" altLang="en-US" sz="2400" b="1"/>
              <a:t>）</a:t>
            </a:r>
            <a:r>
              <a:rPr lang="en-US" altLang="en-US" sz="2400" b="1"/>
              <a:t>Medium数据</a:t>
            </a:r>
            <a:endParaRPr lang="en-US" altLang="en-US" sz="2400" b="1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600" y="3013075"/>
            <a:ext cx="9048750" cy="136207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7086600" y="4305300"/>
            <a:ext cx="3742690" cy="645160"/>
          </a:xfrm>
          <a:prstGeom prst="rect">
            <a:avLst/>
          </a:prstGeom>
        </p:spPr>
        <p:txBody>
          <a:bodyPr wrap="square">
            <a:spAutoFit/>
          </a:bodyPr>
          <a:p>
            <a:pPr indent="26797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en-US" sz="2400" b="1">
                <a:latin typeface="Times New Roman" panose="02020603050405020304"/>
                <a:ea typeface="宋体" panose="02010600030101010101" pitchFamily="2" charset="-122"/>
              </a:rPr>
              <a:t>）</a:t>
            </a:r>
            <a:r>
              <a:rPr lang="en-US" altLang="zh-CN" sz="2400" b="1">
                <a:latin typeface="Times New Roman" panose="02020603050405020304"/>
                <a:ea typeface="Times New Roman" panose="02020603050405020304"/>
              </a:rPr>
              <a:t>Large</a:t>
            </a:r>
            <a:r>
              <a:rPr lang="zh-CN" altLang="en-US" sz="2400" b="1">
                <a:latin typeface="Times New Roman" panose="02020603050405020304"/>
                <a:ea typeface="宋体" panose="02010600030101010101" pitchFamily="2" charset="-122"/>
              </a:rPr>
              <a:t>数据 </a:t>
            </a:r>
            <a:endParaRPr lang="zh-CN" altLang="en-US" sz="24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5415" y="5067300"/>
            <a:ext cx="9181465" cy="1401445"/>
          </a:xfrm>
          <a:prstGeom prst="rect">
            <a:avLst/>
          </a:prstGeom>
        </p:spPr>
      </p:pic>
      <p:pic>
        <p:nvPicPr>
          <p:cNvPr id="-2147482520" name="图片 -2147482521" descr="a69b43ced79a83405a696854230cf8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39600" y="6585585"/>
            <a:ext cx="2578100" cy="2828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-2147482523" name="图片 -2147482524" descr="1f3cb12ae8b5cc9536e815625bc48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01800" y="6585585"/>
            <a:ext cx="2392680" cy="26752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文本框 19"/>
          <p:cNvSpPr txBox="1"/>
          <p:nvPr/>
        </p:nvSpPr>
        <p:spPr>
          <a:xfrm>
            <a:off x="7620000" y="6803390"/>
            <a:ext cx="411734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/>
              <a:t>Tarjan</a:t>
            </a:r>
            <a:r>
              <a:rPr lang="zh-CN" altLang="en-US" sz="2000"/>
              <a:t>算法在跑大图数据时为了避免递归栈空间过大导致报错，需要在终端执行</a:t>
            </a:r>
            <a:r>
              <a:rPr lang="en-US" altLang="zh-CN" sz="2000"/>
              <a:t>“ulimit -s unlimited”</a:t>
            </a:r>
            <a:r>
              <a:rPr lang="zh-CN" altLang="en-US" sz="2000"/>
              <a:t>命令，同时在跑大图数据时都使用了</a:t>
            </a:r>
            <a:r>
              <a:rPr lang="en-US" altLang="zh-CN" sz="2000"/>
              <a:t>-O2</a:t>
            </a:r>
            <a:r>
              <a:rPr lang="zh-CN" altLang="en-US" sz="2000"/>
              <a:t>优化编译</a:t>
            </a:r>
            <a:endParaRPr lang="zh-CN" altLang="en-US" sz="2000"/>
          </a:p>
        </p:txBody>
      </p:sp>
      <p:cxnSp>
        <p:nvCxnSpPr>
          <p:cNvPr id="21" name="直接连接符 20"/>
          <p:cNvCxnSpPr/>
          <p:nvPr/>
        </p:nvCxnSpPr>
        <p:spPr>
          <a:xfrm flipH="1">
            <a:off x="6858000" y="2019300"/>
            <a:ext cx="15875" cy="7529830"/>
          </a:xfrm>
          <a:prstGeom prst="line">
            <a:avLst/>
          </a:prstGeom>
          <a:ln w="47625">
            <a:solidFill>
              <a:srgbClr val="B3B7C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 rot="-6481524">
            <a:off x="-5112611" y="-2789595"/>
            <a:ext cx="14212948" cy="1586619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8540967">
            <a:off x="11045685" y="-4839949"/>
            <a:ext cx="8031035" cy="801684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-3311130">
            <a:off x="14790428" y="6444896"/>
            <a:ext cx="5413008" cy="5626807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14400" y="647813"/>
            <a:ext cx="16230600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en-US" altLang="zh-CN" sz="6000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+mj-lt"/>
                <a:sym typeface="Agrandir" panose="00000500000000000000"/>
              </a:rPr>
              <a:t>2.</a:t>
            </a:r>
            <a:r>
              <a:rPr lang="zh-CN" altLang="en-US" sz="6000">
                <a:solidFill>
                  <a:srgbClr val="2B2B2B"/>
                </a:solidFill>
                <a:ea typeface="华文琥珀" panose="02010800040101010101" charset="-122"/>
                <a:cs typeface="+mj-lt"/>
                <a:sym typeface="Agrandir" panose="00000500000000000000"/>
              </a:rPr>
              <a:t>自定义数据</a:t>
            </a:r>
            <a:endParaRPr lang="zh-CN" altLang="en-US" sz="6000">
              <a:solidFill>
                <a:srgbClr val="2B2B2B"/>
              </a:solidFill>
              <a:ea typeface="华文琥珀" panose="02010800040101010101" charset="-122"/>
              <a:cs typeface="+mj-lt"/>
              <a:sym typeface="Agrandir" panose="0000050000000000000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90600" y="194310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3848100"/>
            <a:ext cx="7970520" cy="4074795"/>
          </a:xfrm>
          <a:prstGeom prst="rect">
            <a:avLst/>
          </a:prstGeom>
        </p:spPr>
      </p:pic>
      <p:pic>
        <p:nvPicPr>
          <p:cNvPr id="-2147482518" name="图片 -21474825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2200" y="2933700"/>
            <a:ext cx="7032625" cy="52050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1524000" y="2933700"/>
            <a:ext cx="745045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latin typeface="+mj-lt"/>
                <a:ea typeface="宋体" panose="02010600030101010101" pitchFamily="2" charset="-122"/>
                <a:cs typeface="+mj-lt"/>
              </a:rPr>
              <a:t>（</a:t>
            </a:r>
            <a:r>
              <a:rPr lang="en-US" altLang="zh-CN" sz="2400" b="1">
                <a:latin typeface="+mj-lt"/>
                <a:ea typeface="宋体" panose="02010600030101010101" pitchFamily="2" charset="-122"/>
                <a:cs typeface="+mj-lt"/>
              </a:rPr>
              <a:t>1</a:t>
            </a:r>
            <a:r>
              <a:rPr lang="zh-CN" altLang="en-US" sz="2400" b="1">
                <a:latin typeface="+mj-lt"/>
                <a:ea typeface="宋体" panose="02010600030101010101" pitchFamily="2" charset="-122"/>
                <a:cs typeface="+mj-lt"/>
              </a:rPr>
              <a:t>）算法在不同规模数据上运行效果</a:t>
            </a:r>
            <a:endParaRPr lang="zh-CN" altLang="en-US" sz="2400" b="1">
              <a:latin typeface="+mj-lt"/>
              <a:ea typeface="宋体" panose="02010600030101010101" pitchFamily="2" charset="-122"/>
              <a:cs typeface="+mj-l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7889712" y="-423652"/>
            <a:ext cx="11467938" cy="2012681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flipH="1">
            <a:off x="-1378933" y="8342980"/>
            <a:ext cx="10522933" cy="242027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990600" y="194310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sp>
        <p:nvSpPr>
          <p:cNvPr id="12" name="TextBox 6"/>
          <p:cNvSpPr txBox="1"/>
          <p:nvPr/>
        </p:nvSpPr>
        <p:spPr>
          <a:xfrm>
            <a:off x="914400" y="647813"/>
            <a:ext cx="16230600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en-US" altLang="zh-CN" sz="6000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+mj-lt"/>
                <a:sym typeface="Agrandir" panose="00000500000000000000"/>
              </a:rPr>
              <a:t>2.</a:t>
            </a:r>
            <a:r>
              <a:rPr lang="zh-CN" altLang="en-US" sz="6000">
                <a:solidFill>
                  <a:srgbClr val="2B2B2B"/>
                </a:solidFill>
                <a:ea typeface="华文琥珀" panose="02010800040101010101" charset="-122"/>
                <a:cs typeface="+mj-lt"/>
                <a:sym typeface="Agrandir" panose="00000500000000000000"/>
              </a:rPr>
              <a:t>自定义数据</a:t>
            </a:r>
            <a:endParaRPr lang="zh-CN" altLang="en-US" sz="6000">
              <a:solidFill>
                <a:srgbClr val="2B2B2B"/>
              </a:solidFill>
              <a:ea typeface="华文琥珀" panose="02010800040101010101" charset="-122"/>
              <a:cs typeface="+mj-lt"/>
              <a:sym typeface="Agrandir" panose="0000050000000000000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219200" y="2323783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None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）小规模数据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-2147482517" name="图片 -2147482518" descr="56b5f512fd31f7084e5a8fd4be912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400" y="2628900"/>
            <a:ext cx="7298055" cy="54038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3119755"/>
            <a:ext cx="7953375" cy="317627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7889712" y="-423652"/>
            <a:ext cx="11467938" cy="2012681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flipH="1">
            <a:off x="-1378933" y="8342980"/>
            <a:ext cx="10522933" cy="242027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990600" y="1943100"/>
            <a:ext cx="16485870" cy="7642225"/>
          </a:xfrm>
          <a:prstGeom prst="rect">
            <a:avLst/>
          </a:prstGeom>
          <a:solidFill>
            <a:schemeClr val="bg1"/>
          </a:solidFill>
          <a:ln w="50800">
            <a:solidFill>
              <a:srgbClr val="B3B7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黄色块是现查询的节点，绿色块是压入栈的部分</a:t>
            </a:r>
            <a:endParaRPr lang="zh-CN" altLang="en-US"/>
          </a:p>
        </p:txBody>
      </p:sp>
      <p:sp>
        <p:nvSpPr>
          <p:cNvPr id="12" name="TextBox 6"/>
          <p:cNvSpPr txBox="1"/>
          <p:nvPr/>
        </p:nvSpPr>
        <p:spPr>
          <a:xfrm>
            <a:off x="914400" y="647813"/>
            <a:ext cx="16230600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indent="0">
              <a:lnSpc>
                <a:spcPts val="8400"/>
              </a:lnSpc>
              <a:spcBef>
                <a:spcPct val="0"/>
              </a:spcBef>
            </a:pPr>
            <a:r>
              <a:rPr lang="en-US" altLang="zh-CN" sz="6000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+mj-lt"/>
                <a:sym typeface="Agrandir" panose="00000500000000000000"/>
              </a:rPr>
              <a:t>2.</a:t>
            </a:r>
            <a:r>
              <a:rPr lang="zh-CN" altLang="en-US" sz="6000">
                <a:solidFill>
                  <a:srgbClr val="2B2B2B"/>
                </a:solidFill>
                <a:ea typeface="华文琥珀" panose="02010800040101010101" charset="-122"/>
                <a:cs typeface="+mj-lt"/>
                <a:sym typeface="Agrandir" panose="00000500000000000000"/>
              </a:rPr>
              <a:t>自定义数据</a:t>
            </a:r>
            <a:endParaRPr lang="zh-CN" altLang="en-US" sz="6000">
              <a:solidFill>
                <a:srgbClr val="2B2B2B"/>
              </a:solidFill>
              <a:ea typeface="华文琥珀" panose="02010800040101010101" charset="-122"/>
              <a:cs typeface="+mj-lt"/>
              <a:sym typeface="Agrandir" panose="0000050000000000000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219200" y="2323783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None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）大规模数据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-2147482516" name="图片 -21474825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2552700"/>
            <a:ext cx="7377430" cy="5467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 b="2884"/>
          <a:stretch>
            <a:fillRect/>
          </a:stretch>
        </p:blipFill>
        <p:spPr>
          <a:xfrm>
            <a:off x="1447800" y="3390900"/>
            <a:ext cx="8495030" cy="304927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25000"/>
          </a:blip>
          <a:srcRect/>
          <a:stretch>
            <a:fillRect/>
          </a:stretch>
        </p:blipFill>
        <p:spPr>
          <a:xfrm>
            <a:off x="-1600451" y="-6515175"/>
            <a:ext cx="13761077" cy="1415359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911408" y="4605020"/>
            <a:ext cx="8465185" cy="1076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8000" b="1" u="none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Thank you!</a:t>
            </a:r>
            <a:endParaRPr lang="en-US" sz="8000" b="1" u="none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 rot="-3435299">
            <a:off x="-3167656" y="638455"/>
            <a:ext cx="6335313" cy="70767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3768</Words>
  <Application>WPS 演示</Application>
  <PresentationFormat>On-screen Show (4:3)</PresentationFormat>
  <Paragraphs>290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8" baseType="lpstr">
      <vt:lpstr>Arial</vt:lpstr>
      <vt:lpstr>宋体</vt:lpstr>
      <vt:lpstr>Wingdings</vt:lpstr>
      <vt:lpstr>华文琥珀</vt:lpstr>
      <vt:lpstr>Hertical Rough</vt:lpstr>
      <vt:lpstr>Segoe Print</vt:lpstr>
      <vt:lpstr>Agrandir</vt:lpstr>
      <vt:lpstr>Agrandir Bold</vt:lpstr>
      <vt:lpstr>方正黑体简体</vt:lpstr>
      <vt:lpstr>Times New Roman</vt:lpstr>
      <vt:lpstr>Wingdings</vt:lpstr>
      <vt:lpstr>微软雅黑</vt:lpstr>
      <vt:lpstr>Arial Unicode MS</vt:lpstr>
      <vt:lpstr>Calibri</vt:lpstr>
      <vt:lpstr>微软雅黑 Light</vt:lpstr>
      <vt:lpstr>汉仪傲娇体简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Pembentangan Asas Ringkas Bertompok Pastel</dc:title>
  <dc:creator/>
  <cp:lastModifiedBy>杨韩冰</cp:lastModifiedBy>
  <cp:revision>9</cp:revision>
  <dcterms:created xsi:type="dcterms:W3CDTF">2006-08-16T00:00:00Z</dcterms:created>
  <dcterms:modified xsi:type="dcterms:W3CDTF">2025-05-29T03:05:12Z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C0F67DB846CC4E9DB31034FA0AC0679F_13</vt:lpwstr>
  </property>
  <property fmtid="{D5CDD505-2E9C-101B-9397-08002B2CF9AE}" pid="3" name="KSOProductBuildVer">
    <vt:lpwstr>2052-12.1.0.20305</vt:lpwstr>
  </property>
</Properties>
</file>