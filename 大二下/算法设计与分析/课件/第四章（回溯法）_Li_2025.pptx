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372" r:id="rId6"/>
    <p:sldId id="368" r:id="rId7"/>
    <p:sldId id="300" r:id="rId8"/>
    <p:sldId id="305" r:id="rId9"/>
    <p:sldId id="337" r:id="rId10"/>
    <p:sldId id="339" r:id="rId11"/>
    <p:sldId id="301" r:id="rId12"/>
    <p:sldId id="373" r:id="rId13"/>
    <p:sldId id="307" r:id="rId14"/>
    <p:sldId id="311" r:id="rId15"/>
    <p:sldId id="275" r:id="rId16"/>
    <p:sldId id="371" r:id="rId17"/>
    <p:sldId id="370" r:id="rId18"/>
    <p:sldId id="312" r:id="rId19"/>
    <p:sldId id="378" r:id="rId20"/>
    <p:sldId id="376" r:id="rId21"/>
    <p:sldId id="377" r:id="rId22"/>
    <p:sldId id="374" r:id="rId23"/>
    <p:sldId id="375" r:id="rId24"/>
    <p:sldId id="379" r:id="rId25"/>
    <p:sldId id="317" r:id="rId26"/>
    <p:sldId id="318" r:id="rId27"/>
  </p:sldIdLst>
  <p:sldSz cx="9144000" cy="6858000" type="screen4x3"/>
  <p:notesSz cx="6858000" cy="9144000"/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>
      <a:defRPr>
        <a:latin typeface="Arial"/>
        <a:ea typeface="Arial"/>
        <a:cs typeface="Arial"/>
        <a:sym typeface="Arial"/>
      </a:defRPr>
    </a:lvl6pPr>
    <a:lvl7pPr>
      <a:defRPr>
        <a:latin typeface="Arial"/>
        <a:ea typeface="Arial"/>
        <a:cs typeface="Arial"/>
        <a:sym typeface="Arial"/>
      </a:defRPr>
    </a:lvl7pPr>
    <a:lvl8pPr>
      <a:defRPr>
        <a:latin typeface="Arial"/>
        <a:ea typeface="Arial"/>
        <a:cs typeface="Arial"/>
        <a:sym typeface="Arial"/>
      </a:defRPr>
    </a:lvl8pPr>
    <a:lvl9pPr>
      <a:defRPr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8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424" autoAdjust="0"/>
  </p:normalViewPr>
  <p:slideViewPr>
    <p:cSldViewPr snapToGrid="0">
      <p:cViewPr>
        <p:scale>
          <a:sx n="112" d="100"/>
          <a:sy n="112" d="100"/>
        </p:scale>
        <p:origin x="1554" y="150"/>
      </p:cViewPr>
      <p:guideLst>
        <p:guide orient="horz" pos="208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emf"/><Relationship Id="rId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94924325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12314B-B304-42BC-90D8-BDC879EB9369}" type="slidenum">
              <a:rPr lang="en-US" altLang="zh-CN"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30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CE875F-D6A9-4CE9-BDEF-DCB1E3F7095D}" type="slidenum">
              <a:rPr lang="en-US" altLang="zh-CN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0998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12314B-B304-42BC-90D8-BDC879EB9369}" type="slidenum">
              <a:rPr lang="en-US" altLang="zh-CN"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7864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以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1,2,3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为例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: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作业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在机器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上完成的时间为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2,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在机器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2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上完成的时间为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3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作业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2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在机器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上完成的时间为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5,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在机器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2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上完成的时间为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6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作业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3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在机器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上完成的时间为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7,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在机器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2</a:t>
            </a:r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上完成的时间为</a:t>
            </a:r>
            <a:r>
              <a:rPr lang="en-US" altLang="zh-CN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7273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200" b="0" i="0" dirty="0" smtClean="0">
                <a:effectLst/>
                <a:latin typeface="+mn-lt"/>
                <a:ea typeface="+mn-ea"/>
                <a:cs typeface="+mn-cs"/>
                <a:sym typeface="Helvetica Neue"/>
              </a:rPr>
              <a:t>不光要计算作业时间，连同等待时间也要考虑在内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603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450" y="549275"/>
            <a:ext cx="7081838" cy="7493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5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mtClean="0">
                <a:latin typeface="Times New Roman" pitchFamily="18" charset="0"/>
              </a:defRPr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" name="Shape 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/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533400" y="1295400"/>
            <a:ext cx="8229600" cy="0"/>
          </a:xfrm>
          <a:prstGeom prst="line">
            <a:avLst/>
          </a:prstGeom>
          <a:noFill/>
          <a:ln w="57150" cmpd="thinThick">
            <a:solidFill>
              <a:srgbClr val="CC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2.png"/><Relationship Id="rId10" Type="http://schemas.openxmlformats.org/officeDocument/2006/relationships/image" Target="../media/image9.wmf"/><Relationship Id="rId19" Type="http://schemas.openxmlformats.org/officeDocument/2006/relationships/image" Target="../media/image120.png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9.png"/><Relationship Id="rId4" Type="http://schemas.openxmlformats.org/officeDocument/2006/relationships/image" Target="../media/image13.emf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21.wmf"/><Relationship Id="rId19" Type="http://schemas.openxmlformats.org/officeDocument/2006/relationships/image" Target="../media/image26.png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31.w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 idx="4294967295"/>
          </p:nvPr>
        </p:nvSpPr>
        <p:spPr>
          <a:xfrm>
            <a:off x="1600185" y="1113471"/>
            <a:ext cx="5280450" cy="88797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7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 lvl="0">
              <a:defRPr sz="1800"/>
            </a:pPr>
            <a:r>
              <a:rPr sz="4000" dirty="0" err="1"/>
              <a:t>回溯法</a:t>
            </a:r>
            <a:endParaRPr sz="4000" dirty="0"/>
          </a:p>
        </p:txBody>
      </p:sp>
      <p:sp>
        <p:nvSpPr>
          <p:cNvPr id="2" name="文本框 1"/>
          <p:cNvSpPr txBox="1"/>
          <p:nvPr/>
        </p:nvSpPr>
        <p:spPr>
          <a:xfrm>
            <a:off x="1720158" y="344030"/>
            <a:ext cx="52781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 sz="1800"/>
            </a:pPr>
            <a:r>
              <a:rPr lang="zh-CN" altLang="en-US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算法设计与分析</a:t>
            </a:r>
          </a:p>
        </p:txBody>
      </p:sp>
      <p:pic>
        <p:nvPicPr>
          <p:cNvPr id="4" name="Picture 5" descr="H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337" y="2001449"/>
            <a:ext cx="6119812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400"/>
              <a:t>2</a:t>
            </a:fld>
            <a:endParaRPr sz="1400"/>
          </a:p>
        </p:txBody>
      </p:sp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737171" y="157538"/>
            <a:ext cx="77724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zh-CN" altLang="en-US" sz="4400" dirty="0" smtClean="0"/>
              <a:t>主要内容</a:t>
            </a:r>
            <a:endParaRPr sz="4400" dirty="0"/>
          </a:p>
        </p:txBody>
      </p:sp>
      <p:sp>
        <p:nvSpPr>
          <p:cNvPr id="18" name="Shape 1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 b="1" dirty="0" err="1"/>
              <a:t>N皇后问题</a:t>
            </a:r>
            <a:endParaRPr sz="3200" b="1" dirty="0"/>
          </a:p>
          <a:p>
            <a:pPr lvl="0">
              <a:defRPr sz="1800"/>
            </a:pPr>
            <a:r>
              <a:rPr sz="3200" b="1" dirty="0" err="1"/>
              <a:t>回溯法思想</a:t>
            </a:r>
            <a:endParaRPr sz="3200" b="1" dirty="0"/>
          </a:p>
          <a:p>
            <a:pPr lvl="0">
              <a:defRPr sz="1800"/>
            </a:pPr>
            <a:r>
              <a:rPr sz="3200" b="1" dirty="0" err="1" smtClean="0"/>
              <a:t>回溯法应用</a:t>
            </a:r>
            <a:endParaRPr sz="32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/>
            </a:pPr>
            <a:r>
              <a:rPr sz="4400" dirty="0" err="1"/>
              <a:t>N</a:t>
            </a:r>
            <a:r>
              <a:rPr sz="4400" dirty="0" err="1">
                <a:latin typeface="宋体"/>
                <a:ea typeface="宋体"/>
                <a:cs typeface="宋体"/>
                <a:sym typeface="宋体"/>
              </a:rPr>
              <a:t>皇后问题</a:t>
            </a:r>
            <a:endParaRPr sz="4400"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21" name="Shape 21"/>
          <p:cNvSpPr>
            <a:spLocks noGrp="1"/>
          </p:cNvSpPr>
          <p:nvPr>
            <p:ph type="body" idx="4294967295"/>
          </p:nvPr>
        </p:nvSpPr>
        <p:spPr>
          <a:xfrm>
            <a:off x="395926" y="1468332"/>
            <a:ext cx="8599363" cy="45259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spcBef>
                <a:spcPts val="0"/>
              </a:spcBef>
              <a:buSzTx/>
              <a:buNone/>
              <a:defRPr sz="1800"/>
            </a:pPr>
            <a:r>
              <a:rPr lang="zh-CN" altLang="en-US" sz="2200" b="1" dirty="0" smtClean="0">
                <a:latin typeface="+mj-lt"/>
                <a:sym typeface="楷体_GB2312"/>
              </a:rPr>
              <a:t>       在</a:t>
            </a:r>
            <a:r>
              <a:rPr lang="zh-CN" altLang="en-US" sz="2200" b="1" dirty="0" smtClean="0">
                <a:latin typeface="+mj-lt"/>
              </a:rPr>
              <a:t>n×n</a:t>
            </a:r>
            <a:r>
              <a:rPr lang="zh-CN" altLang="en-US" sz="2200" b="1" dirty="0" smtClean="0">
                <a:latin typeface="+mj-lt"/>
                <a:sym typeface="楷体_GB2312"/>
              </a:rPr>
              <a:t>格的棋盘上放置</a:t>
            </a:r>
            <a:r>
              <a:rPr lang="zh-CN" altLang="en-US" sz="2200" b="1" dirty="0" smtClean="0">
                <a:latin typeface="+mj-lt"/>
              </a:rPr>
              <a:t>n</a:t>
            </a:r>
            <a:r>
              <a:rPr lang="zh-CN" altLang="en-US" sz="2200" b="1" dirty="0" smtClean="0">
                <a:latin typeface="+mj-lt"/>
                <a:sym typeface="楷体_GB2312"/>
              </a:rPr>
              <a:t>皇后</a:t>
            </a:r>
            <a:r>
              <a:rPr lang="en-US" altLang="zh-CN" sz="2200" b="1" dirty="0" smtClean="0">
                <a:latin typeface="+mj-lt"/>
                <a:sym typeface="楷体_GB2312"/>
              </a:rPr>
              <a:t>,</a:t>
            </a:r>
            <a:r>
              <a:rPr lang="zh-CN" altLang="en-US" sz="2200" b="1" dirty="0" smtClean="0">
                <a:latin typeface="+mj-lt"/>
                <a:sym typeface="楷体_GB2312"/>
              </a:rPr>
              <a:t>即</a:t>
            </a:r>
            <a:r>
              <a:rPr lang="zh-CN" altLang="en-US" sz="2200" b="1" dirty="0" smtClean="0">
                <a:solidFill>
                  <a:srgbClr val="C00000"/>
                </a:solidFill>
                <a:latin typeface="+mj-lt"/>
                <a:sym typeface="楷体_GB2312"/>
              </a:rPr>
              <a:t>任意</a:t>
            </a:r>
            <a:r>
              <a:rPr lang="zh-CN" altLang="en-US" sz="2200" b="1" dirty="0">
                <a:solidFill>
                  <a:srgbClr val="C00000"/>
                </a:solidFill>
                <a:latin typeface="+mj-lt"/>
                <a:sym typeface="楷体_GB2312"/>
              </a:rPr>
              <a:t>两</a:t>
            </a:r>
            <a:r>
              <a:rPr lang="zh-CN" altLang="en-US" sz="2200" b="1" dirty="0" smtClean="0">
                <a:solidFill>
                  <a:srgbClr val="C00000"/>
                </a:solidFill>
                <a:latin typeface="+mj-lt"/>
                <a:sym typeface="楷体_GB2312"/>
              </a:rPr>
              <a:t>皇后</a:t>
            </a:r>
            <a:r>
              <a:rPr lang="zh-CN" altLang="en-US" sz="2200" b="1" dirty="0" smtClean="0">
                <a:solidFill>
                  <a:srgbClr val="00B050"/>
                </a:solidFill>
                <a:latin typeface="+mj-lt"/>
                <a:sym typeface="楷体_GB2312"/>
              </a:rPr>
              <a:t>不在</a:t>
            </a:r>
            <a:r>
              <a:rPr lang="zh-CN" altLang="en-US" sz="2200" b="1" dirty="0" smtClean="0">
                <a:solidFill>
                  <a:srgbClr val="FF0000"/>
                </a:solidFill>
                <a:latin typeface="+mj-lt"/>
                <a:sym typeface="楷体_GB2312"/>
              </a:rPr>
              <a:t>同一行</a:t>
            </a:r>
            <a:r>
              <a:rPr lang="zh-CN" altLang="en-US" sz="2200" b="1" dirty="0" smtClean="0">
                <a:latin typeface="+mj-lt"/>
                <a:sym typeface="楷体_GB2312"/>
              </a:rPr>
              <a:t>或</a:t>
            </a:r>
            <a:r>
              <a:rPr lang="zh-CN" altLang="en-US" sz="2200" b="1" dirty="0" smtClean="0">
                <a:solidFill>
                  <a:srgbClr val="FF0000"/>
                </a:solidFill>
                <a:latin typeface="+mj-lt"/>
                <a:sym typeface="楷体_GB2312"/>
              </a:rPr>
              <a:t>同一列</a:t>
            </a:r>
            <a:r>
              <a:rPr lang="zh-CN" altLang="en-US" sz="2200" b="1" dirty="0" smtClean="0">
                <a:latin typeface="+mj-lt"/>
                <a:sym typeface="楷体_GB2312"/>
              </a:rPr>
              <a:t>或</a:t>
            </a:r>
            <a:r>
              <a:rPr lang="zh-CN" altLang="en-US" sz="2200" b="1" dirty="0" smtClean="0">
                <a:solidFill>
                  <a:srgbClr val="FF0000"/>
                </a:solidFill>
                <a:latin typeface="+mj-lt"/>
                <a:sym typeface="楷体_GB2312"/>
              </a:rPr>
              <a:t>同一斜线</a:t>
            </a:r>
            <a:r>
              <a:rPr lang="zh-CN" altLang="en-US" sz="2200" b="1" dirty="0" smtClean="0">
                <a:latin typeface="+mj-lt"/>
                <a:sym typeface="楷体_GB2312"/>
              </a:rPr>
              <a:t>上。n＝1 显然成立；n＝2、3，问题无解；n&gt;=4 时，多少种可能？以4皇后为例</a:t>
            </a:r>
            <a:r>
              <a:rPr lang="zh-CN" altLang="en-US" sz="2200" b="1" dirty="0">
                <a:latin typeface="+mj-lt"/>
                <a:sym typeface="楷体_GB2312"/>
              </a:rPr>
              <a:t>。</a:t>
            </a:r>
          </a:p>
        </p:txBody>
      </p:sp>
      <p:pic>
        <p:nvPicPr>
          <p:cNvPr id="22" name="image.pd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4216692"/>
            <a:ext cx="3352800" cy="14573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" name="Shape 23"/>
          <p:cNvSpPr/>
          <p:nvPr/>
        </p:nvSpPr>
        <p:spPr>
          <a:xfrm>
            <a:off x="1219199" y="6019800"/>
            <a:ext cx="1631214" cy="400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lvl="0"/>
            <a:r>
              <a:rPr sz="2000" dirty="0" err="1" smtClean="0">
                <a:latin typeface="宋体"/>
                <a:ea typeface="宋体"/>
                <a:cs typeface="宋体"/>
                <a:sym typeface="宋体"/>
              </a:rPr>
              <a:t>两种无效布局</a:t>
            </a:r>
            <a:endParaRPr sz="2000"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5937315" y="6027135"/>
            <a:ext cx="1905787" cy="40011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342900" lvl="0" indent="-342900">
              <a:spcBef>
                <a:spcPts val="500"/>
              </a:spcBef>
            </a:pPr>
            <a:r>
              <a:rPr sz="2000" dirty="0" smtClean="0">
                <a:latin typeface="宋体"/>
                <a:ea typeface="宋体"/>
                <a:cs typeface="宋体"/>
                <a:sym typeface="宋体"/>
              </a:rPr>
              <a:t>一</a:t>
            </a:r>
            <a:r>
              <a:rPr lang="zh-CN" altLang="en-US" sz="2000" dirty="0">
                <a:latin typeface="宋体"/>
                <a:ea typeface="宋体"/>
                <a:cs typeface="宋体"/>
                <a:sym typeface="宋体"/>
              </a:rPr>
              <a:t>种</a:t>
            </a:r>
            <a:r>
              <a:rPr sz="2000" dirty="0" err="1" smtClean="0">
                <a:latin typeface="宋体"/>
                <a:ea typeface="宋体"/>
                <a:cs typeface="宋体"/>
                <a:sym typeface="宋体"/>
              </a:rPr>
              <a:t>有效布局</a:t>
            </a:r>
            <a:endParaRPr sz="2000" dirty="0">
              <a:latin typeface="宋体"/>
              <a:ea typeface="宋体"/>
              <a:cs typeface="宋体"/>
              <a:sym typeface="宋体"/>
            </a:endParaRPr>
          </a:p>
        </p:txBody>
      </p:sp>
      <p:pic>
        <p:nvPicPr>
          <p:cNvPr id="25" name="image.pd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4216692"/>
            <a:ext cx="1447800" cy="12588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413214"/>
              </p:ext>
            </p:extLst>
          </p:nvPr>
        </p:nvGraphicFramePr>
        <p:xfrm>
          <a:off x="4004603" y="2663180"/>
          <a:ext cx="1559274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9758"/>
                <a:gridCol w="519758"/>
                <a:gridCol w="519758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  </a:t>
                      </a:r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 lvl="0">
              <a:defRPr sz="1800"/>
            </a:pPr>
            <a:r>
              <a:rPr sz="4400" dirty="0" err="1"/>
              <a:t>求解过程图示</a:t>
            </a:r>
            <a:endParaRPr sz="4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591" y="1318048"/>
            <a:ext cx="6053839" cy="5539952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 bwMode="auto">
          <a:xfrm>
            <a:off x="2155487" y="3162481"/>
            <a:ext cx="457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 descr="201401271941382016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00" y="1329570"/>
            <a:ext cx="6979468" cy="544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hape 27"/>
          <p:cNvSpPr txBox="1">
            <a:spLocks/>
          </p:cNvSpPr>
          <p:nvPr/>
        </p:nvSpPr>
        <p:spPr bwMode="auto">
          <a:xfrm>
            <a:off x="724275" y="0"/>
            <a:ext cx="7632073" cy="171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宋体"/>
                <a:ea typeface="宋体"/>
                <a:cs typeface="宋体"/>
                <a:sym typeface="宋体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defRPr sz="1800"/>
            </a:pPr>
            <a:r>
              <a:rPr lang="zh-CN" altLang="en-US" sz="4000" dirty="0"/>
              <a:t>求解过程图示</a:t>
            </a:r>
          </a:p>
        </p:txBody>
      </p:sp>
      <p:cxnSp>
        <p:nvCxnSpPr>
          <p:cNvPr id="5" name="直接连接符 4"/>
          <p:cNvCxnSpPr/>
          <p:nvPr/>
        </p:nvCxnSpPr>
        <p:spPr bwMode="auto">
          <a:xfrm flipV="1">
            <a:off x="2036815" y="4177364"/>
            <a:ext cx="773762" cy="27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44374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400"/>
              <a:t>6</a:t>
            </a:fld>
            <a:endParaRPr sz="1400"/>
          </a:p>
        </p:txBody>
      </p:sp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737171" y="157538"/>
            <a:ext cx="77724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zh-CN" altLang="en-US" sz="4400" dirty="0" smtClean="0"/>
              <a:t>主要内容</a:t>
            </a:r>
            <a:endParaRPr sz="4400" dirty="0"/>
          </a:p>
        </p:txBody>
      </p:sp>
      <p:sp>
        <p:nvSpPr>
          <p:cNvPr id="18" name="Shape 1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 b="1" dirty="0" err="1"/>
              <a:t>N皇后问题</a:t>
            </a:r>
            <a:endParaRPr sz="3200" b="1" dirty="0"/>
          </a:p>
          <a:p>
            <a:pPr lvl="0">
              <a:defRPr sz="1800"/>
            </a:pPr>
            <a:r>
              <a:rPr sz="3200" b="1" dirty="0" err="1">
                <a:solidFill>
                  <a:srgbClr val="FF0000"/>
                </a:solidFill>
              </a:rPr>
              <a:t>回溯法思想</a:t>
            </a:r>
          </a:p>
          <a:p>
            <a:pPr lvl="0">
              <a:defRPr sz="1800"/>
            </a:pPr>
            <a:r>
              <a:rPr sz="3200" b="1" dirty="0" err="1" smtClean="0"/>
              <a:t>回溯法应用</a:t>
            </a:r>
            <a:endParaRPr sz="32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49574"/>
            <a:ext cx="8229600" cy="412559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问题的解向量                    ，其中      集合   </a:t>
            </a:r>
          </a:p>
          <a:p>
            <a:r>
              <a:rPr lang="zh-CN" altLang="en-US" dirty="0" smtClean="0"/>
              <a:t>解空间由</a:t>
            </a:r>
            <a:r>
              <a:rPr lang="zh-CN" altLang="en-US" dirty="0"/>
              <a:t>笛卡尔</a:t>
            </a:r>
            <a:r>
              <a:rPr lang="zh-CN" altLang="en-US" dirty="0" smtClean="0"/>
              <a:t>积                       构成</a:t>
            </a:r>
          </a:p>
          <a:p>
            <a:pPr eaLnBrk="1" hangingPunct="1"/>
            <a:r>
              <a:rPr lang="zh-CN" altLang="en-US" dirty="0" smtClean="0"/>
              <a:t>解空间中的取值                称为一个</a:t>
            </a:r>
            <a:r>
              <a:rPr lang="zh-CN" altLang="en-US" dirty="0" smtClean="0">
                <a:solidFill>
                  <a:srgbClr val="FF0000"/>
                </a:solidFill>
                <a:uFillTx/>
              </a:rPr>
              <a:t>可能解</a:t>
            </a:r>
            <a:endParaRPr lang="en-US" altLang="zh-CN" dirty="0" smtClean="0">
              <a:solidFill>
                <a:srgbClr val="FF0000"/>
              </a:solidFill>
              <a:uFillTx/>
            </a:endParaRPr>
          </a:p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uFillTx/>
                <a:sym typeface="+mn-ea"/>
              </a:rPr>
              <a:t>可行解</a:t>
            </a:r>
            <a:r>
              <a:rPr lang="zh-CN" altLang="en-US" dirty="0" smtClean="0">
                <a:sym typeface="+mn-ea"/>
              </a:rPr>
              <a:t>：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满足约束条件的解</a:t>
            </a:r>
            <a:r>
              <a:rPr lang="zh-CN" altLang="en-US" dirty="0" smtClean="0">
                <a:sym typeface="+mn-ea"/>
              </a:rPr>
              <a:t>，解空间中的一个子集，（子集树）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>
                <a:solidFill>
                  <a:srgbClr val="FF0000"/>
                </a:solidFill>
                <a:uFillTx/>
                <a:sym typeface="+mn-ea"/>
              </a:rPr>
              <a:t>最优解</a:t>
            </a:r>
            <a:r>
              <a:rPr lang="zh-CN" altLang="en-US" dirty="0" smtClean="0">
                <a:sym typeface="+mn-ea"/>
              </a:rPr>
              <a:t>：使目标函数取极值（极大或极小）的可行解，一个或少数几个（排列树）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>
                <a:sym typeface="+mn-ea"/>
              </a:rPr>
              <a:t>找可行解，一般找到就可以，但是</a:t>
            </a:r>
            <a:r>
              <a:rPr lang="zh-CN" altLang="en-US" dirty="0">
                <a:sym typeface="+mn-ea"/>
              </a:rPr>
              <a:t>求</a:t>
            </a:r>
            <a:r>
              <a:rPr lang="zh-CN" altLang="en-US" dirty="0" smtClean="0">
                <a:sym typeface="+mn-ea"/>
              </a:rPr>
              <a:t>最优解一般要遍历整个解空间。</a:t>
            </a:r>
            <a:endParaRPr lang="zh-CN" altLang="en-US" dirty="0" smtClean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" name="Shape 37"/>
          <p:cNvSpPr>
            <a:spLocks noGrp="1"/>
          </p:cNvSpPr>
          <p:nvPr/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>
            <a:normAutofit/>
          </a:bodyPr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 lvl="0" algn="ctr">
              <a:defRPr sz="1800"/>
            </a:pPr>
            <a:r>
              <a:rPr sz="4400" dirty="0" err="1"/>
              <a:t>基本概念</a:t>
            </a:r>
            <a:endParaRPr sz="4400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616807"/>
              </p:ext>
            </p:extLst>
          </p:nvPr>
        </p:nvGraphicFramePr>
        <p:xfrm>
          <a:off x="6066908" y="1368691"/>
          <a:ext cx="56038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" name="Equation" r:id="rId3" imgW="279360" imgH="228600" progId="Equation.DSMT4">
                  <p:embed/>
                </p:oleObj>
              </mc:Choice>
              <mc:Fallback>
                <p:oleObj name="Equation" r:id="rId3" imgW="279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6908" y="1368691"/>
                        <a:ext cx="560387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911901"/>
              </p:ext>
            </p:extLst>
          </p:nvPr>
        </p:nvGraphicFramePr>
        <p:xfrm>
          <a:off x="3659269" y="2408022"/>
          <a:ext cx="13509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" name="Equation" r:id="rId5" imgW="672840" imgH="228600" progId="Equation.DSMT4">
                  <p:embed/>
                </p:oleObj>
              </mc:Choice>
              <mc:Fallback>
                <p:oleObj name="Equation" r:id="rId5" imgW="672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9269" y="2408022"/>
                        <a:ext cx="1350963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357343"/>
              </p:ext>
            </p:extLst>
          </p:nvPr>
        </p:nvGraphicFramePr>
        <p:xfrm>
          <a:off x="7313095" y="1410732"/>
          <a:ext cx="3063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" name="Equation" r:id="rId7" imgW="152280" imgH="228600" progId="Equation.DSMT4">
                  <p:embed/>
                </p:oleObj>
              </mc:Choice>
              <mc:Fallback>
                <p:oleObj name="Equation" r:id="rId7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13095" y="1410732"/>
                        <a:ext cx="306388" cy="45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300339"/>
              </p:ext>
            </p:extLst>
          </p:nvPr>
        </p:nvGraphicFramePr>
        <p:xfrm>
          <a:off x="3473080" y="3339744"/>
          <a:ext cx="846465" cy="51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" name="Equation" r:id="rId9" imgW="330120" imgH="203040" progId="Equation.DSMT4">
                  <p:embed/>
                </p:oleObj>
              </mc:Choice>
              <mc:Fallback>
                <p:oleObj name="Equation" r:id="rId9" imgW="330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73080" y="3339744"/>
                        <a:ext cx="846465" cy="51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624672"/>
              </p:ext>
            </p:extLst>
          </p:nvPr>
        </p:nvGraphicFramePr>
        <p:xfrm>
          <a:off x="7653299" y="2445433"/>
          <a:ext cx="760396" cy="450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" name="Equation" r:id="rId11" imgW="342720" imgH="203040" progId="Equation.DSMT4">
                  <p:embed/>
                </p:oleObj>
              </mc:Choice>
              <mc:Fallback>
                <p:oleObj name="Equation" r:id="rId11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53299" y="2445433"/>
                        <a:ext cx="760396" cy="4502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519106"/>
              </p:ext>
            </p:extLst>
          </p:nvPr>
        </p:nvGraphicFramePr>
        <p:xfrm>
          <a:off x="6418162" y="4209649"/>
          <a:ext cx="781534" cy="519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" name="Equation" r:id="rId13" imgW="304560" imgH="203040" progId="Equation.DSMT4">
                  <p:embed/>
                </p:oleObj>
              </mc:Choice>
              <mc:Fallback>
                <p:oleObj name="Equation" r:id="rId13" imgW="304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18162" y="4209649"/>
                        <a:ext cx="781534" cy="519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5145600" y="230587"/>
                <a:ext cx="3426900" cy="10195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limLow>
                              <m:limLow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lim>
                            </m:limLow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2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4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|≤1</m:t>
                                  </m:r>
                                </m:e>
                              </m:mr>
                            </m:m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,|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|≤1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600" y="230587"/>
                <a:ext cx="3426900" cy="1019574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153383" y="1431527"/>
                <a:ext cx="19228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383" y="1431527"/>
                <a:ext cx="1922834" cy="400110"/>
              </a:xfrm>
              <a:prstGeom prst="rect">
                <a:avLst/>
              </a:prstGeom>
              <a:blipFill rotWithShape="0">
                <a:blip r:embed="rId18"/>
                <a:stretch>
                  <a:fillRect t="-124615" r="-30380" b="-19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841675" y="1886104"/>
                <a:ext cx="2337114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3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3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300" i="0">
                          <a:latin typeface="Cambria Math" panose="02040503050406030204" pitchFamily="18" charset="0"/>
                        </a:rPr>
                        <m:t>×⋯×</m:t>
                      </m:r>
                      <m:sSub>
                        <m:sSub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675" y="1886104"/>
                <a:ext cx="2337114" cy="446276"/>
              </a:xfrm>
              <a:prstGeom prst="rect">
                <a:avLst/>
              </a:prstGeom>
              <a:blipFill rotWithShape="0">
                <a:blip r:embed="rId1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5785164" cy="487363"/>
          </a:xfrm>
        </p:spPr>
        <p:txBody>
          <a:bodyPr/>
          <a:lstStyle/>
          <a:p>
            <a:r>
              <a:rPr lang="zh-CN" altLang="en-US" dirty="0"/>
              <a:t>四皇后问题的解空间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33137" y="944563"/>
            <a:ext cx="8710863" cy="56848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 smtClean="0"/>
              <a:t>	</a:t>
            </a:r>
            <a:endParaRPr lang="en-US" altLang="zh-CN" sz="2400" dirty="0" smtClean="0"/>
          </a:p>
          <a:p>
            <a:pPr eaLnBrk="1" hangingPunct="1">
              <a:buFontTx/>
              <a:buNone/>
            </a:pPr>
            <a:r>
              <a:rPr lang="zh-CN" altLang="en-US" sz="2400" dirty="0" smtClean="0"/>
              <a:t> 向量                             表示皇后的布局。</a:t>
            </a:r>
            <a:endParaRPr lang="en-US" altLang="zh-CN" sz="2400" dirty="0" smtClean="0"/>
          </a:p>
          <a:p>
            <a:pPr eaLnBrk="1" hangingPunct="1">
              <a:buFontTx/>
              <a:buNone/>
            </a:pPr>
            <a:r>
              <a:rPr lang="zh-CN" altLang="en-US" sz="2400" dirty="0" smtClean="0"/>
              <a:t> 分量    表示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b="1" i="1" dirty="0" smtClean="0">
                <a:solidFill>
                  <a:srgbClr val="FF0000"/>
                </a:solidFill>
              </a:rPr>
              <a:t>i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行第</a:t>
            </a:r>
            <a:r>
              <a:rPr lang="en-US" altLang="zh-CN" sz="2400" b="1" i="1" dirty="0" err="1">
                <a:solidFill>
                  <a:srgbClr val="FF0000"/>
                </a:solidFill>
              </a:rPr>
              <a:t>i</a:t>
            </a:r>
            <a:r>
              <a:rPr lang="zh-CN" altLang="en-US" sz="2400" b="1" i="1" dirty="0" smtClean="0">
                <a:solidFill>
                  <a:srgbClr val="FF0000"/>
                </a:solidFill>
              </a:rPr>
              <a:t>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个皇后</a:t>
            </a:r>
            <a:r>
              <a:rPr lang="zh-CN" altLang="en-US" sz="2400" dirty="0" smtClean="0"/>
              <a:t>的</a:t>
            </a:r>
            <a:r>
              <a:rPr lang="zh-CN" altLang="en-US" sz="2400" b="1" dirty="0" smtClean="0">
                <a:solidFill>
                  <a:srgbClr val="00B050"/>
                </a:solidFill>
              </a:rPr>
              <a:t>列位置</a:t>
            </a:r>
            <a:r>
              <a:rPr lang="zh-CN" altLang="en-US" sz="2400" dirty="0" smtClean="0"/>
              <a:t>。</a:t>
            </a:r>
          </a:p>
          <a:p>
            <a:pPr>
              <a:buNone/>
            </a:pPr>
            <a:r>
              <a:rPr lang="zh-CN" altLang="en-US" sz="2400" dirty="0" smtClean="0"/>
              <a:t> 有</a:t>
            </a:r>
            <a:r>
              <a:rPr lang="en-US" altLang="zh-CN" sz="2400" dirty="0" smtClean="0">
                <a:solidFill>
                  <a:srgbClr val="FF0000"/>
                </a:solidFill>
              </a:rPr>
              <a:t>4</a:t>
            </a:r>
            <a:r>
              <a:rPr lang="en-US" altLang="zh-CN" sz="2400" baseline="30000" dirty="0" smtClean="0">
                <a:solidFill>
                  <a:srgbClr val="FF0000"/>
                </a:solidFill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</a:rPr>
              <a:t> </a:t>
            </a:r>
            <a:r>
              <a:rPr lang="zh-CN" altLang="en-US" sz="2400" dirty="0" smtClean="0"/>
              <a:t>个可能解，（</a:t>
            </a:r>
            <a:r>
              <a:rPr lang="en-US" altLang="zh-CN" sz="2400" dirty="0" smtClean="0"/>
              <a:t>2,4,1,3</a:t>
            </a:r>
            <a:r>
              <a:rPr lang="zh-CN" altLang="en-US" sz="2400" dirty="0" smtClean="0"/>
              <a:t>）是一个可行解（</a:t>
            </a:r>
            <a:r>
              <a:rPr lang="zh-CN" altLang="en-US" sz="2400" dirty="0" smtClean="0">
                <a:ea typeface="宋体" charset="0"/>
              </a:rPr>
              <a:t>图</a:t>
            </a:r>
            <a:r>
              <a:rPr lang="en-US" altLang="zh-CN" sz="2400" dirty="0"/>
              <a:t>c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eaLnBrk="1" hangingPunct="1">
              <a:buFontTx/>
              <a:buNone/>
            </a:pPr>
            <a:r>
              <a:rPr lang="zh-CN" altLang="en-US" sz="2400" dirty="0" smtClean="0"/>
              <a:t> 完全四叉树的所有叶子节点构成一个解空间，每个叶子节点就</a:t>
            </a:r>
            <a:endParaRPr lang="en-US" altLang="zh-CN" sz="2400" dirty="0" smtClean="0"/>
          </a:p>
          <a:p>
            <a:pPr eaLnBrk="1" hangingPunct="1">
              <a:buFontTx/>
              <a:buNone/>
            </a:pPr>
            <a:r>
              <a:rPr lang="zh-CN" altLang="en-US" sz="2400" dirty="0" smtClean="0"/>
              <a:t> 是一个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可能解</a:t>
            </a:r>
            <a:r>
              <a:rPr lang="zh-CN" altLang="en-US" sz="2400" dirty="0" smtClean="0"/>
              <a:t>，满足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要求</a:t>
            </a:r>
            <a:r>
              <a:rPr lang="zh-CN" altLang="en-US" sz="2400" dirty="0" smtClean="0"/>
              <a:t>的叶子节点就是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可行解</a:t>
            </a:r>
            <a:r>
              <a:rPr lang="zh-CN" altLang="en-US" sz="2400" b="1" dirty="0" smtClean="0"/>
              <a:t>。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5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757568"/>
              </p:ext>
            </p:extLst>
          </p:nvPr>
        </p:nvGraphicFramePr>
        <p:xfrm>
          <a:off x="772274" y="4081017"/>
          <a:ext cx="4038600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" name="图片" r:id="rId3" imgW="3218180" imgH="1400810" progId="Word.Picture.8">
                  <p:embed/>
                </p:oleObj>
              </mc:Choice>
              <mc:Fallback>
                <p:oleObj name="图片" r:id="rId3" imgW="3218180" imgH="1400810" progId="Word.Picture.8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2274" y="4081017"/>
                        <a:ext cx="4038600" cy="175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86557"/>
              </p:ext>
            </p:extLst>
          </p:nvPr>
        </p:nvGraphicFramePr>
        <p:xfrm>
          <a:off x="5861985" y="4136043"/>
          <a:ext cx="1696125" cy="1474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" name="图片" r:id="rId5" imgW="1390650" imgH="1210310" progId="Word.Picture.8">
                  <p:embed/>
                </p:oleObj>
              </mc:Choice>
              <mc:Fallback>
                <p:oleObj name="图片" r:id="rId5" imgW="1390650" imgH="1210310" progId="Word.Picture.8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1985" y="4136043"/>
                        <a:ext cx="1696125" cy="14748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1203642" y="5866382"/>
            <a:ext cx="1190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(2,4,3,1)</a:t>
            </a:r>
            <a:endParaRPr lang="zh-CN" altLang="en-US" dirty="0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3382454" y="5869131"/>
            <a:ext cx="1035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(1,4,2,3)</a:t>
            </a:r>
            <a:endParaRPr lang="zh-CN" altLang="en-US" dirty="0"/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6375935" y="5891218"/>
            <a:ext cx="142842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/>
              <a:t>(2,4,1,3)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348259"/>
              </p:ext>
            </p:extLst>
          </p:nvPr>
        </p:nvGraphicFramePr>
        <p:xfrm>
          <a:off x="1203642" y="1804455"/>
          <a:ext cx="3063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" name="Equation" r:id="rId7" imgW="152280" imgH="228600" progId="Equation.DSMT4">
                  <p:embed/>
                </p:oleObj>
              </mc:Choice>
              <mc:Fallback>
                <p:oleObj name="Equation" r:id="rId7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03642" y="1804455"/>
                        <a:ext cx="306388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509472" y="5574605"/>
            <a:ext cx="935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c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203642" y="1408150"/>
                <a:ext cx="22409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642" y="1408150"/>
                <a:ext cx="2240934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122727" r="-26087" b="-19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689447" y="1423539"/>
                <a:ext cx="20412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={1,2,3,4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447" y="1423539"/>
                <a:ext cx="20412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126667" r="-25373" b="-19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 lvl="0">
              <a:defRPr sz="1800"/>
            </a:pPr>
            <a:r>
              <a:rPr sz="4400" dirty="0" err="1"/>
              <a:t>回溯法简介</a:t>
            </a:r>
            <a:endParaRPr sz="4400" dirty="0"/>
          </a:p>
        </p:txBody>
      </p:sp>
      <p:sp>
        <p:nvSpPr>
          <p:cNvPr id="32" name="Shape 32"/>
          <p:cNvSpPr>
            <a:spLocks noGrp="1"/>
          </p:cNvSpPr>
          <p:nvPr>
            <p:ph type="body" idx="4294967295"/>
          </p:nvPr>
        </p:nvSpPr>
        <p:spPr>
          <a:xfrm>
            <a:off x="457200" y="1601272"/>
            <a:ext cx="7772400" cy="447198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325755" lvl="0" indent="-325755" algn="just" defTabSz="868680">
              <a:buNone/>
              <a:defRPr sz="1800"/>
            </a:pPr>
            <a:r>
              <a:rPr lang="en-US" sz="3040" dirty="0" smtClean="0">
                <a:latin typeface="宋体"/>
                <a:ea typeface="宋体"/>
                <a:cs typeface="宋体"/>
                <a:sym typeface="宋体"/>
              </a:rPr>
              <a:t>  </a:t>
            </a:r>
            <a:r>
              <a:rPr sz="3040" dirty="0" err="1" smtClean="0">
                <a:latin typeface="+mj-lt"/>
                <a:ea typeface="宋体"/>
                <a:cs typeface="宋体"/>
                <a:sym typeface="宋体"/>
              </a:rPr>
              <a:t>有</a:t>
            </a:r>
            <a:r>
              <a:rPr sz="3040" dirty="0" err="1">
                <a:latin typeface="+mj-lt"/>
              </a:rPr>
              <a:t>“</a:t>
            </a:r>
            <a:r>
              <a:rPr sz="3040" dirty="0" err="1">
                <a:latin typeface="+mj-lt"/>
                <a:ea typeface="宋体"/>
                <a:cs typeface="宋体"/>
                <a:sym typeface="宋体"/>
              </a:rPr>
              <a:t>通用解题法</a:t>
            </a:r>
            <a:r>
              <a:rPr sz="3040" dirty="0" err="1">
                <a:latin typeface="+mj-lt"/>
              </a:rPr>
              <a:t>”</a:t>
            </a:r>
            <a:r>
              <a:rPr sz="3040" dirty="0" err="1">
                <a:latin typeface="+mj-lt"/>
                <a:ea typeface="宋体"/>
                <a:cs typeface="宋体"/>
                <a:sym typeface="宋体"/>
              </a:rPr>
              <a:t>之称，将所有的解（问题的解空间）按照一定结构排列，再进行搜索</a:t>
            </a:r>
            <a:r>
              <a:rPr sz="3040" dirty="0">
                <a:latin typeface="+mj-lt"/>
                <a:ea typeface="宋体"/>
                <a:cs typeface="宋体"/>
                <a:sym typeface="宋体"/>
              </a:rPr>
              <a:t>。</a:t>
            </a:r>
          </a:p>
          <a:p>
            <a:pPr marL="705485" lvl="1" indent="-271145" defTabSz="868680">
              <a:spcBef>
                <a:spcPts val="600"/>
              </a:spcBef>
              <a:defRPr sz="1800"/>
            </a:pPr>
            <a:r>
              <a:rPr sz="2660" dirty="0" err="1" smtClean="0">
                <a:latin typeface="+mj-lt"/>
                <a:ea typeface="宋体"/>
                <a:cs typeface="宋体"/>
                <a:sym typeface="宋体"/>
              </a:rPr>
              <a:t>一般解空间构造成为树状结构</a:t>
            </a:r>
            <a:r>
              <a:rPr sz="2660" dirty="0" err="1">
                <a:latin typeface="+mj-lt"/>
                <a:ea typeface="宋体"/>
                <a:cs typeface="宋体"/>
                <a:sym typeface="宋体"/>
              </a:rPr>
              <a:t>，</a:t>
            </a:r>
            <a:r>
              <a:rPr sz="2660" dirty="0" err="1" smtClean="0">
                <a:latin typeface="+mj-lt"/>
                <a:ea typeface="宋体"/>
                <a:cs typeface="宋体"/>
                <a:sym typeface="宋体"/>
              </a:rPr>
              <a:t>用</a:t>
            </a:r>
            <a:r>
              <a:rPr sz="2660" b="1" dirty="0" err="1" smtClean="0">
                <a:solidFill>
                  <a:srgbClr val="FF0000"/>
                </a:solidFill>
                <a:latin typeface="+mj-lt"/>
                <a:ea typeface="宋体"/>
                <a:cs typeface="宋体"/>
                <a:sym typeface="宋体"/>
              </a:rPr>
              <a:t>深度优先</a:t>
            </a:r>
            <a:r>
              <a:rPr sz="2660" dirty="0" err="1" smtClean="0">
                <a:latin typeface="+mj-lt"/>
                <a:ea typeface="宋体"/>
                <a:cs typeface="宋体"/>
                <a:sym typeface="宋体"/>
              </a:rPr>
              <a:t>的策略搜索</a:t>
            </a:r>
            <a:r>
              <a:rPr lang="zh-CN" altLang="en-US" sz="2660" dirty="0" smtClean="0">
                <a:latin typeface="+mj-lt"/>
                <a:ea typeface="宋体"/>
                <a:cs typeface="宋体"/>
                <a:sym typeface="宋体"/>
              </a:rPr>
              <a:t>；</a:t>
            </a:r>
            <a:endParaRPr sz="2660" dirty="0">
              <a:latin typeface="+mj-lt"/>
            </a:endParaRPr>
          </a:p>
          <a:p>
            <a:pPr marL="705485" lvl="1" indent="-271145" defTabSz="868680">
              <a:spcBef>
                <a:spcPts val="600"/>
              </a:spcBef>
              <a:defRPr sz="1800"/>
            </a:pPr>
            <a:r>
              <a:rPr sz="2660" dirty="0" err="1">
                <a:latin typeface="+mj-lt"/>
                <a:ea typeface="宋体"/>
                <a:cs typeface="宋体"/>
                <a:sym typeface="宋体"/>
              </a:rPr>
              <a:t>两种方式</a:t>
            </a:r>
            <a:r>
              <a:rPr sz="2660" dirty="0">
                <a:latin typeface="+mj-lt"/>
                <a:ea typeface="宋体"/>
                <a:cs typeface="宋体"/>
                <a:sym typeface="宋体"/>
              </a:rPr>
              <a:t>：</a:t>
            </a:r>
            <a:endParaRPr sz="2660" dirty="0">
              <a:latin typeface="+mj-lt"/>
            </a:endParaRPr>
          </a:p>
          <a:p>
            <a:pPr marL="1085850" lvl="2" indent="-217170" defTabSz="868680">
              <a:spcBef>
                <a:spcPts val="500"/>
              </a:spcBef>
              <a:defRPr sz="1800"/>
            </a:pPr>
            <a:r>
              <a:rPr sz="2280" dirty="0" err="1">
                <a:latin typeface="+mj-lt"/>
                <a:ea typeface="宋体"/>
                <a:cs typeface="宋体"/>
                <a:sym typeface="宋体"/>
              </a:rPr>
              <a:t>只需要一个解的话，</a:t>
            </a:r>
            <a:r>
              <a:rPr sz="2280" dirty="0" err="1" smtClean="0">
                <a:latin typeface="+mj-lt"/>
                <a:ea typeface="宋体"/>
                <a:cs typeface="宋体"/>
                <a:sym typeface="宋体"/>
              </a:rPr>
              <a:t>找到解就停止</a:t>
            </a:r>
            <a:r>
              <a:rPr lang="zh-CN" altLang="en-US" sz="2280" dirty="0" smtClean="0">
                <a:latin typeface="+mj-lt"/>
                <a:ea typeface="宋体"/>
                <a:cs typeface="宋体"/>
                <a:sym typeface="宋体"/>
              </a:rPr>
              <a:t>；</a:t>
            </a:r>
            <a:endParaRPr sz="2280" dirty="0">
              <a:latin typeface="+mj-lt"/>
            </a:endParaRPr>
          </a:p>
          <a:p>
            <a:pPr marL="1085850" lvl="2" indent="-217170" defTabSz="868680">
              <a:spcBef>
                <a:spcPts val="500"/>
              </a:spcBef>
              <a:defRPr sz="1800"/>
            </a:pPr>
            <a:r>
              <a:rPr sz="2280" dirty="0" err="1">
                <a:latin typeface="+mj-lt"/>
                <a:ea typeface="宋体"/>
                <a:cs typeface="宋体"/>
                <a:sym typeface="宋体"/>
              </a:rPr>
              <a:t>需要求所有解，则需做</a:t>
            </a:r>
            <a:r>
              <a:rPr sz="2280" dirty="0" err="1">
                <a:latin typeface="+mj-lt"/>
              </a:rPr>
              <a:t>“</a:t>
            </a:r>
            <a:r>
              <a:rPr sz="2280" dirty="0" err="1">
                <a:latin typeface="+mj-lt"/>
                <a:ea typeface="宋体"/>
                <a:cs typeface="宋体"/>
                <a:sym typeface="宋体"/>
              </a:rPr>
              <a:t>树的遍历</a:t>
            </a:r>
            <a:r>
              <a:rPr sz="2280" dirty="0" err="1">
                <a:latin typeface="+mj-lt"/>
              </a:rPr>
              <a:t>”</a:t>
            </a:r>
            <a:r>
              <a:rPr sz="2280" dirty="0" err="1">
                <a:latin typeface="+mj-lt"/>
                <a:ea typeface="宋体"/>
                <a:cs typeface="宋体"/>
                <a:sym typeface="宋体"/>
              </a:rPr>
              <a:t>找到所有解</a:t>
            </a:r>
            <a:r>
              <a:rPr sz="2280" dirty="0">
                <a:latin typeface="+mj-lt"/>
                <a:ea typeface="宋体"/>
                <a:cs typeface="宋体"/>
                <a:sym typeface="宋体"/>
              </a:rPr>
              <a:t>。</a:t>
            </a:r>
            <a:endParaRPr sz="2280" dirty="0">
              <a:latin typeface="+mj-lt"/>
            </a:endParaRPr>
          </a:p>
          <a:p>
            <a:pPr marL="705485" lvl="1" indent="-271145" defTabSz="868680">
              <a:spcBef>
                <a:spcPts val="600"/>
              </a:spcBef>
              <a:defRPr sz="1800"/>
            </a:pPr>
            <a:r>
              <a:rPr sz="2660" dirty="0" err="1">
                <a:latin typeface="+mj-lt"/>
                <a:ea typeface="宋体"/>
                <a:cs typeface="宋体"/>
                <a:sym typeface="宋体"/>
              </a:rPr>
              <a:t>通常用</a:t>
            </a:r>
            <a:r>
              <a:rPr sz="2660" b="1" dirty="0" err="1">
                <a:solidFill>
                  <a:srgbClr val="FF0000"/>
                </a:solidFill>
                <a:latin typeface="+mj-lt"/>
                <a:ea typeface="宋体"/>
                <a:cs typeface="宋体"/>
                <a:sym typeface="宋体"/>
              </a:rPr>
              <a:t>排除法</a:t>
            </a:r>
            <a:r>
              <a:rPr sz="2660" dirty="0" err="1">
                <a:latin typeface="+mj-lt"/>
                <a:ea typeface="宋体"/>
                <a:cs typeface="宋体"/>
                <a:sym typeface="宋体"/>
              </a:rPr>
              <a:t>，</a:t>
            </a:r>
            <a:r>
              <a:rPr sz="2660" dirty="0" err="1" smtClean="0">
                <a:latin typeface="+mj-lt"/>
                <a:ea typeface="宋体"/>
                <a:cs typeface="宋体"/>
                <a:sym typeface="宋体"/>
              </a:rPr>
              <a:t>减少搜索空间</a:t>
            </a:r>
            <a:r>
              <a:rPr lang="zh-CN" altLang="en-US" sz="2660" dirty="0">
                <a:latin typeface="+mj-lt"/>
                <a:ea typeface="宋体"/>
                <a:cs typeface="宋体"/>
                <a:sym typeface="宋体"/>
              </a:rPr>
              <a:t>。</a:t>
            </a:r>
            <a:endParaRPr sz="2660" dirty="0">
              <a:latin typeface="+mj-lt"/>
              <a:ea typeface="宋体"/>
              <a:cs typeface="宋体"/>
              <a:sym typeface="宋体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123" y="4887370"/>
            <a:ext cx="2798749" cy="177331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F0060-A73A-493F-81A9-56112A0F2D9B}" type="slidenum">
              <a:rPr lang="zh-CN" altLang="en-US"/>
              <a:t>10</a:t>
            </a:fld>
            <a:endParaRPr lang="en-US" altLang="zh-CN"/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590640" y="154112"/>
            <a:ext cx="77724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chemeClr val="tx2"/>
                </a:solidFill>
                <a:latin typeface="宋体"/>
                <a:ea typeface="宋体"/>
                <a:cs typeface="宋体"/>
                <a:sym typeface="宋体"/>
              </a:rPr>
              <a:t>回溯法的基本思想</a:t>
            </a:r>
          </a:p>
        </p:txBody>
      </p:sp>
      <p:sp>
        <p:nvSpPr>
          <p:cNvPr id="285745" name="Text Box 49"/>
          <p:cNvSpPr txBox="1">
            <a:spLocks noChangeArrowheads="1"/>
          </p:cNvSpPr>
          <p:nvPr/>
        </p:nvSpPr>
        <p:spPr bwMode="auto">
          <a:xfrm>
            <a:off x="334124" y="1300199"/>
            <a:ext cx="83724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dirty="0">
                <a:ea typeface="楷体_GB2312" pitchFamily="49" charset="-122"/>
              </a:rPr>
              <a:t>(1)</a:t>
            </a:r>
            <a:r>
              <a:rPr lang="zh-CN" altLang="en-US" sz="2800" dirty="0" smtClean="0">
                <a:ea typeface="楷体_GB2312" pitchFamily="49" charset="-122"/>
              </a:rPr>
              <a:t>针对问题</a:t>
            </a:r>
            <a:r>
              <a:rPr lang="zh-CN" altLang="en-US" sz="2800" dirty="0">
                <a:ea typeface="楷体_GB2312" pitchFamily="49" charset="-122"/>
              </a:rPr>
              <a:t>，</a:t>
            </a:r>
            <a:r>
              <a:rPr lang="zh-CN" altLang="en-US" sz="2800" dirty="0" smtClean="0">
                <a:ea typeface="楷体_GB2312" pitchFamily="49" charset="-122"/>
              </a:rPr>
              <a:t>定义解</a:t>
            </a:r>
            <a:r>
              <a:rPr lang="zh-CN" altLang="en-US" sz="2800" dirty="0">
                <a:ea typeface="楷体_GB2312" pitchFamily="49" charset="-122"/>
              </a:rPr>
              <a:t>空间；</a:t>
            </a:r>
          </a:p>
          <a:p>
            <a:r>
              <a:rPr lang="en-US" altLang="zh-CN" sz="2800" dirty="0">
                <a:ea typeface="楷体_GB2312" pitchFamily="49" charset="-122"/>
              </a:rPr>
              <a:t>(2)</a:t>
            </a:r>
            <a:r>
              <a:rPr lang="zh-CN" altLang="en-US" sz="2800" dirty="0">
                <a:ea typeface="楷体_GB2312" pitchFamily="49" charset="-122"/>
              </a:rPr>
              <a:t>确定易于搜索的解空间结构；</a:t>
            </a:r>
          </a:p>
          <a:p>
            <a:r>
              <a:rPr lang="en-US" altLang="zh-CN" sz="2800" dirty="0">
                <a:ea typeface="楷体_GB2312" pitchFamily="49" charset="-122"/>
              </a:rPr>
              <a:t>(3)</a:t>
            </a:r>
            <a:r>
              <a:rPr lang="zh-CN" altLang="en-US" sz="2800" dirty="0">
                <a:ea typeface="楷体_GB2312" pitchFamily="49" charset="-122"/>
              </a:rPr>
              <a:t>以深度优先方式搜索解空间，并</a:t>
            </a:r>
            <a:r>
              <a:rPr lang="zh-CN" altLang="en-US" sz="2800" dirty="0" smtClean="0">
                <a:ea typeface="楷体_GB2312" pitchFamily="49" charset="-122"/>
              </a:rPr>
              <a:t>在</a:t>
            </a:r>
            <a:endParaRPr lang="en-US" altLang="zh-CN" sz="2800" dirty="0" smtClean="0">
              <a:ea typeface="楷体_GB2312" pitchFamily="49" charset="-122"/>
            </a:endParaRPr>
          </a:p>
          <a:p>
            <a:r>
              <a:rPr lang="zh-CN" altLang="en-US" sz="2800" dirty="0" smtClean="0">
                <a:ea typeface="楷体_GB2312" pitchFamily="49" charset="-122"/>
              </a:rPr>
              <a:t>搜索</a:t>
            </a:r>
            <a:r>
              <a:rPr lang="zh-CN" altLang="en-US" sz="2800" dirty="0">
                <a:ea typeface="楷体_GB2312" pitchFamily="49" charset="-122"/>
              </a:rPr>
              <a:t>过程中用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剪枝函数</a:t>
            </a:r>
            <a:r>
              <a:rPr lang="zh-CN" altLang="en-US" sz="2800" dirty="0">
                <a:ea typeface="楷体_GB2312" pitchFamily="49" charset="-122"/>
              </a:rPr>
              <a:t>避免无效搜索。</a:t>
            </a:r>
          </a:p>
        </p:txBody>
      </p:sp>
      <p:sp>
        <p:nvSpPr>
          <p:cNvPr id="285746" name="Text Box 50"/>
          <p:cNvSpPr txBox="1">
            <a:spLocks noChangeArrowheads="1"/>
          </p:cNvSpPr>
          <p:nvPr/>
        </p:nvSpPr>
        <p:spPr bwMode="auto">
          <a:xfrm>
            <a:off x="468313" y="3233024"/>
            <a:ext cx="8228012" cy="137318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ea typeface="楷体_GB2312" pitchFamily="49" charset="-122"/>
              </a:rPr>
              <a:t>常用剪枝函数：</a:t>
            </a:r>
          </a:p>
          <a:p>
            <a:r>
              <a:rPr lang="zh-CN" altLang="en-US" sz="2800" dirty="0">
                <a:ea typeface="楷体_GB2312" pitchFamily="49" charset="-122"/>
              </a:rPr>
              <a:t>用约束函数在扩展结点处剪去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不满足</a:t>
            </a:r>
            <a:r>
              <a:rPr lang="zh-CN" altLang="en-US" sz="2800" dirty="0">
                <a:ea typeface="楷体_GB2312" pitchFamily="49" charset="-122"/>
              </a:rPr>
              <a:t>约束的子树；</a:t>
            </a:r>
          </a:p>
          <a:p>
            <a:r>
              <a:rPr lang="zh-CN" altLang="en-US" sz="2800" dirty="0">
                <a:ea typeface="楷体_GB2312" pitchFamily="49" charset="-122"/>
              </a:rPr>
              <a:t>用限界函数剪去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得不到最优解</a:t>
            </a:r>
            <a:r>
              <a:rPr lang="zh-CN" altLang="en-US" sz="2800" dirty="0">
                <a:ea typeface="楷体_GB2312" pitchFamily="49" charset="-122"/>
              </a:rPr>
              <a:t>的子树。</a:t>
            </a:r>
            <a:endParaRPr lang="zh-CN" altLang="en-US" sz="2400" dirty="0">
              <a:ea typeface="楷体_GB2312" pitchFamily="49" charset="-122"/>
            </a:endParaRPr>
          </a:p>
        </p:txBody>
      </p:sp>
      <p:sp>
        <p:nvSpPr>
          <p:cNvPr id="285747" name="Text Box 51"/>
          <p:cNvSpPr txBox="1">
            <a:spLocks noChangeArrowheads="1"/>
          </p:cNvSpPr>
          <p:nvPr/>
        </p:nvSpPr>
        <p:spPr bwMode="auto">
          <a:xfrm>
            <a:off x="543056" y="4652963"/>
            <a:ext cx="82238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ea typeface="楷体_GB2312" pitchFamily="49" charset="-122"/>
              </a:rPr>
              <a:t>回溯法的一</a:t>
            </a:r>
            <a:r>
              <a:rPr lang="zh-CN" altLang="en-US" sz="2400" dirty="0">
                <a:ea typeface="楷体_GB2312" pitchFamily="49" charset="-122"/>
              </a:rPr>
              <a:t>个显著特征是在搜索过程中动态产生问题的解空间。在任何时刻，算法只保存从根结点到当前扩展结点的路径。如果解空间树中从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根结点到叶结点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最长路径</a:t>
            </a:r>
            <a:r>
              <a:rPr lang="zh-CN" altLang="en-US" sz="2400" dirty="0">
                <a:ea typeface="楷体_GB2312" pitchFamily="49" charset="-122"/>
              </a:rPr>
              <a:t>的长度为</a:t>
            </a:r>
            <a:r>
              <a:rPr lang="en-US" altLang="zh-CN" sz="2400" dirty="0">
                <a:ea typeface="楷体_GB2312" pitchFamily="49" charset="-122"/>
              </a:rPr>
              <a:t>h(n)</a:t>
            </a:r>
            <a:r>
              <a:rPr lang="zh-CN" altLang="en-US" sz="2400" dirty="0">
                <a:ea typeface="楷体_GB2312" pitchFamily="49" charset="-122"/>
              </a:rPr>
              <a:t>，则回溯法所需的计算空间通常为</a:t>
            </a:r>
            <a:r>
              <a:rPr lang="en-US" altLang="zh-CN" sz="2400" dirty="0">
                <a:ea typeface="楷体_GB2312" pitchFamily="49" charset="-122"/>
              </a:rPr>
              <a:t>O(h(n</a:t>
            </a:r>
            <a:r>
              <a:rPr lang="en-US" altLang="zh-CN" sz="2400" dirty="0" smtClean="0">
                <a:ea typeface="楷体_GB2312" pitchFamily="49" charset="-122"/>
              </a:rPr>
              <a:t>))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zh-CN" altLang="en-US" sz="2400" dirty="0" smtClean="0">
                <a:ea typeface="楷体_GB2312" pitchFamily="49" charset="-122"/>
              </a:rPr>
              <a:t>而</a:t>
            </a:r>
            <a:r>
              <a:rPr lang="zh-CN" altLang="en-US" sz="2400" dirty="0">
                <a:ea typeface="楷体_GB2312" pitchFamily="49" charset="-122"/>
              </a:rPr>
              <a:t>显式地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存储整个解空间</a:t>
            </a:r>
            <a:r>
              <a:rPr lang="zh-CN" altLang="en-US" sz="2400" dirty="0">
                <a:ea typeface="楷体_GB2312" pitchFamily="49" charset="-122"/>
              </a:rPr>
              <a:t>则需要</a:t>
            </a:r>
            <a:r>
              <a:rPr lang="en-US" altLang="zh-CN" sz="2400" dirty="0">
                <a:ea typeface="楷体_GB2312" pitchFamily="49" charset="-122"/>
              </a:rPr>
              <a:t>O(2</a:t>
            </a:r>
            <a:r>
              <a:rPr lang="en-US" altLang="zh-CN" sz="2400" baseline="30000" dirty="0">
                <a:ea typeface="楷体_GB2312" pitchFamily="49" charset="-122"/>
              </a:rPr>
              <a:t>h(n)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zh-CN" altLang="en-US" sz="2400" dirty="0">
                <a:ea typeface="楷体_GB2312" pitchFamily="49" charset="-122"/>
              </a:rPr>
              <a:t>或</a:t>
            </a:r>
            <a:r>
              <a:rPr lang="en-US" altLang="zh-CN" sz="2400" dirty="0">
                <a:ea typeface="楷体_GB2312" pitchFamily="49" charset="-122"/>
              </a:rPr>
              <a:t>O(h(n)!)</a:t>
            </a:r>
            <a:r>
              <a:rPr lang="zh-CN" altLang="en-US" sz="2400" dirty="0">
                <a:ea typeface="楷体_GB2312" pitchFamily="49" charset="-122"/>
              </a:rPr>
              <a:t>内存空间。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513" y="475962"/>
            <a:ext cx="2304857" cy="2622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3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 lvl="0">
              <a:defRPr sz="1800"/>
            </a:pPr>
            <a:r>
              <a:rPr lang="zh-CN" altLang="en-US" sz="4000" dirty="0"/>
              <a:t>状态空间树</a:t>
            </a:r>
            <a:endParaRPr sz="4000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idx="1"/>
          </p:nvPr>
        </p:nvSpPr>
        <p:spPr>
          <a:xfrm>
            <a:off x="507999" y="1295400"/>
            <a:ext cx="8610600" cy="4525963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状态空间</a:t>
            </a:r>
            <a:r>
              <a:rPr lang="zh-CN" altLang="en-US" dirty="0" smtClean="0"/>
              <a:t>树</a:t>
            </a:r>
            <a:r>
              <a:rPr lang="zh-CN" altLang="en-US" dirty="0"/>
              <a:t>可</a:t>
            </a:r>
            <a:r>
              <a:rPr lang="zh-CN" altLang="en-US" dirty="0" smtClean="0"/>
              <a:t>看成</a:t>
            </a:r>
            <a:r>
              <a:rPr lang="zh-CN" altLang="en-US" dirty="0" smtClean="0"/>
              <a:t>为一棵高度为    的树。</a:t>
            </a:r>
          </a:p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层有              个分支结点，构成     棵子树，每一棵子树都有             个分支结点。</a:t>
            </a:r>
          </a:p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层，有            个分支结点，构成            棵子树。</a:t>
            </a:r>
          </a:p>
          <a:p>
            <a:pPr eaLnBrk="1" hangingPunct="1"/>
            <a:r>
              <a:rPr lang="zh-CN" altLang="en-US" dirty="0" smtClean="0"/>
              <a:t>第         层，有                 个结点，都是叶子结点。 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603722"/>
              </p:ext>
            </p:extLst>
          </p:nvPr>
        </p:nvGraphicFramePr>
        <p:xfrm>
          <a:off x="5871681" y="1374462"/>
          <a:ext cx="403261" cy="435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6" name="公式" r:id="rId3" imgW="2743200" imgH="3048000" progId="Equation.3">
                  <p:embed/>
                </p:oleObj>
              </mc:Choice>
              <mc:Fallback>
                <p:oleObj name="公式" r:id="rId3" imgW="2743200" imgH="3048000" progId="Equation.3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1681" y="1374462"/>
                        <a:ext cx="403261" cy="4359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272446"/>
              </p:ext>
            </p:extLst>
          </p:nvPr>
        </p:nvGraphicFramePr>
        <p:xfrm>
          <a:off x="2184971" y="1876497"/>
          <a:ext cx="1219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7" name="公式" r:id="rId5" imgW="12801600" imgH="4572000" progId="Equation.3">
                  <p:embed/>
                </p:oleObj>
              </mc:Choice>
              <mc:Fallback>
                <p:oleObj name="公式" r:id="rId5" imgW="12801600" imgH="4572000" progId="Equation.3">
                  <p:embed/>
                  <p:pic>
                    <p:nvPicPr>
                      <p:cNvPr id="0" name="图片 30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84971" y="1876497"/>
                        <a:ext cx="1219200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6274942" y="1833081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8" name="公式" r:id="rId7" imgW="4572000" imgH="4572000" progId="Equation.3">
                  <p:embed/>
                </p:oleObj>
              </mc:Choice>
              <mc:Fallback>
                <p:oleObj name="公式" r:id="rId7" imgW="4572000" imgH="4572000" progId="Equation.3">
                  <p:embed/>
                  <p:pic>
                    <p:nvPicPr>
                      <p:cNvPr id="0" name="图片 30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74942" y="1833081"/>
                        <a:ext cx="53340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442138"/>
              </p:ext>
            </p:extLst>
          </p:nvPr>
        </p:nvGraphicFramePr>
        <p:xfrm>
          <a:off x="2774878" y="2252662"/>
          <a:ext cx="12192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9" name="公式" r:id="rId9" imgW="12192000" imgH="4572000" progId="Equation.3">
                  <p:embed/>
                </p:oleObj>
              </mc:Choice>
              <mc:Fallback>
                <p:oleObj name="公式" r:id="rId9" imgW="12192000" imgH="4572000" progId="Equation.3">
                  <p:embed/>
                  <p:pic>
                    <p:nvPicPr>
                      <p:cNvPr id="0" name="图片 30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74878" y="2252662"/>
                        <a:ext cx="1219200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2556553" y="2770331"/>
          <a:ext cx="12192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0" name="公式" r:id="rId11" imgW="10668000" imgH="4572000" progId="Equation.3">
                  <p:embed/>
                </p:oleObj>
              </mc:Choice>
              <mc:Fallback>
                <p:oleObj name="公式" r:id="rId11" imgW="10668000" imgH="4572000" progId="Equation.3">
                  <p:embed/>
                  <p:pic>
                    <p:nvPicPr>
                      <p:cNvPr id="0" name="图片 30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56553" y="2770331"/>
                        <a:ext cx="1219200" cy="519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930017"/>
              </p:ext>
            </p:extLst>
          </p:nvPr>
        </p:nvGraphicFramePr>
        <p:xfrm>
          <a:off x="6374907" y="2713037"/>
          <a:ext cx="12954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1" name="Microsoft 公式 3.0" r:id="rId13" imgW="10668000" imgH="4572000" progId="Equation.3">
                  <p:embed/>
                </p:oleObj>
              </mc:Choice>
              <mc:Fallback>
                <p:oleObj name="Microsoft 公式 3.0" r:id="rId13" imgW="10668000" imgH="4572000" progId="Equation.3">
                  <p:embed/>
                  <p:pic>
                    <p:nvPicPr>
                      <p:cNvPr id="0" name="图片 30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74907" y="2713037"/>
                        <a:ext cx="1295400" cy="550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528689"/>
              </p:ext>
            </p:extLst>
          </p:nvPr>
        </p:nvGraphicFramePr>
        <p:xfrm>
          <a:off x="1346771" y="3308350"/>
          <a:ext cx="8382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" name="公式" r:id="rId15" imgW="6400800" imgH="3657600" progId="Equation.3">
                  <p:embed/>
                </p:oleObj>
              </mc:Choice>
              <mc:Fallback>
                <p:oleObj name="公式" r:id="rId15" imgW="6400800" imgH="3657600" progId="Equation.3">
                  <p:embed/>
                  <p:pic>
                    <p:nvPicPr>
                      <p:cNvPr id="0" name="图片 30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46771" y="3308350"/>
                        <a:ext cx="838200" cy="477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731311"/>
              </p:ext>
            </p:extLst>
          </p:nvPr>
        </p:nvGraphicFramePr>
        <p:xfrm>
          <a:off x="3182938" y="3317875"/>
          <a:ext cx="16319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" name="Equation" r:id="rId17" imgW="812520" imgH="228600" progId="Equation.DSMT4">
                  <p:embed/>
                </p:oleObj>
              </mc:Choice>
              <mc:Fallback>
                <p:oleObj name="Equation" r:id="rId17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82938" y="3317875"/>
                        <a:ext cx="1631950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41" name="Picture 269" descr="https://ss1.bdstatic.com/70cFuXSh_Q1YnxGkpoWK1HF6hhy/it/u=503749727,147603420&amp;fm=15&amp;gp=0.jp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671" y="3821986"/>
            <a:ext cx="5394049" cy="279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58739-8B21-400E-AC0C-2511D49662BA}" type="slidenum">
              <a:rPr lang="zh-CN" altLang="en-US"/>
              <a:t>12</a:t>
            </a:fld>
            <a:endParaRPr lang="en-US" altLang="zh-CN"/>
          </a:p>
        </p:txBody>
      </p:sp>
      <p:sp>
        <p:nvSpPr>
          <p:cNvPr id="288772" name="Rectangle 4"/>
          <p:cNvSpPr>
            <a:spLocks noChangeArrowheads="1"/>
          </p:cNvSpPr>
          <p:nvPr/>
        </p:nvSpPr>
        <p:spPr bwMode="auto">
          <a:xfrm>
            <a:off x="543811" y="328529"/>
            <a:ext cx="77724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chemeClr val="tx2"/>
                </a:solidFill>
                <a:latin typeface="宋体"/>
                <a:ea typeface="宋体"/>
                <a:cs typeface="宋体"/>
                <a:sym typeface="宋体"/>
              </a:rPr>
              <a:t>子集树</a:t>
            </a:r>
            <a:r>
              <a:rPr lang="en-US" altLang="zh-CN" dirty="0">
                <a:solidFill>
                  <a:schemeClr val="tx2"/>
                </a:solidFill>
                <a:latin typeface="宋体"/>
                <a:ea typeface="宋体"/>
                <a:cs typeface="宋体"/>
                <a:sym typeface="宋体"/>
              </a:rPr>
              <a:t>:0-1</a:t>
            </a:r>
            <a:r>
              <a:rPr lang="zh-CN" altLang="en-US" dirty="0">
                <a:solidFill>
                  <a:schemeClr val="tx2"/>
                </a:solidFill>
                <a:latin typeface="宋体"/>
                <a:ea typeface="宋体"/>
                <a:cs typeface="宋体"/>
                <a:sym typeface="宋体"/>
              </a:rPr>
              <a:t>问题</a:t>
            </a:r>
          </a:p>
        </p:txBody>
      </p:sp>
      <p:pic>
        <p:nvPicPr>
          <p:cNvPr id="288773" name="Picture 5" descr="t5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913" y="2118530"/>
            <a:ext cx="5376878" cy="271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8775" name="Text Box 7"/>
          <p:cNvSpPr txBox="1">
            <a:spLocks noChangeArrowheads="1"/>
          </p:cNvSpPr>
          <p:nvPr/>
        </p:nvSpPr>
        <p:spPr bwMode="auto">
          <a:xfrm>
            <a:off x="2314458" y="5184807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ea typeface="楷体_GB2312" pitchFamily="49" charset="-122"/>
              </a:rPr>
              <a:t>遍历子集树需</a:t>
            </a:r>
            <a:r>
              <a:rPr lang="en-US" altLang="zh-CN" sz="2400" dirty="0">
                <a:ea typeface="楷体_GB2312" pitchFamily="49" charset="-122"/>
              </a:rPr>
              <a:t>O(2</a:t>
            </a:r>
            <a:r>
              <a:rPr lang="en-US" altLang="zh-CN" sz="2400" baseline="30000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zh-CN" altLang="en-US" sz="2400" dirty="0">
                <a:ea typeface="楷体_GB2312" pitchFamily="49" charset="-122"/>
              </a:rPr>
              <a:t>计算时间 </a:t>
            </a:r>
          </a:p>
        </p:txBody>
      </p:sp>
      <p:sp>
        <p:nvSpPr>
          <p:cNvPr id="2" name="矩形 1"/>
          <p:cNvSpPr/>
          <p:nvPr/>
        </p:nvSpPr>
        <p:spPr>
          <a:xfrm>
            <a:off x="655304" y="1533755"/>
            <a:ext cx="71400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/>
              <a:t>集</a:t>
            </a:r>
            <a:r>
              <a:rPr lang="en-US" altLang="zh-CN" sz="3200" dirty="0" smtClean="0"/>
              <a:t>S={2 </a:t>
            </a:r>
            <a:r>
              <a:rPr lang="en-US" altLang="zh-CN" sz="3200" dirty="0"/>
              <a:t>4 5</a:t>
            </a:r>
            <a:r>
              <a:rPr lang="en-US" altLang="zh-CN" sz="3200" dirty="0" smtClean="0"/>
              <a:t>},</a:t>
            </a:r>
            <a:r>
              <a:rPr lang="zh-CN" altLang="en-US" sz="3200" dirty="0" smtClean="0"/>
              <a:t>找出子集之和</a:t>
            </a:r>
            <a:r>
              <a:rPr lang="en-US" altLang="zh-CN" sz="3200" dirty="0" smtClean="0"/>
              <a:t> d=7</a:t>
            </a:r>
            <a:r>
              <a:rPr lang="zh-CN" altLang="en-US" sz="3200" dirty="0" smtClean="0"/>
              <a:t>的子集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0945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6"/>
          <p:cNvSpPr>
            <a:spLocks noChangeArrowheads="1"/>
          </p:cNvSpPr>
          <p:nvPr/>
        </p:nvSpPr>
        <p:spPr bwMode="auto">
          <a:xfrm>
            <a:off x="0" y="2328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0180" name="Object 5"/>
          <p:cNvGraphicFramePr>
            <a:graphicFrameLocks noChangeAspect="1"/>
          </p:cNvGraphicFramePr>
          <p:nvPr/>
        </p:nvGraphicFramePr>
        <p:xfrm>
          <a:off x="246743" y="3044315"/>
          <a:ext cx="8305800" cy="3052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" name="图片" r:id="rId3" imgW="4664710" imgH="2200910" progId="Word.Picture.8">
                  <p:embed/>
                </p:oleObj>
              </mc:Choice>
              <mc:Fallback>
                <p:oleObj name="图片" r:id="rId3" imgW="4664710" imgH="2200910" progId="Word.Picture.8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743" y="3044315"/>
                        <a:ext cx="8305800" cy="30528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hape 31"/>
          <p:cNvSpPr txBox="1"/>
          <p:nvPr/>
        </p:nvSpPr>
        <p:spPr>
          <a:xfrm>
            <a:off x="322943" y="69383"/>
            <a:ext cx="8229600" cy="1143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>
              <a:defRPr sz="4400">
                <a:latin typeface="宋体"/>
                <a:ea typeface="宋体"/>
                <a:cs typeface="宋体"/>
                <a:sym typeface="宋体"/>
              </a:defRPr>
            </a:lvl1pPr>
            <a:lvl2pPr algn="ctr">
              <a:defRPr sz="4400">
                <a:latin typeface="Arial"/>
                <a:ea typeface="Arial"/>
                <a:cs typeface="Arial"/>
                <a:sym typeface="Arial"/>
              </a:defRPr>
            </a:lvl2pPr>
            <a:lvl3pPr algn="ctr">
              <a:defRPr sz="4400">
                <a:latin typeface="Arial"/>
                <a:ea typeface="Arial"/>
                <a:cs typeface="Arial"/>
                <a:sym typeface="Arial"/>
              </a:defRPr>
            </a:lvl3pPr>
            <a:lvl4pPr algn="ctr">
              <a:defRPr sz="4400">
                <a:latin typeface="Arial"/>
                <a:ea typeface="Arial"/>
                <a:cs typeface="Arial"/>
                <a:sym typeface="Arial"/>
              </a:defRPr>
            </a:lvl4pPr>
            <a:lvl5pPr algn="ctr">
              <a:defRPr sz="4400">
                <a:latin typeface="Arial"/>
                <a:ea typeface="Arial"/>
                <a:cs typeface="Arial"/>
                <a:sym typeface="Arial"/>
              </a:defRPr>
            </a:lvl5pPr>
            <a:lvl6pPr indent="457200" algn="ctr">
              <a:defRPr sz="4400">
                <a:latin typeface="Arial"/>
                <a:ea typeface="Arial"/>
                <a:cs typeface="Arial"/>
                <a:sym typeface="Arial"/>
              </a:defRPr>
            </a:lvl6pPr>
            <a:lvl7pPr indent="914400" algn="ctr">
              <a:defRPr sz="4400">
                <a:latin typeface="Arial"/>
                <a:ea typeface="Arial"/>
                <a:cs typeface="Arial"/>
                <a:sym typeface="Arial"/>
              </a:defRPr>
            </a:lvl7pPr>
            <a:lvl8pPr indent="1371600" algn="ctr">
              <a:defRPr sz="4400">
                <a:latin typeface="Arial"/>
                <a:ea typeface="Arial"/>
                <a:cs typeface="Arial"/>
                <a:sym typeface="Arial"/>
              </a:defRPr>
            </a:lvl8pPr>
            <a:lvl9pPr indent="1828800" algn="ctr">
              <a:defRPr sz="44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1800"/>
            </a:pPr>
            <a:r>
              <a:rPr lang="en-US" altLang="zh-CN" sz="4000" dirty="0" smtClean="0"/>
              <a:t>4</a:t>
            </a:r>
            <a:r>
              <a:rPr lang="zh-CN" altLang="en-US" sz="4000" dirty="0" smtClean="0"/>
              <a:t>皇后问题</a:t>
            </a:r>
            <a:r>
              <a:rPr lang="zh-CN" altLang="en-US" sz="4000" dirty="0"/>
              <a:t>的</a:t>
            </a:r>
            <a:r>
              <a:rPr lang="zh-CN" altLang="en-US" sz="4000" dirty="0" smtClean="0"/>
              <a:t>简化状态空间</a:t>
            </a:r>
            <a:r>
              <a:rPr lang="zh-CN" altLang="en-US" sz="4000" dirty="0">
                <a:ea typeface="楷体_GB2312" pitchFamily="49" charset="-122"/>
              </a:rPr>
              <a:t>排列</a:t>
            </a:r>
            <a:r>
              <a:rPr lang="zh-CN" altLang="en-US" sz="4000" dirty="0" smtClean="0">
                <a:ea typeface="楷体_GB2312" pitchFamily="49" charset="-122"/>
              </a:rPr>
              <a:t>树</a:t>
            </a:r>
            <a:endParaRPr lang="zh-CN" altLang="en-US" sz="40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6378" y="1397286"/>
            <a:ext cx="8458200" cy="4525963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 marL="342900" indent="-342900">
              <a:spcBef>
                <a:spcPts val="700"/>
              </a:spcBef>
              <a:buSzPct val="100000"/>
              <a:buChar char="»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783590" indent="-326390">
              <a:spcBef>
                <a:spcPts val="700"/>
              </a:spcBef>
              <a:buSzPct val="100000"/>
              <a:buChar char="–"/>
              <a:defRPr sz="3200">
                <a:latin typeface="Arial"/>
                <a:ea typeface="Arial"/>
                <a:cs typeface="Arial"/>
                <a:sym typeface="Arial"/>
              </a:defRPr>
            </a:lvl2pPr>
            <a:lvl3pPr marL="1219200" indent="-304800">
              <a:spcBef>
                <a:spcPts val="700"/>
              </a:spcBef>
              <a:buSzPct val="1000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3pPr>
            <a:lvl4pPr marL="1737360" indent="-365760">
              <a:spcBef>
                <a:spcPts val="700"/>
              </a:spcBef>
              <a:buSzPct val="100000"/>
              <a:buChar char="–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marL="2235200" indent="-406400">
              <a:spcBef>
                <a:spcPts val="700"/>
              </a:spcBef>
              <a:buSzPct val="100000"/>
              <a:buChar char="»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marL="2692400" indent="-406400">
              <a:spcBef>
                <a:spcPts val="700"/>
              </a:spcBef>
              <a:buSzPct val="1000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6pPr>
            <a:lvl7pPr marL="3149600" indent="-406400">
              <a:spcBef>
                <a:spcPts val="700"/>
              </a:spcBef>
              <a:buSzPct val="1000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7pPr>
            <a:lvl8pPr marL="3606800" indent="-406400">
              <a:spcBef>
                <a:spcPts val="700"/>
              </a:spcBef>
              <a:buSzPct val="1000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8pPr>
            <a:lvl9pPr marL="4064000" indent="-406400">
              <a:spcBef>
                <a:spcPts val="700"/>
              </a:spcBef>
              <a:buSzPct val="1000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皇后</a:t>
            </a:r>
            <a:r>
              <a:rPr lang="zh-CN" altLang="en-US" sz="2400" dirty="0"/>
              <a:t>问题</a:t>
            </a:r>
            <a:r>
              <a:rPr lang="zh-CN" altLang="en-US" sz="2400" dirty="0" smtClean="0"/>
              <a:t>状态空间树</a:t>
            </a:r>
            <a:r>
              <a:rPr lang="en-US" altLang="zh-CN" sz="2400" dirty="0" smtClean="0"/>
              <a:t>:  4</a:t>
            </a:r>
            <a:r>
              <a:rPr lang="zh-CN" altLang="en-US" sz="2400" dirty="0" smtClean="0"/>
              <a:t>叉完全树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 dirty="0" smtClean="0"/>
              <a:t>约束方程：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不在同一列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 dirty="0" smtClean="0"/>
              <a:t>不在同一个斜线上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 dirty="0" smtClean="0"/>
              <a:t>状态空间树简化为</a:t>
            </a:r>
            <a:r>
              <a:rPr lang="en-US" altLang="zh-CN" sz="2400" dirty="0" smtClean="0"/>
              <a:t> 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261474"/>
              </p:ext>
            </p:extLst>
          </p:nvPr>
        </p:nvGraphicFramePr>
        <p:xfrm>
          <a:off x="2500044" y="2011639"/>
          <a:ext cx="1143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" name="公式" r:id="rId5" imgW="10058400" imgH="5181600" progId="Equation.3">
                  <p:embed/>
                </p:oleObj>
              </mc:Choice>
              <mc:Fallback>
                <p:oleObj name="公式" r:id="rId5" imgW="10058400" imgH="5181600" progId="Equation.3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0044" y="2011639"/>
                        <a:ext cx="1143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502726"/>
              </p:ext>
            </p:extLst>
          </p:nvPr>
        </p:nvGraphicFramePr>
        <p:xfrm>
          <a:off x="3926010" y="2097906"/>
          <a:ext cx="35814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公式" r:id="rId7" imgW="29565600" imgH="4267200" progId="Equation.3">
                  <p:embed/>
                </p:oleObj>
              </mc:Choice>
              <mc:Fallback>
                <p:oleObj name="公式" r:id="rId7" imgW="29565600" imgH="4267200" progId="Equation.3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6010" y="2097906"/>
                        <a:ext cx="3581400" cy="525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604280"/>
              </p:ext>
            </p:extLst>
          </p:nvPr>
        </p:nvGraphicFramePr>
        <p:xfrm>
          <a:off x="3071544" y="2529493"/>
          <a:ext cx="2133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name="公式" r:id="rId9" imgW="21945600" imgH="5181600" progId="Equation.3">
                  <p:embed/>
                </p:oleObj>
              </mc:Choice>
              <mc:Fallback>
                <p:oleObj name="公式" r:id="rId9" imgW="21945600" imgH="5181600" progId="Equation.3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1544" y="2529493"/>
                        <a:ext cx="2133600" cy="511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42230" y="6181806"/>
            <a:ext cx="431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ea typeface="楷体_GB2312" pitchFamily="49" charset="-122"/>
              </a:rPr>
              <a:t>遍历排列树需要</a:t>
            </a:r>
            <a:r>
              <a:rPr lang="en-US" altLang="zh-CN" sz="2400" dirty="0">
                <a:ea typeface="楷体_GB2312" pitchFamily="49" charset="-122"/>
              </a:rPr>
              <a:t>O(n!)</a:t>
            </a:r>
            <a:r>
              <a:rPr lang="zh-CN" altLang="en-US" sz="2400" dirty="0">
                <a:ea typeface="楷体_GB2312" pitchFamily="49" charset="-122"/>
              </a:rPr>
              <a:t>计算时间 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 flipV="1">
            <a:off x="2085654" y="3585681"/>
            <a:ext cx="4613096" cy="513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/>
        </p:nvCxnSpPr>
        <p:spPr bwMode="auto">
          <a:xfrm>
            <a:off x="2895598" y="4303162"/>
            <a:ext cx="1121597" cy="2225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/>
          <p:nvPr/>
        </p:nvCxnSpPr>
        <p:spPr bwMode="auto">
          <a:xfrm>
            <a:off x="2503467" y="5000092"/>
            <a:ext cx="578780" cy="342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19" name="直接连接符 18"/>
          <p:cNvCxnSpPr/>
          <p:nvPr/>
        </p:nvCxnSpPr>
        <p:spPr bwMode="auto">
          <a:xfrm flipV="1">
            <a:off x="2368190" y="5712431"/>
            <a:ext cx="251720" cy="51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F42C6-17DB-4A5E-B8C5-635063B9DC01}" type="slidenum">
              <a:rPr lang="zh-CN" altLang="en-US"/>
              <a:t>14</a:t>
            </a:fld>
            <a:endParaRPr lang="en-US" altLang="zh-CN"/>
          </a:p>
        </p:txBody>
      </p:sp>
      <p:sp>
        <p:nvSpPr>
          <p:cNvPr id="301060" name="Rectangle 4"/>
          <p:cNvSpPr>
            <a:spLocks noChangeArrowheads="1"/>
          </p:cNvSpPr>
          <p:nvPr/>
        </p:nvSpPr>
        <p:spPr bwMode="auto">
          <a:xfrm>
            <a:off x="1025075" y="304332"/>
            <a:ext cx="77724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chemeClr val="tx2"/>
                </a:solidFill>
                <a:latin typeface="宋体"/>
                <a:ea typeface="宋体"/>
                <a:cs typeface="宋体"/>
                <a:sym typeface="宋体"/>
              </a:rPr>
              <a:t>生成问题状态的基本方法</a:t>
            </a:r>
          </a:p>
        </p:txBody>
      </p:sp>
      <p:sp>
        <p:nvSpPr>
          <p:cNvPr id="301061" name="Rectangle 5"/>
          <p:cNvSpPr>
            <a:spLocks noChangeArrowheads="1"/>
          </p:cNvSpPr>
          <p:nvPr/>
        </p:nvSpPr>
        <p:spPr bwMode="auto">
          <a:xfrm>
            <a:off x="250825" y="1390935"/>
            <a:ext cx="8821256" cy="5029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200" dirty="0">
                <a:ea typeface="黑体" pitchFamily="49" charset="-122"/>
              </a:rPr>
              <a:t>扩展结点</a:t>
            </a:r>
            <a:r>
              <a:rPr lang="en-US" altLang="zh-CN" sz="2200" dirty="0">
                <a:ea typeface="黑体" pitchFamily="49" charset="-122"/>
              </a:rPr>
              <a:t>:</a:t>
            </a:r>
            <a:r>
              <a:rPr lang="zh-CN" altLang="en-US" sz="2200" dirty="0">
                <a:ea typeface="黑体" pitchFamily="49" charset="-122"/>
              </a:rPr>
              <a:t>一个正在产生儿子的结点称为扩展</a:t>
            </a:r>
            <a:r>
              <a:rPr lang="zh-CN" altLang="en-US" sz="2200" dirty="0" smtClean="0">
                <a:ea typeface="黑体" pitchFamily="49" charset="-122"/>
              </a:rPr>
              <a:t>结点。</a:t>
            </a:r>
            <a:endParaRPr lang="zh-CN" altLang="en-US" sz="2200" dirty="0">
              <a:ea typeface="黑体" pitchFamily="49" charset="-122"/>
            </a:endParaRPr>
          </a:p>
          <a:p>
            <a:r>
              <a:rPr lang="zh-CN" altLang="en-US" sz="2200" dirty="0">
                <a:ea typeface="黑体" pitchFamily="49" charset="-122"/>
              </a:rPr>
              <a:t>活结点</a:t>
            </a:r>
            <a:r>
              <a:rPr lang="en-US" altLang="zh-CN" sz="2200" dirty="0">
                <a:ea typeface="黑体" pitchFamily="49" charset="-122"/>
              </a:rPr>
              <a:t>:</a:t>
            </a:r>
            <a:r>
              <a:rPr lang="zh-CN" altLang="en-US" sz="2200" dirty="0">
                <a:ea typeface="黑体" pitchFamily="49" charset="-122"/>
              </a:rPr>
              <a:t>一个自身已生成但其儿子还没有全部生成的节点称做活结</a:t>
            </a:r>
            <a:r>
              <a:rPr lang="zh-CN" altLang="en-US" sz="2200" dirty="0" smtClean="0">
                <a:ea typeface="黑体" pitchFamily="49" charset="-122"/>
              </a:rPr>
              <a:t>点。</a:t>
            </a:r>
            <a:endParaRPr lang="zh-CN" altLang="en-US" sz="2200" dirty="0">
              <a:ea typeface="黑体" pitchFamily="49" charset="-122"/>
            </a:endParaRPr>
          </a:p>
          <a:p>
            <a:r>
              <a:rPr lang="zh-CN" altLang="en-US" sz="2200" dirty="0">
                <a:ea typeface="黑体" pitchFamily="49" charset="-122"/>
              </a:rPr>
              <a:t>死结点</a:t>
            </a:r>
            <a:r>
              <a:rPr lang="en-US" altLang="zh-CN" sz="2200" dirty="0">
                <a:ea typeface="黑体" pitchFamily="49" charset="-122"/>
              </a:rPr>
              <a:t>:</a:t>
            </a:r>
            <a:r>
              <a:rPr lang="zh-CN" altLang="en-US" sz="2200" dirty="0">
                <a:ea typeface="黑体" pitchFamily="49" charset="-122"/>
              </a:rPr>
              <a:t>一个所有儿子已经产生的结点称做死结</a:t>
            </a:r>
            <a:r>
              <a:rPr lang="zh-CN" altLang="en-US" sz="2200" dirty="0" smtClean="0">
                <a:ea typeface="黑体" pitchFamily="49" charset="-122"/>
              </a:rPr>
              <a:t>点。</a:t>
            </a:r>
            <a:endParaRPr lang="zh-CN" altLang="en-US" sz="2200" dirty="0">
              <a:ea typeface="黑体" pitchFamily="49" charset="-122"/>
            </a:endParaRPr>
          </a:p>
          <a:p>
            <a:r>
              <a:rPr lang="zh-CN" altLang="en-US" sz="2200" dirty="0">
                <a:solidFill>
                  <a:srgbClr val="FF0000"/>
                </a:solidFill>
                <a:ea typeface="黑体" pitchFamily="49" charset="-122"/>
              </a:rPr>
              <a:t>深度优先</a:t>
            </a:r>
            <a:r>
              <a:rPr lang="zh-CN" altLang="en-US" sz="2200" dirty="0">
                <a:ea typeface="黑体" pitchFamily="49" charset="-122"/>
              </a:rPr>
              <a:t>的问题状态生成法：如果对一个扩展</a:t>
            </a:r>
            <a:r>
              <a:rPr lang="zh-CN" altLang="en-US" sz="2200" dirty="0" smtClean="0">
                <a:ea typeface="黑体" pitchFamily="49" charset="-122"/>
              </a:rPr>
              <a:t>结点</a:t>
            </a:r>
            <a:r>
              <a:rPr lang="en-US" altLang="zh-CN" sz="2200" dirty="0" smtClean="0">
                <a:ea typeface="黑体" pitchFamily="49" charset="-122"/>
              </a:rPr>
              <a:t>T</a:t>
            </a:r>
            <a:r>
              <a:rPr lang="zh-CN" altLang="en-US" sz="2200" dirty="0" smtClean="0">
                <a:ea typeface="黑体" pitchFamily="49" charset="-122"/>
              </a:rPr>
              <a:t>，</a:t>
            </a:r>
            <a:r>
              <a:rPr lang="zh-CN" altLang="en-US" sz="2200" dirty="0">
                <a:ea typeface="黑体" pitchFamily="49" charset="-122"/>
              </a:rPr>
              <a:t>一旦产生了它的一个儿子</a:t>
            </a:r>
            <a:r>
              <a:rPr lang="en-US" altLang="zh-CN" sz="2200" dirty="0">
                <a:ea typeface="黑体" pitchFamily="49" charset="-122"/>
              </a:rPr>
              <a:t>C</a:t>
            </a:r>
            <a:r>
              <a:rPr lang="zh-CN" altLang="en-US" sz="2200" dirty="0">
                <a:ea typeface="黑体" pitchFamily="49" charset="-122"/>
              </a:rPr>
              <a:t>，就把</a:t>
            </a:r>
            <a:r>
              <a:rPr lang="en-US" altLang="zh-CN" sz="2200" dirty="0">
                <a:ea typeface="黑体" pitchFamily="49" charset="-122"/>
              </a:rPr>
              <a:t>C</a:t>
            </a:r>
            <a:r>
              <a:rPr lang="zh-CN" altLang="en-US" sz="2200" dirty="0">
                <a:ea typeface="黑体" pitchFamily="49" charset="-122"/>
              </a:rPr>
              <a:t>当做新的扩展结点。在完成对子树</a:t>
            </a:r>
            <a:r>
              <a:rPr lang="en-US" altLang="zh-CN" sz="2200" dirty="0">
                <a:ea typeface="黑体" pitchFamily="49" charset="-122"/>
              </a:rPr>
              <a:t>C</a:t>
            </a:r>
            <a:r>
              <a:rPr lang="zh-CN" altLang="en-US" sz="2200" dirty="0">
                <a:ea typeface="黑体" pitchFamily="49" charset="-122"/>
              </a:rPr>
              <a:t>（以</a:t>
            </a:r>
            <a:r>
              <a:rPr lang="en-US" altLang="zh-CN" sz="2200" dirty="0">
                <a:ea typeface="黑体" pitchFamily="49" charset="-122"/>
              </a:rPr>
              <a:t>C</a:t>
            </a:r>
            <a:r>
              <a:rPr lang="zh-CN" altLang="en-US" sz="2200" dirty="0">
                <a:ea typeface="黑体" pitchFamily="49" charset="-122"/>
              </a:rPr>
              <a:t>为根的子树）的穷尽搜索之后，</a:t>
            </a:r>
            <a:r>
              <a:rPr lang="zh-CN" altLang="en-US" sz="2200" dirty="0" smtClean="0">
                <a:ea typeface="黑体" pitchFamily="49" charset="-122"/>
              </a:rPr>
              <a:t>将</a:t>
            </a:r>
            <a:r>
              <a:rPr lang="en-US" altLang="zh-CN" sz="2200" dirty="0" smtClean="0">
                <a:ea typeface="黑体" pitchFamily="49" charset="-122"/>
              </a:rPr>
              <a:t>T</a:t>
            </a:r>
            <a:r>
              <a:rPr lang="zh-CN" altLang="en-US" sz="2200" dirty="0" smtClean="0">
                <a:ea typeface="黑体" pitchFamily="49" charset="-122"/>
              </a:rPr>
              <a:t>重新</a:t>
            </a:r>
            <a:r>
              <a:rPr lang="zh-CN" altLang="en-US" sz="2200" dirty="0">
                <a:ea typeface="黑体" pitchFamily="49" charset="-122"/>
              </a:rPr>
              <a:t>变成扩展结点，继续</a:t>
            </a:r>
            <a:r>
              <a:rPr lang="zh-CN" altLang="en-US" sz="2200" dirty="0" smtClean="0">
                <a:ea typeface="黑体" pitchFamily="49" charset="-122"/>
              </a:rPr>
              <a:t>生成</a:t>
            </a:r>
            <a:r>
              <a:rPr lang="en-US" altLang="zh-CN" sz="2200" dirty="0" smtClean="0">
                <a:ea typeface="黑体" pitchFamily="49" charset="-122"/>
              </a:rPr>
              <a:t>T</a:t>
            </a:r>
            <a:r>
              <a:rPr lang="zh-CN" altLang="en-US" sz="2200" dirty="0" smtClean="0">
                <a:ea typeface="黑体" pitchFamily="49" charset="-122"/>
              </a:rPr>
              <a:t>的</a:t>
            </a:r>
            <a:r>
              <a:rPr lang="zh-CN" altLang="en-US" sz="2200" dirty="0">
                <a:ea typeface="黑体" pitchFamily="49" charset="-122"/>
              </a:rPr>
              <a:t>下一个儿子（如果存在</a:t>
            </a:r>
            <a:r>
              <a:rPr lang="zh-CN" altLang="en-US" sz="2200" dirty="0" smtClean="0">
                <a:ea typeface="黑体" pitchFamily="49" charset="-122"/>
              </a:rPr>
              <a:t>）。</a:t>
            </a:r>
            <a:endParaRPr lang="zh-CN" altLang="en-US" sz="2200" dirty="0">
              <a:ea typeface="黑体" pitchFamily="49" charset="-122"/>
            </a:endParaRPr>
          </a:p>
          <a:p>
            <a:r>
              <a:rPr lang="zh-CN" altLang="en-US" sz="2200" dirty="0" smtClean="0">
                <a:solidFill>
                  <a:srgbClr val="FF0000"/>
                </a:solidFill>
                <a:ea typeface="黑体" pitchFamily="49" charset="-122"/>
              </a:rPr>
              <a:t>广度</a:t>
            </a:r>
            <a:r>
              <a:rPr lang="zh-CN" altLang="en-US" sz="2200" dirty="0">
                <a:solidFill>
                  <a:srgbClr val="FF0000"/>
                </a:solidFill>
                <a:ea typeface="黑体" pitchFamily="49" charset="-122"/>
              </a:rPr>
              <a:t>优先</a:t>
            </a:r>
            <a:r>
              <a:rPr lang="zh-CN" altLang="en-US" sz="2200" dirty="0">
                <a:ea typeface="黑体" pitchFamily="49" charset="-122"/>
              </a:rPr>
              <a:t>的问题状态生成法：在一个扩展结点变成死结点之前，它一直是扩展</a:t>
            </a:r>
            <a:r>
              <a:rPr lang="zh-CN" altLang="en-US" sz="2200" dirty="0" smtClean="0">
                <a:ea typeface="黑体" pitchFamily="49" charset="-122"/>
              </a:rPr>
              <a:t>结点。</a:t>
            </a:r>
            <a:endParaRPr lang="zh-CN" altLang="en-US" sz="2200" dirty="0">
              <a:ea typeface="黑体" pitchFamily="49" charset="-122"/>
            </a:endParaRPr>
          </a:p>
          <a:p>
            <a:r>
              <a:rPr lang="zh-CN" altLang="en-US" sz="2200" dirty="0" smtClean="0">
                <a:ea typeface="黑体" pitchFamily="49" charset="-122"/>
              </a:rPr>
              <a:t>避免生成不可能</a:t>
            </a:r>
            <a:r>
              <a:rPr lang="zh-CN" altLang="en-US" sz="2200" dirty="0">
                <a:ea typeface="黑体" pitchFamily="49" charset="-122"/>
              </a:rPr>
              <a:t>产生最佳解的问题状态</a:t>
            </a:r>
            <a:r>
              <a:rPr lang="zh-CN" altLang="en-US" sz="2200" dirty="0" smtClean="0">
                <a:ea typeface="黑体" pitchFamily="49" charset="-122"/>
              </a:rPr>
              <a:t>，需要</a:t>
            </a:r>
            <a:r>
              <a:rPr lang="zh-CN" altLang="en-US" sz="2200" b="1" dirty="0" smtClean="0">
                <a:solidFill>
                  <a:srgbClr val="FF0000"/>
                </a:solidFill>
                <a:ea typeface="黑体" pitchFamily="49" charset="-122"/>
              </a:rPr>
              <a:t>限界</a:t>
            </a:r>
            <a:r>
              <a:rPr lang="zh-CN" altLang="en-US" sz="2200" b="1" dirty="0">
                <a:solidFill>
                  <a:srgbClr val="FF0000"/>
                </a:solidFill>
                <a:ea typeface="黑体" pitchFamily="49" charset="-122"/>
              </a:rPr>
              <a:t>函数</a:t>
            </a:r>
            <a:r>
              <a:rPr lang="en-US" altLang="zh-CN" sz="2200" dirty="0">
                <a:ea typeface="黑体" pitchFamily="49" charset="-122"/>
              </a:rPr>
              <a:t>(bounding function</a:t>
            </a:r>
            <a:r>
              <a:rPr lang="en-US" altLang="zh-CN" sz="2200" dirty="0" smtClean="0">
                <a:ea typeface="黑体" pitchFamily="49" charset="-122"/>
              </a:rPr>
              <a:t>)</a:t>
            </a:r>
            <a:r>
              <a:rPr lang="zh-CN" altLang="en-US" sz="2200" dirty="0" smtClean="0">
                <a:ea typeface="黑体" pitchFamily="49" charset="-122"/>
              </a:rPr>
              <a:t>提前结束不可能</a:t>
            </a:r>
            <a:r>
              <a:rPr lang="zh-CN" altLang="en-US" sz="2200" dirty="0">
                <a:ea typeface="黑体" pitchFamily="49" charset="-122"/>
              </a:rPr>
              <a:t>产生所需解的活结点</a:t>
            </a:r>
            <a:r>
              <a:rPr lang="zh-CN" altLang="en-US" sz="2200" dirty="0" smtClean="0">
                <a:ea typeface="黑体" pitchFamily="49" charset="-122"/>
              </a:rPr>
              <a:t>，减少</a:t>
            </a:r>
            <a:r>
              <a:rPr lang="zh-CN" altLang="en-US" sz="2200" dirty="0">
                <a:ea typeface="黑体" pitchFamily="49" charset="-122"/>
              </a:rPr>
              <a:t>问题的计算</a:t>
            </a:r>
            <a:r>
              <a:rPr lang="zh-CN" altLang="en-US" sz="2200" dirty="0" smtClean="0">
                <a:ea typeface="黑体" pitchFamily="49" charset="-122"/>
              </a:rPr>
              <a:t>量。</a:t>
            </a:r>
            <a:endParaRPr lang="en-US" altLang="zh-CN" sz="2200" dirty="0">
              <a:solidFill>
                <a:srgbClr val="FF3300"/>
              </a:solidFill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body" idx="4294967295"/>
          </p:nvPr>
        </p:nvSpPr>
        <p:spPr>
          <a:xfrm>
            <a:off x="2238055" y="5966717"/>
            <a:ext cx="5334000" cy="381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274320" lvl="0" indent="-274320" defTabSz="731520">
              <a:lnSpc>
                <a:spcPct val="90000"/>
              </a:lnSpc>
              <a:spcBef>
                <a:spcPts val="300"/>
              </a:spcBef>
              <a:buSzTx/>
              <a:buNone/>
              <a:defRPr sz="1800"/>
            </a:pPr>
            <a:r>
              <a:rPr sz="1600" dirty="0" smtClean="0">
                <a:latin typeface="宋体"/>
                <a:ea typeface="宋体"/>
                <a:cs typeface="宋体"/>
                <a:sym typeface="宋体"/>
              </a:rPr>
              <a:t>用</a:t>
            </a:r>
            <a:r>
              <a:rPr sz="1600" dirty="0"/>
              <a:t>4_queens</a:t>
            </a:r>
            <a:r>
              <a:rPr sz="1600" dirty="0">
                <a:latin typeface="宋体"/>
                <a:ea typeface="宋体"/>
                <a:cs typeface="宋体"/>
                <a:sym typeface="宋体"/>
              </a:rPr>
              <a:t>算法解</a:t>
            </a:r>
            <a:r>
              <a:rPr sz="1600" dirty="0"/>
              <a:t>4</a:t>
            </a:r>
            <a:r>
              <a:rPr sz="1600" dirty="0">
                <a:latin typeface="宋体"/>
                <a:ea typeface="宋体"/>
                <a:cs typeface="宋体"/>
                <a:sym typeface="宋体"/>
              </a:rPr>
              <a:t>后问题时的搜索树</a:t>
            </a:r>
          </a:p>
        </p:txBody>
      </p:sp>
      <p:pic>
        <p:nvPicPr>
          <p:cNvPr id="114" name="image.pd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318" y="1375667"/>
            <a:ext cx="5928082" cy="43298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11701" y="311150"/>
            <a:ext cx="77724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latin typeface="宋体" panose="02010600030101010101" pitchFamily="2" charset="-122"/>
              </a:rPr>
              <a:t>生成问题状态的基本方法</a:t>
            </a:r>
          </a:p>
        </p:txBody>
      </p:sp>
      <p:sp>
        <p:nvSpPr>
          <p:cNvPr id="2" name="矩形 1"/>
          <p:cNvSpPr/>
          <p:nvPr/>
        </p:nvSpPr>
        <p:spPr>
          <a:xfrm>
            <a:off x="1322928" y="363897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ea typeface="楷体_GB2312" pitchFamily="49" charset="-122"/>
              </a:rPr>
              <a:t>剪枝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 lvl="0">
              <a:defRPr sz="1800"/>
            </a:pPr>
            <a:r>
              <a:rPr sz="4400" dirty="0" err="1"/>
              <a:t>回溯法的哲学思想</a:t>
            </a:r>
            <a:endParaRPr sz="4400" dirty="0"/>
          </a:p>
        </p:txBody>
      </p:sp>
      <p:sp>
        <p:nvSpPr>
          <p:cNvPr id="35" name="Shape 35"/>
          <p:cNvSpPr>
            <a:spLocks noGrp="1"/>
          </p:cNvSpPr>
          <p:nvPr>
            <p:ph type="body" idx="4294967295"/>
          </p:nvPr>
        </p:nvSpPr>
        <p:spPr>
          <a:xfrm>
            <a:off x="565079" y="1672119"/>
            <a:ext cx="8229600" cy="45259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298450" indent="-298450" defTabSz="795020">
              <a:spcBef>
                <a:spcPts val="600"/>
              </a:spcBef>
              <a:defRPr sz="1800"/>
            </a:pPr>
            <a:r>
              <a:rPr lang="zh-CN" altLang="en-US" sz="2785" dirty="0" smtClean="0">
                <a:latin typeface="宋体"/>
                <a:ea typeface="宋体"/>
                <a:cs typeface="宋体"/>
                <a:sym typeface="宋体"/>
              </a:rPr>
              <a:t>通常解决</a:t>
            </a:r>
            <a:r>
              <a:rPr sz="2785" dirty="0" err="1" smtClean="0">
                <a:latin typeface="宋体"/>
                <a:ea typeface="宋体"/>
                <a:cs typeface="宋体"/>
                <a:sym typeface="宋体"/>
              </a:rPr>
              <a:t>问题</a:t>
            </a:r>
            <a:r>
              <a:rPr lang="zh-CN" altLang="en-US" sz="2785" dirty="0">
                <a:latin typeface="宋体"/>
                <a:ea typeface="宋体"/>
                <a:cs typeface="宋体"/>
                <a:sym typeface="宋体"/>
              </a:rPr>
              <a:t>策略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。</a:t>
            </a:r>
            <a:endParaRPr sz="2785" dirty="0">
              <a:latin typeface="宋体"/>
              <a:ea typeface="宋体"/>
              <a:cs typeface="宋体"/>
              <a:sym typeface="宋体"/>
            </a:endParaRPr>
          </a:p>
          <a:p>
            <a:pPr defTabSz="795020">
              <a:spcBef>
                <a:spcPts val="600"/>
              </a:spcBef>
              <a:buFont typeface="Wingdings" panose="05000000000000000000" pitchFamily="2" charset="2"/>
              <a:buChar char="Ø"/>
              <a:defRPr sz="1800"/>
            </a:pPr>
            <a:r>
              <a:rPr sz="2785" dirty="0"/>
              <a:t>1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）碰到问题，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思考所有</a:t>
            </a:r>
            <a:r>
              <a:rPr lang="zh-CN" altLang="en-US" sz="2785" dirty="0" smtClean="0">
                <a:latin typeface="宋体"/>
                <a:ea typeface="宋体"/>
                <a:cs typeface="宋体"/>
                <a:sym typeface="宋体"/>
              </a:rPr>
              <a:t>可能方案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（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思考的周密性－－</a:t>
            </a:r>
            <a:r>
              <a:rPr sz="2785" b="1" dirty="0" err="1">
                <a:solidFill>
                  <a:srgbClr val="FF0000"/>
                </a:solidFill>
                <a:latin typeface="宋体"/>
                <a:ea typeface="宋体"/>
                <a:cs typeface="宋体"/>
                <a:sym typeface="宋体"/>
              </a:rPr>
              <a:t>全面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defTabSz="795020">
              <a:spcBef>
                <a:spcPts val="600"/>
              </a:spcBef>
              <a:buFont typeface="Wingdings" panose="05000000000000000000" pitchFamily="2" charset="2"/>
              <a:buChar char="Ø"/>
              <a:defRPr sz="1800"/>
            </a:pPr>
            <a:r>
              <a:rPr sz="2785" dirty="0"/>
              <a:t>2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）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所有</a:t>
            </a:r>
            <a:r>
              <a:rPr lang="zh-CN" altLang="en-US" sz="2785" dirty="0" smtClean="0">
                <a:latin typeface="宋体"/>
                <a:ea typeface="宋体"/>
                <a:cs typeface="宋体"/>
                <a:sym typeface="宋体"/>
              </a:rPr>
              <a:t>解决方案</a:t>
            </a:r>
            <a:r>
              <a:rPr sz="2785" dirty="0" err="1" smtClean="0">
                <a:latin typeface="宋体"/>
                <a:ea typeface="宋体"/>
                <a:cs typeface="宋体"/>
                <a:sym typeface="宋体"/>
              </a:rPr>
              <a:t>的组织</a:t>
            </a:r>
            <a:r>
              <a:rPr sz="2785" dirty="0" err="1">
                <a:latin typeface="宋体"/>
                <a:ea typeface="宋体"/>
                <a:cs typeface="宋体"/>
                <a:sym typeface="宋体"/>
              </a:rPr>
              <a:t>，关系等（思考的系统性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－－</a:t>
            </a:r>
            <a:r>
              <a:rPr sz="2785" b="1" dirty="0" err="1">
                <a:solidFill>
                  <a:srgbClr val="FF0000"/>
                </a:solidFill>
                <a:latin typeface="宋体"/>
                <a:ea typeface="宋体"/>
                <a:cs typeface="宋体"/>
                <a:sym typeface="宋体"/>
              </a:rPr>
              <a:t>条理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defTabSz="795020">
              <a:spcBef>
                <a:spcPts val="600"/>
              </a:spcBef>
              <a:buFont typeface="Wingdings" panose="05000000000000000000" pitchFamily="2" charset="2"/>
              <a:buChar char="Ø"/>
              <a:defRPr sz="1800"/>
            </a:pPr>
            <a:r>
              <a:rPr sz="2785" dirty="0"/>
              <a:t>3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）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排除不可行</a:t>
            </a:r>
            <a:r>
              <a:rPr lang="zh-CN" altLang="en-US" sz="2785" dirty="0" smtClean="0">
                <a:latin typeface="宋体"/>
                <a:ea typeface="宋体"/>
                <a:cs typeface="宋体"/>
                <a:sym typeface="宋体"/>
              </a:rPr>
              <a:t>的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，不实际的</a:t>
            </a:r>
            <a:r>
              <a:rPr lang="zh-CN" altLang="en-US" sz="2785" dirty="0" smtClean="0">
                <a:latin typeface="宋体"/>
                <a:ea typeface="宋体"/>
                <a:cs typeface="宋体"/>
                <a:sym typeface="宋体"/>
              </a:rPr>
              <a:t>方案</a:t>
            </a:r>
            <a:r>
              <a:rPr sz="2785" dirty="0" smtClean="0">
                <a:latin typeface="宋体"/>
                <a:ea typeface="宋体"/>
                <a:cs typeface="宋体"/>
                <a:sym typeface="宋体"/>
              </a:rPr>
              <a:t>（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思考的选择性－－</a:t>
            </a:r>
            <a:r>
              <a:rPr sz="2785" b="1" dirty="0" err="1">
                <a:solidFill>
                  <a:srgbClr val="FF0000"/>
                </a:solidFill>
                <a:latin typeface="宋体"/>
                <a:ea typeface="宋体"/>
                <a:cs typeface="宋体"/>
                <a:sym typeface="宋体"/>
              </a:rPr>
              <a:t>优化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298450" indent="-298450" defTabSz="795020">
              <a:spcBef>
                <a:spcPts val="600"/>
              </a:spcBef>
              <a:defRPr sz="1800"/>
            </a:pPr>
            <a:r>
              <a:rPr sz="2785" dirty="0" err="1">
                <a:latin typeface="宋体"/>
                <a:ea typeface="宋体"/>
                <a:cs typeface="宋体"/>
                <a:sym typeface="宋体"/>
              </a:rPr>
              <a:t>解决问题</a:t>
            </a:r>
            <a:r>
              <a:rPr sz="2785" dirty="0">
                <a:latin typeface="宋体"/>
                <a:ea typeface="宋体"/>
                <a:cs typeface="宋体"/>
                <a:sym typeface="宋体"/>
              </a:rPr>
              <a:t>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400"/>
              <a:t>17</a:t>
            </a:fld>
            <a:endParaRPr sz="1400"/>
          </a:p>
        </p:txBody>
      </p:sp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737171" y="157538"/>
            <a:ext cx="77724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zh-CN" altLang="en-US" sz="4400" dirty="0" smtClean="0"/>
              <a:t>主要内容</a:t>
            </a:r>
            <a:endParaRPr sz="4400" dirty="0"/>
          </a:p>
        </p:txBody>
      </p:sp>
      <p:sp>
        <p:nvSpPr>
          <p:cNvPr id="18" name="Shape 1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 b="1" dirty="0" err="1"/>
              <a:t>N皇后问题</a:t>
            </a:r>
            <a:endParaRPr sz="3200" b="1" dirty="0"/>
          </a:p>
          <a:p>
            <a:pPr lvl="0">
              <a:defRPr sz="1800"/>
            </a:pPr>
            <a:r>
              <a:rPr sz="3200" b="1" dirty="0" err="1"/>
              <a:t>回溯法思想</a:t>
            </a:r>
            <a:endParaRPr sz="3200" b="1" dirty="0"/>
          </a:p>
          <a:p>
            <a:pPr lvl="0">
              <a:defRPr sz="1800"/>
            </a:pPr>
            <a:r>
              <a:rPr sz="3200" b="1" dirty="0" err="1" smtClean="0">
                <a:solidFill>
                  <a:srgbClr val="FF0000"/>
                </a:solidFill>
              </a:rPr>
              <a:t>回溯法应用</a:t>
            </a:r>
            <a:endParaRPr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455483" y="1466850"/>
            <a:ext cx="8229600" cy="5391150"/>
          </a:xfrm>
        </p:spPr>
        <p:txBody>
          <a:bodyPr/>
          <a:lstStyle/>
          <a:p>
            <a:pPr>
              <a:lnSpc>
                <a:spcPct val="150000"/>
              </a:lnSpc>
              <a:buFont typeface="Symbol" pitchFamily="18" charset="2"/>
              <a:buChar char="·"/>
            </a:pPr>
            <a:r>
              <a:rPr lang="zh-CN" altLang="en-US" sz="1600" dirty="0"/>
              <a:t>通过应用范例学习回溯法的设计</a:t>
            </a:r>
            <a:r>
              <a:rPr lang="zh-CN" altLang="en-US" sz="1600" dirty="0" smtClean="0"/>
              <a:t>策略：</a:t>
            </a:r>
            <a:endParaRPr lang="zh-CN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）装载问题；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）批处理作业调度；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）符号三角形</a:t>
            </a:r>
            <a:r>
              <a:rPr lang="zh-CN" altLang="en-US" sz="1600" dirty="0" smtClean="0"/>
              <a:t>问题；</a:t>
            </a:r>
            <a:endParaRPr lang="zh-CN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</a:t>
            </a:r>
            <a:r>
              <a:rPr lang="en-US" altLang="zh-CN" sz="1600" dirty="0"/>
              <a:t>n</a:t>
            </a:r>
            <a:r>
              <a:rPr lang="zh-CN" altLang="en-US" sz="1600" dirty="0"/>
              <a:t>后问题；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r>
              <a:rPr lang="en-US" altLang="zh-CN" sz="1600" dirty="0"/>
              <a:t>0-1</a:t>
            </a:r>
            <a:r>
              <a:rPr lang="zh-CN" altLang="en-US" sz="1600" dirty="0"/>
              <a:t>背包问题；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6</a:t>
            </a:r>
            <a:r>
              <a:rPr lang="zh-CN" altLang="en-US" sz="1600" dirty="0"/>
              <a:t>）最大团问题；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7</a:t>
            </a:r>
            <a:r>
              <a:rPr lang="zh-CN" altLang="en-US" sz="1600" dirty="0"/>
              <a:t>）图的</a:t>
            </a:r>
            <a:r>
              <a:rPr lang="en-US" altLang="zh-CN" sz="1600" dirty="0"/>
              <a:t>m</a:t>
            </a:r>
            <a:r>
              <a:rPr lang="zh-CN" altLang="en-US" sz="1600" dirty="0"/>
              <a:t>着色</a:t>
            </a:r>
            <a:r>
              <a:rPr lang="zh-CN" altLang="en-US" sz="1600" dirty="0" smtClean="0"/>
              <a:t>问题；</a:t>
            </a:r>
            <a:endParaRPr lang="zh-CN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8</a:t>
            </a:r>
            <a:r>
              <a:rPr lang="zh-CN" altLang="en-US" sz="1600" dirty="0"/>
              <a:t>）旅行售货员</a:t>
            </a:r>
            <a:r>
              <a:rPr lang="zh-CN" altLang="en-US" sz="1600" dirty="0" smtClean="0"/>
              <a:t>问题；</a:t>
            </a:r>
            <a:endParaRPr lang="zh-CN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9</a:t>
            </a:r>
            <a:r>
              <a:rPr lang="zh-CN" altLang="en-US" sz="1600" dirty="0"/>
              <a:t>）圆排列</a:t>
            </a:r>
            <a:r>
              <a:rPr lang="zh-CN" altLang="en-US" sz="1600" dirty="0" smtClean="0"/>
              <a:t>问题；</a:t>
            </a:r>
            <a:endParaRPr lang="zh-CN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10</a:t>
            </a:r>
            <a:r>
              <a:rPr lang="zh-CN" altLang="en-US" sz="1600" dirty="0"/>
              <a:t>）电路板排列</a:t>
            </a:r>
            <a:r>
              <a:rPr lang="zh-CN" altLang="en-US" sz="1600" dirty="0" smtClean="0"/>
              <a:t>问题；</a:t>
            </a:r>
            <a:endParaRPr lang="zh-CN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（</a:t>
            </a:r>
            <a:r>
              <a:rPr lang="en-US" altLang="zh-CN" sz="1600" dirty="0"/>
              <a:t>11</a:t>
            </a:r>
            <a:r>
              <a:rPr lang="zh-CN" altLang="en-US" sz="1600" dirty="0"/>
              <a:t>）连续邮资</a:t>
            </a:r>
            <a:r>
              <a:rPr lang="zh-CN" altLang="en-US" sz="1600" dirty="0" smtClean="0"/>
              <a:t>问题。</a:t>
            </a:r>
            <a:endParaRPr lang="zh-CN" altLang="en-US" sz="1600" dirty="0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E0F5C-FAA4-4A1C-99FA-EBF82F3DBB04}" type="slidenum">
              <a:rPr lang="zh-CN" altLang="en-US"/>
              <a:t>18</a:t>
            </a:fld>
            <a:endParaRPr lang="en-US" altLang="zh-CN"/>
          </a:p>
        </p:txBody>
      </p:sp>
      <p:sp>
        <p:nvSpPr>
          <p:cNvPr id="4" name="Shape 17"/>
          <p:cNvSpPr>
            <a:spLocks noGrp="1"/>
          </p:cNvSpPr>
          <p:nvPr>
            <p:ph type="title"/>
          </p:nvPr>
        </p:nvSpPr>
        <p:spPr>
          <a:xfrm>
            <a:off x="737171" y="157538"/>
            <a:ext cx="77724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zh-CN" altLang="en-US" sz="4400" dirty="0" smtClean="0"/>
              <a:t>应用例子</a:t>
            </a:r>
            <a:endParaRPr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1727" y="639391"/>
            <a:ext cx="7543800" cy="530225"/>
          </a:xfrm>
        </p:spPr>
        <p:txBody>
          <a:bodyPr/>
          <a:lstStyle/>
          <a:p>
            <a:r>
              <a:rPr lang="en-US" altLang="zh-CN" dirty="0" smtClean="0"/>
              <a:t>0-1</a:t>
            </a:r>
            <a:r>
              <a:rPr lang="zh-CN" altLang="en-US" dirty="0" smtClean="0"/>
              <a:t>背包问题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63" y="2408447"/>
            <a:ext cx="8050264" cy="189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66274" y="1684421"/>
            <a:ext cx="4783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背包装的物品价值最大？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2920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9450" y="214965"/>
            <a:ext cx="7772400" cy="1143000"/>
          </a:xfrm>
        </p:spPr>
        <p:txBody>
          <a:bodyPr/>
          <a:lstStyle/>
          <a:p>
            <a:r>
              <a:rPr lang="zh-CN" altLang="en-US" dirty="0" smtClean="0"/>
              <a:t>分支限界（</a:t>
            </a:r>
            <a:r>
              <a:rPr lang="en-US" altLang="zh-CN" dirty="0" smtClean="0"/>
              <a:t>Branch-and-Bound</a:t>
            </a:r>
            <a:r>
              <a:rPr lang="zh-CN" altLang="en-US" dirty="0" smtClean="0"/>
              <a:t>）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614363" y="1658938"/>
            <a:ext cx="7837487" cy="4826000"/>
          </a:xfrm>
          <a:noFill/>
        </p:spPr>
        <p:txBody>
          <a:bodyPr/>
          <a:lstStyle/>
          <a:p>
            <a:r>
              <a:rPr lang="zh-CN" altLang="en-US" dirty="0" smtClean="0"/>
              <a:t>与回溯法相比，分支限界需要两个额外条件：</a:t>
            </a:r>
          </a:p>
          <a:p>
            <a:pPr lvl="1"/>
            <a:r>
              <a:rPr lang="zh-CN" altLang="en-US" dirty="0" smtClean="0"/>
              <a:t>对于一棵状态空间树的每一个节点所代表的部分解，需要计算出通过这个部分解繁衍出的任何解在目标函数上的</a:t>
            </a:r>
            <a:r>
              <a:rPr lang="zh-CN" altLang="en-US" dirty="0" smtClean="0">
                <a:solidFill>
                  <a:srgbClr val="FF0000"/>
                </a:solidFill>
              </a:rPr>
              <a:t>最佳值</a:t>
            </a:r>
            <a:r>
              <a:rPr lang="zh-CN" altLang="en-US" b="1" u="sng" dirty="0" smtClean="0">
                <a:solidFill>
                  <a:srgbClr val="FF0000"/>
                </a:solidFill>
              </a:rPr>
              <a:t>边界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目前求得的</a:t>
            </a:r>
            <a:r>
              <a:rPr lang="zh-CN" altLang="en-US" dirty="0" smtClean="0">
                <a:solidFill>
                  <a:srgbClr val="FF0000"/>
                </a:solidFill>
              </a:rPr>
              <a:t>最佳解的值</a:t>
            </a:r>
            <a:r>
              <a:rPr lang="zh-CN" altLang="en-US" dirty="0" smtClean="0"/>
              <a:t>。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38" y="3965608"/>
            <a:ext cx="5931995" cy="1395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30" y="3923096"/>
            <a:ext cx="1837562" cy="118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8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 idx="4294967295"/>
          </p:nvPr>
        </p:nvSpPr>
        <p:spPr>
          <a:xfrm>
            <a:off x="782052" y="114300"/>
            <a:ext cx="7772400" cy="1143000"/>
          </a:xfrm>
        </p:spPr>
        <p:txBody>
          <a:bodyPr/>
          <a:lstStyle/>
          <a:p>
            <a:r>
              <a:rPr lang="zh-CN" altLang="en-US" dirty="0" smtClean="0"/>
              <a:t>分支限界（</a:t>
            </a:r>
            <a:r>
              <a:rPr lang="en-US" altLang="zh-CN" dirty="0" smtClean="0"/>
              <a:t>Branch-and-Bound</a:t>
            </a:r>
            <a:r>
              <a:rPr lang="zh-CN" altLang="en-US" dirty="0" smtClean="0"/>
              <a:t>）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4294967295"/>
          </p:nvPr>
        </p:nvSpPr>
        <p:spPr>
          <a:xfrm>
            <a:off x="644702" y="1457218"/>
            <a:ext cx="8139701" cy="4114800"/>
          </a:xfrm>
        </p:spPr>
        <p:txBody>
          <a:bodyPr/>
          <a:lstStyle/>
          <a:p>
            <a:r>
              <a:rPr lang="zh-CN" altLang="en-US" dirty="0" smtClean="0"/>
              <a:t>路径查找终止条件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该节点的</a:t>
            </a:r>
            <a:r>
              <a:rPr lang="zh-CN" altLang="en-US" dirty="0" smtClean="0">
                <a:solidFill>
                  <a:srgbClr val="FF0000"/>
                </a:solidFill>
              </a:rPr>
              <a:t>边界值</a:t>
            </a:r>
            <a:r>
              <a:rPr lang="zh-CN" altLang="en-US" dirty="0" smtClean="0"/>
              <a:t>不能超越目前</a:t>
            </a:r>
            <a:r>
              <a:rPr lang="zh-CN" altLang="en-US" dirty="0" smtClean="0">
                <a:solidFill>
                  <a:srgbClr val="FF0000"/>
                </a:solidFill>
              </a:rPr>
              <a:t>最佳解的值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该节点</a:t>
            </a:r>
            <a:r>
              <a:rPr lang="zh-CN" altLang="en-US" dirty="0" smtClean="0">
                <a:solidFill>
                  <a:srgbClr val="FF0000"/>
                </a:solidFill>
              </a:rPr>
              <a:t>无法代表任何可行解</a:t>
            </a:r>
            <a:r>
              <a:rPr lang="zh-CN" altLang="en-US" dirty="0" smtClean="0"/>
              <a:t>，已违反了问题的约束。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该节点代表的可行解的子集</a:t>
            </a:r>
            <a:r>
              <a:rPr lang="zh-CN" altLang="en-US" dirty="0" smtClean="0">
                <a:solidFill>
                  <a:srgbClr val="FF0000"/>
                </a:solidFill>
              </a:rPr>
              <a:t>只包含一个单独的点</a:t>
            </a:r>
            <a:r>
              <a:rPr lang="zh-CN" altLang="en-US" dirty="0" smtClean="0"/>
              <a:t>（没有更多的选择）。</a:t>
            </a:r>
          </a:p>
        </p:txBody>
      </p:sp>
      <p:sp>
        <p:nvSpPr>
          <p:cNvPr id="21508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42313" y="6400800"/>
            <a:ext cx="8016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9C20787-76FA-4C5A-992E-3FF17BE4D99E}" type="slidenum">
              <a:rPr lang="en-US" altLang="zh-CN" sz="1200">
                <a:latin typeface="Arial Black" panose="020B0A04020102020204" pitchFamily="34" charset="0"/>
              </a:rPr>
              <a:pPr algn="r" eaLnBrk="1" hangingPunct="1"/>
              <a:t>21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170" y="3820940"/>
            <a:ext cx="6610482" cy="30370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1382" y="4715839"/>
            <a:ext cx="16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0-1</a:t>
            </a:r>
            <a:r>
              <a:rPr lang="zh-CN" altLang="en-US" dirty="0" smtClean="0"/>
              <a:t>背包问题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9572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14350" y="269507"/>
            <a:ext cx="7543800" cy="669103"/>
          </a:xfrm>
        </p:spPr>
        <p:txBody>
          <a:bodyPr/>
          <a:lstStyle/>
          <a:p>
            <a:r>
              <a:rPr lang="en-US" altLang="zh-CN" dirty="0" smtClean="0"/>
              <a:t>0-1</a:t>
            </a:r>
            <a:r>
              <a:rPr lang="zh-CN" altLang="en-US" dirty="0" smtClean="0"/>
              <a:t>背包问题</a:t>
            </a:r>
          </a:p>
        </p:txBody>
      </p:sp>
      <p:pic>
        <p:nvPicPr>
          <p:cNvPr id="2253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085" y="2129723"/>
            <a:ext cx="5126037" cy="440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15" y="1327171"/>
            <a:ext cx="6438219" cy="151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6"/>
          <p:cNvSpPr txBox="1">
            <a:spLocks noChangeArrowheads="1"/>
          </p:cNvSpPr>
          <p:nvPr/>
        </p:nvSpPr>
        <p:spPr bwMode="auto">
          <a:xfrm>
            <a:off x="214313" y="3214688"/>
            <a:ext cx="3837923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/>
              <a:t>边界（上界）的选择</a:t>
            </a:r>
            <a:r>
              <a:rPr lang="zh-CN" altLang="en-US" sz="2800" b="1" dirty="0" smtClean="0"/>
              <a:t>：</a:t>
            </a:r>
            <a:r>
              <a:rPr lang="zh-CN" altLang="en-US" sz="2400" dirty="0" smtClean="0"/>
              <a:t>已选价值</a:t>
            </a:r>
            <a:r>
              <a:rPr lang="en-US" altLang="zh-CN" sz="2400" dirty="0">
                <a:solidFill>
                  <a:srgbClr val="C00000"/>
                </a:solidFill>
              </a:rPr>
              <a:t>v</a:t>
            </a:r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r>
              <a:rPr lang="zh-CN" altLang="en-US" sz="2400" dirty="0" smtClean="0"/>
              <a:t>背包剩余</a:t>
            </a:r>
            <a:r>
              <a:rPr lang="zh-CN" altLang="en-US" sz="2400" dirty="0"/>
              <a:t>承重</a:t>
            </a:r>
            <a:r>
              <a:rPr lang="en-US" altLang="zh-CN" sz="2400" dirty="0" smtClean="0">
                <a:solidFill>
                  <a:srgbClr val="00B050"/>
                </a:solidFill>
              </a:rPr>
              <a:t>W-w</a:t>
            </a:r>
            <a:r>
              <a:rPr lang="zh-CN" altLang="en-US" sz="2400" dirty="0" smtClean="0"/>
              <a:t>与</a:t>
            </a:r>
            <a:r>
              <a:rPr lang="zh-CN" altLang="en-US" sz="2400" dirty="0"/>
              <a:t>剩下</a:t>
            </a:r>
            <a:r>
              <a:rPr lang="zh-CN" altLang="en-US" sz="2400" dirty="0" smtClean="0"/>
              <a:t>物品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最佳</a:t>
            </a:r>
            <a:r>
              <a:rPr lang="zh-CN" altLang="en-US" sz="2400" b="1" dirty="0">
                <a:solidFill>
                  <a:srgbClr val="C00000"/>
                </a:solidFill>
              </a:rPr>
              <a:t>单位回报</a:t>
            </a:r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i+1</a:t>
            </a:r>
            <a:r>
              <a:rPr lang="en-US" altLang="zh-CN" sz="2400" dirty="0">
                <a:solidFill>
                  <a:srgbClr val="FF0000"/>
                </a:solidFill>
              </a:rPr>
              <a:t>/w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i+1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乘积，</a:t>
            </a:r>
            <a:endParaRPr lang="en-US" altLang="zh-CN" sz="24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136828"/>
              </p:ext>
            </p:extLst>
          </p:nvPr>
        </p:nvGraphicFramePr>
        <p:xfrm>
          <a:off x="532686" y="4823938"/>
          <a:ext cx="2868059" cy="123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6" imgW="1091880" imgH="469800" progId="Equation.DSMT4">
                  <p:embed/>
                </p:oleObj>
              </mc:Choice>
              <mc:Fallback>
                <p:oleObj name="Equation" r:id="rId6" imgW="10918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2686" y="4823938"/>
                        <a:ext cx="2868059" cy="1233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093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7213"/>
            <a:ext cx="7772400" cy="1143000"/>
          </a:xfrm>
        </p:spPr>
        <p:txBody>
          <a:bodyPr/>
          <a:lstStyle/>
          <a:p>
            <a:r>
              <a:rPr lang="zh-CN" altLang="en-US" dirty="0" smtClean="0"/>
              <a:t>例子</a:t>
            </a: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20487"/>
            <a:ext cx="72485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22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76" y="2126810"/>
            <a:ext cx="6249152" cy="473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7" y="152400"/>
            <a:ext cx="7021981" cy="199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6475001" y="915914"/>
            <a:ext cx="3545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10</a:t>
            </a:r>
            <a:endParaRPr lang="zh-CN" altLang="en-US" sz="1200" dirty="0"/>
          </a:p>
        </p:txBody>
      </p:sp>
      <p:sp>
        <p:nvSpPr>
          <p:cNvPr id="9" name="矩形 8"/>
          <p:cNvSpPr/>
          <p:nvPr/>
        </p:nvSpPr>
        <p:spPr>
          <a:xfrm>
            <a:off x="6495425" y="1172008"/>
            <a:ext cx="2696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9</a:t>
            </a:r>
            <a:endParaRPr lang="zh-CN" altLang="en-US" sz="1200" dirty="0"/>
          </a:p>
        </p:txBody>
      </p:sp>
      <p:sp>
        <p:nvSpPr>
          <p:cNvPr id="10" name="矩形 9"/>
          <p:cNvSpPr/>
          <p:nvPr/>
        </p:nvSpPr>
        <p:spPr>
          <a:xfrm>
            <a:off x="6486000" y="1426533"/>
            <a:ext cx="2696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7</a:t>
            </a:r>
            <a:endParaRPr lang="zh-CN" altLang="en-US" sz="1200" dirty="0"/>
          </a:p>
        </p:txBody>
      </p:sp>
      <p:sp>
        <p:nvSpPr>
          <p:cNvPr id="11" name="矩形 10"/>
          <p:cNvSpPr/>
          <p:nvPr/>
        </p:nvSpPr>
        <p:spPr>
          <a:xfrm>
            <a:off x="6495426" y="1671630"/>
            <a:ext cx="2696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3</a:t>
            </a:r>
            <a:endParaRPr lang="zh-CN" altLang="en-US" sz="1200" dirty="0"/>
          </a:p>
        </p:txBody>
      </p:sp>
      <p:sp>
        <p:nvSpPr>
          <p:cNvPr id="12" name="矩形 11"/>
          <p:cNvSpPr/>
          <p:nvPr/>
        </p:nvSpPr>
        <p:spPr>
          <a:xfrm>
            <a:off x="6354021" y="653535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单位价值</a:t>
            </a:r>
            <a:endParaRPr lang="zh-CN" altLang="en-US" sz="1200" dirty="0"/>
          </a:p>
        </p:txBody>
      </p:sp>
      <p:sp>
        <p:nvSpPr>
          <p:cNvPr id="2" name="文本框 1"/>
          <p:cNvSpPr txBox="1"/>
          <p:nvPr/>
        </p:nvSpPr>
        <p:spPr>
          <a:xfrm>
            <a:off x="7154240" y="2726724"/>
            <a:ext cx="1306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作业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85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DC31-F3BB-41DC-88C8-72D5BBB90ABD}" type="slidenum">
              <a:rPr lang="zh-CN" altLang="en-US"/>
              <a:t>25</a:t>
            </a:fld>
            <a:endParaRPr lang="en-US" altLang="zh-CN"/>
          </a:p>
        </p:txBody>
      </p:sp>
      <p:sp>
        <p:nvSpPr>
          <p:cNvPr id="292868" name="Rectangle 4"/>
          <p:cNvSpPr>
            <a:spLocks noChangeArrowheads="1"/>
          </p:cNvSpPr>
          <p:nvPr/>
        </p:nvSpPr>
        <p:spPr bwMode="auto">
          <a:xfrm>
            <a:off x="1111702" y="346510"/>
            <a:ext cx="77724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批处理作业调度</a:t>
            </a:r>
          </a:p>
        </p:txBody>
      </p:sp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295275" y="1381442"/>
            <a:ext cx="88011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400" dirty="0" smtClean="0">
                <a:ea typeface="楷体_GB2312" pitchFamily="49" charset="-122"/>
              </a:rPr>
              <a:t>        给定</a:t>
            </a:r>
            <a:r>
              <a:rPr lang="en-US" altLang="zh-CN" sz="2400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个作业的集合</a:t>
            </a:r>
            <a:r>
              <a:rPr lang="en-US" altLang="zh-CN" sz="2400" dirty="0">
                <a:ea typeface="楷体_GB2312" pitchFamily="49" charset="-122"/>
              </a:rPr>
              <a:t>{J</a:t>
            </a:r>
            <a:r>
              <a:rPr lang="en-US" altLang="zh-CN" sz="2400" baseline="-25000" dirty="0">
                <a:ea typeface="楷体_GB2312" pitchFamily="49" charset="-122"/>
              </a:rPr>
              <a:t>1</a:t>
            </a:r>
            <a:r>
              <a:rPr lang="en-US" altLang="zh-CN" sz="2400" dirty="0">
                <a:ea typeface="楷体_GB2312" pitchFamily="49" charset="-122"/>
              </a:rPr>
              <a:t>,J</a:t>
            </a:r>
            <a:r>
              <a:rPr lang="en-US" altLang="zh-CN" sz="2400" baseline="-25000" dirty="0">
                <a:ea typeface="楷体_GB2312" pitchFamily="49" charset="-122"/>
              </a:rPr>
              <a:t>2</a:t>
            </a:r>
            <a:r>
              <a:rPr lang="en-US" altLang="zh-CN" sz="2400" dirty="0">
                <a:ea typeface="楷体_GB2312" pitchFamily="49" charset="-122"/>
              </a:rPr>
              <a:t>,…,</a:t>
            </a:r>
            <a:r>
              <a:rPr lang="en-US" altLang="zh-CN" sz="2400" dirty="0" err="1">
                <a:ea typeface="楷体_GB2312" pitchFamily="49" charset="-122"/>
              </a:rPr>
              <a:t>J</a:t>
            </a:r>
            <a:r>
              <a:rPr lang="en-US" altLang="zh-CN" sz="2400" baseline="-25000" dirty="0" err="1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}</a:t>
            </a:r>
            <a:r>
              <a:rPr lang="zh-CN" altLang="en-US" sz="2400" dirty="0">
                <a:ea typeface="楷体_GB2312" pitchFamily="49" charset="-122"/>
              </a:rPr>
              <a:t>。每个作业必须先</a:t>
            </a:r>
            <a:r>
              <a:rPr lang="zh-CN" altLang="en-US" sz="2400" dirty="0" smtClean="0">
                <a:ea typeface="楷体_GB2312" pitchFamily="49" charset="-122"/>
              </a:rPr>
              <a:t>由机器</a:t>
            </a:r>
            <a:r>
              <a:rPr lang="en-US" altLang="zh-CN" sz="2400" dirty="0" smtClean="0">
                <a:ea typeface="楷体_GB2312" pitchFamily="49" charset="-122"/>
              </a:rPr>
              <a:t>1</a:t>
            </a:r>
            <a:r>
              <a:rPr lang="zh-CN" altLang="en-US" sz="2400" dirty="0" smtClean="0">
                <a:ea typeface="楷体_GB2312" pitchFamily="49" charset="-122"/>
              </a:rPr>
              <a:t>处理，然后由机器</a:t>
            </a:r>
            <a:r>
              <a:rPr lang="en-US" altLang="zh-CN" sz="2400" dirty="0" smtClean="0">
                <a:ea typeface="楷体_GB2312" pitchFamily="49" charset="-122"/>
              </a:rPr>
              <a:t>2</a:t>
            </a:r>
            <a:r>
              <a:rPr lang="zh-CN" altLang="en-US" sz="2400" dirty="0" smtClean="0">
                <a:ea typeface="楷体_GB2312" pitchFamily="49" charset="-122"/>
              </a:rPr>
              <a:t>处理。</a:t>
            </a:r>
            <a:r>
              <a:rPr lang="zh-CN" altLang="en-US" sz="2400" dirty="0">
                <a:ea typeface="楷体_GB2312" pitchFamily="49" charset="-122"/>
              </a:rPr>
              <a:t>作业</a:t>
            </a:r>
            <a:r>
              <a:rPr lang="en-US" altLang="zh-CN" sz="2400" dirty="0" err="1">
                <a:solidFill>
                  <a:srgbClr val="FF0000"/>
                </a:solidFill>
                <a:ea typeface="楷体_GB2312" pitchFamily="49" charset="-122"/>
              </a:rPr>
              <a:t>J</a:t>
            </a:r>
            <a:r>
              <a:rPr lang="en-US" altLang="zh-CN" sz="2400" baseline="-25000" dirty="0" err="1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需要机器</a:t>
            </a:r>
            <a:r>
              <a:rPr lang="en-US" altLang="zh-CN" sz="2400" dirty="0">
                <a:ea typeface="楷体_GB2312" pitchFamily="49" charset="-122"/>
              </a:rPr>
              <a:t>j</a:t>
            </a:r>
            <a:r>
              <a:rPr lang="zh-CN" altLang="en-US" sz="2400" dirty="0">
                <a:ea typeface="楷体_GB2312" pitchFamily="49" charset="-122"/>
              </a:rPr>
              <a:t>的处理时间为</a:t>
            </a:r>
            <a:r>
              <a:rPr lang="en-US" altLang="zh-CN" sz="2400" dirty="0" err="1">
                <a:ea typeface="楷体_GB2312" pitchFamily="49" charset="-122"/>
              </a:rPr>
              <a:t>t</a:t>
            </a:r>
            <a:r>
              <a:rPr lang="en-US" altLang="zh-CN" sz="2400" baseline="-25000" dirty="0" err="1">
                <a:ea typeface="楷体_GB2312" pitchFamily="49" charset="-122"/>
              </a:rPr>
              <a:t>ji</a:t>
            </a:r>
            <a:r>
              <a:rPr lang="zh-CN" altLang="en-US" sz="2400" dirty="0">
                <a:ea typeface="楷体_GB2312" pitchFamily="49" charset="-122"/>
              </a:rPr>
              <a:t>。对于一个确定的作业调度，设</a:t>
            </a:r>
            <a:r>
              <a:rPr lang="en-US" altLang="zh-CN" sz="2400" dirty="0" err="1">
                <a:ea typeface="楷体_GB2312" pitchFamily="49" charset="-122"/>
              </a:rPr>
              <a:t>F</a:t>
            </a:r>
            <a:r>
              <a:rPr lang="en-US" altLang="zh-CN" sz="2400" baseline="-25000" dirty="0" err="1">
                <a:ea typeface="楷体_GB2312" pitchFamily="49" charset="-122"/>
              </a:rPr>
              <a:t>ji</a:t>
            </a:r>
            <a:r>
              <a:rPr lang="zh-CN" altLang="en-US" sz="2400" dirty="0">
                <a:ea typeface="楷体_GB2312" pitchFamily="49" charset="-122"/>
              </a:rPr>
              <a:t>是作业</a:t>
            </a:r>
            <a:r>
              <a:rPr lang="en-US" altLang="zh-CN" sz="2400" dirty="0"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在机器</a:t>
            </a:r>
            <a:r>
              <a:rPr lang="en-US" altLang="zh-CN" sz="2400" dirty="0">
                <a:ea typeface="楷体_GB2312" pitchFamily="49" charset="-122"/>
              </a:rPr>
              <a:t>j</a:t>
            </a:r>
            <a:r>
              <a:rPr lang="zh-CN" altLang="en-US" sz="2400" dirty="0">
                <a:ea typeface="楷体_GB2312" pitchFamily="49" charset="-122"/>
              </a:rPr>
              <a:t>上完成处理</a:t>
            </a:r>
            <a:r>
              <a:rPr lang="zh-CN" altLang="en-US" sz="2400" dirty="0" smtClean="0"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时间点</a:t>
            </a:r>
            <a:r>
              <a:rPr lang="zh-CN" altLang="en-US" sz="2400" dirty="0" smtClean="0">
                <a:ea typeface="楷体_GB2312" pitchFamily="49" charset="-122"/>
              </a:rPr>
              <a:t>。</a:t>
            </a:r>
            <a:r>
              <a:rPr lang="zh-CN" altLang="en-US" sz="2400" dirty="0">
                <a:ea typeface="楷体_GB2312" pitchFamily="49" charset="-122"/>
              </a:rPr>
              <a:t>所有作业在机器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上完成处理的</a:t>
            </a:r>
            <a:r>
              <a:rPr lang="zh-CN" altLang="en-US" sz="2400" dirty="0" smtClean="0">
                <a:ea typeface="楷体_GB2312" pitchFamily="49" charset="-122"/>
              </a:rPr>
              <a:t>时间点之和             称为</a:t>
            </a:r>
            <a:r>
              <a:rPr lang="zh-CN" altLang="en-US" sz="2400" dirty="0">
                <a:ea typeface="楷体_GB2312" pitchFamily="49" charset="-122"/>
              </a:rPr>
              <a:t>该作业调度的完成时间和</a:t>
            </a:r>
            <a:r>
              <a:rPr lang="zh-CN" altLang="en-US" sz="2400" dirty="0" smtClean="0">
                <a:ea typeface="楷体_GB2312" pitchFamily="49" charset="-122"/>
              </a:rPr>
              <a:t>。</a:t>
            </a:r>
            <a:endParaRPr lang="en-US" altLang="zh-CN" sz="2400" dirty="0" smtClean="0">
              <a:ea typeface="楷体_GB2312" pitchFamily="49" charset="-122"/>
            </a:endParaRPr>
          </a:p>
          <a:p>
            <a:pPr algn="just"/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批处理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作业调度问题要求对于给定的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个作业，制定最佳作业调度方案，使其完成时间和达到最小。</a:t>
            </a:r>
          </a:p>
        </p:txBody>
      </p:sp>
      <p:sp>
        <p:nvSpPr>
          <p:cNvPr id="292871" name="Rectangle 7"/>
          <p:cNvSpPr>
            <a:spLocks noChangeArrowheads="1"/>
          </p:cNvSpPr>
          <p:nvPr/>
        </p:nvSpPr>
        <p:spPr bwMode="auto">
          <a:xfrm>
            <a:off x="1771650" y="2803525"/>
            <a:ext cx="5921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292949" name="Group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57213"/>
              </p:ext>
            </p:extLst>
          </p:nvPr>
        </p:nvGraphicFramePr>
        <p:xfrm>
          <a:off x="596335" y="4254785"/>
          <a:ext cx="2881313" cy="1691958"/>
        </p:xfrm>
        <a:graphic>
          <a:graphicData uri="http://schemas.openxmlformats.org/drawingml/2006/table">
            <a:tbl>
              <a:tblPr/>
              <a:tblGrid>
                <a:gridCol w="819150"/>
                <a:gridCol w="1031875"/>
                <a:gridCol w="1030288"/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楷体_GB2312" pitchFamily="49" charset="-122"/>
                        </a:rPr>
                        <a:t>ji</a:t>
                      </a:r>
                      <a:endParaRPr kumimoji="0" lang="en-US" altLang="zh-CN" sz="20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机器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机器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作业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作业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作业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766836"/>
              </p:ext>
            </p:extLst>
          </p:nvPr>
        </p:nvGraphicFramePr>
        <p:xfrm>
          <a:off x="6013223" y="2373870"/>
          <a:ext cx="1079953" cy="69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Equation" r:id="rId4" imgW="672840" imgH="431640" progId="Equation.DSMT4">
                  <p:embed/>
                </p:oleObj>
              </mc:Choice>
              <mc:Fallback>
                <p:oleObj name="Equation" r:id="rId4" imgW="672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3223" y="2373870"/>
                        <a:ext cx="1079953" cy="69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704734" y="4892587"/>
            <a:ext cx="551939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ym typeface="Helvetica Neue"/>
              </a:rPr>
              <a:t>以</a:t>
            </a:r>
            <a:r>
              <a:rPr lang="en-US" altLang="zh-CN" sz="1600" dirty="0">
                <a:sym typeface="Helvetica Neue"/>
              </a:rPr>
              <a:t>1,2,3</a:t>
            </a:r>
            <a:r>
              <a:rPr lang="zh-CN" altLang="en-US" sz="1600" dirty="0">
                <a:sym typeface="Helvetica Neue"/>
              </a:rPr>
              <a:t>为例</a:t>
            </a:r>
            <a:r>
              <a:rPr lang="en-US" altLang="zh-CN" sz="1600" dirty="0">
                <a:sym typeface="Helvetica Neue"/>
              </a:rPr>
              <a:t>: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>
                <a:sym typeface="Helvetica Neue"/>
              </a:rPr>
              <a:t>作业</a:t>
            </a:r>
            <a:r>
              <a:rPr lang="en-US" altLang="zh-CN" sz="1600" dirty="0">
                <a:sym typeface="Helvetica Neue"/>
              </a:rPr>
              <a:t>1</a:t>
            </a:r>
            <a:r>
              <a:rPr lang="zh-CN" altLang="en-US" sz="1600" dirty="0">
                <a:sym typeface="Helvetica Neue"/>
              </a:rPr>
              <a:t>在机器</a:t>
            </a:r>
            <a:r>
              <a:rPr lang="en-US" altLang="zh-CN" sz="1600" dirty="0">
                <a:sym typeface="Helvetica Neue"/>
              </a:rPr>
              <a:t>1</a:t>
            </a:r>
            <a:r>
              <a:rPr lang="zh-CN" altLang="en-US" sz="1600" dirty="0">
                <a:sym typeface="Helvetica Neue"/>
              </a:rPr>
              <a:t>上完成的时间为</a:t>
            </a:r>
            <a:r>
              <a:rPr lang="en-US" altLang="zh-CN" sz="1600" dirty="0">
                <a:solidFill>
                  <a:srgbClr val="FF0000"/>
                </a:solidFill>
                <a:sym typeface="Helvetica Neue"/>
              </a:rPr>
              <a:t>2</a:t>
            </a:r>
            <a:r>
              <a:rPr lang="en-US" altLang="zh-CN" sz="1600" dirty="0">
                <a:sym typeface="Helvetica Neue"/>
              </a:rPr>
              <a:t>,</a:t>
            </a:r>
            <a:r>
              <a:rPr lang="zh-CN" altLang="en-US" sz="1600" dirty="0">
                <a:sym typeface="Helvetica Neue"/>
              </a:rPr>
              <a:t>在机器</a:t>
            </a:r>
            <a:r>
              <a:rPr lang="en-US" altLang="zh-CN" sz="1600" dirty="0">
                <a:sym typeface="Helvetica Neue"/>
              </a:rPr>
              <a:t>2</a:t>
            </a:r>
            <a:r>
              <a:rPr lang="zh-CN" altLang="en-US" sz="1600" dirty="0">
                <a:sym typeface="Helvetica Neue"/>
              </a:rPr>
              <a:t>上完成的时间为</a:t>
            </a:r>
            <a:r>
              <a:rPr lang="en-US" altLang="zh-CN" sz="1600" dirty="0">
                <a:solidFill>
                  <a:srgbClr val="FF0000"/>
                </a:solidFill>
                <a:sym typeface="Helvetica Neue"/>
              </a:rPr>
              <a:t>3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>
                <a:sym typeface="Helvetica Neue"/>
              </a:rPr>
              <a:t>作业</a:t>
            </a:r>
            <a:r>
              <a:rPr lang="en-US" altLang="zh-CN" sz="1600" dirty="0">
                <a:sym typeface="Helvetica Neue"/>
              </a:rPr>
              <a:t>2</a:t>
            </a:r>
            <a:r>
              <a:rPr lang="zh-CN" altLang="en-US" sz="1600" dirty="0">
                <a:sym typeface="Helvetica Neue"/>
              </a:rPr>
              <a:t>在机器</a:t>
            </a:r>
            <a:r>
              <a:rPr lang="en-US" altLang="zh-CN" sz="1600" dirty="0">
                <a:sym typeface="Helvetica Neue"/>
              </a:rPr>
              <a:t>1</a:t>
            </a:r>
            <a:r>
              <a:rPr lang="zh-CN" altLang="en-US" sz="1600" dirty="0">
                <a:sym typeface="Helvetica Neue"/>
              </a:rPr>
              <a:t>上完成的时间为</a:t>
            </a:r>
            <a:r>
              <a:rPr lang="en-US" altLang="zh-CN" sz="1600" dirty="0">
                <a:solidFill>
                  <a:srgbClr val="FF0000"/>
                </a:solidFill>
                <a:sym typeface="Helvetica Neue"/>
              </a:rPr>
              <a:t>5</a:t>
            </a:r>
            <a:r>
              <a:rPr lang="en-US" altLang="zh-CN" sz="1600" dirty="0">
                <a:sym typeface="Helvetica Neue"/>
              </a:rPr>
              <a:t>,</a:t>
            </a:r>
            <a:r>
              <a:rPr lang="zh-CN" altLang="en-US" sz="1600" dirty="0">
                <a:sym typeface="Helvetica Neue"/>
              </a:rPr>
              <a:t>在机器</a:t>
            </a:r>
            <a:r>
              <a:rPr lang="en-US" altLang="zh-CN" sz="1600" dirty="0">
                <a:sym typeface="Helvetica Neue"/>
              </a:rPr>
              <a:t>2</a:t>
            </a:r>
            <a:r>
              <a:rPr lang="zh-CN" altLang="en-US" sz="1600" dirty="0">
                <a:sym typeface="Helvetica Neue"/>
              </a:rPr>
              <a:t>上完成的时间为</a:t>
            </a:r>
            <a:r>
              <a:rPr lang="en-US" altLang="zh-CN" sz="1600" dirty="0">
                <a:solidFill>
                  <a:srgbClr val="FF0000"/>
                </a:solidFill>
                <a:sym typeface="Helvetica Neue"/>
              </a:rPr>
              <a:t>6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>
                <a:sym typeface="Helvetica Neue"/>
              </a:rPr>
              <a:t>作业</a:t>
            </a:r>
            <a:r>
              <a:rPr lang="en-US" altLang="zh-CN" sz="1600" dirty="0">
                <a:sym typeface="Helvetica Neue"/>
              </a:rPr>
              <a:t>3</a:t>
            </a:r>
            <a:r>
              <a:rPr lang="zh-CN" altLang="en-US" sz="1600" dirty="0">
                <a:sym typeface="Helvetica Neue"/>
              </a:rPr>
              <a:t>在机器</a:t>
            </a:r>
            <a:r>
              <a:rPr lang="en-US" altLang="zh-CN" sz="1600" dirty="0">
                <a:sym typeface="Helvetica Neue"/>
              </a:rPr>
              <a:t>1</a:t>
            </a:r>
            <a:r>
              <a:rPr lang="zh-CN" altLang="en-US" sz="1600" dirty="0">
                <a:sym typeface="Helvetica Neue"/>
              </a:rPr>
              <a:t>上完成的时间为</a:t>
            </a:r>
            <a:r>
              <a:rPr lang="en-US" altLang="zh-CN" sz="1600" dirty="0">
                <a:solidFill>
                  <a:srgbClr val="FF0000"/>
                </a:solidFill>
                <a:sym typeface="Helvetica Neue"/>
              </a:rPr>
              <a:t>7</a:t>
            </a:r>
            <a:r>
              <a:rPr lang="en-US" altLang="zh-CN" sz="1600" dirty="0">
                <a:sym typeface="Helvetica Neue"/>
              </a:rPr>
              <a:t>,</a:t>
            </a:r>
            <a:r>
              <a:rPr lang="zh-CN" altLang="en-US" sz="1600" dirty="0">
                <a:sym typeface="Helvetica Neue"/>
              </a:rPr>
              <a:t>在机器</a:t>
            </a:r>
            <a:r>
              <a:rPr lang="en-US" altLang="zh-CN" sz="1600" dirty="0">
                <a:sym typeface="Helvetica Neue"/>
              </a:rPr>
              <a:t>2</a:t>
            </a:r>
            <a:r>
              <a:rPr lang="zh-CN" altLang="en-US" sz="1600" dirty="0">
                <a:sym typeface="Helvetica Neue"/>
              </a:rPr>
              <a:t>上完成的时间为</a:t>
            </a:r>
            <a:r>
              <a:rPr lang="en-US" altLang="zh-CN" sz="1600" dirty="0">
                <a:solidFill>
                  <a:srgbClr val="FF0000"/>
                </a:solidFill>
                <a:sym typeface="Helvetica Neue"/>
              </a:rPr>
              <a:t>10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063D-FF00-414E-BA1E-656B3F8CF33D}" type="slidenum">
              <a:rPr lang="zh-CN" altLang="en-US"/>
              <a:t>26</a:t>
            </a:fld>
            <a:endParaRPr lang="en-US" altLang="zh-CN"/>
          </a:p>
        </p:txBody>
      </p:sp>
      <p:sp>
        <p:nvSpPr>
          <p:cNvPr id="293892" name="Rectangle 4"/>
          <p:cNvSpPr>
            <a:spLocks noChangeArrowheads="1"/>
          </p:cNvSpPr>
          <p:nvPr/>
        </p:nvSpPr>
        <p:spPr bwMode="auto">
          <a:xfrm>
            <a:off x="611188" y="0"/>
            <a:ext cx="77724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批处理作业调度</a:t>
            </a:r>
          </a:p>
        </p:txBody>
      </p:sp>
      <p:sp>
        <p:nvSpPr>
          <p:cNvPr id="293893" name="Text Box 5"/>
          <p:cNvSpPr txBox="1">
            <a:spLocks noChangeArrowheads="1"/>
          </p:cNvSpPr>
          <p:nvPr/>
        </p:nvSpPr>
        <p:spPr bwMode="auto">
          <a:xfrm>
            <a:off x="395288" y="692150"/>
            <a:ext cx="786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Tx/>
              <a:buChar char="•"/>
            </a:pPr>
            <a:r>
              <a:rPr lang="zh-CN" altLang="en-US" sz="2400">
                <a:ea typeface="楷体_GB2312" pitchFamily="49" charset="-122"/>
              </a:rPr>
              <a:t>解空间：排列树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649" y="1677872"/>
            <a:ext cx="3209894" cy="3068972"/>
          </a:xfrm>
          <a:prstGeom prst="rect">
            <a:avLst/>
          </a:prstGeom>
        </p:spPr>
      </p:pic>
      <p:sp>
        <p:nvSpPr>
          <p:cNvPr id="8" name="Text Box 64"/>
          <p:cNvSpPr txBox="1">
            <a:spLocks noChangeArrowheads="1"/>
          </p:cNvSpPr>
          <p:nvPr/>
        </p:nvSpPr>
        <p:spPr bwMode="auto">
          <a:xfrm>
            <a:off x="251408" y="5041900"/>
            <a:ext cx="8588375" cy="15525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这</a:t>
            </a:r>
            <a:r>
              <a:rPr lang="en-US" altLang="zh-CN" sz="2400" dirty="0">
                <a:ea typeface="楷体_GB2312" pitchFamily="49" charset="-122"/>
              </a:rPr>
              <a:t>3</a:t>
            </a:r>
            <a:r>
              <a:rPr lang="zh-CN" altLang="en-US" sz="2400" dirty="0">
                <a:ea typeface="楷体_GB2312" pitchFamily="49" charset="-122"/>
              </a:rPr>
              <a:t>个作业的</a:t>
            </a:r>
            <a:r>
              <a:rPr lang="en-US" altLang="zh-CN" sz="2400" dirty="0">
                <a:ea typeface="楷体_GB2312" pitchFamily="49" charset="-122"/>
              </a:rPr>
              <a:t>6</a:t>
            </a:r>
            <a:r>
              <a:rPr lang="zh-CN" altLang="en-US" sz="2400" dirty="0">
                <a:ea typeface="楷体_GB2312" pitchFamily="49" charset="-122"/>
              </a:rPr>
              <a:t>种可能的调度方案是</a:t>
            </a:r>
            <a:r>
              <a:rPr lang="en-US" altLang="zh-CN" sz="2400" dirty="0">
                <a:ea typeface="楷体_GB2312" pitchFamily="49" charset="-122"/>
              </a:rPr>
              <a:t>1,2,3</a:t>
            </a:r>
            <a:r>
              <a:rPr lang="zh-CN" altLang="en-US" sz="2400" dirty="0">
                <a:ea typeface="楷体_GB2312" pitchFamily="49" charset="-122"/>
              </a:rPr>
              <a:t>；</a:t>
            </a:r>
            <a:r>
              <a:rPr lang="en-US" altLang="zh-CN" sz="2400" dirty="0">
                <a:ea typeface="楷体_GB2312" pitchFamily="49" charset="-122"/>
              </a:rPr>
              <a:t>1,3,2</a:t>
            </a:r>
            <a:r>
              <a:rPr lang="zh-CN" altLang="en-US" sz="2400" dirty="0">
                <a:ea typeface="楷体_GB2312" pitchFamily="49" charset="-122"/>
              </a:rPr>
              <a:t>；</a:t>
            </a:r>
            <a:r>
              <a:rPr lang="en-US" altLang="zh-CN" sz="2400" dirty="0">
                <a:ea typeface="楷体_GB2312" pitchFamily="49" charset="-122"/>
              </a:rPr>
              <a:t>2,1,3</a:t>
            </a:r>
            <a:r>
              <a:rPr lang="zh-CN" altLang="en-US" sz="2400" dirty="0">
                <a:ea typeface="楷体_GB2312" pitchFamily="49" charset="-122"/>
              </a:rPr>
              <a:t>；</a:t>
            </a:r>
            <a:r>
              <a:rPr lang="en-US" altLang="zh-CN" sz="2400" dirty="0">
                <a:ea typeface="楷体_GB2312" pitchFamily="49" charset="-122"/>
              </a:rPr>
              <a:t>2,3,1</a:t>
            </a:r>
            <a:r>
              <a:rPr lang="zh-CN" altLang="en-US" sz="2400" dirty="0">
                <a:ea typeface="楷体_GB2312" pitchFamily="49" charset="-122"/>
              </a:rPr>
              <a:t>；</a:t>
            </a:r>
            <a:r>
              <a:rPr lang="en-US" altLang="zh-CN" sz="2400" dirty="0">
                <a:ea typeface="楷体_GB2312" pitchFamily="49" charset="-122"/>
              </a:rPr>
              <a:t>3,1,2</a:t>
            </a:r>
            <a:r>
              <a:rPr lang="zh-CN" altLang="en-US" sz="2400" dirty="0">
                <a:ea typeface="楷体_GB2312" pitchFamily="49" charset="-122"/>
              </a:rPr>
              <a:t>；</a:t>
            </a:r>
            <a:r>
              <a:rPr lang="en-US" altLang="zh-CN" sz="2400" dirty="0">
                <a:ea typeface="楷体_GB2312" pitchFamily="49" charset="-122"/>
              </a:rPr>
              <a:t>3,2,1</a:t>
            </a:r>
            <a:r>
              <a:rPr lang="zh-CN" altLang="en-US" sz="2400" dirty="0">
                <a:ea typeface="楷体_GB2312" pitchFamily="49" charset="-122"/>
              </a:rPr>
              <a:t>；它们所相应的完成时间和分别是</a:t>
            </a:r>
            <a:r>
              <a:rPr lang="en-US" altLang="zh-CN" sz="2400" dirty="0">
                <a:ea typeface="楷体_GB2312" pitchFamily="49" charset="-122"/>
              </a:rPr>
              <a:t>19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18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20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21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19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19</a:t>
            </a:r>
            <a:r>
              <a:rPr lang="zh-CN" altLang="en-US" sz="2400" dirty="0">
                <a:ea typeface="楷体_GB2312" pitchFamily="49" charset="-122"/>
              </a:rPr>
              <a:t>。易见，最佳调度方案是</a:t>
            </a:r>
            <a:r>
              <a:rPr lang="en-US" altLang="zh-CN" sz="2400" dirty="0">
                <a:ea typeface="楷体_GB2312" pitchFamily="49" charset="-122"/>
              </a:rPr>
              <a:t>1,3,2</a:t>
            </a:r>
            <a:r>
              <a:rPr lang="zh-CN" altLang="en-US" sz="2400" dirty="0">
                <a:ea typeface="楷体_GB2312" pitchFamily="49" charset="-122"/>
              </a:rPr>
              <a:t>，其完成时间和为</a:t>
            </a:r>
            <a:r>
              <a:rPr lang="en-US" altLang="zh-CN" sz="2400" dirty="0">
                <a:ea typeface="楷体_GB2312" pitchFamily="49" charset="-122"/>
              </a:rPr>
              <a:t>18</a:t>
            </a:r>
            <a:r>
              <a:rPr lang="zh-CN" altLang="en-US" sz="2400" dirty="0"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iginal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9900"/>
      </a:accent1>
      <a:accent2>
        <a:srgbClr val="00FFFF"/>
      </a:accent2>
      <a:accent3>
        <a:srgbClr val="FFFF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8ECED"/>
      </a:accent5>
      <a:accent6>
        <a:srgbClr val="2E2E8B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BBE0E3"/>
          </a:solidFill>
          <a:prstDash val="solid"/>
          <a:bevel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BBE0E3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original</Template>
  <TotalTime>2140</TotalTime>
  <Words>1372</Words>
  <Application>Microsoft Office PowerPoint</Application>
  <PresentationFormat>全屏显示(4:3)</PresentationFormat>
  <Paragraphs>159</Paragraphs>
  <Slides>26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Helvetica Neue</vt:lpstr>
      <vt:lpstr>黑体</vt:lpstr>
      <vt:lpstr>楷体_GB2312</vt:lpstr>
      <vt:lpstr>宋体</vt:lpstr>
      <vt:lpstr>Arial</vt:lpstr>
      <vt:lpstr>Arial Black</vt:lpstr>
      <vt:lpstr>Cambria Math</vt:lpstr>
      <vt:lpstr>Symbol</vt:lpstr>
      <vt:lpstr>Times New Roman</vt:lpstr>
      <vt:lpstr>Wingdings</vt:lpstr>
      <vt:lpstr>original</vt:lpstr>
      <vt:lpstr>Equation</vt:lpstr>
      <vt:lpstr>图片</vt:lpstr>
      <vt:lpstr>公式</vt:lpstr>
      <vt:lpstr>Microsoft 公式 3.0</vt:lpstr>
      <vt:lpstr>回溯法</vt:lpstr>
      <vt:lpstr>主要内容</vt:lpstr>
      <vt:lpstr>N皇后问题</vt:lpstr>
      <vt:lpstr>求解过程图示</vt:lpstr>
      <vt:lpstr>PowerPoint 演示文稿</vt:lpstr>
      <vt:lpstr>主要内容</vt:lpstr>
      <vt:lpstr>PowerPoint 演示文稿</vt:lpstr>
      <vt:lpstr>四皇后问题的解空间</vt:lpstr>
      <vt:lpstr>回溯法简介</vt:lpstr>
      <vt:lpstr>PowerPoint 演示文稿</vt:lpstr>
      <vt:lpstr>状态空间树</vt:lpstr>
      <vt:lpstr>PowerPoint 演示文稿</vt:lpstr>
      <vt:lpstr>PowerPoint 演示文稿</vt:lpstr>
      <vt:lpstr>PowerPoint 演示文稿</vt:lpstr>
      <vt:lpstr>PowerPoint 演示文稿</vt:lpstr>
      <vt:lpstr>回溯法的哲学思想</vt:lpstr>
      <vt:lpstr>主要内容</vt:lpstr>
      <vt:lpstr>应用例子</vt:lpstr>
      <vt:lpstr>0-1背包问题</vt:lpstr>
      <vt:lpstr>分支限界（Branch-and-Bound）</vt:lpstr>
      <vt:lpstr>分支限界（Branch-and-Bound）</vt:lpstr>
      <vt:lpstr>0-1背包问题</vt:lpstr>
      <vt:lpstr>例子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回溯法</dc:title>
  <dc:creator>Galaxy</dc:creator>
  <cp:lastModifiedBy>Galaxy</cp:lastModifiedBy>
  <cp:revision>89</cp:revision>
  <dcterms:created xsi:type="dcterms:W3CDTF">2016-09-12T08:33:24Z</dcterms:created>
  <dcterms:modified xsi:type="dcterms:W3CDTF">2025-03-27T09:14:49Z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