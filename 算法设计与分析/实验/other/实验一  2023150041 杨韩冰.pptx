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356" r:id="rId4"/>
    <p:sldId id="393" r:id="rId6"/>
    <p:sldId id="643" r:id="rId7"/>
    <p:sldId id="644" r:id="rId8"/>
    <p:sldId id="709" r:id="rId9"/>
    <p:sldId id="708" r:id="rId10"/>
    <p:sldId id="710" r:id="rId11"/>
    <p:sldId id="711" r:id="rId12"/>
    <p:sldId id="712" r:id="rId13"/>
    <p:sldId id="650" r:id="rId14"/>
    <p:sldId id="713" r:id="rId15"/>
    <p:sldId id="714" r:id="rId16"/>
    <p:sldId id="706" r:id="rId17"/>
    <p:sldId id="716" r:id="rId18"/>
    <p:sldId id="717" r:id="rId19"/>
    <p:sldId id="715" r:id="rId20"/>
    <p:sldId id="718" r:id="rId21"/>
    <p:sldId id="719" r:id="rId22"/>
    <p:sldId id="720" r:id="rId23"/>
    <p:sldId id="725" r:id="rId24"/>
    <p:sldId id="721" r:id="rId25"/>
    <p:sldId id="727" r:id="rId26"/>
    <p:sldId id="722" r:id="rId27"/>
    <p:sldId id="723" r:id="rId28"/>
    <p:sldId id="724" r:id="rId29"/>
  </p:sldIdLst>
  <p:sldSz cx="12192000" cy="6858000"/>
  <p:notesSz cx="6858000" cy="9144000"/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3" Type="http://schemas.openxmlformats.org/officeDocument/2006/relationships/tags" Target="tags/tag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60DEAD-618C-4633-AF9C-459E32DFED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5AB174-820C-4A87-9411-D04EFFC8A73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1487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汇报</a:t>
            </a:r>
            <a:r>
              <a:rPr lang="en-US" altLang="zh-CN" dirty="0"/>
              <a:t>15</a:t>
            </a:r>
            <a:r>
              <a:rPr lang="zh-CN" altLang="en-US" dirty="0"/>
              <a:t>分钟，提问</a:t>
            </a:r>
            <a:r>
              <a:rPr lang="en-US" altLang="zh-CN" dirty="0"/>
              <a:t>10</a:t>
            </a:r>
            <a:r>
              <a:rPr lang="zh-CN" altLang="en-US" dirty="0"/>
              <a:t>分钟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479628-7038-46C5-BFDB-B4D01F73F67E}" type="slidenum">
              <a:rPr lang="ja-JP" altLang="en-US" smtClean="0"/>
            </a:fld>
            <a:endParaRPr lang="ja-JP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8113" y="766763"/>
            <a:ext cx="6821487" cy="3838575"/>
          </a:xfrm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b="1" dirty="0">
              <a:solidFill>
                <a:schemeClr val="tx2"/>
              </a:solidFill>
            </a:endParaRPr>
          </a:p>
        </p:txBody>
      </p:sp>
      <p:sp>
        <p:nvSpPr>
          <p:cNvPr id="56324" name="灯片编号占位符 3"/>
          <p:cNvSpPr txBox="1">
            <a:spLocks noGrp="1"/>
          </p:cNvSpPr>
          <p:nvPr/>
        </p:nvSpPr>
        <p:spPr bwMode="auto">
          <a:xfrm>
            <a:off x="4022937" y="9722882"/>
            <a:ext cx="3076363" cy="5117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9048" tIns="49524" rIns="99048" bIns="49524" anchor="b"/>
          <a:lstStyle/>
          <a:p>
            <a:pPr algn="r"/>
            <a:fld id="{832A61E9-A767-4ED6-A42F-DF9F225EC9C5}" type="slidenum">
              <a:rPr kumimoji="1" lang="zh-CN" altLang="en-US" sz="13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kumimoji="1" lang="en-US" altLang="zh-CN" sz="13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8113" y="766763"/>
            <a:ext cx="6821487" cy="3838575"/>
          </a:xfrm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b="1" dirty="0">
              <a:solidFill>
                <a:schemeClr val="tx2"/>
              </a:solidFill>
            </a:endParaRPr>
          </a:p>
        </p:txBody>
      </p:sp>
      <p:sp>
        <p:nvSpPr>
          <p:cNvPr id="56324" name="灯片编号占位符 3"/>
          <p:cNvSpPr txBox="1">
            <a:spLocks noGrp="1"/>
          </p:cNvSpPr>
          <p:nvPr/>
        </p:nvSpPr>
        <p:spPr bwMode="auto">
          <a:xfrm>
            <a:off x="4022937" y="9722882"/>
            <a:ext cx="3076363" cy="5117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9048" tIns="49524" rIns="99048" bIns="49524" anchor="b"/>
          <a:lstStyle/>
          <a:p>
            <a:pPr algn="r"/>
            <a:fld id="{832A61E9-A767-4ED6-A42F-DF9F225EC9C5}" type="slidenum">
              <a:rPr kumimoji="1" lang="zh-CN" altLang="en-US" sz="13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kumimoji="1" lang="en-US" altLang="zh-CN" sz="13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8113" y="766763"/>
            <a:ext cx="6821487" cy="3838575"/>
          </a:xfrm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b="1" dirty="0">
              <a:solidFill>
                <a:schemeClr val="tx2"/>
              </a:solidFill>
            </a:endParaRPr>
          </a:p>
        </p:txBody>
      </p:sp>
      <p:sp>
        <p:nvSpPr>
          <p:cNvPr id="56324" name="灯片编号占位符 3"/>
          <p:cNvSpPr txBox="1">
            <a:spLocks noGrp="1"/>
          </p:cNvSpPr>
          <p:nvPr/>
        </p:nvSpPr>
        <p:spPr bwMode="auto">
          <a:xfrm>
            <a:off x="4022937" y="9722882"/>
            <a:ext cx="3076363" cy="5117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9048" tIns="49524" rIns="99048" bIns="49524" anchor="b"/>
          <a:lstStyle/>
          <a:p>
            <a:pPr algn="r"/>
            <a:fld id="{832A61E9-A767-4ED6-A42F-DF9F225EC9C5}" type="slidenum">
              <a:rPr kumimoji="1" lang="zh-CN" altLang="en-US" sz="13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kumimoji="1" lang="en-US" altLang="zh-CN" sz="13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8113" y="766763"/>
            <a:ext cx="6821487" cy="3838575"/>
          </a:xfrm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b="1" dirty="0">
              <a:solidFill>
                <a:schemeClr val="tx2"/>
              </a:solidFill>
            </a:endParaRPr>
          </a:p>
        </p:txBody>
      </p:sp>
      <p:sp>
        <p:nvSpPr>
          <p:cNvPr id="56324" name="灯片编号占位符 3"/>
          <p:cNvSpPr txBox="1">
            <a:spLocks noGrp="1"/>
          </p:cNvSpPr>
          <p:nvPr/>
        </p:nvSpPr>
        <p:spPr bwMode="auto">
          <a:xfrm>
            <a:off x="4022937" y="9722882"/>
            <a:ext cx="3076363" cy="5117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9048" tIns="49524" rIns="99048" bIns="49524" anchor="b"/>
          <a:lstStyle/>
          <a:p>
            <a:pPr algn="r"/>
            <a:fld id="{832A61E9-A767-4ED6-A42F-DF9F225EC9C5}" type="slidenum">
              <a:rPr kumimoji="1" lang="zh-CN" altLang="en-US" sz="13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kumimoji="1" lang="en-US" altLang="zh-CN" sz="13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8113" y="766763"/>
            <a:ext cx="6821487" cy="3838575"/>
          </a:xfrm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b="1" dirty="0">
              <a:solidFill>
                <a:schemeClr val="tx2"/>
              </a:solidFill>
            </a:endParaRPr>
          </a:p>
        </p:txBody>
      </p:sp>
      <p:sp>
        <p:nvSpPr>
          <p:cNvPr id="56324" name="灯片编号占位符 3"/>
          <p:cNvSpPr txBox="1">
            <a:spLocks noGrp="1"/>
          </p:cNvSpPr>
          <p:nvPr/>
        </p:nvSpPr>
        <p:spPr bwMode="auto">
          <a:xfrm>
            <a:off x="4022937" y="9722882"/>
            <a:ext cx="3076363" cy="5117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9048" tIns="49524" rIns="99048" bIns="49524" anchor="b"/>
          <a:lstStyle/>
          <a:p>
            <a:pPr algn="r"/>
            <a:fld id="{832A61E9-A767-4ED6-A42F-DF9F225EC9C5}" type="slidenum">
              <a:rPr kumimoji="1" lang="zh-CN" altLang="en-US" sz="13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kumimoji="1" lang="en-US" altLang="zh-CN" sz="13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8113" y="766763"/>
            <a:ext cx="6821487" cy="3838575"/>
          </a:xfrm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b="1" dirty="0">
              <a:solidFill>
                <a:schemeClr val="tx2"/>
              </a:solidFill>
            </a:endParaRPr>
          </a:p>
        </p:txBody>
      </p:sp>
      <p:sp>
        <p:nvSpPr>
          <p:cNvPr id="56324" name="灯片编号占位符 3"/>
          <p:cNvSpPr txBox="1">
            <a:spLocks noGrp="1"/>
          </p:cNvSpPr>
          <p:nvPr/>
        </p:nvSpPr>
        <p:spPr bwMode="auto">
          <a:xfrm>
            <a:off x="4022937" y="9722882"/>
            <a:ext cx="3076363" cy="5117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9048" tIns="49524" rIns="99048" bIns="49524" anchor="b"/>
          <a:lstStyle/>
          <a:p>
            <a:pPr algn="r"/>
            <a:fld id="{832A61E9-A767-4ED6-A42F-DF9F225EC9C5}" type="slidenum">
              <a:rPr kumimoji="1" lang="zh-CN" altLang="en-US" sz="13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kumimoji="1" lang="en-US" altLang="zh-CN" sz="13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8113" y="766763"/>
            <a:ext cx="6821487" cy="3838575"/>
          </a:xfrm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b="1" dirty="0">
              <a:solidFill>
                <a:schemeClr val="tx2"/>
              </a:solidFill>
            </a:endParaRPr>
          </a:p>
        </p:txBody>
      </p:sp>
      <p:sp>
        <p:nvSpPr>
          <p:cNvPr id="56324" name="灯片编号占位符 3"/>
          <p:cNvSpPr txBox="1">
            <a:spLocks noGrp="1"/>
          </p:cNvSpPr>
          <p:nvPr/>
        </p:nvSpPr>
        <p:spPr bwMode="auto">
          <a:xfrm>
            <a:off x="4022937" y="9722882"/>
            <a:ext cx="3076363" cy="5117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9048" tIns="49524" rIns="99048" bIns="49524" anchor="b"/>
          <a:lstStyle/>
          <a:p>
            <a:pPr algn="r"/>
            <a:fld id="{832A61E9-A767-4ED6-A42F-DF9F225EC9C5}" type="slidenum">
              <a:rPr kumimoji="1" lang="zh-CN" altLang="en-US" sz="13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kumimoji="1" lang="en-US" altLang="zh-CN" sz="13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8113" y="766763"/>
            <a:ext cx="6821487" cy="3838575"/>
          </a:xfrm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b="1" dirty="0">
              <a:solidFill>
                <a:schemeClr val="tx2"/>
              </a:solidFill>
            </a:endParaRPr>
          </a:p>
        </p:txBody>
      </p:sp>
      <p:sp>
        <p:nvSpPr>
          <p:cNvPr id="56324" name="灯片编号占位符 3"/>
          <p:cNvSpPr txBox="1">
            <a:spLocks noGrp="1"/>
          </p:cNvSpPr>
          <p:nvPr/>
        </p:nvSpPr>
        <p:spPr bwMode="auto">
          <a:xfrm>
            <a:off x="4022937" y="9722882"/>
            <a:ext cx="3076363" cy="5117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9048" tIns="49524" rIns="99048" bIns="49524" anchor="b"/>
          <a:lstStyle/>
          <a:p>
            <a:pPr algn="r"/>
            <a:fld id="{832A61E9-A767-4ED6-A42F-DF9F225EC9C5}" type="slidenum">
              <a:rPr kumimoji="1" lang="zh-CN" altLang="en-US" sz="13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kumimoji="1" lang="en-US" altLang="zh-CN" sz="13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8113" y="766763"/>
            <a:ext cx="6821487" cy="3838575"/>
          </a:xfrm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b="1" dirty="0">
              <a:solidFill>
                <a:schemeClr val="tx2"/>
              </a:solidFill>
            </a:endParaRPr>
          </a:p>
        </p:txBody>
      </p:sp>
      <p:sp>
        <p:nvSpPr>
          <p:cNvPr id="56324" name="灯片编号占位符 3"/>
          <p:cNvSpPr txBox="1">
            <a:spLocks noGrp="1"/>
          </p:cNvSpPr>
          <p:nvPr/>
        </p:nvSpPr>
        <p:spPr bwMode="auto">
          <a:xfrm>
            <a:off x="4022937" y="9722882"/>
            <a:ext cx="3076363" cy="5117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9048" tIns="49524" rIns="99048" bIns="49524" anchor="b"/>
          <a:lstStyle/>
          <a:p>
            <a:pPr algn="r"/>
            <a:fld id="{832A61E9-A767-4ED6-A42F-DF9F225EC9C5}" type="slidenum">
              <a:rPr kumimoji="1" lang="zh-CN" altLang="en-US" sz="13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kumimoji="1" lang="en-US" altLang="zh-CN" sz="13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8113" y="766763"/>
            <a:ext cx="6821487" cy="3838575"/>
          </a:xfrm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b="1" dirty="0">
              <a:solidFill>
                <a:schemeClr val="tx2"/>
              </a:solidFill>
            </a:endParaRPr>
          </a:p>
        </p:txBody>
      </p:sp>
      <p:sp>
        <p:nvSpPr>
          <p:cNvPr id="56324" name="灯片编号占位符 3"/>
          <p:cNvSpPr txBox="1">
            <a:spLocks noGrp="1"/>
          </p:cNvSpPr>
          <p:nvPr/>
        </p:nvSpPr>
        <p:spPr bwMode="auto">
          <a:xfrm>
            <a:off x="4022937" y="9722882"/>
            <a:ext cx="3076363" cy="5117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9048" tIns="49524" rIns="99048" bIns="49524" anchor="b"/>
          <a:lstStyle/>
          <a:p>
            <a:pPr algn="r"/>
            <a:fld id="{832A61E9-A767-4ED6-A42F-DF9F225EC9C5}" type="slidenum">
              <a:rPr kumimoji="1" lang="zh-CN" altLang="en-US" sz="13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kumimoji="1" lang="en-US" altLang="zh-CN" sz="13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8113" y="766763"/>
            <a:ext cx="6821487" cy="3838575"/>
          </a:xfrm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b="1" dirty="0">
              <a:solidFill>
                <a:schemeClr val="tx2"/>
              </a:solidFill>
            </a:endParaRPr>
          </a:p>
        </p:txBody>
      </p:sp>
      <p:sp>
        <p:nvSpPr>
          <p:cNvPr id="56324" name="灯片编号占位符 3"/>
          <p:cNvSpPr txBox="1">
            <a:spLocks noGrp="1"/>
          </p:cNvSpPr>
          <p:nvPr/>
        </p:nvSpPr>
        <p:spPr bwMode="auto">
          <a:xfrm>
            <a:off x="4022937" y="9722882"/>
            <a:ext cx="3076363" cy="5117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9048" tIns="49524" rIns="99048" bIns="49524" anchor="b"/>
          <a:lstStyle/>
          <a:p>
            <a:pPr algn="r"/>
            <a:fld id="{832A61E9-A767-4ED6-A42F-DF9F225EC9C5}" type="slidenum">
              <a:rPr kumimoji="1" lang="zh-CN" altLang="en-US" sz="13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kumimoji="1" lang="en-US" altLang="zh-CN" sz="13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8113" y="766763"/>
            <a:ext cx="6821487" cy="3838575"/>
          </a:xfrm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b="1" dirty="0">
              <a:solidFill>
                <a:schemeClr val="tx2"/>
              </a:solidFill>
            </a:endParaRPr>
          </a:p>
        </p:txBody>
      </p:sp>
      <p:sp>
        <p:nvSpPr>
          <p:cNvPr id="56324" name="灯片编号占位符 3"/>
          <p:cNvSpPr txBox="1">
            <a:spLocks noGrp="1"/>
          </p:cNvSpPr>
          <p:nvPr/>
        </p:nvSpPr>
        <p:spPr bwMode="auto">
          <a:xfrm>
            <a:off x="4022937" y="9722882"/>
            <a:ext cx="3076363" cy="5117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9048" tIns="49524" rIns="99048" bIns="49524" anchor="b"/>
          <a:lstStyle/>
          <a:p>
            <a:pPr algn="r"/>
            <a:fld id="{832A61E9-A767-4ED6-A42F-DF9F225EC9C5}" type="slidenum">
              <a:rPr kumimoji="1" lang="zh-CN" altLang="en-US" sz="13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kumimoji="1" lang="en-US" altLang="zh-CN" sz="13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8113" y="766763"/>
            <a:ext cx="6821487" cy="3838575"/>
          </a:xfrm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b="1" dirty="0">
              <a:solidFill>
                <a:schemeClr val="tx2"/>
              </a:solidFill>
            </a:endParaRPr>
          </a:p>
        </p:txBody>
      </p:sp>
      <p:sp>
        <p:nvSpPr>
          <p:cNvPr id="56324" name="灯片编号占位符 3"/>
          <p:cNvSpPr txBox="1">
            <a:spLocks noGrp="1"/>
          </p:cNvSpPr>
          <p:nvPr/>
        </p:nvSpPr>
        <p:spPr bwMode="auto">
          <a:xfrm>
            <a:off x="4022937" y="9722882"/>
            <a:ext cx="3076363" cy="5117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9048" tIns="49524" rIns="99048" bIns="49524" anchor="b"/>
          <a:lstStyle/>
          <a:p>
            <a:pPr algn="r"/>
            <a:fld id="{832A61E9-A767-4ED6-A42F-DF9F225EC9C5}" type="slidenum">
              <a:rPr kumimoji="1" lang="zh-CN" altLang="en-US" sz="13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kumimoji="1" lang="en-US" altLang="zh-CN" sz="13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8113" y="766763"/>
            <a:ext cx="6821487" cy="3838575"/>
          </a:xfrm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b="1" dirty="0">
              <a:solidFill>
                <a:schemeClr val="tx2"/>
              </a:solidFill>
            </a:endParaRPr>
          </a:p>
        </p:txBody>
      </p:sp>
      <p:sp>
        <p:nvSpPr>
          <p:cNvPr id="56324" name="灯片编号占位符 3"/>
          <p:cNvSpPr txBox="1">
            <a:spLocks noGrp="1"/>
          </p:cNvSpPr>
          <p:nvPr/>
        </p:nvSpPr>
        <p:spPr bwMode="auto">
          <a:xfrm>
            <a:off x="4022937" y="9722882"/>
            <a:ext cx="3076363" cy="5117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9048" tIns="49524" rIns="99048" bIns="49524" anchor="b"/>
          <a:lstStyle/>
          <a:p>
            <a:pPr algn="r"/>
            <a:fld id="{832A61E9-A767-4ED6-A42F-DF9F225EC9C5}" type="slidenum">
              <a:rPr kumimoji="1" lang="zh-CN" altLang="en-US" sz="13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kumimoji="1" lang="en-US" altLang="zh-CN" sz="13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8113" y="766763"/>
            <a:ext cx="6821487" cy="3838575"/>
          </a:xfrm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b="1" dirty="0">
              <a:solidFill>
                <a:schemeClr val="tx2"/>
              </a:solidFill>
            </a:endParaRPr>
          </a:p>
        </p:txBody>
      </p:sp>
      <p:sp>
        <p:nvSpPr>
          <p:cNvPr id="56324" name="灯片编号占位符 3"/>
          <p:cNvSpPr txBox="1">
            <a:spLocks noGrp="1"/>
          </p:cNvSpPr>
          <p:nvPr/>
        </p:nvSpPr>
        <p:spPr bwMode="auto">
          <a:xfrm>
            <a:off x="4022937" y="9722882"/>
            <a:ext cx="3076363" cy="5117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9048" tIns="49524" rIns="99048" bIns="49524" anchor="b"/>
          <a:lstStyle/>
          <a:p>
            <a:pPr algn="r"/>
            <a:fld id="{832A61E9-A767-4ED6-A42F-DF9F225EC9C5}" type="slidenum">
              <a:rPr kumimoji="1" lang="zh-CN" altLang="en-US" sz="13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kumimoji="1" lang="en-US" altLang="zh-CN" sz="13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8113" y="766763"/>
            <a:ext cx="6821487" cy="3838575"/>
          </a:xfrm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b="1" dirty="0">
              <a:solidFill>
                <a:schemeClr val="tx2"/>
              </a:solidFill>
            </a:endParaRPr>
          </a:p>
        </p:txBody>
      </p:sp>
      <p:sp>
        <p:nvSpPr>
          <p:cNvPr id="56324" name="灯片编号占位符 3"/>
          <p:cNvSpPr txBox="1">
            <a:spLocks noGrp="1"/>
          </p:cNvSpPr>
          <p:nvPr/>
        </p:nvSpPr>
        <p:spPr bwMode="auto">
          <a:xfrm>
            <a:off x="4022937" y="9722882"/>
            <a:ext cx="3076363" cy="5117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9048" tIns="49524" rIns="99048" bIns="49524" anchor="b"/>
          <a:lstStyle/>
          <a:p>
            <a:pPr algn="r"/>
            <a:fld id="{832A61E9-A767-4ED6-A42F-DF9F225EC9C5}" type="slidenum">
              <a:rPr kumimoji="1" lang="zh-CN" altLang="en-US" sz="13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kumimoji="1" lang="en-US" altLang="zh-CN" sz="13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8113" y="766763"/>
            <a:ext cx="6821487" cy="3838575"/>
          </a:xfrm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b="1" dirty="0">
              <a:solidFill>
                <a:schemeClr val="tx2"/>
              </a:solidFill>
            </a:endParaRPr>
          </a:p>
        </p:txBody>
      </p:sp>
      <p:sp>
        <p:nvSpPr>
          <p:cNvPr id="56324" name="灯片编号占位符 3"/>
          <p:cNvSpPr txBox="1">
            <a:spLocks noGrp="1"/>
          </p:cNvSpPr>
          <p:nvPr/>
        </p:nvSpPr>
        <p:spPr bwMode="auto">
          <a:xfrm>
            <a:off x="4022937" y="9722882"/>
            <a:ext cx="3076363" cy="5117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9048" tIns="49524" rIns="99048" bIns="49524" anchor="b"/>
          <a:lstStyle/>
          <a:p>
            <a:pPr algn="r"/>
            <a:fld id="{832A61E9-A767-4ED6-A42F-DF9F225EC9C5}" type="slidenum">
              <a:rPr kumimoji="1" lang="zh-CN" altLang="en-US" sz="13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kumimoji="1" lang="en-US" altLang="zh-CN" sz="13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8113" y="766763"/>
            <a:ext cx="6821487" cy="3838575"/>
          </a:xfrm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b="1" dirty="0">
              <a:solidFill>
                <a:schemeClr val="tx2"/>
              </a:solidFill>
            </a:endParaRPr>
          </a:p>
        </p:txBody>
      </p:sp>
      <p:sp>
        <p:nvSpPr>
          <p:cNvPr id="56324" name="灯片编号占位符 3"/>
          <p:cNvSpPr txBox="1">
            <a:spLocks noGrp="1"/>
          </p:cNvSpPr>
          <p:nvPr/>
        </p:nvSpPr>
        <p:spPr bwMode="auto">
          <a:xfrm>
            <a:off x="4022937" y="9722882"/>
            <a:ext cx="3076363" cy="5117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9048" tIns="49524" rIns="99048" bIns="49524" anchor="b"/>
          <a:lstStyle/>
          <a:p>
            <a:pPr algn="r"/>
            <a:fld id="{832A61E9-A767-4ED6-A42F-DF9F225EC9C5}" type="slidenum">
              <a:rPr kumimoji="1" lang="zh-CN" altLang="en-US" sz="13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kumimoji="1" lang="en-US" altLang="zh-CN" sz="13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8113" y="766763"/>
            <a:ext cx="6821487" cy="3838575"/>
          </a:xfrm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b="1" dirty="0">
              <a:solidFill>
                <a:schemeClr val="tx2"/>
              </a:solidFill>
            </a:endParaRPr>
          </a:p>
        </p:txBody>
      </p:sp>
      <p:sp>
        <p:nvSpPr>
          <p:cNvPr id="56324" name="灯片编号占位符 3"/>
          <p:cNvSpPr txBox="1">
            <a:spLocks noGrp="1"/>
          </p:cNvSpPr>
          <p:nvPr/>
        </p:nvSpPr>
        <p:spPr bwMode="auto">
          <a:xfrm>
            <a:off x="4022937" y="9722882"/>
            <a:ext cx="3076363" cy="5117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9048" tIns="49524" rIns="99048" bIns="49524" anchor="b"/>
          <a:lstStyle/>
          <a:p>
            <a:pPr algn="r"/>
            <a:fld id="{832A61E9-A767-4ED6-A42F-DF9F225EC9C5}" type="slidenum">
              <a:rPr kumimoji="1" lang="zh-CN" altLang="en-US" sz="13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kumimoji="1" lang="en-US" altLang="zh-CN" sz="13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8113" y="766763"/>
            <a:ext cx="6821487" cy="3838575"/>
          </a:xfrm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b="1" dirty="0">
              <a:solidFill>
                <a:schemeClr val="tx2"/>
              </a:solidFill>
            </a:endParaRPr>
          </a:p>
        </p:txBody>
      </p:sp>
      <p:sp>
        <p:nvSpPr>
          <p:cNvPr id="56324" name="灯片编号占位符 3"/>
          <p:cNvSpPr txBox="1">
            <a:spLocks noGrp="1"/>
          </p:cNvSpPr>
          <p:nvPr/>
        </p:nvSpPr>
        <p:spPr bwMode="auto">
          <a:xfrm>
            <a:off x="4022937" y="9722882"/>
            <a:ext cx="3076363" cy="5117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9048" tIns="49524" rIns="99048" bIns="49524" anchor="b"/>
          <a:lstStyle/>
          <a:p>
            <a:pPr algn="r"/>
            <a:fld id="{832A61E9-A767-4ED6-A42F-DF9F225EC9C5}" type="slidenum">
              <a:rPr kumimoji="1" lang="zh-CN" altLang="en-US" sz="13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kumimoji="1" lang="en-US" altLang="zh-CN" sz="13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1487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汇报</a:t>
            </a:r>
            <a:r>
              <a:rPr lang="en-US" altLang="zh-CN" dirty="0"/>
              <a:t>15</a:t>
            </a:r>
            <a:r>
              <a:rPr lang="zh-CN" altLang="en-US" dirty="0"/>
              <a:t>分钟，提问</a:t>
            </a:r>
            <a:r>
              <a:rPr lang="en-US" altLang="zh-CN" dirty="0"/>
              <a:t>10</a:t>
            </a:r>
            <a:r>
              <a:rPr lang="zh-CN" altLang="en-US" dirty="0"/>
              <a:t>分钟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479628-7038-46C5-BFDB-B4D01F73F67E}" type="slidenum">
              <a:rPr lang="ja-JP" altLang="en-US" smtClean="0"/>
            </a:fld>
            <a:endParaRPr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6984-95FF-4105-9E1C-DCBB0D3854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69229-0799-419F-86AD-224F22BFB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6984-95FF-4105-9E1C-DCBB0D3854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69229-0799-419F-86AD-224F22BFB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6984-95FF-4105-9E1C-DCBB0D3854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69229-0799-419F-86AD-224F22BFB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6984-95FF-4105-9E1C-DCBB0D3854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69229-0799-419F-86AD-224F22BFB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6984-95FF-4105-9E1C-DCBB0D3854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69229-0799-419F-86AD-224F22BFB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6984-95FF-4105-9E1C-DCBB0D3854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69229-0799-419F-86AD-224F22BFB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6984-95FF-4105-9E1C-DCBB0D3854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69229-0799-419F-86AD-224F22BFB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6984-95FF-4105-9E1C-DCBB0D3854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69229-0799-419F-86AD-224F22BFB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6984-95FF-4105-9E1C-DCBB0D3854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69229-0799-419F-86AD-224F22BFB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6984-95FF-4105-9E1C-DCBB0D3854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69229-0799-419F-86AD-224F22BFB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6984-95FF-4105-9E1C-DCBB0D3854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69229-0799-419F-86AD-224F22BFB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6984-95FF-4105-9E1C-DCBB0D3854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69229-0799-419F-86AD-224F22BFB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6984-95FF-4105-9E1C-DCBB0D3854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69229-0799-419F-86AD-224F22BFB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6984-95FF-4105-9E1C-DCBB0D3854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69229-0799-419F-86AD-224F22BFB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6984-95FF-4105-9E1C-DCBB0D3854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69229-0799-419F-86AD-224F22BFB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6984-95FF-4105-9E1C-DCBB0D3854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69229-0799-419F-86AD-224F22BFB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6984-95FF-4105-9E1C-DCBB0D3854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69229-0799-419F-86AD-224F22BFB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6984-95FF-4105-9E1C-DCBB0D3854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69229-0799-419F-86AD-224F22BFB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6984-95FF-4105-9E1C-DCBB0D3854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69229-0799-419F-86AD-224F22BFB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6984-95FF-4105-9E1C-DCBB0D3854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69229-0799-419F-86AD-224F22BFB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6984-95FF-4105-9E1C-DCBB0D3854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69229-0799-419F-86AD-224F22BFB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6984-95FF-4105-9E1C-DCBB0D3854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69229-0799-419F-86AD-224F22BFB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116984-95FF-4105-9E1C-DCBB0D3854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E69229-0799-419F-86AD-224F22BFB1E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116984-95FF-4105-9E1C-DCBB0D3854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E69229-0799-419F-86AD-224F22BFB1E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9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9.xml"/><Relationship Id="rId5" Type="http://schemas.openxmlformats.org/officeDocument/2006/relationships/image" Target="../media/image8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9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9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9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9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19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19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19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19.xml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34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35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 idx="4294967295"/>
          </p:nvPr>
        </p:nvSpPr>
        <p:spPr>
          <a:xfrm>
            <a:off x="1703512" y="2247008"/>
            <a:ext cx="8964488" cy="1470025"/>
          </a:xfrm>
        </p:spPr>
        <p:txBody>
          <a:bodyPr>
            <a:normAutofit/>
          </a:bodyPr>
          <a:lstStyle/>
          <a:p>
            <a:pPr algn="ctr"/>
            <a:r>
              <a:rPr lang="zh-CN" altLang="en-US" sz="3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en-US" altLang="zh-CN" sz="3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：排序算法性能分析</a:t>
            </a:r>
            <a:endParaRPr lang="en-US" altLang="zh-CN" sz="3600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Picture 9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431664"/>
            <a:ext cx="9144000" cy="213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1937" y="5715700"/>
            <a:ext cx="2361905" cy="800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7427"/>
            <a:ext cx="9144001" cy="2248671"/>
          </a:xfrm>
          <a:prstGeom prst="rect">
            <a:avLst/>
          </a:prstGeom>
        </p:spPr>
      </p:pic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C22DE-872A-4FED-AB0B-502B88775D0D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762875" y="4967605"/>
            <a:ext cx="33915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报告人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：杨韩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冰</a:t>
            </a:r>
            <a:endParaRPr lang="zh-CN" altLang="en-US" sz="2400" b="1" dirty="0" smtClean="0">
              <a:solidFill>
                <a:srgbClr val="FF0000"/>
              </a:solidFill>
            </a:endParaRPr>
          </a:p>
          <a:p>
            <a:r>
              <a:rPr lang="zh-CN" altLang="en-US" sz="2400" b="1" dirty="0" smtClean="0">
                <a:solidFill>
                  <a:srgbClr val="FF0000"/>
                </a:solidFill>
              </a:rPr>
              <a:t>日期：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2025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年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3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月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7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号</a:t>
            </a:r>
            <a:endParaRPr lang="zh-CN" altLang="en-US" sz="2400" b="1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034"/>
    </mc:Choice>
    <mc:Fallback>
      <p:transition spd="slow" advTm="2303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5286789" y="2778774"/>
            <a:ext cx="387798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 algn="ctr"/>
            <a:r>
              <a:rPr lang="zh-CN" altLang="en-US" sz="1400" b="1" dirty="0">
                <a:solidFill>
                  <a:srgbClr val="080808"/>
                </a:solidFill>
                <a:latin typeface="+mj-ea"/>
                <a:ea typeface="+mj-ea"/>
              </a:rPr>
              <a:t> </a:t>
            </a:r>
            <a:r>
              <a:rPr lang="en-US" altLang="zh-CN" sz="2800" b="1" dirty="0">
                <a:solidFill>
                  <a:srgbClr val="080808"/>
                </a:solidFill>
                <a:latin typeface="+mj-ea"/>
                <a:ea typeface="+mj-ea"/>
              </a:rPr>
              <a:t>SECTION 1</a:t>
            </a:r>
            <a:endParaRPr lang="en-US" altLang="zh-CN" sz="2800" b="1" dirty="0">
              <a:solidFill>
                <a:srgbClr val="080808"/>
              </a:solidFill>
              <a:latin typeface="+mj-ea"/>
              <a:ea typeface="+mj-ea"/>
            </a:endParaRPr>
          </a:p>
          <a:p>
            <a:pPr marL="0" lvl="1" algn="ctr"/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排序算法性能分析</a:t>
            </a:r>
            <a:endParaRPr lang="en-US" altLang="zh-CN" sz="3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flipV="1">
            <a:off x="5159896" y="2492896"/>
            <a:ext cx="0" cy="1924424"/>
          </a:xfrm>
          <a:prstGeom prst="line">
            <a:avLst/>
          </a:prstGeom>
          <a:ln w="12700">
            <a:solidFill>
              <a:srgbClr val="08080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841896" y="4086982"/>
            <a:ext cx="90284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600" dirty="0">
                <a:solidFill>
                  <a:srgbClr val="080808"/>
                </a:solidFill>
                <a:latin typeface="+mj-ea"/>
                <a:ea typeface="+mj-ea"/>
              </a:rPr>
              <a:t>PART 01</a:t>
            </a:r>
            <a:endParaRPr lang="zh-CN" altLang="en-US" sz="1600" dirty="0">
              <a:solidFill>
                <a:srgbClr val="080808"/>
              </a:solidFill>
              <a:latin typeface="+mj-ea"/>
              <a:ea typeface="+mj-ea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647730" y="2564908"/>
            <a:ext cx="1197175" cy="1197175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8" name="同心圆 1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+mj-ea"/>
                <a:ea typeface="+mj-ea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75" name="TextBox 13"/>
          <p:cNvSpPr txBox="1"/>
          <p:nvPr/>
        </p:nvSpPr>
        <p:spPr>
          <a:xfrm>
            <a:off x="3868338" y="2778774"/>
            <a:ext cx="902846" cy="7694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+mj-ea"/>
                <a:ea typeface="+mj-ea"/>
              </a:rPr>
              <a:t>01</a:t>
            </a:r>
            <a:endParaRPr lang="zh-CN" altLang="en-US" sz="5000" b="1" dirty="0">
              <a:solidFill>
                <a:srgbClr val="C00000"/>
              </a:solidFill>
              <a:latin typeface="+mj-ea"/>
              <a:ea typeface="+mj-ea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3822" y="87720"/>
            <a:ext cx="2361905" cy="8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7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1919537" y="188641"/>
            <a:ext cx="38779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排序算法性能分析</a:t>
            </a:r>
            <a:endParaRPr lang="zh-CN" altLang="en-US" sz="36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3" name="Picture 9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68220"/>
            <a:ext cx="9144000" cy="213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图片 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822" y="87720"/>
            <a:ext cx="2361905" cy="800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24000" y="1219200"/>
            <a:ext cx="39814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1</a:t>
            </a:r>
            <a:r>
              <a:rPr lang="zh-CN" altLang="en-US" sz="3200" b="1" dirty="0">
                <a:solidFill>
                  <a:srgbClr val="FF0000"/>
                </a:solidFill>
              </a:rPr>
              <a:t>、插入排序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pic>
        <p:nvPicPr>
          <p:cNvPr id="-2147482619" name="图片 -2147482620" descr="c1b46129d0de8cb198d8c0588140acf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6730" y="1219200"/>
            <a:ext cx="4475480" cy="54273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2395" y="2679065"/>
            <a:ext cx="5283200" cy="2120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1919537" y="188641"/>
            <a:ext cx="38779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排序算法性能分析</a:t>
            </a:r>
            <a:endParaRPr lang="zh-CN" altLang="en-US" sz="36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3" name="Picture 9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68220"/>
            <a:ext cx="9144000" cy="213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图片 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822" y="87720"/>
            <a:ext cx="2361905" cy="800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24000" y="1219200"/>
            <a:ext cx="39814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1</a:t>
            </a:r>
            <a:r>
              <a:rPr lang="zh-CN" altLang="en-US" sz="3200" b="1" dirty="0">
                <a:solidFill>
                  <a:srgbClr val="FF0000"/>
                </a:solidFill>
              </a:rPr>
              <a:t>、插入排序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524000" y="1962150"/>
            <a:ext cx="299085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算法复杂度：</a:t>
            </a:r>
            <a:endParaRPr lang="en-US" altLang="zh-CN" sz="2400" b="1" dirty="0"/>
          </a:p>
          <a:p>
            <a:endParaRPr lang="en-US" altLang="zh-CN" sz="2400" b="1" dirty="0"/>
          </a:p>
          <a:p>
            <a:r>
              <a:rPr lang="zh-CN" altLang="en-US" sz="2000" b="1" dirty="0"/>
              <a:t>空间复杂度：</a:t>
            </a:r>
            <a:r>
              <a:rPr lang="en-US" altLang="zh-CN" sz="2000" b="1" dirty="0"/>
              <a:t>O(1)</a:t>
            </a:r>
            <a:endParaRPr lang="en-US" altLang="zh-CN" sz="2000" b="1" dirty="0"/>
          </a:p>
          <a:p>
            <a:r>
              <a:rPr lang="zh-CN" altLang="en-US" sz="2000" b="1" dirty="0"/>
              <a:t>最坏时间复杂度：</a:t>
            </a:r>
            <a:r>
              <a:rPr lang="en-US" altLang="zh-CN" sz="2000" b="1" dirty="0"/>
              <a:t>O(n^2)</a:t>
            </a:r>
            <a:endParaRPr lang="en-US" altLang="zh-CN" sz="2000" b="1" dirty="0"/>
          </a:p>
          <a:p>
            <a:r>
              <a:rPr lang="zh-CN" altLang="en-US" sz="2000" b="1" dirty="0"/>
              <a:t>最好时间复杂度：</a:t>
            </a:r>
            <a:r>
              <a:rPr lang="en-US" altLang="zh-CN" sz="2000" b="1" dirty="0"/>
              <a:t>O(n)</a:t>
            </a:r>
            <a:endParaRPr lang="en-US" altLang="zh-CN" sz="2000" b="1" dirty="0"/>
          </a:p>
          <a:p>
            <a:r>
              <a:rPr lang="zh-CN" altLang="en-US" sz="2000" b="1" dirty="0"/>
              <a:t>平均时间复杂度：</a:t>
            </a:r>
            <a:r>
              <a:rPr lang="en-US" altLang="zh-CN" sz="2000" b="1" dirty="0"/>
              <a:t>O(n^2)</a:t>
            </a:r>
            <a:endParaRPr lang="en-US" altLang="zh-CN" sz="2000" b="1" dirty="0"/>
          </a:p>
        </p:txBody>
      </p:sp>
      <p:pic>
        <p:nvPicPr>
          <p:cNvPr id="-2147482600" name="图片 -2147482601" descr="48ae6bcc69f57dfe175b69ad98abc36"/>
          <p:cNvPicPr>
            <a:picLocks noChangeAspect="1"/>
          </p:cNvPicPr>
          <p:nvPr/>
        </p:nvPicPr>
        <p:blipFill>
          <a:blip r:embed="rId3"/>
          <a:srcRect t="17722"/>
          <a:stretch>
            <a:fillRect/>
          </a:stretch>
        </p:blipFill>
        <p:spPr>
          <a:xfrm>
            <a:off x="6340475" y="1301115"/>
            <a:ext cx="5008245" cy="11842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-2147482599" name="图片 -2147482600" descr="28bf769b987f1f4fbbb3aef18be447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5255" y="2705100"/>
            <a:ext cx="4718685" cy="381571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615" y="4325620"/>
            <a:ext cx="5283200" cy="2120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1919537" y="188641"/>
            <a:ext cx="38779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排序算法性能分析</a:t>
            </a:r>
            <a:endParaRPr lang="zh-CN" altLang="en-US" sz="36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3" name="Picture 9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68220"/>
            <a:ext cx="9144000" cy="213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图片 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822" y="87720"/>
            <a:ext cx="2361905" cy="800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24000" y="1219200"/>
            <a:ext cx="39814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2</a:t>
            </a:r>
            <a:r>
              <a:rPr lang="zh-CN" altLang="en-US" sz="3200" b="1" dirty="0">
                <a:solidFill>
                  <a:srgbClr val="FF0000"/>
                </a:solidFill>
              </a:rPr>
              <a:t>、冒泡排序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930" y="2332355"/>
            <a:ext cx="6038850" cy="1816100"/>
          </a:xfrm>
          <a:prstGeom prst="rect">
            <a:avLst/>
          </a:prstGeom>
        </p:spPr>
      </p:pic>
      <p:pic>
        <p:nvPicPr>
          <p:cNvPr id="-2147482618" name="图片 -2147482619" descr="8b758a0e2ea4fe0535dc0ae586b17f2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660" y="1940560"/>
            <a:ext cx="4446905" cy="4737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1919537" y="188641"/>
            <a:ext cx="38779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排序算法性能分析</a:t>
            </a:r>
            <a:endParaRPr lang="zh-CN" altLang="en-US" sz="36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3" name="Picture 9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68220"/>
            <a:ext cx="9144000" cy="213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图片 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822" y="87720"/>
            <a:ext cx="2361905" cy="800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24000" y="1219200"/>
            <a:ext cx="39814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2</a:t>
            </a:r>
            <a:r>
              <a:rPr lang="zh-CN" altLang="en-US" sz="3200" b="1" dirty="0">
                <a:solidFill>
                  <a:srgbClr val="FF0000"/>
                </a:solidFill>
              </a:rPr>
              <a:t>、冒泡排序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84630" y="1940560"/>
            <a:ext cx="2990850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算法复杂度：</a:t>
            </a:r>
            <a:endParaRPr lang="en-US" altLang="zh-CN" sz="2400" b="1" dirty="0"/>
          </a:p>
          <a:p>
            <a:r>
              <a:rPr lang="en-US" altLang="zh-CN" sz="2400" b="1" dirty="0"/>
              <a:t>T(n)=0.5*(n-1)*n</a:t>
            </a:r>
            <a:endParaRPr lang="en-US" altLang="zh-CN" sz="2400" b="1" dirty="0"/>
          </a:p>
          <a:p>
            <a:r>
              <a:rPr lang="zh-CN" altLang="en-US" sz="2000" b="1" dirty="0"/>
              <a:t>空间复杂度：</a:t>
            </a:r>
            <a:r>
              <a:rPr lang="en-US" altLang="zh-CN" sz="2000" b="1" dirty="0"/>
              <a:t>O(1)</a:t>
            </a:r>
            <a:endParaRPr lang="en-US" altLang="zh-CN" sz="2000" b="1" dirty="0"/>
          </a:p>
          <a:p>
            <a:r>
              <a:rPr lang="zh-CN" altLang="en-US" sz="2000" b="1" dirty="0"/>
              <a:t>最坏时间复杂度：</a:t>
            </a:r>
            <a:r>
              <a:rPr lang="en-US" altLang="zh-CN" sz="2000" b="1" dirty="0"/>
              <a:t>O(n^2)</a:t>
            </a:r>
            <a:endParaRPr lang="en-US" altLang="zh-CN" sz="2000" b="1" dirty="0"/>
          </a:p>
          <a:p>
            <a:r>
              <a:rPr lang="zh-CN" altLang="en-US" sz="2000" b="1" dirty="0"/>
              <a:t>最好时间复杂度：</a:t>
            </a:r>
            <a:r>
              <a:rPr lang="en-US" altLang="zh-CN" sz="2000" b="1" dirty="0"/>
              <a:t>O(n)</a:t>
            </a:r>
            <a:endParaRPr lang="en-US" altLang="zh-CN" sz="2000" b="1" dirty="0"/>
          </a:p>
          <a:p>
            <a:r>
              <a:rPr lang="zh-CN" altLang="en-US" sz="2000" b="1" dirty="0"/>
              <a:t>平均时间复杂度：</a:t>
            </a:r>
            <a:r>
              <a:rPr lang="en-US" altLang="zh-CN" sz="2000" b="1" dirty="0"/>
              <a:t>O(n^2)</a:t>
            </a:r>
            <a:endParaRPr lang="en-US" altLang="zh-CN" sz="2000" b="1" dirty="0"/>
          </a:p>
        </p:txBody>
      </p:sp>
      <p:pic>
        <p:nvPicPr>
          <p:cNvPr id="-2147482597" name="图片 -2147482598" descr="3d50714ff0ecae8817f7229d3ba3018"/>
          <p:cNvPicPr>
            <a:picLocks noChangeAspect="1"/>
          </p:cNvPicPr>
          <p:nvPr/>
        </p:nvPicPr>
        <p:blipFill>
          <a:blip r:embed="rId3"/>
          <a:srcRect t="18964"/>
          <a:stretch>
            <a:fillRect/>
          </a:stretch>
        </p:blipFill>
        <p:spPr>
          <a:xfrm>
            <a:off x="5149215" y="1296670"/>
            <a:ext cx="5691505" cy="132905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-2147482598" name="图片 -2147482599" descr="9d9b2060492e7aef87a7f86865cdeb9"/>
          <p:cNvPicPr>
            <a:picLocks noChangeAspect="1"/>
          </p:cNvPicPr>
          <p:nvPr/>
        </p:nvPicPr>
        <p:blipFill>
          <a:blip r:embed="rId4"/>
          <a:srcRect l="424"/>
          <a:stretch>
            <a:fillRect/>
          </a:stretch>
        </p:blipFill>
        <p:spPr>
          <a:xfrm>
            <a:off x="6753860" y="2937510"/>
            <a:ext cx="4185920" cy="33934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935" y="4514850"/>
            <a:ext cx="6038215" cy="1816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1919537" y="188641"/>
            <a:ext cx="38779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排序算法性能分析</a:t>
            </a:r>
            <a:endParaRPr lang="zh-CN" altLang="en-US" sz="36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3" name="Picture 9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68220"/>
            <a:ext cx="9144000" cy="213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图片 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822" y="87720"/>
            <a:ext cx="2361905" cy="800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24000" y="1219200"/>
            <a:ext cx="39814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3</a:t>
            </a:r>
            <a:r>
              <a:rPr lang="zh-CN" altLang="en-US" sz="3200" b="1" dirty="0">
                <a:solidFill>
                  <a:srgbClr val="FF0000"/>
                </a:solidFill>
              </a:rPr>
              <a:t>、选择排序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pic>
        <p:nvPicPr>
          <p:cNvPr id="-2147482614" name="图片 -2147482615" descr="1cd0f111e766c89bdaf9180d1ec8959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350" y="1940560"/>
            <a:ext cx="4165600" cy="44373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0" name="文本框 99"/>
          <p:cNvSpPr txBox="1"/>
          <p:nvPr/>
        </p:nvSpPr>
        <p:spPr>
          <a:xfrm>
            <a:off x="5969635" y="2240280"/>
            <a:ext cx="5568950" cy="36925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en-US" sz="1200" b="0">
                <a:latin typeface="宋体" panose="02010600030101010101" pitchFamily="2" charset="-122"/>
              </a:rPr>
              <a:t>Select_sort(arr)  n = arr.length    </a:t>
            </a:r>
            <a:r>
              <a:rPr lang="zh-CN" sz="1200" b="0">
                <a:ea typeface="宋体" panose="02010600030101010101" pitchFamily="2" charset="-122"/>
              </a:rPr>
              <a:t>// 外层循环：遍历数组，逐个选择最小值并放到正确位置</a:t>
            </a:r>
            <a:r>
              <a:rPr lang="en-US" sz="1200" b="0">
                <a:latin typeface="宋体" panose="02010600030101010101" pitchFamily="2" charset="-122"/>
              </a:rPr>
              <a:t>for i = 0 to n-2   </a:t>
            </a:r>
            <a:r>
              <a:rPr lang="en-US" sz="1200" b="0">
                <a:latin typeface="宋体" panose="02010600030101010101" pitchFamily="2" charset="-122"/>
                <a:cs typeface="Times New Roman" panose="02020603050405020304" pitchFamily="18" charset="0"/>
              </a:rPr>
              <a:t>    </a:t>
            </a:r>
            <a:r>
              <a:rPr lang="zh-CN" sz="1200" b="0">
                <a:ea typeface="宋体" panose="02010600030101010101" pitchFamily="2" charset="-122"/>
              </a:rPr>
              <a:t>Min = 1e9    // 假设当前最小值为一个很大的数</a:t>
            </a:r>
            <a:r>
              <a:rPr lang="en-US" sz="1200" b="0">
                <a:latin typeface="宋体" panose="02010600030101010101" pitchFamily="2" charset="-122"/>
                <a:cs typeface="Times New Roman" panose="02020603050405020304" pitchFamily="18" charset="0"/>
              </a:rPr>
              <a:t>    </a:t>
            </a:r>
            <a:r>
              <a:rPr lang="zh-CN" sz="1200" b="0">
                <a:ea typeface="宋体" panose="02010600030101010101" pitchFamily="2" charset="-122"/>
              </a:rPr>
              <a:t>// 内层循环：查找剩余部分的最小值</a:t>
            </a:r>
            <a:r>
              <a:rPr lang="en-US" sz="1200" b="0">
                <a:latin typeface="宋体" panose="02010600030101010101" pitchFamily="2" charset="-122"/>
                <a:cs typeface="Times New Roman" panose="02020603050405020304" pitchFamily="18" charset="0"/>
              </a:rPr>
              <a:t>    </a:t>
            </a:r>
            <a:r>
              <a:rPr lang="en-US" sz="1200" b="0">
                <a:latin typeface="宋体" panose="02010600030101010101" pitchFamily="2" charset="-122"/>
              </a:rPr>
              <a:t>for j = i+1 to n-1</a:t>
            </a:r>
            <a:r>
              <a:rPr lang="en-US" sz="1200" b="0">
                <a:latin typeface="宋体" panose="02010600030101010101" pitchFamily="2" charset="-122"/>
                <a:cs typeface="Times New Roman" panose="02020603050405020304" pitchFamily="18" charset="0"/>
              </a:rPr>
              <a:t>        </a:t>
            </a:r>
            <a:r>
              <a:rPr lang="zh-CN" sz="1200" b="0">
                <a:ea typeface="宋体" panose="02010600030101010101" pitchFamily="2" charset="-122"/>
              </a:rPr>
              <a:t>if Min &gt; arr[j] then   // 找到更小的元素</a:t>
            </a:r>
            <a:r>
              <a:rPr lang="en-US" sz="1200" b="0">
                <a:latin typeface="宋体" panose="02010600030101010101" pitchFamily="2" charset="-122"/>
                <a:cs typeface="Times New Roman" panose="02020603050405020304" pitchFamily="18" charset="0"/>
              </a:rPr>
              <a:t>            </a:t>
            </a:r>
            <a:r>
              <a:rPr lang="zh-CN" sz="1200" b="0">
                <a:ea typeface="宋体" panose="02010600030101010101" pitchFamily="2" charset="-122"/>
              </a:rPr>
              <a:t>Min = arr[j]       // 更新最小值</a:t>
            </a:r>
            <a:r>
              <a:rPr lang="en-US" sz="1200" b="0">
                <a:latin typeface="宋体" panose="02010600030101010101" pitchFamily="2" charset="-122"/>
                <a:cs typeface="Times New Roman" panose="02020603050405020304" pitchFamily="18" charset="0"/>
              </a:rPr>
              <a:t>            </a:t>
            </a:r>
            <a:r>
              <a:rPr lang="zh-CN" sz="1200" b="0">
                <a:ea typeface="宋体" panose="02010600030101010101" pitchFamily="2" charset="-122"/>
              </a:rPr>
              <a:t>r = j              // 记录最小值的索引</a:t>
            </a:r>
            <a:r>
              <a:rPr lang="en-US" sz="1200" b="0">
                <a:latin typeface="宋体" panose="02010600030101010101" pitchFamily="2" charset="-122"/>
                <a:cs typeface="Times New Roman" panose="02020603050405020304" pitchFamily="18" charset="0"/>
              </a:rPr>
              <a:t>    </a:t>
            </a:r>
            <a:r>
              <a:rPr lang="zh-CN" sz="1200" b="0">
                <a:ea typeface="宋体" panose="02010600030101010101" pitchFamily="2" charset="-122"/>
              </a:rPr>
              <a:t>// 如果当前元素大于最小值，则交换</a:t>
            </a:r>
            <a:r>
              <a:rPr lang="en-US" sz="1200" b="0">
                <a:latin typeface="宋体" panose="02010600030101010101" pitchFamily="2" charset="-122"/>
                <a:cs typeface="Times New Roman" panose="02020603050405020304" pitchFamily="18" charset="0"/>
              </a:rPr>
              <a:t>    </a:t>
            </a:r>
            <a:r>
              <a:rPr lang="en-US" sz="1200" b="0">
                <a:latin typeface="宋体" panose="02010600030101010101" pitchFamily="2" charset="-122"/>
              </a:rPr>
              <a:t>if arr[i] &gt; Min then</a:t>
            </a:r>
            <a:r>
              <a:rPr lang="en-US" sz="1200" b="0">
                <a:latin typeface="宋体" panose="02010600030101010101" pitchFamily="2" charset="-122"/>
                <a:cs typeface="Times New Roman" panose="02020603050405020304" pitchFamily="18" charset="0"/>
              </a:rPr>
              <a:t>        </a:t>
            </a:r>
            <a:r>
              <a:rPr lang="zh-CN" sz="1200" b="0">
                <a:ea typeface="宋体" panose="02010600030101010101" pitchFamily="2" charset="-122"/>
              </a:rPr>
              <a:t>swap arr[i] with arr[r]   // 将最小值放到当前元素位置</a:t>
            </a:r>
            <a:endParaRPr lang="zh-CN" altLang="en-US" sz="1200" b="0"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1919537" y="188641"/>
            <a:ext cx="38779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排序算法性能分析</a:t>
            </a:r>
            <a:endParaRPr lang="zh-CN" altLang="en-US" sz="36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3" name="Picture 9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68220"/>
            <a:ext cx="9144000" cy="213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图片 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822" y="87720"/>
            <a:ext cx="2361905" cy="800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24000" y="1219200"/>
            <a:ext cx="39814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3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、选择排序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84630" y="1940560"/>
            <a:ext cx="2990850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算法复杂度：</a:t>
            </a:r>
            <a:endParaRPr lang="en-US" altLang="zh-CN" sz="2400" b="1" dirty="0"/>
          </a:p>
          <a:p>
            <a:r>
              <a:rPr lang="en-US" altLang="zh-CN" sz="2400" b="1" dirty="0"/>
              <a:t>T(n)=0.5*(n-1)*n</a:t>
            </a:r>
            <a:endParaRPr lang="en-US" altLang="zh-CN" sz="2400" b="1" dirty="0"/>
          </a:p>
          <a:p>
            <a:r>
              <a:rPr lang="zh-CN" altLang="en-US" sz="2000" b="1" dirty="0"/>
              <a:t>空间复杂度：</a:t>
            </a:r>
            <a:r>
              <a:rPr lang="en-US" altLang="zh-CN" sz="2000" b="1" dirty="0"/>
              <a:t>O(1)</a:t>
            </a:r>
            <a:endParaRPr lang="en-US" altLang="zh-CN" sz="2000" b="1" dirty="0"/>
          </a:p>
          <a:p>
            <a:r>
              <a:rPr lang="zh-CN" altLang="en-US" sz="2000" b="1" dirty="0"/>
              <a:t>最坏时间复杂度：</a:t>
            </a:r>
            <a:r>
              <a:rPr lang="en-US" altLang="zh-CN" sz="2000" b="1" dirty="0"/>
              <a:t>O(n^2)</a:t>
            </a:r>
            <a:endParaRPr lang="en-US" altLang="zh-CN" sz="2000" b="1" dirty="0"/>
          </a:p>
          <a:p>
            <a:r>
              <a:rPr lang="zh-CN" altLang="en-US" sz="2000" b="1" dirty="0"/>
              <a:t>最好时间复杂度：</a:t>
            </a:r>
            <a:r>
              <a:rPr lang="en-US" altLang="zh-CN" sz="2000" b="1" dirty="0"/>
              <a:t>O(n)</a:t>
            </a:r>
            <a:endParaRPr lang="en-US" altLang="zh-CN" sz="2000" b="1" dirty="0"/>
          </a:p>
          <a:p>
            <a:r>
              <a:rPr lang="zh-CN" altLang="en-US" sz="2000" b="1" dirty="0"/>
              <a:t>平均时间复杂度：</a:t>
            </a:r>
            <a:r>
              <a:rPr lang="en-US" altLang="zh-CN" sz="2000" b="1" dirty="0"/>
              <a:t>O(n^2)</a:t>
            </a:r>
            <a:endParaRPr lang="en-US" altLang="zh-CN" sz="2000" b="1" dirty="0"/>
          </a:p>
        </p:txBody>
      </p:sp>
      <p:sp>
        <p:nvSpPr>
          <p:cNvPr id="100" name="文本框 99"/>
          <p:cNvSpPr txBox="1"/>
          <p:nvPr/>
        </p:nvSpPr>
        <p:spPr>
          <a:xfrm>
            <a:off x="1412875" y="4139565"/>
            <a:ext cx="4544695" cy="24917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>
              <a:lnSpc>
                <a:spcPct val="100000"/>
              </a:lnSpc>
            </a:pPr>
            <a:r>
              <a:rPr lang="en-US" sz="1200" b="0">
                <a:latin typeface="宋体" panose="02010600030101010101" pitchFamily="2" charset="-122"/>
              </a:rPr>
              <a:t>Select_sort(arr)  n = arr.length    </a:t>
            </a:r>
            <a:r>
              <a:rPr lang="zh-CN" sz="1200" b="0">
                <a:ea typeface="宋体" panose="02010600030101010101" pitchFamily="2" charset="-122"/>
              </a:rPr>
              <a:t>// 外层循环：遍历数组，逐个选择最小值并放到正确位置</a:t>
            </a:r>
            <a:r>
              <a:rPr lang="en-US" sz="1200" b="0">
                <a:latin typeface="宋体" panose="02010600030101010101" pitchFamily="2" charset="-122"/>
              </a:rPr>
              <a:t>for i = 0 to n-2   </a:t>
            </a:r>
            <a:r>
              <a:rPr lang="en-US" sz="1200" b="0">
                <a:latin typeface="宋体" panose="02010600030101010101" pitchFamily="2" charset="-122"/>
                <a:cs typeface="Times New Roman" panose="02020603050405020304" pitchFamily="18" charset="0"/>
              </a:rPr>
              <a:t>    </a:t>
            </a:r>
            <a:r>
              <a:rPr lang="zh-CN" sz="1200" b="0">
                <a:ea typeface="宋体" panose="02010600030101010101" pitchFamily="2" charset="-122"/>
              </a:rPr>
              <a:t>Min = 1e9    // 假设当前最小值为一个很大的数</a:t>
            </a:r>
            <a:r>
              <a:rPr lang="en-US" sz="1200" b="0">
                <a:latin typeface="宋体" panose="02010600030101010101" pitchFamily="2" charset="-122"/>
                <a:cs typeface="Times New Roman" panose="02020603050405020304" pitchFamily="18" charset="0"/>
              </a:rPr>
              <a:t>    </a:t>
            </a:r>
            <a:r>
              <a:rPr lang="zh-CN" sz="1200" b="0">
                <a:ea typeface="宋体" panose="02010600030101010101" pitchFamily="2" charset="-122"/>
              </a:rPr>
              <a:t>// 内层循环：查找剩余部分的最小值</a:t>
            </a:r>
            <a:r>
              <a:rPr lang="en-US" sz="1200" b="0">
                <a:latin typeface="宋体" panose="02010600030101010101" pitchFamily="2" charset="-122"/>
                <a:cs typeface="Times New Roman" panose="02020603050405020304" pitchFamily="18" charset="0"/>
              </a:rPr>
              <a:t>    </a:t>
            </a:r>
            <a:r>
              <a:rPr lang="en-US" sz="1200" b="0">
                <a:latin typeface="宋体" panose="02010600030101010101" pitchFamily="2" charset="-122"/>
              </a:rPr>
              <a:t>for j = i+1 to n-1</a:t>
            </a:r>
            <a:r>
              <a:rPr lang="en-US" sz="1200" b="0">
                <a:latin typeface="宋体" panose="02010600030101010101" pitchFamily="2" charset="-122"/>
                <a:cs typeface="Times New Roman" panose="02020603050405020304" pitchFamily="18" charset="0"/>
              </a:rPr>
              <a:t>        </a:t>
            </a:r>
            <a:r>
              <a:rPr lang="zh-CN" sz="1200" b="0">
                <a:ea typeface="宋体" panose="02010600030101010101" pitchFamily="2" charset="-122"/>
              </a:rPr>
              <a:t>if Min &gt; arr[j] then   // 找到更小的元素</a:t>
            </a:r>
            <a:r>
              <a:rPr lang="en-US" sz="1200" b="0">
                <a:latin typeface="宋体" panose="02010600030101010101" pitchFamily="2" charset="-122"/>
                <a:cs typeface="Times New Roman" panose="02020603050405020304" pitchFamily="18" charset="0"/>
              </a:rPr>
              <a:t>            </a:t>
            </a:r>
            <a:r>
              <a:rPr lang="zh-CN" sz="1200" b="0">
                <a:ea typeface="宋体" panose="02010600030101010101" pitchFamily="2" charset="-122"/>
              </a:rPr>
              <a:t>Min = arr[j]       // 更新最小值</a:t>
            </a:r>
            <a:r>
              <a:rPr lang="en-US" sz="1200" b="0">
                <a:latin typeface="宋体" panose="02010600030101010101" pitchFamily="2" charset="-122"/>
                <a:cs typeface="Times New Roman" panose="02020603050405020304" pitchFamily="18" charset="0"/>
              </a:rPr>
              <a:t>            </a:t>
            </a:r>
            <a:r>
              <a:rPr lang="zh-CN" sz="1200" b="0">
                <a:ea typeface="宋体" panose="02010600030101010101" pitchFamily="2" charset="-122"/>
              </a:rPr>
              <a:t>r = j              // 记录最小值的索引</a:t>
            </a:r>
            <a:r>
              <a:rPr lang="en-US" sz="1200" b="0">
                <a:latin typeface="宋体" panose="02010600030101010101" pitchFamily="2" charset="-122"/>
                <a:cs typeface="Times New Roman" panose="02020603050405020304" pitchFamily="18" charset="0"/>
              </a:rPr>
              <a:t>    </a:t>
            </a:r>
            <a:r>
              <a:rPr lang="zh-CN" sz="1200" b="0">
                <a:ea typeface="宋体" panose="02010600030101010101" pitchFamily="2" charset="-122"/>
              </a:rPr>
              <a:t>// 如果当前元素大于最小值，则交换</a:t>
            </a:r>
            <a:r>
              <a:rPr lang="en-US" sz="1200" b="0">
                <a:latin typeface="宋体" panose="02010600030101010101" pitchFamily="2" charset="-122"/>
                <a:cs typeface="Times New Roman" panose="02020603050405020304" pitchFamily="18" charset="0"/>
              </a:rPr>
              <a:t>    </a:t>
            </a:r>
            <a:r>
              <a:rPr lang="en-US" sz="1200" b="0">
                <a:latin typeface="宋体" panose="02010600030101010101" pitchFamily="2" charset="-122"/>
              </a:rPr>
              <a:t>if arr[i] &gt; Min then</a:t>
            </a:r>
            <a:r>
              <a:rPr lang="en-US" sz="1200" b="0">
                <a:latin typeface="宋体" panose="02010600030101010101" pitchFamily="2" charset="-122"/>
                <a:cs typeface="Times New Roman" panose="02020603050405020304" pitchFamily="18" charset="0"/>
              </a:rPr>
              <a:t>        </a:t>
            </a:r>
            <a:r>
              <a:rPr lang="zh-CN" sz="1200" b="0">
                <a:ea typeface="宋体" panose="02010600030101010101" pitchFamily="2" charset="-122"/>
              </a:rPr>
              <a:t>swap arr[i] with arr[r]   // 将最小值放到当前元素位置</a:t>
            </a:r>
            <a:endParaRPr lang="zh-CN" altLang="en-US" sz="1200" b="0">
              <a:ea typeface="宋体" panose="02010600030101010101" pitchFamily="2" charset="-122"/>
            </a:endParaRPr>
          </a:p>
        </p:txBody>
      </p:sp>
      <p:pic>
        <p:nvPicPr>
          <p:cNvPr id="-2147482606" name="图片 -2147482607" descr="d096ffe38e511281a8aefeb821d1326"/>
          <p:cNvPicPr>
            <a:picLocks noChangeAspect="1"/>
          </p:cNvPicPr>
          <p:nvPr/>
        </p:nvPicPr>
        <p:blipFill>
          <a:blip r:embed="rId3"/>
          <a:srcRect t="19180"/>
          <a:stretch>
            <a:fillRect/>
          </a:stretch>
        </p:blipFill>
        <p:spPr>
          <a:xfrm>
            <a:off x="5957570" y="1314450"/>
            <a:ext cx="4879340" cy="11042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-2147482608" name="图片 -2147482609" descr="1e2bbec9d5a27f56c75f38217c178e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2390" y="2845435"/>
            <a:ext cx="4520565" cy="344741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1919537" y="188641"/>
            <a:ext cx="38779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排序算法性能分析</a:t>
            </a:r>
            <a:endParaRPr lang="zh-CN" altLang="en-US" sz="36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3" name="Picture 9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68220"/>
            <a:ext cx="9144000" cy="213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图片 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822" y="87720"/>
            <a:ext cx="2361905" cy="800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24000" y="1219200"/>
            <a:ext cx="39814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4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、归并排序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pic>
        <p:nvPicPr>
          <p:cNvPr id="-2147482615" name="图片 -2147482616" descr="09a04284e5cc0434c5504265968c749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855" y="2186940"/>
            <a:ext cx="4523740" cy="2816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6062980" y="994410"/>
            <a:ext cx="5582285" cy="56661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en-US" sz="1050" b="0">
                <a:latin typeface="宋体" panose="02010600030101010101" pitchFamily="2" charset="-122"/>
              </a:rPr>
              <a:t>merge(start, mid, end, arr)  </a:t>
            </a:r>
            <a:endParaRPr lang="en-US" sz="1050" b="0">
              <a:latin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sz="1050" b="0">
                <a:latin typeface="宋体" panose="02010600030101010101" pitchFamily="2" charset="-122"/>
              </a:rPr>
              <a:t>	n = arr.length             </a:t>
            </a:r>
            <a:endParaRPr lang="en-US" sz="1050" b="0">
              <a:latin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sz="1050" b="0">
                <a:latin typeface="宋体" panose="02010600030101010101" pitchFamily="2" charset="-122"/>
              </a:rPr>
              <a:t> 	pos = start                 </a:t>
            </a:r>
            <a:r>
              <a:rPr lang="en-US" sz="1050" b="0">
                <a:latin typeface="宋体" panose="02010600030101010101" pitchFamily="2" charset="-122"/>
                <a:cs typeface="Times New Roman" panose="02020603050405020304" pitchFamily="18" charset="0"/>
              </a:rPr>
              <a:t>    	</a:t>
            </a:r>
            <a:r>
              <a:rPr lang="en-US" sz="1050" b="0">
                <a:latin typeface="宋体" panose="02010600030101010101" pitchFamily="2" charset="-122"/>
              </a:rPr>
              <a:t>left = start                </a:t>
            </a:r>
            <a:r>
              <a:rPr lang="en-US" sz="1050" b="0">
                <a:latin typeface="宋体" panose="02010600030101010101" pitchFamily="2" charset="-122"/>
                <a:cs typeface="Times New Roman" panose="02020603050405020304" pitchFamily="18" charset="0"/>
              </a:rPr>
              <a:t>    	</a:t>
            </a:r>
            <a:r>
              <a:rPr lang="en-US" sz="1050" b="0">
                <a:latin typeface="宋体" panose="02010600030101010101" pitchFamily="2" charset="-122"/>
              </a:rPr>
              <a:t>right = mid + 1             </a:t>
            </a:r>
            <a:r>
              <a:rPr lang="en-US" sz="1050" b="0">
                <a:latin typeface="宋体" panose="02010600030101010101" pitchFamily="2" charset="-122"/>
                <a:cs typeface="Times New Roman" panose="02020603050405020304" pitchFamily="18" charset="0"/>
              </a:rPr>
              <a:t>    </a:t>
            </a:r>
            <a:r>
              <a:rPr lang="zh-CN" sz="1050" b="0">
                <a:ea typeface="宋体" panose="02010600030101010101" pitchFamily="2" charset="-122"/>
              </a:rPr>
              <a:t>// 合并过程中，比较左右子数组的元素，逐个放入临时数组</a:t>
            </a:r>
            <a:r>
              <a:rPr lang="en-US" sz="1050" b="0">
                <a:latin typeface="宋体" panose="02010600030101010101" pitchFamily="2" charset="-122"/>
                <a:cs typeface="Times New Roman" panose="02020603050405020304" pitchFamily="18" charset="0"/>
              </a:rPr>
              <a:t>    </a:t>
            </a:r>
            <a:r>
              <a:rPr lang="en-US" sz="1050" b="0">
                <a:latin typeface="宋体" panose="02010600030101010101" pitchFamily="2" charset="-122"/>
              </a:rPr>
              <a:t>while left &lt;= mid and right &lt;= end</a:t>
            </a:r>
            <a:r>
              <a:rPr lang="en-US" sz="1050" b="0">
                <a:latin typeface="宋体" panose="02010600030101010101" pitchFamily="2" charset="-122"/>
                <a:cs typeface="Times New Roman" panose="02020603050405020304" pitchFamily="18" charset="0"/>
              </a:rPr>
              <a:t>        </a:t>
            </a:r>
            <a:r>
              <a:rPr lang="en-US" sz="1050" b="0">
                <a:latin typeface="宋体" panose="02010600030101010101" pitchFamily="2" charset="-122"/>
              </a:rPr>
              <a:t>if arr[left] &lt; arr[right] then</a:t>
            </a:r>
            <a:r>
              <a:rPr lang="en-US" sz="1050" b="0">
                <a:latin typeface="宋体" panose="02010600030101010101" pitchFamily="2" charset="-122"/>
                <a:cs typeface="Times New Roman" panose="02020603050405020304" pitchFamily="18" charset="0"/>
              </a:rPr>
              <a:t>            </a:t>
            </a:r>
            <a:r>
              <a:rPr lang="zh-CN" sz="1050" b="0">
                <a:ea typeface="宋体" panose="02010600030101010101" pitchFamily="2" charset="-122"/>
              </a:rPr>
              <a:t>temp[pos++] = arr[left++]    // 如果左子数组元素较小，放入临时数组</a:t>
            </a:r>
            <a:r>
              <a:rPr lang="en-US" sz="1050" b="0">
                <a:latin typeface="宋体" panose="02010600030101010101" pitchFamily="2" charset="-122"/>
                <a:cs typeface="Times New Roman" panose="02020603050405020304" pitchFamily="18" charset="0"/>
              </a:rPr>
              <a:t>        </a:t>
            </a:r>
            <a:r>
              <a:rPr lang="en-US" sz="1050" b="0">
                <a:latin typeface="宋体" panose="02010600030101010101" pitchFamily="2" charset="-122"/>
              </a:rPr>
              <a:t>else </a:t>
            </a:r>
            <a:r>
              <a:rPr lang="en-US" sz="1050" b="0">
                <a:latin typeface="宋体" panose="02010600030101010101" pitchFamily="2" charset="-122"/>
                <a:cs typeface="Times New Roman" panose="02020603050405020304" pitchFamily="18" charset="0"/>
              </a:rPr>
              <a:t>            </a:t>
            </a:r>
            <a:r>
              <a:rPr lang="zh-CN" sz="1050" b="0">
                <a:ea typeface="宋体" panose="02010600030101010101" pitchFamily="2" charset="-122"/>
              </a:rPr>
              <a:t>temp[pos++] = arr[right++]   // 否则，放入右子数组元素</a:t>
            </a:r>
            <a:r>
              <a:rPr lang="en-US" sz="1050" b="0">
                <a:latin typeface="宋体" panose="02010600030101010101" pitchFamily="2" charset="-122"/>
                <a:cs typeface="Times New Roman" panose="02020603050405020304" pitchFamily="18" charset="0"/>
              </a:rPr>
              <a:t>    </a:t>
            </a:r>
            <a:r>
              <a:rPr lang="en-US" sz="1050" b="0">
                <a:latin typeface="宋体" panose="02010600030101010101" pitchFamily="2" charset="-122"/>
              </a:rPr>
              <a:t>while left &lt;= mid  </a:t>
            </a:r>
            <a:r>
              <a:rPr lang="en-US" sz="1050" b="0">
                <a:latin typeface="宋体" panose="02010600030101010101" pitchFamily="2" charset="-122"/>
                <a:cs typeface="Times New Roman" panose="02020603050405020304" pitchFamily="18" charset="0"/>
              </a:rPr>
              <a:t>        </a:t>
            </a:r>
            <a:r>
              <a:rPr lang="en-US" sz="1050" b="0">
                <a:latin typeface="宋体" panose="02010600030101010101" pitchFamily="2" charset="-122"/>
              </a:rPr>
              <a:t>temp[pos++] = arr[left++]</a:t>
            </a:r>
            <a:r>
              <a:rPr lang="en-US" sz="1050" b="0">
                <a:latin typeface="宋体" panose="02010600030101010101" pitchFamily="2" charset="-122"/>
                <a:cs typeface="Times New Roman" panose="02020603050405020304" pitchFamily="18" charset="0"/>
              </a:rPr>
              <a:t>        </a:t>
            </a:r>
            <a:r>
              <a:rPr lang="en-US" sz="1050" b="0">
                <a:latin typeface="宋体" panose="02010600030101010101" pitchFamily="2" charset="-122"/>
              </a:rPr>
              <a:t>while right &lt;= end</a:t>
            </a:r>
            <a:r>
              <a:rPr lang="en-US" sz="1050" b="0">
                <a:latin typeface="宋体" panose="02010600030101010101" pitchFamily="2" charset="-122"/>
                <a:cs typeface="Times New Roman" panose="02020603050405020304" pitchFamily="18" charset="0"/>
              </a:rPr>
              <a:t>        </a:t>
            </a:r>
            <a:r>
              <a:rPr lang="en-US" sz="1050" b="0">
                <a:latin typeface="宋体" panose="02010600030101010101" pitchFamily="2" charset="-122"/>
              </a:rPr>
              <a:t>temp[pos++] = arr[right++]</a:t>
            </a:r>
            <a:r>
              <a:rPr lang="en-US" sz="1050" b="0">
                <a:latin typeface="宋体" panose="02010600030101010101" pitchFamily="2" charset="-122"/>
                <a:cs typeface="Times New Roman" panose="02020603050405020304" pitchFamily="18" charset="0"/>
              </a:rPr>
              <a:t>    </a:t>
            </a:r>
            <a:r>
              <a:rPr lang="en-US" sz="1050" b="0">
                <a:latin typeface="宋体" panose="02010600030101010101" pitchFamily="2" charset="-122"/>
              </a:rPr>
              <a:t>for i = start to end</a:t>
            </a:r>
            <a:r>
              <a:rPr lang="en-US" sz="1050" b="0">
                <a:latin typeface="宋体" panose="02010600030101010101" pitchFamily="2" charset="-122"/>
                <a:cs typeface="Times New Roman" panose="02020603050405020304" pitchFamily="18" charset="0"/>
              </a:rPr>
              <a:t>        </a:t>
            </a:r>
            <a:r>
              <a:rPr lang="en-US" sz="1050" b="0">
                <a:latin typeface="宋体" panose="02010600030101010101" pitchFamily="2" charset="-122"/>
              </a:rPr>
              <a:t>arr[i] = temp[i]Merge_sort(left, right, arr)  </a:t>
            </a:r>
            <a:r>
              <a:rPr lang="en-US" sz="1050" b="0">
                <a:latin typeface="宋体" panose="02010600030101010101" pitchFamily="2" charset="-122"/>
                <a:cs typeface="Times New Roman" panose="02020603050405020304" pitchFamily="18" charset="0"/>
              </a:rPr>
              <a:t>    </a:t>
            </a:r>
            <a:r>
              <a:rPr lang="en-US" sz="1050" b="0">
                <a:latin typeface="宋体" panose="02010600030101010101" pitchFamily="2" charset="-122"/>
              </a:rPr>
              <a:t>if left &lt; right</a:t>
            </a:r>
            <a:r>
              <a:rPr lang="en-US" sz="1050" b="0">
                <a:latin typeface="宋体" panose="02010600030101010101" pitchFamily="2" charset="-122"/>
                <a:cs typeface="Times New Roman" panose="02020603050405020304" pitchFamily="18" charset="0"/>
              </a:rPr>
              <a:t>        </a:t>
            </a:r>
            <a:r>
              <a:rPr lang="en-US" sz="1050" b="0">
                <a:latin typeface="宋体" panose="02010600030101010101" pitchFamily="2" charset="-122"/>
              </a:rPr>
              <a:t>mid = (left + right) / 2    </a:t>
            </a:r>
            <a:r>
              <a:rPr lang="en-US" sz="1050" b="0">
                <a:latin typeface="宋体" panose="02010600030101010101" pitchFamily="2" charset="-122"/>
                <a:cs typeface="Times New Roman" panose="02020603050405020304" pitchFamily="18" charset="0"/>
              </a:rPr>
              <a:t>        </a:t>
            </a:r>
            <a:r>
              <a:rPr lang="zh-CN" sz="1050" b="0">
                <a:ea typeface="宋体" panose="02010600030101010101" pitchFamily="2" charset="-122"/>
              </a:rPr>
              <a:t>Merge_sort(left, mid, arr)   </a:t>
            </a:r>
            <a:r>
              <a:rPr lang="en-US" sz="1050" b="0">
                <a:latin typeface="宋体" panose="02010600030101010101" pitchFamily="2" charset="-122"/>
                <a:cs typeface="Times New Roman" panose="02020603050405020304" pitchFamily="18" charset="0"/>
              </a:rPr>
              <a:t>        </a:t>
            </a:r>
            <a:r>
              <a:rPr lang="zh-CN" sz="1050" b="0">
                <a:ea typeface="宋体" panose="02010600030101010101" pitchFamily="2" charset="-122"/>
              </a:rPr>
              <a:t>Merge_sort(mid + 1, right, arr)  </a:t>
            </a:r>
            <a:r>
              <a:rPr lang="en-US" sz="1050" b="0">
                <a:latin typeface="宋体" panose="02010600030101010101" pitchFamily="2" charset="-122"/>
                <a:cs typeface="Times New Roman" panose="02020603050405020304" pitchFamily="18" charset="0"/>
              </a:rPr>
              <a:t>        </a:t>
            </a:r>
            <a:r>
              <a:rPr lang="zh-CN" sz="1050" b="0">
                <a:ea typeface="宋体" panose="02010600030101010101" pitchFamily="2" charset="-122"/>
              </a:rPr>
              <a:t>merge(left, mid, right, arr)  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1919537" y="188641"/>
            <a:ext cx="38779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排序算法性能分析</a:t>
            </a:r>
            <a:endParaRPr lang="zh-CN" altLang="en-US" sz="36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3" name="Picture 9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68220"/>
            <a:ext cx="9144000" cy="213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图片 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822" y="87720"/>
            <a:ext cx="2361905" cy="800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24000" y="1219200"/>
            <a:ext cx="39814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4</a:t>
            </a:r>
            <a:r>
              <a:rPr lang="zh-CN" altLang="en-US" sz="3200" b="1" dirty="0">
                <a:solidFill>
                  <a:srgbClr val="FF0000"/>
                </a:solidFill>
              </a:rPr>
              <a:t>、归并排序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524000" y="1962149"/>
            <a:ext cx="320040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算法复杂度：</a:t>
            </a:r>
            <a:endParaRPr lang="en-US" altLang="zh-CN" sz="2400" b="1" dirty="0"/>
          </a:p>
          <a:p>
            <a:endParaRPr lang="en-US" altLang="zh-CN" sz="2400" b="1" dirty="0"/>
          </a:p>
          <a:p>
            <a:r>
              <a:rPr lang="zh-CN" altLang="en-US" sz="2000" b="1" dirty="0"/>
              <a:t>空间复杂度：</a:t>
            </a:r>
            <a:r>
              <a:rPr lang="en-US" altLang="zh-CN" sz="2000" b="1" dirty="0"/>
              <a:t>O(n)</a:t>
            </a:r>
            <a:endParaRPr lang="en-US" altLang="zh-CN" sz="2000" b="1" dirty="0"/>
          </a:p>
          <a:p>
            <a:r>
              <a:rPr lang="zh-CN" altLang="en-US" sz="2000" b="1" dirty="0"/>
              <a:t>最坏时间复杂度：</a:t>
            </a:r>
            <a:r>
              <a:rPr lang="en-US" altLang="zh-CN" sz="2000" b="1" dirty="0"/>
              <a:t>O(nlogn)</a:t>
            </a:r>
            <a:endParaRPr lang="en-US" altLang="zh-CN" sz="2000" b="1" dirty="0"/>
          </a:p>
          <a:p>
            <a:r>
              <a:rPr lang="zh-CN" altLang="en-US" sz="2000" b="1" dirty="0"/>
              <a:t>最好时间复杂度：</a:t>
            </a:r>
            <a:r>
              <a:rPr lang="en-US" altLang="zh-CN" sz="2000" b="1" dirty="0"/>
              <a:t>O(nlogn)</a:t>
            </a:r>
            <a:endParaRPr lang="en-US" altLang="zh-CN" sz="2000" b="1" dirty="0"/>
          </a:p>
          <a:p>
            <a:r>
              <a:rPr lang="zh-CN" altLang="en-US" sz="2000" b="1" dirty="0"/>
              <a:t>平均时间复杂度：</a:t>
            </a:r>
            <a:r>
              <a:rPr lang="en-US" altLang="zh-CN" sz="2000" b="1" dirty="0"/>
              <a:t>O(nlogn)</a:t>
            </a:r>
            <a:endParaRPr lang="en-US" altLang="zh-CN" sz="2000" b="1" dirty="0"/>
          </a:p>
          <a:p>
            <a:endParaRPr lang="en-US" altLang="zh-CN" sz="2000" b="1" dirty="0"/>
          </a:p>
        </p:txBody>
      </p:sp>
      <p:pic>
        <p:nvPicPr>
          <p:cNvPr id="-2147482593" name="图片 -2147482594" descr="14a78180005918b8f3babb6ce2bede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4510" y="1082675"/>
            <a:ext cx="4627245" cy="134683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-2147482594" name="图片 -2147482595" descr="336211b8ccbae71a66e89553731c34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6265" y="2677160"/>
            <a:ext cx="4594860" cy="35598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1919537" y="188641"/>
            <a:ext cx="38779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排序算法性能分析</a:t>
            </a:r>
            <a:endParaRPr lang="zh-CN" altLang="en-US" sz="36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3" name="Picture 9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68220"/>
            <a:ext cx="9144000" cy="213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图片 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822" y="87720"/>
            <a:ext cx="2361905" cy="800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24000" y="1219200"/>
            <a:ext cx="39814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5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、快速排序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pic>
        <p:nvPicPr>
          <p:cNvPr id="-2147482613" name="图片 -2147482614" descr="IMG_2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2132330"/>
            <a:ext cx="4247515" cy="32080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0" name="文本框 99"/>
          <p:cNvSpPr txBox="1"/>
          <p:nvPr/>
        </p:nvSpPr>
        <p:spPr>
          <a:xfrm>
            <a:off x="6055995" y="1544320"/>
            <a:ext cx="5080000" cy="42113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 fontAlgn="auto">
              <a:lnSpc>
                <a:spcPct val="150000"/>
              </a:lnSpc>
            </a:pPr>
            <a:r>
              <a:rPr lang="en-US" sz="1050" b="0">
                <a:latin typeface="宋体" panose="02010600030101010101" pitchFamily="2" charset="-122"/>
                <a:cs typeface="Times New Roman" panose="02020603050405020304" pitchFamily="18" charset="0"/>
              </a:rPr>
              <a:t>Quicksort(left, right, arr)    if left &lt; right then        pivot = arr[left]   </a:t>
            </a:r>
            <a:r>
              <a:rPr lang="zh-CN" sz="1050" b="0">
                <a:ea typeface="宋体" panose="02010600030101010101" pitchFamily="2" charset="-122"/>
                <a:cs typeface="Times New Roman" panose="02020603050405020304" pitchFamily="18" charset="0"/>
              </a:rPr>
              <a:t>// 选择基准元素，通常选择数组的第一个元素</a:t>
            </a:r>
            <a:r>
              <a:rPr lang="en-US" sz="1050" b="0">
                <a:latin typeface="宋体" panose="02010600030101010101" pitchFamily="2" charset="-122"/>
                <a:cs typeface="Times New Roman" panose="02020603050405020304" pitchFamily="18" charset="0"/>
              </a:rPr>
              <a:t>        l = left        r = right        while l &lt; r do</a:t>
            </a:r>
            <a:r>
              <a:rPr lang="zh-CN" sz="1050" b="0">
                <a:ea typeface="宋体" panose="02010600030101010101" pitchFamily="2" charset="-122"/>
                <a:cs typeface="Times New Roman" panose="02020603050405020304" pitchFamily="18" charset="0"/>
              </a:rPr>
              <a:t>            while arr[l] &lt;= pivot and l &lt; r do // 找到左边大于基准的元素</a:t>
            </a:r>
            <a:r>
              <a:rPr lang="en-US" sz="1050" b="0">
                <a:latin typeface="宋体" panose="02010600030101010101" pitchFamily="2" charset="-122"/>
                <a:cs typeface="Times New Roman" panose="02020603050405020304" pitchFamily="18" charset="0"/>
              </a:rPr>
              <a:t>                l = l + 1            while arr[r] &gt; pivot do 	</a:t>
            </a:r>
            <a:r>
              <a:rPr lang="zh-CN" sz="1050" b="0">
                <a:ea typeface="宋体" panose="02010600030101010101" pitchFamily="2" charset="-122"/>
                <a:cs typeface="Times New Roman" panose="02020603050405020304" pitchFamily="18" charset="0"/>
              </a:rPr>
              <a:t>// 找到右边小于基准的元素</a:t>
            </a:r>
            <a:r>
              <a:rPr lang="en-US" sz="1050" b="0">
                <a:latin typeface="宋体" panose="02010600030101010101" pitchFamily="2" charset="-122"/>
                <a:cs typeface="Times New Roman" panose="02020603050405020304" pitchFamily="18" charset="0"/>
              </a:rPr>
              <a:t>                r = r - 1             if l &lt; r then						</a:t>
            </a:r>
            <a:r>
              <a:rPr lang="zh-CN" sz="1050" b="0">
                <a:ea typeface="宋体" panose="02010600030101010101" pitchFamily="2" charset="-122"/>
                <a:cs typeface="Times New Roman" panose="02020603050405020304" pitchFamily="18" charset="0"/>
              </a:rPr>
              <a:t>// 交换 arr[l] 和 arr[r]</a:t>
            </a:r>
            <a:r>
              <a:rPr lang="en-US" sz="1050" b="0">
                <a:latin typeface="宋体" panose="02010600030101010101" pitchFamily="2" charset="-122"/>
                <a:cs typeface="Times New Roman" panose="02020603050405020304" pitchFamily="18" charset="0"/>
              </a:rPr>
              <a:t>                swap arr[l] and arr[r]</a:t>
            </a:r>
            <a:r>
              <a:rPr lang="zh-CN" sz="1050" b="0">
                <a:ea typeface="宋体" panose="02010600030101010101" pitchFamily="2" charset="-122"/>
                <a:cs typeface="Times New Roman" panose="02020603050405020304" pitchFamily="18" charset="0"/>
              </a:rPr>
              <a:t></a:t>
            </a:r>
            <a:r>
              <a:rPr lang="en-US" altLang="zh-CN" sz="1050" b="0">
                <a:ea typeface="宋体" panose="02010600030101010101" pitchFamily="2" charset="-122"/>
                <a:cs typeface="Times New Roman" panose="02020603050405020304" pitchFamily="18" charset="0"/>
              </a:rPr>
              <a:t>             </a:t>
            </a:r>
            <a:r>
              <a:rPr lang="zh-CN" sz="1050" b="0">
                <a:ea typeface="宋体" panose="02010600030101010101" pitchFamily="2" charset="-122"/>
                <a:cs typeface="Times New Roman" panose="02020603050405020304" pitchFamily="18" charset="0"/>
              </a:rPr>
              <a:t>// 将基准元素放到正确的位置</a:t>
            </a:r>
            <a:r>
              <a:rPr lang="en-US" sz="1050" b="0">
                <a:latin typeface="宋体" panose="02010600030101010101" pitchFamily="2" charset="-122"/>
                <a:cs typeface="Times New Roman" panose="02020603050405020304" pitchFamily="18" charset="0"/>
              </a:rPr>
              <a:t>        swap arr[left] and arr[r]        Quicksort(left, r - 1, arr)        Quicksort(r + 1, right, arr)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1919537" y="188641"/>
            <a:ext cx="38779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排序算法性能分析</a:t>
            </a:r>
            <a:endParaRPr lang="zh-CN" altLang="en-US" sz="36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3" name="Picture 9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68220"/>
            <a:ext cx="9144000" cy="213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图片 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822" y="87720"/>
            <a:ext cx="2361905" cy="800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24000" y="1219200"/>
            <a:ext cx="39814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5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、快速排序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524000" y="1962149"/>
            <a:ext cx="3200400" cy="2368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算法复杂度：</a:t>
            </a:r>
            <a:endParaRPr lang="en-US" altLang="zh-CN" sz="2400" b="1" dirty="0"/>
          </a:p>
          <a:p>
            <a:endParaRPr lang="en-US" altLang="zh-CN" sz="2400" b="1" dirty="0"/>
          </a:p>
          <a:p>
            <a:r>
              <a:rPr lang="zh-CN" altLang="en-US" sz="2000" b="1" dirty="0"/>
              <a:t>空间复杂度：</a:t>
            </a:r>
            <a:r>
              <a:rPr lang="en-US" altLang="zh-CN" sz="2000" b="1" dirty="0"/>
              <a:t>O(n)</a:t>
            </a:r>
            <a:endParaRPr lang="en-US" altLang="zh-CN" sz="2000" b="1" dirty="0"/>
          </a:p>
          <a:p>
            <a:r>
              <a:rPr lang="zh-CN" altLang="en-US" sz="2000" b="1" dirty="0"/>
              <a:t>最坏时间复杂度：</a:t>
            </a:r>
            <a:r>
              <a:rPr lang="en-US" altLang="zh-CN" sz="2000" b="1" dirty="0"/>
              <a:t>O(n^2)</a:t>
            </a:r>
            <a:endParaRPr lang="en-US" altLang="zh-CN" sz="2000" b="1" dirty="0"/>
          </a:p>
          <a:p>
            <a:r>
              <a:rPr lang="zh-CN" altLang="en-US" sz="2000" b="1" dirty="0"/>
              <a:t>最好时间复杂度：</a:t>
            </a:r>
            <a:r>
              <a:rPr lang="en-US" altLang="zh-CN" sz="2000" b="1" dirty="0"/>
              <a:t>O(nlogn)</a:t>
            </a:r>
            <a:endParaRPr lang="en-US" altLang="zh-CN" sz="2000" b="1" dirty="0"/>
          </a:p>
          <a:p>
            <a:r>
              <a:rPr lang="zh-CN" altLang="en-US" sz="2000" b="1" dirty="0"/>
              <a:t>平均时间复杂度：</a:t>
            </a:r>
            <a:r>
              <a:rPr lang="en-US" altLang="zh-CN" sz="2000" b="1" dirty="0"/>
              <a:t>O(nlogn)</a:t>
            </a:r>
            <a:endParaRPr lang="en-US" altLang="zh-CN" sz="2000" b="1" dirty="0"/>
          </a:p>
          <a:p>
            <a:endParaRPr lang="en-US" altLang="zh-CN" sz="2000" b="1" dirty="0"/>
          </a:p>
        </p:txBody>
      </p:sp>
      <p:pic>
        <p:nvPicPr>
          <p:cNvPr id="-2147482590" name="图片 -2147482591" descr="f1c2f7029a75a05b58c52758fc6dff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9965" y="1134745"/>
            <a:ext cx="4476115" cy="131381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-2147482589" name="图片 -2147482590" descr="6c6b0e52e1f62d5733e4d08ba3f8f9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2755265"/>
            <a:ext cx="4545965" cy="352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5501302" y="2685994"/>
            <a:ext cx="5669280" cy="1076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 algn="ctr"/>
            <a:r>
              <a:rPr lang="zh-CN" altLang="en-US" sz="1400" b="1" dirty="0">
                <a:solidFill>
                  <a:srgbClr val="080808"/>
                </a:solidFill>
                <a:latin typeface="+mj-ea"/>
                <a:ea typeface="+mj-ea"/>
              </a:rPr>
              <a:t> </a:t>
            </a:r>
            <a:r>
              <a:rPr lang="en-US" altLang="zh-CN" sz="2800" b="1" dirty="0">
                <a:solidFill>
                  <a:srgbClr val="080808"/>
                </a:solidFill>
                <a:latin typeface="+mj-ea"/>
                <a:ea typeface="+mj-ea"/>
              </a:rPr>
              <a:t>SECTION 2</a:t>
            </a:r>
            <a:endParaRPr lang="en-US" altLang="zh-CN" sz="2800" b="1" dirty="0">
              <a:solidFill>
                <a:srgbClr val="080808"/>
              </a:solidFill>
              <a:latin typeface="+mj-ea"/>
              <a:ea typeface="+mj-ea"/>
            </a:endParaRPr>
          </a:p>
          <a:p>
            <a:pPr marL="0" lvl="1" algn="ctr"/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相同时间复杂度下效率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flipV="1">
            <a:off x="5159896" y="2492896"/>
            <a:ext cx="0" cy="1924424"/>
          </a:xfrm>
          <a:prstGeom prst="line">
            <a:avLst/>
          </a:prstGeom>
          <a:ln w="12700">
            <a:solidFill>
              <a:srgbClr val="08080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841896" y="4086982"/>
            <a:ext cx="90284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600" dirty="0">
                <a:solidFill>
                  <a:srgbClr val="080808"/>
                </a:solidFill>
                <a:latin typeface="+mj-ea"/>
                <a:ea typeface="+mj-ea"/>
              </a:rPr>
              <a:t>PART 02</a:t>
            </a:r>
            <a:endParaRPr lang="zh-CN" altLang="en-US" sz="1600" dirty="0">
              <a:solidFill>
                <a:srgbClr val="080808"/>
              </a:solidFill>
              <a:latin typeface="+mj-ea"/>
              <a:ea typeface="+mj-ea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647730" y="2564908"/>
            <a:ext cx="1197175" cy="1197175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8" name="同心圆 1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+mj-ea"/>
                <a:ea typeface="+mj-ea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75" name="TextBox 13"/>
          <p:cNvSpPr txBox="1"/>
          <p:nvPr/>
        </p:nvSpPr>
        <p:spPr>
          <a:xfrm>
            <a:off x="3868338" y="2778774"/>
            <a:ext cx="902846" cy="7694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+mj-ea"/>
                <a:ea typeface="+mj-ea"/>
              </a:rPr>
              <a:t>02</a:t>
            </a:r>
            <a:endParaRPr lang="zh-CN" altLang="en-US" sz="5000" b="1" dirty="0">
              <a:solidFill>
                <a:srgbClr val="C00000"/>
              </a:solidFill>
              <a:latin typeface="+mj-ea"/>
              <a:ea typeface="+mj-ea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3822" y="87720"/>
            <a:ext cx="2361905" cy="8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7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1523932" y="224836"/>
            <a:ext cx="56692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相同时间复杂度下效率</a:t>
            </a:r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比较</a:t>
            </a:r>
            <a:endParaRPr lang="zh-CN" altLang="en-US" sz="36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3" name="Picture 9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68220"/>
            <a:ext cx="9144000" cy="213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图片 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822" y="87720"/>
            <a:ext cx="2361905" cy="800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24000" y="1219200"/>
            <a:ext cx="39814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、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O(n^2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)</a:t>
            </a:r>
            <a:endParaRPr lang="en-US" altLang="zh-CN" sz="32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24000" y="2049145"/>
            <a:ext cx="56692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时间复杂度为</a:t>
            </a:r>
            <a:r>
              <a:rPr lang="en-US" altLang="zh-CN"/>
              <a:t>O(n^2)</a:t>
            </a:r>
            <a:r>
              <a:rPr lang="zh-CN" altLang="en-US"/>
              <a:t>的算法有选择排序，插入排序，冒泡排序。</a:t>
            </a:r>
            <a:endParaRPr lang="zh-CN" altLang="en-US"/>
          </a:p>
        </p:txBody>
      </p:sp>
      <p:pic>
        <p:nvPicPr>
          <p:cNvPr id="-2147482588" name="图片 -214748258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145" y="3046730"/>
            <a:ext cx="4958080" cy="1146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-2147482587" name="图片 -214748258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7555" y="2153920"/>
            <a:ext cx="4586605" cy="37026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1668145" y="5344160"/>
            <a:ext cx="5212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冒泡排序需要频繁的交换比较造成时间成本过高。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668145" y="4690110"/>
            <a:ext cx="4069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相同时间复杂度</a:t>
            </a:r>
            <a:r>
              <a:rPr lang="en-US" altLang="zh-CN"/>
              <a:t>--</a:t>
            </a:r>
            <a:r>
              <a:rPr lang="zh-CN" altLang="en-US"/>
              <a:t>冒泡排序用时</a:t>
            </a:r>
            <a:r>
              <a:rPr lang="zh-CN" altLang="en-US"/>
              <a:t>最大？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1523932" y="224836"/>
            <a:ext cx="56692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相同时间复杂度下效率</a:t>
            </a:r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比较</a:t>
            </a:r>
            <a:endParaRPr lang="zh-CN" altLang="en-US" sz="36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3" name="Picture 9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68220"/>
            <a:ext cx="9144000" cy="213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图片 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822" y="87720"/>
            <a:ext cx="2361905" cy="800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24000" y="1219200"/>
            <a:ext cx="39814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2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、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O(nlogn)</a:t>
            </a:r>
            <a:endParaRPr lang="en-US" altLang="zh-CN" sz="32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24000" y="2049145"/>
            <a:ext cx="56692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时间复杂度为</a:t>
            </a:r>
            <a:r>
              <a:rPr lang="en-US" altLang="zh-CN"/>
              <a:t>O(nlogn)</a:t>
            </a:r>
            <a:r>
              <a:rPr lang="zh-CN" altLang="en-US"/>
              <a:t>的算法有归并排序，快速排序。</a:t>
            </a:r>
            <a:endParaRPr lang="zh-CN" altLang="en-US"/>
          </a:p>
        </p:txBody>
      </p:sp>
      <p:pic>
        <p:nvPicPr>
          <p:cNvPr id="-2147482583" name="图片 -21474825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6075" y="2842895"/>
            <a:ext cx="5261610" cy="9740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-2147482582" name="图片 -214748258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2305" y="2318385"/>
            <a:ext cx="4848860" cy="37649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1616075" y="4050665"/>
            <a:ext cx="467042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en-US" sz="1600" b="1"/>
              <a:t>快速排序</a:t>
            </a:r>
            <a:r>
              <a:rPr lang="zh-CN" altLang="en-US" sz="1600"/>
              <a:t>是一个原地排序的算法，可以通过交换元素在数组中就地进行排序，</a:t>
            </a:r>
            <a:r>
              <a:rPr lang="zh-CN" altLang="en-US" sz="1600" b="1"/>
              <a:t>空间复杂度为O(</a:t>
            </a:r>
            <a:r>
              <a:rPr lang="en-US" altLang="zh-CN" sz="1600" b="1"/>
              <a:t>1</a:t>
            </a:r>
            <a:r>
              <a:rPr lang="zh-CN" altLang="en-US" sz="1600" b="1"/>
              <a:t>)</a:t>
            </a:r>
            <a:r>
              <a:rPr lang="zh-CN" altLang="en-US" sz="1600"/>
              <a:t>（即递归的长度）。</a:t>
            </a:r>
            <a:endParaRPr lang="zh-CN" altLang="en-US" sz="1600"/>
          </a:p>
          <a:p>
            <a:pPr algn="l" fontAlgn="auto">
              <a:lnSpc>
                <a:spcPct val="150000"/>
              </a:lnSpc>
            </a:pPr>
            <a:r>
              <a:rPr lang="zh-CN" altLang="en-US" sz="1600" b="1"/>
              <a:t>归并排序</a:t>
            </a:r>
            <a:r>
              <a:rPr lang="zh-CN" altLang="en-US" sz="1600"/>
              <a:t>需要额外的储存空间来存储临时的合并数组，</a:t>
            </a:r>
            <a:r>
              <a:rPr lang="zh-CN" altLang="en-US" sz="1600" b="1"/>
              <a:t>空间复杂度为O(n</a:t>
            </a:r>
            <a:r>
              <a:rPr lang="en-US" altLang="zh-CN" sz="1600" b="1"/>
              <a:t>logn</a:t>
            </a:r>
            <a:r>
              <a:rPr lang="zh-CN" altLang="en-US" sz="1600" b="1"/>
              <a:t>)</a:t>
            </a:r>
            <a:r>
              <a:rPr lang="zh-CN" altLang="en-US" sz="1600"/>
              <a:t>。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5582899" y="2916499"/>
            <a:ext cx="2284095" cy="1076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 algn="ctr"/>
            <a:r>
              <a:rPr lang="zh-CN" altLang="en-US" sz="1400" b="1" dirty="0">
                <a:solidFill>
                  <a:srgbClr val="080808"/>
                </a:solidFill>
                <a:latin typeface="+mj-ea"/>
                <a:ea typeface="+mj-ea"/>
              </a:rPr>
              <a:t> </a:t>
            </a:r>
            <a:r>
              <a:rPr lang="en-US" altLang="zh-CN" sz="2800" b="1" dirty="0">
                <a:solidFill>
                  <a:srgbClr val="080808"/>
                </a:solidFill>
                <a:latin typeface="+mj-ea"/>
                <a:ea typeface="+mj-ea"/>
              </a:rPr>
              <a:t>SECTION 2</a:t>
            </a:r>
            <a:endParaRPr lang="en-US" altLang="zh-CN" sz="2800" b="1" dirty="0">
              <a:solidFill>
                <a:srgbClr val="080808"/>
              </a:solidFill>
              <a:latin typeface="+mj-ea"/>
              <a:ea typeface="+mj-ea"/>
            </a:endParaRPr>
          </a:p>
          <a:p>
            <a:pPr marL="0" lvl="1" algn="ctr"/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</a:t>
            </a:r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大问题</a:t>
            </a:r>
            <a:endParaRPr lang="en-US" altLang="zh-CN" sz="3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flipV="1">
            <a:off x="5159896" y="2492896"/>
            <a:ext cx="0" cy="1924424"/>
          </a:xfrm>
          <a:prstGeom prst="line">
            <a:avLst/>
          </a:prstGeom>
          <a:ln w="12700">
            <a:solidFill>
              <a:srgbClr val="08080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841896" y="4086982"/>
            <a:ext cx="90284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600" dirty="0">
                <a:solidFill>
                  <a:srgbClr val="080808"/>
                </a:solidFill>
                <a:latin typeface="+mj-ea"/>
                <a:ea typeface="+mj-ea"/>
              </a:rPr>
              <a:t>PART 02</a:t>
            </a:r>
            <a:endParaRPr lang="zh-CN" altLang="en-US" sz="1600" dirty="0">
              <a:solidFill>
                <a:srgbClr val="080808"/>
              </a:solidFill>
              <a:latin typeface="+mj-ea"/>
              <a:ea typeface="+mj-ea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647730" y="2564908"/>
            <a:ext cx="1197175" cy="1197175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8" name="同心圆 1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+mj-ea"/>
                <a:ea typeface="+mj-ea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75" name="TextBox 13"/>
          <p:cNvSpPr txBox="1"/>
          <p:nvPr/>
        </p:nvSpPr>
        <p:spPr>
          <a:xfrm>
            <a:off x="3868338" y="2778774"/>
            <a:ext cx="902846" cy="7689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+mj-ea"/>
                <a:ea typeface="+mj-ea"/>
              </a:rPr>
              <a:t>03</a:t>
            </a:r>
            <a:endParaRPr lang="zh-CN" altLang="en-US" sz="5000" b="1" dirty="0">
              <a:solidFill>
                <a:srgbClr val="C00000"/>
              </a:solidFill>
              <a:latin typeface="+mj-ea"/>
              <a:ea typeface="+mj-ea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3822" y="87720"/>
            <a:ext cx="2361905" cy="8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7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1523932" y="224836"/>
            <a:ext cx="3242945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前</a:t>
            </a:r>
            <a:r>
              <a:rPr lang="en-US" altLang="zh-CN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大问题</a:t>
            </a:r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求解</a:t>
            </a:r>
            <a:endParaRPr lang="zh-CN" altLang="en-US" sz="36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3" name="Picture 9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68220"/>
            <a:ext cx="9144000" cy="213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图片 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822" y="87720"/>
            <a:ext cx="2361905" cy="800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24000" y="1219200"/>
            <a:ext cx="39814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、全局排序</a:t>
            </a:r>
            <a:endParaRPr lang="zh-CN" altLang="en-US" sz="32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24000" y="2049145"/>
            <a:ext cx="349250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>
              <a:lnSpc>
                <a:spcPct val="150000"/>
              </a:lnSpc>
            </a:pPr>
            <a:r>
              <a:rPr sz="1600"/>
              <a:t>作为最直接的方法，就是将这n个数直接排序之后，取出最大得k个，即为所得。</a:t>
            </a:r>
            <a:endParaRPr sz="1600"/>
          </a:p>
          <a:p>
            <a:pPr fontAlgn="auto">
              <a:lnSpc>
                <a:spcPct val="150000"/>
              </a:lnSpc>
            </a:pPr>
            <a:r>
              <a:rPr sz="1600"/>
              <a:t>选择全局排序时间复杂度为</a:t>
            </a:r>
            <a:r>
              <a:rPr sz="1600" b="1"/>
              <a:t>O(nlogn)</a:t>
            </a:r>
            <a:r>
              <a:rPr sz="1600"/>
              <a:t>中比较快速</a:t>
            </a:r>
            <a:r>
              <a:rPr lang="zh-CN" sz="1600"/>
              <a:t>的</a:t>
            </a:r>
            <a:r>
              <a:rPr sz="1600"/>
              <a:t>方法--</a:t>
            </a:r>
            <a:r>
              <a:rPr sz="1600" b="1"/>
              <a:t>快速排序</a:t>
            </a:r>
            <a:r>
              <a:rPr sz="1600"/>
              <a:t>。</a:t>
            </a:r>
            <a:endParaRPr sz="1600"/>
          </a:p>
        </p:txBody>
      </p:sp>
      <p:pic>
        <p:nvPicPr>
          <p:cNvPr id="-2147482580" name="图片 -2147482581" descr="93afd878d98dac223c226516ca017d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7135" y="1214755"/>
            <a:ext cx="6308725" cy="6756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-2147482575" name="图片 -2147482576" descr="de210cc56439caa86634f285402e7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8720" y="2319020"/>
            <a:ext cx="5003800" cy="37604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1523932" y="224836"/>
            <a:ext cx="3242945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前</a:t>
            </a:r>
            <a:r>
              <a:rPr lang="en-US" altLang="zh-CN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大问题</a:t>
            </a:r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求解</a:t>
            </a:r>
            <a:endParaRPr lang="zh-CN" altLang="en-US" sz="36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3" name="Picture 9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68220"/>
            <a:ext cx="9144000" cy="213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图片 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822" y="87720"/>
            <a:ext cx="2361905" cy="800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24000" y="1219200"/>
            <a:ext cx="39814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2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、局部排序</a:t>
            </a:r>
            <a:endParaRPr lang="zh-CN" altLang="en-US" sz="32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24000" y="2049145"/>
            <a:ext cx="34925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>
              <a:lnSpc>
                <a:spcPct val="150000"/>
              </a:lnSpc>
            </a:pPr>
            <a:r>
              <a:rPr sz="1600"/>
              <a:t>只对最大的k个排序。</a:t>
            </a:r>
            <a:endParaRPr sz="1600"/>
          </a:p>
          <a:p>
            <a:pPr fontAlgn="auto">
              <a:lnSpc>
                <a:spcPct val="150000"/>
              </a:lnSpc>
            </a:pPr>
            <a:r>
              <a:rPr sz="1600"/>
              <a:t>选择</a:t>
            </a:r>
            <a:r>
              <a:rPr sz="1600" b="1"/>
              <a:t>选择排序</a:t>
            </a:r>
            <a:r>
              <a:rPr sz="1600"/>
              <a:t>作为局部排序的方案。时间复杂度为</a:t>
            </a:r>
            <a:r>
              <a:rPr sz="1600" b="1"/>
              <a:t>O(nk)</a:t>
            </a:r>
            <a:endParaRPr sz="1600" b="1"/>
          </a:p>
        </p:txBody>
      </p:sp>
      <p:pic>
        <p:nvPicPr>
          <p:cNvPr id="-2147482578" name="图片 -2147482579" descr="8f79031d0d8050b398aa6aa1246bd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8945" y="1219200"/>
            <a:ext cx="7007860" cy="7302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-2147482570" name="图片 -2147482571" descr="dbdfd2fcec3bfff72224d29d17ddd5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1100" y="2280920"/>
            <a:ext cx="5005705" cy="38093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1523932" y="224836"/>
            <a:ext cx="3242945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前</a:t>
            </a:r>
            <a:r>
              <a:rPr lang="en-US" altLang="zh-CN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大问题</a:t>
            </a:r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求解</a:t>
            </a:r>
            <a:endParaRPr lang="zh-CN" altLang="en-US" sz="36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3" name="Picture 9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68220"/>
            <a:ext cx="9144000" cy="213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图片 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822" y="87720"/>
            <a:ext cx="2361905" cy="800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24000" y="1219200"/>
            <a:ext cx="39814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3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、堆排序</a:t>
            </a:r>
            <a:endParaRPr lang="zh-CN" altLang="en-US" sz="32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28" name="Freeform 28"/>
          <p:cNvSpPr/>
          <p:nvPr/>
        </p:nvSpPr>
        <p:spPr>
          <a:xfrm>
            <a:off x="5560060" y="1802765"/>
            <a:ext cx="5715635" cy="4354195"/>
          </a:xfrm>
          <a:custGeom>
            <a:avLst/>
            <a:gdLst/>
            <a:ahLst/>
            <a:cxnLst/>
            <a:rect l="l" t="t" r="r" b="b"/>
            <a:pathLst>
              <a:path w="7466578" h="5534134">
                <a:moveTo>
                  <a:pt x="0" y="0"/>
                </a:moveTo>
                <a:lnTo>
                  <a:pt x="7466578" y="0"/>
                </a:lnTo>
                <a:lnTo>
                  <a:pt x="7466578" y="5534134"/>
                </a:lnTo>
                <a:lnTo>
                  <a:pt x="0" y="55341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文本框 8"/>
          <p:cNvSpPr txBox="1"/>
          <p:nvPr/>
        </p:nvSpPr>
        <p:spPr>
          <a:xfrm>
            <a:off x="1524000" y="2045970"/>
            <a:ext cx="3880485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 b="1"/>
              <a:t>算法原理：</a:t>
            </a:r>
            <a:endParaRPr lang="zh-CN" altLang="en-US" b="1"/>
          </a:p>
          <a:p>
            <a:pPr fontAlgn="auto">
              <a:lnSpc>
                <a:spcPct val="150000"/>
              </a:lnSpc>
            </a:pPr>
            <a:r>
              <a:rPr lang="zh-CN" altLang="en-US"/>
              <a:t>先构建一个</a:t>
            </a:r>
            <a:r>
              <a:rPr lang="zh-CN" altLang="en-US" u="sng"/>
              <a:t>最大堆</a:t>
            </a:r>
            <a:r>
              <a:rPr lang="zh-CN" altLang="en-US"/>
              <a:t>，然后将根节点与数组末尾元素交换，对剩余的元素进行堆化调整，继续重复这个过程直至所有的元素都被排序</a:t>
            </a:r>
            <a:r>
              <a:rPr lang="zh-CN" altLang="en-US"/>
              <a:t>完成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524000" y="4581525"/>
            <a:ext cx="387413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 b="1"/>
              <a:t>构造堆</a:t>
            </a:r>
            <a:r>
              <a:rPr lang="zh-CN" altLang="en-US"/>
              <a:t>：需要对每个非叶子节点（n/2）进行调整，复杂度为</a:t>
            </a:r>
            <a:r>
              <a:rPr lang="zh-CN" altLang="en-US" b="1">
                <a:solidFill>
                  <a:srgbClr val="FF0000"/>
                </a:solidFill>
              </a:rPr>
              <a:t>O(n)</a:t>
            </a:r>
            <a:endParaRPr lang="zh-CN" altLang="en-US" b="1">
              <a:solidFill>
                <a:srgbClr val="FF0000"/>
              </a:solidFill>
            </a:endParaRPr>
          </a:p>
          <a:p>
            <a:pPr fontAlgn="auto">
              <a:lnSpc>
                <a:spcPct val="150000"/>
              </a:lnSpc>
            </a:pPr>
            <a:r>
              <a:rPr lang="zh-CN" altLang="en-US" b="1"/>
              <a:t>堆调整</a:t>
            </a:r>
            <a:r>
              <a:rPr lang="zh-CN" altLang="en-US"/>
              <a:t>：</a:t>
            </a:r>
            <a:r>
              <a:rPr lang="zh-CN" altLang="en-US" b="1">
                <a:solidFill>
                  <a:srgbClr val="FF0000"/>
                </a:solidFill>
              </a:rPr>
              <a:t>O(log n）</a:t>
            </a:r>
            <a:endParaRPr lang="zh-CN" altLang="en-US" b="1">
              <a:solidFill>
                <a:srgbClr val="FF0000"/>
              </a:solidFill>
            </a:endParaRPr>
          </a:p>
          <a:p>
            <a:pPr fontAlgn="auto">
              <a:lnSpc>
                <a:spcPct val="150000"/>
              </a:lnSpc>
            </a:pPr>
            <a:r>
              <a:rPr lang="zh-CN" altLang="en-US" b="1">
                <a:solidFill>
                  <a:schemeClr val="tx1"/>
                </a:solidFill>
              </a:rPr>
              <a:t>时间复杂度：</a:t>
            </a:r>
            <a:r>
              <a:rPr lang="en-US" altLang="zh-CN" b="1">
                <a:solidFill>
                  <a:srgbClr val="FF0000"/>
                </a:solidFill>
              </a:rPr>
              <a:t>O(nlogn)</a:t>
            </a:r>
            <a:endParaRPr lang="en-US" altLang="zh-CN" b="1">
              <a:solidFill>
                <a:srgbClr val="FF0000"/>
              </a:solidFill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 flipV="1">
            <a:off x="3231515" y="1718310"/>
            <a:ext cx="1891665" cy="8337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5123180" y="1379855"/>
            <a:ext cx="1325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根的值</a:t>
            </a:r>
            <a:r>
              <a:rPr lang="zh-CN" altLang="en-US"/>
              <a:t>最大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1523932" y="224836"/>
            <a:ext cx="3242945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前</a:t>
            </a:r>
            <a:r>
              <a:rPr lang="en-US" altLang="zh-CN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大问题</a:t>
            </a:r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求解</a:t>
            </a:r>
            <a:endParaRPr lang="zh-CN" altLang="en-US" sz="36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3" name="Picture 9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68220"/>
            <a:ext cx="9144000" cy="213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图片 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822" y="87720"/>
            <a:ext cx="2361905" cy="800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24000" y="1219200"/>
            <a:ext cx="39814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3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、堆排序</a:t>
            </a:r>
            <a:endParaRPr lang="zh-CN" altLang="en-US" sz="32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24000" y="2545715"/>
            <a:ext cx="449008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00"/>
              <a:t>只找到topK，但是不去排序topK。</a:t>
            </a:r>
            <a:endParaRPr sz="1600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00"/>
              <a:t>用无序数组前k个元素先去生成一个小顶堆，存储当前最大的k个元素。</a:t>
            </a:r>
            <a:endParaRPr sz="1600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00"/>
              <a:t>接着从第k+1个元素开始扫描，与堆顶的元素对</a:t>
            </a:r>
            <a:r>
              <a:rPr lang="zh-CN" sz="1600"/>
              <a:t>比</a:t>
            </a:r>
            <a:r>
              <a:rPr sz="1600"/>
              <a:t>，如果被扫描的元素大于堆顶，则替换堆顶的元素，并调整堆，保证当前堆元素总是当前最大的k个数。</a:t>
            </a:r>
            <a:endParaRPr sz="1600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00" b="1">
                <a:solidFill>
                  <a:srgbClr val="FF0000"/>
                </a:solidFill>
              </a:rPr>
              <a:t>时间复杂度为O(n*log(k))</a:t>
            </a:r>
            <a:r>
              <a:rPr sz="1600"/>
              <a:t>。</a:t>
            </a:r>
            <a:endParaRPr sz="1600"/>
          </a:p>
        </p:txBody>
      </p:sp>
      <p:pic>
        <p:nvPicPr>
          <p:cNvPr id="2" name="图片 -2147482578" descr="24f78a8ad096e824d56135b4b2dff9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470" y="1326515"/>
            <a:ext cx="6924675" cy="7226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-2147482573" descr="b6895087c7ace0379ffe2d7c1c60ae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8895" y="2360295"/>
            <a:ext cx="4667250" cy="3632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1523932" y="224836"/>
            <a:ext cx="3242945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前</a:t>
            </a:r>
            <a:r>
              <a:rPr lang="en-US" altLang="zh-CN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大问题</a:t>
            </a:r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求解</a:t>
            </a:r>
            <a:endParaRPr lang="zh-CN" altLang="en-US" sz="36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3" name="Picture 9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68220"/>
            <a:ext cx="9144000" cy="213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图片 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822" y="87720"/>
            <a:ext cx="2361905" cy="800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24000" y="1219200"/>
            <a:ext cx="39814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4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、随机排序</a:t>
            </a:r>
            <a:endParaRPr lang="zh-CN" altLang="en-US" sz="32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24000" y="2152015"/>
            <a:ext cx="840867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600" b="1"/>
              <a:t>分治法：</a:t>
            </a:r>
            <a:r>
              <a:rPr lang="zh-CN" altLang="en-US" sz="1600"/>
              <a:t>大问题</a:t>
            </a:r>
            <a:r>
              <a:rPr lang="en-US" altLang="zh-CN" sz="1600"/>
              <a:t>--</a:t>
            </a:r>
            <a:r>
              <a:rPr lang="zh-CN" altLang="en-US" sz="1600"/>
              <a:t>小问题</a:t>
            </a:r>
            <a:r>
              <a:rPr lang="en-US" altLang="zh-CN" sz="1600"/>
              <a:t>--</a:t>
            </a:r>
            <a:r>
              <a:rPr lang="zh-CN" altLang="en-US" sz="1600"/>
              <a:t>每个子问题都解决</a:t>
            </a:r>
            <a:r>
              <a:rPr lang="en-US" altLang="zh-CN" sz="1600"/>
              <a:t>  </a:t>
            </a:r>
            <a:r>
              <a:rPr lang="zh-CN" altLang="en-US" sz="1600"/>
              <a:t>【快速排序</a:t>
            </a:r>
            <a:r>
              <a:rPr lang="en-US" altLang="zh-CN" sz="1600"/>
              <a:t> O(</a:t>
            </a:r>
            <a:r>
              <a:rPr lang="en-US" altLang="zh-CN" sz="1600"/>
              <a:t>nlogn)</a:t>
            </a:r>
            <a:r>
              <a:rPr lang="zh-CN" altLang="en-US" sz="1600"/>
              <a:t>】</a:t>
            </a:r>
            <a:endParaRPr lang="zh-CN" altLang="en-US" sz="1600"/>
          </a:p>
          <a:p>
            <a:pPr indent="0" fontAlgn="auto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sz="1600"/>
          </a:p>
          <a:p>
            <a:pPr indent="0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600" b="1"/>
              <a:t>减治法：</a:t>
            </a:r>
            <a:r>
              <a:rPr lang="zh-CN" altLang="en-US" sz="1600"/>
              <a:t>大问题</a:t>
            </a:r>
            <a:r>
              <a:rPr lang="en-US" altLang="zh-CN" sz="1600"/>
              <a:t>--</a:t>
            </a:r>
            <a:r>
              <a:rPr lang="zh-CN" altLang="en-US" sz="1600"/>
              <a:t>小问题</a:t>
            </a:r>
            <a:r>
              <a:rPr lang="en-US" altLang="zh-CN" sz="1600"/>
              <a:t>--</a:t>
            </a:r>
            <a:r>
              <a:rPr lang="zh-CN" altLang="en-US" sz="1600"/>
              <a:t>子问题中只解决一个【二分查找</a:t>
            </a:r>
            <a:r>
              <a:rPr lang="en-US" altLang="zh-CN" sz="1600"/>
              <a:t>O(log n)</a:t>
            </a:r>
            <a:r>
              <a:rPr lang="zh-CN" altLang="en-US" sz="1600"/>
              <a:t>，随机选择</a:t>
            </a:r>
            <a:r>
              <a:rPr lang="en-US" altLang="zh-CN" sz="1600"/>
              <a:t> O(n) </a:t>
            </a:r>
            <a:r>
              <a:rPr lang="zh-CN" altLang="en-US" sz="1600"/>
              <a:t>】</a:t>
            </a:r>
            <a:endParaRPr lang="zh-CN" altLang="en-US" sz="1600"/>
          </a:p>
          <a:p>
            <a:pPr indent="0" fontAlgn="auto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sz="1600"/>
          </a:p>
        </p:txBody>
      </p:sp>
      <p:sp>
        <p:nvSpPr>
          <p:cNvPr id="6" name="文本框 5"/>
          <p:cNvSpPr txBox="1"/>
          <p:nvPr/>
        </p:nvSpPr>
        <p:spPr>
          <a:xfrm>
            <a:off x="1577975" y="4006850"/>
            <a:ext cx="96627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en-US" sz="1600"/>
              <a:t>与堆排序的整体思路类似，我们采用随机排序只希望选出前k大的数，而不去进行排序。</a:t>
            </a:r>
            <a:endParaRPr lang="zh-CN" altLang="en-US" sz="1600"/>
          </a:p>
          <a:p>
            <a:pPr algn="l" fontAlgn="auto">
              <a:lnSpc>
                <a:spcPct val="150000"/>
              </a:lnSpc>
            </a:pPr>
            <a:r>
              <a:rPr lang="zh-CN" altLang="en-US" sz="1600"/>
              <a:t>考虑快速排序的特性，即每次选择一个pivot（基准元素），然后将数组分为两部分，一部分是比基准元素小的，另一部分是比基准元素大的，再继续递归基准元素左右的所有数组元素。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1523932" y="224836"/>
            <a:ext cx="3242945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前</a:t>
            </a:r>
            <a:r>
              <a:rPr lang="en-US" altLang="zh-CN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大问题</a:t>
            </a:r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求解</a:t>
            </a:r>
            <a:endParaRPr lang="zh-CN" altLang="en-US" sz="36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3" name="Picture 9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68220"/>
            <a:ext cx="9144000" cy="213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图片 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822" y="87720"/>
            <a:ext cx="2361905" cy="800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24000" y="1219200"/>
            <a:ext cx="39814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4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、随机排序</a:t>
            </a:r>
            <a:endParaRPr lang="zh-CN" altLang="en-US" sz="32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24000" y="2360295"/>
            <a:ext cx="449008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00"/>
              <a:t>与快速排序不同的是，基于快速选择的随机排序只需要对一部分进行递归，每次划分操作都只需要将问题规模减半，即</a:t>
            </a:r>
            <a:r>
              <a:rPr sz="1600" b="1">
                <a:solidFill>
                  <a:srgbClr val="FF0000"/>
                </a:solidFill>
              </a:rPr>
              <a:t>时间复杂度为O(n)</a:t>
            </a:r>
            <a:r>
              <a:rPr sz="1600"/>
              <a:t>。</a:t>
            </a:r>
            <a:endParaRPr sz="1600"/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00"/>
              <a:t>在最坏情况下，如果每次选择的基准元素恰好都是最大或者最小元素时，时间复杂度为O(n^2)。但是在使用随机基准的情况下，这种情况很少发生</a:t>
            </a:r>
            <a:r>
              <a:rPr lang="zh-CN" sz="1600"/>
              <a:t>。</a:t>
            </a:r>
            <a:endParaRPr lang="zh-CN" sz="1600"/>
          </a:p>
        </p:txBody>
      </p:sp>
      <p:pic>
        <p:nvPicPr>
          <p:cNvPr id="2" name="图片 -2147482577" descr="8ba681c7f6a3408662121c23ef429c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2140" y="1283970"/>
            <a:ext cx="6519545" cy="6794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-2147482572" descr="79c22f5a6483d71b9ded383dae5c0d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0480" y="2359660"/>
            <a:ext cx="4608195" cy="35890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1523932" y="224836"/>
            <a:ext cx="3242945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前</a:t>
            </a:r>
            <a:r>
              <a:rPr lang="en-US" altLang="zh-CN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大问题</a:t>
            </a:r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求解</a:t>
            </a:r>
            <a:endParaRPr lang="zh-CN" altLang="en-US" sz="36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3" name="Picture 9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68220"/>
            <a:ext cx="9144000" cy="213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图片 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822" y="87720"/>
            <a:ext cx="2361905" cy="800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24000" y="1219200"/>
            <a:ext cx="59975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5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、四种排序算法的效率比较</a:t>
            </a:r>
            <a:endParaRPr lang="zh-CN" altLang="en-US" sz="3200" b="1" dirty="0">
              <a:solidFill>
                <a:srgbClr val="FF0000"/>
              </a:solidFill>
              <a:sym typeface="+mn-ea"/>
            </a:endParaRPr>
          </a:p>
        </p:txBody>
      </p:sp>
      <p:pic>
        <p:nvPicPr>
          <p:cNvPr id="-2147482569" name="图片 -21474825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2152015"/>
            <a:ext cx="6489065" cy="407860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8667750" y="2684145"/>
            <a:ext cx="28340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en-US"/>
              <a:t>将</a:t>
            </a:r>
            <a:r>
              <a:rPr lang="en-US" altLang="zh-CN"/>
              <a:t>K</a:t>
            </a:r>
            <a:r>
              <a:rPr lang="zh-CN" altLang="en-US"/>
              <a:t>值设定为</a:t>
            </a:r>
            <a:r>
              <a:rPr lang="en-US" altLang="zh-CN"/>
              <a:t>10</a:t>
            </a:r>
            <a:endParaRPr lang="en-US" altLang="zh-CN"/>
          </a:p>
          <a:p>
            <a:pPr algn="l" fontAlgn="auto">
              <a:lnSpc>
                <a:spcPct val="150000"/>
              </a:lnSpc>
            </a:pPr>
            <a:r>
              <a:rPr lang="zh-CN" altLang="en-US"/>
              <a:t>堆排序优于随机</a:t>
            </a:r>
            <a:r>
              <a:rPr lang="zh-CN" altLang="en-US"/>
              <a:t>排序？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1523932" y="224836"/>
            <a:ext cx="3242945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前</a:t>
            </a:r>
            <a:r>
              <a:rPr lang="en-US" altLang="zh-CN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大问题</a:t>
            </a:r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求解</a:t>
            </a:r>
            <a:endParaRPr lang="zh-CN" altLang="en-US" sz="36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3" name="Picture 9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68220"/>
            <a:ext cx="9144000" cy="213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图片 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822" y="87720"/>
            <a:ext cx="2361905" cy="800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24000" y="1219200"/>
            <a:ext cx="59975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5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、四种排序算法的效率比较</a:t>
            </a:r>
            <a:endParaRPr lang="zh-CN" altLang="en-US" sz="3200" b="1" dirty="0">
              <a:solidFill>
                <a:srgbClr val="FF0000"/>
              </a:solidFill>
              <a:sym typeface="+mn-ea"/>
            </a:endParaRPr>
          </a:p>
        </p:txBody>
      </p:sp>
      <p:pic>
        <p:nvPicPr>
          <p:cNvPr id="-2147482568" name="图片 -21474825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9255" y="2708275"/>
            <a:ext cx="7590155" cy="88963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1717040" y="2152015"/>
            <a:ext cx="1617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/>
              <a:t>增大</a:t>
            </a:r>
            <a:r>
              <a:rPr lang="en-US" altLang="zh-CN" b="1"/>
              <a:t>K</a:t>
            </a:r>
            <a:r>
              <a:rPr lang="zh-CN" altLang="en-US" b="1"/>
              <a:t>值至</a:t>
            </a:r>
            <a:r>
              <a:rPr lang="en-US" altLang="zh-CN" b="1"/>
              <a:t>100</a:t>
            </a:r>
            <a:endParaRPr lang="en-US" altLang="zh-CN" b="1"/>
          </a:p>
        </p:txBody>
      </p:sp>
      <p:sp>
        <p:nvSpPr>
          <p:cNvPr id="5" name="文本框 4"/>
          <p:cNvSpPr txBox="1"/>
          <p:nvPr/>
        </p:nvSpPr>
        <p:spPr>
          <a:xfrm>
            <a:off x="1717040" y="4311650"/>
            <a:ext cx="6126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可以</a:t>
            </a:r>
            <a:r>
              <a:rPr lang="zh-CN" altLang="en-US"/>
              <a:t>看到，堆排序相较于随机排序的时间减少优势更加明显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717040" y="5224780"/>
            <a:ext cx="465264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b="1">
                <a:sym typeface="+mn-ea"/>
              </a:rPr>
              <a:t>总结：</a:t>
            </a:r>
            <a:r>
              <a:rPr lang="zh-CN" altLang="en-US">
                <a:sym typeface="+mn-ea"/>
              </a:rPr>
              <a:t>对于前</a:t>
            </a:r>
            <a:r>
              <a:rPr lang="en-US" altLang="zh-CN">
                <a:sym typeface="+mn-ea"/>
              </a:rPr>
              <a:t>K</a:t>
            </a:r>
            <a:r>
              <a:rPr lang="zh-CN" altLang="en-US">
                <a:sym typeface="+mn-ea"/>
              </a:rPr>
              <a:t>大问题的求解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采取堆排序算法</a:t>
            </a:r>
            <a:endParaRPr lang="zh-CN" altLang="en-US" b="1">
              <a:solidFill>
                <a:srgbClr val="FF0000"/>
              </a:solidFill>
            </a:endParaRPr>
          </a:p>
          <a:p>
            <a:endParaRPr lang="zh-CN" alt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 idx="4294967295"/>
          </p:nvPr>
        </p:nvSpPr>
        <p:spPr>
          <a:xfrm>
            <a:off x="1703512" y="2247008"/>
            <a:ext cx="8964488" cy="1470025"/>
          </a:xfrm>
        </p:spPr>
        <p:txBody>
          <a:bodyPr>
            <a:normAutofit/>
          </a:bodyPr>
          <a:lstStyle/>
          <a:p>
            <a:pPr algn="ctr"/>
            <a:r>
              <a:rPr lang="zh-CN" altLang="en-US" sz="3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  <a:r>
              <a:rPr lang="zh-CN" altLang="en-US" sz="3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倾听！</a:t>
            </a:r>
            <a:endParaRPr lang="zh-CN" altLang="en-US" sz="3600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Picture 9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431664"/>
            <a:ext cx="9144000" cy="213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1937" y="5715700"/>
            <a:ext cx="2361905" cy="800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7427"/>
            <a:ext cx="9144001" cy="2248671"/>
          </a:xfrm>
          <a:prstGeom prst="rect">
            <a:avLst/>
          </a:prstGeom>
        </p:spPr>
      </p:pic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C22DE-872A-4FED-AB0B-502B88775D0D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642225" y="4820285"/>
            <a:ext cx="33915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 dirty="0">
                <a:solidFill>
                  <a:srgbClr val="FF0000"/>
                </a:solidFill>
              </a:rPr>
              <a:t>报告人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：杨韩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冰</a:t>
            </a:r>
            <a:endParaRPr lang="zh-CN" altLang="en-US" sz="2400" b="1" dirty="0" smtClean="0">
              <a:solidFill>
                <a:srgbClr val="FF0000"/>
              </a:solidFill>
            </a:endParaRPr>
          </a:p>
          <a:p>
            <a:r>
              <a:rPr lang="zh-CN" altLang="en-US" sz="2400" b="1" dirty="0" smtClean="0">
                <a:solidFill>
                  <a:srgbClr val="FF0000"/>
                </a:solidFill>
              </a:rPr>
              <a:t>日期：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2025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年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3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月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7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号</a:t>
            </a:r>
            <a:endParaRPr lang="zh-CN" altLang="en-US" sz="2400" b="1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034"/>
    </mc:Choice>
    <mc:Fallback>
      <p:transition spd="slow" advTm="2303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</p:bldLst>
  </p:timing>
</p:sld>
</file>

<file path=ppt/tags/tag1.xml><?xml version="1.0" encoding="utf-8"?>
<p:tagLst xmlns:p="http://schemas.openxmlformats.org/presentationml/2006/main">
  <p:tag name="KSO_WPP_MARK_KEY" val="6350836c-3c14-4a5e-819d-c1ab0389a379"/>
  <p:tag name="COMMONDATA" val="eyJoZGlkIjoiYmI3YWU5ODM1NzcyZWM5NWJjYjI2YjA1YmE3NmRkZG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3790</Words>
  <Application>WPS 演示</Application>
  <PresentationFormat>宽屏</PresentationFormat>
  <Paragraphs>273</Paragraphs>
  <Slides>25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Arial</vt:lpstr>
      <vt:lpstr>宋体</vt:lpstr>
      <vt:lpstr>Wingdings</vt:lpstr>
      <vt:lpstr>微软雅黑</vt:lpstr>
      <vt:lpstr>Times New Roman</vt:lpstr>
      <vt:lpstr>等线</vt:lpstr>
      <vt:lpstr>Arial Unicode MS</vt:lpstr>
      <vt:lpstr>等线 Light</vt:lpstr>
      <vt:lpstr>Calibri</vt:lpstr>
      <vt:lpstr>Yu Gothic</vt:lpstr>
      <vt:lpstr>Office 主题​​</vt:lpstr>
      <vt:lpstr>1_Office 主题​​</vt:lpstr>
      <vt:lpstr>实验1：排序算法性能分析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实验1：排序算法性能分析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黄 俊杰</dc:creator>
  <cp:lastModifiedBy>MoMaek</cp:lastModifiedBy>
  <cp:revision>25</cp:revision>
  <dcterms:created xsi:type="dcterms:W3CDTF">2020-03-24T12:06:00Z</dcterms:created>
  <dcterms:modified xsi:type="dcterms:W3CDTF">2025-03-07T03:30:08Z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CB06CF409F644167AE488BF5B24F32D1</vt:lpwstr>
  </property>
  <property fmtid="{D5CDD505-2E9C-101B-9397-08002B2CF9AE}" pid="3" name="KSOProductBuildVer">
    <vt:lpwstr>2052-11.1.0.12165</vt:lpwstr>
  </property>
</Properties>
</file>