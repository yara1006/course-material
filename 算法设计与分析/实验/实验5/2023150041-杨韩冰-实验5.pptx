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76" r:id="rId5"/>
    <p:sldId id="258" r:id="rId6"/>
    <p:sldId id="277" r:id="rId7"/>
    <p:sldId id="259" r:id="rId8"/>
    <p:sldId id="261" r:id="rId10"/>
    <p:sldId id="278" r:id="rId11"/>
    <p:sldId id="279" r:id="rId12"/>
    <p:sldId id="280" r:id="rId13"/>
    <p:sldId id="281" r:id="rId14"/>
    <p:sldId id="283" r:id="rId15"/>
    <p:sldId id="260" r:id="rId16"/>
    <p:sldId id="262" r:id="rId17"/>
    <p:sldId id="285" r:id="rId18"/>
    <p:sldId id="284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9" r:id="rId30"/>
    <p:sldId id="296" r:id="rId31"/>
    <p:sldId id="266" r:id="rId32"/>
    <p:sldId id="297" r:id="rId33"/>
    <p:sldId id="272" r:id="rId34"/>
  </p:sldIdLst>
  <p:sldSz cx="18288000" cy="10287000"/>
  <p:notesSz cx="6858000" cy="9144000"/>
  <p:embeddedFontLst>
    <p:embeddedFont>
      <p:font typeface="华文琥珀" panose="02010800040101010101" charset="-122"/>
      <p:regular r:id="rId38"/>
    </p:embeddedFont>
    <p:embeddedFont>
      <p:font typeface="方正黑体简体" panose="02000000000000000000" charset="-122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B7CC"/>
    <a:srgbClr val="D4DFE2"/>
    <a:srgbClr val="EAF1EA"/>
    <a:srgbClr val="C2C3D2"/>
    <a:srgbClr val="D3DDD9"/>
    <a:srgbClr val="F6E4E3"/>
    <a:srgbClr val="FFFCF7"/>
    <a:srgbClr val="FBE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88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font" Target="fonts/font6.fntdata"/><Relationship Id="rId42" Type="http://schemas.openxmlformats.org/officeDocument/2006/relationships/font" Target="fonts/font5.fntdata"/><Relationship Id="rId41" Type="http://schemas.openxmlformats.org/officeDocument/2006/relationships/font" Target="fonts/font4.fntdata"/><Relationship Id="rId40" Type="http://schemas.openxmlformats.org/officeDocument/2006/relationships/font" Target="fonts/font3.fntdata"/><Relationship Id="rId4" Type="http://schemas.openxmlformats.org/officeDocument/2006/relationships/slide" Target="slides/slide2.xml"/><Relationship Id="rId39" Type="http://schemas.openxmlformats.org/officeDocument/2006/relationships/font" Target="fonts/font2.fntdata"/><Relationship Id="rId38" Type="http://schemas.openxmlformats.org/officeDocument/2006/relationships/font" Target="fonts/font1.fntdata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在启用路径压缩与按秩合并优化后，单次</a:t>
            </a:r>
            <a:r>
              <a:rPr lang="en-US" altLang="zh-CN"/>
              <a:t> union/find </a:t>
            </a:r>
            <a:r>
              <a:rPr lang="zh-CN" altLang="en-US"/>
              <a:t>操作的均摊时间为</a:t>
            </a:r>
            <a:r>
              <a:rPr lang="en-US" altLang="zh-CN"/>
              <a:t> O(α(n))</a:t>
            </a:r>
            <a:r>
              <a:rPr lang="zh-CN" altLang="en-US"/>
              <a:t>，接近常数，因此每轮复杂度为</a:t>
            </a:r>
            <a:r>
              <a:rPr lang="en-US" altLang="zh-CN"/>
              <a:t> O(m)</a:t>
            </a:r>
            <a:r>
              <a:rPr lang="zh-CN" altLang="en-US"/>
              <a:t>，</a:t>
            </a:r>
            <a:r>
              <a:rPr lang="en-US" altLang="zh-CN"/>
              <a:t>m </a:t>
            </a:r>
            <a:r>
              <a:rPr lang="zh-CN" altLang="en-US"/>
              <a:t>轮总复杂度为</a:t>
            </a:r>
            <a:r>
              <a:rPr lang="en-US" altLang="zh-CN"/>
              <a:t> O(m</a:t>
            </a:r>
            <a:r>
              <a:rPr lang="en-US" altLang="en-US"/>
              <a:t>²</a:t>
            </a:r>
            <a:r>
              <a:rPr lang="en-US" altLang="zh-CN"/>
              <a:t>)</a:t>
            </a:r>
            <a:r>
              <a:rPr lang="zh-CN" altLang="en-US"/>
              <a:t>。若保守估计</a:t>
            </a:r>
            <a:r>
              <a:rPr lang="en-US" altLang="zh-CN"/>
              <a:t> union </a:t>
            </a:r>
            <a:r>
              <a:rPr lang="zh-CN" altLang="en-US"/>
              <a:t>为</a:t>
            </a:r>
            <a:r>
              <a:rPr lang="en-US" altLang="zh-CN"/>
              <a:t> O(log m)</a:t>
            </a:r>
            <a:r>
              <a:rPr lang="zh-CN" altLang="en-US"/>
              <a:t>，则为</a:t>
            </a:r>
            <a:r>
              <a:rPr lang="en-US" altLang="zh-CN"/>
              <a:t> O(m</a:t>
            </a:r>
            <a:r>
              <a:rPr lang="en-US" altLang="en-US"/>
              <a:t>²</a:t>
            </a:r>
            <a:r>
              <a:rPr lang="en-US" altLang="zh-CN"/>
              <a:t>·log m)</a:t>
            </a:r>
            <a:r>
              <a:rPr lang="zh-CN" altLang="en-US"/>
              <a:t>，但实际运行中趋近于</a:t>
            </a:r>
            <a:r>
              <a:rPr lang="en-US" altLang="zh-CN"/>
              <a:t> O(m</a:t>
            </a:r>
            <a:r>
              <a:rPr lang="en-US" altLang="en-US"/>
              <a:t>²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你的原分析：</a:t>
            </a:r>
            <a:endParaRPr lang="zh-CN" altLang="en-US"/>
          </a:p>
          <a:p>
            <a:r>
              <a:rPr lang="zh-CN" altLang="en-US"/>
              <a:t>每条边最多</a:t>
            </a:r>
            <a:r>
              <a:rPr lang="en-US" altLang="zh-CN"/>
              <a:t> log m </a:t>
            </a:r>
            <a:r>
              <a:rPr lang="zh-CN" altLang="en-US"/>
              <a:t>层，</a:t>
            </a:r>
            <a:r>
              <a:rPr lang="en-US" altLang="zh-CN"/>
              <a:t>Push/Pop </a:t>
            </a:r>
            <a:r>
              <a:rPr lang="zh-CN" altLang="en-US"/>
              <a:t>总次数</a:t>
            </a:r>
            <a:r>
              <a:rPr lang="en-US" altLang="zh-CN"/>
              <a:t> O(mlogm)</a:t>
            </a:r>
            <a:r>
              <a:rPr lang="zh-CN" altLang="en-US"/>
              <a:t>，总复杂度</a:t>
            </a:r>
            <a:r>
              <a:rPr lang="en-US" altLang="zh-CN"/>
              <a:t> O(m·log</a:t>
            </a:r>
            <a:r>
              <a:rPr lang="en-US" altLang="en-US"/>
              <a:t>²</a:t>
            </a:r>
            <a:r>
              <a:rPr lang="en-US" altLang="zh-CN"/>
              <a:t>m)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实际更准确的描述：</a:t>
            </a:r>
            <a:endParaRPr lang="zh-CN" altLang="en-US"/>
          </a:p>
          <a:p>
            <a:r>
              <a:rPr lang="zh-CN" altLang="en-US"/>
              <a:t>每条边在</a:t>
            </a:r>
            <a:r>
              <a:rPr lang="en-US" altLang="zh-CN"/>
              <a:t> log m </a:t>
            </a:r>
            <a:r>
              <a:rPr lang="zh-CN" altLang="en-US"/>
              <a:t>层合并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Push/Pop O(log m) </a:t>
            </a:r>
            <a:r>
              <a:rPr lang="zh-CN" altLang="en-US"/>
              <a:t>次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每次操作（</a:t>
            </a:r>
            <a:r>
              <a:rPr lang="en-US" altLang="zh-CN"/>
              <a:t>Union</a:t>
            </a:r>
            <a:r>
              <a:rPr lang="zh-CN" altLang="en-US"/>
              <a:t>）为</a:t>
            </a:r>
            <a:r>
              <a:rPr lang="en-US" altLang="zh-CN"/>
              <a:t> O(α(n)) ≈ O(1)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所以总时间复杂度为：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𝑂</a:t>
            </a:r>
            <a:endParaRPr lang="zh-CN" altLang="en-US"/>
          </a:p>
          <a:p>
            <a:r>
              <a:rPr lang="en-US" altLang="zh-CN"/>
              <a:t>(</a:t>
            </a:r>
            <a:endParaRPr lang="en-US" altLang="zh-CN"/>
          </a:p>
          <a:p>
            <a:r>
              <a:rPr lang="zh-CN" altLang="en-US"/>
              <a:t>𝑚</a:t>
            </a:r>
            <a:endParaRPr lang="zh-CN" altLang="en-US"/>
          </a:p>
          <a:p>
            <a:r>
              <a:rPr lang="en-US" altLang="zh-CN"/>
              <a:t>log</a:t>
            </a:r>
            <a:endParaRPr lang="en-US" altLang="zh-CN"/>
          </a:p>
          <a:p>
            <a:r>
              <a:rPr lang="en-US" altLang="zh-CN"/>
              <a:t>⁡</a:t>
            </a:r>
            <a:endParaRPr lang="en-US" altLang="zh-CN"/>
          </a:p>
          <a:p>
            <a:r>
              <a:rPr lang="zh-CN" altLang="en-US"/>
              <a:t>𝑚</a:t>
            </a:r>
            <a:endParaRPr lang="zh-CN" altLang="en-US"/>
          </a:p>
          <a:p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O(mlogm)</a:t>
            </a:r>
            <a:endParaRPr lang="en-US" altLang="zh-CN"/>
          </a:p>
          <a:p>
            <a:r>
              <a:rPr lang="zh-CN" altLang="en-US"/>
              <a:t>🔺你说</a:t>
            </a:r>
            <a:r>
              <a:rPr lang="en-US" altLang="zh-CN"/>
              <a:t> O(m · log</a:t>
            </a:r>
            <a:r>
              <a:rPr lang="en-US" altLang="en-US"/>
              <a:t>²</a:t>
            </a:r>
            <a:r>
              <a:rPr lang="en-US" altLang="zh-CN"/>
              <a:t>m) </a:t>
            </a:r>
            <a:r>
              <a:rPr lang="zh-CN" altLang="en-US"/>
              <a:t>是在假设</a:t>
            </a:r>
            <a:r>
              <a:rPr lang="en-US" altLang="zh-CN"/>
              <a:t> Union </a:t>
            </a:r>
            <a:r>
              <a:rPr lang="zh-CN" altLang="en-US"/>
              <a:t>复杂度为</a:t>
            </a:r>
            <a:r>
              <a:rPr lang="en-US" altLang="zh-CN"/>
              <a:t> O(log m) </a:t>
            </a:r>
            <a:r>
              <a:rPr lang="zh-CN" altLang="en-US"/>
              <a:t>时成立的（保守估计），但实际更合理地说是</a:t>
            </a:r>
            <a:r>
              <a:rPr lang="en-US" altLang="zh-CN"/>
              <a:t> O(m log m)</a:t>
            </a:r>
            <a:r>
              <a:rPr lang="zh-CN" altLang="en-US"/>
              <a:t>，因为</a:t>
            </a:r>
            <a:r>
              <a:rPr lang="en-US" altLang="zh-CN"/>
              <a:t> Union </a:t>
            </a:r>
            <a:r>
              <a:rPr lang="zh-CN" altLang="en-US"/>
              <a:t>是几乎</a:t>
            </a:r>
            <a:r>
              <a:rPr lang="en-US" altLang="zh-CN"/>
              <a:t> O(1)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slide" Target="slide14.xml"/><Relationship Id="rId3" Type="http://schemas.openxmlformats.org/officeDocument/2006/relationships/slide" Target="slide4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0.GI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0.GI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0.GIF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image" Target="../media/image20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16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.png"/><Relationship Id="rId3" Type="http://schemas.openxmlformats.org/officeDocument/2006/relationships/image" Target="../media/image16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GIF"/><Relationship Id="rId2" Type="http://schemas.openxmlformats.org/officeDocument/2006/relationships/image" Target="../media/image13.GIF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0.GIF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2.png"/><Relationship Id="rId3" Type="http://schemas.openxmlformats.org/officeDocument/2006/relationships/image" Target="../media/image36.GIF"/><Relationship Id="rId2" Type="http://schemas.openxmlformats.org/officeDocument/2006/relationships/image" Target="../media/image13.GIF"/><Relationship Id="rId1" Type="http://schemas.openxmlformats.org/officeDocument/2006/relationships/image" Target="../media/image20.GIF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36.GIF"/><Relationship Id="rId2" Type="http://schemas.openxmlformats.org/officeDocument/2006/relationships/image" Target="../media/image13.GIF"/><Relationship Id="rId1" Type="http://schemas.openxmlformats.org/officeDocument/2006/relationships/image" Target="../media/image20.GIF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GIF"/><Relationship Id="rId3" Type="http://schemas.openxmlformats.org/officeDocument/2006/relationships/image" Target="../media/image26.GIF"/><Relationship Id="rId2" Type="http://schemas.openxmlformats.org/officeDocument/2006/relationships/image" Target="../media/image1.GIF"/><Relationship Id="rId1" Type="http://schemas.openxmlformats.org/officeDocument/2006/relationships/image" Target="../media/image4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3000870" y="4304347"/>
            <a:ext cx="12286260" cy="2995681"/>
            <a:chOff x="-1" y="1799495"/>
            <a:chExt cx="16381679" cy="3994241"/>
          </a:xfrm>
        </p:grpSpPr>
        <p:sp>
          <p:nvSpPr>
            <p:cNvPr id="4" name="TextBox 4"/>
            <p:cNvSpPr txBox="1"/>
            <p:nvPr/>
          </p:nvSpPr>
          <p:spPr>
            <a:xfrm>
              <a:off x="-1" y="1799495"/>
              <a:ext cx="16381678" cy="2237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90"/>
                </a:lnSpc>
              </a:pPr>
              <a:r>
                <a:rPr lang="en-US" sz="9900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Hertical Rough"/>
                </a:rPr>
                <a:t>实验5 图论-桥问题</a:t>
              </a:r>
              <a:endParaRPr lang="en-US" sz="99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Hertical Rough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074916"/>
              <a:ext cx="16381678" cy="718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5"/>
                </a:lnSpc>
                <a:spcBef>
                  <a:spcPct val="0"/>
                </a:spcBef>
              </a:pPr>
              <a:r>
                <a:rPr lang="zh-CN" altLang="en-US" sz="3005" b="1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Agrandir" panose="00000500000000000000"/>
                </a:rPr>
                <a:t>杨韩冰</a:t>
              </a:r>
              <a:r>
                <a:rPr lang="en-US" altLang="zh-CN" sz="3005" b="1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Agrandir" panose="00000500000000000000"/>
                </a:rPr>
                <a:t>      2023150041</a:t>
              </a:r>
              <a:endParaRPr lang="en-US" altLang="zh-CN" sz="3005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Agrandir" panose="00000500000000000000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1524000" y="4076700"/>
            <a:ext cx="5044440" cy="2280920"/>
            <a:chOff x="-249954" y="-1422098"/>
            <a:chExt cx="3460767" cy="1251930"/>
          </a:xfrm>
        </p:grpSpPr>
        <p:sp>
          <p:nvSpPr>
            <p:cNvPr id="4" name="Freeform 4"/>
            <p:cNvSpPr/>
            <p:nvPr/>
          </p:nvSpPr>
          <p:spPr>
            <a:xfrm>
              <a:off x="-249954" y="-1422098"/>
              <a:ext cx="3460767" cy="1251930"/>
            </a:xfrm>
            <a:custGeom>
              <a:avLst/>
              <a:gdLst/>
              <a:ahLst/>
              <a:cxnLst/>
              <a:rect l="l" t="t" r="r" b="b"/>
              <a:pathLst>
                <a:path w="3460767" h="1251930">
                  <a:moveTo>
                    <a:pt x="3336307" y="1251930"/>
                  </a:moveTo>
                  <a:lnTo>
                    <a:pt x="124460" y="1251930"/>
                  </a:lnTo>
                  <a:cubicBezTo>
                    <a:pt x="55880" y="1251930"/>
                    <a:pt x="0" y="1196050"/>
                    <a:pt x="0" y="11274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36307" y="0"/>
                  </a:lnTo>
                  <a:cubicBezTo>
                    <a:pt x="3404887" y="0"/>
                    <a:pt x="3460767" y="55880"/>
                    <a:pt x="3460767" y="124460"/>
                  </a:cubicBezTo>
                  <a:lnTo>
                    <a:pt x="3460767" y="1127470"/>
                  </a:lnTo>
                  <a:cubicBezTo>
                    <a:pt x="3460767" y="1196050"/>
                    <a:pt x="3404887" y="1251930"/>
                    <a:pt x="3336307" y="1251930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819400" y="4686300"/>
            <a:ext cx="3677920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 u="none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目录</a:t>
            </a:r>
            <a:endParaRPr lang="zh-CN" altLang="en-US" sz="7000" b="1" u="none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9809000" y="2776259"/>
            <a:ext cx="6907145" cy="868440"/>
            <a:chOff x="0" y="0"/>
            <a:chExt cx="9209527" cy="11579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3" action="ppaction://hlinksldjump"/>
                </a:rPr>
                <a:t>问题分析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3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3" action="ppaction://hlinksldjump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1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9809000" y="4064940"/>
            <a:ext cx="6907145" cy="868440"/>
            <a:chOff x="0" y="0"/>
            <a:chExt cx="9209527" cy="1157920"/>
          </a:xfrm>
        </p:grpSpPr>
        <p:sp>
          <p:nvSpPr>
            <p:cNvPr id="17" name="TextBox 17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4" action="ppaction://hlinksldjump"/>
                </a:rPr>
                <a:t>基准算法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4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4" action="ppaction://hlinksldjump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2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809000" y="5353620"/>
            <a:ext cx="6907145" cy="868440"/>
            <a:chOff x="0" y="0"/>
            <a:chExt cx="9209527" cy="1157920"/>
          </a:xfrm>
        </p:grpSpPr>
        <p:sp>
          <p:nvSpPr>
            <p:cNvPr id="21" name="TextBox 21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并查集算法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5" action="ppaction://hlinksldjump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3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9809000" y="6642301"/>
            <a:ext cx="6907145" cy="868440"/>
            <a:chOff x="0" y="0"/>
            <a:chExt cx="9209527" cy="1157920"/>
          </a:xfrm>
        </p:grpSpPr>
        <p:sp>
          <p:nvSpPr>
            <p:cNvPr id="25" name="TextBox 25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算法优化</a:t>
              </a:r>
              <a:endParaRPr lang="zh-CN" altLang="en-US" sz="3000" b="1">
                <a:solidFill>
                  <a:srgbClr val="2B2B2B"/>
                </a:solidFill>
                <a:latin typeface="Agrandir" panose="00000500000000000000"/>
                <a:ea typeface="宋体" panose="02010600030101010101" pitchFamily="2" charset="-122"/>
                <a:cs typeface="Agrandir" panose="00000500000000000000"/>
                <a:sym typeface="Agrandir" panose="00000500000000000000"/>
                <a:hlinkClick r:id="rId5" action="ppaction://hlinksldjump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4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8" name="Group 24"/>
          <p:cNvGrpSpPr/>
          <p:nvPr/>
        </p:nvGrpSpPr>
        <p:grpSpPr>
          <a:xfrm rot="0">
            <a:off x="9809000" y="7928811"/>
            <a:ext cx="6907145" cy="868440"/>
            <a:chOff x="0" y="0"/>
            <a:chExt cx="9209527" cy="1157920"/>
          </a:xfrm>
        </p:grpSpPr>
        <p:sp>
          <p:nvSpPr>
            <p:cNvPr id="29" name="TextBox 25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结果分析</a:t>
              </a:r>
              <a:endParaRPr lang="zh-CN" altLang="en-US" sz="3000" b="1">
                <a:solidFill>
                  <a:srgbClr val="2B2B2B"/>
                </a:solidFill>
                <a:latin typeface="Agrandir" panose="00000500000000000000"/>
                <a:ea typeface="宋体" panose="02010600030101010101" pitchFamily="2" charset="-122"/>
                <a:cs typeface="Agrandir" panose="00000500000000000000"/>
                <a:sym typeface="Agrandir" panose="00000500000000000000"/>
                <a:hlinkClick r:id="rId5" action="ppaction://hlinksldjump"/>
              </a:endParaRPr>
            </a:p>
          </p:txBody>
        </p:sp>
        <p:sp>
          <p:nvSpPr>
            <p:cNvPr id="30" name="Freeform 2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TextBox 27"/>
            <p:cNvSpPr txBox="1"/>
            <p:nvPr/>
          </p:nvSpPr>
          <p:spPr>
            <a:xfrm>
              <a:off x="351305" y="370916"/>
              <a:ext cx="421625" cy="334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5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问题分析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0886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问题分析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19200" y="2095500"/>
            <a:ext cx="10786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实验要求找出一个</a:t>
            </a: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无向图</a:t>
            </a:r>
            <a:r>
              <a:rPr lang="en-US" altLang="zh-CN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G=(V,E)</a:t>
            </a: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（不一定连通）中的所有</a:t>
            </a:r>
            <a:r>
              <a:rPr lang="en-US" altLang="zh-CN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“</a:t>
            </a: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桥</a:t>
            </a:r>
            <a:r>
              <a:rPr lang="en-US" altLang="zh-CN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”</a:t>
            </a:r>
            <a:endParaRPr lang="en-US" altLang="zh-CN" sz="2400" b="1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2994660"/>
            <a:ext cx="9904730" cy="1191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b="1"/>
              <a:t>什么是</a:t>
            </a:r>
            <a:r>
              <a:rPr lang="en-US" altLang="zh-CN" sz="2400" b="1"/>
              <a:t>“</a:t>
            </a:r>
            <a:r>
              <a:rPr lang="zh-CN" altLang="en-US" sz="2400" b="1"/>
              <a:t>桥</a:t>
            </a:r>
            <a:r>
              <a:rPr lang="en-US" altLang="zh-CN" sz="2400" b="1"/>
              <a:t>”</a:t>
            </a:r>
            <a:r>
              <a:rPr lang="zh-CN" altLang="en-US" sz="2400" b="1"/>
              <a:t>？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一条边被称为</a:t>
            </a:r>
            <a:r>
              <a:rPr lang="en-US" altLang="zh-CN" sz="2400"/>
              <a:t>“</a:t>
            </a:r>
            <a:r>
              <a:rPr lang="zh-CN" altLang="en-US" sz="2400"/>
              <a:t>桥</a:t>
            </a:r>
            <a:r>
              <a:rPr lang="en-US" altLang="zh-CN" sz="2400"/>
              <a:t>”</a:t>
            </a:r>
            <a:r>
              <a:rPr lang="zh-CN" altLang="en-US" sz="2400"/>
              <a:t>代表这条边一旦被删除，这张图的连通块数量会增加</a:t>
            </a:r>
            <a:endParaRPr lang="zh-CN" altLang="en-US" sz="2400"/>
          </a:p>
        </p:txBody>
      </p:sp>
      <p:pic>
        <p:nvPicPr>
          <p:cNvPr id="4" name="图片 15" descr="https://upload.wikimedia.org/wikipedia/commons/thumb/b/bf/Undirected.svg/125px-Undirected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991100"/>
            <a:ext cx="1866900" cy="16878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597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457700"/>
            <a:ext cx="2643505" cy="2643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-2147482604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970" y="4401185"/>
            <a:ext cx="2804795" cy="28047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-2147482525" descr="https://upload.wikimedia.org/wikipedia/commons/thumb/b/bf/Undirected.svg/125px-Undirected.sv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4991100"/>
            <a:ext cx="1772285" cy="16027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2133600" y="7048500"/>
            <a:ext cx="275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没有桥的无向连通图</a:t>
            </a:r>
            <a:endParaRPr lang="zh-CN" altLang="en-US" sz="2000"/>
          </a:p>
        </p:txBody>
      </p:sp>
      <p:sp>
        <p:nvSpPr>
          <p:cNvPr id="15" name="右箭头 14"/>
          <p:cNvSpPr/>
          <p:nvPr/>
        </p:nvSpPr>
        <p:spPr>
          <a:xfrm>
            <a:off x="2971800" y="5753100"/>
            <a:ext cx="914400" cy="381000"/>
          </a:xfrm>
          <a:prstGeom prst="rightArrow">
            <a:avLst/>
          </a:prstGeom>
          <a:solidFill>
            <a:srgbClr val="D3DDD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9132570" y="5605780"/>
            <a:ext cx="914400" cy="342265"/>
          </a:xfrm>
          <a:prstGeom prst="rightArrow">
            <a:avLst/>
          </a:prstGeom>
          <a:solidFill>
            <a:srgbClr val="D3DDD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34200" y="7205980"/>
            <a:ext cx="593280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16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个顶点和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个桥的图（桥以红色线段标示）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连通分量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4--&gt;5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 animBg="1"/>
      <p:bldP spid="16" grpId="0" animBg="1"/>
      <p:bldP spid="17" grpId="0"/>
      <p:bldP spid="10" grpId="1"/>
      <p:bldP spid="12" grpId="1"/>
      <p:bldP spid="13" grpId="1"/>
      <p:bldP spid="15" grpId="1" animBg="1"/>
      <p:bldP spid="14" grpId="1"/>
      <p:bldP spid="16" grpId="1" animBg="1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02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基准算法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基准算法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9200" y="2019300"/>
            <a:ext cx="91141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>
                <a:latin typeface="+mn-ea"/>
                <a:cs typeface="+mn-ea"/>
                <a:sym typeface="+mn-ea"/>
              </a:rPr>
              <a:t>算法思路：</a:t>
            </a:r>
            <a:endParaRPr lang="en-US" altLang="zh-CN" sz="20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+mn-ea"/>
                <a:cs typeface="+mn-ea"/>
              </a:rPr>
              <a:t>“</a:t>
            </a:r>
            <a:r>
              <a:rPr lang="zh-CN" altLang="en-US" sz="2000">
                <a:latin typeface="+mn-ea"/>
                <a:cs typeface="+mn-ea"/>
              </a:rPr>
              <a:t>桥</a:t>
            </a:r>
            <a:r>
              <a:rPr lang="en-US" altLang="zh-CN" sz="2000">
                <a:latin typeface="+mn-ea"/>
                <a:cs typeface="+mn-ea"/>
              </a:rPr>
              <a:t>”</a:t>
            </a:r>
            <a:r>
              <a:rPr lang="zh-CN" altLang="en-US" sz="2000">
                <a:latin typeface="+mn-ea"/>
                <a:cs typeface="+mn-ea"/>
              </a:rPr>
              <a:t>的关键在于改变了图的连通性。</a:t>
            </a:r>
            <a:endParaRPr lang="zh-CN" altLang="en-US" sz="20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cs typeface="+mn-ea"/>
              </a:rPr>
              <a:t>遍历每条边</a:t>
            </a:r>
            <a:r>
              <a:rPr lang="en-US" altLang="zh-CN" sz="2000">
                <a:latin typeface="+mn-ea"/>
                <a:cs typeface="+mn-ea"/>
              </a:rPr>
              <a:t> (u, v)</a:t>
            </a:r>
            <a:r>
              <a:rPr lang="zh-CN" altLang="en-US" sz="2000">
                <a:latin typeface="+mn-ea"/>
                <a:cs typeface="+mn-ea"/>
              </a:rPr>
              <a:t>，在不使用该边的前提下，使用</a:t>
            </a:r>
            <a:r>
              <a:rPr lang="en-US" altLang="zh-CN" sz="2000">
                <a:latin typeface="+mn-ea"/>
                <a:cs typeface="+mn-ea"/>
              </a:rPr>
              <a:t> BFS </a:t>
            </a:r>
            <a:r>
              <a:rPr lang="zh-CN" altLang="en-US" sz="2000">
                <a:latin typeface="+mn-ea"/>
                <a:cs typeface="+mn-ea"/>
              </a:rPr>
              <a:t>从</a:t>
            </a:r>
            <a:r>
              <a:rPr lang="en-US" altLang="zh-CN" sz="2000">
                <a:latin typeface="+mn-ea"/>
                <a:cs typeface="+mn-ea"/>
              </a:rPr>
              <a:t> u </a:t>
            </a:r>
            <a:r>
              <a:rPr lang="zh-CN" altLang="en-US" sz="2000">
                <a:latin typeface="+mn-ea"/>
                <a:cs typeface="+mn-ea"/>
              </a:rPr>
              <a:t>出发尝试到达</a:t>
            </a:r>
            <a:r>
              <a:rPr lang="en-US" altLang="zh-CN" sz="2000">
                <a:latin typeface="+mn-ea"/>
                <a:cs typeface="+mn-ea"/>
              </a:rPr>
              <a:t> v</a:t>
            </a:r>
            <a:r>
              <a:rPr lang="zh-CN" altLang="en-US" sz="2000">
                <a:latin typeface="+mn-ea"/>
                <a:cs typeface="+mn-ea"/>
              </a:rPr>
              <a:t>；</a:t>
            </a:r>
            <a:endParaRPr lang="zh-CN" altLang="en-US" sz="20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cs typeface="+mn-ea"/>
              </a:rPr>
              <a:t>如果在跳过当前边的条件下，</a:t>
            </a:r>
            <a:r>
              <a:rPr lang="en-US" altLang="zh-CN" sz="2000">
                <a:latin typeface="+mn-ea"/>
                <a:cs typeface="+mn-ea"/>
              </a:rPr>
              <a:t>u </a:t>
            </a:r>
            <a:r>
              <a:rPr lang="zh-CN" altLang="en-US" sz="2000">
                <a:latin typeface="+mn-ea"/>
                <a:cs typeface="+mn-ea"/>
              </a:rPr>
              <a:t>无法访问到</a:t>
            </a:r>
            <a:r>
              <a:rPr lang="en-US" altLang="zh-CN" sz="2000">
                <a:latin typeface="+mn-ea"/>
                <a:cs typeface="+mn-ea"/>
              </a:rPr>
              <a:t> v</a:t>
            </a:r>
            <a:r>
              <a:rPr lang="zh-CN" altLang="en-US" sz="2000">
                <a:latin typeface="+mn-ea"/>
                <a:cs typeface="+mn-ea"/>
              </a:rPr>
              <a:t>，说明这条边的删除断开了它们之间的唯一路径；</a:t>
            </a:r>
            <a:endParaRPr lang="zh-CN" altLang="en-US" sz="20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cs typeface="+mn-ea"/>
              </a:rPr>
              <a:t>据此判断该边为</a:t>
            </a:r>
            <a:r>
              <a:rPr lang="en-US" altLang="zh-CN" sz="2000">
                <a:latin typeface="+mn-ea"/>
                <a:cs typeface="+mn-ea"/>
              </a:rPr>
              <a:t>“</a:t>
            </a:r>
            <a:r>
              <a:rPr lang="zh-CN" altLang="en-US" sz="2000">
                <a:latin typeface="+mn-ea"/>
                <a:cs typeface="+mn-ea"/>
              </a:rPr>
              <a:t>桥</a:t>
            </a:r>
            <a:r>
              <a:rPr lang="en-US" altLang="zh-CN" sz="2000">
                <a:latin typeface="+mn-ea"/>
                <a:cs typeface="+mn-ea"/>
              </a:rPr>
              <a:t>”</a:t>
            </a:r>
            <a:r>
              <a:rPr lang="zh-CN" altLang="en-US" sz="2000">
                <a:latin typeface="+mn-ea"/>
                <a:cs typeface="+mn-ea"/>
              </a:rPr>
              <a:t>。</a:t>
            </a:r>
            <a:endParaRPr lang="zh-CN" altLang="en-US" sz="2000"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5600700"/>
            <a:ext cx="16141065" cy="4077335"/>
          </a:xfrm>
          <a:prstGeom prst="rect">
            <a:avLst/>
          </a:prstGeom>
          <a:solidFill>
            <a:schemeClr val="bg1"/>
          </a:solidFill>
          <a:ln>
            <a:solidFill>
              <a:srgbClr val="C2C3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暂时删除边（</a:t>
            </a:r>
            <a:r>
              <a:rPr lang="en-US" altLang="zh-CN"/>
              <a:t>5,9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6057900"/>
            <a:ext cx="2684780" cy="2434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-21474825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946140"/>
            <a:ext cx="3113405" cy="254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1905000" y="8636000"/>
            <a:ext cx="2550160" cy="64516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暂时删除边（</a:t>
            </a:r>
            <a:r>
              <a:rPr lang="en-US" altLang="zh-CN">
                <a:latin typeface="Times New Roman" panose="02020603050405020304"/>
                <a:ea typeface="Times New Roman" panose="02020603050405020304"/>
              </a:rPr>
              <a:t>1,2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尝试从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，不成功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05400" y="8648700"/>
            <a:ext cx="2239010" cy="64516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暂时删除边（</a:t>
            </a:r>
            <a:r>
              <a:rPr lang="en-US" altLang="zh-CN">
                <a:latin typeface="Times New Roman" panose="02020603050405020304"/>
                <a:ea typeface="Times New Roman" panose="02020603050405020304"/>
              </a:rPr>
              <a:t>5,9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尝试从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，成功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-2147482596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5676900"/>
            <a:ext cx="2990850" cy="2990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-2147482598" descr="8744ddf079b754872659cc76c5b46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5753100"/>
            <a:ext cx="2849245" cy="28181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10439400" y="2297430"/>
            <a:ext cx="5526405" cy="3150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zh-CN" altLang="en-US" sz="2000" b="1">
                <a:latin typeface="+mn-ea"/>
                <a:cs typeface="+mn-ea"/>
              </a:rPr>
              <a:t>2.时间复杂度：</a:t>
            </a:r>
            <a:endParaRPr lang="zh-CN" altLang="en-US" sz="20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假设图中顶点数为</a:t>
            </a:r>
            <a:r>
              <a:rPr lang="en-US" altLang="zh-CN" sz="2000">
                <a:latin typeface="+mn-ea"/>
                <a:cs typeface="+mn-ea"/>
              </a:rPr>
              <a:t> n</a:t>
            </a:r>
            <a:r>
              <a:rPr lang="zh-CN" altLang="en-US" sz="2000">
                <a:latin typeface="+mn-ea"/>
                <a:cs typeface="+mn-ea"/>
              </a:rPr>
              <a:t>，边数为</a:t>
            </a:r>
            <a:r>
              <a:rPr lang="en-US" altLang="zh-CN" sz="2000">
                <a:latin typeface="+mn-ea"/>
                <a:cs typeface="+mn-ea"/>
              </a:rPr>
              <a:t> m</a:t>
            </a:r>
            <a:r>
              <a:rPr lang="zh-CN" altLang="en-US" sz="2000">
                <a:latin typeface="+mn-ea"/>
                <a:cs typeface="+mn-ea"/>
              </a:rPr>
              <a:t>。</a:t>
            </a:r>
            <a:endParaRPr lang="zh-CN" altLang="en-US" sz="20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每次删一条边</a:t>
            </a:r>
            <a:r>
              <a:rPr lang="en-US" altLang="zh-CN" sz="2000">
                <a:latin typeface="+mn-ea"/>
                <a:cs typeface="+mn-ea"/>
              </a:rPr>
              <a:t> </a:t>
            </a:r>
            <a:r>
              <a:rPr lang="en-US" altLang="en-US" sz="2000">
                <a:latin typeface="+mn-ea"/>
                <a:cs typeface="+mn-ea"/>
              </a:rPr>
              <a:t>→</a:t>
            </a:r>
            <a:r>
              <a:rPr lang="en-US" altLang="zh-CN" sz="2000">
                <a:latin typeface="+mn-ea"/>
                <a:cs typeface="+mn-ea"/>
              </a:rPr>
              <a:t> BFS </a:t>
            </a:r>
            <a:r>
              <a:rPr lang="zh-CN" altLang="en-US" sz="2000">
                <a:latin typeface="+mn-ea"/>
                <a:cs typeface="+mn-ea"/>
              </a:rPr>
              <a:t>判断两点是否连通，</a:t>
            </a:r>
            <a:r>
              <a:rPr lang="en-US" altLang="zh-CN" sz="2000">
                <a:latin typeface="+mn-ea"/>
                <a:cs typeface="+mn-ea"/>
              </a:rPr>
              <a:t>BFS </a:t>
            </a:r>
            <a:r>
              <a:rPr lang="zh-CN" altLang="en-US" sz="2000">
                <a:latin typeface="+mn-ea"/>
                <a:cs typeface="+mn-ea"/>
              </a:rPr>
              <a:t>最多遍历一次全图，复杂度</a:t>
            </a:r>
            <a:r>
              <a:rPr lang="en-US" altLang="zh-CN" sz="2000">
                <a:latin typeface="+mn-ea"/>
                <a:cs typeface="+mn-ea"/>
              </a:rPr>
              <a:t> O(n + m)</a:t>
            </a:r>
            <a:endParaRPr lang="en-US" altLang="zh-CN" sz="20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总共</a:t>
            </a:r>
            <a:r>
              <a:rPr lang="en-US" altLang="zh-CN" sz="2000">
                <a:latin typeface="+mn-ea"/>
                <a:cs typeface="+mn-ea"/>
              </a:rPr>
              <a:t> m </a:t>
            </a:r>
            <a:r>
              <a:rPr lang="zh-CN" altLang="en-US" sz="2000">
                <a:latin typeface="+mn-ea"/>
                <a:cs typeface="+mn-ea"/>
              </a:rPr>
              <a:t>条边都要试一次</a:t>
            </a:r>
            <a:r>
              <a:rPr lang="en-US" altLang="zh-CN" sz="2000">
                <a:latin typeface="+mn-ea"/>
                <a:cs typeface="+mn-ea"/>
              </a:rPr>
              <a:t> </a:t>
            </a:r>
            <a:r>
              <a:rPr lang="en-US" altLang="en-US" sz="2000">
                <a:latin typeface="+mn-ea"/>
                <a:cs typeface="+mn-ea"/>
              </a:rPr>
              <a:t>→</a:t>
            </a:r>
            <a:r>
              <a:rPr lang="en-US" altLang="zh-CN" sz="2000">
                <a:latin typeface="+mn-ea"/>
                <a:cs typeface="+mn-ea"/>
              </a:rPr>
              <a:t> </a:t>
            </a:r>
            <a:r>
              <a:rPr lang="zh-CN" altLang="en-US" sz="2000">
                <a:latin typeface="+mn-ea"/>
                <a:cs typeface="+mn-ea"/>
              </a:rPr>
              <a:t>总复杂度为：</a:t>
            </a:r>
            <a:endParaRPr lang="zh-CN" altLang="en-US" sz="20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总时间复杂度是</a:t>
            </a:r>
            <a:r>
              <a:rPr lang="en-US" altLang="zh-CN" sz="2000" b="1">
                <a:latin typeface="+mn-ea"/>
                <a:cs typeface="+mn-ea"/>
              </a:rPr>
              <a:t>O(m*(n+m))=O(n*m+m^2)</a:t>
            </a:r>
            <a:endParaRPr lang="en-US" altLang="zh-CN" sz="2000" b="1"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725400" y="8953500"/>
            <a:ext cx="258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266700">
              <a:buClrTx/>
              <a:buSzTx/>
              <a:buFontTx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算法正确性验证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2511451" y="1028700"/>
            <a:ext cx="19770751" cy="1826253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48815" y="2552700"/>
            <a:ext cx="14931390" cy="24542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基准算法</a:t>
            </a:r>
            <a:r>
              <a:rPr lang="en-US" altLang="zh-CN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--</a:t>
            </a: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枚举每一条边，临时删除，然后使用</a:t>
            </a:r>
            <a:r>
              <a:rPr lang="en-US" altLang="zh-CN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BFS</a:t>
            </a: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遍历图，判断该边两点是否连通。</a:t>
            </a:r>
            <a:endParaRPr lang="zh-CN" altLang="en-US" sz="2800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发现，我们无需每次都完整的遍历整张图，我们真正关心的只是一个问题：</a:t>
            </a:r>
            <a:endParaRPr lang="zh-CN" altLang="en-US" sz="2800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endParaRPr lang="zh-CN" altLang="en-US" sz="2800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8458200" y="6362700"/>
            <a:ext cx="1066800" cy="1828800"/>
          </a:xfrm>
          <a:prstGeom prst="downArrow">
            <a:avLst/>
          </a:prstGeom>
          <a:solidFill>
            <a:srgbClr val="D3DDD9"/>
          </a:solidFill>
          <a:ln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0" y="8420100"/>
            <a:ext cx="1684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并查集</a:t>
            </a:r>
            <a:endParaRPr lang="zh-CN" altLang="en-US" sz="3600" b="1"/>
          </a:p>
        </p:txBody>
      </p:sp>
      <p:sp>
        <p:nvSpPr>
          <p:cNvPr id="10" name="文本框 9"/>
          <p:cNvSpPr txBox="1"/>
          <p:nvPr/>
        </p:nvSpPr>
        <p:spPr>
          <a:xfrm>
            <a:off x="3693160" y="5289550"/>
            <a:ext cx="11049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“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删掉一条边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 (u, v) 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后，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u 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和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 v 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是否仍属于同一个连通块？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”</a:t>
            </a:r>
            <a:endParaRPr lang="en-US" altLang="zh-CN" sz="2800" b="1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  <a:p>
            <a:endParaRPr lang="en-US" altLang="zh-CN" sz="2800" b="1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03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并查集算法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3238500"/>
            <a:ext cx="6966585" cy="50057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600200" y="2705100"/>
            <a:ext cx="8560435" cy="4980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 b="1">
                <a:latin typeface="+mn-ea"/>
                <a:cs typeface="+mn-ea"/>
              </a:rPr>
              <a:t>1.</a:t>
            </a:r>
            <a:r>
              <a:rPr lang="zh-CN" altLang="en-US" sz="3200" b="1">
                <a:latin typeface="+mn-ea"/>
                <a:cs typeface="+mn-ea"/>
              </a:rPr>
              <a:t>并查集：</a:t>
            </a:r>
            <a:endParaRPr lang="zh-CN" altLang="en-US" sz="32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>
                <a:latin typeface="+mn-ea"/>
                <a:cs typeface="+mn-ea"/>
              </a:rPr>
              <a:t>并、查、集。是</a:t>
            </a:r>
            <a:r>
              <a:rPr lang="en-US" altLang="zh-CN" sz="2400" b="1">
                <a:latin typeface="+mn-ea"/>
                <a:cs typeface="+mn-ea"/>
              </a:rPr>
              <a:t>“</a:t>
            </a:r>
            <a:r>
              <a:rPr lang="zh-CN" altLang="en-US" sz="2400" b="1">
                <a:latin typeface="+mn-ea"/>
                <a:cs typeface="+mn-ea"/>
              </a:rPr>
              <a:t>不相交集合上的合并、查询</a:t>
            </a:r>
            <a:r>
              <a:rPr lang="en-US" altLang="zh-CN" sz="2400" b="1">
                <a:latin typeface="+mn-ea"/>
                <a:cs typeface="+mn-ea"/>
              </a:rPr>
              <a:t>”</a:t>
            </a:r>
            <a:r>
              <a:rPr lang="zh-CN" altLang="en-US" sz="2400" b="1">
                <a:latin typeface="+mn-ea"/>
                <a:cs typeface="+mn-ea"/>
              </a:rPr>
              <a:t>。</a:t>
            </a:r>
            <a:endParaRPr lang="zh-CN" altLang="en-US" sz="2400" b="1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+mn-ea"/>
                <a:cs typeface="+mn-ea"/>
              </a:rPr>
              <a:t>查询和合并：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+mn-ea"/>
                <a:cs typeface="+mn-ea"/>
              </a:rPr>
              <a:t>Find(x)</a:t>
            </a:r>
            <a:r>
              <a:rPr lang="en-US" altLang="zh-CN" sz="2400">
                <a:latin typeface="+mn-ea"/>
                <a:cs typeface="+mn-ea"/>
              </a:rPr>
              <a:t>:</a:t>
            </a:r>
            <a:r>
              <a:rPr lang="zh-CN" altLang="en-US" sz="2400">
                <a:latin typeface="+mn-ea"/>
                <a:cs typeface="+mn-ea"/>
              </a:rPr>
              <a:t>查找</a:t>
            </a:r>
            <a:r>
              <a:rPr lang="en-US" altLang="zh-CN" sz="2400">
                <a:latin typeface="+mn-ea"/>
                <a:cs typeface="+mn-ea"/>
              </a:rPr>
              <a:t>x</a:t>
            </a:r>
            <a:r>
              <a:rPr lang="zh-CN" altLang="en-US" sz="2400">
                <a:latin typeface="+mn-ea"/>
                <a:cs typeface="+mn-ea"/>
              </a:rPr>
              <a:t>所在集合的代表元素（即为根节点）；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+mn-ea"/>
                <a:cs typeface="+mn-ea"/>
              </a:rPr>
              <a:t>Union</a:t>
            </a:r>
            <a:r>
              <a:rPr lang="zh-CN" altLang="en-US" sz="2400" b="1">
                <a:latin typeface="+mn-ea"/>
                <a:cs typeface="+mn-ea"/>
              </a:rPr>
              <a:t>（</a:t>
            </a:r>
            <a:r>
              <a:rPr lang="en-US" altLang="zh-CN" sz="2400" b="1">
                <a:latin typeface="+mn-ea"/>
                <a:cs typeface="+mn-ea"/>
              </a:rPr>
              <a:t>x,y</a:t>
            </a:r>
            <a:r>
              <a:rPr lang="zh-CN" altLang="en-US" sz="2400" b="1">
                <a:latin typeface="+mn-ea"/>
                <a:cs typeface="+mn-ea"/>
              </a:rPr>
              <a:t>）</a:t>
            </a:r>
            <a:r>
              <a:rPr lang="en-US" altLang="zh-CN" sz="2400" b="1">
                <a:latin typeface="+mn-ea"/>
                <a:cs typeface="+mn-ea"/>
              </a:rPr>
              <a:t>:</a:t>
            </a:r>
            <a:r>
              <a:rPr lang="zh-CN" altLang="en-US" sz="2400">
                <a:latin typeface="+mn-ea"/>
                <a:cs typeface="+mn-ea"/>
              </a:rPr>
              <a:t>将包含</a:t>
            </a:r>
            <a:r>
              <a:rPr lang="en-US" altLang="zh-CN" sz="2400">
                <a:latin typeface="+mn-ea"/>
                <a:cs typeface="+mn-ea"/>
              </a:rPr>
              <a:t>x</a:t>
            </a:r>
            <a:r>
              <a:rPr lang="zh-CN" altLang="en-US" sz="2400">
                <a:latin typeface="+mn-ea"/>
                <a:cs typeface="+mn-ea"/>
              </a:rPr>
              <a:t>和</a:t>
            </a:r>
            <a:r>
              <a:rPr lang="en-US" altLang="zh-CN" sz="2400">
                <a:latin typeface="+mn-ea"/>
                <a:cs typeface="+mn-ea"/>
              </a:rPr>
              <a:t>y</a:t>
            </a:r>
            <a:r>
              <a:rPr lang="zh-CN" altLang="en-US" sz="2400">
                <a:latin typeface="+mn-ea"/>
                <a:cs typeface="+mn-ea"/>
              </a:rPr>
              <a:t>的两个集合合并，使它们具有相同的根。</a:t>
            </a:r>
            <a:endParaRPr lang="zh-CN" altLang="en-US" sz="24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+mn-ea"/>
                <a:cs typeface="+mn-ea"/>
              </a:rPr>
              <a:t>(find(x))=Px !=(find(y)=Py) --</a:t>
            </a:r>
            <a:r>
              <a:rPr lang="zh-CN" altLang="en-US" sz="2400">
                <a:latin typeface="+mn-ea"/>
                <a:cs typeface="+mn-ea"/>
              </a:rPr>
              <a:t>不同集合</a:t>
            </a:r>
            <a:endParaRPr lang="zh-CN" altLang="en-US" sz="24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+mn-ea"/>
                <a:cs typeface="+mn-ea"/>
              </a:rPr>
              <a:t>Union(x</a:t>
            </a:r>
            <a:r>
              <a:rPr lang="zh-CN" altLang="en-US" sz="2400">
                <a:latin typeface="+mn-ea"/>
                <a:cs typeface="+mn-ea"/>
              </a:rPr>
              <a:t>，</a:t>
            </a:r>
            <a:r>
              <a:rPr lang="en-US" altLang="zh-CN" sz="2400">
                <a:latin typeface="+mn-ea"/>
                <a:cs typeface="+mn-ea"/>
              </a:rPr>
              <a:t>y)=&gt;fa[Px]=Py  --x</a:t>
            </a:r>
            <a:r>
              <a:rPr lang="zh-CN" altLang="en-US" sz="2400">
                <a:latin typeface="+mn-ea"/>
                <a:cs typeface="+mn-ea"/>
              </a:rPr>
              <a:t>所在集合整体挂到</a:t>
            </a:r>
            <a:r>
              <a:rPr lang="en-US" altLang="zh-CN" sz="2400">
                <a:latin typeface="+mn-ea"/>
                <a:cs typeface="+mn-ea"/>
              </a:rPr>
              <a:t>y</a:t>
            </a:r>
            <a:r>
              <a:rPr lang="zh-CN" altLang="en-US" sz="2400">
                <a:latin typeface="+mn-ea"/>
                <a:cs typeface="+mn-ea"/>
              </a:rPr>
              <a:t>所在集合上</a:t>
            </a:r>
            <a:endParaRPr lang="zh-CN" altLang="en-US" sz="240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6630" y="1951990"/>
            <a:ext cx="1657667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5400" y="2400300"/>
            <a:ext cx="6628765" cy="4700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 b="1">
                <a:latin typeface="+mn-ea"/>
                <a:cs typeface="+mn-ea"/>
              </a:rPr>
              <a:t>1.1 </a:t>
            </a:r>
            <a:r>
              <a:rPr lang="zh-CN" altLang="en-US" sz="3200" b="1">
                <a:latin typeface="+mn-ea"/>
                <a:cs typeface="+mn-ea"/>
              </a:rPr>
              <a:t>并查集</a:t>
            </a:r>
            <a:r>
              <a:rPr lang="en-US" altLang="zh-CN" sz="3200" b="1">
                <a:latin typeface="+mn-ea"/>
                <a:cs typeface="+mn-ea"/>
              </a:rPr>
              <a:t>--</a:t>
            </a:r>
            <a:r>
              <a:rPr lang="zh-CN" altLang="en-US" sz="3200" b="1">
                <a:latin typeface="+mn-ea"/>
                <a:cs typeface="+mn-ea"/>
              </a:rPr>
              <a:t>按秩合并</a:t>
            </a:r>
            <a:endParaRPr lang="zh-CN" altLang="en-US" sz="32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>
              <a:latin typeface="+mn-ea"/>
              <a:cs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</a:rPr>
              <a:t>在并查集中，每个集合可以用一棵树结构表示，树的根节点即为该集合的代表元素。</a:t>
            </a:r>
            <a:endParaRPr lang="zh-CN" altLang="en-US" sz="2400">
              <a:latin typeface="+mn-ea"/>
              <a:cs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</a:rPr>
              <a:t>随着多个集合不断合并，如果不加以控制，树的高度可能迅速增长，从而导致后续</a:t>
            </a:r>
            <a:r>
              <a:rPr lang="en-US" altLang="zh-CN" sz="2400">
                <a:latin typeface="+mn-ea"/>
                <a:cs typeface="+mn-ea"/>
              </a:rPr>
              <a:t> find(x) </a:t>
            </a:r>
            <a:r>
              <a:rPr lang="zh-CN" altLang="en-US" sz="2400">
                <a:latin typeface="+mn-ea"/>
                <a:cs typeface="+mn-ea"/>
              </a:rPr>
              <a:t>操作在查询根节点时需要遍历大量中间节点，效率大大降低。</a:t>
            </a:r>
            <a:endParaRPr lang="zh-CN" altLang="en-US" sz="24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+mn-ea"/>
              <a:cs typeface="+mn-ea"/>
            </a:endParaRPr>
          </a:p>
        </p:txBody>
      </p:sp>
      <p:pic>
        <p:nvPicPr>
          <p:cNvPr id="3" name="图片 -21474825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20" y="2470785"/>
            <a:ext cx="8970645" cy="54648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371600" y="7581900"/>
            <a:ext cx="12233275" cy="167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  <a:sym typeface="+mn-ea"/>
              </a:rPr>
              <a:t>为每个集合维护一个</a:t>
            </a:r>
            <a:r>
              <a:rPr lang="en-US" altLang="zh-CN" sz="2400">
                <a:latin typeface="+mn-ea"/>
                <a:cs typeface="+mn-ea"/>
                <a:sym typeface="+mn-ea"/>
              </a:rPr>
              <a:t>“</a:t>
            </a:r>
            <a:r>
              <a:rPr lang="zh-CN" altLang="en-US" sz="2400">
                <a:latin typeface="+mn-ea"/>
                <a:cs typeface="+mn-ea"/>
                <a:sym typeface="+mn-ea"/>
              </a:rPr>
              <a:t>秩</a:t>
            </a:r>
            <a:r>
              <a:rPr lang="en-US" altLang="zh-CN" sz="2400">
                <a:latin typeface="+mn-ea"/>
                <a:cs typeface="+mn-ea"/>
                <a:sym typeface="+mn-ea"/>
              </a:rPr>
              <a:t>”</a:t>
            </a:r>
            <a:r>
              <a:rPr lang="zh-CN" altLang="en-US" sz="2400">
                <a:latin typeface="+mn-ea"/>
                <a:cs typeface="+mn-ea"/>
                <a:sym typeface="+mn-ea"/>
              </a:rPr>
              <a:t>值（用</a:t>
            </a:r>
            <a:r>
              <a:rPr lang="en-US" altLang="zh-CN" sz="2400">
                <a:latin typeface="+mn-ea"/>
                <a:cs typeface="+mn-ea"/>
                <a:sym typeface="+mn-ea"/>
              </a:rPr>
              <a:t> rk[] </a:t>
            </a:r>
            <a:r>
              <a:rPr lang="zh-CN" altLang="en-US" sz="2400">
                <a:latin typeface="+mn-ea"/>
                <a:cs typeface="+mn-ea"/>
                <a:sym typeface="+mn-ea"/>
              </a:rPr>
              <a:t>数组表示），秩是对该集合树高的近似估计。</a:t>
            </a:r>
            <a:endParaRPr lang="zh-CN" altLang="en-US" sz="2400">
              <a:latin typeface="+mn-ea"/>
              <a:cs typeface="+mn-ea"/>
              <a:sym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  <a:sym typeface="+mn-ea"/>
              </a:rPr>
              <a:t>在合并两个集合时，我们总是将秩较小的树连接到秩较大的树上，以避免合并后树的高度增加，保持结构平衡。</a:t>
            </a:r>
            <a:endParaRPr lang="zh-CN" altLang="en-US" sz="2400"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sz="2400">
              <a:latin typeface="+mn-ea"/>
              <a:cs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976870" y="2247900"/>
            <a:ext cx="24130" cy="5031105"/>
          </a:xfrm>
          <a:prstGeom prst="line">
            <a:avLst/>
          </a:prstGeom>
          <a:ln w="38100">
            <a:solidFill>
              <a:srgbClr val="D4DFE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6630" y="1951990"/>
            <a:ext cx="1657667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一条链式结构（</a:t>
            </a:r>
            <a:r>
              <a:rPr lang="en-US" altLang="zh-CN"/>
              <a:t>A </a:t>
            </a:r>
            <a:r>
              <a:rPr lang="en-US" altLang="en-US"/>
              <a:t>→</a:t>
            </a:r>
            <a:r>
              <a:rPr lang="en-US" altLang="zh-CN"/>
              <a:t> B </a:t>
            </a:r>
            <a:r>
              <a:rPr lang="en-US" altLang="en-US"/>
              <a:t>→</a:t>
            </a:r>
            <a:r>
              <a:rPr lang="en-US" altLang="zh-CN"/>
              <a:t> C </a:t>
            </a:r>
            <a:r>
              <a:rPr lang="en-US" altLang="en-US"/>
              <a:t>→</a:t>
            </a:r>
            <a:r>
              <a:rPr lang="en-US" altLang="zh-CN"/>
              <a:t> D </a:t>
            </a:r>
            <a:r>
              <a:rPr lang="en-US" altLang="en-US"/>
              <a:t>→</a:t>
            </a:r>
            <a:r>
              <a:rPr lang="en-US" altLang="zh-CN"/>
              <a:t> 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5400" y="2400300"/>
            <a:ext cx="6070600" cy="3809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 b="1">
                <a:latin typeface="+mn-ea"/>
                <a:cs typeface="+mn-ea"/>
              </a:rPr>
              <a:t>1.2 </a:t>
            </a:r>
            <a:r>
              <a:rPr lang="zh-CN" altLang="en-US" sz="3200" b="1">
                <a:latin typeface="+mn-ea"/>
                <a:cs typeface="+mn-ea"/>
              </a:rPr>
              <a:t>并查集</a:t>
            </a:r>
            <a:r>
              <a:rPr lang="en-US" altLang="zh-CN" sz="3200" b="1">
                <a:latin typeface="+mn-ea"/>
                <a:cs typeface="+mn-ea"/>
              </a:rPr>
              <a:t>--</a:t>
            </a:r>
            <a:r>
              <a:rPr lang="zh-CN" altLang="en-US" sz="3200" b="1">
                <a:latin typeface="+mn-ea"/>
                <a:cs typeface="+mn-ea"/>
              </a:rPr>
              <a:t>路径压缩</a:t>
            </a:r>
            <a:endParaRPr lang="zh-CN" altLang="en-US" sz="32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>
              <a:latin typeface="+mn-ea"/>
              <a:cs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</a:rPr>
              <a:t>在执行</a:t>
            </a:r>
            <a:r>
              <a:rPr lang="en-US" altLang="zh-CN" sz="2400">
                <a:latin typeface="+mn-ea"/>
                <a:cs typeface="+mn-ea"/>
              </a:rPr>
              <a:t> find(x) </a:t>
            </a:r>
            <a:r>
              <a:rPr lang="zh-CN" altLang="en-US" sz="2400">
                <a:latin typeface="+mn-ea"/>
                <a:cs typeface="+mn-ea"/>
              </a:rPr>
              <a:t>操作的同时，将从</a:t>
            </a:r>
            <a:r>
              <a:rPr lang="en-US" altLang="zh-CN" sz="2400">
                <a:latin typeface="+mn-ea"/>
                <a:cs typeface="+mn-ea"/>
              </a:rPr>
              <a:t> x </a:t>
            </a:r>
            <a:r>
              <a:rPr lang="zh-CN" altLang="en-US" sz="2400">
                <a:latin typeface="+mn-ea"/>
                <a:cs typeface="+mn-ea"/>
              </a:rPr>
              <a:t>到根节点路径上的所有节点直接挂到根节点下，从而大幅</a:t>
            </a:r>
            <a:r>
              <a:rPr lang="en-US" altLang="zh-CN" sz="2400">
                <a:latin typeface="+mn-ea"/>
                <a:cs typeface="+mn-ea"/>
              </a:rPr>
              <a:t>“</a:t>
            </a:r>
            <a:r>
              <a:rPr lang="zh-CN" altLang="en-US" sz="2400">
                <a:latin typeface="+mn-ea"/>
                <a:cs typeface="+mn-ea"/>
              </a:rPr>
              <a:t>拉扁</a:t>
            </a:r>
            <a:r>
              <a:rPr lang="en-US" altLang="zh-CN" sz="2400">
                <a:latin typeface="+mn-ea"/>
                <a:cs typeface="+mn-ea"/>
              </a:rPr>
              <a:t>”</a:t>
            </a:r>
            <a:r>
              <a:rPr lang="zh-CN" altLang="en-US" sz="2400">
                <a:latin typeface="+mn-ea"/>
                <a:cs typeface="+mn-ea"/>
              </a:rPr>
              <a:t>原本较深的结构。</a:t>
            </a:r>
            <a:endParaRPr lang="zh-CN" altLang="en-US" sz="2400"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5400" y="7353300"/>
            <a:ext cx="12686030" cy="167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+mn-ea"/>
                <a:cs typeface="+mn-ea"/>
              </a:rPr>
              <a:t>若不进行路径压缩，树在最坏情况下会退化为链表，</a:t>
            </a:r>
            <a:r>
              <a:rPr lang="en-US" altLang="zh-CN" sz="2400">
                <a:latin typeface="+mn-ea"/>
                <a:cs typeface="+mn-ea"/>
              </a:rPr>
              <a:t>find </a:t>
            </a:r>
            <a:r>
              <a:rPr lang="zh-CN" altLang="en-US" sz="2400">
                <a:latin typeface="+mn-ea"/>
                <a:cs typeface="+mn-ea"/>
              </a:rPr>
              <a:t>操作最坏时间复杂度为</a:t>
            </a:r>
            <a:r>
              <a:rPr lang="en-US" altLang="zh-CN" sz="2400">
                <a:latin typeface="+mn-ea"/>
                <a:cs typeface="+mn-ea"/>
              </a:rPr>
              <a:t> O(n)</a:t>
            </a:r>
            <a:r>
              <a:rPr lang="zh-CN" altLang="en-US" sz="2400">
                <a:latin typeface="+mn-ea"/>
                <a:cs typeface="+mn-ea"/>
              </a:rPr>
              <a:t>；而通过路径压缩，树高大幅降低，查找操作的平均复杂度下降至</a:t>
            </a:r>
            <a:r>
              <a:rPr lang="zh-CN" altLang="en-US" sz="2400" b="1">
                <a:latin typeface="+mn-ea"/>
                <a:cs typeface="+mn-ea"/>
              </a:rPr>
              <a:t>近似常数时间</a:t>
            </a:r>
            <a:r>
              <a:rPr lang="zh-CN" altLang="en-US" sz="2400">
                <a:latin typeface="+mn-ea"/>
                <a:cs typeface="+mn-ea"/>
              </a:rPr>
              <a:t>。</a:t>
            </a:r>
            <a:endParaRPr lang="zh-CN" altLang="en-US" sz="2400">
              <a:latin typeface="+mn-ea"/>
              <a:cs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29600" y="5436235"/>
            <a:ext cx="4157345" cy="1165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>
                <a:sym typeface="+mn-ea"/>
              </a:rPr>
              <a:t>find(E)=A</a:t>
            </a:r>
            <a:endParaRPr lang="en-US" altLang="zh-CN" sz="2000"/>
          </a:p>
          <a:p>
            <a:endParaRPr lang="zh-CN" altLang="en-US" sz="2000"/>
          </a:p>
          <a:p>
            <a:r>
              <a:rPr lang="zh-CN" altLang="en-US" sz="2000"/>
              <a:t>一条链式结构（</a:t>
            </a:r>
            <a:r>
              <a:rPr lang="en-US" altLang="zh-CN" sz="2000"/>
              <a:t>E</a:t>
            </a:r>
            <a:r>
              <a:rPr lang="en-US" altLang="en-US" sz="2000"/>
              <a:t>→</a:t>
            </a:r>
            <a:r>
              <a:rPr lang="en-US" altLang="zh-CN" sz="2000"/>
              <a:t> D </a:t>
            </a:r>
            <a:r>
              <a:rPr lang="en-US" altLang="en-US" sz="2000"/>
              <a:t>→</a:t>
            </a:r>
            <a:r>
              <a:rPr lang="en-US" altLang="zh-CN" sz="2000"/>
              <a:t> C </a:t>
            </a:r>
            <a:r>
              <a:rPr lang="en-US" altLang="en-US" sz="2000"/>
              <a:t>→ B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A</a:t>
            </a:r>
            <a:r>
              <a:rPr lang="zh-CN" altLang="en-US" sz="2000"/>
              <a:t>）</a:t>
            </a:r>
            <a:endParaRPr lang="zh-CN" altLang="en-US" sz="2000"/>
          </a:p>
          <a:p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3487400" y="5524500"/>
            <a:ext cx="30283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/>
              <a:t>find(E)=A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结构变得扁平化</a:t>
            </a:r>
            <a:r>
              <a:rPr lang="en-US" altLang="zh-CN" sz="2000"/>
              <a:t>(E </a:t>
            </a:r>
            <a:r>
              <a:rPr lang="en-US" altLang="en-US" sz="2000">
                <a:sym typeface="+mn-ea"/>
              </a:rPr>
              <a:t>→ A</a:t>
            </a:r>
            <a:r>
              <a:rPr lang="en-US" altLang="zh-CN" sz="2000"/>
              <a:t>)</a:t>
            </a:r>
            <a:endParaRPr lang="en-US" altLang="zh-CN" sz="2000"/>
          </a:p>
        </p:txBody>
      </p:sp>
      <p:cxnSp>
        <p:nvCxnSpPr>
          <p:cNvPr id="13" name="直接连接符 12"/>
          <p:cNvCxnSpPr/>
          <p:nvPr/>
        </p:nvCxnSpPr>
        <p:spPr>
          <a:xfrm>
            <a:off x="7976870" y="2171700"/>
            <a:ext cx="24130" cy="5031105"/>
          </a:xfrm>
          <a:prstGeom prst="line">
            <a:avLst/>
          </a:prstGeom>
          <a:ln w="38100">
            <a:solidFill>
              <a:srgbClr val="D4DFE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25" y="2400300"/>
            <a:ext cx="4324350" cy="291465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11430000" y="3543300"/>
            <a:ext cx="1371600" cy="533400"/>
          </a:xfrm>
          <a:prstGeom prst="rightArrow">
            <a:avLst/>
          </a:prstGeom>
          <a:solidFill>
            <a:srgbClr val="EAF1E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353800" y="3238500"/>
            <a:ext cx="161925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路径压缩</a:t>
            </a:r>
            <a:endParaRPr lang="zh-CN" altLang="en-US" sz="20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2781300"/>
            <a:ext cx="4431665" cy="2402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1" grpId="0"/>
      <p:bldP spid="8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6800" y="1951990"/>
            <a:ext cx="1657667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一条链式结构（</a:t>
            </a:r>
            <a:r>
              <a:rPr lang="en-US" altLang="zh-CN"/>
              <a:t>A </a:t>
            </a:r>
            <a:r>
              <a:rPr lang="en-US" altLang="en-US"/>
              <a:t>→</a:t>
            </a:r>
            <a:r>
              <a:rPr lang="en-US" altLang="zh-CN"/>
              <a:t> B </a:t>
            </a:r>
            <a:r>
              <a:rPr lang="en-US" altLang="en-US"/>
              <a:t>→</a:t>
            </a:r>
            <a:r>
              <a:rPr lang="en-US" altLang="zh-CN"/>
              <a:t> C </a:t>
            </a:r>
            <a:r>
              <a:rPr lang="en-US" altLang="en-US"/>
              <a:t>→</a:t>
            </a:r>
            <a:r>
              <a:rPr lang="en-US" altLang="zh-CN"/>
              <a:t> D </a:t>
            </a:r>
            <a:r>
              <a:rPr lang="en-US" altLang="en-US"/>
              <a:t>→</a:t>
            </a:r>
            <a:r>
              <a:rPr lang="en-US" altLang="zh-CN"/>
              <a:t> 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5400" y="2400300"/>
            <a:ext cx="6293485" cy="6405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 b="1">
                <a:latin typeface="+mn-ea"/>
                <a:cs typeface="+mn-ea"/>
              </a:rPr>
              <a:t>1.3 </a:t>
            </a:r>
            <a:r>
              <a:rPr lang="zh-CN" altLang="en-US" sz="3200" b="1">
                <a:latin typeface="+mn-ea"/>
                <a:cs typeface="+mn-ea"/>
              </a:rPr>
              <a:t>可撤销并查集</a:t>
            </a:r>
            <a:endParaRPr lang="zh-CN" altLang="en-US" sz="32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并查集没有删除边的操作</a:t>
            </a: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但是需要有能力撤销之间的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Union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操作</a:t>
            </a: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--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可以使用栈来实现</a:t>
            </a:r>
            <a:r>
              <a:rPr lang="zh-CN" altLang="en-US" sz="2400" b="1">
                <a:latin typeface="+mj-ea"/>
                <a:ea typeface="+mj-ea"/>
                <a:cs typeface="+mj-ea"/>
                <a:sym typeface="+mn-ea"/>
              </a:rPr>
              <a:t>可撤销并查集</a:t>
            </a: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在判断一条边是否为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桥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”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时，在合并两个集合时，把变更的状态记录到栈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temp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中，判断完成后，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回滚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”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栈中的记录信息，恢复并查集结构。</a:t>
            </a:r>
            <a:endParaRPr lang="zh-CN" altLang="en-US" sz="2400">
              <a:latin typeface="+mj-ea"/>
              <a:ea typeface="+mj-ea"/>
              <a:cs typeface="+mj-ea"/>
            </a:endParaRPr>
          </a:p>
          <a:p>
            <a:pPr indent="457200" fontAlgn="auto">
              <a:lnSpc>
                <a:spcPct val="150000"/>
              </a:lnSpc>
            </a:pPr>
            <a:endParaRPr lang="zh-CN" altLang="en-US" sz="2400">
              <a:latin typeface="+mn-ea"/>
              <a:cs typeface="+mn-ea"/>
            </a:endParaRPr>
          </a:p>
          <a:p>
            <a:pPr indent="457200" fontAlgn="auto">
              <a:lnSpc>
                <a:spcPct val="150000"/>
              </a:lnSpc>
            </a:pPr>
            <a:endParaRPr lang="zh-CN" altLang="en-US" sz="2400">
              <a:latin typeface="+mn-ea"/>
              <a:cs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976870" y="2171700"/>
            <a:ext cx="24130" cy="5031105"/>
          </a:xfrm>
          <a:prstGeom prst="line">
            <a:avLst/>
          </a:prstGeom>
          <a:ln w="38100">
            <a:solidFill>
              <a:srgbClr val="D4DFE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229600" y="5436235"/>
            <a:ext cx="4157345" cy="1165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>
                <a:sym typeface="+mn-ea"/>
              </a:rPr>
              <a:t>find(E)=A</a:t>
            </a:r>
            <a:endParaRPr lang="en-US" altLang="zh-CN" sz="2000"/>
          </a:p>
          <a:p>
            <a:endParaRPr lang="zh-CN" altLang="en-US" sz="2000"/>
          </a:p>
          <a:p>
            <a:r>
              <a:rPr lang="zh-CN" altLang="en-US" sz="2000"/>
              <a:t>一条链式结构（</a:t>
            </a:r>
            <a:r>
              <a:rPr lang="en-US" altLang="zh-CN" sz="2000"/>
              <a:t>E</a:t>
            </a:r>
            <a:r>
              <a:rPr lang="en-US" altLang="en-US" sz="2000"/>
              <a:t>→</a:t>
            </a:r>
            <a:r>
              <a:rPr lang="en-US" altLang="zh-CN" sz="2000"/>
              <a:t> D </a:t>
            </a:r>
            <a:r>
              <a:rPr lang="en-US" altLang="en-US" sz="2000"/>
              <a:t>→</a:t>
            </a:r>
            <a:r>
              <a:rPr lang="en-US" altLang="zh-CN" sz="2000"/>
              <a:t> C </a:t>
            </a:r>
            <a:r>
              <a:rPr lang="en-US" altLang="en-US" sz="2000"/>
              <a:t>→ B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A</a:t>
            </a:r>
            <a:r>
              <a:rPr lang="zh-CN" altLang="en-US" sz="2000"/>
              <a:t>）</a:t>
            </a:r>
            <a:endParaRPr lang="zh-CN" altLang="en-US" sz="2000"/>
          </a:p>
          <a:p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13487400" y="5524500"/>
            <a:ext cx="30283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/>
              <a:t>find(E)=A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结构变得扁平化</a:t>
            </a:r>
            <a:r>
              <a:rPr lang="en-US" altLang="zh-CN" sz="2000"/>
              <a:t>(E </a:t>
            </a:r>
            <a:r>
              <a:rPr lang="en-US" altLang="en-US" sz="2000">
                <a:sym typeface="+mn-ea"/>
              </a:rPr>
              <a:t>→ A</a:t>
            </a:r>
            <a:r>
              <a:rPr lang="en-US" altLang="zh-CN" sz="2000"/>
              <a:t>)</a:t>
            </a:r>
            <a:endParaRPr lang="en-US" altLang="zh-CN" sz="20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25" y="2400300"/>
            <a:ext cx="4324350" cy="2914650"/>
          </a:xfrm>
          <a:prstGeom prst="rect">
            <a:avLst/>
          </a:prstGeom>
        </p:spPr>
      </p:pic>
      <p:sp>
        <p:nvSpPr>
          <p:cNvPr id="23" name="右箭头 22"/>
          <p:cNvSpPr/>
          <p:nvPr/>
        </p:nvSpPr>
        <p:spPr>
          <a:xfrm>
            <a:off x="11430000" y="3543300"/>
            <a:ext cx="1371600" cy="533400"/>
          </a:xfrm>
          <a:prstGeom prst="rightArrow">
            <a:avLst/>
          </a:prstGeom>
          <a:solidFill>
            <a:srgbClr val="EAF1E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1353800" y="3238500"/>
            <a:ext cx="161925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路径压缩</a:t>
            </a:r>
            <a:endParaRPr lang="zh-CN" altLang="en-US" sz="200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2781300"/>
            <a:ext cx="4431665" cy="2402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3" grpId="0" bldLvl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7800" y="2476500"/>
            <a:ext cx="8535035" cy="579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latin typeface="+mn-ea"/>
                <a:cs typeface="+mn-ea"/>
              </a:rPr>
              <a:t>2.</a:t>
            </a:r>
            <a:r>
              <a:rPr lang="zh-CN" altLang="en-US" sz="2800" b="1">
                <a:latin typeface="+mn-ea"/>
                <a:cs typeface="+mn-ea"/>
              </a:rPr>
              <a:t>算法过程：</a:t>
            </a:r>
            <a:endParaRPr lang="zh-CN" altLang="en-US" sz="2800" b="1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初始化</a:t>
            </a:r>
            <a:r>
              <a:rPr lang="en-US" altLang="zh-CN" sz="2400" b="1">
                <a:latin typeface="+mn-ea"/>
                <a:cs typeface="+mn-ea"/>
              </a:rPr>
              <a:t>:</a:t>
            </a:r>
            <a:r>
              <a:rPr lang="en-US" altLang="zh-CN" sz="2400">
                <a:latin typeface="+mn-ea"/>
                <a:cs typeface="+mn-ea"/>
              </a:rPr>
              <a:t>fa[i]=i--</a:t>
            </a:r>
            <a:r>
              <a:rPr lang="zh-CN" altLang="en-US" sz="2400">
                <a:latin typeface="+mn-ea"/>
                <a:cs typeface="+mn-ea"/>
              </a:rPr>
              <a:t>祖先为自己、</a:t>
            </a:r>
            <a:r>
              <a:rPr lang="en-US" altLang="zh-CN" sz="2400">
                <a:latin typeface="+mn-ea"/>
                <a:cs typeface="+mn-ea"/>
              </a:rPr>
              <a:t>rk[i]=0--</a:t>
            </a:r>
            <a:r>
              <a:rPr lang="zh-CN" altLang="en-US" sz="2400">
                <a:latin typeface="+mn-ea"/>
                <a:cs typeface="+mn-ea"/>
              </a:rPr>
              <a:t>秩为</a:t>
            </a:r>
            <a:r>
              <a:rPr lang="en-US" altLang="zh-CN" sz="2400">
                <a:latin typeface="+mn-ea"/>
                <a:cs typeface="+mn-ea"/>
              </a:rPr>
              <a:t>0</a:t>
            </a:r>
            <a:r>
              <a:rPr lang="zh-CN" altLang="en-US" sz="2400">
                <a:latin typeface="+mn-ea"/>
                <a:cs typeface="+mn-ea"/>
              </a:rPr>
              <a:t>，栈</a:t>
            </a:r>
            <a:r>
              <a:rPr lang="en-US" altLang="zh-CN" sz="2400">
                <a:latin typeface="+mn-ea"/>
                <a:cs typeface="+mn-ea"/>
              </a:rPr>
              <a:t>temp[]--</a:t>
            </a:r>
            <a:r>
              <a:rPr lang="zh-CN" altLang="en-US" sz="2400">
                <a:latin typeface="+mn-ea"/>
                <a:cs typeface="+mn-ea"/>
              </a:rPr>
              <a:t>记录合并状态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枚举每条边判断是否是桥：</a:t>
            </a:r>
            <a:r>
              <a:rPr lang="zh-CN" altLang="en-US" sz="2400">
                <a:latin typeface="+mn-ea"/>
                <a:cs typeface="+mn-ea"/>
              </a:rPr>
              <a:t>遍历每条边（</a:t>
            </a:r>
            <a:r>
              <a:rPr lang="en-US" altLang="zh-CN" sz="2400">
                <a:latin typeface="+mn-ea"/>
                <a:cs typeface="+mn-ea"/>
              </a:rPr>
              <a:t>u</a:t>
            </a:r>
            <a:r>
              <a:rPr lang="zh-CN" altLang="en-US" sz="2400">
                <a:latin typeface="+mn-ea"/>
                <a:cs typeface="+mn-ea"/>
              </a:rPr>
              <a:t>，</a:t>
            </a:r>
            <a:r>
              <a:rPr lang="en-US" altLang="zh-CN" sz="2400">
                <a:latin typeface="+mn-ea"/>
                <a:cs typeface="+mn-ea"/>
              </a:rPr>
              <a:t>v</a:t>
            </a:r>
            <a:r>
              <a:rPr lang="zh-CN" altLang="en-US" sz="2400">
                <a:latin typeface="+mn-ea"/>
                <a:cs typeface="+mn-ea"/>
              </a:rPr>
              <a:t>），作为</a:t>
            </a:r>
            <a:r>
              <a:rPr lang="en-US" altLang="zh-CN" sz="2400" b="1">
                <a:latin typeface="+mn-ea"/>
                <a:cs typeface="+mn-ea"/>
              </a:rPr>
              <a:t>“</a:t>
            </a:r>
            <a:r>
              <a:rPr lang="zh-CN" altLang="en-US" sz="2400" b="1">
                <a:latin typeface="+mn-ea"/>
                <a:cs typeface="+mn-ea"/>
              </a:rPr>
              <a:t>当前被删除边</a:t>
            </a:r>
            <a:r>
              <a:rPr lang="en-US" altLang="zh-CN" sz="2400" b="1">
                <a:latin typeface="+mn-ea"/>
                <a:cs typeface="+mn-ea"/>
              </a:rPr>
              <a:t>”</a:t>
            </a:r>
            <a:r>
              <a:rPr lang="zh-CN" altLang="en-US" sz="2400">
                <a:latin typeface="+mn-ea"/>
                <a:cs typeface="+mn-ea"/>
              </a:rPr>
              <a:t>，在跳过该边的前提下，对剩余所有边执行合并操作</a:t>
            </a:r>
            <a:r>
              <a:rPr lang="en-US" altLang="zh-CN" sz="2400">
                <a:latin typeface="+mn-ea"/>
                <a:cs typeface="+mn-ea"/>
              </a:rPr>
              <a:t>Union(x</a:t>
            </a:r>
            <a:r>
              <a:rPr lang="zh-CN" altLang="en-US" sz="2400">
                <a:latin typeface="+mn-ea"/>
                <a:cs typeface="+mn-ea"/>
              </a:rPr>
              <a:t>，</a:t>
            </a:r>
            <a:r>
              <a:rPr lang="en-US" altLang="zh-CN" sz="2400">
                <a:latin typeface="+mn-ea"/>
                <a:cs typeface="+mn-ea"/>
              </a:rPr>
              <a:t>y)</a:t>
            </a:r>
            <a:r>
              <a:rPr lang="zh-CN" altLang="en-US" sz="2400">
                <a:latin typeface="+mn-ea"/>
                <a:cs typeface="+mn-ea"/>
              </a:rPr>
              <a:t>，需要注意在合并操作中</a:t>
            </a:r>
            <a:r>
              <a:rPr lang="zh-CN" altLang="en-US" sz="2400">
                <a:solidFill>
                  <a:srgbClr val="FF0000"/>
                </a:solidFill>
                <a:latin typeface="+mn-ea"/>
                <a:cs typeface="+mn-ea"/>
              </a:rPr>
              <a:t>按秩合并</a:t>
            </a:r>
            <a:r>
              <a:rPr lang="zh-CN" altLang="en-US" sz="2400">
                <a:latin typeface="+mn-ea"/>
                <a:cs typeface="+mn-ea"/>
              </a:rPr>
              <a:t>，并将</a:t>
            </a:r>
            <a:r>
              <a:rPr lang="en-US" altLang="zh-CN" sz="2400">
                <a:latin typeface="+mn-ea"/>
                <a:cs typeface="+mn-ea"/>
              </a:rPr>
              <a:t>fa[]</a:t>
            </a:r>
            <a:r>
              <a:rPr lang="zh-CN" altLang="en-US" sz="2400">
                <a:latin typeface="+mn-ea"/>
                <a:cs typeface="+mn-ea"/>
              </a:rPr>
              <a:t>和</a:t>
            </a:r>
            <a:r>
              <a:rPr lang="en-US" altLang="zh-CN" sz="2400">
                <a:latin typeface="+mn-ea"/>
                <a:cs typeface="+mn-ea"/>
              </a:rPr>
              <a:t>rk[]</a:t>
            </a:r>
            <a:r>
              <a:rPr lang="zh-CN" altLang="en-US" sz="2400">
                <a:latin typeface="+mn-ea"/>
                <a:cs typeface="+mn-ea"/>
              </a:rPr>
              <a:t>的修改记录入栈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判断连通性：</a:t>
            </a:r>
            <a:r>
              <a:rPr lang="zh-CN" altLang="en-US" sz="2400">
                <a:latin typeface="+mn-ea"/>
                <a:cs typeface="+mn-ea"/>
              </a:rPr>
              <a:t>判断</a:t>
            </a:r>
            <a:r>
              <a:rPr lang="en-US" altLang="zh-CN" sz="2400">
                <a:latin typeface="+mn-ea"/>
                <a:cs typeface="+mn-ea"/>
              </a:rPr>
              <a:t>find(u)</a:t>
            </a:r>
            <a:r>
              <a:rPr lang="zh-CN" altLang="en-US" sz="2400">
                <a:latin typeface="+mn-ea"/>
                <a:cs typeface="+mn-ea"/>
              </a:rPr>
              <a:t>是否等于</a:t>
            </a:r>
            <a:r>
              <a:rPr lang="en-US" altLang="zh-CN" sz="2400">
                <a:latin typeface="+mn-ea"/>
                <a:cs typeface="+mn-ea"/>
              </a:rPr>
              <a:t>find(v),</a:t>
            </a:r>
            <a:r>
              <a:rPr lang="zh-CN" altLang="en-US" sz="2400">
                <a:latin typeface="+mn-ea"/>
                <a:cs typeface="+mn-ea"/>
              </a:rPr>
              <a:t>等于</a:t>
            </a:r>
            <a:r>
              <a:rPr lang="en-US" altLang="zh-CN" sz="2400">
                <a:latin typeface="+mn-ea"/>
                <a:cs typeface="+mn-ea"/>
              </a:rPr>
              <a:t>--&gt;</a:t>
            </a:r>
            <a:r>
              <a:rPr lang="zh-CN" altLang="en-US" sz="2400">
                <a:latin typeface="+mn-ea"/>
                <a:cs typeface="+mn-ea"/>
              </a:rPr>
              <a:t>不是</a:t>
            </a:r>
            <a:r>
              <a:rPr lang="en-US" altLang="zh-CN" sz="2400">
                <a:latin typeface="+mn-ea"/>
                <a:cs typeface="+mn-ea"/>
              </a:rPr>
              <a:t>“</a:t>
            </a:r>
            <a:r>
              <a:rPr lang="zh-CN" altLang="en-US" sz="2400">
                <a:latin typeface="+mn-ea"/>
                <a:cs typeface="+mn-ea"/>
              </a:rPr>
              <a:t>桥</a:t>
            </a:r>
            <a:r>
              <a:rPr lang="en-US" altLang="zh-CN" sz="2400">
                <a:latin typeface="+mn-ea"/>
                <a:cs typeface="+mn-ea"/>
              </a:rPr>
              <a:t>”;</a:t>
            </a:r>
            <a:r>
              <a:rPr lang="zh-CN" altLang="en-US" sz="2400">
                <a:latin typeface="+mn-ea"/>
                <a:cs typeface="+mn-ea"/>
              </a:rPr>
              <a:t>不等于</a:t>
            </a:r>
            <a:r>
              <a:rPr lang="en-US" altLang="zh-CN" sz="2400">
                <a:latin typeface="+mn-ea"/>
                <a:cs typeface="+mn-ea"/>
              </a:rPr>
              <a:t>--&gt;</a:t>
            </a:r>
            <a:r>
              <a:rPr lang="zh-CN" altLang="en-US" sz="2400">
                <a:latin typeface="+mn-ea"/>
                <a:cs typeface="+mn-ea"/>
              </a:rPr>
              <a:t>是</a:t>
            </a:r>
            <a:r>
              <a:rPr lang="en-US" altLang="zh-CN" sz="2400">
                <a:latin typeface="+mn-ea"/>
                <a:cs typeface="+mn-ea"/>
              </a:rPr>
              <a:t>“</a:t>
            </a:r>
            <a:r>
              <a:rPr lang="zh-CN" altLang="en-US" sz="2400">
                <a:latin typeface="+mn-ea"/>
                <a:cs typeface="+mn-ea"/>
              </a:rPr>
              <a:t>桥</a:t>
            </a:r>
            <a:r>
              <a:rPr lang="en-US" altLang="zh-CN" sz="2400">
                <a:latin typeface="+mn-ea"/>
                <a:cs typeface="+mn-ea"/>
              </a:rPr>
              <a:t>”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回滚操作：</a:t>
            </a:r>
            <a:r>
              <a:rPr lang="zh-CN" altLang="en-US" sz="2400">
                <a:latin typeface="+mn-ea"/>
                <a:cs typeface="+mn-ea"/>
              </a:rPr>
              <a:t>调用</a:t>
            </a:r>
            <a:r>
              <a:rPr lang="en-US" altLang="zh-CN" sz="2400">
                <a:latin typeface="+mn-ea"/>
                <a:cs typeface="+mn-ea"/>
              </a:rPr>
              <a:t>Pop()</a:t>
            </a:r>
            <a:r>
              <a:rPr lang="zh-CN" altLang="en-US" sz="2400">
                <a:latin typeface="+mn-ea"/>
                <a:cs typeface="+mn-ea"/>
              </a:rPr>
              <a:t>操作恢复操作前的并查集状态。</a:t>
            </a:r>
            <a:endParaRPr lang="zh-CN" altLang="en-US" sz="2400">
              <a:latin typeface="+mn-ea"/>
              <a:cs typeface="+mn-ea"/>
            </a:endParaRPr>
          </a:p>
        </p:txBody>
      </p:sp>
      <p:pic>
        <p:nvPicPr>
          <p:cNvPr id="3" name="图片 -2147482586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2019300"/>
            <a:ext cx="3281680" cy="32816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514" descr="1a58fa0f91fc25920ce21dfaa667e69"/>
          <p:cNvPicPr>
            <a:picLocks noChangeAspect="1"/>
          </p:cNvPicPr>
          <p:nvPr/>
        </p:nvPicPr>
        <p:blipFill>
          <a:blip r:embed="rId3"/>
          <a:srcRect t="1651"/>
          <a:stretch>
            <a:fillRect/>
          </a:stretch>
        </p:blipFill>
        <p:spPr>
          <a:xfrm>
            <a:off x="13792200" y="2171700"/>
            <a:ext cx="2897505" cy="32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0134600" y="5143500"/>
            <a:ext cx="7430770" cy="308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400" b="1">
                <a:latin typeface="+mn-ea"/>
                <a:cs typeface="+mn-ea"/>
              </a:rPr>
              <a:t>3.时间复杂度：</a:t>
            </a:r>
            <a:endParaRPr lang="en-US" altLang="zh-CN" sz="20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外层需遍历</a:t>
            </a:r>
            <a:r>
              <a:rPr lang="en-US" altLang="zh-CN" sz="2400"/>
              <a:t> m </a:t>
            </a:r>
            <a:r>
              <a:rPr lang="zh-CN" altLang="en-US" sz="2400"/>
              <a:t>条边，每次判断当前边是否为桥；</a:t>
            </a:r>
            <a:endParaRPr lang="zh-CN" altLang="en-US" sz="24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内层需对除当前边以外的其余</a:t>
            </a:r>
            <a:r>
              <a:rPr lang="en-US" altLang="zh-CN" sz="2400"/>
              <a:t> m − 1 </a:t>
            </a:r>
            <a:r>
              <a:rPr lang="zh-CN" altLang="en-US" sz="2400"/>
              <a:t>条边进行合并操作；每次合并操作近似常数的</a:t>
            </a:r>
            <a:r>
              <a:rPr lang="en-US" altLang="zh-CN" sz="2400"/>
              <a:t> O(α(n))</a:t>
            </a:r>
            <a:r>
              <a:rPr lang="zh-CN" altLang="en-US" sz="2400"/>
              <a:t>（阿克曼反函数）；</a:t>
            </a:r>
            <a:endParaRPr lang="zh-CN" altLang="en-US" sz="24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400"/>
              <a:t> O(m </a:t>
            </a:r>
            <a:r>
              <a:rPr lang="en-US" altLang="en-US" sz="2400"/>
              <a:t>×</a:t>
            </a:r>
            <a:r>
              <a:rPr lang="en-US" altLang="zh-CN" sz="2400"/>
              <a:t> (m </a:t>
            </a:r>
            <a:r>
              <a:rPr lang="en-US" altLang="en-US" sz="2400"/>
              <a:t>×</a:t>
            </a:r>
            <a:r>
              <a:rPr lang="en-US" altLang="zh-CN" sz="2400"/>
              <a:t> α(n))) ≈ O(m</a:t>
            </a:r>
            <a:r>
              <a:rPr lang="en-US" altLang="en-US" sz="2400"/>
              <a:t>²</a:t>
            </a:r>
            <a:r>
              <a:rPr lang="en-US" altLang="zh-CN" sz="2400"/>
              <a:t>)</a:t>
            </a:r>
            <a:endParaRPr lang="en-US" altLang="zh-CN" sz="24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其中</a:t>
            </a:r>
            <a:r>
              <a:rPr lang="en-US" altLang="zh-CN" sz="2400"/>
              <a:t> α(n) </a:t>
            </a:r>
            <a:r>
              <a:rPr lang="zh-CN" altLang="en-US" sz="2400"/>
              <a:t>极慢增长，对于所有实际数据规模几乎可以认为是常数。</a:t>
            </a:r>
            <a:endParaRPr lang="zh-CN" altLang="en-US" sz="2400"/>
          </a:p>
          <a:p>
            <a:pPr indent="0" fontAlgn="auto">
              <a:lnSpc>
                <a:spcPct val="150000"/>
              </a:lnSpc>
            </a:pPr>
            <a:endParaRPr lang="zh-CN" altLang="en-US" sz="2400"/>
          </a:p>
          <a:p>
            <a:pPr indent="0" fontAlgn="auto">
              <a:lnSpc>
                <a:spcPct val="150000"/>
              </a:lnSpc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62600" y="2439035"/>
            <a:ext cx="10657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尽管比起基准算法效率已有提升，</a:t>
            </a:r>
            <a:endParaRPr lang="zh-CN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但是在给定的大图数据上仍无法在短时间内得出结果</a:t>
            </a:r>
            <a:r>
              <a:rPr lang="en-US" altLang="zh-CN" sz="240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zh-CN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00" y="4381500"/>
            <a:ext cx="94983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在每次判断一条边是否为桥时，都需要将图中除该边外的所有边逐一合并入并查集，完成判断后再逐条撤销所有操作。</a:t>
            </a:r>
            <a:endParaRPr lang="zh-CN" altLang="en-US" sz="2400"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ClrTx/>
              <a:buSzTx/>
              <a:buNone/>
            </a:pPr>
            <a:endParaRPr lang="zh-CN" altLang="en-US" sz="2400"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在这一过程中，会导致前面的边在栈中频繁弹入弹出，而后面的边基本没有太多操作，导致整体性能下降</a:t>
            </a:r>
            <a:r>
              <a:rPr lang="en-US" altLang="zh-CN" sz="240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zh-CN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58200" y="7429500"/>
            <a:ext cx="36874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“</a:t>
            </a:r>
            <a:r>
              <a:rPr lang="zh-CN" altLang="en-US" sz="8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优化</a:t>
            </a:r>
            <a:r>
              <a:rPr lang="en-US" altLang="zh-CN" sz="8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”</a:t>
            </a:r>
            <a:endParaRPr lang="en-US" altLang="zh-CN" sz="88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/>
      <p:bldP spid="8" grpId="0" build="p"/>
      <p:bldP spid="8" grpId="1"/>
      <p:bldP spid="10" grpId="0" build="p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算法优化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14450" y="2287270"/>
            <a:ext cx="9026525" cy="6426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/>
              <a:t>1.1  </a:t>
            </a:r>
            <a:r>
              <a:rPr lang="zh-CN" altLang="en-US" sz="2400" b="1"/>
              <a:t>线段树：</a:t>
            </a:r>
            <a:endParaRPr lang="zh-CN" altLang="en-US" sz="2400" b="1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线段树是二叉树结构的衍生，主要用于高效解决数组的区间查询和区间动态修改的问题。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其特点是将区间不断对半划分，构建一颗递归式的二叉树结构，使得查询和更新操作能够在</a:t>
            </a:r>
            <a:r>
              <a:rPr lang="en-US" altLang="zh-CN" sz="2400"/>
              <a:t>O(log m)</a:t>
            </a:r>
            <a:r>
              <a:rPr lang="zh-CN" altLang="en-US" sz="2400"/>
              <a:t>时间内完成。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举例而言，如若现在有</a:t>
            </a:r>
            <a:r>
              <a:rPr lang="en-US" altLang="zh-CN" sz="2400"/>
              <a:t>8</a:t>
            </a:r>
            <a:r>
              <a:rPr lang="zh-CN" altLang="en-US" sz="2400"/>
              <a:t>条边，编号为</a:t>
            </a:r>
            <a:r>
              <a:rPr lang="en-US" altLang="zh-CN" sz="2400"/>
              <a:t>[1,8]</a:t>
            </a:r>
            <a:r>
              <a:rPr lang="zh-CN" altLang="en-US" sz="2400"/>
              <a:t>，线段树的结构会递归划分为如图</a:t>
            </a:r>
            <a:r>
              <a:rPr lang="en-US" altLang="zh-CN" sz="2400"/>
              <a:t>10</a:t>
            </a:r>
            <a:r>
              <a:rPr lang="zh-CN" altLang="en-US" sz="2400"/>
              <a:t>所示，当你想要查询边</a:t>
            </a:r>
            <a:r>
              <a:rPr lang="en-US" altLang="zh-CN" sz="2400"/>
              <a:t>1</a:t>
            </a:r>
            <a:r>
              <a:rPr lang="zh-CN" altLang="en-US" sz="2400"/>
              <a:t>时，先查询节点【</a:t>
            </a:r>
            <a:r>
              <a:rPr lang="en-US" altLang="zh-CN" sz="2400"/>
              <a:t>1,8</a:t>
            </a:r>
            <a:r>
              <a:rPr lang="zh-CN" altLang="en-US" sz="2400"/>
              <a:t>】，然后查询节点【</a:t>
            </a:r>
            <a:r>
              <a:rPr lang="en-US" altLang="zh-CN" sz="2400"/>
              <a:t>1,4</a:t>
            </a:r>
            <a:r>
              <a:rPr lang="zh-CN" altLang="en-US" sz="2400"/>
              <a:t>】，查询节点【</a:t>
            </a:r>
            <a:r>
              <a:rPr lang="en-US" altLang="zh-CN" sz="2400"/>
              <a:t>1,2</a:t>
            </a:r>
            <a:r>
              <a:rPr lang="zh-CN" altLang="en-US" sz="2400"/>
              <a:t>】，最后到达边</a:t>
            </a:r>
            <a:r>
              <a:rPr lang="en-US" altLang="zh-CN" sz="2400"/>
              <a:t>1</a:t>
            </a:r>
            <a:r>
              <a:rPr lang="zh-CN" altLang="en-US" sz="2400"/>
              <a:t>，查询路径如红色箭头所示。</a:t>
            </a:r>
            <a:endParaRPr lang="zh-CN" altLang="en-US" sz="2400"/>
          </a:p>
        </p:txBody>
      </p:sp>
      <p:pic>
        <p:nvPicPr>
          <p:cNvPr id="3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552700"/>
            <a:ext cx="5957570" cy="520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14450" y="2287270"/>
            <a:ext cx="9026525" cy="6426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/>
              <a:t>1.2   </a:t>
            </a:r>
            <a:r>
              <a:rPr lang="zh-CN" altLang="en-US" sz="2400" b="1"/>
              <a:t>线段树使用：</a:t>
            </a:r>
            <a:endParaRPr lang="zh-CN" altLang="en-US" sz="2400" b="1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不是使用传统意义上的线段树结构来存储，而是借鉴其</a:t>
            </a:r>
            <a:r>
              <a:rPr lang="en-US" altLang="zh-CN" sz="2400"/>
              <a:t>“</a:t>
            </a:r>
            <a:r>
              <a:rPr lang="zh-CN" altLang="en-US" sz="2400"/>
              <a:t>区间划分</a:t>
            </a:r>
            <a:r>
              <a:rPr lang="en-US" altLang="zh-CN" sz="2400"/>
              <a:t>+</a:t>
            </a:r>
            <a:r>
              <a:rPr lang="zh-CN" altLang="en-US" sz="2400"/>
              <a:t>递归处理</a:t>
            </a:r>
            <a:r>
              <a:rPr lang="en-US" altLang="zh-CN" sz="2400"/>
              <a:t>”</a:t>
            </a:r>
            <a:r>
              <a:rPr lang="zh-CN" altLang="en-US" sz="2400"/>
              <a:t>的模式。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实际上，会用深搜的方法遍历每一个叶子节点，每一个叶子节点相当于一条边，每当访问某一边时，程序按照线段树划分路径进入目标叶节点，并在路径中将右侧子区间所代表的边集合批量合并到并查集中，同时记录相关状态压入操作栈中，待处理完成后再进行撤销操作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查询边</a:t>
            </a:r>
            <a:r>
              <a:rPr lang="en-US" altLang="zh-CN" sz="2400"/>
              <a:t>1</a:t>
            </a:r>
            <a:r>
              <a:rPr lang="zh-CN" altLang="en-US" sz="2400"/>
              <a:t>的操作，会经过节点【</a:t>
            </a:r>
            <a:r>
              <a:rPr lang="en-US" altLang="zh-CN" sz="2400"/>
              <a:t>1,8</a:t>
            </a:r>
            <a:r>
              <a:rPr lang="zh-CN" altLang="en-US" sz="2400"/>
              <a:t>】，【</a:t>
            </a:r>
            <a:r>
              <a:rPr lang="en-US" altLang="zh-CN" sz="2400"/>
              <a:t>1,4</a:t>
            </a:r>
            <a:r>
              <a:rPr lang="zh-CN" altLang="en-US" sz="2400"/>
              <a:t>】，【</a:t>
            </a:r>
            <a:r>
              <a:rPr lang="en-US" altLang="zh-CN" sz="2400"/>
              <a:t>1,2</a:t>
            </a:r>
            <a:r>
              <a:rPr lang="zh-CN" altLang="en-US" sz="2400"/>
              <a:t>】到达节点</a:t>
            </a:r>
            <a:r>
              <a:rPr lang="en-US" altLang="zh-CN" sz="2400"/>
              <a:t>1</a:t>
            </a:r>
            <a:r>
              <a:rPr lang="zh-CN" altLang="en-US" sz="2400"/>
              <a:t>，在这个过程中不断的将右区间，即【</a:t>
            </a:r>
            <a:r>
              <a:rPr lang="en-US" altLang="zh-CN" sz="2400"/>
              <a:t>5,8</a:t>
            </a:r>
            <a:r>
              <a:rPr lang="zh-CN" altLang="en-US" sz="2400"/>
              <a:t>】，【</a:t>
            </a:r>
            <a:r>
              <a:rPr lang="en-US" altLang="zh-CN" sz="2400"/>
              <a:t>3,4</a:t>
            </a:r>
            <a:r>
              <a:rPr lang="zh-CN" altLang="en-US" sz="2400"/>
              <a:t>】压入栈。</a:t>
            </a:r>
            <a:endParaRPr lang="zh-CN" altLang="en-US" sz="2400"/>
          </a:p>
        </p:txBody>
      </p:sp>
      <p:pic>
        <p:nvPicPr>
          <p:cNvPr id="3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552700"/>
            <a:ext cx="5957570" cy="520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1353800" y="803878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黄色块是现查询的节点，绿色块是压入栈的部分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1478153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sym typeface="+mn-ea"/>
              </a:rPr>
              <a:t>1.2   </a:t>
            </a:r>
            <a:r>
              <a:rPr lang="zh-CN" altLang="en-US" sz="2400" b="1">
                <a:sym typeface="+mn-ea"/>
              </a:rPr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在边</a:t>
            </a:r>
            <a:r>
              <a:rPr lang="en-US" altLang="zh-CN" sz="2400"/>
              <a:t> 1 </a:t>
            </a:r>
            <a:r>
              <a:rPr lang="zh-CN" altLang="en-US" sz="2400"/>
              <a:t>判断完成后，程序回溯到</a:t>
            </a:r>
            <a:r>
              <a:rPr lang="en-US" altLang="zh-CN" sz="2400"/>
              <a:t> </a:t>
            </a:r>
            <a:r>
              <a:rPr lang="zh-CN" altLang="en-US" sz="2400"/>
              <a:t>【</a:t>
            </a:r>
            <a:r>
              <a:rPr lang="en-US" altLang="zh-CN" sz="2400"/>
              <a:t>1,2</a:t>
            </a:r>
            <a:r>
              <a:rPr lang="zh-CN" altLang="en-US" sz="2400"/>
              <a:t>】，然后直接进入节点</a:t>
            </a:r>
            <a:r>
              <a:rPr lang="en-US" altLang="zh-CN" sz="2400"/>
              <a:t> 2</a:t>
            </a:r>
            <a:r>
              <a:rPr lang="zh-CN" altLang="en-US" sz="2400"/>
              <a:t>，即可定位边</a:t>
            </a:r>
            <a:r>
              <a:rPr lang="en-US" altLang="zh-CN" sz="2400"/>
              <a:t> 2</a:t>
            </a:r>
            <a:r>
              <a:rPr lang="zh-CN" altLang="en-US" sz="2400"/>
              <a:t>。此时无需额外合并操作和入栈操作。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</p:txBody>
      </p:sp>
      <p:pic>
        <p:nvPicPr>
          <p:cNvPr id="3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076700"/>
            <a:ext cx="5957570" cy="5203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4000500"/>
            <a:ext cx="5819775" cy="5245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右箭头 7"/>
          <p:cNvSpPr/>
          <p:nvPr/>
        </p:nvSpPr>
        <p:spPr>
          <a:xfrm>
            <a:off x="7620000" y="5676900"/>
            <a:ext cx="1981200" cy="914400"/>
          </a:xfrm>
          <a:prstGeom prst="rightArrow">
            <a:avLst/>
          </a:prstGeom>
          <a:solidFill>
            <a:srgbClr val="B3B7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1478153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/>
              <a:t>2.</a:t>
            </a:r>
            <a:r>
              <a:rPr lang="zh-CN" altLang="en-US" sz="2400" b="1"/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若继续查询</a:t>
            </a:r>
            <a:r>
              <a:rPr lang="en-US" altLang="zh-CN" sz="2400"/>
              <a:t>3</a:t>
            </a:r>
            <a:r>
              <a:rPr lang="zh-CN" altLang="en-US" sz="2400"/>
              <a:t>号边，则如图</a:t>
            </a:r>
            <a:r>
              <a:rPr lang="en-US" altLang="zh-CN" sz="2400"/>
              <a:t>12</a:t>
            </a:r>
            <a:r>
              <a:rPr lang="zh-CN" altLang="en-US" sz="2400"/>
              <a:t>所示，先从节点</a:t>
            </a:r>
            <a:r>
              <a:rPr lang="en-US" altLang="zh-CN" sz="2400"/>
              <a:t>2</a:t>
            </a:r>
            <a:r>
              <a:rPr lang="zh-CN" altLang="en-US" sz="2400"/>
              <a:t>回溯到【</a:t>
            </a:r>
            <a:r>
              <a:rPr lang="en-US" altLang="zh-CN" sz="2400"/>
              <a:t>1,2</a:t>
            </a:r>
            <a:r>
              <a:rPr lang="zh-CN" altLang="en-US" sz="2400"/>
              <a:t>】节点，然后回溯到【</a:t>
            </a:r>
            <a:r>
              <a:rPr lang="en-US" altLang="zh-CN" sz="2400"/>
              <a:t>1,4</a:t>
            </a:r>
            <a:r>
              <a:rPr lang="zh-CN" altLang="en-US" sz="2400"/>
              <a:t>】节点然后再进入【</a:t>
            </a:r>
            <a:r>
              <a:rPr lang="en-US" altLang="zh-CN" sz="2400"/>
              <a:t>3,4</a:t>
            </a:r>
            <a:r>
              <a:rPr lang="zh-CN" altLang="en-US" sz="2400"/>
              <a:t>】节点，从而找到</a:t>
            </a:r>
            <a:r>
              <a:rPr lang="en-US" altLang="zh-CN" sz="2400"/>
              <a:t>3</a:t>
            </a:r>
            <a:r>
              <a:rPr lang="zh-CN" altLang="en-US" sz="2400"/>
              <a:t>号边。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</p:txBody>
      </p:sp>
      <p:pic>
        <p:nvPicPr>
          <p:cNvPr id="7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152900"/>
            <a:ext cx="5819775" cy="5245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5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0" y="4076700"/>
            <a:ext cx="5800090" cy="53384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右箭头 7"/>
          <p:cNvSpPr/>
          <p:nvPr/>
        </p:nvSpPr>
        <p:spPr>
          <a:xfrm>
            <a:off x="7696200" y="5905500"/>
            <a:ext cx="1905000" cy="838200"/>
          </a:xfrm>
          <a:prstGeom prst="rightArrow">
            <a:avLst/>
          </a:prstGeom>
          <a:solidFill>
            <a:srgbClr val="B3B7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1478153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sym typeface="+mn-ea"/>
              </a:rPr>
              <a:t>1.2   </a:t>
            </a:r>
            <a:r>
              <a:rPr lang="zh-CN" altLang="en-US" sz="2400" b="1">
                <a:sym typeface="+mn-ea"/>
              </a:rPr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而查询</a:t>
            </a:r>
            <a:r>
              <a:rPr lang="en-US" altLang="zh-CN" sz="2400"/>
              <a:t>4</a:t>
            </a:r>
            <a:r>
              <a:rPr lang="zh-CN" altLang="en-US" sz="2400"/>
              <a:t>号边只需先回溯到【</a:t>
            </a:r>
            <a:r>
              <a:rPr lang="en-US" altLang="zh-CN" sz="2400"/>
              <a:t>3,4</a:t>
            </a:r>
            <a:r>
              <a:rPr lang="zh-CN" altLang="en-US" sz="2400"/>
              <a:t>】节点，然后即可找到。</a:t>
            </a:r>
            <a:endParaRPr lang="zh-CN" altLang="en-US" sz="2400"/>
          </a:p>
        </p:txBody>
      </p:sp>
      <p:pic>
        <p:nvPicPr>
          <p:cNvPr id="3" name="图片 -21474825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924300"/>
            <a:ext cx="5800090" cy="53384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848100"/>
            <a:ext cx="5892165" cy="52806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右箭头 7"/>
          <p:cNvSpPr/>
          <p:nvPr/>
        </p:nvSpPr>
        <p:spPr>
          <a:xfrm>
            <a:off x="7853045" y="5600700"/>
            <a:ext cx="1981200" cy="762000"/>
          </a:xfrm>
          <a:prstGeom prst="rightArrow">
            <a:avLst/>
          </a:prstGeom>
          <a:solidFill>
            <a:srgbClr val="B3B7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8054975" cy="5178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sym typeface="+mn-ea"/>
              </a:rPr>
              <a:t>1.2   </a:t>
            </a:r>
            <a:r>
              <a:rPr lang="zh-CN" altLang="en-US" sz="2400" b="1">
                <a:sym typeface="+mn-ea"/>
              </a:rPr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endParaRPr lang="zh-CN" altLang="en-US" sz="2400" b="1"/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400"/>
              <a:t>在查询完</a:t>
            </a:r>
            <a:r>
              <a:rPr lang="en-US" altLang="zh-CN" sz="2400"/>
              <a:t>4</a:t>
            </a:r>
            <a:r>
              <a:rPr lang="zh-CN" altLang="en-US" sz="2400"/>
              <a:t>号边后，如若要查询</a:t>
            </a:r>
            <a:r>
              <a:rPr lang="en-US" altLang="zh-CN" sz="2400"/>
              <a:t>5</a:t>
            </a:r>
            <a:r>
              <a:rPr lang="zh-CN" altLang="en-US" sz="2400"/>
              <a:t>号边，根据深搜的顺序，先逐步回溯到【</a:t>
            </a:r>
            <a:r>
              <a:rPr lang="en-US" altLang="zh-CN" sz="2400"/>
              <a:t>1,8</a:t>
            </a:r>
            <a:r>
              <a:rPr lang="zh-CN" altLang="en-US" sz="2400"/>
              <a:t>】节点，途中将</a:t>
            </a:r>
            <a:r>
              <a:rPr lang="en-US" altLang="zh-CN" sz="2400"/>
              <a:t>3</a:t>
            </a:r>
            <a:r>
              <a:rPr lang="zh-CN" altLang="en-US" sz="2400"/>
              <a:t>号，【</a:t>
            </a:r>
            <a:r>
              <a:rPr lang="en-US" altLang="zh-CN" sz="2400"/>
              <a:t>1,2</a:t>
            </a:r>
            <a:r>
              <a:rPr lang="zh-CN" altLang="en-US" sz="2400"/>
              <a:t>】号，【</a:t>
            </a:r>
            <a:r>
              <a:rPr lang="en-US" altLang="zh-CN" sz="2400"/>
              <a:t>5,8</a:t>
            </a:r>
            <a:r>
              <a:rPr lang="zh-CN" altLang="en-US" sz="2400"/>
              <a:t>】号节点全部弹出栈；然后进入【</a:t>
            </a:r>
            <a:r>
              <a:rPr lang="en-US" altLang="zh-CN" sz="2400"/>
              <a:t>5,8</a:t>
            </a:r>
            <a:r>
              <a:rPr lang="zh-CN" altLang="en-US" sz="2400"/>
              <a:t>】节点，在进入【</a:t>
            </a:r>
            <a:r>
              <a:rPr lang="en-US" altLang="zh-CN" sz="2400"/>
              <a:t>5,8</a:t>
            </a:r>
            <a:r>
              <a:rPr lang="zh-CN" altLang="en-US" sz="2400"/>
              <a:t>】节点之前，需要先将【</a:t>
            </a:r>
            <a:r>
              <a:rPr lang="en-US" altLang="zh-CN" sz="2400"/>
              <a:t>1,4</a:t>
            </a:r>
            <a:r>
              <a:rPr lang="zh-CN" altLang="en-US" sz="2400"/>
              <a:t>】节点囊括的边压入栈，接着进入【</a:t>
            </a:r>
            <a:r>
              <a:rPr lang="en-US" altLang="zh-CN" sz="2400"/>
              <a:t>5,6</a:t>
            </a:r>
            <a:r>
              <a:rPr lang="zh-CN" altLang="en-US" sz="2400"/>
              <a:t>】节点，同样，在这之前，先把【</a:t>
            </a:r>
            <a:r>
              <a:rPr lang="en-US" altLang="zh-CN" sz="2400"/>
              <a:t>7,8</a:t>
            </a:r>
            <a:r>
              <a:rPr lang="zh-CN" altLang="en-US" sz="2400"/>
              <a:t>】节点压入栈，接着进入</a:t>
            </a:r>
            <a:r>
              <a:rPr lang="en-US" altLang="zh-CN" sz="2400"/>
              <a:t>5</a:t>
            </a:r>
            <a:r>
              <a:rPr lang="zh-CN" altLang="en-US" sz="2400"/>
              <a:t>号节点，进入</a:t>
            </a:r>
            <a:r>
              <a:rPr lang="en-US" altLang="zh-CN" sz="2400"/>
              <a:t>5</a:t>
            </a:r>
            <a:r>
              <a:rPr lang="zh-CN" altLang="en-US" sz="2400"/>
              <a:t>号节点前同样先把</a:t>
            </a:r>
            <a:r>
              <a:rPr lang="en-US" altLang="zh-CN" sz="2400"/>
              <a:t>6</a:t>
            </a:r>
            <a:r>
              <a:rPr lang="zh-CN" altLang="en-US" sz="2400"/>
              <a:t>号节点压入栈。如此即可找到</a:t>
            </a:r>
            <a:r>
              <a:rPr lang="en-US" altLang="zh-CN" sz="2400"/>
              <a:t>5</a:t>
            </a:r>
            <a:r>
              <a:rPr lang="zh-CN" altLang="en-US" sz="2400"/>
              <a:t>号边。</a:t>
            </a:r>
            <a:endParaRPr lang="zh-CN" altLang="en-US" sz="2400"/>
          </a:p>
        </p:txBody>
      </p:sp>
      <p:pic>
        <p:nvPicPr>
          <p:cNvPr id="3" name="图片 -21474825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857500"/>
            <a:ext cx="6598920" cy="580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571500"/>
            <a:ext cx="12205335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优化算法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--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+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095500"/>
            <a:ext cx="6696710" cy="73901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458200" y="2628900"/>
            <a:ext cx="7830185" cy="5939155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2. </a:t>
            </a:r>
            <a:r>
              <a:rPr lang="zh-CN" altLang="en-US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算法过程：</a:t>
            </a:r>
            <a:endParaRPr lang="en-US" altLang="zh-CN" sz="2800" b="1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将整个边编号区间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[l,r] 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拆分为左右两段 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[l,mid] 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与 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[mid+1,r]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；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将右半区间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[mid+1,r]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的所有边合并入并查集，并记录合并状态入栈；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递归处理左区间，判断其中边是否为桥；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使用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Pop(siz) 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回滚右区间的合并状态；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合并左区间边并递归处理右区间；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最后再回滚左区间的合并状态，完成当前层的回溯。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571500"/>
            <a:ext cx="12205335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优化算法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--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+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82000" y="2705100"/>
            <a:ext cx="8242300" cy="5128260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3. </a:t>
            </a:r>
            <a:r>
              <a:rPr lang="zh-CN" altLang="en-US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复杂度分析：</a:t>
            </a:r>
            <a:endParaRPr lang="en-US" altLang="zh-CN" sz="2800" b="1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单次合并或查找操作的复杂度为</a:t>
            </a:r>
            <a:r>
              <a:rPr lang="en-US" altLang="zh-CN" sz="2400">
                <a:sym typeface="+mn-ea"/>
              </a:rPr>
              <a:t>O(α(n)) ,</a:t>
            </a:r>
            <a:r>
              <a:rPr lang="zh-CN" altLang="en-US" sz="2400">
                <a:sym typeface="+mn-ea"/>
              </a:rPr>
              <a:t>接近常数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；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线段树分治框架下，边编号区间被递归划分为左右两部分，总体递归深度为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O(log m)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；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每条边最多在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log m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层中被合并和撤销一次，因此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Push 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Pop 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操作的总次数为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O(mlogm)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；使用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Pop(siz) 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回滚右区间的合并状态；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总复杂度为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O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（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 *log m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）。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" name="图片 -2147482559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628900"/>
            <a:ext cx="3386455" cy="33864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5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33700"/>
            <a:ext cx="3187700" cy="3040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514600" y="6591300"/>
            <a:ext cx="426783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算法逻辑正确，程序运行正常</a:t>
            </a:r>
            <a:endParaRPr lang="zh-CN" altLang="en-US" sz="20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571500"/>
            <a:ext cx="134467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Tarjan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算法验证优化算法正确性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47800" y="2476500"/>
            <a:ext cx="10058400" cy="6492875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1.Tarjan</a:t>
            </a:r>
            <a:r>
              <a:rPr lang="zh-CN" altLang="en-US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：</a:t>
            </a:r>
            <a:endParaRPr lang="en-US" altLang="zh-CN" sz="2800" b="1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Tarjan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算法是基于深度优先搜索（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DFS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）的算法，可用于求解图的连通性问题。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42900" indent="-3429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Ø"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dfn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值，表示节点在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DFS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中被访问的时间戳（第几个访问）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42900" indent="-3429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Ø"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low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值，表示节点能通过回边或子节点到达的最早访问的节点的时间戳。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对于每一条边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(u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v)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，如果（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u,v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）是树边，且</a:t>
            </a:r>
            <a:r>
              <a:rPr lang="en-US" altLang="zh-CN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low[v]&gt;dfn[u]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，那么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(u,v)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就是桥。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why?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en-US" altLang="zh-CN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low[v]&gt;dfn[u]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说明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v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及其字树无法通过非树边回到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u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的祖先，即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(u,v)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是连接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u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v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字树的唯一路径，删除这条边后，图会断开。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" name="图片 -2147482545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2324100"/>
            <a:ext cx="3129915" cy="31299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5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0" y="5732145"/>
            <a:ext cx="2848610" cy="32372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结果分析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1.</a:t>
            </a:r>
            <a:r>
              <a:rPr lang="zh-CN" altLang="en-US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实验数据</a:t>
            </a:r>
            <a:endParaRPr lang="zh-CN" altLang="en-US" sz="6000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95400" y="2552700"/>
            <a:ext cx="6096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）图例数据</a:t>
            </a:r>
            <a:r>
              <a:rPr lang="en-US" altLang="zh-CN" sz="2400" b="1"/>
              <a:t>---</a:t>
            </a:r>
            <a:r>
              <a:rPr lang="zh-CN" altLang="en-US" sz="2400" b="1"/>
              <a:t>算法正确性验证：</a:t>
            </a:r>
            <a:endParaRPr lang="zh-CN" altLang="en-US" sz="2400" b="1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238500"/>
            <a:ext cx="4550410" cy="47021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239000" y="25523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indent="0" defTabSz="914400">
              <a:lnSpc>
                <a:spcPct val="100000"/>
              </a:lnSpc>
              <a:buClrTx/>
              <a:buSzTx/>
              <a:buFont typeface="+mj-ea"/>
              <a:buNone/>
            </a:pPr>
            <a:r>
              <a:rPr lang="zh-CN" altLang="en-US" sz="2400" b="1"/>
              <a:t>（</a:t>
            </a:r>
            <a:r>
              <a:rPr lang="en-US" altLang="en-US" sz="2400" b="1"/>
              <a:t>2</a:t>
            </a:r>
            <a:r>
              <a:rPr lang="zh-CN" altLang="en-US" sz="2400" b="1"/>
              <a:t>）</a:t>
            </a:r>
            <a:r>
              <a:rPr lang="en-US" altLang="en-US" sz="2400" b="1"/>
              <a:t>Medium数据</a:t>
            </a:r>
            <a:endParaRPr lang="en-US" altLang="en-US" sz="2400" b="1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3013075"/>
            <a:ext cx="9048750" cy="13620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086600" y="4305300"/>
            <a:ext cx="3742690" cy="645160"/>
          </a:xfrm>
          <a:prstGeom prst="rect">
            <a:avLst/>
          </a:prstGeom>
        </p:spPr>
        <p:txBody>
          <a:bodyPr wrap="square">
            <a:spAutoFit/>
          </a:bodyPr>
          <a:p>
            <a:pPr indent="26797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400" b="1">
                <a:latin typeface="Times New Roman" panose="02020603050405020304"/>
                <a:ea typeface="Times New Roman" panose="02020603050405020304"/>
              </a:rPr>
              <a:t>Large</a:t>
            </a:r>
            <a:r>
              <a:rPr lang="zh-CN" altLang="en-US" sz="2400" b="1">
                <a:latin typeface="Times New Roman" panose="02020603050405020304"/>
                <a:ea typeface="宋体" panose="02010600030101010101" pitchFamily="2" charset="-122"/>
              </a:rPr>
              <a:t>数据 </a:t>
            </a:r>
            <a:endParaRPr lang="zh-CN" altLang="en-US" sz="24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415" y="5067300"/>
            <a:ext cx="9181465" cy="1401445"/>
          </a:xfrm>
          <a:prstGeom prst="rect">
            <a:avLst/>
          </a:prstGeom>
        </p:spPr>
      </p:pic>
      <p:pic>
        <p:nvPicPr>
          <p:cNvPr id="5" name="图片 -2147482521" descr="a69b43ced79a83405a696854230cf8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9600" y="6585585"/>
            <a:ext cx="2578100" cy="2828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-2147482524" descr="1f3cb12ae8b5cc9536e815625bc48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0" y="6585585"/>
            <a:ext cx="2392680" cy="26752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7620000" y="6803390"/>
            <a:ext cx="41173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/>
              <a:t>Tarjan</a:t>
            </a:r>
            <a:r>
              <a:rPr lang="zh-CN" altLang="en-US" sz="2000"/>
              <a:t>算法在跑大图数据时为了避免递归栈空间过大导致报错，需要在终端执行</a:t>
            </a:r>
            <a:r>
              <a:rPr lang="en-US" altLang="zh-CN" sz="2000"/>
              <a:t>“ulimit -s unlimited”</a:t>
            </a:r>
            <a:r>
              <a:rPr lang="zh-CN" altLang="en-US" sz="2000"/>
              <a:t>命令，同时在跑大图数据时都使用了</a:t>
            </a:r>
            <a:r>
              <a:rPr lang="en-US" altLang="zh-CN" sz="2000"/>
              <a:t>-O2</a:t>
            </a:r>
            <a:r>
              <a:rPr lang="zh-CN" altLang="en-US" sz="2000"/>
              <a:t>优化编译</a:t>
            </a:r>
            <a:endParaRPr lang="zh-CN" altLang="en-US" sz="2000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6858000" y="2019300"/>
            <a:ext cx="15875" cy="7529830"/>
          </a:xfrm>
          <a:prstGeom prst="line">
            <a:avLst/>
          </a:prstGeom>
          <a:ln w="47625">
            <a:solidFill>
              <a:srgbClr val="B3B7C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自定义数据</a:t>
            </a: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--</a:t>
            </a:r>
            <a:r>
              <a:rPr lang="zh-CN" altLang="en-US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随机生成图</a:t>
            </a:r>
            <a:endParaRPr lang="zh-CN" altLang="en-US" sz="6000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6858000" y="2019300"/>
            <a:ext cx="15875" cy="7529830"/>
          </a:xfrm>
          <a:prstGeom prst="line">
            <a:avLst/>
          </a:prstGeom>
          <a:ln w="47625">
            <a:solidFill>
              <a:srgbClr val="B3B7C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Box 23"/>
          <p:cNvSpPr txBox="1"/>
          <p:nvPr/>
        </p:nvSpPr>
        <p:spPr>
          <a:xfrm>
            <a:off x="2057151" y="3162471"/>
            <a:ext cx="3167714" cy="275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370"/>
              </a:lnSpc>
            </a:pPr>
            <a:r>
              <a:rPr lang="en-US" sz="3555">
                <a:solidFill>
                  <a:srgbClr val="000000"/>
                </a:solidFill>
                <a:ea typeface="字由点字典黑" panose="00020600040101010101" charset="-122"/>
              </a:rPr>
              <a:t>避免生成</a:t>
            </a:r>
            <a:r>
              <a:rPr lang="en-US" sz="3555">
                <a:solidFill>
                  <a:srgbClr val="B3B7CC"/>
                </a:solidFill>
                <a:ea typeface="字由点字典黑" panose="00020600040101010101" charset="-122"/>
              </a:rPr>
              <a:t>重复随机点</a:t>
            </a:r>
            <a:r>
              <a:rPr lang="en-US" sz="3555">
                <a:solidFill>
                  <a:srgbClr val="000000"/>
                </a:solidFill>
                <a:ea typeface="字由点字典黑" panose="00020600040101010101" charset="-122"/>
              </a:rPr>
              <a:t>和去掉</a:t>
            </a:r>
            <a:r>
              <a:rPr lang="en-US" sz="3555">
                <a:solidFill>
                  <a:srgbClr val="B3B7CC"/>
                </a:solidFill>
                <a:ea typeface="字由点字典黑" panose="00020600040101010101" charset="-122"/>
              </a:rPr>
              <a:t>重边自环</a:t>
            </a:r>
            <a:r>
              <a:rPr lang="en-US" sz="3555">
                <a:solidFill>
                  <a:srgbClr val="000000"/>
                </a:solidFill>
                <a:ea typeface="字由点字典黑" panose="00020600040101010101" charset="-122"/>
              </a:rPr>
              <a:t>。</a:t>
            </a:r>
            <a:endParaRPr lang="en-US" sz="3555">
              <a:solidFill>
                <a:srgbClr val="000000"/>
              </a:solidFill>
              <a:ea typeface="字由点字典黑" panose="00020600040101010101" charset="-122"/>
            </a:endParaRPr>
          </a:p>
          <a:p>
            <a:pPr marL="0" lvl="0" indent="0" algn="l">
              <a:lnSpc>
                <a:spcPts val="5370"/>
              </a:lnSpc>
              <a:spcBef>
                <a:spcPct val="0"/>
              </a:spcBef>
            </a:p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2000885"/>
            <a:ext cx="7323455" cy="75482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+mj-lt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ea typeface="华文琥珀" panose="02010800040101010101" charset="-122"/>
                <a:cs typeface="+mj-lt"/>
                <a:sym typeface="Agrandir" panose="00000500000000000000"/>
              </a:rPr>
              <a:t>自定义数据</a:t>
            </a:r>
            <a:endParaRPr lang="zh-CN" altLang="en-US" sz="6000">
              <a:solidFill>
                <a:srgbClr val="2B2B2B"/>
              </a:solidFill>
              <a:ea typeface="华文琥珀" panose="02010800040101010101" charset="-122"/>
              <a:cs typeface="+mj-lt"/>
              <a:sym typeface="Agrandir" panose="0000050000000000000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524000" y="2628900"/>
            <a:ext cx="74504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+mj-lt"/>
                <a:ea typeface="宋体" panose="02010600030101010101" pitchFamily="2" charset="-122"/>
                <a:cs typeface="+mj-lt"/>
              </a:rPr>
              <a:t>（</a:t>
            </a:r>
            <a:r>
              <a:rPr lang="en-US" altLang="zh-CN" sz="2400" b="1">
                <a:latin typeface="+mj-lt"/>
                <a:ea typeface="宋体" panose="02010600030101010101" pitchFamily="2" charset="-122"/>
                <a:cs typeface="+mj-lt"/>
              </a:rPr>
              <a:t>1</a:t>
            </a:r>
            <a:r>
              <a:rPr lang="zh-CN" altLang="en-US" sz="2400" b="1">
                <a:latin typeface="+mj-lt"/>
                <a:ea typeface="宋体" panose="02010600030101010101" pitchFamily="2" charset="-122"/>
                <a:cs typeface="+mj-lt"/>
              </a:rPr>
              <a:t>）算法在不同规模数据上运行效果</a:t>
            </a:r>
            <a:endParaRPr lang="zh-CN" altLang="en-US" sz="2400" b="1">
              <a:latin typeface="+mj-lt"/>
              <a:ea typeface="宋体" panose="02010600030101010101" pitchFamily="2" charset="-122"/>
              <a:cs typeface="+mj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314700"/>
            <a:ext cx="7997825" cy="41040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2476500"/>
            <a:ext cx="7373620" cy="54222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63395" y="7903845"/>
            <a:ext cx="107670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在小规模数据下</a:t>
            </a:r>
            <a:r>
              <a:rPr lang="en-US" altLang="zh-CN"/>
              <a:t>(n=100, m=200)</a:t>
            </a:r>
            <a:r>
              <a:rPr lang="zh-CN" altLang="en-US"/>
              <a:t>，所有算法的运行时间都可以接受，其中基准算法最慢。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随着数据规模增大，基准算法和未优化的并查集算法的运行时间增长迅速，当数据规模到达</a:t>
            </a:r>
            <a:r>
              <a:rPr lang="en-US" altLang="zh-CN"/>
              <a:t>1e5</a:t>
            </a:r>
            <a:r>
              <a:rPr lang="zh-CN" altLang="en-US"/>
              <a:t>短时间内已经跑不动了，而其他两种算法的运行时间基本保持在较低水平。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Tarjan</a:t>
            </a:r>
            <a:r>
              <a:rPr lang="zh-CN" altLang="en-US"/>
              <a:t>算法和并查集优化</a:t>
            </a:r>
            <a:r>
              <a:rPr lang="en-US" altLang="zh-CN"/>
              <a:t>+</a:t>
            </a:r>
            <a:r>
              <a:rPr lang="zh-CN" altLang="en-US"/>
              <a:t>线段树分治算法在大规模数据下表现优异，运行时间较短。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并查集优化</a:t>
            </a:r>
            <a:r>
              <a:rPr lang="en-US" altLang="zh-CN"/>
              <a:t>+</a:t>
            </a:r>
            <a:r>
              <a:rPr lang="zh-CN" altLang="en-US"/>
              <a:t>线段树分治算法在大规模数据下也表现良好，但是相比</a:t>
            </a:r>
            <a:r>
              <a:rPr lang="en-US" altLang="zh-CN"/>
              <a:t>Tarjan</a:t>
            </a:r>
            <a:r>
              <a:rPr lang="zh-CN" altLang="en-US"/>
              <a:t>稍微慢一些。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2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+mj-lt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ea typeface="华文琥珀" panose="02010800040101010101" charset="-122"/>
                <a:cs typeface="+mj-lt"/>
                <a:sym typeface="Agrandir" panose="00000500000000000000"/>
              </a:rPr>
              <a:t>自定义数据</a:t>
            </a:r>
            <a:endParaRPr lang="zh-CN" altLang="en-US" sz="6000">
              <a:solidFill>
                <a:srgbClr val="2B2B2B"/>
              </a:solidFill>
              <a:ea typeface="华文琥珀" panose="02010800040101010101" charset="-122"/>
              <a:cs typeface="+mj-lt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2323783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）小规模数据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-2147482518" descr="56b5f512fd31f7084e5a8fd4be912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628900"/>
            <a:ext cx="7298055" cy="5403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119755"/>
            <a:ext cx="7953375" cy="31762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2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+mj-lt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ea typeface="华文琥珀" panose="02010800040101010101" charset="-122"/>
                <a:cs typeface="+mj-lt"/>
                <a:sym typeface="Agrandir" panose="00000500000000000000"/>
              </a:rPr>
              <a:t>自定义数据</a:t>
            </a:r>
            <a:endParaRPr lang="zh-CN" altLang="en-US" sz="6000">
              <a:solidFill>
                <a:srgbClr val="2B2B2B"/>
              </a:solidFill>
              <a:ea typeface="华文琥珀" panose="02010800040101010101" charset="-122"/>
              <a:cs typeface="+mj-lt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2323783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）大规模数据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-21474825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2552700"/>
            <a:ext cx="7377430" cy="546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b="2884"/>
          <a:stretch>
            <a:fillRect/>
          </a:stretch>
        </p:blipFill>
        <p:spPr>
          <a:xfrm>
            <a:off x="1447800" y="3390900"/>
            <a:ext cx="8495030" cy="30492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1600451" y="-6515175"/>
            <a:ext cx="13761077" cy="1415359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11408" y="4605020"/>
            <a:ext cx="8465185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8000" b="1" u="none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Thank you!</a:t>
            </a:r>
            <a:endParaRPr lang="en-US" sz="8000" b="1" u="none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4184</Words>
  <Application>WPS 演示</Application>
  <PresentationFormat>On-screen Show (4:3)</PresentationFormat>
  <Paragraphs>316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9" baseType="lpstr">
      <vt:lpstr>Arial</vt:lpstr>
      <vt:lpstr>宋体</vt:lpstr>
      <vt:lpstr>Wingdings</vt:lpstr>
      <vt:lpstr>华文琥珀</vt:lpstr>
      <vt:lpstr>Hertical Rough</vt:lpstr>
      <vt:lpstr>Segoe Print</vt:lpstr>
      <vt:lpstr>Agrandir</vt:lpstr>
      <vt:lpstr>Agrandir Bold</vt:lpstr>
      <vt:lpstr>方正黑体简体</vt:lpstr>
      <vt:lpstr>Times New Roman</vt:lpstr>
      <vt:lpstr>Wingdings</vt:lpstr>
      <vt:lpstr>微软雅黑</vt:lpstr>
      <vt:lpstr>Arial Unicode MS</vt:lpstr>
      <vt:lpstr>Calibri</vt:lpstr>
      <vt:lpstr>字由点字典黑</vt:lpstr>
      <vt:lpstr>BatangChe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Pembentangan Asas Ringkas Bertompok Pastel</dc:title>
  <dc:creator/>
  <cp:lastModifiedBy>杨韩冰</cp:lastModifiedBy>
  <cp:revision>16</cp:revision>
  <dcterms:created xsi:type="dcterms:W3CDTF">2006-08-16T00:00:00Z</dcterms:created>
  <dcterms:modified xsi:type="dcterms:W3CDTF">2025-06-06T05:37:29Z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C0F67DB846CC4E9DB31034FA0AC0679F_13</vt:lpwstr>
  </property>
  <property fmtid="{D5CDD505-2E9C-101B-9397-08002B2CF9AE}" pid="3" name="KSOProductBuildVer">
    <vt:lpwstr>2052-12.1.0.20305</vt:lpwstr>
  </property>
</Properties>
</file>