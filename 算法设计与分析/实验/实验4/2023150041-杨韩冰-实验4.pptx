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9.svg" ContentType="image/svg+xml"/>
  <Override PartName="/ppt/media/image4.svg" ContentType="image/svg+xml"/>
  <Override PartName="/ppt/media/image47.svg" ContentType="image/svg+xml"/>
  <Override PartName="/ppt/media/image6.svg" ContentType="image/svg+xml"/>
  <Override PartName="/ppt/media/image6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sldIdLst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</p:sldIdLst>
  <p:sldSz cx="18288000" cy="10287000"/>
  <p:notesSz cx="6858000" cy="9144000"/>
  <p:embeddedFontLst>
    <p:embeddedFont>
      <p:font typeface="华文琥珀" panose="02010800040101010101" charset="-122"/>
      <p:regular r:id="rId33"/>
    </p:embeddedFont>
    <p:embeddedFont>
      <p:font typeface="210 클레이토이" panose="02020603020101020101" charset="-127"/>
      <p:regular r:id="rId34"/>
    </p:embeddedFont>
    <p:embeddedFont>
      <p:font typeface="Arimo" panose="020B0604020202020204"/>
      <p:regular r:id="rId35"/>
    </p:embeddedFont>
    <p:embeddedFont>
      <p:font typeface="微软雅黑" panose="020B0503020204020204" charset="-122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3E3E"/>
    <a:srgbClr val="F3A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8.fntdata"/><Relationship Id="rId4" Type="http://schemas.openxmlformats.org/officeDocument/2006/relationships/slide" Target="slides/slide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tags" Target="../tags/tag5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4.png"/><Relationship Id="rId15" Type="http://schemas.openxmlformats.org/officeDocument/2006/relationships/image" Target="../media/image10.svg"/><Relationship Id="rId14" Type="http://schemas.openxmlformats.org/officeDocument/2006/relationships/image" Target="../media/image9.png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7.png"/><Relationship Id="rId2" Type="http://schemas.openxmlformats.org/officeDocument/2006/relationships/image" Target="../media/image5.png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29.svg"/><Relationship Id="rId20" Type="http://schemas.openxmlformats.org/officeDocument/2006/relationships/image" Target="../media/image28.png"/><Relationship Id="rId2" Type="http://schemas.openxmlformats.org/officeDocument/2006/relationships/image" Target="../media/image6.svg"/><Relationship Id="rId19" Type="http://schemas.openxmlformats.org/officeDocument/2006/relationships/image" Target="../media/image26.png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8.svg"/><Relationship Id="rId4" Type="http://schemas.openxmlformats.org/officeDocument/2006/relationships/image" Target="../media/image32.png"/><Relationship Id="rId3" Type="http://schemas.openxmlformats.org/officeDocument/2006/relationships/image" Target="../media/image6.sv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8.svg"/><Relationship Id="rId7" Type="http://schemas.openxmlformats.org/officeDocument/2006/relationships/image" Target="../media/image32.png"/><Relationship Id="rId6" Type="http://schemas.openxmlformats.org/officeDocument/2006/relationships/image" Target="../media/image6.svg"/><Relationship Id="rId5" Type="http://schemas.openxmlformats.org/officeDocument/2006/relationships/image" Target="../media/image31.png"/><Relationship Id="rId4" Type="http://schemas.openxmlformats.org/officeDocument/2006/relationships/image" Target="../media/image12.svg"/><Relationship Id="rId3" Type="http://schemas.openxmlformats.org/officeDocument/2006/relationships/image" Target="../media/image35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3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4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45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svg"/><Relationship Id="rId8" Type="http://schemas.openxmlformats.org/officeDocument/2006/relationships/image" Target="../media/image34.png"/><Relationship Id="rId7" Type="http://schemas.openxmlformats.org/officeDocument/2006/relationships/image" Target="../media/image48.png"/><Relationship Id="rId6" Type="http://schemas.openxmlformats.org/officeDocument/2006/relationships/image" Target="../media/image8.svg"/><Relationship Id="rId5" Type="http://schemas.openxmlformats.org/officeDocument/2006/relationships/image" Target="../media/image32.png"/><Relationship Id="rId4" Type="http://schemas.openxmlformats.org/officeDocument/2006/relationships/image" Target="../media/image6.svg"/><Relationship Id="rId3" Type="http://schemas.openxmlformats.org/officeDocument/2006/relationships/image" Target="../media/image31.png"/><Relationship Id="rId2" Type="http://schemas.openxmlformats.org/officeDocument/2006/relationships/image" Target="../media/image47.svg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8.svg"/><Relationship Id="rId7" Type="http://schemas.openxmlformats.org/officeDocument/2006/relationships/image" Target="../media/image32.png"/><Relationship Id="rId6" Type="http://schemas.openxmlformats.org/officeDocument/2006/relationships/image" Target="../media/image6.svg"/><Relationship Id="rId5" Type="http://schemas.openxmlformats.org/officeDocument/2006/relationships/image" Target="../media/image31.png"/><Relationship Id="rId4" Type="http://schemas.openxmlformats.org/officeDocument/2006/relationships/image" Target="../media/image12.svg"/><Relationship Id="rId3" Type="http://schemas.openxmlformats.org/officeDocument/2006/relationships/image" Target="../media/image35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tags" Target="../tags/tag39.xml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8.svg"/><Relationship Id="rId3" Type="http://schemas.openxmlformats.org/officeDocument/2006/relationships/image" Target="../media/image32.png"/><Relationship Id="rId2" Type="http://schemas.openxmlformats.org/officeDocument/2006/relationships/image" Target="../media/image6.svg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59.png"/><Relationship Id="rId5" Type="http://schemas.openxmlformats.org/officeDocument/2006/relationships/image" Target="../media/image8.svg"/><Relationship Id="rId4" Type="http://schemas.openxmlformats.org/officeDocument/2006/relationships/image" Target="../media/image32.png"/><Relationship Id="rId3" Type="http://schemas.openxmlformats.org/officeDocument/2006/relationships/image" Target="../media/image6.svg"/><Relationship Id="rId2" Type="http://schemas.openxmlformats.org/officeDocument/2006/relationships/image" Target="../media/image31.png"/><Relationship Id="rId1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8.svg"/><Relationship Id="rId7" Type="http://schemas.openxmlformats.org/officeDocument/2006/relationships/image" Target="../media/image32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2.svg"/><Relationship Id="rId3" Type="http://schemas.openxmlformats.org/officeDocument/2006/relationships/image" Target="../media/image34.png"/><Relationship Id="rId2" Type="http://schemas.openxmlformats.org/officeDocument/2006/relationships/image" Target="../media/image4.svg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0.svg"/><Relationship Id="rId1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3644" y="1028700"/>
            <a:ext cx="1411199" cy="2601289"/>
          </a:xfrm>
          <a:custGeom>
            <a:avLst/>
            <a:gdLst/>
            <a:ahLst/>
            <a:cxnLst/>
            <a:rect l="l" t="t" r="r" b="b"/>
            <a:pathLst>
              <a:path w="1411199" h="2601289">
                <a:moveTo>
                  <a:pt x="0" y="0"/>
                </a:moveTo>
                <a:lnTo>
                  <a:pt x="1411199" y="0"/>
                </a:lnTo>
                <a:lnTo>
                  <a:pt x="1411199" y="2601289"/>
                </a:lnTo>
                <a:lnTo>
                  <a:pt x="0" y="260128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19244" y="1825047"/>
            <a:ext cx="10449513" cy="315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0"/>
              </a:lnSpc>
            </a:pPr>
            <a:r>
              <a:rPr lang="en-US" altLang="zh-CN" sz="175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实验4</a:t>
            </a:r>
            <a:endParaRPr lang="en-US" altLang="zh-CN" sz="175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19244" y="4202498"/>
            <a:ext cx="10449513" cy="315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0"/>
              </a:lnSpc>
            </a:pPr>
            <a:r>
              <a:rPr lang="en-US" altLang="zh-CN" sz="175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动态规划</a:t>
            </a:r>
            <a:endParaRPr lang="zh-CN" altLang="en-US" sz="17590">
              <a:solidFill>
                <a:srgbClr val="6B3E3E"/>
              </a:solidFill>
              <a:latin typeface="210 클레이토이" panose="02020603020101020101" charset="-127"/>
              <a:ea typeface="宋体" panose="02010600030101010101" pitchFamily="2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5398632" y="7180824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99653" y="7362352"/>
            <a:ext cx="1362711" cy="1410309"/>
          </a:xfrm>
          <a:custGeom>
            <a:avLst/>
            <a:gdLst/>
            <a:ahLst/>
            <a:cxnLst/>
            <a:rect l="l" t="t" r="r" b="b"/>
            <a:pathLst>
              <a:path w="1362711" h="1410309">
                <a:moveTo>
                  <a:pt x="0" y="0"/>
                </a:moveTo>
                <a:lnTo>
                  <a:pt x="1362712" y="0"/>
                </a:lnTo>
                <a:lnTo>
                  <a:pt x="1362712" y="1410309"/>
                </a:lnTo>
                <a:lnTo>
                  <a:pt x="0" y="1410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181600" y="7353300"/>
            <a:ext cx="7543165" cy="983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70"/>
              </a:lnSpc>
            </a:pPr>
            <a:r>
              <a:rPr lang="en-US" altLang="zh-CN" sz="5400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Poetsen" panose="020108030300000D0203"/>
              </a:rPr>
              <a:t>杨韩冰</a:t>
            </a:r>
            <a:r>
              <a:rPr lang="en-US" altLang="zh-CN" sz="5480">
                <a:solidFill>
                  <a:srgbClr val="6B3E3E"/>
                </a:solidFill>
                <a:latin typeface="Poetsen" panose="020108030300000D0203"/>
                <a:ea typeface="宋体" panose="02010600030101010101" pitchFamily="2" charset="-122"/>
                <a:cs typeface="Poetsen" panose="020108030300000D0203"/>
                <a:sym typeface="Poetsen" panose="020108030300000D0203"/>
              </a:rPr>
              <a:t>  </a:t>
            </a:r>
            <a:r>
              <a:rPr lang="en-US" altLang="zh-CN" sz="5480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Poetsen" panose="020108030300000D0203"/>
                <a:sym typeface="Poetsen" panose="020108030300000D0203"/>
              </a:rPr>
              <a:t>2025.05.23</a:t>
            </a:r>
            <a:endParaRPr lang="en-US" altLang="zh-CN" sz="5480">
              <a:solidFill>
                <a:srgbClr val="6B3E3E"/>
              </a:solidFill>
              <a:latin typeface="华文琥珀" panose="02010800040101010101" charset="-122"/>
              <a:ea typeface="华文琥珀" panose="02010800040101010101" charset="-122"/>
              <a:cs typeface="Poetsen" panose="020108030300000D0203"/>
              <a:sym typeface="Poetsen" panose="020108030300000D0203"/>
            </a:endParaRPr>
          </a:p>
        </p:txBody>
      </p:sp>
      <p:sp>
        <p:nvSpPr>
          <p:cNvPr id="8" name="Freeform 8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1216">
            <a:off x="3220271" y="1160034"/>
            <a:ext cx="1431617" cy="2638926"/>
          </a:xfrm>
          <a:custGeom>
            <a:avLst/>
            <a:gdLst/>
            <a:ahLst/>
            <a:cxnLst/>
            <a:rect l="l" t="t" r="r" b="b"/>
            <a:pathLst>
              <a:path w="1431617" h="2638926">
                <a:moveTo>
                  <a:pt x="0" y="0"/>
                </a:moveTo>
                <a:lnTo>
                  <a:pt x="1431617" y="0"/>
                </a:lnTo>
                <a:lnTo>
                  <a:pt x="1431617" y="2638926"/>
                </a:lnTo>
                <a:lnTo>
                  <a:pt x="0" y="26389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6487" y="459299"/>
            <a:ext cx="8575026" cy="8799001"/>
          </a:xfrm>
          <a:custGeom>
            <a:avLst/>
            <a:gdLst/>
            <a:ahLst/>
            <a:cxnLst/>
            <a:rect l="l" t="t" r="r" b="b"/>
            <a:pathLst>
              <a:path w="8575026" h="8799001">
                <a:moveTo>
                  <a:pt x="0" y="0"/>
                </a:moveTo>
                <a:lnTo>
                  <a:pt x="8575026" y="0"/>
                </a:lnTo>
                <a:lnTo>
                  <a:pt x="8575026" y="8799001"/>
                </a:lnTo>
                <a:lnTo>
                  <a:pt x="0" y="8799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81622" y="5600918"/>
            <a:ext cx="7887925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5"/>
              </a:lnSpc>
            </a:pPr>
            <a:r>
              <a:rPr lang="zh-CN" altLang="en-US" sz="118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实验准备</a:t>
            </a:r>
            <a:endParaRPr lang="zh-CN" altLang="en-US" sz="118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157889" y="7128328"/>
            <a:ext cx="1766701" cy="1828410"/>
          </a:xfrm>
          <a:custGeom>
            <a:avLst/>
            <a:gdLst/>
            <a:ahLst/>
            <a:cxnLst/>
            <a:rect l="l" t="t" r="r" b="b"/>
            <a:pathLst>
              <a:path w="1766701" h="1828410">
                <a:moveTo>
                  <a:pt x="0" y="0"/>
                </a:moveTo>
                <a:lnTo>
                  <a:pt x="1766701" y="0"/>
                </a:lnTo>
                <a:lnTo>
                  <a:pt x="1766701" y="1828410"/>
                </a:lnTo>
                <a:lnTo>
                  <a:pt x="0" y="18284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24200" y="3162300"/>
            <a:ext cx="12227560" cy="4236085"/>
          </a:xfrm>
          <a:custGeom>
            <a:avLst/>
            <a:gdLst/>
            <a:ahLst/>
            <a:cxnLst/>
            <a:rect l="l" t="t" r="r" b="b"/>
            <a:pathLst>
              <a:path w="12227383" h="6793697">
                <a:moveTo>
                  <a:pt x="0" y="0"/>
                </a:moveTo>
                <a:lnTo>
                  <a:pt x="12227382" y="0"/>
                </a:lnTo>
                <a:lnTo>
                  <a:pt x="12227382" y="6793697"/>
                </a:lnTo>
                <a:lnTo>
                  <a:pt x="0" y="679369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581571" y="4000183"/>
            <a:ext cx="11297579" cy="279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5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f--</a:t>
            </a:r>
            <a:r>
              <a:rPr lang="zh-CN" altLang="en-US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楼层总数</a:t>
            </a:r>
            <a:endParaRPr lang="zh-CN" altLang="en-US" sz="3895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ctr">
              <a:lnSpc>
                <a:spcPts val="5450"/>
              </a:lnSpc>
            </a:pPr>
            <a:r>
              <a:rPr lang="en-US" altLang="zh-CN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e--</a:t>
            </a:r>
            <a:r>
              <a:rPr lang="zh-CN" altLang="en-US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鸡蛋数量</a:t>
            </a:r>
            <a:endParaRPr lang="zh-CN" altLang="en-US" sz="3895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ctr">
              <a:lnSpc>
                <a:spcPts val="5450"/>
              </a:lnSpc>
            </a:pPr>
            <a:r>
              <a:rPr lang="en-US" altLang="zh-CN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k--</a:t>
            </a:r>
            <a:r>
              <a:rPr lang="zh-CN" altLang="en-US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门槛层</a:t>
            </a:r>
            <a:endParaRPr lang="zh-CN" altLang="en-US" sz="3895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ctr">
              <a:lnSpc>
                <a:spcPts val="5450"/>
              </a:lnSpc>
            </a:pPr>
            <a:r>
              <a:rPr lang="en-US" altLang="zh-CN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res--</a:t>
            </a:r>
            <a:r>
              <a:rPr lang="zh-CN" altLang="en-US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最坏情况下确定</a:t>
            </a:r>
            <a:r>
              <a:rPr lang="en-US" altLang="zh-CN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k</a:t>
            </a:r>
            <a:r>
              <a:rPr lang="zh-CN" altLang="en-US" sz="3895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所需的最小操作次数</a:t>
            </a:r>
            <a:endParaRPr lang="zh-CN" altLang="en-US" sz="3895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77700" y="7649546"/>
            <a:ext cx="2217511" cy="1291700"/>
          </a:xfrm>
          <a:custGeom>
            <a:avLst/>
            <a:gdLst/>
            <a:ahLst/>
            <a:cxnLst/>
            <a:rect l="l" t="t" r="r" b="b"/>
            <a:pathLst>
              <a:path w="2217511" h="1291700">
                <a:moveTo>
                  <a:pt x="0" y="0"/>
                </a:moveTo>
                <a:lnTo>
                  <a:pt x="2217510" y="0"/>
                </a:lnTo>
                <a:lnTo>
                  <a:pt x="2217510" y="1291700"/>
                </a:lnTo>
                <a:lnTo>
                  <a:pt x="0" y="129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3450" y="358976"/>
            <a:ext cx="1294242" cy="1339448"/>
          </a:xfrm>
          <a:custGeom>
            <a:avLst/>
            <a:gdLst/>
            <a:ahLst/>
            <a:cxnLst/>
            <a:rect l="l" t="t" r="r" b="b"/>
            <a:pathLst>
              <a:path w="1294242" h="1339448">
                <a:moveTo>
                  <a:pt x="0" y="0"/>
                </a:moveTo>
                <a:lnTo>
                  <a:pt x="1294241" y="0"/>
                </a:lnTo>
                <a:lnTo>
                  <a:pt x="1294241" y="1339448"/>
                </a:lnTo>
                <a:lnTo>
                  <a:pt x="0" y="13394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270516" y="650172"/>
            <a:ext cx="774696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B5C5C"/>
                </a:solidFill>
                <a:latin typeface="210 클레이토이" panose="02020603020101020101" charset="-127"/>
                <a:ea typeface="210 클레이토이" panose="02020603020101020101" charset="-127"/>
                <a:cs typeface="210 클레이토이" panose="02020603020101020101" charset="-127"/>
                <a:sym typeface="210 클레이토이" panose="02020603020101020101" charset="-127"/>
              </a:rPr>
              <a:t>Introduction</a:t>
            </a:r>
            <a:endParaRPr lang="en-US" sz="7500">
              <a:solidFill>
                <a:srgbClr val="DB5C5C"/>
              </a:solidFill>
              <a:latin typeface="210 클레이토이" panose="02020603020101020101" charset="-127"/>
              <a:ea typeface="210 클레이토이" panose="02020603020101020101" charset="-127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495800" y="1698625"/>
            <a:ext cx="9582785" cy="1138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80"/>
              </a:lnSpc>
            </a:pPr>
            <a:r>
              <a:rPr lang="en-US" altLang="zh-CN" sz="6340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0.</a:t>
            </a:r>
            <a:r>
              <a:rPr lang="zh-CN" altLang="en-US" sz="6340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实验准备</a:t>
            </a:r>
            <a:r>
              <a:rPr lang="en-US" sz="6340">
                <a:solidFill>
                  <a:srgbClr val="6B3E3E"/>
                </a:solidFill>
                <a:latin typeface="210 클레이토이" panose="02020603020101020101" charset="-127"/>
                <a:ea typeface="210 클레이토이" panose="02020603020101020101" charset="-127"/>
                <a:cs typeface="210 클레이토이" panose="02020603020101020101" charset="-127"/>
                <a:sym typeface="210 클레이토이" panose="02020603020101020101" charset="-127"/>
              </a:rPr>
              <a:t> --</a:t>
            </a:r>
            <a:r>
              <a:rPr lang="zh-CN" altLang="en-US" sz="6340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变量假设</a:t>
            </a:r>
            <a:endParaRPr lang="zh-CN" altLang="en-US" sz="6340">
              <a:solidFill>
                <a:srgbClr val="6B3E3E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8" name="Freeform 8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1216">
            <a:off x="3220271" y="1160034"/>
            <a:ext cx="1431617" cy="2638926"/>
          </a:xfrm>
          <a:custGeom>
            <a:avLst/>
            <a:gdLst/>
            <a:ahLst/>
            <a:cxnLst/>
            <a:rect l="l" t="t" r="r" b="b"/>
            <a:pathLst>
              <a:path w="1431617" h="2638926">
                <a:moveTo>
                  <a:pt x="0" y="0"/>
                </a:moveTo>
                <a:lnTo>
                  <a:pt x="1431617" y="0"/>
                </a:lnTo>
                <a:lnTo>
                  <a:pt x="1431617" y="2638926"/>
                </a:lnTo>
                <a:lnTo>
                  <a:pt x="0" y="26389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6487" y="459299"/>
            <a:ext cx="8575026" cy="8799001"/>
          </a:xfrm>
          <a:custGeom>
            <a:avLst/>
            <a:gdLst/>
            <a:ahLst/>
            <a:cxnLst/>
            <a:rect l="l" t="t" r="r" b="b"/>
            <a:pathLst>
              <a:path w="8575026" h="8799001">
                <a:moveTo>
                  <a:pt x="0" y="0"/>
                </a:moveTo>
                <a:lnTo>
                  <a:pt x="8575026" y="0"/>
                </a:lnTo>
                <a:lnTo>
                  <a:pt x="8575026" y="8799001"/>
                </a:lnTo>
                <a:lnTo>
                  <a:pt x="0" y="8799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05422" y="5600918"/>
            <a:ext cx="7887925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5"/>
              </a:lnSpc>
            </a:pPr>
            <a:r>
              <a:rPr lang="zh-CN" altLang="en-US" sz="118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暴力法</a:t>
            </a:r>
            <a:endParaRPr lang="zh-CN" altLang="en-US" sz="118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157889" y="7128328"/>
            <a:ext cx="1766701" cy="1828410"/>
          </a:xfrm>
          <a:custGeom>
            <a:avLst/>
            <a:gdLst/>
            <a:ahLst/>
            <a:cxnLst/>
            <a:rect l="l" t="t" r="r" b="b"/>
            <a:pathLst>
              <a:path w="1766701" h="1828410">
                <a:moveTo>
                  <a:pt x="0" y="0"/>
                </a:moveTo>
                <a:lnTo>
                  <a:pt x="1766701" y="0"/>
                </a:lnTo>
                <a:lnTo>
                  <a:pt x="1766701" y="1828410"/>
                </a:lnTo>
                <a:lnTo>
                  <a:pt x="0" y="18284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705100"/>
            <a:ext cx="4184015" cy="6385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Freeform 2"/>
          <p:cNvSpPr/>
          <p:nvPr>
            <p:custDataLst>
              <p:tags r:id="rId2"/>
            </p:custDataLst>
          </p:nvPr>
        </p:nvSpPr>
        <p:spPr>
          <a:xfrm>
            <a:off x="2685146" y="3298947"/>
            <a:ext cx="6271502" cy="5145068"/>
          </a:xfrm>
          <a:custGeom>
            <a:avLst/>
            <a:gdLst/>
            <a:ahLst/>
            <a:cxnLst/>
            <a:rect l="l" t="t" r="r" b="b"/>
            <a:pathLst>
              <a:path w="6271502" h="5145068">
                <a:moveTo>
                  <a:pt x="0" y="0"/>
                </a:moveTo>
                <a:lnTo>
                  <a:pt x="6271503" y="0"/>
                </a:lnTo>
                <a:lnTo>
                  <a:pt x="6271503" y="5145068"/>
                </a:lnTo>
                <a:lnTo>
                  <a:pt x="0" y="5145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>
            <p:custDataLst>
              <p:tags r:id="rId5"/>
            </p:custDataLst>
          </p:nvPr>
        </p:nvGrpSpPr>
        <p:grpSpPr>
          <a:xfrm rot="0">
            <a:off x="3458167" y="3190077"/>
            <a:ext cx="4670678" cy="791169"/>
            <a:chOff x="0" y="0"/>
            <a:chExt cx="1230137" cy="208374"/>
          </a:xfrm>
        </p:grpSpPr>
        <p:sp>
          <p:nvSpPr>
            <p:cNvPr id="5" name="Freeform 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30138" cy="208374"/>
            </a:xfrm>
            <a:custGeom>
              <a:avLst/>
              <a:gdLst/>
              <a:ahLst/>
              <a:cxnLst/>
              <a:rect l="l" t="t" r="r" b="b"/>
              <a:pathLst>
                <a:path w="1230138" h="208374">
                  <a:moveTo>
                    <a:pt x="84535" y="0"/>
                  </a:moveTo>
                  <a:lnTo>
                    <a:pt x="1145602" y="0"/>
                  </a:lnTo>
                  <a:cubicBezTo>
                    <a:pt x="1192290" y="0"/>
                    <a:pt x="1230138" y="37848"/>
                    <a:pt x="1230138" y="84535"/>
                  </a:cubicBezTo>
                  <a:lnTo>
                    <a:pt x="1230138" y="123838"/>
                  </a:lnTo>
                  <a:cubicBezTo>
                    <a:pt x="1230138" y="146259"/>
                    <a:pt x="1221231" y="167760"/>
                    <a:pt x="1205378" y="183614"/>
                  </a:cubicBezTo>
                  <a:cubicBezTo>
                    <a:pt x="1189524" y="199467"/>
                    <a:pt x="1168022" y="208374"/>
                    <a:pt x="1145602" y="208374"/>
                  </a:cubicBezTo>
                  <a:lnTo>
                    <a:pt x="84535" y="208374"/>
                  </a:lnTo>
                  <a:cubicBezTo>
                    <a:pt x="62115" y="208374"/>
                    <a:pt x="40613" y="199467"/>
                    <a:pt x="24760" y="183614"/>
                  </a:cubicBezTo>
                  <a:cubicBezTo>
                    <a:pt x="8906" y="167760"/>
                    <a:pt x="0" y="146259"/>
                    <a:pt x="0" y="123838"/>
                  </a:cubicBezTo>
                  <a:lnTo>
                    <a:pt x="0" y="84535"/>
                  </a:lnTo>
                  <a:cubicBezTo>
                    <a:pt x="0" y="62115"/>
                    <a:pt x="8906" y="40613"/>
                    <a:pt x="24760" y="24760"/>
                  </a:cubicBezTo>
                  <a:cubicBezTo>
                    <a:pt x="40613" y="8906"/>
                    <a:pt x="62115" y="0"/>
                    <a:pt x="84535" y="0"/>
                  </a:cubicBezTo>
                  <a:close/>
                </a:path>
              </a:pathLst>
            </a:custGeom>
            <a:solidFill>
              <a:srgbClr val="FFC35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30137" cy="246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0" name="Freeform 10"/>
          <p:cNvSpPr/>
          <p:nvPr/>
        </p:nvSpPr>
        <p:spPr>
          <a:xfrm rot="-591255">
            <a:off x="4382538" y="854552"/>
            <a:ext cx="2318635" cy="1437827"/>
          </a:xfrm>
          <a:custGeom>
            <a:avLst/>
            <a:gdLst/>
            <a:ahLst/>
            <a:cxnLst/>
            <a:rect l="l" t="t" r="r" b="b"/>
            <a:pathLst>
              <a:path w="2318635" h="1437827">
                <a:moveTo>
                  <a:pt x="0" y="0"/>
                </a:moveTo>
                <a:lnTo>
                  <a:pt x="2318635" y="0"/>
                </a:lnTo>
                <a:lnTo>
                  <a:pt x="2318635" y="1437826"/>
                </a:lnTo>
                <a:lnTo>
                  <a:pt x="0" y="1437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00800" y="1005840"/>
            <a:ext cx="4347845" cy="134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altLang="zh-CN" sz="75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1.</a:t>
            </a:r>
            <a:r>
              <a:rPr lang="zh-CN" altLang="en-US" sz="75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暴力法</a:t>
            </a:r>
            <a:endParaRPr lang="zh-CN" altLang="en-US" sz="75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12" name="TextBox 12"/>
          <p:cNvSpPr txBox="1"/>
          <p:nvPr>
            <p:custDataLst>
              <p:tags r:id="rId9"/>
            </p:custDataLst>
          </p:nvPr>
        </p:nvSpPr>
        <p:spPr>
          <a:xfrm>
            <a:off x="2895600" y="4382770"/>
            <a:ext cx="5796915" cy="34588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3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mo" panose="020B0604020202020204"/>
                <a:sym typeface="Arimo" panose="020B0604020202020204"/>
              </a:rPr>
              <a:t>从最低层开始，一层层往上试，没碎，继续向上，碎了，找到门槛层。</a:t>
            </a:r>
            <a:endParaRPr lang="zh-CN" altLang="en-US" sz="3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mo" panose="020B0604020202020204"/>
              <a:sym typeface="Arimo" panose="020B0604020202020204"/>
            </a:endParaRPr>
          </a:p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3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mo" panose="020B0604020202020204"/>
                <a:sym typeface="Arimo" panose="020B0604020202020204"/>
              </a:rPr>
              <a:t>不考虑鸡蛋限制</a:t>
            </a:r>
            <a:r>
              <a:rPr lang="en-US" altLang="zh-CN" sz="3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mo" panose="020B0604020202020204"/>
                <a:sym typeface="Arimo" panose="020B0604020202020204"/>
              </a:rPr>
              <a:t>,</a:t>
            </a:r>
            <a:r>
              <a:rPr lang="zh-CN" altLang="en-US" sz="3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mo" panose="020B0604020202020204"/>
                <a:sym typeface="Arimo" panose="020B0604020202020204"/>
              </a:rPr>
              <a:t>鸡蛋破碎一定发生在搜索区间穷尽时</a:t>
            </a:r>
            <a:r>
              <a:rPr lang="en-US" altLang="zh-CN" sz="3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mo" panose="020B0604020202020204"/>
                <a:sym typeface="Arimo" panose="020B0604020202020204"/>
              </a:rPr>
              <a:t>---</a:t>
            </a:r>
            <a:r>
              <a:rPr lang="zh-CN" altLang="en-US" sz="3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mo" panose="020B0604020202020204"/>
                <a:sym typeface="Arimo" panose="020B0604020202020204"/>
              </a:rPr>
              <a:t>效率低下</a:t>
            </a:r>
            <a:endParaRPr lang="zh-CN" altLang="en-US" sz="3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mo" panose="020B0604020202020204"/>
              <a:sym typeface="Arimo" panose="020B0604020202020204"/>
            </a:endParaRPr>
          </a:p>
        </p:txBody>
      </p:sp>
      <p:sp>
        <p:nvSpPr>
          <p:cNvPr id="14" name="TextBox 14"/>
          <p:cNvSpPr txBox="1"/>
          <p:nvPr>
            <p:custDataLst>
              <p:tags r:id="rId10"/>
            </p:custDataLst>
          </p:nvPr>
        </p:nvSpPr>
        <p:spPr>
          <a:xfrm>
            <a:off x="3623383" y="3213222"/>
            <a:ext cx="439503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altLang="zh-CN" sz="4085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1.1 </a:t>
            </a:r>
            <a:r>
              <a:rPr lang="zh-CN" altLang="en-US" sz="4085">
                <a:solidFill>
                  <a:srgbClr val="6B3E3E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暴力穷举</a:t>
            </a:r>
            <a:endParaRPr lang="zh-CN" altLang="en-US" sz="4085">
              <a:solidFill>
                <a:srgbClr val="6B3E3E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16" name="Freeform 16"/>
          <p:cNvSpPr/>
          <p:nvPr/>
        </p:nvSpPr>
        <p:spPr>
          <a:xfrm rot="1887665">
            <a:off x="14633756" y="7432503"/>
            <a:ext cx="1097491" cy="2023025"/>
          </a:xfrm>
          <a:custGeom>
            <a:avLst/>
            <a:gdLst/>
            <a:ahLst/>
            <a:cxnLst/>
            <a:rect l="l" t="t" r="r" b="b"/>
            <a:pathLst>
              <a:path w="1097491" h="2023025">
                <a:moveTo>
                  <a:pt x="0" y="0"/>
                </a:moveTo>
                <a:lnTo>
                  <a:pt x="1097491" y="0"/>
                </a:lnTo>
                <a:lnTo>
                  <a:pt x="1097491" y="2023024"/>
                </a:lnTo>
                <a:lnTo>
                  <a:pt x="0" y="2023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>
            <p:custDataLst>
              <p:tags r:id="rId1"/>
            </p:custDataLst>
          </p:nvPr>
        </p:nvSpPr>
        <p:spPr>
          <a:xfrm>
            <a:off x="9529445" y="3250565"/>
            <a:ext cx="7430770" cy="5144770"/>
          </a:xfrm>
          <a:custGeom>
            <a:avLst/>
            <a:gdLst/>
            <a:ahLst/>
            <a:cxnLst/>
            <a:rect l="l" t="t" r="r" b="b"/>
            <a:pathLst>
              <a:path w="6271502" h="5145068">
                <a:moveTo>
                  <a:pt x="0" y="0"/>
                </a:moveTo>
                <a:lnTo>
                  <a:pt x="6271502" y="0"/>
                </a:lnTo>
                <a:lnTo>
                  <a:pt x="6271502" y="5145068"/>
                </a:lnTo>
                <a:lnTo>
                  <a:pt x="0" y="5145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>
            <p:custDataLst>
              <p:tags r:id="rId4"/>
            </p:custDataLst>
          </p:nvPr>
        </p:nvGrpSpPr>
        <p:grpSpPr>
          <a:xfrm rot="0">
            <a:off x="10330166" y="3081206"/>
            <a:ext cx="4670678" cy="791169"/>
            <a:chOff x="0" y="0"/>
            <a:chExt cx="1230137" cy="208374"/>
          </a:xfrm>
        </p:grpSpPr>
        <p:sp>
          <p:nvSpPr>
            <p:cNvPr id="8" name="Freeform 8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30138" cy="208374"/>
            </a:xfrm>
            <a:custGeom>
              <a:avLst/>
              <a:gdLst/>
              <a:ahLst/>
              <a:cxnLst/>
              <a:rect l="l" t="t" r="r" b="b"/>
              <a:pathLst>
                <a:path w="1230138" h="208374">
                  <a:moveTo>
                    <a:pt x="84535" y="0"/>
                  </a:moveTo>
                  <a:lnTo>
                    <a:pt x="1145602" y="0"/>
                  </a:lnTo>
                  <a:cubicBezTo>
                    <a:pt x="1192290" y="0"/>
                    <a:pt x="1230138" y="37848"/>
                    <a:pt x="1230138" y="84535"/>
                  </a:cubicBezTo>
                  <a:lnTo>
                    <a:pt x="1230138" y="123838"/>
                  </a:lnTo>
                  <a:cubicBezTo>
                    <a:pt x="1230138" y="146259"/>
                    <a:pt x="1221231" y="167760"/>
                    <a:pt x="1205378" y="183614"/>
                  </a:cubicBezTo>
                  <a:cubicBezTo>
                    <a:pt x="1189524" y="199467"/>
                    <a:pt x="1168022" y="208374"/>
                    <a:pt x="1145602" y="208374"/>
                  </a:cubicBezTo>
                  <a:lnTo>
                    <a:pt x="84535" y="208374"/>
                  </a:lnTo>
                  <a:cubicBezTo>
                    <a:pt x="62115" y="208374"/>
                    <a:pt x="40613" y="199467"/>
                    <a:pt x="24760" y="183614"/>
                  </a:cubicBezTo>
                  <a:cubicBezTo>
                    <a:pt x="8906" y="167760"/>
                    <a:pt x="0" y="146259"/>
                    <a:pt x="0" y="123838"/>
                  </a:cubicBezTo>
                  <a:lnTo>
                    <a:pt x="0" y="84535"/>
                  </a:lnTo>
                  <a:cubicBezTo>
                    <a:pt x="0" y="62115"/>
                    <a:pt x="8906" y="40613"/>
                    <a:pt x="24760" y="24760"/>
                  </a:cubicBezTo>
                  <a:cubicBezTo>
                    <a:pt x="40613" y="8906"/>
                    <a:pt x="62115" y="0"/>
                    <a:pt x="84535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30137" cy="246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0" name="Freeform 10"/>
          <p:cNvSpPr/>
          <p:nvPr/>
        </p:nvSpPr>
        <p:spPr>
          <a:xfrm rot="-591255">
            <a:off x="4382538" y="854552"/>
            <a:ext cx="2318635" cy="1437827"/>
          </a:xfrm>
          <a:custGeom>
            <a:avLst/>
            <a:gdLst/>
            <a:ahLst/>
            <a:cxnLst/>
            <a:rect l="l" t="t" r="r" b="b"/>
            <a:pathLst>
              <a:path w="2318635" h="1437827">
                <a:moveTo>
                  <a:pt x="0" y="0"/>
                </a:moveTo>
                <a:lnTo>
                  <a:pt x="2318635" y="0"/>
                </a:lnTo>
                <a:lnTo>
                  <a:pt x="2318635" y="1437826"/>
                </a:lnTo>
                <a:lnTo>
                  <a:pt x="0" y="1437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00800" y="1005840"/>
            <a:ext cx="4347845" cy="134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altLang="zh-CN" sz="75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1.</a:t>
            </a:r>
            <a:r>
              <a:rPr lang="zh-CN" altLang="en-US" sz="75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暴力法</a:t>
            </a:r>
            <a:endParaRPr lang="zh-CN" altLang="en-US" sz="75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13" name="TextBox 13"/>
          <p:cNvSpPr txBox="1"/>
          <p:nvPr>
            <p:custDataLst>
              <p:tags r:id="rId8"/>
            </p:custDataLst>
          </p:nvPr>
        </p:nvSpPr>
        <p:spPr>
          <a:xfrm>
            <a:off x="9677400" y="4000500"/>
            <a:ext cx="7051675" cy="3895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引入二分搜索，每次选择当前范围的中间层。</a:t>
            </a:r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该方法的最坏情况尝试次数为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⌈log₂f⌉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 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f=7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的情况下最多尝试 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次。</a:t>
            </a:r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不考虑鸡蛋个数</a:t>
            </a:r>
            <a:r>
              <a:rPr lang="en-US" alt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--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有效</a:t>
            </a:r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当</a:t>
            </a:r>
            <a:r>
              <a:rPr lang="en-US" alt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f=100,e=2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时，最坏为</a:t>
            </a:r>
            <a:r>
              <a:rPr lang="en-US" altLang="zh-CN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50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mo" panose="020B0604020202020204"/>
              </a:rPr>
              <a:t>次。</a:t>
            </a:r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  <a:p>
            <a:pPr marL="457200" indent="-457200" algn="l">
              <a:lnSpc>
                <a:spcPts val="4340"/>
              </a:lnSpc>
              <a:buFont typeface="Wingdings" panose="05000000000000000000" charset="0"/>
              <a:buChar char="l"/>
            </a:pPr>
            <a:endParaRPr lang="zh-CN" altLang="en-US" sz="2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mo" panose="020B0604020202020204"/>
            </a:endParaRPr>
          </a:p>
        </p:txBody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10495381" y="3104352"/>
            <a:ext cx="439503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altLang="zh-CN" sz="4085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1.2 </a:t>
            </a:r>
            <a:r>
              <a:rPr lang="zh-CN" altLang="en-US" sz="4085">
                <a:solidFill>
                  <a:srgbClr val="FFFFFF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暴力二分</a:t>
            </a:r>
            <a:endParaRPr lang="zh-CN" altLang="en-US" sz="4085">
              <a:solidFill>
                <a:srgbClr val="FFFFFF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16" name="Freeform 16"/>
          <p:cNvSpPr/>
          <p:nvPr/>
        </p:nvSpPr>
        <p:spPr>
          <a:xfrm rot="1887665">
            <a:off x="14633756" y="7432503"/>
            <a:ext cx="1097491" cy="2023025"/>
          </a:xfrm>
          <a:custGeom>
            <a:avLst/>
            <a:gdLst/>
            <a:ahLst/>
            <a:cxnLst/>
            <a:rect l="l" t="t" r="r" b="b"/>
            <a:pathLst>
              <a:path w="1097491" h="2023025">
                <a:moveTo>
                  <a:pt x="0" y="0"/>
                </a:moveTo>
                <a:lnTo>
                  <a:pt x="1097491" y="0"/>
                </a:lnTo>
                <a:lnTo>
                  <a:pt x="1097491" y="2023024"/>
                </a:lnTo>
                <a:lnTo>
                  <a:pt x="0" y="2023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pic>
        <p:nvPicPr>
          <p:cNvPr id="2" name="图片 -21474826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09800" y="3162300"/>
            <a:ext cx="6439535" cy="5412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1216">
            <a:off x="3220271" y="1160034"/>
            <a:ext cx="1431617" cy="2638926"/>
          </a:xfrm>
          <a:custGeom>
            <a:avLst/>
            <a:gdLst/>
            <a:ahLst/>
            <a:cxnLst/>
            <a:rect l="l" t="t" r="r" b="b"/>
            <a:pathLst>
              <a:path w="1431617" h="2638926">
                <a:moveTo>
                  <a:pt x="0" y="0"/>
                </a:moveTo>
                <a:lnTo>
                  <a:pt x="1431617" y="0"/>
                </a:lnTo>
                <a:lnTo>
                  <a:pt x="1431617" y="2638926"/>
                </a:lnTo>
                <a:lnTo>
                  <a:pt x="0" y="26389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6487" y="459299"/>
            <a:ext cx="8575026" cy="8799001"/>
          </a:xfrm>
          <a:custGeom>
            <a:avLst/>
            <a:gdLst/>
            <a:ahLst/>
            <a:cxnLst/>
            <a:rect l="l" t="t" r="r" b="b"/>
            <a:pathLst>
              <a:path w="8575026" h="8799001">
                <a:moveTo>
                  <a:pt x="0" y="0"/>
                </a:moveTo>
                <a:lnTo>
                  <a:pt x="8575026" y="0"/>
                </a:lnTo>
                <a:lnTo>
                  <a:pt x="8575026" y="8799001"/>
                </a:lnTo>
                <a:lnTo>
                  <a:pt x="0" y="8799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57822" y="5600918"/>
            <a:ext cx="7887925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5"/>
              </a:lnSpc>
            </a:pPr>
            <a:r>
              <a:rPr lang="zh-CN" altLang="en-US" sz="118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动态规划</a:t>
            </a:r>
            <a:endParaRPr lang="zh-CN" altLang="en-US" sz="118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157889" y="7128328"/>
            <a:ext cx="1766701" cy="1828410"/>
          </a:xfrm>
          <a:custGeom>
            <a:avLst/>
            <a:gdLst/>
            <a:ahLst/>
            <a:cxnLst/>
            <a:rect l="l" t="t" r="r" b="b"/>
            <a:pathLst>
              <a:path w="1766701" h="1828410">
                <a:moveTo>
                  <a:pt x="0" y="0"/>
                </a:moveTo>
                <a:lnTo>
                  <a:pt x="1766701" y="0"/>
                </a:lnTo>
                <a:lnTo>
                  <a:pt x="1766701" y="1828410"/>
                </a:lnTo>
                <a:lnTo>
                  <a:pt x="0" y="18284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4395" y="647998"/>
            <a:ext cx="609493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1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）最优性分析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endParaRPr 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95400" y="2095500"/>
            <a:ext cx="14158595" cy="556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4340"/>
              </a:lnSpc>
            </a:pPr>
            <a:r>
              <a:rPr lang="en-US" sz="32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F(e,f) :</a:t>
            </a:r>
            <a:r>
              <a:rPr lang="zh-CN" altLang="en-US" sz="32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当前有</a:t>
            </a:r>
            <a:r>
              <a:rPr lang="en-US" altLang="zh-CN" sz="32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32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个鸡蛋、面对</a:t>
            </a:r>
            <a:r>
              <a:rPr lang="en-US" altLang="zh-CN" sz="32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32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层楼时，在最坏情况下的所需最少尝试次数。</a:t>
            </a:r>
            <a:endParaRPr lang="zh-CN" altLang="en-US" sz="32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62300"/>
            <a:ext cx="11431905" cy="4912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25400" y="2997835"/>
            <a:ext cx="5341620" cy="666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若鸡蛋在第x层破碎，则说明门槛层位于x以下；由于更高楼层鸡蛋必定也会碎，仅需在x-1层内继续尝试即可，鸡蛋数减少为e-1；问题转换为F(e-1,x-1)。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若鸡蛋在第x层未碎，则说明门槛层位于x以上；当前的鸡蛋数还是e，需要在f-x层中继续尝试；问题转换为F(e,f-x)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-21474826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7734300"/>
            <a:ext cx="7926705" cy="807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8200" y="647700"/>
            <a:ext cx="838898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2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）解题思路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endParaRPr 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95400" y="1915160"/>
            <a:ext cx="14158595" cy="556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4340"/>
              </a:lnSpc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F(e,f) :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当前有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个鸡蛋、面对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层楼时，在最坏情况下的所需最少尝试次数。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9" name="AutoShape 3"/>
          <p:cNvSpPr/>
          <p:nvPr>
            <p:custDataLst>
              <p:tags r:id="rId6"/>
            </p:custDataLst>
          </p:nvPr>
        </p:nvSpPr>
        <p:spPr>
          <a:xfrm>
            <a:off x="3653979" y="3389161"/>
            <a:ext cx="98865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4"/>
          <p:cNvGrpSpPr/>
          <p:nvPr>
            <p:custDataLst>
              <p:tags r:id="rId7"/>
            </p:custDataLst>
          </p:nvPr>
        </p:nvGrpSpPr>
        <p:grpSpPr>
          <a:xfrm rot="0">
            <a:off x="6309665" y="3262417"/>
            <a:ext cx="253488" cy="253488"/>
            <a:chOff x="0" y="0"/>
            <a:chExt cx="812800" cy="812800"/>
          </a:xfrm>
        </p:grpSpPr>
        <p:sp>
          <p:nvSpPr>
            <p:cNvPr id="17" name="Freeform 5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3E3E"/>
            </a:solidFill>
          </p:spPr>
        </p:sp>
        <p:sp>
          <p:nvSpPr>
            <p:cNvPr id="22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7"/>
          <p:cNvGrpSpPr/>
          <p:nvPr>
            <p:custDataLst>
              <p:tags r:id="rId9"/>
            </p:custDataLst>
          </p:nvPr>
        </p:nvGrpSpPr>
        <p:grpSpPr>
          <a:xfrm rot="0">
            <a:off x="1739640" y="2987824"/>
            <a:ext cx="3828677" cy="802674"/>
            <a:chOff x="0" y="0"/>
            <a:chExt cx="1008376" cy="211404"/>
          </a:xfrm>
        </p:grpSpPr>
        <p:sp>
          <p:nvSpPr>
            <p:cNvPr id="28" name="Freeform 8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008376" cy="211404"/>
            </a:xfrm>
            <a:custGeom>
              <a:avLst/>
              <a:gdLst/>
              <a:ahLst/>
              <a:cxnLst/>
              <a:rect l="l" t="t" r="r" b="b"/>
              <a:pathLst>
                <a:path w="1008376" h="211404">
                  <a:moveTo>
                    <a:pt x="103126" y="0"/>
                  </a:moveTo>
                  <a:lnTo>
                    <a:pt x="905249" y="0"/>
                  </a:lnTo>
                  <a:cubicBezTo>
                    <a:pt x="962205" y="0"/>
                    <a:pt x="1008376" y="46171"/>
                    <a:pt x="1008376" y="103126"/>
                  </a:cubicBezTo>
                  <a:lnTo>
                    <a:pt x="1008376" y="108277"/>
                  </a:lnTo>
                  <a:cubicBezTo>
                    <a:pt x="1008376" y="165233"/>
                    <a:pt x="962205" y="211404"/>
                    <a:pt x="905249" y="211404"/>
                  </a:cubicBezTo>
                  <a:lnTo>
                    <a:pt x="103126" y="211404"/>
                  </a:lnTo>
                  <a:cubicBezTo>
                    <a:pt x="75776" y="211404"/>
                    <a:pt x="49545" y="200539"/>
                    <a:pt x="30205" y="181199"/>
                  </a:cubicBezTo>
                  <a:cubicBezTo>
                    <a:pt x="10865" y="161859"/>
                    <a:pt x="0" y="135628"/>
                    <a:pt x="0" y="108277"/>
                  </a:cubicBezTo>
                  <a:lnTo>
                    <a:pt x="0" y="103126"/>
                  </a:lnTo>
                  <a:cubicBezTo>
                    <a:pt x="0" y="75776"/>
                    <a:pt x="10865" y="49545"/>
                    <a:pt x="30205" y="30205"/>
                  </a:cubicBezTo>
                  <a:cubicBezTo>
                    <a:pt x="49545" y="10865"/>
                    <a:pt x="75776" y="0"/>
                    <a:pt x="103126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29" name="TextBox 9"/>
            <p:cNvSpPr txBox="1"/>
            <p:nvPr/>
          </p:nvSpPr>
          <p:spPr>
            <a:xfrm>
              <a:off x="0" y="-38100"/>
              <a:ext cx="1008376" cy="24950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0" name="Group 11"/>
          <p:cNvGrpSpPr/>
          <p:nvPr>
            <p:custDataLst>
              <p:tags r:id="rId11"/>
            </p:custDataLst>
          </p:nvPr>
        </p:nvGrpSpPr>
        <p:grpSpPr>
          <a:xfrm rot="0">
            <a:off x="7304500" y="2987824"/>
            <a:ext cx="3828677" cy="802674"/>
            <a:chOff x="0" y="0"/>
            <a:chExt cx="1008376" cy="211404"/>
          </a:xfrm>
        </p:grpSpPr>
        <p:sp>
          <p:nvSpPr>
            <p:cNvPr id="31" name="Freeform 12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008376" cy="211404"/>
            </a:xfrm>
            <a:custGeom>
              <a:avLst/>
              <a:gdLst/>
              <a:ahLst/>
              <a:cxnLst/>
              <a:rect l="l" t="t" r="r" b="b"/>
              <a:pathLst>
                <a:path w="1008376" h="211404">
                  <a:moveTo>
                    <a:pt x="103126" y="0"/>
                  </a:moveTo>
                  <a:lnTo>
                    <a:pt x="905249" y="0"/>
                  </a:lnTo>
                  <a:cubicBezTo>
                    <a:pt x="962205" y="0"/>
                    <a:pt x="1008376" y="46171"/>
                    <a:pt x="1008376" y="103126"/>
                  </a:cubicBezTo>
                  <a:lnTo>
                    <a:pt x="1008376" y="108277"/>
                  </a:lnTo>
                  <a:cubicBezTo>
                    <a:pt x="1008376" y="165233"/>
                    <a:pt x="962205" y="211404"/>
                    <a:pt x="905249" y="211404"/>
                  </a:cubicBezTo>
                  <a:lnTo>
                    <a:pt x="103126" y="211404"/>
                  </a:lnTo>
                  <a:cubicBezTo>
                    <a:pt x="75776" y="211404"/>
                    <a:pt x="49545" y="200539"/>
                    <a:pt x="30205" y="181199"/>
                  </a:cubicBezTo>
                  <a:cubicBezTo>
                    <a:pt x="10865" y="161859"/>
                    <a:pt x="0" y="135628"/>
                    <a:pt x="0" y="108277"/>
                  </a:cubicBezTo>
                  <a:lnTo>
                    <a:pt x="0" y="103126"/>
                  </a:lnTo>
                  <a:cubicBezTo>
                    <a:pt x="0" y="75776"/>
                    <a:pt x="10865" y="49545"/>
                    <a:pt x="30205" y="30205"/>
                  </a:cubicBezTo>
                  <a:cubicBezTo>
                    <a:pt x="49545" y="10865"/>
                    <a:pt x="75776" y="0"/>
                    <a:pt x="103126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32" name="TextBox 13"/>
            <p:cNvSpPr txBox="1"/>
            <p:nvPr/>
          </p:nvSpPr>
          <p:spPr>
            <a:xfrm>
              <a:off x="0" y="-38100"/>
              <a:ext cx="1008376" cy="24950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3" name="TextBox 16"/>
          <p:cNvSpPr txBox="1"/>
          <p:nvPr>
            <p:custDataLst>
              <p:tags r:id="rId13"/>
            </p:custDataLst>
          </p:nvPr>
        </p:nvSpPr>
        <p:spPr>
          <a:xfrm>
            <a:off x="2167354" y="3042569"/>
            <a:ext cx="2973249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4805"/>
              </a:lnSpc>
            </a:pPr>
            <a:r>
              <a:rPr lang="en-US" altLang="zh-CN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1.</a:t>
            </a:r>
            <a:r>
              <a:rPr lang="zh-CN" altLang="en-US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状态表示</a:t>
            </a:r>
            <a:endParaRPr lang="zh-CN" altLang="en-US" sz="3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34" name="TextBox 18"/>
          <p:cNvSpPr txBox="1"/>
          <p:nvPr>
            <p:custDataLst>
              <p:tags r:id="rId14"/>
            </p:custDataLst>
          </p:nvPr>
        </p:nvSpPr>
        <p:spPr>
          <a:xfrm>
            <a:off x="7732214" y="3042569"/>
            <a:ext cx="2973249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4805"/>
              </a:lnSpc>
            </a:pPr>
            <a:r>
              <a:rPr lang="en-US" altLang="zh-CN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2.</a:t>
            </a:r>
            <a:r>
              <a:rPr lang="zh-CN" altLang="en-US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转移方程</a:t>
            </a:r>
            <a:endParaRPr lang="zh-CN" altLang="en-US" sz="3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grpSp>
        <p:nvGrpSpPr>
          <p:cNvPr id="35" name="Group 19"/>
          <p:cNvGrpSpPr/>
          <p:nvPr>
            <p:custDataLst>
              <p:tags r:id="rId15"/>
            </p:custDataLst>
          </p:nvPr>
        </p:nvGrpSpPr>
        <p:grpSpPr>
          <a:xfrm rot="0">
            <a:off x="11996249" y="3262417"/>
            <a:ext cx="253488" cy="253488"/>
            <a:chOff x="0" y="0"/>
            <a:chExt cx="812800" cy="812800"/>
          </a:xfrm>
        </p:grpSpPr>
        <p:sp>
          <p:nvSpPr>
            <p:cNvPr id="36" name="Freeform 20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3E3E"/>
            </a:solidFill>
          </p:spPr>
        </p:sp>
        <p:sp>
          <p:nvSpPr>
            <p:cNvPr id="37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8" name="Group 23"/>
          <p:cNvGrpSpPr/>
          <p:nvPr>
            <p:custDataLst>
              <p:tags r:id="rId17"/>
            </p:custDataLst>
          </p:nvPr>
        </p:nvGrpSpPr>
        <p:grpSpPr>
          <a:xfrm rot="0">
            <a:off x="13112809" y="2987824"/>
            <a:ext cx="3828677" cy="802674"/>
            <a:chOff x="0" y="0"/>
            <a:chExt cx="1008376" cy="211404"/>
          </a:xfrm>
        </p:grpSpPr>
        <p:sp>
          <p:nvSpPr>
            <p:cNvPr id="39" name="Freeform 24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008376" cy="211404"/>
            </a:xfrm>
            <a:custGeom>
              <a:avLst/>
              <a:gdLst/>
              <a:ahLst/>
              <a:cxnLst/>
              <a:rect l="l" t="t" r="r" b="b"/>
              <a:pathLst>
                <a:path w="1008376" h="211404">
                  <a:moveTo>
                    <a:pt x="103126" y="0"/>
                  </a:moveTo>
                  <a:lnTo>
                    <a:pt x="905249" y="0"/>
                  </a:lnTo>
                  <a:cubicBezTo>
                    <a:pt x="962205" y="0"/>
                    <a:pt x="1008376" y="46171"/>
                    <a:pt x="1008376" y="103126"/>
                  </a:cubicBezTo>
                  <a:lnTo>
                    <a:pt x="1008376" y="108277"/>
                  </a:lnTo>
                  <a:cubicBezTo>
                    <a:pt x="1008376" y="165233"/>
                    <a:pt x="962205" y="211404"/>
                    <a:pt x="905249" y="211404"/>
                  </a:cubicBezTo>
                  <a:lnTo>
                    <a:pt x="103126" y="211404"/>
                  </a:lnTo>
                  <a:cubicBezTo>
                    <a:pt x="75776" y="211404"/>
                    <a:pt x="49545" y="200539"/>
                    <a:pt x="30205" y="181199"/>
                  </a:cubicBezTo>
                  <a:cubicBezTo>
                    <a:pt x="10865" y="161859"/>
                    <a:pt x="0" y="135628"/>
                    <a:pt x="0" y="108277"/>
                  </a:cubicBezTo>
                  <a:lnTo>
                    <a:pt x="0" y="103126"/>
                  </a:lnTo>
                  <a:cubicBezTo>
                    <a:pt x="0" y="75776"/>
                    <a:pt x="10865" y="49545"/>
                    <a:pt x="30205" y="30205"/>
                  </a:cubicBezTo>
                  <a:cubicBezTo>
                    <a:pt x="49545" y="10865"/>
                    <a:pt x="75776" y="0"/>
                    <a:pt x="103126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40" name="TextBox 25"/>
            <p:cNvSpPr txBox="1"/>
            <p:nvPr/>
          </p:nvSpPr>
          <p:spPr>
            <a:xfrm>
              <a:off x="0" y="-38100"/>
              <a:ext cx="1008376" cy="24950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TextBox 27"/>
          <p:cNvSpPr txBox="1"/>
          <p:nvPr>
            <p:custDataLst>
              <p:tags r:id="rId19"/>
            </p:custDataLst>
          </p:nvPr>
        </p:nvSpPr>
        <p:spPr>
          <a:xfrm>
            <a:off x="13106400" y="3080385"/>
            <a:ext cx="3919855" cy="615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>
              <a:lnSpc>
                <a:spcPts val="4805"/>
              </a:lnSpc>
            </a:pPr>
            <a:r>
              <a:rPr lang="en-US" altLang="zh-CN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3.</a:t>
            </a:r>
            <a:r>
              <a:rPr lang="zh-CN" altLang="en-US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初始和边界条件</a:t>
            </a:r>
            <a:endParaRPr lang="zh-CN" altLang="en-US" sz="3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43000" y="4229100"/>
            <a:ext cx="9701530" cy="3987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340"/>
              </a:lnSpc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第一个鸡蛋在第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层（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1&lt;=x&lt;=f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）扔：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57200" indent="-457200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没碎：继续测试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f-x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个鸡蛋，转移为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f-x)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57200" indent="-457200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碎了：继续测试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x-1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e-1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个鸡蛋，转移为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F(e-1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x-1)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>
              <a:lnSpc>
                <a:spcPts val="4340"/>
              </a:lnSpc>
              <a:buFont typeface="Wingdings" panose="05000000000000000000" charset="0"/>
              <a:buNone/>
            </a:pP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>
              <a:lnSpc>
                <a:spcPts val="4340"/>
              </a:lnSpc>
              <a:buFont typeface="Wingdings" panose="05000000000000000000" charset="0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无法预知鸡蛋是否会破碎，所以必须在两种情况中取最大值。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>
              <a:lnSpc>
                <a:spcPts val="4340"/>
              </a:lnSpc>
              <a:buFont typeface="Wingdings" panose="05000000000000000000" charset="0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加上本次尝试（即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+1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），并在所有尝试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得到的次数中选择最小值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4" name="图片 -2147482607"/>
          <p:cNvPicPr>
            <a:picLocks noChangeAspect="1"/>
          </p:cNvPicPr>
          <p:nvPr/>
        </p:nvPicPr>
        <p:blipFill>
          <a:blip r:embed="rId20"/>
          <a:srcRect l="3242" t="4201" r="6734" b="2483"/>
          <a:stretch>
            <a:fillRect/>
          </a:stretch>
        </p:blipFill>
        <p:spPr>
          <a:xfrm>
            <a:off x="11201400" y="4533900"/>
            <a:ext cx="6660515" cy="4508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8195" y="686098"/>
            <a:ext cx="609493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2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）解题思路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endParaRPr 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447800" y="1943100"/>
            <a:ext cx="14158595" cy="556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4340"/>
              </a:lnSpc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F(e,f) :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当前有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个鸡蛋、面对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层楼时，在最坏情况下的所需最少尝试次数。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9" name="AutoShape 3"/>
          <p:cNvSpPr/>
          <p:nvPr>
            <p:custDataLst>
              <p:tags r:id="rId5"/>
            </p:custDataLst>
          </p:nvPr>
        </p:nvSpPr>
        <p:spPr>
          <a:xfrm>
            <a:off x="3653979" y="3389161"/>
            <a:ext cx="98865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4"/>
          <p:cNvGrpSpPr/>
          <p:nvPr>
            <p:custDataLst>
              <p:tags r:id="rId6"/>
            </p:custDataLst>
          </p:nvPr>
        </p:nvGrpSpPr>
        <p:grpSpPr>
          <a:xfrm rot="0">
            <a:off x="6309665" y="3262417"/>
            <a:ext cx="253488" cy="253488"/>
            <a:chOff x="0" y="0"/>
            <a:chExt cx="812800" cy="812800"/>
          </a:xfrm>
        </p:grpSpPr>
        <p:sp>
          <p:nvSpPr>
            <p:cNvPr id="17" name="Freeform 5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3E3E"/>
            </a:solidFill>
          </p:spPr>
        </p:sp>
        <p:sp>
          <p:nvSpPr>
            <p:cNvPr id="22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7"/>
          <p:cNvGrpSpPr/>
          <p:nvPr>
            <p:custDataLst>
              <p:tags r:id="rId8"/>
            </p:custDataLst>
          </p:nvPr>
        </p:nvGrpSpPr>
        <p:grpSpPr>
          <a:xfrm rot="0">
            <a:off x="1739640" y="2987824"/>
            <a:ext cx="3828677" cy="802674"/>
            <a:chOff x="0" y="0"/>
            <a:chExt cx="1008376" cy="211404"/>
          </a:xfrm>
        </p:grpSpPr>
        <p:sp>
          <p:nvSpPr>
            <p:cNvPr id="28" name="Freeform 8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008376" cy="211404"/>
            </a:xfrm>
            <a:custGeom>
              <a:avLst/>
              <a:gdLst/>
              <a:ahLst/>
              <a:cxnLst/>
              <a:rect l="l" t="t" r="r" b="b"/>
              <a:pathLst>
                <a:path w="1008376" h="211404">
                  <a:moveTo>
                    <a:pt x="103126" y="0"/>
                  </a:moveTo>
                  <a:lnTo>
                    <a:pt x="905249" y="0"/>
                  </a:lnTo>
                  <a:cubicBezTo>
                    <a:pt x="962205" y="0"/>
                    <a:pt x="1008376" y="46171"/>
                    <a:pt x="1008376" y="103126"/>
                  </a:cubicBezTo>
                  <a:lnTo>
                    <a:pt x="1008376" y="108277"/>
                  </a:lnTo>
                  <a:cubicBezTo>
                    <a:pt x="1008376" y="165233"/>
                    <a:pt x="962205" y="211404"/>
                    <a:pt x="905249" y="211404"/>
                  </a:cubicBezTo>
                  <a:lnTo>
                    <a:pt x="103126" y="211404"/>
                  </a:lnTo>
                  <a:cubicBezTo>
                    <a:pt x="75776" y="211404"/>
                    <a:pt x="49545" y="200539"/>
                    <a:pt x="30205" y="181199"/>
                  </a:cubicBezTo>
                  <a:cubicBezTo>
                    <a:pt x="10865" y="161859"/>
                    <a:pt x="0" y="135628"/>
                    <a:pt x="0" y="108277"/>
                  </a:cubicBezTo>
                  <a:lnTo>
                    <a:pt x="0" y="103126"/>
                  </a:lnTo>
                  <a:cubicBezTo>
                    <a:pt x="0" y="75776"/>
                    <a:pt x="10865" y="49545"/>
                    <a:pt x="30205" y="30205"/>
                  </a:cubicBezTo>
                  <a:cubicBezTo>
                    <a:pt x="49545" y="10865"/>
                    <a:pt x="75776" y="0"/>
                    <a:pt x="103126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29" name="TextBox 9"/>
            <p:cNvSpPr txBox="1"/>
            <p:nvPr/>
          </p:nvSpPr>
          <p:spPr>
            <a:xfrm>
              <a:off x="0" y="-38100"/>
              <a:ext cx="1008376" cy="24950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0" name="Group 11"/>
          <p:cNvGrpSpPr/>
          <p:nvPr>
            <p:custDataLst>
              <p:tags r:id="rId10"/>
            </p:custDataLst>
          </p:nvPr>
        </p:nvGrpSpPr>
        <p:grpSpPr>
          <a:xfrm rot="0">
            <a:off x="7304500" y="2987824"/>
            <a:ext cx="3828677" cy="802674"/>
            <a:chOff x="0" y="0"/>
            <a:chExt cx="1008376" cy="211404"/>
          </a:xfrm>
        </p:grpSpPr>
        <p:sp>
          <p:nvSpPr>
            <p:cNvPr id="31" name="Freeform 12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008376" cy="211404"/>
            </a:xfrm>
            <a:custGeom>
              <a:avLst/>
              <a:gdLst/>
              <a:ahLst/>
              <a:cxnLst/>
              <a:rect l="l" t="t" r="r" b="b"/>
              <a:pathLst>
                <a:path w="1008376" h="211404">
                  <a:moveTo>
                    <a:pt x="103126" y="0"/>
                  </a:moveTo>
                  <a:lnTo>
                    <a:pt x="905249" y="0"/>
                  </a:lnTo>
                  <a:cubicBezTo>
                    <a:pt x="962205" y="0"/>
                    <a:pt x="1008376" y="46171"/>
                    <a:pt x="1008376" y="103126"/>
                  </a:cubicBezTo>
                  <a:lnTo>
                    <a:pt x="1008376" y="108277"/>
                  </a:lnTo>
                  <a:cubicBezTo>
                    <a:pt x="1008376" y="165233"/>
                    <a:pt x="962205" y="211404"/>
                    <a:pt x="905249" y="211404"/>
                  </a:cubicBezTo>
                  <a:lnTo>
                    <a:pt x="103126" y="211404"/>
                  </a:lnTo>
                  <a:cubicBezTo>
                    <a:pt x="75776" y="211404"/>
                    <a:pt x="49545" y="200539"/>
                    <a:pt x="30205" y="181199"/>
                  </a:cubicBezTo>
                  <a:cubicBezTo>
                    <a:pt x="10865" y="161859"/>
                    <a:pt x="0" y="135628"/>
                    <a:pt x="0" y="108277"/>
                  </a:cubicBezTo>
                  <a:lnTo>
                    <a:pt x="0" y="103126"/>
                  </a:lnTo>
                  <a:cubicBezTo>
                    <a:pt x="0" y="75776"/>
                    <a:pt x="10865" y="49545"/>
                    <a:pt x="30205" y="30205"/>
                  </a:cubicBezTo>
                  <a:cubicBezTo>
                    <a:pt x="49545" y="10865"/>
                    <a:pt x="75776" y="0"/>
                    <a:pt x="103126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32" name="TextBox 13"/>
            <p:cNvSpPr txBox="1"/>
            <p:nvPr/>
          </p:nvSpPr>
          <p:spPr>
            <a:xfrm>
              <a:off x="0" y="-38100"/>
              <a:ext cx="1008376" cy="24950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3" name="TextBox 16"/>
          <p:cNvSpPr txBox="1"/>
          <p:nvPr>
            <p:custDataLst>
              <p:tags r:id="rId12"/>
            </p:custDataLst>
          </p:nvPr>
        </p:nvSpPr>
        <p:spPr>
          <a:xfrm>
            <a:off x="2167354" y="3042569"/>
            <a:ext cx="2973249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4805"/>
              </a:lnSpc>
            </a:pPr>
            <a:r>
              <a:rPr lang="en-US" altLang="zh-CN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1.</a:t>
            </a:r>
            <a:r>
              <a:rPr lang="zh-CN" altLang="en-US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状态表示</a:t>
            </a:r>
            <a:endParaRPr lang="zh-CN" altLang="en-US" sz="3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34" name="TextBox 18"/>
          <p:cNvSpPr txBox="1"/>
          <p:nvPr>
            <p:custDataLst>
              <p:tags r:id="rId13"/>
            </p:custDataLst>
          </p:nvPr>
        </p:nvSpPr>
        <p:spPr>
          <a:xfrm>
            <a:off x="7732214" y="3042569"/>
            <a:ext cx="2973249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4805"/>
              </a:lnSpc>
            </a:pPr>
            <a:r>
              <a:rPr lang="en-US" altLang="zh-CN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2.</a:t>
            </a:r>
            <a:r>
              <a:rPr lang="zh-CN" altLang="en-US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转移方程</a:t>
            </a:r>
            <a:endParaRPr lang="zh-CN" altLang="en-US" sz="3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grpSp>
        <p:nvGrpSpPr>
          <p:cNvPr id="35" name="Group 19"/>
          <p:cNvGrpSpPr/>
          <p:nvPr>
            <p:custDataLst>
              <p:tags r:id="rId14"/>
            </p:custDataLst>
          </p:nvPr>
        </p:nvGrpSpPr>
        <p:grpSpPr>
          <a:xfrm rot="0">
            <a:off x="11996249" y="3262417"/>
            <a:ext cx="253488" cy="253488"/>
            <a:chOff x="0" y="0"/>
            <a:chExt cx="812800" cy="812800"/>
          </a:xfrm>
        </p:grpSpPr>
        <p:sp>
          <p:nvSpPr>
            <p:cNvPr id="36" name="Freeform 20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3E3E"/>
            </a:solidFill>
          </p:spPr>
        </p:sp>
        <p:sp>
          <p:nvSpPr>
            <p:cNvPr id="37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8" name="Group 23"/>
          <p:cNvGrpSpPr/>
          <p:nvPr>
            <p:custDataLst>
              <p:tags r:id="rId16"/>
            </p:custDataLst>
          </p:nvPr>
        </p:nvGrpSpPr>
        <p:grpSpPr>
          <a:xfrm rot="0">
            <a:off x="13112809" y="2987824"/>
            <a:ext cx="3828677" cy="802674"/>
            <a:chOff x="0" y="0"/>
            <a:chExt cx="1008376" cy="211404"/>
          </a:xfrm>
        </p:grpSpPr>
        <p:sp>
          <p:nvSpPr>
            <p:cNvPr id="39" name="Freeform 24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008376" cy="211404"/>
            </a:xfrm>
            <a:custGeom>
              <a:avLst/>
              <a:gdLst/>
              <a:ahLst/>
              <a:cxnLst/>
              <a:rect l="l" t="t" r="r" b="b"/>
              <a:pathLst>
                <a:path w="1008376" h="211404">
                  <a:moveTo>
                    <a:pt x="103126" y="0"/>
                  </a:moveTo>
                  <a:lnTo>
                    <a:pt x="905249" y="0"/>
                  </a:lnTo>
                  <a:cubicBezTo>
                    <a:pt x="962205" y="0"/>
                    <a:pt x="1008376" y="46171"/>
                    <a:pt x="1008376" y="103126"/>
                  </a:cubicBezTo>
                  <a:lnTo>
                    <a:pt x="1008376" y="108277"/>
                  </a:lnTo>
                  <a:cubicBezTo>
                    <a:pt x="1008376" y="165233"/>
                    <a:pt x="962205" y="211404"/>
                    <a:pt x="905249" y="211404"/>
                  </a:cubicBezTo>
                  <a:lnTo>
                    <a:pt x="103126" y="211404"/>
                  </a:lnTo>
                  <a:cubicBezTo>
                    <a:pt x="75776" y="211404"/>
                    <a:pt x="49545" y="200539"/>
                    <a:pt x="30205" y="181199"/>
                  </a:cubicBezTo>
                  <a:cubicBezTo>
                    <a:pt x="10865" y="161859"/>
                    <a:pt x="0" y="135628"/>
                    <a:pt x="0" y="108277"/>
                  </a:cubicBezTo>
                  <a:lnTo>
                    <a:pt x="0" y="103126"/>
                  </a:lnTo>
                  <a:cubicBezTo>
                    <a:pt x="0" y="75776"/>
                    <a:pt x="10865" y="49545"/>
                    <a:pt x="30205" y="30205"/>
                  </a:cubicBezTo>
                  <a:cubicBezTo>
                    <a:pt x="49545" y="10865"/>
                    <a:pt x="75776" y="0"/>
                    <a:pt x="103126" y="0"/>
                  </a:cubicBezTo>
                  <a:close/>
                </a:path>
              </a:pathLst>
            </a:custGeom>
            <a:solidFill>
              <a:srgbClr val="DB5C5C"/>
            </a:solidFill>
          </p:spPr>
        </p:sp>
        <p:sp>
          <p:nvSpPr>
            <p:cNvPr id="40" name="TextBox 25"/>
            <p:cNvSpPr txBox="1"/>
            <p:nvPr/>
          </p:nvSpPr>
          <p:spPr>
            <a:xfrm>
              <a:off x="0" y="-38100"/>
              <a:ext cx="1008376" cy="249504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TextBox 27"/>
          <p:cNvSpPr txBox="1"/>
          <p:nvPr>
            <p:custDataLst>
              <p:tags r:id="rId18"/>
            </p:custDataLst>
          </p:nvPr>
        </p:nvSpPr>
        <p:spPr>
          <a:xfrm>
            <a:off x="13106400" y="3080385"/>
            <a:ext cx="3919855" cy="615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>
              <a:lnSpc>
                <a:spcPts val="4805"/>
              </a:lnSpc>
            </a:pPr>
            <a:r>
              <a:rPr lang="en-US" altLang="zh-CN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3.</a:t>
            </a:r>
            <a:r>
              <a:rPr lang="zh-CN" altLang="en-US" sz="343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210 클레이토이" panose="02020603020101020101" charset="-127"/>
                <a:sym typeface="210 클레이토이" panose="02020603020101020101" charset="-127"/>
              </a:rPr>
              <a:t>初始和边界条件</a:t>
            </a:r>
            <a:endParaRPr lang="zh-CN" altLang="en-US" sz="343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5400" y="4686300"/>
            <a:ext cx="11210290" cy="1760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F(e,0)=0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：没有楼层，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次尝试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57200" indent="-457200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F(e,1)=1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：只有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次尝试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57200" indent="-457200">
              <a:lnSpc>
                <a:spcPts val="4340"/>
              </a:lnSpc>
              <a:buFont typeface="Wingdings" panose="05000000000000000000" charset="0"/>
              <a:buChar char="l"/>
            </a:pP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F(1,f)=f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：只有一个鸡蛋时，只能从底层一层层试，共需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次。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6" name="图片 -21474826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1600" y="7238365"/>
            <a:ext cx="9870440" cy="1005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Freeform 7"/>
          <p:cNvSpPr/>
          <p:nvPr/>
        </p:nvSpPr>
        <p:spPr>
          <a:xfrm>
            <a:off x="14935291" y="6210287"/>
            <a:ext cx="1715954" cy="1715954"/>
          </a:xfrm>
          <a:custGeom>
            <a:avLst/>
            <a:gdLst/>
            <a:ahLst/>
            <a:cxnLst/>
            <a:rect l="l" t="t" r="r" b="b"/>
            <a:pathLst>
              <a:path w="1715954" h="1715954">
                <a:moveTo>
                  <a:pt x="0" y="0"/>
                </a:moveTo>
                <a:lnTo>
                  <a:pt x="1715954" y="0"/>
                </a:lnTo>
                <a:lnTo>
                  <a:pt x="1715954" y="1715954"/>
                </a:lnTo>
                <a:lnTo>
                  <a:pt x="0" y="17159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668270"/>
            <a:ext cx="8931910" cy="73152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82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3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）自顶向下递归法</a:t>
            </a: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endParaRPr 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447800" y="1943100"/>
            <a:ext cx="14158595" cy="556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4340"/>
              </a:lnSpc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F(e,f) :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当前有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个鸡蛋、面对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层楼时，在最坏情况下的所需最少尝试次数。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0" y="3293745"/>
            <a:ext cx="8234045" cy="4097020"/>
          </a:xfrm>
          <a:prstGeom prst="rect">
            <a:avLst/>
          </a:prstGeom>
        </p:spPr>
        <p:txBody>
          <a:bodyPr>
            <a:noAutofit/>
          </a:bodyPr>
          <a:p>
            <a:pPr marL="457200" indent="-45720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时间复杂度：</a:t>
            </a:r>
            <a:endParaRPr 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indent="45720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每个子问题最多枚举f层，状态数为e×f，因此为O(e×f^2)=O(K×N^2)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marL="457200" indent="-45720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空间复杂度：</a:t>
            </a:r>
            <a:endParaRPr 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indent="457200" algn="l" defTabSz="914400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使用备忘录数组保存所有状态结果，维度为e×f,同时递归栈的最大深度是O(e)--O(e×f)=O(K×N)。</a:t>
            </a:r>
            <a:endParaRPr 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4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）自底向上动态规划法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14158595" cy="1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状态表示：设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表示使用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个鸡蛋，测试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j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层楼时，在最坏情况下的最小操作次数。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转移方程：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dp[i][j]=min[ max(dp[i-1][x-1]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dp[i][j-x])+1 ]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（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1&lt;=x&lt;=j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）。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填表记录：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2" name="图片 -214748259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229100"/>
            <a:ext cx="10756265" cy="43389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2039600" y="4457700"/>
            <a:ext cx="56749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时间复杂度：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三层循环嵌套 O(e×f^2)=O(K×N^2).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空间复杂度：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二维dp数组 O(e×f)=O(K×N).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1216">
            <a:off x="3220271" y="1160034"/>
            <a:ext cx="1431617" cy="2638926"/>
          </a:xfrm>
          <a:custGeom>
            <a:avLst/>
            <a:gdLst/>
            <a:ahLst/>
            <a:cxnLst/>
            <a:rect l="l" t="t" r="r" b="b"/>
            <a:pathLst>
              <a:path w="1431617" h="2638926">
                <a:moveTo>
                  <a:pt x="0" y="0"/>
                </a:moveTo>
                <a:lnTo>
                  <a:pt x="1431617" y="0"/>
                </a:lnTo>
                <a:lnTo>
                  <a:pt x="1431617" y="2638926"/>
                </a:lnTo>
                <a:lnTo>
                  <a:pt x="0" y="26389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6487" y="459299"/>
            <a:ext cx="8575026" cy="8799001"/>
          </a:xfrm>
          <a:custGeom>
            <a:avLst/>
            <a:gdLst/>
            <a:ahLst/>
            <a:cxnLst/>
            <a:rect l="l" t="t" r="r" b="b"/>
            <a:pathLst>
              <a:path w="8575026" h="8799001">
                <a:moveTo>
                  <a:pt x="0" y="0"/>
                </a:moveTo>
                <a:lnTo>
                  <a:pt x="8575026" y="0"/>
                </a:lnTo>
                <a:lnTo>
                  <a:pt x="8575026" y="8799001"/>
                </a:lnTo>
                <a:lnTo>
                  <a:pt x="0" y="8799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57822" y="5600918"/>
            <a:ext cx="7887925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5"/>
              </a:lnSpc>
            </a:pPr>
            <a:r>
              <a:rPr lang="zh-CN" altLang="en-US" sz="118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算法优化</a:t>
            </a:r>
            <a:endParaRPr lang="zh-CN" altLang="en-US" sz="118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157889" y="7128328"/>
            <a:ext cx="1766701" cy="1828410"/>
          </a:xfrm>
          <a:custGeom>
            <a:avLst/>
            <a:gdLst/>
            <a:ahLst/>
            <a:cxnLst/>
            <a:rect l="l" t="t" r="r" b="b"/>
            <a:pathLst>
              <a:path w="1766701" h="1828410">
                <a:moveTo>
                  <a:pt x="0" y="0"/>
                </a:moveTo>
                <a:lnTo>
                  <a:pt x="1766701" y="0"/>
                </a:lnTo>
                <a:lnTo>
                  <a:pt x="1766701" y="1828410"/>
                </a:lnTo>
                <a:lnTo>
                  <a:pt x="0" y="18284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1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）一维空间优化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15060295" cy="1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思路：填表时发现当前状态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只依赖于上一层的状态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dp[i-1][x-1]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以及当前层内已计算出的部分状态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dp[i][j-x]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例如：当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 i = 3, j = 5 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时，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dp[3][5] 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需要用到上一轮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 dp[2][0~4] 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和当前行已知的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 dp[3][0~4]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96600" y="6972300"/>
            <a:ext cx="66090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14350" indent="-514350" algn="l" fontAlgn="auto">
              <a:lnSpc>
                <a:spcPct val="150000"/>
              </a:lnSpc>
              <a:buClrTx/>
              <a:buSzTx/>
              <a:buFont typeface="+mj-ea"/>
              <a:buAutoNum type="circleNumDbPlain" startAt="3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P[j] 表示当前使用 i 个鸡蛋，测试 j 层楼的最少操作次数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；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preP[j] 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表示上一轮（i-1 个鸡蛋）时的状态。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</p:txBody>
      </p:sp>
      <p:pic>
        <p:nvPicPr>
          <p:cNvPr id="2" name="图片 -21474825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4152900"/>
            <a:ext cx="9302750" cy="4117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58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0" y="4229100"/>
            <a:ext cx="5340350" cy="1235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-21474825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6600" y="5600700"/>
            <a:ext cx="4044315" cy="10807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-21474826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0" y="8953500"/>
            <a:ext cx="6885940" cy="8375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0515600" y="9182100"/>
            <a:ext cx="5568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971550" lvl="1" indent="-514350" algn="l">
              <a:buFont typeface="+mj-ea"/>
              <a:buAutoNum type="circleNumDbPlain" startAt="4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空间复杂度降低到O（N）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2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）二分搜索时间优化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15761970" cy="1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思路：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max[F(e-1,x-1),F(e,f-x)]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是一个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“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先降后升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”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的山谷函数，寻找其最小值可用二分搜索优化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将第三层循环换成对每个楼层的二分搜索过程，通过二分搜索来尝试找到一个楼层，使得鸡蛋在该楼层扔下后得到最少的尝试次数。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  <p:pic>
        <p:nvPicPr>
          <p:cNvPr id="2" name="图片 9"/>
          <p:cNvPicPr>
            <a:picLocks noChangeAspect="1"/>
          </p:cNvPicPr>
          <p:nvPr/>
        </p:nvPicPr>
        <p:blipFill>
          <a:blip r:embed="rId5"/>
          <a:srcRect l="8141"/>
          <a:stretch>
            <a:fillRect/>
          </a:stretch>
        </p:blipFill>
        <p:spPr>
          <a:xfrm>
            <a:off x="9677400" y="3695700"/>
            <a:ext cx="7214235" cy="29679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540" y="4164965"/>
            <a:ext cx="990600" cy="390525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865" y="4164965"/>
            <a:ext cx="990600" cy="3905250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 flipH="1">
            <a:off x="2082165" y="6134735"/>
            <a:ext cx="548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2726690" y="5950585"/>
            <a:ext cx="455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p:sp>
        <p:nvSpPr>
          <p:cNvPr id="48" name="右大括号 47"/>
          <p:cNvSpPr/>
          <p:nvPr/>
        </p:nvSpPr>
        <p:spPr>
          <a:xfrm>
            <a:off x="2140585" y="4441825"/>
            <a:ext cx="122555" cy="1289050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2525395" y="4902200"/>
            <a:ext cx="163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没碎：</a:t>
            </a:r>
            <a:r>
              <a:rPr lang="en-US" altLang="zh-CN"/>
              <a:t>7-x</a:t>
            </a:r>
            <a:endParaRPr lang="en-US" altLang="zh-CN"/>
          </a:p>
        </p:txBody>
      </p:sp>
      <p:sp>
        <p:nvSpPr>
          <p:cNvPr id="50" name="右大括号 49"/>
          <p:cNvSpPr/>
          <p:nvPr/>
        </p:nvSpPr>
        <p:spPr>
          <a:xfrm>
            <a:off x="2140585" y="6442710"/>
            <a:ext cx="123190" cy="1356995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2525395" y="6998970"/>
            <a:ext cx="196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碎了：</a:t>
            </a:r>
            <a:r>
              <a:rPr lang="en-US" altLang="zh-CN"/>
              <a:t>x-1</a:t>
            </a:r>
            <a:endParaRPr lang="en-US" altLang="zh-CN"/>
          </a:p>
        </p:txBody>
      </p:sp>
      <p:sp>
        <p:nvSpPr>
          <p:cNvPr id="52" name="右大括号 51"/>
          <p:cNvSpPr/>
          <p:nvPr/>
        </p:nvSpPr>
        <p:spPr>
          <a:xfrm>
            <a:off x="7661910" y="4441825"/>
            <a:ext cx="122555" cy="1289050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924800" y="4902200"/>
            <a:ext cx="163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没碎：</a:t>
            </a:r>
            <a:r>
              <a:rPr lang="en-US" altLang="zh-CN"/>
              <a:t>7-x</a:t>
            </a:r>
            <a:endParaRPr lang="en-US" altLang="zh-CN"/>
          </a:p>
        </p:txBody>
      </p:sp>
      <p:sp>
        <p:nvSpPr>
          <p:cNvPr id="54" name="右大括号 53"/>
          <p:cNvSpPr/>
          <p:nvPr/>
        </p:nvSpPr>
        <p:spPr>
          <a:xfrm>
            <a:off x="7661910" y="6442710"/>
            <a:ext cx="123190" cy="1356995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7924800" y="6998970"/>
            <a:ext cx="1968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碎了：</a:t>
            </a:r>
            <a:r>
              <a:rPr lang="en-US" altLang="zh-CN"/>
              <a:t>x-1</a:t>
            </a:r>
            <a:endParaRPr lang="en-US" altLang="zh-CN"/>
          </a:p>
        </p:txBody>
      </p:sp>
      <p:sp>
        <p:nvSpPr>
          <p:cNvPr id="56" name="左大括号 55"/>
          <p:cNvSpPr/>
          <p:nvPr/>
        </p:nvSpPr>
        <p:spPr>
          <a:xfrm>
            <a:off x="6717665" y="6442710"/>
            <a:ext cx="75565" cy="8750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左大括号 56"/>
          <p:cNvSpPr/>
          <p:nvPr/>
        </p:nvSpPr>
        <p:spPr>
          <a:xfrm>
            <a:off x="6717665" y="7433945"/>
            <a:ext cx="76200" cy="4425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539105" y="6696075"/>
            <a:ext cx="1340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3-mid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5529580" y="7367270"/>
            <a:ext cx="1123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mid-1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60" name="虚尾箭头 59"/>
          <p:cNvSpPr/>
          <p:nvPr/>
        </p:nvSpPr>
        <p:spPr>
          <a:xfrm>
            <a:off x="4155440" y="5836285"/>
            <a:ext cx="1358900" cy="298450"/>
          </a:xfrm>
          <a:prstGeom prst="striped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114800" y="8246110"/>
            <a:ext cx="1376362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对于每个状态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dp[e][f]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，通过二分搜索来确定最优的投掷楼层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，搜索复杂度为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O(log f)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。一共有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O(e</a:t>
            </a: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f)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个状态要计算，总时间复杂度为：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O(e</a:t>
            </a: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f</a:t>
            </a: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logf)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，即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O(K </a:t>
            </a: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 N </a:t>
            </a: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 log N)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3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）状态转移结构优化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13561695" cy="21120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思路：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dp[e][f]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表示有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个鸡蛋，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层楼时，在最坏情况下所需的最少尝试次数。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en-US" altLang="zh-CN" sz="32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---&gt;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dp[m][e]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表示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“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给定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个鸡蛋，最多允许尝试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m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次，最坏情况下最多能测试多少层楼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”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  <p:pic>
        <p:nvPicPr>
          <p:cNvPr id="2" name="图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457700"/>
            <a:ext cx="11021695" cy="5059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219200" y="4305300"/>
            <a:ext cx="6096000" cy="4041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②　最优性分析：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在第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层扔鸡蛋：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碎了：说明门槛层在第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层以下，转化为子问题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dp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（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m-1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e-1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.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没碎：说明门槛层在第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x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层以上，转化为子问题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dp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（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m-1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）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.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3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）状态转移结构优化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15102840" cy="5499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状态表示：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dp[i][j]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：表示最多尝试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i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次，使用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j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次鸡蛋时，在最坏情况下可以测出的最大楼层数。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marL="514350" indent="-514350" algn="l" fontAlgn="auto">
              <a:lnSpc>
                <a:spcPct val="150000"/>
              </a:lnSpc>
              <a:buClrTx/>
              <a:buSzTx/>
              <a:buFont typeface="+mj-ea"/>
              <a:buAutoNum type="circleNumDbPlain" startAt="4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转移方程：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 typeface="+mj-ea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dp[i][j] = dp[i-1][j-1] + dp[i-1][j ]+ 1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514350" indent="-514350" algn="l" fontAlgn="auto">
              <a:lnSpc>
                <a:spcPct val="150000"/>
              </a:lnSpc>
              <a:buClrTx/>
              <a:buSzTx/>
              <a:buFont typeface="+mj-ea"/>
              <a:buAutoNum type="circleNumDbPlain" startAt="5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边界条件：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dp[0][*]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：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次操作，测不了任何楼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dp[*][0]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：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0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个鸡蛋，测不了任何楼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2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848100"/>
            <a:ext cx="8787765" cy="5735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83521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3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）状态转移结构优化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5420360" cy="8807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 startAt="6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伪代码：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81300"/>
            <a:ext cx="9238615" cy="53136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499725" y="2202180"/>
            <a:ext cx="7360920" cy="6138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 startAt="7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复杂度分析：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时间：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indent="457200" fontAlgn="auto">
              <a:lnSpc>
                <a:spcPct val="150000"/>
              </a:lnSpc>
              <a:buFont typeface="+mj-ea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每增加一次操作次数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m,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都需要遍历鸡蛋数量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次，所以每轮操作耗时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O(e)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，直到找到最小的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m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，使得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dp[m][e]&gt;=f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。所以总体的时间复杂度为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O(m </a:t>
            </a:r>
            <a:r>
              <a:rPr lang="en-US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×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 e)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空间：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二维数组dp[m][e]---O(e×n)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/>
        </p:nvSpPr>
        <p:spPr>
          <a:xfrm flipH="1">
            <a:off x="3886200" y="7856855"/>
            <a:ext cx="9912985" cy="1812925"/>
          </a:xfrm>
          <a:custGeom>
            <a:avLst/>
            <a:gdLst/>
            <a:ahLst/>
            <a:cxnLst/>
            <a:rect l="l" t="t" r="r" b="b"/>
            <a:pathLst>
              <a:path w="9751296" h="5485739">
                <a:moveTo>
                  <a:pt x="9751296" y="0"/>
                </a:moveTo>
                <a:lnTo>
                  <a:pt x="0" y="0"/>
                </a:lnTo>
                <a:lnTo>
                  <a:pt x="0" y="5485740"/>
                </a:lnTo>
                <a:lnTo>
                  <a:pt x="9751296" y="5485740"/>
                </a:lnTo>
                <a:lnTo>
                  <a:pt x="9751296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685800"/>
            <a:ext cx="1337881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 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（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4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）状态转移优化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+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一维优化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8"/>
          <p:cNvSpPr txBox="1"/>
          <p:nvPr/>
        </p:nvSpPr>
        <p:spPr>
          <a:xfrm>
            <a:off x="1219200" y="1959610"/>
            <a:ext cx="8592820" cy="53454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一维空间优化：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原先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dp[i][j]=dp[i-1][j-1]+dp[i-1][j]+1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如图中，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dp[3][2]=dp[2][1]+dp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[2][2]+1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l" fontAlgn="auto">
              <a:lnSpc>
                <a:spcPct val="150000"/>
              </a:lnSpc>
              <a:buClrTx/>
              <a:buSzTx/>
              <a:buFont typeface="+mj-ea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每个状态dp[i][j]仅依赖于上一行的前两个元素。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l" fontAlgn="auto">
              <a:lnSpc>
                <a:spcPct val="150000"/>
              </a:lnSpc>
              <a:buClrTx/>
              <a:buSzTx/>
              <a:buFont typeface="+mj-ea"/>
              <a:buNone/>
            </a:pPr>
            <a:endParaRPr lang="en-US" altLang="zh-CN" sz="32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l" fontAlgn="auto">
              <a:lnSpc>
                <a:spcPct val="150000"/>
              </a:lnSpc>
              <a:buClrTx/>
              <a:buSzTx/>
              <a:buFont typeface="+mj-ea"/>
              <a:buNone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新的转移方程：dp[j]=dp[j]+dp[j-1]+1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algn="l" fontAlgn="auto">
              <a:lnSpc>
                <a:spcPct val="150000"/>
              </a:lnSpc>
              <a:buClrTx/>
              <a:buSzTx/>
              <a:buFont typeface="+mj-ea"/>
              <a:buNone/>
            </a:pPr>
            <a:endParaRPr lang="en-US" altLang="zh-CN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  <a:p>
            <a:pPr marL="514350" indent="-514350" algn="l" fontAlgn="auto">
              <a:lnSpc>
                <a:spcPct val="150000"/>
              </a:lnSpc>
              <a:buClrTx/>
              <a:buSzTx/>
              <a:buFont typeface="+mj-ea"/>
              <a:buAutoNum type="circleNumDbPlain" startAt="2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空间复杂度：O(e)--O(N)。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indent="0" fontAlgn="auto">
              <a:lnSpc>
                <a:spcPct val="150000"/>
              </a:lnSpc>
              <a:buFont typeface="+mj-ea"/>
              <a:buNone/>
            </a:pP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  <p:pic>
        <p:nvPicPr>
          <p:cNvPr id="2" name="图片 -21474825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00" y="1935480"/>
            <a:ext cx="8594090" cy="5634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114800" y="8267700"/>
            <a:ext cx="994092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注意：从右到左逆向填表，确保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dp[j-1]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  <a:sym typeface="Arimo" panose="020B0604020202020204"/>
              </a:rPr>
              <a:t>未被当前轮更新覆盖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  <a:sym typeface="Arimo" panose="020B0604020202020204"/>
            </a:endParaRPr>
          </a:p>
        </p:txBody>
      </p:sp>
      <p:sp>
        <p:nvSpPr>
          <p:cNvPr id="5" name="Freeform 5"/>
          <p:cNvSpPr/>
          <p:nvPr/>
        </p:nvSpPr>
        <p:spPr>
          <a:xfrm rot="371216">
            <a:off x="3500313" y="7465101"/>
            <a:ext cx="736638" cy="1357857"/>
          </a:xfrm>
          <a:custGeom>
            <a:avLst/>
            <a:gdLst/>
            <a:ahLst/>
            <a:cxnLst/>
            <a:rect l="l" t="t" r="r" b="b"/>
            <a:pathLst>
              <a:path w="736638" h="1357857">
                <a:moveTo>
                  <a:pt x="0" y="0"/>
                </a:moveTo>
                <a:lnTo>
                  <a:pt x="736638" y="0"/>
                </a:lnTo>
                <a:lnTo>
                  <a:pt x="736638" y="1357857"/>
                </a:lnTo>
                <a:lnTo>
                  <a:pt x="0" y="1357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1216">
            <a:off x="3220271" y="1160034"/>
            <a:ext cx="1431617" cy="2638926"/>
          </a:xfrm>
          <a:custGeom>
            <a:avLst/>
            <a:gdLst/>
            <a:ahLst/>
            <a:cxnLst/>
            <a:rect l="l" t="t" r="r" b="b"/>
            <a:pathLst>
              <a:path w="1431617" h="2638926">
                <a:moveTo>
                  <a:pt x="0" y="0"/>
                </a:moveTo>
                <a:lnTo>
                  <a:pt x="1431617" y="0"/>
                </a:lnTo>
                <a:lnTo>
                  <a:pt x="1431617" y="2638926"/>
                </a:lnTo>
                <a:lnTo>
                  <a:pt x="0" y="263892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6487" y="459299"/>
            <a:ext cx="8575026" cy="8799001"/>
          </a:xfrm>
          <a:custGeom>
            <a:avLst/>
            <a:gdLst/>
            <a:ahLst/>
            <a:cxnLst/>
            <a:rect l="l" t="t" r="r" b="b"/>
            <a:pathLst>
              <a:path w="8575026" h="8799001">
                <a:moveTo>
                  <a:pt x="0" y="0"/>
                </a:moveTo>
                <a:lnTo>
                  <a:pt x="8575026" y="0"/>
                </a:lnTo>
                <a:lnTo>
                  <a:pt x="8575026" y="8799001"/>
                </a:lnTo>
                <a:lnTo>
                  <a:pt x="0" y="87990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57822" y="5219918"/>
            <a:ext cx="7887925" cy="323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5"/>
              </a:lnSpc>
            </a:pPr>
            <a:r>
              <a:rPr lang="zh-CN" altLang="en-US" sz="118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实验效果</a:t>
            </a:r>
            <a:endParaRPr lang="zh-CN" altLang="en-US" sz="118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  <a:p>
            <a:pPr algn="ctr">
              <a:lnSpc>
                <a:spcPts val="12605"/>
              </a:lnSpc>
            </a:pPr>
            <a:r>
              <a:rPr lang="zh-CN" altLang="en-US" sz="1189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210 클레이토이" panose="02020603020101020101" charset="-127"/>
                <a:sym typeface="210 클레이토이" panose="02020603020101020101" charset="-127"/>
              </a:rPr>
              <a:t>展示</a:t>
            </a:r>
            <a:endParaRPr lang="zh-CN" altLang="en-US" sz="1189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157889" y="7128328"/>
            <a:ext cx="1766701" cy="1828410"/>
          </a:xfrm>
          <a:custGeom>
            <a:avLst/>
            <a:gdLst/>
            <a:ahLst/>
            <a:cxnLst/>
            <a:rect l="l" t="t" r="r" b="b"/>
            <a:pathLst>
              <a:path w="1766701" h="1828410">
                <a:moveTo>
                  <a:pt x="0" y="0"/>
                </a:moveTo>
                <a:lnTo>
                  <a:pt x="1766701" y="0"/>
                </a:lnTo>
                <a:lnTo>
                  <a:pt x="1766701" y="1828410"/>
                </a:lnTo>
                <a:lnTo>
                  <a:pt x="0" y="18284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952500"/>
            <a:ext cx="988885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50"/>
              </a:lnSpc>
            </a:pP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(1)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小规模数据测试算法的正确性：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表格 11"/>
          <p:cNvGraphicFramePr/>
          <p:nvPr>
            <p:custDataLst>
              <p:tags r:id="rId5"/>
            </p:custDataLst>
          </p:nvPr>
        </p:nvGraphicFramePr>
        <p:xfrm>
          <a:off x="1295400" y="2552700"/>
          <a:ext cx="14676120" cy="58578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92040"/>
                <a:gridCol w="4892040"/>
                <a:gridCol w="4892040"/>
              </a:tblGrid>
              <a:tr h="79692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800"/>
                        <a:t>e=1,f=2--&gt;res=2</a:t>
                      </a:r>
                      <a:endParaRPr lang="en-US" altLang="zh-CN" sz="28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2800"/>
                        <a:t>e=2,f=6--&gt;res=3</a:t>
                      </a:r>
                      <a:endParaRPr lang="en-US" altLang="zh-CN" sz="28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zh-CN" sz="2800"/>
                        <a:t>e=3,f=14--&gt;res=4</a:t>
                      </a:r>
                      <a:endParaRPr lang="en-US" altLang="zh-CN" sz="2800"/>
                    </a:p>
                  </a:txBody>
                  <a:tcPr marL="68580" marR="68580" marT="0" marB="0" anchor="t" anchorCtr="0"/>
                </a:tc>
              </a:tr>
              <a:tr h="506095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 </a:t>
                      </a:r>
                      <a:endParaRPr lang="en-US" altLang="zh-CN" sz="11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/>
                        <a:t> </a:t>
                      </a:r>
                      <a:endParaRPr lang="en-US" altLang="zh-CN" sz="11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100"/>
                    </a:p>
                  </a:txBody>
                  <a:tcPr marL="68580" marR="68580" marT="0" marB="0" anchor="t" anchorCtr="0"/>
                </a:tc>
              </a:tr>
            </a:tbl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543300"/>
            <a:ext cx="3493135" cy="47085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3390900"/>
            <a:ext cx="3658870" cy="486473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3390900"/>
            <a:ext cx="362839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952500"/>
            <a:ext cx="1156906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50"/>
              </a:lnSpc>
            </a:pP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(2)e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和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f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规模对算法效率的影响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247900"/>
            <a:ext cx="9446895" cy="59169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8385810"/>
            <a:ext cx="7715885" cy="15233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896600" y="1931670"/>
            <a:ext cx="6096000" cy="6323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en-US"/>
              <a:t></a:t>
            </a:r>
            <a:r>
              <a:rPr lang="en-US" altLang="zh-CN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当 e 和 f 增加到 100 时，使用暴力递归法已无法在可接受时间内输出结果，说明其时间复杂度过高，实用性极差。</a:t>
            </a: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在 e = f = 1000 时，一维空间优化的 DP 方法运行时间略高于普通二维数组版本。这是因为尽管节省了空间，时间复杂度仍受三重嵌套循环影响，尤其是内层需要遍历大量状态。</a:t>
            </a: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当e和f进一步扩大到 1e4 时，普通 DP 与二分搜索优化法的运行时间出现显著差异，二分优化虽快于普通 DP，但运行时间仍呈指数增长。</a:t>
            </a: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b="1">
                <a:solidFill>
                  <a:srgbClr val="6B3E3E"/>
                </a:solidFill>
                <a:latin typeface="Arimo" panose="020B0604020202020204"/>
                <a:ea typeface="宋体" panose="02010600030101010101" pitchFamily="2" charset="-122"/>
                <a:cs typeface="Arimo" panose="020B0604020202020204"/>
              </a:rPr>
              <a:t>在 e 和 f 达到 1e5 时，二维 DP 无法适用（dp[1e5][1e5] 会导致内存溢出），必须转向更加高效的状态转移优化+一维空间优化组合策略。</a:t>
            </a:r>
            <a:endParaRPr lang="en-US" altLang="zh-CN" b="1">
              <a:solidFill>
                <a:srgbClr val="6B3E3E"/>
              </a:solidFill>
              <a:latin typeface="Arimo" panose="020B0604020202020204"/>
              <a:ea typeface="宋体" panose="02010600030101010101" pitchFamily="2" charset="-122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952500"/>
            <a:ext cx="1156906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(3)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实际算法效率与理论算法效率比较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219200" y="2400300"/>
            <a:ext cx="9144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基础动态规划：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+mn-ea"/>
              </a:rPr>
              <a:t>O(K*N^2)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4" name="图片 -21474825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086100"/>
            <a:ext cx="8413750" cy="65093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3619500"/>
            <a:ext cx="7431405" cy="22085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00800" y="1943100"/>
            <a:ext cx="11767820" cy="913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+mn-ea"/>
              </a:rPr>
              <a:t>理论耗费时间=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+mn-ea"/>
            </a:endParaRPr>
          </a:p>
          <a:p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+mn-ea"/>
              </a:rPr>
              <a:t> ( 数据规模为1000时的实际运行时间 ) * ( (K*数据规模^2) / (K*1000^2) )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952500"/>
            <a:ext cx="1156906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(3)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实际算法效率与理论算法效率比较</a:t>
            </a:r>
            <a:endParaRPr lang="zh-CN" altLang="en-US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219200" y="2400300"/>
            <a:ext cx="9144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动态规划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+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二分搜索优化：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+mn-ea"/>
              </a:rPr>
              <a:t>O(K*NlogN)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25" y="3543300"/>
            <a:ext cx="9350375" cy="2169160"/>
          </a:xfrm>
          <a:prstGeom prst="rect">
            <a:avLst/>
          </a:prstGeom>
        </p:spPr>
      </p:pic>
      <p:pic>
        <p:nvPicPr>
          <p:cNvPr id="4" name="图片 -21474825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3501390"/>
            <a:ext cx="7964805" cy="585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229600" y="2095500"/>
            <a:ext cx="97536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ts val="4200"/>
              </a:lnSpc>
            </a:pPr>
            <a:r>
              <a:rPr lang="zh-CN" altLang="en-US" sz="24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+mn-ea"/>
              </a:rPr>
              <a:t>耗费时间=(数据规模为10000时的实际运行时间)*((K*数据规模*log(数据规模))/(K*10000*log(10000))</a:t>
            </a:r>
            <a:endParaRPr lang="zh-CN" altLang="en-US" sz="24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-21474825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145030"/>
            <a:ext cx="7734300" cy="608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Freeform 3"/>
          <p:cNvSpPr/>
          <p:nvPr/>
        </p:nvSpPr>
        <p:spPr>
          <a:xfrm>
            <a:off x="16073100" y="495189"/>
            <a:ext cx="1262289" cy="1306379"/>
          </a:xfrm>
          <a:custGeom>
            <a:avLst/>
            <a:gdLst/>
            <a:ahLst/>
            <a:cxnLst/>
            <a:rect l="l" t="t" r="r" b="b"/>
            <a:pathLst>
              <a:path w="1262289" h="1306379">
                <a:moveTo>
                  <a:pt x="0" y="0"/>
                </a:moveTo>
                <a:lnTo>
                  <a:pt x="1262289" y="0"/>
                </a:lnTo>
                <a:lnTo>
                  <a:pt x="1262289" y="1306379"/>
                </a:lnTo>
                <a:lnTo>
                  <a:pt x="0" y="130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952500"/>
            <a:ext cx="11569065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50"/>
              </a:lnSpc>
            </a:pP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(4)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随机产生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e</a:t>
            </a:r>
            <a:r>
              <a:rPr lang="zh-CN" altLang="en-US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和</a:t>
            </a:r>
            <a:r>
              <a:rPr lang="en-US" altLang="zh-CN" sz="5400">
                <a:solidFill>
                  <a:srgbClr val="DB5C5C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210 클레이토이" panose="02020603020101020101" charset="-127"/>
              </a:rPr>
              <a:t>f</a:t>
            </a:r>
            <a:endParaRPr lang="en-US" altLang="zh-CN" sz="5400">
              <a:solidFill>
                <a:srgbClr val="DB5C5C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  <a:sym typeface="210 클레이토이" panose="02020603020101020101" charset="-127"/>
            </a:endParaRPr>
          </a:p>
        </p:txBody>
      </p:sp>
      <p:sp>
        <p:nvSpPr>
          <p:cNvPr id="11" name="Freeform 11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文本框 3"/>
          <p:cNvSpPr txBox="1"/>
          <p:nvPr/>
        </p:nvSpPr>
        <p:spPr>
          <a:xfrm>
            <a:off x="1219200" y="2400300"/>
            <a:ext cx="9144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+mj-ea"/>
              <a:buNone/>
            </a:pP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随机产生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和</a:t>
            </a: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</a:t>
            </a:r>
            <a:r>
              <a:rPr lang="zh-CN" altLang="en-US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最坏情况下的最小测试次数：</a:t>
            </a:r>
            <a:endParaRPr lang="zh-CN" altLang="en-US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71900"/>
            <a:ext cx="8411845" cy="41935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29400" y="8496935"/>
            <a:ext cx="105873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相同鸡蛋个数，楼层数越大，最差情况下的最少检查次数越多。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b="1">
                <a:solidFill>
                  <a:srgbClr val="6B3E3E"/>
                </a:solidFill>
                <a:latin typeface="Arimo" panose="020B0604020202020204"/>
                <a:ea typeface="Arimo" panose="020B0604020202020204"/>
                <a:cs typeface="Arimo" panose="020B0604020202020204"/>
              </a:rPr>
              <a:t>相同楼层数，鸡蛋个数越多，最差情况下的最少检查次数越少。</a:t>
            </a:r>
            <a:endParaRPr lang="en-US" altLang="zh-CN" sz="2800" b="1">
              <a:solidFill>
                <a:srgbClr val="6B3E3E"/>
              </a:solidFill>
              <a:latin typeface="Arimo" panose="020B0604020202020204"/>
              <a:ea typeface="Arimo" panose="020B0604020202020204"/>
              <a:cs typeface="Arimo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75239" y="3042398"/>
            <a:ext cx="10137521" cy="1824754"/>
          </a:xfrm>
          <a:custGeom>
            <a:avLst/>
            <a:gdLst/>
            <a:ahLst/>
            <a:cxnLst/>
            <a:rect l="l" t="t" r="r" b="b"/>
            <a:pathLst>
              <a:path w="10137521" h="1824754">
                <a:moveTo>
                  <a:pt x="0" y="0"/>
                </a:moveTo>
                <a:lnTo>
                  <a:pt x="10137522" y="0"/>
                </a:lnTo>
                <a:lnTo>
                  <a:pt x="10137522" y="1824753"/>
                </a:lnTo>
                <a:lnTo>
                  <a:pt x="0" y="18247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26923" y="2616087"/>
            <a:ext cx="1371121" cy="2527413"/>
          </a:xfrm>
          <a:custGeom>
            <a:avLst/>
            <a:gdLst/>
            <a:ahLst/>
            <a:cxnLst/>
            <a:rect l="l" t="t" r="r" b="b"/>
            <a:pathLst>
              <a:path w="1371121" h="2527413">
                <a:moveTo>
                  <a:pt x="0" y="0"/>
                </a:moveTo>
                <a:lnTo>
                  <a:pt x="1371122" y="0"/>
                </a:lnTo>
                <a:lnTo>
                  <a:pt x="1371122" y="2527413"/>
                </a:lnTo>
                <a:lnTo>
                  <a:pt x="0" y="2527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75239" y="5293462"/>
            <a:ext cx="10137521" cy="1824754"/>
          </a:xfrm>
          <a:custGeom>
            <a:avLst/>
            <a:gdLst/>
            <a:ahLst/>
            <a:cxnLst/>
            <a:rect l="l" t="t" r="r" b="b"/>
            <a:pathLst>
              <a:path w="10137521" h="1824754">
                <a:moveTo>
                  <a:pt x="0" y="0"/>
                </a:moveTo>
                <a:lnTo>
                  <a:pt x="10137522" y="0"/>
                </a:lnTo>
                <a:lnTo>
                  <a:pt x="10137522" y="1824754"/>
                </a:lnTo>
                <a:lnTo>
                  <a:pt x="0" y="18247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84149" y="5846867"/>
            <a:ext cx="1362711" cy="1410309"/>
          </a:xfrm>
          <a:custGeom>
            <a:avLst/>
            <a:gdLst/>
            <a:ahLst/>
            <a:cxnLst/>
            <a:rect l="l" t="t" r="r" b="b"/>
            <a:pathLst>
              <a:path w="1362711" h="1410309">
                <a:moveTo>
                  <a:pt x="0" y="0"/>
                </a:moveTo>
                <a:lnTo>
                  <a:pt x="1362711" y="0"/>
                </a:lnTo>
                <a:lnTo>
                  <a:pt x="1362711" y="1410309"/>
                </a:lnTo>
                <a:lnTo>
                  <a:pt x="0" y="1410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22496" y="2273187"/>
            <a:ext cx="7443009" cy="302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0"/>
              </a:lnSpc>
            </a:pPr>
            <a:r>
              <a:rPr lang="en-US" sz="17590">
                <a:solidFill>
                  <a:srgbClr val="6B3E3E"/>
                </a:solidFill>
                <a:latin typeface="210 클레이토이" panose="02020603020101020101" charset="-127"/>
                <a:ea typeface="210 클레이토이" panose="02020603020101020101" charset="-127"/>
                <a:cs typeface="210 클레이토이" panose="02020603020101020101" charset="-127"/>
                <a:sym typeface="210 클레이토이" panose="02020603020101020101" charset="-127"/>
              </a:rPr>
              <a:t>Thank</a:t>
            </a:r>
            <a:endParaRPr lang="en-US" sz="17590">
              <a:solidFill>
                <a:srgbClr val="6B3E3E"/>
              </a:solidFill>
              <a:latin typeface="210 클레이토이" panose="02020603020101020101" charset="-127"/>
              <a:ea typeface="210 클레이토이" panose="02020603020101020101" charset="-127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37841" y="4650638"/>
            <a:ext cx="4812318" cy="302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0"/>
              </a:lnSpc>
            </a:pPr>
            <a:r>
              <a:rPr lang="en-US" sz="17590">
                <a:solidFill>
                  <a:srgbClr val="6B3E3E"/>
                </a:solidFill>
                <a:latin typeface="210 클레이토이" panose="02020603020101020101" charset="-127"/>
                <a:ea typeface="210 클레이토이" panose="02020603020101020101" charset="-127"/>
                <a:cs typeface="210 클레이토이" panose="02020603020101020101" charset="-127"/>
                <a:sym typeface="210 클레이토이" panose="02020603020101020101" charset="-127"/>
              </a:rPr>
              <a:t>You</a:t>
            </a:r>
            <a:endParaRPr lang="en-US" sz="17590">
              <a:solidFill>
                <a:srgbClr val="6B3E3E"/>
              </a:solidFill>
              <a:latin typeface="210 클레이토이" panose="02020603020101020101" charset="-127"/>
              <a:ea typeface="210 클레이토이" panose="02020603020101020101" charset="-127"/>
              <a:cs typeface="210 클레이토이" panose="02020603020101020101" charset="-127"/>
              <a:sym typeface="210 클레이토이" panose="02020603020101020101" charset="-127"/>
            </a:endParaRPr>
          </a:p>
        </p:txBody>
      </p:sp>
      <p:sp>
        <p:nvSpPr>
          <p:cNvPr id="8" name="Freeform 8"/>
          <p:cNvSpPr/>
          <p:nvPr/>
        </p:nvSpPr>
        <p:spPr>
          <a:xfrm rot="3331616">
            <a:off x="-1833911" y="6737298"/>
            <a:ext cx="5379349" cy="4727733"/>
          </a:xfrm>
          <a:custGeom>
            <a:avLst/>
            <a:gdLst/>
            <a:ahLst/>
            <a:cxnLst/>
            <a:rect l="l" t="t" r="r" b="b"/>
            <a:pathLst>
              <a:path w="5379349" h="4727733">
                <a:moveTo>
                  <a:pt x="0" y="0"/>
                </a:moveTo>
                <a:lnTo>
                  <a:pt x="5379349" y="0"/>
                </a:lnTo>
                <a:lnTo>
                  <a:pt x="5379349" y="4727733"/>
                </a:lnTo>
                <a:lnTo>
                  <a:pt x="0" y="4727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310698">
            <a:off x="15010743" y="-2418835"/>
            <a:ext cx="4315728" cy="5846429"/>
          </a:xfrm>
          <a:custGeom>
            <a:avLst/>
            <a:gdLst/>
            <a:ahLst/>
            <a:cxnLst/>
            <a:rect l="l" t="t" r="r" b="b"/>
            <a:pathLst>
              <a:path w="4315728" h="5846429">
                <a:moveTo>
                  <a:pt x="0" y="0"/>
                </a:moveTo>
                <a:lnTo>
                  <a:pt x="4315728" y="0"/>
                </a:lnTo>
                <a:lnTo>
                  <a:pt x="4315728" y="5846429"/>
                </a:lnTo>
                <a:lnTo>
                  <a:pt x="0" y="58464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2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3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4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5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6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7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8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9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10.xml><?xml version="1.0" encoding="utf-8"?>
<p:tagLst xmlns:p="http://schemas.openxmlformats.org/presentationml/2006/main">
  <p:tag name="KSO_WM_DIAGRAM_VIRTUALLY_FRAME" val="{&quot;height&quot;:422.26842519685033,&quot;left&quot;:211.4288188976378,&quot;top&quot;:242.61464566929135,&quot;width&quot;:1032.7645669291337}"/>
</p:tagLst>
</file>

<file path=ppt/tags/tag11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2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3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4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5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6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7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8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19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0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1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2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3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4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5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6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7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8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29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0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1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2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3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4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5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6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7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8.xml><?xml version="1.0" encoding="utf-8"?>
<p:tagLst xmlns:p="http://schemas.openxmlformats.org/presentationml/2006/main">
  <p:tag name="KSO_WM_DIAGRAM_VIRTUALLY_FRAME" val="{&quot;height&quot;:101.28826771653544,&quot;left&quot;:136.97952755905513,&quot;top&quot;:235.26173228346457,&quot;width&quot;:1223.2204724409448}"/>
</p:tagLst>
</file>

<file path=ppt/tags/tag39.xml><?xml version="1.0" encoding="utf-8"?>
<p:tagLst xmlns:p="http://schemas.openxmlformats.org/presentationml/2006/main">
  <p:tag name="TABLE_ENDDRAG_ORIGIN_RECT" val="1155*461"/>
  <p:tag name="TABLE_ENDDRAG_RECT" val="181*240*1155*4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203D"/>
      </a:accent1>
      <a:accent2>
        <a:srgbClr val="ABEEC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2963</Words>
  <Application>WPS 演示</Application>
  <PresentationFormat>On-screen Show (4:3)</PresentationFormat>
  <Paragraphs>225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宋体</vt:lpstr>
      <vt:lpstr>Wingdings</vt:lpstr>
      <vt:lpstr>华文琥珀</vt:lpstr>
      <vt:lpstr>210 클레이토이</vt:lpstr>
      <vt:lpstr>Poetsen</vt:lpstr>
      <vt:lpstr>Yu Gothic UI Semibold</vt:lpstr>
      <vt:lpstr>Arimo</vt:lpstr>
      <vt:lpstr>Wingdings</vt:lpstr>
      <vt:lpstr>微软雅黑</vt:lpstr>
      <vt:lpstr>Arial Unicode MS</vt:lpstr>
      <vt:lpstr>Calibri</vt:lpstr>
      <vt:lpstr>华文楷体</vt:lpstr>
      <vt:lpstr>思源黑体 2 Heavy</vt:lpstr>
      <vt:lpstr>黑体</vt:lpstr>
      <vt:lpstr>思源黑体 2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Pink Cute Creative Portfolio Presentation</dc:title>
  <dc:creator/>
  <cp:lastModifiedBy>杨韩冰</cp:lastModifiedBy>
  <cp:revision>8</cp:revision>
  <dcterms:created xsi:type="dcterms:W3CDTF">2006-08-16T00:00:00Z</dcterms:created>
  <dcterms:modified xsi:type="dcterms:W3CDTF">2025-05-23T02:31:35Z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731A4773BB5646B3BC48AE7F32F51F4D_12</vt:lpwstr>
  </property>
  <property fmtid="{D5CDD505-2E9C-101B-9397-08002B2CF9AE}" pid="3" name="KSOProductBuildVer">
    <vt:lpwstr>2052-12.1.0.20305</vt:lpwstr>
  </property>
</Properties>
</file>