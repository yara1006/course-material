
<file path=[Content_Types].xml><?xml version="1.0" encoding="utf-8"?>
<Types xmlns="http://schemas.openxmlformats.org/package/2006/content-types">
  <Default Extension="png" ContentType="image/png"/>
  <Default Extension="avi" ContentType="video/avi"/>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74" r:id="rId20"/>
    <p:sldId id="275" r:id="rId21"/>
    <p:sldId id="262" r:id="rId22"/>
    <p:sldId id="278" r:id="rId23"/>
    <p:sldId id="263" r:id="rId24"/>
    <p:sldId id="279" r:id="rId25"/>
    <p:sldId id="280" r:id="rId26"/>
    <p:sldId id="281" r:id="rId27"/>
    <p:sldId id="282" r:id="rId28"/>
    <p:sldId id="283" r:id="rId29"/>
    <p:sldId id="264" r:id="rId30"/>
    <p:sldId id="265" r:id="rId31"/>
    <p:sldId id="284" r:id="rId32"/>
    <p:sldId id="285" r:id="rId33"/>
    <p:sldId id="286" r:id="rId34"/>
    <p:sldId id="268" r:id="rId35"/>
    <p:sldId id="267" r:id="rId36"/>
    <p:sldId id="271" r:id="rId37"/>
  </p:sldIdLst>
  <p:sldSz cx="12192000" cy="6858000"/>
  <p:notesSz cx="6858000" cy="9144000"/>
  <p:embeddedFontLst>
    <p:embeddedFont>
      <p:font typeface="Source Han Sans CN Bold" panose="020B0800000000000000" charset="-122"/>
      <p:bold r:id="rId41"/>
    </p:embeddedFont>
    <p:embeddedFont>
      <p:font typeface="Source Han Sans" panose="020B0500000000000000" charset="-122"/>
      <p:regular r:id="rId42"/>
    </p:embeddedFont>
    <p:embeddedFont>
      <p:font typeface="OPPOSans R" panose="00020600040101010101" charset="-122"/>
      <p:regular r:id="rId43"/>
    </p:embeddedFont>
    <p:embeddedFont>
      <p:font typeface="OPPOSans H" panose="00020600040101010101" charset="-122"/>
      <p:regular r:id="rId44"/>
    </p:embeddedFont>
    <p:embeddedFont>
      <p:font typeface="OPPOSans L" panose="00020600040101010101" charset="-122"/>
      <p:regular r:id="rId45"/>
    </p:embeddedFont>
    <p:embeddedFont>
      <p:font typeface="OPPOSans B" panose="00020600040101010101" charset="-122"/>
      <p:regular r:id="rId46"/>
    </p:embeddedFont>
    <p:embeddedFont>
      <p:font typeface="华文楷体" panose="02010600040101010101" charset="-122"/>
      <p:regular r:id="rId47"/>
    </p:embeddedFont>
  </p:embeddedFontLst>
  <p:custDataLst>
    <p:tags r:id="rId4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8" Type="http://schemas.openxmlformats.org/officeDocument/2006/relationships/tags" Target="tags/tag6.xml"/><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3"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5" r:id="rId1"/>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7" r:id="rId1"/>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9" r:id="rId1"/>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1" r:id="rId1"/>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3" r:id="rId1"/>
  </p:sldLayoutIdLst>
  <p:txStyles>
    <p:titleStyle/>
    <p:bodyStyle/>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5" r:id="rId1"/>
  </p:sldLayoutIdLst>
  <p:txStyles>
    <p:titleStyle/>
    <p:bodyStyle/>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7" r:id="rId1"/>
  </p:sldLayoutIdLst>
  <p:txStyles>
    <p:titleStyle/>
    <p:bodyStyle/>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9" r:id="rId1"/>
  </p:sldLayoutIdLst>
  <p:txStyles>
    <p:titleStyle/>
    <p:bodyStyle/>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71" r:id="rId1"/>
  </p:sldLayoutIdLst>
  <p:txStyles>
    <p:titleStyle/>
    <p:bodyStyle/>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tags" Target="../tags/tag3.xml"/><Relationship Id="rId4" Type="http://schemas.openxmlformats.org/officeDocument/2006/relationships/image" Target="../media/image9.png"/><Relationship Id="rId3" Type="http://schemas.openxmlformats.org/officeDocument/2006/relationships/tags" Target="../tags/tag2.xml"/><Relationship Id="rId2" Type="http://schemas.openxmlformats.org/officeDocument/2006/relationships/image" Target="../media/image8.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tags" Target="../tags/tag4.xml"/><Relationship Id="rId4" Type="http://schemas.microsoft.com/office/2007/relationships/media" Target="../media/media1.avi"/><Relationship Id="rId3" Type="http://schemas.openxmlformats.org/officeDocument/2006/relationships/video" Target="../media/media1.avi"/><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tags" Target="../tags/tag5.xml"/><Relationship Id="rId3" Type="http://schemas.microsoft.com/office/2007/relationships/media" Target="../media/media2.avi"/><Relationship Id="rId2" Type="http://schemas.openxmlformats.org/officeDocument/2006/relationships/video" Target="../media/media2.avi"/><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8.png"/><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652665" y="980729"/>
            <a:ext cx="8944824" cy="4683786"/>
          </a:xfrm>
          <a:prstGeom prst="roundRect">
            <a:avLst>
              <a:gd name="adj" fmla="val 5739"/>
            </a:avLst>
          </a:prstGeom>
          <a:gradFill>
            <a:gsLst>
              <a:gs pos="0">
                <a:schemeClr val="accent1">
                  <a:lumMod val="20000"/>
                  <a:lumOff val="80000"/>
                </a:schemeClr>
              </a:gs>
              <a:gs pos="99000">
                <a:schemeClr val="bg1"/>
              </a:gs>
            </a:gsLst>
            <a:lin ang="16200000" scaled="0"/>
          </a:gradFill>
          <a:ln w="57150" cap="sq">
            <a:solidFill>
              <a:schemeClr val="accent1">
                <a:lumMod val="20000"/>
                <a:lumOff val="80000"/>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33743" y="6228784"/>
            <a:ext cx="4309449" cy="407406"/>
          </a:xfrm>
          <a:prstGeom prst="ellipse">
            <a:avLst/>
          </a:prstGeom>
          <a:gradFill>
            <a:gsLst>
              <a:gs pos="0">
                <a:schemeClr val="accent2">
                  <a:lumMod val="60000"/>
                  <a:lumOff val="40000"/>
                  <a:alpha val="60000"/>
                </a:schemeClr>
              </a:gs>
              <a:gs pos="99000">
                <a:schemeClr val="accent2">
                  <a:lumMod val="20000"/>
                  <a:lumOff val="80000"/>
                </a:schemeClr>
              </a:gs>
            </a:gsLst>
            <a:lin ang="162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40004" y="615863"/>
            <a:ext cx="4267200" cy="5341318"/>
          </a:xfrm>
          <a:prstGeom prst="round2SameRect">
            <a:avLst>
              <a:gd name="adj1" fmla="val 50000"/>
              <a:gd name="adj2" fmla="val 0"/>
            </a:avLst>
          </a:prstGeom>
          <a:solidFill>
            <a:schemeClr val="accent1">
              <a:lumMod val="40000"/>
              <a:lumOff val="60000"/>
            </a:schemeClr>
          </a:solidFill>
          <a:ln w="571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1">
            <a:alphaModFix amt="100000"/>
          </a:blip>
          <a:srcRect/>
          <a:stretch>
            <a:fillRect/>
          </a:stretch>
        </p:blipFill>
        <p:spPr>
          <a:xfrm flipH="1">
            <a:off x="3953264" y="540859"/>
            <a:ext cx="1352661" cy="1357294"/>
          </a:xfrm>
          <a:prstGeom prst="rect">
            <a:avLst/>
          </a:prstGeom>
          <a:noFill/>
          <a:ln>
            <a:noFill/>
          </a:ln>
        </p:spPr>
      </p:pic>
      <p:pic>
        <p:nvPicPr>
          <p:cNvPr id="8" name="图片 7"/>
          <p:cNvPicPr>
            <a:picLocks noChangeAspect="1"/>
          </p:cNvPicPr>
          <p:nvPr/>
        </p:nvPicPr>
        <p:blipFill>
          <a:blip r:embed="rId2">
            <a:alphaModFix amt="100000"/>
          </a:blip>
          <a:srcRect/>
          <a:stretch>
            <a:fillRect/>
          </a:stretch>
        </p:blipFill>
        <p:spPr>
          <a:xfrm>
            <a:off x="335797" y="264246"/>
            <a:ext cx="1037471" cy="904862"/>
          </a:xfrm>
          <a:prstGeom prst="rect">
            <a:avLst/>
          </a:prstGeom>
          <a:noFill/>
          <a:ln>
            <a:noFill/>
          </a:ln>
        </p:spPr>
      </p:pic>
      <p:sp>
        <p:nvSpPr>
          <p:cNvPr id="9" name="标题 1"/>
          <p:cNvSpPr txBox="1"/>
          <p:nvPr/>
        </p:nvSpPr>
        <p:spPr>
          <a:xfrm flipH="1">
            <a:off x="9442688" y="770747"/>
            <a:ext cx="2178864" cy="475726"/>
          </a:xfrm>
          <a:prstGeom prst="roundRect">
            <a:avLst>
              <a:gd name="adj" fmla="val 50000"/>
            </a:avLst>
          </a:prstGeom>
          <a:solidFill>
            <a:schemeClr val="accent2">
              <a:lumMod val="60000"/>
              <a:lumOff val="40000"/>
            </a:schemeClr>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5409204" y="1552549"/>
            <a:ext cx="2897902" cy="1209066"/>
          </a:xfrm>
          <a:prstGeom prst="rect">
            <a:avLst/>
          </a:prstGeom>
          <a:noFill/>
          <a:ln>
            <a:noFill/>
          </a:ln>
          <a:effectLst/>
        </p:spPr>
        <p:txBody>
          <a:bodyPr vert="horz" wrap="square" lIns="0" tIns="0" rIns="0" bIns="0" rtlCol="0" anchor="t"/>
          <a:lstStyle/>
          <a:p>
            <a:pPr algn="l">
              <a:lnSpc>
                <a:spcPct val="110000"/>
              </a:lnSpc>
            </a:pPr>
            <a:r>
              <a:rPr kumimoji="1" lang="en-US" altLang="zh-CN" sz="8000">
                <a:ln w="15875">
                  <a:solidFill>
                    <a:srgbClr val="000000">
                      <a:alpha val="100000"/>
                    </a:srgbClr>
                  </a:solidFill>
                </a:ln>
                <a:noFill/>
                <a:latin typeface="Source Han Sans CN Bold" panose="020B0800000000000000" charset="-122"/>
                <a:ea typeface="Source Han Sans CN Bold" panose="020B0800000000000000" charset="-122"/>
                <a:cs typeface="Source Han Sans CN Bold" panose="020B0800000000000000" charset="-122"/>
              </a:rPr>
              <a:t>2025</a:t>
            </a:r>
            <a:endParaRPr kumimoji="1" lang="zh-CN" altLang="en-US"/>
          </a:p>
        </p:txBody>
      </p:sp>
      <p:pic>
        <p:nvPicPr>
          <p:cNvPr id="11" name="图片 10"/>
          <p:cNvPicPr>
            <a:picLocks noChangeAspect="1"/>
          </p:cNvPicPr>
          <p:nvPr/>
        </p:nvPicPr>
        <p:blipFill>
          <a:blip r:embed="rId3">
            <a:alphaModFix amt="100000"/>
          </a:blip>
          <a:srcRect/>
          <a:stretch>
            <a:fillRect/>
          </a:stretch>
        </p:blipFill>
        <p:spPr>
          <a:xfrm flipH="1">
            <a:off x="12032" y="850264"/>
            <a:ext cx="4871414" cy="5370062"/>
          </a:xfrm>
          <a:prstGeom prst="rect">
            <a:avLst/>
          </a:prstGeom>
          <a:noFill/>
          <a:ln>
            <a:noFill/>
          </a:ln>
        </p:spPr>
      </p:pic>
      <p:sp>
        <p:nvSpPr>
          <p:cNvPr id="12" name="标题 1"/>
          <p:cNvSpPr txBox="1"/>
          <p:nvPr/>
        </p:nvSpPr>
        <p:spPr>
          <a:xfrm rot="1581393">
            <a:off x="8048280" y="1871912"/>
            <a:ext cx="806854" cy="780591"/>
          </a:xfrm>
          <a:prstGeom prst="arc">
            <a:avLst>
              <a:gd name="adj1" fmla="val 12631904"/>
              <a:gd name="adj2" fmla="val 20163465"/>
            </a:avLst>
          </a:prstGeom>
          <a:noFill/>
          <a:ln w="12700" cap="flat">
            <a:solidFill>
              <a:schemeClr val="tx1"/>
            </a:solidFill>
            <a:miter/>
            <a:headEnd type="triangle" w="lg" len="lg"/>
            <a:tailEnd type="oval"/>
          </a:ln>
          <a:effectLst/>
        </p:spPr>
        <p:txBody>
          <a:bodyPr vert="horz" wrap="square" lIns="91440" tIns="45720" rIns="91440" bIns="45720" rtlCol="0" anchor="ctr"/>
          <a:lstStyle/>
          <a:p>
            <a:pPr algn="ctr">
              <a:lnSpc>
                <a:spcPct val="100000"/>
              </a:lnSpc>
            </a:pPr>
            <a:endParaRPr kumimoji="1" lang="zh-CN" altLang="en-US"/>
          </a:p>
        </p:txBody>
      </p:sp>
      <p:sp>
        <p:nvSpPr>
          <p:cNvPr id="13" name="标题 1"/>
          <p:cNvSpPr txBox="1"/>
          <p:nvPr/>
        </p:nvSpPr>
        <p:spPr>
          <a:xfrm rot="183283">
            <a:off x="4389178" y="4627531"/>
            <a:ext cx="4900396" cy="411316"/>
          </a:xfrm>
          <a:prstGeom prst="roundRect">
            <a:avLst/>
          </a:prstGeom>
          <a:solidFill>
            <a:schemeClr val="accent1"/>
          </a:solidFill>
          <a:ln w="12700" cap="sq">
            <a:solidFill>
              <a:schemeClr val="accent1"/>
            </a:solidFill>
            <a:miter/>
          </a:ln>
          <a:effectLst>
            <a:outerShdw blurRad="190500" dist="127000" dir="2700000" algn="tr"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a:off x="4383314" y="4416525"/>
            <a:ext cx="5092326" cy="564296"/>
          </a:xfrm>
          <a:prstGeom prst="roundRect">
            <a:avLst/>
          </a:prstGeom>
          <a:solidFill>
            <a:schemeClr val="bg1"/>
          </a:solidFill>
          <a:ln w="12700" cap="sq">
            <a:solidFill>
              <a:schemeClr val="accent1"/>
            </a:solidFill>
            <a:miter/>
          </a:ln>
          <a:effectLst>
            <a:outerShdw blurRad="190500" dist="127000" dir="2700000" algn="tr"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5" name="标题 1"/>
          <p:cNvSpPr txBox="1"/>
          <p:nvPr/>
        </p:nvSpPr>
        <p:spPr>
          <a:xfrm>
            <a:off x="5881222" y="4496745"/>
            <a:ext cx="1668786" cy="424877"/>
          </a:xfrm>
          <a:prstGeom prst="roundRect">
            <a:avLst/>
          </a:prstGeom>
          <a:noFill/>
          <a:ln w="15875" cap="sq">
            <a:noFill/>
          </a:ln>
          <a:effectLst/>
        </p:spPr>
        <p:txBody>
          <a:bodyPr vert="horz" wrap="square" lIns="0" tIns="0" rIns="0" bIns="0" rtlCol="0" anchor="ctr"/>
          <a:lstStyle/>
          <a:p>
            <a:pPr algn="l">
              <a:lnSpc>
                <a:spcPct val="100000"/>
              </a:lnSpc>
            </a:pP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汇报人：杨韩冰</a:t>
            </a:r>
            <a:endParaRPr kumimoji="1" lang="zh-CN" altLang="en-US"/>
          </a:p>
        </p:txBody>
      </p:sp>
      <p:sp>
        <p:nvSpPr>
          <p:cNvPr id="16" name="标题 1"/>
          <p:cNvSpPr txBox="1"/>
          <p:nvPr/>
        </p:nvSpPr>
        <p:spPr>
          <a:xfrm>
            <a:off x="5447453" y="4531341"/>
            <a:ext cx="286624" cy="310482"/>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accent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a:off x="7545856" y="4558193"/>
            <a:ext cx="270197" cy="280961"/>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8" name="标题 1"/>
          <p:cNvSpPr txBox="1"/>
          <p:nvPr/>
        </p:nvSpPr>
        <p:spPr>
          <a:xfrm>
            <a:off x="7942854" y="4496745"/>
            <a:ext cx="1630475" cy="424877"/>
          </a:xfrm>
          <a:prstGeom prst="roundRect">
            <a:avLst/>
          </a:prstGeom>
          <a:noFill/>
          <a:ln w="15875" cap="sq">
            <a:noFill/>
          </a:ln>
          <a:effectLst/>
        </p:spPr>
        <p:txBody>
          <a:bodyPr vert="horz" wrap="square" lIns="0" tIns="0" rIns="0" bIns="0" rtlCol="0" anchor="ctr"/>
          <a:lstStyle/>
          <a:p>
            <a:pPr algn="l">
              <a:lnSpc>
                <a:spcPct val="100000"/>
              </a:lnSpc>
            </a:pP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时间：</a:t>
            </a: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202</a:t>
            </a: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5</a:t>
            </a: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a:t>
            </a: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4.11</a:t>
            </a:r>
            <a:endParaRPr kumimoji="1" lang="zh-CN" altLang="en-US"/>
          </a:p>
        </p:txBody>
      </p:sp>
      <p:sp>
        <p:nvSpPr>
          <p:cNvPr id="19" name="标题 1"/>
          <p:cNvSpPr txBox="1"/>
          <p:nvPr/>
        </p:nvSpPr>
        <p:spPr>
          <a:xfrm>
            <a:off x="4644189" y="4644531"/>
            <a:ext cx="108285" cy="108285"/>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0" name="图片 19"/>
          <p:cNvPicPr>
            <a:picLocks noChangeAspect="1"/>
          </p:cNvPicPr>
          <p:nvPr/>
        </p:nvPicPr>
        <p:blipFill>
          <a:blip r:embed="rId4">
            <a:alphaModFix amt="100000"/>
          </a:blip>
          <a:srcRect/>
          <a:stretch>
            <a:fillRect/>
          </a:stretch>
        </p:blipFill>
        <p:spPr>
          <a:xfrm>
            <a:off x="9947260" y="4260843"/>
            <a:ext cx="1828959" cy="1426588"/>
          </a:xfrm>
          <a:prstGeom prst="rect">
            <a:avLst/>
          </a:prstGeom>
          <a:noFill/>
          <a:ln>
            <a:noFill/>
          </a:ln>
        </p:spPr>
      </p:pic>
      <p:pic>
        <p:nvPicPr>
          <p:cNvPr id="21" name="图片 20"/>
          <p:cNvPicPr>
            <a:picLocks noChangeAspect="1"/>
          </p:cNvPicPr>
          <p:nvPr/>
        </p:nvPicPr>
        <p:blipFill>
          <a:blip r:embed="rId5">
            <a:alphaModFix amt="100000"/>
          </a:blip>
          <a:srcRect/>
          <a:stretch>
            <a:fillRect/>
          </a:stretch>
        </p:blipFill>
        <p:spPr>
          <a:xfrm>
            <a:off x="10525108" y="5221064"/>
            <a:ext cx="1280271" cy="701101"/>
          </a:xfrm>
          <a:prstGeom prst="rect">
            <a:avLst/>
          </a:prstGeom>
          <a:noFill/>
          <a:ln>
            <a:noFill/>
          </a:ln>
        </p:spPr>
      </p:pic>
      <p:sp>
        <p:nvSpPr>
          <p:cNvPr id="22" name="标题 1"/>
          <p:cNvSpPr txBox="1"/>
          <p:nvPr/>
        </p:nvSpPr>
        <p:spPr>
          <a:xfrm>
            <a:off x="5417009" y="2370376"/>
            <a:ext cx="5707276" cy="2070676"/>
          </a:xfrm>
          <a:prstGeom prst="rect">
            <a:avLst/>
          </a:prstGeom>
          <a:noFill/>
          <a:ln>
            <a:noFill/>
          </a:ln>
        </p:spPr>
        <p:txBody>
          <a:bodyPr vert="horz" wrap="square" lIns="0" tIns="0" rIns="0" bIns="0" rtlCol="0" anchor="ctr"/>
          <a:lstStyle/>
          <a:p>
            <a:pPr algn="l">
              <a:lnSpc>
                <a:spcPct val="130000"/>
              </a:lnSpc>
            </a:pPr>
            <a:r>
              <a:rPr kumimoji="1" lang="en-US" altLang="zh-CN" sz="480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分治法求最近点对问题实验报告</a:t>
            </a:r>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64466" y="14098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2700" y="0"/>
            <a:ext cx="12166600" cy="6858000"/>
          </a:xfrm>
          <a:prstGeom prst="rect">
            <a:avLst/>
          </a:prstGeom>
          <a:gradFill>
            <a:gsLst>
              <a:gs pos="0">
                <a:schemeClr val="accent1">
                  <a:lumMod val="40000"/>
                  <a:lumOff val="60000"/>
                  <a:alpha val="100000"/>
                </a:schemeClr>
              </a:gs>
              <a:gs pos="100000">
                <a:schemeClr val="accent1">
                  <a:alpha val="100000"/>
                </a:schemeClr>
              </a:gs>
            </a:gsLst>
            <a:lin ang="3000000" scaled="0"/>
          </a:gradFill>
        </p:spPr>
        <p:txBody>
          <a:bodyPr vert="horz" wrap="square" lIns="0" tIns="0" rIns="0" bIns="0" rtlCol="0" anchor="ctr"/>
          <a:lstStyle/>
          <a:p>
            <a:pPr algn="ctr">
              <a:lnSpc>
                <a:spcPct val="100000"/>
              </a:lnSpc>
            </a:pPr>
            <a:endParaRPr kumimoji="1" lang="zh-CN" altLang="en-US"/>
          </a:p>
        </p:txBody>
      </p:sp>
      <p:sp>
        <p:nvSpPr>
          <p:cNvPr id="6" name="标题 1"/>
          <p:cNvSpPr txBox="1"/>
          <p:nvPr/>
        </p:nvSpPr>
        <p:spPr>
          <a:xfrm>
            <a:off x="1642641" y="2029365"/>
            <a:ext cx="4261412" cy="1703066"/>
          </a:xfrm>
          <a:prstGeom prst="roundRect">
            <a:avLst>
              <a:gd name="adj" fmla="val 5625"/>
            </a:avLst>
          </a:prstGeom>
          <a:gradFill>
            <a:gsLst>
              <a:gs pos="0">
                <a:schemeClr val="bg1"/>
              </a:gs>
              <a:gs pos="100000">
                <a:schemeClr val="bg1">
                  <a:lumMod val="85000"/>
                </a:schemeClr>
              </a:gs>
            </a:gsLst>
            <a:lin ang="2700000" scaled="0"/>
          </a:gradFill>
          <a:ln w="12700" cap="sq">
            <a:noFill/>
            <a:miter/>
          </a:ln>
          <a:effectLst>
            <a:outerShdw blurRad="469900" dist="114300" dir="16200000" sx="99000" sy="99000" rotWithShape="0">
              <a:schemeClr val="accent1">
                <a:alpha val="4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7" name="标题 1"/>
          <p:cNvSpPr txBox="1"/>
          <p:nvPr/>
        </p:nvSpPr>
        <p:spPr>
          <a:xfrm>
            <a:off x="6287947" y="2029365"/>
            <a:ext cx="4261412" cy="1703066"/>
          </a:xfrm>
          <a:prstGeom prst="roundRect">
            <a:avLst>
              <a:gd name="adj" fmla="val 5625"/>
            </a:avLst>
          </a:prstGeom>
          <a:gradFill>
            <a:gsLst>
              <a:gs pos="0">
                <a:schemeClr val="bg1"/>
              </a:gs>
              <a:gs pos="100000">
                <a:schemeClr val="bg1">
                  <a:lumMod val="85000"/>
                </a:schemeClr>
              </a:gs>
            </a:gsLst>
            <a:lin ang="2700000" scaled="0"/>
          </a:gradFill>
          <a:ln w="12700" cap="sq">
            <a:noFill/>
            <a:miter/>
          </a:ln>
          <a:effectLst>
            <a:outerShdw blurRad="469900" dist="114300" dir="16200000" sx="99000" sy="99000" rotWithShape="0">
              <a:schemeClr val="accent1">
                <a:alpha val="4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8" name="标题 1"/>
          <p:cNvSpPr txBox="1"/>
          <p:nvPr/>
        </p:nvSpPr>
        <p:spPr>
          <a:xfrm>
            <a:off x="1642641" y="4198037"/>
            <a:ext cx="4261412" cy="1703066"/>
          </a:xfrm>
          <a:prstGeom prst="roundRect">
            <a:avLst>
              <a:gd name="adj" fmla="val 5625"/>
            </a:avLst>
          </a:prstGeom>
          <a:gradFill>
            <a:gsLst>
              <a:gs pos="0">
                <a:schemeClr val="bg1"/>
              </a:gs>
              <a:gs pos="100000">
                <a:schemeClr val="bg1">
                  <a:lumMod val="85000"/>
                </a:schemeClr>
              </a:gs>
            </a:gsLst>
            <a:lin ang="2700000" scaled="0"/>
          </a:gradFill>
          <a:ln w="12700" cap="sq">
            <a:noFill/>
            <a:miter/>
          </a:ln>
          <a:effectLst>
            <a:outerShdw blurRad="469900" dist="114300" dir="16200000" sx="99000" sy="99000" rotWithShape="0">
              <a:schemeClr val="accent1">
                <a:alpha val="4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9" name="标题 1"/>
          <p:cNvSpPr txBox="1"/>
          <p:nvPr/>
        </p:nvSpPr>
        <p:spPr>
          <a:xfrm>
            <a:off x="6287947" y="4198037"/>
            <a:ext cx="4261412" cy="1703066"/>
          </a:xfrm>
          <a:prstGeom prst="roundRect">
            <a:avLst>
              <a:gd name="adj" fmla="val 5625"/>
            </a:avLst>
          </a:prstGeom>
          <a:gradFill>
            <a:gsLst>
              <a:gs pos="0">
                <a:schemeClr val="bg1"/>
              </a:gs>
              <a:gs pos="100000">
                <a:schemeClr val="bg1">
                  <a:lumMod val="85000"/>
                </a:schemeClr>
              </a:gs>
            </a:gsLst>
            <a:lin ang="2700000" scaled="0"/>
          </a:gradFill>
          <a:ln w="12700" cap="sq">
            <a:noFill/>
            <a:miter/>
          </a:ln>
          <a:effectLst>
            <a:outerShdw blurRad="469900" dist="114300" dir="16200000" sx="99000" sy="99000" rotWithShape="0">
              <a:schemeClr val="accent1">
                <a:alpha val="40000"/>
              </a:schemeClr>
            </a:outerShdw>
          </a:effectLst>
        </p:spPr>
        <p:txBody>
          <a:bodyPr vert="horz" wrap="square" lIns="91440" tIns="45720" rIns="91440" bIns="45720" rtlCol="0" anchor="ctr"/>
          <a:lstStyle/>
          <a:p>
            <a:pPr algn="ctr">
              <a:lnSpc>
                <a:spcPct val="100000"/>
              </a:lnSpc>
            </a:pPr>
            <a:endParaRPr kumimoji="1" lang="zh-CN" altLang="en-US"/>
          </a:p>
        </p:txBody>
      </p:sp>
      <p:grpSp>
        <p:nvGrpSpPr>
          <p:cNvPr id="10" name="组合 9"/>
          <p:cNvGrpSpPr/>
          <p:nvPr/>
        </p:nvGrpSpPr>
        <p:grpSpPr>
          <a:xfrm>
            <a:off x="6746978" y="2409956"/>
            <a:ext cx="674613" cy="926586"/>
            <a:chOff x="6746978" y="2409956"/>
            <a:chExt cx="674613" cy="926586"/>
          </a:xfrm>
        </p:grpSpPr>
        <p:sp>
          <p:nvSpPr>
            <p:cNvPr id="11" name="标题 1"/>
            <p:cNvSpPr txBox="1"/>
            <p:nvPr/>
          </p:nvSpPr>
          <p:spPr>
            <a:xfrm>
              <a:off x="6746978" y="2412351"/>
              <a:ext cx="674613" cy="924191"/>
            </a:xfrm>
            <a:custGeom>
              <a:avLst/>
              <a:gdLst>
                <a:gd name="connsiteX0" fmla="*/ 0 w 1368618"/>
                <a:gd name="connsiteY0" fmla="*/ 1873317 h 1874950"/>
                <a:gd name="connsiteX1" fmla="*/ 186185 w 1368618"/>
                <a:gd name="connsiteY1" fmla="*/ 1476451 h 1874950"/>
                <a:gd name="connsiteX2" fmla="*/ 909691 w 1368618"/>
                <a:gd name="connsiteY2" fmla="*/ 591258 h 1874950"/>
                <a:gd name="connsiteX3" fmla="*/ 638580 w 1368618"/>
                <a:gd name="connsiteY3" fmla="*/ 343012 h 1874950"/>
                <a:gd name="connsiteX4" fmla="*/ 442596 w 1368618"/>
                <a:gd name="connsiteY4" fmla="*/ 388741 h 1874950"/>
                <a:gd name="connsiteX5" fmla="*/ 29398 w 1368618"/>
                <a:gd name="connsiteY5" fmla="*/ 289116 h 1874950"/>
                <a:gd name="connsiteX6" fmla="*/ 27764 w 1368618"/>
                <a:gd name="connsiteY6" fmla="*/ 287483 h 1874950"/>
                <a:gd name="connsiteX7" fmla="*/ 669611 w 1368618"/>
                <a:gd name="connsiteY7" fmla="*/ 41 h 1874950"/>
                <a:gd name="connsiteX8" fmla="*/ 1311457 w 1368618"/>
                <a:gd name="connsiteY8" fmla="*/ 556961 h 1874950"/>
                <a:gd name="connsiteX9" fmla="*/ 615715 w 1368618"/>
                <a:gd name="connsiteY9" fmla="*/ 1535246 h 1874950"/>
                <a:gd name="connsiteX10" fmla="*/ 1028914 w 1368618"/>
                <a:gd name="connsiteY10" fmla="*/ 1535246 h 1874950"/>
                <a:gd name="connsiteX11" fmla="*/ 1368619 w 1368618"/>
                <a:gd name="connsiteY11" fmla="*/ 1874951 h 1874950"/>
                <a:gd name="connsiteX12" fmla="*/ 1368619 w 1368618"/>
                <a:gd name="connsiteY12" fmla="*/ 1874951 h 1874950"/>
                <a:gd name="connsiteX13" fmla="*/ 0 w 1368618"/>
                <a:gd name="connsiteY13" fmla="*/ 1874951 h 1874950"/>
                <a:gd name="connsiteX14" fmla="*/ 0 w 1368618"/>
                <a:gd name="connsiteY14" fmla="*/ 1873317 h 1874950"/>
              </a:gdLst>
              <a:ahLst/>
              <a:cxnLst/>
              <a:rect l="l" t="t" r="r" b="b"/>
              <a:pathLst>
                <a:path w="1368618" h="1874950">
                  <a:moveTo>
                    <a:pt x="0" y="1873317"/>
                  </a:moveTo>
                  <a:cubicBezTo>
                    <a:pt x="0" y="1719797"/>
                    <a:pt x="68594" y="1574442"/>
                    <a:pt x="186185" y="1476451"/>
                  </a:cubicBezTo>
                  <a:cubicBezTo>
                    <a:pt x="681043" y="1063252"/>
                    <a:pt x="909691" y="805207"/>
                    <a:pt x="909691" y="591258"/>
                  </a:cubicBezTo>
                  <a:cubicBezTo>
                    <a:pt x="909691" y="457336"/>
                    <a:pt x="821498" y="343012"/>
                    <a:pt x="638580" y="343012"/>
                  </a:cubicBezTo>
                  <a:cubicBezTo>
                    <a:pt x="579785" y="343012"/>
                    <a:pt x="514457" y="357711"/>
                    <a:pt x="442596" y="388741"/>
                  </a:cubicBezTo>
                  <a:cubicBezTo>
                    <a:pt x="297242" y="454069"/>
                    <a:pt x="127389" y="414873"/>
                    <a:pt x="29398" y="289116"/>
                  </a:cubicBezTo>
                  <a:lnTo>
                    <a:pt x="27764" y="287483"/>
                  </a:lnTo>
                  <a:cubicBezTo>
                    <a:pt x="253145" y="42504"/>
                    <a:pt x="529156" y="41"/>
                    <a:pt x="669611" y="41"/>
                  </a:cubicBezTo>
                  <a:cubicBezTo>
                    <a:pt x="1020748" y="-3226"/>
                    <a:pt x="1311457" y="191125"/>
                    <a:pt x="1311457" y="556961"/>
                  </a:cubicBezTo>
                  <a:cubicBezTo>
                    <a:pt x="1311457" y="908098"/>
                    <a:pt x="958686" y="1278834"/>
                    <a:pt x="615715" y="1535246"/>
                  </a:cubicBezTo>
                  <a:lnTo>
                    <a:pt x="1028914" y="1535246"/>
                  </a:lnTo>
                  <a:cubicBezTo>
                    <a:pt x="1216732" y="1535246"/>
                    <a:pt x="1368619" y="1687133"/>
                    <a:pt x="1368619" y="1874951"/>
                  </a:cubicBezTo>
                  <a:lnTo>
                    <a:pt x="1368619" y="1874951"/>
                  </a:lnTo>
                  <a:lnTo>
                    <a:pt x="0" y="1874951"/>
                  </a:lnTo>
                  <a:lnTo>
                    <a:pt x="0" y="1873317"/>
                  </a:lnTo>
                  <a:close/>
                </a:path>
              </a:pathLst>
            </a:custGeom>
            <a:gradFill>
              <a:gsLst>
                <a:gs pos="0">
                  <a:schemeClr val="accent1">
                    <a:lumMod val="75000"/>
                    <a:lumOff val="25000"/>
                  </a:schemeClr>
                </a:gs>
                <a:gs pos="98000">
                  <a:schemeClr val="accent1"/>
                </a:gs>
              </a:gsLst>
              <a:lin ang="5400000" scaled="0"/>
            </a:gradFill>
            <a:ln w="16320" cap="flat">
              <a:noFill/>
              <a:miter/>
            </a:ln>
          </p:spPr>
          <p:txBody>
            <a:bodyPr vert="horz" wrap="square" lIns="91440" tIns="45720" rIns="91440" bIns="45720" rtlCol="0" anchor="ctr"/>
            <a:lstStyle/>
            <a:p>
              <a:pPr algn="l">
                <a:lnSpc>
                  <a:spcPct val="100000"/>
                </a:lnSpc>
              </a:pPr>
              <a:endParaRPr kumimoji="1" lang="zh-CN" altLang="en-US"/>
            </a:p>
          </p:txBody>
        </p:sp>
        <p:sp>
          <p:nvSpPr>
            <p:cNvPr id="12" name="标题 1"/>
            <p:cNvSpPr txBox="1"/>
            <p:nvPr/>
          </p:nvSpPr>
          <p:spPr>
            <a:xfrm>
              <a:off x="6760664" y="2409956"/>
              <a:ext cx="500218" cy="455645"/>
            </a:xfrm>
            <a:custGeom>
              <a:avLst/>
              <a:gdLst>
                <a:gd name="connsiteX0" fmla="*/ 0 w 1014815"/>
                <a:gd name="connsiteY0" fmla="*/ 290709 h 924389"/>
                <a:gd name="connsiteX1" fmla="*/ 1633 w 1014815"/>
                <a:gd name="connsiteY1" fmla="*/ 292342 h 924389"/>
                <a:gd name="connsiteX2" fmla="*/ 414832 w 1014815"/>
                <a:gd name="connsiteY2" fmla="*/ 391967 h 924389"/>
                <a:gd name="connsiteX3" fmla="*/ 610816 w 1014815"/>
                <a:gd name="connsiteY3" fmla="*/ 346238 h 924389"/>
                <a:gd name="connsiteX4" fmla="*/ 881926 w 1014815"/>
                <a:gd name="connsiteY4" fmla="*/ 594484 h 924389"/>
                <a:gd name="connsiteX5" fmla="*/ 736572 w 1014815"/>
                <a:gd name="connsiteY5" fmla="*/ 924389 h 924389"/>
                <a:gd name="connsiteX6" fmla="*/ 1002783 w 1014815"/>
                <a:gd name="connsiteY6" fmla="*/ 463828 h 924389"/>
                <a:gd name="connsiteX7" fmla="*/ 648379 w 1014815"/>
                <a:gd name="connsiteY7" fmla="*/ 0 h 924389"/>
                <a:gd name="connsiteX8" fmla="*/ 645113 w 1014815"/>
                <a:gd name="connsiteY8" fmla="*/ 0 h 924389"/>
                <a:gd name="connsiteX9" fmla="*/ 0 w 1014815"/>
                <a:gd name="connsiteY9" fmla="*/ 290709 h 924389"/>
              </a:gdLst>
              <a:ahLst/>
              <a:cxnLst/>
              <a:rect l="l" t="t" r="r" b="b"/>
              <a:pathLst>
                <a:path w="1014815" h="924389">
                  <a:moveTo>
                    <a:pt x="0" y="290709"/>
                  </a:moveTo>
                  <a:lnTo>
                    <a:pt x="1633" y="292342"/>
                  </a:lnTo>
                  <a:cubicBezTo>
                    <a:pt x="99625" y="418098"/>
                    <a:pt x="269477" y="457295"/>
                    <a:pt x="414832" y="391967"/>
                  </a:cubicBezTo>
                  <a:cubicBezTo>
                    <a:pt x="485060" y="360937"/>
                    <a:pt x="552021" y="346238"/>
                    <a:pt x="610816" y="346238"/>
                  </a:cubicBezTo>
                  <a:cubicBezTo>
                    <a:pt x="793734" y="346238"/>
                    <a:pt x="881926" y="460562"/>
                    <a:pt x="881926" y="594484"/>
                  </a:cubicBezTo>
                  <a:cubicBezTo>
                    <a:pt x="881926" y="692476"/>
                    <a:pt x="834564" y="798633"/>
                    <a:pt x="736572" y="924389"/>
                  </a:cubicBezTo>
                  <a:cubicBezTo>
                    <a:pt x="736572" y="924389"/>
                    <a:pt x="930922" y="739838"/>
                    <a:pt x="1002783" y="463828"/>
                  </a:cubicBezTo>
                  <a:cubicBezTo>
                    <a:pt x="1063211" y="231914"/>
                    <a:pt x="888459" y="1633"/>
                    <a:pt x="648379" y="0"/>
                  </a:cubicBezTo>
                  <a:cubicBezTo>
                    <a:pt x="646746" y="0"/>
                    <a:pt x="645113" y="0"/>
                    <a:pt x="645113" y="0"/>
                  </a:cubicBezTo>
                  <a:cubicBezTo>
                    <a:pt x="501392" y="1633"/>
                    <a:pt x="225381" y="45730"/>
                    <a:pt x="0" y="290709"/>
                  </a:cubicBezTo>
                  <a:close/>
                </a:path>
              </a:pathLst>
            </a:custGeom>
            <a:gradFill>
              <a:gsLst>
                <a:gs pos="0">
                  <a:schemeClr val="accent1">
                    <a:lumMod val="90000"/>
                    <a:lumOff val="10000"/>
                  </a:schemeClr>
                </a:gs>
                <a:gs pos="98000">
                  <a:schemeClr val="accent1">
                    <a:lumMod val="75000"/>
                  </a:schemeClr>
                </a:gs>
              </a:gsLst>
              <a:lin ang="0" scaled="0"/>
            </a:gradFill>
            <a:ln w="16320" cap="flat">
              <a:noFill/>
              <a:miter/>
            </a:ln>
          </p:spPr>
          <p:txBody>
            <a:bodyPr vert="horz" wrap="square" lIns="91440" tIns="45720" rIns="91440" bIns="45720" rtlCol="0" anchor="ctr"/>
            <a:lstStyle/>
            <a:p>
              <a:pPr algn="l">
                <a:lnSpc>
                  <a:spcPct val="100000"/>
                </a:lnSpc>
              </a:pPr>
              <a:endParaRPr kumimoji="1" lang="zh-CN" altLang="en-US"/>
            </a:p>
          </p:txBody>
        </p:sp>
        <p:sp>
          <p:nvSpPr>
            <p:cNvPr id="13" name="标题 1"/>
            <p:cNvSpPr txBox="1"/>
            <p:nvPr/>
          </p:nvSpPr>
          <p:spPr>
            <a:xfrm>
              <a:off x="7019256" y="3168291"/>
              <a:ext cx="402335" cy="167445"/>
            </a:xfrm>
            <a:custGeom>
              <a:avLst/>
              <a:gdLst>
                <a:gd name="connsiteX0" fmla="*/ 476532 w 816236"/>
                <a:gd name="connsiteY0" fmla="*/ 0 h 339704"/>
                <a:gd name="connsiteX1" fmla="*/ 63333 w 816236"/>
                <a:gd name="connsiteY1" fmla="*/ 0 h 339704"/>
                <a:gd name="connsiteX2" fmla="*/ 63333 w 816236"/>
                <a:gd name="connsiteY2" fmla="*/ 0 h 339704"/>
                <a:gd name="connsiteX3" fmla="*/ 195622 w 816236"/>
                <a:gd name="connsiteY3" fmla="*/ 339705 h 339704"/>
                <a:gd name="connsiteX4" fmla="*/ 816237 w 816236"/>
                <a:gd name="connsiteY4" fmla="*/ 339705 h 339704"/>
                <a:gd name="connsiteX5" fmla="*/ 476532 w 816236"/>
                <a:gd name="connsiteY5" fmla="*/ 0 h 339704"/>
              </a:gdLst>
              <a:ahLst/>
              <a:cxnLst/>
              <a:rect l="l" t="t" r="r" b="b"/>
              <a:pathLst>
                <a:path w="816236" h="339704">
                  <a:moveTo>
                    <a:pt x="476532" y="0"/>
                  </a:moveTo>
                  <a:lnTo>
                    <a:pt x="63333" y="0"/>
                  </a:lnTo>
                  <a:lnTo>
                    <a:pt x="63333" y="0"/>
                  </a:lnTo>
                  <a:cubicBezTo>
                    <a:pt x="-67323" y="120856"/>
                    <a:pt x="17604" y="339705"/>
                    <a:pt x="195622" y="339705"/>
                  </a:cubicBezTo>
                  <a:lnTo>
                    <a:pt x="816237" y="339705"/>
                  </a:lnTo>
                  <a:cubicBezTo>
                    <a:pt x="816237" y="151887"/>
                    <a:pt x="664349" y="0"/>
                    <a:pt x="476532" y="0"/>
                  </a:cubicBezTo>
                  <a:close/>
                </a:path>
              </a:pathLst>
            </a:custGeom>
            <a:gradFill>
              <a:gsLst>
                <a:gs pos="0">
                  <a:schemeClr val="accent1">
                    <a:lumMod val="90000"/>
                    <a:lumOff val="10000"/>
                  </a:schemeClr>
                </a:gs>
                <a:gs pos="91000">
                  <a:schemeClr val="accent1">
                    <a:lumMod val="75000"/>
                  </a:schemeClr>
                </a:gs>
              </a:gsLst>
              <a:lin ang="10800000" scaled="0"/>
            </a:gradFill>
            <a:ln w="16320" cap="flat">
              <a:noFill/>
              <a:miter/>
            </a:ln>
          </p:spPr>
          <p:txBody>
            <a:bodyPr vert="horz" wrap="square" lIns="91440" tIns="45720" rIns="91440" bIns="45720" rtlCol="0" anchor="ctr"/>
            <a:lstStyle/>
            <a:p>
              <a:pPr algn="l">
                <a:lnSpc>
                  <a:spcPct val="100000"/>
                </a:lnSpc>
              </a:pPr>
              <a:endParaRPr kumimoji="1" lang="zh-CN" altLang="en-US"/>
            </a:p>
          </p:txBody>
        </p:sp>
      </p:grpSp>
      <p:grpSp>
        <p:nvGrpSpPr>
          <p:cNvPr id="14" name="组合 13"/>
          <p:cNvGrpSpPr/>
          <p:nvPr/>
        </p:nvGrpSpPr>
        <p:grpSpPr>
          <a:xfrm>
            <a:off x="2126028" y="4579433"/>
            <a:ext cx="689908" cy="924976"/>
            <a:chOff x="2126028" y="4579433"/>
            <a:chExt cx="689908" cy="924976"/>
          </a:xfrm>
        </p:grpSpPr>
        <p:sp>
          <p:nvSpPr>
            <p:cNvPr id="15" name="标题 1"/>
            <p:cNvSpPr txBox="1"/>
            <p:nvPr/>
          </p:nvSpPr>
          <p:spPr>
            <a:xfrm>
              <a:off x="2126028" y="4579433"/>
              <a:ext cx="689908" cy="923411"/>
            </a:xfrm>
            <a:custGeom>
              <a:avLst/>
              <a:gdLst>
                <a:gd name="connsiteX0" fmla="*/ 0 w 1399649"/>
                <a:gd name="connsiteY0" fmla="*/ 1659328 h 1873369"/>
                <a:gd name="connsiteX1" fmla="*/ 0 w 1399649"/>
                <a:gd name="connsiteY1" fmla="*/ 1659328 h 1873369"/>
                <a:gd name="connsiteX2" fmla="*/ 377269 w 1399649"/>
                <a:gd name="connsiteY2" fmla="*/ 1513974 h 1873369"/>
                <a:gd name="connsiteX3" fmla="*/ 601017 w 1399649"/>
                <a:gd name="connsiteY3" fmla="*/ 1545004 h 1873369"/>
                <a:gd name="connsiteX4" fmla="*/ 1002783 w 1399649"/>
                <a:gd name="connsiteY4" fmla="*/ 1236330 h 1873369"/>
                <a:gd name="connsiteX5" fmla="*/ 638580 w 1399649"/>
                <a:gd name="connsiteY5" fmla="*/ 971752 h 1873369"/>
                <a:gd name="connsiteX6" fmla="*/ 375635 w 1399649"/>
                <a:gd name="connsiteY6" fmla="*/ 1037080 h 1873369"/>
                <a:gd name="connsiteX7" fmla="*/ 375635 w 1399649"/>
                <a:gd name="connsiteY7" fmla="*/ 1037080 h 1873369"/>
                <a:gd name="connsiteX8" fmla="*/ 445863 w 1399649"/>
                <a:gd name="connsiteY8" fmla="*/ 645113 h 1873369"/>
                <a:gd name="connsiteX9" fmla="*/ 806800 w 1399649"/>
                <a:gd name="connsiteY9" fmla="*/ 339705 h 1873369"/>
                <a:gd name="connsiteX10" fmla="*/ 432797 w 1399649"/>
                <a:gd name="connsiteY10" fmla="*/ 339705 h 1873369"/>
                <a:gd name="connsiteX11" fmla="*/ 93092 w 1399649"/>
                <a:gd name="connsiteY11" fmla="*/ 0 h 1873369"/>
                <a:gd name="connsiteX12" fmla="*/ 93092 w 1399649"/>
                <a:gd name="connsiteY12" fmla="*/ 0 h 1873369"/>
                <a:gd name="connsiteX13" fmla="*/ 1296759 w 1399649"/>
                <a:gd name="connsiteY13" fmla="*/ 0 h 1873369"/>
                <a:gd name="connsiteX14" fmla="*/ 1296759 w 1399649"/>
                <a:gd name="connsiteY14" fmla="*/ 0 h 1873369"/>
                <a:gd name="connsiteX15" fmla="*/ 1050146 w 1399649"/>
                <a:gd name="connsiteY15" fmla="*/ 543855 h 1873369"/>
                <a:gd name="connsiteX16" fmla="*/ 857428 w 1399649"/>
                <a:gd name="connsiteY16" fmla="*/ 712074 h 1873369"/>
                <a:gd name="connsiteX17" fmla="*/ 1006049 w 1399649"/>
                <a:gd name="connsiteY17" fmla="*/ 739838 h 1873369"/>
                <a:gd name="connsiteX18" fmla="*/ 1399650 w 1399649"/>
                <a:gd name="connsiteY18" fmla="*/ 1249396 h 1873369"/>
                <a:gd name="connsiteX19" fmla="*/ 635314 w 1399649"/>
                <a:gd name="connsiteY19" fmla="*/ 1873277 h 1873369"/>
                <a:gd name="connsiteX20" fmla="*/ 0 w 1399649"/>
                <a:gd name="connsiteY20" fmla="*/ 1659328 h 1873369"/>
              </a:gdLst>
              <a:ahLst/>
              <a:cxnLst/>
              <a:rect l="l" t="t" r="r" b="b"/>
              <a:pathLst>
                <a:path w="1399649" h="1873369">
                  <a:moveTo>
                    <a:pt x="0" y="1659328"/>
                  </a:moveTo>
                  <a:lnTo>
                    <a:pt x="0" y="1659328"/>
                  </a:lnTo>
                  <a:cubicBezTo>
                    <a:pt x="78394" y="1531939"/>
                    <a:pt x="233547" y="1471510"/>
                    <a:pt x="377269" y="1513974"/>
                  </a:cubicBezTo>
                  <a:cubicBezTo>
                    <a:pt x="450762" y="1535205"/>
                    <a:pt x="527523" y="1545004"/>
                    <a:pt x="601017" y="1545004"/>
                  </a:cubicBezTo>
                  <a:cubicBezTo>
                    <a:pt x="841096" y="1545004"/>
                    <a:pt x="1002783" y="1425781"/>
                    <a:pt x="1002783" y="1236330"/>
                  </a:cubicBezTo>
                  <a:cubicBezTo>
                    <a:pt x="1002783" y="1090976"/>
                    <a:pt x="868861" y="971752"/>
                    <a:pt x="638580" y="971752"/>
                  </a:cubicBezTo>
                  <a:cubicBezTo>
                    <a:pt x="543855" y="971752"/>
                    <a:pt x="467094" y="986451"/>
                    <a:pt x="375635" y="1037080"/>
                  </a:cubicBezTo>
                  <a:lnTo>
                    <a:pt x="375635" y="1037080"/>
                  </a:lnTo>
                  <a:cubicBezTo>
                    <a:pt x="300509" y="906424"/>
                    <a:pt x="329906" y="741471"/>
                    <a:pt x="445863" y="645113"/>
                  </a:cubicBezTo>
                  <a:lnTo>
                    <a:pt x="806800" y="339705"/>
                  </a:lnTo>
                  <a:lnTo>
                    <a:pt x="432797" y="339705"/>
                  </a:lnTo>
                  <a:cubicBezTo>
                    <a:pt x="244980" y="339705"/>
                    <a:pt x="93092" y="187818"/>
                    <a:pt x="93092" y="0"/>
                  </a:cubicBezTo>
                  <a:lnTo>
                    <a:pt x="93092" y="0"/>
                  </a:lnTo>
                  <a:lnTo>
                    <a:pt x="1296759" y="0"/>
                  </a:lnTo>
                  <a:lnTo>
                    <a:pt x="1296759" y="0"/>
                  </a:lnTo>
                  <a:cubicBezTo>
                    <a:pt x="1296759" y="209049"/>
                    <a:pt x="1206933" y="406666"/>
                    <a:pt x="1050146" y="543855"/>
                  </a:cubicBezTo>
                  <a:lnTo>
                    <a:pt x="857428" y="712074"/>
                  </a:lnTo>
                  <a:cubicBezTo>
                    <a:pt x="908057" y="715340"/>
                    <a:pt x="957053" y="726773"/>
                    <a:pt x="1006049" y="739838"/>
                  </a:cubicBezTo>
                  <a:cubicBezTo>
                    <a:pt x="1234697" y="805166"/>
                    <a:pt x="1399650" y="988084"/>
                    <a:pt x="1399650" y="1249396"/>
                  </a:cubicBezTo>
                  <a:cubicBezTo>
                    <a:pt x="1399650" y="1669127"/>
                    <a:pt x="1051779" y="1873277"/>
                    <a:pt x="635314" y="1873277"/>
                  </a:cubicBezTo>
                  <a:cubicBezTo>
                    <a:pt x="367469" y="1876543"/>
                    <a:pt x="145355" y="1793250"/>
                    <a:pt x="0" y="1659328"/>
                  </a:cubicBezTo>
                  <a:close/>
                </a:path>
              </a:pathLst>
            </a:custGeom>
            <a:gradFill>
              <a:gsLst>
                <a:gs pos="0">
                  <a:schemeClr val="accent1">
                    <a:lumMod val="75000"/>
                    <a:lumOff val="25000"/>
                  </a:schemeClr>
                </a:gs>
                <a:gs pos="98000">
                  <a:schemeClr val="accent1"/>
                </a:gs>
              </a:gsLst>
              <a:lin ang="5400000" scaled="0"/>
            </a:gradFill>
            <a:ln w="16320" cap="flat">
              <a:noFill/>
              <a:miter/>
            </a:ln>
          </p:spPr>
          <p:txBody>
            <a:bodyPr vert="horz" wrap="square" lIns="91440" tIns="45720" rIns="91440" bIns="45720" rtlCol="0" anchor="ctr"/>
            <a:lstStyle/>
            <a:p>
              <a:pPr algn="l">
                <a:lnSpc>
                  <a:spcPct val="100000"/>
                </a:lnSpc>
              </a:pPr>
              <a:endParaRPr kumimoji="1" lang="zh-CN" altLang="en-US"/>
            </a:p>
          </p:txBody>
        </p:sp>
        <p:sp>
          <p:nvSpPr>
            <p:cNvPr id="16" name="标题 1"/>
            <p:cNvSpPr txBox="1"/>
            <p:nvPr/>
          </p:nvSpPr>
          <p:spPr>
            <a:xfrm>
              <a:off x="2172719" y="4579433"/>
              <a:ext cx="384914" cy="167445"/>
            </a:xfrm>
            <a:custGeom>
              <a:avLst/>
              <a:gdLst>
                <a:gd name="connsiteX0" fmla="*/ 0 w 780894"/>
                <a:gd name="connsiteY0" fmla="*/ 0 h 339704"/>
                <a:gd name="connsiteX1" fmla="*/ 339705 w 780894"/>
                <a:gd name="connsiteY1" fmla="*/ 339705 h 339704"/>
                <a:gd name="connsiteX2" fmla="*/ 713707 w 780894"/>
                <a:gd name="connsiteY2" fmla="*/ 339705 h 339704"/>
                <a:gd name="connsiteX3" fmla="*/ 713707 w 780894"/>
                <a:gd name="connsiteY3" fmla="*/ 339705 h 339704"/>
                <a:gd name="connsiteX4" fmla="*/ 586318 w 780894"/>
                <a:gd name="connsiteY4" fmla="*/ 0 h 339704"/>
                <a:gd name="connsiteX5" fmla="*/ 0 w 780894"/>
                <a:gd name="connsiteY5" fmla="*/ 0 h 339704"/>
                <a:gd name="connsiteX6" fmla="*/ 0 w 780894"/>
                <a:gd name="connsiteY6" fmla="*/ 0 h 339704"/>
              </a:gdLst>
              <a:ahLst/>
              <a:cxnLst/>
              <a:rect l="l" t="t" r="r" b="b"/>
              <a:pathLst>
                <a:path w="780894" h="339704">
                  <a:moveTo>
                    <a:pt x="0" y="0"/>
                  </a:moveTo>
                  <a:cubicBezTo>
                    <a:pt x="0" y="187818"/>
                    <a:pt x="151887" y="339705"/>
                    <a:pt x="339705" y="339705"/>
                  </a:cubicBezTo>
                  <a:lnTo>
                    <a:pt x="713707" y="339705"/>
                  </a:lnTo>
                  <a:lnTo>
                    <a:pt x="713707" y="339705"/>
                  </a:lnTo>
                  <a:cubicBezTo>
                    <a:pt x="849262" y="222115"/>
                    <a:pt x="765969" y="0"/>
                    <a:pt x="586318" y="0"/>
                  </a:cubicBezTo>
                  <a:lnTo>
                    <a:pt x="0" y="0"/>
                  </a:lnTo>
                  <a:lnTo>
                    <a:pt x="0" y="0"/>
                  </a:lnTo>
                  <a:close/>
                </a:path>
              </a:pathLst>
            </a:custGeom>
            <a:gradFill>
              <a:gsLst>
                <a:gs pos="0">
                  <a:schemeClr val="accent1">
                    <a:lumMod val="90000"/>
                    <a:lumOff val="10000"/>
                  </a:schemeClr>
                </a:gs>
                <a:gs pos="98000">
                  <a:schemeClr val="accent1">
                    <a:lumMod val="75000"/>
                  </a:schemeClr>
                </a:gs>
              </a:gsLst>
              <a:lin ang="0" scaled="0"/>
            </a:gradFill>
            <a:ln w="16320" cap="flat">
              <a:noFill/>
              <a:miter/>
            </a:ln>
          </p:spPr>
          <p:txBody>
            <a:bodyPr vert="horz" wrap="square" lIns="91440" tIns="45720" rIns="91440" bIns="45720" rtlCol="0" anchor="ctr"/>
            <a:lstStyle/>
            <a:p>
              <a:pPr algn="l">
                <a:lnSpc>
                  <a:spcPct val="100000"/>
                </a:lnSpc>
              </a:pPr>
              <a:endParaRPr kumimoji="1" lang="zh-CN" altLang="en-US"/>
            </a:p>
          </p:txBody>
        </p:sp>
        <p:sp>
          <p:nvSpPr>
            <p:cNvPr id="17" name="标题 1"/>
            <p:cNvSpPr txBox="1"/>
            <p:nvPr/>
          </p:nvSpPr>
          <p:spPr>
            <a:xfrm>
              <a:off x="2126028" y="5049976"/>
              <a:ext cx="689908" cy="454433"/>
            </a:xfrm>
            <a:custGeom>
              <a:avLst/>
              <a:gdLst>
                <a:gd name="connsiteX0" fmla="*/ 1399650 w 1399649"/>
                <a:gd name="connsiteY0" fmla="*/ 296417 h 921931"/>
                <a:gd name="connsiteX1" fmla="*/ 638580 w 1399649"/>
                <a:gd name="connsiteY1" fmla="*/ 17140 h 921931"/>
                <a:gd name="connsiteX2" fmla="*/ 1002783 w 1399649"/>
                <a:gd name="connsiteY2" fmla="*/ 281718 h 921931"/>
                <a:gd name="connsiteX3" fmla="*/ 601017 w 1399649"/>
                <a:gd name="connsiteY3" fmla="*/ 590392 h 921931"/>
                <a:gd name="connsiteX4" fmla="*/ 377269 w 1399649"/>
                <a:gd name="connsiteY4" fmla="*/ 559361 h 921931"/>
                <a:gd name="connsiteX5" fmla="*/ 0 w 1399649"/>
                <a:gd name="connsiteY5" fmla="*/ 704716 h 921931"/>
                <a:gd name="connsiteX6" fmla="*/ 635314 w 1399649"/>
                <a:gd name="connsiteY6" fmla="*/ 921931 h 921931"/>
                <a:gd name="connsiteX7" fmla="*/ 1399650 w 1399649"/>
                <a:gd name="connsiteY7" fmla="*/ 296417 h 921931"/>
                <a:gd name="connsiteX8" fmla="*/ 1399650 w 1399649"/>
                <a:gd name="connsiteY8" fmla="*/ 296417 h 921931"/>
              </a:gdLst>
              <a:ahLst/>
              <a:cxnLst/>
              <a:rect l="l" t="t" r="r" b="b"/>
              <a:pathLst>
                <a:path w="1399649" h="921931">
                  <a:moveTo>
                    <a:pt x="1399650" y="296417"/>
                  </a:moveTo>
                  <a:cubicBezTo>
                    <a:pt x="1128539" y="-103717"/>
                    <a:pt x="638580" y="17140"/>
                    <a:pt x="638580" y="17140"/>
                  </a:cubicBezTo>
                  <a:cubicBezTo>
                    <a:pt x="868861" y="17140"/>
                    <a:pt x="1002783" y="136363"/>
                    <a:pt x="1002783" y="281718"/>
                  </a:cubicBezTo>
                  <a:cubicBezTo>
                    <a:pt x="1002783" y="469535"/>
                    <a:pt x="841096" y="590392"/>
                    <a:pt x="601017" y="590392"/>
                  </a:cubicBezTo>
                  <a:cubicBezTo>
                    <a:pt x="527523" y="590392"/>
                    <a:pt x="450762" y="580593"/>
                    <a:pt x="377269" y="559361"/>
                  </a:cubicBezTo>
                  <a:cubicBezTo>
                    <a:pt x="233547" y="516898"/>
                    <a:pt x="78394" y="577327"/>
                    <a:pt x="0" y="704716"/>
                  </a:cubicBezTo>
                  <a:cubicBezTo>
                    <a:pt x="145355" y="838638"/>
                    <a:pt x="367469" y="921931"/>
                    <a:pt x="635314" y="921931"/>
                  </a:cubicBezTo>
                  <a:cubicBezTo>
                    <a:pt x="1051779" y="921931"/>
                    <a:pt x="1399650" y="716148"/>
                    <a:pt x="1399650" y="296417"/>
                  </a:cubicBezTo>
                  <a:cubicBezTo>
                    <a:pt x="1399650" y="296417"/>
                    <a:pt x="1399650" y="296417"/>
                    <a:pt x="1399650" y="296417"/>
                  </a:cubicBezTo>
                  <a:close/>
                </a:path>
              </a:pathLst>
            </a:custGeom>
            <a:gradFill>
              <a:gsLst>
                <a:gs pos="0">
                  <a:schemeClr val="accent1">
                    <a:lumMod val="90000"/>
                    <a:lumOff val="10000"/>
                  </a:schemeClr>
                </a:gs>
                <a:gs pos="98000">
                  <a:schemeClr val="accent1">
                    <a:lumMod val="75000"/>
                  </a:schemeClr>
                </a:gs>
              </a:gsLst>
              <a:lin ang="0" scaled="0"/>
            </a:gradFill>
            <a:ln w="16320" cap="flat">
              <a:noFill/>
              <a:miter/>
            </a:ln>
          </p:spPr>
          <p:txBody>
            <a:bodyPr vert="horz" wrap="square" lIns="91440" tIns="45720" rIns="91440" bIns="45720" rtlCol="0" anchor="ctr"/>
            <a:lstStyle/>
            <a:p>
              <a:pPr algn="l">
                <a:lnSpc>
                  <a:spcPct val="100000"/>
                </a:lnSpc>
              </a:pPr>
              <a:endParaRPr kumimoji="1" lang="zh-CN" altLang="en-US"/>
            </a:p>
          </p:txBody>
        </p:sp>
      </p:grpSp>
      <p:grpSp>
        <p:nvGrpSpPr>
          <p:cNvPr id="18" name="组合 17"/>
          <p:cNvGrpSpPr/>
          <p:nvPr/>
        </p:nvGrpSpPr>
        <p:grpSpPr>
          <a:xfrm>
            <a:off x="6693443" y="4572590"/>
            <a:ext cx="781682" cy="938663"/>
            <a:chOff x="6693443" y="4572590"/>
            <a:chExt cx="781682" cy="938663"/>
          </a:xfrm>
        </p:grpSpPr>
        <p:sp>
          <p:nvSpPr>
            <p:cNvPr id="19" name="标题 1"/>
            <p:cNvSpPr txBox="1"/>
            <p:nvPr/>
          </p:nvSpPr>
          <p:spPr>
            <a:xfrm>
              <a:off x="6693443" y="4572590"/>
              <a:ext cx="781682" cy="938663"/>
            </a:xfrm>
            <a:custGeom>
              <a:avLst/>
              <a:gdLst>
                <a:gd name="connsiteX0" fmla="*/ 868861 w 1585833"/>
                <a:gd name="connsiteY0" fmla="*/ 1548271 h 1904307"/>
                <a:gd name="connsiteX1" fmla="*/ 0 w 1585833"/>
                <a:gd name="connsiteY1" fmla="*/ 1548271 h 1904307"/>
                <a:gd name="connsiteX2" fmla="*/ 0 w 1585833"/>
                <a:gd name="connsiteY2" fmla="*/ 1548271 h 1904307"/>
                <a:gd name="connsiteX3" fmla="*/ 122490 w 1585833"/>
                <a:gd name="connsiteY3" fmla="*/ 1059945 h 1904307"/>
                <a:gd name="connsiteX4" fmla="*/ 692475 w 1585833"/>
                <a:gd name="connsiteY4" fmla="*/ 0 h 1904307"/>
                <a:gd name="connsiteX5" fmla="*/ 692475 w 1585833"/>
                <a:gd name="connsiteY5" fmla="*/ 0 h 1904307"/>
                <a:gd name="connsiteX6" fmla="*/ 842730 w 1585833"/>
                <a:gd name="connsiteY6" fmla="*/ 473627 h 1904307"/>
                <a:gd name="connsiteX7" fmla="*/ 447496 w 1585833"/>
                <a:gd name="connsiteY7" fmla="*/ 1208566 h 1904307"/>
                <a:gd name="connsiteX8" fmla="*/ 868861 w 1585833"/>
                <a:gd name="connsiteY8" fmla="*/ 1208566 h 1904307"/>
                <a:gd name="connsiteX9" fmla="*/ 868861 w 1585833"/>
                <a:gd name="connsiteY9" fmla="*/ 1174269 h 1904307"/>
                <a:gd name="connsiteX10" fmla="*/ 1236330 w 1585833"/>
                <a:gd name="connsiteY10" fmla="*/ 806799 h 1904307"/>
                <a:gd name="connsiteX11" fmla="*/ 1236330 w 1585833"/>
                <a:gd name="connsiteY11" fmla="*/ 806799 h 1904307"/>
                <a:gd name="connsiteX12" fmla="*/ 1236330 w 1585833"/>
                <a:gd name="connsiteY12" fmla="*/ 1208566 h 1904307"/>
                <a:gd name="connsiteX13" fmla="*/ 1585834 w 1585833"/>
                <a:gd name="connsiteY13" fmla="*/ 1208566 h 1904307"/>
                <a:gd name="connsiteX14" fmla="*/ 1585834 w 1585833"/>
                <a:gd name="connsiteY14" fmla="*/ 1208566 h 1904307"/>
                <a:gd name="connsiteX15" fmla="*/ 1246129 w 1585833"/>
                <a:gd name="connsiteY15" fmla="*/ 1548271 h 1904307"/>
                <a:gd name="connsiteX16" fmla="*/ 1236330 w 1585833"/>
                <a:gd name="connsiteY16" fmla="*/ 1548271 h 1904307"/>
                <a:gd name="connsiteX17" fmla="*/ 1236330 w 1585833"/>
                <a:gd name="connsiteY17" fmla="*/ 1904308 h 1904307"/>
                <a:gd name="connsiteX18" fmla="*/ 1224898 w 1585833"/>
                <a:gd name="connsiteY18" fmla="*/ 1904308 h 1904307"/>
                <a:gd name="connsiteX19" fmla="*/ 868861 w 1585833"/>
                <a:gd name="connsiteY19" fmla="*/ 1548271 h 1904307"/>
                <a:gd name="connsiteX20" fmla="*/ 868861 w 1585833"/>
                <a:gd name="connsiteY20" fmla="*/ 1548271 h 1904307"/>
              </a:gdLst>
              <a:ahLst/>
              <a:cxnLst/>
              <a:rect l="l" t="t" r="r" b="b"/>
              <a:pathLst>
                <a:path w="1585833" h="1904307">
                  <a:moveTo>
                    <a:pt x="868861" y="1548271"/>
                  </a:moveTo>
                  <a:lnTo>
                    <a:pt x="0" y="1548271"/>
                  </a:lnTo>
                  <a:lnTo>
                    <a:pt x="0" y="1548271"/>
                  </a:lnTo>
                  <a:cubicBezTo>
                    <a:pt x="0" y="1378418"/>
                    <a:pt x="42463" y="1210199"/>
                    <a:pt x="122490" y="1059945"/>
                  </a:cubicBezTo>
                  <a:lnTo>
                    <a:pt x="692475" y="0"/>
                  </a:lnTo>
                  <a:lnTo>
                    <a:pt x="692475" y="0"/>
                  </a:lnTo>
                  <a:cubicBezTo>
                    <a:pt x="867228" y="88193"/>
                    <a:pt x="935822" y="302141"/>
                    <a:pt x="842730" y="473627"/>
                  </a:cubicBezTo>
                  <a:lnTo>
                    <a:pt x="447496" y="1208566"/>
                  </a:lnTo>
                  <a:lnTo>
                    <a:pt x="868861" y="1208566"/>
                  </a:lnTo>
                  <a:lnTo>
                    <a:pt x="868861" y="1174269"/>
                  </a:lnTo>
                  <a:cubicBezTo>
                    <a:pt x="868861" y="971752"/>
                    <a:pt x="1033813" y="806799"/>
                    <a:pt x="1236330" y="806799"/>
                  </a:cubicBezTo>
                  <a:lnTo>
                    <a:pt x="1236330" y="806799"/>
                  </a:lnTo>
                  <a:lnTo>
                    <a:pt x="1236330" y="1208566"/>
                  </a:lnTo>
                  <a:lnTo>
                    <a:pt x="1585834" y="1208566"/>
                  </a:lnTo>
                  <a:lnTo>
                    <a:pt x="1585834" y="1208566"/>
                  </a:lnTo>
                  <a:cubicBezTo>
                    <a:pt x="1585834" y="1396383"/>
                    <a:pt x="1433947" y="1548271"/>
                    <a:pt x="1246129" y="1548271"/>
                  </a:cubicBezTo>
                  <a:lnTo>
                    <a:pt x="1236330" y="1548271"/>
                  </a:lnTo>
                  <a:lnTo>
                    <a:pt x="1236330" y="1904308"/>
                  </a:lnTo>
                  <a:lnTo>
                    <a:pt x="1224898" y="1904308"/>
                  </a:lnTo>
                  <a:cubicBezTo>
                    <a:pt x="1028914" y="1904308"/>
                    <a:pt x="868861" y="1744254"/>
                    <a:pt x="868861" y="1548271"/>
                  </a:cubicBezTo>
                  <a:lnTo>
                    <a:pt x="868861" y="1548271"/>
                  </a:lnTo>
                  <a:close/>
                </a:path>
              </a:pathLst>
            </a:custGeom>
            <a:gradFill>
              <a:gsLst>
                <a:gs pos="0">
                  <a:schemeClr val="accent1">
                    <a:lumMod val="75000"/>
                    <a:lumOff val="25000"/>
                  </a:schemeClr>
                </a:gs>
                <a:gs pos="98000">
                  <a:schemeClr val="accent1"/>
                </a:gs>
              </a:gsLst>
              <a:lin ang="10800000" scaled="0"/>
            </a:gradFill>
            <a:ln w="16320" cap="flat">
              <a:noFill/>
              <a:miter/>
            </a:ln>
          </p:spPr>
          <p:txBody>
            <a:bodyPr vert="horz" wrap="square" lIns="91440" tIns="45720" rIns="91440" bIns="45720" rtlCol="0" anchor="ctr"/>
            <a:lstStyle/>
            <a:p>
              <a:pPr algn="l">
                <a:lnSpc>
                  <a:spcPct val="100000"/>
                </a:lnSpc>
              </a:pPr>
              <a:endParaRPr kumimoji="1" lang="zh-CN" altLang="en-US"/>
            </a:p>
          </p:txBody>
        </p:sp>
        <p:sp>
          <p:nvSpPr>
            <p:cNvPr id="20" name="标题 1"/>
            <p:cNvSpPr txBox="1"/>
            <p:nvPr/>
          </p:nvSpPr>
          <p:spPr>
            <a:xfrm>
              <a:off x="6796508" y="4572590"/>
              <a:ext cx="332851" cy="595721"/>
            </a:xfrm>
            <a:custGeom>
              <a:avLst/>
              <a:gdLst>
                <a:gd name="connsiteX0" fmla="*/ 238404 w 675270"/>
                <a:gd name="connsiteY0" fmla="*/ 1208566 h 1208565"/>
                <a:gd name="connsiteX1" fmla="*/ 238404 w 675270"/>
                <a:gd name="connsiteY1" fmla="*/ 1208566 h 1208565"/>
                <a:gd name="connsiteX2" fmla="*/ 633638 w 675270"/>
                <a:gd name="connsiteY2" fmla="*/ 473627 h 1208565"/>
                <a:gd name="connsiteX3" fmla="*/ 483383 w 675270"/>
                <a:gd name="connsiteY3" fmla="*/ 0 h 1208565"/>
                <a:gd name="connsiteX4" fmla="*/ 483383 w 675270"/>
                <a:gd name="connsiteY4" fmla="*/ 0 h 1208565"/>
                <a:gd name="connsiteX5" fmla="*/ 27722 w 675270"/>
                <a:gd name="connsiteY5" fmla="*/ 860695 h 1208565"/>
                <a:gd name="connsiteX6" fmla="*/ 238404 w 675270"/>
                <a:gd name="connsiteY6" fmla="*/ 1208566 h 1208565"/>
              </a:gdLst>
              <a:ahLst/>
              <a:cxnLst/>
              <a:rect l="l" t="t" r="r" b="b"/>
              <a:pathLst>
                <a:path w="675270" h="1208565">
                  <a:moveTo>
                    <a:pt x="238404" y="1208566"/>
                  </a:moveTo>
                  <a:lnTo>
                    <a:pt x="238404" y="1208566"/>
                  </a:lnTo>
                  <a:lnTo>
                    <a:pt x="633638" y="473627"/>
                  </a:lnTo>
                  <a:cubicBezTo>
                    <a:pt x="726730" y="302141"/>
                    <a:pt x="658136" y="86559"/>
                    <a:pt x="483383" y="0"/>
                  </a:cubicBezTo>
                  <a:lnTo>
                    <a:pt x="483383" y="0"/>
                  </a:lnTo>
                  <a:cubicBezTo>
                    <a:pt x="483383" y="0"/>
                    <a:pt x="215539" y="503025"/>
                    <a:pt x="27722" y="860695"/>
                  </a:cubicBezTo>
                  <a:cubicBezTo>
                    <a:pt x="-55571" y="1019115"/>
                    <a:pt x="58752" y="1208566"/>
                    <a:pt x="238404" y="1208566"/>
                  </a:cubicBezTo>
                  <a:close/>
                </a:path>
              </a:pathLst>
            </a:custGeom>
            <a:gradFill>
              <a:gsLst>
                <a:gs pos="0">
                  <a:schemeClr val="accent1">
                    <a:lumMod val="90000"/>
                    <a:lumOff val="10000"/>
                  </a:schemeClr>
                </a:gs>
                <a:gs pos="98000">
                  <a:schemeClr val="accent1">
                    <a:lumMod val="75000"/>
                  </a:schemeClr>
                </a:gs>
              </a:gsLst>
              <a:lin ang="5400000" scaled="0"/>
            </a:gradFill>
            <a:ln w="16320" cap="flat">
              <a:noFill/>
              <a:miter/>
            </a:ln>
          </p:spPr>
          <p:txBody>
            <a:bodyPr vert="horz" wrap="square" lIns="91440" tIns="45720" rIns="91440" bIns="45720" rtlCol="0" anchor="ctr"/>
            <a:lstStyle/>
            <a:p>
              <a:pPr algn="l">
                <a:lnSpc>
                  <a:spcPct val="100000"/>
                </a:lnSpc>
              </a:pPr>
              <a:endParaRPr kumimoji="1" lang="zh-CN" altLang="en-US"/>
            </a:p>
          </p:txBody>
        </p:sp>
        <p:sp>
          <p:nvSpPr>
            <p:cNvPr id="21" name="标题 1"/>
            <p:cNvSpPr txBox="1"/>
            <p:nvPr/>
          </p:nvSpPr>
          <p:spPr>
            <a:xfrm>
              <a:off x="7121718" y="4970274"/>
              <a:ext cx="181131" cy="198037"/>
            </a:xfrm>
            <a:custGeom>
              <a:avLst/>
              <a:gdLst>
                <a:gd name="connsiteX0" fmla="*/ 367469 w 367469"/>
                <a:gd name="connsiteY0" fmla="*/ 0 h 401766"/>
                <a:gd name="connsiteX1" fmla="*/ 0 w 367469"/>
                <a:gd name="connsiteY1" fmla="*/ 367469 h 401766"/>
                <a:gd name="connsiteX2" fmla="*/ 0 w 367469"/>
                <a:gd name="connsiteY2" fmla="*/ 401766 h 401766"/>
                <a:gd name="connsiteX3" fmla="*/ 107791 w 367469"/>
                <a:gd name="connsiteY3" fmla="*/ 401766 h 401766"/>
                <a:gd name="connsiteX4" fmla="*/ 367469 w 367469"/>
                <a:gd name="connsiteY4" fmla="*/ 142088 h 401766"/>
                <a:gd name="connsiteX5" fmla="*/ 367469 w 367469"/>
                <a:gd name="connsiteY5" fmla="*/ 0 h 401766"/>
              </a:gdLst>
              <a:ahLst/>
              <a:cxnLst/>
              <a:rect l="l" t="t" r="r" b="b"/>
              <a:pathLst>
                <a:path w="367469" h="401766">
                  <a:moveTo>
                    <a:pt x="367469" y="0"/>
                  </a:moveTo>
                  <a:cubicBezTo>
                    <a:pt x="164952" y="0"/>
                    <a:pt x="0" y="164953"/>
                    <a:pt x="0" y="367469"/>
                  </a:cubicBezTo>
                  <a:lnTo>
                    <a:pt x="0" y="401766"/>
                  </a:lnTo>
                  <a:lnTo>
                    <a:pt x="107791" y="401766"/>
                  </a:lnTo>
                  <a:cubicBezTo>
                    <a:pt x="251512" y="401766"/>
                    <a:pt x="367469" y="285809"/>
                    <a:pt x="367469" y="142088"/>
                  </a:cubicBezTo>
                  <a:lnTo>
                    <a:pt x="367469" y="0"/>
                  </a:lnTo>
                  <a:close/>
                </a:path>
              </a:pathLst>
            </a:custGeom>
            <a:gradFill>
              <a:gsLst>
                <a:gs pos="0">
                  <a:schemeClr val="accent1">
                    <a:lumMod val="90000"/>
                    <a:lumOff val="10000"/>
                  </a:schemeClr>
                </a:gs>
                <a:gs pos="98000">
                  <a:schemeClr val="accent1">
                    <a:lumMod val="75000"/>
                  </a:schemeClr>
                </a:gs>
              </a:gsLst>
              <a:lin ang="5400000" scaled="0"/>
            </a:gradFill>
            <a:ln w="16320" cap="flat">
              <a:noFill/>
              <a:miter/>
            </a:ln>
          </p:spPr>
          <p:txBody>
            <a:bodyPr vert="horz" wrap="square" lIns="91440" tIns="45720" rIns="91440" bIns="45720" rtlCol="0" anchor="ctr"/>
            <a:lstStyle/>
            <a:p>
              <a:pPr algn="l">
                <a:lnSpc>
                  <a:spcPct val="100000"/>
                </a:lnSpc>
              </a:pPr>
              <a:endParaRPr kumimoji="1" lang="zh-CN" altLang="en-US"/>
            </a:p>
          </p:txBody>
        </p:sp>
      </p:grpSp>
      <p:grpSp>
        <p:nvGrpSpPr>
          <p:cNvPr id="22" name="组合 21"/>
          <p:cNvGrpSpPr/>
          <p:nvPr/>
        </p:nvGrpSpPr>
        <p:grpSpPr>
          <a:xfrm>
            <a:off x="2209560" y="2366100"/>
            <a:ext cx="522844" cy="1014298"/>
            <a:chOff x="2209560" y="2366100"/>
            <a:chExt cx="522844" cy="1014298"/>
          </a:xfrm>
        </p:grpSpPr>
        <p:sp>
          <p:nvSpPr>
            <p:cNvPr id="23" name="标题 1"/>
            <p:cNvSpPr txBox="1"/>
            <p:nvPr/>
          </p:nvSpPr>
          <p:spPr>
            <a:xfrm>
              <a:off x="2209560" y="2366100"/>
              <a:ext cx="522843" cy="1014298"/>
            </a:xfrm>
            <a:custGeom>
              <a:avLst/>
              <a:gdLst>
                <a:gd name="connsiteX0" fmla="*/ 569986 w 952153"/>
                <a:gd name="connsiteY0" fmla="*/ 493225 h 1847145"/>
                <a:gd name="connsiteX1" fmla="*/ 437697 w 952153"/>
                <a:gd name="connsiteY1" fmla="*/ 579785 h 1847145"/>
                <a:gd name="connsiteX2" fmla="*/ 0 w 952153"/>
                <a:gd name="connsiteY2" fmla="*/ 485060 h 1847145"/>
                <a:gd name="connsiteX3" fmla="*/ 0 w 952153"/>
                <a:gd name="connsiteY3" fmla="*/ 485060 h 1847145"/>
                <a:gd name="connsiteX4" fmla="*/ 610816 w 952153"/>
                <a:gd name="connsiteY4" fmla="*/ 0 h 1847145"/>
                <a:gd name="connsiteX5" fmla="*/ 952154 w 952153"/>
                <a:gd name="connsiteY5" fmla="*/ 0 h 1847145"/>
                <a:gd name="connsiteX6" fmla="*/ 952154 w 952153"/>
                <a:gd name="connsiteY6" fmla="*/ 1847146 h 1847145"/>
                <a:gd name="connsiteX7" fmla="*/ 952154 w 952153"/>
                <a:gd name="connsiteY7" fmla="*/ 1847146 h 1847145"/>
                <a:gd name="connsiteX8" fmla="*/ 569986 w 952153"/>
                <a:gd name="connsiteY8" fmla="*/ 1464978 h 1847145"/>
                <a:gd name="connsiteX9" fmla="*/ 569986 w 952153"/>
                <a:gd name="connsiteY9" fmla="*/ 493225 h 1847145"/>
              </a:gdLst>
              <a:ahLst/>
              <a:cxnLst/>
              <a:rect l="l" t="t" r="r" b="b"/>
              <a:pathLst>
                <a:path w="952153" h="1847145">
                  <a:moveTo>
                    <a:pt x="569986" y="493225"/>
                  </a:moveTo>
                  <a:lnTo>
                    <a:pt x="437697" y="579785"/>
                  </a:lnTo>
                  <a:cubicBezTo>
                    <a:pt x="290709" y="674510"/>
                    <a:pt x="94725" y="632047"/>
                    <a:pt x="0" y="485060"/>
                  </a:cubicBezTo>
                  <a:lnTo>
                    <a:pt x="0" y="485060"/>
                  </a:lnTo>
                  <a:lnTo>
                    <a:pt x="610816" y="0"/>
                  </a:lnTo>
                  <a:lnTo>
                    <a:pt x="952154" y="0"/>
                  </a:lnTo>
                  <a:lnTo>
                    <a:pt x="952154" y="1847146"/>
                  </a:lnTo>
                  <a:lnTo>
                    <a:pt x="952154" y="1847146"/>
                  </a:lnTo>
                  <a:cubicBezTo>
                    <a:pt x="741471" y="1847146"/>
                    <a:pt x="569986" y="1675660"/>
                    <a:pt x="569986" y="1464978"/>
                  </a:cubicBezTo>
                  <a:lnTo>
                    <a:pt x="569986" y="493225"/>
                  </a:lnTo>
                  <a:close/>
                </a:path>
              </a:pathLst>
            </a:custGeom>
            <a:gradFill>
              <a:gsLst>
                <a:gs pos="0">
                  <a:schemeClr val="accent1">
                    <a:lumMod val="75000"/>
                    <a:lumOff val="25000"/>
                  </a:schemeClr>
                </a:gs>
                <a:gs pos="98000">
                  <a:schemeClr val="accent1"/>
                </a:gs>
              </a:gsLst>
              <a:lin ang="5400000" scaled="0"/>
            </a:gradFill>
            <a:ln w="37936" cap="flat">
              <a:noFill/>
              <a:miter/>
            </a:ln>
          </p:spPr>
          <p:txBody>
            <a:bodyPr vert="horz" wrap="square" lIns="91440" tIns="45720" rIns="91440" bIns="45720" rtlCol="0" anchor="ctr"/>
            <a:lstStyle/>
            <a:p>
              <a:pPr algn="l">
                <a:lnSpc>
                  <a:spcPct val="100000"/>
                </a:lnSpc>
              </a:pPr>
              <a:endParaRPr kumimoji="1" lang="zh-CN" altLang="en-US"/>
            </a:p>
          </p:txBody>
        </p:sp>
        <p:sp>
          <p:nvSpPr>
            <p:cNvPr id="24" name="标题 1"/>
            <p:cNvSpPr txBox="1"/>
            <p:nvPr/>
          </p:nvSpPr>
          <p:spPr>
            <a:xfrm>
              <a:off x="2522549" y="2608626"/>
              <a:ext cx="209855" cy="771772"/>
            </a:xfrm>
            <a:custGeom>
              <a:avLst/>
              <a:gdLst>
                <a:gd name="connsiteX0" fmla="*/ 0 w 382168"/>
                <a:gd name="connsiteY0" fmla="*/ 1023312 h 1405479"/>
                <a:gd name="connsiteX1" fmla="*/ 382168 w 382168"/>
                <a:gd name="connsiteY1" fmla="*/ 1405480 h 1405479"/>
                <a:gd name="connsiteX2" fmla="*/ 382168 w 382168"/>
                <a:gd name="connsiteY2" fmla="*/ 236111 h 1405479"/>
                <a:gd name="connsiteX3" fmla="*/ 0 w 382168"/>
                <a:gd name="connsiteY3" fmla="*/ 51559 h 1405479"/>
                <a:gd name="connsiteX4" fmla="*/ 0 w 382168"/>
                <a:gd name="connsiteY4" fmla="*/ 51559 h 1405479"/>
                <a:gd name="connsiteX5" fmla="*/ 0 w 382168"/>
                <a:gd name="connsiteY5" fmla="*/ 1023312 h 1405479"/>
              </a:gdLst>
              <a:ahLst/>
              <a:cxnLst/>
              <a:rect l="l" t="t" r="r" b="b"/>
              <a:pathLst>
                <a:path w="382168" h="1405479">
                  <a:moveTo>
                    <a:pt x="0" y="1023312"/>
                  </a:moveTo>
                  <a:cubicBezTo>
                    <a:pt x="0" y="1233994"/>
                    <a:pt x="171486" y="1405480"/>
                    <a:pt x="382168" y="1405480"/>
                  </a:cubicBezTo>
                  <a:lnTo>
                    <a:pt x="382168" y="236111"/>
                  </a:lnTo>
                  <a:cubicBezTo>
                    <a:pt x="382168" y="38494"/>
                    <a:pt x="155154" y="-70930"/>
                    <a:pt x="0" y="51559"/>
                  </a:cubicBezTo>
                  <a:lnTo>
                    <a:pt x="0" y="51559"/>
                  </a:lnTo>
                  <a:lnTo>
                    <a:pt x="0" y="1023312"/>
                  </a:lnTo>
                  <a:close/>
                </a:path>
              </a:pathLst>
            </a:custGeom>
            <a:gradFill>
              <a:gsLst>
                <a:gs pos="0">
                  <a:schemeClr val="accent1">
                    <a:lumMod val="75000"/>
                  </a:schemeClr>
                </a:gs>
                <a:gs pos="98000">
                  <a:schemeClr val="accent1"/>
                </a:gs>
              </a:gsLst>
              <a:lin ang="5400000" scaled="0"/>
            </a:gradFill>
            <a:ln w="37936" cap="flat">
              <a:noFill/>
              <a:miter/>
            </a:ln>
          </p:spPr>
          <p:txBody>
            <a:bodyPr vert="horz" wrap="square" lIns="91440" tIns="45720" rIns="91440" bIns="45720" rtlCol="0" anchor="ctr"/>
            <a:lstStyle/>
            <a:p>
              <a:pPr algn="l">
                <a:lnSpc>
                  <a:spcPct val="100000"/>
                </a:lnSpc>
              </a:pPr>
              <a:endParaRPr kumimoji="1" lang="zh-CN" altLang="en-US"/>
            </a:p>
          </p:txBody>
        </p:sp>
      </p:grpSp>
      <p:sp>
        <p:nvSpPr>
          <p:cNvPr id="25" name="标题 1"/>
          <p:cNvSpPr txBox="1"/>
          <p:nvPr/>
        </p:nvSpPr>
        <p:spPr>
          <a:xfrm>
            <a:off x="3604315" y="1067820"/>
            <a:ext cx="5283200" cy="599440"/>
          </a:xfrm>
          <a:prstGeom prst="rect">
            <a:avLst/>
          </a:prstGeom>
          <a:noFill/>
          <a:ln>
            <a:noFill/>
          </a:ln>
        </p:spPr>
        <p:txBody>
          <a:bodyPr vert="horz" wrap="square" lIns="91440" tIns="45720" rIns="91440" bIns="45720" rtlCol="0" anchor="t">
            <a:spAutoFit/>
          </a:bodyPr>
          <a:lstStyle/>
          <a:p>
            <a:pPr algn="dist">
              <a:lnSpc>
                <a:spcPct val="100000"/>
              </a:lnSpc>
            </a:pPr>
            <a:r>
              <a:rPr kumimoji="1" lang="en-US" altLang="zh-CN" sz="4000">
                <a:ln w="12700">
                  <a:solidFill>
                    <a:srgbClr val="FFFFFF">
                      <a:alpha val="50000"/>
                    </a:srgbClr>
                  </a:solidFill>
                </a:ln>
                <a:noFill/>
                <a:latin typeface="OPPOSans R" panose="00020600040101010101" charset="-122"/>
                <a:ea typeface="OPPOSans R" panose="00020600040101010101" charset="-122"/>
                <a:cs typeface="OPPOSans R" panose="00020600040101010101" charset="-122"/>
              </a:rPr>
              <a:t>CONTENTS</a:t>
            </a:r>
            <a:endParaRPr kumimoji="1" lang="zh-CN" altLang="en-US"/>
          </a:p>
        </p:txBody>
      </p:sp>
      <p:sp>
        <p:nvSpPr>
          <p:cNvPr id="26" name="标题 1"/>
          <p:cNvSpPr txBox="1"/>
          <p:nvPr/>
        </p:nvSpPr>
        <p:spPr>
          <a:xfrm>
            <a:off x="3033184" y="2166509"/>
            <a:ext cx="2618586" cy="1413482"/>
          </a:xfrm>
          <a:prstGeom prst="rect">
            <a:avLst/>
          </a:prstGeom>
          <a:noFill/>
          <a:ln>
            <a:noFill/>
          </a:ln>
        </p:spPr>
        <p:txBody>
          <a:bodyPr vert="horz" wrap="square" lIns="91440" tIns="45720" rIns="91440" bIns="45720" rtlCol="0" anchor="ctr"/>
          <a:lstStyle/>
          <a:p>
            <a:pPr algn="l">
              <a:lnSpc>
                <a:spcPct val="120000"/>
              </a:lnSpc>
            </a:pPr>
            <a:r>
              <a:rPr kumimoji="1" lang="en-US" altLang="zh-CN" sz="2200">
                <a:ln w="12700">
                  <a:noFill/>
                </a:ln>
                <a:gradFill>
                  <a:gsLst>
                    <a:gs pos="0">
                      <a:srgbClr val="B78401">
                        <a:alpha val="100000"/>
                      </a:srgbClr>
                    </a:gs>
                    <a:gs pos="98000">
                      <a:srgbClr val="F4B002">
                        <a:alpha val="100000"/>
                      </a:srgbClr>
                    </a:gs>
                  </a:gsLst>
                  <a:lin ang="0" scaled="0"/>
                </a:gradFill>
                <a:latin typeface="OPPOSans H" panose="00020600040101010101" charset="-122"/>
                <a:ea typeface="OPPOSans H" panose="00020600040101010101" charset="-122"/>
                <a:cs typeface="OPPOSans H" panose="00020600040101010101" charset="-122"/>
              </a:rPr>
              <a:t>实验目的与内容</a:t>
            </a:r>
            <a:endParaRPr kumimoji="1" lang="zh-CN" altLang="en-US"/>
          </a:p>
        </p:txBody>
      </p:sp>
      <p:sp>
        <p:nvSpPr>
          <p:cNvPr id="27" name="标题 1"/>
          <p:cNvSpPr txBox="1"/>
          <p:nvPr/>
        </p:nvSpPr>
        <p:spPr>
          <a:xfrm>
            <a:off x="7695167" y="2166509"/>
            <a:ext cx="2618586" cy="1413482"/>
          </a:xfrm>
          <a:prstGeom prst="rect">
            <a:avLst/>
          </a:prstGeom>
          <a:noFill/>
          <a:ln>
            <a:noFill/>
          </a:ln>
        </p:spPr>
        <p:txBody>
          <a:bodyPr vert="horz" wrap="square" lIns="91440" tIns="45720" rIns="91440" bIns="45720" rtlCol="0" anchor="ctr"/>
          <a:lstStyle/>
          <a:p>
            <a:pPr algn="l">
              <a:lnSpc>
                <a:spcPct val="120000"/>
              </a:lnSpc>
            </a:pPr>
            <a:r>
              <a:rPr kumimoji="1" lang="en-US" altLang="zh-CN" sz="2200">
                <a:ln w="12700">
                  <a:noFill/>
                </a:ln>
                <a:gradFill>
                  <a:gsLst>
                    <a:gs pos="0">
                      <a:srgbClr val="B78401">
                        <a:alpha val="100000"/>
                      </a:srgbClr>
                    </a:gs>
                    <a:gs pos="98000">
                      <a:srgbClr val="F4B002">
                        <a:alpha val="100000"/>
                      </a:srgbClr>
                    </a:gs>
                  </a:gsLst>
                  <a:lin ang="0" scaled="0"/>
                </a:gradFill>
                <a:latin typeface="OPPOSans H" panose="00020600040101010101" charset="-122"/>
                <a:ea typeface="OPPOSans H" panose="00020600040101010101" charset="-122"/>
                <a:cs typeface="OPPOSans H" panose="00020600040101010101" charset="-122"/>
              </a:rPr>
              <a:t>实验步骤与结果</a:t>
            </a:r>
            <a:endParaRPr kumimoji="1" lang="zh-CN" altLang="en-US"/>
          </a:p>
        </p:txBody>
      </p:sp>
      <p:sp>
        <p:nvSpPr>
          <p:cNvPr id="28" name="标题 1"/>
          <p:cNvSpPr txBox="1"/>
          <p:nvPr/>
        </p:nvSpPr>
        <p:spPr>
          <a:xfrm>
            <a:off x="3033184" y="4335181"/>
            <a:ext cx="2618586" cy="1413482"/>
          </a:xfrm>
          <a:prstGeom prst="rect">
            <a:avLst/>
          </a:prstGeom>
          <a:noFill/>
          <a:ln>
            <a:noFill/>
          </a:ln>
        </p:spPr>
        <p:txBody>
          <a:bodyPr vert="horz" wrap="square" lIns="91440" tIns="45720" rIns="91440" bIns="45720" rtlCol="0" anchor="ctr"/>
          <a:lstStyle/>
          <a:p>
            <a:pPr algn="l">
              <a:lnSpc>
                <a:spcPct val="120000"/>
              </a:lnSpc>
            </a:pPr>
            <a:r>
              <a:rPr kumimoji="1" lang="zh-CN" altLang="en-US" sz="2200">
                <a:ln w="12700">
                  <a:noFill/>
                </a:ln>
                <a:gradFill>
                  <a:gsLst>
                    <a:gs pos="0">
                      <a:srgbClr val="B78401">
                        <a:alpha val="100000"/>
                      </a:srgbClr>
                    </a:gs>
                    <a:gs pos="98000">
                      <a:srgbClr val="F4B002">
                        <a:alpha val="100000"/>
                      </a:srgbClr>
                    </a:gs>
                  </a:gsLst>
                  <a:lin ang="0" scaled="0"/>
                </a:gradFill>
                <a:latin typeface="OPPOSans H" panose="00020600040101010101" charset="-122"/>
                <a:ea typeface="OPPOSans H" panose="00020600040101010101" charset="-122"/>
                <a:cs typeface="OPPOSans H" panose="00020600040101010101" charset="-122"/>
              </a:rPr>
              <a:t>算法效率与性能分析</a:t>
            </a:r>
            <a:endParaRPr kumimoji="1" lang="zh-CN" altLang="en-US" sz="2200">
              <a:ln w="12700">
                <a:noFill/>
              </a:ln>
              <a:gradFill>
                <a:gsLst>
                  <a:gs pos="0">
                    <a:srgbClr val="B78401">
                      <a:alpha val="100000"/>
                    </a:srgbClr>
                  </a:gs>
                  <a:gs pos="98000">
                    <a:srgbClr val="F4B002">
                      <a:alpha val="100000"/>
                    </a:srgbClr>
                  </a:gs>
                </a:gsLst>
                <a:lin ang="0" scaled="0"/>
              </a:gradFill>
              <a:latin typeface="OPPOSans H" panose="00020600040101010101" charset="-122"/>
              <a:ea typeface="OPPOSans H" panose="00020600040101010101" charset="-122"/>
              <a:cs typeface="OPPOSans H" panose="00020600040101010101" charset="-122"/>
            </a:endParaRPr>
          </a:p>
        </p:txBody>
      </p:sp>
      <p:sp>
        <p:nvSpPr>
          <p:cNvPr id="29" name="标题 1"/>
          <p:cNvSpPr txBox="1"/>
          <p:nvPr/>
        </p:nvSpPr>
        <p:spPr>
          <a:xfrm>
            <a:off x="7615662" y="4335181"/>
            <a:ext cx="2698092" cy="1413482"/>
          </a:xfrm>
          <a:prstGeom prst="rect">
            <a:avLst/>
          </a:prstGeom>
          <a:noFill/>
          <a:ln>
            <a:noFill/>
          </a:ln>
        </p:spPr>
        <p:txBody>
          <a:bodyPr vert="horz" wrap="square" lIns="91440" tIns="45720" rIns="91440" bIns="45720" rtlCol="0" anchor="ctr"/>
          <a:lstStyle/>
          <a:p>
            <a:pPr algn="l">
              <a:lnSpc>
                <a:spcPct val="120000"/>
              </a:lnSpc>
            </a:pPr>
            <a:r>
              <a:rPr kumimoji="1" lang="en-US" altLang="zh-CN" sz="2200">
                <a:ln w="12700">
                  <a:noFill/>
                </a:ln>
                <a:gradFill>
                  <a:gsLst>
                    <a:gs pos="0">
                      <a:srgbClr val="B78401">
                        <a:alpha val="100000"/>
                      </a:srgbClr>
                    </a:gs>
                    <a:gs pos="98000">
                      <a:srgbClr val="F4B002">
                        <a:alpha val="100000"/>
                      </a:srgbClr>
                    </a:gs>
                  </a:gsLst>
                  <a:lin ang="0" scaled="0"/>
                </a:gradFill>
                <a:latin typeface="OPPOSans H" panose="00020600040101010101" charset="-122"/>
                <a:ea typeface="OPPOSans H" panose="00020600040101010101" charset="-122"/>
                <a:cs typeface="OPPOSans H" panose="00020600040101010101" charset="-122"/>
              </a:rPr>
              <a:t>实验心得与总结</a:t>
            </a:r>
            <a:endParaRPr kumimoji="1" lang="zh-CN" altLang="en-US"/>
          </a:p>
        </p:txBody>
      </p:sp>
      <p:sp>
        <p:nvSpPr>
          <p:cNvPr id="30" name="标题 1"/>
          <p:cNvSpPr txBox="1"/>
          <p:nvPr/>
        </p:nvSpPr>
        <p:spPr>
          <a:xfrm>
            <a:off x="4533450" y="377463"/>
            <a:ext cx="3137350" cy="1323439"/>
          </a:xfrm>
          <a:prstGeom prst="rect">
            <a:avLst/>
          </a:prstGeom>
          <a:noFill/>
          <a:ln>
            <a:noFill/>
          </a:ln>
        </p:spPr>
        <p:txBody>
          <a:bodyPr vert="horz" wrap="square" lIns="91440" tIns="45720" rIns="91440" bIns="45720" rtlCol="0" anchor="t"/>
          <a:lstStyle/>
          <a:p>
            <a:pPr algn="ctr">
              <a:lnSpc>
                <a:spcPct val="100000"/>
              </a:lnSpc>
            </a:pPr>
            <a:r>
              <a:rPr kumimoji="1" lang="en-US" altLang="zh-CN" sz="80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目</a:t>
            </a:r>
            <a:r>
              <a:rPr kumimoji="1" lang="en-US" altLang="zh-CN" sz="48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 </a:t>
            </a:r>
            <a:r>
              <a:rPr kumimoji="1" lang="en-US" altLang="zh-CN" sz="80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录</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3306"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8000000" flipH="1">
            <a:off x="287186"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597817" y="980729"/>
            <a:ext cx="8944824" cy="4683786"/>
          </a:xfrm>
          <a:prstGeom prst="roundRect">
            <a:avLst>
              <a:gd name="adj" fmla="val 5739"/>
            </a:avLst>
          </a:prstGeom>
          <a:gradFill>
            <a:gsLst>
              <a:gs pos="0">
                <a:schemeClr val="accent1">
                  <a:lumMod val="20000"/>
                  <a:lumOff val="80000"/>
                </a:schemeClr>
              </a:gs>
              <a:gs pos="99000">
                <a:schemeClr val="bg1"/>
              </a:gs>
            </a:gsLst>
            <a:lin ang="16200000" scaled="0"/>
          </a:gradFill>
          <a:ln w="57150" cap="sq">
            <a:solidFill>
              <a:schemeClr val="accent1">
                <a:lumMod val="20000"/>
                <a:lumOff val="80000"/>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7252114" y="6228784"/>
            <a:ext cx="4309449" cy="407406"/>
          </a:xfrm>
          <a:prstGeom prst="ellipse">
            <a:avLst/>
          </a:prstGeom>
          <a:gradFill>
            <a:gsLst>
              <a:gs pos="0">
                <a:schemeClr val="accent2">
                  <a:lumMod val="60000"/>
                  <a:lumOff val="40000"/>
                  <a:alpha val="60000"/>
                </a:schemeClr>
              </a:gs>
              <a:gs pos="99000">
                <a:schemeClr val="accent2">
                  <a:lumMod val="20000"/>
                  <a:lumOff val="80000"/>
                </a:schemeClr>
              </a:gs>
            </a:gsLst>
            <a:lin ang="162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flipH="1">
            <a:off x="7288102" y="615863"/>
            <a:ext cx="4267200" cy="5341318"/>
          </a:xfrm>
          <a:prstGeom prst="round2SameRect">
            <a:avLst>
              <a:gd name="adj1" fmla="val 50000"/>
              <a:gd name="adj2" fmla="val 0"/>
            </a:avLst>
          </a:prstGeom>
          <a:solidFill>
            <a:schemeClr val="accent1">
              <a:lumMod val="40000"/>
              <a:lumOff val="60000"/>
            </a:schemeClr>
          </a:solidFill>
          <a:ln w="571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1">
            <a:alphaModFix amt="100000"/>
          </a:blip>
          <a:srcRect/>
          <a:stretch>
            <a:fillRect/>
          </a:stretch>
        </p:blipFill>
        <p:spPr>
          <a:xfrm>
            <a:off x="6889381" y="540859"/>
            <a:ext cx="1352661" cy="1357294"/>
          </a:xfrm>
          <a:prstGeom prst="rect">
            <a:avLst/>
          </a:prstGeom>
          <a:noFill/>
          <a:ln>
            <a:noFill/>
          </a:ln>
        </p:spPr>
      </p:pic>
      <p:pic>
        <p:nvPicPr>
          <p:cNvPr id="8" name="图片 7"/>
          <p:cNvPicPr>
            <a:picLocks noChangeAspect="1"/>
          </p:cNvPicPr>
          <p:nvPr/>
        </p:nvPicPr>
        <p:blipFill>
          <a:blip r:embed="rId2">
            <a:alphaModFix amt="100000"/>
          </a:blip>
          <a:srcRect/>
          <a:stretch>
            <a:fillRect/>
          </a:stretch>
        </p:blipFill>
        <p:spPr>
          <a:xfrm flipH="1">
            <a:off x="10773911" y="288310"/>
            <a:ext cx="1037471" cy="904862"/>
          </a:xfrm>
          <a:prstGeom prst="rect">
            <a:avLst/>
          </a:prstGeom>
          <a:noFill/>
          <a:ln>
            <a:noFill/>
          </a:ln>
        </p:spPr>
      </p:pic>
      <p:sp>
        <p:nvSpPr>
          <p:cNvPr id="9" name="标题 1"/>
          <p:cNvSpPr txBox="1"/>
          <p:nvPr/>
        </p:nvSpPr>
        <p:spPr>
          <a:xfrm>
            <a:off x="573754" y="770747"/>
            <a:ext cx="2178864" cy="475726"/>
          </a:xfrm>
          <a:prstGeom prst="roundRect">
            <a:avLst>
              <a:gd name="adj" fmla="val 50000"/>
            </a:avLst>
          </a:prstGeom>
          <a:solidFill>
            <a:schemeClr val="accent2">
              <a:lumMod val="60000"/>
              <a:lumOff val="40000"/>
            </a:schemeClr>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10" name="图片 9"/>
          <p:cNvPicPr>
            <a:picLocks noChangeAspect="1"/>
          </p:cNvPicPr>
          <p:nvPr/>
        </p:nvPicPr>
        <p:blipFill>
          <a:blip r:embed="rId3">
            <a:alphaModFix amt="100000"/>
          </a:blip>
          <a:srcRect/>
          <a:stretch>
            <a:fillRect/>
          </a:stretch>
        </p:blipFill>
        <p:spPr>
          <a:xfrm>
            <a:off x="7311860" y="850264"/>
            <a:ext cx="4871414" cy="5370062"/>
          </a:xfrm>
          <a:prstGeom prst="rect">
            <a:avLst/>
          </a:prstGeom>
          <a:noFill/>
          <a:ln>
            <a:noFill/>
          </a:ln>
        </p:spPr>
      </p:pic>
      <p:sp>
        <p:nvSpPr>
          <p:cNvPr id="11" name="标题 1"/>
          <p:cNvSpPr txBox="1"/>
          <p:nvPr/>
        </p:nvSpPr>
        <p:spPr>
          <a:xfrm>
            <a:off x="3294853" y="304799"/>
            <a:ext cx="1792146" cy="2982269"/>
          </a:xfrm>
          <a:prstGeom prst="rect">
            <a:avLst/>
          </a:prstGeom>
          <a:noFill/>
          <a:ln w="12700" cap="sq">
            <a:noFill/>
            <a:miter/>
          </a:ln>
        </p:spPr>
        <p:txBody>
          <a:bodyPr vert="horz" wrap="square" lIns="0" tIns="0" rIns="0" bIns="0" rtlCol="0" anchor="b"/>
          <a:lstStyle/>
          <a:p>
            <a:pPr algn="ctr">
              <a:lnSpc>
                <a:spcPct val="110000"/>
              </a:lnSpc>
            </a:pPr>
            <a:r>
              <a:rPr kumimoji="1" lang="en-US" altLang="zh-CN" sz="9600">
                <a:ln w="12700">
                  <a:noFill/>
                </a:ln>
                <a:solidFill>
                  <a:srgbClr val="F4B002">
                    <a:alpha val="100000"/>
                  </a:srgbClr>
                </a:solidFill>
                <a:latin typeface="Source Han Sans CN Bold" panose="020B0800000000000000" charset="-122"/>
                <a:ea typeface="Source Han Sans CN Bold" panose="020B0800000000000000" charset="-122"/>
                <a:cs typeface="Source Han Sans CN Bold" panose="020B0800000000000000" charset="-122"/>
              </a:rPr>
              <a:t>01</a:t>
            </a:r>
            <a:endParaRPr kumimoji="1" lang="zh-CN" altLang="en-US"/>
          </a:p>
        </p:txBody>
      </p:sp>
      <p:sp>
        <p:nvSpPr>
          <p:cNvPr id="12" name="标题 1"/>
          <p:cNvSpPr txBox="1"/>
          <p:nvPr/>
        </p:nvSpPr>
        <p:spPr>
          <a:xfrm>
            <a:off x="1207251" y="3171940"/>
            <a:ext cx="5967350" cy="1596480"/>
          </a:xfrm>
          <a:prstGeom prst="rect">
            <a:avLst/>
          </a:prstGeom>
          <a:noFill/>
          <a:ln w="12700" cap="sq">
            <a:noFill/>
            <a:miter/>
          </a:ln>
        </p:spPr>
        <p:txBody>
          <a:bodyPr vert="horz" wrap="square" lIns="0" tIns="0" rIns="0" bIns="0" rtlCol="0" anchor="t"/>
          <a:lstStyle/>
          <a:p>
            <a:pPr algn="ctr">
              <a:lnSpc>
                <a:spcPct val="130000"/>
              </a:lnSpc>
            </a:pPr>
            <a:r>
              <a:rPr kumimoji="1" lang="en-US" altLang="zh-CN" sz="4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实验目的与内容</a:t>
            </a:r>
            <a:endParaRPr kumimoji="1" lang="zh-CN" altLang="en-US"/>
          </a:p>
        </p:txBody>
      </p:sp>
      <p:grpSp>
        <p:nvGrpSpPr>
          <p:cNvPr id="13" name="组合 12"/>
          <p:cNvGrpSpPr/>
          <p:nvPr/>
        </p:nvGrpSpPr>
        <p:grpSpPr>
          <a:xfrm>
            <a:off x="5637684" y="1896997"/>
            <a:ext cx="621265" cy="430818"/>
            <a:chOff x="5637684" y="1896997"/>
            <a:chExt cx="621265" cy="430818"/>
          </a:xfrm>
        </p:grpSpPr>
        <p:sp>
          <p:nvSpPr>
            <p:cNvPr id="14" name="标题 1"/>
            <p:cNvSpPr txBox="1"/>
            <p:nvPr/>
          </p:nvSpPr>
          <p:spPr>
            <a:xfrm flipH="1">
              <a:off x="5637684" y="1896997"/>
              <a:ext cx="621265" cy="430818"/>
            </a:xfrm>
            <a:custGeom>
              <a:avLst/>
              <a:gdLst/>
              <a:ahLst/>
              <a:cxnLst/>
              <a:rect l="0" t="0" r="0" b="0"/>
              <a:pathLst>
                <a:path w="3149601" h="2184100">
                  <a:moveTo>
                    <a:pt x="298450" y="9127"/>
                  </a:moveTo>
                  <a:cubicBezTo>
                    <a:pt x="186595" y="38582"/>
                    <a:pt x="73801" y="141337"/>
                    <a:pt x="28575" y="254982"/>
                  </a:cubicBezTo>
                  <a:cubicBezTo>
                    <a:pt x="259" y="326136"/>
                    <a:pt x="0" y="332625"/>
                    <a:pt x="0" y="972152"/>
                  </a:cubicBezTo>
                  <a:cubicBezTo>
                    <a:pt x="0" y="1367194"/>
                    <a:pt x="4769" y="1624616"/>
                    <a:pt x="12296" y="1635820"/>
                  </a:cubicBezTo>
                  <a:cubicBezTo>
                    <a:pt x="19059" y="1645886"/>
                    <a:pt x="27631" y="1666932"/>
                    <a:pt x="31346" y="1682589"/>
                  </a:cubicBezTo>
                  <a:cubicBezTo>
                    <a:pt x="40603" y="1721604"/>
                    <a:pt x="174109" y="1855200"/>
                    <a:pt x="228600" y="1879975"/>
                  </a:cubicBezTo>
                  <a:cubicBezTo>
                    <a:pt x="253047" y="1891091"/>
                    <a:pt x="298037" y="1911972"/>
                    <a:pt x="328576" y="1926378"/>
                  </a:cubicBezTo>
                  <a:cubicBezTo>
                    <a:pt x="383234" y="1952162"/>
                    <a:pt x="400153" y="1952572"/>
                    <a:pt x="1410502" y="1952572"/>
                  </a:cubicBezTo>
                  <a:cubicBezTo>
                    <a:pt x="2081069" y="1952572"/>
                    <a:pt x="2439622" y="1956975"/>
                    <a:pt x="2444750" y="1965272"/>
                  </a:cubicBezTo>
                  <a:cubicBezTo>
                    <a:pt x="2449067" y="1972257"/>
                    <a:pt x="2464257" y="1977972"/>
                    <a:pt x="2478505" y="1977972"/>
                  </a:cubicBezTo>
                  <a:cubicBezTo>
                    <a:pt x="2492753" y="1977972"/>
                    <a:pt x="2519562" y="1982822"/>
                    <a:pt x="2538081" y="1988750"/>
                  </a:cubicBezTo>
                  <a:cubicBezTo>
                    <a:pt x="2726735" y="2049139"/>
                    <a:pt x="2790399" y="2072593"/>
                    <a:pt x="2806065" y="2087477"/>
                  </a:cubicBezTo>
                  <a:cubicBezTo>
                    <a:pt x="2816193" y="2097099"/>
                    <a:pt x="2834114" y="2104972"/>
                    <a:pt x="2845888" y="2104972"/>
                  </a:cubicBezTo>
                  <a:cubicBezTo>
                    <a:pt x="2857663" y="2104972"/>
                    <a:pt x="2880809" y="2110652"/>
                    <a:pt x="2897323" y="2117594"/>
                  </a:cubicBezTo>
                  <a:cubicBezTo>
                    <a:pt x="2913838" y="2124536"/>
                    <a:pt x="2939066" y="2133108"/>
                    <a:pt x="2953385" y="2136644"/>
                  </a:cubicBezTo>
                  <a:cubicBezTo>
                    <a:pt x="2967704" y="2140179"/>
                    <a:pt x="2981992" y="2145442"/>
                    <a:pt x="2985135" y="2148339"/>
                  </a:cubicBezTo>
                  <a:cubicBezTo>
                    <a:pt x="2988278" y="2151236"/>
                    <a:pt x="3026569" y="2160467"/>
                    <a:pt x="3070225" y="2168852"/>
                  </a:cubicBezTo>
                  <a:lnTo>
                    <a:pt x="3149600" y="2184099"/>
                  </a:lnTo>
                  <a:lnTo>
                    <a:pt x="3149600" y="2152346"/>
                  </a:lnTo>
                  <a:cubicBezTo>
                    <a:pt x="3149600" y="2132671"/>
                    <a:pt x="3137775" y="2112845"/>
                    <a:pt x="3118510" y="2100223"/>
                  </a:cubicBezTo>
                  <a:cubicBezTo>
                    <a:pt x="3075019" y="2071726"/>
                    <a:pt x="2941182" y="1903782"/>
                    <a:pt x="2922839" y="1854687"/>
                  </a:cubicBezTo>
                  <a:cubicBezTo>
                    <a:pt x="2914469" y="1832282"/>
                    <a:pt x="2902058" y="1810513"/>
                    <a:pt x="2895260" y="1806312"/>
                  </a:cubicBezTo>
                  <a:cubicBezTo>
                    <a:pt x="2888462" y="1802110"/>
                    <a:pt x="2882900" y="1785060"/>
                    <a:pt x="2882900" y="1768422"/>
                  </a:cubicBezTo>
                  <a:cubicBezTo>
                    <a:pt x="2882900" y="1751784"/>
                    <a:pt x="2877789" y="1735012"/>
                    <a:pt x="2871542" y="1731151"/>
                  </a:cubicBezTo>
                  <a:cubicBezTo>
                    <a:pt x="2838187" y="1710537"/>
                    <a:pt x="2829638" y="1579110"/>
                    <a:pt x="2821503" y="961972"/>
                  </a:cubicBezTo>
                  <a:cubicBezTo>
                    <a:pt x="2815706" y="522145"/>
                    <a:pt x="2808527" y="312641"/>
                    <a:pt x="2798657" y="295222"/>
                  </a:cubicBezTo>
                  <a:cubicBezTo>
                    <a:pt x="2790741" y="281252"/>
                    <a:pt x="2776453" y="253005"/>
                    <a:pt x="2766907" y="232451"/>
                  </a:cubicBezTo>
                  <a:cubicBezTo>
                    <a:pt x="2741961" y="178740"/>
                    <a:pt x="2632138" y="70759"/>
                    <a:pt x="2565400" y="34323"/>
                  </a:cubicBezTo>
                  <a:lnTo>
                    <a:pt x="2508250" y="3122"/>
                  </a:lnTo>
                  <a:lnTo>
                    <a:pt x="1422400" y="1108"/>
                  </a:lnTo>
                  <a:cubicBezTo>
                    <a:pt x="825182" y="0"/>
                    <a:pt x="319405" y="3609"/>
                    <a:pt x="298450" y="9127"/>
                  </a:cubicBez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18900000">
              <a:off x="5871866" y="1993384"/>
              <a:ext cx="228008" cy="135035"/>
            </a:xfrm>
            <a:prstGeom prst="corner">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16" name="标题 1"/>
          <p:cNvSpPr txBox="1"/>
          <p:nvPr/>
        </p:nvSpPr>
        <p:spPr>
          <a:xfrm>
            <a:off x="2677374" y="2454128"/>
            <a:ext cx="1107141" cy="439271"/>
          </a:xfrm>
          <a:prstGeom prst="rect">
            <a:avLst/>
          </a:pr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2823536" y="2467411"/>
            <a:ext cx="840217" cy="387304"/>
          </a:xfrm>
          <a:prstGeom prst="rect">
            <a:avLst/>
          </a:prstGeom>
          <a:noFill/>
          <a:ln w="12700" cap="sq">
            <a:noFill/>
            <a:miter/>
          </a:ln>
        </p:spPr>
        <p:txBody>
          <a:bodyPr vert="horz" wrap="square" lIns="0" tIns="0" rIns="0" bIns="0" rtlCol="0" anchor="ctr"/>
          <a:lstStyle/>
          <a:p>
            <a:pPr algn="ctr">
              <a:lnSpc>
                <a:spcPct val="110000"/>
              </a:lnSpc>
            </a:pPr>
            <a:r>
              <a:rPr kumimoji="1" lang="en-US" altLang="zh-CN" sz="2400">
                <a:ln w="12700">
                  <a:noFill/>
                </a:ln>
                <a:solidFill>
                  <a:srgbClr val="B78401">
                    <a:alpha val="100000"/>
                  </a:srgbClr>
                </a:solidFill>
                <a:latin typeface="Source Han Sans CN Bold" panose="020B0800000000000000" charset="-122"/>
                <a:ea typeface="Source Han Sans CN Bold" panose="020B0800000000000000" charset="-122"/>
                <a:cs typeface="Source Han Sans CN Bold" panose="020B0800000000000000" charset="-122"/>
              </a:rPr>
              <a:t>Part</a:t>
            </a:r>
            <a:endParaRPr kumimoji="1" lang="zh-CN" altLang="en-US"/>
          </a:p>
        </p:txBody>
      </p:sp>
      <p:pic>
        <p:nvPicPr>
          <p:cNvPr id="18" name="图片 17"/>
          <p:cNvPicPr>
            <a:picLocks noChangeAspect="1"/>
          </p:cNvPicPr>
          <p:nvPr/>
        </p:nvPicPr>
        <p:blipFill>
          <a:blip r:embed="rId4">
            <a:alphaModFix amt="100000"/>
          </a:blip>
          <a:srcRect/>
          <a:stretch>
            <a:fillRect/>
          </a:stretch>
        </p:blipFill>
        <p:spPr>
          <a:xfrm>
            <a:off x="299913" y="4547232"/>
            <a:ext cx="1579001" cy="1231499"/>
          </a:xfrm>
          <a:prstGeom prst="rect">
            <a:avLst/>
          </a:prstGeom>
          <a:noFill/>
          <a:ln>
            <a:noFill/>
          </a:ln>
        </p:spPr>
      </p:pic>
      <p:pic>
        <p:nvPicPr>
          <p:cNvPr id="19" name="图片 18"/>
          <p:cNvPicPr>
            <a:picLocks noChangeAspect="1"/>
          </p:cNvPicPr>
          <p:nvPr/>
        </p:nvPicPr>
        <p:blipFill>
          <a:blip r:embed="rId5">
            <a:alphaModFix amt="100000"/>
          </a:blip>
          <a:srcRect/>
          <a:stretch>
            <a:fillRect/>
          </a:stretch>
        </p:blipFill>
        <p:spPr>
          <a:xfrm>
            <a:off x="259570" y="5353625"/>
            <a:ext cx="1103472" cy="60355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435611" y="404506"/>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622935" y="4293235"/>
            <a:ext cx="5321621" cy="1917700"/>
          </a:xfrm>
          <a:prstGeom prst="roundRect">
            <a:avLst>
              <a:gd name="adj" fmla="val 9425"/>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5" name="组合 4"/>
          <p:cNvGrpSpPr/>
          <p:nvPr/>
        </p:nvGrpSpPr>
        <p:grpSpPr>
          <a:xfrm>
            <a:off x="946534" y="4540055"/>
            <a:ext cx="440411" cy="445458"/>
            <a:chOff x="946534" y="4540055"/>
            <a:chExt cx="440411" cy="445458"/>
          </a:xfrm>
        </p:grpSpPr>
        <p:sp>
          <p:nvSpPr>
            <p:cNvPr id="6" name="标题 1"/>
            <p:cNvSpPr txBox="1"/>
            <p:nvPr/>
          </p:nvSpPr>
          <p:spPr>
            <a:xfrm rot="2700000">
              <a:off x="986363" y="4796658"/>
              <a:ext cx="440412" cy="2799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5400000">
              <a:off x="1152740" y="4746262"/>
              <a:ext cx="440412" cy="2799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V="1">
              <a:off x="946534" y="4957514"/>
              <a:ext cx="440412" cy="2799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9" name="标题 1"/>
          <p:cNvSpPr txBox="1"/>
          <p:nvPr/>
        </p:nvSpPr>
        <p:spPr>
          <a:xfrm>
            <a:off x="10072907" y="4663697"/>
            <a:ext cx="1181636" cy="1279984"/>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alpha val="41000"/>
            </a:schemeClr>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1597950" y="4991389"/>
            <a:ext cx="4146294" cy="1131136"/>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FFFFFF">
                    <a:alpha val="100000"/>
                  </a:srgbClr>
                </a:solidFill>
                <a:latin typeface="OPPOSans L" panose="00020600040101010101" charset="-122"/>
                <a:ea typeface="OPPOSans L" panose="00020600040101010101" charset="-122"/>
                <a:cs typeface="OPPOSans L" panose="00020600040101010101" charset="-122"/>
              </a:rPr>
              <a:t>（1）掌握分治法思想。
（2）学会最近点对问题求解方法。</a:t>
            </a:r>
            <a:endParaRPr kumimoji="1" lang="zh-CN" altLang="en-US"/>
          </a:p>
        </p:txBody>
      </p:sp>
      <p:sp>
        <p:nvSpPr>
          <p:cNvPr id="11" name="标题 1"/>
          <p:cNvSpPr txBox="1"/>
          <p:nvPr/>
        </p:nvSpPr>
        <p:spPr>
          <a:xfrm>
            <a:off x="1597950" y="4473229"/>
            <a:ext cx="4146294" cy="447040"/>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实验目的</a:t>
            </a:r>
            <a:endParaRPr kumimoji="1" lang="zh-CN" altLang="en-US"/>
          </a:p>
        </p:txBody>
      </p:sp>
      <p:sp>
        <p:nvSpPr>
          <p:cNvPr id="12" name="标题 1"/>
          <p:cNvSpPr txBox="1"/>
          <p:nvPr/>
        </p:nvSpPr>
        <p:spPr>
          <a:xfrm>
            <a:off x="6096000" y="713105"/>
            <a:ext cx="5351145" cy="5431790"/>
          </a:xfrm>
          <a:prstGeom prst="roundRect">
            <a:avLst>
              <a:gd name="adj" fmla="val 9425"/>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13" name="组合 12"/>
          <p:cNvGrpSpPr/>
          <p:nvPr/>
        </p:nvGrpSpPr>
        <p:grpSpPr>
          <a:xfrm>
            <a:off x="6289103" y="1163760"/>
            <a:ext cx="440411" cy="445458"/>
            <a:chOff x="6483413" y="4540055"/>
            <a:chExt cx="440411" cy="445458"/>
          </a:xfrm>
        </p:grpSpPr>
        <p:sp>
          <p:nvSpPr>
            <p:cNvPr id="14" name="标题 1"/>
            <p:cNvSpPr txBox="1"/>
            <p:nvPr/>
          </p:nvSpPr>
          <p:spPr>
            <a:xfrm rot="2700000">
              <a:off x="6523242" y="4796658"/>
              <a:ext cx="440412" cy="2799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5400000">
              <a:off x="6689619" y="4746262"/>
              <a:ext cx="440412" cy="2799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flipV="1">
              <a:off x="6483413" y="4957514"/>
              <a:ext cx="440412" cy="2799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17" name="标题 1"/>
          <p:cNvSpPr txBox="1"/>
          <p:nvPr/>
        </p:nvSpPr>
        <p:spPr>
          <a:xfrm>
            <a:off x="6609715" y="1772920"/>
            <a:ext cx="4529455" cy="4124960"/>
          </a:xfrm>
          <a:prstGeom prst="rect">
            <a:avLst/>
          </a:prstGeom>
          <a:noFill/>
          <a:ln>
            <a:noFill/>
          </a:ln>
        </p:spPr>
        <p:txBody>
          <a:bodyPr vert="horz" wrap="square" lIns="0" tIns="0" rIns="0" bIns="0" rtlCol="0" anchor="t"/>
          <a:lstStyle/>
          <a:p>
            <a:pPr algn="l">
              <a:lnSpc>
                <a:spcPct val="150000"/>
              </a:lnSpc>
            </a:pPr>
            <a:r>
              <a:rPr kumimoji="1" lang="en-US" altLang="zh-CN" sz="1400" b="1">
                <a:ln w="12700">
                  <a:noFill/>
                </a:ln>
                <a:solidFill>
                  <a:srgbClr val="FFFFFF">
                    <a:alpha val="100000"/>
                  </a:srgbClr>
                </a:solidFill>
                <a:latin typeface="OPPOSans L" panose="00020600040101010101" charset="-122"/>
                <a:ea typeface="OPPOSans L" panose="00020600040101010101" charset="-122"/>
                <a:cs typeface="OPPOSans L" panose="00020600040101010101" charset="-122"/>
              </a:rPr>
              <a:t>1. 对于平面上给定的N个点，给出所有点对的最短距离，即，输入是平面上的N个点，输出是N点中具有最短距离的两点。
2. 要求随机生成N个点的平面坐标，应用蛮力法编程计算出所有点对的最短距离。
3. 要求随机生成N个点的平面坐标，应用分治法编程计算出所有点对的最短距离。
4. 分别对N=100000—1000000，统计算法运行时间，比较理论效率与实测效率的差异，同时对蛮力法和分治法的算法效率进行分析和比较。
5. 如果能将算法执行过程利用图形界面输出，可获加分。</a:t>
            </a:r>
            <a:endParaRPr kumimoji="1" lang="zh-CN" altLang="en-US" b="1"/>
          </a:p>
        </p:txBody>
      </p:sp>
      <p:sp>
        <p:nvSpPr>
          <p:cNvPr id="18" name="标题 1"/>
          <p:cNvSpPr txBox="1"/>
          <p:nvPr/>
        </p:nvSpPr>
        <p:spPr>
          <a:xfrm>
            <a:off x="6887814" y="1153449"/>
            <a:ext cx="4146294" cy="447040"/>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实验内容</a:t>
            </a:r>
            <a:endParaRPr kumimoji="1" lang="zh-CN" altLang="en-US"/>
          </a:p>
        </p:txBody>
      </p:sp>
      <p:sp>
        <p:nvSpPr>
          <p:cNvPr id="19" name="标题 1"/>
          <p:cNvSpPr txBox="1"/>
          <p:nvPr/>
        </p:nvSpPr>
        <p:spPr>
          <a:xfrm>
            <a:off x="622935" y="764540"/>
            <a:ext cx="4142740" cy="4318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实验目的与内容</a:t>
            </a:r>
            <a:endParaRPr kumimoji="1" lang="zh-CN" altLang="en-US"/>
          </a:p>
        </p:txBody>
      </p:sp>
      <p:cxnSp>
        <p:nvCxnSpPr>
          <p:cNvPr id="20" name="标题 1"/>
          <p:cNvCxnSpPr/>
          <p:nvPr/>
        </p:nvCxnSpPr>
        <p:spPr>
          <a:xfrm rot="16200000">
            <a:off x="233490" y="642165"/>
            <a:ext cx="404009" cy="0"/>
          </a:xfrm>
          <a:prstGeom prst="line">
            <a:avLst/>
          </a:prstGeom>
          <a:noFill/>
          <a:ln w="12700" cap="sq">
            <a:solidFill>
              <a:schemeClr val="accent1"/>
            </a:solidFill>
            <a:miter/>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3306"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8000000" flipH="1">
            <a:off x="287186"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597817" y="980729"/>
            <a:ext cx="8944824" cy="4683786"/>
          </a:xfrm>
          <a:prstGeom prst="roundRect">
            <a:avLst>
              <a:gd name="adj" fmla="val 5739"/>
            </a:avLst>
          </a:prstGeom>
          <a:gradFill>
            <a:gsLst>
              <a:gs pos="0">
                <a:schemeClr val="accent1">
                  <a:lumMod val="20000"/>
                  <a:lumOff val="80000"/>
                </a:schemeClr>
              </a:gs>
              <a:gs pos="99000">
                <a:schemeClr val="bg1"/>
              </a:gs>
            </a:gsLst>
            <a:lin ang="16200000" scaled="0"/>
          </a:gradFill>
          <a:ln w="57150" cap="sq">
            <a:solidFill>
              <a:schemeClr val="accent1">
                <a:lumMod val="20000"/>
                <a:lumOff val="80000"/>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7252114" y="6228784"/>
            <a:ext cx="4309449" cy="407406"/>
          </a:xfrm>
          <a:prstGeom prst="ellipse">
            <a:avLst/>
          </a:prstGeom>
          <a:gradFill>
            <a:gsLst>
              <a:gs pos="0">
                <a:schemeClr val="accent2">
                  <a:lumMod val="60000"/>
                  <a:lumOff val="40000"/>
                  <a:alpha val="60000"/>
                </a:schemeClr>
              </a:gs>
              <a:gs pos="99000">
                <a:schemeClr val="accent2">
                  <a:lumMod val="20000"/>
                  <a:lumOff val="80000"/>
                </a:schemeClr>
              </a:gs>
            </a:gsLst>
            <a:lin ang="162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flipH="1">
            <a:off x="7288102" y="615863"/>
            <a:ext cx="4267200" cy="5341318"/>
          </a:xfrm>
          <a:prstGeom prst="round2SameRect">
            <a:avLst>
              <a:gd name="adj1" fmla="val 50000"/>
              <a:gd name="adj2" fmla="val 0"/>
            </a:avLst>
          </a:prstGeom>
          <a:solidFill>
            <a:schemeClr val="accent1">
              <a:lumMod val="40000"/>
              <a:lumOff val="60000"/>
            </a:schemeClr>
          </a:solidFill>
          <a:ln w="571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1">
            <a:alphaModFix amt="100000"/>
          </a:blip>
          <a:srcRect/>
          <a:stretch>
            <a:fillRect/>
          </a:stretch>
        </p:blipFill>
        <p:spPr>
          <a:xfrm>
            <a:off x="6889381" y="540859"/>
            <a:ext cx="1352661" cy="1357294"/>
          </a:xfrm>
          <a:prstGeom prst="rect">
            <a:avLst/>
          </a:prstGeom>
          <a:noFill/>
          <a:ln>
            <a:noFill/>
          </a:ln>
        </p:spPr>
      </p:pic>
      <p:pic>
        <p:nvPicPr>
          <p:cNvPr id="8" name="图片 7"/>
          <p:cNvPicPr>
            <a:picLocks noChangeAspect="1"/>
          </p:cNvPicPr>
          <p:nvPr/>
        </p:nvPicPr>
        <p:blipFill>
          <a:blip r:embed="rId2">
            <a:alphaModFix amt="100000"/>
          </a:blip>
          <a:srcRect/>
          <a:stretch>
            <a:fillRect/>
          </a:stretch>
        </p:blipFill>
        <p:spPr>
          <a:xfrm flipH="1">
            <a:off x="10773911" y="288310"/>
            <a:ext cx="1037471" cy="904862"/>
          </a:xfrm>
          <a:prstGeom prst="rect">
            <a:avLst/>
          </a:prstGeom>
          <a:noFill/>
          <a:ln>
            <a:noFill/>
          </a:ln>
        </p:spPr>
      </p:pic>
      <p:sp>
        <p:nvSpPr>
          <p:cNvPr id="9" name="标题 1"/>
          <p:cNvSpPr txBox="1"/>
          <p:nvPr/>
        </p:nvSpPr>
        <p:spPr>
          <a:xfrm>
            <a:off x="573754" y="770747"/>
            <a:ext cx="2178864" cy="475726"/>
          </a:xfrm>
          <a:prstGeom prst="roundRect">
            <a:avLst>
              <a:gd name="adj" fmla="val 50000"/>
            </a:avLst>
          </a:prstGeom>
          <a:solidFill>
            <a:schemeClr val="accent2">
              <a:lumMod val="60000"/>
              <a:lumOff val="40000"/>
            </a:schemeClr>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10" name="图片 9"/>
          <p:cNvPicPr>
            <a:picLocks noChangeAspect="1"/>
          </p:cNvPicPr>
          <p:nvPr/>
        </p:nvPicPr>
        <p:blipFill>
          <a:blip r:embed="rId3">
            <a:alphaModFix amt="100000"/>
          </a:blip>
          <a:srcRect/>
          <a:stretch>
            <a:fillRect/>
          </a:stretch>
        </p:blipFill>
        <p:spPr>
          <a:xfrm>
            <a:off x="7311860" y="850264"/>
            <a:ext cx="4871414" cy="5370062"/>
          </a:xfrm>
          <a:prstGeom prst="rect">
            <a:avLst/>
          </a:prstGeom>
          <a:noFill/>
          <a:ln>
            <a:noFill/>
          </a:ln>
        </p:spPr>
      </p:pic>
      <p:sp>
        <p:nvSpPr>
          <p:cNvPr id="11" name="标题 1"/>
          <p:cNvSpPr txBox="1"/>
          <p:nvPr/>
        </p:nvSpPr>
        <p:spPr>
          <a:xfrm>
            <a:off x="3294853" y="304799"/>
            <a:ext cx="1792146" cy="2982269"/>
          </a:xfrm>
          <a:prstGeom prst="rect">
            <a:avLst/>
          </a:prstGeom>
          <a:noFill/>
          <a:ln w="12700" cap="sq">
            <a:noFill/>
            <a:miter/>
          </a:ln>
        </p:spPr>
        <p:txBody>
          <a:bodyPr vert="horz" wrap="square" lIns="0" tIns="0" rIns="0" bIns="0" rtlCol="0" anchor="b"/>
          <a:lstStyle/>
          <a:p>
            <a:pPr algn="ctr">
              <a:lnSpc>
                <a:spcPct val="110000"/>
              </a:lnSpc>
            </a:pPr>
            <a:r>
              <a:rPr kumimoji="1" lang="en-US" altLang="zh-CN" sz="9600">
                <a:ln w="12700">
                  <a:noFill/>
                </a:ln>
                <a:solidFill>
                  <a:srgbClr val="F4B002">
                    <a:alpha val="100000"/>
                  </a:srgbClr>
                </a:solidFill>
                <a:latin typeface="Source Han Sans CN Bold" panose="020B0800000000000000" charset="-122"/>
                <a:ea typeface="Source Han Sans CN Bold" panose="020B0800000000000000" charset="-122"/>
                <a:cs typeface="Source Han Sans CN Bold" panose="020B0800000000000000" charset="-122"/>
              </a:rPr>
              <a:t>02</a:t>
            </a:r>
            <a:endParaRPr kumimoji="1" lang="zh-CN" altLang="en-US"/>
          </a:p>
        </p:txBody>
      </p:sp>
      <p:sp>
        <p:nvSpPr>
          <p:cNvPr id="12" name="标题 1"/>
          <p:cNvSpPr txBox="1"/>
          <p:nvPr/>
        </p:nvSpPr>
        <p:spPr>
          <a:xfrm>
            <a:off x="1207251" y="3171940"/>
            <a:ext cx="5967350" cy="1596480"/>
          </a:xfrm>
          <a:prstGeom prst="rect">
            <a:avLst/>
          </a:prstGeom>
          <a:noFill/>
          <a:ln w="12700" cap="sq">
            <a:noFill/>
            <a:miter/>
          </a:ln>
        </p:spPr>
        <p:txBody>
          <a:bodyPr vert="horz" wrap="square" lIns="0" tIns="0" rIns="0" bIns="0" rtlCol="0" anchor="t"/>
          <a:lstStyle/>
          <a:p>
            <a:pPr algn="ctr">
              <a:lnSpc>
                <a:spcPct val="130000"/>
              </a:lnSpc>
            </a:pPr>
            <a:r>
              <a:rPr kumimoji="1" lang="en-US" altLang="zh-CN" sz="4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实验步骤与结果</a:t>
            </a:r>
            <a:endParaRPr kumimoji="1" lang="zh-CN" altLang="en-US"/>
          </a:p>
        </p:txBody>
      </p:sp>
      <p:grpSp>
        <p:nvGrpSpPr>
          <p:cNvPr id="13" name="组合 12"/>
          <p:cNvGrpSpPr/>
          <p:nvPr/>
        </p:nvGrpSpPr>
        <p:grpSpPr>
          <a:xfrm>
            <a:off x="5637684" y="1896997"/>
            <a:ext cx="621265" cy="430818"/>
            <a:chOff x="5637684" y="1896997"/>
            <a:chExt cx="621265" cy="430818"/>
          </a:xfrm>
        </p:grpSpPr>
        <p:sp>
          <p:nvSpPr>
            <p:cNvPr id="14" name="标题 1"/>
            <p:cNvSpPr txBox="1"/>
            <p:nvPr/>
          </p:nvSpPr>
          <p:spPr>
            <a:xfrm flipH="1">
              <a:off x="5637684" y="1896997"/>
              <a:ext cx="621265" cy="430818"/>
            </a:xfrm>
            <a:custGeom>
              <a:avLst/>
              <a:gdLst/>
              <a:ahLst/>
              <a:cxnLst/>
              <a:rect l="0" t="0" r="0" b="0"/>
              <a:pathLst>
                <a:path w="3149601" h="2184100">
                  <a:moveTo>
                    <a:pt x="298450" y="9127"/>
                  </a:moveTo>
                  <a:cubicBezTo>
                    <a:pt x="186595" y="38582"/>
                    <a:pt x="73801" y="141337"/>
                    <a:pt x="28575" y="254982"/>
                  </a:cubicBezTo>
                  <a:cubicBezTo>
                    <a:pt x="259" y="326136"/>
                    <a:pt x="0" y="332625"/>
                    <a:pt x="0" y="972152"/>
                  </a:cubicBezTo>
                  <a:cubicBezTo>
                    <a:pt x="0" y="1367194"/>
                    <a:pt x="4769" y="1624616"/>
                    <a:pt x="12296" y="1635820"/>
                  </a:cubicBezTo>
                  <a:cubicBezTo>
                    <a:pt x="19059" y="1645886"/>
                    <a:pt x="27631" y="1666932"/>
                    <a:pt x="31346" y="1682589"/>
                  </a:cubicBezTo>
                  <a:cubicBezTo>
                    <a:pt x="40603" y="1721604"/>
                    <a:pt x="174109" y="1855200"/>
                    <a:pt x="228600" y="1879975"/>
                  </a:cubicBezTo>
                  <a:cubicBezTo>
                    <a:pt x="253047" y="1891091"/>
                    <a:pt x="298037" y="1911972"/>
                    <a:pt x="328576" y="1926378"/>
                  </a:cubicBezTo>
                  <a:cubicBezTo>
                    <a:pt x="383234" y="1952162"/>
                    <a:pt x="400153" y="1952572"/>
                    <a:pt x="1410502" y="1952572"/>
                  </a:cubicBezTo>
                  <a:cubicBezTo>
                    <a:pt x="2081069" y="1952572"/>
                    <a:pt x="2439622" y="1956975"/>
                    <a:pt x="2444750" y="1965272"/>
                  </a:cubicBezTo>
                  <a:cubicBezTo>
                    <a:pt x="2449067" y="1972257"/>
                    <a:pt x="2464257" y="1977972"/>
                    <a:pt x="2478505" y="1977972"/>
                  </a:cubicBezTo>
                  <a:cubicBezTo>
                    <a:pt x="2492753" y="1977972"/>
                    <a:pt x="2519562" y="1982822"/>
                    <a:pt x="2538081" y="1988750"/>
                  </a:cubicBezTo>
                  <a:cubicBezTo>
                    <a:pt x="2726735" y="2049139"/>
                    <a:pt x="2790399" y="2072593"/>
                    <a:pt x="2806065" y="2087477"/>
                  </a:cubicBezTo>
                  <a:cubicBezTo>
                    <a:pt x="2816193" y="2097099"/>
                    <a:pt x="2834114" y="2104972"/>
                    <a:pt x="2845888" y="2104972"/>
                  </a:cubicBezTo>
                  <a:cubicBezTo>
                    <a:pt x="2857663" y="2104972"/>
                    <a:pt x="2880809" y="2110652"/>
                    <a:pt x="2897323" y="2117594"/>
                  </a:cubicBezTo>
                  <a:cubicBezTo>
                    <a:pt x="2913838" y="2124536"/>
                    <a:pt x="2939066" y="2133108"/>
                    <a:pt x="2953385" y="2136644"/>
                  </a:cubicBezTo>
                  <a:cubicBezTo>
                    <a:pt x="2967704" y="2140179"/>
                    <a:pt x="2981992" y="2145442"/>
                    <a:pt x="2985135" y="2148339"/>
                  </a:cubicBezTo>
                  <a:cubicBezTo>
                    <a:pt x="2988278" y="2151236"/>
                    <a:pt x="3026569" y="2160467"/>
                    <a:pt x="3070225" y="2168852"/>
                  </a:cubicBezTo>
                  <a:lnTo>
                    <a:pt x="3149600" y="2184099"/>
                  </a:lnTo>
                  <a:lnTo>
                    <a:pt x="3149600" y="2152346"/>
                  </a:lnTo>
                  <a:cubicBezTo>
                    <a:pt x="3149600" y="2132671"/>
                    <a:pt x="3137775" y="2112845"/>
                    <a:pt x="3118510" y="2100223"/>
                  </a:cubicBezTo>
                  <a:cubicBezTo>
                    <a:pt x="3075019" y="2071726"/>
                    <a:pt x="2941182" y="1903782"/>
                    <a:pt x="2922839" y="1854687"/>
                  </a:cubicBezTo>
                  <a:cubicBezTo>
                    <a:pt x="2914469" y="1832282"/>
                    <a:pt x="2902058" y="1810513"/>
                    <a:pt x="2895260" y="1806312"/>
                  </a:cubicBezTo>
                  <a:cubicBezTo>
                    <a:pt x="2888462" y="1802110"/>
                    <a:pt x="2882900" y="1785060"/>
                    <a:pt x="2882900" y="1768422"/>
                  </a:cubicBezTo>
                  <a:cubicBezTo>
                    <a:pt x="2882900" y="1751784"/>
                    <a:pt x="2877789" y="1735012"/>
                    <a:pt x="2871542" y="1731151"/>
                  </a:cubicBezTo>
                  <a:cubicBezTo>
                    <a:pt x="2838187" y="1710537"/>
                    <a:pt x="2829638" y="1579110"/>
                    <a:pt x="2821503" y="961972"/>
                  </a:cubicBezTo>
                  <a:cubicBezTo>
                    <a:pt x="2815706" y="522145"/>
                    <a:pt x="2808527" y="312641"/>
                    <a:pt x="2798657" y="295222"/>
                  </a:cubicBezTo>
                  <a:cubicBezTo>
                    <a:pt x="2790741" y="281252"/>
                    <a:pt x="2776453" y="253005"/>
                    <a:pt x="2766907" y="232451"/>
                  </a:cubicBezTo>
                  <a:cubicBezTo>
                    <a:pt x="2741961" y="178740"/>
                    <a:pt x="2632138" y="70759"/>
                    <a:pt x="2565400" y="34323"/>
                  </a:cubicBezTo>
                  <a:lnTo>
                    <a:pt x="2508250" y="3122"/>
                  </a:lnTo>
                  <a:lnTo>
                    <a:pt x="1422400" y="1108"/>
                  </a:lnTo>
                  <a:cubicBezTo>
                    <a:pt x="825182" y="0"/>
                    <a:pt x="319405" y="3609"/>
                    <a:pt x="298450" y="9127"/>
                  </a:cubicBez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18900000">
              <a:off x="5871866" y="1993384"/>
              <a:ext cx="228008" cy="135035"/>
            </a:xfrm>
            <a:prstGeom prst="corner">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16" name="标题 1"/>
          <p:cNvSpPr txBox="1"/>
          <p:nvPr/>
        </p:nvSpPr>
        <p:spPr>
          <a:xfrm>
            <a:off x="2677374" y="2454128"/>
            <a:ext cx="1107141" cy="439271"/>
          </a:xfrm>
          <a:prstGeom prst="rect">
            <a:avLst/>
          </a:pr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2823536" y="2467411"/>
            <a:ext cx="840217" cy="387304"/>
          </a:xfrm>
          <a:prstGeom prst="rect">
            <a:avLst/>
          </a:prstGeom>
          <a:noFill/>
          <a:ln w="12700" cap="sq">
            <a:noFill/>
            <a:miter/>
          </a:ln>
        </p:spPr>
        <p:txBody>
          <a:bodyPr vert="horz" wrap="square" lIns="0" tIns="0" rIns="0" bIns="0" rtlCol="0" anchor="ctr"/>
          <a:lstStyle/>
          <a:p>
            <a:pPr algn="ctr">
              <a:lnSpc>
                <a:spcPct val="110000"/>
              </a:lnSpc>
            </a:pPr>
            <a:r>
              <a:rPr kumimoji="1" lang="en-US" altLang="zh-CN" sz="2400">
                <a:ln w="12700">
                  <a:noFill/>
                </a:ln>
                <a:solidFill>
                  <a:srgbClr val="B78401">
                    <a:alpha val="100000"/>
                  </a:srgbClr>
                </a:solidFill>
                <a:latin typeface="Source Han Sans CN Bold" panose="020B0800000000000000" charset="-122"/>
                <a:ea typeface="Source Han Sans CN Bold" panose="020B0800000000000000" charset="-122"/>
                <a:cs typeface="Source Han Sans CN Bold" panose="020B0800000000000000" charset="-122"/>
              </a:rPr>
              <a:t>Part</a:t>
            </a:r>
            <a:endParaRPr kumimoji="1" lang="zh-CN" altLang="en-US"/>
          </a:p>
        </p:txBody>
      </p:sp>
      <p:pic>
        <p:nvPicPr>
          <p:cNvPr id="18" name="图片 17"/>
          <p:cNvPicPr>
            <a:picLocks noChangeAspect="1"/>
          </p:cNvPicPr>
          <p:nvPr/>
        </p:nvPicPr>
        <p:blipFill>
          <a:blip r:embed="rId4">
            <a:alphaModFix amt="100000"/>
          </a:blip>
          <a:srcRect/>
          <a:stretch>
            <a:fillRect/>
          </a:stretch>
        </p:blipFill>
        <p:spPr>
          <a:xfrm>
            <a:off x="299913" y="4547232"/>
            <a:ext cx="1579001" cy="1231499"/>
          </a:xfrm>
          <a:prstGeom prst="rect">
            <a:avLst/>
          </a:prstGeom>
          <a:noFill/>
          <a:ln>
            <a:noFill/>
          </a:ln>
        </p:spPr>
      </p:pic>
      <p:pic>
        <p:nvPicPr>
          <p:cNvPr id="19" name="图片 18"/>
          <p:cNvPicPr>
            <a:picLocks noChangeAspect="1"/>
          </p:cNvPicPr>
          <p:nvPr/>
        </p:nvPicPr>
        <p:blipFill>
          <a:blip r:embed="rId5">
            <a:alphaModFix amt="100000"/>
          </a:blip>
          <a:srcRect/>
          <a:stretch>
            <a:fillRect/>
          </a:stretch>
        </p:blipFill>
        <p:spPr>
          <a:xfrm>
            <a:off x="259570" y="5353625"/>
            <a:ext cx="1103472" cy="6035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p>
            <a:pPr algn="ctr">
              <a:lnSpc>
                <a:spcPct val="110000"/>
              </a:lnSpc>
            </a:pPr>
            <a:endParaRPr kumimoji="1" lang="zh-CN" altLang="en-US"/>
          </a:p>
        </p:txBody>
      </p:sp>
      <p:sp>
        <p:nvSpPr>
          <p:cNvPr id="2" name="标题 1" descr="7b0a20202020227461726765744964223a202270726f636573734f6e6c696e6542756c6c6574220a7d0a"/>
          <p:cNvSpPr txBox="1"/>
          <p:nvPr/>
        </p:nvSpPr>
        <p:spPr>
          <a:xfrm>
            <a:off x="263526" y="260996"/>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67715" y="1428750"/>
            <a:ext cx="5313680" cy="3537585"/>
          </a:xfrm>
          <a:prstGeom prst="roundRect">
            <a:avLst>
              <a:gd name="adj" fmla="val 7576"/>
            </a:avLst>
          </a:prstGeom>
          <a:solidFill>
            <a:schemeClr val="bg1"/>
          </a:solidFill>
          <a:ln w="12700" cap="rnd">
            <a:noFill/>
            <a:round/>
          </a:ln>
          <a:effectLst>
            <a:outerShdw blurRad="254000" dist="127000" algn="ctr" rotWithShape="0">
              <a:schemeClr val="bg1">
                <a:lumMod val="6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V="1">
            <a:off x="839299" y="1341727"/>
            <a:ext cx="1665370" cy="87028"/>
          </a:xfrm>
          <a:prstGeom prst="roundRect">
            <a:avLst>
              <a:gd name="adj" fmla="val 50000"/>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911225" y="2061210"/>
            <a:ext cx="5107305" cy="2362835"/>
          </a:xfrm>
          <a:prstGeom prst="rect">
            <a:avLst/>
          </a:prstGeom>
          <a:noFill/>
          <a:ln>
            <a:noFill/>
          </a:ln>
        </p:spPr>
        <p:txBody>
          <a:bodyPr vert="horz" wrap="square" lIns="0" tIns="0" rIns="0" bIns="0" rtlCol="0" anchor="t"/>
          <a:lstStyle/>
          <a:p>
            <a:pPr algn="l">
              <a:lnSpc>
                <a:spcPct val="110000"/>
              </a:lnSpc>
              <a:buClrTx/>
              <a:buSzTx/>
              <a:buFontTx/>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实验目的是求得最近点对，故需计算点与点之间的距离，选择</a:t>
            </a:r>
            <a:r>
              <a:rPr kumimoji="1" lang="en-US" altLang="zh-CN" sz="1600" b="1" u="sng">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欧氏距离公式</a:t>
            </a: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，但考虑到算法用时问题，比较调用库函数和不调用库函数的耗时。</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algn="l">
              <a:lnSpc>
                <a:spcPct val="110000"/>
              </a:lnSpc>
              <a:buClrTx/>
              <a:buSzTx/>
              <a:buFontTx/>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从图3可见，使用库函数方法来计算库函数的方法比不使用库函数来计算的方法用时几乎增加了1倍，由于本实验只是为了求得最近点，并不是求距离的精确值，所以这里为了考虑算法的高效率，我们使用不调用库函数的方法，计算距离的平方值来比较距离，从而得出最近点。</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p:txBody>
      </p:sp>
      <p:sp>
        <p:nvSpPr>
          <p:cNvPr id="6" name="标题 1"/>
          <p:cNvSpPr txBox="1"/>
          <p:nvPr/>
        </p:nvSpPr>
        <p:spPr>
          <a:xfrm>
            <a:off x="911225" y="1557020"/>
            <a:ext cx="2959735" cy="393065"/>
          </a:xfrm>
          <a:prstGeom prst="rect">
            <a:avLst/>
          </a:prstGeom>
          <a:noFill/>
          <a:ln>
            <a:noFill/>
          </a:ln>
        </p:spPr>
        <p:txBody>
          <a:bodyPr vert="horz" wrap="square" lIns="0" tIns="0" rIns="0" bIns="0" rtlCol="0" anchor="b"/>
          <a:lstStyle/>
          <a:p>
            <a:pPr algn="l">
              <a:lnSpc>
                <a:spcPct val="110000"/>
              </a:lnSpc>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1.距离求解</a:t>
            </a:r>
            <a:endParaRPr kumimoji="1" lang="zh-CN" altLang="en-US">
              <a:latin typeface="华文楷体" panose="02010600040101010101" charset="-122"/>
              <a:ea typeface="华文楷体" panose="02010600040101010101" charset="-122"/>
              <a:cs typeface="华文楷体" panose="02010600040101010101" charset="-122"/>
            </a:endParaRPr>
          </a:p>
        </p:txBody>
      </p:sp>
      <p:sp>
        <p:nvSpPr>
          <p:cNvPr id="9" name="标题 1"/>
          <p:cNvSpPr txBox="1"/>
          <p:nvPr/>
        </p:nvSpPr>
        <p:spPr>
          <a:xfrm>
            <a:off x="512890" y="404869"/>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0.实验开始前准备</a:t>
            </a:r>
            <a:endParaRPr kumimoji="1" lang="zh-CN" altLang="en-US"/>
          </a:p>
        </p:txBody>
      </p:sp>
      <p:cxnSp>
        <p:nvCxnSpPr>
          <p:cNvPr id="10" name="标题 1"/>
          <p:cNvCxnSpPr/>
          <p:nvPr/>
        </p:nvCxnSpPr>
        <p:spPr>
          <a:xfrm rot="16200000">
            <a:off x="233490" y="642165"/>
            <a:ext cx="404009" cy="0"/>
          </a:xfrm>
          <a:prstGeom prst="line">
            <a:avLst/>
          </a:prstGeom>
          <a:noFill/>
          <a:ln w="12700" cap="sq">
            <a:solidFill>
              <a:schemeClr val="accent1"/>
            </a:solidFill>
            <a:miter/>
          </a:ln>
        </p:spPr>
      </p:cxnSp>
      <p:pic>
        <p:nvPicPr>
          <p:cNvPr id="11" name="图片 7" descr="wps3"/>
          <p:cNvPicPr>
            <a:picLocks noChangeAspect="1"/>
          </p:cNvPicPr>
          <p:nvPr>
            <p:custDataLst>
              <p:tags r:id="rId1"/>
            </p:custDataLst>
          </p:nvPr>
        </p:nvPicPr>
        <p:blipFill>
          <a:blip r:embed="rId2"/>
          <a:stretch>
            <a:fillRect/>
          </a:stretch>
        </p:blipFill>
        <p:spPr>
          <a:xfrm>
            <a:off x="6456045" y="908685"/>
            <a:ext cx="3707765" cy="779780"/>
          </a:xfrm>
          <a:prstGeom prst="rect">
            <a:avLst/>
          </a:prstGeom>
          <a:noFill/>
          <a:ln>
            <a:noFill/>
          </a:ln>
        </p:spPr>
      </p:pic>
      <p:pic>
        <p:nvPicPr>
          <p:cNvPr id="12" name="图片 9"/>
          <p:cNvPicPr>
            <a:picLocks noChangeAspect="1"/>
          </p:cNvPicPr>
          <p:nvPr>
            <p:custDataLst>
              <p:tags r:id="rId3"/>
            </p:custDataLst>
          </p:nvPr>
        </p:nvPicPr>
        <p:blipFill>
          <a:blip r:embed="rId4"/>
          <a:stretch>
            <a:fillRect/>
          </a:stretch>
        </p:blipFill>
        <p:spPr>
          <a:xfrm>
            <a:off x="6311900" y="2348865"/>
            <a:ext cx="5558790" cy="1892300"/>
          </a:xfrm>
          <a:prstGeom prst="rect">
            <a:avLst/>
          </a:prstGeom>
          <a:noFill/>
          <a:ln>
            <a:noFill/>
          </a:ln>
        </p:spPr>
      </p:pic>
      <p:pic>
        <p:nvPicPr>
          <p:cNvPr id="13" name="图片 4" descr="4b1a0697ae2dad80b04c53d0ff1b03e"/>
          <p:cNvPicPr>
            <a:picLocks noChangeAspect="1"/>
          </p:cNvPicPr>
          <p:nvPr>
            <p:custDataLst>
              <p:tags r:id="rId5"/>
            </p:custDataLst>
          </p:nvPr>
        </p:nvPicPr>
        <p:blipFill>
          <a:blip r:embed="rId6"/>
          <a:srcRect r="23603" b="7463"/>
          <a:stretch>
            <a:fillRect/>
          </a:stretch>
        </p:blipFill>
        <p:spPr>
          <a:xfrm>
            <a:off x="6456045" y="5301615"/>
            <a:ext cx="4026535" cy="5029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标题 1" descr="7b0a20202020227461726765744964223a202270726f636573734f6e6c696e6542756c6c6574220a7d0a"/>
          <p:cNvSpPr txBox="1"/>
          <p:nvPr/>
        </p:nvSpPr>
        <p:spPr>
          <a:xfrm>
            <a:off x="194946" y="260996"/>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81355" y="1196975"/>
            <a:ext cx="6533515" cy="659765"/>
          </a:xfrm>
          <a:prstGeom prst="roundRect">
            <a:avLst>
              <a:gd name="adj" fmla="val 7576"/>
            </a:avLst>
          </a:prstGeom>
          <a:solidFill>
            <a:schemeClr val="bg1"/>
          </a:solidFill>
          <a:ln w="12700" cap="rnd">
            <a:noFill/>
            <a:round/>
          </a:ln>
          <a:effectLst>
            <a:outerShdw blurRad="254000" dist="127000" algn="ctr" rotWithShape="0">
              <a:schemeClr val="bg1">
                <a:lumMod val="6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V="1">
            <a:off x="695154" y="1153132"/>
            <a:ext cx="1665370" cy="87028"/>
          </a:xfrm>
          <a:prstGeom prst="roundRect">
            <a:avLst>
              <a:gd name="adj" fmla="val 50000"/>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765810" y="1341120"/>
            <a:ext cx="2959735" cy="393065"/>
          </a:xfrm>
          <a:prstGeom prst="rect">
            <a:avLst/>
          </a:prstGeom>
          <a:noFill/>
          <a:ln>
            <a:noFill/>
          </a:ln>
        </p:spPr>
        <p:txBody>
          <a:bodyPr vert="horz" wrap="square" lIns="0" tIns="0" rIns="0" bIns="0" rtlCol="0" anchor="b"/>
          <a:lstStyle/>
          <a:p>
            <a:pPr algn="l">
              <a:lnSpc>
                <a:spcPct val="110000"/>
              </a:lnSpc>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2.随机点坐标的范围：0-10000</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p:txBody>
      </p:sp>
      <p:sp>
        <p:nvSpPr>
          <p:cNvPr id="9" name="标题 1"/>
          <p:cNvSpPr txBox="1"/>
          <p:nvPr/>
        </p:nvSpPr>
        <p:spPr>
          <a:xfrm>
            <a:off x="512890" y="404869"/>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0.实验开始前准备</a:t>
            </a:r>
            <a:endParaRPr kumimoji="1" lang="zh-CN" altLang="en-US"/>
          </a:p>
        </p:txBody>
      </p:sp>
      <p:cxnSp>
        <p:nvCxnSpPr>
          <p:cNvPr id="10" name="标题 1"/>
          <p:cNvCxnSpPr/>
          <p:nvPr/>
        </p:nvCxnSpPr>
        <p:spPr>
          <a:xfrm rot="16200000">
            <a:off x="233490" y="642165"/>
            <a:ext cx="404009" cy="0"/>
          </a:xfrm>
          <a:prstGeom prst="line">
            <a:avLst/>
          </a:prstGeom>
          <a:noFill/>
          <a:ln w="12700" cap="sq">
            <a:solidFill>
              <a:schemeClr val="accent1"/>
            </a:solidFill>
            <a:miter/>
          </a:ln>
        </p:spPr>
      </p:cxnSp>
      <p:sp>
        <p:nvSpPr>
          <p:cNvPr id="7" name="标题 1"/>
          <p:cNvSpPr txBox="1"/>
          <p:nvPr/>
        </p:nvSpPr>
        <p:spPr>
          <a:xfrm>
            <a:off x="559435" y="2162810"/>
            <a:ext cx="6616065" cy="3358515"/>
          </a:xfrm>
          <a:prstGeom prst="roundRect">
            <a:avLst>
              <a:gd name="adj" fmla="val 7576"/>
            </a:avLst>
          </a:prstGeom>
          <a:solidFill>
            <a:schemeClr val="bg1"/>
          </a:solidFill>
          <a:ln w="12700" cap="rnd">
            <a:noFill/>
            <a:round/>
          </a:ln>
          <a:effectLst>
            <a:outerShdw blurRad="254000" dist="127000" algn="ctr" rotWithShape="0">
              <a:schemeClr val="bg1">
                <a:lumMod val="65000"/>
                <a:alpha val="20000"/>
              </a:schemeClr>
            </a:outerShdw>
          </a:effectLst>
        </p:spPr>
        <p:txBody>
          <a:bodyPr vert="horz" wrap="square" lIns="91440" tIns="45720" rIns="91440" bIns="45720" rtlCol="0" anchor="ctr"/>
          <a:p>
            <a:pPr algn="l">
              <a:lnSpc>
                <a:spcPct val="110000"/>
              </a:lnSpc>
            </a:pPr>
            <a:endParaRPr kumimoji="1" lang="zh-CN" altLang="en-US"/>
          </a:p>
        </p:txBody>
      </p:sp>
      <p:sp>
        <p:nvSpPr>
          <p:cNvPr id="8" name="标题 1"/>
          <p:cNvSpPr txBox="1"/>
          <p:nvPr/>
        </p:nvSpPr>
        <p:spPr>
          <a:xfrm flipV="1">
            <a:off x="661499" y="2061182"/>
            <a:ext cx="1665370" cy="87028"/>
          </a:xfrm>
          <a:prstGeom prst="roundRect">
            <a:avLst>
              <a:gd name="adj" fmla="val 50000"/>
            </a:avLst>
          </a:prstGeom>
          <a:solidFill>
            <a:schemeClr val="accent2"/>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14" name="标题 1"/>
          <p:cNvSpPr txBox="1"/>
          <p:nvPr/>
        </p:nvSpPr>
        <p:spPr>
          <a:xfrm>
            <a:off x="624205" y="2271395"/>
            <a:ext cx="6344285" cy="3140710"/>
          </a:xfrm>
          <a:prstGeom prst="rect">
            <a:avLst/>
          </a:prstGeom>
          <a:noFill/>
          <a:ln>
            <a:noFill/>
          </a:ln>
        </p:spPr>
        <p:txBody>
          <a:bodyPr vert="horz" wrap="square" lIns="0" tIns="0" rIns="0" bIns="0" rtlCol="0" anchor="b"/>
          <a:p>
            <a:pPr algn="l">
              <a:lnSpc>
                <a:spcPct val="110000"/>
              </a:lnSpc>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3.随机生成点重复率的考量问题</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algn="l">
              <a:lnSpc>
                <a:spcPct val="110000"/>
              </a:lnSpc>
            </a:pP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285750" indent="-285750" algn="l">
              <a:lnSpc>
                <a:spcPct val="110000"/>
              </a:lnSpc>
              <a:buFont typeface="Wingdings" panose="05000000000000000000" charset="0"/>
              <a:buChar char="Ø"/>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若生成点的重复率过高，可能会导致实验的结果偏差，不能够有很好的信服力。根据实验要求的数据规模【N=100000—1000000】，我设计了间距均匀的数据集大小，N={100000,200000,300000,400000,500000,600000,700000,800000,900000,1000000}，分别根据不同的数据集大小计算其随机生成点的重复率。</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285750" indent="-285750" algn="l">
              <a:lnSpc>
                <a:spcPct val="110000"/>
              </a:lnSpc>
              <a:buFont typeface="Wingdings" panose="05000000000000000000" charset="0"/>
              <a:buChar char="Ø"/>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为了计算生成点随机率，我利用了set会自动去重的特点，并且unordered_set提供了常数时间复杂度的查找操作。使用&lt;unordered_set&gt;来存储生成的点，如果在生成过程中发现一个点以及存在于集合中，则视该点为重复点。</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p:txBody>
      </p:sp>
      <p:pic>
        <p:nvPicPr>
          <p:cNvPr id="15" name="图片 8" descr="9c1039a941d2bfcff430b2d43fa9234"/>
          <p:cNvPicPr>
            <a:picLocks noChangeAspect="1"/>
          </p:cNvPicPr>
          <p:nvPr/>
        </p:nvPicPr>
        <p:blipFill>
          <a:blip r:embed="rId1"/>
          <a:stretch>
            <a:fillRect/>
          </a:stretch>
        </p:blipFill>
        <p:spPr>
          <a:xfrm>
            <a:off x="8112125" y="1503680"/>
            <a:ext cx="3003550" cy="2354580"/>
          </a:xfrm>
          <a:prstGeom prst="rect">
            <a:avLst/>
          </a:prstGeom>
          <a:noFill/>
          <a:ln>
            <a:noFill/>
          </a:ln>
        </p:spPr>
      </p:pic>
      <p:sp>
        <p:nvSpPr>
          <p:cNvPr id="16" name="标题 1"/>
          <p:cNvSpPr txBox="1"/>
          <p:nvPr/>
        </p:nvSpPr>
        <p:spPr>
          <a:xfrm>
            <a:off x="7752080" y="4293235"/>
            <a:ext cx="3887470" cy="1112520"/>
          </a:xfrm>
          <a:prstGeom prst="rect">
            <a:avLst/>
          </a:prstGeom>
          <a:noFill/>
          <a:ln>
            <a:noFill/>
          </a:ln>
        </p:spPr>
        <p:txBody>
          <a:bodyPr vert="horz" wrap="square" lIns="0" tIns="0" rIns="0" bIns="0" rtlCol="0" anchor="b"/>
          <a:p>
            <a:pPr algn="l">
              <a:lnSpc>
                <a:spcPct val="110000"/>
              </a:lnSpc>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将随机点的坐标范围定在0-10000内，同时点集大小在100000-1000000内可以保持重复率在0.5%内，可提高统计分析的准确性和泛化能力以及可预测性和稳定性。</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p:txBody>
      </p:sp>
      <p:sp>
        <p:nvSpPr>
          <p:cNvPr id="18" name="标题 1"/>
          <p:cNvSpPr txBox="1"/>
          <p:nvPr/>
        </p:nvSpPr>
        <p:spPr>
          <a:xfrm>
            <a:off x="580390" y="5805170"/>
            <a:ext cx="6573520" cy="639445"/>
          </a:xfrm>
          <a:prstGeom prst="roundRect">
            <a:avLst>
              <a:gd name="adj" fmla="val 7576"/>
            </a:avLst>
          </a:prstGeom>
          <a:solidFill>
            <a:schemeClr val="bg1"/>
          </a:solidFill>
          <a:ln w="12700" cap="rnd">
            <a:noFill/>
            <a:round/>
          </a:ln>
          <a:effectLst>
            <a:outerShdw blurRad="254000" dist="127000" algn="ctr" rotWithShape="0">
              <a:schemeClr val="bg1">
                <a:lumMod val="65000"/>
                <a:alpha val="20000"/>
              </a:schemeClr>
            </a:outerShdw>
          </a:effectLst>
        </p:spPr>
        <p:txBody>
          <a:bodyPr vert="horz" wrap="square" lIns="91440" tIns="45720" rIns="91440" bIns="45720" rtlCol="0" anchor="ctr"/>
          <a:p>
            <a:pPr algn="ctr">
              <a:lnSpc>
                <a:spcPct val="110000"/>
              </a:lnSpc>
            </a:pPr>
            <a:endParaRPr kumimoji="1" lang="zh-CN" altLang="en-US"/>
          </a:p>
        </p:txBody>
      </p:sp>
      <p:sp>
        <p:nvSpPr>
          <p:cNvPr id="19" name="标题 1"/>
          <p:cNvSpPr txBox="1"/>
          <p:nvPr/>
        </p:nvSpPr>
        <p:spPr>
          <a:xfrm flipV="1">
            <a:off x="559264" y="5661632"/>
            <a:ext cx="1665370" cy="87028"/>
          </a:xfrm>
          <a:prstGeom prst="roundRect">
            <a:avLst>
              <a:gd name="adj" fmla="val 50000"/>
            </a:avLst>
          </a:prstGeom>
          <a:solidFill>
            <a:schemeClr val="accent2"/>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20" name="标题 1"/>
          <p:cNvSpPr txBox="1"/>
          <p:nvPr/>
        </p:nvSpPr>
        <p:spPr>
          <a:xfrm>
            <a:off x="580390" y="5922010"/>
            <a:ext cx="6202680" cy="393065"/>
          </a:xfrm>
          <a:prstGeom prst="rect">
            <a:avLst/>
          </a:prstGeom>
          <a:noFill/>
          <a:ln>
            <a:noFill/>
          </a:ln>
        </p:spPr>
        <p:txBody>
          <a:bodyPr vert="horz" wrap="square" lIns="0" tIns="0" rIns="0" bIns="0" rtlCol="0" anchor="b"/>
          <a:p>
            <a:pPr algn="l">
              <a:lnSpc>
                <a:spcPct val="110000"/>
              </a:lnSpc>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4.</a:t>
            </a:r>
            <a:r>
              <a:rPr kumimoji="1" lang="zh-CN" altLang="en-US"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图像化算法过程</a:t>
            </a: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：取坐标轴0-1000内，随机取十个点</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标题 1" descr="7b0a20202020227461726765744964223a202270726f636573734f6e6c696e6542756c6c6574220a7d0a"/>
          <p:cNvSpPr txBox="1"/>
          <p:nvPr/>
        </p:nvSpPr>
        <p:spPr>
          <a:xfrm>
            <a:off x="263526" y="260996"/>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512890" y="404869"/>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0.实验开始前准备</a:t>
            </a:r>
            <a:endParaRPr kumimoji="1" lang="zh-CN" altLang="en-US"/>
          </a:p>
        </p:txBody>
      </p:sp>
      <p:cxnSp>
        <p:nvCxnSpPr>
          <p:cNvPr id="10" name="标题 1"/>
          <p:cNvCxnSpPr/>
          <p:nvPr/>
        </p:nvCxnSpPr>
        <p:spPr>
          <a:xfrm rot="16200000">
            <a:off x="233490" y="642165"/>
            <a:ext cx="404009" cy="0"/>
          </a:xfrm>
          <a:prstGeom prst="line">
            <a:avLst/>
          </a:prstGeom>
          <a:noFill/>
          <a:ln w="12700" cap="sq">
            <a:solidFill>
              <a:schemeClr val="accent1"/>
            </a:solidFill>
            <a:miter/>
          </a:ln>
        </p:spPr>
      </p:cxnSp>
      <p:sp>
        <p:nvSpPr>
          <p:cNvPr id="7" name="标题 1"/>
          <p:cNvSpPr txBox="1"/>
          <p:nvPr/>
        </p:nvSpPr>
        <p:spPr>
          <a:xfrm>
            <a:off x="631825" y="1341120"/>
            <a:ext cx="6633845" cy="4221480"/>
          </a:xfrm>
          <a:prstGeom prst="roundRect">
            <a:avLst>
              <a:gd name="adj" fmla="val 7576"/>
            </a:avLst>
          </a:prstGeom>
          <a:solidFill>
            <a:schemeClr val="bg1"/>
          </a:solidFill>
          <a:ln w="12700" cap="rnd">
            <a:noFill/>
            <a:round/>
          </a:ln>
          <a:effectLst>
            <a:outerShdw blurRad="254000" dist="127000" algn="ctr" rotWithShape="0">
              <a:schemeClr val="bg1">
                <a:lumMod val="65000"/>
                <a:alpha val="20000"/>
              </a:schemeClr>
            </a:outerShdw>
          </a:effectLst>
        </p:spPr>
        <p:txBody>
          <a:bodyPr vert="horz" wrap="square" lIns="91440" tIns="45720" rIns="91440" bIns="45720" rtlCol="0" anchor="ctr"/>
          <a:p>
            <a:pPr algn="l">
              <a:lnSpc>
                <a:spcPct val="110000"/>
              </a:lnSpc>
            </a:pPr>
            <a:endParaRPr kumimoji="1" lang="zh-CN" altLang="en-US"/>
          </a:p>
        </p:txBody>
      </p:sp>
      <p:sp>
        <p:nvSpPr>
          <p:cNvPr id="14" name="标题 1"/>
          <p:cNvSpPr txBox="1"/>
          <p:nvPr/>
        </p:nvSpPr>
        <p:spPr>
          <a:xfrm>
            <a:off x="775335" y="1412875"/>
            <a:ext cx="6346190" cy="3667760"/>
          </a:xfrm>
          <a:prstGeom prst="rect">
            <a:avLst/>
          </a:prstGeom>
          <a:noFill/>
          <a:ln>
            <a:noFill/>
          </a:ln>
        </p:spPr>
        <p:txBody>
          <a:bodyPr vert="horz" wrap="square" lIns="0" tIns="0" rIns="0" bIns="0" rtlCol="0" anchor="b"/>
          <a:p>
            <a:pPr marL="285750" indent="-285750" algn="l">
              <a:lnSpc>
                <a:spcPct val="110000"/>
              </a:lnSpc>
              <a:buFont typeface="Wingdings" panose="05000000000000000000" charset="0"/>
              <a:buChar char="ü"/>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补充：原方案考量为随机率低于0.5%，试做较好的比率。但是在后续的实验中，发现出现</a:t>
            </a:r>
            <a:r>
              <a:rPr kumimoji="1" lang="en-US" altLang="zh-CN" sz="1600" b="1">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最小距离一直为0</a:t>
            </a: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的情况。</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285750" indent="-285750" algn="l">
              <a:lnSpc>
                <a:spcPct val="110000"/>
              </a:lnSpc>
              <a:buFont typeface="Wingdings" panose="05000000000000000000" charset="0"/>
              <a:buChar char="ü"/>
            </a:pP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285750" indent="-285750" algn="l">
              <a:lnSpc>
                <a:spcPct val="110000"/>
              </a:lnSpc>
              <a:buFont typeface="Wingdings" panose="05000000000000000000" charset="0"/>
              <a:buChar char="ü"/>
            </a:pP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285750" indent="-285750" algn="l">
              <a:lnSpc>
                <a:spcPct val="110000"/>
              </a:lnSpc>
              <a:buFont typeface="Wingdings" panose="05000000000000000000" charset="0"/>
              <a:buChar char="Ø"/>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随机点保持在0.5%重复率的范围内，仍然有机会使得重复点的出现，导致最小距离为0，所以这里使用两种方法。</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indent="0" algn="l">
              <a:lnSpc>
                <a:spcPct val="110000"/>
              </a:lnSpc>
              <a:buFont typeface="Wingdings" panose="05000000000000000000" charset="0"/>
              <a:buNone/>
            </a:pP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342900" indent="-342900" algn="l">
              <a:lnSpc>
                <a:spcPct val="110000"/>
              </a:lnSpc>
              <a:buFont typeface="+mj-ea"/>
              <a:buAutoNum type="circleNumDbPlain"/>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将随机点的坐标生成范围扩大到0-1e9。</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342900" indent="-342900" algn="l">
              <a:lnSpc>
                <a:spcPct val="110000"/>
              </a:lnSpc>
              <a:buFont typeface="+mj-ea"/>
              <a:buAutoNum type="circleNumDbPlain"/>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使用set集合的方法进行去重。</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marL="342900" indent="-342900" algn="l">
              <a:lnSpc>
                <a:spcPct val="110000"/>
              </a:lnSpc>
              <a:buFont typeface="+mj-ea"/>
              <a:buAutoNum type="circleNumDbPlain"/>
            </a:pP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a:p>
            <a:pPr algn="l">
              <a:lnSpc>
                <a:spcPct val="110000"/>
              </a:lnSpc>
            </a:pPr>
            <a:r>
              <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rPr>
              <a:t>在蛮力法的运行结果中发现，第二种方法可能是因为调用了库函数，使得运行时间更长，所以这里考虑使用扩大随机点坐标生成的方法。</a:t>
            </a:r>
            <a:endParaRPr kumimoji="1" lang="en-US" altLang="zh-CN" sz="1600">
              <a:ln w="12700">
                <a:noFill/>
              </a:ln>
              <a:solidFill>
                <a:srgbClr val="000000">
                  <a:alpha val="100000"/>
                </a:srgbClr>
              </a:solidFill>
              <a:latin typeface="华文楷体" panose="02010600040101010101" charset="-122"/>
              <a:ea typeface="华文楷体" panose="02010600040101010101" charset="-122"/>
              <a:cs typeface="华文楷体" panose="02010600040101010101" charset="-122"/>
            </a:endParaRPr>
          </a:p>
        </p:txBody>
      </p:sp>
      <p:pic>
        <p:nvPicPr>
          <p:cNvPr id="5" name="图片 4"/>
          <p:cNvPicPr>
            <a:picLocks noChangeAspect="1"/>
          </p:cNvPicPr>
          <p:nvPr/>
        </p:nvPicPr>
        <p:blipFill>
          <a:blip r:embed="rId1">
            <a:alphaModFix amt="100000"/>
          </a:blip>
          <a:srcRect/>
          <a:stretch>
            <a:fillRect/>
          </a:stretch>
        </p:blipFill>
        <p:spPr>
          <a:xfrm>
            <a:off x="7265505" y="767079"/>
            <a:ext cx="4871414" cy="53700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7081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766991" y="3141056"/>
            <a:ext cx="543206" cy="468280"/>
          </a:xfrm>
          <a:prstGeom prst="hexagon">
            <a:avLst/>
          </a:prstGeom>
          <a:solidFill>
            <a:schemeClr val="bg1">
              <a:lumMod val="95000"/>
            </a:schemeClr>
          </a:solidFill>
          <a:ln cap="sq">
            <a:noFill/>
            <a:prstDash val="solid"/>
            <a:miter/>
          </a:ln>
          <a:effectLst/>
        </p:spPr>
        <p:txBody>
          <a:bodyPr vert="horz" wrap="square" lIns="0" tIns="0" rIns="0" bIns="0" rtlCol="0" anchor="ctr"/>
          <a:lstStyle/>
          <a:p>
            <a:pPr algn="ctr">
              <a:lnSpc>
                <a:spcPct val="110000"/>
              </a:lnSpc>
            </a:pPr>
            <a:endParaRPr kumimoji="1" lang="zh-CN" altLang="en-US"/>
          </a:p>
        </p:txBody>
      </p:sp>
      <p:sp>
        <p:nvSpPr>
          <p:cNvPr id="6" name="标题 1"/>
          <p:cNvSpPr txBox="1"/>
          <p:nvPr/>
        </p:nvSpPr>
        <p:spPr>
          <a:xfrm>
            <a:off x="2855695" y="2420965"/>
            <a:ext cx="543206" cy="468280"/>
          </a:xfrm>
          <a:prstGeom prst="hexagon">
            <a:avLst/>
          </a:prstGeom>
          <a:solidFill>
            <a:schemeClr val="bg1">
              <a:lumMod val="95000"/>
            </a:schemeClr>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7" name="标题 1"/>
          <p:cNvSpPr txBox="1"/>
          <p:nvPr/>
        </p:nvSpPr>
        <p:spPr>
          <a:xfrm>
            <a:off x="1487278" y="4827505"/>
            <a:ext cx="1315808" cy="1083518"/>
          </a:xfrm>
          <a:prstGeom prst="hexagon">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ctr"/>
          <a:lstStyle/>
          <a:p>
            <a:pPr algn="ctr">
              <a:lnSpc>
                <a:spcPct val="110000"/>
              </a:lnSpc>
            </a:pPr>
            <a:endParaRPr kumimoji="1" lang="zh-CN" altLang="en-US"/>
          </a:p>
        </p:txBody>
      </p:sp>
      <p:sp>
        <p:nvSpPr>
          <p:cNvPr id="8" name="标题 1"/>
          <p:cNvSpPr txBox="1"/>
          <p:nvPr/>
        </p:nvSpPr>
        <p:spPr>
          <a:xfrm>
            <a:off x="1957540" y="5210172"/>
            <a:ext cx="314325" cy="342900"/>
          </a:xfrm>
          <a:prstGeom prst="downArrow">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4" name="标题 1"/>
          <p:cNvSpPr txBox="1"/>
          <p:nvPr/>
        </p:nvSpPr>
        <p:spPr>
          <a:xfrm>
            <a:off x="1343616" y="1340932"/>
            <a:ext cx="1541824" cy="1329159"/>
          </a:xfrm>
          <a:prstGeom prst="hexagon">
            <a:avLst/>
          </a:prstGeom>
          <a:solidFill>
            <a:schemeClr val="bg1"/>
          </a:solidFill>
          <a:ln cap="sq">
            <a:noFill/>
            <a:prstDash val="solid"/>
            <a:miter/>
          </a:ln>
          <a:effectLst>
            <a:outerShdw blurRad="762000" dist="254000" dir="5400000" algn="ctr" rotWithShape="0">
              <a:srgbClr val="000000">
                <a:alpha val="10000"/>
              </a:srgbClr>
            </a:outerShdw>
          </a:effectLst>
        </p:spPr>
        <p:txBody>
          <a:bodyPr vert="horz" wrap="square" lIns="0" tIns="0" rIns="0" bIns="0" rtlCol="0" anchor="ctr"/>
          <a:lstStyle/>
          <a:p>
            <a:pPr algn="ctr">
              <a:lnSpc>
                <a:spcPct val="110000"/>
              </a:lnSpc>
            </a:pPr>
            <a:endParaRPr kumimoji="1" lang="zh-CN" altLang="en-US"/>
          </a:p>
        </p:txBody>
      </p:sp>
      <p:cxnSp>
        <p:nvCxnSpPr>
          <p:cNvPr id="15" name="标题 1"/>
          <p:cNvCxnSpPr/>
          <p:nvPr/>
        </p:nvCxnSpPr>
        <p:spPr>
          <a:xfrm>
            <a:off x="3719736" y="2924521"/>
            <a:ext cx="6494780" cy="0"/>
          </a:xfrm>
          <a:prstGeom prst="line">
            <a:avLst/>
          </a:prstGeom>
          <a:noFill/>
          <a:ln w="6350" cap="sq">
            <a:solidFill>
              <a:schemeClr val="tx1">
                <a:alpha val="20000"/>
              </a:schemeClr>
            </a:solidFill>
            <a:miter/>
          </a:ln>
        </p:spPr>
      </p:cxnSp>
      <p:sp>
        <p:nvSpPr>
          <p:cNvPr id="16" name="标题 1"/>
          <p:cNvSpPr txBox="1"/>
          <p:nvPr/>
        </p:nvSpPr>
        <p:spPr>
          <a:xfrm>
            <a:off x="3781425" y="1634490"/>
            <a:ext cx="6120130" cy="1345565"/>
          </a:xfrm>
          <a:prstGeom prst="rect">
            <a:avLst/>
          </a:prstGeom>
          <a:noFill/>
          <a:ln>
            <a:noFill/>
          </a:ln>
        </p:spPr>
        <p:txBody>
          <a:bodyPr vert="horz" wrap="square" lIns="0" tIns="0" rIns="0" bIns="0" rtlCol="0" anchor="t"/>
          <a:lstStyle/>
          <a:p>
            <a:pPr algn="l">
              <a:lnSpc>
                <a:spcPct val="150000"/>
              </a:lnSpc>
            </a:pPr>
            <a:r>
              <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rPr>
              <a:t>遍历所有生成的点坐标，两两计算其距离的平方值，并与当前设定的最小值min进行比较，如果小于当前的min最小值，则更替min最小值，否则继续进行比较，最后返回得到的距离平方值开根即可。</a:t>
            </a:r>
            <a:endPar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endParaRPr>
          </a:p>
        </p:txBody>
      </p:sp>
      <p:sp>
        <p:nvSpPr>
          <p:cNvPr id="19" name="标题 1"/>
          <p:cNvSpPr txBox="1"/>
          <p:nvPr/>
        </p:nvSpPr>
        <p:spPr>
          <a:xfrm>
            <a:off x="2431148" y="1237871"/>
            <a:ext cx="294658" cy="254016"/>
          </a:xfrm>
          <a:prstGeom prst="hexagon">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ctr"/>
          <a:lstStyle/>
          <a:p>
            <a:pPr algn="ctr">
              <a:lnSpc>
                <a:spcPct val="110000"/>
              </a:lnSpc>
            </a:pPr>
            <a:endParaRPr kumimoji="1" lang="zh-CN" altLang="en-US"/>
          </a:p>
        </p:txBody>
      </p:sp>
      <p:sp>
        <p:nvSpPr>
          <p:cNvPr id="23" name="标题 1"/>
          <p:cNvSpPr txBox="1"/>
          <p:nvPr/>
        </p:nvSpPr>
        <p:spPr>
          <a:xfrm>
            <a:off x="1415265" y="1634541"/>
            <a:ext cx="1310600" cy="651490"/>
          </a:xfrm>
          <a:prstGeom prst="rect">
            <a:avLst/>
          </a:prstGeom>
          <a:noFill/>
          <a:ln>
            <a:noFill/>
          </a:ln>
        </p:spPr>
        <p:txBody>
          <a:bodyPr vert="horz" wrap="square" lIns="0" tIns="0" rIns="0" bIns="0" rtlCol="0" anchor="ctr"/>
          <a:lstStyle/>
          <a:p>
            <a:pPr algn="ctr">
              <a:lnSpc>
                <a:spcPct val="150000"/>
              </a:lnSpc>
            </a:pPr>
            <a:r>
              <a:rPr kumimoji="1" lang="en-US" altLang="zh-CN" sz="2800">
                <a:ln w="12700">
                  <a:noFill/>
                </a:ln>
                <a:solidFill>
                  <a:srgbClr val="404040">
                    <a:alpha val="100000"/>
                  </a:srgbClr>
                </a:solidFill>
                <a:latin typeface="OPPOSans B" panose="00020600040101010101" charset="-122"/>
                <a:ea typeface="OPPOSans B" panose="00020600040101010101" charset="-122"/>
                <a:cs typeface="OPPOSans B" panose="00020600040101010101" charset="-122"/>
              </a:rPr>
              <a:t>01</a:t>
            </a:r>
            <a:endParaRPr kumimoji="1" lang="zh-CN" altLang="en-US"/>
          </a:p>
        </p:txBody>
      </p:sp>
      <p:sp>
        <p:nvSpPr>
          <p:cNvPr id="24" name="标题 1"/>
          <p:cNvSpPr txBox="1"/>
          <p:nvPr/>
        </p:nvSpPr>
        <p:spPr>
          <a:xfrm>
            <a:off x="3777465" y="979856"/>
            <a:ext cx="6123900" cy="511790"/>
          </a:xfrm>
          <a:prstGeom prst="rect">
            <a:avLst/>
          </a:prstGeom>
          <a:noFill/>
          <a:ln>
            <a:noFill/>
          </a:ln>
        </p:spPr>
        <p:txBody>
          <a:bodyPr vert="horz" wrap="square" lIns="0" tIns="0" rIns="0" bIns="0" rtlCol="0" anchor="b"/>
          <a:lstStyle/>
          <a:p>
            <a:pPr algn="l">
              <a:lnSpc>
                <a:spcPct val="150000"/>
              </a:lnSpc>
            </a:pPr>
            <a:r>
              <a:rPr kumimoji="1" lang="en-US" altLang="zh-CN"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rPr>
              <a:t>蛮力法算法原理</a:t>
            </a:r>
            <a:endParaRPr kumimoji="1" lang="en-US" altLang="zh-CN"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endParaRPr>
          </a:p>
        </p:txBody>
      </p:sp>
      <p:cxnSp>
        <p:nvCxnSpPr>
          <p:cNvPr id="27" name="标题 1"/>
          <p:cNvCxnSpPr/>
          <p:nvPr/>
        </p:nvCxnSpPr>
        <p:spPr>
          <a:xfrm>
            <a:off x="271590" y="692965"/>
            <a:ext cx="1737509" cy="0"/>
          </a:xfrm>
          <a:prstGeom prst="line">
            <a:avLst/>
          </a:prstGeom>
          <a:noFill/>
          <a:ln w="12700" cap="sq">
            <a:solidFill>
              <a:schemeClr val="accent1"/>
            </a:solidFill>
            <a:miter/>
          </a:ln>
        </p:spPr>
      </p:cxnSp>
      <p:sp>
        <p:nvSpPr>
          <p:cNvPr id="28" name="标题 1"/>
          <p:cNvSpPr txBox="1"/>
          <p:nvPr/>
        </p:nvSpPr>
        <p:spPr>
          <a:xfrm>
            <a:off x="550990" y="18833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1.蛮力法实验过程</a:t>
            </a:r>
            <a:endParaRPr kumimoji="1" lang="zh-CN" altLang="en-US"/>
          </a:p>
        </p:txBody>
      </p:sp>
      <p:cxnSp>
        <p:nvCxnSpPr>
          <p:cNvPr id="29" name="标题 1"/>
          <p:cNvCxnSpPr/>
          <p:nvPr/>
        </p:nvCxnSpPr>
        <p:spPr>
          <a:xfrm rot="16200000">
            <a:off x="233490" y="642165"/>
            <a:ext cx="404009" cy="0"/>
          </a:xfrm>
          <a:prstGeom prst="line">
            <a:avLst/>
          </a:prstGeom>
          <a:noFill/>
          <a:ln w="12700" cap="sq">
            <a:solidFill>
              <a:schemeClr val="accent1"/>
            </a:solidFill>
            <a:miter/>
          </a:ln>
        </p:spPr>
      </p:cxnSp>
      <p:sp>
        <p:nvSpPr>
          <p:cNvPr id="31" name="标题 1"/>
          <p:cNvSpPr txBox="1"/>
          <p:nvPr/>
        </p:nvSpPr>
        <p:spPr>
          <a:xfrm>
            <a:off x="1410291" y="3092897"/>
            <a:ext cx="1541824" cy="1329159"/>
          </a:xfrm>
          <a:prstGeom prst="hexagon">
            <a:avLst/>
          </a:prstGeom>
          <a:solidFill>
            <a:schemeClr val="bg1"/>
          </a:solidFill>
          <a:ln cap="sq">
            <a:noFill/>
            <a:prstDash val="solid"/>
            <a:miter/>
          </a:ln>
          <a:effectLst>
            <a:outerShdw blurRad="762000" dist="254000" dir="5400000" algn="ctr" rotWithShape="0">
              <a:srgbClr val="000000">
                <a:alpha val="10000"/>
              </a:srgbClr>
            </a:outerShdw>
          </a:effectLst>
        </p:spPr>
        <p:txBody>
          <a:bodyPr vert="horz" wrap="square" lIns="0" tIns="0" rIns="0" bIns="0" rtlCol="0" anchor="ctr"/>
          <a:p>
            <a:pPr algn="ctr">
              <a:lnSpc>
                <a:spcPct val="110000"/>
              </a:lnSpc>
            </a:pPr>
            <a:endParaRPr kumimoji="1" lang="zh-CN" altLang="en-US"/>
          </a:p>
        </p:txBody>
      </p:sp>
      <p:sp>
        <p:nvSpPr>
          <p:cNvPr id="30" name="标题 1"/>
          <p:cNvSpPr txBox="1"/>
          <p:nvPr/>
        </p:nvSpPr>
        <p:spPr>
          <a:xfrm>
            <a:off x="1487020" y="3390951"/>
            <a:ext cx="1310600" cy="651490"/>
          </a:xfrm>
          <a:prstGeom prst="rect">
            <a:avLst/>
          </a:prstGeom>
          <a:noFill/>
          <a:ln>
            <a:noFill/>
          </a:ln>
        </p:spPr>
        <p:txBody>
          <a:bodyPr vert="horz" wrap="square" lIns="0" tIns="0" rIns="0" bIns="0" rtlCol="0" anchor="ctr"/>
          <a:p>
            <a:pPr algn="ctr">
              <a:lnSpc>
                <a:spcPct val="150000"/>
              </a:lnSpc>
            </a:pPr>
            <a:r>
              <a:rPr kumimoji="1" lang="en-US" altLang="zh-CN" sz="2800">
                <a:ln w="12700">
                  <a:noFill/>
                </a:ln>
                <a:solidFill>
                  <a:srgbClr val="404040">
                    <a:alpha val="100000"/>
                  </a:srgbClr>
                </a:solidFill>
                <a:latin typeface="OPPOSans B" panose="00020600040101010101" charset="-122"/>
                <a:ea typeface="OPPOSans B" panose="00020600040101010101" charset="-122"/>
                <a:cs typeface="OPPOSans B" panose="00020600040101010101" charset="-122"/>
              </a:rPr>
              <a:t>02</a:t>
            </a:r>
            <a:endParaRPr kumimoji="1" lang="zh-CN" altLang="en-US"/>
          </a:p>
        </p:txBody>
      </p:sp>
      <p:sp>
        <p:nvSpPr>
          <p:cNvPr id="32" name="标题 1"/>
          <p:cNvSpPr txBox="1"/>
          <p:nvPr/>
        </p:nvSpPr>
        <p:spPr>
          <a:xfrm>
            <a:off x="3777465" y="3093136"/>
            <a:ext cx="6123900" cy="511790"/>
          </a:xfrm>
          <a:prstGeom prst="rect">
            <a:avLst/>
          </a:prstGeom>
          <a:noFill/>
          <a:ln>
            <a:noFill/>
          </a:ln>
        </p:spPr>
        <p:txBody>
          <a:bodyPr vert="horz" wrap="square" lIns="0" tIns="0" rIns="0" bIns="0" rtlCol="0" anchor="b"/>
          <a:p>
            <a:pPr algn="l">
              <a:lnSpc>
                <a:spcPct val="150000"/>
              </a:lnSpc>
              <a:buClrTx/>
              <a:buSzTx/>
              <a:buFontTx/>
            </a:pPr>
            <a:r>
              <a:rPr kumimoji="1" lang="en-US" altLang="zh-CN"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rPr>
              <a:t>核心伪代码</a:t>
            </a:r>
            <a:endParaRPr kumimoji="1" lang="en-US" altLang="zh-CN"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endParaRPr>
          </a:p>
        </p:txBody>
      </p:sp>
      <p:pic>
        <p:nvPicPr>
          <p:cNvPr id="33" name="图片 32"/>
          <p:cNvPicPr>
            <a:picLocks noChangeAspect="1"/>
          </p:cNvPicPr>
          <p:nvPr/>
        </p:nvPicPr>
        <p:blipFill>
          <a:blip r:embed="rId1"/>
          <a:stretch>
            <a:fillRect/>
          </a:stretch>
        </p:blipFill>
        <p:spPr>
          <a:xfrm>
            <a:off x="3719830" y="3773170"/>
            <a:ext cx="5650230" cy="2679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766991" y="3141056"/>
            <a:ext cx="543206" cy="468280"/>
          </a:xfrm>
          <a:prstGeom prst="hexagon">
            <a:avLst/>
          </a:prstGeom>
          <a:solidFill>
            <a:schemeClr val="bg1">
              <a:lumMod val="95000"/>
            </a:schemeClr>
          </a:solidFill>
          <a:ln cap="sq">
            <a:noFill/>
            <a:prstDash val="solid"/>
            <a:miter/>
          </a:ln>
          <a:effectLst/>
        </p:spPr>
        <p:txBody>
          <a:bodyPr vert="horz" wrap="square" lIns="0" tIns="0" rIns="0" bIns="0" rtlCol="0" anchor="ctr"/>
          <a:lstStyle/>
          <a:p>
            <a:pPr algn="ctr">
              <a:lnSpc>
                <a:spcPct val="110000"/>
              </a:lnSpc>
            </a:pPr>
            <a:endParaRPr kumimoji="1" lang="zh-CN" altLang="en-US"/>
          </a:p>
        </p:txBody>
      </p:sp>
      <p:sp>
        <p:nvSpPr>
          <p:cNvPr id="6" name="标题 1"/>
          <p:cNvSpPr txBox="1"/>
          <p:nvPr/>
        </p:nvSpPr>
        <p:spPr>
          <a:xfrm>
            <a:off x="2855695" y="2420965"/>
            <a:ext cx="543206" cy="468280"/>
          </a:xfrm>
          <a:prstGeom prst="hexagon">
            <a:avLst/>
          </a:prstGeom>
          <a:solidFill>
            <a:schemeClr val="bg1">
              <a:lumMod val="95000"/>
            </a:schemeClr>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7" name="标题 1"/>
          <p:cNvSpPr txBox="1"/>
          <p:nvPr/>
        </p:nvSpPr>
        <p:spPr>
          <a:xfrm>
            <a:off x="1487278" y="4827505"/>
            <a:ext cx="1315808" cy="1083518"/>
          </a:xfrm>
          <a:prstGeom prst="hexagon">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ctr"/>
          <a:lstStyle/>
          <a:p>
            <a:pPr algn="ctr">
              <a:lnSpc>
                <a:spcPct val="110000"/>
              </a:lnSpc>
            </a:pPr>
            <a:endParaRPr kumimoji="1" lang="zh-CN" altLang="en-US"/>
          </a:p>
        </p:txBody>
      </p:sp>
      <p:sp>
        <p:nvSpPr>
          <p:cNvPr id="8" name="标题 1"/>
          <p:cNvSpPr txBox="1"/>
          <p:nvPr/>
        </p:nvSpPr>
        <p:spPr>
          <a:xfrm>
            <a:off x="1957540" y="5210172"/>
            <a:ext cx="314325" cy="342900"/>
          </a:xfrm>
          <a:prstGeom prst="downArrow">
            <a:avLst/>
          </a:prstGeom>
          <a:solidFill>
            <a:schemeClr val="bg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4" name="标题 1"/>
          <p:cNvSpPr txBox="1"/>
          <p:nvPr/>
        </p:nvSpPr>
        <p:spPr>
          <a:xfrm>
            <a:off x="1343616" y="1340932"/>
            <a:ext cx="1541824" cy="1329159"/>
          </a:xfrm>
          <a:prstGeom prst="hexagon">
            <a:avLst/>
          </a:prstGeom>
          <a:solidFill>
            <a:schemeClr val="bg1"/>
          </a:solidFill>
          <a:ln cap="sq">
            <a:noFill/>
            <a:prstDash val="solid"/>
            <a:miter/>
          </a:ln>
          <a:effectLst>
            <a:outerShdw blurRad="762000" dist="254000" dir="5400000" algn="ctr" rotWithShape="0">
              <a:srgbClr val="000000">
                <a:alpha val="10000"/>
              </a:srgbClr>
            </a:outerShdw>
          </a:effectLst>
        </p:spPr>
        <p:txBody>
          <a:bodyPr vert="horz" wrap="square" lIns="0" tIns="0" rIns="0" bIns="0" rtlCol="0" anchor="ctr"/>
          <a:lstStyle/>
          <a:p>
            <a:pPr algn="ctr">
              <a:lnSpc>
                <a:spcPct val="110000"/>
              </a:lnSpc>
            </a:pPr>
            <a:endParaRPr kumimoji="1" lang="zh-CN" altLang="en-US"/>
          </a:p>
        </p:txBody>
      </p:sp>
      <p:cxnSp>
        <p:nvCxnSpPr>
          <p:cNvPr id="15" name="标题 1"/>
          <p:cNvCxnSpPr/>
          <p:nvPr/>
        </p:nvCxnSpPr>
        <p:spPr>
          <a:xfrm flipV="1">
            <a:off x="3647346" y="3329651"/>
            <a:ext cx="7705090" cy="6350"/>
          </a:xfrm>
          <a:prstGeom prst="line">
            <a:avLst/>
          </a:prstGeom>
          <a:noFill/>
          <a:ln w="6350" cap="sq">
            <a:solidFill>
              <a:schemeClr val="tx1">
                <a:alpha val="20000"/>
              </a:schemeClr>
            </a:solidFill>
            <a:miter/>
          </a:ln>
        </p:spPr>
      </p:cxnSp>
      <p:sp>
        <p:nvSpPr>
          <p:cNvPr id="16" name="标题 1"/>
          <p:cNvSpPr txBox="1"/>
          <p:nvPr/>
        </p:nvSpPr>
        <p:spPr>
          <a:xfrm>
            <a:off x="3719830" y="1436370"/>
            <a:ext cx="6120130" cy="313055"/>
          </a:xfrm>
          <a:prstGeom prst="rect">
            <a:avLst/>
          </a:prstGeom>
          <a:noFill/>
          <a:ln>
            <a:noFill/>
          </a:ln>
        </p:spPr>
        <p:txBody>
          <a:bodyPr vert="horz" wrap="square" lIns="0" tIns="0" rIns="0" bIns="0" rtlCol="0" anchor="t"/>
          <a:lstStyle/>
          <a:p>
            <a:pPr algn="l">
              <a:lnSpc>
                <a:spcPct val="150000"/>
              </a:lnSpc>
            </a:pPr>
            <a:r>
              <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rPr>
              <a:t>从伪代码中代码的执行次数可见。计算得到的基本操作次数为：</a:t>
            </a:r>
            <a:endPar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endParaRPr>
          </a:p>
        </p:txBody>
      </p:sp>
      <p:sp>
        <p:nvSpPr>
          <p:cNvPr id="19" name="标题 1"/>
          <p:cNvSpPr txBox="1"/>
          <p:nvPr/>
        </p:nvSpPr>
        <p:spPr>
          <a:xfrm>
            <a:off x="2431148" y="1237871"/>
            <a:ext cx="294658" cy="254016"/>
          </a:xfrm>
          <a:prstGeom prst="hexagon">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ctr"/>
          <a:lstStyle/>
          <a:p>
            <a:pPr algn="ctr">
              <a:lnSpc>
                <a:spcPct val="110000"/>
              </a:lnSpc>
            </a:pPr>
            <a:endParaRPr kumimoji="1" lang="zh-CN" altLang="en-US"/>
          </a:p>
        </p:txBody>
      </p:sp>
      <p:sp>
        <p:nvSpPr>
          <p:cNvPr id="23" name="标题 1"/>
          <p:cNvSpPr txBox="1"/>
          <p:nvPr/>
        </p:nvSpPr>
        <p:spPr>
          <a:xfrm>
            <a:off x="1415265" y="1634541"/>
            <a:ext cx="1310600" cy="651490"/>
          </a:xfrm>
          <a:prstGeom prst="rect">
            <a:avLst/>
          </a:prstGeom>
          <a:noFill/>
          <a:ln>
            <a:noFill/>
          </a:ln>
        </p:spPr>
        <p:txBody>
          <a:bodyPr vert="horz" wrap="square" lIns="0" tIns="0" rIns="0" bIns="0" rtlCol="0" anchor="ctr"/>
          <a:lstStyle/>
          <a:p>
            <a:pPr algn="ctr">
              <a:lnSpc>
                <a:spcPct val="150000"/>
              </a:lnSpc>
            </a:pPr>
            <a:r>
              <a:rPr kumimoji="1" lang="en-US" altLang="zh-CN" sz="2800">
                <a:ln w="12700">
                  <a:noFill/>
                </a:ln>
                <a:solidFill>
                  <a:srgbClr val="404040">
                    <a:alpha val="100000"/>
                  </a:srgbClr>
                </a:solidFill>
                <a:latin typeface="OPPOSans B" panose="00020600040101010101" charset="-122"/>
                <a:ea typeface="OPPOSans B" panose="00020600040101010101" charset="-122"/>
                <a:cs typeface="OPPOSans B" panose="00020600040101010101" charset="-122"/>
              </a:rPr>
              <a:t>03</a:t>
            </a:r>
            <a:endParaRPr kumimoji="1" lang="zh-CN" altLang="en-US"/>
          </a:p>
        </p:txBody>
      </p:sp>
      <p:sp>
        <p:nvSpPr>
          <p:cNvPr id="24" name="标题 1"/>
          <p:cNvSpPr txBox="1"/>
          <p:nvPr/>
        </p:nvSpPr>
        <p:spPr>
          <a:xfrm>
            <a:off x="3719680" y="908736"/>
            <a:ext cx="6123900" cy="511790"/>
          </a:xfrm>
          <a:prstGeom prst="rect">
            <a:avLst/>
          </a:prstGeom>
          <a:noFill/>
          <a:ln>
            <a:noFill/>
          </a:ln>
        </p:spPr>
        <p:txBody>
          <a:bodyPr vert="horz" wrap="square" lIns="0" tIns="0" rIns="0" bIns="0" rtlCol="0" anchor="b"/>
          <a:lstStyle/>
          <a:p>
            <a:pPr algn="l">
              <a:lnSpc>
                <a:spcPct val="150000"/>
              </a:lnSpc>
            </a:pPr>
            <a:r>
              <a:rPr kumimoji="1" lang="en-US" altLang="zh-CN"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rPr>
              <a:t>蛮力法</a:t>
            </a:r>
            <a:r>
              <a:rPr kumimoji="1" lang="zh-CN" altLang="en-US"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rPr>
              <a:t>时间复杂度分析</a:t>
            </a:r>
            <a:endParaRPr kumimoji="1" lang="zh-CN" altLang="en-US"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endParaRPr>
          </a:p>
        </p:txBody>
      </p:sp>
      <p:cxnSp>
        <p:nvCxnSpPr>
          <p:cNvPr id="27" name="标题 1"/>
          <p:cNvCxnSpPr/>
          <p:nvPr/>
        </p:nvCxnSpPr>
        <p:spPr>
          <a:xfrm>
            <a:off x="271590" y="692965"/>
            <a:ext cx="1737509" cy="0"/>
          </a:xfrm>
          <a:prstGeom prst="line">
            <a:avLst/>
          </a:prstGeom>
          <a:noFill/>
          <a:ln w="12700" cap="sq">
            <a:solidFill>
              <a:schemeClr val="accent1"/>
            </a:solidFill>
            <a:miter/>
          </a:ln>
        </p:spPr>
      </p:cxnSp>
      <p:sp>
        <p:nvSpPr>
          <p:cNvPr id="28" name="标题 1"/>
          <p:cNvSpPr txBox="1"/>
          <p:nvPr/>
        </p:nvSpPr>
        <p:spPr>
          <a:xfrm>
            <a:off x="550990" y="18833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1.蛮力法实验过程</a:t>
            </a:r>
            <a:endParaRPr kumimoji="1" lang="zh-CN" altLang="en-US"/>
          </a:p>
        </p:txBody>
      </p:sp>
      <p:cxnSp>
        <p:nvCxnSpPr>
          <p:cNvPr id="29" name="标题 1"/>
          <p:cNvCxnSpPr/>
          <p:nvPr/>
        </p:nvCxnSpPr>
        <p:spPr>
          <a:xfrm rot="16200000">
            <a:off x="233490" y="642165"/>
            <a:ext cx="404009" cy="0"/>
          </a:xfrm>
          <a:prstGeom prst="line">
            <a:avLst/>
          </a:prstGeom>
          <a:noFill/>
          <a:ln w="12700" cap="sq">
            <a:solidFill>
              <a:schemeClr val="accent1"/>
            </a:solidFill>
            <a:miter/>
          </a:ln>
        </p:spPr>
      </p:cxnSp>
      <p:sp>
        <p:nvSpPr>
          <p:cNvPr id="31" name="标题 1"/>
          <p:cNvSpPr txBox="1"/>
          <p:nvPr/>
        </p:nvSpPr>
        <p:spPr>
          <a:xfrm>
            <a:off x="1410291" y="3092897"/>
            <a:ext cx="1541824" cy="1329159"/>
          </a:xfrm>
          <a:prstGeom prst="hexagon">
            <a:avLst/>
          </a:prstGeom>
          <a:solidFill>
            <a:schemeClr val="bg1"/>
          </a:solidFill>
          <a:ln cap="sq">
            <a:noFill/>
            <a:prstDash val="solid"/>
            <a:miter/>
          </a:ln>
          <a:effectLst>
            <a:outerShdw blurRad="762000" dist="254000" dir="5400000" algn="ctr" rotWithShape="0">
              <a:srgbClr val="000000">
                <a:alpha val="10000"/>
              </a:srgbClr>
            </a:outerShdw>
          </a:effectLst>
        </p:spPr>
        <p:txBody>
          <a:bodyPr vert="horz" wrap="square" lIns="0" tIns="0" rIns="0" bIns="0" rtlCol="0" anchor="ctr"/>
          <a:p>
            <a:pPr algn="ctr">
              <a:lnSpc>
                <a:spcPct val="110000"/>
              </a:lnSpc>
            </a:pPr>
            <a:endParaRPr kumimoji="1" lang="zh-CN" altLang="en-US"/>
          </a:p>
        </p:txBody>
      </p:sp>
      <p:sp>
        <p:nvSpPr>
          <p:cNvPr id="30" name="标题 1"/>
          <p:cNvSpPr txBox="1"/>
          <p:nvPr/>
        </p:nvSpPr>
        <p:spPr>
          <a:xfrm>
            <a:off x="1487020" y="3390951"/>
            <a:ext cx="1310600" cy="651490"/>
          </a:xfrm>
          <a:prstGeom prst="rect">
            <a:avLst/>
          </a:prstGeom>
          <a:noFill/>
          <a:ln>
            <a:noFill/>
          </a:ln>
        </p:spPr>
        <p:txBody>
          <a:bodyPr vert="horz" wrap="square" lIns="0" tIns="0" rIns="0" bIns="0" rtlCol="0" anchor="ctr"/>
          <a:p>
            <a:pPr algn="ctr">
              <a:lnSpc>
                <a:spcPct val="150000"/>
              </a:lnSpc>
            </a:pPr>
            <a:r>
              <a:rPr kumimoji="1" lang="en-US" altLang="zh-CN" sz="2800">
                <a:ln w="12700">
                  <a:noFill/>
                </a:ln>
                <a:solidFill>
                  <a:srgbClr val="404040">
                    <a:alpha val="100000"/>
                  </a:srgbClr>
                </a:solidFill>
                <a:latin typeface="OPPOSans B" panose="00020600040101010101" charset="-122"/>
                <a:ea typeface="OPPOSans B" panose="00020600040101010101" charset="-122"/>
                <a:cs typeface="OPPOSans B" panose="00020600040101010101" charset="-122"/>
              </a:rPr>
              <a:t>04</a:t>
            </a:r>
            <a:endParaRPr kumimoji="1" lang="en-US" altLang="zh-CN" sz="2800">
              <a:ln w="12700">
                <a:noFill/>
              </a:ln>
              <a:solidFill>
                <a:srgbClr val="404040">
                  <a:alpha val="100000"/>
                </a:srgbClr>
              </a:solidFill>
              <a:latin typeface="OPPOSans B" panose="00020600040101010101" charset="-122"/>
              <a:ea typeface="OPPOSans B" panose="00020600040101010101" charset="-122"/>
              <a:cs typeface="OPPOSans B" panose="00020600040101010101" charset="-122"/>
            </a:endParaRPr>
          </a:p>
        </p:txBody>
      </p:sp>
      <p:sp>
        <p:nvSpPr>
          <p:cNvPr id="32" name="标题 1"/>
          <p:cNvSpPr txBox="1"/>
          <p:nvPr/>
        </p:nvSpPr>
        <p:spPr>
          <a:xfrm>
            <a:off x="3863190" y="3383966"/>
            <a:ext cx="6123900" cy="511790"/>
          </a:xfrm>
          <a:prstGeom prst="rect">
            <a:avLst/>
          </a:prstGeom>
          <a:noFill/>
          <a:ln>
            <a:noFill/>
          </a:ln>
        </p:spPr>
        <p:txBody>
          <a:bodyPr vert="horz" wrap="square" lIns="0" tIns="0" rIns="0" bIns="0" rtlCol="0" anchor="b"/>
          <a:p>
            <a:pPr algn="l">
              <a:lnSpc>
                <a:spcPct val="150000"/>
              </a:lnSpc>
              <a:buClrTx/>
              <a:buSzTx/>
              <a:buFontTx/>
            </a:pPr>
            <a:r>
              <a:rPr kumimoji="1" lang="en-US" altLang="zh-CN"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rPr>
              <a:t>算法图像化过程</a:t>
            </a:r>
            <a:endParaRPr kumimoji="1" lang="en-US" altLang="zh-CN" b="1">
              <a:ln w="12700">
                <a:noFill/>
              </a:ln>
              <a:solidFill>
                <a:srgbClr val="404040">
                  <a:alpha val="100000"/>
                </a:srgbClr>
              </a:solidFill>
              <a:latin typeface="华文楷体" panose="02010600040101010101" charset="-122"/>
              <a:ea typeface="华文楷体" panose="02010600040101010101" charset="-122"/>
              <a:cs typeface="Source Han Sans CN Bold" panose="020B0800000000000000" charset="-122"/>
            </a:endParaRPr>
          </a:p>
        </p:txBody>
      </p:sp>
      <p:pic>
        <p:nvPicPr>
          <p:cNvPr id="9" name="图片 8"/>
          <p:cNvPicPr>
            <a:picLocks noChangeAspect="1"/>
          </p:cNvPicPr>
          <p:nvPr/>
        </p:nvPicPr>
        <p:blipFill>
          <a:blip r:embed="rId1"/>
          <a:stretch>
            <a:fillRect/>
          </a:stretch>
        </p:blipFill>
        <p:spPr>
          <a:xfrm>
            <a:off x="3863340" y="1917065"/>
            <a:ext cx="3848100" cy="635000"/>
          </a:xfrm>
          <a:prstGeom prst="rect">
            <a:avLst/>
          </a:prstGeom>
        </p:spPr>
      </p:pic>
      <p:pic>
        <p:nvPicPr>
          <p:cNvPr id="10" name="图片 9"/>
          <p:cNvPicPr>
            <a:picLocks noChangeAspect="1"/>
          </p:cNvPicPr>
          <p:nvPr/>
        </p:nvPicPr>
        <p:blipFill>
          <a:blip r:embed="rId2"/>
          <a:stretch>
            <a:fillRect/>
          </a:stretch>
        </p:blipFill>
        <p:spPr>
          <a:xfrm>
            <a:off x="7967980" y="1988820"/>
            <a:ext cx="3511550" cy="1168400"/>
          </a:xfrm>
          <a:prstGeom prst="rect">
            <a:avLst/>
          </a:prstGeom>
        </p:spPr>
      </p:pic>
      <p:pic>
        <p:nvPicPr>
          <p:cNvPr id="11" name="暴力法算法过程">
            <a:hlinkClick r:id="" action="ppaction://media"/>
          </p:cNvPr>
          <p:cNvPicPr/>
          <p:nvPr>
            <a:videoFile r:link="rId3"/>
            <p:extLst>
              <p:ext uri="{DAA4B4D4-6D71-4841-9C94-3DE7FCFB9230}">
                <p14:media xmlns:p14="http://schemas.microsoft.com/office/powerpoint/2010/main" r:embed="rId4"/>
              </p:ext>
            </p:extLst>
            <p:custDataLst>
              <p:tags r:id="rId5"/>
            </p:custDataLst>
          </p:nvPr>
        </p:nvPicPr>
        <p:blipFill>
          <a:blip r:embed="rId6"/>
          <a:stretch>
            <a:fillRect/>
          </a:stretch>
        </p:blipFill>
        <p:spPr>
          <a:xfrm>
            <a:off x="7031990" y="3609340"/>
            <a:ext cx="3796665" cy="2757170"/>
          </a:xfrm>
          <a:prstGeom prst="rect">
            <a:avLst/>
          </a:prstGeom>
        </p:spPr>
      </p:pic>
      <p:sp>
        <p:nvSpPr>
          <p:cNvPr id="12" name="文本框 11"/>
          <p:cNvSpPr txBox="1"/>
          <p:nvPr/>
        </p:nvSpPr>
        <p:spPr>
          <a:xfrm>
            <a:off x="3863340" y="3997325"/>
            <a:ext cx="2214880" cy="829945"/>
          </a:xfrm>
          <a:prstGeom prst="rect">
            <a:avLst/>
          </a:prstGeom>
          <a:noFill/>
        </p:spPr>
        <p:txBody>
          <a:bodyPr wrap="none" rtlCol="0">
            <a:spAutoFit/>
          </a:bodyPr>
          <a:p>
            <a:pPr algn="l">
              <a:lnSpc>
                <a:spcPct val="150000"/>
              </a:lnSpc>
              <a:buClrTx/>
              <a:buSzTx/>
              <a:buFontTx/>
            </a:pPr>
            <a:r>
              <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rPr>
              <a:t>红色实线：最近点对</a:t>
            </a:r>
            <a:endPar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endParaRPr>
          </a:p>
          <a:p>
            <a:pPr algn="l">
              <a:lnSpc>
                <a:spcPct val="150000"/>
              </a:lnSpc>
              <a:buClrTx/>
              <a:buSzTx/>
              <a:buFontTx/>
            </a:pPr>
            <a:r>
              <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rPr>
              <a:t>黄色实线：当前的点对</a:t>
            </a:r>
            <a:endParaRPr kumimoji="1" lang="en-US" altLang="zh-CN" sz="1600">
              <a:ln w="12700">
                <a:noFill/>
              </a:ln>
              <a:solidFill>
                <a:srgbClr val="404040">
                  <a:alpha val="100000"/>
                </a:srgb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video fullScrn="0">
              <p:cMediaNode>
                <p:cTn id="2" fill="hold" display="1">
                  <p:stCondLst>
                    <p:cond delay="indefinite"/>
                  </p:stCondLst>
                </p:cTn>
                <p:tgtEl>
                  <p:spTgt spid="11"/>
                </p:tgtEl>
              </p:cMediaNode>
            </p:video>
            <p:seq concurrent="1" nextAc="seek">
              <p:cTn id="3" restart="whenNotActive" fill="hold" evtFilter="cancelBubble" nodeType="interactiveSeq">
                <p:stCondLst>
                  <p:cond evt="onClick" delay="0">
                    <p:tgtEl>
                      <p:spTgt spid="11"/>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5368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39419" y="2853140"/>
            <a:ext cx="1397000" cy="685800"/>
          </a:xfrm>
          <a:prstGeom prst="rect">
            <a:avLst/>
          </a:prstGeom>
          <a:noFill/>
          <a:ln>
            <a:noFill/>
          </a:ln>
        </p:spPr>
        <p:txBody>
          <a:bodyPr vert="horz" wrap="square" lIns="0" tIns="0" rIns="0" bIns="0" rtlCol="0" anchor="t">
            <a:spAutoFit/>
          </a:bodyPr>
          <a:lstStyle/>
          <a:p>
            <a:pPr algn="l">
              <a:lnSpc>
                <a:spcPct val="100000"/>
              </a:lnSpc>
            </a:pPr>
            <a:r>
              <a:rPr kumimoji="1" lang="en-US" altLang="zh-CN" sz="5400">
                <a:ln w="12700">
                  <a:noFill/>
                </a:ln>
                <a:solidFill>
                  <a:srgbClr val="000000">
                    <a:alpha val="100000"/>
                  </a:srgbClr>
                </a:solidFill>
                <a:latin typeface="OPPOSans L" panose="00020600040101010101" charset="-122"/>
                <a:ea typeface="OPPOSans L" panose="00020600040101010101" charset="-122"/>
                <a:cs typeface="OPPOSans L" panose="00020600040101010101" charset="-122"/>
              </a:rPr>
              <a:t>01</a:t>
            </a:r>
            <a:endParaRPr kumimoji="1" lang="zh-CN" altLang="en-US"/>
          </a:p>
        </p:txBody>
      </p:sp>
      <p:sp>
        <p:nvSpPr>
          <p:cNvPr id="6" name="标题 1"/>
          <p:cNvSpPr txBox="1"/>
          <p:nvPr/>
        </p:nvSpPr>
        <p:spPr>
          <a:xfrm>
            <a:off x="839292" y="4077420"/>
            <a:ext cx="1397000" cy="685800"/>
          </a:xfrm>
          <a:prstGeom prst="rect">
            <a:avLst/>
          </a:prstGeom>
          <a:noFill/>
          <a:ln>
            <a:noFill/>
          </a:ln>
        </p:spPr>
        <p:txBody>
          <a:bodyPr vert="horz" wrap="square" lIns="0" tIns="0" rIns="0" bIns="0" rtlCol="0" anchor="t">
            <a:spAutoFit/>
          </a:bodyPr>
          <a:lstStyle/>
          <a:p>
            <a:pPr algn="l">
              <a:lnSpc>
                <a:spcPct val="100000"/>
              </a:lnSpc>
            </a:pPr>
            <a:r>
              <a:rPr kumimoji="1" lang="en-US" altLang="zh-CN" sz="5400">
                <a:ln w="12700">
                  <a:noFill/>
                </a:ln>
                <a:solidFill>
                  <a:srgbClr val="000000">
                    <a:alpha val="100000"/>
                  </a:srgbClr>
                </a:solidFill>
                <a:latin typeface="OPPOSans L" panose="00020600040101010101" charset="-122"/>
                <a:ea typeface="OPPOSans L" panose="00020600040101010101" charset="-122"/>
                <a:cs typeface="OPPOSans L" panose="00020600040101010101" charset="-122"/>
              </a:rPr>
              <a:t>02</a:t>
            </a:r>
            <a:endParaRPr kumimoji="1" lang="zh-CN" altLang="en-US"/>
          </a:p>
        </p:txBody>
      </p:sp>
      <p:sp>
        <p:nvSpPr>
          <p:cNvPr id="8" name="标题 1"/>
          <p:cNvSpPr txBox="1"/>
          <p:nvPr/>
        </p:nvSpPr>
        <p:spPr>
          <a:xfrm>
            <a:off x="839517" y="2493010"/>
            <a:ext cx="2334837" cy="6858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839229" y="1196975"/>
            <a:ext cx="1044830" cy="1077409"/>
          </a:xfrm>
          <a:custGeom>
            <a:avLst/>
            <a:gdLst>
              <a:gd name="connsiteX0" fmla="*/ 1371696 w 1870330"/>
              <a:gd name="connsiteY0" fmla="*/ 1296270 h 1845296"/>
              <a:gd name="connsiteX1" fmla="*/ 1371696 w 1870330"/>
              <a:gd name="connsiteY1" fmla="*/ 1371136 h 1845296"/>
              <a:gd name="connsiteX2" fmla="*/ 1671448 w 1870330"/>
              <a:gd name="connsiteY2" fmla="*/ 1371136 h 1845296"/>
              <a:gd name="connsiteX3" fmla="*/ 1671448 w 1870330"/>
              <a:gd name="connsiteY3" fmla="*/ 1296270 h 1845296"/>
              <a:gd name="connsiteX4" fmla="*/ 1371696 w 1870330"/>
              <a:gd name="connsiteY4" fmla="*/ 996899 h 1845296"/>
              <a:gd name="connsiteX5" fmla="*/ 1371696 w 1870330"/>
              <a:gd name="connsiteY5" fmla="*/ 1071765 h 1845296"/>
              <a:gd name="connsiteX6" fmla="*/ 1671448 w 1870330"/>
              <a:gd name="connsiteY6" fmla="*/ 1071765 h 1845296"/>
              <a:gd name="connsiteX7" fmla="*/ 1671448 w 1870330"/>
              <a:gd name="connsiteY7" fmla="*/ 996899 h 1845296"/>
              <a:gd name="connsiteX8" fmla="*/ 1371696 w 1870330"/>
              <a:gd name="connsiteY8" fmla="*/ 747820 h 1845296"/>
              <a:gd name="connsiteX9" fmla="*/ 1371696 w 1870330"/>
              <a:gd name="connsiteY9" fmla="*/ 822401 h 1845296"/>
              <a:gd name="connsiteX10" fmla="*/ 1671448 w 1870330"/>
              <a:gd name="connsiteY10" fmla="*/ 822401 h 1845296"/>
              <a:gd name="connsiteX11" fmla="*/ 1671448 w 1870330"/>
              <a:gd name="connsiteY11" fmla="*/ 747820 h 1845296"/>
              <a:gd name="connsiteX12" fmla="*/ 1371696 w 1870330"/>
              <a:gd name="connsiteY12" fmla="*/ 473405 h 1845296"/>
              <a:gd name="connsiteX13" fmla="*/ 1371696 w 1870330"/>
              <a:gd name="connsiteY13" fmla="*/ 547986 h 1845296"/>
              <a:gd name="connsiteX14" fmla="*/ 1671448 w 1870330"/>
              <a:gd name="connsiteY14" fmla="*/ 547986 h 1845296"/>
              <a:gd name="connsiteX15" fmla="*/ 1671448 w 1870330"/>
              <a:gd name="connsiteY15" fmla="*/ 473405 h 1845296"/>
              <a:gd name="connsiteX16" fmla="*/ 1221963 w 1870330"/>
              <a:gd name="connsiteY16" fmla="*/ 224040 h 1845296"/>
              <a:gd name="connsiteX17" fmla="*/ 1794130 w 1870330"/>
              <a:gd name="connsiteY17" fmla="*/ 224040 h 1845296"/>
              <a:gd name="connsiteX18" fmla="*/ 1870330 w 1870330"/>
              <a:gd name="connsiteY18" fmla="*/ 298811 h 1845296"/>
              <a:gd name="connsiteX19" fmla="*/ 1870330 w 1870330"/>
              <a:gd name="connsiteY19" fmla="*/ 1570971 h 1845296"/>
              <a:gd name="connsiteX20" fmla="*/ 1794130 w 1870330"/>
              <a:gd name="connsiteY20" fmla="*/ 1645742 h 1845296"/>
              <a:gd name="connsiteX21" fmla="*/ 1221963 w 1870330"/>
              <a:gd name="connsiteY21" fmla="*/ 1645742 h 1845296"/>
              <a:gd name="connsiteX22" fmla="*/ 1221963 w 1870330"/>
              <a:gd name="connsiteY22" fmla="*/ 1383804 h 1845296"/>
              <a:gd name="connsiteX23" fmla="*/ 1298163 w 1870330"/>
              <a:gd name="connsiteY23" fmla="*/ 1383804 h 1845296"/>
              <a:gd name="connsiteX24" fmla="*/ 1298163 w 1870330"/>
              <a:gd name="connsiteY24" fmla="*/ 1309033 h 1845296"/>
              <a:gd name="connsiteX25" fmla="*/ 1221963 w 1870330"/>
              <a:gd name="connsiteY25" fmla="*/ 1309033 h 1845296"/>
              <a:gd name="connsiteX26" fmla="*/ 1221963 w 1870330"/>
              <a:gd name="connsiteY26" fmla="*/ 1084434 h 1845296"/>
              <a:gd name="connsiteX27" fmla="*/ 1298163 w 1870330"/>
              <a:gd name="connsiteY27" fmla="*/ 1084434 h 1845296"/>
              <a:gd name="connsiteX28" fmla="*/ 1298163 w 1870330"/>
              <a:gd name="connsiteY28" fmla="*/ 1009662 h 1845296"/>
              <a:gd name="connsiteX29" fmla="*/ 1221963 w 1870330"/>
              <a:gd name="connsiteY29" fmla="*/ 1009662 h 1845296"/>
              <a:gd name="connsiteX30" fmla="*/ 1221963 w 1870330"/>
              <a:gd name="connsiteY30" fmla="*/ 822496 h 1845296"/>
              <a:gd name="connsiteX31" fmla="*/ 1298163 w 1870330"/>
              <a:gd name="connsiteY31" fmla="*/ 822496 h 1845296"/>
              <a:gd name="connsiteX32" fmla="*/ 1298163 w 1870330"/>
              <a:gd name="connsiteY32" fmla="*/ 747725 h 1845296"/>
              <a:gd name="connsiteX33" fmla="*/ 1221963 w 1870330"/>
              <a:gd name="connsiteY33" fmla="*/ 747725 h 1845296"/>
              <a:gd name="connsiteX34" fmla="*/ 1221963 w 1870330"/>
              <a:gd name="connsiteY34" fmla="*/ 560654 h 1845296"/>
              <a:gd name="connsiteX35" fmla="*/ 1298163 w 1870330"/>
              <a:gd name="connsiteY35" fmla="*/ 560654 h 1845296"/>
              <a:gd name="connsiteX36" fmla="*/ 1298163 w 1870330"/>
              <a:gd name="connsiteY36" fmla="*/ 485883 h 1845296"/>
              <a:gd name="connsiteX37" fmla="*/ 1221963 w 1870330"/>
              <a:gd name="connsiteY37" fmla="*/ 485883 h 1845296"/>
              <a:gd name="connsiteX38" fmla="*/ 1054227 w 1870330"/>
              <a:gd name="connsiteY38" fmla="*/ 393 h 1845296"/>
              <a:gd name="connsiteX39" fmla="*/ 1054132 w 1870330"/>
              <a:gd name="connsiteY39" fmla="*/ 869 h 1845296"/>
              <a:gd name="connsiteX40" fmla="*/ 1083754 w 1870330"/>
              <a:gd name="connsiteY40" fmla="*/ 7727 h 1845296"/>
              <a:gd name="connsiteX41" fmla="*/ 1097470 w 1870330"/>
              <a:gd name="connsiteY41" fmla="*/ 36302 h 1845296"/>
              <a:gd name="connsiteX42" fmla="*/ 1097470 w 1870330"/>
              <a:gd name="connsiteY42" fmla="*/ 1808714 h 1845296"/>
              <a:gd name="connsiteX43" fmla="*/ 1083754 w 1870330"/>
              <a:gd name="connsiteY43" fmla="*/ 1837289 h 1845296"/>
              <a:gd name="connsiteX44" fmla="*/ 1060895 w 1870330"/>
              <a:gd name="connsiteY44" fmla="*/ 1845290 h 1845296"/>
              <a:gd name="connsiteX45" fmla="*/ 1053941 w 1870330"/>
              <a:gd name="connsiteY45" fmla="*/ 1844148 h 1845296"/>
              <a:gd name="connsiteX46" fmla="*/ 29623 w 1870330"/>
              <a:gd name="connsiteY46" fmla="*/ 1647932 h 1845296"/>
              <a:gd name="connsiteX47" fmla="*/ 0 w 1870330"/>
              <a:gd name="connsiteY47" fmla="*/ 1611071 h 1845296"/>
              <a:gd name="connsiteX48" fmla="*/ 0 w 1870330"/>
              <a:gd name="connsiteY48" fmla="*/ 233375 h 1845296"/>
              <a:gd name="connsiteX49" fmla="*/ 29813 w 1870330"/>
              <a:gd name="connsiteY49" fmla="*/ 196513 h 1845296"/>
            </a:gdLst>
            <a:ahLst/>
            <a:cxnLst/>
            <a:rect l="l" t="t" r="r" b="b"/>
            <a:pathLst>
              <a:path w="1870330" h="1845296">
                <a:moveTo>
                  <a:pt x="1371696" y="1296270"/>
                </a:moveTo>
                <a:lnTo>
                  <a:pt x="1371696" y="1371136"/>
                </a:lnTo>
                <a:lnTo>
                  <a:pt x="1671448" y="1371136"/>
                </a:lnTo>
                <a:lnTo>
                  <a:pt x="1671448" y="1296270"/>
                </a:lnTo>
                <a:close/>
                <a:moveTo>
                  <a:pt x="1371696" y="996899"/>
                </a:moveTo>
                <a:lnTo>
                  <a:pt x="1371696" y="1071765"/>
                </a:lnTo>
                <a:lnTo>
                  <a:pt x="1671448" y="1071765"/>
                </a:lnTo>
                <a:lnTo>
                  <a:pt x="1671448" y="996899"/>
                </a:lnTo>
                <a:close/>
                <a:moveTo>
                  <a:pt x="1371696" y="747820"/>
                </a:moveTo>
                <a:lnTo>
                  <a:pt x="1371696" y="822401"/>
                </a:lnTo>
                <a:lnTo>
                  <a:pt x="1671448" y="822401"/>
                </a:lnTo>
                <a:lnTo>
                  <a:pt x="1671448" y="747820"/>
                </a:lnTo>
                <a:close/>
                <a:moveTo>
                  <a:pt x="1371696" y="473405"/>
                </a:moveTo>
                <a:lnTo>
                  <a:pt x="1371696" y="547986"/>
                </a:lnTo>
                <a:lnTo>
                  <a:pt x="1671448" y="547986"/>
                </a:lnTo>
                <a:lnTo>
                  <a:pt x="1671448" y="473405"/>
                </a:lnTo>
                <a:close/>
                <a:moveTo>
                  <a:pt x="1221963" y="224040"/>
                </a:moveTo>
                <a:lnTo>
                  <a:pt x="1794130" y="224040"/>
                </a:lnTo>
                <a:cubicBezTo>
                  <a:pt x="1835792" y="223723"/>
                  <a:pt x="1869863" y="257155"/>
                  <a:pt x="1870330" y="298811"/>
                </a:cubicBezTo>
                <a:lnTo>
                  <a:pt x="1870330" y="1570971"/>
                </a:lnTo>
                <a:cubicBezTo>
                  <a:pt x="1869863" y="1612623"/>
                  <a:pt x="1835792" y="1646056"/>
                  <a:pt x="1794130" y="1645742"/>
                </a:cubicBezTo>
                <a:lnTo>
                  <a:pt x="1221963" y="1645742"/>
                </a:lnTo>
                <a:lnTo>
                  <a:pt x="1221963" y="1383804"/>
                </a:lnTo>
                <a:lnTo>
                  <a:pt x="1298163" y="1383804"/>
                </a:lnTo>
                <a:lnTo>
                  <a:pt x="1298163" y="1309033"/>
                </a:lnTo>
                <a:lnTo>
                  <a:pt x="1221963" y="1309033"/>
                </a:lnTo>
                <a:lnTo>
                  <a:pt x="1221963" y="1084434"/>
                </a:lnTo>
                <a:lnTo>
                  <a:pt x="1298163" y="1084434"/>
                </a:lnTo>
                <a:lnTo>
                  <a:pt x="1298163" y="1009662"/>
                </a:lnTo>
                <a:lnTo>
                  <a:pt x="1221963" y="1009662"/>
                </a:lnTo>
                <a:lnTo>
                  <a:pt x="1221963" y="822496"/>
                </a:lnTo>
                <a:lnTo>
                  <a:pt x="1298163" y="822496"/>
                </a:lnTo>
                <a:lnTo>
                  <a:pt x="1298163" y="747725"/>
                </a:lnTo>
                <a:lnTo>
                  <a:pt x="1221963" y="747725"/>
                </a:lnTo>
                <a:lnTo>
                  <a:pt x="1221963" y="560654"/>
                </a:lnTo>
                <a:lnTo>
                  <a:pt x="1298163" y="560654"/>
                </a:lnTo>
                <a:lnTo>
                  <a:pt x="1298163" y="485883"/>
                </a:lnTo>
                <a:lnTo>
                  <a:pt x="1221963" y="485883"/>
                </a:lnTo>
                <a:close/>
                <a:moveTo>
                  <a:pt x="1054227" y="393"/>
                </a:moveTo>
                <a:lnTo>
                  <a:pt x="1054132" y="869"/>
                </a:lnTo>
                <a:cubicBezTo>
                  <a:pt x="1064533" y="-1498"/>
                  <a:pt x="1075449" y="1029"/>
                  <a:pt x="1083754" y="7727"/>
                </a:cubicBezTo>
                <a:cubicBezTo>
                  <a:pt x="1092260" y="14808"/>
                  <a:pt x="1097261" y="25237"/>
                  <a:pt x="1097470" y="36302"/>
                </a:cubicBezTo>
                <a:lnTo>
                  <a:pt x="1097470" y="1808714"/>
                </a:lnTo>
                <a:cubicBezTo>
                  <a:pt x="1097271" y="1819783"/>
                  <a:pt x="1092260" y="1830212"/>
                  <a:pt x="1083754" y="1837289"/>
                </a:cubicBezTo>
                <a:cubicBezTo>
                  <a:pt x="1077344" y="1842614"/>
                  <a:pt x="1069229" y="1845452"/>
                  <a:pt x="1060895" y="1845290"/>
                </a:cubicBezTo>
                <a:cubicBezTo>
                  <a:pt x="1058551" y="1845100"/>
                  <a:pt x="1056227" y="1844719"/>
                  <a:pt x="1053941" y="1844148"/>
                </a:cubicBezTo>
                <a:lnTo>
                  <a:pt x="29623" y="1647932"/>
                </a:lnTo>
                <a:cubicBezTo>
                  <a:pt x="12259" y="1644227"/>
                  <a:pt x="-124" y="1628825"/>
                  <a:pt x="0" y="1611071"/>
                </a:cubicBezTo>
                <a:lnTo>
                  <a:pt x="0" y="233375"/>
                </a:lnTo>
                <a:cubicBezTo>
                  <a:pt x="-105" y="215558"/>
                  <a:pt x="12373" y="200139"/>
                  <a:pt x="29813" y="196513"/>
                </a:cubicBezTo>
                <a:close/>
              </a:path>
            </a:pathLst>
          </a:custGeom>
          <a:solidFill>
            <a:schemeClr val="accent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4295775" y="1124585"/>
            <a:ext cx="6006465" cy="900430"/>
          </a:xfrm>
          <a:prstGeom prst="rect">
            <a:avLst/>
          </a:prstGeom>
          <a:noFill/>
          <a:ln cap="sq">
            <a:noFill/>
          </a:ln>
        </p:spPr>
        <p:txBody>
          <a:bodyPr vert="horz" wrap="square" lIns="38102" tIns="38102" rIns="38102" bIns="38102" rtlCol="0" anchor="t"/>
          <a:lstStyle/>
          <a:p>
            <a:pPr algn="l">
              <a:lnSpc>
                <a:spcPct val="150000"/>
              </a:lnSpc>
            </a:pP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核心思想是将一个复杂的问题分解为多个较简单的子问题，递归地求解这些子问题，然后将子问题的解合并以得到原问题的解。基本就是是三个阶段：排序，递归，合并。</a:t>
            </a:r>
            <a:endPar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p:txBody>
      </p:sp>
      <p:sp>
        <p:nvSpPr>
          <p:cNvPr id="11" name="标题 1"/>
          <p:cNvSpPr txBox="1"/>
          <p:nvPr/>
        </p:nvSpPr>
        <p:spPr>
          <a:xfrm>
            <a:off x="2711450" y="981075"/>
            <a:ext cx="1430655" cy="773430"/>
          </a:xfrm>
          <a:prstGeom prst="rect">
            <a:avLst/>
          </a:prstGeom>
          <a:noFill/>
          <a:ln cap="sq">
            <a:noFill/>
          </a:ln>
          <a:effectLst/>
        </p:spPr>
        <p:txBody>
          <a:bodyPr vert="horz" wrap="square" lIns="64008" tIns="32004" rIns="64008" bIns="32004" rtlCol="0" anchor="ctr"/>
          <a:lstStyle/>
          <a:p>
            <a:pPr algn="l">
              <a:lnSpc>
                <a:spcPct val="11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算法思路</a:t>
            </a:r>
            <a:endParaRPr kumimoji="1" lang="zh-CN" altLang="en-US"/>
          </a:p>
        </p:txBody>
      </p:sp>
      <p:sp>
        <p:nvSpPr>
          <p:cNvPr id="12" name="标题 1"/>
          <p:cNvSpPr txBox="1"/>
          <p:nvPr/>
        </p:nvSpPr>
        <p:spPr>
          <a:xfrm>
            <a:off x="1919605" y="2997200"/>
            <a:ext cx="6612890" cy="576580"/>
          </a:xfrm>
          <a:prstGeom prst="rect">
            <a:avLst/>
          </a:prstGeom>
          <a:noFill/>
          <a:ln cap="sq">
            <a:noFill/>
          </a:ln>
        </p:spPr>
        <p:txBody>
          <a:bodyPr vert="horz" wrap="square" lIns="38102" tIns="38102" rIns="38102" bIns="38102" rtlCol="0" anchor="t"/>
          <a:lstStyle/>
          <a:p>
            <a:pPr algn="l">
              <a:lnSpc>
                <a:spcPct val="150000"/>
              </a:lnSpc>
              <a:buClrTx/>
              <a:buSzTx/>
              <a:buFontTx/>
            </a:pPr>
            <a:r>
              <a:rPr kumimoji="1" lang="en-US" altLang="zh-CN"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点集预处理：</a:t>
            </a: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将点集按照x坐标进行排序，按下标分为左右两个子集区间</a:t>
            </a:r>
            <a:r>
              <a:rPr kumimoji="1" lang="en-US" altLang="zh-CN" sz="16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a:t>
            </a:r>
            <a:endParaRPr kumimoji="1" lang="en-US" altLang="zh-CN" sz="16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endParaRPr>
          </a:p>
        </p:txBody>
      </p:sp>
      <p:cxnSp>
        <p:nvCxnSpPr>
          <p:cNvPr id="16" name="标题 1"/>
          <p:cNvCxnSpPr/>
          <p:nvPr/>
        </p:nvCxnSpPr>
        <p:spPr>
          <a:xfrm>
            <a:off x="271590" y="692965"/>
            <a:ext cx="1737509" cy="0"/>
          </a:xfrm>
          <a:prstGeom prst="line">
            <a:avLst/>
          </a:prstGeom>
          <a:noFill/>
          <a:ln w="12700" cap="sq">
            <a:solidFill>
              <a:schemeClr val="accent1"/>
            </a:solidFill>
            <a:miter/>
          </a:ln>
        </p:spPr>
      </p:cxnSp>
      <p:sp>
        <p:nvSpPr>
          <p:cNvPr id="17"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2.分治法实验过程</a:t>
            </a:r>
            <a:endParaRPr kumimoji="1" lang="zh-CN" altLang="en-US"/>
          </a:p>
        </p:txBody>
      </p:sp>
      <p:cxnSp>
        <p:nvCxnSpPr>
          <p:cNvPr id="18" name="标题 1"/>
          <p:cNvCxnSpPr/>
          <p:nvPr/>
        </p:nvCxnSpPr>
        <p:spPr>
          <a:xfrm rot="16200000">
            <a:off x="233490" y="642165"/>
            <a:ext cx="404009" cy="0"/>
          </a:xfrm>
          <a:prstGeom prst="line">
            <a:avLst/>
          </a:prstGeom>
          <a:noFill/>
          <a:ln w="12700" cap="sq">
            <a:solidFill>
              <a:schemeClr val="accent1"/>
            </a:solidFill>
            <a:miter/>
          </a:ln>
        </p:spPr>
      </p:cxnSp>
      <p:sp>
        <p:nvSpPr>
          <p:cNvPr id="19" name="文本框 18"/>
          <p:cNvSpPr txBox="1"/>
          <p:nvPr/>
        </p:nvSpPr>
        <p:spPr>
          <a:xfrm>
            <a:off x="1884045" y="4293870"/>
            <a:ext cx="6028055" cy="2030095"/>
          </a:xfrm>
          <a:prstGeom prst="rect">
            <a:avLst/>
          </a:prstGeom>
          <a:noFill/>
        </p:spPr>
        <p:txBody>
          <a:bodyPr wrap="square" rtlCol="0">
            <a:spAutoFit/>
          </a:bodyPr>
          <a:p>
            <a:pPr algn="l"/>
            <a:r>
              <a:rPr kumimoji="1" lang="en-US" altLang="zh-CN"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递归求解</a:t>
            </a:r>
            <a:r>
              <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a:t>
            </a:r>
            <a:endPar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algn="l"/>
            <a:endPar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首先判断当前区间是否只有一个点，如果是则返回。反之考虑分治，分别在左右两子集区间递归求解最近点对。</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第一部分是求出在左子集和右子集的最近点对，第二部分是求出横跨左右子点集的最近点对，这样就实现了找出left-right点集区间的所有最近点对情况。</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当然，当最近点对在左子集或者在右子集的情况</a:t>
            </a:r>
            <a:r>
              <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显然是平凡的</a:t>
            </a: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，重点分析第二部分，也就是最近点对</a:t>
            </a:r>
            <a:r>
              <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横跨左右子集部分的情况</a:t>
            </a: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p:txBody>
      </p:sp>
      <p:pic>
        <p:nvPicPr>
          <p:cNvPr id="20" name="图片 2"/>
          <p:cNvPicPr>
            <a:picLocks noChangeAspect="1"/>
          </p:cNvPicPr>
          <p:nvPr/>
        </p:nvPicPr>
        <p:blipFill>
          <a:blip r:embed="rId1"/>
          <a:stretch>
            <a:fillRect/>
          </a:stretch>
        </p:blipFill>
        <p:spPr>
          <a:xfrm>
            <a:off x="8112125" y="3068955"/>
            <a:ext cx="3760470" cy="280733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5368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23392" y="1197060"/>
            <a:ext cx="1397000" cy="685800"/>
          </a:xfrm>
          <a:prstGeom prst="rect">
            <a:avLst/>
          </a:prstGeom>
          <a:noFill/>
          <a:ln>
            <a:noFill/>
          </a:ln>
        </p:spPr>
        <p:txBody>
          <a:bodyPr vert="horz" wrap="square" lIns="0" tIns="0" rIns="0" bIns="0" rtlCol="0" anchor="t">
            <a:spAutoFit/>
          </a:bodyPr>
          <a:lstStyle/>
          <a:p>
            <a:pPr algn="l">
              <a:lnSpc>
                <a:spcPct val="100000"/>
              </a:lnSpc>
            </a:pPr>
            <a:r>
              <a:rPr kumimoji="1" lang="en-US" altLang="zh-CN" sz="5400">
                <a:ln w="12700">
                  <a:noFill/>
                </a:ln>
                <a:solidFill>
                  <a:srgbClr val="000000">
                    <a:alpha val="100000"/>
                  </a:srgbClr>
                </a:solidFill>
                <a:latin typeface="OPPOSans L" panose="00020600040101010101" charset="-122"/>
                <a:ea typeface="OPPOSans L" panose="00020600040101010101" charset="-122"/>
                <a:cs typeface="OPPOSans L" panose="00020600040101010101" charset="-122"/>
              </a:rPr>
              <a:t>02</a:t>
            </a:r>
            <a:endParaRPr kumimoji="1" lang="zh-CN" altLang="en-US"/>
          </a:p>
        </p:txBody>
      </p:sp>
      <p:cxnSp>
        <p:nvCxnSpPr>
          <p:cNvPr id="16" name="标题 1"/>
          <p:cNvCxnSpPr/>
          <p:nvPr/>
        </p:nvCxnSpPr>
        <p:spPr>
          <a:xfrm>
            <a:off x="271590" y="692965"/>
            <a:ext cx="1737509" cy="0"/>
          </a:xfrm>
          <a:prstGeom prst="line">
            <a:avLst/>
          </a:prstGeom>
          <a:noFill/>
          <a:ln w="12700" cap="sq">
            <a:solidFill>
              <a:schemeClr val="accent1"/>
            </a:solidFill>
            <a:miter/>
          </a:ln>
        </p:spPr>
      </p:cxnSp>
      <p:sp>
        <p:nvSpPr>
          <p:cNvPr id="17" name="标题 1"/>
          <p:cNvSpPr txBox="1"/>
          <p:nvPr/>
        </p:nvSpPr>
        <p:spPr>
          <a:xfrm>
            <a:off x="550990" y="26072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2.分治法实验过程</a:t>
            </a:r>
            <a:endParaRPr kumimoji="1" lang="zh-CN" altLang="en-US"/>
          </a:p>
        </p:txBody>
      </p:sp>
      <p:cxnSp>
        <p:nvCxnSpPr>
          <p:cNvPr id="18" name="标题 1"/>
          <p:cNvCxnSpPr/>
          <p:nvPr/>
        </p:nvCxnSpPr>
        <p:spPr>
          <a:xfrm rot="16200000">
            <a:off x="233490" y="642165"/>
            <a:ext cx="404009" cy="0"/>
          </a:xfrm>
          <a:prstGeom prst="line">
            <a:avLst/>
          </a:prstGeom>
          <a:noFill/>
          <a:ln w="12700" cap="sq">
            <a:solidFill>
              <a:schemeClr val="accent1"/>
            </a:solidFill>
            <a:miter/>
          </a:ln>
        </p:spPr>
      </p:cxnSp>
      <p:sp>
        <p:nvSpPr>
          <p:cNvPr id="19" name="文本框 18"/>
          <p:cNvSpPr txBox="1"/>
          <p:nvPr/>
        </p:nvSpPr>
        <p:spPr>
          <a:xfrm>
            <a:off x="1703070" y="1341120"/>
            <a:ext cx="5257800" cy="3999865"/>
          </a:xfrm>
          <a:prstGeom prst="rect">
            <a:avLst/>
          </a:prstGeom>
          <a:noFill/>
        </p:spPr>
        <p:txBody>
          <a:bodyPr wrap="square" rtlCol="0">
            <a:spAutoFit/>
          </a:bodyPr>
          <a:p>
            <a:pPr algn="l"/>
            <a:r>
              <a:rPr kumimoji="1" lang="zh-CN" altLang="en-US"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处理横跨左右子集的情况：</a:t>
            </a:r>
            <a:endParaRPr kumimoji="1" lang="zh-CN" altLang="en-US"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algn="l"/>
            <a:endPar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在处理这个非平凡情况的时候，已经得到了左右子集的最近点对距离，令其为disl，disr，同时令dis=min{disl,disr}，如图中的红色线段。</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将点集按照x坐标进行排序后的中点设为midx，即横跨左右子集部分的最近点对的贡献点集即为[midx-dis，midx+dis]。</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接着对点集区间[midx-dis，midx+dis]按照y坐标进行升序的归并排序。</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按照顺序遍历该点集区间中的每个点，简单的考虑就是取出该点集区间中的一个点pi，以pi为圆心，dis为半径画一个圆，如果在该圆内出现了另外的点pj，即可证明有存在距离&lt;dis的两点pi和pj。</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但是考虑到计算的效率问题，并没有直接用这个圆计算。对于点集区间[midx-dis，midx+dis]的特殊性，检查这个点集区间的每个点pi，取横向区域为[midx-dis,midx+dis]，纵向区域为[ pi.y-pi.y+dis ]内的点pj，并计算距离比较查看是否存在两点距离小于dis的点。即右图中的绿色区域部分。</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p:txBody>
      </p:sp>
      <p:pic>
        <p:nvPicPr>
          <p:cNvPr id="7" name="图片 16" descr="78eb6f20675cb0478f7c884e5bad7a7"/>
          <p:cNvPicPr>
            <a:picLocks noChangeAspect="1"/>
          </p:cNvPicPr>
          <p:nvPr/>
        </p:nvPicPr>
        <p:blipFill>
          <a:blip r:embed="rId1"/>
          <a:stretch>
            <a:fillRect/>
          </a:stretch>
        </p:blipFill>
        <p:spPr>
          <a:xfrm>
            <a:off x="7278370" y="1412875"/>
            <a:ext cx="4486910" cy="3350260"/>
          </a:xfrm>
          <a:prstGeom prst="rect">
            <a:avLst/>
          </a:prstGeom>
        </p:spPr>
      </p:pic>
      <p:sp>
        <p:nvSpPr>
          <p:cNvPr id="13" name="标题 1"/>
          <p:cNvSpPr txBox="1"/>
          <p:nvPr/>
        </p:nvSpPr>
        <p:spPr>
          <a:xfrm>
            <a:off x="561162" y="5301700"/>
            <a:ext cx="1397000" cy="830580"/>
          </a:xfrm>
          <a:prstGeom prst="rect">
            <a:avLst/>
          </a:prstGeom>
          <a:noFill/>
          <a:ln>
            <a:noFill/>
          </a:ln>
        </p:spPr>
        <p:txBody>
          <a:bodyPr vert="horz" wrap="square" lIns="0" tIns="0" rIns="0" bIns="0" rtlCol="0" anchor="t">
            <a:spAutoFit/>
          </a:bodyPr>
          <a:p>
            <a:pPr algn="l">
              <a:lnSpc>
                <a:spcPct val="100000"/>
              </a:lnSpc>
            </a:pPr>
            <a:r>
              <a:rPr kumimoji="1" lang="en-US" altLang="zh-CN" sz="5400">
                <a:ln w="12700">
                  <a:noFill/>
                </a:ln>
                <a:solidFill>
                  <a:srgbClr val="000000">
                    <a:alpha val="100000"/>
                  </a:srgbClr>
                </a:solidFill>
                <a:latin typeface="OPPOSans L" panose="00020600040101010101" charset="-122"/>
                <a:ea typeface="OPPOSans L" panose="00020600040101010101" charset="-122"/>
                <a:cs typeface="OPPOSans L" panose="00020600040101010101" charset="-122"/>
              </a:rPr>
              <a:t>03</a:t>
            </a:r>
            <a:endParaRPr kumimoji="1" lang="zh-CN" altLang="en-US"/>
          </a:p>
        </p:txBody>
      </p:sp>
      <p:sp>
        <p:nvSpPr>
          <p:cNvPr id="14" name="文本框 13"/>
          <p:cNvSpPr txBox="1"/>
          <p:nvPr/>
        </p:nvSpPr>
        <p:spPr>
          <a:xfrm>
            <a:off x="1703070" y="5549265"/>
            <a:ext cx="7853680" cy="337185"/>
          </a:xfrm>
          <a:prstGeom prst="rect">
            <a:avLst/>
          </a:prstGeom>
          <a:noFill/>
        </p:spPr>
        <p:txBody>
          <a:bodyPr wrap="none" rtlCol="0">
            <a:spAutoFit/>
          </a:bodyPr>
          <a:p>
            <a:pPr algn="l"/>
            <a:r>
              <a:rPr kumimoji="1" lang="zh-CN" altLang="en-US"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合并：</a:t>
            </a:r>
            <a:r>
              <a:rPr kumimoji="1" lang="en-US" altLang="zh-CN"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	</a:t>
            </a: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在左右两部分的最近点对中，找到跨越分界线的最近点对，最终确定全局的最近点对。</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5368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5274" y="1052915"/>
            <a:ext cx="1397000" cy="685800"/>
          </a:xfrm>
          <a:prstGeom prst="rect">
            <a:avLst/>
          </a:prstGeom>
          <a:noFill/>
          <a:ln>
            <a:noFill/>
          </a:ln>
        </p:spPr>
        <p:txBody>
          <a:bodyPr vert="horz" wrap="square" lIns="0" tIns="0" rIns="0" bIns="0" rtlCol="0" anchor="t">
            <a:spAutoFit/>
          </a:bodyPr>
          <a:lstStyle/>
          <a:p>
            <a:pPr algn="l">
              <a:lnSpc>
                <a:spcPct val="100000"/>
              </a:lnSpc>
            </a:pPr>
            <a:r>
              <a:rPr kumimoji="1" lang="en-US" altLang="zh-CN" sz="5400">
                <a:ln/>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rPr>
              <a:t>01</a:t>
            </a:r>
            <a:endParaRPr kumimoji="1" lang="en-US" altLang="zh-CN" sz="5400">
              <a:ln/>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endParaRPr>
          </a:p>
        </p:txBody>
      </p:sp>
      <p:sp>
        <p:nvSpPr>
          <p:cNvPr id="6" name="标题 1"/>
          <p:cNvSpPr txBox="1"/>
          <p:nvPr/>
        </p:nvSpPr>
        <p:spPr>
          <a:xfrm>
            <a:off x="695147" y="2348950"/>
            <a:ext cx="1397000" cy="685800"/>
          </a:xfrm>
          <a:prstGeom prst="rect">
            <a:avLst/>
          </a:prstGeom>
          <a:noFill/>
          <a:ln>
            <a:noFill/>
          </a:ln>
        </p:spPr>
        <p:txBody>
          <a:bodyPr vert="horz" wrap="square" lIns="0" tIns="0" rIns="0" bIns="0" rtlCol="0" anchor="t">
            <a:spAutoFit/>
          </a:bodyPr>
          <a:lstStyle/>
          <a:p>
            <a:pPr algn="l">
              <a:lnSpc>
                <a:spcPct val="100000"/>
              </a:lnSpc>
            </a:pPr>
            <a:r>
              <a:rPr kumimoji="1" lang="en-US" altLang="zh-CN" sz="5400">
                <a:ln/>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rPr>
              <a:t>02</a:t>
            </a:r>
            <a:endParaRPr kumimoji="1" lang="en-US" altLang="zh-CN" sz="5400">
              <a:ln/>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endParaRPr>
          </a:p>
        </p:txBody>
      </p:sp>
      <p:sp>
        <p:nvSpPr>
          <p:cNvPr id="12" name="标题 1"/>
          <p:cNvSpPr txBox="1"/>
          <p:nvPr/>
        </p:nvSpPr>
        <p:spPr>
          <a:xfrm>
            <a:off x="1703070" y="1179195"/>
            <a:ext cx="8629650" cy="576580"/>
          </a:xfrm>
          <a:prstGeom prst="rect">
            <a:avLst/>
          </a:prstGeom>
          <a:noFill/>
          <a:ln cap="sq">
            <a:noFill/>
          </a:ln>
        </p:spPr>
        <p:txBody>
          <a:bodyPr vert="horz" wrap="square" lIns="38102" tIns="38102" rIns="38102" bIns="38102" rtlCol="0" anchor="t"/>
          <a:lstStyle/>
          <a:p>
            <a:pPr algn="l">
              <a:lnSpc>
                <a:spcPct val="150000"/>
              </a:lnSpc>
              <a:buClrTx/>
              <a:buSzTx/>
              <a:buFontTx/>
            </a:pPr>
            <a:r>
              <a:rPr kumimoji="1" lang="en-US" altLang="zh-CN"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点集预处理：</a:t>
            </a: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先对x坐标进行升序排序，使用库函数中的sort排序算法，即快速排序，时间复杂度为O(n log n)。</a:t>
            </a:r>
            <a:endPar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p:txBody>
      </p:sp>
      <p:cxnSp>
        <p:nvCxnSpPr>
          <p:cNvPr id="16" name="标题 1"/>
          <p:cNvCxnSpPr/>
          <p:nvPr/>
        </p:nvCxnSpPr>
        <p:spPr>
          <a:xfrm>
            <a:off x="271590" y="692965"/>
            <a:ext cx="1737509" cy="0"/>
          </a:xfrm>
          <a:prstGeom prst="line">
            <a:avLst/>
          </a:prstGeom>
          <a:noFill/>
          <a:ln w="12700" cap="sq">
            <a:solidFill>
              <a:schemeClr val="accent1"/>
            </a:solidFill>
            <a:miter/>
          </a:ln>
        </p:spPr>
      </p:cxnSp>
      <p:sp>
        <p:nvSpPr>
          <p:cNvPr id="17"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2.2分治法</a:t>
            </a: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时间复杂度</a:t>
            </a:r>
            <a:endPar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8" name="标题 1"/>
          <p:cNvCxnSpPr/>
          <p:nvPr/>
        </p:nvCxnSpPr>
        <p:spPr>
          <a:xfrm rot="16200000">
            <a:off x="233490" y="642165"/>
            <a:ext cx="404009" cy="0"/>
          </a:xfrm>
          <a:prstGeom prst="line">
            <a:avLst/>
          </a:prstGeom>
          <a:noFill/>
          <a:ln w="12700" cap="sq">
            <a:solidFill>
              <a:schemeClr val="accent1"/>
            </a:solidFill>
            <a:miter/>
          </a:ln>
        </p:spPr>
      </p:cxnSp>
      <p:sp>
        <p:nvSpPr>
          <p:cNvPr id="19" name="文本框 18"/>
          <p:cNvSpPr txBox="1"/>
          <p:nvPr/>
        </p:nvSpPr>
        <p:spPr>
          <a:xfrm>
            <a:off x="1703070" y="2493010"/>
            <a:ext cx="5832475" cy="2999740"/>
          </a:xfrm>
          <a:prstGeom prst="rect">
            <a:avLst/>
          </a:prstGeom>
          <a:noFill/>
        </p:spPr>
        <p:txBody>
          <a:bodyPr wrap="square" rtlCol="0">
            <a:spAutoFit/>
          </a:bodyPr>
          <a:p>
            <a:pPr algn="l" fontAlgn="auto">
              <a:lnSpc>
                <a:spcPct val="150000"/>
              </a:lnSpc>
            </a:pPr>
            <a:r>
              <a:rPr kumimoji="1" lang="en-US" altLang="zh-CN"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递归</a:t>
            </a:r>
            <a:r>
              <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a:t>
            </a:r>
            <a:endPar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fontAlgn="auto">
              <a:lnSpc>
                <a:spcPct val="150000"/>
              </a:lnSpc>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遍历点集区间[midx-dis，midx+dis]中的所有点，如果符合条件，则继续，该过程的</a:t>
            </a:r>
            <a:r>
              <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时间复杂度为O(n)</a:t>
            </a: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fontAlgn="auto">
              <a:lnSpc>
                <a:spcPct val="150000"/>
              </a:lnSpc>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对点集区间[midx-dis，midx+dis]中的点按照y坐标进行</a:t>
            </a:r>
            <a:r>
              <a:rPr kumimoji="1" lang="zh-CN" altLang="en-US" sz="1400" b="1">
                <a:ln w="12700">
                  <a:noFill/>
                </a:ln>
                <a:solidFill>
                  <a:srgbClr val="FF0000">
                    <a:alpha val="100000"/>
                  </a:srgbClr>
                </a:solidFill>
                <a:latin typeface="华文楷体" panose="02010600040101010101" charset="-122"/>
                <a:ea typeface="华文楷体" panose="02010600040101010101" charset="-122"/>
                <a:cs typeface="Source Han Sans" panose="020B0500000000000000" charset="-122"/>
              </a:rPr>
              <a:t>归并排序</a:t>
            </a: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a:t>
            </a:r>
            <a:r>
              <a:rPr kumimoji="1" lang="zh-CN" altLang="en-US" sz="1400" b="1">
                <a:ln w="12700">
                  <a:noFill/>
                </a:ln>
                <a:solidFill>
                  <a:srgbClr val="FF0000">
                    <a:alpha val="100000"/>
                  </a:srgbClr>
                </a:solidFill>
                <a:latin typeface="华文楷体" panose="02010600040101010101" charset="-122"/>
                <a:ea typeface="华文楷体" panose="02010600040101010101" charset="-122"/>
                <a:cs typeface="Source Han Sans" panose="020B0500000000000000" charset="-122"/>
              </a:rPr>
              <a:t>归并排序其实就是一个经典的分治算法</a:t>
            </a: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，就是先把待排序的数组分成两半，然后分别对这两半进行递归，之后再将这两个排序好的两部分合并成一个有序的数组。</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fontAlgn="auto">
              <a:lnSpc>
                <a:spcPct val="150000"/>
              </a:lnSpc>
              <a:buFont typeface="Wingdings" panose="05000000000000000000" charset="0"/>
              <a:buChar char="Ø"/>
            </a:pPr>
            <a:r>
              <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因此可以得到这个式子：</a:t>
            </a:r>
            <a:r>
              <a:rPr kumimoji="1" lang="zh-CN" altLang="en-US" sz="1400" b="1">
                <a:ln w="12700">
                  <a:noFill/>
                </a:ln>
                <a:solidFill>
                  <a:srgbClr val="FF0000">
                    <a:alpha val="100000"/>
                  </a:srgbClr>
                </a:solidFill>
                <a:latin typeface="华文楷体" panose="02010600040101010101" charset="-122"/>
                <a:ea typeface="华文楷体" panose="02010600040101010101" charset="-122"/>
                <a:cs typeface="Source Han Sans" panose="020B0500000000000000" charset="-122"/>
              </a:rPr>
              <a:t>T(n)=2*T(n/2)+O(n).（n&gt;=2）</a:t>
            </a:r>
            <a:endParaRPr kumimoji="1" lang="zh-CN" altLang="en-US"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fontAlgn="auto">
              <a:lnSpc>
                <a:spcPct val="150000"/>
              </a:lnSpc>
              <a:buFont typeface="Wingdings" panose="05000000000000000000" charset="0"/>
              <a:buChar char="Ø"/>
            </a:pPr>
            <a:r>
              <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时间复杂度为O(nlogn)。</a:t>
            </a:r>
            <a:endParaRPr kumimoji="1" lang="zh-CN" altLang="en-US" sz="14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p:txBody>
      </p:sp>
      <p:pic>
        <p:nvPicPr>
          <p:cNvPr id="7" name="图片 16" descr="78eb6f20675cb0478f7c884e5bad7a7"/>
          <p:cNvPicPr>
            <a:picLocks noChangeAspect="1"/>
          </p:cNvPicPr>
          <p:nvPr/>
        </p:nvPicPr>
        <p:blipFill>
          <a:blip r:embed="rId1"/>
          <a:stretch>
            <a:fillRect/>
          </a:stretch>
        </p:blipFill>
        <p:spPr>
          <a:xfrm>
            <a:off x="7823835" y="2564765"/>
            <a:ext cx="3938905" cy="2941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20320" y="-27305"/>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5368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5274" y="1052915"/>
            <a:ext cx="1397000" cy="830580"/>
          </a:xfrm>
          <a:prstGeom prst="rect">
            <a:avLst/>
          </a:prstGeom>
          <a:noFill/>
          <a:ln>
            <a:noFill/>
          </a:ln>
        </p:spPr>
        <p:txBody>
          <a:bodyPr vert="horz" wrap="square" lIns="0" tIns="0" rIns="0" bIns="0" rtlCol="0" anchor="t">
            <a:spAutoFit/>
          </a:bodyPr>
          <a:lstStyle/>
          <a:p>
            <a:pPr algn="l">
              <a:lnSpc>
                <a:spcPct val="100000"/>
              </a:lnSpc>
            </a:pPr>
            <a:r>
              <a:rPr kumimoji="1" lang="en-US" altLang="zh-CN" sz="5400">
                <a:ln/>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rPr>
              <a:t>03</a:t>
            </a:r>
            <a:endParaRPr kumimoji="1" lang="en-US" altLang="zh-CN" sz="5400">
              <a:ln/>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endParaRPr>
          </a:p>
        </p:txBody>
      </p:sp>
      <p:sp>
        <p:nvSpPr>
          <p:cNvPr id="12" name="标题 1"/>
          <p:cNvSpPr txBox="1"/>
          <p:nvPr/>
        </p:nvSpPr>
        <p:spPr>
          <a:xfrm>
            <a:off x="1775460" y="981075"/>
            <a:ext cx="8629650" cy="2195830"/>
          </a:xfrm>
          <a:prstGeom prst="rect">
            <a:avLst/>
          </a:prstGeom>
          <a:noFill/>
          <a:ln cap="sq">
            <a:noFill/>
          </a:ln>
        </p:spPr>
        <p:txBody>
          <a:bodyPr vert="horz" wrap="square" lIns="38102" tIns="38102" rIns="38102" bIns="38102" rtlCol="0" anchor="t"/>
          <a:lstStyle/>
          <a:p>
            <a:pPr algn="l">
              <a:lnSpc>
                <a:spcPct val="150000"/>
              </a:lnSpc>
              <a:buClrTx/>
              <a:buSzTx/>
              <a:buFontTx/>
            </a:pPr>
            <a:r>
              <a:rPr kumimoji="1" lang="en-US" altLang="zh-CN"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遍历长方形区域</a:t>
            </a:r>
            <a:endParaRPr kumimoji="1" lang="en-US" altLang="zh-CN"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lnSpc>
                <a:spcPct val="150000"/>
              </a:lnSpc>
              <a:buClrTx/>
              <a:buSzTx/>
              <a:buFont typeface="Wingdings" panose="05000000000000000000" charset="0"/>
              <a:buChar char="Ø"/>
            </a:pP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遍历点集区间[midx-dis，midx+dis]中的每个点pi，检查其对应的2dis*dis长方形区域内的点pj，判断是否存在距离小于dis的点对。</a:t>
            </a:r>
            <a:endPar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lnSpc>
                <a:spcPct val="150000"/>
              </a:lnSpc>
              <a:buClrTx/>
              <a:buSzTx/>
              <a:buFont typeface="Wingdings" panose="05000000000000000000" charset="0"/>
              <a:buChar char="Ø"/>
            </a:pP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显然直接遍历这个长方形区域内的所有点，这样的话需要遍历所有的点，考虑</a:t>
            </a:r>
            <a:r>
              <a:rPr kumimoji="1" lang="en-US" altLang="zh-CN" sz="1400" b="1">
                <a:ln w="12700">
                  <a:noFill/>
                </a:ln>
                <a:solidFill>
                  <a:srgbClr val="FF0000">
                    <a:alpha val="100000"/>
                  </a:srgbClr>
                </a:solidFill>
                <a:latin typeface="华文楷体" panose="02010600040101010101" charset="-122"/>
                <a:ea typeface="华文楷体" panose="02010600040101010101" charset="-122"/>
                <a:cs typeface="Source Han Sans" panose="020B0500000000000000" charset="-122"/>
              </a:rPr>
              <a:t>最坏的情况</a:t>
            </a: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，如果n个点都在点集区间[midx-dis，midx+dis]内，那么</a:t>
            </a:r>
            <a:r>
              <a:rPr kumimoji="1" lang="en-US" altLang="zh-CN" sz="1400" b="1">
                <a:ln w="12700">
                  <a:noFill/>
                </a:ln>
                <a:solidFill>
                  <a:srgbClr val="FF0000">
                    <a:alpha val="100000"/>
                  </a:srgbClr>
                </a:solidFill>
                <a:latin typeface="华文楷体" panose="02010600040101010101" charset="-122"/>
                <a:ea typeface="华文楷体" panose="02010600040101010101" charset="-122"/>
                <a:cs typeface="Source Han Sans" panose="020B0500000000000000" charset="-122"/>
              </a:rPr>
              <a:t>时间复杂度则需要O(n^2)</a:t>
            </a: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a:t>
            </a:r>
            <a:endPar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marL="285750" indent="-285750" algn="l">
              <a:lnSpc>
                <a:spcPct val="150000"/>
              </a:lnSpc>
              <a:buClrTx/>
              <a:buSzTx/>
              <a:buFont typeface="Wingdings" panose="05000000000000000000" charset="0"/>
              <a:buChar char="ü"/>
            </a:pPr>
            <a:r>
              <a:rPr kumimoji="1" lang="en-US" altLang="zh-CN" sz="1400" b="1">
                <a:ln w="12700">
                  <a:noFill/>
                </a:ln>
                <a:solidFill>
                  <a:srgbClr val="FF0000">
                    <a:alpha val="100000"/>
                  </a:srgbClr>
                </a:solidFill>
                <a:latin typeface="华文楷体" panose="02010600040101010101" charset="-122"/>
                <a:ea typeface="华文楷体" panose="02010600040101010101" charset="-122"/>
                <a:cs typeface="Source Han Sans" panose="020B0500000000000000" charset="-122"/>
              </a:rPr>
              <a:t>但是并不需要，因为该区域内的点个数&lt;=6，并且每个点对的距离不小于dis。</a:t>
            </a:r>
            <a:endParaRPr kumimoji="1" lang="en-US" altLang="zh-CN" sz="1400" b="1">
              <a:ln w="12700">
                <a:noFill/>
              </a:ln>
              <a:solidFill>
                <a:srgbClr val="FF0000">
                  <a:alpha val="100000"/>
                </a:srgbClr>
              </a:solidFill>
              <a:latin typeface="华文楷体" panose="02010600040101010101" charset="-122"/>
              <a:ea typeface="华文楷体" panose="02010600040101010101" charset="-122"/>
              <a:cs typeface="Source Han Sans" panose="020B0500000000000000" charset="-122"/>
            </a:endParaRPr>
          </a:p>
        </p:txBody>
      </p:sp>
      <p:cxnSp>
        <p:nvCxnSpPr>
          <p:cNvPr id="16" name="标题 1"/>
          <p:cNvCxnSpPr/>
          <p:nvPr/>
        </p:nvCxnSpPr>
        <p:spPr>
          <a:xfrm>
            <a:off x="271590" y="692965"/>
            <a:ext cx="1737509" cy="0"/>
          </a:xfrm>
          <a:prstGeom prst="line">
            <a:avLst/>
          </a:prstGeom>
          <a:noFill/>
          <a:ln w="12700" cap="sq">
            <a:solidFill>
              <a:schemeClr val="accent1"/>
            </a:solidFill>
            <a:miter/>
          </a:ln>
        </p:spPr>
      </p:cxnSp>
      <p:sp>
        <p:nvSpPr>
          <p:cNvPr id="17"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2.2分治法</a:t>
            </a: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时间复杂度</a:t>
            </a:r>
            <a:endPar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8" name="标题 1"/>
          <p:cNvCxnSpPr/>
          <p:nvPr/>
        </p:nvCxnSpPr>
        <p:spPr>
          <a:xfrm rot="16200000">
            <a:off x="233490" y="642165"/>
            <a:ext cx="404009" cy="0"/>
          </a:xfrm>
          <a:prstGeom prst="line">
            <a:avLst/>
          </a:prstGeom>
          <a:noFill/>
          <a:ln w="12700" cap="sq">
            <a:solidFill>
              <a:schemeClr val="accent1"/>
            </a:solidFill>
            <a:miter/>
          </a:ln>
        </p:spPr>
      </p:cxnSp>
      <p:sp>
        <p:nvSpPr>
          <p:cNvPr id="7" name="文本框 6"/>
          <p:cNvSpPr txBox="1"/>
          <p:nvPr/>
        </p:nvSpPr>
        <p:spPr>
          <a:xfrm>
            <a:off x="767080" y="3357245"/>
            <a:ext cx="868680" cy="368300"/>
          </a:xfrm>
          <a:prstGeom prst="rect">
            <a:avLst/>
          </a:prstGeom>
          <a:noFill/>
        </p:spPr>
        <p:txBody>
          <a:bodyPr wrap="none" rtlCol="0">
            <a:spAutoFit/>
          </a:bodyPr>
          <a:p>
            <a:r>
              <a:rPr lang="zh-CN" altLang="en-US">
                <a:latin typeface="华文楷体" panose="02010600040101010101" charset="-122"/>
                <a:ea typeface="华文楷体" panose="02010600040101010101" charset="-122"/>
              </a:rPr>
              <a:t>【证】</a:t>
            </a:r>
            <a:endParaRPr lang="zh-CN" altLang="en-US">
              <a:latin typeface="华文楷体" panose="02010600040101010101" charset="-122"/>
              <a:ea typeface="华文楷体" panose="02010600040101010101" charset="-122"/>
            </a:endParaRPr>
          </a:p>
        </p:txBody>
      </p:sp>
      <p:pic>
        <p:nvPicPr>
          <p:cNvPr id="20" name="图片 20" descr="78eb6f20675cb0478f7c884e5bad7a7"/>
          <p:cNvPicPr>
            <a:picLocks noChangeAspect="1"/>
          </p:cNvPicPr>
          <p:nvPr/>
        </p:nvPicPr>
        <p:blipFill>
          <a:blip r:embed="rId1"/>
          <a:stretch>
            <a:fillRect/>
          </a:stretch>
        </p:blipFill>
        <p:spPr>
          <a:xfrm>
            <a:off x="982980" y="3860800"/>
            <a:ext cx="3819525" cy="1664970"/>
          </a:xfrm>
          <a:prstGeom prst="rect">
            <a:avLst/>
          </a:prstGeom>
        </p:spPr>
      </p:pic>
      <p:sp>
        <p:nvSpPr>
          <p:cNvPr id="8" name="文本框 7"/>
          <p:cNvSpPr txBox="1"/>
          <p:nvPr/>
        </p:nvSpPr>
        <p:spPr>
          <a:xfrm>
            <a:off x="5231765" y="3357245"/>
            <a:ext cx="6543675" cy="3107690"/>
          </a:xfrm>
          <a:prstGeom prst="rect">
            <a:avLst/>
          </a:prstGeom>
          <a:noFill/>
        </p:spPr>
        <p:txBody>
          <a:bodyPr wrap="square" rtlCol="0">
            <a:spAutoFit/>
          </a:bodyPr>
          <a:p>
            <a:pPr marL="285750" indent="-285750" algn="l">
              <a:buFont typeface="Arial" panose="020B0604020202020204" pitchFamily="34" charset="0"/>
              <a:buChar char="•"/>
            </a:pPr>
            <a:r>
              <a:rPr lang="zh-CN" altLang="en-US" sz="1400">
                <a:latin typeface="华文楷体" panose="02010600040101010101" charset="-122"/>
                <a:ea typeface="华文楷体" panose="02010600040101010101" charset="-122"/>
                <a:cs typeface="华文楷体" panose="02010600040101010101" charset="-122"/>
              </a:rPr>
              <a:t>这个红色方框即是长方形区域2dis*dis，将其划分为6个更小的矩形，每个小矩形的尺寸为2dis/3*dis/2。</a:t>
            </a:r>
            <a:endParaRPr lang="zh-CN" altLang="en-US" sz="1400">
              <a:latin typeface="华文楷体" panose="02010600040101010101" charset="-122"/>
              <a:ea typeface="华文楷体" panose="02010600040101010101" charset="-122"/>
              <a:cs typeface="华文楷体" panose="02010600040101010101" charset="-122"/>
            </a:endParaRPr>
          </a:p>
          <a:p>
            <a:pPr marL="285750" indent="-285750" algn="l">
              <a:buFont typeface="Arial" panose="020B0604020202020204" pitchFamily="34" charset="0"/>
              <a:buChar char="•"/>
            </a:pPr>
            <a:r>
              <a:rPr lang="zh-CN" altLang="en-US" sz="1400">
                <a:latin typeface="华文楷体" panose="02010600040101010101" charset="-122"/>
                <a:ea typeface="华文楷体" panose="02010600040101010101" charset="-122"/>
                <a:cs typeface="华文楷体" panose="02010600040101010101" charset="-122"/>
              </a:rPr>
              <a:t>将这些2dis/3*dis/2的小矩形看成是抽屉，假设在这个2dis*dis的红色矩形内存在超过6个点，则根据抽屉原理可知，至少有一个小矩形内会包含至少两个点。</a:t>
            </a:r>
            <a:endParaRPr lang="zh-CN" altLang="en-US" sz="1400">
              <a:latin typeface="华文楷体" panose="02010600040101010101" charset="-122"/>
              <a:ea typeface="华文楷体" panose="02010600040101010101" charset="-122"/>
              <a:cs typeface="华文楷体" panose="02010600040101010101" charset="-122"/>
            </a:endParaRPr>
          </a:p>
          <a:p>
            <a:pPr marL="285750" indent="-285750" algn="l">
              <a:buFont typeface="Arial" panose="020B0604020202020204" pitchFamily="34" charset="0"/>
              <a:buChar char="•"/>
            </a:pPr>
            <a:r>
              <a:rPr lang="zh-CN" altLang="en-US" sz="1400">
                <a:latin typeface="华文楷体" panose="02010600040101010101" charset="-122"/>
                <a:ea typeface="华文楷体" panose="02010600040101010101" charset="-122"/>
                <a:cs typeface="华文楷体" panose="02010600040101010101" charset="-122"/>
              </a:rPr>
              <a:t>但是计算</a:t>
            </a:r>
            <a:r>
              <a:rPr lang="zh-CN" altLang="en-US" sz="1400">
                <a:solidFill>
                  <a:srgbClr val="FF0000"/>
                </a:solidFill>
                <a:latin typeface="华文楷体" panose="02010600040101010101" charset="-122"/>
                <a:ea typeface="华文楷体" panose="02010600040101010101" charset="-122"/>
                <a:cs typeface="华文楷体" panose="02010600040101010101" charset="-122"/>
              </a:rPr>
              <a:t>每个小矩形</a:t>
            </a:r>
            <a:r>
              <a:rPr lang="zh-CN" altLang="en-US" sz="1400">
                <a:latin typeface="华文楷体" panose="02010600040101010101" charset="-122"/>
                <a:ea typeface="华文楷体" panose="02010600040101010101" charset="-122"/>
                <a:cs typeface="华文楷体" panose="02010600040101010101" charset="-122"/>
              </a:rPr>
              <a:t>对角线距离：</a:t>
            </a:r>
            <a:endParaRPr lang="zh-CN" altLang="en-US" sz="1400">
              <a:latin typeface="华文楷体" panose="02010600040101010101" charset="-122"/>
              <a:ea typeface="华文楷体" panose="02010600040101010101" charset="-122"/>
              <a:cs typeface="华文楷体" panose="02010600040101010101" charset="-122"/>
            </a:endParaRPr>
          </a:p>
          <a:p>
            <a:pPr algn="l"/>
            <a:endParaRPr lang="zh-CN" altLang="en-US" sz="1400">
              <a:latin typeface="华文楷体" panose="02010600040101010101" charset="-122"/>
              <a:ea typeface="华文楷体" panose="02010600040101010101" charset="-122"/>
              <a:cs typeface="华文楷体" panose="02010600040101010101" charset="-122"/>
            </a:endParaRPr>
          </a:p>
          <a:p>
            <a:pPr algn="l"/>
            <a:endParaRPr lang="zh-CN" altLang="en-US" sz="1400">
              <a:latin typeface="华文楷体" panose="02010600040101010101" charset="-122"/>
              <a:ea typeface="华文楷体" panose="02010600040101010101" charset="-122"/>
              <a:cs typeface="华文楷体" panose="02010600040101010101" charset="-122"/>
            </a:endParaRPr>
          </a:p>
          <a:p>
            <a:pPr marL="285750" indent="-285750" algn="l">
              <a:buFont typeface="Arial" panose="020B0604020202020204" pitchFamily="34" charset="0"/>
              <a:buChar char="•"/>
            </a:pPr>
            <a:r>
              <a:rPr lang="zh-CN" altLang="en-US" sz="1400">
                <a:latin typeface="华文楷体" panose="02010600040101010101" charset="-122"/>
                <a:ea typeface="华文楷体" panose="02010600040101010101" charset="-122"/>
                <a:cs typeface="华文楷体" panose="02010600040101010101" charset="-122"/>
              </a:rPr>
              <a:t>这与假设的dis是当前已知的最近点对的最小距离</a:t>
            </a:r>
            <a:r>
              <a:rPr lang="zh-CN" altLang="en-US" sz="1400">
                <a:solidFill>
                  <a:srgbClr val="FF0000"/>
                </a:solidFill>
                <a:latin typeface="华文楷体" panose="02010600040101010101" charset="-122"/>
                <a:ea typeface="华文楷体" panose="02010600040101010101" charset="-122"/>
                <a:cs typeface="华文楷体" panose="02010600040101010101" charset="-122"/>
              </a:rPr>
              <a:t>相互矛盾</a:t>
            </a:r>
            <a:r>
              <a:rPr lang="zh-CN" altLang="en-US" sz="1400">
                <a:latin typeface="华文楷体" panose="02010600040101010101" charset="-122"/>
                <a:ea typeface="华文楷体" panose="02010600040101010101" charset="-122"/>
                <a:cs typeface="华文楷体" panose="02010600040101010101" charset="-122"/>
              </a:rPr>
              <a:t>。</a:t>
            </a:r>
            <a:endParaRPr lang="zh-CN" altLang="en-US" sz="1400">
              <a:latin typeface="华文楷体" panose="02010600040101010101" charset="-122"/>
              <a:ea typeface="华文楷体" panose="02010600040101010101" charset="-122"/>
              <a:cs typeface="华文楷体" panose="02010600040101010101" charset="-122"/>
            </a:endParaRPr>
          </a:p>
          <a:p>
            <a:pPr marL="285750" indent="-285750" algn="l">
              <a:buFont typeface="Arial" panose="020B0604020202020204" pitchFamily="34" charset="0"/>
              <a:buChar char="•"/>
            </a:pPr>
            <a:endParaRPr lang="zh-CN" altLang="en-US" sz="1400">
              <a:latin typeface="华文楷体" panose="02010600040101010101" charset="-122"/>
              <a:ea typeface="华文楷体" panose="02010600040101010101" charset="-122"/>
              <a:cs typeface="华文楷体" panose="02010600040101010101" charset="-122"/>
            </a:endParaRPr>
          </a:p>
          <a:p>
            <a:pPr marL="285750" indent="-285750" algn="l">
              <a:buFont typeface="Wingdings" panose="05000000000000000000" charset="0"/>
              <a:buChar char="Ø"/>
            </a:pPr>
            <a:r>
              <a:rPr lang="zh-CN" altLang="en-US" sz="1400">
                <a:latin typeface="华文楷体" panose="02010600040101010101" charset="-122"/>
                <a:ea typeface="华文楷体" panose="02010600040101010101" charset="-122"/>
                <a:cs typeface="华文楷体" panose="02010600040101010101" charset="-122"/>
              </a:rPr>
              <a:t>所以，这个2dis*dis矩形内最多只能包含6个点，且每个点对之间的距离不小于dis。	</a:t>
            </a:r>
            <a:endParaRPr lang="zh-CN" altLang="en-US" sz="1400">
              <a:latin typeface="华文楷体" panose="02010600040101010101" charset="-122"/>
              <a:ea typeface="华文楷体" panose="02010600040101010101" charset="-122"/>
              <a:cs typeface="华文楷体" panose="02010600040101010101" charset="-122"/>
            </a:endParaRPr>
          </a:p>
          <a:p>
            <a:pPr marL="285750" indent="-285750" algn="l">
              <a:buFont typeface="Wingdings" panose="05000000000000000000" charset="0"/>
              <a:buChar char="Ø"/>
            </a:pPr>
            <a:r>
              <a:rPr lang="zh-CN" altLang="en-US" sz="1400">
                <a:latin typeface="华文楷体" panose="02010600040101010101" charset="-122"/>
                <a:ea typeface="华文楷体" panose="02010600040101010101" charset="-122"/>
                <a:cs typeface="华文楷体" panose="02010600040101010101" charset="-122"/>
              </a:rPr>
              <a:t>因此遍历每个点pi得到的2dis*dis长方形区域只需要常数时间（6个点），即是是最坏的情况，也只需要O(6*n)，还是线性O(n)。</a:t>
            </a:r>
            <a:endParaRPr lang="zh-CN" altLang="en-US" sz="1400">
              <a:latin typeface="华文楷体" panose="02010600040101010101" charset="-122"/>
              <a:ea typeface="华文楷体" panose="02010600040101010101" charset="-122"/>
              <a:cs typeface="华文楷体" panose="02010600040101010101" charset="-122"/>
            </a:endParaRPr>
          </a:p>
          <a:p>
            <a:pPr marL="285750" indent="-285750" algn="l">
              <a:buFont typeface="Wingdings" panose="05000000000000000000" charset="0"/>
              <a:buChar char="Ø"/>
            </a:pPr>
            <a:r>
              <a:rPr lang="zh-CN" altLang="en-US" sz="1400" b="1">
                <a:solidFill>
                  <a:srgbClr val="FF0000"/>
                </a:solidFill>
                <a:latin typeface="华文楷体" panose="02010600040101010101" charset="-122"/>
                <a:ea typeface="华文楷体" panose="02010600040101010101" charset="-122"/>
                <a:cs typeface="华文楷体" panose="02010600040101010101" charset="-122"/>
              </a:rPr>
              <a:t>故而这一步的总时间复杂度为O(n)</a:t>
            </a:r>
            <a:r>
              <a:rPr lang="zh-CN" altLang="en-US" sz="1400">
                <a:latin typeface="华文楷体" panose="02010600040101010101" charset="-122"/>
                <a:ea typeface="华文楷体" panose="02010600040101010101" charset="-122"/>
                <a:cs typeface="华文楷体" panose="02010600040101010101" charset="-122"/>
              </a:rPr>
              <a:t>。</a:t>
            </a:r>
            <a:endParaRPr lang="zh-CN" altLang="en-US" sz="1400">
              <a:latin typeface="华文楷体" panose="02010600040101010101" charset="-122"/>
              <a:ea typeface="华文楷体" panose="02010600040101010101" charset="-122"/>
              <a:cs typeface="华文楷体" panose="02010600040101010101" charset="-122"/>
            </a:endParaRPr>
          </a:p>
        </p:txBody>
      </p:sp>
      <p:pic>
        <p:nvPicPr>
          <p:cNvPr id="9" name="图片 8"/>
          <p:cNvPicPr>
            <a:picLocks noChangeAspect="1"/>
          </p:cNvPicPr>
          <p:nvPr/>
        </p:nvPicPr>
        <p:blipFill>
          <a:blip r:embed="rId2"/>
          <a:stretch>
            <a:fillRect/>
          </a:stretch>
        </p:blipFill>
        <p:spPr>
          <a:xfrm>
            <a:off x="8256270" y="4293235"/>
            <a:ext cx="2047240" cy="599440"/>
          </a:xfrm>
          <a:prstGeom prst="rect">
            <a:avLst/>
          </a:prstGeom>
        </p:spPr>
      </p:pic>
      <p:sp>
        <p:nvSpPr>
          <p:cNvPr id="10" name="文本框 9"/>
          <p:cNvSpPr txBox="1"/>
          <p:nvPr/>
        </p:nvSpPr>
        <p:spPr>
          <a:xfrm>
            <a:off x="982980" y="5733415"/>
            <a:ext cx="3896360" cy="1076325"/>
          </a:xfrm>
          <a:prstGeom prst="rect">
            <a:avLst/>
          </a:prstGeom>
          <a:noFill/>
        </p:spPr>
        <p:txBody>
          <a:bodyPr wrap="square" rtlCol="0">
            <a:spAutoFit/>
          </a:bodyPr>
          <a:p>
            <a:pPr algn="l"/>
            <a:r>
              <a:rPr lang="zh-CN" altLang="en-US" sz="1600" b="1">
                <a:solidFill>
                  <a:srgbClr val="FF0000"/>
                </a:solidFill>
                <a:latin typeface="华文楷体" panose="02010600040101010101" charset="-122"/>
                <a:ea typeface="华文楷体" panose="02010600040101010101" charset="-122"/>
                <a:cs typeface="华文楷体" panose="02010600040101010101" charset="-122"/>
                <a:sym typeface="+mn-ea"/>
              </a:rPr>
              <a:t>抽屉原理：如果n个物体放入m个抽屉中，并且n&gt;m，那么至少有一个抽屉中包含执照两个物体</a:t>
            </a:r>
            <a:r>
              <a:rPr lang="zh-CN" altLang="en-US" sz="1600">
                <a:latin typeface="华文楷体" panose="02010600040101010101" charset="-122"/>
                <a:ea typeface="华文楷体" panose="02010600040101010101" charset="-122"/>
                <a:cs typeface="华文楷体" panose="02010600040101010101" charset="-122"/>
                <a:sym typeface="+mn-ea"/>
              </a:rPr>
              <a:t>。</a:t>
            </a:r>
            <a:endParaRPr lang="zh-CN" altLang="en-US" sz="1600">
              <a:latin typeface="华文楷体" panose="02010600040101010101" charset="-122"/>
              <a:ea typeface="华文楷体" panose="02010600040101010101" charset="-122"/>
              <a:cs typeface="华文楷体" panose="02010600040101010101" charset="-122"/>
            </a:endParaRPr>
          </a:p>
          <a:p>
            <a:endParaRPr lang="zh-CN" altLang="en-US" sz="1600">
              <a:latin typeface="华文楷体" panose="02010600040101010101" charset="-122"/>
              <a:ea typeface="华文楷体" panose="02010600040101010101" charset="-122"/>
              <a:cs typeface="华文楷体" panose="02010600040101010101" charset="-122"/>
            </a:endParaRPr>
          </a:p>
        </p:txBody>
      </p:sp>
      <p:cxnSp>
        <p:nvCxnSpPr>
          <p:cNvPr id="15" name="标题 1"/>
          <p:cNvCxnSpPr/>
          <p:nvPr/>
        </p:nvCxnSpPr>
        <p:spPr>
          <a:xfrm>
            <a:off x="839376" y="3141056"/>
            <a:ext cx="5807803" cy="0"/>
          </a:xfrm>
          <a:prstGeom prst="line">
            <a:avLst/>
          </a:prstGeom>
          <a:noFill/>
          <a:ln w="6350" cap="sq">
            <a:solidFill>
              <a:schemeClr val="tx1">
                <a:alpha val="20000"/>
              </a:schemeClr>
            </a:solidFill>
            <a:miter/>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20320" y="-27305"/>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5274" y="1052915"/>
            <a:ext cx="1397000" cy="830580"/>
          </a:xfrm>
          <a:prstGeom prst="rect">
            <a:avLst/>
          </a:prstGeom>
          <a:noFill/>
          <a:ln>
            <a:noFill/>
          </a:ln>
        </p:spPr>
        <p:txBody>
          <a:bodyPr vert="horz" wrap="square" lIns="0" tIns="0" rIns="0" bIns="0" rtlCol="0" anchor="t">
            <a:spAutoFit/>
          </a:bodyPr>
          <a:lstStyle/>
          <a:p>
            <a:pPr algn="l">
              <a:lnSpc>
                <a:spcPct val="100000"/>
              </a:lnSpc>
            </a:pPr>
            <a:r>
              <a:rPr kumimoji="1" lang="en-US" altLang="zh-CN" sz="5400">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rPr>
              <a:t>04</a:t>
            </a:r>
            <a:endParaRPr kumimoji="1" lang="en-US" altLang="zh-CN" sz="5400">
              <a:solidFill>
                <a:schemeClr val="tx1"/>
              </a:solidFill>
              <a:effectLst>
                <a:outerShdw blurRad="38100" dist="19050" dir="2700000" algn="tl" rotWithShape="0">
                  <a:schemeClr val="dk1">
                    <a:alpha val="40000"/>
                  </a:schemeClr>
                </a:outerShdw>
              </a:effectLst>
              <a:latin typeface="OPPOSans L" panose="00020600040101010101" charset="-122"/>
              <a:ea typeface="OPPOSans L" panose="00020600040101010101" charset="-122"/>
              <a:cs typeface="OPPOSans L" panose="00020600040101010101" charset="-122"/>
            </a:endParaRPr>
          </a:p>
        </p:txBody>
      </p:sp>
      <p:sp>
        <p:nvSpPr>
          <p:cNvPr id="12" name="标题 1"/>
          <p:cNvSpPr txBox="1"/>
          <p:nvPr/>
        </p:nvSpPr>
        <p:spPr>
          <a:xfrm>
            <a:off x="1781175" y="1124585"/>
            <a:ext cx="8629650" cy="1625600"/>
          </a:xfrm>
          <a:prstGeom prst="rect">
            <a:avLst/>
          </a:prstGeom>
          <a:noFill/>
          <a:ln cap="sq">
            <a:noFill/>
          </a:ln>
        </p:spPr>
        <p:txBody>
          <a:bodyPr vert="horz" wrap="square" lIns="38102" tIns="38102" rIns="38102" bIns="38102" rtlCol="0" anchor="t"/>
          <a:lstStyle/>
          <a:p>
            <a:pPr algn="l">
              <a:lnSpc>
                <a:spcPct val="150000"/>
              </a:lnSpc>
              <a:buClrTx/>
              <a:buSzTx/>
              <a:buFontTx/>
            </a:pPr>
            <a:r>
              <a:rPr kumimoji="1" lang="en-US" altLang="zh-CN"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更新答案：</a:t>
            </a:r>
            <a:endParaRPr kumimoji="1" lang="en-US" altLang="zh-CN" sz="1600" b="1">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a:p>
            <a:pPr algn="l">
              <a:lnSpc>
                <a:spcPct val="150000"/>
              </a:lnSpc>
              <a:buClrTx/>
              <a:buSzTx/>
              <a:buFontTx/>
            </a:pPr>
            <a:r>
              <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rPr>
              <a:t>这一步的时间复杂度取决于有多少点对，即2dis*dis长方形区域的规模，计算每一个点的2dis*dis长方形区域，时间复杂度也是O(n)。</a:t>
            </a:r>
            <a:endParaRPr kumimoji="1" lang="en-US" altLang="zh-CN" sz="1400">
              <a:ln w="12700">
                <a:noFill/>
              </a:ln>
              <a:solidFill>
                <a:srgbClr val="404040">
                  <a:alpha val="100000"/>
                </a:srgbClr>
              </a:solidFill>
              <a:latin typeface="华文楷体" panose="02010600040101010101" charset="-122"/>
              <a:ea typeface="华文楷体" panose="02010600040101010101" charset="-122"/>
              <a:cs typeface="Source Han Sans" panose="020B0500000000000000" charset="-122"/>
            </a:endParaRPr>
          </a:p>
        </p:txBody>
      </p:sp>
      <p:cxnSp>
        <p:nvCxnSpPr>
          <p:cNvPr id="16" name="标题 1"/>
          <p:cNvCxnSpPr/>
          <p:nvPr/>
        </p:nvCxnSpPr>
        <p:spPr>
          <a:xfrm>
            <a:off x="271590" y="692965"/>
            <a:ext cx="1737509" cy="0"/>
          </a:xfrm>
          <a:prstGeom prst="line">
            <a:avLst/>
          </a:prstGeom>
          <a:noFill/>
          <a:ln w="12700" cap="sq">
            <a:solidFill>
              <a:schemeClr val="accent1"/>
            </a:solidFill>
            <a:miter/>
          </a:ln>
        </p:spPr>
      </p:cxnSp>
      <p:sp>
        <p:nvSpPr>
          <p:cNvPr id="17"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2.2分治法</a:t>
            </a: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时间复杂度</a:t>
            </a:r>
            <a:endPar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8" name="标题 1"/>
          <p:cNvCxnSpPr/>
          <p:nvPr/>
        </p:nvCxnSpPr>
        <p:spPr>
          <a:xfrm rot="16200000">
            <a:off x="233490" y="642165"/>
            <a:ext cx="404009" cy="0"/>
          </a:xfrm>
          <a:prstGeom prst="line">
            <a:avLst/>
          </a:prstGeom>
          <a:noFill/>
          <a:ln w="12700" cap="sq">
            <a:solidFill>
              <a:schemeClr val="accent1"/>
            </a:solidFill>
            <a:miter/>
          </a:ln>
        </p:spPr>
      </p:cxnSp>
      <p:sp>
        <p:nvSpPr>
          <p:cNvPr id="6" name="文本框 5"/>
          <p:cNvSpPr txBox="1"/>
          <p:nvPr/>
        </p:nvSpPr>
        <p:spPr>
          <a:xfrm>
            <a:off x="3215640" y="2924810"/>
            <a:ext cx="7881620" cy="2999740"/>
          </a:xfrm>
          <a:prstGeom prst="rect">
            <a:avLst/>
          </a:prstGeom>
          <a:noFill/>
        </p:spPr>
        <p:txBody>
          <a:bodyPr wrap="square" rtlCol="0">
            <a:spAutoFit/>
          </a:bodyPr>
          <a:p>
            <a:pPr algn="l" fontAlgn="auto">
              <a:lnSpc>
                <a:spcPct val="150000"/>
              </a:lnSpc>
            </a:pPr>
            <a:r>
              <a:rPr lang="zh-CN" altLang="en-US" b="1">
                <a:latin typeface="华文楷体" panose="02010600040101010101" charset="-122"/>
                <a:ea typeface="华文楷体" panose="02010600040101010101" charset="-122"/>
                <a:cs typeface="华文楷体" panose="02010600040101010101" charset="-122"/>
              </a:rPr>
              <a:t>综上：</a:t>
            </a:r>
            <a:endParaRPr lang="zh-CN" altLang="en-US" b="1">
              <a:latin typeface="华文楷体" panose="02010600040101010101" charset="-122"/>
              <a:ea typeface="华文楷体" panose="02010600040101010101" charset="-122"/>
              <a:cs typeface="华文楷体" panose="02010600040101010101" charset="-122"/>
            </a:endParaRPr>
          </a:p>
          <a:p>
            <a:pPr algn="l" fontAlgn="auto">
              <a:lnSpc>
                <a:spcPct val="150000"/>
              </a:lnSpc>
            </a:pPr>
            <a:r>
              <a:rPr lang="zh-CN" altLang="en-US">
                <a:latin typeface="华文楷体" panose="02010600040101010101" charset="-122"/>
                <a:ea typeface="华文楷体" panose="02010600040101010101" charset="-122"/>
                <a:cs typeface="华文楷体" panose="02010600040101010101" charset="-122"/>
              </a:rPr>
              <a:t>四个步骤中的时间复杂度最大为O(n)。所以得出下面式子。</a:t>
            </a:r>
            <a:endParaRPr lang="zh-CN" altLang="en-US">
              <a:latin typeface="华文楷体" panose="02010600040101010101" charset="-122"/>
              <a:ea typeface="华文楷体" panose="02010600040101010101" charset="-122"/>
              <a:cs typeface="华文楷体" panose="02010600040101010101" charset="-122"/>
            </a:endParaRPr>
          </a:p>
          <a:p>
            <a:pPr algn="l" fontAlgn="auto">
              <a:lnSpc>
                <a:spcPct val="150000"/>
              </a:lnSpc>
            </a:pPr>
            <a:r>
              <a:rPr lang="en-US" altLang="zh-CN">
                <a:latin typeface="华文楷体" panose="02010600040101010101" charset="-122"/>
                <a:ea typeface="华文楷体" panose="02010600040101010101" charset="-122"/>
                <a:cs typeface="华文楷体" panose="02010600040101010101" charset="-122"/>
              </a:rPr>
              <a:t>	</a:t>
            </a:r>
            <a:r>
              <a:rPr lang="zh-CN" altLang="en-US">
                <a:latin typeface="华文楷体" panose="02010600040101010101" charset="-122"/>
                <a:ea typeface="华文楷体" panose="02010600040101010101" charset="-122"/>
                <a:cs typeface="华文楷体" panose="02010600040101010101" charset="-122"/>
              </a:rPr>
              <a:t>T(n)=2*T(n/2)+O(n)(n&gt;=2)。时间复杂度为O(nlogn)。</a:t>
            </a:r>
            <a:endParaRPr lang="zh-CN" altLang="en-US">
              <a:latin typeface="华文楷体" panose="02010600040101010101" charset="-122"/>
              <a:ea typeface="华文楷体" panose="02010600040101010101" charset="-122"/>
              <a:cs typeface="华文楷体" panose="02010600040101010101" charset="-122"/>
            </a:endParaRPr>
          </a:p>
          <a:p>
            <a:pPr algn="l" fontAlgn="auto">
              <a:lnSpc>
                <a:spcPct val="150000"/>
              </a:lnSpc>
            </a:pPr>
            <a:endParaRPr lang="zh-CN" altLang="en-US">
              <a:latin typeface="华文楷体" panose="02010600040101010101" charset="-122"/>
              <a:ea typeface="华文楷体" panose="02010600040101010101" charset="-122"/>
              <a:cs typeface="华文楷体" panose="02010600040101010101" charset="-122"/>
            </a:endParaRPr>
          </a:p>
          <a:p>
            <a:pPr indent="0" algn="l" fontAlgn="auto">
              <a:lnSpc>
                <a:spcPct val="150000"/>
              </a:lnSpc>
              <a:buFont typeface="Wingdings" panose="05000000000000000000" charset="0"/>
              <a:buNone/>
            </a:pPr>
            <a:r>
              <a:rPr lang="zh-CN" altLang="en-US" b="1">
                <a:latin typeface="华文楷体" panose="02010600040101010101" charset="-122"/>
                <a:ea typeface="华文楷体" panose="02010600040101010101" charset="-122"/>
                <a:cs typeface="华文楷体" panose="02010600040101010101" charset="-122"/>
              </a:rPr>
              <a:t>总时间复杂度：</a:t>
            </a:r>
            <a:endParaRPr lang="zh-CN" altLang="en-US" b="1">
              <a:latin typeface="华文楷体" panose="02010600040101010101" charset="-122"/>
              <a:ea typeface="华文楷体" panose="02010600040101010101" charset="-122"/>
              <a:cs typeface="华文楷体" panose="02010600040101010101" charset="-122"/>
            </a:endParaRPr>
          </a:p>
          <a:p>
            <a:pPr indent="0" algn="l" fontAlgn="auto">
              <a:lnSpc>
                <a:spcPct val="150000"/>
              </a:lnSpc>
              <a:buFont typeface="Wingdings" panose="05000000000000000000" charset="0"/>
              <a:buNone/>
            </a:pPr>
            <a:r>
              <a:rPr lang="zh-CN" altLang="en-US">
                <a:latin typeface="华文楷体" panose="02010600040101010101" charset="-122"/>
                <a:ea typeface="华文楷体" panose="02010600040101010101" charset="-122"/>
                <a:cs typeface="华文楷体" panose="02010600040101010101" charset="-122"/>
              </a:rPr>
              <a:t>为排序阶段的时间复杂度+递归合并阶段的时间复杂度，即O(nlogn)+O(nlogn)，</a:t>
            </a:r>
            <a:r>
              <a:rPr lang="zh-CN" altLang="en-US" b="1">
                <a:solidFill>
                  <a:srgbClr val="FF0000"/>
                </a:solidFill>
                <a:latin typeface="华文楷体" panose="02010600040101010101" charset="-122"/>
                <a:ea typeface="华文楷体" panose="02010600040101010101" charset="-122"/>
                <a:cs typeface="华文楷体" panose="02010600040101010101" charset="-122"/>
              </a:rPr>
              <a:t>最后结果为O(nlogn)</a:t>
            </a:r>
            <a:r>
              <a:rPr lang="zh-CN" altLang="en-US">
                <a:latin typeface="华文楷体" panose="02010600040101010101" charset="-122"/>
                <a:ea typeface="华文楷体" panose="02010600040101010101" charset="-122"/>
                <a:cs typeface="华文楷体" panose="02010600040101010101" charset="-122"/>
              </a:rPr>
              <a:t>。</a:t>
            </a:r>
            <a:endParaRPr lang="zh-CN" altLang="en-US">
              <a:latin typeface="华文楷体" panose="02010600040101010101" charset="-122"/>
              <a:ea typeface="华文楷体" panose="02010600040101010101" charset="-122"/>
              <a:cs typeface="华文楷体" panose="02010600040101010101" charset="-122"/>
            </a:endParaRPr>
          </a:p>
        </p:txBody>
      </p:sp>
      <p:sp>
        <p:nvSpPr>
          <p:cNvPr id="11" name="标题 1"/>
          <p:cNvSpPr txBox="1"/>
          <p:nvPr/>
        </p:nvSpPr>
        <p:spPr>
          <a:xfrm>
            <a:off x="766839" y="2997200"/>
            <a:ext cx="1044830" cy="1077409"/>
          </a:xfrm>
          <a:custGeom>
            <a:avLst/>
            <a:gdLst>
              <a:gd name="connsiteX0" fmla="*/ 1371696 w 1870330"/>
              <a:gd name="connsiteY0" fmla="*/ 1296270 h 1845296"/>
              <a:gd name="connsiteX1" fmla="*/ 1371696 w 1870330"/>
              <a:gd name="connsiteY1" fmla="*/ 1371136 h 1845296"/>
              <a:gd name="connsiteX2" fmla="*/ 1671448 w 1870330"/>
              <a:gd name="connsiteY2" fmla="*/ 1371136 h 1845296"/>
              <a:gd name="connsiteX3" fmla="*/ 1671448 w 1870330"/>
              <a:gd name="connsiteY3" fmla="*/ 1296270 h 1845296"/>
              <a:gd name="connsiteX4" fmla="*/ 1371696 w 1870330"/>
              <a:gd name="connsiteY4" fmla="*/ 996899 h 1845296"/>
              <a:gd name="connsiteX5" fmla="*/ 1371696 w 1870330"/>
              <a:gd name="connsiteY5" fmla="*/ 1071765 h 1845296"/>
              <a:gd name="connsiteX6" fmla="*/ 1671448 w 1870330"/>
              <a:gd name="connsiteY6" fmla="*/ 1071765 h 1845296"/>
              <a:gd name="connsiteX7" fmla="*/ 1671448 w 1870330"/>
              <a:gd name="connsiteY7" fmla="*/ 996899 h 1845296"/>
              <a:gd name="connsiteX8" fmla="*/ 1371696 w 1870330"/>
              <a:gd name="connsiteY8" fmla="*/ 747820 h 1845296"/>
              <a:gd name="connsiteX9" fmla="*/ 1371696 w 1870330"/>
              <a:gd name="connsiteY9" fmla="*/ 822401 h 1845296"/>
              <a:gd name="connsiteX10" fmla="*/ 1671448 w 1870330"/>
              <a:gd name="connsiteY10" fmla="*/ 822401 h 1845296"/>
              <a:gd name="connsiteX11" fmla="*/ 1671448 w 1870330"/>
              <a:gd name="connsiteY11" fmla="*/ 747820 h 1845296"/>
              <a:gd name="connsiteX12" fmla="*/ 1371696 w 1870330"/>
              <a:gd name="connsiteY12" fmla="*/ 473405 h 1845296"/>
              <a:gd name="connsiteX13" fmla="*/ 1371696 w 1870330"/>
              <a:gd name="connsiteY13" fmla="*/ 547986 h 1845296"/>
              <a:gd name="connsiteX14" fmla="*/ 1671448 w 1870330"/>
              <a:gd name="connsiteY14" fmla="*/ 547986 h 1845296"/>
              <a:gd name="connsiteX15" fmla="*/ 1671448 w 1870330"/>
              <a:gd name="connsiteY15" fmla="*/ 473405 h 1845296"/>
              <a:gd name="connsiteX16" fmla="*/ 1221963 w 1870330"/>
              <a:gd name="connsiteY16" fmla="*/ 224040 h 1845296"/>
              <a:gd name="connsiteX17" fmla="*/ 1794130 w 1870330"/>
              <a:gd name="connsiteY17" fmla="*/ 224040 h 1845296"/>
              <a:gd name="connsiteX18" fmla="*/ 1870330 w 1870330"/>
              <a:gd name="connsiteY18" fmla="*/ 298811 h 1845296"/>
              <a:gd name="connsiteX19" fmla="*/ 1870330 w 1870330"/>
              <a:gd name="connsiteY19" fmla="*/ 1570971 h 1845296"/>
              <a:gd name="connsiteX20" fmla="*/ 1794130 w 1870330"/>
              <a:gd name="connsiteY20" fmla="*/ 1645742 h 1845296"/>
              <a:gd name="connsiteX21" fmla="*/ 1221963 w 1870330"/>
              <a:gd name="connsiteY21" fmla="*/ 1645742 h 1845296"/>
              <a:gd name="connsiteX22" fmla="*/ 1221963 w 1870330"/>
              <a:gd name="connsiteY22" fmla="*/ 1383804 h 1845296"/>
              <a:gd name="connsiteX23" fmla="*/ 1298163 w 1870330"/>
              <a:gd name="connsiteY23" fmla="*/ 1383804 h 1845296"/>
              <a:gd name="connsiteX24" fmla="*/ 1298163 w 1870330"/>
              <a:gd name="connsiteY24" fmla="*/ 1309033 h 1845296"/>
              <a:gd name="connsiteX25" fmla="*/ 1221963 w 1870330"/>
              <a:gd name="connsiteY25" fmla="*/ 1309033 h 1845296"/>
              <a:gd name="connsiteX26" fmla="*/ 1221963 w 1870330"/>
              <a:gd name="connsiteY26" fmla="*/ 1084434 h 1845296"/>
              <a:gd name="connsiteX27" fmla="*/ 1298163 w 1870330"/>
              <a:gd name="connsiteY27" fmla="*/ 1084434 h 1845296"/>
              <a:gd name="connsiteX28" fmla="*/ 1298163 w 1870330"/>
              <a:gd name="connsiteY28" fmla="*/ 1009662 h 1845296"/>
              <a:gd name="connsiteX29" fmla="*/ 1221963 w 1870330"/>
              <a:gd name="connsiteY29" fmla="*/ 1009662 h 1845296"/>
              <a:gd name="connsiteX30" fmla="*/ 1221963 w 1870330"/>
              <a:gd name="connsiteY30" fmla="*/ 822496 h 1845296"/>
              <a:gd name="connsiteX31" fmla="*/ 1298163 w 1870330"/>
              <a:gd name="connsiteY31" fmla="*/ 822496 h 1845296"/>
              <a:gd name="connsiteX32" fmla="*/ 1298163 w 1870330"/>
              <a:gd name="connsiteY32" fmla="*/ 747725 h 1845296"/>
              <a:gd name="connsiteX33" fmla="*/ 1221963 w 1870330"/>
              <a:gd name="connsiteY33" fmla="*/ 747725 h 1845296"/>
              <a:gd name="connsiteX34" fmla="*/ 1221963 w 1870330"/>
              <a:gd name="connsiteY34" fmla="*/ 560654 h 1845296"/>
              <a:gd name="connsiteX35" fmla="*/ 1298163 w 1870330"/>
              <a:gd name="connsiteY35" fmla="*/ 560654 h 1845296"/>
              <a:gd name="connsiteX36" fmla="*/ 1298163 w 1870330"/>
              <a:gd name="connsiteY36" fmla="*/ 485883 h 1845296"/>
              <a:gd name="connsiteX37" fmla="*/ 1221963 w 1870330"/>
              <a:gd name="connsiteY37" fmla="*/ 485883 h 1845296"/>
              <a:gd name="connsiteX38" fmla="*/ 1054227 w 1870330"/>
              <a:gd name="connsiteY38" fmla="*/ 393 h 1845296"/>
              <a:gd name="connsiteX39" fmla="*/ 1054132 w 1870330"/>
              <a:gd name="connsiteY39" fmla="*/ 869 h 1845296"/>
              <a:gd name="connsiteX40" fmla="*/ 1083754 w 1870330"/>
              <a:gd name="connsiteY40" fmla="*/ 7727 h 1845296"/>
              <a:gd name="connsiteX41" fmla="*/ 1097470 w 1870330"/>
              <a:gd name="connsiteY41" fmla="*/ 36302 h 1845296"/>
              <a:gd name="connsiteX42" fmla="*/ 1097470 w 1870330"/>
              <a:gd name="connsiteY42" fmla="*/ 1808714 h 1845296"/>
              <a:gd name="connsiteX43" fmla="*/ 1083754 w 1870330"/>
              <a:gd name="connsiteY43" fmla="*/ 1837289 h 1845296"/>
              <a:gd name="connsiteX44" fmla="*/ 1060895 w 1870330"/>
              <a:gd name="connsiteY44" fmla="*/ 1845290 h 1845296"/>
              <a:gd name="connsiteX45" fmla="*/ 1053941 w 1870330"/>
              <a:gd name="connsiteY45" fmla="*/ 1844148 h 1845296"/>
              <a:gd name="connsiteX46" fmla="*/ 29623 w 1870330"/>
              <a:gd name="connsiteY46" fmla="*/ 1647932 h 1845296"/>
              <a:gd name="connsiteX47" fmla="*/ 0 w 1870330"/>
              <a:gd name="connsiteY47" fmla="*/ 1611071 h 1845296"/>
              <a:gd name="connsiteX48" fmla="*/ 0 w 1870330"/>
              <a:gd name="connsiteY48" fmla="*/ 233375 h 1845296"/>
              <a:gd name="connsiteX49" fmla="*/ 29813 w 1870330"/>
              <a:gd name="connsiteY49" fmla="*/ 196513 h 1845296"/>
            </a:gdLst>
            <a:ahLst/>
            <a:cxnLst/>
            <a:rect l="l" t="t" r="r" b="b"/>
            <a:pathLst>
              <a:path w="1870330" h="1845296">
                <a:moveTo>
                  <a:pt x="1371696" y="1296270"/>
                </a:moveTo>
                <a:lnTo>
                  <a:pt x="1371696" y="1371136"/>
                </a:lnTo>
                <a:lnTo>
                  <a:pt x="1671448" y="1371136"/>
                </a:lnTo>
                <a:lnTo>
                  <a:pt x="1671448" y="1296270"/>
                </a:lnTo>
                <a:close/>
                <a:moveTo>
                  <a:pt x="1371696" y="996899"/>
                </a:moveTo>
                <a:lnTo>
                  <a:pt x="1371696" y="1071765"/>
                </a:lnTo>
                <a:lnTo>
                  <a:pt x="1671448" y="1071765"/>
                </a:lnTo>
                <a:lnTo>
                  <a:pt x="1671448" y="996899"/>
                </a:lnTo>
                <a:close/>
                <a:moveTo>
                  <a:pt x="1371696" y="747820"/>
                </a:moveTo>
                <a:lnTo>
                  <a:pt x="1371696" y="822401"/>
                </a:lnTo>
                <a:lnTo>
                  <a:pt x="1671448" y="822401"/>
                </a:lnTo>
                <a:lnTo>
                  <a:pt x="1671448" y="747820"/>
                </a:lnTo>
                <a:close/>
                <a:moveTo>
                  <a:pt x="1371696" y="473405"/>
                </a:moveTo>
                <a:lnTo>
                  <a:pt x="1371696" y="547986"/>
                </a:lnTo>
                <a:lnTo>
                  <a:pt x="1671448" y="547986"/>
                </a:lnTo>
                <a:lnTo>
                  <a:pt x="1671448" y="473405"/>
                </a:lnTo>
                <a:close/>
                <a:moveTo>
                  <a:pt x="1221963" y="224040"/>
                </a:moveTo>
                <a:lnTo>
                  <a:pt x="1794130" y="224040"/>
                </a:lnTo>
                <a:cubicBezTo>
                  <a:pt x="1835792" y="223723"/>
                  <a:pt x="1869863" y="257155"/>
                  <a:pt x="1870330" y="298811"/>
                </a:cubicBezTo>
                <a:lnTo>
                  <a:pt x="1870330" y="1570971"/>
                </a:lnTo>
                <a:cubicBezTo>
                  <a:pt x="1869863" y="1612623"/>
                  <a:pt x="1835792" y="1646056"/>
                  <a:pt x="1794130" y="1645742"/>
                </a:cubicBezTo>
                <a:lnTo>
                  <a:pt x="1221963" y="1645742"/>
                </a:lnTo>
                <a:lnTo>
                  <a:pt x="1221963" y="1383804"/>
                </a:lnTo>
                <a:lnTo>
                  <a:pt x="1298163" y="1383804"/>
                </a:lnTo>
                <a:lnTo>
                  <a:pt x="1298163" y="1309033"/>
                </a:lnTo>
                <a:lnTo>
                  <a:pt x="1221963" y="1309033"/>
                </a:lnTo>
                <a:lnTo>
                  <a:pt x="1221963" y="1084434"/>
                </a:lnTo>
                <a:lnTo>
                  <a:pt x="1298163" y="1084434"/>
                </a:lnTo>
                <a:lnTo>
                  <a:pt x="1298163" y="1009662"/>
                </a:lnTo>
                <a:lnTo>
                  <a:pt x="1221963" y="1009662"/>
                </a:lnTo>
                <a:lnTo>
                  <a:pt x="1221963" y="822496"/>
                </a:lnTo>
                <a:lnTo>
                  <a:pt x="1298163" y="822496"/>
                </a:lnTo>
                <a:lnTo>
                  <a:pt x="1298163" y="747725"/>
                </a:lnTo>
                <a:lnTo>
                  <a:pt x="1221963" y="747725"/>
                </a:lnTo>
                <a:lnTo>
                  <a:pt x="1221963" y="560654"/>
                </a:lnTo>
                <a:lnTo>
                  <a:pt x="1298163" y="560654"/>
                </a:lnTo>
                <a:lnTo>
                  <a:pt x="1298163" y="485883"/>
                </a:lnTo>
                <a:lnTo>
                  <a:pt x="1221963" y="485883"/>
                </a:lnTo>
                <a:close/>
                <a:moveTo>
                  <a:pt x="1054227" y="393"/>
                </a:moveTo>
                <a:lnTo>
                  <a:pt x="1054132" y="869"/>
                </a:lnTo>
                <a:cubicBezTo>
                  <a:pt x="1064533" y="-1498"/>
                  <a:pt x="1075449" y="1029"/>
                  <a:pt x="1083754" y="7727"/>
                </a:cubicBezTo>
                <a:cubicBezTo>
                  <a:pt x="1092260" y="14808"/>
                  <a:pt x="1097261" y="25237"/>
                  <a:pt x="1097470" y="36302"/>
                </a:cubicBezTo>
                <a:lnTo>
                  <a:pt x="1097470" y="1808714"/>
                </a:lnTo>
                <a:cubicBezTo>
                  <a:pt x="1097271" y="1819783"/>
                  <a:pt x="1092260" y="1830212"/>
                  <a:pt x="1083754" y="1837289"/>
                </a:cubicBezTo>
                <a:cubicBezTo>
                  <a:pt x="1077344" y="1842614"/>
                  <a:pt x="1069229" y="1845452"/>
                  <a:pt x="1060895" y="1845290"/>
                </a:cubicBezTo>
                <a:cubicBezTo>
                  <a:pt x="1058551" y="1845100"/>
                  <a:pt x="1056227" y="1844719"/>
                  <a:pt x="1053941" y="1844148"/>
                </a:cubicBezTo>
                <a:lnTo>
                  <a:pt x="29623" y="1647932"/>
                </a:lnTo>
                <a:cubicBezTo>
                  <a:pt x="12259" y="1644227"/>
                  <a:pt x="-124" y="1628825"/>
                  <a:pt x="0" y="1611071"/>
                </a:cubicBezTo>
                <a:lnTo>
                  <a:pt x="0" y="233375"/>
                </a:lnTo>
                <a:cubicBezTo>
                  <a:pt x="-105" y="215558"/>
                  <a:pt x="12373" y="200139"/>
                  <a:pt x="29813" y="196513"/>
                </a:cubicBezTo>
                <a:close/>
              </a:path>
            </a:pathLst>
          </a:custGeom>
          <a:solidFill>
            <a:schemeClr val="accent1"/>
          </a:solidFill>
          <a:ln w="9525" cap="flat">
            <a:noFill/>
            <a:miter/>
          </a:ln>
        </p:spPr>
        <p:txBody>
          <a:bodyPr vert="horz" wrap="square" lIns="91440" tIns="45720" rIns="91440" bIns="45720" rtlCol="0" anchor="ctr"/>
          <a:p>
            <a:pPr algn="l">
              <a:lnSpc>
                <a:spcPct val="110000"/>
              </a:lnSpc>
            </a:pPr>
            <a:endParaRPr kumimoji="1" lang="zh-CN" altLang="en-US"/>
          </a:p>
        </p:txBody>
      </p:sp>
      <p:sp>
        <p:nvSpPr>
          <p:cNvPr id="13" name="标题 1"/>
          <p:cNvSpPr txBox="1"/>
          <p:nvPr/>
        </p:nvSpPr>
        <p:spPr>
          <a:xfrm>
            <a:off x="623617" y="4221480"/>
            <a:ext cx="2334837" cy="68580"/>
          </a:xfrm>
          <a:prstGeom prst="rect">
            <a:avLst/>
          </a:pr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771" y="188606"/>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cxnSp>
        <p:nvCxnSpPr>
          <p:cNvPr id="16" name="标题 1"/>
          <p:cNvCxnSpPr/>
          <p:nvPr/>
        </p:nvCxnSpPr>
        <p:spPr>
          <a:xfrm>
            <a:off x="271590" y="692965"/>
            <a:ext cx="1737509" cy="0"/>
          </a:xfrm>
          <a:prstGeom prst="line">
            <a:avLst/>
          </a:prstGeom>
          <a:noFill/>
          <a:ln w="12700" cap="sq">
            <a:solidFill>
              <a:schemeClr val="accent1"/>
            </a:solidFill>
            <a:miter/>
          </a:ln>
        </p:spPr>
      </p:cxnSp>
      <p:sp>
        <p:nvSpPr>
          <p:cNvPr id="17"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2.3 分治法</a:t>
            </a: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算法过程</a:t>
            </a:r>
            <a:endPar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8" name="标题 1"/>
          <p:cNvCxnSpPr/>
          <p:nvPr/>
        </p:nvCxnSpPr>
        <p:spPr>
          <a:xfrm rot="16200000">
            <a:off x="233490" y="642165"/>
            <a:ext cx="404009" cy="0"/>
          </a:xfrm>
          <a:prstGeom prst="line">
            <a:avLst/>
          </a:prstGeom>
          <a:noFill/>
          <a:ln w="12700" cap="sq">
            <a:solidFill>
              <a:schemeClr val="accent1"/>
            </a:solidFill>
            <a:miter/>
          </a:ln>
        </p:spPr>
      </p:cxnSp>
      <p:sp>
        <p:nvSpPr>
          <p:cNvPr id="8" name="文本框 7"/>
          <p:cNvSpPr txBox="1"/>
          <p:nvPr/>
        </p:nvSpPr>
        <p:spPr>
          <a:xfrm>
            <a:off x="676275" y="1052830"/>
            <a:ext cx="6831965" cy="829945"/>
          </a:xfrm>
          <a:prstGeom prst="rect">
            <a:avLst/>
          </a:prstGeom>
          <a:noFill/>
        </p:spPr>
        <p:txBody>
          <a:bodyPr wrap="square" rtlCol="0">
            <a:spAutoFit/>
          </a:bodyPr>
          <a:p>
            <a:pPr algn="l"/>
            <a:r>
              <a:rPr lang="zh-CN" altLang="en-US" sz="1600">
                <a:latin typeface="华文楷体" panose="02010600040101010101" charset="-122"/>
                <a:ea typeface="华文楷体" panose="02010600040101010101" charset="-122"/>
                <a:cs typeface="华文楷体" panose="02010600040101010101" charset="-122"/>
              </a:rPr>
              <a:t>设定坐标轴范围是0-1000，随机生成十个点，具体信息如下：</a:t>
            </a:r>
            <a:endParaRPr lang="zh-CN" altLang="en-US" sz="1600">
              <a:latin typeface="华文楷体" panose="02010600040101010101" charset="-122"/>
              <a:ea typeface="华文楷体" panose="02010600040101010101" charset="-122"/>
              <a:cs typeface="华文楷体" panose="02010600040101010101" charset="-122"/>
            </a:endParaRPr>
          </a:p>
          <a:p>
            <a:pPr algn="l"/>
            <a:r>
              <a:rPr lang="zh-CN" altLang="en-US" sz="1600">
                <a:latin typeface="华文楷体" panose="02010600040101010101" charset="-122"/>
                <a:ea typeface="华文楷体" panose="02010600040101010101" charset="-122"/>
                <a:cs typeface="华文楷体" panose="02010600040101010101" charset="-122"/>
              </a:rPr>
              <a:t>point_coords = [</a:t>
            </a:r>
            <a:r>
              <a:rPr lang="en-US" altLang="zh-CN" sz="1600">
                <a:latin typeface="华文楷体" panose="02010600040101010101" charset="-122"/>
                <a:ea typeface="华文楷体" panose="02010600040101010101" charset="-122"/>
                <a:cs typeface="华文楷体" panose="02010600040101010101" charset="-122"/>
              </a:rPr>
              <a:t>   </a:t>
            </a:r>
            <a:r>
              <a:rPr lang="zh-CN" altLang="en-US" sz="1600">
                <a:latin typeface="华文楷体" panose="02010600040101010101" charset="-122"/>
                <a:ea typeface="华文楷体" panose="02010600040101010101" charset="-122"/>
                <a:cs typeface="华文楷体" panose="02010600040101010101" charset="-122"/>
              </a:rPr>
              <a:t>(105, 600), (980, 810), (600, 570), (580, 860), (210, 780),</a:t>
            </a:r>
            <a:endParaRPr lang="zh-CN" altLang="en-US" sz="1600">
              <a:latin typeface="华文楷体" panose="02010600040101010101" charset="-122"/>
              <a:ea typeface="华文楷体" panose="02010600040101010101" charset="-122"/>
              <a:cs typeface="华文楷体" panose="02010600040101010101" charset="-122"/>
            </a:endParaRPr>
          </a:p>
          <a:p>
            <a:pPr algn="l"/>
            <a:r>
              <a:rPr lang="zh-CN" altLang="en-US" sz="1600">
                <a:latin typeface="华文楷体" panose="02010600040101010101" charset="-122"/>
                <a:ea typeface="华文楷体" panose="02010600040101010101" charset="-122"/>
                <a:cs typeface="华文楷体" panose="02010600040101010101" charset="-122"/>
              </a:rPr>
              <a:t>   </a:t>
            </a:r>
            <a:r>
              <a:rPr lang="en-US" altLang="zh-CN" sz="1600">
                <a:latin typeface="华文楷体" panose="02010600040101010101" charset="-122"/>
                <a:ea typeface="华文楷体" panose="02010600040101010101" charset="-122"/>
                <a:cs typeface="华文楷体" panose="02010600040101010101" charset="-122"/>
              </a:rPr>
              <a:t>	         </a:t>
            </a:r>
            <a:r>
              <a:rPr lang="zh-CN" altLang="en-US" sz="1600">
                <a:latin typeface="华文楷体" panose="02010600040101010101" charset="-122"/>
                <a:ea typeface="华文楷体" panose="02010600040101010101" charset="-122"/>
                <a:cs typeface="华文楷体" panose="02010600040101010101" charset="-122"/>
              </a:rPr>
              <a:t>(510, 230), (420, 570), (890, 40), (202, 140), (240, 20)	]</a:t>
            </a:r>
            <a:endParaRPr lang="zh-CN" altLang="en-US" sz="1600">
              <a:latin typeface="华文楷体" panose="02010600040101010101" charset="-122"/>
              <a:ea typeface="华文楷体" panose="02010600040101010101" charset="-122"/>
              <a:cs typeface="华文楷体" panose="02010600040101010101" charset="-122"/>
            </a:endParaRPr>
          </a:p>
        </p:txBody>
      </p:sp>
      <p:pic>
        <p:nvPicPr>
          <p:cNvPr id="22" name="图片 21"/>
          <p:cNvPicPr>
            <a:picLocks noChangeAspect="1"/>
          </p:cNvPicPr>
          <p:nvPr/>
        </p:nvPicPr>
        <p:blipFill>
          <a:blip r:embed="rId1"/>
          <a:stretch>
            <a:fillRect/>
          </a:stretch>
        </p:blipFill>
        <p:spPr>
          <a:xfrm>
            <a:off x="676275" y="1988820"/>
            <a:ext cx="6775450" cy="2985770"/>
          </a:xfrm>
          <a:prstGeom prst="rect">
            <a:avLst/>
          </a:prstGeom>
        </p:spPr>
      </p:pic>
      <p:sp>
        <p:nvSpPr>
          <p:cNvPr id="23" name="文本框 22"/>
          <p:cNvSpPr txBox="1"/>
          <p:nvPr/>
        </p:nvSpPr>
        <p:spPr>
          <a:xfrm flipH="1">
            <a:off x="695325" y="5174615"/>
            <a:ext cx="6812915" cy="1322070"/>
          </a:xfrm>
          <a:prstGeom prst="rect">
            <a:avLst/>
          </a:prstGeom>
          <a:noFill/>
        </p:spPr>
        <p:txBody>
          <a:bodyPr wrap="square" rtlCol="0">
            <a:spAutoFit/>
          </a:bodyPr>
          <a:p>
            <a:r>
              <a:rPr lang="zh-CN" altLang="en-US" sz="1600">
                <a:latin typeface="华文楷体" panose="02010600040101010101" charset="-122"/>
                <a:ea typeface="华文楷体" panose="02010600040101010101" charset="-122"/>
                <a:cs typeface="华文楷体" panose="02010600040101010101" charset="-122"/>
              </a:rPr>
              <a:t>红色虚线为left和right端，蓝色实线位midx，蓝色虚线为midx-dis和midx+dis端，红色实线表示当前找到的最近点对线段，黄色实线表示当前的点对线段信息。</a:t>
            </a:r>
            <a:endParaRPr lang="zh-CN" altLang="en-US" sz="1600">
              <a:latin typeface="华文楷体" panose="02010600040101010101" charset="-122"/>
              <a:ea typeface="华文楷体" panose="02010600040101010101" charset="-122"/>
              <a:cs typeface="华文楷体" panose="02010600040101010101" charset="-122"/>
            </a:endParaRPr>
          </a:p>
          <a:p>
            <a:r>
              <a:rPr lang="zh-CN" altLang="en-US" sz="1600">
                <a:latin typeface="华文楷体" panose="02010600040101010101" charset="-122"/>
                <a:ea typeface="华文楷体" panose="02010600040101010101" charset="-122"/>
                <a:cs typeface="华文楷体" panose="02010600040101010101" charset="-122"/>
              </a:rPr>
              <a:t>如图中所示，mindist为当前的最近点对距离，dist为当前点对距离，表中只展现更新最近点对时的图像。</a:t>
            </a:r>
            <a:endParaRPr lang="zh-CN" altLang="en-US" sz="1600">
              <a:latin typeface="华文楷体" panose="02010600040101010101" charset="-122"/>
              <a:ea typeface="华文楷体" panose="02010600040101010101" charset="-122"/>
              <a:cs typeface="华文楷体" panose="02010600040101010101" charset="-122"/>
            </a:endParaRPr>
          </a:p>
        </p:txBody>
      </p:sp>
      <p:pic>
        <p:nvPicPr>
          <p:cNvPr id="24" name="分治法算法过程">
            <a:hlinkClick r:id="" action="ppaction://media"/>
          </p:cNvPr>
          <p:cNvPicPr/>
          <p:nvPr>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7680325" y="1957705"/>
            <a:ext cx="4064000" cy="304800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24"/>
                </p:tgtEl>
              </p:cMediaNode>
            </p:video>
            <p:seq concurrent="1" nextAc="seek">
              <p:cTn id="3" restart="whenNotActive" fill="hold" evtFilter="cancelBubble" nodeType="interactiveSeq">
                <p:stCondLst>
                  <p:cond evt="onClick" delay="0">
                    <p:tgtEl>
                      <p:spTgt spid="2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4"/>
                                        </p:tgtEl>
                                      </p:cBhvr>
                                    </p:cmd>
                                  </p:childTnLst>
                                </p:cTn>
                              </p:par>
                            </p:childTnLst>
                          </p:cTn>
                        </p:par>
                      </p:childTnLst>
                    </p:cTn>
                  </p:par>
                </p:childTnLst>
              </p:cTn>
              <p:nextCondLst>
                <p:cond evt="onClick" delay="0">
                  <p:tgtEl>
                    <p:spTgt spid="2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3306"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8000000" flipH="1">
            <a:off x="287186"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597817" y="980729"/>
            <a:ext cx="8944824" cy="4683786"/>
          </a:xfrm>
          <a:prstGeom prst="roundRect">
            <a:avLst>
              <a:gd name="adj" fmla="val 5739"/>
            </a:avLst>
          </a:prstGeom>
          <a:gradFill>
            <a:gsLst>
              <a:gs pos="0">
                <a:schemeClr val="accent1">
                  <a:lumMod val="20000"/>
                  <a:lumOff val="80000"/>
                </a:schemeClr>
              </a:gs>
              <a:gs pos="99000">
                <a:schemeClr val="bg1"/>
              </a:gs>
            </a:gsLst>
            <a:lin ang="16200000" scaled="0"/>
          </a:gradFill>
          <a:ln w="57150" cap="sq">
            <a:solidFill>
              <a:schemeClr val="accent1">
                <a:lumMod val="20000"/>
                <a:lumOff val="80000"/>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7252114" y="6228784"/>
            <a:ext cx="4309449" cy="407406"/>
          </a:xfrm>
          <a:prstGeom prst="ellipse">
            <a:avLst/>
          </a:prstGeom>
          <a:gradFill>
            <a:gsLst>
              <a:gs pos="0">
                <a:schemeClr val="accent2">
                  <a:lumMod val="60000"/>
                  <a:lumOff val="40000"/>
                  <a:alpha val="60000"/>
                </a:schemeClr>
              </a:gs>
              <a:gs pos="99000">
                <a:schemeClr val="accent2">
                  <a:lumMod val="20000"/>
                  <a:lumOff val="80000"/>
                </a:schemeClr>
              </a:gs>
            </a:gsLst>
            <a:lin ang="162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flipH="1">
            <a:off x="7288102" y="615863"/>
            <a:ext cx="4267200" cy="5341318"/>
          </a:xfrm>
          <a:prstGeom prst="round2SameRect">
            <a:avLst>
              <a:gd name="adj1" fmla="val 50000"/>
              <a:gd name="adj2" fmla="val 0"/>
            </a:avLst>
          </a:prstGeom>
          <a:solidFill>
            <a:schemeClr val="accent1">
              <a:lumMod val="40000"/>
              <a:lumOff val="60000"/>
            </a:schemeClr>
          </a:solidFill>
          <a:ln w="571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1">
            <a:alphaModFix amt="100000"/>
          </a:blip>
          <a:srcRect/>
          <a:stretch>
            <a:fillRect/>
          </a:stretch>
        </p:blipFill>
        <p:spPr>
          <a:xfrm>
            <a:off x="6889381" y="540859"/>
            <a:ext cx="1352661" cy="1357294"/>
          </a:xfrm>
          <a:prstGeom prst="rect">
            <a:avLst/>
          </a:prstGeom>
          <a:noFill/>
          <a:ln>
            <a:noFill/>
          </a:ln>
        </p:spPr>
      </p:pic>
      <p:pic>
        <p:nvPicPr>
          <p:cNvPr id="8" name="图片 7"/>
          <p:cNvPicPr>
            <a:picLocks noChangeAspect="1"/>
          </p:cNvPicPr>
          <p:nvPr/>
        </p:nvPicPr>
        <p:blipFill>
          <a:blip r:embed="rId2">
            <a:alphaModFix amt="100000"/>
          </a:blip>
          <a:srcRect/>
          <a:stretch>
            <a:fillRect/>
          </a:stretch>
        </p:blipFill>
        <p:spPr>
          <a:xfrm flipH="1">
            <a:off x="10773911" y="288310"/>
            <a:ext cx="1037471" cy="904862"/>
          </a:xfrm>
          <a:prstGeom prst="rect">
            <a:avLst/>
          </a:prstGeom>
          <a:noFill/>
          <a:ln>
            <a:noFill/>
          </a:ln>
        </p:spPr>
      </p:pic>
      <p:sp>
        <p:nvSpPr>
          <p:cNvPr id="9" name="标题 1"/>
          <p:cNvSpPr txBox="1"/>
          <p:nvPr/>
        </p:nvSpPr>
        <p:spPr>
          <a:xfrm>
            <a:off x="573754" y="770747"/>
            <a:ext cx="2178864" cy="475726"/>
          </a:xfrm>
          <a:prstGeom prst="roundRect">
            <a:avLst>
              <a:gd name="adj" fmla="val 50000"/>
            </a:avLst>
          </a:prstGeom>
          <a:solidFill>
            <a:schemeClr val="accent2">
              <a:lumMod val="60000"/>
              <a:lumOff val="40000"/>
            </a:schemeClr>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11" name="图片 10"/>
          <p:cNvPicPr>
            <a:picLocks noChangeAspect="1"/>
          </p:cNvPicPr>
          <p:nvPr/>
        </p:nvPicPr>
        <p:blipFill>
          <a:blip r:embed="rId3">
            <a:alphaModFix amt="100000"/>
          </a:blip>
          <a:srcRect/>
          <a:stretch>
            <a:fillRect/>
          </a:stretch>
        </p:blipFill>
        <p:spPr>
          <a:xfrm>
            <a:off x="7311860" y="850264"/>
            <a:ext cx="4871414" cy="5370062"/>
          </a:xfrm>
          <a:prstGeom prst="rect">
            <a:avLst/>
          </a:prstGeom>
          <a:noFill/>
          <a:ln>
            <a:noFill/>
          </a:ln>
        </p:spPr>
      </p:pic>
      <p:sp>
        <p:nvSpPr>
          <p:cNvPr id="12" name="标题 1"/>
          <p:cNvSpPr txBox="1"/>
          <p:nvPr/>
        </p:nvSpPr>
        <p:spPr>
          <a:xfrm>
            <a:off x="3294853" y="304799"/>
            <a:ext cx="1792146" cy="2982269"/>
          </a:xfrm>
          <a:prstGeom prst="rect">
            <a:avLst/>
          </a:prstGeom>
          <a:noFill/>
          <a:ln w="12700" cap="sq">
            <a:noFill/>
            <a:miter/>
          </a:ln>
        </p:spPr>
        <p:txBody>
          <a:bodyPr vert="horz" wrap="square" lIns="0" tIns="0" rIns="0" bIns="0" rtlCol="0" anchor="b"/>
          <a:lstStyle/>
          <a:p>
            <a:pPr algn="ctr">
              <a:lnSpc>
                <a:spcPct val="110000"/>
              </a:lnSpc>
            </a:pPr>
            <a:r>
              <a:rPr kumimoji="1" lang="en-US" altLang="zh-CN" sz="9600">
                <a:ln w="12700">
                  <a:noFill/>
                </a:ln>
                <a:solidFill>
                  <a:srgbClr val="F4B002">
                    <a:alpha val="100000"/>
                  </a:srgbClr>
                </a:solidFill>
                <a:latin typeface="Source Han Sans CN Bold" panose="020B0800000000000000" charset="-122"/>
                <a:ea typeface="Source Han Sans CN Bold" panose="020B0800000000000000" charset="-122"/>
                <a:cs typeface="Source Han Sans CN Bold" panose="020B0800000000000000" charset="-122"/>
              </a:rPr>
              <a:t>03</a:t>
            </a:r>
            <a:endParaRPr kumimoji="1" lang="zh-CN" altLang="en-US"/>
          </a:p>
        </p:txBody>
      </p:sp>
      <p:sp>
        <p:nvSpPr>
          <p:cNvPr id="13" name="标题 1"/>
          <p:cNvSpPr txBox="1"/>
          <p:nvPr/>
        </p:nvSpPr>
        <p:spPr>
          <a:xfrm>
            <a:off x="1207251" y="3171940"/>
            <a:ext cx="5967350" cy="1596480"/>
          </a:xfrm>
          <a:prstGeom prst="rect">
            <a:avLst/>
          </a:prstGeom>
          <a:noFill/>
          <a:ln w="12700" cap="sq">
            <a:noFill/>
            <a:miter/>
          </a:ln>
        </p:spPr>
        <p:txBody>
          <a:bodyPr vert="horz" wrap="square" lIns="0" tIns="0" rIns="0" bIns="0" rtlCol="0" anchor="t"/>
          <a:lstStyle/>
          <a:p>
            <a:pPr algn="ctr">
              <a:lnSpc>
                <a:spcPct val="130000"/>
              </a:lnSpc>
            </a:pPr>
            <a:r>
              <a:rPr kumimoji="1" lang="zh-CN" altLang="en-US" sz="4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算法效率与性能分析</a:t>
            </a:r>
            <a:endParaRPr kumimoji="1" lang="zh-CN" altLang="en-US" sz="4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grpSp>
        <p:nvGrpSpPr>
          <p:cNvPr id="14" name="组合 13"/>
          <p:cNvGrpSpPr/>
          <p:nvPr/>
        </p:nvGrpSpPr>
        <p:grpSpPr>
          <a:xfrm>
            <a:off x="5637684" y="1896997"/>
            <a:ext cx="621265" cy="430818"/>
            <a:chOff x="5637684" y="1896997"/>
            <a:chExt cx="621265" cy="430818"/>
          </a:xfrm>
        </p:grpSpPr>
        <p:sp>
          <p:nvSpPr>
            <p:cNvPr id="15" name="标题 1"/>
            <p:cNvSpPr txBox="1"/>
            <p:nvPr/>
          </p:nvSpPr>
          <p:spPr>
            <a:xfrm flipH="1">
              <a:off x="5637684" y="1896997"/>
              <a:ext cx="621265" cy="430818"/>
            </a:xfrm>
            <a:custGeom>
              <a:avLst/>
              <a:gdLst/>
              <a:ahLst/>
              <a:cxnLst/>
              <a:rect l="0" t="0" r="0" b="0"/>
              <a:pathLst>
                <a:path w="3149601" h="2184100">
                  <a:moveTo>
                    <a:pt x="298450" y="9127"/>
                  </a:moveTo>
                  <a:cubicBezTo>
                    <a:pt x="186595" y="38582"/>
                    <a:pt x="73801" y="141337"/>
                    <a:pt x="28575" y="254982"/>
                  </a:cubicBezTo>
                  <a:cubicBezTo>
                    <a:pt x="259" y="326136"/>
                    <a:pt x="0" y="332625"/>
                    <a:pt x="0" y="972152"/>
                  </a:cubicBezTo>
                  <a:cubicBezTo>
                    <a:pt x="0" y="1367194"/>
                    <a:pt x="4769" y="1624616"/>
                    <a:pt x="12296" y="1635820"/>
                  </a:cubicBezTo>
                  <a:cubicBezTo>
                    <a:pt x="19059" y="1645886"/>
                    <a:pt x="27631" y="1666932"/>
                    <a:pt x="31346" y="1682589"/>
                  </a:cubicBezTo>
                  <a:cubicBezTo>
                    <a:pt x="40603" y="1721604"/>
                    <a:pt x="174109" y="1855200"/>
                    <a:pt x="228600" y="1879975"/>
                  </a:cubicBezTo>
                  <a:cubicBezTo>
                    <a:pt x="253047" y="1891091"/>
                    <a:pt x="298037" y="1911972"/>
                    <a:pt x="328576" y="1926378"/>
                  </a:cubicBezTo>
                  <a:cubicBezTo>
                    <a:pt x="383234" y="1952162"/>
                    <a:pt x="400153" y="1952572"/>
                    <a:pt x="1410502" y="1952572"/>
                  </a:cubicBezTo>
                  <a:cubicBezTo>
                    <a:pt x="2081069" y="1952572"/>
                    <a:pt x="2439622" y="1956975"/>
                    <a:pt x="2444750" y="1965272"/>
                  </a:cubicBezTo>
                  <a:cubicBezTo>
                    <a:pt x="2449067" y="1972257"/>
                    <a:pt x="2464257" y="1977972"/>
                    <a:pt x="2478505" y="1977972"/>
                  </a:cubicBezTo>
                  <a:cubicBezTo>
                    <a:pt x="2492753" y="1977972"/>
                    <a:pt x="2519562" y="1982822"/>
                    <a:pt x="2538081" y="1988750"/>
                  </a:cubicBezTo>
                  <a:cubicBezTo>
                    <a:pt x="2726735" y="2049139"/>
                    <a:pt x="2790399" y="2072593"/>
                    <a:pt x="2806065" y="2087477"/>
                  </a:cubicBezTo>
                  <a:cubicBezTo>
                    <a:pt x="2816193" y="2097099"/>
                    <a:pt x="2834114" y="2104972"/>
                    <a:pt x="2845888" y="2104972"/>
                  </a:cubicBezTo>
                  <a:cubicBezTo>
                    <a:pt x="2857663" y="2104972"/>
                    <a:pt x="2880809" y="2110652"/>
                    <a:pt x="2897323" y="2117594"/>
                  </a:cubicBezTo>
                  <a:cubicBezTo>
                    <a:pt x="2913838" y="2124536"/>
                    <a:pt x="2939066" y="2133108"/>
                    <a:pt x="2953385" y="2136644"/>
                  </a:cubicBezTo>
                  <a:cubicBezTo>
                    <a:pt x="2967704" y="2140179"/>
                    <a:pt x="2981992" y="2145442"/>
                    <a:pt x="2985135" y="2148339"/>
                  </a:cubicBezTo>
                  <a:cubicBezTo>
                    <a:pt x="2988278" y="2151236"/>
                    <a:pt x="3026569" y="2160467"/>
                    <a:pt x="3070225" y="2168852"/>
                  </a:cubicBezTo>
                  <a:lnTo>
                    <a:pt x="3149600" y="2184099"/>
                  </a:lnTo>
                  <a:lnTo>
                    <a:pt x="3149600" y="2152346"/>
                  </a:lnTo>
                  <a:cubicBezTo>
                    <a:pt x="3149600" y="2132671"/>
                    <a:pt x="3137775" y="2112845"/>
                    <a:pt x="3118510" y="2100223"/>
                  </a:cubicBezTo>
                  <a:cubicBezTo>
                    <a:pt x="3075019" y="2071726"/>
                    <a:pt x="2941182" y="1903782"/>
                    <a:pt x="2922839" y="1854687"/>
                  </a:cubicBezTo>
                  <a:cubicBezTo>
                    <a:pt x="2914469" y="1832282"/>
                    <a:pt x="2902058" y="1810513"/>
                    <a:pt x="2895260" y="1806312"/>
                  </a:cubicBezTo>
                  <a:cubicBezTo>
                    <a:pt x="2888462" y="1802110"/>
                    <a:pt x="2882900" y="1785060"/>
                    <a:pt x="2882900" y="1768422"/>
                  </a:cubicBezTo>
                  <a:cubicBezTo>
                    <a:pt x="2882900" y="1751784"/>
                    <a:pt x="2877789" y="1735012"/>
                    <a:pt x="2871542" y="1731151"/>
                  </a:cubicBezTo>
                  <a:cubicBezTo>
                    <a:pt x="2838187" y="1710537"/>
                    <a:pt x="2829638" y="1579110"/>
                    <a:pt x="2821503" y="961972"/>
                  </a:cubicBezTo>
                  <a:cubicBezTo>
                    <a:pt x="2815706" y="522145"/>
                    <a:pt x="2808527" y="312641"/>
                    <a:pt x="2798657" y="295222"/>
                  </a:cubicBezTo>
                  <a:cubicBezTo>
                    <a:pt x="2790741" y="281252"/>
                    <a:pt x="2776453" y="253005"/>
                    <a:pt x="2766907" y="232451"/>
                  </a:cubicBezTo>
                  <a:cubicBezTo>
                    <a:pt x="2741961" y="178740"/>
                    <a:pt x="2632138" y="70759"/>
                    <a:pt x="2565400" y="34323"/>
                  </a:cubicBezTo>
                  <a:lnTo>
                    <a:pt x="2508250" y="3122"/>
                  </a:lnTo>
                  <a:lnTo>
                    <a:pt x="1422400" y="1108"/>
                  </a:lnTo>
                  <a:cubicBezTo>
                    <a:pt x="825182" y="0"/>
                    <a:pt x="319405" y="3609"/>
                    <a:pt x="298450" y="9127"/>
                  </a:cubicBez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18900000">
              <a:off x="5871866" y="1993384"/>
              <a:ext cx="228008" cy="135035"/>
            </a:xfrm>
            <a:prstGeom prst="corner">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17" name="标题 1"/>
          <p:cNvSpPr txBox="1"/>
          <p:nvPr/>
        </p:nvSpPr>
        <p:spPr>
          <a:xfrm>
            <a:off x="2677374" y="2454128"/>
            <a:ext cx="1107141" cy="439271"/>
          </a:xfrm>
          <a:prstGeom prst="rect">
            <a:avLst/>
          </a:pr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823536" y="2467411"/>
            <a:ext cx="840217" cy="387304"/>
          </a:xfrm>
          <a:prstGeom prst="rect">
            <a:avLst/>
          </a:prstGeom>
          <a:noFill/>
          <a:ln w="12700" cap="sq">
            <a:noFill/>
            <a:miter/>
          </a:ln>
        </p:spPr>
        <p:txBody>
          <a:bodyPr vert="horz" wrap="square" lIns="0" tIns="0" rIns="0" bIns="0" rtlCol="0" anchor="ctr"/>
          <a:lstStyle/>
          <a:p>
            <a:pPr algn="ctr">
              <a:lnSpc>
                <a:spcPct val="110000"/>
              </a:lnSpc>
            </a:pPr>
            <a:r>
              <a:rPr kumimoji="1" lang="en-US" altLang="zh-CN" sz="2400">
                <a:ln w="12700">
                  <a:noFill/>
                </a:ln>
                <a:solidFill>
                  <a:srgbClr val="B78401">
                    <a:alpha val="100000"/>
                  </a:srgbClr>
                </a:solidFill>
                <a:latin typeface="Source Han Sans CN Bold" panose="020B0800000000000000" charset="-122"/>
                <a:ea typeface="Source Han Sans CN Bold" panose="020B0800000000000000" charset="-122"/>
                <a:cs typeface="Source Han Sans CN Bold" panose="020B0800000000000000" charset="-122"/>
              </a:rPr>
              <a:t>Part</a:t>
            </a:r>
            <a:endParaRPr kumimoji="1" lang="zh-CN" altLang="en-US"/>
          </a:p>
        </p:txBody>
      </p:sp>
      <p:pic>
        <p:nvPicPr>
          <p:cNvPr id="19" name="图片 18"/>
          <p:cNvPicPr>
            <a:picLocks noChangeAspect="1"/>
          </p:cNvPicPr>
          <p:nvPr/>
        </p:nvPicPr>
        <p:blipFill>
          <a:blip r:embed="rId4">
            <a:alphaModFix amt="100000"/>
          </a:blip>
          <a:srcRect/>
          <a:stretch>
            <a:fillRect/>
          </a:stretch>
        </p:blipFill>
        <p:spPr>
          <a:xfrm>
            <a:off x="299913" y="4547232"/>
            <a:ext cx="1579001" cy="1231499"/>
          </a:xfrm>
          <a:prstGeom prst="rect">
            <a:avLst/>
          </a:prstGeom>
          <a:noFill/>
          <a:ln>
            <a:noFill/>
          </a:ln>
        </p:spPr>
      </p:pic>
      <p:pic>
        <p:nvPicPr>
          <p:cNvPr id="20" name="图片 19"/>
          <p:cNvPicPr>
            <a:picLocks noChangeAspect="1"/>
          </p:cNvPicPr>
          <p:nvPr/>
        </p:nvPicPr>
        <p:blipFill>
          <a:blip r:embed="rId5">
            <a:alphaModFix amt="100000"/>
          </a:blip>
          <a:srcRect/>
          <a:stretch>
            <a:fillRect/>
          </a:stretch>
        </p:blipFill>
        <p:spPr>
          <a:xfrm>
            <a:off x="259570" y="5353625"/>
            <a:ext cx="1103472" cy="60355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1527175" y="1163320"/>
            <a:ext cx="1256665" cy="354330"/>
          </a:xfrm>
          <a:prstGeom prst="rect">
            <a:avLst/>
          </a:prstGeom>
          <a:noFill/>
          <a:ln>
            <a:noFill/>
          </a:ln>
        </p:spPr>
        <p:txBody>
          <a:bodyPr vert="horz" wrap="square" lIns="0" tIns="0" rIns="0" bIns="0" rtlCol="0" anchor="t"/>
          <a:lstStyle/>
          <a:p>
            <a:pPr algn="l">
              <a:lnSpc>
                <a:spcPct val="140000"/>
              </a:lnSpc>
            </a:pPr>
            <a:r>
              <a:rPr kumimoji="1" lang="zh-CN" altLang="en-US" b="1">
                <a:ln w="12700">
                  <a:noFill/>
                </a:ln>
                <a:solidFill>
                  <a:srgbClr val="000000">
                    <a:alpha val="100000"/>
                  </a:srgbClr>
                </a:solidFill>
                <a:latin typeface="华文楷体" panose="02010600040101010101" charset="-122"/>
                <a:ea typeface="华文楷体" panose="02010600040101010101" charset="-122"/>
                <a:cs typeface="Source Han Sans CN Bold" panose="020B0800000000000000" charset="-122"/>
              </a:rPr>
              <a:t>原始方法</a:t>
            </a:r>
            <a:endParaRPr kumimoji="1" lang="zh-CN" altLang="en-US" b="1">
              <a:ln w="12700">
                <a:noFill/>
              </a:ln>
              <a:solidFill>
                <a:srgbClr val="000000">
                  <a:alpha val="100000"/>
                </a:srgbClr>
              </a:solidFill>
              <a:latin typeface="华文楷体" panose="02010600040101010101" charset="-122"/>
              <a:ea typeface="华文楷体" panose="02010600040101010101" charset="-122"/>
              <a:cs typeface="Source Han Sans CN Bold" panose="020B0800000000000000" charset="-122"/>
            </a:endParaRPr>
          </a:p>
        </p:txBody>
      </p:sp>
      <p:sp>
        <p:nvSpPr>
          <p:cNvPr id="12" name="标题 1"/>
          <p:cNvSpPr txBox="1"/>
          <p:nvPr/>
        </p:nvSpPr>
        <p:spPr>
          <a:xfrm>
            <a:off x="593770" y="981183"/>
            <a:ext cx="965790" cy="862618"/>
          </a:xfrm>
          <a:prstGeom prst="rect">
            <a:avLst/>
          </a:prstGeom>
          <a:noFill/>
          <a:ln>
            <a:noFill/>
          </a:ln>
        </p:spPr>
        <p:txBody>
          <a:bodyPr vert="horz" wrap="square" lIns="0" tIns="0" rIns="0" bIns="0" rtlCol="0" anchor="b"/>
          <a:lstStyle/>
          <a:p>
            <a:pPr algn="ctr">
              <a:lnSpc>
                <a:spcPct val="140000"/>
              </a:lnSpc>
            </a:pPr>
            <a:r>
              <a:rPr kumimoji="1" lang="en-US" altLang="zh-CN" sz="5600">
                <a:ln w="12700">
                  <a:noFill/>
                </a:ln>
                <a:solidFill>
                  <a:srgbClr val="F4B002">
                    <a:alpha val="100000"/>
                  </a:srgbClr>
                </a:solidFill>
                <a:latin typeface="OPPOSans B" panose="00020600040101010101" charset="-122"/>
                <a:ea typeface="OPPOSans B" panose="00020600040101010101" charset="-122"/>
                <a:cs typeface="OPPOSans B" panose="00020600040101010101" charset="-122"/>
              </a:rPr>
              <a:t>1</a:t>
            </a:r>
            <a:endParaRPr kumimoji="1" lang="zh-CN" altLang="en-US" sz="5600">
              <a:ln w="12700">
                <a:noFill/>
              </a:ln>
              <a:solidFill>
                <a:srgbClr val="F4B002">
                  <a:alpha val="100000"/>
                </a:srgbClr>
              </a:solidFill>
              <a:latin typeface="OPPOSans B" panose="00020600040101010101" charset="-122"/>
              <a:ea typeface="OPPOSans B" panose="00020600040101010101" charset="-122"/>
              <a:cs typeface="OPPOSans B" panose="00020600040101010101" charset="-122"/>
            </a:endParaRPr>
          </a:p>
        </p:txBody>
      </p:sp>
      <p:cxnSp>
        <p:nvCxnSpPr>
          <p:cNvPr id="15" name="标题 1"/>
          <p:cNvCxnSpPr/>
          <p:nvPr/>
        </p:nvCxnSpPr>
        <p:spPr>
          <a:xfrm>
            <a:off x="271590" y="692965"/>
            <a:ext cx="1737509" cy="0"/>
          </a:xfrm>
          <a:prstGeom prst="line">
            <a:avLst/>
          </a:prstGeom>
          <a:noFill/>
          <a:ln w="12700" cap="sq">
            <a:solidFill>
              <a:schemeClr val="accent1"/>
            </a:solidFill>
            <a:miter/>
          </a:ln>
        </p:spPr>
      </p:cxnSp>
      <p:sp>
        <p:nvSpPr>
          <p:cNvPr id="16"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zh-CN" altLang="en-US" sz="2800" b="1">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暴</a:t>
            </a: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力法效率分析</a:t>
            </a:r>
            <a:endPar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7" name="标题 1"/>
          <p:cNvCxnSpPr/>
          <p:nvPr/>
        </p:nvCxnSpPr>
        <p:spPr>
          <a:xfrm rot="16200000">
            <a:off x="233490" y="642165"/>
            <a:ext cx="404009" cy="0"/>
          </a:xfrm>
          <a:prstGeom prst="line">
            <a:avLst/>
          </a:prstGeom>
          <a:noFill/>
          <a:ln w="12700" cap="sq">
            <a:solidFill>
              <a:schemeClr val="accent1"/>
            </a:solidFill>
            <a:miter/>
          </a:ln>
        </p:spPr>
      </p:cxnSp>
      <p:pic>
        <p:nvPicPr>
          <p:cNvPr id="18" name="图片 6" descr="3a163948b3355d61f3c77688126f9be"/>
          <p:cNvPicPr>
            <a:picLocks noChangeAspect="1"/>
          </p:cNvPicPr>
          <p:nvPr/>
        </p:nvPicPr>
        <p:blipFill>
          <a:blip r:embed="rId1"/>
          <a:stretch>
            <a:fillRect/>
          </a:stretch>
        </p:blipFill>
        <p:spPr>
          <a:xfrm>
            <a:off x="983615" y="2060575"/>
            <a:ext cx="3977640" cy="3305175"/>
          </a:xfrm>
          <a:prstGeom prst="rect">
            <a:avLst/>
          </a:prstGeom>
        </p:spPr>
      </p:pic>
      <p:pic>
        <p:nvPicPr>
          <p:cNvPr id="19" name="图片 10"/>
          <p:cNvPicPr>
            <a:picLocks noChangeAspect="1"/>
          </p:cNvPicPr>
          <p:nvPr/>
        </p:nvPicPr>
        <p:blipFill>
          <a:blip r:embed="rId2"/>
          <a:stretch>
            <a:fillRect/>
          </a:stretch>
        </p:blipFill>
        <p:spPr>
          <a:xfrm>
            <a:off x="3647440" y="843915"/>
            <a:ext cx="6986905" cy="831215"/>
          </a:xfrm>
          <a:prstGeom prst="rect">
            <a:avLst/>
          </a:prstGeom>
          <a:noFill/>
          <a:ln>
            <a:noFill/>
          </a:ln>
        </p:spPr>
      </p:pic>
      <p:sp>
        <p:nvSpPr>
          <p:cNvPr id="20" name="文本框 19"/>
          <p:cNvSpPr txBox="1"/>
          <p:nvPr/>
        </p:nvSpPr>
        <p:spPr>
          <a:xfrm>
            <a:off x="5520055" y="2277110"/>
            <a:ext cx="4331970" cy="1198880"/>
          </a:xfrm>
          <a:prstGeom prst="rect">
            <a:avLst/>
          </a:prstGeom>
          <a:noFill/>
        </p:spPr>
        <p:txBody>
          <a:bodyPr wrap="square" rtlCol="0">
            <a:spAutoFit/>
          </a:bodyPr>
          <a:p>
            <a:pPr algn="l" fontAlgn="auto">
              <a:lnSpc>
                <a:spcPct val="150000"/>
              </a:lnSpc>
            </a:pPr>
            <a:r>
              <a:rPr lang="zh-CN" altLang="en-US" sz="1600">
                <a:latin typeface="华文楷体" panose="02010600040101010101" charset="-122"/>
                <a:ea typeface="华文楷体" panose="02010600040101010101" charset="-122"/>
                <a:cs typeface="华文楷体" panose="02010600040101010101" charset="-122"/>
              </a:rPr>
              <a:t>从图可见，蛮力法O(n^2)的实际运行时间曲线与预测运行时间曲线几乎重合，误差百分率在3%内，即实际性能与预测性能相差不大。</a:t>
            </a:r>
            <a:endParaRPr lang="zh-CN" altLang="en-US" sz="1600">
              <a:latin typeface="华文楷体" panose="02010600040101010101" charset="-122"/>
              <a:ea typeface="华文楷体" panose="02010600040101010101" charset="-122"/>
              <a:cs typeface="华文楷体" panose="02010600040101010101" charset="-122"/>
            </a:endParaRPr>
          </a:p>
        </p:txBody>
      </p:sp>
      <p:sp>
        <p:nvSpPr>
          <p:cNvPr id="21" name="文本框 20"/>
          <p:cNvSpPr txBox="1"/>
          <p:nvPr/>
        </p:nvSpPr>
        <p:spPr>
          <a:xfrm>
            <a:off x="5511800" y="3644900"/>
            <a:ext cx="5741670" cy="2553335"/>
          </a:xfrm>
          <a:prstGeom prst="rect">
            <a:avLst/>
          </a:prstGeom>
          <a:noFill/>
        </p:spPr>
        <p:txBody>
          <a:bodyPr wrap="square" rtlCol="0">
            <a:spAutoFit/>
          </a:bodyPr>
          <a:p>
            <a:pPr marL="342900" indent="-342900" algn="l">
              <a:buFont typeface="Wingdings" panose="05000000000000000000" charset="0"/>
              <a:buChar char="ü"/>
            </a:pPr>
            <a:r>
              <a:rPr lang="zh-CN" altLang="en-US" sz="1600">
                <a:latin typeface="华文楷体" panose="02010600040101010101" charset="-122"/>
                <a:ea typeface="华文楷体" panose="02010600040101010101" charset="-122"/>
                <a:cs typeface="华文楷体" panose="02010600040101010101" charset="-122"/>
              </a:rPr>
              <a:t>改进与优化：</a:t>
            </a:r>
            <a:endParaRPr lang="zh-CN" altLang="en-US" sz="1600">
              <a:latin typeface="华文楷体" panose="02010600040101010101" charset="-122"/>
              <a:ea typeface="华文楷体" panose="02010600040101010101" charset="-122"/>
              <a:cs typeface="华文楷体" panose="02010600040101010101" charset="-122"/>
            </a:endParaRPr>
          </a:p>
          <a:p>
            <a:pPr algn="l"/>
            <a:r>
              <a:rPr lang="zh-CN" altLang="en-US" sz="1600">
                <a:latin typeface="华文楷体" panose="02010600040101010101" charset="-122"/>
                <a:ea typeface="华文楷体" panose="02010600040101010101" charset="-122"/>
                <a:cs typeface="华文楷体" panose="02010600040101010101" charset="-122"/>
              </a:rPr>
              <a:t>观察原始代码后可以考虑优化随机点生成方法，以减少不必要的资源消耗，尽量增加效率。</a:t>
            </a:r>
            <a:endParaRPr lang="zh-CN" altLang="en-US" sz="1600">
              <a:latin typeface="华文楷体" panose="02010600040101010101" charset="-122"/>
              <a:ea typeface="华文楷体" panose="02010600040101010101" charset="-122"/>
              <a:cs typeface="华文楷体" panose="02010600040101010101" charset="-122"/>
            </a:endParaRPr>
          </a:p>
          <a:p>
            <a:pPr marL="285750" indent="-285750" algn="l">
              <a:buFont typeface="Wingdings" panose="05000000000000000000" charset="0"/>
              <a:buChar char="Ø"/>
            </a:pPr>
            <a:r>
              <a:rPr lang="zh-CN" altLang="en-US" sz="1600">
                <a:latin typeface="华文楷体" panose="02010600040101010101" charset="-122"/>
                <a:ea typeface="华文楷体" panose="02010600040101010101" charset="-122"/>
                <a:cs typeface="华文楷体" panose="02010600040101010101" charset="-122"/>
              </a:rPr>
              <a:t>原本的方法是使用</a:t>
            </a:r>
            <a:r>
              <a:rPr lang="zh-CN" altLang="en-US" sz="1600" b="1">
                <a:solidFill>
                  <a:srgbClr val="FF0000"/>
                </a:solidFill>
                <a:latin typeface="华文楷体" panose="02010600040101010101" charset="-122"/>
                <a:ea typeface="华文楷体" panose="02010600040101010101" charset="-122"/>
                <a:cs typeface="华文楷体" panose="02010600040101010101" charset="-122"/>
              </a:rPr>
              <a:t>unordered_set</a:t>
            </a:r>
            <a:r>
              <a:rPr lang="zh-CN" altLang="en-US" sz="1600">
                <a:latin typeface="华文楷体" panose="02010600040101010101" charset="-122"/>
                <a:ea typeface="华文楷体" panose="02010600040101010101" charset="-122"/>
                <a:cs typeface="华文楷体" panose="02010600040101010101" charset="-122"/>
              </a:rPr>
              <a:t>来</a:t>
            </a:r>
            <a:r>
              <a:rPr lang="zh-CN" altLang="en-US" sz="1600" b="1">
                <a:solidFill>
                  <a:srgbClr val="FF0000"/>
                </a:solidFill>
                <a:latin typeface="华文楷体" panose="02010600040101010101" charset="-122"/>
                <a:ea typeface="华文楷体" panose="02010600040101010101" charset="-122"/>
                <a:cs typeface="华文楷体" panose="02010600040101010101" charset="-122"/>
              </a:rPr>
              <a:t>避免重复的点</a:t>
            </a:r>
            <a:r>
              <a:rPr lang="zh-CN" altLang="en-US" sz="1600">
                <a:latin typeface="华文楷体" panose="02010600040101010101" charset="-122"/>
                <a:ea typeface="华文楷体" panose="02010600040101010101" charset="-122"/>
                <a:cs typeface="华文楷体" panose="02010600040101010101" charset="-122"/>
              </a:rPr>
              <a:t>，在每次生成一个点时，都计算都会计算 x 和 y 的哈希值，每次哈希操作的时间开销可能比较大。</a:t>
            </a:r>
            <a:endParaRPr lang="zh-CN" altLang="en-US" sz="1600">
              <a:latin typeface="华文楷体" panose="02010600040101010101" charset="-122"/>
              <a:ea typeface="华文楷体" panose="02010600040101010101" charset="-122"/>
              <a:cs typeface="华文楷体" panose="02010600040101010101" charset="-122"/>
            </a:endParaRPr>
          </a:p>
          <a:p>
            <a:pPr marL="285750" indent="-285750" algn="l">
              <a:buFont typeface="Wingdings" panose="05000000000000000000" charset="0"/>
              <a:buChar char="Ø"/>
            </a:pPr>
            <a:r>
              <a:rPr lang="zh-CN" altLang="en-US" sz="1600">
                <a:latin typeface="华文楷体" panose="02010600040101010101" charset="-122"/>
                <a:ea typeface="华文楷体" panose="02010600040101010101" charset="-122"/>
                <a:cs typeface="华文楷体" panose="02010600040101010101" charset="-122"/>
              </a:rPr>
              <a:t>rand() 是一个老旧的随机数生成器，所以可以使用现代的 </a:t>
            </a:r>
            <a:r>
              <a:rPr lang="zh-CN" altLang="en-US" sz="1600" b="1">
                <a:solidFill>
                  <a:srgbClr val="FF0000"/>
                </a:solidFill>
                <a:latin typeface="华文楷体" panose="02010600040101010101" charset="-122"/>
                <a:ea typeface="华文楷体" panose="02010600040101010101" charset="-122"/>
                <a:cs typeface="华文楷体" panose="02010600040101010101" charset="-122"/>
              </a:rPr>
              <a:t>std::mt19937（梅森旋转算法）</a:t>
            </a:r>
            <a:r>
              <a:rPr lang="zh-CN" altLang="en-US" sz="1600">
                <a:latin typeface="华文楷体" panose="02010600040101010101" charset="-122"/>
                <a:ea typeface="华文楷体" panose="02010600040101010101" charset="-122"/>
                <a:cs typeface="华文楷体" panose="02010600040101010101" charset="-122"/>
              </a:rPr>
              <a:t>来代替它，生成更均匀、质量更高的随机数。此操作的效率更高，且更符合现代 C++ 编程实践。</a:t>
            </a:r>
            <a:endParaRPr lang="zh-CN" altLang="en-US" sz="160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1527175" y="1163320"/>
            <a:ext cx="1256665" cy="354330"/>
          </a:xfrm>
          <a:prstGeom prst="rect">
            <a:avLst/>
          </a:prstGeom>
          <a:noFill/>
          <a:ln>
            <a:noFill/>
          </a:ln>
        </p:spPr>
        <p:txBody>
          <a:bodyPr vert="horz" wrap="square" lIns="0" tIns="0" rIns="0" bIns="0" rtlCol="0" anchor="t"/>
          <a:lstStyle/>
          <a:p>
            <a:pPr algn="l">
              <a:lnSpc>
                <a:spcPct val="140000"/>
              </a:lnSpc>
            </a:pPr>
            <a:r>
              <a:rPr kumimoji="1" lang="zh-CN" altLang="en-US" b="1">
                <a:ln w="12700">
                  <a:noFill/>
                </a:ln>
                <a:solidFill>
                  <a:srgbClr val="000000">
                    <a:alpha val="100000"/>
                  </a:srgbClr>
                </a:solidFill>
                <a:latin typeface="华文楷体" panose="02010600040101010101" charset="-122"/>
                <a:ea typeface="华文楷体" panose="02010600040101010101" charset="-122"/>
                <a:cs typeface="Source Han Sans CN Bold" panose="020B0800000000000000" charset="-122"/>
              </a:rPr>
              <a:t>优化方法</a:t>
            </a:r>
            <a:endParaRPr kumimoji="1" lang="zh-CN" altLang="en-US" b="1">
              <a:ln w="12700">
                <a:noFill/>
              </a:ln>
              <a:solidFill>
                <a:srgbClr val="000000">
                  <a:alpha val="100000"/>
                </a:srgbClr>
              </a:solidFill>
              <a:latin typeface="华文楷体" panose="02010600040101010101" charset="-122"/>
              <a:ea typeface="华文楷体" panose="02010600040101010101" charset="-122"/>
              <a:cs typeface="Source Han Sans CN Bold" panose="020B0800000000000000" charset="-122"/>
            </a:endParaRPr>
          </a:p>
        </p:txBody>
      </p:sp>
      <p:sp>
        <p:nvSpPr>
          <p:cNvPr id="12" name="标题 1"/>
          <p:cNvSpPr txBox="1"/>
          <p:nvPr/>
        </p:nvSpPr>
        <p:spPr>
          <a:xfrm>
            <a:off x="593770" y="981183"/>
            <a:ext cx="965790" cy="862618"/>
          </a:xfrm>
          <a:prstGeom prst="rect">
            <a:avLst/>
          </a:prstGeom>
          <a:noFill/>
          <a:ln>
            <a:noFill/>
          </a:ln>
        </p:spPr>
        <p:txBody>
          <a:bodyPr vert="horz" wrap="square" lIns="0" tIns="0" rIns="0" bIns="0" rtlCol="0" anchor="b"/>
          <a:lstStyle/>
          <a:p>
            <a:pPr algn="ctr">
              <a:lnSpc>
                <a:spcPct val="140000"/>
              </a:lnSpc>
            </a:pPr>
            <a:r>
              <a:rPr kumimoji="1" lang="en-US" altLang="zh-CN" sz="5600">
                <a:ln w="12700">
                  <a:noFill/>
                </a:ln>
                <a:solidFill>
                  <a:srgbClr val="F4B002">
                    <a:alpha val="100000"/>
                  </a:srgbClr>
                </a:solidFill>
                <a:latin typeface="OPPOSans B" panose="00020600040101010101" charset="-122"/>
                <a:ea typeface="OPPOSans B" panose="00020600040101010101" charset="-122"/>
                <a:cs typeface="OPPOSans B" panose="00020600040101010101" charset="-122"/>
              </a:rPr>
              <a:t>2</a:t>
            </a:r>
            <a:endParaRPr kumimoji="1" lang="zh-CN" altLang="en-US" sz="5600">
              <a:ln w="12700">
                <a:noFill/>
              </a:ln>
              <a:solidFill>
                <a:srgbClr val="F4B002">
                  <a:alpha val="100000"/>
                </a:srgbClr>
              </a:solidFill>
              <a:latin typeface="OPPOSans B" panose="00020600040101010101" charset="-122"/>
              <a:ea typeface="OPPOSans B" panose="00020600040101010101" charset="-122"/>
              <a:cs typeface="OPPOSans B" panose="00020600040101010101" charset="-122"/>
            </a:endParaRPr>
          </a:p>
        </p:txBody>
      </p:sp>
      <p:cxnSp>
        <p:nvCxnSpPr>
          <p:cNvPr id="15" name="标题 1"/>
          <p:cNvCxnSpPr/>
          <p:nvPr/>
        </p:nvCxnSpPr>
        <p:spPr>
          <a:xfrm>
            <a:off x="271590" y="692965"/>
            <a:ext cx="1737509" cy="0"/>
          </a:xfrm>
          <a:prstGeom prst="line">
            <a:avLst/>
          </a:prstGeom>
          <a:noFill/>
          <a:ln w="12700" cap="sq">
            <a:solidFill>
              <a:schemeClr val="accent1"/>
            </a:solidFill>
            <a:miter/>
          </a:ln>
        </p:spPr>
      </p:cxnSp>
      <p:sp>
        <p:nvSpPr>
          <p:cNvPr id="16"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zh-CN" altLang="en-US" sz="2800" b="1">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暴</a:t>
            </a: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力法效率分析</a:t>
            </a:r>
            <a:endPar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7" name="标题 1"/>
          <p:cNvCxnSpPr/>
          <p:nvPr/>
        </p:nvCxnSpPr>
        <p:spPr>
          <a:xfrm rot="16200000">
            <a:off x="233490" y="642165"/>
            <a:ext cx="404009" cy="0"/>
          </a:xfrm>
          <a:prstGeom prst="line">
            <a:avLst/>
          </a:prstGeom>
          <a:noFill/>
          <a:ln w="12700" cap="sq">
            <a:solidFill>
              <a:schemeClr val="accent1"/>
            </a:solidFill>
            <a:miter/>
          </a:ln>
        </p:spPr>
      </p:cxnSp>
      <p:sp>
        <p:nvSpPr>
          <p:cNvPr id="21" name="文本框 20"/>
          <p:cNvSpPr txBox="1"/>
          <p:nvPr/>
        </p:nvSpPr>
        <p:spPr>
          <a:xfrm>
            <a:off x="5591810" y="5589905"/>
            <a:ext cx="5741670" cy="829945"/>
          </a:xfrm>
          <a:prstGeom prst="rect">
            <a:avLst/>
          </a:prstGeom>
          <a:noFill/>
        </p:spPr>
        <p:txBody>
          <a:bodyPr wrap="square" rtlCol="0">
            <a:spAutoFit/>
          </a:bodyPr>
          <a:p>
            <a:pPr marL="342900" indent="-342900" algn="l">
              <a:buFont typeface="Wingdings" panose="05000000000000000000" charset="0"/>
              <a:buChar char="ü"/>
            </a:pPr>
            <a:r>
              <a:rPr lang="zh-CN" altLang="en-US" sz="1600">
                <a:latin typeface="华文楷体" panose="02010600040101010101" charset="-122"/>
                <a:ea typeface="华文楷体" panose="02010600040101010101" charset="-122"/>
                <a:cs typeface="华文楷体" panose="02010600040101010101" charset="-122"/>
              </a:rPr>
              <a:t>显然，从上图可见，采用优化后的方法初始化点集大大减少了算法的运行时间，并且随着数据规模的增大，优化的程度逐渐增加。</a:t>
            </a:r>
            <a:endParaRPr lang="zh-CN" altLang="en-US" sz="1600">
              <a:latin typeface="华文楷体" panose="02010600040101010101" charset="-122"/>
              <a:ea typeface="华文楷体" panose="02010600040101010101" charset="-122"/>
              <a:cs typeface="华文楷体" panose="02010600040101010101" charset="-122"/>
            </a:endParaRPr>
          </a:p>
        </p:txBody>
      </p:sp>
      <p:pic>
        <p:nvPicPr>
          <p:cNvPr id="8" name="图片 11"/>
          <p:cNvPicPr>
            <a:picLocks noChangeAspect="1"/>
          </p:cNvPicPr>
          <p:nvPr/>
        </p:nvPicPr>
        <p:blipFill>
          <a:blip r:embed="rId1"/>
          <a:stretch>
            <a:fillRect/>
          </a:stretch>
        </p:blipFill>
        <p:spPr>
          <a:xfrm>
            <a:off x="3431540" y="836930"/>
            <a:ext cx="8028305" cy="793750"/>
          </a:xfrm>
          <a:prstGeom prst="rect">
            <a:avLst/>
          </a:prstGeom>
          <a:noFill/>
          <a:ln>
            <a:noFill/>
          </a:ln>
        </p:spPr>
      </p:pic>
      <p:pic>
        <p:nvPicPr>
          <p:cNvPr id="7" name="图片 7" descr="4f4812eebe6e363a24f27e7884148e7"/>
          <p:cNvPicPr>
            <a:picLocks noChangeAspect="1"/>
          </p:cNvPicPr>
          <p:nvPr/>
        </p:nvPicPr>
        <p:blipFill>
          <a:blip r:embed="rId2"/>
          <a:stretch>
            <a:fillRect/>
          </a:stretch>
        </p:blipFill>
        <p:spPr>
          <a:xfrm>
            <a:off x="839470" y="2060575"/>
            <a:ext cx="4110355" cy="3465830"/>
          </a:xfrm>
          <a:prstGeom prst="rect">
            <a:avLst/>
          </a:prstGeom>
        </p:spPr>
      </p:pic>
      <p:pic>
        <p:nvPicPr>
          <p:cNvPr id="5" name="图片 9" descr="595dd308ec7c277b4128fb6d9dc77ca"/>
          <p:cNvPicPr>
            <a:picLocks noChangeAspect="1"/>
          </p:cNvPicPr>
          <p:nvPr/>
        </p:nvPicPr>
        <p:blipFill>
          <a:blip r:embed="rId3"/>
          <a:stretch>
            <a:fillRect/>
          </a:stretch>
        </p:blipFill>
        <p:spPr>
          <a:xfrm>
            <a:off x="5735955" y="1988820"/>
            <a:ext cx="5227320" cy="3457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1487805" y="1166495"/>
            <a:ext cx="1256665" cy="354330"/>
          </a:xfrm>
          <a:prstGeom prst="rect">
            <a:avLst/>
          </a:prstGeom>
          <a:noFill/>
          <a:ln>
            <a:noFill/>
          </a:ln>
        </p:spPr>
        <p:txBody>
          <a:bodyPr vert="horz" wrap="square" lIns="0" tIns="0" rIns="0" bIns="0" rtlCol="0" anchor="t"/>
          <a:lstStyle/>
          <a:p>
            <a:pPr algn="l">
              <a:lnSpc>
                <a:spcPct val="140000"/>
              </a:lnSpc>
            </a:pPr>
            <a:r>
              <a:rPr kumimoji="1" lang="zh-CN" altLang="en-US" b="1">
                <a:ln w="12700">
                  <a:noFill/>
                </a:ln>
                <a:solidFill>
                  <a:srgbClr val="000000">
                    <a:alpha val="100000"/>
                  </a:srgbClr>
                </a:solidFill>
                <a:latin typeface="华文楷体" panose="02010600040101010101" charset="-122"/>
                <a:ea typeface="华文楷体" panose="02010600040101010101" charset="-122"/>
                <a:cs typeface="Source Han Sans CN Bold" panose="020B0800000000000000" charset="-122"/>
              </a:rPr>
              <a:t>原始方法</a:t>
            </a:r>
            <a:endParaRPr kumimoji="1" lang="zh-CN" altLang="en-US" b="1">
              <a:ln w="12700">
                <a:noFill/>
              </a:ln>
              <a:solidFill>
                <a:srgbClr val="000000">
                  <a:alpha val="100000"/>
                </a:srgbClr>
              </a:solidFill>
              <a:latin typeface="华文楷体" panose="02010600040101010101" charset="-122"/>
              <a:ea typeface="华文楷体" panose="02010600040101010101" charset="-122"/>
              <a:cs typeface="Source Han Sans CN Bold" panose="020B0800000000000000" charset="-122"/>
            </a:endParaRPr>
          </a:p>
        </p:txBody>
      </p:sp>
      <p:sp>
        <p:nvSpPr>
          <p:cNvPr id="12" name="标题 1"/>
          <p:cNvSpPr txBox="1"/>
          <p:nvPr/>
        </p:nvSpPr>
        <p:spPr>
          <a:xfrm>
            <a:off x="593770" y="981183"/>
            <a:ext cx="965790" cy="862618"/>
          </a:xfrm>
          <a:prstGeom prst="rect">
            <a:avLst/>
          </a:prstGeom>
          <a:noFill/>
          <a:ln>
            <a:noFill/>
          </a:ln>
        </p:spPr>
        <p:txBody>
          <a:bodyPr vert="horz" wrap="square" lIns="0" tIns="0" rIns="0" bIns="0" rtlCol="0" anchor="b"/>
          <a:lstStyle/>
          <a:p>
            <a:pPr algn="ctr">
              <a:lnSpc>
                <a:spcPct val="140000"/>
              </a:lnSpc>
            </a:pPr>
            <a:r>
              <a:rPr kumimoji="1" lang="en-US" altLang="zh-CN" sz="5600">
                <a:ln w="12700">
                  <a:noFill/>
                </a:ln>
                <a:solidFill>
                  <a:srgbClr val="F4B002">
                    <a:alpha val="100000"/>
                  </a:srgbClr>
                </a:solidFill>
                <a:latin typeface="OPPOSans B" panose="00020600040101010101" charset="-122"/>
                <a:ea typeface="OPPOSans B" panose="00020600040101010101" charset="-122"/>
                <a:cs typeface="OPPOSans B" panose="00020600040101010101" charset="-122"/>
              </a:rPr>
              <a:t>1</a:t>
            </a:r>
            <a:endParaRPr kumimoji="1" lang="zh-CN" altLang="en-US" sz="5600">
              <a:ln w="12700">
                <a:noFill/>
              </a:ln>
              <a:solidFill>
                <a:srgbClr val="F4B002">
                  <a:alpha val="100000"/>
                </a:srgbClr>
              </a:solidFill>
              <a:latin typeface="OPPOSans B" panose="00020600040101010101" charset="-122"/>
              <a:ea typeface="OPPOSans B" panose="00020600040101010101" charset="-122"/>
              <a:cs typeface="OPPOSans B" panose="00020600040101010101" charset="-122"/>
            </a:endParaRPr>
          </a:p>
        </p:txBody>
      </p:sp>
      <p:cxnSp>
        <p:nvCxnSpPr>
          <p:cNvPr id="15" name="标题 1"/>
          <p:cNvCxnSpPr/>
          <p:nvPr/>
        </p:nvCxnSpPr>
        <p:spPr>
          <a:xfrm>
            <a:off x="271590" y="692965"/>
            <a:ext cx="1737509" cy="0"/>
          </a:xfrm>
          <a:prstGeom prst="line">
            <a:avLst/>
          </a:prstGeom>
          <a:noFill/>
          <a:ln w="12700" cap="sq">
            <a:solidFill>
              <a:schemeClr val="accent1"/>
            </a:solidFill>
            <a:miter/>
          </a:ln>
        </p:spPr>
      </p:cxnSp>
      <p:sp>
        <p:nvSpPr>
          <p:cNvPr id="16"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分治法效率分析</a:t>
            </a:r>
            <a:endPar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7" name="标题 1"/>
          <p:cNvCxnSpPr/>
          <p:nvPr/>
        </p:nvCxnSpPr>
        <p:spPr>
          <a:xfrm rot="16200000">
            <a:off x="233490" y="642165"/>
            <a:ext cx="404009" cy="0"/>
          </a:xfrm>
          <a:prstGeom prst="line">
            <a:avLst/>
          </a:prstGeom>
          <a:noFill/>
          <a:ln w="12700" cap="sq">
            <a:solidFill>
              <a:schemeClr val="accent1"/>
            </a:solidFill>
            <a:miter/>
          </a:ln>
        </p:spPr>
      </p:cxnSp>
      <p:sp>
        <p:nvSpPr>
          <p:cNvPr id="20" name="文本框 19"/>
          <p:cNvSpPr txBox="1"/>
          <p:nvPr/>
        </p:nvSpPr>
        <p:spPr>
          <a:xfrm>
            <a:off x="5520055" y="2277110"/>
            <a:ext cx="5114290" cy="3046095"/>
          </a:xfrm>
          <a:prstGeom prst="rect">
            <a:avLst/>
          </a:prstGeom>
          <a:noFill/>
        </p:spPr>
        <p:txBody>
          <a:bodyPr wrap="square" rtlCol="0">
            <a:spAutoFit/>
          </a:bodyPr>
          <a:p>
            <a:pPr algn="l" fontAlgn="auto">
              <a:lnSpc>
                <a:spcPct val="150000"/>
              </a:lnSpc>
            </a:pPr>
            <a:r>
              <a:rPr lang="zh-CN" altLang="en-US" sz="1600" b="1">
                <a:latin typeface="华文楷体" panose="02010600040101010101" charset="-122"/>
                <a:ea typeface="华文楷体" panose="02010600040101010101" charset="-122"/>
                <a:cs typeface="华文楷体" panose="02010600040101010101" charset="-122"/>
              </a:rPr>
              <a:t>从右图可见：</a:t>
            </a:r>
            <a:endParaRPr lang="zh-CN" altLang="en-US" sz="1600" b="1">
              <a:latin typeface="华文楷体" panose="02010600040101010101" charset="-122"/>
              <a:ea typeface="华文楷体" panose="02010600040101010101" charset="-122"/>
              <a:cs typeface="华文楷体" panose="02010600040101010101" charset="-122"/>
            </a:endParaRPr>
          </a:p>
          <a:p>
            <a:pPr algn="l" fontAlgn="auto">
              <a:lnSpc>
                <a:spcPct val="150000"/>
              </a:lnSpc>
            </a:pPr>
            <a:r>
              <a:rPr lang="zh-CN" altLang="en-US" sz="1600" b="1">
                <a:latin typeface="华文楷体" panose="02010600040101010101" charset="-122"/>
                <a:ea typeface="华文楷体" panose="02010600040101010101" charset="-122"/>
                <a:cs typeface="华文楷体" panose="02010600040101010101" charset="-122"/>
              </a:rPr>
              <a:t>数据规模较小：</a:t>
            </a:r>
            <a:r>
              <a:rPr lang="zh-CN" altLang="en-US" sz="1600">
                <a:latin typeface="华文楷体" panose="02010600040101010101" charset="-122"/>
                <a:ea typeface="华文楷体" panose="02010600040101010101" charset="-122"/>
                <a:cs typeface="华文楷体" panose="02010600040101010101" charset="-122"/>
              </a:rPr>
              <a:t>分治法下的实际运行时间和理论时间复杂度O(nlogn)相近；</a:t>
            </a:r>
            <a:endParaRPr lang="zh-CN" altLang="en-US" sz="1600">
              <a:latin typeface="华文楷体" panose="02010600040101010101" charset="-122"/>
              <a:ea typeface="华文楷体" panose="02010600040101010101" charset="-122"/>
              <a:cs typeface="华文楷体" panose="02010600040101010101" charset="-122"/>
            </a:endParaRPr>
          </a:p>
          <a:p>
            <a:pPr algn="l" fontAlgn="auto">
              <a:lnSpc>
                <a:spcPct val="150000"/>
              </a:lnSpc>
            </a:pPr>
            <a:r>
              <a:rPr lang="zh-CN" altLang="en-US" sz="1600" b="1">
                <a:latin typeface="华文楷体" panose="02010600040101010101" charset="-122"/>
                <a:ea typeface="华文楷体" panose="02010600040101010101" charset="-122"/>
                <a:cs typeface="华文楷体" panose="02010600040101010101" charset="-122"/>
              </a:rPr>
              <a:t>数据规模较大：</a:t>
            </a:r>
            <a:r>
              <a:rPr lang="zh-CN" altLang="en-US" sz="1600">
                <a:latin typeface="华文楷体" panose="02010600040101010101" charset="-122"/>
                <a:ea typeface="华文楷体" panose="02010600040101010101" charset="-122"/>
                <a:cs typeface="华文楷体" panose="02010600040101010101" charset="-122"/>
              </a:rPr>
              <a:t>实际运行的时间低于理论运行的时间，考虑可能是因为在值域固定的情况下，数据规模越来越大，一些区域中的点会更加密集，进而在跨点集区域中的点数较少，进而合并时需要检查的点数较少，实际运行的时间效率会更快。</a:t>
            </a:r>
            <a:endParaRPr lang="zh-CN" altLang="en-US" sz="1600">
              <a:latin typeface="华文楷体" panose="02010600040101010101" charset="-122"/>
              <a:ea typeface="华文楷体" panose="02010600040101010101" charset="-122"/>
              <a:cs typeface="华文楷体" panose="02010600040101010101" charset="-122"/>
            </a:endParaRPr>
          </a:p>
        </p:txBody>
      </p:sp>
      <p:pic>
        <p:nvPicPr>
          <p:cNvPr id="5" name="图片 12" descr="1e22727030017b7b51eef822a706aaa"/>
          <p:cNvPicPr>
            <a:picLocks noChangeAspect="1"/>
          </p:cNvPicPr>
          <p:nvPr/>
        </p:nvPicPr>
        <p:blipFill>
          <a:blip r:embed="rId1"/>
          <a:stretch>
            <a:fillRect/>
          </a:stretch>
        </p:blipFill>
        <p:spPr>
          <a:xfrm>
            <a:off x="3359785" y="836930"/>
            <a:ext cx="8326755" cy="836930"/>
          </a:xfrm>
          <a:prstGeom prst="rect">
            <a:avLst/>
          </a:prstGeom>
        </p:spPr>
      </p:pic>
      <p:pic>
        <p:nvPicPr>
          <p:cNvPr id="13" name="图片 13" descr="f0f78bc292cc9a501771a5e7157a8bb"/>
          <p:cNvPicPr>
            <a:picLocks noChangeAspect="1"/>
          </p:cNvPicPr>
          <p:nvPr/>
        </p:nvPicPr>
        <p:blipFill>
          <a:blip r:embed="rId2"/>
          <a:stretch>
            <a:fillRect/>
          </a:stretch>
        </p:blipFill>
        <p:spPr>
          <a:xfrm>
            <a:off x="839470" y="2277110"/>
            <a:ext cx="4299585" cy="3352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113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cxnSp>
        <p:nvCxnSpPr>
          <p:cNvPr id="15" name="标题 1"/>
          <p:cNvCxnSpPr/>
          <p:nvPr/>
        </p:nvCxnSpPr>
        <p:spPr>
          <a:xfrm>
            <a:off x="271590" y="692965"/>
            <a:ext cx="1737509" cy="0"/>
          </a:xfrm>
          <a:prstGeom prst="line">
            <a:avLst/>
          </a:prstGeom>
          <a:noFill/>
          <a:ln w="12700" cap="sq">
            <a:solidFill>
              <a:schemeClr val="accent1"/>
            </a:solidFill>
            <a:miter/>
          </a:ln>
        </p:spPr>
      </p:cxnSp>
      <p:sp>
        <p:nvSpPr>
          <p:cNvPr id="16"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zh-CN" altLang="en-US" sz="28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蛮力法与分治法效率比</a:t>
            </a:r>
            <a:r>
              <a:rPr kumimoji="1" lang="zh-CN" altLang="en-US" sz="2800" b="1">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较</a:t>
            </a:r>
            <a:endParaRPr kumimoji="1" lang="zh-CN" altLang="en-US" sz="2800" b="1">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cxnSp>
        <p:nvCxnSpPr>
          <p:cNvPr id="17" name="标题 1"/>
          <p:cNvCxnSpPr/>
          <p:nvPr/>
        </p:nvCxnSpPr>
        <p:spPr>
          <a:xfrm rot="16200000">
            <a:off x="233490" y="642165"/>
            <a:ext cx="404009" cy="0"/>
          </a:xfrm>
          <a:prstGeom prst="line">
            <a:avLst/>
          </a:prstGeom>
          <a:noFill/>
          <a:ln w="12700" cap="sq">
            <a:solidFill>
              <a:schemeClr val="accent1"/>
            </a:solidFill>
            <a:miter/>
          </a:ln>
        </p:spPr>
      </p:cxnSp>
      <p:sp>
        <p:nvSpPr>
          <p:cNvPr id="20" name="文本框 19"/>
          <p:cNvSpPr txBox="1"/>
          <p:nvPr/>
        </p:nvSpPr>
        <p:spPr>
          <a:xfrm>
            <a:off x="7463790" y="4077335"/>
            <a:ext cx="3708400" cy="1198880"/>
          </a:xfrm>
          <a:prstGeom prst="rect">
            <a:avLst/>
          </a:prstGeom>
          <a:noFill/>
        </p:spPr>
        <p:txBody>
          <a:bodyPr wrap="square" rtlCol="0">
            <a:spAutoFit/>
          </a:bodyPr>
          <a:p>
            <a:pPr marL="285750" indent="-285750" algn="l" fontAlgn="auto">
              <a:lnSpc>
                <a:spcPct val="150000"/>
              </a:lnSpc>
              <a:buFont typeface="Arial" panose="020B0604020202020204" pitchFamily="34" charset="0"/>
              <a:buChar char="•"/>
            </a:pPr>
            <a:r>
              <a:rPr lang="zh-CN" altLang="en-US" sz="1600" b="1">
                <a:latin typeface="华文楷体" panose="02010600040101010101" charset="-122"/>
                <a:ea typeface="华文楷体" panose="02010600040101010101" charset="-122"/>
                <a:cs typeface="华文楷体" panose="02010600040101010101" charset="-122"/>
              </a:rPr>
              <a:t>为方便观察，对时间即</a:t>
            </a:r>
            <a:r>
              <a:rPr lang="en-US" altLang="zh-CN" sz="1600" b="1">
                <a:latin typeface="华文楷体" panose="02010600040101010101" charset="-122"/>
                <a:ea typeface="华文楷体" panose="02010600040101010101" charset="-122"/>
                <a:cs typeface="华文楷体" panose="02010600040101010101" charset="-122"/>
              </a:rPr>
              <a:t>y</a:t>
            </a:r>
            <a:r>
              <a:rPr lang="zh-CN" altLang="en-US" sz="1600" b="1">
                <a:latin typeface="华文楷体" panose="02010600040101010101" charset="-122"/>
                <a:ea typeface="华文楷体" panose="02010600040101010101" charset="-122"/>
                <a:cs typeface="华文楷体" panose="02010600040101010101" charset="-122"/>
              </a:rPr>
              <a:t>轴取对数。</a:t>
            </a:r>
            <a:endParaRPr lang="zh-CN" altLang="en-US" sz="1600">
              <a:latin typeface="华文楷体" panose="02010600040101010101" charset="-122"/>
              <a:ea typeface="华文楷体" panose="02010600040101010101" charset="-122"/>
              <a:cs typeface="华文楷体" panose="02010600040101010101" charset="-122"/>
            </a:endParaRPr>
          </a:p>
          <a:p>
            <a:pPr marL="285750" indent="-285750" algn="l" fontAlgn="auto">
              <a:lnSpc>
                <a:spcPct val="150000"/>
              </a:lnSpc>
              <a:buFont typeface="Arial" panose="020B0604020202020204" pitchFamily="34" charset="0"/>
              <a:buChar char="•"/>
            </a:pPr>
            <a:r>
              <a:rPr lang="zh-CN" altLang="en-US" sz="1600" b="1">
                <a:latin typeface="华文楷体" panose="02010600040101010101" charset="-122"/>
                <a:ea typeface="华文楷体" panose="02010600040101010101" charset="-122"/>
                <a:cs typeface="华文楷体" panose="02010600040101010101" charset="-122"/>
              </a:rPr>
              <a:t>从右图可见：</a:t>
            </a:r>
            <a:endParaRPr lang="zh-CN" altLang="en-US" sz="1600" b="1">
              <a:latin typeface="华文楷体" panose="02010600040101010101" charset="-122"/>
              <a:ea typeface="华文楷体" panose="02010600040101010101" charset="-122"/>
              <a:cs typeface="华文楷体" panose="02010600040101010101" charset="-122"/>
            </a:endParaRPr>
          </a:p>
          <a:p>
            <a:pPr algn="l" fontAlgn="auto">
              <a:lnSpc>
                <a:spcPct val="150000"/>
              </a:lnSpc>
            </a:pPr>
            <a:r>
              <a:rPr lang="zh-CN" altLang="en-US" sz="1600">
                <a:latin typeface="华文楷体" panose="02010600040101010101" charset="-122"/>
                <a:ea typeface="华文楷体" panose="02010600040101010101" charset="-122"/>
                <a:cs typeface="华文楷体" panose="02010600040101010101" charset="-122"/>
              </a:rPr>
              <a:t>显然，分治法大大提高了算法的效率。</a:t>
            </a:r>
            <a:endParaRPr lang="zh-CN" altLang="en-US" sz="1600">
              <a:latin typeface="华文楷体" panose="02010600040101010101" charset="-122"/>
              <a:ea typeface="华文楷体" panose="02010600040101010101" charset="-122"/>
              <a:cs typeface="华文楷体" panose="02010600040101010101" charset="-122"/>
            </a:endParaRPr>
          </a:p>
        </p:txBody>
      </p:sp>
      <p:pic>
        <p:nvPicPr>
          <p:cNvPr id="6" name="图片 5"/>
          <p:cNvPicPr>
            <a:picLocks noChangeAspect="1"/>
          </p:cNvPicPr>
          <p:nvPr/>
        </p:nvPicPr>
        <p:blipFill>
          <a:blip r:embed="rId1"/>
          <a:stretch>
            <a:fillRect/>
          </a:stretch>
        </p:blipFill>
        <p:spPr>
          <a:xfrm>
            <a:off x="695325" y="1412875"/>
            <a:ext cx="6237605" cy="40513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3306"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8000000" flipH="1">
            <a:off x="287186"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597817" y="980729"/>
            <a:ext cx="8944824" cy="4683786"/>
          </a:xfrm>
          <a:prstGeom prst="roundRect">
            <a:avLst>
              <a:gd name="adj" fmla="val 5739"/>
            </a:avLst>
          </a:prstGeom>
          <a:gradFill>
            <a:gsLst>
              <a:gs pos="0">
                <a:schemeClr val="accent1">
                  <a:lumMod val="20000"/>
                  <a:lumOff val="80000"/>
                </a:schemeClr>
              </a:gs>
              <a:gs pos="99000">
                <a:schemeClr val="bg1"/>
              </a:gs>
            </a:gsLst>
            <a:lin ang="16200000" scaled="0"/>
          </a:gradFill>
          <a:ln w="57150" cap="sq">
            <a:solidFill>
              <a:schemeClr val="accent1">
                <a:lumMod val="20000"/>
                <a:lumOff val="80000"/>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7252114" y="6228784"/>
            <a:ext cx="4309449" cy="407406"/>
          </a:xfrm>
          <a:prstGeom prst="ellipse">
            <a:avLst/>
          </a:prstGeom>
          <a:gradFill>
            <a:gsLst>
              <a:gs pos="0">
                <a:schemeClr val="accent2">
                  <a:lumMod val="60000"/>
                  <a:lumOff val="40000"/>
                  <a:alpha val="60000"/>
                </a:schemeClr>
              </a:gs>
              <a:gs pos="99000">
                <a:schemeClr val="accent2">
                  <a:lumMod val="20000"/>
                  <a:lumOff val="80000"/>
                </a:schemeClr>
              </a:gs>
            </a:gsLst>
            <a:lin ang="162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flipH="1">
            <a:off x="7288102" y="615863"/>
            <a:ext cx="4267200" cy="5341318"/>
          </a:xfrm>
          <a:prstGeom prst="round2SameRect">
            <a:avLst>
              <a:gd name="adj1" fmla="val 50000"/>
              <a:gd name="adj2" fmla="val 0"/>
            </a:avLst>
          </a:prstGeom>
          <a:solidFill>
            <a:schemeClr val="accent1">
              <a:lumMod val="40000"/>
              <a:lumOff val="60000"/>
            </a:schemeClr>
          </a:solidFill>
          <a:ln w="571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1">
            <a:alphaModFix amt="100000"/>
          </a:blip>
          <a:srcRect/>
          <a:stretch>
            <a:fillRect/>
          </a:stretch>
        </p:blipFill>
        <p:spPr>
          <a:xfrm>
            <a:off x="6889381" y="540859"/>
            <a:ext cx="1352661" cy="1357294"/>
          </a:xfrm>
          <a:prstGeom prst="rect">
            <a:avLst/>
          </a:prstGeom>
          <a:noFill/>
          <a:ln>
            <a:noFill/>
          </a:ln>
        </p:spPr>
      </p:pic>
      <p:pic>
        <p:nvPicPr>
          <p:cNvPr id="8" name="图片 7"/>
          <p:cNvPicPr>
            <a:picLocks noChangeAspect="1"/>
          </p:cNvPicPr>
          <p:nvPr/>
        </p:nvPicPr>
        <p:blipFill>
          <a:blip r:embed="rId2">
            <a:alphaModFix amt="100000"/>
          </a:blip>
          <a:srcRect/>
          <a:stretch>
            <a:fillRect/>
          </a:stretch>
        </p:blipFill>
        <p:spPr>
          <a:xfrm flipH="1">
            <a:off x="10773911" y="288310"/>
            <a:ext cx="1037471" cy="904862"/>
          </a:xfrm>
          <a:prstGeom prst="rect">
            <a:avLst/>
          </a:prstGeom>
          <a:noFill/>
          <a:ln>
            <a:noFill/>
          </a:ln>
        </p:spPr>
      </p:pic>
      <p:sp>
        <p:nvSpPr>
          <p:cNvPr id="9" name="标题 1"/>
          <p:cNvSpPr txBox="1"/>
          <p:nvPr/>
        </p:nvSpPr>
        <p:spPr>
          <a:xfrm>
            <a:off x="573754" y="770747"/>
            <a:ext cx="2178864" cy="475726"/>
          </a:xfrm>
          <a:prstGeom prst="roundRect">
            <a:avLst>
              <a:gd name="adj" fmla="val 50000"/>
            </a:avLst>
          </a:prstGeom>
          <a:solidFill>
            <a:schemeClr val="accent2">
              <a:lumMod val="60000"/>
              <a:lumOff val="40000"/>
            </a:schemeClr>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11" name="图片 10"/>
          <p:cNvPicPr>
            <a:picLocks noChangeAspect="1"/>
          </p:cNvPicPr>
          <p:nvPr/>
        </p:nvPicPr>
        <p:blipFill>
          <a:blip r:embed="rId3">
            <a:alphaModFix amt="100000"/>
          </a:blip>
          <a:srcRect/>
          <a:stretch>
            <a:fillRect/>
          </a:stretch>
        </p:blipFill>
        <p:spPr>
          <a:xfrm>
            <a:off x="7311860" y="850264"/>
            <a:ext cx="4871414" cy="5370062"/>
          </a:xfrm>
          <a:prstGeom prst="rect">
            <a:avLst/>
          </a:prstGeom>
          <a:noFill/>
          <a:ln>
            <a:noFill/>
          </a:ln>
        </p:spPr>
      </p:pic>
      <p:sp>
        <p:nvSpPr>
          <p:cNvPr id="12" name="标题 1"/>
          <p:cNvSpPr txBox="1"/>
          <p:nvPr/>
        </p:nvSpPr>
        <p:spPr>
          <a:xfrm>
            <a:off x="3294853" y="304799"/>
            <a:ext cx="1792146" cy="2982269"/>
          </a:xfrm>
          <a:prstGeom prst="rect">
            <a:avLst/>
          </a:prstGeom>
          <a:noFill/>
          <a:ln w="12700" cap="sq">
            <a:noFill/>
            <a:miter/>
          </a:ln>
        </p:spPr>
        <p:txBody>
          <a:bodyPr vert="horz" wrap="square" lIns="0" tIns="0" rIns="0" bIns="0" rtlCol="0" anchor="b"/>
          <a:lstStyle/>
          <a:p>
            <a:pPr algn="ctr">
              <a:lnSpc>
                <a:spcPct val="110000"/>
              </a:lnSpc>
            </a:pPr>
            <a:r>
              <a:rPr kumimoji="1" lang="en-US" altLang="zh-CN" sz="9600">
                <a:ln w="12700">
                  <a:noFill/>
                </a:ln>
                <a:solidFill>
                  <a:srgbClr val="F4B002">
                    <a:alpha val="100000"/>
                  </a:srgbClr>
                </a:solidFill>
                <a:latin typeface="Source Han Sans CN Bold" panose="020B0800000000000000" charset="-122"/>
                <a:ea typeface="Source Han Sans CN Bold" panose="020B0800000000000000" charset="-122"/>
                <a:cs typeface="Source Han Sans CN Bold" panose="020B0800000000000000" charset="-122"/>
              </a:rPr>
              <a:t>04</a:t>
            </a:r>
            <a:endParaRPr kumimoji="1" lang="zh-CN" altLang="en-US"/>
          </a:p>
        </p:txBody>
      </p:sp>
      <p:sp>
        <p:nvSpPr>
          <p:cNvPr id="13" name="标题 1"/>
          <p:cNvSpPr txBox="1"/>
          <p:nvPr/>
        </p:nvSpPr>
        <p:spPr>
          <a:xfrm>
            <a:off x="1207251" y="3171940"/>
            <a:ext cx="5967350" cy="1596480"/>
          </a:xfrm>
          <a:prstGeom prst="rect">
            <a:avLst/>
          </a:prstGeom>
          <a:noFill/>
          <a:ln w="12700" cap="sq">
            <a:noFill/>
            <a:miter/>
          </a:ln>
        </p:spPr>
        <p:txBody>
          <a:bodyPr vert="horz" wrap="square" lIns="0" tIns="0" rIns="0" bIns="0" rtlCol="0" anchor="t"/>
          <a:lstStyle/>
          <a:p>
            <a:pPr algn="ctr">
              <a:lnSpc>
                <a:spcPct val="130000"/>
              </a:lnSpc>
            </a:pPr>
            <a:r>
              <a:rPr kumimoji="1" lang="en-US" altLang="zh-CN" sz="4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实验心得与总结</a:t>
            </a:r>
            <a:endParaRPr kumimoji="1" lang="zh-CN" altLang="en-US"/>
          </a:p>
        </p:txBody>
      </p:sp>
      <p:grpSp>
        <p:nvGrpSpPr>
          <p:cNvPr id="14" name="组合 13"/>
          <p:cNvGrpSpPr/>
          <p:nvPr/>
        </p:nvGrpSpPr>
        <p:grpSpPr>
          <a:xfrm>
            <a:off x="5637684" y="1896997"/>
            <a:ext cx="621265" cy="430818"/>
            <a:chOff x="5637684" y="1896997"/>
            <a:chExt cx="621265" cy="430818"/>
          </a:xfrm>
        </p:grpSpPr>
        <p:sp>
          <p:nvSpPr>
            <p:cNvPr id="15" name="标题 1"/>
            <p:cNvSpPr txBox="1"/>
            <p:nvPr/>
          </p:nvSpPr>
          <p:spPr>
            <a:xfrm flipH="1">
              <a:off x="5637684" y="1896997"/>
              <a:ext cx="621265" cy="430818"/>
            </a:xfrm>
            <a:custGeom>
              <a:avLst/>
              <a:gdLst/>
              <a:ahLst/>
              <a:cxnLst/>
              <a:rect l="0" t="0" r="0" b="0"/>
              <a:pathLst>
                <a:path w="3149601" h="2184100">
                  <a:moveTo>
                    <a:pt x="298450" y="9127"/>
                  </a:moveTo>
                  <a:cubicBezTo>
                    <a:pt x="186595" y="38582"/>
                    <a:pt x="73801" y="141337"/>
                    <a:pt x="28575" y="254982"/>
                  </a:cubicBezTo>
                  <a:cubicBezTo>
                    <a:pt x="259" y="326136"/>
                    <a:pt x="0" y="332625"/>
                    <a:pt x="0" y="972152"/>
                  </a:cubicBezTo>
                  <a:cubicBezTo>
                    <a:pt x="0" y="1367194"/>
                    <a:pt x="4769" y="1624616"/>
                    <a:pt x="12296" y="1635820"/>
                  </a:cubicBezTo>
                  <a:cubicBezTo>
                    <a:pt x="19059" y="1645886"/>
                    <a:pt x="27631" y="1666932"/>
                    <a:pt x="31346" y="1682589"/>
                  </a:cubicBezTo>
                  <a:cubicBezTo>
                    <a:pt x="40603" y="1721604"/>
                    <a:pt x="174109" y="1855200"/>
                    <a:pt x="228600" y="1879975"/>
                  </a:cubicBezTo>
                  <a:cubicBezTo>
                    <a:pt x="253047" y="1891091"/>
                    <a:pt x="298037" y="1911972"/>
                    <a:pt x="328576" y="1926378"/>
                  </a:cubicBezTo>
                  <a:cubicBezTo>
                    <a:pt x="383234" y="1952162"/>
                    <a:pt x="400153" y="1952572"/>
                    <a:pt x="1410502" y="1952572"/>
                  </a:cubicBezTo>
                  <a:cubicBezTo>
                    <a:pt x="2081069" y="1952572"/>
                    <a:pt x="2439622" y="1956975"/>
                    <a:pt x="2444750" y="1965272"/>
                  </a:cubicBezTo>
                  <a:cubicBezTo>
                    <a:pt x="2449067" y="1972257"/>
                    <a:pt x="2464257" y="1977972"/>
                    <a:pt x="2478505" y="1977972"/>
                  </a:cubicBezTo>
                  <a:cubicBezTo>
                    <a:pt x="2492753" y="1977972"/>
                    <a:pt x="2519562" y="1982822"/>
                    <a:pt x="2538081" y="1988750"/>
                  </a:cubicBezTo>
                  <a:cubicBezTo>
                    <a:pt x="2726735" y="2049139"/>
                    <a:pt x="2790399" y="2072593"/>
                    <a:pt x="2806065" y="2087477"/>
                  </a:cubicBezTo>
                  <a:cubicBezTo>
                    <a:pt x="2816193" y="2097099"/>
                    <a:pt x="2834114" y="2104972"/>
                    <a:pt x="2845888" y="2104972"/>
                  </a:cubicBezTo>
                  <a:cubicBezTo>
                    <a:pt x="2857663" y="2104972"/>
                    <a:pt x="2880809" y="2110652"/>
                    <a:pt x="2897323" y="2117594"/>
                  </a:cubicBezTo>
                  <a:cubicBezTo>
                    <a:pt x="2913838" y="2124536"/>
                    <a:pt x="2939066" y="2133108"/>
                    <a:pt x="2953385" y="2136644"/>
                  </a:cubicBezTo>
                  <a:cubicBezTo>
                    <a:pt x="2967704" y="2140179"/>
                    <a:pt x="2981992" y="2145442"/>
                    <a:pt x="2985135" y="2148339"/>
                  </a:cubicBezTo>
                  <a:cubicBezTo>
                    <a:pt x="2988278" y="2151236"/>
                    <a:pt x="3026569" y="2160467"/>
                    <a:pt x="3070225" y="2168852"/>
                  </a:cubicBezTo>
                  <a:lnTo>
                    <a:pt x="3149600" y="2184099"/>
                  </a:lnTo>
                  <a:lnTo>
                    <a:pt x="3149600" y="2152346"/>
                  </a:lnTo>
                  <a:cubicBezTo>
                    <a:pt x="3149600" y="2132671"/>
                    <a:pt x="3137775" y="2112845"/>
                    <a:pt x="3118510" y="2100223"/>
                  </a:cubicBezTo>
                  <a:cubicBezTo>
                    <a:pt x="3075019" y="2071726"/>
                    <a:pt x="2941182" y="1903782"/>
                    <a:pt x="2922839" y="1854687"/>
                  </a:cubicBezTo>
                  <a:cubicBezTo>
                    <a:pt x="2914469" y="1832282"/>
                    <a:pt x="2902058" y="1810513"/>
                    <a:pt x="2895260" y="1806312"/>
                  </a:cubicBezTo>
                  <a:cubicBezTo>
                    <a:pt x="2888462" y="1802110"/>
                    <a:pt x="2882900" y="1785060"/>
                    <a:pt x="2882900" y="1768422"/>
                  </a:cubicBezTo>
                  <a:cubicBezTo>
                    <a:pt x="2882900" y="1751784"/>
                    <a:pt x="2877789" y="1735012"/>
                    <a:pt x="2871542" y="1731151"/>
                  </a:cubicBezTo>
                  <a:cubicBezTo>
                    <a:pt x="2838187" y="1710537"/>
                    <a:pt x="2829638" y="1579110"/>
                    <a:pt x="2821503" y="961972"/>
                  </a:cubicBezTo>
                  <a:cubicBezTo>
                    <a:pt x="2815706" y="522145"/>
                    <a:pt x="2808527" y="312641"/>
                    <a:pt x="2798657" y="295222"/>
                  </a:cubicBezTo>
                  <a:cubicBezTo>
                    <a:pt x="2790741" y="281252"/>
                    <a:pt x="2776453" y="253005"/>
                    <a:pt x="2766907" y="232451"/>
                  </a:cubicBezTo>
                  <a:cubicBezTo>
                    <a:pt x="2741961" y="178740"/>
                    <a:pt x="2632138" y="70759"/>
                    <a:pt x="2565400" y="34323"/>
                  </a:cubicBezTo>
                  <a:lnTo>
                    <a:pt x="2508250" y="3122"/>
                  </a:lnTo>
                  <a:lnTo>
                    <a:pt x="1422400" y="1108"/>
                  </a:lnTo>
                  <a:cubicBezTo>
                    <a:pt x="825182" y="0"/>
                    <a:pt x="319405" y="3609"/>
                    <a:pt x="298450" y="9127"/>
                  </a:cubicBez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18900000">
              <a:off x="5871866" y="1993384"/>
              <a:ext cx="228008" cy="135035"/>
            </a:xfrm>
            <a:prstGeom prst="corner">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17" name="标题 1"/>
          <p:cNvSpPr txBox="1"/>
          <p:nvPr/>
        </p:nvSpPr>
        <p:spPr>
          <a:xfrm>
            <a:off x="2677374" y="2454128"/>
            <a:ext cx="1107141" cy="439271"/>
          </a:xfrm>
          <a:prstGeom prst="rect">
            <a:avLst/>
          </a:pr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823536" y="2467411"/>
            <a:ext cx="840217" cy="387304"/>
          </a:xfrm>
          <a:prstGeom prst="rect">
            <a:avLst/>
          </a:prstGeom>
          <a:noFill/>
          <a:ln w="12700" cap="sq">
            <a:noFill/>
            <a:miter/>
          </a:ln>
        </p:spPr>
        <p:txBody>
          <a:bodyPr vert="horz" wrap="square" lIns="0" tIns="0" rIns="0" bIns="0" rtlCol="0" anchor="ctr"/>
          <a:lstStyle/>
          <a:p>
            <a:pPr algn="ctr">
              <a:lnSpc>
                <a:spcPct val="110000"/>
              </a:lnSpc>
            </a:pPr>
            <a:r>
              <a:rPr kumimoji="1" lang="en-US" altLang="zh-CN" sz="2400">
                <a:ln w="12700">
                  <a:noFill/>
                </a:ln>
                <a:solidFill>
                  <a:srgbClr val="B78401">
                    <a:alpha val="100000"/>
                  </a:srgbClr>
                </a:solidFill>
                <a:latin typeface="Source Han Sans CN Bold" panose="020B0800000000000000" charset="-122"/>
                <a:ea typeface="Source Han Sans CN Bold" panose="020B0800000000000000" charset="-122"/>
                <a:cs typeface="Source Han Sans CN Bold" panose="020B0800000000000000" charset="-122"/>
              </a:rPr>
              <a:t>Part</a:t>
            </a:r>
            <a:endParaRPr kumimoji="1" lang="zh-CN" altLang="en-US"/>
          </a:p>
        </p:txBody>
      </p:sp>
      <p:pic>
        <p:nvPicPr>
          <p:cNvPr id="19" name="图片 18"/>
          <p:cNvPicPr>
            <a:picLocks noChangeAspect="1"/>
          </p:cNvPicPr>
          <p:nvPr/>
        </p:nvPicPr>
        <p:blipFill>
          <a:blip r:embed="rId4">
            <a:alphaModFix amt="100000"/>
          </a:blip>
          <a:srcRect/>
          <a:stretch>
            <a:fillRect/>
          </a:stretch>
        </p:blipFill>
        <p:spPr>
          <a:xfrm>
            <a:off x="299913" y="4547232"/>
            <a:ext cx="1579001" cy="1231499"/>
          </a:xfrm>
          <a:prstGeom prst="rect">
            <a:avLst/>
          </a:prstGeom>
          <a:noFill/>
          <a:ln>
            <a:noFill/>
          </a:ln>
        </p:spPr>
      </p:pic>
      <p:pic>
        <p:nvPicPr>
          <p:cNvPr id="20" name="图片 19"/>
          <p:cNvPicPr>
            <a:picLocks noChangeAspect="1"/>
          </p:cNvPicPr>
          <p:nvPr/>
        </p:nvPicPr>
        <p:blipFill>
          <a:blip r:embed="rId5">
            <a:alphaModFix amt="100000"/>
          </a:blip>
          <a:srcRect/>
          <a:stretch>
            <a:fillRect/>
          </a:stretch>
        </p:blipFill>
        <p:spPr>
          <a:xfrm>
            <a:off x="259570" y="5353625"/>
            <a:ext cx="1103472" cy="60355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70816" y="116851"/>
            <a:ext cx="11850368" cy="6550638"/>
          </a:xfrm>
          <a:prstGeom prst="roundRect">
            <a:avLst>
              <a:gd name="adj" fmla="val 4221"/>
            </a:avLst>
          </a:prstGeom>
          <a:gradFill>
            <a:gsLst>
              <a:gs pos="0">
                <a:schemeClr val="accent1">
                  <a:lumMod val="20000"/>
                  <a:lumOff val="80000"/>
                </a:schemeClr>
              </a:gs>
              <a:gs pos="99000">
                <a:schemeClr val="bg1"/>
              </a:gs>
            </a:gsLst>
            <a:lin ang="16200000" scaled="0"/>
          </a:gradFill>
          <a:ln w="57150" cap="sq">
            <a:solidFill>
              <a:schemeClr val="accent1">
                <a:lumMod val="20000"/>
                <a:lumOff val="8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3564890" y="982980"/>
            <a:ext cx="5488305" cy="1557020"/>
          </a:xfrm>
          <a:prstGeom prst="rect">
            <a:avLst/>
          </a:prstGeom>
          <a:noFill/>
          <a:ln>
            <a:noFill/>
          </a:ln>
        </p:spPr>
        <p:txBody>
          <a:bodyPr vert="horz" wrap="square" lIns="91440" tIns="45720" rIns="91440" bIns="45720" rtlCol="0" anchor="t"/>
          <a:lstStyle/>
          <a:p>
            <a:pPr algn="ctr">
              <a:lnSpc>
                <a:spcPct val="150000"/>
              </a:lnSpc>
            </a:pPr>
            <a:r>
              <a:rPr kumimoji="1" lang="zh-CN" altLang="en-US"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在本实验中的蛮力法中，虽然蛮力法本身的</a:t>
            </a: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O(n^2)</a:t>
            </a:r>
            <a:r>
              <a:rPr kumimoji="1" lang="zh-CN" altLang="en-US"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的时间复杂度无法改变，但是可以通过其他的方法进行算法效率的提升。我对通过改进随机点生成方法，减少了不必要的计算和资源消耗。优化后的蛮力法运行时间显著降低，尤其是在大规模数据下，优化效果更加明显。</a:t>
            </a:r>
            <a:endParaRPr kumimoji="1" lang="zh-CN" altLang="en-US"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p:txBody>
      </p:sp>
      <p:sp>
        <p:nvSpPr>
          <p:cNvPr id="6" name="标题 1"/>
          <p:cNvSpPr txBox="1"/>
          <p:nvPr/>
        </p:nvSpPr>
        <p:spPr>
          <a:xfrm>
            <a:off x="3564875" y="591316"/>
            <a:ext cx="5213573" cy="461665"/>
          </a:xfrm>
          <a:prstGeom prst="rect">
            <a:avLst/>
          </a:prstGeom>
          <a:noFill/>
          <a:ln>
            <a:noFill/>
          </a:ln>
        </p:spPr>
        <p:txBody>
          <a:bodyPr vert="horz" wrap="square" lIns="91440" tIns="45720" rIns="91440" bIns="45720" rtlCol="0" anchor="ctr"/>
          <a:lstStyle/>
          <a:p>
            <a:pPr algn="ctr">
              <a:lnSpc>
                <a:spcPct val="12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算法优化的重要性</a:t>
            </a:r>
            <a:endPar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7" name="标题 1"/>
          <p:cNvSpPr txBox="1"/>
          <p:nvPr/>
        </p:nvSpPr>
        <p:spPr>
          <a:xfrm>
            <a:off x="312496" y="3833408"/>
            <a:ext cx="3905548" cy="644239"/>
          </a:xfrm>
          <a:prstGeom prst="rect">
            <a:avLst/>
          </a:prstGeom>
          <a:noFill/>
          <a:ln>
            <a:noFill/>
          </a:ln>
        </p:spPr>
        <p:txBody>
          <a:bodyPr vert="horz" wrap="square" lIns="91440" tIns="45720" rIns="91440" bIns="45720" rtlCol="0" anchor="ctr"/>
          <a:lstStyle/>
          <a:p>
            <a:pPr algn="ctr">
              <a:lnSpc>
                <a:spcPct val="12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分治法的</a:t>
            </a:r>
            <a:r>
              <a:rPr kumimoji="1" lang="en-US" altLang="zh-CN" sz="1600" b="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高</a:t>
            </a: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效性</a:t>
            </a:r>
            <a:endPar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8" name="标题 1"/>
          <p:cNvSpPr txBox="1"/>
          <p:nvPr/>
        </p:nvSpPr>
        <p:spPr>
          <a:xfrm>
            <a:off x="312496" y="4406308"/>
            <a:ext cx="3908990" cy="1804338"/>
          </a:xfrm>
          <a:prstGeom prst="rect">
            <a:avLst/>
          </a:prstGeom>
          <a:noFill/>
          <a:ln>
            <a:noFill/>
          </a:ln>
        </p:spPr>
        <p:txBody>
          <a:bodyPr vert="horz" wrap="square" lIns="91440" tIns="45720" rIns="91440" bIns="45720" rtlCol="0" anchor="t"/>
          <a:lstStyle/>
          <a:p>
            <a:pPr algn="ctr">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分治法通过将问题分解为更小的子问题，递归求解后再合并结果，这种方法显著提高了算法的效率。在本次实验中，分治法的时间复杂度为 O(nlogn)，相比蛮力法的 O(n2) 复杂度，分治法在处理大规模数据时的优势特别明显。</a:t>
            </a:r>
            <a:endPar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p:txBody>
      </p:sp>
      <p:sp>
        <p:nvSpPr>
          <p:cNvPr id="9" name="标题 1"/>
          <p:cNvSpPr txBox="1"/>
          <p:nvPr/>
        </p:nvSpPr>
        <p:spPr>
          <a:xfrm>
            <a:off x="8115042" y="3851589"/>
            <a:ext cx="3797300" cy="644239"/>
          </a:xfrm>
          <a:prstGeom prst="rect">
            <a:avLst/>
          </a:prstGeom>
          <a:noFill/>
          <a:ln>
            <a:noFill/>
          </a:ln>
        </p:spPr>
        <p:txBody>
          <a:bodyPr vert="horz" wrap="square" lIns="91440" tIns="45720" rIns="91440" bIns="45720" rtlCol="0" anchor="ctr"/>
          <a:lstStyle/>
          <a:p>
            <a:pPr algn="ctr">
              <a:lnSpc>
                <a:spcPct val="120000"/>
              </a:lnSpc>
            </a:pPr>
            <a:r>
              <a:rPr kumimoji="1" lang="en-US" altLang="zh-CN" sz="1600" b="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随机点生成的考量</a:t>
            </a:r>
            <a:endParaRPr kumimoji="1" lang="en-US" altLang="zh-CN" sz="1600" b="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10" name="标题 1"/>
          <p:cNvSpPr txBox="1"/>
          <p:nvPr/>
        </p:nvSpPr>
        <p:spPr>
          <a:xfrm>
            <a:off x="8114784" y="4424490"/>
            <a:ext cx="3797815" cy="1785810"/>
          </a:xfrm>
          <a:prstGeom prst="rect">
            <a:avLst/>
          </a:prstGeom>
          <a:noFill/>
          <a:ln>
            <a:noFill/>
          </a:ln>
        </p:spPr>
        <p:txBody>
          <a:bodyPr vert="horz" wrap="square" lIns="91440" tIns="45720" rIns="91440" bIns="45720" rtlCol="0" anchor="t"/>
          <a:lstStyle/>
          <a:p>
            <a:pPr algn="ctr">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随机点的生成对实验结果有着显著的影响。为了避免重复点导致最小距离为 0 的情况，我尝试了扩大随机点坐标范围和使用集合去重的方法。最终发现，扩大随机点坐标范围的方法在效率上更具优势。这让我明白，在设计实验时，必须充分考虑数据的特性和生成方法对实验结果的影响。</a:t>
            </a:r>
            <a:endPar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p:txBody>
      </p:sp>
      <p:sp>
        <p:nvSpPr>
          <p:cNvPr id="11" name="标题 1"/>
          <p:cNvSpPr txBox="1"/>
          <p:nvPr/>
        </p:nvSpPr>
        <p:spPr>
          <a:xfrm>
            <a:off x="4210639" y="3755950"/>
            <a:ext cx="2218633" cy="2218633"/>
          </a:xfrm>
          <a:prstGeom prst="ellipse">
            <a:avLst/>
          </a:prstGeom>
          <a:gradFill>
            <a:gsLst>
              <a:gs pos="0">
                <a:schemeClr val="accent1">
                  <a:lumMod val="60000"/>
                  <a:lumOff val="40000"/>
                </a:schemeClr>
              </a:gs>
              <a:gs pos="64000">
                <a:schemeClr val="accent1"/>
              </a:gs>
            </a:gsLst>
            <a:lin ang="210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5762729" y="3755950"/>
            <a:ext cx="2218633" cy="2218633"/>
          </a:xfrm>
          <a:prstGeom prst="ellipse">
            <a:avLst/>
          </a:prstGeom>
          <a:gradFill>
            <a:gsLst>
              <a:gs pos="0">
                <a:schemeClr val="accent1">
                  <a:lumMod val="60000"/>
                  <a:lumOff val="40000"/>
                </a:schemeClr>
              </a:gs>
              <a:gs pos="53000">
                <a:schemeClr val="accent1"/>
              </a:gs>
            </a:gsLst>
            <a:lin ang="120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4986684" y="2365734"/>
            <a:ext cx="2218633" cy="2218633"/>
          </a:xfrm>
          <a:prstGeom prst="ellipse">
            <a:avLst/>
          </a:prstGeom>
          <a:gradFill>
            <a:gsLst>
              <a:gs pos="0">
                <a:schemeClr val="accent1">
                  <a:lumMod val="60000"/>
                  <a:lumOff val="40000"/>
                </a:schemeClr>
              </a:gs>
              <a:gs pos="72000">
                <a:schemeClr val="accent1"/>
              </a:gs>
            </a:gsLst>
            <a:lin ang="42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435381" y="2814431"/>
            <a:ext cx="1321238" cy="1321238"/>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6255374" y="4204647"/>
            <a:ext cx="1321238" cy="1321238"/>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4615388" y="4204647"/>
            <a:ext cx="1321238" cy="1321238"/>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5124052" y="3198211"/>
            <a:ext cx="1943895" cy="1943896"/>
          </a:xfrm>
          <a:prstGeom prst="flowChartExtract">
            <a:avLst/>
          </a:prstGeom>
          <a:solidFill>
            <a:schemeClr val="bg1">
              <a:alpha val="63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4965027" y="4593008"/>
            <a:ext cx="621960" cy="544517"/>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accent1"/>
          </a:solidFill>
          <a:ln w="1553" cap="flat">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6627131" y="4593008"/>
            <a:ext cx="577723" cy="54451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0" name="标题 1"/>
          <p:cNvSpPr txBox="1"/>
          <p:nvPr/>
        </p:nvSpPr>
        <p:spPr>
          <a:xfrm flipH="1" flipV="1">
            <a:off x="5814665" y="3202791"/>
            <a:ext cx="562671" cy="544518"/>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21" name="标题 1"/>
          <p:cNvCxnSpPr/>
          <p:nvPr/>
        </p:nvCxnSpPr>
        <p:spPr>
          <a:xfrm>
            <a:off x="271590" y="692965"/>
            <a:ext cx="1737509" cy="0"/>
          </a:xfrm>
          <a:prstGeom prst="line">
            <a:avLst/>
          </a:prstGeom>
          <a:noFill/>
          <a:ln w="12700" cap="sq">
            <a:solidFill>
              <a:schemeClr val="accent1"/>
            </a:solidFill>
            <a:miter/>
          </a:ln>
        </p:spPr>
      </p:cxnSp>
      <p:sp>
        <p:nvSpPr>
          <p:cNvPr id="22" name="标题 1"/>
          <p:cNvSpPr txBox="1"/>
          <p:nvPr/>
        </p:nvSpPr>
        <p:spPr>
          <a:xfrm>
            <a:off x="561150" y="194684"/>
            <a:ext cx="11214479" cy="432000"/>
          </a:xfrm>
          <a:prstGeom prst="rect">
            <a:avLst/>
          </a:prstGeom>
          <a:noFill/>
          <a:ln>
            <a:noFill/>
          </a:ln>
        </p:spPr>
        <p:txBody>
          <a:bodyPr vert="horz" wrap="square" lIns="0" tIns="0" rIns="0" bIns="0" rtlCol="0" anchor="ctr"/>
          <a:lstStyle/>
          <a:p>
            <a:pPr algn="l">
              <a:lnSpc>
                <a:spcPct val="12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实验心得与总结</a:t>
            </a:r>
            <a:endParaRPr kumimoji="1" lang="zh-CN" altLang="en-US"/>
          </a:p>
        </p:txBody>
      </p:sp>
      <p:cxnSp>
        <p:nvCxnSpPr>
          <p:cNvPr id="23" name="标题 1"/>
          <p:cNvCxnSpPr/>
          <p:nvPr/>
        </p:nvCxnSpPr>
        <p:spPr>
          <a:xfrm rot="16200000">
            <a:off x="233490" y="642165"/>
            <a:ext cx="404009" cy="0"/>
          </a:xfrm>
          <a:prstGeom prst="line">
            <a:avLst/>
          </a:prstGeom>
          <a:noFill/>
          <a:ln w="12700" cap="sq">
            <a:solidFill>
              <a:schemeClr val="accent1"/>
            </a:solidFill>
            <a:miter/>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3600000">
            <a:off x="527817" y="-3353534"/>
            <a:ext cx="11380303" cy="13987582"/>
          </a:xfrm>
          <a:custGeom>
            <a:avLst/>
            <a:gdLst>
              <a:gd name="connsiteX0" fmla="*/ 10465903 w 11380303"/>
              <a:gd name="connsiteY0" fmla="*/ 2852854 h 13987582"/>
              <a:gd name="connsiteX1" fmla="*/ 11380303 w 11380303"/>
              <a:gd name="connsiteY1" fmla="*/ 3380783 h 13987582"/>
              <a:gd name="connsiteX2" fmla="*/ 11380303 w 11380303"/>
              <a:gd name="connsiteY2" fmla="*/ 3573646 h 13987582"/>
              <a:gd name="connsiteX3" fmla="*/ 10465903 w 11380303"/>
              <a:gd name="connsiteY3" fmla="*/ 5157432 h 13987582"/>
              <a:gd name="connsiteX4" fmla="*/ 9157665 w 11380303"/>
              <a:gd name="connsiteY4" fmla="*/ 2097544 h 13987582"/>
              <a:gd name="connsiteX5" fmla="*/ 10072065 w 11380303"/>
              <a:gd name="connsiteY5" fmla="*/ 2625472 h 13987582"/>
              <a:gd name="connsiteX6" fmla="*/ 10072065 w 11380303"/>
              <a:gd name="connsiteY6" fmla="*/ 5839581 h 13987582"/>
              <a:gd name="connsiteX7" fmla="*/ 9157665 w 11380303"/>
              <a:gd name="connsiteY7" fmla="*/ 7423368 h 13987582"/>
              <a:gd name="connsiteX8" fmla="*/ 7849428 w 11380303"/>
              <a:gd name="connsiteY8" fmla="*/ 1342232 h 13987582"/>
              <a:gd name="connsiteX9" fmla="*/ 8763828 w 11380303"/>
              <a:gd name="connsiteY9" fmla="*/ 1870161 h 13987582"/>
              <a:gd name="connsiteX10" fmla="*/ 8763829 w 11380303"/>
              <a:gd name="connsiteY10" fmla="*/ 8105512 h 13987582"/>
              <a:gd name="connsiteX11" fmla="*/ 7849428 w 11380303"/>
              <a:gd name="connsiteY11" fmla="*/ 9689300 h 13987582"/>
              <a:gd name="connsiteX12" fmla="*/ 6541190 w 11380303"/>
              <a:gd name="connsiteY12" fmla="*/ 586920 h 13987582"/>
              <a:gd name="connsiteX13" fmla="*/ 7455591 w 11380303"/>
              <a:gd name="connsiteY13" fmla="*/ 1114850 h 13987582"/>
              <a:gd name="connsiteX14" fmla="*/ 7455591 w 11380303"/>
              <a:gd name="connsiteY14" fmla="*/ 10371449 h 13987582"/>
              <a:gd name="connsiteX15" fmla="*/ 6541190 w 11380303"/>
              <a:gd name="connsiteY15" fmla="*/ 11955237 h 13987582"/>
              <a:gd name="connsiteX16" fmla="*/ 0 w 11380303"/>
              <a:gd name="connsiteY16" fmla="*/ 9568913 h 13987582"/>
              <a:gd name="connsiteX17" fmla="*/ 914400 w 11380303"/>
              <a:gd name="connsiteY17" fmla="*/ 7985127 h 13987582"/>
              <a:gd name="connsiteX18" fmla="*/ 914400 w 11380303"/>
              <a:gd name="connsiteY18" fmla="*/ 11416400 h 13987582"/>
              <a:gd name="connsiteX19" fmla="*/ 0 w 11380303"/>
              <a:gd name="connsiteY19" fmla="*/ 10888471 h 13987582"/>
              <a:gd name="connsiteX20" fmla="*/ 5232952 w 11380303"/>
              <a:gd name="connsiteY20" fmla="*/ 505173 h 13987582"/>
              <a:gd name="connsiteX21" fmla="*/ 5524614 w 11380303"/>
              <a:gd name="connsiteY21" fmla="*/ 0 h 13987582"/>
              <a:gd name="connsiteX22" fmla="*/ 6147351 w 11380303"/>
              <a:gd name="connsiteY22" fmla="*/ 359538 h 13987582"/>
              <a:gd name="connsiteX23" fmla="*/ 6147352 w 11380303"/>
              <a:gd name="connsiteY23" fmla="*/ 12637385 h 13987582"/>
              <a:gd name="connsiteX24" fmla="*/ 5367816 w 11380303"/>
              <a:gd name="connsiteY24" fmla="*/ 13987582 h 13987582"/>
              <a:gd name="connsiteX25" fmla="*/ 5232952 w 11380303"/>
              <a:gd name="connsiteY25" fmla="*/ 13909717 h 13987582"/>
              <a:gd name="connsiteX26" fmla="*/ 4839112 w 11380303"/>
              <a:gd name="connsiteY26" fmla="*/ 1187322 h 13987582"/>
              <a:gd name="connsiteX27" fmla="*/ 4839113 w 11380303"/>
              <a:gd name="connsiteY27" fmla="*/ 13682335 h 13987582"/>
              <a:gd name="connsiteX28" fmla="*/ 3924713 w 11380303"/>
              <a:gd name="connsiteY28" fmla="*/ 13154406 h 13987582"/>
              <a:gd name="connsiteX29" fmla="*/ 3924712 w 11380303"/>
              <a:gd name="connsiteY29" fmla="*/ 2771111 h 13987582"/>
              <a:gd name="connsiteX30" fmla="*/ 1308236 w 11380303"/>
              <a:gd name="connsiteY30" fmla="*/ 7302979 h 13987582"/>
              <a:gd name="connsiteX31" fmla="*/ 2222635 w 11380303"/>
              <a:gd name="connsiteY31" fmla="*/ 5719193 h 13987582"/>
              <a:gd name="connsiteX32" fmla="*/ 2222637 w 11380303"/>
              <a:gd name="connsiteY32" fmla="*/ 12171711 h 13987582"/>
              <a:gd name="connsiteX33" fmla="*/ 1308236 w 11380303"/>
              <a:gd name="connsiteY33" fmla="*/ 11643781 h 13987582"/>
              <a:gd name="connsiteX34" fmla="*/ 2616474 w 11380303"/>
              <a:gd name="connsiteY34" fmla="*/ 5037042 h 13987582"/>
              <a:gd name="connsiteX35" fmla="*/ 3530874 w 11380303"/>
              <a:gd name="connsiteY35" fmla="*/ 3453256 h 13987582"/>
              <a:gd name="connsiteX36" fmla="*/ 3530875 w 11380303"/>
              <a:gd name="connsiteY36" fmla="*/ 12927022 h 13987582"/>
              <a:gd name="connsiteX37" fmla="*/ 2616475 w 11380303"/>
              <a:gd name="connsiteY37" fmla="*/ 12399093 h 13987582"/>
            </a:gdLst>
            <a:ahLst/>
            <a:cxnLst/>
            <a:rect l="l" t="t" r="r" b="b"/>
            <a:pathLst>
              <a:path w="11380303" h="13987582">
                <a:moveTo>
                  <a:pt x="10465903" y="2852854"/>
                </a:moveTo>
                <a:lnTo>
                  <a:pt x="11380303" y="3380783"/>
                </a:lnTo>
                <a:lnTo>
                  <a:pt x="11380303" y="3573646"/>
                </a:lnTo>
                <a:lnTo>
                  <a:pt x="10465903" y="5157432"/>
                </a:lnTo>
                <a:close/>
                <a:moveTo>
                  <a:pt x="9157665" y="2097544"/>
                </a:moveTo>
                <a:lnTo>
                  <a:pt x="10072065" y="2625472"/>
                </a:lnTo>
                <a:lnTo>
                  <a:pt x="10072065" y="5839581"/>
                </a:lnTo>
                <a:lnTo>
                  <a:pt x="9157665" y="7423368"/>
                </a:lnTo>
                <a:close/>
                <a:moveTo>
                  <a:pt x="7849428" y="1342232"/>
                </a:moveTo>
                <a:lnTo>
                  <a:pt x="8763828" y="1870161"/>
                </a:lnTo>
                <a:lnTo>
                  <a:pt x="8763829" y="8105512"/>
                </a:lnTo>
                <a:lnTo>
                  <a:pt x="7849428" y="9689300"/>
                </a:lnTo>
                <a:close/>
                <a:moveTo>
                  <a:pt x="6541190" y="586920"/>
                </a:moveTo>
                <a:lnTo>
                  <a:pt x="7455591" y="1114850"/>
                </a:lnTo>
                <a:lnTo>
                  <a:pt x="7455591" y="10371449"/>
                </a:lnTo>
                <a:lnTo>
                  <a:pt x="6541190" y="11955237"/>
                </a:lnTo>
                <a:close/>
                <a:moveTo>
                  <a:pt x="0" y="9568913"/>
                </a:moveTo>
                <a:lnTo>
                  <a:pt x="914400" y="7985127"/>
                </a:lnTo>
                <a:lnTo>
                  <a:pt x="914400" y="11416400"/>
                </a:lnTo>
                <a:lnTo>
                  <a:pt x="0" y="10888471"/>
                </a:lnTo>
                <a:close/>
                <a:moveTo>
                  <a:pt x="5232952" y="505173"/>
                </a:moveTo>
                <a:lnTo>
                  <a:pt x="5524614" y="0"/>
                </a:lnTo>
                <a:lnTo>
                  <a:pt x="6147351" y="359538"/>
                </a:lnTo>
                <a:lnTo>
                  <a:pt x="6147352" y="12637385"/>
                </a:lnTo>
                <a:lnTo>
                  <a:pt x="5367816" y="13987582"/>
                </a:lnTo>
                <a:lnTo>
                  <a:pt x="5232952" y="13909717"/>
                </a:lnTo>
                <a:close/>
                <a:moveTo>
                  <a:pt x="4839112" y="1187322"/>
                </a:moveTo>
                <a:lnTo>
                  <a:pt x="4839113" y="13682335"/>
                </a:lnTo>
                <a:lnTo>
                  <a:pt x="3924713" y="13154406"/>
                </a:lnTo>
                <a:lnTo>
                  <a:pt x="3924712" y="2771111"/>
                </a:lnTo>
                <a:close/>
                <a:moveTo>
                  <a:pt x="1308236" y="7302979"/>
                </a:moveTo>
                <a:lnTo>
                  <a:pt x="2222635" y="5719193"/>
                </a:lnTo>
                <a:lnTo>
                  <a:pt x="2222637" y="12171711"/>
                </a:lnTo>
                <a:lnTo>
                  <a:pt x="1308236" y="11643781"/>
                </a:lnTo>
                <a:close/>
                <a:moveTo>
                  <a:pt x="2616474" y="5037042"/>
                </a:moveTo>
                <a:lnTo>
                  <a:pt x="3530874" y="3453256"/>
                </a:lnTo>
                <a:lnTo>
                  <a:pt x="3530875" y="12927022"/>
                </a:lnTo>
                <a:lnTo>
                  <a:pt x="2616475" y="12399093"/>
                </a:lnTo>
                <a:close/>
              </a:path>
            </a:pathLst>
          </a:custGeom>
          <a:gradFill>
            <a:gsLst>
              <a:gs pos="0">
                <a:schemeClr val="accent2">
                  <a:lumMod val="60000"/>
                  <a:lumOff val="40000"/>
                  <a:alpha val="31000"/>
                </a:schemeClr>
              </a:gs>
              <a:gs pos="99000">
                <a:schemeClr val="accent2">
                  <a:lumMod val="20000"/>
                  <a:lumOff val="80000"/>
                  <a:alpha val="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652665" y="980729"/>
            <a:ext cx="8944824" cy="4683786"/>
          </a:xfrm>
          <a:prstGeom prst="roundRect">
            <a:avLst>
              <a:gd name="adj" fmla="val 5739"/>
            </a:avLst>
          </a:prstGeom>
          <a:gradFill>
            <a:gsLst>
              <a:gs pos="0">
                <a:schemeClr val="accent1">
                  <a:lumMod val="20000"/>
                  <a:lumOff val="80000"/>
                </a:schemeClr>
              </a:gs>
              <a:gs pos="99000">
                <a:schemeClr val="bg1"/>
              </a:gs>
            </a:gsLst>
            <a:lin ang="16200000" scaled="0"/>
          </a:gradFill>
          <a:ln w="57150" cap="sq">
            <a:solidFill>
              <a:schemeClr val="accent1">
                <a:lumMod val="20000"/>
                <a:lumOff val="80000"/>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33743" y="6228784"/>
            <a:ext cx="4309449" cy="407406"/>
          </a:xfrm>
          <a:prstGeom prst="ellipse">
            <a:avLst/>
          </a:prstGeom>
          <a:gradFill>
            <a:gsLst>
              <a:gs pos="0">
                <a:schemeClr val="accent2">
                  <a:lumMod val="60000"/>
                  <a:lumOff val="40000"/>
                  <a:alpha val="60000"/>
                </a:schemeClr>
              </a:gs>
              <a:gs pos="99000">
                <a:schemeClr val="accent2">
                  <a:lumMod val="20000"/>
                  <a:lumOff val="80000"/>
                </a:schemeClr>
              </a:gs>
            </a:gsLst>
            <a:lin ang="162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40004" y="615863"/>
            <a:ext cx="4267200" cy="5341318"/>
          </a:xfrm>
          <a:prstGeom prst="round2SameRect">
            <a:avLst>
              <a:gd name="adj1" fmla="val 50000"/>
              <a:gd name="adj2" fmla="val 0"/>
            </a:avLst>
          </a:prstGeom>
          <a:solidFill>
            <a:schemeClr val="accent1">
              <a:lumMod val="40000"/>
              <a:lumOff val="60000"/>
            </a:schemeClr>
          </a:solidFill>
          <a:ln w="571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1">
            <a:alphaModFix amt="100000"/>
          </a:blip>
          <a:srcRect/>
          <a:stretch>
            <a:fillRect/>
          </a:stretch>
        </p:blipFill>
        <p:spPr>
          <a:xfrm flipH="1">
            <a:off x="3953264" y="540859"/>
            <a:ext cx="1352661" cy="1357294"/>
          </a:xfrm>
          <a:prstGeom prst="rect">
            <a:avLst/>
          </a:prstGeom>
          <a:noFill/>
          <a:ln>
            <a:noFill/>
          </a:ln>
        </p:spPr>
      </p:pic>
      <p:pic>
        <p:nvPicPr>
          <p:cNvPr id="8" name="图片 7"/>
          <p:cNvPicPr>
            <a:picLocks noChangeAspect="1"/>
          </p:cNvPicPr>
          <p:nvPr/>
        </p:nvPicPr>
        <p:blipFill>
          <a:blip r:embed="rId2">
            <a:alphaModFix amt="100000"/>
          </a:blip>
          <a:srcRect/>
          <a:stretch>
            <a:fillRect/>
          </a:stretch>
        </p:blipFill>
        <p:spPr>
          <a:xfrm>
            <a:off x="335797" y="264246"/>
            <a:ext cx="1037471" cy="904862"/>
          </a:xfrm>
          <a:prstGeom prst="rect">
            <a:avLst/>
          </a:prstGeom>
          <a:noFill/>
          <a:ln>
            <a:noFill/>
          </a:ln>
        </p:spPr>
      </p:pic>
      <p:sp>
        <p:nvSpPr>
          <p:cNvPr id="9" name="标题 1"/>
          <p:cNvSpPr txBox="1"/>
          <p:nvPr/>
        </p:nvSpPr>
        <p:spPr>
          <a:xfrm flipH="1">
            <a:off x="9442688" y="770747"/>
            <a:ext cx="2178864" cy="475726"/>
          </a:xfrm>
          <a:prstGeom prst="roundRect">
            <a:avLst>
              <a:gd name="adj" fmla="val 50000"/>
            </a:avLst>
          </a:prstGeom>
          <a:solidFill>
            <a:schemeClr val="accent2">
              <a:lumMod val="60000"/>
              <a:lumOff val="40000"/>
            </a:schemeClr>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409204" y="1552549"/>
            <a:ext cx="2897902" cy="1209066"/>
          </a:xfrm>
          <a:prstGeom prst="rect">
            <a:avLst/>
          </a:prstGeom>
          <a:noFill/>
          <a:ln>
            <a:noFill/>
          </a:ln>
          <a:effectLst/>
        </p:spPr>
        <p:txBody>
          <a:bodyPr vert="horz" wrap="square" lIns="0" tIns="0" rIns="0" bIns="0" rtlCol="0" anchor="t"/>
          <a:lstStyle/>
          <a:p>
            <a:pPr algn="l">
              <a:lnSpc>
                <a:spcPct val="110000"/>
              </a:lnSpc>
            </a:pPr>
            <a:r>
              <a:rPr kumimoji="1" lang="en-US" altLang="zh-CN" sz="8000">
                <a:ln w="15875">
                  <a:solidFill>
                    <a:srgbClr val="000000">
                      <a:alpha val="100000"/>
                    </a:srgbClr>
                  </a:solidFill>
                </a:ln>
                <a:noFill/>
                <a:latin typeface="Source Han Sans CN Bold" panose="020B0800000000000000" charset="-122"/>
                <a:ea typeface="Source Han Sans CN Bold" panose="020B0800000000000000" charset="-122"/>
                <a:cs typeface="Source Han Sans CN Bold" panose="020B0800000000000000" charset="-122"/>
              </a:rPr>
              <a:t>2025</a:t>
            </a:r>
            <a:endParaRPr kumimoji="1" lang="zh-CN" altLang="en-US"/>
          </a:p>
        </p:txBody>
      </p:sp>
      <p:pic>
        <p:nvPicPr>
          <p:cNvPr id="12" name="图片 11"/>
          <p:cNvPicPr>
            <a:picLocks noChangeAspect="1"/>
          </p:cNvPicPr>
          <p:nvPr/>
        </p:nvPicPr>
        <p:blipFill>
          <a:blip r:embed="rId3">
            <a:alphaModFix amt="100000"/>
          </a:blip>
          <a:srcRect/>
          <a:stretch>
            <a:fillRect/>
          </a:stretch>
        </p:blipFill>
        <p:spPr>
          <a:xfrm flipH="1">
            <a:off x="12032" y="850264"/>
            <a:ext cx="4871414" cy="5370062"/>
          </a:xfrm>
          <a:prstGeom prst="rect">
            <a:avLst/>
          </a:prstGeom>
          <a:noFill/>
          <a:ln>
            <a:noFill/>
          </a:ln>
        </p:spPr>
      </p:pic>
      <p:sp>
        <p:nvSpPr>
          <p:cNvPr id="13" name="标题 1"/>
          <p:cNvSpPr txBox="1"/>
          <p:nvPr/>
        </p:nvSpPr>
        <p:spPr>
          <a:xfrm rot="1581393">
            <a:off x="8048280" y="1871912"/>
            <a:ext cx="806854" cy="780591"/>
          </a:xfrm>
          <a:prstGeom prst="arc">
            <a:avLst>
              <a:gd name="adj1" fmla="val 12631904"/>
              <a:gd name="adj2" fmla="val 20163465"/>
            </a:avLst>
          </a:prstGeom>
          <a:noFill/>
          <a:ln w="12700" cap="flat">
            <a:solidFill>
              <a:schemeClr val="tx1"/>
            </a:solidFill>
            <a:miter/>
            <a:headEnd type="triangle" w="lg" len="lg"/>
            <a:tailEnd type="oval"/>
          </a:ln>
          <a:effectLst/>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rot="183283">
            <a:off x="4389178" y="4627531"/>
            <a:ext cx="4900396" cy="411316"/>
          </a:xfrm>
          <a:prstGeom prst="roundRect">
            <a:avLst/>
          </a:prstGeom>
          <a:solidFill>
            <a:schemeClr val="accent1"/>
          </a:solidFill>
          <a:ln w="12700" cap="sq">
            <a:solidFill>
              <a:schemeClr val="accent1"/>
            </a:solidFill>
            <a:miter/>
          </a:ln>
          <a:effectLst>
            <a:outerShdw blurRad="190500" dist="127000" dir="2700000" algn="tr"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5" name="标题 1"/>
          <p:cNvSpPr txBox="1"/>
          <p:nvPr/>
        </p:nvSpPr>
        <p:spPr>
          <a:xfrm>
            <a:off x="4383314" y="4416525"/>
            <a:ext cx="5092326" cy="564296"/>
          </a:xfrm>
          <a:prstGeom prst="roundRect">
            <a:avLst/>
          </a:prstGeom>
          <a:solidFill>
            <a:schemeClr val="bg1"/>
          </a:solidFill>
          <a:ln w="12700" cap="sq">
            <a:solidFill>
              <a:schemeClr val="accent1"/>
            </a:solidFill>
            <a:miter/>
          </a:ln>
          <a:effectLst>
            <a:outerShdw blurRad="190500" dist="127000" dir="2700000" algn="tr"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a:off x="5881222" y="4496745"/>
            <a:ext cx="1668786" cy="424877"/>
          </a:xfrm>
          <a:prstGeom prst="roundRect">
            <a:avLst/>
          </a:prstGeom>
          <a:noFill/>
          <a:ln w="15875" cap="sq">
            <a:noFill/>
          </a:ln>
          <a:effectLst/>
        </p:spPr>
        <p:txBody>
          <a:bodyPr vert="horz" wrap="square" lIns="0" tIns="0" rIns="0" bIns="0" rtlCol="0" anchor="ctr"/>
          <a:lstStyle/>
          <a:p>
            <a:pPr algn="l">
              <a:lnSpc>
                <a:spcPct val="100000"/>
              </a:lnSpc>
            </a:pPr>
            <a:r>
              <a:rPr kumimoji="1" lang="zh-CN" altLang="en-US"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汇报</a:t>
            </a: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人：</a:t>
            </a:r>
            <a:r>
              <a:rPr kumimoji="1" lang="zh-CN" altLang="en-US"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杨韩冰</a:t>
            </a:r>
            <a:endParaRPr kumimoji="1" lang="zh-CN" altLang="en-US"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endParaRPr>
          </a:p>
        </p:txBody>
      </p:sp>
      <p:sp>
        <p:nvSpPr>
          <p:cNvPr id="17" name="标题 1"/>
          <p:cNvSpPr txBox="1"/>
          <p:nvPr/>
        </p:nvSpPr>
        <p:spPr>
          <a:xfrm>
            <a:off x="5447453" y="4531341"/>
            <a:ext cx="286624" cy="310482"/>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accent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8" name="标题 1"/>
          <p:cNvSpPr txBox="1"/>
          <p:nvPr/>
        </p:nvSpPr>
        <p:spPr>
          <a:xfrm>
            <a:off x="7545856" y="4558193"/>
            <a:ext cx="270197" cy="280961"/>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9" name="标题 1"/>
          <p:cNvSpPr txBox="1"/>
          <p:nvPr/>
        </p:nvSpPr>
        <p:spPr>
          <a:xfrm>
            <a:off x="7942854" y="4496745"/>
            <a:ext cx="1630475" cy="424877"/>
          </a:xfrm>
          <a:prstGeom prst="roundRect">
            <a:avLst/>
          </a:prstGeom>
          <a:noFill/>
          <a:ln w="15875" cap="sq">
            <a:noFill/>
          </a:ln>
          <a:effectLst/>
        </p:spPr>
        <p:txBody>
          <a:bodyPr vert="horz" wrap="square" lIns="0" tIns="0" rIns="0" bIns="0" rtlCol="0" anchor="ctr"/>
          <a:lstStyle/>
          <a:p>
            <a:pPr algn="l">
              <a:lnSpc>
                <a:spcPct val="100000"/>
              </a:lnSpc>
            </a:pPr>
            <a:r>
              <a:rPr kumimoji="1" lang="en-US" altLang="zh-CN" sz="15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时间：2025.4.11</a:t>
            </a:r>
            <a:endParaRPr kumimoji="1" lang="zh-CN" altLang="en-US"/>
          </a:p>
        </p:txBody>
      </p:sp>
      <p:sp>
        <p:nvSpPr>
          <p:cNvPr id="20" name="标题 1"/>
          <p:cNvSpPr txBox="1"/>
          <p:nvPr/>
        </p:nvSpPr>
        <p:spPr>
          <a:xfrm>
            <a:off x="4644189" y="4644531"/>
            <a:ext cx="108285" cy="108285"/>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1" name="图片 20"/>
          <p:cNvPicPr>
            <a:picLocks noChangeAspect="1"/>
          </p:cNvPicPr>
          <p:nvPr/>
        </p:nvPicPr>
        <p:blipFill>
          <a:blip r:embed="rId4">
            <a:alphaModFix amt="100000"/>
          </a:blip>
          <a:srcRect/>
          <a:stretch>
            <a:fillRect/>
          </a:stretch>
        </p:blipFill>
        <p:spPr>
          <a:xfrm>
            <a:off x="9947260" y="4260843"/>
            <a:ext cx="1828959" cy="1426588"/>
          </a:xfrm>
          <a:prstGeom prst="rect">
            <a:avLst/>
          </a:prstGeom>
          <a:noFill/>
          <a:ln>
            <a:noFill/>
          </a:ln>
        </p:spPr>
      </p:pic>
      <p:pic>
        <p:nvPicPr>
          <p:cNvPr id="22" name="图片 21"/>
          <p:cNvPicPr>
            <a:picLocks noChangeAspect="1"/>
          </p:cNvPicPr>
          <p:nvPr/>
        </p:nvPicPr>
        <p:blipFill>
          <a:blip r:embed="rId5">
            <a:alphaModFix amt="100000"/>
          </a:blip>
          <a:srcRect/>
          <a:stretch>
            <a:fillRect/>
          </a:stretch>
        </p:blipFill>
        <p:spPr>
          <a:xfrm>
            <a:off x="10525108" y="5221064"/>
            <a:ext cx="1280271" cy="701101"/>
          </a:xfrm>
          <a:prstGeom prst="rect">
            <a:avLst/>
          </a:prstGeom>
          <a:noFill/>
          <a:ln>
            <a:noFill/>
          </a:ln>
        </p:spPr>
      </p:pic>
      <p:sp>
        <p:nvSpPr>
          <p:cNvPr id="23" name="标题 1"/>
          <p:cNvSpPr txBox="1"/>
          <p:nvPr/>
        </p:nvSpPr>
        <p:spPr>
          <a:xfrm>
            <a:off x="5417009" y="2370376"/>
            <a:ext cx="5707276" cy="2070676"/>
          </a:xfrm>
          <a:prstGeom prst="rect">
            <a:avLst/>
          </a:prstGeom>
          <a:noFill/>
          <a:ln>
            <a:noFill/>
          </a:ln>
        </p:spPr>
        <p:txBody>
          <a:bodyPr vert="horz" wrap="square" lIns="0" tIns="0" rIns="0" bIns="0" rtlCol="0" anchor="ctr"/>
          <a:lstStyle/>
          <a:p>
            <a:pPr algn="l">
              <a:lnSpc>
                <a:spcPct val="130000"/>
              </a:lnSpc>
            </a:pPr>
            <a:r>
              <a:rPr kumimoji="1" lang="en-US" altLang="zh-CN" sz="490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谢谢大家</a:t>
            </a:r>
            <a:endParaRPr kumimoji="1" lang="zh-CN" altLang="en-US"/>
          </a:p>
        </p:txBody>
      </p:sp>
    </p:spTree>
  </p:cSld>
  <p:clrMapOvr>
    <a:masterClrMapping/>
  </p:clrMapOvr>
</p:sld>
</file>

<file path=ppt/tags/tag1.xml><?xml version="1.0" encoding="utf-8"?>
<p:tagLst xmlns:p="http://schemas.openxmlformats.org/presentationml/2006/main">
  <p:tag name="KSO_WM_UNIT_PLACING_PICTURE_USER_VIEWPORT" val="{&quot;height&quot;:1011,&quot;width&quot;:4808}"/>
</p:tagLst>
</file>

<file path=ppt/tags/tag2.xml><?xml version="1.0" encoding="utf-8"?>
<p:tagLst xmlns:p="http://schemas.openxmlformats.org/presentationml/2006/main">
  <p:tag name="KSO_WM_UNIT_PLACING_PICTURE_USER_VIEWPORT" val="{&quot;height&quot;:3073,&quot;width&quot;:9029}"/>
</p:tagLst>
</file>

<file path=ppt/tags/tag3.xml><?xml version="1.0" encoding="utf-8"?>
<p:tagLst xmlns:p="http://schemas.openxmlformats.org/presentationml/2006/main">
  <p:tag name="KSO_WM_UNIT_PLACING_PICTURE_USER_VIEWPORT" val="{&quot;height&quot;:812,&quot;width&quot;:8685}"/>
</p:tagLst>
</file>

<file path=ppt/tags/tag4.xml><?xml version="1.0" encoding="utf-8"?>
<p:tagLst xmlns:p="http://schemas.openxmlformats.org/presentationml/2006/main">
  <p:tag name="KSO_WM_MEDIACOVER_FLAG" val="1"/>
  <p:tag name="KSO_WM_UNIT_MEDIACOVER_BTN_STATE" val="1"/>
  <p:tag name="KSO_WM_UNIT_MEDIACOVER_BTNRECT" val="2758*1939*462*462"/>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5.xml><?xml version="1.0" encoding="utf-8"?>
<p:tagLst xmlns:p="http://schemas.openxmlformats.org/presentationml/2006/main">
  <p:tag name="KSO_WM_MEDIACOVER_FLAG" val="1"/>
  <p:tag name="KSO_WM_UNIT_MEDIACOVER_BTN_STATE" val="1"/>
  <p:tag name="KSO_WM_UNIT_MEDIACOVER_BTNRECT" val="2968*2168*462*462"/>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6.xml><?xml version="1.0" encoding="utf-8"?>
<p:tagLst xmlns:p="http://schemas.openxmlformats.org/presentationml/2006/main">
  <p:tag name="KSO_WPP_MARK_KEY" val="c05ff3e9-0b0e-4b95-98dd-fecbc6d99abf"/>
  <p:tag name="COMMONDATA" val="eyJoZGlkIjoiYmI3YWU5ODM1NzcyZWM5NWJjYjI2YjA1YmE3NmRkZGUifQ=="/>
</p:tagLst>
</file>

<file path=ppt/theme/theme1.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Office 主题​​">
  <a:themeElements>
    <a:clrScheme name="Office">
      <a:dk1>
        <a:srgbClr val="000000"/>
      </a:dk1>
      <a:lt1>
        <a:srgbClr val="FFFFFF"/>
      </a:lt1>
      <a:dk2>
        <a:srgbClr val="0E2841"/>
      </a:dk2>
      <a:lt2>
        <a:srgbClr val="E8E8E8"/>
      </a:lt2>
      <a:accent1>
        <a:srgbClr val="F4B002"/>
      </a:accent1>
      <a:accent2>
        <a:srgbClr val="F03070"/>
      </a:accent2>
      <a:accent3>
        <a:srgbClr val="0267C2"/>
      </a:accent3>
      <a:accent4>
        <a:srgbClr val="F03070"/>
      </a:accent4>
      <a:accent5>
        <a:srgbClr val="F4B002"/>
      </a:accent5>
      <a:accent6>
        <a:srgbClr val="0267C2"/>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4678</Words>
  <Application>WPS 演示</Application>
  <PresentationFormat/>
  <Paragraphs>268</Paragraphs>
  <Slides>24</Slides>
  <Notes>0</Notes>
  <HiddenSlides>0</HiddenSlides>
  <MMClips>0</MMClips>
  <ScaleCrop>false</ScaleCrop>
  <HeadingPairs>
    <vt:vector size="6" baseType="variant">
      <vt:variant>
        <vt:lpstr>已用的字体</vt:lpstr>
      </vt:variant>
      <vt:variant>
        <vt:i4>23</vt:i4>
      </vt:variant>
      <vt:variant>
        <vt:lpstr>主题</vt:lpstr>
      </vt:variant>
      <vt:variant>
        <vt:i4>12</vt:i4>
      </vt:variant>
      <vt:variant>
        <vt:lpstr>幻灯片标题</vt:lpstr>
      </vt:variant>
      <vt:variant>
        <vt:i4>24</vt:i4>
      </vt:variant>
    </vt:vector>
  </HeadingPairs>
  <TitlesOfParts>
    <vt:vector size="59" baseType="lpstr">
      <vt:lpstr>Arial</vt:lpstr>
      <vt:lpstr>宋体</vt:lpstr>
      <vt:lpstr>Wingdings</vt:lpstr>
      <vt:lpstr>Source Han Sans CN Bold</vt:lpstr>
      <vt:lpstr>Source Han Sans</vt:lpstr>
      <vt:lpstr>OPPOSans R</vt:lpstr>
      <vt:lpstr>OPPOSans H</vt:lpstr>
      <vt:lpstr>OPPOSans L</vt:lpstr>
      <vt:lpstr>OPPOSans B</vt:lpstr>
      <vt:lpstr>等线</vt:lpstr>
      <vt:lpstr>微软雅黑</vt:lpstr>
      <vt:lpstr>Arial Unicode MS</vt:lpstr>
      <vt:lpstr>Calibri</vt:lpstr>
      <vt:lpstr>等线 Light</vt:lpstr>
      <vt:lpstr>华文中宋</vt:lpstr>
      <vt:lpstr>仿宋</vt:lpstr>
      <vt:lpstr>华文彩云</vt:lpstr>
      <vt:lpstr>华文新魏</vt:lpstr>
      <vt:lpstr>华文琥珀</vt:lpstr>
      <vt:lpstr>华文楷体</vt:lpstr>
      <vt:lpstr>华文仿宋</vt:lpstr>
      <vt:lpstr>Wingdings</vt:lpstr>
      <vt:lpstr>Times New Roman</vt:lpstr>
      <vt:lpstr>Office 主题​​</vt:lpstr>
      <vt:lpstr>1_Office 主题​​</vt:lpstr>
      <vt:lpstr>2_Office 主题​​</vt:lpstr>
      <vt:lpstr>4_Office 主题​​</vt:lpstr>
      <vt:lpstr>5_Office 主题​​</vt:lpstr>
      <vt:lpstr>6_Office 主题​​</vt:lpstr>
      <vt:lpstr>7_Office 主题​​</vt:lpstr>
      <vt:lpstr>8_Office 主题​​</vt:lpstr>
      <vt:lpstr>3_Office 主题​​</vt:lpstr>
      <vt:lpstr>9_Office 主题​​</vt:lpstr>
      <vt:lpstr>10_Office 主题​​</vt:lpstr>
      <vt:lpstr>11_Office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MoMaek</cp:lastModifiedBy>
  <cp:revision>1</cp:revision>
  <dcterms:created xsi:type="dcterms:W3CDTF">2025-04-02T13:08:15Z</dcterms:created>
  <dcterms:modified xsi:type="dcterms:W3CDTF">2025-04-02T13:08:22Z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96A21FE70B464B8E84E5E257505B1037</vt:lpwstr>
  </property>
  <property fmtid="{D5CDD505-2E9C-101B-9397-08002B2CF9AE}" pid="3" name="KSOProductBuildVer">
    <vt:lpwstr>2052-11.1.0.12165</vt:lpwstr>
  </property>
</Properties>
</file>