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re Sugar" charset="1" panose="00000000000000000000"/>
      <p:regular r:id="rId17"/>
    </p:embeddedFont>
    <p:embeddedFont>
      <p:font typeface="Quicksand" charset="1" panose="00000000000000000000"/>
      <p:regular r:id="rId18"/>
    </p:embeddedFont>
    <p:embeddedFont>
      <p:font typeface="Quicksand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5.png" Type="http://schemas.openxmlformats.org/officeDocument/2006/relationships/image"/><Relationship Id="rId4" Target="../media/image6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62060" y="4695577"/>
            <a:ext cx="7581519" cy="8229600"/>
          </a:xfrm>
          <a:custGeom>
            <a:avLst/>
            <a:gdLst/>
            <a:ahLst/>
            <a:cxnLst/>
            <a:rect r="r" b="b" t="t" l="l"/>
            <a:pathLst>
              <a:path h="8229600" w="7581519">
                <a:moveTo>
                  <a:pt x="0" y="0"/>
                </a:moveTo>
                <a:lnTo>
                  <a:pt x="7581520" y="0"/>
                </a:lnTo>
                <a:lnTo>
                  <a:pt x="75815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2481" y="-4809539"/>
            <a:ext cx="7581519" cy="8229600"/>
          </a:xfrm>
          <a:custGeom>
            <a:avLst/>
            <a:gdLst/>
            <a:ahLst/>
            <a:cxnLst/>
            <a:rect r="r" b="b" t="t" l="l"/>
            <a:pathLst>
              <a:path h="8229600" w="7581519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1028700"/>
            <a:ext cx="9589576" cy="8229600"/>
          </a:xfrm>
          <a:custGeom>
            <a:avLst/>
            <a:gdLst/>
            <a:ahLst/>
            <a:cxnLst/>
            <a:rect r="r" b="b" t="t" l="l"/>
            <a:pathLst>
              <a:path h="8229600" w="9589576">
                <a:moveTo>
                  <a:pt x="0" y="0"/>
                </a:moveTo>
                <a:lnTo>
                  <a:pt x="9589576" y="0"/>
                </a:lnTo>
                <a:lnTo>
                  <a:pt x="958957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84567" y="-3534023"/>
            <a:ext cx="7581519" cy="8229600"/>
          </a:xfrm>
          <a:custGeom>
            <a:avLst/>
            <a:gdLst/>
            <a:ahLst/>
            <a:cxnLst/>
            <a:rect r="r" b="b" t="t" l="l"/>
            <a:pathLst>
              <a:path h="8229600" w="7581519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84741">
            <a:off x="8618816" y="5143500"/>
            <a:ext cx="7581519" cy="8229600"/>
          </a:xfrm>
          <a:custGeom>
            <a:avLst/>
            <a:gdLst/>
            <a:ahLst/>
            <a:cxnLst/>
            <a:rect r="r" b="b" t="t" l="l"/>
            <a:pathLst>
              <a:path h="8229600" w="7581519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524924" y="7526844"/>
            <a:ext cx="6053606" cy="927914"/>
            <a:chOff x="0" y="0"/>
            <a:chExt cx="1594365" cy="2443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94365" cy="244389"/>
            </a:xfrm>
            <a:custGeom>
              <a:avLst/>
              <a:gdLst/>
              <a:ahLst/>
              <a:cxnLst/>
              <a:rect r="r" b="b" t="t" l="l"/>
              <a:pathLst>
                <a:path h="244389" w="1594365">
                  <a:moveTo>
                    <a:pt x="35809" y="0"/>
                  </a:moveTo>
                  <a:lnTo>
                    <a:pt x="1558556" y="0"/>
                  </a:lnTo>
                  <a:cubicBezTo>
                    <a:pt x="1568053" y="0"/>
                    <a:pt x="1577162" y="3773"/>
                    <a:pt x="1583877" y="10488"/>
                  </a:cubicBezTo>
                  <a:cubicBezTo>
                    <a:pt x="1590593" y="17204"/>
                    <a:pt x="1594365" y="26312"/>
                    <a:pt x="1594365" y="35809"/>
                  </a:cubicBezTo>
                  <a:lnTo>
                    <a:pt x="1594365" y="208580"/>
                  </a:lnTo>
                  <a:cubicBezTo>
                    <a:pt x="1594365" y="218077"/>
                    <a:pt x="1590593" y="227185"/>
                    <a:pt x="1583877" y="233901"/>
                  </a:cubicBezTo>
                  <a:cubicBezTo>
                    <a:pt x="1577162" y="240616"/>
                    <a:pt x="1568053" y="244389"/>
                    <a:pt x="1558556" y="244389"/>
                  </a:cubicBezTo>
                  <a:lnTo>
                    <a:pt x="35809" y="244389"/>
                  </a:lnTo>
                  <a:cubicBezTo>
                    <a:pt x="26312" y="244389"/>
                    <a:pt x="17204" y="240616"/>
                    <a:pt x="10488" y="233901"/>
                  </a:cubicBezTo>
                  <a:cubicBezTo>
                    <a:pt x="3773" y="227185"/>
                    <a:pt x="0" y="218077"/>
                    <a:pt x="0" y="208580"/>
                  </a:cubicBezTo>
                  <a:lnTo>
                    <a:pt x="0" y="35809"/>
                  </a:lnTo>
                  <a:cubicBezTo>
                    <a:pt x="0" y="26312"/>
                    <a:pt x="3773" y="17204"/>
                    <a:pt x="10488" y="10488"/>
                  </a:cubicBezTo>
                  <a:cubicBezTo>
                    <a:pt x="17204" y="3773"/>
                    <a:pt x="26312" y="0"/>
                    <a:pt x="35809" y="0"/>
                  </a:cubicBez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594365" cy="301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12685" y="2464957"/>
            <a:ext cx="8546615" cy="109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04"/>
              </a:lnSpc>
            </a:pPr>
            <a:r>
              <a:rPr lang="en-US" sz="8425">
                <a:solidFill>
                  <a:srgbClr val="1B1A17"/>
                </a:solidFill>
                <a:latin typeface="More Sugar"/>
                <a:ea typeface="More Sugar"/>
                <a:cs typeface="More Sugar"/>
                <a:sym typeface="More Sugar"/>
              </a:rPr>
              <a:t>实验三：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09834" y="4686052"/>
            <a:ext cx="6349466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60"/>
              </a:lnSpc>
            </a:pPr>
            <a:r>
              <a:rPr lang="en-US" sz="30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Strategies for Academic Success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98365" y="7757314"/>
            <a:ext cx="5706724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</a:pPr>
            <a:r>
              <a:rPr lang="en-US" b="true" sz="3000" spc="-6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Presentated by Estelle Darcy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67463" y="823367"/>
            <a:ext cx="7130461" cy="7456692"/>
          </a:xfrm>
          <a:custGeom>
            <a:avLst/>
            <a:gdLst/>
            <a:ahLst/>
            <a:cxnLst/>
            <a:rect r="r" b="b" t="t" l="l"/>
            <a:pathLst>
              <a:path h="7456692" w="7130461">
                <a:moveTo>
                  <a:pt x="0" y="0"/>
                </a:moveTo>
                <a:lnTo>
                  <a:pt x="7130462" y="0"/>
                </a:lnTo>
                <a:lnTo>
                  <a:pt x="7130462" y="7456691"/>
                </a:lnTo>
                <a:lnTo>
                  <a:pt x="0" y="74566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95186" y="5143500"/>
            <a:ext cx="8658970" cy="9187236"/>
          </a:xfrm>
          <a:custGeom>
            <a:avLst/>
            <a:gdLst/>
            <a:ahLst/>
            <a:cxnLst/>
            <a:rect r="r" b="b" t="t" l="l"/>
            <a:pathLst>
              <a:path h="9187236" w="8658970">
                <a:moveTo>
                  <a:pt x="0" y="0"/>
                </a:moveTo>
                <a:lnTo>
                  <a:pt x="8658970" y="0"/>
                </a:lnTo>
                <a:lnTo>
                  <a:pt x="8658970" y="9187236"/>
                </a:lnTo>
                <a:lnTo>
                  <a:pt x="0" y="91872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46167" y="2646389"/>
            <a:ext cx="7713133" cy="5272978"/>
          </a:xfrm>
          <a:custGeom>
            <a:avLst/>
            <a:gdLst/>
            <a:ahLst/>
            <a:cxnLst/>
            <a:rect r="r" b="b" t="t" l="l"/>
            <a:pathLst>
              <a:path h="5272978" w="7713133">
                <a:moveTo>
                  <a:pt x="0" y="0"/>
                </a:moveTo>
                <a:lnTo>
                  <a:pt x="7713133" y="0"/>
                </a:lnTo>
                <a:lnTo>
                  <a:pt x="7713133" y="5272978"/>
                </a:lnTo>
                <a:lnTo>
                  <a:pt x="0" y="52729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24671" y="-547681"/>
            <a:ext cx="3867912" cy="4114800"/>
          </a:xfrm>
          <a:custGeom>
            <a:avLst/>
            <a:gdLst/>
            <a:ahLst/>
            <a:cxnLst/>
            <a:rect r="r" b="b" t="t" l="l"/>
            <a:pathLst>
              <a:path h="4114800" w="3867912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6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81435" y="6222658"/>
            <a:ext cx="6183443" cy="4114800"/>
          </a:xfrm>
          <a:custGeom>
            <a:avLst/>
            <a:gdLst/>
            <a:ahLst/>
            <a:cxnLst/>
            <a:rect r="r" b="b" t="t" l="l"/>
            <a:pathLst>
              <a:path h="4114800" w="6183443">
                <a:moveTo>
                  <a:pt x="0" y="0"/>
                </a:moveTo>
                <a:lnTo>
                  <a:pt x="6183443" y="0"/>
                </a:lnTo>
                <a:lnTo>
                  <a:pt x="61834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8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139930"/>
            <a:ext cx="8546615" cy="1088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04"/>
              </a:lnSpc>
            </a:pPr>
            <a:r>
              <a:rPr lang="en-US" sz="8425">
                <a:solidFill>
                  <a:srgbClr val="1B1A17"/>
                </a:solidFill>
                <a:latin typeface="More Sugar"/>
                <a:ea typeface="More Sugar"/>
                <a:cs typeface="More Sugar"/>
                <a:sym typeface="More Sugar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557594"/>
            <a:ext cx="7463227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Importance of Effective Study Habits: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7848" y="4062668"/>
            <a:ext cx="8115300" cy="162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Academic success is not just about studying hard, but studying smart.</a:t>
            </a:r>
          </a:p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Good study habits can reduce stress and improve grades.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194083"/>
            <a:ext cx="7463227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Overview: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7848" y="6699157"/>
            <a:ext cx="8115300" cy="122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Understanding different learning styles.</a:t>
            </a:r>
          </a:p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Techniques for effective studying.</a:t>
            </a:r>
          </a:p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Time management and goal setting.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36630" y="-2242556"/>
            <a:ext cx="7330661" cy="7386056"/>
          </a:xfrm>
          <a:custGeom>
            <a:avLst/>
            <a:gdLst/>
            <a:ahLst/>
            <a:cxnLst/>
            <a:rect r="r" b="b" t="t" l="l"/>
            <a:pathLst>
              <a:path h="7386056" w="7330661">
                <a:moveTo>
                  <a:pt x="0" y="0"/>
                </a:moveTo>
                <a:lnTo>
                  <a:pt x="7330660" y="0"/>
                </a:lnTo>
                <a:lnTo>
                  <a:pt x="7330660" y="7386056"/>
                </a:lnTo>
                <a:lnTo>
                  <a:pt x="0" y="7386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7564" y="1695476"/>
            <a:ext cx="6696537" cy="7562824"/>
          </a:xfrm>
          <a:custGeom>
            <a:avLst/>
            <a:gdLst/>
            <a:ahLst/>
            <a:cxnLst/>
            <a:rect r="r" b="b" t="t" l="l"/>
            <a:pathLst>
              <a:path h="7562824" w="6696537">
                <a:moveTo>
                  <a:pt x="0" y="0"/>
                </a:moveTo>
                <a:lnTo>
                  <a:pt x="6696537" y="0"/>
                </a:lnTo>
                <a:lnTo>
                  <a:pt x="6696537" y="7562824"/>
                </a:lnTo>
                <a:lnTo>
                  <a:pt x="0" y="75628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29088" y="-1561546"/>
            <a:ext cx="7330661" cy="7386056"/>
          </a:xfrm>
          <a:custGeom>
            <a:avLst/>
            <a:gdLst/>
            <a:ahLst/>
            <a:cxnLst/>
            <a:rect r="r" b="b" t="t" l="l"/>
            <a:pathLst>
              <a:path h="7386056" w="7330661">
                <a:moveTo>
                  <a:pt x="0" y="0"/>
                </a:moveTo>
                <a:lnTo>
                  <a:pt x="7330661" y="0"/>
                </a:lnTo>
                <a:lnTo>
                  <a:pt x="7330661" y="7386056"/>
                </a:lnTo>
                <a:lnTo>
                  <a:pt x="0" y="7386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39437" y="1562113"/>
            <a:ext cx="13418527" cy="219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363"/>
              </a:lnSpc>
            </a:pPr>
            <a:r>
              <a:rPr lang="en-US" sz="8803">
                <a:solidFill>
                  <a:srgbClr val="1B1A17"/>
                </a:solidFill>
                <a:latin typeface="More Sugar"/>
                <a:ea typeface="More Sugar"/>
                <a:cs typeface="More Sugar"/>
                <a:sym typeface="More Sugar"/>
              </a:rPr>
              <a:t>UNDERSTANDING  LEARNING STYLE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76440" y="4263094"/>
            <a:ext cx="7463227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Types of Learners: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048772" y="4777693"/>
            <a:ext cx="7330661" cy="7386056"/>
          </a:xfrm>
          <a:custGeom>
            <a:avLst/>
            <a:gdLst/>
            <a:ahLst/>
            <a:cxnLst/>
            <a:rect r="r" b="b" t="t" l="l"/>
            <a:pathLst>
              <a:path h="7386056" w="7330661">
                <a:moveTo>
                  <a:pt x="0" y="0"/>
                </a:moveTo>
                <a:lnTo>
                  <a:pt x="7330660" y="0"/>
                </a:lnTo>
                <a:lnTo>
                  <a:pt x="7330660" y="7386056"/>
                </a:lnTo>
                <a:lnTo>
                  <a:pt x="0" y="7386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842663" y="4768168"/>
            <a:ext cx="8115300" cy="324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Visual Learners: Learn best through images, diagrams, and visual aids.</a:t>
            </a:r>
          </a:p>
          <a:p>
            <a:pPr algn="just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Auditory Learners: Retain information better through listening and discussions.</a:t>
            </a:r>
          </a:p>
          <a:p>
            <a:pPr algn="just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Kinesthetic Learners: Prefer hands-on activities and movement to learn.</a:t>
            </a:r>
          </a:p>
          <a:p>
            <a:pPr algn="just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Reading/Writing Learners: Learn best through reading texts and writing notes.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5929" y="5846193"/>
            <a:ext cx="5375629" cy="4114800"/>
          </a:xfrm>
          <a:custGeom>
            <a:avLst/>
            <a:gdLst/>
            <a:ahLst/>
            <a:cxnLst/>
            <a:rect r="r" b="b" t="t" l="l"/>
            <a:pathLst>
              <a:path h="4114800" w="5375629">
                <a:moveTo>
                  <a:pt x="0" y="0"/>
                </a:moveTo>
                <a:lnTo>
                  <a:pt x="5375630" y="0"/>
                </a:lnTo>
                <a:lnTo>
                  <a:pt x="5375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559590" y="1980989"/>
            <a:ext cx="9573383" cy="8650857"/>
          </a:xfrm>
          <a:custGeom>
            <a:avLst/>
            <a:gdLst/>
            <a:ahLst/>
            <a:cxnLst/>
            <a:rect r="r" b="b" t="t" l="l"/>
            <a:pathLst>
              <a:path h="8650857" w="9573383">
                <a:moveTo>
                  <a:pt x="0" y="0"/>
                </a:moveTo>
                <a:lnTo>
                  <a:pt x="9573383" y="0"/>
                </a:lnTo>
                <a:lnTo>
                  <a:pt x="9573383" y="8650857"/>
                </a:lnTo>
                <a:lnTo>
                  <a:pt x="0" y="86508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02496" y="7903593"/>
            <a:ext cx="7315200" cy="3022138"/>
          </a:xfrm>
          <a:custGeom>
            <a:avLst/>
            <a:gdLst/>
            <a:ahLst/>
            <a:cxnLst/>
            <a:rect r="r" b="b" t="t" l="l"/>
            <a:pathLst>
              <a:path h="3022138" w="7315200">
                <a:moveTo>
                  <a:pt x="0" y="0"/>
                </a:moveTo>
                <a:lnTo>
                  <a:pt x="7315200" y="0"/>
                </a:lnTo>
                <a:lnTo>
                  <a:pt x="7315200" y="3022138"/>
                </a:lnTo>
                <a:lnTo>
                  <a:pt x="0" y="30221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-4052340"/>
            <a:ext cx="9573383" cy="8650857"/>
          </a:xfrm>
          <a:custGeom>
            <a:avLst/>
            <a:gdLst/>
            <a:ahLst/>
            <a:cxnLst/>
            <a:rect r="r" b="b" t="t" l="l"/>
            <a:pathLst>
              <a:path h="8650857" w="9573383">
                <a:moveTo>
                  <a:pt x="0" y="0"/>
                </a:moveTo>
                <a:lnTo>
                  <a:pt x="9573383" y="0"/>
                </a:lnTo>
                <a:lnTo>
                  <a:pt x="9573383" y="8650857"/>
                </a:lnTo>
                <a:lnTo>
                  <a:pt x="0" y="86508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55104" y="2181014"/>
            <a:ext cx="14977793" cy="113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3"/>
              </a:lnSpc>
            </a:pPr>
            <a:r>
              <a:rPr lang="en-US" sz="8803">
                <a:solidFill>
                  <a:srgbClr val="1B1A17"/>
                </a:solidFill>
                <a:latin typeface="More Sugar"/>
                <a:ea typeface="More Sugar"/>
                <a:cs typeface="More Sugar"/>
                <a:sym typeface="More Sugar"/>
              </a:rPr>
              <a:t>CREATING A STUDY PLAN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5426" y="4083918"/>
            <a:ext cx="5076829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Setting Goal: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5901" y="4588992"/>
            <a:ext cx="6911173" cy="162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SMART Goals: Specific, Measurable, Achievable, Relevant, Time-bound.</a:t>
            </a:r>
          </a:p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Break down long-term goals into short-term actionable steps.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59101" y="4083918"/>
            <a:ext cx="5076829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Time Management: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49576" y="4588992"/>
            <a:ext cx="6683321" cy="162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Use a planner or digital calendar to schedule study sessions.</a:t>
            </a:r>
          </a:p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Allocate time for breaks and relaxation to avoid burnout.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14951" y="6700825"/>
            <a:ext cx="5076829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Prioritization: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5426" y="7205899"/>
            <a:ext cx="13803295" cy="8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Focus on difficult or important subjects first.</a:t>
            </a:r>
          </a:p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Use the "Eisenhower Matrix" to categorize tasks by urgency and importance.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37126" y="3950735"/>
            <a:ext cx="9641192" cy="8466719"/>
          </a:xfrm>
          <a:custGeom>
            <a:avLst/>
            <a:gdLst/>
            <a:ahLst/>
            <a:cxnLst/>
            <a:rect r="r" b="b" t="t" l="l"/>
            <a:pathLst>
              <a:path h="8466719" w="9641192">
                <a:moveTo>
                  <a:pt x="0" y="0"/>
                </a:moveTo>
                <a:lnTo>
                  <a:pt x="9641192" y="0"/>
                </a:lnTo>
                <a:lnTo>
                  <a:pt x="9641192" y="8466720"/>
                </a:lnTo>
                <a:lnTo>
                  <a:pt x="0" y="846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7480" y="-702804"/>
            <a:ext cx="5787693" cy="6523014"/>
          </a:xfrm>
          <a:custGeom>
            <a:avLst/>
            <a:gdLst/>
            <a:ahLst/>
            <a:cxnLst/>
            <a:rect r="r" b="b" t="t" l="l"/>
            <a:pathLst>
              <a:path h="6523014" w="5787693">
                <a:moveTo>
                  <a:pt x="0" y="0"/>
                </a:moveTo>
                <a:lnTo>
                  <a:pt x="5787693" y="0"/>
                </a:lnTo>
                <a:lnTo>
                  <a:pt x="5787693" y="6523015"/>
                </a:lnTo>
                <a:lnTo>
                  <a:pt x="0" y="65230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411996"/>
            <a:ext cx="3909540" cy="3863929"/>
          </a:xfrm>
          <a:custGeom>
            <a:avLst/>
            <a:gdLst/>
            <a:ahLst/>
            <a:cxnLst/>
            <a:rect r="r" b="b" t="t" l="l"/>
            <a:pathLst>
              <a:path h="3863929" w="3909540">
                <a:moveTo>
                  <a:pt x="0" y="0"/>
                </a:moveTo>
                <a:lnTo>
                  <a:pt x="3909540" y="0"/>
                </a:lnTo>
                <a:lnTo>
                  <a:pt x="3909540" y="3863929"/>
                </a:lnTo>
                <a:lnTo>
                  <a:pt x="0" y="38639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46808" y="-2356682"/>
            <a:ext cx="9641192" cy="8466719"/>
          </a:xfrm>
          <a:custGeom>
            <a:avLst/>
            <a:gdLst/>
            <a:ahLst/>
            <a:cxnLst/>
            <a:rect r="r" b="b" t="t" l="l"/>
            <a:pathLst>
              <a:path h="8466719" w="9641192">
                <a:moveTo>
                  <a:pt x="0" y="0"/>
                </a:moveTo>
                <a:lnTo>
                  <a:pt x="9641192" y="0"/>
                </a:lnTo>
                <a:lnTo>
                  <a:pt x="9641192" y="8466720"/>
                </a:lnTo>
                <a:lnTo>
                  <a:pt x="0" y="846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80386" y="3086100"/>
            <a:ext cx="9472486" cy="9007473"/>
          </a:xfrm>
          <a:custGeom>
            <a:avLst/>
            <a:gdLst/>
            <a:ahLst/>
            <a:cxnLst/>
            <a:rect r="r" b="b" t="t" l="l"/>
            <a:pathLst>
              <a:path h="9007473" w="9472486">
                <a:moveTo>
                  <a:pt x="0" y="0"/>
                </a:moveTo>
                <a:lnTo>
                  <a:pt x="9472486" y="0"/>
                </a:lnTo>
                <a:lnTo>
                  <a:pt x="9472486" y="9007473"/>
                </a:lnTo>
                <a:lnTo>
                  <a:pt x="0" y="90074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10147" y="4491229"/>
            <a:ext cx="3543353" cy="2467462"/>
          </a:xfrm>
          <a:custGeom>
            <a:avLst/>
            <a:gdLst/>
            <a:ahLst/>
            <a:cxnLst/>
            <a:rect r="r" b="b" t="t" l="l"/>
            <a:pathLst>
              <a:path h="2467462" w="3543353">
                <a:moveTo>
                  <a:pt x="0" y="0"/>
                </a:moveTo>
                <a:lnTo>
                  <a:pt x="3543353" y="0"/>
                </a:lnTo>
                <a:lnTo>
                  <a:pt x="3543353" y="2467463"/>
                </a:lnTo>
                <a:lnTo>
                  <a:pt x="0" y="2467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01625" y="4942201"/>
            <a:ext cx="3630867" cy="1756019"/>
          </a:xfrm>
          <a:custGeom>
            <a:avLst/>
            <a:gdLst/>
            <a:ahLst/>
            <a:cxnLst/>
            <a:rect r="r" b="b" t="t" l="l"/>
            <a:pathLst>
              <a:path h="1756019" w="3630867">
                <a:moveTo>
                  <a:pt x="0" y="0"/>
                </a:moveTo>
                <a:lnTo>
                  <a:pt x="3630866" y="0"/>
                </a:lnTo>
                <a:lnTo>
                  <a:pt x="3630866" y="1756019"/>
                </a:lnTo>
                <a:lnTo>
                  <a:pt x="0" y="17560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43684" y="4076718"/>
            <a:ext cx="3308893" cy="3296484"/>
          </a:xfrm>
          <a:custGeom>
            <a:avLst/>
            <a:gdLst/>
            <a:ahLst/>
            <a:cxnLst/>
            <a:rect r="r" b="b" t="t" l="l"/>
            <a:pathLst>
              <a:path h="3296484" w="3308893">
                <a:moveTo>
                  <a:pt x="0" y="0"/>
                </a:moveTo>
                <a:lnTo>
                  <a:pt x="3308893" y="0"/>
                </a:lnTo>
                <a:lnTo>
                  <a:pt x="3308893" y="3296485"/>
                </a:lnTo>
                <a:lnTo>
                  <a:pt x="0" y="329648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55104" y="1228725"/>
            <a:ext cx="14977793" cy="218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3"/>
              </a:lnSpc>
            </a:pPr>
            <a:r>
              <a:rPr lang="en-US" sz="8803">
                <a:solidFill>
                  <a:srgbClr val="1B1A17"/>
                </a:solidFill>
                <a:latin typeface="More Sugar"/>
                <a:ea typeface="More Sugar"/>
                <a:cs typeface="More Sugar"/>
                <a:sym typeface="More Sugar"/>
              </a:rPr>
              <a:t>EFFECTIVE STUDY TECHNIQUES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674543" y="-4503737"/>
            <a:ext cx="9472486" cy="9007473"/>
          </a:xfrm>
          <a:custGeom>
            <a:avLst/>
            <a:gdLst/>
            <a:ahLst/>
            <a:cxnLst/>
            <a:rect r="r" b="b" t="t" l="l"/>
            <a:pathLst>
              <a:path h="9007473" w="9472486">
                <a:moveTo>
                  <a:pt x="0" y="0"/>
                </a:moveTo>
                <a:lnTo>
                  <a:pt x="9472486" y="0"/>
                </a:lnTo>
                <a:lnTo>
                  <a:pt x="9472486" y="9007474"/>
                </a:lnTo>
                <a:lnTo>
                  <a:pt x="0" y="90074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29340" y="7954418"/>
            <a:ext cx="3708260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Active Learning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45240" y="7954418"/>
            <a:ext cx="3708260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Spaced Repetition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1625" y="7954418"/>
            <a:ext cx="3708260" cy="91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Note-Taking Strategies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43684" y="7950608"/>
            <a:ext cx="3708260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Practice Testing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06308" y="3086100"/>
            <a:ext cx="10477186" cy="8172205"/>
          </a:xfrm>
          <a:custGeom>
            <a:avLst/>
            <a:gdLst/>
            <a:ahLst/>
            <a:cxnLst/>
            <a:rect r="r" b="b" t="t" l="l"/>
            <a:pathLst>
              <a:path h="8172205" w="10477186">
                <a:moveTo>
                  <a:pt x="0" y="0"/>
                </a:moveTo>
                <a:lnTo>
                  <a:pt x="10477185" y="0"/>
                </a:lnTo>
                <a:lnTo>
                  <a:pt x="10477185" y="8172205"/>
                </a:lnTo>
                <a:lnTo>
                  <a:pt x="0" y="8172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49044" y="-702804"/>
            <a:ext cx="7050042" cy="6917854"/>
          </a:xfrm>
          <a:custGeom>
            <a:avLst/>
            <a:gdLst/>
            <a:ahLst/>
            <a:cxnLst/>
            <a:rect r="r" b="b" t="t" l="l"/>
            <a:pathLst>
              <a:path h="6917854" w="7050042">
                <a:moveTo>
                  <a:pt x="0" y="0"/>
                </a:moveTo>
                <a:lnTo>
                  <a:pt x="7050042" y="0"/>
                </a:lnTo>
                <a:lnTo>
                  <a:pt x="7050042" y="6917854"/>
                </a:lnTo>
                <a:lnTo>
                  <a:pt x="0" y="69178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84488" y="-1028700"/>
            <a:ext cx="4063487" cy="4636759"/>
          </a:xfrm>
          <a:custGeom>
            <a:avLst/>
            <a:gdLst/>
            <a:ahLst/>
            <a:cxnLst/>
            <a:rect r="r" b="b" t="t" l="l"/>
            <a:pathLst>
              <a:path h="4636759" w="4063487">
                <a:moveTo>
                  <a:pt x="0" y="0"/>
                </a:moveTo>
                <a:lnTo>
                  <a:pt x="4063487" y="0"/>
                </a:lnTo>
                <a:lnTo>
                  <a:pt x="4063487" y="4636759"/>
                </a:lnTo>
                <a:lnTo>
                  <a:pt x="0" y="46367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5104" y="1228725"/>
            <a:ext cx="14977793" cy="218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3"/>
              </a:lnSpc>
            </a:pPr>
            <a:r>
              <a:rPr lang="en-US" sz="8803">
                <a:solidFill>
                  <a:srgbClr val="1B1A17"/>
                </a:solidFill>
                <a:latin typeface="More Sugar"/>
                <a:ea typeface="More Sugar"/>
                <a:cs typeface="More Sugar"/>
                <a:sym typeface="More Sugar"/>
              </a:rPr>
              <a:t>CREATING A CONDUCIVE STUDY ENVIRONMENT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5426" y="4083918"/>
            <a:ext cx="5076829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Choosing the Right Space: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95901" y="4588992"/>
            <a:ext cx="7643073" cy="203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Find a quiet, comfortable, and well-lit area for studying.</a:t>
            </a:r>
          </a:p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Minimize distractions by turning off notifications and keeping the workspace organized.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59101" y="4083918"/>
            <a:ext cx="5076829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Tools and Resources: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49576" y="4588992"/>
            <a:ext cx="7309724" cy="162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Gather all necessary materials (books, notes, stationery) before starting.</a:t>
            </a:r>
          </a:p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Use apps and online resources to supplement learning.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14951" y="7081825"/>
            <a:ext cx="5076829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Study Routine: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05426" y="7586899"/>
            <a:ext cx="14827471" cy="8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Establish a consistent study schedule to build a habit.</a:t>
            </a:r>
          </a:p>
          <a:p>
            <a:pPr algn="l" marL="582932" indent="-291466" lvl="1">
              <a:lnSpc>
                <a:spcPts val="3294"/>
              </a:lnSpc>
              <a:buFont typeface="Arial"/>
              <a:buChar char="•"/>
            </a:pPr>
            <a:r>
              <a:rPr lang="en-US" sz="27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Include regular breaks (e.g., 5 minutes every 25 minutes using the Pomodoro Technique)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8225" y="663217"/>
            <a:ext cx="16035561" cy="8863292"/>
          </a:xfrm>
          <a:custGeom>
            <a:avLst/>
            <a:gdLst/>
            <a:ahLst/>
            <a:cxnLst/>
            <a:rect r="r" b="b" t="t" l="l"/>
            <a:pathLst>
              <a:path h="8863292" w="16035561">
                <a:moveTo>
                  <a:pt x="0" y="0"/>
                </a:moveTo>
                <a:lnTo>
                  <a:pt x="16035561" y="0"/>
                </a:lnTo>
                <a:lnTo>
                  <a:pt x="16035561" y="8863292"/>
                </a:lnTo>
                <a:lnTo>
                  <a:pt x="0" y="88632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24595" y="3260698"/>
            <a:ext cx="7816279" cy="7745222"/>
          </a:xfrm>
          <a:custGeom>
            <a:avLst/>
            <a:gdLst/>
            <a:ahLst/>
            <a:cxnLst/>
            <a:rect r="r" b="b" t="t" l="l"/>
            <a:pathLst>
              <a:path h="7745222" w="7816279">
                <a:moveTo>
                  <a:pt x="0" y="0"/>
                </a:moveTo>
                <a:lnTo>
                  <a:pt x="7816279" y="0"/>
                </a:lnTo>
                <a:lnTo>
                  <a:pt x="7816279" y="7745222"/>
                </a:lnTo>
                <a:lnTo>
                  <a:pt x="0" y="77452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882207">
            <a:off x="13649686" y="-770122"/>
            <a:ext cx="4377447" cy="4114800"/>
          </a:xfrm>
          <a:custGeom>
            <a:avLst/>
            <a:gdLst/>
            <a:ahLst/>
            <a:cxnLst/>
            <a:rect r="r" b="b" t="t" l="l"/>
            <a:pathLst>
              <a:path h="4114800" w="4377447">
                <a:moveTo>
                  <a:pt x="0" y="0"/>
                </a:moveTo>
                <a:lnTo>
                  <a:pt x="4377447" y="0"/>
                </a:lnTo>
                <a:lnTo>
                  <a:pt x="43774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38225" y="1209675"/>
            <a:ext cx="14026961" cy="205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2"/>
              </a:lnSpc>
            </a:pPr>
            <a:r>
              <a:rPr lang="en-US" sz="8244">
                <a:solidFill>
                  <a:srgbClr val="1B1A17"/>
                </a:solidFill>
                <a:latin typeface="More Sugar"/>
                <a:ea typeface="More Sugar"/>
                <a:cs typeface="More Sugar"/>
                <a:sym typeface="More Sugar"/>
              </a:rPr>
              <a:t>MANAGING STRESS AND STAYING MOTIVATED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8225" y="3774998"/>
            <a:ext cx="9086370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Stress Management Techniques: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289596"/>
            <a:ext cx="8406795" cy="158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Practice mindfulness and breathing exercises to reduce anxiety.</a:t>
            </a:r>
          </a:p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Stay physically active and maintain a balanced diet to keep energy levels up.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8225" y="6268079"/>
            <a:ext cx="9086370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Staying Motivated: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782678"/>
            <a:ext cx="9095895" cy="237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Set rewards for completing study goals (e.g., a treat or a short break).</a:t>
            </a:r>
          </a:p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Surround yourself with positive influences, like study groups or mentors.</a:t>
            </a:r>
          </a:p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Track progress and celebrate small wins to stay encouraged.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2481" y="-2506294"/>
            <a:ext cx="11571348" cy="11255765"/>
          </a:xfrm>
          <a:custGeom>
            <a:avLst/>
            <a:gdLst/>
            <a:ahLst/>
            <a:cxnLst/>
            <a:rect r="r" b="b" t="t" l="l"/>
            <a:pathLst>
              <a:path h="11255765" w="11571348">
                <a:moveTo>
                  <a:pt x="0" y="0"/>
                </a:moveTo>
                <a:lnTo>
                  <a:pt x="11571347" y="0"/>
                </a:lnTo>
                <a:lnTo>
                  <a:pt x="11571347" y="11255765"/>
                </a:lnTo>
                <a:lnTo>
                  <a:pt x="0" y="11255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70376" y="-1685467"/>
            <a:ext cx="7511998" cy="7279809"/>
          </a:xfrm>
          <a:custGeom>
            <a:avLst/>
            <a:gdLst/>
            <a:ahLst/>
            <a:cxnLst/>
            <a:rect r="r" b="b" t="t" l="l"/>
            <a:pathLst>
              <a:path h="7279809" w="7511998">
                <a:moveTo>
                  <a:pt x="0" y="0"/>
                </a:moveTo>
                <a:lnTo>
                  <a:pt x="7511999" y="0"/>
                </a:lnTo>
                <a:lnTo>
                  <a:pt x="7511999" y="7279809"/>
                </a:lnTo>
                <a:lnTo>
                  <a:pt x="0" y="727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90935" y="2509495"/>
            <a:ext cx="11677890" cy="374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84"/>
              </a:lnSpc>
            </a:pPr>
            <a:r>
              <a:rPr lang="en-US" sz="10194">
                <a:solidFill>
                  <a:srgbClr val="1B1A17"/>
                </a:solidFill>
                <a:latin typeface="More Sugar"/>
                <a:ea typeface="More Sugar"/>
                <a:cs typeface="More Sugar"/>
                <a:sym typeface="More Sugar"/>
              </a:rPr>
              <a:t>AVOIDING COMMON PITFALLS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8225" y="2261845"/>
            <a:ext cx="9086370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Procrastination: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76444"/>
            <a:ext cx="8406795" cy="118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Break tasks into smaller, manageable chunks.</a:t>
            </a:r>
          </a:p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Use time-blocking techniques to commit to study times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8225" y="4685480"/>
            <a:ext cx="9086370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Cramming: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200079"/>
            <a:ext cx="8406795" cy="78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Avoid last-minute studying by planning ahead.</a:t>
            </a:r>
          </a:p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Prioritize understanding over memorization.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6712505"/>
            <a:ext cx="9086370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Multitasking: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8225" y="7227103"/>
            <a:ext cx="8406795" cy="78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Focus on one subject at a time to improve concentration and retention.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26615" y="-1466946"/>
            <a:ext cx="10002023" cy="8638110"/>
          </a:xfrm>
          <a:custGeom>
            <a:avLst/>
            <a:gdLst/>
            <a:ahLst/>
            <a:cxnLst/>
            <a:rect r="r" b="b" t="t" l="l"/>
            <a:pathLst>
              <a:path h="8638110" w="10002023">
                <a:moveTo>
                  <a:pt x="0" y="0"/>
                </a:moveTo>
                <a:lnTo>
                  <a:pt x="10002023" y="0"/>
                </a:lnTo>
                <a:lnTo>
                  <a:pt x="10002023" y="8638111"/>
                </a:lnTo>
                <a:lnTo>
                  <a:pt x="0" y="86381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6846" y="3561438"/>
            <a:ext cx="7831797" cy="10429754"/>
          </a:xfrm>
          <a:custGeom>
            <a:avLst/>
            <a:gdLst/>
            <a:ahLst/>
            <a:cxnLst/>
            <a:rect r="r" b="b" t="t" l="l"/>
            <a:pathLst>
              <a:path h="10429754" w="7831797">
                <a:moveTo>
                  <a:pt x="0" y="0"/>
                </a:moveTo>
                <a:lnTo>
                  <a:pt x="7831797" y="0"/>
                </a:lnTo>
                <a:lnTo>
                  <a:pt x="7831797" y="10429754"/>
                </a:lnTo>
                <a:lnTo>
                  <a:pt x="0" y="104297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49669" y="6052184"/>
            <a:ext cx="8009107" cy="4234816"/>
          </a:xfrm>
          <a:custGeom>
            <a:avLst/>
            <a:gdLst/>
            <a:ahLst/>
            <a:cxnLst/>
            <a:rect r="r" b="b" t="t" l="l"/>
            <a:pathLst>
              <a:path h="4234816" w="8009107">
                <a:moveTo>
                  <a:pt x="0" y="0"/>
                </a:moveTo>
                <a:lnTo>
                  <a:pt x="8009107" y="0"/>
                </a:lnTo>
                <a:lnTo>
                  <a:pt x="8009107" y="4234816"/>
                </a:lnTo>
                <a:lnTo>
                  <a:pt x="0" y="42348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266825"/>
            <a:ext cx="11677890" cy="253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684"/>
              </a:lnSpc>
            </a:pPr>
            <a:r>
              <a:rPr lang="en-US" sz="10194">
                <a:solidFill>
                  <a:srgbClr val="1B1A17"/>
                </a:solidFill>
                <a:latin typeface="More Sugar"/>
                <a:ea typeface="More Sugar"/>
                <a:cs typeface="More Sugar"/>
                <a:sym typeface="More Sugar"/>
              </a:rPr>
              <a:t>LEVERAGING TECHNOLOGY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8225" y="4272810"/>
            <a:ext cx="9086370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Study Apps and Tools: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787408"/>
            <a:ext cx="7697399" cy="198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Use apps like Quizlet, Evernote, or Trello for organizing and reviewing material.</a:t>
            </a:r>
          </a:p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Leverage online courses and videos (e.g., Khan Academy, Coursera) for additional learning.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7161640"/>
            <a:ext cx="9086370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Digital Note-Taking: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8225" y="7676238"/>
            <a:ext cx="8406795" cy="78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Consider digital tools (e.g., Notion, OneNote) for organizing notes and study materials.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4276112"/>
            <a:ext cx="7285596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Online Study Groups: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4787408"/>
            <a:ext cx="7778106" cy="78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Join online forums, discussion groups, or study communities for collaboration and support.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25757" y="2767882"/>
            <a:ext cx="9483776" cy="9606035"/>
          </a:xfrm>
          <a:custGeom>
            <a:avLst/>
            <a:gdLst/>
            <a:ahLst/>
            <a:cxnLst/>
            <a:rect r="r" b="b" t="t" l="l"/>
            <a:pathLst>
              <a:path h="9606035" w="9483776">
                <a:moveTo>
                  <a:pt x="0" y="0"/>
                </a:moveTo>
                <a:lnTo>
                  <a:pt x="9483776" y="0"/>
                </a:lnTo>
                <a:lnTo>
                  <a:pt x="9483776" y="9606035"/>
                </a:lnTo>
                <a:lnTo>
                  <a:pt x="0" y="96060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09113" y="-1671740"/>
            <a:ext cx="7207486" cy="9371436"/>
          </a:xfrm>
          <a:custGeom>
            <a:avLst/>
            <a:gdLst/>
            <a:ahLst/>
            <a:cxnLst/>
            <a:rect r="r" b="b" t="t" l="l"/>
            <a:pathLst>
              <a:path h="9371436" w="7207486">
                <a:moveTo>
                  <a:pt x="0" y="0"/>
                </a:moveTo>
                <a:lnTo>
                  <a:pt x="7207486" y="0"/>
                </a:lnTo>
                <a:lnTo>
                  <a:pt x="7207486" y="9371435"/>
                </a:lnTo>
                <a:lnTo>
                  <a:pt x="0" y="93714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38225" y="-1086240"/>
            <a:ext cx="5917831" cy="7200900"/>
          </a:xfrm>
          <a:custGeom>
            <a:avLst/>
            <a:gdLst/>
            <a:ahLst/>
            <a:cxnLst/>
            <a:rect r="r" b="b" t="t" l="l"/>
            <a:pathLst>
              <a:path h="7200900" w="5917831">
                <a:moveTo>
                  <a:pt x="0" y="0"/>
                </a:moveTo>
                <a:lnTo>
                  <a:pt x="5917830" y="0"/>
                </a:lnTo>
                <a:lnTo>
                  <a:pt x="591783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86291" y="1028700"/>
            <a:ext cx="7673009" cy="8229600"/>
          </a:xfrm>
          <a:custGeom>
            <a:avLst/>
            <a:gdLst/>
            <a:ahLst/>
            <a:cxnLst/>
            <a:rect r="r" b="b" t="t" l="l"/>
            <a:pathLst>
              <a:path h="8229600" w="7673009">
                <a:moveTo>
                  <a:pt x="0" y="0"/>
                </a:moveTo>
                <a:lnTo>
                  <a:pt x="7673009" y="0"/>
                </a:lnTo>
                <a:lnTo>
                  <a:pt x="76730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702610"/>
            <a:ext cx="11677890" cy="1311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684"/>
              </a:lnSpc>
            </a:pPr>
            <a:r>
              <a:rPr lang="en-US" sz="10194">
                <a:solidFill>
                  <a:srgbClr val="1B1A17"/>
                </a:solidFill>
                <a:latin typeface="More Sugar"/>
                <a:ea typeface="More Sugar"/>
                <a:cs typeface="More Sugar"/>
                <a:sym typeface="More Sugar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8225" y="3618839"/>
            <a:ext cx="9086370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Recap of Key Points: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133438"/>
            <a:ext cx="8406795" cy="198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Understand your learning style and tailor your methods accordingly.</a:t>
            </a:r>
          </a:p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Plan and manage your time effectively.</a:t>
            </a:r>
          </a:p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Use active learning and spaced repetition to reinforce knowledge.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6724260"/>
            <a:ext cx="9086370" cy="45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00" b="true">
                <a:solidFill>
                  <a:srgbClr val="1B1A1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Final Tips: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8225" y="7238858"/>
            <a:ext cx="8406795" cy="158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Consistency is key—study regularly and avoid cramming.</a:t>
            </a:r>
          </a:p>
          <a:p>
            <a:pPr algn="l" marL="561342" indent="-280671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1B1A17"/>
                </a:solidFill>
                <a:latin typeface="Quicksand"/>
                <a:ea typeface="Quicksand"/>
                <a:cs typeface="Quicksand"/>
                <a:sym typeface="Quicksand"/>
              </a:rPr>
              <a:t>Stay organized, manage stress, and keep a positive mindset.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89311" y="-890221"/>
            <a:ext cx="7898689" cy="12067441"/>
          </a:xfrm>
          <a:custGeom>
            <a:avLst/>
            <a:gdLst/>
            <a:ahLst/>
            <a:cxnLst/>
            <a:rect r="r" b="b" t="t" l="l"/>
            <a:pathLst>
              <a:path h="12067441" w="7898689">
                <a:moveTo>
                  <a:pt x="0" y="0"/>
                </a:moveTo>
                <a:lnTo>
                  <a:pt x="7898689" y="0"/>
                </a:lnTo>
                <a:lnTo>
                  <a:pt x="7898689" y="12067442"/>
                </a:lnTo>
                <a:lnTo>
                  <a:pt x="0" y="12067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66878" y="4493958"/>
            <a:ext cx="13954245" cy="157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sz="12181">
                <a:solidFill>
                  <a:srgbClr val="1B1A17"/>
                </a:solidFill>
                <a:latin typeface="More Sugar"/>
                <a:ea typeface="More Sugar"/>
                <a:cs typeface="More Sugar"/>
                <a:sym typeface="More Sugar"/>
              </a:rPr>
              <a:t>THANK YOU!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0" y="-890221"/>
            <a:ext cx="7898689" cy="12067441"/>
          </a:xfrm>
          <a:custGeom>
            <a:avLst/>
            <a:gdLst/>
            <a:ahLst/>
            <a:cxnLst/>
            <a:rect r="r" b="b" t="t" l="l"/>
            <a:pathLst>
              <a:path h="12067441" w="7898689">
                <a:moveTo>
                  <a:pt x="7898689" y="0"/>
                </a:moveTo>
                <a:lnTo>
                  <a:pt x="0" y="0"/>
                </a:lnTo>
                <a:lnTo>
                  <a:pt x="0" y="12067442"/>
                </a:lnTo>
                <a:lnTo>
                  <a:pt x="7898689" y="12067442"/>
                </a:lnTo>
                <a:lnTo>
                  <a:pt x="7898689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DAGmA6DWFT0</dc:identifier>
  <dcterms:modified xsi:type="dcterms:W3CDTF">2011-08-01T06:04:30Z</dcterms:modified>
  <cp:revision>1</cp:revision>
  <dc:title>Colorful Simple Ilustrative How to Study Presentation</dc:title>
</cp:coreProperties>
</file>