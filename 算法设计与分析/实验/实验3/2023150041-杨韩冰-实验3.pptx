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avi" ContentType="video/avi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6.svg" ContentType="image/svg+xml"/>
  <Override PartName="/ppt/media/image12.svg" ContentType="image/svg+xml"/>
  <Override PartName="/ppt/media/image120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6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3"/>
    <p:sldId id="261" r:id="rId4"/>
    <p:sldId id="262" r:id="rId5"/>
    <p:sldId id="257" r:id="rId6"/>
    <p:sldId id="268" r:id="rId7"/>
    <p:sldId id="269" r:id="rId8"/>
    <p:sldId id="281" r:id="rId9"/>
    <p:sldId id="283" r:id="rId10"/>
    <p:sldId id="273" r:id="rId11"/>
    <p:sldId id="270" r:id="rId12"/>
    <p:sldId id="258" r:id="rId13"/>
    <p:sldId id="271" r:id="rId14"/>
    <p:sldId id="274" r:id="rId15"/>
    <p:sldId id="264" r:id="rId16"/>
    <p:sldId id="277" r:id="rId17"/>
    <p:sldId id="278" r:id="rId18"/>
    <p:sldId id="279" r:id="rId19"/>
    <p:sldId id="280" r:id="rId20"/>
    <p:sldId id="284" r:id="rId21"/>
    <p:sldId id="260" r:id="rId22"/>
    <p:sldId id="265" r:id="rId23"/>
    <p:sldId id="285" r:id="rId24"/>
    <p:sldId id="286" r:id="rId25"/>
    <p:sldId id="266" r:id="rId26"/>
  </p:sldIdLst>
  <p:sldSz cx="18288000" cy="10287000"/>
  <p:notesSz cx="6858000" cy="9144000"/>
  <p:embeddedFontLst>
    <p:embeddedFont>
      <p:font typeface="微软雅黑" panose="020B0503020204020204" charset="-122"/>
      <p:regular r:id="rId32"/>
    </p:embeddedFont>
    <p:embeddedFont>
      <p:font typeface="黄煜臣江西拙楷体" panose="02010600040101010101" charset="-122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  <p:embeddedFont>
      <p:font typeface="Quicksand Semi-Bold"/>
      <p:bold r:id="rId38"/>
    </p:embeddedFont>
    <p:embeddedFont>
      <p:font typeface="Public Sans"/>
      <p:regular r:id="rId39"/>
    </p:embeddedFont>
    <p:embeddedFont>
      <p:font typeface="汉仪傲娇体简" panose="02010509060101010101" charset="-122"/>
      <p:regular r:id="rId40"/>
    </p:embeddedFont>
    <p:embeddedFont>
      <p:font typeface="华文琥珀" panose="02010800040101010101" charset="-122"/>
      <p:regular r:id="rId41"/>
    </p:embeddedFont>
  </p:embeddedFontLst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2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B8E8"/>
    <a:srgbClr val="BDDB77"/>
    <a:srgbClr val="E39EBE"/>
    <a:srgbClr val="65C7F1"/>
    <a:srgbClr val="FAD8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202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2.xml"/><Relationship Id="rId41" Type="http://schemas.openxmlformats.org/officeDocument/2006/relationships/font" Target="fonts/font10.fntdata"/><Relationship Id="rId40" Type="http://schemas.openxmlformats.org/officeDocument/2006/relationships/font" Target="fonts/font9.fntdata"/><Relationship Id="rId4" Type="http://schemas.openxmlformats.org/officeDocument/2006/relationships/slide" Target="slides/slide2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tags" Target="../tags/tag3.xml"/><Relationship Id="rId6" Type="http://schemas.openxmlformats.org/officeDocument/2006/relationships/tags" Target="../tags/tag2.xml"/><Relationship Id="rId5" Type="http://schemas.openxmlformats.org/officeDocument/2006/relationships/tags" Target="../tags/tag1.xml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44.svg"/><Relationship Id="rId1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4.png"/><Relationship Id="rId1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3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3.svg"/><Relationship Id="rId7" Type="http://schemas.openxmlformats.org/officeDocument/2006/relationships/image" Target="../media/image52.pn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49.svg"/><Relationship Id="rId3" Type="http://schemas.openxmlformats.org/officeDocument/2006/relationships/image" Target="../media/image48.png"/><Relationship Id="rId2" Type="http://schemas.openxmlformats.org/officeDocument/2006/relationships/image" Target="../media/image3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8.png"/><Relationship Id="rId1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2.png"/><Relationship Id="rId11" Type="http://schemas.openxmlformats.org/officeDocument/2006/relationships/image" Target="../media/image61.png"/><Relationship Id="rId10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svg"/><Relationship Id="rId7" Type="http://schemas.openxmlformats.org/officeDocument/2006/relationships/image" Target="../media/image41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6.svg"/><Relationship Id="rId13" Type="http://schemas.openxmlformats.org/officeDocument/2006/relationships/image" Target="../media/image45.png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44.svg"/><Relationship Id="rId1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svg"/><Relationship Id="rId8" Type="http://schemas.openxmlformats.org/officeDocument/2006/relationships/image" Target="../media/image41.png"/><Relationship Id="rId7" Type="http://schemas.openxmlformats.org/officeDocument/2006/relationships/image" Target="../media/image40.svg"/><Relationship Id="rId6" Type="http://schemas.openxmlformats.org/officeDocument/2006/relationships/image" Target="../media/image39.png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image" Target="../media/image2.svg"/><Relationship Id="rId12" Type="http://schemas.openxmlformats.org/officeDocument/2006/relationships/image" Target="../media/image1.png"/><Relationship Id="rId11" Type="http://schemas.openxmlformats.org/officeDocument/2006/relationships/image" Target="../media/image44.svg"/><Relationship Id="rId10" Type="http://schemas.openxmlformats.org/officeDocument/2006/relationships/image" Target="../media/image43.png"/><Relationship Id="rId1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ideo" Target="../media/media1.avi"/><Relationship Id="rId8" Type="http://schemas.openxmlformats.org/officeDocument/2006/relationships/image" Target="../media/image6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66.png"/><Relationship Id="rId11" Type="http://schemas.openxmlformats.org/officeDocument/2006/relationships/tags" Target="../tags/tag11.xml"/><Relationship Id="rId10" Type="http://schemas.microsoft.com/office/2007/relationships/media" Target="../media/media1.avi"/><Relationship Id="rId1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44.svg"/><Relationship Id="rId7" Type="http://schemas.openxmlformats.org/officeDocument/2006/relationships/image" Target="../media/image70.png"/><Relationship Id="rId6" Type="http://schemas.openxmlformats.org/officeDocument/2006/relationships/image" Target="../media/image42.svg"/><Relationship Id="rId5" Type="http://schemas.openxmlformats.org/officeDocument/2006/relationships/image" Target="../media/image69.png"/><Relationship Id="rId4" Type="http://schemas.openxmlformats.org/officeDocument/2006/relationships/image" Target="../media/image40.svg"/><Relationship Id="rId3" Type="http://schemas.openxmlformats.org/officeDocument/2006/relationships/image" Target="../media/image68.png"/><Relationship Id="rId2" Type="http://schemas.openxmlformats.org/officeDocument/2006/relationships/image" Target="../media/image3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74.svg"/><Relationship Id="rId13" Type="http://schemas.openxmlformats.org/officeDocument/2006/relationships/image" Target="../media/image73.png"/><Relationship Id="rId12" Type="http://schemas.openxmlformats.org/officeDocument/2006/relationships/image" Target="../media/image46.svg"/><Relationship Id="rId11" Type="http://schemas.openxmlformats.org/officeDocument/2006/relationships/image" Target="../media/image72.png"/><Relationship Id="rId10" Type="http://schemas.openxmlformats.org/officeDocument/2006/relationships/image" Target="../media/image2.svg"/><Relationship Id="rId1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18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7.svg"/><Relationship Id="rId13" Type="http://schemas.openxmlformats.org/officeDocument/2006/relationships/image" Target="../media/image86.png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75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svg"/><Relationship Id="rId7" Type="http://schemas.openxmlformats.org/officeDocument/2006/relationships/image" Target="../media/image94.png"/><Relationship Id="rId6" Type="http://schemas.openxmlformats.org/officeDocument/2006/relationships/image" Target="../media/image93.svg"/><Relationship Id="rId5" Type="http://schemas.openxmlformats.org/officeDocument/2006/relationships/image" Target="../media/image92.png"/><Relationship Id="rId4" Type="http://schemas.openxmlformats.org/officeDocument/2006/relationships/image" Target="../media/image91.svg"/><Relationship Id="rId3" Type="http://schemas.openxmlformats.org/officeDocument/2006/relationships/image" Target="../media/image90.png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09.svg"/><Relationship Id="rId25" Type="http://schemas.openxmlformats.org/officeDocument/2006/relationships/image" Target="../media/image108.png"/><Relationship Id="rId24" Type="http://schemas.openxmlformats.org/officeDocument/2006/relationships/image" Target="../media/image107.svg"/><Relationship Id="rId23" Type="http://schemas.openxmlformats.org/officeDocument/2006/relationships/image" Target="../media/image106.png"/><Relationship Id="rId22" Type="http://schemas.openxmlformats.org/officeDocument/2006/relationships/image" Target="../media/image105.svg"/><Relationship Id="rId21" Type="http://schemas.openxmlformats.org/officeDocument/2006/relationships/image" Target="../media/image104.png"/><Relationship Id="rId20" Type="http://schemas.openxmlformats.org/officeDocument/2006/relationships/image" Target="../media/image103.svg"/><Relationship Id="rId2" Type="http://schemas.openxmlformats.org/officeDocument/2006/relationships/image" Target="../media/image89.svg"/><Relationship Id="rId19" Type="http://schemas.openxmlformats.org/officeDocument/2006/relationships/image" Target="../media/image102.png"/><Relationship Id="rId18" Type="http://schemas.openxmlformats.org/officeDocument/2006/relationships/image" Target="../media/image101.svg"/><Relationship Id="rId17" Type="http://schemas.openxmlformats.org/officeDocument/2006/relationships/image" Target="../media/image100.png"/><Relationship Id="rId16" Type="http://schemas.openxmlformats.org/officeDocument/2006/relationships/image" Target="../media/image99.svg"/><Relationship Id="rId15" Type="http://schemas.openxmlformats.org/officeDocument/2006/relationships/image" Target="../media/image98.png"/><Relationship Id="rId14" Type="http://schemas.openxmlformats.org/officeDocument/2006/relationships/image" Target="../media/image2.svg"/><Relationship Id="rId13" Type="http://schemas.openxmlformats.org/officeDocument/2006/relationships/image" Target="../media/image71.png"/><Relationship Id="rId12" Type="http://schemas.openxmlformats.org/officeDocument/2006/relationships/image" Target="../media/image83.svg"/><Relationship Id="rId11" Type="http://schemas.openxmlformats.org/officeDocument/2006/relationships/image" Target="../media/image82.png"/><Relationship Id="rId10" Type="http://schemas.openxmlformats.org/officeDocument/2006/relationships/image" Target="../media/image97.svg"/><Relationship Id="rId1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18.svg"/><Relationship Id="rId3" Type="http://schemas.openxmlformats.org/officeDocument/2006/relationships/image" Target="../media/image77.png"/><Relationship Id="rId2" Type="http://schemas.openxmlformats.org/officeDocument/2006/relationships/image" Target="../media/image111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7.svg"/><Relationship Id="rId13" Type="http://schemas.openxmlformats.org/officeDocument/2006/relationships/image" Target="../media/image86.png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8.sv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8.sv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12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4.png"/><Relationship Id="rId8" Type="http://schemas.openxmlformats.org/officeDocument/2006/relationships/image" Target="../media/image83.svg"/><Relationship Id="rId7" Type="http://schemas.openxmlformats.org/officeDocument/2006/relationships/image" Target="../media/image82.png"/><Relationship Id="rId6" Type="http://schemas.openxmlformats.org/officeDocument/2006/relationships/image" Target="../media/image81.svg"/><Relationship Id="rId5" Type="http://schemas.openxmlformats.org/officeDocument/2006/relationships/image" Target="../media/image80.png"/><Relationship Id="rId4" Type="http://schemas.openxmlformats.org/officeDocument/2006/relationships/image" Target="../media/image79.svg"/><Relationship Id="rId3" Type="http://schemas.openxmlformats.org/officeDocument/2006/relationships/image" Target="../media/image78.png"/><Relationship Id="rId2" Type="http://schemas.openxmlformats.org/officeDocument/2006/relationships/image" Target="../media/image18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4.png"/><Relationship Id="rId13" Type="http://schemas.openxmlformats.org/officeDocument/2006/relationships/image" Target="../media/image113.png"/><Relationship Id="rId12" Type="http://schemas.openxmlformats.org/officeDocument/2006/relationships/image" Target="../media/image87.svg"/><Relationship Id="rId11" Type="http://schemas.openxmlformats.org/officeDocument/2006/relationships/image" Target="../media/image86.png"/><Relationship Id="rId10" Type="http://schemas.openxmlformats.org/officeDocument/2006/relationships/image" Target="../media/image85.svg"/><Relationship Id="rId1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82.png"/><Relationship Id="rId8" Type="http://schemas.openxmlformats.org/officeDocument/2006/relationships/image" Target="../media/image81.svg"/><Relationship Id="rId7" Type="http://schemas.openxmlformats.org/officeDocument/2006/relationships/image" Target="../media/image80.png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18.svg"/><Relationship Id="rId3" Type="http://schemas.openxmlformats.org/officeDocument/2006/relationships/image" Target="../media/image77.png"/><Relationship Id="rId2" Type="http://schemas.openxmlformats.org/officeDocument/2006/relationships/image" Target="../media/image76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87.svg"/><Relationship Id="rId13" Type="http://schemas.openxmlformats.org/officeDocument/2006/relationships/image" Target="../media/image86.png"/><Relationship Id="rId12" Type="http://schemas.openxmlformats.org/officeDocument/2006/relationships/image" Target="../media/image85.svg"/><Relationship Id="rId11" Type="http://schemas.openxmlformats.org/officeDocument/2006/relationships/image" Target="../media/image84.png"/><Relationship Id="rId10" Type="http://schemas.openxmlformats.org/officeDocument/2006/relationships/image" Target="../media/image83.svg"/><Relationship Id="rId1" Type="http://schemas.openxmlformats.org/officeDocument/2006/relationships/image" Target="../media/image75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png"/><Relationship Id="rId8" Type="http://schemas.openxmlformats.org/officeDocument/2006/relationships/image" Target="../media/image120.svg"/><Relationship Id="rId7" Type="http://schemas.openxmlformats.org/officeDocument/2006/relationships/image" Target="../media/image119.png"/><Relationship Id="rId6" Type="http://schemas.openxmlformats.org/officeDocument/2006/relationships/image" Target="../media/image14.svg"/><Relationship Id="rId5" Type="http://schemas.openxmlformats.org/officeDocument/2006/relationships/image" Target="../media/image118.png"/><Relationship Id="rId4" Type="http://schemas.openxmlformats.org/officeDocument/2006/relationships/image" Target="../media/image6.svg"/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15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0.svg"/><Relationship Id="rId7" Type="http://schemas.openxmlformats.org/officeDocument/2006/relationships/image" Target="../media/image119.png"/><Relationship Id="rId6" Type="http://schemas.openxmlformats.org/officeDocument/2006/relationships/image" Target="../media/image14.svg"/><Relationship Id="rId5" Type="http://schemas.openxmlformats.org/officeDocument/2006/relationships/image" Target="../media/image118.png"/><Relationship Id="rId4" Type="http://schemas.openxmlformats.org/officeDocument/2006/relationships/image" Target="../media/image6.svg"/><Relationship Id="rId3" Type="http://schemas.openxmlformats.org/officeDocument/2006/relationships/image" Target="../media/image117.png"/><Relationship Id="rId2" Type="http://schemas.openxmlformats.org/officeDocument/2006/relationships/image" Target="../media/image116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3.png"/><Relationship Id="rId1" Type="http://schemas.openxmlformats.org/officeDocument/2006/relationships/image" Target="../media/image11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svg"/><Relationship Id="rId8" Type="http://schemas.openxmlformats.org/officeDocument/2006/relationships/image" Target="../media/image119.png"/><Relationship Id="rId7" Type="http://schemas.openxmlformats.org/officeDocument/2006/relationships/image" Target="../media/image14.svg"/><Relationship Id="rId6" Type="http://schemas.openxmlformats.org/officeDocument/2006/relationships/image" Target="../media/image118.png"/><Relationship Id="rId5" Type="http://schemas.openxmlformats.org/officeDocument/2006/relationships/image" Target="../media/image6.svg"/><Relationship Id="rId4" Type="http://schemas.openxmlformats.org/officeDocument/2006/relationships/image" Target="../media/image117.png"/><Relationship Id="rId3" Type="http://schemas.openxmlformats.org/officeDocument/2006/relationships/image" Target="../media/image116.svg"/><Relationship Id="rId2" Type="http://schemas.openxmlformats.org/officeDocument/2006/relationships/image" Target="../media/image115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svg"/><Relationship Id="rId8" Type="http://schemas.openxmlformats.org/officeDocument/2006/relationships/image" Target="../media/image119.png"/><Relationship Id="rId7" Type="http://schemas.openxmlformats.org/officeDocument/2006/relationships/image" Target="../media/image14.svg"/><Relationship Id="rId6" Type="http://schemas.openxmlformats.org/officeDocument/2006/relationships/image" Target="../media/image118.png"/><Relationship Id="rId5" Type="http://schemas.openxmlformats.org/officeDocument/2006/relationships/image" Target="../media/image6.svg"/><Relationship Id="rId4" Type="http://schemas.openxmlformats.org/officeDocument/2006/relationships/image" Target="../media/image117.png"/><Relationship Id="rId3" Type="http://schemas.openxmlformats.org/officeDocument/2006/relationships/image" Target="../media/image116.svg"/><Relationship Id="rId2" Type="http://schemas.openxmlformats.org/officeDocument/2006/relationships/image" Target="../media/image115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27.png"/><Relationship Id="rId1" Type="http://schemas.openxmlformats.org/officeDocument/2006/relationships/image" Target="../media/image126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0.png"/><Relationship Id="rId8" Type="http://schemas.openxmlformats.org/officeDocument/2006/relationships/image" Target="../media/image8.svg"/><Relationship Id="rId7" Type="http://schemas.openxmlformats.org/officeDocument/2006/relationships/image" Target="../media/image129.png"/><Relationship Id="rId6" Type="http://schemas.openxmlformats.org/officeDocument/2006/relationships/image" Target="../media/image6.svg"/><Relationship Id="rId5" Type="http://schemas.openxmlformats.org/officeDocument/2006/relationships/image" Target="../media/image117.png"/><Relationship Id="rId4" Type="http://schemas.openxmlformats.org/officeDocument/2006/relationships/image" Target="../media/image4.svg"/><Relationship Id="rId31" Type="http://schemas.openxmlformats.org/officeDocument/2006/relationships/slideLayout" Target="../slideLayouts/slideLayout7.xml"/><Relationship Id="rId30" Type="http://schemas.openxmlformats.org/officeDocument/2006/relationships/image" Target="../media/image30.svg"/><Relationship Id="rId3" Type="http://schemas.openxmlformats.org/officeDocument/2006/relationships/image" Target="../media/image128.png"/><Relationship Id="rId29" Type="http://schemas.openxmlformats.org/officeDocument/2006/relationships/image" Target="../media/image138.png"/><Relationship Id="rId28" Type="http://schemas.openxmlformats.org/officeDocument/2006/relationships/image" Target="../media/image28.svg"/><Relationship Id="rId27" Type="http://schemas.openxmlformats.org/officeDocument/2006/relationships/image" Target="../media/image137.png"/><Relationship Id="rId26" Type="http://schemas.openxmlformats.org/officeDocument/2006/relationships/image" Target="../media/image26.svg"/><Relationship Id="rId25" Type="http://schemas.openxmlformats.org/officeDocument/2006/relationships/image" Target="../media/image136.png"/><Relationship Id="rId24" Type="http://schemas.openxmlformats.org/officeDocument/2006/relationships/image" Target="../media/image24.svg"/><Relationship Id="rId23" Type="http://schemas.openxmlformats.org/officeDocument/2006/relationships/image" Target="../media/image135.png"/><Relationship Id="rId22" Type="http://schemas.openxmlformats.org/officeDocument/2006/relationships/image" Target="../media/image22.svg"/><Relationship Id="rId21" Type="http://schemas.openxmlformats.org/officeDocument/2006/relationships/image" Target="../media/image134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33.png"/><Relationship Id="rId18" Type="http://schemas.openxmlformats.org/officeDocument/2006/relationships/image" Target="../media/image18.svg"/><Relationship Id="rId17" Type="http://schemas.openxmlformats.org/officeDocument/2006/relationships/image" Target="../media/image77.png"/><Relationship Id="rId16" Type="http://schemas.openxmlformats.org/officeDocument/2006/relationships/image" Target="../media/image16.svg"/><Relationship Id="rId15" Type="http://schemas.openxmlformats.org/officeDocument/2006/relationships/image" Target="../media/image132.png"/><Relationship Id="rId14" Type="http://schemas.openxmlformats.org/officeDocument/2006/relationships/image" Target="../media/image14.svg"/><Relationship Id="rId13" Type="http://schemas.openxmlformats.org/officeDocument/2006/relationships/image" Target="../media/image118.png"/><Relationship Id="rId12" Type="http://schemas.openxmlformats.org/officeDocument/2006/relationships/image" Target="../media/image12.svg"/><Relationship Id="rId11" Type="http://schemas.openxmlformats.org/officeDocument/2006/relationships/image" Target="../media/image131.png"/><Relationship Id="rId10" Type="http://schemas.openxmlformats.org/officeDocument/2006/relationships/image" Target="../media/image10.svg"/><Relationship Id="rId1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7559">
            <a:off x="2514574" y="8661324"/>
            <a:ext cx="4277568" cy="2978743"/>
          </a:xfrm>
          <a:custGeom>
            <a:avLst/>
            <a:gdLst/>
            <a:ahLst/>
            <a:cxnLst/>
            <a:rect l="l" t="t" r="r" b="b"/>
            <a:pathLst>
              <a:path w="4277568" h="2978743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096905" y="3925196"/>
            <a:ext cx="2854557" cy="2956698"/>
          </a:xfrm>
          <a:custGeom>
            <a:avLst/>
            <a:gdLst/>
            <a:ahLst/>
            <a:cxnLst/>
            <a:rect l="l" t="t" r="r" b="b"/>
            <a:pathLst>
              <a:path w="2854557" h="2956698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136496" y="8228619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13011" y="7395331"/>
            <a:ext cx="4539051" cy="4810170"/>
          </a:xfrm>
          <a:custGeom>
            <a:avLst/>
            <a:gdLst/>
            <a:ahLst/>
            <a:cxnLst/>
            <a:rect l="l" t="t" r="r" b="b"/>
            <a:pathLst>
              <a:path w="4539051" h="4810170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29695" y="4662240"/>
            <a:ext cx="2058395" cy="3339578"/>
          </a:xfrm>
          <a:custGeom>
            <a:avLst/>
            <a:gdLst/>
            <a:ahLst/>
            <a:cxnLst/>
            <a:rect l="l" t="t" r="r" b="b"/>
            <a:pathLst>
              <a:path w="2058395" h="3339578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26264" y="8847163"/>
            <a:ext cx="2906489" cy="3358338"/>
          </a:xfrm>
          <a:custGeom>
            <a:avLst/>
            <a:gdLst/>
            <a:ahLst/>
            <a:cxnLst/>
            <a:rect l="l" t="t" r="r" b="b"/>
            <a:pathLst>
              <a:path w="2906489" h="3358338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7096905" y="1028700"/>
            <a:ext cx="2886146" cy="2524065"/>
          </a:xfrm>
          <a:custGeom>
            <a:avLst/>
            <a:gdLst/>
            <a:ahLst/>
            <a:cxnLst/>
            <a:rect l="l" t="t" r="r" b="b"/>
            <a:pathLst>
              <a:path w="2886146" h="2524065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696671" y="9261214"/>
            <a:ext cx="5352421" cy="2530235"/>
          </a:xfrm>
          <a:custGeom>
            <a:avLst/>
            <a:gdLst/>
            <a:ahLst/>
            <a:cxnLst/>
            <a:rect l="l" t="t" r="r" b="b"/>
            <a:pathLst>
              <a:path w="5352421" h="2530235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17113" y="-1667348"/>
            <a:ext cx="2477977" cy="3577131"/>
          </a:xfrm>
          <a:custGeom>
            <a:avLst/>
            <a:gdLst/>
            <a:ahLst/>
            <a:cxnLst/>
            <a:rect l="l" t="t" r="r" b="b"/>
            <a:pathLst>
              <a:path w="2477977" h="3577131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060863" y="-1667348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4182716">
            <a:off x="5683694" y="-2327113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81395" y="-3285587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684014" y="-184301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72660" y="2160503"/>
            <a:ext cx="2001360" cy="2251018"/>
          </a:xfrm>
          <a:custGeom>
            <a:avLst/>
            <a:gdLst/>
            <a:ahLst/>
            <a:cxnLst/>
            <a:rect l="l" t="t" r="r" b="b"/>
            <a:pathLst>
              <a:path w="2001360" h="2251018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3302274" y="2865552"/>
            <a:ext cx="11683452" cy="408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0"/>
              </a:lnSpc>
            </a:pPr>
            <a:r>
              <a:rPr lang="en-US" sz="10000" spc="-199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实验3：</a:t>
            </a:r>
            <a:endParaRPr lang="en-US" sz="10000" spc="-199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  <a:p>
            <a:pPr algn="ctr">
              <a:lnSpc>
                <a:spcPts val="9500"/>
              </a:lnSpc>
            </a:pPr>
            <a:r>
              <a:rPr lang="en-US" sz="10000" spc="-199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回溯法地图填色问题</a:t>
            </a:r>
            <a:endParaRPr lang="en-US" sz="10000" spc="-199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  <a:p>
            <a:pPr marL="0" lvl="0" indent="0" algn="ctr">
              <a:lnSpc>
                <a:spcPts val="12840"/>
              </a:lnSpc>
            </a:pP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454932" y="3790368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35209" y="6601459"/>
            <a:ext cx="12017582" cy="560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70"/>
              </a:lnSpc>
            </a:pPr>
            <a:r>
              <a:rPr lang="en-US" sz="4700" spc="-94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汇报人：杨韩冰       汇报时间：2025年5月9号</a:t>
            </a:r>
            <a:endParaRPr lang="en-US" sz="4700" spc="-94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19" name="Freeform 19"/>
          <p:cNvSpPr/>
          <p:nvPr/>
        </p:nvSpPr>
        <p:spPr>
          <a:xfrm rot="-10800000">
            <a:off x="14814655" y="3790368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128" y="3272521"/>
            <a:ext cx="7321793" cy="1477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u="none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（1）掌握回溯法算法设计思想。</a:t>
            </a:r>
            <a:endParaRPr lang="zh-CN" altLang="en-US" sz="3200" u="none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3200" u="none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（2）掌握地图填色问题的回溯法解法。</a:t>
            </a:r>
            <a:endParaRPr lang="zh-CN" altLang="en-US" sz="3200" u="none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43000" y="5574030"/>
            <a:ext cx="8536940" cy="1066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zh-CN" altLang="en-US" sz="5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二、实验步骤与结果</a:t>
            </a:r>
            <a:endParaRPr lang="zh-CN" altLang="en-US" sz="5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66800" y="1731010"/>
            <a:ext cx="5787390" cy="13296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8320"/>
              </a:lnSpc>
              <a:buClrTx/>
              <a:buSzTx/>
              <a:buFontTx/>
            </a:pPr>
            <a:r>
              <a:rPr lang="zh-CN" altLang="en-US" sz="5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一、实验目的</a:t>
            </a:r>
            <a:endParaRPr lang="zh-CN" altLang="en-US" sz="5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5" name="Freeform 5"/>
          <p:cNvSpPr/>
          <p:nvPr/>
        </p:nvSpPr>
        <p:spPr>
          <a:xfrm rot="1737559">
            <a:off x="-973962" y="8243230"/>
            <a:ext cx="4670260" cy="3252199"/>
          </a:xfrm>
          <a:custGeom>
            <a:avLst/>
            <a:gdLst/>
            <a:ahLst/>
            <a:cxnLst/>
            <a:rect l="l" t="t" r="r" b="b"/>
            <a:pathLst>
              <a:path w="4670260" h="3252199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5908749" y="-3521026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>
            <p:custDataLst>
              <p:tags r:id="rId5"/>
            </p:custDataLst>
          </p:nvPr>
        </p:nvGrpSpPr>
        <p:grpSpPr>
          <a:xfrm rot="0">
            <a:off x="10261239" y="1170261"/>
            <a:ext cx="6998061" cy="2561528"/>
            <a:chOff x="0" y="0"/>
            <a:chExt cx="2342659" cy="857492"/>
          </a:xfrm>
        </p:grpSpPr>
        <p:sp>
          <p:nvSpPr>
            <p:cNvPr id="8" name="Freeform 8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25"/>
                </a:lnSpc>
              </a:pPr>
              <a:endParaRPr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" name="TextBox 10"/>
          <p:cNvSpPr txBox="1"/>
          <p:nvPr>
            <p:custDataLst>
              <p:tags r:id="rId7"/>
            </p:custDataLst>
          </p:nvPr>
        </p:nvSpPr>
        <p:spPr>
          <a:xfrm>
            <a:off x="10767897" y="1966203"/>
            <a:ext cx="1578952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0.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grpSp>
        <p:nvGrpSpPr>
          <p:cNvPr id="11" name="Group 11"/>
          <p:cNvGrpSpPr/>
          <p:nvPr>
            <p:custDataLst>
              <p:tags r:id="rId8"/>
            </p:custDataLst>
          </p:nvPr>
        </p:nvGrpSpPr>
        <p:grpSpPr>
          <a:xfrm rot="0">
            <a:off x="10261239" y="3862348"/>
            <a:ext cx="6998061" cy="2561528"/>
            <a:chOff x="0" y="0"/>
            <a:chExt cx="2342659" cy="857492"/>
          </a:xfrm>
        </p:grpSpPr>
        <p:sp>
          <p:nvSpPr>
            <p:cNvPr id="12" name="Freeform 12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5"/>
                </a:lnSpc>
                <a:spcBef>
                  <a:spcPct val="0"/>
                </a:spcBef>
              </a:pPr>
              <a:endParaRPr>
                <a:latin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14" name="Group 14"/>
          <p:cNvGrpSpPr/>
          <p:nvPr>
            <p:custDataLst>
              <p:tags r:id="rId10"/>
            </p:custDataLst>
          </p:nvPr>
        </p:nvGrpSpPr>
        <p:grpSpPr>
          <a:xfrm rot="0">
            <a:off x="10261239" y="6557226"/>
            <a:ext cx="6998061" cy="2561528"/>
            <a:chOff x="0" y="0"/>
            <a:chExt cx="2342659" cy="857492"/>
          </a:xfrm>
        </p:grpSpPr>
        <p:sp>
          <p:nvSpPr>
            <p:cNvPr id="15" name="Freeform 15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2342659" cy="857492"/>
            </a:xfrm>
            <a:custGeom>
              <a:avLst/>
              <a:gdLst/>
              <a:ahLst/>
              <a:cxnLst/>
              <a:rect l="l" t="t" r="r" b="b"/>
              <a:pathLst>
                <a:path w="2342659" h="857492">
                  <a:moveTo>
                    <a:pt x="0" y="0"/>
                  </a:moveTo>
                  <a:lnTo>
                    <a:pt x="2342659" y="0"/>
                  </a:lnTo>
                  <a:lnTo>
                    <a:pt x="2342659" y="857492"/>
                  </a:lnTo>
                  <a:lnTo>
                    <a:pt x="0" y="857492"/>
                  </a:lnTo>
                  <a:close/>
                </a:path>
              </a:pathLst>
            </a:custGeom>
            <a:solidFill>
              <a:srgbClr val="FFDB58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85725"/>
              <a:ext cx="2342659" cy="771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925"/>
                </a:lnSpc>
                <a:spcBef>
                  <a:spcPct val="0"/>
                </a:spcBef>
              </a:pPr>
            </a:p>
          </p:txBody>
        </p:sp>
      </p:grpSp>
      <p:sp>
        <p:nvSpPr>
          <p:cNvPr id="17" name="TextBox 17"/>
          <p:cNvSpPr txBox="1"/>
          <p:nvPr>
            <p:custDataLst>
              <p:tags r:id="rId12"/>
            </p:custDataLst>
          </p:nvPr>
        </p:nvSpPr>
        <p:spPr>
          <a:xfrm>
            <a:off x="10767695" y="4635500"/>
            <a:ext cx="1579245" cy="110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1.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sp>
        <p:nvSpPr>
          <p:cNvPr id="18" name="TextBox 18"/>
          <p:cNvSpPr txBox="1"/>
          <p:nvPr>
            <p:custDataLst>
              <p:tags r:id="rId13"/>
            </p:custDataLst>
          </p:nvPr>
        </p:nvSpPr>
        <p:spPr>
          <a:xfrm>
            <a:off x="10767897" y="7353167"/>
            <a:ext cx="1578952" cy="1107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9000" spc="-738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Public Sans"/>
              </a:rPr>
              <a:t>2.</a:t>
            </a:r>
            <a:endParaRPr lang="en-US" sz="9000" spc="-738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Public Sans"/>
            </a:endParaRPr>
          </a:p>
        </p:txBody>
      </p:sp>
      <p:sp>
        <p:nvSpPr>
          <p:cNvPr id="22" name="TextBox 19"/>
          <p:cNvSpPr txBox="1"/>
          <p:nvPr>
            <p:custDataLst>
              <p:tags r:id="rId14"/>
            </p:custDataLst>
          </p:nvPr>
        </p:nvSpPr>
        <p:spPr>
          <a:xfrm>
            <a:off x="12374880" y="1416685"/>
            <a:ext cx="4337685" cy="13252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p>
            <a:pPr marL="0" lvl="0" indent="0" algn="l">
              <a:lnSpc>
                <a:spcPts val="1890"/>
              </a:lnSpc>
              <a:spcBef>
                <a:spcPct val="0"/>
              </a:spcBef>
            </a:pPr>
            <a:endParaRPr lang="zh-CN" altLang="en-US" sz="3600" b="1" u="none" spc="84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Quicksand Medium"/>
              <a:sym typeface="Quicksand Medium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887200" y="2098040"/>
            <a:ext cx="29762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实验准备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887200" y="4725670"/>
            <a:ext cx="511873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实验过程：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基本回溯法</a:t>
            </a:r>
            <a:r>
              <a:rPr lang="en-US" altLang="zh-CN" sz="400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优化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887200" y="7543800"/>
            <a:ext cx="442214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微软雅黑" panose="020B0503020204020204" charset="-122"/>
                <a:ea typeface="微软雅黑" panose="020B0503020204020204" charset="-122"/>
              </a:rPr>
              <a:t>实验结果及分析</a:t>
            </a:r>
            <a:endParaRPr lang="zh-CN" altLang="en-US" sz="4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6415" y="2705100"/>
            <a:ext cx="9615170" cy="398272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p>
            <a:endParaRPr lang="zh-CN" altLang="en-US"/>
          </a:p>
        </p:txBody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4633719" y="3924560"/>
            <a:ext cx="902056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</a:t>
            </a:r>
            <a:endParaRPr lang="zh-CN" altLang="en-US" sz="7500" b="1" spc="-15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 descr="Map Coloring, a fictional map is given showing the states of a country.  Represent the map by a graph and find a coloring of the graph, using the  minimum number of colors"/>
          <p:cNvPicPr>
            <a:picLocks noChangeAspect="1"/>
          </p:cNvPicPr>
          <p:nvPr/>
        </p:nvPicPr>
        <p:blipFill>
          <a:blip r:embed="rId1"/>
          <a:srcRect l="1476" t="5859" r="4170" b="2954"/>
          <a:stretch>
            <a:fillRect/>
          </a:stretch>
        </p:blipFill>
        <p:spPr>
          <a:xfrm>
            <a:off x="9906000" y="190500"/>
            <a:ext cx="6311265" cy="42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2"/>
          <p:cNvSpPr txBox="1"/>
          <p:nvPr/>
        </p:nvSpPr>
        <p:spPr>
          <a:xfrm>
            <a:off x="990600" y="2933700"/>
            <a:ext cx="8204835" cy="5816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(1)理论建模：</a:t>
            </a:r>
            <a:endParaRPr lang="zh-CN" altLang="en-US" sz="2800" b="1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在地图中，每个区域都可以被抽象地看为是图中的一个节点。若两个区域共享边界（相邻），则在图中用一条无向边把这两个节点连接起来。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因此，对于地图着色问题，我们可以抽象地把地图看为是一个无向图来处理，那么我们需要处理的问题就转换为：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如何为图中的每个节点分配一种颜色，使得相应节点的颜色不同，并且希望所用的颜色尽可能的少。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2" name="图片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0" y="5829300"/>
            <a:ext cx="6426835" cy="39509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直接箭头连接符 12"/>
          <p:cNvCxnSpPr>
            <a:stCxn id="11" idx="2"/>
          </p:cNvCxnSpPr>
          <p:nvPr/>
        </p:nvCxnSpPr>
        <p:spPr>
          <a:xfrm>
            <a:off x="13061950" y="4416425"/>
            <a:ext cx="44450" cy="1336675"/>
          </a:xfrm>
          <a:prstGeom prst="straightConnector1">
            <a:avLst/>
          </a:prstGeom>
          <a:ln>
            <a:solidFill>
              <a:schemeClr val="accent6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2933700"/>
            <a:ext cx="8204835" cy="45243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(2)</a:t>
            </a:r>
            <a:r>
              <a:rPr lang="zh-CN" altLang="en-US" sz="2800" b="1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数据存储：</a:t>
            </a:r>
            <a:endParaRPr lang="zh-CN" altLang="en-US" sz="2800" b="1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邻接表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OR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邻接矩阵。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邻接表适用于边稠密图而邻接矩阵适用于稀疏图。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观察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blackboard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上给出的三组地图数据可以发现，最大边数为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8260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，最大点数为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450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。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使用地图数据</a:t>
            </a:r>
            <a:r>
              <a:rPr lang="en-US" altLang="zh-CN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le450_25a</a:t>
            </a:r>
            <a:r>
              <a:rPr lang="zh-CN" altLang="en-US" sz="2800" u="none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为例，采用两种不同的存储方式，并计算枚举所有节点所需要的时间</a:t>
            </a:r>
            <a:endParaRPr lang="zh-CN" altLang="en-US" sz="2800" u="none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rcRect b="6586"/>
          <a:stretch>
            <a:fillRect/>
          </a:stretch>
        </p:blipFill>
        <p:spPr>
          <a:xfrm>
            <a:off x="7086600" y="1866900"/>
            <a:ext cx="10106660" cy="11506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9296400" y="3486785"/>
            <a:ext cx="8361045" cy="5944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可以看出，在相同图数据的条件下，采用邻接表结构存储图，相较于邻接矩阵，性能提升接近 3 倍。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这个差异主要源于深度优先搜索（DFS）算法的特性：在搜索过程中需要频繁访问并更新当前节点的所有邻居属性。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 spc="-16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</a:rPr>
              <a:t>若采用邻接矩阵存储图结构，每次更新都需对所有节点进行判断，存在大量无效访问，尤其在稀疏图中表现更为明显。相比之下，邻接表仅记录实际相邻节点，避免了无谓的判断操作，大大降低了遍历和更新的开销。故而，本实验采用邻接表存储图结构。</a:t>
            </a:r>
            <a:endParaRPr lang="zh-CN" altLang="en-US" sz="2400" spc="-16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5800" y="2095500"/>
            <a:ext cx="9552305" cy="5851525"/>
          </a:xfrm>
          <a:prstGeom prst="rect">
            <a:avLst/>
          </a:prstGeom>
        </p:spPr>
      </p:pic>
      <p:sp>
        <p:nvSpPr>
          <p:cNvPr id="2" name="TextBox 2"/>
          <p:cNvSpPr txBox="1"/>
          <p:nvPr/>
        </p:nvSpPr>
        <p:spPr>
          <a:xfrm>
            <a:off x="990600" y="2933700"/>
            <a:ext cx="6846570" cy="3231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(3)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算法正确性验证：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在小规模地图数据上进行运行。</a:t>
            </a:r>
            <a:endParaRPr lang="zh-CN" altLang="en-US" sz="2800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通过调用这个</a:t>
            </a:r>
            <a:r>
              <a:rPr lang="en-US" altLang="zh-CN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check</a:t>
            </a: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函数对每个算法正确性进行验证，同时我通过运行普通回溯法进行验证算法的正确性，发现全部正确。</a:t>
            </a:r>
            <a:endParaRPr lang="zh-CN" altLang="en-US" sz="2800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2476500"/>
            <a:ext cx="806767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(4)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随机生成地图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  <a:buFont typeface="+mj-lt"/>
              <a:buNone/>
            </a:pPr>
            <a:r>
              <a:rPr lang="zh-CN" altLang="en-US" sz="2800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一个合法的地图时，必须保证</a:t>
            </a: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生成的边两两不相交</a:t>
            </a:r>
            <a:endParaRPr lang="zh-CN" altLang="en-US" sz="2800" b="1" u="none" spc="-16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8" name="图片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0310" y="4381500"/>
            <a:ext cx="57023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本框 8"/>
          <p:cNvSpPr txBox="1"/>
          <p:nvPr/>
        </p:nvSpPr>
        <p:spPr>
          <a:xfrm>
            <a:off x="1143000" y="8100060"/>
            <a:ext cx="5845810" cy="1014730"/>
          </a:xfrm>
          <a:prstGeom prst="rect">
            <a:avLst/>
          </a:prstGeom>
          <a:noFill/>
          <a:ln w="76200">
            <a:solidFill>
              <a:srgbClr val="FAD85D"/>
            </a:solidFill>
            <a:prstDash val="sysDot"/>
          </a:ln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导致物理上的冲突。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在平面几何中，相交的边无法同时表示相邻的区域。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4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65335" y="1562100"/>
            <a:ext cx="6496685" cy="802703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圆角矩形 11"/>
          <p:cNvSpPr/>
          <p:nvPr/>
        </p:nvSpPr>
        <p:spPr>
          <a:xfrm>
            <a:off x="9525000" y="723900"/>
            <a:ext cx="3733800" cy="533400"/>
          </a:xfrm>
          <a:prstGeom prst="roundRect">
            <a:avLst/>
          </a:prstGeom>
          <a:solidFill>
            <a:srgbClr val="FAD85D"/>
          </a:solidFill>
          <a:ln>
            <a:solidFill>
              <a:srgbClr val="FAD85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流程图</a:t>
            </a:r>
            <a:endParaRPr lang="zh-CN" altLang="en-US" sz="2800" b="1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下箭头 15"/>
          <p:cNvSpPr/>
          <p:nvPr/>
        </p:nvSpPr>
        <p:spPr>
          <a:xfrm>
            <a:off x="3733800" y="7200900"/>
            <a:ext cx="685800" cy="819785"/>
          </a:xfrm>
          <a:prstGeom prst="downArrow">
            <a:avLst/>
          </a:prstGeom>
          <a:solidFill>
            <a:srgbClr val="FAD85D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2"/>
          <p:cNvPicPr>
            <a:picLocks noChangeAspect="1"/>
          </p:cNvPicPr>
          <p:nvPr/>
        </p:nvPicPr>
        <p:blipFill>
          <a:blip r:embed="rId1"/>
          <a:srcRect t="33596"/>
          <a:stretch>
            <a:fillRect/>
          </a:stretch>
        </p:blipFill>
        <p:spPr>
          <a:xfrm>
            <a:off x="7848600" y="8343900"/>
            <a:ext cx="10350500" cy="152527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2"/>
          <p:cNvSpPr txBox="1"/>
          <p:nvPr/>
        </p:nvSpPr>
        <p:spPr>
          <a:xfrm>
            <a:off x="914400" y="2476500"/>
            <a:ext cx="8067675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(4)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随机生成地图</a:t>
            </a:r>
            <a:r>
              <a:rPr lang="zh-CN" altLang="en-US" sz="2800" b="1" u="none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：</a:t>
            </a:r>
            <a:endParaRPr lang="zh-CN" altLang="en-US" sz="2800" b="1" u="none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  <a:buFont typeface="+mj-lt"/>
              <a:buNone/>
            </a:pP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如何证明两条边相交</a:t>
            </a:r>
            <a:r>
              <a:rPr lang="en-US" altLang="zh-CN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---</a:t>
            </a:r>
            <a:r>
              <a:rPr lang="zh-CN" altLang="en-US" sz="2800" b="1" u="none" spc="-16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叉乘和点积</a:t>
            </a:r>
            <a:endParaRPr lang="zh-CN" altLang="en-US" sz="2800" b="1" u="none" spc="-16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66800" y="876394"/>
            <a:ext cx="6680372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altLang="zh-CN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0.</a:t>
            </a:r>
            <a:r>
              <a:rPr lang="zh-CN" altLang="en-US" sz="4400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实验准备：</a:t>
            </a:r>
            <a:endParaRPr lang="zh-CN" altLang="en-US" sz="4400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图片 13" descr="17461641475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4400" y="4997450"/>
            <a:ext cx="3563620" cy="35032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38200" y="4152900"/>
            <a:ext cx="45046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向量叉乘定理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86000" y="7505700"/>
            <a:ext cx="4893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 = 2 &gt; 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OB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的逆时针方向；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en-US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 = -2 &lt; 0, OC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的顺势针方向。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96200" y="647700"/>
            <a:ext cx="69723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两条线段相交的充要条件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C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和点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D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分别位于线段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AB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的两侧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A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和点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B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分别位于线段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 CD 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的两侧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46"/>
          <p:cNvPicPr>
            <a:picLocks noChangeAspect="1"/>
          </p:cNvPicPr>
          <p:nvPr/>
        </p:nvPicPr>
        <p:blipFill>
          <a:blip r:embed="rId11"/>
          <a:srcRect b="5051"/>
          <a:stretch>
            <a:fillRect/>
          </a:stretch>
        </p:blipFill>
        <p:spPr>
          <a:xfrm>
            <a:off x="7848600" y="2604135"/>
            <a:ext cx="6229350" cy="253936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本框 17"/>
          <p:cNvSpPr txBox="1"/>
          <p:nvPr/>
        </p:nvSpPr>
        <p:spPr>
          <a:xfrm>
            <a:off x="7696200" y="5524500"/>
            <a:ext cx="67024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特殊情况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端点接触（单点相交）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叉乘结果一方为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共线重合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判断点积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CA⋅CB≤0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说明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位于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AB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上或与其重叠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401800" y="4610100"/>
            <a:ext cx="3340735" cy="2708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36415" y="2705100"/>
            <a:ext cx="9615170" cy="398272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4633719" y="3924560"/>
            <a:ext cx="9020563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00"/>
              </a:lnSpc>
            </a:pPr>
            <a:r>
              <a:rPr 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01.</a:t>
            </a:r>
            <a:r>
              <a:rPr lang="zh-CN" altLang="en-US" sz="7500" b="1" spc="-15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基本回溯法</a:t>
            </a:r>
            <a:endParaRPr lang="zh-CN" altLang="en-US" sz="7500" b="1" spc="-15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400" y="876300"/>
            <a:ext cx="7696835" cy="874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reeform 2"/>
          <p:cNvSpPr/>
          <p:nvPr/>
        </p:nvSpPr>
        <p:spPr>
          <a:xfrm>
            <a:off x="1447800" y="1330325"/>
            <a:ext cx="7903845" cy="8387715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524000" y="1330325"/>
            <a:ext cx="7572375" cy="81324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(1)算法原理：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逐步尝试+回退重试</a:t>
            </a: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，</a:t>
            </a: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尝试 → 失败就撤销并换另一个尝试 → 成功就继续深入递归。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altLang="zh-CN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(2)</a:t>
            </a:r>
            <a:r>
              <a:rPr lang="zh-CN" altLang="en-US" sz="2800" b="1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思路：</a:t>
            </a:r>
            <a:endParaRPr lang="zh-CN" altLang="en-US" sz="2800" b="1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从第一个节点开始，依次为每个节点尝试分配可用颜色。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在为某一节点着色时，会优先检测当前的颜色是否会与相邻节点的颜色相冲突。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如果当前选择的颜色可行，则进入下一节点的递归着色流程</a:t>
            </a:r>
            <a:r>
              <a:rPr lang="en-US" altLang="zh-CN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;</a:t>
            </a:r>
            <a:endParaRPr lang="en-US" altLang="zh-CN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  <a:p>
            <a:pPr marL="457200" lvl="0" indent="-4572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800" u="none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Quicksand Semi-Bold"/>
              </a:rPr>
              <a:t>如果后续着色失败或者无可行颜色，则会回退到上一步，撤销当前节点的颜色选择方案，并尝试其他颜色方案。</a:t>
            </a:r>
            <a:endParaRPr lang="zh-CN" altLang="en-US" sz="2800" u="none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Quicksand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00200" y="1905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4"/>
          <p:cNvSpPr/>
          <p:nvPr/>
        </p:nvSpPr>
        <p:spPr>
          <a:xfrm>
            <a:off x="7467600" y="1714500"/>
            <a:ext cx="10717530" cy="8408670"/>
          </a:xfrm>
          <a:custGeom>
            <a:avLst/>
            <a:gdLst/>
            <a:ahLst/>
            <a:cxnLst/>
            <a:rect l="l" t="t" r="r" b="b"/>
            <a:pathLst>
              <a:path w="34823400" h="34823400">
                <a:moveTo>
                  <a:pt x="34823400" y="34823400"/>
                </a:moveTo>
                <a:lnTo>
                  <a:pt x="0" y="34823400"/>
                </a:lnTo>
                <a:lnTo>
                  <a:pt x="0" y="0"/>
                </a:lnTo>
                <a:lnTo>
                  <a:pt x="34823400" y="0"/>
                </a:lnTo>
                <a:lnTo>
                  <a:pt x="34823400" y="3482340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16" name="Freeform 2"/>
          <p:cNvSpPr/>
          <p:nvPr/>
        </p:nvSpPr>
        <p:spPr>
          <a:xfrm>
            <a:off x="7494905" y="1817370"/>
            <a:ext cx="10640060" cy="8410575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1066800" y="2324100"/>
            <a:ext cx="7345045" cy="56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altLang="zh-CN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(3)</a:t>
            </a:r>
            <a:r>
              <a:rPr lang="zh-CN" altLang="en-US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运行结果：</a:t>
            </a:r>
            <a:endParaRPr lang="zh-CN" altLang="en-US" sz="3600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8" name="Freeform 8"/>
          <p:cNvSpPr/>
          <p:nvPr/>
        </p:nvSpPr>
        <p:spPr>
          <a:xfrm rot="1737559">
            <a:off x="-973962" y="8243230"/>
            <a:ext cx="4670260" cy="3252199"/>
          </a:xfrm>
          <a:custGeom>
            <a:avLst/>
            <a:gdLst/>
            <a:ahLst/>
            <a:cxnLst/>
            <a:rect l="l" t="t" r="r" b="b"/>
            <a:pathLst>
              <a:path w="4670260" h="3252199">
                <a:moveTo>
                  <a:pt x="0" y="0"/>
                </a:moveTo>
                <a:lnTo>
                  <a:pt x="4670260" y="0"/>
                </a:lnTo>
                <a:lnTo>
                  <a:pt x="4670260" y="3252199"/>
                </a:lnTo>
                <a:lnTo>
                  <a:pt x="0" y="325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Freeform 9"/>
          <p:cNvSpPr/>
          <p:nvPr/>
        </p:nvSpPr>
        <p:spPr>
          <a:xfrm>
            <a:off x="14437963" y="-3539609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12" name="图片 11" descr="735e59f40f6fdaf59dbc086e1b52f62"/>
          <p:cNvPicPr>
            <a:picLocks noChangeAspect="1"/>
          </p:cNvPicPr>
          <p:nvPr/>
        </p:nvPicPr>
        <p:blipFill>
          <a:blip r:embed="rId8"/>
          <a:srcRect r="22105"/>
          <a:stretch>
            <a:fillRect/>
          </a:stretch>
        </p:blipFill>
        <p:spPr>
          <a:xfrm>
            <a:off x="1066800" y="3390900"/>
            <a:ext cx="5638800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7"/>
          <p:cNvSpPr txBox="1"/>
          <p:nvPr/>
        </p:nvSpPr>
        <p:spPr>
          <a:xfrm>
            <a:off x="8229600" y="2247900"/>
            <a:ext cx="7345045" cy="560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4370"/>
              </a:lnSpc>
            </a:pPr>
            <a:r>
              <a:rPr lang="en-US" altLang="zh-CN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(4)</a:t>
            </a:r>
            <a:r>
              <a:rPr lang="zh-CN" altLang="en-US" sz="3600" spc="-94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算法过程可视化展示：</a:t>
            </a:r>
            <a:endParaRPr lang="zh-CN" altLang="en-US" sz="3600" spc="-94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15" name="回溯法过程">
            <a:hlinkClick r:id="" action="ppaction://media"/>
          </p:cNvPr>
          <p:cNvPicPr/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0710" y="3238500"/>
            <a:ext cx="9396095" cy="6262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圆角矩形 14"/>
          <p:cNvSpPr/>
          <p:nvPr/>
        </p:nvSpPr>
        <p:spPr>
          <a:xfrm>
            <a:off x="1143000" y="2095500"/>
            <a:ext cx="3886200" cy="762000"/>
          </a:xfrm>
          <a:prstGeom prst="roundRect">
            <a:avLst/>
          </a:prstGeom>
          <a:solidFill>
            <a:srgbClr val="BDDB77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145000" y="4686205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1503045" y="3162300"/>
            <a:ext cx="13024485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整体搜索过程可以抽象为一棵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叉、深度为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n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的搜索树，代表每个节点在每一层进行颜色选择。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l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具体地，每一步递归操作包含两部分开销：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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首先对当前节点在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种颜色中逐一尝试；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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每次赋色后，需要检查所有相邻节点是否存在冲突，最坏情况下需检查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n−1 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个邻接节点。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342900" lvl="0" indent="-342900" algn="l" fontAlgn="auto">
              <a:lnSpc>
                <a:spcPct val="150000"/>
              </a:lnSpc>
              <a:spcBef>
                <a:spcPct val="0"/>
              </a:spcBef>
              <a:buFont typeface="Wingdings" panose="05000000000000000000" charset="0"/>
              <a:buChar char="Ø"/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因此，单次递归调用的时间复杂度为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O(k</a:t>
            </a:r>
            <a:r>
              <a:rPr lang="en-US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×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n)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。而最坏情况下需要遍历整棵搜索树，总共有</a:t>
            </a:r>
            <a:r>
              <a:rPr lang="en-US" altLang="zh-CN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 k^n</a:t>
            </a: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个节点。</a:t>
            </a:r>
            <a:endParaRPr lang="zh-CN" altLang="en-US" sz="2400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  <a:p>
            <a:pPr marL="0"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zh-CN" altLang="en-US" sz="2400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综上，基本回溯法的整体时间复杂度为：</a:t>
            </a:r>
            <a:r>
              <a:rPr lang="en-US" altLang="zh-CN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O(k^n</a:t>
            </a:r>
            <a:r>
              <a:rPr lang="en-US" altLang="en-US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×</a:t>
            </a:r>
            <a:r>
              <a:rPr lang="en-US" altLang="zh-CN" sz="2400" b="1" u="none" spc="6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Quicksand Semi-Bold"/>
              </a:rPr>
              <a:t>n)</a:t>
            </a:r>
            <a:endParaRPr lang="en-US" altLang="zh-CN" sz="2400" b="1" u="none" spc="6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Quicksand Semi-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1790700"/>
            <a:ext cx="4831715" cy="93154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7800"/>
              </a:lnSpc>
            </a:pPr>
            <a:r>
              <a:rPr lang="zh-CN" altLang="en-US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（</a:t>
            </a:r>
            <a:r>
              <a:rPr lang="en-US" altLang="zh-CN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5</a:t>
            </a:r>
            <a:r>
              <a:rPr lang="zh-CN" altLang="en-US" sz="2800" spc="-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黄煜臣江西拙楷体" panose="02010600040101010101" charset="-122"/>
                <a:sym typeface="黄煜臣江西拙楷体" panose="02010600040101010101" charset="-122"/>
              </a:rPr>
              <a:t>）时间复杂度分析</a:t>
            </a:r>
            <a:r>
              <a:rPr lang="zh-CN" altLang="en-US" sz="2800" spc="-150">
                <a:solidFill>
                  <a:schemeClr val="tx1"/>
                </a:solidFill>
                <a:latin typeface="Calibri" panose="020F0502020204030204" charset="0"/>
                <a:ea typeface="黄煜臣江西拙楷体" panose="020106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：</a:t>
            </a:r>
            <a:endParaRPr lang="zh-CN" altLang="en-US" sz="2800" spc="-150">
              <a:solidFill>
                <a:schemeClr val="tx1"/>
              </a:solidFill>
              <a:latin typeface="Calibri" panose="020F0502020204030204" charset="0"/>
              <a:ea typeface="黄煜臣江西拙楷体" panose="02010600040101010101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1.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普通回溯法：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439275" y="7658100"/>
            <a:ext cx="6406515" cy="2307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528CCC"/>
                </a:solidFill>
                <a:latin typeface="思源黑体 2 Bold" panose="020B0600000000000000" charset="-122"/>
                <a:sym typeface="+mn-ea"/>
              </a:rPr>
              <a:t> </a:t>
            </a:r>
            <a:endParaRPr lang="en-US" sz="2900" spc="289">
              <a:solidFill>
                <a:srgbClr val="528CCC"/>
              </a:solidFill>
              <a:latin typeface="思源黑体 2 Bold" panose="020B0600000000000000" charset="-122"/>
            </a:endParaRPr>
          </a:p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BDD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这是一个巨大的指数级别，</a:t>
            </a:r>
            <a:endParaRPr lang="en-US" sz="2900" spc="289">
              <a:solidFill>
                <a:srgbClr val="BDD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ts val="4060"/>
              </a:lnSpc>
            </a:pPr>
            <a:r>
              <a:rPr lang="en-US" sz="2900" spc="289">
                <a:solidFill>
                  <a:srgbClr val="BDDB7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我们一定要对此回溯法进行优化！</a:t>
            </a:r>
            <a:endParaRPr lang="en-US" altLang="en-US" sz="2900" spc="289">
              <a:solidFill>
                <a:srgbClr val="BDDB7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13" descr="箭头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72400" y="7917180"/>
            <a:ext cx="1341755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0230" y="2867660"/>
            <a:ext cx="9527540" cy="455168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5421313" y="4610100"/>
            <a:ext cx="7445375" cy="1066800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lvl="0" indent="0" algn="ctr">
              <a:lnSpc>
                <a:spcPts val="8320"/>
              </a:lnSpc>
            </a:pPr>
            <a:r>
              <a:rPr 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2.</a:t>
            </a:r>
            <a:r>
              <a:rPr lang="zh-CN" alt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优化回溯算法</a:t>
            </a:r>
            <a:endParaRPr lang="zh-CN" altLang="en-US" sz="8000" b="1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4142" y="3290364"/>
            <a:ext cx="4494794" cy="3031943"/>
          </a:xfrm>
          <a:custGeom>
            <a:avLst/>
            <a:gdLst/>
            <a:ahLst/>
            <a:cxnLst/>
            <a:rect l="l" t="t" r="r" b="b"/>
            <a:pathLst>
              <a:path w="4494794" h="3031943">
                <a:moveTo>
                  <a:pt x="0" y="0"/>
                </a:moveTo>
                <a:lnTo>
                  <a:pt x="4494794" y="0"/>
                </a:lnTo>
                <a:lnTo>
                  <a:pt x="4494794" y="3031943"/>
                </a:lnTo>
                <a:lnTo>
                  <a:pt x="0" y="30319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124142" y="6418731"/>
            <a:ext cx="4494794" cy="3187218"/>
          </a:xfrm>
          <a:custGeom>
            <a:avLst/>
            <a:gdLst/>
            <a:ahLst/>
            <a:cxnLst/>
            <a:rect l="l" t="t" r="r" b="b"/>
            <a:pathLst>
              <a:path w="4494794" h="3187218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2669064" y="681051"/>
            <a:ext cx="4494794" cy="3187218"/>
          </a:xfrm>
          <a:custGeom>
            <a:avLst/>
            <a:gdLst/>
            <a:ahLst/>
            <a:cxnLst/>
            <a:rect l="l" t="t" r="r" b="b"/>
            <a:pathLst>
              <a:path w="4494794" h="3187218">
                <a:moveTo>
                  <a:pt x="0" y="0"/>
                </a:moveTo>
                <a:lnTo>
                  <a:pt x="4494794" y="0"/>
                </a:lnTo>
                <a:lnTo>
                  <a:pt x="4494794" y="3187218"/>
                </a:lnTo>
                <a:lnTo>
                  <a:pt x="0" y="31872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2647295" y="3909695"/>
            <a:ext cx="4580255" cy="2856865"/>
          </a:xfrm>
          <a:custGeom>
            <a:avLst/>
            <a:gdLst/>
            <a:ahLst/>
            <a:cxnLst/>
            <a:rect l="l" t="t" r="r" b="b"/>
            <a:pathLst>
              <a:path w="4494794" h="2508913">
                <a:moveTo>
                  <a:pt x="0" y="0"/>
                </a:moveTo>
                <a:lnTo>
                  <a:pt x="4494794" y="0"/>
                </a:lnTo>
                <a:lnTo>
                  <a:pt x="4494794" y="2508913"/>
                </a:lnTo>
                <a:lnTo>
                  <a:pt x="0" y="25089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TextBox 8"/>
          <p:cNvSpPr txBox="1"/>
          <p:nvPr/>
        </p:nvSpPr>
        <p:spPr>
          <a:xfrm>
            <a:off x="7217410" y="4411980"/>
            <a:ext cx="3852545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indent="0" algn="l" fontAlgn="auto">
              <a:lnSpc>
                <a:spcPct val="150000"/>
              </a:lnSpc>
              <a:spcBef>
                <a:spcPct val="0"/>
              </a:spcBef>
            </a:pPr>
            <a:r>
              <a:rPr lang="en-US" sz="4800" spc="210">
                <a:solidFill>
                  <a:srgbClr val="54545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四种深搜回溯的优化剪枝</a:t>
            </a:r>
            <a:r>
              <a:rPr lang="en-US" sz="4800" spc="210">
                <a:solidFill>
                  <a:srgbClr val="545454"/>
                </a:solidFill>
                <a:ea typeface="Adirek HC Bold"/>
                <a:sym typeface="+mn-ea"/>
              </a:rPr>
              <a:t>：</a:t>
            </a:r>
            <a:endParaRPr lang="en-US" sz="4800" spc="210">
              <a:solidFill>
                <a:srgbClr val="545454"/>
              </a:solidFill>
              <a:latin typeface="黄煜臣江西拙楷体" panose="02010600040101010101" charset="-122"/>
              <a:ea typeface="Adirek HC Bold"/>
              <a:cs typeface="黄煜臣江西拙楷体" panose="02010600040101010101" charset="-122"/>
              <a:sym typeface="+mn-ea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3825" y="3771900"/>
            <a:ext cx="3956050" cy="22542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优化搜索顺序：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优先着色颜色选择受限的节点（如邻居多的点），可以更早暴露冲突，减少后续无效搜索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954000" y="4152900"/>
            <a:ext cx="3975100" cy="21082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最优性剪枝：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若问题要求找到最优解（如最少颜色数），则可以在当前方案已劣于已知最优时及时剪枝。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106400" y="866140"/>
            <a:ext cx="3757930" cy="28174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可行性剪枝：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若在着色过程中发现某个节点无任何可用颜色，说明当前分支无法完成，应立即回溯。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16" name="Freeform 16"/>
          <p:cNvSpPr/>
          <p:nvPr/>
        </p:nvSpPr>
        <p:spPr>
          <a:xfrm rot="4182716">
            <a:off x="8570472" y="-2234255"/>
            <a:ext cx="2943750" cy="3630186"/>
          </a:xfrm>
          <a:custGeom>
            <a:avLst/>
            <a:gdLst/>
            <a:ahLst/>
            <a:cxnLst/>
            <a:rect l="l" t="t" r="r" b="b"/>
            <a:pathLst>
              <a:path w="2943750" h="3630186">
                <a:moveTo>
                  <a:pt x="0" y="0"/>
                </a:moveTo>
                <a:lnTo>
                  <a:pt x="2943751" y="0"/>
                </a:lnTo>
                <a:lnTo>
                  <a:pt x="2943751" y="3630186"/>
                </a:lnTo>
                <a:lnTo>
                  <a:pt x="0" y="36301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7459133" y="580188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8"/>
                </a:lnTo>
                <a:lnTo>
                  <a:pt x="0" y="37264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 rot="1737559">
            <a:off x="6016825" y="8980873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-2085825" y="1189741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2" y="0"/>
                </a:lnTo>
                <a:lnTo>
                  <a:pt x="2781342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11"/>
          <p:cNvSpPr txBox="1"/>
          <p:nvPr/>
        </p:nvSpPr>
        <p:spPr>
          <a:xfrm>
            <a:off x="1371600" y="6896100"/>
            <a:ext cx="4018280" cy="22155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altLang="en-US" sz="2400" b="1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排除等效冗余：</a:t>
            </a:r>
            <a:r>
              <a:rPr lang="zh-CN" altLang="en-US" sz="2400">
                <a:solidFill>
                  <a:srgbClr val="303030"/>
                </a:solidFill>
                <a:latin typeface="微软雅黑" panose="020B0503020204020204" charset="-122"/>
                <a:ea typeface="微软雅黑" panose="020B0503020204020204" charset="-122"/>
                <a:cs typeface="Lazydog"/>
                <a:sym typeface="Lazydog"/>
              </a:rPr>
              <a:t>在搜索过程中，避免探索本质相同的状态（如节点着色顺序不同但颜色配置一致），减少重复计算。</a:t>
            </a:r>
            <a:endParaRPr lang="zh-CN" altLang="en-US" sz="2400">
              <a:solidFill>
                <a:srgbClr val="303030"/>
              </a:solidFill>
              <a:latin typeface="微软雅黑" panose="020B0503020204020204" charset="-122"/>
              <a:ea typeface="微软雅黑" panose="020B0503020204020204" charset="-122"/>
              <a:cs typeface="Lazydog"/>
              <a:sym typeface="Lazydog"/>
            </a:endParaRPr>
          </a:p>
        </p:txBody>
      </p:sp>
      <p:sp>
        <p:nvSpPr>
          <p:cNvPr id="21" name="TextBox 10"/>
          <p:cNvSpPr txBox="1"/>
          <p:nvPr/>
        </p:nvSpPr>
        <p:spPr>
          <a:xfrm>
            <a:off x="990600" y="5715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pic>
        <p:nvPicPr>
          <p:cNvPr id="22" name="图片 21" descr="1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826125" y="3924300"/>
            <a:ext cx="914400" cy="914400"/>
          </a:xfrm>
          <a:prstGeom prst="rect">
            <a:avLst/>
          </a:prstGeom>
        </p:spPr>
      </p:pic>
      <p:pic>
        <p:nvPicPr>
          <p:cNvPr id="24" name="图片 23" descr="2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67400" y="7267575"/>
            <a:ext cx="914400" cy="914400"/>
          </a:xfrm>
          <a:prstGeom prst="rect">
            <a:avLst/>
          </a:prstGeom>
        </p:spPr>
      </p:pic>
      <p:pic>
        <p:nvPicPr>
          <p:cNvPr id="25" name="图片 24" descr="3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353800" y="647700"/>
            <a:ext cx="914400" cy="914400"/>
          </a:xfrm>
          <a:prstGeom prst="rect">
            <a:avLst/>
          </a:prstGeom>
        </p:spPr>
      </p:pic>
      <p:pic>
        <p:nvPicPr>
          <p:cNvPr id="26" name="图片 25" descr="4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341100" y="3619500"/>
            <a:ext cx="914400" cy="91440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11631295" y="819150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pSp>
        <p:nvGrpSpPr>
          <p:cNvPr id="30" name="组合 29" descr="7b0a202020202274657874626f78223a2022220a7d0a"/>
          <p:cNvGrpSpPr/>
          <p:nvPr/>
        </p:nvGrpSpPr>
        <p:grpSpPr>
          <a:xfrm>
            <a:off x="9848215" y="7796530"/>
            <a:ext cx="7978775" cy="2416175"/>
            <a:chOff x="5852" y="3463"/>
            <a:chExt cx="7505" cy="3703"/>
          </a:xfrm>
        </p:grpSpPr>
        <p:grpSp>
          <p:nvGrpSpPr>
            <p:cNvPr id="31" name="图形 95"/>
            <p:cNvGrpSpPr/>
            <p:nvPr/>
          </p:nvGrpSpPr>
          <p:grpSpPr>
            <a:xfrm>
              <a:off x="5852" y="3463"/>
              <a:ext cx="7505" cy="3703"/>
              <a:chOff x="3715745" y="2198779"/>
              <a:chExt cx="4765884" cy="2350993"/>
            </a:xfrm>
          </p:grpSpPr>
          <p:sp>
            <p:nvSpPr>
              <p:cNvPr id="32" name="图形 95"/>
              <p:cNvSpPr/>
              <p:nvPr/>
            </p:nvSpPr>
            <p:spPr>
              <a:xfrm>
                <a:off x="3715745" y="3536617"/>
                <a:ext cx="925302" cy="964340"/>
              </a:xfrm>
              <a:custGeom>
                <a:avLst/>
                <a:gdLst>
                  <a:gd name="connsiteX0" fmla="*/ 142435 w 925302"/>
                  <a:gd name="connsiteY0" fmla="*/ 379828 h 964340"/>
                  <a:gd name="connsiteX1" fmla="*/ 11606 w 925302"/>
                  <a:gd name="connsiteY1" fmla="*/ 0 h 964340"/>
                  <a:gd name="connsiteX2" fmla="*/ 0 w 925302"/>
                  <a:gd name="connsiteY2" fmla="*/ 136105 h 964340"/>
                  <a:gd name="connsiteX3" fmla="*/ 828236 w 925302"/>
                  <a:gd name="connsiteY3" fmla="*/ 964341 h 964340"/>
                  <a:gd name="connsiteX4" fmla="*/ 925303 w 925302"/>
                  <a:gd name="connsiteY4" fmla="*/ 958010 h 964340"/>
                  <a:gd name="connsiteX5" fmla="*/ 730114 w 925302"/>
                  <a:gd name="connsiteY5" fmla="*/ 882045 h 964340"/>
                  <a:gd name="connsiteX6" fmla="*/ 142435 w 925302"/>
                  <a:gd name="connsiteY6" fmla="*/ 379828 h 964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5302" h="964340">
                    <a:moveTo>
                      <a:pt x="142435" y="379828"/>
                    </a:moveTo>
                    <a:cubicBezTo>
                      <a:pt x="69635" y="260604"/>
                      <a:pt x="26377" y="132940"/>
                      <a:pt x="11606" y="0"/>
                    </a:cubicBezTo>
                    <a:cubicBezTo>
                      <a:pt x="4220" y="44313"/>
                      <a:pt x="0" y="89682"/>
                      <a:pt x="0" y="136105"/>
                    </a:cubicBezTo>
                    <a:cubicBezTo>
                      <a:pt x="0" y="592953"/>
                      <a:pt x="371387" y="964341"/>
                      <a:pt x="828236" y="964341"/>
                    </a:cubicBezTo>
                    <a:cubicBezTo>
                      <a:pt x="860943" y="964341"/>
                      <a:pt x="893651" y="962231"/>
                      <a:pt x="925303" y="958010"/>
                    </a:cubicBezTo>
                    <a:cubicBezTo>
                      <a:pt x="859888" y="936909"/>
                      <a:pt x="794473" y="912642"/>
                      <a:pt x="730114" y="882045"/>
                    </a:cubicBezTo>
                    <a:cubicBezTo>
                      <a:pt x="584513" y="815575"/>
                      <a:pt x="313358" y="660479"/>
                      <a:pt x="142435" y="379828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3" name="图形 95"/>
              <p:cNvSpPr/>
              <p:nvPr/>
            </p:nvSpPr>
            <p:spPr>
              <a:xfrm>
                <a:off x="6642529" y="2229377"/>
                <a:ext cx="1282974" cy="504326"/>
              </a:xfrm>
              <a:custGeom>
                <a:avLst/>
                <a:gdLst>
                  <a:gd name="connsiteX0" fmla="*/ 1093060 w 1282974"/>
                  <a:gd name="connsiteY0" fmla="*/ 377718 h 504326"/>
                  <a:gd name="connsiteX1" fmla="*/ 1266093 w 1282974"/>
                  <a:gd name="connsiteY1" fmla="*/ 493776 h 504326"/>
                  <a:gd name="connsiteX2" fmla="*/ 1282974 w 1282974"/>
                  <a:gd name="connsiteY2" fmla="*/ 504327 h 504326"/>
                  <a:gd name="connsiteX3" fmla="*/ 1218614 w 1282974"/>
                  <a:gd name="connsiteY3" fmla="*/ 416756 h 504326"/>
                  <a:gd name="connsiteX4" fmla="*/ 713232 w 1282974"/>
                  <a:gd name="connsiteY4" fmla="*/ 86516 h 504326"/>
                  <a:gd name="connsiteX5" fmla="*/ 257439 w 1282974"/>
                  <a:gd name="connsiteY5" fmla="*/ 0 h 504326"/>
                  <a:gd name="connsiteX6" fmla="*/ 115004 w 1282974"/>
                  <a:gd name="connsiteY6" fmla="*/ 10551 h 504326"/>
                  <a:gd name="connsiteX7" fmla="*/ 0 w 1282974"/>
                  <a:gd name="connsiteY7" fmla="*/ 39038 h 504326"/>
                  <a:gd name="connsiteX8" fmla="*/ 292257 w 1282974"/>
                  <a:gd name="connsiteY8" fmla="*/ 86516 h 504326"/>
                  <a:gd name="connsiteX9" fmla="*/ 1093060 w 1282974"/>
                  <a:gd name="connsiteY9" fmla="*/ 377718 h 504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82974" h="504326">
                    <a:moveTo>
                      <a:pt x="1093060" y="377718"/>
                    </a:moveTo>
                    <a:cubicBezTo>
                      <a:pt x="1142649" y="417811"/>
                      <a:pt x="1202788" y="454738"/>
                      <a:pt x="1266093" y="493776"/>
                    </a:cubicBezTo>
                    <a:cubicBezTo>
                      <a:pt x="1271368" y="496941"/>
                      <a:pt x="1277699" y="500107"/>
                      <a:pt x="1282974" y="504327"/>
                    </a:cubicBezTo>
                    <a:cubicBezTo>
                      <a:pt x="1265038" y="474785"/>
                      <a:pt x="1243937" y="446298"/>
                      <a:pt x="1218614" y="416756"/>
                    </a:cubicBezTo>
                    <a:cubicBezTo>
                      <a:pt x="1101501" y="280651"/>
                      <a:pt x="922138" y="163537"/>
                      <a:pt x="713232" y="86516"/>
                    </a:cubicBezTo>
                    <a:cubicBezTo>
                      <a:pt x="558136" y="29542"/>
                      <a:pt x="400929" y="0"/>
                      <a:pt x="257439" y="0"/>
                    </a:cubicBezTo>
                    <a:cubicBezTo>
                      <a:pt x="207850" y="0"/>
                      <a:pt x="160372" y="3165"/>
                      <a:pt x="115004" y="10551"/>
                    </a:cubicBezTo>
                    <a:cubicBezTo>
                      <a:pt x="72801" y="16881"/>
                      <a:pt x="34818" y="26377"/>
                      <a:pt x="0" y="39038"/>
                    </a:cubicBezTo>
                    <a:cubicBezTo>
                      <a:pt x="104453" y="59084"/>
                      <a:pt x="201520" y="73855"/>
                      <a:pt x="292257" y="86516"/>
                    </a:cubicBezTo>
                    <a:cubicBezTo>
                      <a:pt x="592954" y="130830"/>
                      <a:pt x="830346" y="165647"/>
                      <a:pt x="1093060" y="377718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4" name="图形 95"/>
              <p:cNvSpPr/>
              <p:nvPr/>
            </p:nvSpPr>
            <p:spPr>
              <a:xfrm>
                <a:off x="5813239" y="4436964"/>
                <a:ext cx="767041" cy="112808"/>
              </a:xfrm>
              <a:custGeom>
                <a:avLst/>
                <a:gdLst>
                  <a:gd name="connsiteX0" fmla="*/ 194134 w 767041"/>
                  <a:gd name="connsiteY0" fmla="*/ 58719 h 112808"/>
                  <a:gd name="connsiteX1" fmla="*/ 0 w 767041"/>
                  <a:gd name="connsiteY1" fmla="*/ 92481 h 112808"/>
                  <a:gd name="connsiteX2" fmla="*/ 329184 w 767041"/>
                  <a:gd name="connsiteY2" fmla="*/ 110418 h 112808"/>
                  <a:gd name="connsiteX3" fmla="*/ 767041 w 767041"/>
                  <a:gd name="connsiteY3" fmla="*/ 13351 h 112808"/>
                  <a:gd name="connsiteX4" fmla="*/ 194134 w 767041"/>
                  <a:gd name="connsiteY4" fmla="*/ 58719 h 1128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67041" h="112808">
                    <a:moveTo>
                      <a:pt x="194134" y="58719"/>
                    </a:moveTo>
                    <a:cubicBezTo>
                      <a:pt x="131885" y="70325"/>
                      <a:pt x="66470" y="81931"/>
                      <a:pt x="0" y="92481"/>
                    </a:cubicBezTo>
                    <a:cubicBezTo>
                      <a:pt x="103398" y="110418"/>
                      <a:pt x="214181" y="116748"/>
                      <a:pt x="329184" y="110418"/>
                    </a:cubicBezTo>
                    <a:cubicBezTo>
                      <a:pt x="488501" y="100922"/>
                      <a:pt x="638322" y="67159"/>
                      <a:pt x="767041" y="13351"/>
                    </a:cubicBezTo>
                    <a:cubicBezTo>
                      <a:pt x="631991" y="-20412"/>
                      <a:pt x="435747" y="15461"/>
                      <a:pt x="194134" y="58719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5" name="图形 95"/>
              <p:cNvSpPr/>
              <p:nvPr/>
            </p:nvSpPr>
            <p:spPr>
              <a:xfrm>
                <a:off x="8002524" y="3145184"/>
                <a:ext cx="479105" cy="1201733"/>
              </a:xfrm>
              <a:custGeom>
                <a:avLst/>
                <a:gdLst>
                  <a:gd name="connsiteX0" fmla="*/ 376662 w 479105"/>
                  <a:gd name="connsiteY0" fmla="*/ 471620 h 1201733"/>
                  <a:gd name="connsiteX1" fmla="*/ 0 w 479105"/>
                  <a:gd name="connsiteY1" fmla="*/ 1080399 h 1201733"/>
                  <a:gd name="connsiteX2" fmla="*/ 17936 w 479105"/>
                  <a:gd name="connsiteY2" fmla="*/ 1201733 h 1201733"/>
                  <a:gd name="connsiteX3" fmla="*/ 263769 w 479105"/>
                  <a:gd name="connsiteY3" fmla="*/ 928468 h 1201733"/>
                  <a:gd name="connsiteX4" fmla="*/ 343955 w 479105"/>
                  <a:gd name="connsiteY4" fmla="*/ 2110 h 1201733"/>
                  <a:gd name="connsiteX5" fmla="*/ 339735 w 479105"/>
                  <a:gd name="connsiteY5" fmla="*/ 0 h 1201733"/>
                  <a:gd name="connsiteX6" fmla="*/ 376662 w 479105"/>
                  <a:gd name="connsiteY6" fmla="*/ 471620 h 1201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79105" h="1201733">
                    <a:moveTo>
                      <a:pt x="376662" y="471620"/>
                    </a:moveTo>
                    <a:cubicBezTo>
                      <a:pt x="338680" y="688966"/>
                      <a:pt x="201520" y="910532"/>
                      <a:pt x="0" y="1080399"/>
                    </a:cubicBezTo>
                    <a:cubicBezTo>
                      <a:pt x="2110" y="1118382"/>
                      <a:pt x="6330" y="1160585"/>
                      <a:pt x="17936" y="1201733"/>
                    </a:cubicBezTo>
                    <a:cubicBezTo>
                      <a:pt x="105508" y="1128933"/>
                      <a:pt x="189914" y="1037141"/>
                      <a:pt x="263769" y="928468"/>
                    </a:cubicBezTo>
                    <a:cubicBezTo>
                      <a:pt x="515933" y="559191"/>
                      <a:pt x="551805" y="143491"/>
                      <a:pt x="343955" y="2110"/>
                    </a:cubicBezTo>
                    <a:cubicBezTo>
                      <a:pt x="342900" y="1055"/>
                      <a:pt x="340790" y="0"/>
                      <a:pt x="339735" y="0"/>
                    </a:cubicBezTo>
                    <a:cubicBezTo>
                      <a:pt x="390379" y="119224"/>
                      <a:pt x="410425" y="272210"/>
                      <a:pt x="376662" y="471620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36" name="图形 95"/>
              <p:cNvSpPr/>
              <p:nvPr/>
            </p:nvSpPr>
            <p:spPr>
              <a:xfrm>
                <a:off x="4328745" y="2198779"/>
                <a:ext cx="1186962" cy="405149"/>
              </a:xfrm>
              <a:custGeom>
                <a:avLst/>
                <a:gdLst>
                  <a:gd name="connsiteX0" fmla="*/ 768096 w 1186962"/>
                  <a:gd name="connsiteY0" fmla="*/ 145601 h 405149"/>
                  <a:gd name="connsiteX1" fmla="*/ 1186962 w 1186962"/>
                  <a:gd name="connsiteY1" fmla="*/ 11606 h 405149"/>
                  <a:gd name="connsiteX2" fmla="*/ 1076179 w 1186962"/>
                  <a:gd name="connsiteY2" fmla="*/ 0 h 405149"/>
                  <a:gd name="connsiteX3" fmla="*/ 1044527 w 1186962"/>
                  <a:gd name="connsiteY3" fmla="*/ 0 h 405149"/>
                  <a:gd name="connsiteX4" fmla="*/ 489556 w 1186962"/>
                  <a:gd name="connsiteY4" fmla="*/ 117114 h 405149"/>
                  <a:gd name="connsiteX5" fmla="*/ 0 w 1186962"/>
                  <a:gd name="connsiteY5" fmla="*/ 405150 h 405149"/>
                  <a:gd name="connsiteX6" fmla="*/ 456849 w 1186962"/>
                  <a:gd name="connsiteY6" fmla="*/ 247943 h 405149"/>
                  <a:gd name="connsiteX7" fmla="*/ 768096 w 1186962"/>
                  <a:gd name="connsiteY7" fmla="*/ 145601 h 405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6962" h="405149">
                    <a:moveTo>
                      <a:pt x="768096" y="145601"/>
                    </a:moveTo>
                    <a:cubicBezTo>
                      <a:pt x="901036" y="99177"/>
                      <a:pt x="1041361" y="49589"/>
                      <a:pt x="1186962" y="11606"/>
                    </a:cubicBezTo>
                    <a:cubicBezTo>
                      <a:pt x="1153200" y="5275"/>
                      <a:pt x="1117327" y="1055"/>
                      <a:pt x="1076179" y="0"/>
                    </a:cubicBezTo>
                    <a:cubicBezTo>
                      <a:pt x="1065628" y="0"/>
                      <a:pt x="1055077" y="0"/>
                      <a:pt x="1044527" y="0"/>
                    </a:cubicBezTo>
                    <a:cubicBezTo>
                      <a:pt x="879934" y="0"/>
                      <a:pt x="683690" y="41148"/>
                      <a:pt x="489556" y="117114"/>
                    </a:cubicBezTo>
                    <a:cubicBezTo>
                      <a:pt x="288036" y="195189"/>
                      <a:pt x="117114" y="298587"/>
                      <a:pt x="0" y="405150"/>
                    </a:cubicBezTo>
                    <a:cubicBezTo>
                      <a:pt x="144546" y="342900"/>
                      <a:pt x="301752" y="292256"/>
                      <a:pt x="456849" y="247943"/>
                    </a:cubicBezTo>
                    <a:cubicBezTo>
                      <a:pt x="558136" y="219456"/>
                      <a:pt x="659423" y="183583"/>
                      <a:pt x="768096" y="145601"/>
                    </a:cubicBezTo>
                    <a:close/>
                  </a:path>
                </a:pathLst>
              </a:custGeom>
              <a:solidFill>
                <a:srgbClr val="E7FFC2"/>
              </a:solidFill>
              <a:ln w="10551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8" name="文本框 37"/>
            <p:cNvSpPr txBox="1"/>
            <p:nvPr/>
          </p:nvSpPr>
          <p:spPr>
            <a:xfrm>
              <a:off x="6551" y="4479"/>
              <a:ext cx="6098" cy="179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30000"/>
                </a:lnSpc>
              </a:pPr>
              <a:r>
                <a:rPr lang="zh-CN" altLang="en-US" spc="200">
                  <a:solidFill>
                    <a:schemeClr val="tx1"/>
                  </a:solidFill>
                  <a:uFillTx/>
                  <a:latin typeface="微软雅黑" panose="020B0503020204020204" charset="-122"/>
                  <a:ea typeface="微软雅黑" panose="020B0503020204020204" charset="-122"/>
                  <a:cs typeface="汉仪傲娇体简" panose="02010509060101010101" charset="-122"/>
                </a:rPr>
                <a:t>但是，本实验只是普通的地图着色问题，要求找到一个合法的颜色分配方案即可，没有更优，次优之分，所有合法解的地位平等，不需要最优性剪枝。</a:t>
              </a:r>
              <a:endParaRPr lang="zh-CN" altLang="en-US" spc="20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汉仪傲娇体简" panose="02010509060101010101" charset="-122"/>
              </a:endParaRPr>
            </a:p>
          </p:txBody>
        </p:sp>
      </p:grpSp>
      <p:pic>
        <p:nvPicPr>
          <p:cNvPr id="40" name="图片 39" descr="错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3716000" y="6903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"/>
          <p:cNvSpPr/>
          <p:nvPr/>
        </p:nvSpPr>
        <p:spPr>
          <a:xfrm>
            <a:off x="14249400" y="6439041"/>
            <a:ext cx="3909540" cy="3863929"/>
          </a:xfrm>
          <a:custGeom>
            <a:avLst/>
            <a:gdLst/>
            <a:ahLst/>
            <a:cxnLst/>
            <a:rect l="l" t="t" r="r" b="b"/>
            <a:pathLst>
              <a:path w="3909540" h="3863929">
                <a:moveTo>
                  <a:pt x="0" y="0"/>
                </a:moveTo>
                <a:lnTo>
                  <a:pt x="3909540" y="0"/>
                </a:lnTo>
                <a:lnTo>
                  <a:pt x="3909540" y="3863929"/>
                </a:lnTo>
                <a:lnTo>
                  <a:pt x="0" y="386392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pic>
        <p:nvPicPr>
          <p:cNvPr id="12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495300"/>
            <a:ext cx="5814060" cy="34270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2853670" cy="800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(1)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搜索顺序优化【节点选择：度数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</a:t>
            </a:r>
            <a:r>
              <a:rPr lang="zh-CN" alt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颜色】</a:t>
            </a:r>
            <a:endParaRPr lang="zh-CN" altLang="en-US"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最大度优先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把节点数从大到小排序，优先选择邻居最多的节点进行着色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最少剩余颜色优先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解释在所有还未染色的节点中，优先选择当前可用颜色最少的节点进行着色。由于该类节点所处的约束最强，颜色选择空间最小，若优先处理，可更早发现冲突，提前回溯，减少搜索路径的长度。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填涂颜色状态表示：引入二进制使用一个二进制串记录颜色集合，第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位表示颜色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位表示颜色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2...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该位为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表示该颜色可用，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表示该颜色不可用。并且我通过异或操作进行填色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(1^1=0),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通过或操作进行复原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(1|0=1).</a:t>
            </a: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2853670" cy="8004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(2)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可行性剪枝：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提前中断优化：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解释：如果发现当前节点无合法颜色可选时，立即终止当前分支并回溯，防止在必然失败的路径上浪费时间。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(3)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冗余状态优化：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原理：针对颜色编号不同但结构本质相同的着色方案，仅探索一组代表，避免重复计算，提高搜索效率。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11994515" cy="159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b.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解释：根据排列组合基本原理，找到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--[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重新排列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]--M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3771900"/>
            <a:ext cx="6852285" cy="397383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00060" y="3530600"/>
            <a:ext cx="9159240" cy="815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理论上：只需枚举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类型互异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的着色方案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乘以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下箭头 8"/>
          <p:cNvSpPr/>
          <p:nvPr/>
        </p:nvSpPr>
        <p:spPr>
          <a:xfrm>
            <a:off x="12268200" y="4321810"/>
            <a:ext cx="533400" cy="1219200"/>
          </a:xfrm>
          <a:prstGeom prst="downArrow">
            <a:avLst/>
          </a:prstGeom>
          <a:solidFill>
            <a:srgbClr val="E39EB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305800" y="5981700"/>
            <a:ext cx="827849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不去硬找所有节点的颜色搭配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考虑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起点，两两相邻节点，还有三个节点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之间的组合情况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-748704" y="-323698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820946" y="779694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1" name="TextBox 10"/>
          <p:cNvSpPr txBox="1"/>
          <p:nvPr/>
        </p:nvSpPr>
        <p:spPr>
          <a:xfrm>
            <a:off x="990600" y="495300"/>
            <a:ext cx="6144895" cy="10001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marL="0" lvl="0" indent="0" algn="l">
              <a:lnSpc>
                <a:spcPts val="7800"/>
              </a:lnSpc>
            </a:pPr>
            <a:r>
              <a:rPr lang="en-US" altLang="zh-CN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2.</a:t>
            </a:r>
            <a:r>
              <a:rPr lang="zh-CN" altLang="en-US" sz="4400" spc="-150">
                <a:solidFill>
                  <a:srgbClr val="2B2B2B"/>
                </a:solidFill>
                <a:latin typeface="Calibri" panose="020F0502020204030204" charset="0"/>
                <a:ea typeface="微软雅黑" panose="020B0503020204020204" charset="-122"/>
                <a:cs typeface="Calibri" panose="020F0502020204030204" charset="0"/>
                <a:sym typeface="黄煜臣江西拙楷体" panose="02010600040101010101" charset="-122"/>
              </a:rPr>
              <a:t>优化回溯算法：</a:t>
            </a:r>
            <a:endParaRPr lang="zh-CN" altLang="en-US" sz="4400" spc="-150">
              <a:solidFill>
                <a:srgbClr val="2B2B2B"/>
              </a:solidFill>
              <a:latin typeface="Calibri" panose="020F0502020204030204" charset="0"/>
              <a:ea typeface="微软雅黑" panose="020B0503020204020204" charset="-122"/>
              <a:cs typeface="Calibri" panose="020F0502020204030204" charset="0"/>
              <a:sym typeface="黄煜臣江西拙楷体" panose="0201060004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71600" y="1714500"/>
            <a:ext cx="5860415" cy="2000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颜色对称性去重：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起点：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S=S1*M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相邻两个节点：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S=S2*M*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M-1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3045" y="4305300"/>
            <a:ext cx="5807710" cy="35064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503045" y="8115300"/>
            <a:ext cx="543242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/>
              <a:t>前两个相邻节点为蓝色和黄色两种不同颜色的方案数为</a:t>
            </a:r>
            <a:r>
              <a:rPr lang="en-US" altLang="zh-CN"/>
              <a:t>1</a:t>
            </a:r>
            <a:r>
              <a:rPr lang="zh-CN" altLang="en-US"/>
              <a:t>，那答案就是方案数再乘上（颜色的数量）</a:t>
            </a:r>
            <a:r>
              <a:rPr lang="en-US" altLang="zh-CN"/>
              <a:t>*</a:t>
            </a:r>
            <a:r>
              <a:rPr lang="zh-CN" altLang="en-US"/>
              <a:t>（颜色数量</a:t>
            </a:r>
            <a:r>
              <a:rPr lang="en-US" altLang="zh-CN"/>
              <a:t>-1</a:t>
            </a:r>
            <a:r>
              <a:rPr lang="zh-CN" altLang="en-US"/>
              <a:t>）即</a:t>
            </a:r>
            <a:r>
              <a:rPr lang="en-US" altLang="zh-CN"/>
              <a:t>1*3*2=6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7467600" y="1790700"/>
            <a:ext cx="9400540" cy="2639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514350" indent="-5143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三个节点：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两两连接（完全图）：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S=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链状连接：首尾节点颜色相同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and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首尾节点颜色不同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S=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(M-2)+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</a:rPr>
              <a:t>方案数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(M-1)+M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(M-1)</a:t>
            </a:r>
            <a:r>
              <a:rPr lang="en-US" altLang="en-US" sz="240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</a:rPr>
              <a:t>(M-2)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14"/>
          <a:srcRect l="8578"/>
          <a:stretch>
            <a:fillRect/>
          </a:stretch>
        </p:blipFill>
        <p:spPr>
          <a:xfrm>
            <a:off x="7543800" y="4533900"/>
            <a:ext cx="8388985" cy="48774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80230" y="2867660"/>
            <a:ext cx="9527540" cy="4551680"/>
          </a:xfrm>
          <a:custGeom>
            <a:avLst/>
            <a:gdLst/>
            <a:ahLst/>
            <a:cxnLst/>
            <a:rect l="l" t="t" r="r" b="b"/>
            <a:pathLst>
              <a:path w="11198912" h="7941047">
                <a:moveTo>
                  <a:pt x="0" y="0"/>
                </a:moveTo>
                <a:lnTo>
                  <a:pt x="11198912" y="0"/>
                </a:lnTo>
                <a:lnTo>
                  <a:pt x="11198912" y="7941046"/>
                </a:lnTo>
                <a:lnTo>
                  <a:pt x="0" y="794104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748704" y="-3238254"/>
            <a:ext cx="3554807" cy="5131612"/>
          </a:xfrm>
          <a:custGeom>
            <a:avLst/>
            <a:gdLst/>
            <a:ahLst/>
            <a:cxnLst/>
            <a:rect l="l" t="t" r="r" b="b"/>
            <a:pathLst>
              <a:path w="3554807" h="5131612">
                <a:moveTo>
                  <a:pt x="0" y="0"/>
                </a:moveTo>
                <a:lnTo>
                  <a:pt x="3554808" y="0"/>
                </a:lnTo>
                <a:lnTo>
                  <a:pt x="3554808" y="5131612"/>
                </a:lnTo>
                <a:lnTo>
                  <a:pt x="0" y="51316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-1503353" y="2377331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4182716">
            <a:off x="16663466" y="7802025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8"/>
                </a:lnTo>
                <a:lnTo>
                  <a:pt x="0" y="4006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259300" y="4754150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737559">
            <a:off x="1159713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6003287" y="-481992"/>
            <a:ext cx="2781341" cy="2859323"/>
          </a:xfrm>
          <a:custGeom>
            <a:avLst/>
            <a:gdLst/>
            <a:ahLst/>
            <a:cxnLst/>
            <a:rect l="l" t="t" r="r" b="b"/>
            <a:pathLst>
              <a:path w="2781341" h="2859323">
                <a:moveTo>
                  <a:pt x="0" y="0"/>
                </a:moveTo>
                <a:lnTo>
                  <a:pt x="2781341" y="0"/>
                </a:lnTo>
                <a:lnTo>
                  <a:pt x="2781341" y="2859323"/>
                </a:lnTo>
                <a:lnTo>
                  <a:pt x="0" y="285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5041265" y="4610100"/>
            <a:ext cx="8205470" cy="1066800"/>
          </a:xfrm>
          <a:prstGeom prst="rect">
            <a:avLst/>
          </a:prstGeom>
        </p:spPr>
        <p:txBody>
          <a:bodyPr wrap="square" lIns="0" tIns="0" rIns="0" bIns="0" rtlCol="0" anchor="ctr" anchorCtr="0">
            <a:spAutoFit/>
          </a:bodyPr>
          <a:lstStyle/>
          <a:p>
            <a:pPr marL="0" lvl="0" indent="0" algn="ctr">
              <a:lnSpc>
                <a:spcPts val="8320"/>
              </a:lnSpc>
            </a:pPr>
            <a:r>
              <a:rPr 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3.</a:t>
            </a:r>
            <a:r>
              <a:rPr lang="zh-CN" altLang="en-US" sz="8000" b="1" spc="-16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黄煜臣江西拙楷体" panose="02010600040101010101" charset="-122"/>
              </a:rPr>
              <a:t>实验结果及分析</a:t>
            </a:r>
            <a:endParaRPr lang="zh-CN" altLang="en-US" sz="8000" b="1" spc="-16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黄煜臣江西拙楷体" panose="0201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文本框 11"/>
          <p:cNvSpPr txBox="1"/>
          <p:nvPr/>
        </p:nvSpPr>
        <p:spPr>
          <a:xfrm>
            <a:off x="1600200" y="774700"/>
            <a:ext cx="982726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运行时间分析：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</a:rPr>
              <a:t>1)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随机生成地图测试所有算法效率：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随机生成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点数为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，边数为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</a:rPr>
              <a:t>50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的平面图，使用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种颜色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填色，得到可行解数为</a:t>
            </a:r>
            <a:r>
              <a:rPr lang="en-US" altLang="zh-CN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7153920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个。使用不同的算法进行运行测试：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0200" y="3695700"/>
            <a:ext cx="10500995" cy="5583555"/>
          </a:xfrm>
          <a:prstGeom prst="rect">
            <a:avLst/>
          </a:prstGeom>
        </p:spPr>
      </p:pic>
      <p:sp>
        <p:nvSpPr>
          <p:cNvPr id="15" name="直角上箭头 14"/>
          <p:cNvSpPr/>
          <p:nvPr/>
        </p:nvSpPr>
        <p:spPr>
          <a:xfrm>
            <a:off x="12115800" y="7429500"/>
            <a:ext cx="3215005" cy="1600200"/>
          </a:xfrm>
          <a:prstGeom prst="bentUpArrow">
            <a:avLst>
              <a:gd name="adj1" fmla="val 25952"/>
              <a:gd name="adj2" fmla="val 25000"/>
              <a:gd name="adj3" fmla="val 25000"/>
            </a:avLst>
          </a:prstGeom>
          <a:solidFill>
            <a:srgbClr val="4CB8E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3639800" y="6210300"/>
            <a:ext cx="2710815" cy="11112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noAutofit/>
          </a:bodyPr>
          <a:p>
            <a:pPr algn="ctr"/>
            <a:r>
              <a:rPr lang="en-US" altLang="zh-CN" sz="7200" b="1">
                <a:ln w="15875"/>
                <a:gradFill>
                  <a:gsLst>
                    <a:gs pos="0">
                      <a:schemeClr val="accent1">
                        <a:lumOff val="-19999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9"/>
                      </a:schemeClr>
                    </a:gs>
                  </a:gsLst>
                  <a:lin ang="0" scaled="0"/>
                </a:gradFill>
                <a:effectLst/>
              </a:rPr>
              <a:t>best!</a:t>
            </a:r>
            <a:endParaRPr lang="en-US" altLang="zh-CN" sz="7200" b="1">
              <a:ln w="15875"/>
              <a:gradFill>
                <a:gsLst>
                  <a:gs pos="0">
                    <a:schemeClr val="accent1">
                      <a:lumOff val="-19999"/>
                      <a:satOff val="20000"/>
                    </a:schemeClr>
                  </a:gs>
                  <a:gs pos="100000">
                    <a:schemeClr val="accent1">
                      <a:lumOff val="15000"/>
                      <a:satOff val="-14999"/>
                    </a:schemeClr>
                  </a:gs>
                </a:gsLst>
                <a:lin ang="0" scaled="0"/>
              </a:gradFill>
              <a:effectLst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文本框 11"/>
          <p:cNvSpPr txBox="1"/>
          <p:nvPr/>
        </p:nvSpPr>
        <p:spPr>
          <a:xfrm>
            <a:off x="1066800" y="876300"/>
            <a:ext cx="914400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fontAlgn="auto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运行时间分析：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对所给地图附件数据进行填涂【以最优解运行】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得到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第一个解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的运行时间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3" name="图片 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" y="3162300"/>
            <a:ext cx="14613255" cy="21640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990600" y="5829300"/>
            <a:ext cx="1512633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得到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全部解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的时间，由于地图2和地图3的解数量过大，于是选取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1亿</a:t>
            </a:r>
            <a:r>
              <a:rPr lang="zh-CN" altLang="en-US" sz="28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作为解的个数限制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7048500"/>
            <a:ext cx="14749145" cy="21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0" y="3009900"/>
            <a:ext cx="8575675" cy="65843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066800" y="723900"/>
            <a:ext cx="123609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随机生成地图填色算法效率分析：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1)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图规模与填色效率之间的关系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选择不同的点数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n,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固定边数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m=2*n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，可填颜色数为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种，运行全部解个数。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2933700"/>
            <a:ext cx="7484110" cy="34994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66800" y="6896100"/>
            <a:ext cx="771969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解的个数随着图规模的增加呈指数级增长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。随着点数从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，解的个数从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224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增加到约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亿；同时，算法的运行时间也急剧增加，从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1ms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增长到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212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秒。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随着图的规模增大，节点数量的增加导致搜索树的深度增加，从而需要更多的时间来遍历和搜索所有可能的解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回溯算法特性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2933700"/>
            <a:ext cx="8008620" cy="532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4"/>
          <p:cNvSpPr/>
          <p:nvPr/>
        </p:nvSpPr>
        <p:spPr>
          <a:xfrm rot="1737559">
            <a:off x="2318674" y="8845184"/>
            <a:ext cx="3751278" cy="2612254"/>
          </a:xfrm>
          <a:custGeom>
            <a:avLst/>
            <a:gdLst/>
            <a:ahLst/>
            <a:cxnLst/>
            <a:rect l="l" t="t" r="r" b="b"/>
            <a:pathLst>
              <a:path w="3751278" h="2612254">
                <a:moveTo>
                  <a:pt x="0" y="0"/>
                </a:moveTo>
                <a:lnTo>
                  <a:pt x="3751278" y="0"/>
                </a:lnTo>
                <a:lnTo>
                  <a:pt x="3751278" y="2612254"/>
                </a:lnTo>
                <a:lnTo>
                  <a:pt x="0" y="26122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>
            <a:off x="-1328922" y="8100335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7259300" y="698230"/>
            <a:ext cx="3198742" cy="2797445"/>
          </a:xfrm>
          <a:custGeom>
            <a:avLst/>
            <a:gdLst/>
            <a:ahLst/>
            <a:cxnLst/>
            <a:rect l="l" t="t" r="r" b="b"/>
            <a:pathLst>
              <a:path w="3198742" h="2797445">
                <a:moveTo>
                  <a:pt x="0" y="0"/>
                </a:moveTo>
                <a:lnTo>
                  <a:pt x="3198742" y="0"/>
                </a:lnTo>
                <a:lnTo>
                  <a:pt x="3198742" y="2797445"/>
                </a:lnTo>
                <a:lnTo>
                  <a:pt x="0" y="27974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 rot="5400000">
            <a:off x="15561337" y="-1937162"/>
            <a:ext cx="2491650" cy="4103017"/>
          </a:xfrm>
          <a:custGeom>
            <a:avLst/>
            <a:gdLst/>
            <a:ahLst/>
            <a:cxnLst/>
            <a:rect l="l" t="t" r="r" b="b"/>
            <a:pathLst>
              <a:path w="2491650" h="4103017">
                <a:moveTo>
                  <a:pt x="0" y="0"/>
                </a:moveTo>
                <a:lnTo>
                  <a:pt x="2491650" y="0"/>
                </a:lnTo>
                <a:lnTo>
                  <a:pt x="2491650" y="4103017"/>
                </a:lnTo>
                <a:lnTo>
                  <a:pt x="0" y="410301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" name="文本框 1"/>
          <p:cNvSpPr txBox="1"/>
          <p:nvPr/>
        </p:nvSpPr>
        <p:spPr>
          <a:xfrm>
            <a:off x="1066800" y="723900"/>
            <a:ext cx="123609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514350" indent="-514350" fontAlgn="auto">
              <a:lnSpc>
                <a:spcPct val="150000"/>
              </a:lnSpc>
              <a:buFont typeface="+mj-lt"/>
              <a:buAutoNum type="arabicPeriod" startAt="2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随机生成地图填色算法效率分析：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buFont typeface="+mj-lt"/>
              <a:buNone/>
            </a:pP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2)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图的稠密程度与填色效率之间的关系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457200" indent="-45720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固定点数为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20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，增加边数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m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，可填颜色数为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种，运行全部解。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009900"/>
            <a:ext cx="8352155" cy="40760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990600" y="7658100"/>
            <a:ext cx="85426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fontAlgn="auto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点数固定时，随着边数的增加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图的约束变强，可行着色数显著下降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。解空间缩小了，运行时间也随之减少。因此，</a:t>
            </a:r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图的稠密程度越高，填色效率越高（因为搜索空间更小）</a:t>
            </a:r>
            <a:endParaRPr lang="zh-CN" alt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737559">
            <a:off x="2514574" y="8661324"/>
            <a:ext cx="4277568" cy="2978743"/>
          </a:xfrm>
          <a:custGeom>
            <a:avLst/>
            <a:gdLst/>
            <a:ahLst/>
            <a:cxnLst/>
            <a:rect l="l" t="t" r="r" b="b"/>
            <a:pathLst>
              <a:path w="4277568" h="2978743">
                <a:moveTo>
                  <a:pt x="0" y="0"/>
                </a:moveTo>
                <a:lnTo>
                  <a:pt x="4277569" y="0"/>
                </a:lnTo>
                <a:lnTo>
                  <a:pt x="4277569" y="2978743"/>
                </a:lnTo>
                <a:lnTo>
                  <a:pt x="0" y="297874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7096905" y="3925196"/>
            <a:ext cx="2854557" cy="2956698"/>
          </a:xfrm>
          <a:custGeom>
            <a:avLst/>
            <a:gdLst/>
            <a:ahLst/>
            <a:cxnLst/>
            <a:rect l="l" t="t" r="r" b="b"/>
            <a:pathLst>
              <a:path w="2854557" h="2956698">
                <a:moveTo>
                  <a:pt x="0" y="0"/>
                </a:moveTo>
                <a:lnTo>
                  <a:pt x="2854557" y="0"/>
                </a:lnTo>
                <a:lnTo>
                  <a:pt x="2854557" y="2956698"/>
                </a:lnTo>
                <a:lnTo>
                  <a:pt x="0" y="2956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1136496" y="8228619"/>
            <a:ext cx="3057281" cy="2751553"/>
          </a:xfrm>
          <a:custGeom>
            <a:avLst/>
            <a:gdLst/>
            <a:ahLst/>
            <a:cxnLst/>
            <a:rect l="l" t="t" r="r" b="b"/>
            <a:pathLst>
              <a:path w="3057281" h="2751553">
                <a:moveTo>
                  <a:pt x="3057281" y="0"/>
                </a:moveTo>
                <a:lnTo>
                  <a:pt x="0" y="0"/>
                </a:lnTo>
                <a:lnTo>
                  <a:pt x="0" y="2751552"/>
                </a:lnTo>
                <a:lnTo>
                  <a:pt x="3057281" y="2751552"/>
                </a:lnTo>
                <a:lnTo>
                  <a:pt x="305728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413011" y="7395331"/>
            <a:ext cx="4539051" cy="4810170"/>
          </a:xfrm>
          <a:custGeom>
            <a:avLst/>
            <a:gdLst/>
            <a:ahLst/>
            <a:cxnLst/>
            <a:rect l="l" t="t" r="r" b="b"/>
            <a:pathLst>
              <a:path w="4539051" h="4810170">
                <a:moveTo>
                  <a:pt x="0" y="0"/>
                </a:moveTo>
                <a:lnTo>
                  <a:pt x="4539051" y="0"/>
                </a:lnTo>
                <a:lnTo>
                  <a:pt x="4539051" y="4810170"/>
                </a:lnTo>
                <a:lnTo>
                  <a:pt x="0" y="481017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029695" y="4662240"/>
            <a:ext cx="2058395" cy="3339578"/>
          </a:xfrm>
          <a:custGeom>
            <a:avLst/>
            <a:gdLst/>
            <a:ahLst/>
            <a:cxnLst/>
            <a:rect l="l" t="t" r="r" b="b"/>
            <a:pathLst>
              <a:path w="2058395" h="3339578">
                <a:moveTo>
                  <a:pt x="0" y="0"/>
                </a:moveTo>
                <a:lnTo>
                  <a:pt x="2058395" y="0"/>
                </a:lnTo>
                <a:lnTo>
                  <a:pt x="2058395" y="3339578"/>
                </a:lnTo>
                <a:lnTo>
                  <a:pt x="0" y="33395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7426264" y="8847163"/>
            <a:ext cx="2906489" cy="3358338"/>
          </a:xfrm>
          <a:custGeom>
            <a:avLst/>
            <a:gdLst/>
            <a:ahLst/>
            <a:cxnLst/>
            <a:rect l="l" t="t" r="r" b="b"/>
            <a:pathLst>
              <a:path w="2906489" h="3358338">
                <a:moveTo>
                  <a:pt x="0" y="0"/>
                </a:moveTo>
                <a:lnTo>
                  <a:pt x="2906488" y="0"/>
                </a:lnTo>
                <a:lnTo>
                  <a:pt x="2906488" y="3358338"/>
                </a:lnTo>
                <a:lnTo>
                  <a:pt x="0" y="3358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7096905" y="1028700"/>
            <a:ext cx="2886146" cy="2524065"/>
          </a:xfrm>
          <a:custGeom>
            <a:avLst/>
            <a:gdLst/>
            <a:ahLst/>
            <a:cxnLst/>
            <a:rect l="l" t="t" r="r" b="b"/>
            <a:pathLst>
              <a:path w="2886146" h="2524065">
                <a:moveTo>
                  <a:pt x="0" y="0"/>
                </a:moveTo>
                <a:lnTo>
                  <a:pt x="2886145" y="0"/>
                </a:lnTo>
                <a:lnTo>
                  <a:pt x="2886145" y="2524065"/>
                </a:lnTo>
                <a:lnTo>
                  <a:pt x="0" y="25240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0696671" y="9261214"/>
            <a:ext cx="5352421" cy="2530235"/>
          </a:xfrm>
          <a:custGeom>
            <a:avLst/>
            <a:gdLst/>
            <a:ahLst/>
            <a:cxnLst/>
            <a:rect l="l" t="t" r="r" b="b"/>
            <a:pathLst>
              <a:path w="5352421" h="2530235">
                <a:moveTo>
                  <a:pt x="0" y="0"/>
                </a:moveTo>
                <a:lnTo>
                  <a:pt x="5352421" y="0"/>
                </a:lnTo>
                <a:lnTo>
                  <a:pt x="5352421" y="2530235"/>
                </a:lnTo>
                <a:lnTo>
                  <a:pt x="0" y="253023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417113" y="-1667348"/>
            <a:ext cx="2477977" cy="3577131"/>
          </a:xfrm>
          <a:custGeom>
            <a:avLst/>
            <a:gdLst/>
            <a:ahLst/>
            <a:cxnLst/>
            <a:rect l="l" t="t" r="r" b="b"/>
            <a:pathLst>
              <a:path w="2477977" h="3577131">
                <a:moveTo>
                  <a:pt x="0" y="0"/>
                </a:moveTo>
                <a:lnTo>
                  <a:pt x="2477976" y="0"/>
                </a:lnTo>
                <a:lnTo>
                  <a:pt x="2477976" y="3577131"/>
                </a:lnTo>
                <a:lnTo>
                  <a:pt x="0" y="357713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2060863" y="-1667348"/>
            <a:ext cx="3006706" cy="2766169"/>
          </a:xfrm>
          <a:custGeom>
            <a:avLst/>
            <a:gdLst/>
            <a:ahLst/>
            <a:cxnLst/>
            <a:rect l="l" t="t" r="r" b="b"/>
            <a:pathLst>
              <a:path w="3006706" h="2766169">
                <a:moveTo>
                  <a:pt x="0" y="0"/>
                </a:moveTo>
                <a:lnTo>
                  <a:pt x="3006706" y="0"/>
                </a:lnTo>
                <a:lnTo>
                  <a:pt x="3006706" y="2766169"/>
                </a:lnTo>
                <a:lnTo>
                  <a:pt x="0" y="276616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 rot="4182716">
            <a:off x="5683694" y="-2327113"/>
            <a:ext cx="3249068" cy="4006698"/>
          </a:xfrm>
          <a:custGeom>
            <a:avLst/>
            <a:gdLst/>
            <a:ahLst/>
            <a:cxnLst/>
            <a:rect l="l" t="t" r="r" b="b"/>
            <a:pathLst>
              <a:path w="3249068" h="4006698">
                <a:moveTo>
                  <a:pt x="0" y="0"/>
                </a:moveTo>
                <a:lnTo>
                  <a:pt x="3249068" y="0"/>
                </a:lnTo>
                <a:lnTo>
                  <a:pt x="3249068" y="4006699"/>
                </a:lnTo>
                <a:lnTo>
                  <a:pt x="0" y="400669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4181395" y="-3285587"/>
            <a:ext cx="4859148" cy="4691287"/>
          </a:xfrm>
          <a:custGeom>
            <a:avLst/>
            <a:gdLst/>
            <a:ahLst/>
            <a:cxnLst/>
            <a:rect l="l" t="t" r="r" b="b"/>
            <a:pathLst>
              <a:path w="4859148" h="4691287">
                <a:moveTo>
                  <a:pt x="0" y="0"/>
                </a:moveTo>
                <a:lnTo>
                  <a:pt x="4859148" y="0"/>
                </a:lnTo>
                <a:lnTo>
                  <a:pt x="4859148" y="4691287"/>
                </a:lnTo>
                <a:lnTo>
                  <a:pt x="0" y="469128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5400000">
            <a:off x="10684014" y="-1843014"/>
            <a:ext cx="2262958" cy="3726427"/>
          </a:xfrm>
          <a:custGeom>
            <a:avLst/>
            <a:gdLst/>
            <a:ahLst/>
            <a:cxnLst/>
            <a:rect l="l" t="t" r="r" b="b"/>
            <a:pathLst>
              <a:path w="2262958" h="3726427">
                <a:moveTo>
                  <a:pt x="0" y="0"/>
                </a:moveTo>
                <a:lnTo>
                  <a:pt x="2262958" y="0"/>
                </a:lnTo>
                <a:lnTo>
                  <a:pt x="2262958" y="3726427"/>
                </a:lnTo>
                <a:lnTo>
                  <a:pt x="0" y="372642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-972660" y="2160503"/>
            <a:ext cx="2001360" cy="2251018"/>
          </a:xfrm>
          <a:custGeom>
            <a:avLst/>
            <a:gdLst/>
            <a:ahLst/>
            <a:cxnLst/>
            <a:rect l="l" t="t" r="r" b="b"/>
            <a:pathLst>
              <a:path w="2001360" h="2251018">
                <a:moveTo>
                  <a:pt x="0" y="0"/>
                </a:moveTo>
                <a:lnTo>
                  <a:pt x="2001360" y="0"/>
                </a:lnTo>
                <a:lnTo>
                  <a:pt x="2001360" y="2251018"/>
                </a:lnTo>
                <a:lnTo>
                  <a:pt x="0" y="225101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TextBox 16"/>
          <p:cNvSpPr txBox="1"/>
          <p:nvPr/>
        </p:nvSpPr>
        <p:spPr>
          <a:xfrm>
            <a:off x="4333911" y="3461750"/>
            <a:ext cx="9620177" cy="6018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645"/>
              </a:lnSpc>
            </a:pPr>
            <a:r>
              <a:rPr lang="en-US" sz="17980" spc="-359">
                <a:solidFill>
                  <a:srgbClr val="2B2B2B"/>
                </a:solidFill>
                <a:latin typeface="华文琥珀" panose="02010800040101010101" charset="-122"/>
                <a:ea typeface="华文琥珀" panose="020108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Thank you very much</a:t>
            </a:r>
            <a:r>
              <a:rPr lang="en-US" sz="17980" spc="-359">
                <a:solidFill>
                  <a:srgbClr val="2B2B2B"/>
                </a:solidFill>
                <a:latin typeface="黄煜臣江西拙楷体" panose="02010600040101010101" charset="-122"/>
                <a:ea typeface="黄煜臣江西拙楷体" panose="02010600040101010101" charset="-122"/>
                <a:cs typeface="黄煜臣江西拙楷体" panose="02010600040101010101" charset="-122"/>
                <a:sym typeface="黄煜臣江西拙楷体" panose="02010600040101010101" charset="-122"/>
              </a:rPr>
              <a:t> </a:t>
            </a:r>
            <a:endParaRPr lang="en-US" sz="17980" spc="-359">
              <a:solidFill>
                <a:srgbClr val="2B2B2B"/>
              </a:solidFill>
              <a:latin typeface="黄煜臣江西拙楷体" panose="02010600040101010101" charset="-122"/>
              <a:ea typeface="黄煜臣江西拙楷体" panose="02010600040101010101" charset="-122"/>
              <a:cs typeface="黄煜臣江西拙楷体" panose="02010600040101010101" charset="-122"/>
              <a:sym typeface="黄煜臣江西拙楷体" panose="02010600040101010101" charset="-122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2761291" y="4114800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-10800000">
            <a:off x="14508296" y="4114800"/>
            <a:ext cx="1018413" cy="2057400"/>
          </a:xfrm>
          <a:custGeom>
            <a:avLst/>
            <a:gdLst/>
            <a:ahLst/>
            <a:cxnLst/>
            <a:rect l="l" t="t" r="r" b="b"/>
            <a:pathLst>
              <a:path w="1018413" h="2057400">
                <a:moveTo>
                  <a:pt x="0" y="0"/>
                </a:moveTo>
                <a:lnTo>
                  <a:pt x="1018413" y="0"/>
                </a:lnTo>
                <a:lnTo>
                  <a:pt x="1018413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2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3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4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5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6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7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8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9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10.xml><?xml version="1.0" encoding="utf-8"?>
<p:tagLst xmlns:p="http://schemas.openxmlformats.org/presentationml/2006/main">
  <p:tag name="KSO_WM_DIAGRAM_VIRTUALLY_FRAME" val="{&quot;height&quot;:625.8655905511812,&quot;left&quot;:807.9715748031497,&quot;top&quot;:92.14653543307087,&quot;width&quot;:551.0284251968503}"/>
</p:tagLst>
</file>

<file path=ppt/tags/tag1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2.xml><?xml version="1.0" encoding="utf-8"?>
<p:tagLst xmlns:p="http://schemas.openxmlformats.org/presentationml/2006/main">
  <p:tag name="resource_record_key" val="{&quot;10&quot;:[3649130,3645305,19995604,19995605,19995606,19995607,363973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3072</Words>
  <Application>WPS 演示</Application>
  <PresentationFormat>On-screen Show (4:3)</PresentationFormat>
  <Paragraphs>204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黄煜臣江西拙楷体</vt:lpstr>
      <vt:lpstr>Calibri</vt:lpstr>
      <vt:lpstr>Quicksand Semi-Bold</vt:lpstr>
      <vt:lpstr>Public Sans</vt:lpstr>
      <vt:lpstr>Quicksand Medium</vt:lpstr>
      <vt:lpstr>Wingdings</vt:lpstr>
      <vt:lpstr>Arial Unicode MS</vt:lpstr>
      <vt:lpstr>思源黑体 2 Bold</vt:lpstr>
      <vt:lpstr>黑体</vt:lpstr>
      <vt:lpstr>Adirek HC Bold</vt:lpstr>
      <vt:lpstr>Segoe Print</vt:lpstr>
      <vt:lpstr>Lazydog</vt:lpstr>
      <vt:lpstr>汉仪傲娇体简</vt:lpstr>
      <vt:lpstr>微软雅黑 Light</vt:lpstr>
      <vt:lpstr>华文宋体</vt:lpstr>
      <vt:lpstr>华文楷体</vt:lpstr>
      <vt:lpstr>华文细黑</vt:lpstr>
      <vt:lpstr>华文琥珀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Colorful Organic Child Psychology Presentation</dc:title>
  <dc:creator/>
  <cp:lastModifiedBy>杨韩冰</cp:lastModifiedBy>
  <cp:revision>6</cp:revision>
  <dcterms:created xsi:type="dcterms:W3CDTF">2006-08-16T00:00:00Z</dcterms:created>
  <dcterms:modified xsi:type="dcterms:W3CDTF">2025-05-02T08:04:50Z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E140531D24CA4BC3BD257C6A4B1E9C34_12</vt:lpwstr>
  </property>
  <property fmtid="{D5CDD505-2E9C-101B-9397-08002B2CF9AE}" pid="3" name="KSOProductBuildVer">
    <vt:lpwstr>2052-12.1.0.20305</vt:lpwstr>
  </property>
</Properties>
</file>