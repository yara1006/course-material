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0" r:id="rId1"/>
  </p:sldMasterIdLst>
  <p:notesMasterIdLst>
    <p:notesMasterId r:id="rId35"/>
  </p:notesMasterIdLst>
  <p:handoutMasterIdLst>
    <p:handoutMasterId r:id="rId36"/>
  </p:handoutMasterIdLst>
  <p:sldIdLst>
    <p:sldId id="1018" r:id="rId2"/>
    <p:sldId id="1040" r:id="rId3"/>
    <p:sldId id="842" r:id="rId4"/>
    <p:sldId id="841" r:id="rId5"/>
    <p:sldId id="1039" r:id="rId6"/>
    <p:sldId id="1049" r:id="rId7"/>
    <p:sldId id="1043" r:id="rId8"/>
    <p:sldId id="844" r:id="rId9"/>
    <p:sldId id="1044" r:id="rId10"/>
    <p:sldId id="1011" r:id="rId11"/>
    <p:sldId id="1012" r:id="rId12"/>
    <p:sldId id="1013" r:id="rId13"/>
    <p:sldId id="1014" r:id="rId14"/>
    <p:sldId id="1017" r:id="rId15"/>
    <p:sldId id="1046" r:id="rId16"/>
    <p:sldId id="1047" r:id="rId17"/>
    <p:sldId id="1048" r:id="rId18"/>
    <p:sldId id="845" r:id="rId19"/>
    <p:sldId id="846" r:id="rId20"/>
    <p:sldId id="1019" r:id="rId21"/>
    <p:sldId id="849" r:id="rId22"/>
    <p:sldId id="970" r:id="rId23"/>
    <p:sldId id="973" r:id="rId24"/>
    <p:sldId id="995" r:id="rId25"/>
    <p:sldId id="872" r:id="rId26"/>
    <p:sldId id="874" r:id="rId27"/>
    <p:sldId id="878" r:id="rId28"/>
    <p:sldId id="879" r:id="rId29"/>
    <p:sldId id="881" r:id="rId30"/>
    <p:sldId id="882" r:id="rId31"/>
    <p:sldId id="884" r:id="rId32"/>
    <p:sldId id="886" r:id="rId33"/>
    <p:sldId id="1025" r:id="rId34"/>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itchFamily="18" charset="0"/>
        <a:ea typeface="+mn-ea"/>
        <a:cs typeface="+mn-cs"/>
      </a:defRPr>
    </a:lvl5pPr>
    <a:lvl6pPr marL="2286000" algn="l" defTabSz="914400" rtl="0" eaLnBrk="1" latinLnBrk="0" hangingPunct="1">
      <a:defRPr sz="2000" b="1" kern="1200">
        <a:solidFill>
          <a:schemeClr val="tx1"/>
        </a:solidFill>
        <a:latin typeface="Times New Roman" pitchFamily="18" charset="0"/>
        <a:ea typeface="+mn-ea"/>
        <a:cs typeface="+mn-cs"/>
      </a:defRPr>
    </a:lvl6pPr>
    <a:lvl7pPr marL="2743200" algn="l" defTabSz="914400" rtl="0" eaLnBrk="1" latinLnBrk="0" hangingPunct="1">
      <a:defRPr sz="2000" b="1" kern="1200">
        <a:solidFill>
          <a:schemeClr val="tx1"/>
        </a:solidFill>
        <a:latin typeface="Times New Roman" pitchFamily="18" charset="0"/>
        <a:ea typeface="+mn-ea"/>
        <a:cs typeface="+mn-cs"/>
      </a:defRPr>
    </a:lvl7pPr>
    <a:lvl8pPr marL="3200400" algn="l" defTabSz="914400" rtl="0" eaLnBrk="1" latinLnBrk="0" hangingPunct="1">
      <a:defRPr sz="2000" b="1" kern="1200">
        <a:solidFill>
          <a:schemeClr val="tx1"/>
        </a:solidFill>
        <a:latin typeface="Times New Roman" pitchFamily="18" charset="0"/>
        <a:ea typeface="+mn-ea"/>
        <a:cs typeface="+mn-cs"/>
      </a:defRPr>
    </a:lvl8pPr>
    <a:lvl9pPr marL="3657600" algn="l" defTabSz="914400" rtl="0" eaLnBrk="1" latinLnBrk="0" hangingPunct="1">
      <a:defRPr sz="20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CC"/>
    <a:srgbClr val="CC3300"/>
    <a:srgbClr val="3333FF"/>
    <a:srgbClr val="FFFFFF"/>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50" autoAdjust="0"/>
    <p:restoredTop sz="96391" autoAdjust="0"/>
  </p:normalViewPr>
  <p:slideViewPr>
    <p:cSldViewPr>
      <p:cViewPr varScale="1">
        <p:scale>
          <a:sx n="115" d="100"/>
          <a:sy n="115" d="100"/>
        </p:scale>
        <p:origin x="1590" y="102"/>
      </p:cViewPr>
      <p:guideLst>
        <p:guide orient="horz" pos="2160"/>
        <p:guide pos="2880"/>
      </p:guideLst>
    </p:cSldViewPr>
  </p:slideViewPr>
  <p:outlineViewPr>
    <p:cViewPr>
      <p:scale>
        <a:sx n="33" d="100"/>
        <a:sy n="33" d="100"/>
      </p:scale>
      <p:origin x="0" y="-92100"/>
    </p:cViewPr>
  </p:outlineViewPr>
  <p:notesTextViewPr>
    <p:cViewPr>
      <p:scale>
        <a:sx n="100" d="100"/>
        <a:sy n="100" d="100"/>
      </p:scale>
      <p:origin x="0" y="0"/>
    </p:cViewPr>
  </p:notesTextViewPr>
  <p:sorterViewPr>
    <p:cViewPr>
      <p:scale>
        <a:sx n="70" d="100"/>
        <a:sy n="70" d="100"/>
      </p:scale>
      <p:origin x="0" y="888"/>
    </p:cViewPr>
  </p:sorterViewPr>
  <p:notesViewPr>
    <p:cSldViewPr>
      <p:cViewPr varScale="1">
        <p:scale>
          <a:sx n="49" d="100"/>
          <a:sy n="49" d="100"/>
        </p:scale>
        <p:origin x="-2296"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1BD26A1-E474-4E40-AA6B-E3DA9064E8DB}" type="datetimeFigureOut">
              <a:rPr lang="zh-CN" altLang="en-US" smtClean="0"/>
              <a:pPr/>
              <a:t>2025/2/28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4CC993E-3971-4A6E-AB96-D51CA3A2E21C}" type="slidenum">
              <a:rPr lang="zh-CN" altLang="en-US" smtClean="0"/>
              <a:pPr/>
              <a:t>‹#›</a:t>
            </a:fld>
            <a:endParaRPr lang="zh-CN" altLang="en-US"/>
          </a:p>
        </p:txBody>
      </p:sp>
    </p:spTree>
    <p:extLst>
      <p:ext uri="{BB962C8B-B14F-4D97-AF65-F5344CB8AC3E}">
        <p14:creationId xmlns:p14="http://schemas.microsoft.com/office/powerpoint/2010/main" val="1127950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C554E34-F0A9-43E7-A75E-6363291F165A}" type="slidenum">
              <a:rPr lang="en-US"/>
              <a:pPr>
                <a:defRPr/>
              </a:pPr>
              <a:t>‹#›</a:t>
            </a:fld>
            <a:endParaRPr lang="en-US"/>
          </a:p>
        </p:txBody>
      </p:sp>
    </p:spTree>
    <p:extLst>
      <p:ext uri="{BB962C8B-B14F-4D97-AF65-F5344CB8AC3E}">
        <p14:creationId xmlns:p14="http://schemas.microsoft.com/office/powerpoint/2010/main" val="11592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zh-CN" sz="1200" smtClean="0"/>
              <a:t>© School of Computer Science and Technology, SWUST </a:t>
            </a:r>
          </a:p>
        </p:txBody>
      </p:sp>
      <p:sp>
        <p:nvSpPr>
          <p:cNvPr id="4608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defTabSz="966788" eaLnBrk="0" fontAlgn="base" hangingPunct="0">
              <a:spcBef>
                <a:spcPct val="0"/>
              </a:spcBef>
              <a:spcAft>
                <a:spcPct val="0"/>
              </a:spcAft>
              <a:defRPr sz="2400">
                <a:solidFill>
                  <a:schemeClr val="tx1"/>
                </a:solidFill>
                <a:latin typeface="Times New Roman" panose="02020603050405020304" pitchFamily="18" charset="0"/>
              </a:defRPr>
            </a:lvl9pPr>
          </a:lstStyle>
          <a:p>
            <a:fld id="{98637FE8-3F14-47D5-A933-FAB0844D9F6E}" type="slidenum">
              <a:rPr lang="en-US" altLang="zh-CN" sz="1200"/>
              <a:pPr/>
              <a:t>2</a:t>
            </a:fld>
            <a:endParaRPr lang="en-US" altLang="zh-CN" sz="1200"/>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介绍个人信息及教学资源</a:t>
            </a:r>
          </a:p>
        </p:txBody>
      </p:sp>
    </p:spTree>
    <p:extLst>
      <p:ext uri="{BB962C8B-B14F-4D97-AF65-F5344CB8AC3E}">
        <p14:creationId xmlns:p14="http://schemas.microsoft.com/office/powerpoint/2010/main" val="817305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Times New Roman" pitchFamily="18" charset="0"/>
                <a:ea typeface="+mn-ea"/>
                <a:cs typeface="+mn-cs"/>
              </a:rPr>
              <a:t>Bloom Filter</a:t>
            </a:r>
            <a:r>
              <a:rPr lang="zh-CN" altLang="en-US" sz="1200" b="0" i="0" kern="1200" dirty="0" smtClean="0">
                <a:solidFill>
                  <a:schemeClr val="tx1"/>
                </a:solidFill>
                <a:effectLst/>
                <a:latin typeface="Times New Roman" pitchFamily="18" charset="0"/>
                <a:ea typeface="+mn-ea"/>
                <a:cs typeface="+mn-cs"/>
              </a:rPr>
              <a:t>算法</a:t>
            </a:r>
            <a:endParaRPr lang="zh-CN" altLang="en-US" dirty="0"/>
          </a:p>
        </p:txBody>
      </p:sp>
      <p:sp>
        <p:nvSpPr>
          <p:cNvPr id="4" name="灯片编号占位符 3"/>
          <p:cNvSpPr>
            <a:spLocks noGrp="1"/>
          </p:cNvSpPr>
          <p:nvPr>
            <p:ph type="sldNum" sz="quarter" idx="10"/>
          </p:nvPr>
        </p:nvSpPr>
        <p:spPr/>
        <p:txBody>
          <a:bodyPr/>
          <a:lstStyle/>
          <a:p>
            <a:pPr>
              <a:defRPr/>
            </a:pPr>
            <a:fld id="{4C554E34-F0A9-43E7-A75E-6363291F165A}" type="slidenum">
              <a:rPr lang="en-US" smtClean="0"/>
              <a:pPr>
                <a:defRPr/>
              </a:pPr>
              <a:t>10</a:t>
            </a:fld>
            <a:endParaRPr lang="en-US"/>
          </a:p>
        </p:txBody>
      </p:sp>
    </p:spTree>
    <p:extLst>
      <p:ext uri="{BB962C8B-B14F-4D97-AF65-F5344CB8AC3E}">
        <p14:creationId xmlns:p14="http://schemas.microsoft.com/office/powerpoint/2010/main" val="273699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Grp="1" noChangeArrowheads="1"/>
          </p:cNvSpPr>
          <p:nvPr>
            <p:ph type="ftr" sz="quarter" idx="4"/>
          </p:nvPr>
        </p:nvSpPr>
        <p:spPr>
          <a:noFill/>
          <a:ln>
            <a:miter lim="800000"/>
            <a:headEnd/>
            <a:tailEnd/>
          </a:ln>
        </p:spPr>
        <p:txBody>
          <a:bodyPr/>
          <a:lstStyle/>
          <a:p>
            <a:pPr eaLnBrk="1" hangingPunct="1"/>
            <a:r>
              <a:rPr lang="en-US" altLang="zh-CN" smtClean="0">
                <a:latin typeface="Arial" charset="0"/>
              </a:rPr>
              <a:t>© School of Computer Science and Technology, SWUST </a:t>
            </a:r>
          </a:p>
        </p:txBody>
      </p:sp>
      <p:sp>
        <p:nvSpPr>
          <p:cNvPr id="22531" name="Rectangle 7"/>
          <p:cNvSpPr>
            <a:spLocks noGrp="1" noChangeArrowheads="1"/>
          </p:cNvSpPr>
          <p:nvPr>
            <p:ph type="sldNum" sz="quarter" idx="5"/>
          </p:nvPr>
        </p:nvSpPr>
        <p:spPr>
          <a:noFill/>
          <a:ln>
            <a:miter lim="800000"/>
            <a:headEnd/>
            <a:tailEnd/>
          </a:ln>
        </p:spPr>
        <p:txBody>
          <a:bodyPr/>
          <a:lstStyle/>
          <a:p>
            <a:pPr eaLnBrk="1" hangingPunct="1"/>
            <a:fld id="{C6707A4E-3D0A-48AC-AF10-B3BBC09F6379}" type="slidenum">
              <a:rPr lang="en-US" altLang="zh-CN" smtClean="0">
                <a:latin typeface="Arial" charset="0"/>
              </a:rPr>
              <a:pPr eaLnBrk="1" hangingPunct="1"/>
              <a:t>14</a:t>
            </a:fld>
            <a:endParaRPr lang="en-US" altLang="zh-CN" smtClean="0">
              <a:latin typeface="Arial" charset="0"/>
            </a:endParaRPr>
          </a:p>
        </p:txBody>
      </p:sp>
      <p:sp>
        <p:nvSpPr>
          <p:cNvPr id="22532" name="Rectangle 2"/>
          <p:cNvSpPr>
            <a:spLocks noGrp="1" noRot="1" noChangeAspect="1" noChangeArrowheads="1" noTextEdit="1"/>
          </p:cNvSpPr>
          <p:nvPr>
            <p:ph type="sldImg"/>
          </p:nvPr>
        </p:nvSpPr>
        <p:spPr>
          <a:ln/>
        </p:spPr>
      </p:sp>
      <p:sp>
        <p:nvSpPr>
          <p:cNvPr id="22533"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3469975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19*19=361;  3.15*10^7;5.49*10^18;  </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1.7408965065903 * 10^172 </a:t>
            </a:r>
            <a:r>
              <a:rPr lang="zh-CN" altLang="en-US" sz="1200" b="0" i="0" kern="1200" dirty="0" smtClean="0">
                <a:solidFill>
                  <a:schemeClr val="tx1"/>
                </a:solidFill>
                <a:effectLst/>
                <a:latin typeface="Times New Roman" pitchFamily="18" charset="0"/>
                <a:ea typeface="+mn-ea"/>
                <a:cs typeface="+mn-cs"/>
              </a:rPr>
              <a:t>蒙特卡洛搜索</a:t>
            </a:r>
            <a:endParaRPr lang="zh-CN" altLang="en-US" dirty="0"/>
          </a:p>
        </p:txBody>
      </p:sp>
      <p:sp>
        <p:nvSpPr>
          <p:cNvPr id="4" name="灯片编号占位符 3"/>
          <p:cNvSpPr>
            <a:spLocks noGrp="1"/>
          </p:cNvSpPr>
          <p:nvPr>
            <p:ph type="sldNum" sz="quarter" idx="10"/>
          </p:nvPr>
        </p:nvSpPr>
        <p:spPr/>
        <p:txBody>
          <a:bodyPr/>
          <a:lstStyle/>
          <a:p>
            <a:fld id="{647CE518-22DE-4F71-A302-8F7F53F8203E}" type="slidenum">
              <a:rPr lang="zh-CN" altLang="en-US" smtClean="0"/>
              <a:t>15</a:t>
            </a:fld>
            <a:endParaRPr lang="zh-CN" altLang="en-US"/>
          </a:p>
        </p:txBody>
      </p:sp>
    </p:spTree>
    <p:extLst>
      <p:ext uri="{BB962C8B-B14F-4D97-AF65-F5344CB8AC3E}">
        <p14:creationId xmlns:p14="http://schemas.microsoft.com/office/powerpoint/2010/main" val="2298993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eaLnBrk="1" hangingPunct="1">
              <a:buFont typeface="Wingdings" panose="05000000000000000000" pitchFamily="2" charset="2"/>
              <a:buNone/>
            </a:pPr>
            <a:endParaRPr lang="zh-CN" altLang="en-US" dirty="0"/>
          </a:p>
        </p:txBody>
      </p:sp>
      <p:sp>
        <p:nvSpPr>
          <p:cNvPr id="4" name="Slide Number Placeholder 3"/>
          <p:cNvSpPr>
            <a:spLocks noGrp="1"/>
          </p:cNvSpPr>
          <p:nvPr>
            <p:ph type="sldNum" sz="quarter" idx="10"/>
          </p:nvPr>
        </p:nvSpPr>
        <p:spPr/>
        <p:txBody>
          <a:bodyPr/>
          <a:lstStyle/>
          <a:p>
            <a:fld id="{283C0B16-D625-4031-B4F3-4614ED19A1E8}" type="slidenum">
              <a:rPr lang="zh-CN" altLang="en-US" smtClean="0"/>
              <a:t>17</a:t>
            </a:fld>
            <a:endParaRPr lang="zh-CN" altLang="en-US"/>
          </a:p>
        </p:txBody>
      </p:sp>
    </p:spTree>
    <p:extLst>
      <p:ext uri="{BB962C8B-B14F-4D97-AF65-F5344CB8AC3E}">
        <p14:creationId xmlns:p14="http://schemas.microsoft.com/office/powerpoint/2010/main" val="3729471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9A2C271-88B3-4C9B-A56E-D398B75A0AD5}" type="slidenum">
              <a:rPr lang="en-US" altLang="zh-CN" smtClean="0"/>
              <a:pPr>
                <a:spcBef>
                  <a:spcPct val="0"/>
                </a:spcBef>
              </a:pPr>
              <a:t>18</a:t>
            </a:fld>
            <a:endParaRPr lang="en-US" altLang="zh-CN"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t>数据结构是入门课程</a:t>
            </a:r>
            <a:r>
              <a:rPr lang="en-US" altLang="zh-CN" dirty="0" smtClean="0"/>
              <a:t>/</a:t>
            </a:r>
            <a:r>
              <a:rPr lang="zh-CN" altLang="en-US" dirty="0" smtClean="0"/>
              <a:t>算法分析是高级课程</a:t>
            </a:r>
          </a:p>
          <a:p>
            <a:pPr eaLnBrk="1" hangingPunct="1"/>
            <a:r>
              <a:rPr lang="zh-CN" altLang="en-US" dirty="0" smtClean="0"/>
              <a:t>数据结构解决具体的问题</a:t>
            </a:r>
            <a:r>
              <a:rPr lang="en-US" altLang="zh-CN" dirty="0" smtClean="0"/>
              <a:t>/</a:t>
            </a:r>
            <a:r>
              <a:rPr lang="zh-CN" altLang="en-US" dirty="0" smtClean="0"/>
              <a:t>算法分析考虑解决问题的一般方法</a:t>
            </a:r>
          </a:p>
          <a:p>
            <a:pPr eaLnBrk="1" hangingPunct="1"/>
            <a:endParaRPr lang="zh-CN" altLang="en-US" dirty="0" smtClean="0"/>
          </a:p>
          <a:p>
            <a:pPr eaLnBrk="1" hangingPunct="1"/>
            <a:r>
              <a:rPr lang="zh-CN" altLang="en-US" dirty="0" smtClean="0"/>
              <a:t>算法能解决的问题种类是有限的：如，不能找到使人生活愉快的算法，也不能找到一个使人富有和出名的算法。也不能找到一个算法使得考试得</a:t>
            </a:r>
            <a:r>
              <a:rPr lang="en-US" altLang="zh-CN" dirty="0" smtClean="0"/>
              <a:t>100</a:t>
            </a:r>
            <a:r>
              <a:rPr lang="zh-CN" altLang="en-US" dirty="0" smtClean="0"/>
              <a:t>分。</a:t>
            </a:r>
          </a:p>
        </p:txBody>
      </p:sp>
    </p:spTree>
    <p:extLst>
      <p:ext uri="{BB962C8B-B14F-4D97-AF65-F5344CB8AC3E}">
        <p14:creationId xmlns:p14="http://schemas.microsoft.com/office/powerpoint/2010/main" val="33978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EB0217D-0E5B-4313-A676-3DF98DD14743}" type="slidenum">
              <a:rPr lang="en-US" altLang="zh-CN" smtClean="0"/>
              <a:pPr>
                <a:spcBef>
                  <a:spcPct val="0"/>
                </a:spcBef>
              </a:pPr>
              <a:t>19</a:t>
            </a:fld>
            <a:endParaRPr lang="en-US" altLang="zh-CN" smtClean="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多种定义方式</a:t>
            </a:r>
          </a:p>
        </p:txBody>
      </p:sp>
    </p:spTree>
    <p:extLst>
      <p:ext uri="{BB962C8B-B14F-4D97-AF65-F5344CB8AC3E}">
        <p14:creationId xmlns:p14="http://schemas.microsoft.com/office/powerpoint/2010/main" val="680702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w="12700">
            <a:miter lim="800000"/>
            <a:headEnd type="none" w="sm" len="sm"/>
            <a:tailEnd type="none" w="sm" len="sm"/>
          </a:ln>
        </p:spPr>
        <p:txBody>
          <a:bodyPr/>
          <a:lstStyle/>
          <a:p>
            <a:fld id="{F6FDE696-3ADB-4B7D-851B-2FF85C69375B}" type="slidenum">
              <a:rPr lang="en-US" altLang="zh-CN" smtClean="0"/>
              <a:pPr/>
              <a:t>20</a:t>
            </a:fld>
            <a:endParaRPr lang="en-US" altLang="zh-CN" smtClean="0"/>
          </a:p>
        </p:txBody>
      </p:sp>
      <p:sp>
        <p:nvSpPr>
          <p:cNvPr id="21507" name="Rectangle 2"/>
          <p:cNvSpPr>
            <a:spLocks noGrp="1" noRot="1" noChangeAspect="1" noChangeArrowheads="1" noTextEdit="1"/>
          </p:cNvSpPr>
          <p:nvPr>
            <p:ph type="sldImg"/>
          </p:nvPr>
        </p:nvSpPr>
        <p:spPr>
          <a:xfrm>
            <a:off x="1149350" y="688975"/>
            <a:ext cx="4557713" cy="3419475"/>
          </a:xfrm>
          <a:noFill/>
          <a:ln w="12700" cap="flat">
            <a:solidFill>
              <a:schemeClr val="tx1"/>
            </a:solidFill>
          </a:ln>
        </p:spPr>
      </p:sp>
      <p:sp>
        <p:nvSpPr>
          <p:cNvPr id="21508" name="Rectangle 3"/>
          <p:cNvSpPr>
            <a:spLocks noGrp="1" noChangeArrowheads="1"/>
          </p:cNvSpPr>
          <p:nvPr>
            <p:ph type="body" idx="1"/>
          </p:nvPr>
        </p:nvSpPr>
        <p:spPr>
          <a:noFill/>
        </p:spPr>
        <p:txBody>
          <a:bodyPr lIns="92119" tIns="46841" rIns="92119" bIns="46841"/>
          <a:lstStyle/>
          <a:p>
            <a:endParaRPr lang="zh-CN" altLang="zh-CN" smtClean="0"/>
          </a:p>
        </p:txBody>
      </p:sp>
    </p:spTree>
    <p:extLst>
      <p:ext uri="{BB962C8B-B14F-4D97-AF65-F5344CB8AC3E}">
        <p14:creationId xmlns:p14="http://schemas.microsoft.com/office/powerpoint/2010/main" val="2078041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CC2BBCF-A776-405C-AB35-CF7CB975DC9A}" type="slidenum">
              <a:rPr lang="en-US" altLang="zh-CN" smtClean="0"/>
              <a:pPr>
                <a:spcBef>
                  <a:spcPct val="0"/>
                </a:spcBef>
              </a:pPr>
              <a:t>21</a:t>
            </a:fld>
            <a:endParaRPr lang="en-US" altLang="zh-CN"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smtClean="0"/>
              <a:t>1</a:t>
            </a:r>
            <a:r>
              <a:rPr lang="zh-CN" altLang="en-US" dirty="0" smtClean="0"/>
              <a:t>、问题是否属于或者近似某些常见的问题，有则可借助现有算法求解，否则只能自己设计</a:t>
            </a:r>
          </a:p>
          <a:p>
            <a:pPr eaLnBrk="1" hangingPunct="1"/>
            <a:r>
              <a:rPr lang="en-US" altLang="zh-CN" dirty="0" smtClean="0"/>
              <a:t>2</a:t>
            </a:r>
            <a:r>
              <a:rPr lang="zh-CN" altLang="en-US" dirty="0" smtClean="0"/>
              <a:t>、计算设备的性能。</a:t>
            </a:r>
            <a:r>
              <a:rPr lang="en-US" altLang="zh-CN" dirty="0" smtClean="0"/>
              <a:t>RAM</a:t>
            </a:r>
            <a:r>
              <a:rPr lang="zh-CN" altLang="en-US" dirty="0" smtClean="0"/>
              <a:t>模型和并行算法不同</a:t>
            </a:r>
          </a:p>
          <a:p>
            <a:pPr eaLnBrk="1" hangingPunct="1"/>
            <a:r>
              <a:rPr lang="en-US" altLang="zh-CN" dirty="0" smtClean="0"/>
              <a:t>3</a:t>
            </a:r>
            <a:r>
              <a:rPr lang="zh-CN" altLang="en-US" dirty="0" smtClean="0"/>
              <a:t>、某些重要问题，如平方根，非线性方程组，求定积分无法求得精确解；某些问题复杂度太高，精确解的时间无法接受，如旅行商问题。近似解可能和精确解非常接近。</a:t>
            </a:r>
          </a:p>
          <a:p>
            <a:pPr eaLnBrk="1" hangingPunct="1"/>
            <a:r>
              <a:rPr lang="en-US" altLang="zh-CN" dirty="0" smtClean="0"/>
              <a:t>4</a:t>
            </a:r>
            <a:r>
              <a:rPr lang="zh-CN" altLang="en-US" dirty="0" smtClean="0"/>
              <a:t>、数据结构。。。。</a:t>
            </a:r>
          </a:p>
        </p:txBody>
      </p:sp>
    </p:spTree>
    <p:extLst>
      <p:ext uri="{BB962C8B-B14F-4D97-AF65-F5344CB8AC3E}">
        <p14:creationId xmlns:p14="http://schemas.microsoft.com/office/powerpoint/2010/main" val="2401922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295C84C-A49E-4E3E-8DCC-867ACFF32A09}" type="slidenum">
              <a:rPr lang="en-US" altLang="zh-CN" smtClean="0"/>
              <a:pPr>
                <a:spcBef>
                  <a:spcPct val="0"/>
                </a:spcBef>
              </a:pPr>
              <a:t>22</a:t>
            </a:fld>
            <a:endParaRPr lang="en-US" altLang="zh-CN"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zh-CN" altLang="en-US" smtClean="0"/>
              <a:t>最优性和问题有关，和算法无关：</a:t>
            </a:r>
          </a:p>
          <a:p>
            <a:pPr lvl="1" eaLnBrk="1" hangingPunct="1"/>
            <a:r>
              <a:rPr lang="zh-CN" altLang="en-US" smtClean="0"/>
              <a:t>有时很容易，如查找或者排序；有时很难，如矩阵乘法</a:t>
            </a:r>
          </a:p>
          <a:p>
            <a:pPr lvl="1" eaLnBrk="1" hangingPunct="1"/>
            <a:endParaRPr lang="zh-CN" altLang="en-US" smtClean="0"/>
          </a:p>
          <a:p>
            <a:pPr eaLnBrk="1" hangingPunct="1"/>
            <a:endParaRPr lang="en-US" altLang="zh-CN" smtClean="0"/>
          </a:p>
        </p:txBody>
      </p:sp>
    </p:spTree>
    <p:extLst>
      <p:ext uri="{BB962C8B-B14F-4D97-AF65-F5344CB8AC3E}">
        <p14:creationId xmlns:p14="http://schemas.microsoft.com/office/powerpoint/2010/main" val="2423676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8EA0CD4-16DB-4EC8-A1C9-625DBE11E2C8}" type="slidenum">
              <a:rPr lang="en-US" smtClean="0"/>
              <a:pPr/>
              <a:t>25</a:t>
            </a:fld>
            <a:endParaRPr lang="en-US"/>
          </a:p>
        </p:txBody>
      </p:sp>
    </p:spTree>
    <p:extLst>
      <p:ext uri="{BB962C8B-B14F-4D97-AF65-F5344CB8AC3E}">
        <p14:creationId xmlns:p14="http://schemas.microsoft.com/office/powerpoint/2010/main" val="38685792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4249122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0"/>
              </a:spcBef>
            </a:pPr>
            <a:r>
              <a:rPr lang="en-US" sz="1200" b="0" dirty="0" smtClean="0"/>
              <a:t>c ≥ 1 </a:t>
            </a:r>
            <a:r>
              <a:rPr lang="en-US" sz="1200" b="0" dirty="0" smtClean="0">
                <a:sym typeface="Wingdings" pitchFamily="2" charset="2"/>
              </a:rPr>
              <a:t> </a:t>
            </a:r>
            <a:r>
              <a:rPr lang="en-US" sz="1200" b="0" dirty="0" smtClean="0"/>
              <a:t>we can hold the value of n </a:t>
            </a:r>
            <a:r>
              <a:rPr lang="en-US" sz="1200" b="0" dirty="0" smtClean="0">
                <a:sym typeface="Wingdings" pitchFamily="2" charset="2"/>
              </a:rPr>
              <a:t> </a:t>
            </a:r>
            <a:r>
              <a:rPr lang="en-US" sz="1200" b="0" dirty="0" smtClean="0"/>
              <a:t>we can index the individual elements.</a:t>
            </a:r>
          </a:p>
          <a:p>
            <a:pPr>
              <a:spcBef>
                <a:spcPts val="0"/>
              </a:spcBef>
            </a:pPr>
            <a:r>
              <a:rPr lang="en-US" sz="1200" b="0" dirty="0" smtClean="0"/>
              <a:t>c is a constant </a:t>
            </a:r>
            <a:r>
              <a:rPr lang="en-US" sz="1200" b="0" dirty="0" smtClean="0">
                <a:sym typeface="Wingdings" pitchFamily="2" charset="2"/>
              </a:rPr>
              <a:t> </a:t>
            </a:r>
            <a:r>
              <a:rPr lang="en-US" sz="1200" b="0" dirty="0" smtClean="0"/>
              <a:t>the word size cannot grow arbitrarily.</a:t>
            </a:r>
          </a:p>
          <a:p>
            <a:endParaRPr lang="en-US" dirty="0" smtClean="0"/>
          </a:p>
        </p:txBody>
      </p:sp>
    </p:spTree>
    <p:extLst>
      <p:ext uri="{BB962C8B-B14F-4D97-AF65-F5344CB8AC3E}">
        <p14:creationId xmlns:p14="http://schemas.microsoft.com/office/powerpoint/2010/main" val="871098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Tree>
    <p:extLst>
      <p:ext uri="{BB962C8B-B14F-4D97-AF65-F5344CB8AC3E}">
        <p14:creationId xmlns:p14="http://schemas.microsoft.com/office/powerpoint/2010/main" val="1120828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Tree>
    <p:extLst>
      <p:ext uri="{BB962C8B-B14F-4D97-AF65-F5344CB8AC3E}">
        <p14:creationId xmlns:p14="http://schemas.microsoft.com/office/powerpoint/2010/main" val="3393648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Tree>
    <p:extLst>
      <p:ext uri="{BB962C8B-B14F-4D97-AF65-F5344CB8AC3E}">
        <p14:creationId xmlns:p14="http://schemas.microsoft.com/office/powerpoint/2010/main" val="3567339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p>
        </p:txBody>
      </p:sp>
    </p:spTree>
    <p:extLst>
      <p:ext uri="{BB962C8B-B14F-4D97-AF65-F5344CB8AC3E}">
        <p14:creationId xmlns:p14="http://schemas.microsoft.com/office/powerpoint/2010/main" val="581246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Use “search” as</a:t>
            </a:r>
            <a:r>
              <a:rPr lang="en-US" baseline="0" dirty="0" smtClean="0"/>
              <a:t> an example to explain “average case”.</a:t>
            </a:r>
            <a:endParaRPr lang="en-US" dirty="0" smtClean="0"/>
          </a:p>
          <a:p>
            <a:r>
              <a:rPr lang="en-US" dirty="0" smtClean="0"/>
              <a:t>Average</a:t>
            </a:r>
            <a:r>
              <a:rPr lang="en-US" baseline="0" dirty="0" smtClean="0"/>
              <a:t> case: One may assume that all possible input instances have the same probability to occur. But in practice, different instances often have different probabilities. For example, students’ GPA values do not have uniform distribution among the possible values in [0, 4].</a:t>
            </a:r>
            <a:endParaRPr lang="en-US" dirty="0" smtClean="0"/>
          </a:p>
        </p:txBody>
      </p:sp>
    </p:spTree>
    <p:extLst>
      <p:ext uri="{BB962C8B-B14F-4D97-AF65-F5344CB8AC3E}">
        <p14:creationId xmlns:p14="http://schemas.microsoft.com/office/powerpoint/2010/main" val="840811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zh-CN" altLang="en-US" smtClean="0"/>
              <a:t>单击此处编辑母版标题样式</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FD6B5BC-2097-459A-BEAF-07896CD9F0E7}" type="slidenum">
              <a:rPr lang="en-US"/>
              <a:pPr>
                <a:defRPr/>
              </a:pPr>
              <a:t>‹#›</a:t>
            </a:fld>
            <a:endParaRPr lang="en-US"/>
          </a:p>
        </p:txBody>
      </p:sp>
    </p:spTree>
    <p:extLst>
      <p:ext uri="{BB962C8B-B14F-4D97-AF65-F5344CB8AC3E}">
        <p14:creationId xmlns:p14="http://schemas.microsoft.com/office/powerpoint/2010/main" val="301291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F7C3E25-4F81-42B3-9AF8-17F95D817C40}" type="slidenum">
              <a:rPr lang="en-US"/>
              <a:pPr>
                <a:defRPr/>
              </a:pPr>
              <a:t>‹#›</a:t>
            </a:fld>
            <a:endParaRPr lang="en-US"/>
          </a:p>
        </p:txBody>
      </p:sp>
    </p:spTree>
    <p:extLst>
      <p:ext uri="{BB962C8B-B14F-4D97-AF65-F5344CB8AC3E}">
        <p14:creationId xmlns:p14="http://schemas.microsoft.com/office/powerpoint/2010/main" val="31186920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24B03A-E222-49E2-9A91-D7D25B6ED348}" type="slidenum">
              <a:rPr lang="en-US"/>
              <a:pPr>
                <a:defRPr/>
              </a:pPr>
              <a:t>‹#›</a:t>
            </a:fld>
            <a:endParaRPr lang="en-US"/>
          </a:p>
        </p:txBody>
      </p:sp>
    </p:spTree>
    <p:extLst>
      <p:ext uri="{BB962C8B-B14F-4D97-AF65-F5344CB8AC3E}">
        <p14:creationId xmlns:p14="http://schemas.microsoft.com/office/powerpoint/2010/main" val="173584471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E47D9F1-DE92-47CE-A239-FDF56621384E}" type="slidenum">
              <a:rPr lang="en-US"/>
              <a:pPr>
                <a:defRPr/>
              </a:pPr>
              <a:t>‹#›</a:t>
            </a:fld>
            <a:endParaRPr lang="en-US"/>
          </a:p>
        </p:txBody>
      </p:sp>
    </p:spTree>
    <p:extLst>
      <p:ext uri="{BB962C8B-B14F-4D97-AF65-F5344CB8AC3E}">
        <p14:creationId xmlns:p14="http://schemas.microsoft.com/office/powerpoint/2010/main" val="105928318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6370B29-0D5F-4B90-B471-5FBD91E591A1}" type="slidenum">
              <a:rPr lang="en-US"/>
              <a:pPr>
                <a:defRPr/>
              </a:pPr>
              <a:t>‹#›</a:t>
            </a:fld>
            <a:endParaRPr lang="en-US"/>
          </a:p>
        </p:txBody>
      </p:sp>
    </p:spTree>
    <p:extLst>
      <p:ext uri="{BB962C8B-B14F-4D97-AF65-F5344CB8AC3E}">
        <p14:creationId xmlns:p14="http://schemas.microsoft.com/office/powerpoint/2010/main" val="299210997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559721-1D86-4419-8089-AD0BB1C2A2A4}" type="slidenum">
              <a:rPr lang="en-US"/>
              <a:pPr>
                <a:defRPr/>
              </a:pPr>
              <a:t>‹#›</a:t>
            </a:fld>
            <a:endParaRPr lang="en-US"/>
          </a:p>
        </p:txBody>
      </p:sp>
    </p:spTree>
    <p:extLst>
      <p:ext uri="{BB962C8B-B14F-4D97-AF65-F5344CB8AC3E}">
        <p14:creationId xmlns:p14="http://schemas.microsoft.com/office/powerpoint/2010/main" val="272583585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6F4A282-15B5-4BD2-B169-6A8C7BAE9A7D}" type="slidenum">
              <a:rPr lang="en-US"/>
              <a:pPr>
                <a:defRPr/>
              </a:pPr>
              <a:t>‹#›</a:t>
            </a:fld>
            <a:endParaRPr lang="en-US"/>
          </a:p>
        </p:txBody>
      </p:sp>
    </p:spTree>
    <p:extLst>
      <p:ext uri="{BB962C8B-B14F-4D97-AF65-F5344CB8AC3E}">
        <p14:creationId xmlns:p14="http://schemas.microsoft.com/office/powerpoint/2010/main" val="62075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6C51CD2-7B79-46D7-B801-1C8F0C1E3816}" type="slidenum">
              <a:rPr lang="en-US"/>
              <a:pPr>
                <a:defRPr/>
              </a:pPr>
              <a:t>‹#›</a:t>
            </a:fld>
            <a:endParaRPr lang="en-US"/>
          </a:p>
        </p:txBody>
      </p:sp>
    </p:spTree>
    <p:extLst>
      <p:ext uri="{BB962C8B-B14F-4D97-AF65-F5344CB8AC3E}">
        <p14:creationId xmlns:p14="http://schemas.microsoft.com/office/powerpoint/2010/main" val="264043728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F2524E2-0801-4885-99E2-281673BE76DB}" type="slidenum">
              <a:rPr lang="en-US"/>
              <a:pPr>
                <a:defRPr/>
              </a:pPr>
              <a:t>‹#›</a:t>
            </a:fld>
            <a:endParaRPr lang="en-US"/>
          </a:p>
        </p:txBody>
      </p:sp>
    </p:spTree>
    <p:extLst>
      <p:ext uri="{BB962C8B-B14F-4D97-AF65-F5344CB8AC3E}">
        <p14:creationId xmlns:p14="http://schemas.microsoft.com/office/powerpoint/2010/main" val="165388259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62913C-209A-41E3-B52C-17AA648745F5}" type="slidenum">
              <a:rPr lang="en-US"/>
              <a:pPr>
                <a:defRPr/>
              </a:pPr>
              <a:t>‹#›</a:t>
            </a:fld>
            <a:endParaRPr lang="en-US"/>
          </a:p>
        </p:txBody>
      </p:sp>
    </p:spTree>
    <p:extLst>
      <p:ext uri="{BB962C8B-B14F-4D97-AF65-F5344CB8AC3E}">
        <p14:creationId xmlns:p14="http://schemas.microsoft.com/office/powerpoint/2010/main" val="81381389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3EB8F4B-4594-4F0C-A18C-996BD4805962}" type="slidenum">
              <a:rPr lang="en-US"/>
              <a:pPr>
                <a:defRPr/>
              </a:pPr>
              <a:t>‹#›</a:t>
            </a:fld>
            <a:endParaRPr lang="en-US"/>
          </a:p>
        </p:txBody>
      </p:sp>
    </p:spTree>
    <p:extLst>
      <p:ext uri="{BB962C8B-B14F-4D97-AF65-F5344CB8AC3E}">
        <p14:creationId xmlns:p14="http://schemas.microsoft.com/office/powerpoint/2010/main" val="29130952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7848600" cy="762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185863"/>
            <a:ext cx="3810000" cy="4835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185863"/>
            <a:ext cx="3810000" cy="23415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679825"/>
            <a:ext cx="3810000" cy="23415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30"/>
          <p:cNvSpPr>
            <a:spLocks noGrp="1" noChangeArrowheads="1"/>
          </p:cNvSpPr>
          <p:nvPr>
            <p:ph type="dt" sz="half" idx="10"/>
          </p:nvPr>
        </p:nvSpPr>
        <p:spPr>
          <a:xfrm>
            <a:off x="685800" y="6248400"/>
            <a:ext cx="1905000" cy="457200"/>
          </a:xfrm>
          <a:prstGeom prst="rect">
            <a:avLst/>
          </a:prstGeom>
        </p:spPr>
        <p:txBody>
          <a:bodyPr/>
          <a:lstStyle>
            <a:lvl1pPr eaLnBrk="0" hangingPunct="0">
              <a:defRPr/>
            </a:lvl1pPr>
          </a:lstStyle>
          <a:p>
            <a:pPr>
              <a:defRPr/>
            </a:pPr>
            <a:fld id="{002309F9-B896-4975-893F-9FA1EAEA8DD2}" type="datetime1">
              <a:rPr lang="zh-CN" altLang="en-US"/>
              <a:pPr>
                <a:defRPr/>
              </a:pPr>
              <a:t>2025/2/28</a:t>
            </a:fld>
            <a:endParaRPr lang="en-US" altLang="zh-CN"/>
          </a:p>
        </p:txBody>
      </p:sp>
      <p:sp>
        <p:nvSpPr>
          <p:cNvPr id="7" name="Rectangle 31"/>
          <p:cNvSpPr>
            <a:spLocks noGrp="1" noChangeArrowheads="1"/>
          </p:cNvSpPr>
          <p:nvPr>
            <p:ph type="ftr" sz="quarter" idx="11"/>
          </p:nvPr>
        </p:nvSpPr>
        <p:spPr>
          <a:xfrm>
            <a:off x="3124200" y="6248400"/>
            <a:ext cx="2895600" cy="457200"/>
          </a:xfrm>
          <a:prstGeom prst="rect">
            <a:avLst/>
          </a:prstGeom>
        </p:spPr>
        <p:txBody>
          <a:bodyPr/>
          <a:lstStyle>
            <a:lvl1pPr algn="l" eaLnBrk="0" hangingPunct="0">
              <a:defRPr/>
            </a:lvl1pPr>
          </a:lstStyle>
          <a:p>
            <a:pPr>
              <a:defRPr/>
            </a:pPr>
            <a:r>
              <a:rPr lang="zh-CN" altLang="en-US"/>
              <a:t>算法设计与分析</a:t>
            </a:r>
            <a:endParaRPr lang="en-US" altLang="zh-CN"/>
          </a:p>
        </p:txBody>
      </p:sp>
      <p:sp>
        <p:nvSpPr>
          <p:cNvPr id="8" name="Rectangle 32"/>
          <p:cNvSpPr>
            <a:spLocks noGrp="1" noChangeArrowheads="1"/>
          </p:cNvSpPr>
          <p:nvPr>
            <p:ph type="sldNum" sz="quarter" idx="12"/>
          </p:nvPr>
        </p:nvSpPr>
        <p:spPr>
          <a:xfrm>
            <a:off x="6553200" y="6248400"/>
            <a:ext cx="1905000" cy="457200"/>
          </a:xfrm>
          <a:prstGeom prst="rect">
            <a:avLst/>
          </a:prstGeom>
        </p:spPr>
        <p:txBody>
          <a:bodyPr/>
          <a:lstStyle>
            <a:lvl1pPr eaLnBrk="0" hangingPunct="0">
              <a:defRPr smtClean="0"/>
            </a:lvl1pPr>
          </a:lstStyle>
          <a:p>
            <a:pPr>
              <a:defRPr/>
            </a:pPr>
            <a:fld id="{84D0CFBF-E99B-4436-B75E-EEB20DB599AD}" type="slidenum">
              <a:rPr lang="en-US" altLang="zh-CN"/>
              <a:pPr>
                <a:defRPr/>
              </a:pPr>
              <a:t>‹#›</a:t>
            </a:fld>
            <a:endParaRPr lang="en-US" altLang="zh-CN"/>
          </a:p>
        </p:txBody>
      </p:sp>
    </p:spTree>
    <p:extLst>
      <p:ext uri="{BB962C8B-B14F-4D97-AF65-F5344CB8AC3E}">
        <p14:creationId xmlns:p14="http://schemas.microsoft.com/office/powerpoint/2010/main" val="3229474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smtClean="0"/>
              <a:t>单击此处编辑母版标题样式</a:t>
            </a:r>
            <a:endParaRPr lang="zh-CN" altLang="en-US"/>
          </a:p>
        </p:txBody>
      </p:sp>
      <p:sp>
        <p:nvSpPr>
          <p:cNvPr id="3" name="SmartArt 占位符 2"/>
          <p:cNvSpPr>
            <a:spLocks noGrp="1"/>
          </p:cNvSpPr>
          <p:nvPr>
            <p:ph type="dgm" idx="1"/>
          </p:nvPr>
        </p:nvSpPr>
        <p:spPr>
          <a:xfrm>
            <a:off x="1182688" y="2017713"/>
            <a:ext cx="7772400" cy="4114800"/>
          </a:xfrm>
        </p:spPr>
        <p:txBody>
          <a:bodyPr/>
          <a:lstStyle/>
          <a:p>
            <a:pPr lvl="0"/>
            <a:endParaRPr lang="zh-CN" altLang="en-US" noProof="0" smtClean="0"/>
          </a:p>
        </p:txBody>
      </p:sp>
      <p:sp>
        <p:nvSpPr>
          <p:cNvPr id="4" name="Rectangle 11"/>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28E5C0C6-49FD-4F5C-808F-52B0EC87FF9C}" type="slidenum">
              <a:rPr lang="en-US" altLang="zh-CN"/>
              <a:pPr>
                <a:defRPr/>
              </a:pPr>
              <a:t>‹#›</a:t>
            </a:fld>
            <a:endParaRPr lang="en-US" altLang="zh-CN"/>
          </a:p>
        </p:txBody>
      </p:sp>
    </p:spTree>
    <p:extLst>
      <p:ext uri="{BB962C8B-B14F-4D97-AF65-F5344CB8AC3E}">
        <p14:creationId xmlns:p14="http://schemas.microsoft.com/office/powerpoint/2010/main" val="1370056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dirty="0" smtClean="0"/>
          </a:p>
        </p:txBody>
      </p:sp>
      <p:sp>
        <p:nvSpPr>
          <p:cNvPr id="1027" name="Rectangle 3"/>
          <p:cNvSpPr>
            <a:spLocks noGrp="1" noChangeArrowheads="1"/>
          </p:cNvSpPr>
          <p:nvPr>
            <p:ph type="body" idx="1"/>
          </p:nvPr>
        </p:nvSpPr>
        <p:spPr bwMode="auto">
          <a:xfrm>
            <a:off x="685800" y="15240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smtClean="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pPr>
              <a:defRPr/>
            </a:pPr>
            <a:fld id="{788F243E-17DC-457A-A8A2-016C58323037}" type="slidenum">
              <a:rPr lang="en-US"/>
              <a:pPr>
                <a:defRPr/>
              </a:pPr>
              <a:t>‹#›</a:t>
            </a:fld>
            <a:endParaRPr lang="en-US"/>
          </a:p>
        </p:txBody>
      </p:sp>
      <p:sp>
        <p:nvSpPr>
          <p:cNvPr id="8" name="Line 7"/>
          <p:cNvSpPr>
            <a:spLocks noChangeShapeType="1"/>
          </p:cNvSpPr>
          <p:nvPr userDrawn="1"/>
        </p:nvSpPr>
        <p:spPr bwMode="auto">
          <a:xfrm>
            <a:off x="533400" y="1295400"/>
            <a:ext cx="8229600" cy="0"/>
          </a:xfrm>
          <a:prstGeom prst="line">
            <a:avLst/>
          </a:prstGeom>
          <a:noFill/>
          <a:ln w="57150" cmpd="thinThick">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3" r:id="rId12"/>
    <p:sldLayoutId id="2147483694"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up)">
                                      <p:cBhvr>
                                        <p:cTn id="7" dur="500"/>
                                        <p:tgtEl>
                                          <p:spTgt spid="1027">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27">
                                            <p:txEl>
                                              <p:pRg st="1" end="1"/>
                                            </p:txEl>
                                          </p:spTgt>
                                        </p:tgtEl>
                                        <p:attrNameLst>
                                          <p:attrName>style.visibility</p:attrName>
                                        </p:attrNameLst>
                                      </p:cBhvr>
                                      <p:to>
                                        <p:strVal val="visible"/>
                                      </p:to>
                                    </p:set>
                                    <p:animEffect transition="in" filter="wipe(up)">
                                      <p:cBhvr>
                                        <p:cTn id="10" dur="500"/>
                                        <p:tgtEl>
                                          <p:spTgt spid="1027">
                                            <p:txEl>
                                              <p:pRg st="1" end="1"/>
                                            </p:txEl>
                                          </p:spTgt>
                                        </p:tgtEl>
                                      </p:cBhvr>
                                    </p:animEffect>
                                  </p:childTnLst>
                                  <p:subTnLst>
                                    <p:animClr clrSpc="rgb" dir="cw">
                                      <p:cBhvr override="childStyle">
                                        <p:cTn dur="1" fill="hold" display="0" masterRel="nextClick" afterEffect="1"/>
                                        <p:tgtEl>
                                          <p:spTgt spid="1027">
                                            <p:txEl>
                                              <p:pRg st="1" end="1"/>
                                            </p:txEl>
                                          </p:spTgt>
                                        </p:tgtEl>
                                        <p:attrNameLst>
                                          <p:attrName>ppt_c</p:attrName>
                                        </p:attrNameLst>
                                      </p:cBhvr>
                                      <p:to>
                                        <a:schemeClr val="tx1"/>
                                      </p:to>
                                    </p:animClr>
                                  </p:subTnLst>
                                </p:cTn>
                              </p:par>
                              <p:par>
                                <p:cTn id="11" presetID="22" presetClass="entr" presetSubtype="1" fill="hold" grpId="0" nodeType="withEffect">
                                  <p:stCondLst>
                                    <p:cond delay="0"/>
                                  </p:stCondLst>
                                  <p:childTnLst>
                                    <p:set>
                                      <p:cBhvr>
                                        <p:cTn id="12" dur="1" fill="hold">
                                          <p:stCondLst>
                                            <p:cond delay="0"/>
                                          </p:stCondLst>
                                        </p:cTn>
                                        <p:tgtEl>
                                          <p:spTgt spid="1027">
                                            <p:txEl>
                                              <p:pRg st="2" end="2"/>
                                            </p:txEl>
                                          </p:spTgt>
                                        </p:tgtEl>
                                        <p:attrNameLst>
                                          <p:attrName>style.visibility</p:attrName>
                                        </p:attrNameLst>
                                      </p:cBhvr>
                                      <p:to>
                                        <p:strVal val="visible"/>
                                      </p:to>
                                    </p:set>
                                    <p:animEffect transition="in" filter="wipe(up)">
                                      <p:cBhvr>
                                        <p:cTn id="13" dur="500"/>
                                        <p:tgtEl>
                                          <p:spTgt spid="1027">
                                            <p:txEl>
                                              <p:pRg st="2" end="2"/>
                                            </p:txEl>
                                          </p:spTgt>
                                        </p:tgtEl>
                                      </p:cBhvr>
                                    </p:animEffect>
                                  </p:childTnLst>
                                  <p:subTnLst>
                                    <p:animClr clrSpc="rgb" dir="cw">
                                      <p:cBhvr override="childStyle">
                                        <p:cTn dur="1" fill="hold" display="0" masterRel="nextClick" afterEffect="1"/>
                                        <p:tgtEl>
                                          <p:spTgt spid="1027">
                                            <p:txEl>
                                              <p:pRg st="2" end="2"/>
                                            </p:txEl>
                                          </p:spTgt>
                                        </p:tgtEl>
                                        <p:attrNameLst>
                                          <p:attrName>ppt_c</p:attrName>
                                        </p:attrNameLst>
                                      </p:cBhvr>
                                      <p:to>
                                        <a:schemeClr val="tx1"/>
                                      </p:to>
                                    </p:animClr>
                                  </p:subTnLst>
                                </p:cTn>
                              </p:par>
                              <p:par>
                                <p:cTn id="14" presetID="22" presetClass="entr" presetSubtype="1" fill="hold" grpId="0" nodeType="withEffect">
                                  <p:stCondLst>
                                    <p:cond delay="0"/>
                                  </p:stCondLst>
                                  <p:childTnLst>
                                    <p:set>
                                      <p:cBhvr>
                                        <p:cTn id="15" dur="1" fill="hold">
                                          <p:stCondLst>
                                            <p:cond delay="0"/>
                                          </p:stCondLst>
                                        </p:cTn>
                                        <p:tgtEl>
                                          <p:spTgt spid="1027">
                                            <p:txEl>
                                              <p:pRg st="3" end="3"/>
                                            </p:txEl>
                                          </p:spTgt>
                                        </p:tgtEl>
                                        <p:attrNameLst>
                                          <p:attrName>style.visibility</p:attrName>
                                        </p:attrNameLst>
                                      </p:cBhvr>
                                      <p:to>
                                        <p:strVal val="visible"/>
                                      </p:to>
                                    </p:set>
                                    <p:animEffect transition="in" filter="wipe(up)">
                                      <p:cBhvr>
                                        <p:cTn id="16" dur="500"/>
                                        <p:tgtEl>
                                          <p:spTgt spid="1027">
                                            <p:txEl>
                                              <p:pRg st="3" end="3"/>
                                            </p:txEl>
                                          </p:spTgt>
                                        </p:tgtEl>
                                      </p:cBhvr>
                                    </p:animEffect>
                                  </p:childTnLst>
                                  <p:subTnLst>
                                    <p:animClr clrSpc="rgb" dir="cw">
                                      <p:cBhvr override="childStyle">
                                        <p:cTn dur="1" fill="hold" display="0" masterRel="nextClick" afterEffect="1"/>
                                        <p:tgtEl>
                                          <p:spTgt spid="1027">
                                            <p:txEl>
                                              <p:pRg st="3" end="3"/>
                                            </p:txEl>
                                          </p:spTgt>
                                        </p:tgtEl>
                                        <p:attrNameLst>
                                          <p:attrName>ppt_c</p:attrName>
                                        </p:attrNameLst>
                                      </p:cBhvr>
                                      <p:to>
                                        <a:schemeClr val="tx1"/>
                                      </p:to>
                                    </p:animClr>
                                  </p:subTnLst>
                                </p:cTn>
                              </p:par>
                              <p:par>
                                <p:cTn id="17" presetID="22" presetClass="entr" presetSubtype="1" fill="hold" grpId="0" nodeType="withEffect">
                                  <p:stCondLst>
                                    <p:cond delay="0"/>
                                  </p:stCondLst>
                                  <p:childTnLst>
                                    <p:set>
                                      <p:cBhvr>
                                        <p:cTn id="18" dur="1" fill="hold">
                                          <p:stCondLst>
                                            <p:cond delay="0"/>
                                          </p:stCondLst>
                                        </p:cTn>
                                        <p:tgtEl>
                                          <p:spTgt spid="1027">
                                            <p:txEl>
                                              <p:pRg st="4" end="4"/>
                                            </p:txEl>
                                          </p:spTgt>
                                        </p:tgtEl>
                                        <p:attrNameLst>
                                          <p:attrName>style.visibility</p:attrName>
                                        </p:attrNameLst>
                                      </p:cBhvr>
                                      <p:to>
                                        <p:strVal val="visible"/>
                                      </p:to>
                                    </p:set>
                                    <p:animEffect transition="in" filter="wipe(up)">
                                      <p:cBhvr>
                                        <p:cTn id="19" dur="500"/>
                                        <p:tgtEl>
                                          <p:spTgt spid="1027">
                                            <p:txEl>
                                              <p:pRg st="4" end="4"/>
                                            </p:txEl>
                                          </p:spTgt>
                                        </p:tgtEl>
                                      </p:cBhvr>
                                    </p:animEffect>
                                  </p:childTnLst>
                                  <p:subTnLst>
                                    <p:animClr clrSpc="rgb" dir="cw">
                                      <p:cBhvr override="childStyle">
                                        <p:cTn dur="1" fill="hold" display="0" masterRel="nextClick" afterEffect="1"/>
                                        <p:tgtEl>
                                          <p:spTgt spid="1027">
                                            <p:txEl>
                                              <p:pRg st="4" end="4"/>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uiExpand="1" build="p" bldLvl="4" autoUpdateAnimBg="0">
        <p:tmplLst>
          <p:tmpl lvl="1">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cTn>
              </p:par>
            </p:tnLst>
          </p:tmpl>
          <p:tmpl lvl="2">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clrSpc="rgb" dir="cw">
                      <p:cBhvr override="childStyle">
                        <p:cTn dur="1" fill="hold" display="0" masterRel="nextClick" afterEffect="1"/>
                        <p:tgtEl>
                          <p:spTgt spid="1027"/>
                        </p:tgtEl>
                        <p:attrNameLst>
                          <p:attrName>ppt_c</p:attrName>
                        </p:attrNameLst>
                      </p:cBhvr>
                      <p:to>
                        <a:schemeClr val="tx1"/>
                      </p:to>
                    </p:animClr>
                  </p:subTnLst>
                </p:cTn>
              </p:par>
            </p:tnLst>
          </p:tmpl>
          <p:tmpl lvl="3">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clrSpc="rgb" dir="cw">
                      <p:cBhvr override="childStyle">
                        <p:cTn dur="1" fill="hold" display="0" masterRel="nextClick" afterEffect="1"/>
                        <p:tgtEl>
                          <p:spTgt spid="1027"/>
                        </p:tgtEl>
                        <p:attrNameLst>
                          <p:attrName>ppt_c</p:attrName>
                        </p:attrNameLst>
                      </p:cBhvr>
                      <p:to>
                        <a:schemeClr val="tx1"/>
                      </p:to>
                    </p:animClr>
                  </p:subTnLst>
                </p:cTn>
              </p:par>
            </p:tnLst>
          </p:tmpl>
          <p:tmpl lvl="4">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clrSpc="rgb" dir="cw">
                      <p:cBhvr override="childStyle">
                        <p:cTn dur="1" fill="hold" display="0" masterRel="nextClick" afterEffect="1"/>
                        <p:tgtEl>
                          <p:spTgt spid="1027"/>
                        </p:tgtEl>
                        <p:attrNameLst>
                          <p:attrName>ppt_c</p:attrName>
                        </p:attrNameLst>
                      </p:cBhvr>
                      <p:to>
                        <a:schemeClr val="tx1"/>
                      </p:to>
                    </p:animClr>
                  </p:subTnLst>
                </p:cTn>
              </p:par>
            </p:tnLst>
          </p:tmpl>
          <p:tmpl lvl="5">
            <p:tnLst>
              <p:par>
                <p:cTn presetID="22" presetClass="entr" presetSubtype="1"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up)">
                      <p:cBhvr>
                        <p:cTn dur="500"/>
                        <p:tgtEl>
                          <p:spTgt spid="1027"/>
                        </p:tgtEl>
                      </p:cBhvr>
                    </p:animEffect>
                  </p:childTnLst>
                  <p:subTnLst>
                    <p:animClr clrSpc="rgb" dir="cw">
                      <p:cBhvr override="childStyle">
                        <p:cTn dur="1" fill="hold" display="0" masterRel="nextClick" afterEffect="1"/>
                        <p:tgtEl>
                          <p:spTgt spid="1027"/>
                        </p:tgtEl>
                        <p:attrNameLst>
                          <p:attrName>ppt_c</p:attrName>
                        </p:attrNameLst>
                      </p:cBhvr>
                      <p:to>
                        <a:schemeClr val="tx1"/>
                      </p:to>
                    </p:animClr>
                  </p:subTnLst>
                </p:cTn>
              </p:par>
            </p:tnLst>
          </p:tmpl>
        </p:tmplLst>
      </p:bldP>
    </p:bldLst>
  </p:timing>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defRPr>
      </a:lvl2pPr>
      <a:lvl3pPr algn="ctr" rtl="0" eaLnBrk="1" fontAlgn="base" hangingPunct="1">
        <a:spcBef>
          <a:spcPct val="0"/>
        </a:spcBef>
        <a:spcAft>
          <a:spcPct val="0"/>
        </a:spcAft>
        <a:defRPr sz="4400">
          <a:solidFill>
            <a:schemeClr val="tx2"/>
          </a:solidFill>
          <a:latin typeface="Times New Roman" pitchFamily="18" charset="0"/>
        </a:defRPr>
      </a:lvl3pPr>
      <a:lvl4pPr algn="ctr" rtl="0" eaLnBrk="1" fontAlgn="base" hangingPunct="1">
        <a:spcBef>
          <a:spcPct val="0"/>
        </a:spcBef>
        <a:spcAft>
          <a:spcPct val="0"/>
        </a:spcAft>
        <a:defRPr sz="4400">
          <a:solidFill>
            <a:schemeClr val="tx2"/>
          </a:solidFill>
          <a:latin typeface="Times New Roman" pitchFamily="18" charset="0"/>
        </a:defRPr>
      </a:lvl4pPr>
      <a:lvl5pPr algn="ctr" rtl="0" eaLnBrk="1" fontAlgn="base" hangingPunct="1">
        <a:spcBef>
          <a:spcPct val="0"/>
        </a:spcBef>
        <a:spcAft>
          <a:spcPct val="0"/>
        </a:spcAft>
        <a:defRPr sz="4400">
          <a:solidFill>
            <a:schemeClr val="tx2"/>
          </a:solidFill>
          <a:latin typeface="Times New Roman" pitchFamily="18"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0" indent="0" algn="l" rtl="0" eaLnBrk="1" fontAlgn="base" hangingPunct="1">
        <a:spcBef>
          <a:spcPct val="20000"/>
        </a:spcBef>
        <a:spcAft>
          <a:spcPct val="0"/>
        </a:spcAft>
        <a:buFont typeface="Wingdings" pitchFamily="2" charset="2"/>
        <a:buNone/>
        <a:defRPr sz="2800">
          <a:solidFill>
            <a:schemeClr val="tx1"/>
          </a:solidFill>
          <a:latin typeface="+mn-lt"/>
          <a:ea typeface="+mn-ea"/>
          <a:cs typeface="+mn-cs"/>
        </a:defRPr>
      </a:lvl1pPr>
      <a:lvl2pPr marL="742950" indent="-285750" algn="l" rtl="0" eaLnBrk="1" fontAlgn="base" hangingPunct="1">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lyran@szu.edu.c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91.pn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19.wmf"/><Relationship Id="rId5" Type="http://schemas.openxmlformats.org/officeDocument/2006/relationships/oleObject" Target="../embeddings/oleObject1.bin"/><Relationship Id="rId4" Type="http://schemas.openxmlformats.org/officeDocument/2006/relationships/image" Target="../media/image20.gi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1.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2.wmf"/></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16.xml"/><Relationship Id="rId7"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11" Type="http://schemas.openxmlformats.org/officeDocument/2006/relationships/image" Target="../media/image31.png"/><Relationship Id="rId5" Type="http://schemas.openxmlformats.org/officeDocument/2006/relationships/image" Target="../media/image28.wmf"/><Relationship Id="rId10" Type="http://schemas.openxmlformats.org/officeDocument/2006/relationships/image" Target="../media/image30.wmf"/><Relationship Id="rId4" Type="http://schemas.openxmlformats.org/officeDocument/2006/relationships/oleObject" Target="../embeddings/oleObject4.bin"/><Relationship Id="rId9" Type="http://schemas.openxmlformats.org/officeDocument/2006/relationships/oleObject" Target="../embeddings/oleObject6.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17.xml"/><Relationship Id="rId7" Type="http://schemas.openxmlformats.org/officeDocument/2006/relationships/image" Target="../media/image33.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image" Target="../media/image32.wmf"/><Relationship Id="rId4" Type="http://schemas.openxmlformats.org/officeDocument/2006/relationships/oleObject" Target="../embeddings/oleObject7.bin"/><Relationship Id="rId9" Type="http://schemas.openxmlformats.org/officeDocument/2006/relationships/image" Target="../media/image34.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6.png"/><Relationship Id="rId4" Type="http://schemas.openxmlformats.org/officeDocument/2006/relationships/image" Target="../media/image3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算法设计与分析</a:t>
            </a:r>
          </a:p>
        </p:txBody>
      </p:sp>
      <p:sp>
        <p:nvSpPr>
          <p:cNvPr id="3" name="副标题 2"/>
          <p:cNvSpPr>
            <a:spLocks noGrp="1"/>
          </p:cNvSpPr>
          <p:nvPr>
            <p:ph type="subTitle" idx="1"/>
          </p:nvPr>
        </p:nvSpPr>
        <p:spPr/>
        <p:txBody>
          <a:bodyPr/>
          <a:lstStyle/>
          <a:p>
            <a:pPr algn="r"/>
            <a:r>
              <a:rPr lang="zh-CN" altLang="en-US" dirty="0">
                <a:latin typeface="Arial Unicode MS" pitchFamily="34" charset="-122"/>
                <a:ea typeface="Arial Unicode MS" pitchFamily="34" charset="-122"/>
                <a:cs typeface="Arial Unicode MS" pitchFamily="34" charset="-122"/>
              </a:rPr>
              <a:t>深圳大学计算机与软件学院</a:t>
            </a:r>
            <a:endParaRPr lang="en-US" altLang="zh-CN" dirty="0">
              <a:latin typeface="Arial Unicode MS" pitchFamily="34" charset="-122"/>
              <a:ea typeface="Arial Unicode MS" pitchFamily="34" charset="-122"/>
              <a:cs typeface="Arial Unicode MS" pitchFamily="34" charset="-122"/>
            </a:endParaRPr>
          </a:p>
          <a:p>
            <a:pPr algn="r"/>
            <a:r>
              <a:rPr lang="zh-CN" altLang="en-US" dirty="0">
                <a:latin typeface="Arial Unicode MS" pitchFamily="34" charset="-122"/>
                <a:ea typeface="Arial Unicode MS" pitchFamily="34" charset="-122"/>
                <a:cs typeface="Arial Unicode MS" pitchFamily="34" charset="-122"/>
              </a:rPr>
              <a:t>算法设计与分析课程组</a:t>
            </a:r>
            <a:endParaRPr lang="en-US" altLang="zh-CN" dirty="0">
              <a:latin typeface="Arial Unicode MS" pitchFamily="34" charset="-122"/>
              <a:ea typeface="Arial Unicode MS" pitchFamily="34" charset="-122"/>
              <a:cs typeface="Arial Unicode MS" pitchFamily="34" charset="-122"/>
            </a:endParaRPr>
          </a:p>
          <a:p>
            <a:pPr algn="r"/>
            <a:r>
              <a:rPr lang="en-US" altLang="zh-CN" dirty="0" smtClean="0">
                <a:latin typeface="Arial Unicode MS" pitchFamily="34" charset="-122"/>
                <a:ea typeface="Arial Unicode MS" pitchFamily="34" charset="-122"/>
                <a:cs typeface="Arial Unicode MS" pitchFamily="34" charset="-122"/>
              </a:rPr>
              <a:t>2025</a:t>
            </a:r>
            <a:r>
              <a:rPr lang="zh-CN" altLang="en-US" dirty="0" smtClean="0">
                <a:latin typeface="Arial Unicode MS" pitchFamily="34" charset="-122"/>
                <a:ea typeface="Arial Unicode MS" pitchFamily="34" charset="-122"/>
                <a:cs typeface="Arial Unicode MS" pitchFamily="34" charset="-122"/>
              </a:rPr>
              <a:t>年</a:t>
            </a:r>
            <a:r>
              <a:rPr lang="en-US" altLang="zh-CN" dirty="0" smtClean="0">
                <a:latin typeface="Arial Unicode MS" pitchFamily="34" charset="-122"/>
                <a:ea typeface="Arial Unicode MS" pitchFamily="34" charset="-122"/>
                <a:cs typeface="Arial Unicode MS" pitchFamily="34" charset="-122"/>
              </a:rPr>
              <a:t>3</a:t>
            </a:r>
            <a:r>
              <a:rPr lang="zh-CN" altLang="en-US" dirty="0" smtClean="0">
                <a:latin typeface="Arial Unicode MS" pitchFamily="34" charset="-122"/>
                <a:ea typeface="Arial Unicode MS" pitchFamily="34" charset="-122"/>
                <a:cs typeface="Arial Unicode MS" pitchFamily="34" charset="-122"/>
              </a:rPr>
              <a:t>月</a:t>
            </a:r>
            <a:endParaRPr lang="zh-CN" altLang="en-US" dirty="0">
              <a:latin typeface="Arial Unicode MS" pitchFamily="34" charset="-122"/>
              <a:ea typeface="Arial Unicode MS" pitchFamily="34" charset="-122"/>
              <a:cs typeface="Arial Unicode MS" pitchFamily="34" charset="-122"/>
            </a:endParaRPr>
          </a:p>
          <a:p>
            <a:endParaRPr lang="zh-CN" altLang="en-US" dirty="0"/>
          </a:p>
        </p:txBody>
      </p:sp>
    </p:spTree>
    <p:extLst>
      <p:ext uri="{BB962C8B-B14F-4D97-AF65-F5344CB8AC3E}">
        <p14:creationId xmlns:p14="http://schemas.microsoft.com/office/powerpoint/2010/main" val="15337638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1"/>
          </p:nvPr>
        </p:nvSpPr>
        <p:spPr>
          <a:xfrm>
            <a:off x="8215313" y="6356350"/>
            <a:ext cx="4714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fld id="{33AA0378-5687-414C-B8CA-BE5F817C2CBB}" type="slidenum">
              <a:rPr lang="en-US" altLang="zh-CN" sz="1400">
                <a:latin typeface="Arial Narrow" panose="020B0606020202030204" pitchFamily="34" charset="0"/>
              </a:rPr>
              <a:pPr algn="l"/>
              <a:t>2</a:t>
            </a:fld>
            <a:endParaRPr lang="en-US" altLang="zh-CN" sz="1400">
              <a:latin typeface="Arial Narrow" panose="020B0606020202030204" pitchFamily="34" charset="0"/>
            </a:endParaRPr>
          </a:p>
        </p:txBody>
      </p:sp>
      <p:sp>
        <p:nvSpPr>
          <p:cNvPr id="6147" name="Rectangle 2"/>
          <p:cNvSpPr>
            <a:spLocks noGrp="1" noChangeArrowheads="1"/>
          </p:cNvSpPr>
          <p:nvPr>
            <p:ph type="title"/>
          </p:nvPr>
        </p:nvSpPr>
        <p:spPr>
          <a:xfrm>
            <a:off x="457200" y="228600"/>
            <a:ext cx="8229600" cy="725488"/>
          </a:xfrm>
        </p:spPr>
        <p:txBody>
          <a:bodyPr/>
          <a:lstStyle/>
          <a:p>
            <a:pPr eaLnBrk="1" hangingPunct="1">
              <a:defRPr/>
            </a:pPr>
            <a:r>
              <a:rPr lang="zh-CN" altLang="en-US" dirty="0" smtClean="0">
                <a:ea typeface="宋体" pitchFamily="2" charset="-122"/>
              </a:rPr>
              <a:t>任课老师： 李炎然</a:t>
            </a:r>
          </a:p>
        </p:txBody>
      </p:sp>
      <p:sp>
        <p:nvSpPr>
          <p:cNvPr id="6148" name="AutoShape 3"/>
          <p:cNvSpPr>
            <a:spLocks noGrp="1" noChangeAspect="1" noChangeArrowheads="1"/>
          </p:cNvSpPr>
          <p:nvPr>
            <p:ph type="body" idx="1"/>
          </p:nvPr>
        </p:nvSpPr>
        <p:spPr>
          <a:xfrm>
            <a:off x="3744913" y="1676400"/>
            <a:ext cx="5191125" cy="2514600"/>
          </a:xfrm>
        </p:spPr>
        <p:txBody>
          <a:bodyPr/>
          <a:lstStyle/>
          <a:p>
            <a:pPr eaLnBrk="1" hangingPunct="1">
              <a:spcBef>
                <a:spcPct val="40000"/>
              </a:spcBef>
              <a:buFont typeface="Wingdings" pitchFamily="2" charset="2"/>
              <a:buNone/>
              <a:defRPr/>
            </a:pPr>
            <a:r>
              <a:rPr lang="en-US" altLang="zh-CN" dirty="0" smtClean="0">
                <a:ea typeface="黑体" pitchFamily="2" charset="-122"/>
              </a:rPr>
              <a:t>Email</a:t>
            </a:r>
            <a:r>
              <a:rPr lang="en-US" altLang="zh-CN" dirty="0" smtClean="0">
                <a:solidFill>
                  <a:srgbClr val="FF0000"/>
                </a:solidFill>
                <a:ea typeface="黑体" pitchFamily="2" charset="-122"/>
              </a:rPr>
              <a:t>:   </a:t>
            </a:r>
            <a:r>
              <a:rPr lang="en-US" altLang="zh-CN" sz="2800" dirty="0" smtClean="0">
                <a:solidFill>
                  <a:srgbClr val="FF0000"/>
                </a:solidFill>
                <a:ea typeface="黑体" pitchFamily="2" charset="-122"/>
                <a:hlinkClick r:id="rId3"/>
              </a:rPr>
              <a:t>lyran@szu.edu.cn</a:t>
            </a:r>
            <a:endParaRPr lang="en-US" altLang="zh-CN" sz="2800" dirty="0" smtClean="0">
              <a:solidFill>
                <a:srgbClr val="FF0000"/>
              </a:solidFill>
              <a:ea typeface="黑体" pitchFamily="2" charset="-122"/>
            </a:endParaRPr>
          </a:p>
          <a:p>
            <a:pPr eaLnBrk="1" hangingPunct="1">
              <a:spcBef>
                <a:spcPct val="40000"/>
              </a:spcBef>
              <a:buFont typeface="Wingdings" pitchFamily="2" charset="2"/>
              <a:buNone/>
              <a:defRPr/>
            </a:pPr>
            <a:r>
              <a:rPr lang="en-US" altLang="zh-CN" dirty="0" smtClean="0">
                <a:ea typeface="黑体" pitchFamily="2" charset="-122"/>
              </a:rPr>
              <a:t>Phone:  26733127 </a:t>
            </a:r>
            <a:endParaRPr lang="en-US" altLang="zh-CN" sz="2800" dirty="0" smtClean="0">
              <a:ea typeface="黑体" pitchFamily="2" charset="-122"/>
            </a:endParaRPr>
          </a:p>
          <a:p>
            <a:pPr eaLnBrk="1" hangingPunct="1">
              <a:spcBef>
                <a:spcPct val="40000"/>
              </a:spcBef>
              <a:buFont typeface="Wingdings" pitchFamily="2" charset="2"/>
              <a:buNone/>
              <a:defRPr/>
            </a:pPr>
            <a:r>
              <a:rPr lang="en-US" altLang="zh-CN" dirty="0" smtClean="0">
                <a:ea typeface="黑体" pitchFamily="2" charset="-122"/>
              </a:rPr>
              <a:t>Office:  </a:t>
            </a:r>
            <a:r>
              <a:rPr lang="zh-CN" altLang="en-US" dirty="0" smtClean="0">
                <a:ea typeface="黑体" pitchFamily="2" charset="-122"/>
              </a:rPr>
              <a:t>南区计算机</a:t>
            </a:r>
            <a:r>
              <a:rPr lang="zh-CN" altLang="en-US" dirty="0">
                <a:ea typeface="黑体" pitchFamily="2" charset="-122"/>
              </a:rPr>
              <a:t>楼</a:t>
            </a:r>
            <a:r>
              <a:rPr lang="en-US" altLang="zh-CN" dirty="0" smtClean="0">
                <a:ea typeface="黑体" pitchFamily="2" charset="-122"/>
              </a:rPr>
              <a:t>930</a:t>
            </a:r>
          </a:p>
          <a:p>
            <a:pPr eaLnBrk="1" hangingPunct="1">
              <a:buFont typeface="Wingdings" pitchFamily="2" charset="2"/>
              <a:buNone/>
              <a:defRPr/>
            </a:pPr>
            <a:endParaRPr lang="en-US" altLang="zh-CN" dirty="0" smtClean="0">
              <a:latin typeface="黑体" pitchFamily="2" charset="-122"/>
              <a:ea typeface="黑体" pitchFamily="2" charset="-122"/>
            </a:endParaRPr>
          </a:p>
        </p:txBody>
      </p:sp>
      <p:pic>
        <p:nvPicPr>
          <p:cNvPr id="512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56" y="1371600"/>
            <a:ext cx="3287713"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19059"/>
          <a:stretch/>
        </p:blipFill>
        <p:spPr>
          <a:xfrm>
            <a:off x="4572000" y="2971800"/>
            <a:ext cx="2634949" cy="3585914"/>
          </a:xfrm>
          <a:prstGeom prst="rect">
            <a:avLst/>
          </a:prstGeom>
        </p:spPr>
      </p:pic>
    </p:spTree>
    <p:extLst>
      <p:ext uri="{BB962C8B-B14F-4D97-AF65-F5344CB8AC3E}">
        <p14:creationId xmlns:p14="http://schemas.microsoft.com/office/powerpoint/2010/main" val="4883845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a:xfrm>
            <a:off x="685800" y="412750"/>
            <a:ext cx="7848600" cy="762000"/>
          </a:xfrm>
        </p:spPr>
        <p:txBody>
          <a:bodyPr/>
          <a:lstStyle/>
          <a:p>
            <a:pPr eaLnBrk="1" hangingPunct="1"/>
            <a:r>
              <a:rPr lang="zh-CN" altLang="en-US" dirty="0" smtClean="0">
                <a:latin typeface="Times New Roman" panose="02020603050405020304" pitchFamily="18" charset="0"/>
              </a:rPr>
              <a:t>教材</a:t>
            </a:r>
            <a:endParaRPr lang="zh-CN" altLang="zh-CN" dirty="0" smtClean="0">
              <a:latin typeface="Times New Roman" panose="02020603050405020304" pitchFamily="18" charset="0"/>
            </a:endParaRPr>
          </a:p>
        </p:txBody>
      </p:sp>
      <p:sp>
        <p:nvSpPr>
          <p:cNvPr id="22534" name="Rectangle 3"/>
          <p:cNvSpPr>
            <a:spLocks noGrp="1" noChangeArrowheads="1"/>
          </p:cNvSpPr>
          <p:nvPr>
            <p:ph type="body" sz="half" idx="1"/>
          </p:nvPr>
        </p:nvSpPr>
        <p:spPr>
          <a:xfrm>
            <a:off x="533400" y="1490417"/>
            <a:ext cx="5410200" cy="4105275"/>
          </a:xfrm>
        </p:spPr>
        <p:txBody>
          <a:bodyPr/>
          <a:lstStyle/>
          <a:p>
            <a:pPr marL="457200" indent="-457200" eaLnBrk="1" hangingPunct="1"/>
            <a:r>
              <a:rPr lang="zh-CN" altLang="zh-CN" sz="2800" dirty="0" smtClean="0">
                <a:solidFill>
                  <a:schemeClr val="tx1"/>
                </a:solidFill>
              </a:rPr>
              <a:t>书名：算法导论</a:t>
            </a:r>
            <a:r>
              <a:rPr lang="zh-CN" altLang="en-US" sz="2800" dirty="0" smtClean="0">
                <a:solidFill>
                  <a:schemeClr val="tx1"/>
                </a:solidFill>
              </a:rPr>
              <a:t>（第三版）</a:t>
            </a:r>
            <a:r>
              <a:rPr lang="zh-CN" altLang="zh-CN" sz="2800" dirty="0" smtClean="0">
                <a:solidFill>
                  <a:schemeClr val="tx1"/>
                </a:solidFill>
              </a:rPr>
              <a:t> </a:t>
            </a:r>
          </a:p>
          <a:p>
            <a:pPr marL="457200" indent="-457200" eaLnBrk="1" hangingPunct="1"/>
            <a:r>
              <a:rPr lang="zh-CN" altLang="zh-CN" sz="2800" dirty="0" smtClean="0">
                <a:solidFill>
                  <a:schemeClr val="tx1"/>
                </a:solidFill>
              </a:rPr>
              <a:t>著者：</a:t>
            </a:r>
            <a:r>
              <a:rPr lang="en-US" altLang="zh-CN" sz="2800" dirty="0" smtClean="0">
                <a:solidFill>
                  <a:schemeClr val="tx1"/>
                </a:solidFill>
                <a:latin typeface="Comic Sans MS" panose="030F0702030302020204" pitchFamily="66" charset="0"/>
              </a:rPr>
              <a:t>Thomas H. </a:t>
            </a:r>
            <a:r>
              <a:rPr lang="en-US" altLang="zh-CN" sz="2800" dirty="0" err="1" smtClean="0">
                <a:solidFill>
                  <a:schemeClr val="tx1"/>
                </a:solidFill>
                <a:latin typeface="Comic Sans MS" panose="030F0702030302020204" pitchFamily="66" charset="0"/>
              </a:rPr>
              <a:t>Cormen</a:t>
            </a:r>
            <a:r>
              <a:rPr lang="en-US" altLang="zh-CN" sz="2800" dirty="0" smtClean="0">
                <a:solidFill>
                  <a:schemeClr val="tx1"/>
                </a:solidFill>
                <a:latin typeface="Comic Sans MS" panose="030F0702030302020204" pitchFamily="66" charset="0"/>
              </a:rPr>
              <a:t>, Charles E. </a:t>
            </a:r>
            <a:r>
              <a:rPr lang="en-US" altLang="zh-CN" sz="2800" dirty="0" err="1" smtClean="0">
                <a:solidFill>
                  <a:schemeClr val="tx1"/>
                </a:solidFill>
                <a:latin typeface="Comic Sans MS" panose="030F0702030302020204" pitchFamily="66" charset="0"/>
              </a:rPr>
              <a:t>Leiserson</a:t>
            </a:r>
            <a:r>
              <a:rPr lang="en-US" altLang="zh-CN" sz="2800" dirty="0" smtClean="0">
                <a:solidFill>
                  <a:schemeClr val="tx1"/>
                </a:solidFill>
                <a:latin typeface="Comic Sans MS" panose="030F0702030302020204" pitchFamily="66" charset="0"/>
              </a:rPr>
              <a:t>, and Ronald L. </a:t>
            </a:r>
            <a:r>
              <a:rPr lang="en-US" altLang="zh-CN" sz="2800" dirty="0" err="1" smtClean="0">
                <a:solidFill>
                  <a:schemeClr val="tx1"/>
                </a:solidFill>
                <a:latin typeface="Comic Sans MS" panose="030F0702030302020204" pitchFamily="66" charset="0"/>
              </a:rPr>
              <a:t>Rivest</a:t>
            </a:r>
            <a:endParaRPr lang="en-US" altLang="zh-CN" sz="2800" dirty="0" smtClean="0">
              <a:solidFill>
                <a:schemeClr val="tx1"/>
              </a:solidFill>
              <a:latin typeface="Comic Sans MS" panose="030F0702030302020204" pitchFamily="66" charset="0"/>
            </a:endParaRPr>
          </a:p>
          <a:p>
            <a:pPr marL="457200" indent="-457200" eaLnBrk="1" hangingPunct="1"/>
            <a:r>
              <a:rPr lang="zh-CN" altLang="en-US" dirty="0" smtClean="0">
                <a:solidFill>
                  <a:schemeClr val="tx1"/>
                </a:solidFill>
              </a:rPr>
              <a:t>译者：殷建平、徐云等</a:t>
            </a:r>
            <a:endParaRPr lang="en-US" altLang="zh-CN" sz="2800" dirty="0" smtClean="0">
              <a:solidFill>
                <a:schemeClr val="tx1"/>
              </a:solidFill>
              <a:latin typeface="Comic Sans MS" panose="030F0702030302020204" pitchFamily="66" charset="0"/>
            </a:endParaRPr>
          </a:p>
          <a:p>
            <a:pPr marL="457200" indent="-457200" eaLnBrk="1" hangingPunct="1"/>
            <a:r>
              <a:rPr lang="zh-CN" altLang="zh-CN" sz="2800" dirty="0" smtClean="0">
                <a:solidFill>
                  <a:schemeClr val="tx1"/>
                </a:solidFill>
              </a:rPr>
              <a:t>出版社：</a:t>
            </a:r>
            <a:r>
              <a:rPr lang="zh-CN" altLang="en-US" sz="2800" dirty="0" smtClean="0">
                <a:solidFill>
                  <a:schemeClr val="tx1"/>
                </a:solidFill>
              </a:rPr>
              <a:t>机械工业</a:t>
            </a:r>
            <a:r>
              <a:rPr lang="zh-CN" altLang="zh-CN" sz="2800" dirty="0" smtClean="0">
                <a:solidFill>
                  <a:schemeClr val="tx1"/>
                </a:solidFill>
              </a:rPr>
              <a:t>出版社</a:t>
            </a:r>
          </a:p>
          <a:p>
            <a:pPr marL="457200" indent="-457200" eaLnBrk="1" hangingPunct="1"/>
            <a:r>
              <a:rPr lang="zh-CN" altLang="zh-CN" sz="2800" dirty="0" smtClean="0">
                <a:solidFill>
                  <a:schemeClr val="tx1"/>
                </a:solidFill>
              </a:rPr>
              <a:t>出版日期：</a:t>
            </a:r>
            <a:r>
              <a:rPr lang="en-US" altLang="zh-CN" sz="2800" dirty="0" smtClean="0">
                <a:solidFill>
                  <a:schemeClr val="tx1"/>
                </a:solidFill>
              </a:rPr>
              <a:t>2013-01</a:t>
            </a:r>
          </a:p>
        </p:txBody>
      </p:sp>
      <p:pic>
        <p:nvPicPr>
          <p:cNvPr id="22535"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1981200"/>
            <a:ext cx="2879725" cy="3951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43534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152400"/>
            <a:ext cx="7772400" cy="1143000"/>
          </a:xfrm>
        </p:spPr>
        <p:txBody>
          <a:bodyPr/>
          <a:lstStyle/>
          <a:p>
            <a:pPr eaLnBrk="1" hangingPunct="1"/>
            <a:r>
              <a:rPr lang="zh-CN" altLang="en-US" dirty="0" smtClean="0"/>
              <a:t>基本情况</a:t>
            </a:r>
          </a:p>
        </p:txBody>
      </p:sp>
      <p:sp>
        <p:nvSpPr>
          <p:cNvPr id="21507" name="Rectangle 3"/>
          <p:cNvSpPr>
            <a:spLocks noGrp="1" noChangeArrowheads="1"/>
          </p:cNvSpPr>
          <p:nvPr>
            <p:ph idx="1"/>
          </p:nvPr>
        </p:nvSpPr>
        <p:spPr>
          <a:xfrm>
            <a:off x="990600" y="1371600"/>
            <a:ext cx="7924800" cy="5334000"/>
          </a:xfrm>
        </p:spPr>
        <p:txBody>
          <a:bodyPr/>
          <a:lstStyle/>
          <a:p>
            <a:pPr eaLnBrk="1" hangingPunct="1"/>
            <a:r>
              <a:rPr lang="zh-CN" altLang="en-US" sz="3200" dirty="0" smtClean="0"/>
              <a:t>性质：专业核心课（必修）</a:t>
            </a:r>
            <a:endParaRPr lang="en-US" altLang="zh-CN" sz="3200" dirty="0" smtClean="0"/>
          </a:p>
          <a:p>
            <a:pPr eaLnBrk="1" hangingPunct="1"/>
            <a:r>
              <a:rPr lang="zh-CN" altLang="en-US" sz="3200" dirty="0" smtClean="0"/>
              <a:t>上课：</a:t>
            </a:r>
            <a:r>
              <a:rPr lang="en-US" altLang="zh-CN" sz="3200" dirty="0" smtClean="0"/>
              <a:t> </a:t>
            </a:r>
            <a:r>
              <a:rPr lang="zh-CN" altLang="en-US" sz="3200" dirty="0" smtClean="0"/>
              <a:t>周五</a:t>
            </a:r>
            <a:r>
              <a:rPr lang="en-US" altLang="zh-CN" sz="3200" dirty="0" smtClean="0"/>
              <a:t>12</a:t>
            </a:r>
            <a:r>
              <a:rPr lang="zh-CN" altLang="en-US" sz="3200" dirty="0" smtClean="0"/>
              <a:t>节</a:t>
            </a:r>
          </a:p>
          <a:p>
            <a:pPr eaLnBrk="1" hangingPunct="1"/>
            <a:r>
              <a:rPr lang="zh-CN" altLang="en-US" sz="3200" dirty="0" smtClean="0"/>
              <a:t>学时：</a:t>
            </a:r>
            <a:r>
              <a:rPr lang="en-US" altLang="zh-CN" sz="3200" dirty="0" smtClean="0"/>
              <a:t>72</a:t>
            </a:r>
            <a:r>
              <a:rPr lang="zh-CN" altLang="en-US" sz="3200" dirty="0" smtClean="0"/>
              <a:t>（</a:t>
            </a:r>
            <a:r>
              <a:rPr lang="en-US" altLang="zh-CN" sz="3200" dirty="0" smtClean="0"/>
              <a:t>2-2</a:t>
            </a:r>
            <a:r>
              <a:rPr lang="zh-CN" altLang="en-US" sz="3200" dirty="0" smtClean="0"/>
              <a:t>）</a:t>
            </a:r>
            <a:endParaRPr lang="en-US" altLang="zh-CN" sz="3200" dirty="0" smtClean="0"/>
          </a:p>
          <a:p>
            <a:r>
              <a:rPr lang="zh-CN" altLang="en-US" sz="3200" dirty="0" smtClean="0"/>
              <a:t>实验课：计算楼</a:t>
            </a:r>
            <a:r>
              <a:rPr lang="en-US" altLang="zh-CN" sz="3200" smtClean="0"/>
              <a:t>322</a:t>
            </a:r>
            <a:r>
              <a:rPr lang="zh-CN" altLang="en-US" sz="3200" smtClean="0"/>
              <a:t>周五</a:t>
            </a:r>
            <a:r>
              <a:rPr lang="en-US" altLang="zh-CN" sz="3200" dirty="0" smtClean="0"/>
              <a:t>3\4</a:t>
            </a:r>
            <a:r>
              <a:rPr lang="zh-CN" altLang="en-US" sz="3200" dirty="0" smtClean="0"/>
              <a:t>节</a:t>
            </a:r>
            <a:endParaRPr lang="en-US" altLang="zh-CN" sz="3200" dirty="0" smtClean="0"/>
          </a:p>
          <a:p>
            <a:pPr eaLnBrk="1" hangingPunct="1"/>
            <a:r>
              <a:rPr lang="zh-CN" altLang="en-US" sz="3200" b="1" dirty="0" smtClean="0">
                <a:solidFill>
                  <a:srgbClr val="FF0000"/>
                </a:solidFill>
              </a:rPr>
              <a:t>过程</a:t>
            </a:r>
            <a:r>
              <a:rPr lang="zh-CN" altLang="en-US" sz="3200" dirty="0" smtClean="0"/>
              <a:t>考核方法：</a:t>
            </a:r>
          </a:p>
          <a:p>
            <a:pPr lvl="1" eaLnBrk="1" hangingPunct="1"/>
            <a:r>
              <a:rPr lang="zh-CN" altLang="en-US" sz="3200" dirty="0" smtClean="0"/>
              <a:t>平时成绩</a:t>
            </a:r>
            <a:r>
              <a:rPr lang="en-US" altLang="zh-CN" sz="3200" dirty="0" smtClean="0"/>
              <a:t>70</a:t>
            </a:r>
            <a:r>
              <a:rPr lang="zh-CN" altLang="en-US" sz="3200" dirty="0" smtClean="0"/>
              <a:t>％</a:t>
            </a:r>
          </a:p>
          <a:p>
            <a:pPr lvl="2" eaLnBrk="1" hangingPunct="1"/>
            <a:r>
              <a:rPr lang="zh-CN" altLang="en-US" sz="3200" dirty="0" smtClean="0"/>
              <a:t>六次实验作业（报告</a:t>
            </a:r>
            <a:r>
              <a:rPr lang="en-US" altLang="zh-CN" sz="3200" dirty="0" smtClean="0"/>
              <a:t>+PPT</a:t>
            </a:r>
            <a:r>
              <a:rPr lang="zh-CN" altLang="en-US" sz="3200" dirty="0" smtClean="0"/>
              <a:t>讲解）、课后作业</a:t>
            </a:r>
          </a:p>
          <a:p>
            <a:pPr lvl="1"/>
            <a:r>
              <a:rPr lang="zh-CN" altLang="en-US" sz="3200" dirty="0"/>
              <a:t>期末</a:t>
            </a:r>
            <a:r>
              <a:rPr lang="zh-CN" altLang="en-US" sz="3200" dirty="0" smtClean="0"/>
              <a:t>考试或大作业 </a:t>
            </a:r>
            <a:r>
              <a:rPr lang="en-US" altLang="zh-CN" sz="3200" dirty="0" smtClean="0"/>
              <a:t>30</a:t>
            </a:r>
            <a:r>
              <a:rPr lang="zh-CN" altLang="en-US" sz="3200" dirty="0" smtClean="0"/>
              <a:t>％</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6600" y="1352161"/>
            <a:ext cx="1676400" cy="2095500"/>
          </a:xfrm>
          <a:prstGeom prst="rect">
            <a:avLst/>
          </a:prstGeom>
        </p:spPr>
      </p:pic>
    </p:spTree>
    <p:extLst>
      <p:ext uri="{BB962C8B-B14F-4D97-AF65-F5344CB8AC3E}">
        <p14:creationId xmlns:p14="http://schemas.microsoft.com/office/powerpoint/2010/main" val="591842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关于实验课的说明</a:t>
            </a:r>
            <a:endParaRPr lang="zh-CN" altLang="en-US" dirty="0"/>
          </a:p>
        </p:txBody>
      </p:sp>
      <p:sp>
        <p:nvSpPr>
          <p:cNvPr id="3" name="内容占位符 2"/>
          <p:cNvSpPr>
            <a:spLocks noGrp="1"/>
          </p:cNvSpPr>
          <p:nvPr>
            <p:ph idx="1"/>
          </p:nvPr>
        </p:nvSpPr>
        <p:spPr>
          <a:xfrm>
            <a:off x="457200" y="1371600"/>
            <a:ext cx="8458200" cy="5334000"/>
          </a:xfrm>
        </p:spPr>
        <p:txBody>
          <a:bodyPr/>
          <a:lstStyle/>
          <a:p>
            <a:r>
              <a:rPr lang="zh-CN" altLang="en-US" sz="2400" dirty="0" smtClean="0"/>
              <a:t>共计六个实验</a:t>
            </a:r>
            <a:r>
              <a:rPr lang="en-US" altLang="zh-CN" sz="2400" dirty="0" smtClean="0"/>
              <a:t>: </a:t>
            </a:r>
            <a:r>
              <a:rPr lang="zh-CN" altLang="en-US" sz="2400" dirty="0" smtClean="0"/>
              <a:t>每个</a:t>
            </a:r>
            <a:r>
              <a:rPr lang="zh-CN" altLang="en-US" sz="2400" dirty="0"/>
              <a:t>实验占总评成绩中的</a:t>
            </a:r>
            <a:r>
              <a:rPr lang="en-US" altLang="zh-CN" sz="2400" dirty="0"/>
              <a:t>10</a:t>
            </a:r>
            <a:r>
              <a:rPr lang="zh-CN" altLang="en-US" sz="2400" dirty="0" smtClean="0"/>
              <a:t>分</a:t>
            </a:r>
            <a:r>
              <a:rPr lang="zh-CN" altLang="en-US" sz="2400" dirty="0"/>
              <a:t>，</a:t>
            </a:r>
            <a:r>
              <a:rPr lang="zh-CN" altLang="en-US" sz="2400" dirty="0" smtClean="0"/>
              <a:t>第二周</a:t>
            </a:r>
            <a:r>
              <a:rPr lang="zh-CN" altLang="en-US" sz="2400" dirty="0"/>
              <a:t>开始</a:t>
            </a:r>
            <a:r>
              <a:rPr lang="zh-CN" altLang="en-US" sz="2400" dirty="0" smtClean="0"/>
              <a:t>；</a:t>
            </a:r>
            <a:endParaRPr lang="en-US" altLang="zh-CN" sz="2400" dirty="0" smtClean="0"/>
          </a:p>
          <a:p>
            <a:r>
              <a:rPr lang="zh-CN" altLang="en-US" sz="2200" dirty="0" smtClean="0"/>
              <a:t>每个实验评分：</a:t>
            </a:r>
            <a:r>
              <a:rPr lang="zh-CN" altLang="en-US" sz="2200" b="1" dirty="0" smtClean="0">
                <a:solidFill>
                  <a:srgbClr val="FF0000"/>
                </a:solidFill>
              </a:rPr>
              <a:t>代码演示</a:t>
            </a:r>
            <a:r>
              <a:rPr lang="en-US" altLang="zh-CN" sz="2200" b="1" dirty="0" smtClean="0">
                <a:solidFill>
                  <a:srgbClr val="FF0000"/>
                </a:solidFill>
              </a:rPr>
              <a:t>+PPT</a:t>
            </a:r>
            <a:r>
              <a:rPr lang="zh-CN" altLang="en-US" sz="2200" b="1" dirty="0" smtClean="0">
                <a:solidFill>
                  <a:srgbClr val="FF0000"/>
                </a:solidFill>
              </a:rPr>
              <a:t>讲解</a:t>
            </a:r>
            <a:r>
              <a:rPr lang="en-US" altLang="zh-CN" sz="2200" b="1" dirty="0" smtClean="0">
                <a:solidFill>
                  <a:srgbClr val="FF0000"/>
                </a:solidFill>
              </a:rPr>
              <a:t>+</a:t>
            </a:r>
            <a:r>
              <a:rPr lang="zh-CN" altLang="en-US" sz="2200" b="1" dirty="0" smtClean="0">
                <a:solidFill>
                  <a:srgbClr val="FF0000"/>
                </a:solidFill>
              </a:rPr>
              <a:t>实验报告</a:t>
            </a:r>
            <a:r>
              <a:rPr lang="zh-CN" altLang="en-US" sz="2200" dirty="0" smtClean="0"/>
              <a:t>，代码演示界面要求清晰明了，开发语言不限，</a:t>
            </a:r>
            <a:r>
              <a:rPr lang="zh-CN" altLang="en-US" sz="2200" b="1" dirty="0" smtClean="0">
                <a:solidFill>
                  <a:srgbClr val="FF0000"/>
                </a:solidFill>
              </a:rPr>
              <a:t>实验</a:t>
            </a:r>
            <a:r>
              <a:rPr lang="zh-CN" altLang="en-US" sz="2200" b="1" dirty="0">
                <a:solidFill>
                  <a:srgbClr val="FF0000"/>
                </a:solidFill>
              </a:rPr>
              <a:t>报告要独立完成</a:t>
            </a:r>
            <a:r>
              <a:rPr lang="zh-CN" altLang="en-US" sz="2200" dirty="0"/>
              <a:t>；</a:t>
            </a:r>
            <a:endParaRPr lang="en-US" altLang="zh-CN" sz="2200" dirty="0" smtClean="0"/>
          </a:p>
          <a:p>
            <a:endParaRPr lang="en-US" altLang="zh-CN" sz="2200" dirty="0" smtClean="0"/>
          </a:p>
          <a:p>
            <a:r>
              <a:rPr lang="en-US" altLang="zh-CN" sz="2200" dirty="0" smtClean="0"/>
              <a:t>PPT</a:t>
            </a:r>
            <a:r>
              <a:rPr lang="zh-CN" altLang="en-US" sz="2200" b="1" dirty="0">
                <a:solidFill>
                  <a:srgbClr val="FF0000"/>
                </a:solidFill>
              </a:rPr>
              <a:t>讲解</a:t>
            </a:r>
            <a:r>
              <a:rPr lang="zh-CN" altLang="en-US" sz="2200" dirty="0" smtClean="0"/>
              <a:t>至多</a:t>
            </a:r>
            <a:r>
              <a:rPr lang="en-US" altLang="zh-CN" sz="2200" dirty="0" smtClean="0"/>
              <a:t>2</a:t>
            </a:r>
            <a:r>
              <a:rPr lang="zh-CN" altLang="en-US" sz="2200" dirty="0" smtClean="0"/>
              <a:t>人一组，可</a:t>
            </a:r>
            <a:r>
              <a:rPr lang="zh-CN" altLang="en-US" sz="2200" b="1" dirty="0" smtClean="0">
                <a:solidFill>
                  <a:srgbClr val="FF0000"/>
                </a:solidFill>
              </a:rPr>
              <a:t>合作</a:t>
            </a:r>
            <a:r>
              <a:rPr lang="zh-CN" altLang="en-US" sz="2200" b="1" dirty="0">
                <a:solidFill>
                  <a:srgbClr val="FF0000"/>
                </a:solidFill>
              </a:rPr>
              <a:t>完成讲解与</a:t>
            </a:r>
            <a:r>
              <a:rPr lang="zh-CN" altLang="en-US" sz="2200" b="1" dirty="0" smtClean="0">
                <a:solidFill>
                  <a:srgbClr val="FF0000"/>
                </a:solidFill>
              </a:rPr>
              <a:t>展示</a:t>
            </a:r>
            <a:r>
              <a:rPr lang="zh-CN" altLang="en-US" sz="2200" dirty="0" smtClean="0"/>
              <a:t>，要求内容充实（</a:t>
            </a:r>
            <a:r>
              <a:rPr lang="zh-CN" altLang="en-US" sz="2200" b="1" dirty="0" smtClean="0">
                <a:solidFill>
                  <a:srgbClr val="C00000"/>
                </a:solidFill>
              </a:rPr>
              <a:t>算法思想介绍，效率分析，算法优缺点，是否</a:t>
            </a:r>
            <a:r>
              <a:rPr lang="zh-CN" altLang="en-US" sz="2200" b="1" dirty="0">
                <a:solidFill>
                  <a:srgbClr val="C00000"/>
                </a:solidFill>
              </a:rPr>
              <a:t>有</a:t>
            </a:r>
            <a:r>
              <a:rPr lang="zh-CN" altLang="en-US" sz="2200" b="1" dirty="0" smtClean="0">
                <a:solidFill>
                  <a:srgbClr val="C00000"/>
                </a:solidFill>
              </a:rPr>
              <a:t>改进空间，实验结果如何，结论</a:t>
            </a:r>
            <a:r>
              <a:rPr lang="zh-CN" altLang="en-US" sz="2200" dirty="0" smtClean="0"/>
              <a:t>等），美观大方，讲解清晰，回答问题正确；</a:t>
            </a:r>
            <a:endParaRPr lang="en-US" altLang="zh-CN" sz="2200" dirty="0" smtClean="0"/>
          </a:p>
          <a:p>
            <a:endParaRPr lang="en-US" altLang="zh-CN" sz="2200" dirty="0" smtClean="0"/>
          </a:p>
          <a:p>
            <a:r>
              <a:rPr lang="zh-CN" altLang="en-US" sz="2200" dirty="0" smtClean="0"/>
              <a:t>每个实验有</a:t>
            </a:r>
            <a:r>
              <a:rPr lang="zh-CN" altLang="en-US" sz="2200" b="1" dirty="0" smtClean="0">
                <a:solidFill>
                  <a:srgbClr val="FF0000"/>
                </a:solidFill>
              </a:rPr>
              <a:t>两次实验课的时间</a:t>
            </a:r>
            <a:r>
              <a:rPr lang="zh-CN" altLang="en-US" sz="2200" dirty="0" smtClean="0"/>
              <a:t>给老师演示和讲解，超出两周时间可能会降低评分。</a:t>
            </a:r>
            <a:endParaRPr lang="en-US" altLang="zh-CN" sz="2200" dirty="0" smtClean="0"/>
          </a:p>
          <a:p>
            <a:r>
              <a:rPr lang="zh-CN" altLang="en-US" sz="2200" dirty="0" smtClean="0"/>
              <a:t>严禁任何形式的抄袭，包括代码、</a:t>
            </a:r>
            <a:r>
              <a:rPr lang="en-US" altLang="zh-CN" sz="2200" dirty="0" smtClean="0"/>
              <a:t>PPT</a:t>
            </a:r>
            <a:r>
              <a:rPr lang="zh-CN" altLang="en-US" sz="2200" dirty="0" smtClean="0"/>
              <a:t>、实验报告，大量的相同文字内容及相同图片</a:t>
            </a:r>
            <a:r>
              <a:rPr lang="en-US" altLang="zh-CN" sz="2200" dirty="0" smtClean="0"/>
              <a:t>(</a:t>
            </a:r>
            <a:r>
              <a:rPr lang="zh-CN" altLang="en-US" sz="2200" b="1" dirty="0" smtClean="0">
                <a:solidFill>
                  <a:srgbClr val="FF0000"/>
                </a:solidFill>
              </a:rPr>
              <a:t>课题组有统一查重系统！</a:t>
            </a:r>
            <a:r>
              <a:rPr lang="en-US" altLang="zh-CN" sz="2200" dirty="0" smtClean="0"/>
              <a:t>)</a:t>
            </a:r>
            <a:r>
              <a:rPr lang="zh-CN" altLang="en-US" sz="2200" dirty="0" smtClean="0"/>
              <a:t>。</a:t>
            </a:r>
            <a:endParaRPr lang="en-US" altLang="zh-CN" sz="2200" dirty="0" smtClean="0"/>
          </a:p>
          <a:p>
            <a:r>
              <a:rPr lang="zh-CN" altLang="en-US" sz="2200" dirty="0" smtClean="0"/>
              <a:t>教师检查只</a:t>
            </a:r>
            <a:r>
              <a:rPr lang="zh-CN" altLang="en-US" sz="2200" b="1" dirty="0" smtClean="0">
                <a:solidFill>
                  <a:srgbClr val="FF0000"/>
                </a:solidFill>
              </a:rPr>
              <a:t>关注算法部分内容</a:t>
            </a:r>
            <a:r>
              <a:rPr lang="zh-CN" altLang="en-US" sz="2200" dirty="0" smtClean="0"/>
              <a:t>，有关程序设计的代码问题一概不回答（问代码是负面的）。</a:t>
            </a:r>
            <a:endParaRPr lang="en-US" altLang="zh-CN" sz="2200" dirty="0" smtClean="0"/>
          </a:p>
          <a:p>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Cloud Studio </a:t>
            </a:r>
            <a:r>
              <a:rPr lang="zh-CN" altLang="en-US" b="1" dirty="0"/>
              <a:t>在线应用开发</a:t>
            </a:r>
            <a:endParaRPr lang="zh-CN" altLang="en-US" dirty="0"/>
          </a:p>
        </p:txBody>
      </p:sp>
      <p:sp>
        <p:nvSpPr>
          <p:cNvPr id="3" name="内容占位符 2"/>
          <p:cNvSpPr>
            <a:spLocks noGrp="1"/>
          </p:cNvSpPr>
          <p:nvPr>
            <p:ph idx="1"/>
          </p:nvPr>
        </p:nvSpPr>
        <p:spPr>
          <a:xfrm>
            <a:off x="654148" y="1371600"/>
            <a:ext cx="7772400" cy="4572000"/>
          </a:xfrm>
        </p:spPr>
        <p:txBody>
          <a:bodyPr/>
          <a:lstStyle/>
          <a:p>
            <a:r>
              <a:rPr lang="en-US" altLang="zh-CN" sz="3600" b="1" dirty="0">
                <a:solidFill>
                  <a:srgbClr val="FF0000"/>
                </a:solidFill>
              </a:rPr>
              <a:t>https://cloudstudio.net/</a:t>
            </a:r>
            <a:endParaRPr lang="zh-CN" altLang="en-US" sz="3600" b="1" dirty="0">
              <a:solidFill>
                <a:srgbClr val="FF0000"/>
              </a:solidFill>
            </a:endParaRPr>
          </a:p>
        </p:txBody>
      </p:sp>
      <p:pic>
        <p:nvPicPr>
          <p:cNvPr id="4" name="图片 3"/>
          <p:cNvPicPr>
            <a:picLocks noChangeAspect="1"/>
          </p:cNvPicPr>
          <p:nvPr/>
        </p:nvPicPr>
        <p:blipFill>
          <a:blip r:embed="rId2"/>
          <a:stretch>
            <a:fillRect/>
          </a:stretch>
        </p:blipFill>
        <p:spPr>
          <a:xfrm>
            <a:off x="584603" y="1981200"/>
            <a:ext cx="7873597" cy="3610029"/>
          </a:xfrm>
          <a:prstGeom prst="rect">
            <a:avLst/>
          </a:prstGeom>
        </p:spPr>
      </p:pic>
      <p:sp>
        <p:nvSpPr>
          <p:cNvPr id="7" name="文本框 6"/>
          <p:cNvSpPr txBox="1"/>
          <p:nvPr/>
        </p:nvSpPr>
        <p:spPr>
          <a:xfrm>
            <a:off x="577568" y="5800719"/>
            <a:ext cx="7848979" cy="1015663"/>
          </a:xfrm>
          <a:prstGeom prst="rect">
            <a:avLst/>
          </a:prstGeom>
          <a:noFill/>
        </p:spPr>
        <p:txBody>
          <a:bodyPr wrap="square" rtlCol="0">
            <a:spAutoFit/>
          </a:bodyPr>
          <a:lstStyle/>
          <a:p>
            <a:r>
              <a:rPr lang="zh-CN" altLang="en-US" dirty="0"/>
              <a:t>班级</a:t>
            </a:r>
            <a:r>
              <a:rPr lang="zh-CN" altLang="en-US" dirty="0" smtClean="0"/>
              <a:t>课程链接：</a:t>
            </a:r>
            <a:r>
              <a:rPr lang="en-US" altLang="zh-CN" dirty="0">
                <a:solidFill>
                  <a:srgbClr val="FF0000"/>
                </a:solidFill>
              </a:rPr>
              <a:t>https://cloudstudio.net/courses/25137793198485504/invite?invitecode=hwyomj</a:t>
            </a:r>
            <a:endParaRPr lang="zh-CN" altLang="en-US" dirty="0">
              <a:solidFill>
                <a:srgbClr val="FF0000"/>
              </a:solidFill>
            </a:endParaRPr>
          </a:p>
        </p:txBody>
      </p:sp>
    </p:spTree>
    <p:extLst>
      <p:ext uri="{BB962C8B-B14F-4D97-AF65-F5344CB8AC3E}">
        <p14:creationId xmlns:p14="http://schemas.microsoft.com/office/powerpoint/2010/main" val="9929233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诚信声明</a:t>
            </a:r>
            <a:endParaRPr lang="zh-CN" altLang="en-US" dirty="0"/>
          </a:p>
        </p:txBody>
      </p:sp>
      <p:sp>
        <p:nvSpPr>
          <p:cNvPr id="3" name="内容占位符 2"/>
          <p:cNvSpPr>
            <a:spLocks noGrp="1"/>
          </p:cNvSpPr>
          <p:nvPr>
            <p:ph idx="1"/>
          </p:nvPr>
        </p:nvSpPr>
        <p:spPr/>
        <p:txBody>
          <a:bodyPr/>
          <a:lstStyle/>
          <a:p>
            <a:r>
              <a:rPr lang="en-US" altLang="zh-CN" b="1" dirty="0" smtClean="0"/>
              <a:t>        </a:t>
            </a:r>
            <a:r>
              <a:rPr lang="zh-CN" altLang="zh-CN" b="1" dirty="0" smtClean="0"/>
              <a:t>我</a:t>
            </a:r>
            <a:r>
              <a:rPr lang="zh-CN" altLang="zh-CN" b="1" dirty="0"/>
              <a:t>郑重承诺，本学期算法设计与分析课程中所提交的所有内容为本人独立完成，包括实验报告、源代码、</a:t>
            </a:r>
            <a:r>
              <a:rPr lang="en-US" altLang="zh-CN" b="1" dirty="0"/>
              <a:t>PPT</a:t>
            </a:r>
            <a:r>
              <a:rPr lang="zh-CN" altLang="zh-CN" b="1" dirty="0"/>
              <a:t>、作业等。</a:t>
            </a:r>
            <a:r>
              <a:rPr lang="zh-CN" altLang="zh-CN" b="1" dirty="0" smtClean="0"/>
              <a:t>我</a:t>
            </a:r>
            <a:r>
              <a:rPr lang="zh-CN" altLang="en-US" b="1" dirty="0" smtClean="0"/>
              <a:t>不会</a:t>
            </a:r>
            <a:r>
              <a:rPr lang="zh-CN" altLang="zh-CN" b="1" dirty="0" smtClean="0"/>
              <a:t>拷贝</a:t>
            </a:r>
            <a:r>
              <a:rPr lang="zh-CN" altLang="zh-CN" b="1" dirty="0"/>
              <a:t>他人成果，</a:t>
            </a:r>
            <a:r>
              <a:rPr lang="zh-CN" altLang="zh-CN" b="1" dirty="0" smtClean="0"/>
              <a:t>也</a:t>
            </a:r>
            <a:r>
              <a:rPr lang="zh-CN" altLang="en-US" b="1" dirty="0" smtClean="0"/>
              <a:t>不会</a:t>
            </a:r>
            <a:r>
              <a:rPr lang="zh-CN" altLang="zh-CN" b="1" dirty="0" smtClean="0"/>
              <a:t>将</a:t>
            </a:r>
            <a:r>
              <a:rPr lang="zh-CN" altLang="zh-CN" b="1" dirty="0"/>
              <a:t>自己的成果拷贝给其他人。我完全理解以下内容：</a:t>
            </a:r>
            <a:r>
              <a:rPr lang="zh-CN" altLang="zh-CN" b="1" dirty="0">
                <a:solidFill>
                  <a:srgbClr val="FF0000"/>
                </a:solidFill>
              </a:rPr>
              <a:t>如果我提交的内容存在欺骗，将被取消考试资格</a:t>
            </a:r>
            <a:r>
              <a:rPr lang="zh-CN" altLang="zh-CN" b="1" dirty="0"/>
              <a:t>。</a:t>
            </a:r>
            <a:endParaRPr lang="zh-CN" altLang="zh-CN" dirty="0"/>
          </a:p>
          <a:p>
            <a:r>
              <a:rPr lang="en-US" altLang="zh-CN" b="1" dirty="0" smtClean="0"/>
              <a:t>                                                            </a:t>
            </a:r>
            <a:r>
              <a:rPr lang="zh-CN" altLang="zh-CN" b="1" dirty="0" smtClean="0"/>
              <a:t>签名：</a:t>
            </a:r>
            <a:endParaRPr lang="en-US" altLang="zh-CN" b="1" dirty="0" smtClean="0"/>
          </a:p>
          <a:p>
            <a:r>
              <a:rPr lang="en-US" altLang="zh-CN" b="1" dirty="0"/>
              <a:t> </a:t>
            </a:r>
            <a:r>
              <a:rPr lang="en-US" altLang="zh-CN" b="1" dirty="0" smtClean="0"/>
              <a:t>                                                           </a:t>
            </a:r>
            <a:r>
              <a:rPr lang="zh-CN" altLang="en-US" b="1" dirty="0" smtClean="0"/>
              <a:t>日期：</a:t>
            </a:r>
            <a:endParaRPr lang="zh-CN" altLang="zh-CN" dirty="0"/>
          </a:p>
          <a:p>
            <a:endParaRPr lang="zh-CN" altLang="en-US" dirty="0"/>
          </a:p>
        </p:txBody>
      </p:sp>
    </p:spTree>
    <p:extLst>
      <p:ext uri="{BB962C8B-B14F-4D97-AF65-F5344CB8AC3E}">
        <p14:creationId xmlns:p14="http://schemas.microsoft.com/office/powerpoint/2010/main" val="26500452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152400"/>
            <a:ext cx="7772400" cy="1143000"/>
          </a:xfrm>
        </p:spPr>
        <p:txBody>
          <a:bodyPr/>
          <a:lstStyle/>
          <a:p>
            <a:pPr eaLnBrk="1" hangingPunct="1"/>
            <a:r>
              <a:rPr lang="zh-CN" altLang="en-US" dirty="0" smtClean="0"/>
              <a:t>主要内容</a:t>
            </a:r>
          </a:p>
        </p:txBody>
      </p:sp>
      <p:graphicFrame>
        <p:nvGraphicFramePr>
          <p:cNvPr id="5" name="Table 2"/>
          <p:cNvGraphicFramePr>
            <a:graphicFrameLocks noGrp="1"/>
          </p:cNvGraphicFramePr>
          <p:nvPr>
            <p:extLst>
              <p:ext uri="{D42A27DB-BD31-4B8C-83A1-F6EECF244321}">
                <p14:modId xmlns:p14="http://schemas.microsoft.com/office/powerpoint/2010/main" val="1780730114"/>
              </p:ext>
            </p:extLst>
          </p:nvPr>
        </p:nvGraphicFramePr>
        <p:xfrm>
          <a:off x="533400" y="1371600"/>
          <a:ext cx="8229601" cy="4940262"/>
        </p:xfrm>
        <a:graphic>
          <a:graphicData uri="http://schemas.openxmlformats.org/drawingml/2006/table">
            <a:tbl>
              <a:tblPr>
                <a:tableStyleId>{5C22544A-7EE6-4342-B048-85BDC9FD1C3A}</a:tableStyleId>
              </a:tblPr>
              <a:tblGrid>
                <a:gridCol w="762001">
                  <a:extLst>
                    <a:ext uri="{9D8B030D-6E8A-4147-A177-3AD203B41FA5}">
                      <a16:colId xmlns:a16="http://schemas.microsoft.com/office/drawing/2014/main" val="20000"/>
                    </a:ext>
                  </a:extLst>
                </a:gridCol>
                <a:gridCol w="4053189">
                  <a:extLst>
                    <a:ext uri="{9D8B030D-6E8A-4147-A177-3AD203B41FA5}">
                      <a16:colId xmlns:a16="http://schemas.microsoft.com/office/drawing/2014/main" val="20001"/>
                    </a:ext>
                  </a:extLst>
                </a:gridCol>
                <a:gridCol w="3414411">
                  <a:extLst>
                    <a:ext uri="{9D8B030D-6E8A-4147-A177-3AD203B41FA5}">
                      <a16:colId xmlns:a16="http://schemas.microsoft.com/office/drawing/2014/main" val="20002"/>
                    </a:ext>
                  </a:extLst>
                </a:gridCol>
              </a:tblGrid>
              <a:tr h="369627">
                <a:tc>
                  <a:txBody>
                    <a:bodyPr/>
                    <a:lstStyle/>
                    <a:p>
                      <a:pPr marL="0" marR="0" algn="ctr"/>
                      <a:r>
                        <a:rPr lang="zh-CN" altLang="en-US" sz="1800" b="1" dirty="0" smtClean="0">
                          <a:solidFill>
                            <a:schemeClr val="tx1"/>
                          </a:solidFill>
                          <a:effectLst/>
                          <a:latin typeface="Times New Roman"/>
                          <a:ea typeface="Times New Roman"/>
                        </a:rPr>
                        <a:t>序号</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latin typeface="+mn-lt"/>
                          <a:ea typeface="+mn-ea"/>
                        </a:rPr>
                        <a:t>课程内容</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latin typeface="Times New Roman"/>
                          <a:ea typeface="Times New Roman"/>
                        </a:rPr>
                        <a:t>对应课本章节</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0"/>
                  </a:ext>
                </a:extLst>
              </a:tr>
              <a:tr h="304800">
                <a:tc>
                  <a:txBody>
                    <a:bodyPr/>
                    <a:lstStyle/>
                    <a:p>
                      <a:pPr marL="0" marR="0" algn="ctr"/>
                      <a:r>
                        <a:rPr lang="en-US" sz="1800" b="1">
                          <a:solidFill>
                            <a:schemeClr val="tx1"/>
                          </a:solidFill>
                          <a:effectLst/>
                        </a:rPr>
                        <a:t>1</a:t>
                      </a:r>
                      <a:endParaRPr lang="en-US" sz="1800" b="1">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算法复杂度分析</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1</a:t>
                      </a:r>
                      <a:r>
                        <a:rPr lang="zh-CN" altLang="en-US" sz="1800" b="1" dirty="0" smtClean="0">
                          <a:solidFill>
                            <a:schemeClr val="tx1"/>
                          </a:solidFill>
                          <a:effectLst/>
                        </a:rPr>
                        <a:t>、</a:t>
                      </a:r>
                      <a:r>
                        <a:rPr lang="en-US" sz="1800" b="1" dirty="0" smtClean="0">
                          <a:solidFill>
                            <a:schemeClr val="tx1"/>
                          </a:solidFill>
                          <a:effectLst/>
                        </a:rPr>
                        <a:t>2</a:t>
                      </a:r>
                      <a:r>
                        <a:rPr lang="zh-CN" altLang="en-US" sz="1800" b="1" dirty="0" smtClean="0">
                          <a:solidFill>
                            <a:schemeClr val="tx1"/>
                          </a:solidFill>
                          <a:effectLst/>
                        </a:rPr>
                        <a:t>、</a:t>
                      </a:r>
                      <a:r>
                        <a:rPr lang="en-US" sz="1800" b="1" dirty="0" smtClean="0">
                          <a:solidFill>
                            <a:schemeClr val="tx1"/>
                          </a:solidFill>
                          <a:effectLst/>
                        </a:rPr>
                        <a:t>3</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1"/>
                  </a:ext>
                </a:extLst>
              </a:tr>
              <a:tr h="381000">
                <a:tc>
                  <a:txBody>
                    <a:bodyPr/>
                    <a:lstStyle/>
                    <a:p>
                      <a:pPr marL="0" marR="0" algn="ctr"/>
                      <a:r>
                        <a:rPr lang="en-US" sz="1800" b="1">
                          <a:solidFill>
                            <a:schemeClr val="tx1"/>
                          </a:solidFill>
                          <a:effectLst/>
                        </a:rPr>
                        <a:t>2</a:t>
                      </a:r>
                      <a:endParaRPr lang="en-US" sz="1800" b="1">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递归、分治策略</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4</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2"/>
                  </a:ext>
                </a:extLst>
              </a:tr>
              <a:tr h="413982">
                <a:tc>
                  <a:txBody>
                    <a:bodyPr/>
                    <a:lstStyle/>
                    <a:p>
                      <a:pPr marL="0" marR="0" algn="ctr"/>
                      <a:r>
                        <a:rPr lang="en-US" sz="1800" b="1" dirty="0" smtClean="0">
                          <a:solidFill>
                            <a:schemeClr val="tx1"/>
                          </a:solidFill>
                          <a:effectLst/>
                          <a:latin typeface="Times New Roman"/>
                          <a:ea typeface="Times New Roman"/>
                        </a:rPr>
                        <a:t>3</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b="1" dirty="0" smtClean="0">
                          <a:solidFill>
                            <a:schemeClr val="tx1"/>
                          </a:solidFill>
                          <a:effectLst/>
                          <a:latin typeface="+mn-lt"/>
                          <a:ea typeface="Times New Roman"/>
                        </a:rPr>
                        <a:t>堆、堆排序、二叉搜索树</a:t>
                      </a:r>
                      <a:endParaRPr lang="en-US" sz="1800" b="1" dirty="0" smtClean="0">
                        <a:solidFill>
                          <a:schemeClr val="tx1"/>
                        </a:solidFill>
                        <a:effectLst/>
                        <a:latin typeface="+mn-lt"/>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baseline="0" dirty="0" smtClean="0">
                          <a:solidFill>
                            <a:schemeClr val="tx1"/>
                          </a:solidFill>
                          <a:effectLst/>
                          <a:latin typeface="Times New Roman"/>
                          <a:ea typeface="Times New Roman"/>
                        </a:rPr>
                        <a:t>第</a:t>
                      </a:r>
                      <a:r>
                        <a:rPr lang="en-US" sz="1800" b="1" baseline="0" dirty="0" smtClean="0">
                          <a:solidFill>
                            <a:schemeClr val="tx1"/>
                          </a:solidFill>
                          <a:effectLst/>
                          <a:latin typeface="Times New Roman"/>
                          <a:ea typeface="Times New Roman"/>
                        </a:rPr>
                        <a:t>6</a:t>
                      </a:r>
                      <a:r>
                        <a:rPr lang="zh-CN" altLang="en-US" sz="1800" b="1" baseline="0" dirty="0" smtClean="0">
                          <a:solidFill>
                            <a:schemeClr val="tx1"/>
                          </a:solidFill>
                          <a:effectLst/>
                          <a:latin typeface="Times New Roman"/>
                          <a:ea typeface="Times New Roman"/>
                        </a:rPr>
                        <a:t>、</a:t>
                      </a:r>
                      <a:r>
                        <a:rPr lang="en-US" sz="1800" b="1" baseline="0" dirty="0" smtClean="0">
                          <a:solidFill>
                            <a:schemeClr val="tx1"/>
                          </a:solidFill>
                          <a:effectLst/>
                          <a:latin typeface="Times New Roman"/>
                          <a:ea typeface="Times New Roman"/>
                        </a:rPr>
                        <a:t>12</a:t>
                      </a:r>
                      <a:r>
                        <a:rPr lang="zh-CN" altLang="en-US" sz="1800" b="1" baseline="0" dirty="0" smtClean="0">
                          <a:solidFill>
                            <a:schemeClr val="tx1"/>
                          </a:solidFill>
                          <a:effectLst/>
                          <a:latin typeface="Times New Roman"/>
                          <a:ea typeface="Times New Roman"/>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3"/>
                  </a:ext>
                </a:extLst>
              </a:tr>
              <a:tr h="369627">
                <a:tc>
                  <a:txBody>
                    <a:bodyPr/>
                    <a:lstStyle/>
                    <a:p>
                      <a:pPr marL="0" marR="0" algn="ctr"/>
                      <a:r>
                        <a:rPr lang="en-US" sz="1800" b="1" dirty="0">
                          <a:solidFill>
                            <a:schemeClr val="tx1"/>
                          </a:solidFill>
                          <a:effectLst/>
                          <a:latin typeface="+mn-lt"/>
                          <a:ea typeface="+mn-ea"/>
                        </a:rPr>
                        <a:t>4</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mn-lt"/>
                          <a:ea typeface="+mn-ea"/>
                        </a:rPr>
                        <a:t>排序算法</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7</a:t>
                      </a:r>
                      <a:r>
                        <a:rPr lang="zh-CN" altLang="en-US" sz="1800" b="1" dirty="0" smtClean="0">
                          <a:solidFill>
                            <a:schemeClr val="tx1"/>
                          </a:solidFill>
                          <a:effectLst/>
                        </a:rPr>
                        <a:t>、</a:t>
                      </a:r>
                      <a:r>
                        <a:rPr lang="en-US" sz="1800" b="1" dirty="0" smtClean="0">
                          <a:solidFill>
                            <a:schemeClr val="tx1"/>
                          </a:solidFill>
                          <a:effectLst/>
                        </a:rPr>
                        <a:t>8</a:t>
                      </a:r>
                      <a:r>
                        <a:rPr lang="zh-CN" altLang="en-US" sz="1800" b="1" dirty="0" smtClean="0">
                          <a:solidFill>
                            <a:schemeClr val="tx1"/>
                          </a:solidFill>
                          <a:effectLst/>
                        </a:rPr>
                        <a:t>、</a:t>
                      </a:r>
                      <a:r>
                        <a:rPr lang="en-US" altLang="zh-CN" sz="1800" b="1" dirty="0" smtClean="0">
                          <a:solidFill>
                            <a:schemeClr val="tx1"/>
                          </a:solidFill>
                          <a:effectLst/>
                        </a:rPr>
                        <a:t>9</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4"/>
                  </a:ext>
                </a:extLst>
              </a:tr>
              <a:tr h="369627">
                <a:tc>
                  <a:txBody>
                    <a:bodyPr/>
                    <a:lstStyle/>
                    <a:p>
                      <a:pPr marL="0" marR="0" algn="ctr"/>
                      <a:r>
                        <a:rPr lang="en-US" sz="1800" b="1" dirty="0">
                          <a:solidFill>
                            <a:schemeClr val="tx1"/>
                          </a:solidFill>
                          <a:effectLst/>
                          <a:latin typeface="+mn-lt"/>
                          <a:ea typeface="+mn-ea"/>
                        </a:rPr>
                        <a:t>5</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哈希（散列） 表</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latin typeface="Times New Roman"/>
                          <a:ea typeface="Times New Roman"/>
                        </a:rPr>
                        <a:t>第</a:t>
                      </a:r>
                      <a:r>
                        <a:rPr lang="en-US" sz="1800" b="1" dirty="0" smtClean="0">
                          <a:solidFill>
                            <a:schemeClr val="tx1"/>
                          </a:solidFill>
                          <a:effectLst/>
                          <a:latin typeface="Times New Roman"/>
                          <a:ea typeface="Times New Roman"/>
                        </a:rPr>
                        <a:t>11</a:t>
                      </a:r>
                      <a:r>
                        <a:rPr lang="zh-CN" altLang="en-US" sz="1800" b="1" dirty="0" smtClean="0">
                          <a:solidFill>
                            <a:schemeClr val="tx1"/>
                          </a:solidFill>
                          <a:effectLst/>
                          <a:latin typeface="Times New Roman"/>
                          <a:ea typeface="Times New Roman"/>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5"/>
                  </a:ext>
                </a:extLst>
              </a:tr>
              <a:tr h="369627">
                <a:tc>
                  <a:txBody>
                    <a:bodyPr/>
                    <a:lstStyle/>
                    <a:p>
                      <a:pPr marL="0" marR="0" algn="ctr"/>
                      <a:r>
                        <a:rPr lang="en-US" sz="1800" b="1" dirty="0">
                          <a:solidFill>
                            <a:schemeClr val="tx1"/>
                          </a:solidFill>
                          <a:effectLst/>
                          <a:latin typeface="+mn-lt"/>
                          <a:ea typeface="+mn-ea"/>
                        </a:rPr>
                        <a:t>6</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回溯法</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latin typeface="Times New Roman"/>
                          <a:ea typeface="Times New Roman"/>
                        </a:rPr>
                        <a:t>课本中没有对应</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6"/>
                  </a:ext>
                </a:extLst>
              </a:tr>
              <a:tr h="369627">
                <a:tc>
                  <a:txBody>
                    <a:bodyPr/>
                    <a:lstStyle/>
                    <a:p>
                      <a:pPr marL="0" marR="0" algn="ctr"/>
                      <a:r>
                        <a:rPr lang="en-US" sz="1800" b="1" dirty="0">
                          <a:solidFill>
                            <a:schemeClr val="tx1"/>
                          </a:solidFill>
                          <a:effectLst/>
                          <a:latin typeface="+mn-lt"/>
                          <a:ea typeface="+mn-ea"/>
                        </a:rPr>
                        <a:t>7</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动态规划</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15</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7"/>
                  </a:ext>
                </a:extLst>
              </a:tr>
              <a:tr h="369627">
                <a:tc>
                  <a:txBody>
                    <a:bodyPr/>
                    <a:lstStyle/>
                    <a:p>
                      <a:pPr marL="0" marR="0" algn="ctr"/>
                      <a:r>
                        <a:rPr lang="en-US" sz="1800" b="1" dirty="0">
                          <a:solidFill>
                            <a:schemeClr val="tx1"/>
                          </a:solidFill>
                          <a:effectLst/>
                          <a:latin typeface="+mn-lt"/>
                          <a:ea typeface="+mn-ea"/>
                        </a:rPr>
                        <a:t>8</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贪心算法</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16</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8"/>
                  </a:ext>
                </a:extLst>
              </a:tr>
              <a:tr h="369627">
                <a:tc>
                  <a:txBody>
                    <a:bodyPr/>
                    <a:lstStyle/>
                    <a:p>
                      <a:pPr marL="0" marR="0" algn="ctr"/>
                      <a:r>
                        <a:rPr lang="en-US" sz="1800" b="1" dirty="0">
                          <a:solidFill>
                            <a:schemeClr val="tx1"/>
                          </a:solidFill>
                          <a:effectLst/>
                        </a:rPr>
                        <a:t>9</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摊还分析</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17</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9"/>
                  </a:ext>
                </a:extLst>
              </a:tr>
              <a:tr h="369627">
                <a:tc>
                  <a:txBody>
                    <a:bodyPr/>
                    <a:lstStyle/>
                    <a:p>
                      <a:pPr marL="0" marR="0" algn="ctr"/>
                      <a:r>
                        <a:rPr lang="en-US" sz="1800" b="1">
                          <a:solidFill>
                            <a:schemeClr val="tx1"/>
                          </a:solidFill>
                          <a:effectLst/>
                        </a:rPr>
                        <a:t>10</a:t>
                      </a:r>
                      <a:endParaRPr lang="en-US" sz="1800" b="1">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smtClean="0">
                          <a:solidFill>
                            <a:schemeClr val="tx1"/>
                          </a:solidFill>
                          <a:effectLst/>
                          <a:latin typeface="Times New Roman"/>
                          <a:ea typeface="Times New Roman"/>
                        </a:rPr>
                        <a:t>图 </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smtClean="0">
                          <a:solidFill>
                            <a:schemeClr val="tx1"/>
                          </a:solidFill>
                          <a:effectLst/>
                        </a:rPr>
                        <a:t>第</a:t>
                      </a:r>
                      <a:r>
                        <a:rPr lang="en-US" sz="1800" b="1" dirty="0" smtClean="0">
                          <a:solidFill>
                            <a:schemeClr val="tx1"/>
                          </a:solidFill>
                          <a:effectLst/>
                        </a:rPr>
                        <a:t>22-2</a:t>
                      </a:r>
                      <a:r>
                        <a:rPr lang="en-US" altLang="zh-CN" sz="1800" b="1" dirty="0" smtClean="0">
                          <a:solidFill>
                            <a:schemeClr val="tx1"/>
                          </a:solidFill>
                          <a:effectLst/>
                        </a:rPr>
                        <a:t>6</a:t>
                      </a:r>
                      <a:r>
                        <a:rPr lang="zh-CN" altLang="en-US" sz="1800" b="1" dirty="0" smtClean="0">
                          <a:solidFill>
                            <a:schemeClr val="tx1"/>
                          </a:solidFill>
                          <a:effectLst/>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10"/>
                  </a:ext>
                </a:extLst>
              </a:tr>
              <a:tr h="369627">
                <a:tc>
                  <a:txBody>
                    <a:bodyPr/>
                    <a:lstStyle/>
                    <a:p>
                      <a:pPr marL="0" marR="0" algn="ctr"/>
                      <a:r>
                        <a:rPr lang="en-US" sz="1800" b="1" dirty="0" smtClean="0">
                          <a:solidFill>
                            <a:schemeClr val="tx1"/>
                          </a:solidFill>
                          <a:effectLst/>
                          <a:latin typeface="Times New Roman"/>
                          <a:ea typeface="Times New Roman"/>
                        </a:rPr>
                        <a:t>11</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en-US" sz="1800" b="1" dirty="0" smtClean="0">
                          <a:solidFill>
                            <a:schemeClr val="tx1"/>
                          </a:solidFill>
                          <a:effectLst/>
                          <a:latin typeface="Times New Roman"/>
                          <a:ea typeface="Times New Roman"/>
                        </a:rPr>
                        <a:t>NP</a:t>
                      </a:r>
                      <a:r>
                        <a:rPr lang="zh-CN" altLang="en-US" sz="1800" b="1" dirty="0" smtClean="0">
                          <a:solidFill>
                            <a:schemeClr val="tx1"/>
                          </a:solidFill>
                          <a:effectLst/>
                          <a:latin typeface="Times New Roman"/>
                          <a:ea typeface="Times New Roman"/>
                        </a:rPr>
                        <a:t>理论</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baseline="0" dirty="0" smtClean="0">
                          <a:solidFill>
                            <a:schemeClr val="tx1"/>
                          </a:solidFill>
                          <a:effectLst/>
                          <a:latin typeface="Times New Roman"/>
                          <a:ea typeface="Times New Roman"/>
                        </a:rPr>
                        <a:t>第</a:t>
                      </a:r>
                      <a:r>
                        <a:rPr lang="en-US" sz="1800" b="1" baseline="0" dirty="0" smtClean="0">
                          <a:solidFill>
                            <a:schemeClr val="tx1"/>
                          </a:solidFill>
                          <a:effectLst/>
                          <a:latin typeface="Times New Roman"/>
                          <a:ea typeface="Times New Roman"/>
                        </a:rPr>
                        <a:t>34</a:t>
                      </a:r>
                      <a:r>
                        <a:rPr lang="zh-CN" altLang="en-US" sz="1800" b="1" baseline="0" dirty="0" smtClean="0">
                          <a:solidFill>
                            <a:schemeClr val="tx1"/>
                          </a:solidFill>
                          <a:effectLst/>
                          <a:latin typeface="Times New Roman"/>
                          <a:ea typeface="Times New Roman"/>
                        </a:rPr>
                        <a:t>章</a:t>
                      </a:r>
                      <a:endParaRPr lang="en-US" sz="1800" b="1" dirty="0">
                        <a:solidFill>
                          <a:schemeClr val="tx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9169747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课程计划安排</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3158644490"/>
              </p:ext>
            </p:extLst>
          </p:nvPr>
        </p:nvGraphicFramePr>
        <p:xfrm>
          <a:off x="1676400" y="1371600"/>
          <a:ext cx="6705600" cy="5212080"/>
        </p:xfrm>
        <a:graphic>
          <a:graphicData uri="http://schemas.openxmlformats.org/drawingml/2006/table">
            <a:tbl>
              <a:tblPr firstRow="1" firstCol="1" bandRow="1">
                <a:tableStyleId>{5C22544A-7EE6-4342-B048-85BDC9FD1C3A}</a:tableStyleId>
              </a:tblPr>
              <a:tblGrid>
                <a:gridCol w="29718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274320">
                <a:tc>
                  <a:txBody>
                    <a:bodyPr/>
                    <a:lstStyle/>
                    <a:p>
                      <a:pPr algn="ctr">
                        <a:spcAft>
                          <a:spcPts val="0"/>
                        </a:spcAft>
                      </a:pPr>
                      <a:r>
                        <a:rPr lang="zh-CN" sz="1800" kern="100" dirty="0">
                          <a:solidFill>
                            <a:schemeClr val="tx1"/>
                          </a:solidFill>
                          <a:effectLst/>
                        </a:rPr>
                        <a:t>周次</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a:effectLst/>
                        </a:rPr>
                        <a:t>实验</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36220">
                <a:tc>
                  <a:txBody>
                    <a:bodyPr/>
                    <a:lstStyle/>
                    <a:p>
                      <a:pPr algn="ctr">
                        <a:spcAft>
                          <a:spcPts val="0"/>
                        </a:spcAft>
                      </a:pPr>
                      <a:r>
                        <a:rPr lang="en-US" sz="1800" kern="100" dirty="0">
                          <a:solidFill>
                            <a:schemeClr val="tx1"/>
                          </a:solidFill>
                          <a:effectLst/>
                        </a:rPr>
                        <a:t>1 </a:t>
                      </a:r>
                      <a:r>
                        <a:rPr lang="zh-CN" sz="1800" kern="100" dirty="0">
                          <a:solidFill>
                            <a:schemeClr val="tx1"/>
                          </a:solidFill>
                          <a:effectLst/>
                        </a:rPr>
                        <a:t>第一章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36220">
                <a:tc>
                  <a:txBody>
                    <a:bodyPr/>
                    <a:lstStyle/>
                    <a:p>
                      <a:pPr algn="ctr">
                        <a:spcAft>
                          <a:spcPts val="0"/>
                        </a:spcAft>
                      </a:pPr>
                      <a:r>
                        <a:rPr lang="en-US" sz="1800" kern="100" dirty="0">
                          <a:solidFill>
                            <a:schemeClr val="tx1"/>
                          </a:solidFill>
                          <a:effectLst/>
                        </a:rPr>
                        <a:t>2 </a:t>
                      </a:r>
                      <a:r>
                        <a:rPr lang="zh-CN" sz="1800" kern="100" dirty="0">
                          <a:solidFill>
                            <a:schemeClr val="tx1"/>
                          </a:solidFill>
                          <a:effectLst/>
                        </a:rPr>
                        <a:t>第二章</a:t>
                      </a:r>
                      <a:r>
                        <a:rPr lang="en-US" sz="1800" kern="100" dirty="0">
                          <a:solidFill>
                            <a:schemeClr val="tx1"/>
                          </a:solidFill>
                          <a:effectLst/>
                        </a:rPr>
                        <a:t>1</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1 </a:t>
                      </a:r>
                      <a:r>
                        <a:rPr lang="zh-CN" altLang="en-US" sz="1800" kern="100" dirty="0" smtClean="0">
                          <a:effectLst/>
                        </a:rPr>
                        <a:t>排序</a:t>
                      </a:r>
                      <a:r>
                        <a:rPr lang="zh-CN" sz="1800" kern="100" dirty="0" smtClean="0">
                          <a:effectLst/>
                        </a:rPr>
                        <a:t>算法</a:t>
                      </a:r>
                      <a:r>
                        <a:rPr lang="zh-CN" sz="1800" kern="100" dirty="0">
                          <a:effectLst/>
                        </a:rPr>
                        <a:t>性能分析</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36220">
                <a:tc>
                  <a:txBody>
                    <a:bodyPr/>
                    <a:lstStyle/>
                    <a:p>
                      <a:pPr algn="ctr">
                        <a:spcAft>
                          <a:spcPts val="0"/>
                        </a:spcAft>
                      </a:pPr>
                      <a:r>
                        <a:rPr lang="en-US" sz="1800" kern="100" dirty="0">
                          <a:solidFill>
                            <a:schemeClr val="tx1"/>
                          </a:solidFill>
                          <a:effectLst/>
                        </a:rPr>
                        <a:t>3</a:t>
                      </a:r>
                      <a:r>
                        <a:rPr lang="zh-CN" sz="1800" kern="100" dirty="0">
                          <a:solidFill>
                            <a:schemeClr val="tx1"/>
                          </a:solidFill>
                          <a:effectLst/>
                        </a:rPr>
                        <a:t>第二章</a:t>
                      </a:r>
                      <a:r>
                        <a:rPr lang="en-US" sz="1800" kern="100" dirty="0">
                          <a:solidFill>
                            <a:schemeClr val="tx1"/>
                          </a:solidFill>
                          <a:effectLst/>
                        </a:rPr>
                        <a:t>2</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74320">
                <a:tc>
                  <a:txBody>
                    <a:bodyPr/>
                    <a:lstStyle/>
                    <a:p>
                      <a:pPr algn="ctr">
                        <a:spcAft>
                          <a:spcPts val="0"/>
                        </a:spcAft>
                      </a:pPr>
                      <a:r>
                        <a:rPr lang="en-US" sz="1800" kern="100" dirty="0">
                          <a:solidFill>
                            <a:schemeClr val="tx1"/>
                          </a:solidFill>
                          <a:effectLst/>
                        </a:rPr>
                        <a:t>4 </a:t>
                      </a:r>
                      <a:r>
                        <a:rPr lang="zh-CN" sz="1800" kern="100" dirty="0">
                          <a:solidFill>
                            <a:schemeClr val="tx1"/>
                          </a:solidFill>
                          <a:effectLst/>
                        </a:rPr>
                        <a:t>第四章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2</a:t>
                      </a:r>
                      <a:r>
                        <a:rPr lang="zh-CN" sz="1800" kern="100" dirty="0">
                          <a:effectLst/>
                        </a:rPr>
                        <a:t>分治法</a:t>
                      </a:r>
                      <a:r>
                        <a:rPr lang="zh-CN" sz="1800" kern="100" dirty="0" smtClean="0">
                          <a:effectLst/>
                        </a:rPr>
                        <a:t>求解</a:t>
                      </a:r>
                      <a:r>
                        <a:rPr lang="zh-CN" altLang="en-US" sz="1800" kern="100" dirty="0" smtClean="0">
                          <a:effectLst/>
                        </a:rPr>
                        <a:t>“</a:t>
                      </a:r>
                      <a:r>
                        <a:rPr lang="zh-CN" altLang="zh-CN" sz="1800" kern="100" dirty="0" smtClean="0">
                          <a:effectLst/>
                        </a:rPr>
                        <a:t>最近点对</a:t>
                      </a:r>
                      <a:r>
                        <a:rPr lang="zh-CN" altLang="en-US" sz="1800" kern="100" dirty="0" smtClean="0">
                          <a:effectLst/>
                        </a:rPr>
                        <a:t>”</a:t>
                      </a:r>
                      <a:r>
                        <a:rPr lang="zh-CN" sz="1800" kern="100" dirty="0" smtClean="0">
                          <a:effectLst/>
                        </a:rPr>
                        <a:t> 问题</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36220">
                <a:tc>
                  <a:txBody>
                    <a:bodyPr/>
                    <a:lstStyle/>
                    <a:p>
                      <a:pPr algn="ctr">
                        <a:spcAft>
                          <a:spcPts val="0"/>
                        </a:spcAft>
                      </a:pPr>
                      <a:r>
                        <a:rPr lang="en-US" sz="1800" kern="100" dirty="0">
                          <a:solidFill>
                            <a:schemeClr val="tx1"/>
                          </a:solidFill>
                          <a:effectLst/>
                        </a:rPr>
                        <a:t>5</a:t>
                      </a:r>
                      <a:r>
                        <a:rPr lang="zh-CN" sz="1800" kern="100" dirty="0">
                          <a:solidFill>
                            <a:schemeClr val="tx1"/>
                          </a:solidFill>
                          <a:effectLst/>
                        </a:rPr>
                        <a:t>第四章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236220">
                <a:tc>
                  <a:txBody>
                    <a:bodyPr/>
                    <a:lstStyle/>
                    <a:p>
                      <a:pPr algn="ctr">
                        <a:spcAft>
                          <a:spcPts val="0"/>
                        </a:spcAft>
                      </a:pPr>
                      <a:r>
                        <a:rPr lang="en-US" sz="1800" kern="100" dirty="0">
                          <a:solidFill>
                            <a:schemeClr val="tx1"/>
                          </a:solidFill>
                          <a:effectLst/>
                        </a:rPr>
                        <a:t>6</a:t>
                      </a:r>
                      <a:r>
                        <a:rPr lang="zh-CN" sz="1800" kern="100" dirty="0">
                          <a:solidFill>
                            <a:schemeClr val="tx1"/>
                          </a:solidFill>
                          <a:effectLst/>
                        </a:rPr>
                        <a:t>第六章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3 </a:t>
                      </a:r>
                      <a:r>
                        <a:rPr lang="zh-CN" sz="1800" kern="100" dirty="0">
                          <a:effectLst/>
                        </a:rPr>
                        <a:t>回溯</a:t>
                      </a:r>
                      <a:r>
                        <a:rPr lang="zh-CN" sz="1800" kern="100" dirty="0" smtClean="0">
                          <a:effectLst/>
                        </a:rPr>
                        <a:t>（</a:t>
                      </a:r>
                      <a:r>
                        <a:rPr lang="zh-CN" altLang="en-US" sz="1800" kern="100" dirty="0" smtClean="0">
                          <a:effectLst/>
                        </a:rPr>
                        <a:t>地图填色</a:t>
                      </a:r>
                      <a:r>
                        <a:rPr lang="zh-CN" sz="1800" kern="100" dirty="0" smtClean="0">
                          <a:effectLst/>
                        </a:rPr>
                        <a:t>）</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236220">
                <a:tc>
                  <a:txBody>
                    <a:bodyPr/>
                    <a:lstStyle/>
                    <a:p>
                      <a:pPr algn="ctr">
                        <a:spcAft>
                          <a:spcPts val="0"/>
                        </a:spcAft>
                      </a:pPr>
                      <a:r>
                        <a:rPr lang="en-US" sz="1800" kern="100" dirty="0">
                          <a:solidFill>
                            <a:schemeClr val="tx1"/>
                          </a:solidFill>
                          <a:effectLst/>
                        </a:rPr>
                        <a:t>7</a:t>
                      </a:r>
                      <a:r>
                        <a:rPr lang="zh-CN" sz="1800" kern="100" dirty="0">
                          <a:solidFill>
                            <a:schemeClr val="tx1"/>
                          </a:solidFill>
                          <a:effectLst/>
                        </a:rPr>
                        <a:t>第六章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236220">
                <a:tc>
                  <a:txBody>
                    <a:bodyPr/>
                    <a:lstStyle/>
                    <a:p>
                      <a:pPr algn="ctr">
                        <a:spcAft>
                          <a:spcPts val="0"/>
                        </a:spcAft>
                      </a:pPr>
                      <a:r>
                        <a:rPr lang="en-US" sz="1800" kern="100" dirty="0">
                          <a:solidFill>
                            <a:schemeClr val="tx1"/>
                          </a:solidFill>
                          <a:effectLst/>
                        </a:rPr>
                        <a:t>8</a:t>
                      </a:r>
                      <a:r>
                        <a:rPr lang="zh-CN" sz="1800" kern="100" dirty="0">
                          <a:solidFill>
                            <a:schemeClr val="tx1"/>
                          </a:solidFill>
                          <a:effectLst/>
                        </a:rPr>
                        <a:t>第七章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r h="236220">
                <a:tc>
                  <a:txBody>
                    <a:bodyPr/>
                    <a:lstStyle/>
                    <a:p>
                      <a:pPr algn="ctr">
                        <a:spcAft>
                          <a:spcPts val="0"/>
                        </a:spcAft>
                      </a:pPr>
                      <a:r>
                        <a:rPr lang="en-US" sz="1800" kern="100" dirty="0">
                          <a:solidFill>
                            <a:schemeClr val="tx1"/>
                          </a:solidFill>
                          <a:effectLst/>
                        </a:rPr>
                        <a:t>9</a:t>
                      </a:r>
                      <a:r>
                        <a:rPr lang="zh-CN" sz="1800" kern="100" dirty="0">
                          <a:solidFill>
                            <a:schemeClr val="tx1"/>
                          </a:solidFill>
                          <a:effectLst/>
                        </a:rPr>
                        <a:t>第九章</a:t>
                      </a:r>
                      <a:r>
                        <a:rPr lang="en-US" sz="1800" kern="100" dirty="0">
                          <a:solidFill>
                            <a:schemeClr val="tx1"/>
                          </a:solidFill>
                          <a:effectLst/>
                        </a:rPr>
                        <a:t>1</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4 </a:t>
                      </a:r>
                      <a:r>
                        <a:rPr lang="zh-CN" sz="1800" kern="100" dirty="0" smtClean="0">
                          <a:effectLst/>
                        </a:rPr>
                        <a:t>动态规划</a:t>
                      </a:r>
                      <a:r>
                        <a:rPr lang="zh-CN" altLang="en-US" sz="1800" kern="100" dirty="0" smtClean="0">
                          <a:effectLst/>
                        </a:rPr>
                        <a:t>（鸡蛋掉落问题）</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9"/>
                  </a:ext>
                </a:extLst>
              </a:tr>
              <a:tr h="236220">
                <a:tc>
                  <a:txBody>
                    <a:bodyPr/>
                    <a:lstStyle/>
                    <a:p>
                      <a:pPr algn="ctr">
                        <a:spcAft>
                          <a:spcPts val="0"/>
                        </a:spcAft>
                      </a:pPr>
                      <a:r>
                        <a:rPr lang="en-US" sz="1800" kern="100" dirty="0">
                          <a:solidFill>
                            <a:schemeClr val="tx1"/>
                          </a:solidFill>
                          <a:effectLst/>
                        </a:rPr>
                        <a:t>10</a:t>
                      </a:r>
                      <a:r>
                        <a:rPr lang="zh-CN" sz="1800" kern="100" dirty="0">
                          <a:solidFill>
                            <a:schemeClr val="tx1"/>
                          </a:solidFill>
                          <a:effectLst/>
                        </a:rPr>
                        <a:t>第九章</a:t>
                      </a:r>
                      <a:r>
                        <a:rPr lang="en-US" sz="1800" kern="100" dirty="0">
                          <a:solidFill>
                            <a:schemeClr val="tx1"/>
                          </a:solidFill>
                          <a:effectLst/>
                        </a:rPr>
                        <a:t>2</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0"/>
                  </a:ext>
                </a:extLst>
              </a:tr>
              <a:tr h="236220">
                <a:tc>
                  <a:txBody>
                    <a:bodyPr/>
                    <a:lstStyle/>
                    <a:p>
                      <a:pPr algn="ctr">
                        <a:spcAft>
                          <a:spcPts val="0"/>
                        </a:spcAft>
                      </a:pPr>
                      <a:r>
                        <a:rPr lang="en-US" sz="1800" kern="100" dirty="0">
                          <a:solidFill>
                            <a:schemeClr val="tx1"/>
                          </a:solidFill>
                          <a:effectLst/>
                        </a:rPr>
                        <a:t>11</a:t>
                      </a:r>
                      <a:r>
                        <a:rPr lang="zh-CN" sz="1800" kern="100" dirty="0">
                          <a:solidFill>
                            <a:schemeClr val="tx1"/>
                          </a:solidFill>
                          <a:effectLst/>
                        </a:rPr>
                        <a:t>第九章</a:t>
                      </a:r>
                      <a:r>
                        <a:rPr lang="en-US" sz="1800" kern="100" dirty="0">
                          <a:solidFill>
                            <a:schemeClr val="tx1"/>
                          </a:solidFill>
                          <a:effectLst/>
                        </a:rPr>
                        <a:t>3</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1"/>
                  </a:ext>
                </a:extLst>
              </a:tr>
              <a:tr h="236220">
                <a:tc>
                  <a:txBody>
                    <a:bodyPr/>
                    <a:lstStyle/>
                    <a:p>
                      <a:pPr algn="ctr">
                        <a:spcAft>
                          <a:spcPts val="0"/>
                        </a:spcAft>
                      </a:pPr>
                      <a:r>
                        <a:rPr lang="en-US" sz="1800" kern="100" dirty="0">
                          <a:solidFill>
                            <a:schemeClr val="tx1"/>
                          </a:solidFill>
                          <a:effectLst/>
                        </a:rPr>
                        <a:t>12</a:t>
                      </a:r>
                      <a:r>
                        <a:rPr lang="zh-CN" sz="1800" kern="100" dirty="0">
                          <a:solidFill>
                            <a:schemeClr val="tx1"/>
                          </a:solidFill>
                          <a:effectLst/>
                        </a:rPr>
                        <a:t>第三章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5 </a:t>
                      </a:r>
                      <a:r>
                        <a:rPr lang="zh-CN" sz="1800" kern="100" dirty="0">
                          <a:effectLst/>
                        </a:rPr>
                        <a:t>图论（桥）</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2"/>
                  </a:ext>
                </a:extLst>
              </a:tr>
              <a:tr h="236220">
                <a:tc>
                  <a:txBody>
                    <a:bodyPr/>
                    <a:lstStyle/>
                    <a:p>
                      <a:pPr algn="ctr">
                        <a:spcAft>
                          <a:spcPts val="0"/>
                        </a:spcAft>
                      </a:pPr>
                      <a:r>
                        <a:rPr lang="en-US" sz="1800" kern="100" dirty="0" smtClean="0">
                          <a:solidFill>
                            <a:schemeClr val="tx1"/>
                          </a:solidFill>
                          <a:effectLst/>
                        </a:rPr>
                        <a:t>13</a:t>
                      </a:r>
                      <a:r>
                        <a:rPr lang="zh-CN" altLang="zh-CN" sz="1800" kern="100" dirty="0" smtClean="0">
                          <a:solidFill>
                            <a:schemeClr val="tx1"/>
                          </a:solidFill>
                          <a:effectLst/>
                        </a:rPr>
                        <a:t>第三章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3"/>
                  </a:ext>
                </a:extLst>
              </a:tr>
              <a:tr h="236220">
                <a:tc>
                  <a:txBody>
                    <a:bodyPr/>
                    <a:lstStyle/>
                    <a:p>
                      <a:pPr algn="ctr">
                        <a:spcAft>
                          <a:spcPts val="0"/>
                        </a:spcAft>
                      </a:pPr>
                      <a:r>
                        <a:rPr lang="en-US" sz="1800" kern="100" dirty="0">
                          <a:solidFill>
                            <a:schemeClr val="tx1"/>
                          </a:solidFill>
                          <a:effectLst/>
                        </a:rPr>
                        <a:t>14</a:t>
                      </a:r>
                      <a:r>
                        <a:rPr lang="zh-CN" sz="1800" kern="100" dirty="0">
                          <a:solidFill>
                            <a:schemeClr val="tx1"/>
                          </a:solidFill>
                          <a:effectLst/>
                        </a:rPr>
                        <a:t>第五章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4"/>
                  </a:ext>
                </a:extLst>
              </a:tr>
              <a:tr h="236220">
                <a:tc>
                  <a:txBody>
                    <a:bodyPr/>
                    <a:lstStyle/>
                    <a:p>
                      <a:pPr algn="ctr">
                        <a:spcAft>
                          <a:spcPts val="0"/>
                        </a:spcAft>
                      </a:pPr>
                      <a:r>
                        <a:rPr lang="en-US" sz="1800" kern="100" dirty="0">
                          <a:solidFill>
                            <a:schemeClr val="tx1"/>
                          </a:solidFill>
                          <a:effectLst/>
                        </a:rPr>
                        <a:t>15</a:t>
                      </a:r>
                      <a:r>
                        <a:rPr lang="zh-CN" sz="1800" kern="100" dirty="0">
                          <a:solidFill>
                            <a:schemeClr val="tx1"/>
                          </a:solidFill>
                          <a:effectLst/>
                        </a:rPr>
                        <a:t>第八章</a:t>
                      </a:r>
                      <a:r>
                        <a:rPr lang="en-US" sz="1800" kern="100" dirty="0">
                          <a:solidFill>
                            <a:schemeClr val="tx1"/>
                          </a:solidFill>
                          <a:effectLst/>
                        </a:rPr>
                        <a:t>1</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实验</a:t>
                      </a:r>
                      <a:r>
                        <a:rPr lang="en-US" sz="1800" kern="100" dirty="0">
                          <a:effectLst/>
                        </a:rPr>
                        <a:t>6 </a:t>
                      </a:r>
                      <a:r>
                        <a:rPr lang="zh-CN" sz="1800" kern="100" dirty="0">
                          <a:effectLst/>
                        </a:rPr>
                        <a:t>图论（最大流）</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5"/>
                  </a:ext>
                </a:extLst>
              </a:tr>
              <a:tr h="236220">
                <a:tc>
                  <a:txBody>
                    <a:bodyPr/>
                    <a:lstStyle/>
                    <a:p>
                      <a:pPr algn="ctr">
                        <a:spcAft>
                          <a:spcPts val="0"/>
                        </a:spcAft>
                      </a:pPr>
                      <a:r>
                        <a:rPr lang="en-US" sz="1800" kern="100" dirty="0">
                          <a:solidFill>
                            <a:schemeClr val="tx1"/>
                          </a:solidFill>
                          <a:effectLst/>
                        </a:rPr>
                        <a:t>16</a:t>
                      </a:r>
                      <a:r>
                        <a:rPr lang="zh-CN" sz="1800" kern="100" dirty="0">
                          <a:solidFill>
                            <a:schemeClr val="tx1"/>
                          </a:solidFill>
                          <a:effectLst/>
                        </a:rPr>
                        <a:t>第八章</a:t>
                      </a:r>
                      <a:r>
                        <a:rPr lang="en-US" sz="1800" kern="100" dirty="0">
                          <a:solidFill>
                            <a:schemeClr val="tx1"/>
                          </a:solidFill>
                          <a:effectLst/>
                        </a:rPr>
                        <a:t>2</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6"/>
                  </a:ext>
                </a:extLst>
              </a:tr>
              <a:tr h="236220">
                <a:tc>
                  <a:txBody>
                    <a:bodyPr/>
                    <a:lstStyle/>
                    <a:p>
                      <a:pPr algn="ctr">
                        <a:spcAft>
                          <a:spcPts val="0"/>
                        </a:spcAft>
                      </a:pPr>
                      <a:r>
                        <a:rPr lang="en-US" sz="1800" kern="100" dirty="0">
                          <a:solidFill>
                            <a:schemeClr val="tx1"/>
                          </a:solidFill>
                          <a:effectLst/>
                        </a:rPr>
                        <a:t>17</a:t>
                      </a:r>
                      <a:r>
                        <a:rPr lang="zh-CN" sz="1800" kern="100" dirty="0">
                          <a:solidFill>
                            <a:schemeClr val="tx1"/>
                          </a:solidFill>
                          <a:effectLst/>
                        </a:rPr>
                        <a:t>第十章</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7"/>
                  </a:ext>
                </a:extLst>
              </a:tr>
              <a:tr h="236220">
                <a:tc>
                  <a:txBody>
                    <a:bodyPr/>
                    <a:lstStyle/>
                    <a:p>
                      <a:pPr algn="ctr">
                        <a:spcAft>
                          <a:spcPts val="0"/>
                        </a:spcAft>
                      </a:pPr>
                      <a:r>
                        <a:rPr lang="en-US" sz="1800" kern="100" dirty="0">
                          <a:effectLst/>
                        </a:rPr>
                        <a:t>18 </a:t>
                      </a:r>
                      <a:r>
                        <a:rPr lang="zh-CN" sz="1800" kern="100" dirty="0">
                          <a:effectLst/>
                        </a:rPr>
                        <a:t>复习</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dirty="0">
                          <a:effectLst/>
                        </a:rPr>
                        <a:t>大</a:t>
                      </a:r>
                      <a:r>
                        <a:rPr lang="zh-CN" sz="1800" kern="100" dirty="0" smtClean="0">
                          <a:effectLst/>
                        </a:rPr>
                        <a:t>作业</a:t>
                      </a:r>
                      <a:r>
                        <a:rPr lang="zh-CN" altLang="en-US" sz="1800" kern="100" dirty="0" smtClean="0">
                          <a:effectLst/>
                        </a:rPr>
                        <a:t>或考试</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18"/>
                  </a:ext>
                </a:extLst>
              </a:tr>
            </a:tbl>
          </a:graphicData>
        </a:graphic>
      </p:graphicFrame>
    </p:spTree>
    <p:extLst>
      <p:ext uri="{BB962C8B-B14F-4D97-AF65-F5344CB8AC3E}">
        <p14:creationId xmlns:p14="http://schemas.microsoft.com/office/powerpoint/2010/main" val="12269897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143000"/>
          </a:xfrm>
        </p:spPr>
        <p:txBody>
          <a:bodyPr/>
          <a:lstStyle/>
          <a:p>
            <a:pPr>
              <a:defRPr/>
            </a:pPr>
            <a:r>
              <a:rPr lang="zh-CN" altLang="en-US" dirty="0" smtClean="0">
                <a:ea typeface="宋体" pitchFamily="2" charset="-122"/>
              </a:rPr>
              <a:t>从腾讯的一道面试题说起</a:t>
            </a:r>
          </a:p>
        </p:txBody>
      </p:sp>
      <p:sp>
        <p:nvSpPr>
          <p:cNvPr id="3" name="内容占位符 2"/>
          <p:cNvSpPr>
            <a:spLocks noGrp="1"/>
          </p:cNvSpPr>
          <p:nvPr>
            <p:ph idx="1"/>
          </p:nvPr>
        </p:nvSpPr>
        <p:spPr>
          <a:xfrm>
            <a:off x="685800" y="1295400"/>
            <a:ext cx="7772400" cy="4114800"/>
          </a:xfrm>
        </p:spPr>
        <p:txBody>
          <a:bodyPr/>
          <a:lstStyle/>
          <a:p>
            <a:pPr>
              <a:defRPr/>
            </a:pPr>
            <a:r>
              <a:rPr lang="zh-CN" altLang="en-US" dirty="0" smtClean="0">
                <a:ea typeface="宋体" pitchFamily="2" charset="-122"/>
              </a:rPr>
              <a:t>        有</a:t>
            </a:r>
            <a:r>
              <a:rPr lang="en-US" altLang="zh-CN" dirty="0" smtClean="0">
                <a:ea typeface="宋体" pitchFamily="2" charset="-122"/>
              </a:rPr>
              <a:t>1000</a:t>
            </a:r>
            <a:r>
              <a:rPr lang="zh-CN" altLang="en-US" dirty="0" smtClean="0">
                <a:ea typeface="宋体" pitchFamily="2" charset="-122"/>
              </a:rPr>
              <a:t>瓶水</a:t>
            </a:r>
            <a:r>
              <a:rPr lang="en-US" altLang="zh-CN" dirty="0" smtClean="0">
                <a:ea typeface="宋体" pitchFamily="2" charset="-122"/>
              </a:rPr>
              <a:t>,</a:t>
            </a:r>
            <a:r>
              <a:rPr lang="zh-CN" altLang="en-US" dirty="0" smtClean="0">
                <a:ea typeface="宋体" pitchFamily="2" charset="-122"/>
              </a:rPr>
              <a:t>其中有一瓶</a:t>
            </a:r>
            <a:r>
              <a:rPr lang="zh-CN" altLang="en-US" dirty="0">
                <a:ea typeface="宋体" pitchFamily="2" charset="-122"/>
              </a:rPr>
              <a:t>水</a:t>
            </a:r>
            <a:r>
              <a:rPr lang="zh-CN" altLang="en-US" dirty="0" smtClean="0">
                <a:ea typeface="宋体" pitchFamily="2" charset="-122"/>
              </a:rPr>
              <a:t>有毒。小白鼠只要尝一点带毒的水，</a:t>
            </a:r>
            <a:r>
              <a:rPr lang="en-US" altLang="zh-CN" dirty="0" smtClean="0">
                <a:ea typeface="宋体" pitchFamily="2" charset="-122"/>
              </a:rPr>
              <a:t>24</a:t>
            </a:r>
            <a:r>
              <a:rPr lang="zh-CN" altLang="en-US" dirty="0" smtClean="0">
                <a:ea typeface="宋体" pitchFamily="2" charset="-122"/>
              </a:rPr>
              <a:t>小时后就会死亡。</a:t>
            </a:r>
            <a:endParaRPr lang="en-US" altLang="zh-CN" dirty="0" smtClean="0">
              <a:ea typeface="宋体" pitchFamily="2" charset="-122"/>
            </a:endParaRPr>
          </a:p>
          <a:p>
            <a:pPr algn="just">
              <a:defRPr/>
            </a:pPr>
            <a:r>
              <a:rPr lang="zh-CN" altLang="en-US" dirty="0" smtClean="0">
                <a:ea typeface="宋体" pitchFamily="2" charset="-122"/>
              </a:rPr>
              <a:t>        </a:t>
            </a:r>
            <a:r>
              <a:rPr lang="zh-CN" altLang="en-US" b="1" dirty="0" smtClean="0">
                <a:solidFill>
                  <a:srgbClr val="FF0000"/>
                </a:solidFill>
                <a:ea typeface="宋体" pitchFamily="2" charset="-122"/>
              </a:rPr>
              <a:t>至少要多少只</a:t>
            </a:r>
            <a:r>
              <a:rPr lang="zh-CN" altLang="en-US" dirty="0" smtClean="0">
                <a:ea typeface="宋体" pitchFamily="2" charset="-122"/>
              </a:rPr>
              <a:t>小白鼠才能在</a:t>
            </a:r>
            <a:r>
              <a:rPr lang="en-US" altLang="zh-CN" dirty="0" smtClean="0">
                <a:ea typeface="宋体" pitchFamily="2" charset="-122"/>
              </a:rPr>
              <a:t>24</a:t>
            </a:r>
            <a:r>
              <a:rPr lang="zh-CN" altLang="en-US" dirty="0" smtClean="0">
                <a:ea typeface="宋体" pitchFamily="2" charset="-122"/>
              </a:rPr>
              <a:t>小时后</a:t>
            </a:r>
            <a:r>
              <a:rPr lang="zh-CN" altLang="en-US" b="1" dirty="0" smtClean="0">
                <a:solidFill>
                  <a:srgbClr val="FF0000"/>
                </a:solidFill>
                <a:ea typeface="宋体" pitchFamily="2" charset="-122"/>
              </a:rPr>
              <a:t>鉴别出那瓶有毒的水</a:t>
            </a:r>
            <a:r>
              <a:rPr lang="en-US" altLang="zh-CN" dirty="0" smtClean="0">
                <a:ea typeface="宋体" pitchFamily="2" charset="-122"/>
              </a:rPr>
              <a:t>?</a:t>
            </a:r>
            <a:endParaRPr lang="zh-CN" altLang="en-US" dirty="0" smtClean="0">
              <a:ea typeface="宋体" pitchFamily="2" charset="-122"/>
            </a:endParaRPr>
          </a:p>
        </p:txBody>
      </p:sp>
      <p:sp>
        <p:nvSpPr>
          <p:cNvPr id="4100" name="灯片编号占位符 3"/>
          <p:cNvSpPr>
            <a:spLocks noGrp="1"/>
          </p:cNvSpPr>
          <p:nvPr>
            <p:ph type="sldNum" sz="quarter" idx="12"/>
          </p:nvPr>
        </p:nvSpPr>
        <p:spPr>
          <a:xfrm>
            <a:off x="8077200" y="6858000"/>
            <a:ext cx="1905000" cy="304800"/>
          </a:xfrm>
          <a:prstGeom prst="rect">
            <a:avLst/>
          </a:prstGeom>
          <a:noFill/>
          <a:ln>
            <a:miter lim="800000"/>
            <a:headEnd/>
            <a:tailEnd/>
          </a:ln>
        </p:spPr>
        <p:txBody>
          <a:bodyPr/>
          <a:lstStyle/>
          <a:p>
            <a:r>
              <a:rPr lang="en-US" altLang="zh-CN" smtClean="0">
                <a:ea typeface="宋体" charset="-122"/>
              </a:rPr>
              <a:t>1-</a:t>
            </a:r>
            <a:fld id="{6A1119EB-4189-4521-8A32-B18974B98BC0}" type="slidenum">
              <a:rPr lang="en-US" altLang="zh-CN" smtClean="0">
                <a:ea typeface="宋体" charset="-122"/>
              </a:rPr>
              <a:pPr/>
              <a:t>10</a:t>
            </a:fld>
            <a:endParaRPr lang="en-US" altLang="zh-CN" smtClean="0">
              <a:ea typeface="宋体" charset="-122"/>
            </a:endParaRPr>
          </a:p>
        </p:txBody>
      </p:sp>
      <p:pic>
        <p:nvPicPr>
          <p:cNvPr id="4101" name="Picture 2" descr="C:\Users\Lenovo\AppData\Local\Microsoft\Windows\Temporary Internet Files\Content.IE5\A4X0QTJD\lgi01a201308111400[1].jpg"/>
          <p:cNvPicPr>
            <a:picLocks noChangeAspect="1" noChangeArrowheads="1"/>
          </p:cNvPicPr>
          <p:nvPr/>
        </p:nvPicPr>
        <p:blipFill>
          <a:blip r:embed="rId3" cstate="print"/>
          <a:srcRect/>
          <a:stretch>
            <a:fillRect/>
          </a:stretch>
        </p:blipFill>
        <p:spPr bwMode="auto">
          <a:xfrm>
            <a:off x="1981200" y="3505200"/>
            <a:ext cx="654050" cy="1295400"/>
          </a:xfrm>
          <a:prstGeom prst="rect">
            <a:avLst/>
          </a:prstGeom>
          <a:noFill/>
          <a:ln w="9525">
            <a:noFill/>
            <a:miter lim="800000"/>
            <a:headEnd/>
            <a:tailEnd/>
          </a:ln>
        </p:spPr>
      </p:pic>
      <p:pic>
        <p:nvPicPr>
          <p:cNvPr id="4102" name="Picture 2" descr="C:\Users\Lenovo\AppData\Local\Microsoft\Windows\Temporary Internet Files\Content.IE5\A4X0QTJD\lgi01a201308111400[1].jpg"/>
          <p:cNvPicPr>
            <a:picLocks noChangeAspect="1" noChangeArrowheads="1"/>
          </p:cNvPicPr>
          <p:nvPr/>
        </p:nvPicPr>
        <p:blipFill>
          <a:blip r:embed="rId3" cstate="print"/>
          <a:srcRect/>
          <a:stretch>
            <a:fillRect/>
          </a:stretch>
        </p:blipFill>
        <p:spPr bwMode="auto">
          <a:xfrm>
            <a:off x="6477000" y="3505200"/>
            <a:ext cx="654050" cy="1295400"/>
          </a:xfrm>
          <a:prstGeom prst="rect">
            <a:avLst/>
          </a:prstGeom>
          <a:noFill/>
          <a:ln w="9525">
            <a:noFill/>
            <a:miter lim="800000"/>
            <a:headEnd/>
            <a:tailEnd/>
          </a:ln>
        </p:spPr>
      </p:pic>
      <p:pic>
        <p:nvPicPr>
          <p:cNvPr id="4103" name="Picture 3" descr="C:\Users\Lenovo\AppData\Local\Microsoft\Windows\Temporary Internet Files\Content.IE5\X43061KI\29196775_776c70d1c3_s[1].jpg"/>
          <p:cNvPicPr>
            <a:picLocks noChangeAspect="1" noChangeArrowheads="1"/>
          </p:cNvPicPr>
          <p:nvPr/>
        </p:nvPicPr>
        <p:blipFill>
          <a:blip r:embed="rId4" cstate="print"/>
          <a:srcRect/>
          <a:stretch>
            <a:fillRect/>
          </a:stretch>
        </p:blipFill>
        <p:spPr bwMode="auto">
          <a:xfrm>
            <a:off x="6324600" y="5181600"/>
            <a:ext cx="952500" cy="952500"/>
          </a:xfrm>
          <a:prstGeom prst="rect">
            <a:avLst/>
          </a:prstGeom>
          <a:noFill/>
          <a:ln w="9525">
            <a:noFill/>
            <a:miter lim="800000"/>
            <a:headEnd/>
            <a:tailEnd/>
          </a:ln>
        </p:spPr>
      </p:pic>
      <p:pic>
        <p:nvPicPr>
          <p:cNvPr id="4104" name="Picture 4" descr="C:\Users\Lenovo\AppData\Local\Microsoft\Windows\Temporary Internet Files\Content.IE5\X43061KI\29196775_776c70d1c3_s[1].jpg"/>
          <p:cNvPicPr>
            <a:picLocks noChangeAspect="1" noChangeArrowheads="1"/>
          </p:cNvPicPr>
          <p:nvPr/>
        </p:nvPicPr>
        <p:blipFill>
          <a:blip r:embed="rId4" cstate="print"/>
          <a:srcRect/>
          <a:stretch>
            <a:fillRect/>
          </a:stretch>
        </p:blipFill>
        <p:spPr bwMode="auto">
          <a:xfrm>
            <a:off x="1828800" y="5181600"/>
            <a:ext cx="990600" cy="952500"/>
          </a:xfrm>
          <a:prstGeom prst="rect">
            <a:avLst/>
          </a:prstGeom>
          <a:noFill/>
          <a:ln w="9525">
            <a:noFill/>
            <a:miter lim="800000"/>
            <a:headEnd/>
            <a:tailEnd/>
          </a:ln>
        </p:spPr>
      </p:pic>
      <p:sp>
        <p:nvSpPr>
          <p:cNvPr id="4105" name="TextBox 16"/>
          <p:cNvSpPr txBox="1">
            <a:spLocks noChangeArrowheads="1"/>
          </p:cNvSpPr>
          <p:nvPr/>
        </p:nvSpPr>
        <p:spPr bwMode="auto">
          <a:xfrm>
            <a:off x="3352800" y="3733800"/>
            <a:ext cx="2286000" cy="708025"/>
          </a:xfrm>
          <a:prstGeom prst="rect">
            <a:avLst/>
          </a:prstGeom>
          <a:noFill/>
          <a:ln w="9525">
            <a:noFill/>
            <a:miter lim="800000"/>
            <a:headEnd/>
            <a:tailEnd/>
          </a:ln>
        </p:spPr>
        <p:txBody>
          <a:bodyPr>
            <a:spAutoFit/>
          </a:bodyPr>
          <a:lstStyle/>
          <a:p>
            <a:r>
              <a:rPr lang="en-US" altLang="zh-CN" sz="4000">
                <a:ea typeface="宋体" charset="-122"/>
              </a:rPr>
              <a:t>…</a:t>
            </a:r>
            <a:endParaRPr lang="zh-CN" altLang="en-US" sz="4000">
              <a:ea typeface="宋体" charset="-122"/>
            </a:endParaRPr>
          </a:p>
        </p:txBody>
      </p:sp>
      <p:sp>
        <p:nvSpPr>
          <p:cNvPr id="4106" name="TextBox 17"/>
          <p:cNvSpPr txBox="1">
            <a:spLocks noChangeArrowheads="1"/>
          </p:cNvSpPr>
          <p:nvPr/>
        </p:nvSpPr>
        <p:spPr bwMode="auto">
          <a:xfrm>
            <a:off x="3429000" y="5257800"/>
            <a:ext cx="2286000" cy="708025"/>
          </a:xfrm>
          <a:prstGeom prst="rect">
            <a:avLst/>
          </a:prstGeom>
          <a:noFill/>
          <a:ln w="9525">
            <a:noFill/>
            <a:miter lim="800000"/>
            <a:headEnd/>
            <a:tailEnd/>
          </a:ln>
        </p:spPr>
        <p:txBody>
          <a:bodyPr>
            <a:spAutoFit/>
          </a:bodyPr>
          <a:lstStyle/>
          <a:p>
            <a:r>
              <a:rPr lang="en-US" altLang="zh-CN" sz="4000">
                <a:ea typeface="宋体" charset="-122"/>
              </a:rPr>
              <a:t>…</a:t>
            </a:r>
            <a:endParaRPr lang="zh-CN" altLang="en-US" sz="4000">
              <a:ea typeface="宋体"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a:spLocks noChangeArrowheads="1"/>
          </p:cNvSpPr>
          <p:nvPr/>
        </p:nvSpPr>
        <p:spPr bwMode="auto">
          <a:xfrm>
            <a:off x="1676400" y="1752600"/>
            <a:ext cx="381000" cy="3505200"/>
          </a:xfrm>
          <a:prstGeom prst="ellipse">
            <a:avLst/>
          </a:prstGeom>
          <a:solidFill>
            <a:schemeClr val="accent1"/>
          </a:solidFill>
          <a:ln w="12700" algn="ctr">
            <a:solidFill>
              <a:srgbClr val="FF0000"/>
            </a:solidFill>
            <a:round/>
            <a:headEnd type="none" w="sm" len="sm"/>
            <a:tailEnd type="triangle" w="sm" len="sm"/>
          </a:ln>
        </p:spPr>
        <p:txBody>
          <a:bodyPr wrap="none" anchor="ctr"/>
          <a:lstStyle/>
          <a:p>
            <a:endParaRPr lang="zh-CN" altLang="en-US">
              <a:ea typeface="宋体" charset="-122"/>
            </a:endParaRPr>
          </a:p>
        </p:txBody>
      </p:sp>
      <p:sp>
        <p:nvSpPr>
          <p:cNvPr id="2" name="标题 1"/>
          <p:cNvSpPr>
            <a:spLocks noGrp="1"/>
          </p:cNvSpPr>
          <p:nvPr>
            <p:ph type="title"/>
          </p:nvPr>
        </p:nvSpPr>
        <p:spPr>
          <a:xfrm>
            <a:off x="685800" y="152400"/>
            <a:ext cx="7772400" cy="1143000"/>
          </a:xfrm>
        </p:spPr>
        <p:txBody>
          <a:bodyPr/>
          <a:lstStyle/>
          <a:p>
            <a:pPr>
              <a:defRPr/>
            </a:pPr>
            <a:r>
              <a:rPr lang="zh-CN" altLang="en-US" dirty="0" smtClean="0">
                <a:ea typeface="宋体" pitchFamily="2" charset="-122"/>
              </a:rPr>
              <a:t>答案</a:t>
            </a:r>
          </a:p>
        </p:txBody>
      </p:sp>
      <p:sp>
        <p:nvSpPr>
          <p:cNvPr id="3" name="内容占位符 2"/>
          <p:cNvSpPr>
            <a:spLocks noGrp="1"/>
          </p:cNvSpPr>
          <p:nvPr>
            <p:ph idx="1"/>
          </p:nvPr>
        </p:nvSpPr>
        <p:spPr>
          <a:xfrm>
            <a:off x="609600" y="1371600"/>
            <a:ext cx="8229600" cy="5562600"/>
          </a:xfrm>
        </p:spPr>
        <p:txBody>
          <a:bodyPr/>
          <a:lstStyle/>
          <a:p>
            <a:pPr>
              <a:defRPr/>
            </a:pPr>
            <a:r>
              <a:rPr lang="zh-CN" altLang="en-US" dirty="0" smtClean="0">
                <a:ea typeface="宋体" pitchFamily="2" charset="-122"/>
              </a:rPr>
              <a:t>以</a:t>
            </a:r>
            <a:r>
              <a:rPr lang="en-US" altLang="zh-CN" dirty="0" smtClean="0">
                <a:ea typeface="宋体" pitchFamily="2" charset="-122"/>
              </a:rPr>
              <a:t>3</a:t>
            </a:r>
            <a:r>
              <a:rPr lang="zh-CN" altLang="en-US" dirty="0">
                <a:ea typeface="宋体" pitchFamily="2" charset="-122"/>
              </a:rPr>
              <a:t>只老鼠</a:t>
            </a:r>
            <a:r>
              <a:rPr lang="zh-CN" altLang="en-US" dirty="0" smtClean="0">
                <a:ea typeface="宋体" pitchFamily="2" charset="-122"/>
              </a:rPr>
              <a:t>确定</a:t>
            </a:r>
            <a:r>
              <a:rPr lang="en-US" altLang="zh-CN" dirty="0" smtClean="0">
                <a:ea typeface="宋体" pitchFamily="2" charset="-122"/>
              </a:rPr>
              <a:t>8</a:t>
            </a:r>
            <a:r>
              <a:rPr lang="zh-CN" altLang="en-US" dirty="0" smtClean="0">
                <a:ea typeface="宋体" pitchFamily="2" charset="-122"/>
              </a:rPr>
              <a:t>个瓶子为例：</a:t>
            </a:r>
            <a:br>
              <a:rPr lang="zh-CN" altLang="en-US" dirty="0" smtClean="0">
                <a:ea typeface="宋体" pitchFamily="2" charset="-122"/>
              </a:rPr>
            </a:br>
            <a:r>
              <a:rPr lang="en-US" altLang="zh-CN" dirty="0" smtClean="0">
                <a:ea typeface="宋体" pitchFamily="2" charset="-122"/>
              </a:rPr>
              <a:t>0  0  0=0</a:t>
            </a:r>
            <a:br>
              <a:rPr lang="en-US" altLang="zh-CN" dirty="0" smtClean="0">
                <a:ea typeface="宋体" pitchFamily="2" charset="-122"/>
              </a:rPr>
            </a:br>
            <a:r>
              <a:rPr lang="en-US" altLang="zh-CN" dirty="0" smtClean="0">
                <a:ea typeface="宋体" pitchFamily="2" charset="-122"/>
              </a:rPr>
              <a:t>0  0  </a:t>
            </a:r>
            <a:r>
              <a:rPr lang="en-US" altLang="zh-CN" dirty="0" smtClean="0">
                <a:solidFill>
                  <a:srgbClr val="FF0000"/>
                </a:solidFill>
                <a:ea typeface="宋体" pitchFamily="2" charset="-122"/>
              </a:rPr>
              <a:t>1</a:t>
            </a:r>
            <a:r>
              <a:rPr lang="en-US" altLang="zh-CN" dirty="0" smtClean="0">
                <a:ea typeface="宋体" pitchFamily="2" charset="-122"/>
              </a:rPr>
              <a:t>=1</a:t>
            </a:r>
            <a:br>
              <a:rPr lang="en-US" altLang="zh-CN" dirty="0" smtClean="0">
                <a:ea typeface="宋体" pitchFamily="2" charset="-122"/>
              </a:rPr>
            </a:br>
            <a:r>
              <a:rPr lang="en-US" altLang="zh-CN" dirty="0" smtClean="0">
                <a:ea typeface="宋体" pitchFamily="2" charset="-122"/>
              </a:rPr>
              <a:t>0  1  0=2</a:t>
            </a:r>
            <a:br>
              <a:rPr lang="en-US" altLang="zh-CN" dirty="0" smtClean="0">
                <a:ea typeface="宋体" pitchFamily="2" charset="-122"/>
              </a:rPr>
            </a:br>
            <a:r>
              <a:rPr lang="en-US" altLang="zh-CN" dirty="0" smtClean="0">
                <a:ea typeface="宋体" pitchFamily="2" charset="-122"/>
              </a:rPr>
              <a:t>0  1  </a:t>
            </a:r>
            <a:r>
              <a:rPr lang="en-US" altLang="zh-CN" dirty="0" smtClean="0">
                <a:solidFill>
                  <a:srgbClr val="FF0000"/>
                </a:solidFill>
                <a:ea typeface="宋体" pitchFamily="2" charset="-122"/>
              </a:rPr>
              <a:t>1</a:t>
            </a:r>
            <a:r>
              <a:rPr lang="en-US" altLang="zh-CN" dirty="0" smtClean="0">
                <a:ea typeface="宋体" pitchFamily="2" charset="-122"/>
              </a:rPr>
              <a:t>=3</a:t>
            </a:r>
            <a:br>
              <a:rPr lang="en-US" altLang="zh-CN" dirty="0" smtClean="0">
                <a:ea typeface="宋体" pitchFamily="2" charset="-122"/>
              </a:rPr>
            </a:br>
            <a:r>
              <a:rPr lang="en-US" altLang="zh-CN" dirty="0" smtClean="0">
                <a:ea typeface="宋体" pitchFamily="2" charset="-122"/>
              </a:rPr>
              <a:t>1  0  0=4</a:t>
            </a:r>
            <a:br>
              <a:rPr lang="en-US" altLang="zh-CN" dirty="0" smtClean="0">
                <a:ea typeface="宋体" pitchFamily="2" charset="-122"/>
              </a:rPr>
            </a:br>
            <a:r>
              <a:rPr lang="en-US" altLang="zh-CN" dirty="0" smtClean="0">
                <a:ea typeface="宋体" pitchFamily="2" charset="-122"/>
              </a:rPr>
              <a:t>1  0  </a:t>
            </a:r>
            <a:r>
              <a:rPr lang="en-US" altLang="zh-CN" dirty="0" smtClean="0">
                <a:solidFill>
                  <a:srgbClr val="FF0000"/>
                </a:solidFill>
                <a:ea typeface="宋体" pitchFamily="2" charset="-122"/>
              </a:rPr>
              <a:t>1</a:t>
            </a:r>
            <a:r>
              <a:rPr lang="en-US" altLang="zh-CN" dirty="0" smtClean="0">
                <a:ea typeface="宋体" pitchFamily="2" charset="-122"/>
              </a:rPr>
              <a:t>=5</a:t>
            </a:r>
            <a:br>
              <a:rPr lang="en-US" altLang="zh-CN" dirty="0" smtClean="0">
                <a:ea typeface="宋体" pitchFamily="2" charset="-122"/>
              </a:rPr>
            </a:br>
            <a:r>
              <a:rPr lang="en-US" altLang="zh-CN" dirty="0" smtClean="0">
                <a:ea typeface="宋体" pitchFamily="2" charset="-122"/>
              </a:rPr>
              <a:t>1  1  0=6</a:t>
            </a:r>
            <a:br>
              <a:rPr lang="en-US" altLang="zh-CN" dirty="0" smtClean="0">
                <a:ea typeface="宋体" pitchFamily="2" charset="-122"/>
              </a:rPr>
            </a:br>
            <a:r>
              <a:rPr lang="en-US" altLang="zh-CN" dirty="0" smtClean="0">
                <a:ea typeface="宋体" pitchFamily="2" charset="-122"/>
              </a:rPr>
              <a:t>1  1  </a:t>
            </a:r>
            <a:r>
              <a:rPr lang="en-US" altLang="zh-CN" dirty="0" smtClean="0">
                <a:solidFill>
                  <a:srgbClr val="FF0000"/>
                </a:solidFill>
                <a:ea typeface="宋体" pitchFamily="2" charset="-122"/>
              </a:rPr>
              <a:t>1</a:t>
            </a:r>
            <a:r>
              <a:rPr lang="en-US" altLang="zh-CN" dirty="0" smtClean="0">
                <a:ea typeface="宋体" pitchFamily="2" charset="-122"/>
              </a:rPr>
              <a:t>=7</a:t>
            </a:r>
          </a:p>
          <a:p>
            <a:pPr>
              <a:defRPr/>
            </a:pPr>
            <a:endParaRPr lang="en-US" altLang="zh-CN" dirty="0" smtClean="0">
              <a:ea typeface="宋体" pitchFamily="2" charset="-122"/>
            </a:endParaRPr>
          </a:p>
          <a:p>
            <a:pPr marL="0" indent="0">
              <a:buFont typeface="Monotype Sorts" pitchFamily="2" charset="2"/>
              <a:buNone/>
              <a:defRPr/>
            </a:pPr>
            <a:r>
              <a:rPr lang="zh-CN" altLang="en-US" dirty="0" smtClean="0">
                <a:ea typeface="宋体" pitchFamily="2" charset="-122"/>
              </a:rPr>
              <a:t>        混合出</a:t>
            </a:r>
            <a:r>
              <a:rPr lang="en-US" altLang="zh-CN" dirty="0" smtClean="0">
                <a:ea typeface="宋体" pitchFamily="2" charset="-122"/>
              </a:rPr>
              <a:t>3</a:t>
            </a:r>
            <a:r>
              <a:rPr lang="zh-CN" altLang="en-US" dirty="0" smtClean="0">
                <a:ea typeface="宋体" pitchFamily="2" charset="-122"/>
              </a:rPr>
              <a:t>瓶水，分别让</a:t>
            </a:r>
            <a:r>
              <a:rPr lang="en-US" altLang="zh-CN" dirty="0" smtClean="0">
                <a:ea typeface="宋体" pitchFamily="2" charset="-122"/>
              </a:rPr>
              <a:t>3</a:t>
            </a:r>
            <a:r>
              <a:rPr lang="zh-CN" altLang="en-US" dirty="0">
                <a:ea typeface="宋体" pitchFamily="2" charset="-122"/>
              </a:rPr>
              <a:t>只</a:t>
            </a:r>
            <a:r>
              <a:rPr lang="zh-CN" altLang="en-US" dirty="0" smtClean="0">
                <a:ea typeface="宋体" pitchFamily="2" charset="-122"/>
              </a:rPr>
              <a:t>老鼠喝，根据死亡老鼠的二进制码，确定有毒水瓶。</a:t>
            </a:r>
            <a:endParaRPr lang="en-US" altLang="zh-CN" dirty="0">
              <a:ea typeface="宋体" pitchFamily="2" charset="-122"/>
            </a:endParaRPr>
          </a:p>
        </p:txBody>
      </p:sp>
      <p:sp>
        <p:nvSpPr>
          <p:cNvPr id="5125" name="灯片编号占位符 3"/>
          <p:cNvSpPr>
            <a:spLocks noGrp="1"/>
          </p:cNvSpPr>
          <p:nvPr>
            <p:ph type="sldNum" sz="quarter" idx="12"/>
          </p:nvPr>
        </p:nvSpPr>
        <p:spPr>
          <a:xfrm>
            <a:off x="7061200" y="6426200"/>
            <a:ext cx="1905000" cy="304800"/>
          </a:xfrm>
          <a:prstGeom prst="rect">
            <a:avLst/>
          </a:prstGeom>
          <a:noFill/>
          <a:ln>
            <a:miter lim="800000"/>
            <a:headEnd/>
            <a:tailEnd/>
          </a:ln>
        </p:spPr>
        <p:txBody>
          <a:bodyPr/>
          <a:lstStyle/>
          <a:p>
            <a:r>
              <a:rPr lang="en-US" altLang="zh-CN" smtClean="0">
                <a:ea typeface="宋体" charset="-122"/>
              </a:rPr>
              <a:t>1-</a:t>
            </a:r>
            <a:fld id="{6F329AEA-DC92-492E-9DBE-E804DDDDFED0}" type="slidenum">
              <a:rPr lang="en-US" altLang="zh-CN" smtClean="0">
                <a:ea typeface="宋体" charset="-122"/>
              </a:rPr>
              <a:pPr/>
              <a:t>11</a:t>
            </a:fld>
            <a:endParaRPr lang="en-US" altLang="zh-CN" smtClean="0">
              <a:ea typeface="宋体" charset="-122"/>
            </a:endParaRPr>
          </a:p>
        </p:txBody>
      </p:sp>
      <p:pic>
        <p:nvPicPr>
          <p:cNvPr id="5126" name="Picture 4" descr="C:\Users\Lenovo\AppData\Local\Microsoft\Windows\Temporary Internet Files\Content.IE5\X43061KI\29196775_776c70d1c3_s[1].jpg"/>
          <p:cNvPicPr>
            <a:picLocks noChangeAspect="1" noChangeArrowheads="1"/>
          </p:cNvPicPr>
          <p:nvPr/>
        </p:nvPicPr>
        <p:blipFill>
          <a:blip r:embed="rId2" cstate="print"/>
          <a:srcRect/>
          <a:stretch>
            <a:fillRect/>
          </a:stretch>
        </p:blipFill>
        <p:spPr bwMode="auto">
          <a:xfrm>
            <a:off x="603380" y="5219700"/>
            <a:ext cx="381000" cy="571500"/>
          </a:xfrm>
          <a:prstGeom prst="rect">
            <a:avLst/>
          </a:prstGeom>
          <a:noFill/>
          <a:ln w="9525">
            <a:noFill/>
            <a:miter lim="800000"/>
            <a:headEnd/>
            <a:tailEnd/>
          </a:ln>
        </p:spPr>
      </p:pic>
      <p:pic>
        <p:nvPicPr>
          <p:cNvPr id="5127" name="Picture 4" descr="C:\Users\Lenovo\AppData\Local\Microsoft\Windows\Temporary Internet Files\Content.IE5\X43061KI\29196775_776c70d1c3_s[1].jpg"/>
          <p:cNvPicPr>
            <a:picLocks noChangeAspect="1" noChangeArrowheads="1"/>
          </p:cNvPicPr>
          <p:nvPr/>
        </p:nvPicPr>
        <p:blipFill>
          <a:blip r:embed="rId2" cstate="print"/>
          <a:srcRect/>
          <a:stretch>
            <a:fillRect/>
          </a:stretch>
        </p:blipFill>
        <p:spPr bwMode="auto">
          <a:xfrm>
            <a:off x="1005374" y="5219700"/>
            <a:ext cx="381000" cy="571500"/>
          </a:xfrm>
          <a:prstGeom prst="rect">
            <a:avLst/>
          </a:prstGeom>
          <a:noFill/>
          <a:ln w="9525">
            <a:noFill/>
            <a:miter lim="800000"/>
            <a:headEnd/>
            <a:tailEnd/>
          </a:ln>
        </p:spPr>
      </p:pic>
      <p:pic>
        <p:nvPicPr>
          <p:cNvPr id="5128" name="Picture 4" descr="C:\Users\Lenovo\AppData\Local\Microsoft\Windows\Temporary Internet Files\Content.IE5\X43061KI\29196775_776c70d1c3_s[1].jpg"/>
          <p:cNvPicPr>
            <a:picLocks noChangeAspect="1" noChangeArrowheads="1"/>
          </p:cNvPicPr>
          <p:nvPr/>
        </p:nvPicPr>
        <p:blipFill>
          <a:blip r:embed="rId2" cstate="print"/>
          <a:srcRect/>
          <a:stretch>
            <a:fillRect/>
          </a:stretch>
        </p:blipFill>
        <p:spPr bwMode="auto">
          <a:xfrm>
            <a:off x="1365380" y="5219700"/>
            <a:ext cx="381000" cy="571500"/>
          </a:xfrm>
          <a:prstGeom prst="rect">
            <a:avLst/>
          </a:prstGeom>
          <a:noFill/>
          <a:ln w="9525">
            <a:noFill/>
            <a:miter lim="800000"/>
            <a:headEnd/>
            <a:tailEnd/>
          </a:ln>
        </p:spPr>
      </p:pic>
      <p:sp>
        <p:nvSpPr>
          <p:cNvPr id="9" name="椭圆形标注 8"/>
          <p:cNvSpPr/>
          <p:nvPr/>
        </p:nvSpPr>
        <p:spPr bwMode="auto">
          <a:xfrm>
            <a:off x="3810000" y="2743200"/>
            <a:ext cx="2667000" cy="2209800"/>
          </a:xfrm>
          <a:prstGeom prst="wedgeEllipseCallout">
            <a:avLst>
              <a:gd name="adj1" fmla="val -123619"/>
              <a:gd name="adj2" fmla="val 75272"/>
            </a:avLst>
          </a:prstGeom>
          <a:solidFill>
            <a:schemeClr val="accent1"/>
          </a:solidFill>
          <a:ln w="12700" cap="flat" cmpd="sng" algn="ctr">
            <a:solidFill>
              <a:srgbClr val="FF0000"/>
            </a:solidFill>
            <a:prstDash val="solid"/>
            <a:round/>
            <a:headEnd type="none" w="sm" len="sm"/>
            <a:tailEnd type="triangle" w="sm" len="sm"/>
          </a:ln>
          <a:effectLst/>
          <a:extLst/>
        </p:spPr>
        <p:txBody>
          <a:bodyPr wrap="none" anchor="ctr"/>
          <a:lstStyle/>
          <a:p>
            <a:r>
              <a:rPr lang="zh-CN" altLang="en-US" dirty="0">
                <a:solidFill>
                  <a:srgbClr val="161616"/>
                </a:solidFill>
                <a:ea typeface="宋体" charset="-122"/>
              </a:rPr>
              <a:t>根据</a:t>
            </a:r>
            <a:r>
              <a:rPr lang="en-US" altLang="zh-CN" dirty="0" smtClean="0">
                <a:solidFill>
                  <a:srgbClr val="161616"/>
                </a:solidFill>
                <a:ea typeface="宋体" charset="-122"/>
              </a:rPr>
              <a:t>2</a:t>
            </a:r>
            <a:r>
              <a:rPr lang="en-US" altLang="zh-CN" baseline="30000" dirty="0" smtClean="0">
                <a:solidFill>
                  <a:srgbClr val="FF0000"/>
                </a:solidFill>
                <a:ea typeface="宋体" charset="-122"/>
              </a:rPr>
              <a:t>10</a:t>
            </a:r>
            <a:r>
              <a:rPr lang="en-US" altLang="zh-CN" dirty="0" smtClean="0">
                <a:solidFill>
                  <a:srgbClr val="161616"/>
                </a:solidFill>
                <a:ea typeface="宋体" charset="-122"/>
              </a:rPr>
              <a:t>=1024</a:t>
            </a:r>
            <a:r>
              <a:rPr lang="zh-CN" altLang="en-US" dirty="0">
                <a:solidFill>
                  <a:srgbClr val="161616"/>
                </a:solidFill>
                <a:ea typeface="宋体" charset="-122"/>
              </a:rPr>
              <a:t>，</a:t>
            </a:r>
            <a:endParaRPr lang="en-US" altLang="zh-CN" dirty="0">
              <a:solidFill>
                <a:srgbClr val="161616"/>
              </a:solidFill>
              <a:ea typeface="宋体" charset="-122"/>
            </a:endParaRPr>
          </a:p>
          <a:p>
            <a:r>
              <a:rPr lang="en-US" altLang="zh-CN" dirty="0">
                <a:solidFill>
                  <a:srgbClr val="161616"/>
                </a:solidFill>
                <a:ea typeface="宋体" charset="-122"/>
              </a:rPr>
              <a:t>10</a:t>
            </a:r>
            <a:r>
              <a:rPr lang="zh-CN" altLang="en-US" dirty="0">
                <a:solidFill>
                  <a:srgbClr val="161616"/>
                </a:solidFill>
                <a:ea typeface="宋体" charset="-122"/>
              </a:rPr>
              <a:t>个老鼠可以确定</a:t>
            </a:r>
            <a:endParaRPr lang="en-US" altLang="zh-CN" dirty="0">
              <a:solidFill>
                <a:srgbClr val="161616"/>
              </a:solidFill>
              <a:ea typeface="宋体" charset="-122"/>
            </a:endParaRPr>
          </a:p>
          <a:p>
            <a:r>
              <a:rPr lang="en-US" altLang="zh-CN" dirty="0">
                <a:solidFill>
                  <a:srgbClr val="161616"/>
                </a:solidFill>
                <a:ea typeface="宋体" charset="-122"/>
              </a:rPr>
              <a:t>1000</a:t>
            </a:r>
            <a:r>
              <a:rPr lang="zh-CN" altLang="en-US" dirty="0">
                <a:solidFill>
                  <a:srgbClr val="161616"/>
                </a:solidFill>
                <a:ea typeface="宋体" charset="-122"/>
              </a:rPr>
              <a:t>个瓶子具体</a:t>
            </a:r>
            <a:endParaRPr lang="en-US" altLang="zh-CN" dirty="0">
              <a:solidFill>
                <a:srgbClr val="161616"/>
              </a:solidFill>
              <a:ea typeface="宋体" charset="-122"/>
            </a:endParaRPr>
          </a:p>
          <a:p>
            <a:r>
              <a:rPr lang="zh-CN" altLang="en-US" dirty="0">
                <a:solidFill>
                  <a:srgbClr val="161616"/>
                </a:solidFill>
                <a:ea typeface="宋体" charset="-122"/>
              </a:rPr>
              <a:t>哪个瓶子有毒。</a:t>
            </a:r>
          </a:p>
          <a:p>
            <a:endParaRPr lang="zh-CN" altLang="en-US" dirty="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pPr>
              <a:defRPr/>
            </a:pPr>
            <a:r>
              <a:rPr lang="zh-CN" altLang="en-US" dirty="0" smtClean="0">
                <a:ea typeface="宋体" pitchFamily="2" charset="-122"/>
              </a:rPr>
              <a:t>为什么他能想到？</a:t>
            </a:r>
          </a:p>
        </p:txBody>
      </p:sp>
      <p:sp>
        <p:nvSpPr>
          <p:cNvPr id="3" name="内容占位符 2"/>
          <p:cNvSpPr>
            <a:spLocks noGrp="1"/>
          </p:cNvSpPr>
          <p:nvPr>
            <p:ph idx="1"/>
          </p:nvPr>
        </p:nvSpPr>
        <p:spPr>
          <a:xfrm>
            <a:off x="457200" y="1295400"/>
            <a:ext cx="8610600" cy="3733800"/>
          </a:xfrm>
        </p:spPr>
        <p:txBody>
          <a:bodyPr/>
          <a:lstStyle/>
          <a:p>
            <a:pPr>
              <a:defRPr/>
            </a:pPr>
            <a:r>
              <a:rPr lang="zh-CN" altLang="en-US" sz="2400" dirty="0" smtClean="0">
                <a:ea typeface="宋体" pitchFamily="2" charset="-122"/>
              </a:rPr>
              <a:t>        对于天才，灵光一闪的背后是庞大的无意识洪流，这种无意识是以什么为根据运行的，这是一个无法预测和控制的问题。</a:t>
            </a:r>
            <a:endParaRPr lang="en-US" altLang="zh-CN" sz="2400" dirty="0" smtClean="0">
              <a:ea typeface="宋体" pitchFamily="2" charset="-122"/>
            </a:endParaRPr>
          </a:p>
          <a:p>
            <a:pPr>
              <a:defRPr/>
            </a:pPr>
            <a:r>
              <a:rPr lang="zh-CN" altLang="en-US" sz="2400" b="1" dirty="0" smtClean="0">
                <a:solidFill>
                  <a:srgbClr val="FF0000"/>
                </a:solidFill>
                <a:ea typeface="宋体" pitchFamily="2" charset="-122"/>
              </a:rPr>
              <a:t>普适性的解题思路</a:t>
            </a:r>
            <a:r>
              <a:rPr lang="zh-CN" altLang="en-US" sz="2400" dirty="0" smtClean="0">
                <a:ea typeface="宋体" pitchFamily="2" charset="-122"/>
              </a:rPr>
              <a:t>：</a:t>
            </a:r>
            <a:endParaRPr lang="en-US" altLang="zh-CN" sz="2400" dirty="0" smtClean="0">
              <a:ea typeface="宋体" pitchFamily="2" charset="-122"/>
            </a:endParaRPr>
          </a:p>
          <a:p>
            <a:pPr>
              <a:defRPr/>
            </a:pPr>
            <a:r>
              <a:rPr lang="en-US" altLang="zh-CN" sz="2400" dirty="0" smtClean="0">
                <a:ea typeface="宋体" pitchFamily="2" charset="-122"/>
              </a:rPr>
              <a:t>Step 1</a:t>
            </a:r>
            <a:r>
              <a:rPr lang="zh-CN" altLang="en-US" sz="2400" dirty="0" smtClean="0">
                <a:ea typeface="宋体" pitchFamily="2" charset="-122"/>
              </a:rPr>
              <a:t>：</a:t>
            </a:r>
            <a:r>
              <a:rPr lang="en-US" altLang="zh-CN" sz="2400" dirty="0" smtClean="0">
                <a:ea typeface="宋体" pitchFamily="2" charset="-122"/>
              </a:rPr>
              <a:t>1000</a:t>
            </a:r>
            <a:r>
              <a:rPr lang="zh-CN" altLang="en-US" sz="2400" dirty="0" smtClean="0">
                <a:ea typeface="宋体" pitchFamily="2" charset="-122"/>
              </a:rPr>
              <a:t>是大数，把问题做对数分解，不难想到</a:t>
            </a:r>
            <a:r>
              <a:rPr lang="en-US" altLang="zh-CN" sz="2400" dirty="0" smtClean="0">
                <a:ea typeface="宋体" pitchFamily="2" charset="-122"/>
              </a:rPr>
              <a:t>2</a:t>
            </a:r>
            <a:r>
              <a:rPr lang="en-US" altLang="zh-CN" sz="2400" baseline="30000" dirty="0" smtClean="0">
                <a:solidFill>
                  <a:srgbClr val="FF0000"/>
                </a:solidFill>
                <a:ea typeface="宋体" pitchFamily="2" charset="-122"/>
              </a:rPr>
              <a:t>10</a:t>
            </a:r>
            <a:r>
              <a:rPr lang="en-US" altLang="zh-CN" sz="2400" dirty="0" smtClean="0">
                <a:ea typeface="宋体" pitchFamily="2" charset="-122"/>
              </a:rPr>
              <a:t>=1024</a:t>
            </a:r>
            <a:r>
              <a:rPr lang="zh-CN" altLang="en-US" sz="2400" dirty="0" smtClean="0">
                <a:ea typeface="宋体" pitchFamily="2" charset="-122"/>
              </a:rPr>
              <a:t>，</a:t>
            </a:r>
            <a:endParaRPr lang="en-US" altLang="zh-CN" sz="2400" dirty="0" smtClean="0">
              <a:ea typeface="宋体" pitchFamily="2" charset="-122"/>
            </a:endParaRPr>
          </a:p>
          <a:p>
            <a:pPr>
              <a:buFont typeface="Monotype Sorts" pitchFamily="2" charset="2"/>
              <a:buNone/>
              <a:defRPr/>
            </a:pPr>
            <a:r>
              <a:rPr lang="en-US" altLang="zh-CN" sz="2400" dirty="0" smtClean="0">
                <a:ea typeface="宋体" pitchFamily="2" charset="-122"/>
              </a:rPr>
              <a:t>Step 2</a:t>
            </a:r>
            <a:r>
              <a:rPr lang="zh-CN" altLang="en-US" sz="2400" dirty="0" smtClean="0">
                <a:ea typeface="宋体" pitchFamily="2" charset="-122"/>
              </a:rPr>
              <a:t>：既然有</a:t>
            </a:r>
            <a:r>
              <a:rPr lang="en-US" altLang="zh-CN" sz="2400" dirty="0" smtClean="0">
                <a:ea typeface="宋体" pitchFamily="2" charset="-122"/>
              </a:rPr>
              <a:t>2</a:t>
            </a:r>
            <a:r>
              <a:rPr lang="en-US" altLang="zh-CN" sz="2400" baseline="30000" dirty="0" smtClean="0">
                <a:ea typeface="宋体" pitchFamily="2" charset="-122"/>
              </a:rPr>
              <a:t>10</a:t>
            </a:r>
            <a:r>
              <a:rPr lang="en-US" altLang="zh-CN" sz="2400" dirty="0" smtClean="0">
                <a:ea typeface="宋体" pitchFamily="2" charset="-122"/>
              </a:rPr>
              <a:t>=1024</a:t>
            </a:r>
            <a:r>
              <a:rPr lang="zh-CN" altLang="en-US" sz="2400" dirty="0" smtClean="0">
                <a:ea typeface="宋体" pitchFamily="2" charset="-122"/>
              </a:rPr>
              <a:t>，可以把问题简化为</a:t>
            </a:r>
            <a:r>
              <a:rPr lang="en-US" altLang="zh-CN" sz="2400" dirty="0" smtClean="0">
                <a:ea typeface="宋体" pitchFamily="2" charset="-122"/>
              </a:rPr>
              <a:t>2</a:t>
            </a:r>
            <a:r>
              <a:rPr lang="en-US" altLang="zh-CN" sz="2400" baseline="30000" dirty="0" smtClean="0">
                <a:ea typeface="宋体" pitchFamily="2" charset="-122"/>
              </a:rPr>
              <a:t>3</a:t>
            </a:r>
            <a:r>
              <a:rPr lang="en-US" altLang="zh-CN" sz="2400" dirty="0" smtClean="0">
                <a:ea typeface="宋体" pitchFamily="2" charset="-122"/>
              </a:rPr>
              <a:t>=8</a:t>
            </a:r>
            <a:r>
              <a:rPr lang="zh-CN" altLang="en-US" sz="2400" dirty="0" smtClean="0">
                <a:ea typeface="宋体" pitchFamily="2" charset="-122"/>
              </a:rPr>
              <a:t>，</a:t>
            </a:r>
            <a:r>
              <a:rPr lang="en-US" altLang="zh-CN" sz="2400" dirty="0" smtClean="0">
                <a:ea typeface="宋体" pitchFamily="2" charset="-122"/>
              </a:rPr>
              <a:t>8</a:t>
            </a:r>
            <a:r>
              <a:rPr lang="zh-CN" altLang="en-US" sz="2400" dirty="0" smtClean="0">
                <a:ea typeface="宋体" pitchFamily="2" charset="-122"/>
              </a:rPr>
              <a:t>个瓶子需要几只老鼠？</a:t>
            </a:r>
            <a:r>
              <a:rPr lang="zh-CN" altLang="en-US" sz="2400" b="1" dirty="0" smtClean="0">
                <a:solidFill>
                  <a:srgbClr val="FF0000"/>
                </a:solidFill>
                <a:ea typeface="宋体" pitchFamily="2" charset="-122"/>
              </a:rPr>
              <a:t>考虑小规模问题！</a:t>
            </a:r>
            <a:endParaRPr lang="en-US" altLang="zh-CN" sz="2400" b="1" dirty="0" smtClean="0">
              <a:solidFill>
                <a:srgbClr val="FF0000"/>
              </a:solidFill>
              <a:ea typeface="宋体" pitchFamily="2" charset="-122"/>
            </a:endParaRPr>
          </a:p>
          <a:p>
            <a:pPr>
              <a:buFont typeface="Monotype Sorts" pitchFamily="2" charset="2"/>
              <a:buNone/>
              <a:defRPr/>
            </a:pPr>
            <a:r>
              <a:rPr lang="en-US" altLang="zh-CN" sz="2400" dirty="0" smtClean="0">
                <a:ea typeface="宋体" pitchFamily="2" charset="-122"/>
              </a:rPr>
              <a:t>Step 3:   </a:t>
            </a:r>
            <a:r>
              <a:rPr lang="zh-CN" altLang="en-US" sz="2400" dirty="0" smtClean="0">
                <a:ea typeface="宋体" pitchFamily="2" charset="-122"/>
              </a:rPr>
              <a:t>一只老鼠有两种状态：</a:t>
            </a:r>
            <a:r>
              <a:rPr lang="zh-CN" altLang="en-US" sz="2400" b="1" dirty="0" smtClean="0">
                <a:solidFill>
                  <a:srgbClr val="FF0000"/>
                </a:solidFill>
                <a:ea typeface="宋体" pitchFamily="2" charset="-122"/>
              </a:rPr>
              <a:t>生</a:t>
            </a:r>
            <a:r>
              <a:rPr lang="zh-CN" altLang="en-US" sz="2400" dirty="0" smtClean="0">
                <a:ea typeface="宋体" pitchFamily="2" charset="-122"/>
              </a:rPr>
              <a:t>、</a:t>
            </a:r>
            <a:r>
              <a:rPr lang="zh-CN" altLang="en-US" sz="2400" b="1" dirty="0" smtClean="0">
                <a:solidFill>
                  <a:srgbClr val="0000CC"/>
                </a:solidFill>
                <a:ea typeface="宋体" pitchFamily="2" charset="-122"/>
              </a:rPr>
              <a:t>死</a:t>
            </a:r>
            <a:r>
              <a:rPr lang="zh-CN" altLang="en-US" sz="2400" dirty="0" smtClean="0">
                <a:ea typeface="宋体" pitchFamily="2" charset="-122"/>
              </a:rPr>
              <a:t>！联想到</a:t>
            </a:r>
            <a:r>
              <a:rPr lang="en-US" altLang="zh-CN" sz="2400" b="1" dirty="0" smtClean="0">
                <a:solidFill>
                  <a:srgbClr val="0000CC"/>
                </a:solidFill>
                <a:ea typeface="宋体" pitchFamily="2" charset="-122"/>
              </a:rPr>
              <a:t>3-8</a:t>
            </a:r>
            <a:r>
              <a:rPr lang="zh-CN" altLang="en-US" sz="2400" b="1" dirty="0" smtClean="0">
                <a:solidFill>
                  <a:srgbClr val="0000CC"/>
                </a:solidFill>
                <a:ea typeface="宋体" pitchFamily="2" charset="-122"/>
              </a:rPr>
              <a:t>译码器电路</a:t>
            </a:r>
            <a:r>
              <a:rPr lang="zh-CN" altLang="en-US" sz="2400" dirty="0" smtClean="0">
                <a:ea typeface="宋体" pitchFamily="2" charset="-122"/>
              </a:rPr>
              <a:t>或</a:t>
            </a:r>
            <a:r>
              <a:rPr lang="zh-CN" altLang="en-US" sz="2400" b="1" dirty="0" smtClean="0">
                <a:solidFill>
                  <a:srgbClr val="C00000"/>
                </a:solidFill>
                <a:ea typeface="宋体" pitchFamily="2" charset="-122"/>
              </a:rPr>
              <a:t>地址总线寻址</a:t>
            </a:r>
            <a:r>
              <a:rPr lang="zh-CN" altLang="en-US" sz="2400" dirty="0" smtClean="0">
                <a:ea typeface="宋体" pitchFamily="2" charset="-122"/>
              </a:rPr>
              <a:t>？</a:t>
            </a:r>
            <a:r>
              <a:rPr lang="zh-CN" altLang="en-US" sz="2400" b="1" dirty="0" smtClean="0">
                <a:solidFill>
                  <a:srgbClr val="FF0000"/>
                </a:solidFill>
                <a:ea typeface="宋体" pitchFamily="2" charset="-122"/>
              </a:rPr>
              <a:t>小规模求解</a:t>
            </a:r>
            <a:r>
              <a:rPr lang="zh-CN" altLang="en-US" sz="2400" b="1" dirty="0">
                <a:solidFill>
                  <a:srgbClr val="FF0000"/>
                </a:solidFill>
                <a:ea typeface="宋体" pitchFamily="2" charset="-122"/>
              </a:rPr>
              <a:t>思路</a:t>
            </a:r>
            <a:r>
              <a:rPr lang="zh-CN" altLang="en-US" sz="2400" b="1" dirty="0" smtClean="0">
                <a:solidFill>
                  <a:srgbClr val="FF0000"/>
                </a:solidFill>
                <a:ea typeface="宋体" pitchFamily="2" charset="-122"/>
              </a:rPr>
              <a:t>！</a:t>
            </a:r>
          </a:p>
        </p:txBody>
      </p:sp>
      <p:sp>
        <p:nvSpPr>
          <p:cNvPr id="6148" name="灯片编号占位符 3"/>
          <p:cNvSpPr>
            <a:spLocks noGrp="1"/>
          </p:cNvSpPr>
          <p:nvPr>
            <p:ph type="sldNum" sz="quarter" idx="12"/>
          </p:nvPr>
        </p:nvSpPr>
        <p:spPr>
          <a:xfrm>
            <a:off x="7061200" y="6426200"/>
            <a:ext cx="1905000" cy="304800"/>
          </a:xfrm>
          <a:prstGeom prst="rect">
            <a:avLst/>
          </a:prstGeom>
          <a:noFill/>
          <a:ln>
            <a:miter lim="800000"/>
            <a:headEnd/>
            <a:tailEnd/>
          </a:ln>
        </p:spPr>
        <p:txBody>
          <a:bodyPr/>
          <a:lstStyle/>
          <a:p>
            <a:r>
              <a:rPr lang="en-US" altLang="zh-CN" smtClean="0">
                <a:ea typeface="宋体" charset="-122"/>
              </a:rPr>
              <a:t>1-</a:t>
            </a:r>
            <a:fld id="{43582B79-4420-4C15-B9A5-67F958E3C1D0}" type="slidenum">
              <a:rPr lang="en-US" altLang="zh-CN" smtClean="0">
                <a:ea typeface="宋体" charset="-122"/>
              </a:rPr>
              <a:pPr/>
              <a:t>12</a:t>
            </a:fld>
            <a:endParaRPr lang="en-US" altLang="zh-CN" smtClean="0">
              <a:ea typeface="宋体" charset="-122"/>
            </a:endParaRPr>
          </a:p>
        </p:txBody>
      </p:sp>
      <p:sp>
        <p:nvSpPr>
          <p:cNvPr id="4" name="矩形 3"/>
          <p:cNvSpPr/>
          <p:nvPr/>
        </p:nvSpPr>
        <p:spPr>
          <a:xfrm>
            <a:off x="3048000" y="4953000"/>
            <a:ext cx="851515" cy="1569660"/>
          </a:xfrm>
          <a:prstGeom prst="rect">
            <a:avLst/>
          </a:prstGeom>
        </p:spPr>
        <p:txBody>
          <a:bodyPr wrap="none">
            <a:spAutoFit/>
          </a:bodyPr>
          <a:lstStyle/>
          <a:p>
            <a:pPr marL="457200" indent="-457200">
              <a:buFont typeface="Arial" panose="020B0604020202020204" pitchFamily="34" charset="0"/>
              <a:buChar char="•"/>
            </a:pPr>
            <a:r>
              <a:rPr lang="en-US" altLang="zh-CN" sz="3200" dirty="0" smtClean="0">
                <a:ea typeface="宋体" pitchFamily="2" charset="-122"/>
              </a:rPr>
              <a:t>  </a:t>
            </a:r>
          </a:p>
          <a:p>
            <a:pPr marL="457200" indent="-457200">
              <a:buFont typeface="Arial" panose="020B0604020202020204" pitchFamily="34" charset="0"/>
              <a:buChar char="•"/>
            </a:pPr>
            <a:r>
              <a:rPr lang="en-US" altLang="zh-CN" sz="3200" dirty="0" smtClean="0">
                <a:ea typeface="宋体" pitchFamily="2" charset="-122"/>
              </a:rPr>
              <a:t> </a:t>
            </a:r>
          </a:p>
          <a:p>
            <a:pPr marL="457200" indent="-457200">
              <a:buFont typeface="Arial" panose="020B0604020202020204" pitchFamily="34" charset="0"/>
              <a:buChar char="•"/>
            </a:pPr>
            <a:r>
              <a:rPr lang="en-US" altLang="zh-CN" sz="3200" dirty="0" smtClean="0">
                <a:ea typeface="宋体" pitchFamily="2" charset="-122"/>
              </a:rPr>
              <a:t> </a:t>
            </a:r>
            <a:endParaRPr lang="zh-CN" altLang="en-US" sz="3200" dirty="0"/>
          </a:p>
        </p:txBody>
      </p:sp>
      <p:sp>
        <p:nvSpPr>
          <p:cNvPr id="6" name="右箭头 5"/>
          <p:cNvSpPr/>
          <p:nvPr/>
        </p:nvSpPr>
        <p:spPr bwMode="auto">
          <a:xfrm>
            <a:off x="3429000" y="5486400"/>
            <a:ext cx="609600" cy="4572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000" b="1" i="0" u="none" strike="noStrike" cap="none" normalizeH="0" baseline="0" smtClean="0">
              <a:ln>
                <a:noFill/>
              </a:ln>
              <a:solidFill>
                <a:schemeClr val="tx1"/>
              </a:solidFill>
              <a:effectLst/>
              <a:latin typeface="Times New Roman" pitchFamily="18" charset="0"/>
            </a:endParaRPr>
          </a:p>
        </p:txBody>
      </p:sp>
      <p:sp>
        <p:nvSpPr>
          <p:cNvPr id="7" name="文本框 6"/>
          <p:cNvSpPr txBox="1"/>
          <p:nvPr/>
        </p:nvSpPr>
        <p:spPr>
          <a:xfrm>
            <a:off x="3962400" y="5181600"/>
            <a:ext cx="2835135" cy="1295400"/>
          </a:xfrm>
          <a:prstGeom prst="rect">
            <a:avLst/>
          </a:prstGeom>
          <a:noFill/>
        </p:spPr>
        <p:txBody>
          <a:bodyPr vert="wordArtVertRtl" wrap="square" rtlCol="0">
            <a:spAutoFit/>
          </a:bodyPr>
          <a:lstStyle/>
          <a:p>
            <a:r>
              <a:rPr lang="en-US" altLang="zh-CN" dirty="0" smtClean="0">
                <a:solidFill>
                  <a:srgbClr val="0000CC"/>
                </a:solidFill>
              </a:rPr>
              <a:t>000</a:t>
            </a:r>
          </a:p>
          <a:p>
            <a:r>
              <a:rPr lang="en-US" altLang="zh-CN" dirty="0" smtClean="0">
                <a:solidFill>
                  <a:srgbClr val="FF0000"/>
                </a:solidFill>
              </a:rPr>
              <a:t>001</a:t>
            </a:r>
          </a:p>
          <a:p>
            <a:r>
              <a:rPr lang="en-US" altLang="zh-CN" dirty="0" smtClean="0">
                <a:solidFill>
                  <a:srgbClr val="0000CC"/>
                </a:solidFill>
              </a:rPr>
              <a:t>010</a:t>
            </a:r>
          </a:p>
          <a:p>
            <a:r>
              <a:rPr lang="en-US" altLang="zh-CN" dirty="0" smtClean="0">
                <a:solidFill>
                  <a:srgbClr val="FF0000"/>
                </a:solidFill>
              </a:rPr>
              <a:t>011</a:t>
            </a:r>
          </a:p>
          <a:p>
            <a:r>
              <a:rPr lang="en-US" altLang="zh-CN" dirty="0" smtClean="0">
                <a:solidFill>
                  <a:srgbClr val="0000CC"/>
                </a:solidFill>
              </a:rPr>
              <a:t>100</a:t>
            </a:r>
          </a:p>
          <a:p>
            <a:r>
              <a:rPr lang="en-US" altLang="zh-CN" dirty="0" smtClean="0">
                <a:solidFill>
                  <a:srgbClr val="FF0000"/>
                </a:solidFill>
              </a:rPr>
              <a:t>101</a:t>
            </a:r>
          </a:p>
          <a:p>
            <a:r>
              <a:rPr lang="en-US" altLang="zh-CN" dirty="0" smtClean="0">
                <a:solidFill>
                  <a:srgbClr val="0000CC"/>
                </a:solidFill>
              </a:rPr>
              <a:t>110</a:t>
            </a:r>
          </a:p>
          <a:p>
            <a:r>
              <a:rPr lang="en-US" altLang="zh-CN" dirty="0" smtClean="0">
                <a:solidFill>
                  <a:srgbClr val="FF0000"/>
                </a:solidFill>
              </a:rPr>
              <a:t>111</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par>
                                <p:cTn id="14"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7772400" cy="1143000"/>
          </a:xfrm>
        </p:spPr>
        <p:txBody>
          <a:bodyPr/>
          <a:lstStyle/>
          <a:p>
            <a:pPr>
              <a:defRPr/>
            </a:pPr>
            <a:r>
              <a:rPr lang="zh-CN" altLang="en-US" dirty="0" smtClean="0">
                <a:ea typeface="宋体" pitchFamily="2" charset="-122"/>
              </a:rPr>
              <a:t>这个问题与算法的关系</a:t>
            </a:r>
          </a:p>
        </p:txBody>
      </p:sp>
      <p:sp>
        <p:nvSpPr>
          <p:cNvPr id="3" name="内容占位符 2"/>
          <p:cNvSpPr>
            <a:spLocks noGrp="1"/>
          </p:cNvSpPr>
          <p:nvPr>
            <p:ph idx="1"/>
          </p:nvPr>
        </p:nvSpPr>
        <p:spPr>
          <a:xfrm>
            <a:off x="609600" y="1447800"/>
            <a:ext cx="8229600" cy="5105400"/>
          </a:xfrm>
        </p:spPr>
        <p:txBody>
          <a:bodyPr/>
          <a:lstStyle/>
          <a:p>
            <a:pPr algn="just">
              <a:defRPr/>
            </a:pPr>
            <a:r>
              <a:rPr lang="zh-CN" altLang="en-US" b="1" dirty="0">
                <a:solidFill>
                  <a:srgbClr val="FF0000"/>
                </a:solidFill>
                <a:ea typeface="宋体" pitchFamily="2" charset="-122"/>
              </a:rPr>
              <a:t>实际</a:t>
            </a:r>
            <a:r>
              <a:rPr lang="zh-CN" altLang="en-US" b="1" dirty="0" smtClean="0">
                <a:solidFill>
                  <a:srgbClr val="FF0000"/>
                </a:solidFill>
                <a:ea typeface="宋体" pitchFamily="2" charset="-122"/>
              </a:rPr>
              <a:t>问题：</a:t>
            </a:r>
            <a:r>
              <a:rPr lang="zh-CN" altLang="en-US" dirty="0" smtClean="0">
                <a:ea typeface="宋体" pitchFamily="2" charset="-122"/>
              </a:rPr>
              <a:t>如何用最少的老鼠检验毒水的瓶子？</a:t>
            </a:r>
            <a:endParaRPr lang="en-US" altLang="zh-CN" dirty="0" smtClean="0">
              <a:ea typeface="宋体" pitchFamily="2" charset="-122"/>
            </a:endParaRPr>
          </a:p>
          <a:p>
            <a:pPr>
              <a:defRPr/>
            </a:pPr>
            <a:r>
              <a:rPr lang="zh-CN" altLang="en-US" dirty="0" smtClean="0">
                <a:ea typeface="宋体" pitchFamily="2" charset="-122"/>
              </a:rPr>
              <a:t>如何把</a:t>
            </a:r>
            <a:r>
              <a:rPr lang="zh-CN" altLang="en-US" b="1" dirty="0" smtClean="0">
                <a:solidFill>
                  <a:srgbClr val="FF0000"/>
                </a:solidFill>
                <a:ea typeface="宋体" pitchFamily="2" charset="-122"/>
              </a:rPr>
              <a:t>大规模</a:t>
            </a:r>
            <a:r>
              <a:rPr lang="zh-CN" altLang="en-US" dirty="0" smtClean="0">
                <a:ea typeface="宋体" pitchFamily="2" charset="-122"/>
              </a:rPr>
              <a:t>转化成</a:t>
            </a:r>
            <a:r>
              <a:rPr lang="zh-CN" altLang="en-US" b="1" dirty="0" smtClean="0">
                <a:solidFill>
                  <a:srgbClr val="FF0000"/>
                </a:solidFill>
                <a:ea typeface="宋体" pitchFamily="2" charset="-122"/>
              </a:rPr>
              <a:t>小规模</a:t>
            </a:r>
            <a:r>
              <a:rPr lang="zh-CN" altLang="en-US" dirty="0" smtClean="0">
                <a:ea typeface="宋体" pitchFamily="2" charset="-122"/>
              </a:rPr>
              <a:t>问题？</a:t>
            </a:r>
            <a:r>
              <a:rPr lang="en-US" altLang="zh-CN" dirty="0" smtClean="0">
                <a:ea typeface="宋体" pitchFamily="2" charset="-122"/>
              </a:rPr>
              <a:t>——</a:t>
            </a:r>
            <a:r>
              <a:rPr lang="zh-CN" altLang="en-US" b="1" dirty="0" smtClean="0">
                <a:solidFill>
                  <a:srgbClr val="FF0000"/>
                </a:solidFill>
                <a:ea typeface="宋体" pitchFamily="2" charset="-122"/>
              </a:rPr>
              <a:t>算法思想</a:t>
            </a:r>
            <a:endParaRPr lang="en-US" altLang="zh-CN" b="1" dirty="0" smtClean="0">
              <a:solidFill>
                <a:srgbClr val="FF0000"/>
              </a:solidFill>
              <a:ea typeface="宋体" pitchFamily="2" charset="-122"/>
            </a:endParaRPr>
          </a:p>
          <a:p>
            <a:pPr>
              <a:defRPr/>
            </a:pPr>
            <a:r>
              <a:rPr lang="zh-CN" altLang="en-US" dirty="0">
                <a:ea typeface="宋体" pitchFamily="2" charset="-122"/>
              </a:rPr>
              <a:t>设计一个算法进行求解！    </a:t>
            </a:r>
            <a:r>
              <a:rPr lang="en-US" altLang="zh-CN" dirty="0">
                <a:ea typeface="宋体" pitchFamily="2" charset="-122"/>
              </a:rPr>
              <a:t>——</a:t>
            </a:r>
            <a:r>
              <a:rPr lang="zh-CN" altLang="en-US" b="1" dirty="0">
                <a:solidFill>
                  <a:srgbClr val="FF0000"/>
                </a:solidFill>
                <a:ea typeface="宋体" pitchFamily="2" charset="-122"/>
              </a:rPr>
              <a:t>算法设计</a:t>
            </a:r>
            <a:endParaRPr lang="en-US" altLang="zh-CN" b="1" dirty="0">
              <a:solidFill>
                <a:srgbClr val="FF0000"/>
              </a:solidFill>
              <a:ea typeface="宋体" pitchFamily="2" charset="-122"/>
            </a:endParaRPr>
          </a:p>
          <a:p>
            <a:pPr>
              <a:defRPr/>
            </a:pPr>
            <a:r>
              <a:rPr lang="zh-CN" altLang="en-US" dirty="0" smtClean="0">
                <a:ea typeface="宋体" pitchFamily="2" charset="-122"/>
              </a:rPr>
              <a:t>这个算法效率如何？            </a:t>
            </a:r>
            <a:r>
              <a:rPr lang="en-US" altLang="zh-CN" dirty="0" smtClean="0">
                <a:ea typeface="宋体" pitchFamily="2" charset="-122"/>
              </a:rPr>
              <a:t>——</a:t>
            </a:r>
            <a:r>
              <a:rPr lang="zh-CN" altLang="en-US" b="1" dirty="0" smtClean="0">
                <a:solidFill>
                  <a:srgbClr val="FF0000"/>
                </a:solidFill>
                <a:ea typeface="宋体" pitchFamily="2" charset="-122"/>
              </a:rPr>
              <a:t>算法分析</a:t>
            </a:r>
            <a:endParaRPr lang="en-US" altLang="zh-CN" b="1" dirty="0" smtClean="0">
              <a:solidFill>
                <a:srgbClr val="FF0000"/>
              </a:solidFill>
              <a:ea typeface="宋体" pitchFamily="2" charset="-122"/>
            </a:endParaRPr>
          </a:p>
          <a:p>
            <a:pPr>
              <a:defRPr/>
            </a:pPr>
            <a:endParaRPr lang="en-US" altLang="zh-CN" dirty="0" smtClean="0">
              <a:ea typeface="宋体" pitchFamily="2" charset="-122"/>
            </a:endParaRPr>
          </a:p>
          <a:p>
            <a:pPr>
              <a:defRPr/>
            </a:pPr>
            <a:r>
              <a:rPr lang="zh-CN" altLang="en-US" dirty="0" smtClean="0">
                <a:ea typeface="宋体" pitchFamily="2" charset="-122"/>
              </a:rPr>
              <a:t>本课程希望你掌握：</a:t>
            </a:r>
            <a:endParaRPr lang="en-US" altLang="zh-CN" dirty="0" smtClean="0">
              <a:ea typeface="宋体" pitchFamily="2" charset="-122"/>
            </a:endParaRPr>
          </a:p>
          <a:p>
            <a:pPr marL="514350" indent="-514350">
              <a:buFont typeface="Wingdings" pitchFamily="2" charset="2"/>
              <a:buChar char="u"/>
              <a:defRPr/>
            </a:pPr>
            <a:r>
              <a:rPr lang="zh-CN" altLang="en-US" dirty="0" smtClean="0">
                <a:ea typeface="宋体" pitchFamily="2" charset="-122"/>
              </a:rPr>
              <a:t>一个问题如何</a:t>
            </a:r>
            <a:r>
              <a:rPr lang="zh-CN" altLang="en-US" b="1" dirty="0" smtClean="0">
                <a:solidFill>
                  <a:srgbClr val="FF0000"/>
                </a:solidFill>
                <a:ea typeface="宋体" pitchFamily="2" charset="-122"/>
              </a:rPr>
              <a:t>利用现有算法</a:t>
            </a:r>
            <a:r>
              <a:rPr lang="zh-CN" altLang="en-US" dirty="0" smtClean="0">
                <a:ea typeface="宋体" pitchFamily="2" charset="-122"/>
              </a:rPr>
              <a:t>求解？</a:t>
            </a:r>
            <a:endParaRPr lang="en-US" altLang="zh-CN" dirty="0" smtClean="0">
              <a:ea typeface="宋体" pitchFamily="2" charset="-122"/>
            </a:endParaRPr>
          </a:p>
          <a:p>
            <a:pPr marL="514350" indent="-514350">
              <a:buFont typeface="Wingdings" pitchFamily="2" charset="2"/>
              <a:buChar char="u"/>
              <a:defRPr/>
            </a:pPr>
            <a:r>
              <a:rPr lang="zh-CN" altLang="en-US" dirty="0" smtClean="0">
                <a:ea typeface="宋体" pitchFamily="2" charset="-122"/>
              </a:rPr>
              <a:t>如何利用已有算法的思想</a:t>
            </a:r>
            <a:r>
              <a:rPr lang="zh-CN" altLang="en-US" b="1" dirty="0" smtClean="0">
                <a:solidFill>
                  <a:srgbClr val="FF0000"/>
                </a:solidFill>
                <a:ea typeface="宋体" pitchFamily="2" charset="-122"/>
              </a:rPr>
              <a:t>创造新算法</a:t>
            </a:r>
            <a:r>
              <a:rPr lang="zh-CN" altLang="en-US" dirty="0" smtClean="0">
                <a:ea typeface="宋体" pitchFamily="2" charset="-122"/>
              </a:rPr>
              <a:t>求解问题？</a:t>
            </a:r>
            <a:endParaRPr lang="en-US" altLang="zh-CN" dirty="0" smtClean="0">
              <a:ea typeface="宋体" pitchFamily="2" charset="-122"/>
            </a:endParaRPr>
          </a:p>
          <a:p>
            <a:pPr marL="514350" indent="-514350">
              <a:buFont typeface="Wingdings" pitchFamily="2" charset="2"/>
              <a:buChar char="u"/>
              <a:defRPr/>
            </a:pPr>
            <a:r>
              <a:rPr lang="zh-CN" altLang="en-US" dirty="0" smtClean="0">
                <a:ea typeface="宋体" pitchFamily="2" charset="-122"/>
              </a:rPr>
              <a:t>对设计好的算法</a:t>
            </a:r>
            <a:r>
              <a:rPr lang="zh-CN" altLang="en-US" b="1" dirty="0" smtClean="0">
                <a:solidFill>
                  <a:srgbClr val="FF0000"/>
                </a:solidFill>
                <a:ea typeface="宋体" pitchFamily="2" charset="-122"/>
              </a:rPr>
              <a:t>如何评价性能</a:t>
            </a:r>
            <a:r>
              <a:rPr lang="zh-CN" altLang="en-US" dirty="0" smtClean="0">
                <a:ea typeface="宋体" pitchFamily="2" charset="-122"/>
              </a:rPr>
              <a:t>？</a:t>
            </a:r>
          </a:p>
        </p:txBody>
      </p:sp>
      <p:sp>
        <p:nvSpPr>
          <p:cNvPr id="7172" name="灯片编号占位符 3"/>
          <p:cNvSpPr>
            <a:spLocks noGrp="1"/>
          </p:cNvSpPr>
          <p:nvPr>
            <p:ph type="sldNum" sz="quarter" idx="12"/>
          </p:nvPr>
        </p:nvSpPr>
        <p:spPr>
          <a:xfrm>
            <a:off x="7061200" y="6426200"/>
            <a:ext cx="1905000" cy="304800"/>
          </a:xfrm>
          <a:prstGeom prst="rect">
            <a:avLst/>
          </a:prstGeom>
          <a:noFill/>
          <a:ln>
            <a:miter lim="800000"/>
            <a:headEnd/>
            <a:tailEnd/>
          </a:ln>
        </p:spPr>
        <p:txBody>
          <a:bodyPr/>
          <a:lstStyle/>
          <a:p>
            <a:r>
              <a:rPr lang="en-US" altLang="zh-CN" smtClean="0">
                <a:ea typeface="宋体" charset="-122"/>
              </a:rPr>
              <a:t>1-</a:t>
            </a:r>
            <a:fld id="{64CD86D9-5DA9-4631-A65A-8BD2884DFAAA}" type="slidenum">
              <a:rPr lang="en-US" altLang="zh-CN" smtClean="0">
                <a:ea typeface="宋体" charset="-122"/>
              </a:rPr>
              <a:pPr/>
              <a:t>13</a:t>
            </a:fld>
            <a:endParaRPr lang="en-US" altLang="zh-CN" smtClean="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wipe(down)">
                                      <p:cBhvr>
                                        <p:cTn id="35" dur="500"/>
                                        <p:tgtEl>
                                          <p:spTgt spid="3">
                                            <p:txEl>
                                              <p:pRg st="7" end="7"/>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wipe(down)">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533400" y="381000"/>
            <a:ext cx="8229600" cy="725488"/>
          </a:xfrm>
        </p:spPr>
        <p:txBody>
          <a:bodyPr/>
          <a:lstStyle/>
          <a:p>
            <a:pPr eaLnBrk="1" hangingPunct="1">
              <a:defRPr/>
            </a:pPr>
            <a:r>
              <a:rPr lang="zh-CN" altLang="en-US" dirty="0" smtClean="0">
                <a:ea typeface="宋体" pitchFamily="2" charset="-122"/>
              </a:rPr>
              <a:t>为什么要学习算法？</a:t>
            </a:r>
          </a:p>
        </p:txBody>
      </p:sp>
      <p:sp>
        <p:nvSpPr>
          <p:cNvPr id="13318" name="Rectangle 3"/>
          <p:cNvSpPr>
            <a:spLocks noGrp="1" noChangeArrowheads="1"/>
          </p:cNvSpPr>
          <p:nvPr>
            <p:ph idx="1"/>
          </p:nvPr>
        </p:nvSpPr>
        <p:spPr>
          <a:xfrm>
            <a:off x="228600" y="1412875"/>
            <a:ext cx="8839199" cy="5597525"/>
          </a:xfrm>
        </p:spPr>
        <p:txBody>
          <a:bodyPr/>
          <a:lstStyle/>
          <a:p>
            <a:pPr eaLnBrk="1" hangingPunct="1">
              <a:defRPr/>
            </a:pPr>
            <a:r>
              <a:rPr lang="zh-CN" altLang="en-US" dirty="0" smtClean="0">
                <a:latin typeface="隶书" pitchFamily="49" charset="-122"/>
                <a:ea typeface="隶书" pitchFamily="49" charset="-122"/>
              </a:rPr>
              <a:t>    受过良好训练的计算机科学家知道怎样处理算法：如何</a:t>
            </a:r>
            <a:r>
              <a:rPr lang="zh-CN" altLang="en-US" dirty="0" smtClean="0">
                <a:solidFill>
                  <a:srgbClr val="FF0000"/>
                </a:solidFill>
                <a:latin typeface="隶书" pitchFamily="49" charset="-122"/>
                <a:ea typeface="隶书" pitchFamily="49" charset="-122"/>
              </a:rPr>
              <a:t>构造</a:t>
            </a:r>
            <a:r>
              <a:rPr lang="zh-CN" altLang="en-US" dirty="0" smtClean="0">
                <a:latin typeface="隶书" pitchFamily="49" charset="-122"/>
                <a:ea typeface="隶书" pitchFamily="49" charset="-122"/>
              </a:rPr>
              <a:t>算法、</a:t>
            </a:r>
            <a:r>
              <a:rPr lang="zh-CN" altLang="en-US" dirty="0" smtClean="0">
                <a:solidFill>
                  <a:srgbClr val="FF0000"/>
                </a:solidFill>
                <a:latin typeface="隶书" pitchFamily="49" charset="-122"/>
                <a:ea typeface="隶书" pitchFamily="49" charset="-122"/>
              </a:rPr>
              <a:t>操作</a:t>
            </a:r>
            <a:r>
              <a:rPr lang="zh-CN" altLang="en-US" dirty="0" smtClean="0">
                <a:latin typeface="隶书" pitchFamily="49" charset="-122"/>
                <a:ea typeface="隶书" pitchFamily="49" charset="-122"/>
              </a:rPr>
              <a:t>算法、</a:t>
            </a:r>
            <a:r>
              <a:rPr lang="zh-CN" altLang="en-US" dirty="0" smtClean="0">
                <a:solidFill>
                  <a:srgbClr val="FF0000"/>
                </a:solidFill>
                <a:latin typeface="隶书" pitchFamily="49" charset="-122"/>
                <a:ea typeface="隶书" pitchFamily="49" charset="-122"/>
              </a:rPr>
              <a:t>理解</a:t>
            </a:r>
            <a:r>
              <a:rPr lang="zh-CN" altLang="en-US" dirty="0" smtClean="0">
                <a:latin typeface="隶书" pitchFamily="49" charset="-122"/>
                <a:ea typeface="隶书" pitchFamily="49" charset="-122"/>
              </a:rPr>
              <a:t>算法及</a:t>
            </a:r>
            <a:r>
              <a:rPr lang="zh-CN" altLang="en-US" dirty="0" smtClean="0">
                <a:solidFill>
                  <a:srgbClr val="FF0000"/>
                </a:solidFill>
                <a:latin typeface="隶书" pitchFamily="49" charset="-122"/>
                <a:ea typeface="隶书" pitchFamily="49" charset="-122"/>
              </a:rPr>
              <a:t>分析</a:t>
            </a:r>
            <a:r>
              <a:rPr lang="zh-CN" altLang="en-US" dirty="0" smtClean="0">
                <a:latin typeface="隶书" pitchFamily="49" charset="-122"/>
                <a:ea typeface="隶书" pitchFamily="49" charset="-122"/>
              </a:rPr>
              <a:t>算法</a:t>
            </a:r>
            <a:r>
              <a:rPr lang="en-US" altLang="zh-CN" dirty="0" smtClean="0">
                <a:latin typeface="隶书" pitchFamily="49" charset="-122"/>
                <a:ea typeface="隶书" pitchFamily="49" charset="-122"/>
              </a:rPr>
              <a:t>——</a:t>
            </a:r>
          </a:p>
          <a:p>
            <a:pPr eaLnBrk="1" hangingPunct="1">
              <a:defRPr/>
            </a:pPr>
            <a:r>
              <a:rPr lang="zh-CN" altLang="en-US" dirty="0" smtClean="0">
                <a:solidFill>
                  <a:srgbClr val="FF0000"/>
                </a:solidFill>
                <a:latin typeface="隶书" pitchFamily="49" charset="-122"/>
                <a:ea typeface="隶书" pitchFamily="49" charset="-122"/>
              </a:rPr>
              <a:t>算法是计算机科学的基石</a:t>
            </a:r>
            <a:r>
              <a:rPr lang="zh-CN" altLang="en-US" dirty="0" smtClean="0">
                <a:latin typeface="隶书" pitchFamily="49" charset="-122"/>
                <a:ea typeface="隶书" pitchFamily="49" charset="-122"/>
              </a:rPr>
              <a:t>；</a:t>
            </a:r>
            <a:endParaRPr lang="en-US" altLang="zh-CN" dirty="0" smtClean="0">
              <a:latin typeface="隶书" pitchFamily="49" charset="-122"/>
              <a:ea typeface="隶书" pitchFamily="49" charset="-122"/>
            </a:endParaRPr>
          </a:p>
          <a:p>
            <a:pPr eaLnBrk="1" hangingPunct="1">
              <a:defRPr/>
            </a:pPr>
            <a:r>
              <a:rPr lang="zh-CN" altLang="en-US" dirty="0" smtClean="0">
                <a:latin typeface="隶书" pitchFamily="49" charset="-122"/>
                <a:ea typeface="隶书" pitchFamily="49" charset="-122"/>
              </a:rPr>
              <a:t>程序</a:t>
            </a:r>
            <a:r>
              <a:rPr lang="en-US" altLang="zh-CN" dirty="0" smtClean="0">
                <a:latin typeface="隶书" pitchFamily="49" charset="-122"/>
                <a:ea typeface="隶书" pitchFamily="49" charset="-122"/>
              </a:rPr>
              <a:t>=</a:t>
            </a:r>
            <a:r>
              <a:rPr lang="zh-CN" altLang="en-US" b="1" dirty="0" smtClean="0">
                <a:solidFill>
                  <a:srgbClr val="0070C0"/>
                </a:solidFill>
                <a:latin typeface="隶书" pitchFamily="49" charset="-122"/>
                <a:ea typeface="隶书" pitchFamily="49" charset="-122"/>
              </a:rPr>
              <a:t>数据结构</a:t>
            </a:r>
            <a:r>
              <a:rPr lang="en-US" altLang="zh-CN" sz="2400" b="1" dirty="0" smtClean="0">
                <a:solidFill>
                  <a:srgbClr val="CC3300"/>
                </a:solidFill>
                <a:effectLst>
                  <a:outerShdw blurRad="38100" dist="38100" dir="2700000" algn="tl">
                    <a:srgbClr val="000000">
                      <a:alpha val="43137"/>
                    </a:srgbClr>
                  </a:outerShdw>
                </a:effectLst>
                <a:latin typeface="隶书" pitchFamily="49" charset="-122"/>
                <a:ea typeface="隶书" pitchFamily="49" charset="-122"/>
              </a:rPr>
              <a:t>+</a:t>
            </a:r>
            <a:r>
              <a:rPr lang="zh-CN" altLang="en-US" b="1" dirty="0" smtClean="0">
                <a:solidFill>
                  <a:srgbClr val="FF0000"/>
                </a:solidFill>
                <a:latin typeface="隶书" pitchFamily="49" charset="-122"/>
                <a:ea typeface="隶书" pitchFamily="49" charset="-122"/>
              </a:rPr>
              <a:t>算法</a:t>
            </a:r>
            <a:r>
              <a:rPr lang="en-US" altLang="zh-CN" dirty="0" smtClean="0">
                <a:latin typeface="隶书" pitchFamily="49" charset="-122"/>
                <a:ea typeface="隶书" pitchFamily="49" charset="-122"/>
              </a:rPr>
              <a:t>——</a:t>
            </a:r>
            <a:r>
              <a:rPr lang="zh-CN" altLang="en-US" dirty="0" smtClean="0">
                <a:latin typeface="隶书" pitchFamily="49" charset="-122"/>
                <a:ea typeface="隶书" pitchFamily="49" charset="-122"/>
              </a:rPr>
              <a:t>算法是解决实际问题的手段</a:t>
            </a:r>
          </a:p>
          <a:p>
            <a:pPr eaLnBrk="1" hangingPunct="1">
              <a:defRPr/>
            </a:pPr>
            <a:r>
              <a:rPr lang="zh-CN" altLang="en-US" dirty="0" smtClean="0">
                <a:ea typeface="宋体" pitchFamily="2" charset="-122"/>
              </a:rPr>
              <a:t>将知识表示为</a:t>
            </a:r>
            <a:r>
              <a:rPr lang="zh-CN" altLang="en-US" b="1" dirty="0" smtClean="0">
                <a:solidFill>
                  <a:srgbClr val="CC3300"/>
                </a:solidFill>
                <a:ea typeface="宋体" pitchFamily="2" charset="-122"/>
              </a:rPr>
              <a:t>算法</a:t>
            </a:r>
            <a:r>
              <a:rPr lang="zh-CN" altLang="en-US" dirty="0" smtClean="0">
                <a:ea typeface="宋体" pitchFamily="2" charset="-122"/>
              </a:rPr>
              <a:t>，把知识教授给计算机。</a:t>
            </a:r>
          </a:p>
        </p:txBody>
      </p:sp>
      <p:sp>
        <p:nvSpPr>
          <p:cNvPr id="10242" name="灯片编号占位符 5"/>
          <p:cNvSpPr>
            <a:spLocks noGrp="1"/>
          </p:cNvSpPr>
          <p:nvPr>
            <p:ph type="sldNum" sz="quarter" idx="12"/>
          </p:nvPr>
        </p:nvSpPr>
        <p:spPr>
          <a:xfrm>
            <a:off x="8215313" y="6356350"/>
            <a:ext cx="471487" cy="457200"/>
          </a:xfrm>
          <a:prstGeom prst="rect">
            <a:avLst/>
          </a:prstGeom>
          <a:noFill/>
          <a:ln>
            <a:miter lim="800000"/>
            <a:headEnd/>
            <a:tailEnd/>
          </a:ln>
        </p:spPr>
        <p:txBody>
          <a:bodyPr/>
          <a:lstStyle/>
          <a:p>
            <a:pPr algn="l" eaLnBrk="1" hangingPunct="1"/>
            <a:fld id="{C03F1D45-C650-4B57-B417-1A26BB1AC73F}" type="slidenum">
              <a:rPr lang="en-US" altLang="zh-CN" smtClean="0">
                <a:latin typeface="Arial" charset="0"/>
                <a:ea typeface="宋体" charset="-122"/>
              </a:rPr>
              <a:pPr algn="l" eaLnBrk="1" hangingPunct="1"/>
              <a:t>14</a:t>
            </a:fld>
            <a:endParaRPr lang="en-US" altLang="zh-CN" smtClean="0">
              <a:latin typeface="Arial" charset="0"/>
              <a:ea typeface="宋体" charset="-122"/>
            </a:endParaRPr>
          </a:p>
        </p:txBody>
      </p:sp>
      <p:sp>
        <p:nvSpPr>
          <p:cNvPr id="13319" name="Text Box 4"/>
          <p:cNvSpPr txBox="1">
            <a:spLocks noChangeArrowheads="1"/>
          </p:cNvSpPr>
          <p:nvPr/>
        </p:nvSpPr>
        <p:spPr bwMode="auto">
          <a:xfrm>
            <a:off x="5181600" y="4191000"/>
            <a:ext cx="3581400" cy="1384995"/>
          </a:xfrm>
          <a:prstGeom prst="rect">
            <a:avLst/>
          </a:prstGeom>
          <a:noFill/>
          <a:ln w="9525">
            <a:noFill/>
            <a:miter lim="800000"/>
            <a:headEnd/>
            <a:tailEnd/>
          </a:ln>
        </p:spPr>
        <p:txBody>
          <a:bodyPr wrap="square">
            <a:spAutoFit/>
          </a:bodyPr>
          <a:lstStyle/>
          <a:p>
            <a:pPr eaLnBrk="1" hangingPunct="1"/>
            <a:r>
              <a:rPr lang="zh-CN" altLang="en-US" sz="2800" dirty="0">
                <a:solidFill>
                  <a:srgbClr val="FF3300"/>
                </a:solidFill>
                <a:latin typeface="Arial" charset="0"/>
                <a:ea typeface="隶书" pitchFamily="49" charset="-122"/>
              </a:rPr>
              <a:t>一个人只有把知识教给“计算机”，才能“真正”掌握它。</a:t>
            </a:r>
          </a:p>
        </p:txBody>
      </p:sp>
      <p:sp>
        <p:nvSpPr>
          <p:cNvPr id="13323" name="Rectangle 11"/>
          <p:cNvSpPr>
            <a:spLocks noChangeArrowheads="1"/>
          </p:cNvSpPr>
          <p:nvPr/>
        </p:nvSpPr>
        <p:spPr bwMode="auto">
          <a:xfrm>
            <a:off x="304800" y="4419600"/>
            <a:ext cx="4113213" cy="519113"/>
          </a:xfrm>
          <a:prstGeom prst="rect">
            <a:avLst/>
          </a:prstGeom>
          <a:solidFill>
            <a:schemeClr val="accent6">
              <a:lumMod val="75000"/>
            </a:schemeClr>
          </a:solidFill>
          <a:ln w="9525">
            <a:noFill/>
            <a:miter lim="800000"/>
            <a:headEnd/>
            <a:tailEnd/>
          </a:ln>
        </p:spPr>
        <p:txBody>
          <a:bodyPr wrap="none">
            <a:spAutoFit/>
          </a:bodyPr>
          <a:lstStyle/>
          <a:p>
            <a:pPr eaLnBrk="1" hangingPunct="1"/>
            <a:r>
              <a:rPr lang="zh-CN" altLang="en-US" sz="2800" b="1" dirty="0">
                <a:solidFill>
                  <a:srgbClr val="FFFF00"/>
                </a:solidFill>
                <a:latin typeface="Arial" charset="0"/>
                <a:ea typeface="黑体" pitchFamily="49" charset="-122"/>
              </a:rPr>
              <a:t>授人以鱼，不如授人以渔</a:t>
            </a:r>
          </a:p>
        </p:txBody>
      </p:sp>
      <p:pic>
        <p:nvPicPr>
          <p:cNvPr id="189442" name="Picture 2" descr="https://timgsa.baidu.com/timg?image&amp;quality=80&amp;size=b9999_10000&amp;sec=1551801270092&amp;di=eed7dc6d196d310c88fe72f12354cf0f&amp;imgtype=0&amp;src=http%3A%2F%2Fs3.sinaimg.cn%2Fmw690%2F006cdbbEgy6V5Q08BwK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962400"/>
            <a:ext cx="4956747" cy="2362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2971800" y="457200"/>
            <a:ext cx="244810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defRPr/>
            </a:pPr>
            <a:r>
              <a:rPr lang="zh-CN" altLang="en-US" sz="4400" dirty="0">
                <a:solidFill>
                  <a:schemeClr val="tx2"/>
                </a:solidFill>
                <a:latin typeface="+mj-lt"/>
                <a:ea typeface="宋体" pitchFamily="2" charset="-122"/>
                <a:cs typeface="+mj-cs"/>
              </a:rPr>
              <a:t>人工智能</a:t>
            </a:r>
            <a:endParaRPr lang="en-US" altLang="zh-TW" sz="4400" dirty="0">
              <a:solidFill>
                <a:schemeClr val="tx2"/>
              </a:solidFill>
              <a:latin typeface="+mj-lt"/>
              <a:ea typeface="宋体" pitchFamily="2" charset="-122"/>
              <a:cs typeface="+mj-cs"/>
            </a:endParaRPr>
          </a:p>
        </p:txBody>
      </p:sp>
      <p:sp>
        <p:nvSpPr>
          <p:cNvPr id="4099" name="Text Box 7"/>
          <p:cNvSpPr txBox="1">
            <a:spLocks noChangeArrowheads="1"/>
          </p:cNvSpPr>
          <p:nvPr/>
        </p:nvSpPr>
        <p:spPr bwMode="auto">
          <a:xfrm>
            <a:off x="0" y="4876800"/>
            <a:ext cx="6248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en-US" altLang="zh-TW" sz="2400" b="1" dirty="0" err="1" smtClean="0">
                <a:solidFill>
                  <a:srgbClr val="800080"/>
                </a:solidFill>
                <a:ea typeface="新細明體" panose="02020500000000000000" pitchFamily="18" charset="-120"/>
              </a:rPr>
              <a:t>AlphaGo</a:t>
            </a:r>
            <a:r>
              <a:rPr lang="zh-CN" altLang="en-US" sz="2400" b="1" dirty="0" smtClean="0">
                <a:solidFill>
                  <a:srgbClr val="800080"/>
                </a:solidFill>
                <a:ea typeface="新細明體" panose="02020500000000000000" pitchFamily="18" charset="-120"/>
              </a:rPr>
              <a:t>：</a:t>
            </a:r>
            <a:endParaRPr lang="en-US" altLang="zh-CN" sz="2400" b="1" dirty="0" smtClean="0">
              <a:solidFill>
                <a:srgbClr val="800080"/>
              </a:solidFill>
              <a:ea typeface="新細明體" panose="02020500000000000000" pitchFamily="18" charset="-120"/>
            </a:endParaRPr>
          </a:p>
          <a:p>
            <a:pPr eaLnBrk="1" hangingPunct="1"/>
            <a:r>
              <a:rPr lang="en-US" altLang="zh-CN" sz="2400" dirty="0">
                <a:solidFill>
                  <a:srgbClr val="800080"/>
                </a:solidFill>
                <a:latin typeface="Times New Roman" pitchFamily="18" charset="0"/>
                <a:ea typeface="新細明體" panose="02020500000000000000" pitchFamily="18" charset="-120"/>
              </a:rPr>
              <a:t> </a:t>
            </a:r>
            <a:r>
              <a:rPr lang="en-US" altLang="zh-CN" sz="2400" dirty="0" smtClean="0">
                <a:solidFill>
                  <a:srgbClr val="800080"/>
                </a:solidFill>
                <a:latin typeface="Times New Roman" pitchFamily="18" charset="0"/>
                <a:ea typeface="新細明體" panose="02020500000000000000" pitchFamily="18" charset="-120"/>
              </a:rPr>
              <a:t>          </a:t>
            </a:r>
            <a:r>
              <a:rPr lang="zh-CN" altLang="en-US" sz="2400" b="0" dirty="0" smtClean="0">
                <a:latin typeface="Times New Roman" pitchFamily="18" charset="0"/>
              </a:rPr>
              <a:t>蒙特卡洛</a:t>
            </a:r>
            <a:r>
              <a:rPr lang="zh-CN" altLang="en-US" sz="2400" b="0" dirty="0">
                <a:latin typeface="Times New Roman" pitchFamily="18" charset="0"/>
              </a:rPr>
              <a:t>搜索</a:t>
            </a:r>
            <a:r>
              <a:rPr lang="zh-CN" altLang="en-US" sz="2400" dirty="0" smtClean="0">
                <a:solidFill>
                  <a:srgbClr val="FF0000"/>
                </a:solidFill>
                <a:latin typeface="宋体" panose="02010600030101010101" pitchFamily="2" charset="-122"/>
                <a:ea typeface="宋体" panose="02010600030101010101" pitchFamily="2" charset="-122"/>
              </a:rPr>
              <a:t>算法</a:t>
            </a:r>
            <a:r>
              <a:rPr lang="en-US" altLang="zh-CN" sz="2400" dirty="0" smtClean="0">
                <a:solidFill>
                  <a:srgbClr val="002060"/>
                </a:solidFill>
                <a:latin typeface="宋体" panose="02010600030101010101" pitchFamily="2" charset="-122"/>
                <a:ea typeface="宋体" panose="02010600030101010101" pitchFamily="2" charset="-122"/>
              </a:rPr>
              <a:t>+</a:t>
            </a:r>
            <a:r>
              <a:rPr lang="zh-CN" altLang="en-US" sz="2400" dirty="0" smtClean="0">
                <a:solidFill>
                  <a:srgbClr val="0000CC"/>
                </a:solidFill>
                <a:latin typeface="宋体" panose="02010600030101010101" pitchFamily="2" charset="-122"/>
                <a:ea typeface="宋体" panose="02010600030101010101" pitchFamily="2" charset="-122"/>
              </a:rPr>
              <a:t>神经网络</a:t>
            </a:r>
            <a:r>
              <a:rPr lang="en-US" altLang="zh-TW" sz="2400" b="1" dirty="0" smtClean="0">
                <a:solidFill>
                  <a:srgbClr val="006600"/>
                </a:solidFill>
                <a:ea typeface="新細明體" panose="02020500000000000000" pitchFamily="18" charset="-120"/>
              </a:rPr>
              <a:t> </a:t>
            </a:r>
          </a:p>
          <a:p>
            <a:pPr eaLnBrk="1" hangingPunct="1"/>
            <a:r>
              <a:rPr lang="en-US" altLang="zh-TW" sz="2400" dirty="0">
                <a:solidFill>
                  <a:srgbClr val="006600"/>
                </a:solidFill>
                <a:ea typeface="新細明體" panose="02020500000000000000" pitchFamily="18" charset="-120"/>
              </a:rPr>
              <a:t> </a:t>
            </a:r>
            <a:r>
              <a:rPr lang="en-US" altLang="zh-TW" sz="2400" dirty="0" smtClean="0">
                <a:solidFill>
                  <a:srgbClr val="006600"/>
                </a:solidFill>
                <a:ea typeface="新細明體" panose="02020500000000000000" pitchFamily="18" charset="-120"/>
              </a:rPr>
              <a:t>                    </a:t>
            </a:r>
            <a:r>
              <a:rPr lang="en-US" altLang="zh-TW" sz="2400" b="1" dirty="0" smtClean="0">
                <a:solidFill>
                  <a:srgbClr val="006600"/>
                </a:solidFill>
                <a:ea typeface="新細明體" panose="02020500000000000000" pitchFamily="18" charset="-120"/>
              </a:rPr>
              <a:t>15 March 2016</a:t>
            </a:r>
            <a:endParaRPr lang="en-US" altLang="zh-TW" sz="2400" b="1" dirty="0">
              <a:solidFill>
                <a:srgbClr val="006600"/>
              </a:solidFill>
              <a:ea typeface="新細明體" panose="02020500000000000000" pitchFamily="18" charset="-120"/>
            </a:endParaRPr>
          </a:p>
        </p:txBody>
      </p:sp>
      <p:pic>
        <p:nvPicPr>
          <p:cNvPr id="4100" name="Picture 8" descr="AlphaGo-Lee-Sedol-Aja-Huang-550x36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447800"/>
            <a:ext cx="4691479" cy="3121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10" descr="Alphago_logo_Reversed.svg.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1371600"/>
            <a:ext cx="2168129"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Text Box 7"/>
          <p:cNvSpPr txBox="1">
            <a:spLocks noChangeArrowheads="1"/>
          </p:cNvSpPr>
          <p:nvPr/>
        </p:nvSpPr>
        <p:spPr bwMode="auto">
          <a:xfrm>
            <a:off x="6248400" y="1828800"/>
            <a:ext cx="1943100" cy="1038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en-US" altLang="zh-TW" sz="2400" b="1" dirty="0">
                <a:solidFill>
                  <a:srgbClr val="3333CC"/>
                </a:solidFill>
                <a:ea typeface="新細明體" panose="02020500000000000000" pitchFamily="18" charset="-120"/>
              </a:rPr>
              <a:t>Vs</a:t>
            </a:r>
          </a:p>
          <a:p>
            <a:pPr algn="ctr" eaLnBrk="1" hangingPunct="1"/>
            <a:r>
              <a:rPr lang="en-US" altLang="zh-TW" sz="2400" b="1" dirty="0">
                <a:solidFill>
                  <a:srgbClr val="800080"/>
                </a:solidFill>
                <a:ea typeface="新細明體" panose="02020500000000000000" pitchFamily="18" charset="-120"/>
              </a:rPr>
              <a:t>Lee </a:t>
            </a:r>
            <a:r>
              <a:rPr lang="en-US" altLang="zh-TW" sz="2400" b="1" dirty="0" err="1">
                <a:solidFill>
                  <a:srgbClr val="800080"/>
                </a:solidFill>
                <a:ea typeface="新細明體" panose="02020500000000000000" pitchFamily="18" charset="-120"/>
              </a:rPr>
              <a:t>Sedol</a:t>
            </a:r>
            <a:endParaRPr lang="en-US" altLang="zh-TW" sz="2400" b="1" dirty="0">
              <a:solidFill>
                <a:srgbClr val="800080"/>
              </a:solidFill>
              <a:ea typeface="新細明體" panose="02020500000000000000" pitchFamily="18" charset="-120"/>
            </a:endParaRPr>
          </a:p>
          <a:p>
            <a:pPr algn="ctr" eaLnBrk="1" hangingPunct="1"/>
            <a:r>
              <a:rPr lang="zh-TW" altLang="en-US" sz="1350" b="1" dirty="0">
                <a:ea typeface="新細明體" panose="02020500000000000000" pitchFamily="18" charset="-120"/>
              </a:rPr>
              <a:t>李世石</a:t>
            </a:r>
            <a:endParaRPr lang="en-US" altLang="zh-TW" sz="1350" b="1" dirty="0">
              <a:solidFill>
                <a:srgbClr val="800080"/>
              </a:solidFill>
              <a:ea typeface="新細明體" panose="02020500000000000000" pitchFamily="18" charset="-120"/>
            </a:endParaRPr>
          </a:p>
        </p:txBody>
      </p:sp>
      <p:sp>
        <p:nvSpPr>
          <p:cNvPr id="4104" name="Text Box 7"/>
          <p:cNvSpPr txBox="1">
            <a:spLocks noChangeArrowheads="1"/>
          </p:cNvSpPr>
          <p:nvPr/>
        </p:nvSpPr>
        <p:spPr bwMode="auto">
          <a:xfrm>
            <a:off x="3733800" y="3657600"/>
            <a:ext cx="12001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zh-TW" altLang="en-US" sz="1350" b="1" dirty="0">
                <a:solidFill>
                  <a:srgbClr val="FFFF00"/>
                </a:solidFill>
                <a:ea typeface="新細明體" panose="02020500000000000000" pitchFamily="18" charset="-120"/>
              </a:rPr>
              <a:t>李世石</a:t>
            </a:r>
            <a:endParaRPr lang="en-US" altLang="zh-TW" sz="1350" b="1" dirty="0">
              <a:solidFill>
                <a:srgbClr val="FFFF00"/>
              </a:solidFill>
              <a:ea typeface="新細明體" panose="02020500000000000000" pitchFamily="18" charset="-120"/>
            </a:endParaRPr>
          </a:p>
        </p:txBody>
      </p:sp>
      <p:sp>
        <p:nvSpPr>
          <p:cNvPr id="4105" name="Text Box 7"/>
          <p:cNvSpPr txBox="1">
            <a:spLocks noChangeArrowheads="1"/>
          </p:cNvSpPr>
          <p:nvPr/>
        </p:nvSpPr>
        <p:spPr bwMode="auto">
          <a:xfrm>
            <a:off x="1447800" y="3657600"/>
            <a:ext cx="16573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zh-TW" altLang="en-US" sz="1350" b="1" dirty="0">
                <a:solidFill>
                  <a:srgbClr val="FFFF00"/>
                </a:solidFill>
                <a:ea typeface="新細明體" panose="02020500000000000000" pitchFamily="18" charset="-120"/>
              </a:rPr>
              <a:t>黃士</a:t>
            </a:r>
            <a:r>
              <a:rPr lang="zh-CN" altLang="en-US" sz="1350" b="1" dirty="0">
                <a:solidFill>
                  <a:srgbClr val="FFFF00"/>
                </a:solidFill>
                <a:ea typeface="新細明體" panose="02020500000000000000" pitchFamily="18" charset="-120"/>
              </a:rPr>
              <a:t>杰</a:t>
            </a:r>
            <a:endParaRPr lang="en-US" altLang="zh-TW" sz="1350" b="1" dirty="0">
              <a:solidFill>
                <a:srgbClr val="FFFF00"/>
              </a:solidFill>
              <a:ea typeface="新細明體" panose="02020500000000000000" pitchFamily="18" charset="-120"/>
            </a:endParaRPr>
          </a:p>
        </p:txBody>
      </p:sp>
      <p:sp>
        <p:nvSpPr>
          <p:cNvPr id="4106" name="Text Box 7"/>
          <p:cNvSpPr txBox="1">
            <a:spLocks noChangeArrowheads="1"/>
          </p:cNvSpPr>
          <p:nvPr/>
        </p:nvSpPr>
        <p:spPr bwMode="auto">
          <a:xfrm>
            <a:off x="2133600" y="4572000"/>
            <a:ext cx="2628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n-US" altLang="zh-TW" sz="1800" b="1" dirty="0" err="1">
                <a:solidFill>
                  <a:srgbClr val="FF0000"/>
                </a:solidFill>
                <a:ea typeface="新細明體" panose="02020500000000000000" pitchFamily="18" charset="-120"/>
              </a:rPr>
              <a:t>AlphaGo</a:t>
            </a:r>
            <a:r>
              <a:rPr lang="en-US" altLang="zh-TW" sz="1800" b="1" dirty="0">
                <a:solidFill>
                  <a:srgbClr val="FF0000"/>
                </a:solidFill>
                <a:ea typeface="新細明體" panose="02020500000000000000" pitchFamily="18" charset="-120"/>
              </a:rPr>
              <a:t>   4-1  </a:t>
            </a:r>
            <a:r>
              <a:rPr lang="zh-CN" altLang="en-US" sz="1800" b="1" dirty="0">
                <a:solidFill>
                  <a:srgbClr val="FF0000"/>
                </a:solidFill>
                <a:ea typeface="新細明體" panose="02020500000000000000" pitchFamily="18" charset="-120"/>
              </a:rPr>
              <a:t>赢</a:t>
            </a:r>
            <a:r>
              <a:rPr lang="en-US" altLang="zh-TW" sz="1800" b="1" dirty="0">
                <a:solidFill>
                  <a:srgbClr val="FF0000"/>
                </a:solidFill>
                <a:ea typeface="新細明體" panose="02020500000000000000" pitchFamily="18" charset="-120"/>
              </a:rPr>
              <a:t> </a:t>
            </a:r>
          </a:p>
        </p:txBody>
      </p:sp>
      <p:pic>
        <p:nvPicPr>
          <p:cNvPr id="1026" name="Picture 2" descr="https://timgsa.baidu.com/timg?image&amp;quality=80&amp;size=b9999_10000&amp;sec=1565418402506&amp;di=61e96b3235def1d2725c976cdc1c8c2d&amp;imgtype=0&amp;src=http%3A%2F%2Fn.sinaimg.cn%2Fsports%2Fcrawl%2F208%2Fw550h458%2F20180920%2FNcX0-hikxxna4059316.jpg"/>
          <p:cNvPicPr>
            <a:picLocks noChangeAspect="1" noChangeArrowheads="1"/>
          </p:cNvPicPr>
          <p:nvPr/>
        </p:nvPicPr>
        <p:blipFill rotWithShape="1">
          <a:blip r:embed="rId5">
            <a:extLst>
              <a:ext uri="{28A0092B-C50C-407E-A947-70E740481C1C}">
                <a14:useLocalDpi xmlns:a14="http://schemas.microsoft.com/office/drawing/2010/main" val="0"/>
              </a:ext>
            </a:extLst>
          </a:blip>
          <a:srcRect l="8655" r="8248"/>
          <a:stretch/>
        </p:blipFill>
        <p:spPr bwMode="auto">
          <a:xfrm>
            <a:off x="5874371" y="3124200"/>
            <a:ext cx="3269629" cy="327660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454463" y="5029200"/>
            <a:ext cx="1054722" cy="769441"/>
          </a:xfrm>
          <a:prstGeom prst="rect">
            <a:avLst/>
          </a:prstGeom>
          <a:noFill/>
        </p:spPr>
        <p:txBody>
          <a:bodyPr wrap="square" rtlCol="0">
            <a:spAutoFit/>
          </a:bodyPr>
          <a:lstStyle/>
          <a:p>
            <a:r>
              <a:rPr lang="en-US" altLang="zh-CN" sz="4400" b="1" dirty="0">
                <a:solidFill>
                  <a:srgbClr val="00B050"/>
                </a:solidFill>
              </a:rPr>
              <a:t>3</a:t>
            </a:r>
            <a:r>
              <a:rPr lang="en-US" altLang="zh-CN" sz="4400" b="1" baseline="30000" dirty="0">
                <a:solidFill>
                  <a:srgbClr val="FF0000"/>
                </a:solidFill>
              </a:rPr>
              <a:t>361</a:t>
            </a:r>
            <a:endParaRPr lang="zh-CN" altLang="en-US" sz="4400" b="1" dirty="0">
              <a:solidFill>
                <a:srgbClr val="FF0000"/>
              </a:solidFill>
            </a:endParaRPr>
          </a:p>
        </p:txBody>
      </p:sp>
      <p:sp>
        <p:nvSpPr>
          <p:cNvPr id="4" name="文本框 3"/>
          <p:cNvSpPr txBox="1"/>
          <p:nvPr/>
        </p:nvSpPr>
        <p:spPr>
          <a:xfrm>
            <a:off x="1371600" y="5943600"/>
            <a:ext cx="4495800" cy="461665"/>
          </a:xfrm>
          <a:prstGeom prst="rect">
            <a:avLst/>
          </a:prstGeom>
          <a:noFill/>
        </p:spPr>
        <p:txBody>
          <a:bodyPr wrap="square" rtlCol="0">
            <a:spAutoFit/>
          </a:bodyPr>
          <a:lstStyle/>
          <a:p>
            <a:r>
              <a:rPr lang="zh-CN" altLang="en-US" sz="2400" b="1" dirty="0">
                <a:solidFill>
                  <a:srgbClr val="00B050"/>
                </a:solidFill>
              </a:rPr>
              <a:t>非常非常大的数</a:t>
            </a:r>
            <a:r>
              <a:rPr lang="en-US" altLang="zh-CN" sz="2400" dirty="0"/>
              <a:t>1.74*</a:t>
            </a:r>
            <a:r>
              <a:rPr lang="en-US" altLang="zh-CN" sz="2400" b="1" dirty="0">
                <a:solidFill>
                  <a:srgbClr val="00B050"/>
                </a:solidFill>
              </a:rPr>
              <a:t>10</a:t>
            </a:r>
            <a:r>
              <a:rPr lang="en-US" altLang="zh-CN" sz="2400" b="1" baseline="30000" dirty="0">
                <a:solidFill>
                  <a:srgbClr val="FF0000"/>
                </a:solidFill>
              </a:rPr>
              <a:t>172</a:t>
            </a:r>
            <a:r>
              <a:rPr lang="zh-CN" altLang="en-US" sz="2400" dirty="0"/>
              <a:t>！</a:t>
            </a:r>
          </a:p>
        </p:txBody>
      </p:sp>
    </p:spTree>
    <p:extLst>
      <p:ext uri="{BB962C8B-B14F-4D97-AF65-F5344CB8AC3E}">
        <p14:creationId xmlns:p14="http://schemas.microsoft.com/office/powerpoint/2010/main" val="3181493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ttps://timgsa.baidu.com/timg?image&amp;quality=80&amp;size=b9999_10000&amp;sec=1565418402506&amp;di=61e96b3235def1d2725c976cdc1c8c2d&amp;imgtype=0&amp;src=http%3A%2F%2Fn.sinaimg.cn%2Fsports%2Fcrawl%2F208%2Fw550h458%2F20180920%2FNcX0-hikxxna4059316.jpg"/>
          <p:cNvPicPr>
            <a:picLocks noChangeAspect="1" noChangeArrowheads="1"/>
          </p:cNvPicPr>
          <p:nvPr/>
        </p:nvPicPr>
        <p:blipFill rotWithShape="1">
          <a:blip r:embed="rId2">
            <a:extLst>
              <a:ext uri="{28A0092B-C50C-407E-A947-70E740481C1C}">
                <a14:useLocalDpi xmlns:a14="http://schemas.microsoft.com/office/drawing/2010/main" val="0"/>
              </a:ext>
            </a:extLst>
          </a:blip>
          <a:srcRect l="8655" r="8248"/>
          <a:stretch/>
        </p:blipFill>
        <p:spPr bwMode="auto">
          <a:xfrm>
            <a:off x="6613534" y="1751479"/>
            <a:ext cx="2408612" cy="241374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7086600" y="4114800"/>
            <a:ext cx="1094456" cy="707886"/>
          </a:xfrm>
          <a:prstGeom prst="rect">
            <a:avLst/>
          </a:prstGeom>
          <a:noFill/>
        </p:spPr>
        <p:txBody>
          <a:bodyPr wrap="square" rtlCol="0">
            <a:spAutoFit/>
          </a:bodyPr>
          <a:lstStyle/>
          <a:p>
            <a:r>
              <a:rPr lang="en-US" altLang="zh-CN" sz="4000" dirty="0">
                <a:solidFill>
                  <a:srgbClr val="00B050"/>
                </a:solidFill>
              </a:rPr>
              <a:t>3</a:t>
            </a:r>
            <a:r>
              <a:rPr lang="en-US" altLang="zh-CN" sz="4000" baseline="30000" dirty="0">
                <a:solidFill>
                  <a:srgbClr val="FF0000"/>
                </a:solidFill>
              </a:rPr>
              <a:t>361</a:t>
            </a:r>
            <a:endParaRPr lang="zh-CN" altLang="en-US" sz="4000" dirty="0">
              <a:solidFill>
                <a:srgbClr val="FF0000"/>
              </a:solidFill>
            </a:endParaRPr>
          </a:p>
        </p:txBody>
      </p:sp>
      <p:sp>
        <p:nvSpPr>
          <p:cNvPr id="5" name="文本框 4"/>
          <p:cNvSpPr txBox="1"/>
          <p:nvPr/>
        </p:nvSpPr>
        <p:spPr>
          <a:xfrm>
            <a:off x="6105121" y="4972323"/>
            <a:ext cx="2926146" cy="369332"/>
          </a:xfrm>
          <a:prstGeom prst="rect">
            <a:avLst/>
          </a:prstGeom>
          <a:noFill/>
        </p:spPr>
        <p:txBody>
          <a:bodyPr wrap="square" rtlCol="0">
            <a:spAutoFit/>
          </a:bodyPr>
          <a:lstStyle/>
          <a:p>
            <a:r>
              <a:rPr lang="zh-CN" altLang="en-US" sz="1800" dirty="0">
                <a:solidFill>
                  <a:srgbClr val="00B050"/>
                </a:solidFill>
              </a:rPr>
              <a:t>非常非常大的数</a:t>
            </a:r>
            <a:r>
              <a:rPr lang="en-US" altLang="zh-CN" sz="1800" dirty="0"/>
              <a:t>1.74*</a:t>
            </a:r>
            <a:r>
              <a:rPr lang="en-US" altLang="zh-CN" sz="1800" dirty="0">
                <a:solidFill>
                  <a:srgbClr val="00B050"/>
                </a:solidFill>
              </a:rPr>
              <a:t>10</a:t>
            </a:r>
            <a:r>
              <a:rPr lang="en-US" altLang="zh-CN" sz="1800" baseline="30000" dirty="0">
                <a:solidFill>
                  <a:srgbClr val="FF0000"/>
                </a:solidFill>
              </a:rPr>
              <a:t>172</a:t>
            </a:r>
            <a:endParaRPr lang="zh-CN" altLang="en-US" sz="1800" dirty="0"/>
          </a:p>
        </p:txBody>
      </p:sp>
      <p:pic>
        <p:nvPicPr>
          <p:cNvPr id="1026" name="Picture 2" descr="https://timgsa.baidu.com/timg?image&amp;quality=80&amp;size=b9999_10000&amp;sec=1570635424229&amp;di=dc0c3859b678dd167a2052408bef0c9c&amp;imgtype=0&amp;src=http%3A%2F%2Fn2.cmsfile.pg0.cn%2Fgroup4%2FM00%2F06%2FF4%2FCgoOFVqger2ARJO4AAOSqqcWV6g491.jpg%3Fenable%3D%26qt%3D75"/>
          <p:cNvPicPr>
            <a:picLocks noChangeAspect="1" noChangeArrowheads="1"/>
          </p:cNvPicPr>
          <p:nvPr/>
        </p:nvPicPr>
        <p:blipFill rotWithShape="1">
          <a:blip r:embed="rId3">
            <a:extLst>
              <a:ext uri="{28A0092B-C50C-407E-A947-70E740481C1C}">
                <a14:useLocalDpi xmlns:a14="http://schemas.microsoft.com/office/drawing/2010/main" val="0"/>
              </a:ext>
            </a:extLst>
          </a:blip>
          <a:srcRect l="25251" t="21566" r="2505"/>
          <a:stretch/>
        </p:blipFill>
        <p:spPr bwMode="auto">
          <a:xfrm>
            <a:off x="0" y="1892673"/>
            <a:ext cx="3082434" cy="17615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美国研制世界最强超级计算机Summit，超过神威.太湖"/>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700" y="1899413"/>
            <a:ext cx="3169363" cy="174810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3505200" y="3647515"/>
            <a:ext cx="2767853" cy="553998"/>
          </a:xfrm>
          <a:prstGeom prst="rect">
            <a:avLst/>
          </a:prstGeom>
          <a:noFill/>
        </p:spPr>
        <p:txBody>
          <a:bodyPr wrap="square" rtlCol="0">
            <a:spAutoFit/>
          </a:bodyPr>
          <a:lstStyle/>
          <a:p>
            <a:r>
              <a:rPr lang="en-US" altLang="zh-CN" sz="1500" dirty="0"/>
              <a:t>Summit </a:t>
            </a:r>
            <a:r>
              <a:rPr lang="zh-CN" altLang="en-US" sz="1500" dirty="0"/>
              <a:t>每秒</a:t>
            </a:r>
            <a:r>
              <a:rPr lang="en-US" altLang="zh-CN" sz="1500" dirty="0"/>
              <a:t>20</a:t>
            </a:r>
            <a:r>
              <a:rPr lang="zh-CN" altLang="en-US" sz="1500" dirty="0"/>
              <a:t>亿亿次</a:t>
            </a:r>
            <a:r>
              <a:rPr lang="en-US" altLang="zh-CN" sz="1500" dirty="0">
                <a:solidFill>
                  <a:srgbClr val="00B050"/>
                </a:solidFill>
              </a:rPr>
              <a:t>10</a:t>
            </a:r>
            <a:r>
              <a:rPr lang="en-US" altLang="zh-CN" sz="1500" baseline="30000" dirty="0">
                <a:solidFill>
                  <a:srgbClr val="FF0000"/>
                </a:solidFill>
              </a:rPr>
              <a:t>18</a:t>
            </a:r>
            <a:endParaRPr lang="zh-CN" altLang="en-US" sz="1500" dirty="0"/>
          </a:p>
          <a:p>
            <a:endParaRPr lang="zh-CN" altLang="en-US" sz="1500" dirty="0"/>
          </a:p>
        </p:txBody>
      </p:sp>
      <p:sp>
        <p:nvSpPr>
          <p:cNvPr id="9" name="文本框 8"/>
          <p:cNvSpPr txBox="1"/>
          <p:nvPr/>
        </p:nvSpPr>
        <p:spPr>
          <a:xfrm>
            <a:off x="490818" y="3687857"/>
            <a:ext cx="2709582" cy="553998"/>
          </a:xfrm>
          <a:prstGeom prst="rect">
            <a:avLst/>
          </a:prstGeom>
          <a:noFill/>
        </p:spPr>
        <p:txBody>
          <a:bodyPr wrap="square" rtlCol="0">
            <a:spAutoFit/>
          </a:bodyPr>
          <a:lstStyle/>
          <a:p>
            <a:r>
              <a:rPr lang="zh-CN" altLang="en-US" sz="1500" dirty="0"/>
              <a:t>神威每秒</a:t>
            </a:r>
            <a:r>
              <a:rPr lang="en-US" altLang="zh-CN" sz="1500" dirty="0"/>
              <a:t>12.5</a:t>
            </a:r>
            <a:r>
              <a:rPr lang="zh-CN" altLang="en-US" sz="1500" dirty="0"/>
              <a:t>亿亿次</a:t>
            </a:r>
            <a:r>
              <a:rPr lang="en-US" altLang="zh-CN" sz="1500" dirty="0">
                <a:solidFill>
                  <a:srgbClr val="00B050"/>
                </a:solidFill>
              </a:rPr>
              <a:t>10</a:t>
            </a:r>
            <a:r>
              <a:rPr lang="en-US" altLang="zh-CN" sz="1500" baseline="30000" dirty="0">
                <a:solidFill>
                  <a:srgbClr val="FF0000"/>
                </a:solidFill>
              </a:rPr>
              <a:t>18</a:t>
            </a:r>
            <a:endParaRPr lang="zh-CN" altLang="en-US" sz="1500" dirty="0"/>
          </a:p>
          <a:p>
            <a:r>
              <a:rPr lang="zh-CN" altLang="en-US" sz="1500" dirty="0"/>
              <a:t> </a:t>
            </a:r>
          </a:p>
        </p:txBody>
      </p:sp>
      <mc:AlternateContent xmlns:mc="http://schemas.openxmlformats.org/markup-compatibility/2006" xmlns:a14="http://schemas.microsoft.com/office/drawing/2010/main">
        <mc:Choice Requires="a14">
          <p:sp>
            <p:nvSpPr>
              <p:cNvPr id="7" name="文本框 6"/>
              <p:cNvSpPr txBox="1"/>
              <p:nvPr/>
            </p:nvSpPr>
            <p:spPr>
              <a:xfrm>
                <a:off x="194983" y="4161865"/>
                <a:ext cx="2577309" cy="4350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1500" i="1">
                              <a:latin typeface="Cambria Math" panose="02040503050406030204" pitchFamily="18" charset="0"/>
                            </a:rPr>
                          </m:ctrlPr>
                        </m:fPr>
                        <m:num>
                          <m:r>
                            <m:rPr>
                              <m:nor/>
                            </m:rPr>
                            <a:rPr lang="en-US" altLang="zh-CN" sz="1500" dirty="0"/>
                            <m:t>1.74∗</m:t>
                          </m:r>
                          <m:r>
                            <m:rPr>
                              <m:nor/>
                            </m:rPr>
                            <a:rPr lang="en-US" altLang="zh-CN" sz="1500" dirty="0">
                              <a:solidFill>
                                <a:srgbClr val="00B050"/>
                              </a:solidFill>
                            </a:rPr>
                            <m:t>10</m:t>
                          </m:r>
                          <m:r>
                            <m:rPr>
                              <m:nor/>
                            </m:rPr>
                            <a:rPr lang="en-US" altLang="zh-CN" sz="1500" baseline="30000" dirty="0">
                              <a:solidFill>
                                <a:srgbClr val="FF0000"/>
                              </a:solidFill>
                            </a:rPr>
                            <m:t>172</m:t>
                          </m:r>
                          <m:r>
                            <m:rPr>
                              <m:nor/>
                            </m:rPr>
                            <a:rPr lang="zh-CN" altLang="en-US" sz="1500" dirty="0"/>
                            <m:t> </m:t>
                          </m:r>
                        </m:num>
                        <m:den>
                          <m:r>
                            <a:rPr lang="en-US" altLang="zh-CN" sz="1500" b="0" i="1">
                              <a:latin typeface="Cambria Math" panose="02040503050406030204" pitchFamily="18" charset="0"/>
                            </a:rPr>
                            <m:t>365∗24∗60∗60∗12.5∗</m:t>
                          </m:r>
                          <m:r>
                            <m:rPr>
                              <m:nor/>
                            </m:rPr>
                            <a:rPr lang="en-US" altLang="zh-CN" sz="1500" dirty="0">
                              <a:solidFill>
                                <a:srgbClr val="00B050"/>
                              </a:solidFill>
                            </a:rPr>
                            <m:t>10</m:t>
                          </m:r>
                          <m:r>
                            <m:rPr>
                              <m:nor/>
                            </m:rPr>
                            <a:rPr lang="en-US" altLang="zh-CN" sz="1500" baseline="30000" dirty="0">
                              <a:solidFill>
                                <a:srgbClr val="FF0000"/>
                              </a:solidFill>
                            </a:rPr>
                            <m:t>1</m:t>
                          </m:r>
                          <m:r>
                            <a:rPr lang="en-US" altLang="zh-CN" sz="1500" b="0" i="1" baseline="30000" dirty="0">
                              <a:solidFill>
                                <a:srgbClr val="FF0000"/>
                              </a:solidFill>
                              <a:latin typeface="Cambria Math" panose="02040503050406030204" pitchFamily="18" charset="0"/>
                            </a:rPr>
                            <m:t>8</m:t>
                          </m:r>
                        </m:den>
                      </m:f>
                    </m:oMath>
                  </m:oMathPara>
                </a14:m>
                <a:endParaRPr lang="zh-CN" altLang="en-US" sz="1500" dirty="0"/>
              </a:p>
            </p:txBody>
          </p:sp>
        </mc:Choice>
        <mc:Fallback xmlns="">
          <p:sp>
            <p:nvSpPr>
              <p:cNvPr id="7" name="文本框 6"/>
              <p:cNvSpPr txBox="1">
                <a:spLocks noRot="1" noChangeAspect="1" noMove="1" noResize="1" noEditPoints="1" noAdjustHandles="1" noChangeArrowheads="1" noChangeShapeType="1" noTextEdit="1"/>
              </p:cNvSpPr>
              <p:nvPr/>
            </p:nvSpPr>
            <p:spPr>
              <a:xfrm>
                <a:off x="259977" y="4406153"/>
                <a:ext cx="3111429" cy="525080"/>
              </a:xfrm>
              <a:prstGeom prst="rect">
                <a:avLst/>
              </a:prstGeom>
              <a:blipFill rotWithShape="0">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867335" y="4766983"/>
                <a:ext cx="1453924" cy="451021"/>
              </a:xfrm>
              <a:prstGeom prst="rect">
                <a:avLst/>
              </a:prstGeom>
              <a:noFill/>
            </p:spPr>
            <p:txBody>
              <a:bodyPr wrap="none" lIns="0" tIns="0" rIns="0" bIns="0" rtlCol="0">
                <a:spAutoFit/>
              </a:bodyPr>
              <a:lstStyle/>
              <a:p>
                <a14:m>
                  <m:oMath xmlns:m="http://schemas.openxmlformats.org/officeDocument/2006/math">
                    <m:r>
                      <m:rPr>
                        <m:nor/>
                      </m:rPr>
                      <a:rPr lang="en-US" altLang="zh-CN" sz="3000" dirty="0">
                        <a:solidFill>
                          <a:srgbClr val="00B050"/>
                        </a:solidFill>
                      </a:rPr>
                      <m:t>4∗10</m:t>
                    </m:r>
                    <m:r>
                      <m:rPr>
                        <m:nor/>
                      </m:rPr>
                      <a:rPr lang="en-US" altLang="zh-CN" sz="3000" baseline="30000" dirty="0">
                        <a:solidFill>
                          <a:srgbClr val="FF0000"/>
                        </a:solidFill>
                      </a:rPr>
                      <m:t>145</m:t>
                    </m:r>
                  </m:oMath>
                </a14:m>
                <a:r>
                  <a:rPr lang="zh-CN" altLang="en-US" sz="2400" dirty="0">
                    <a:solidFill>
                      <a:srgbClr val="00B0F0"/>
                    </a:solidFill>
                  </a:rPr>
                  <a:t>年</a:t>
                </a:r>
              </a:p>
            </p:txBody>
          </p:sp>
        </mc:Choice>
        <mc:Fallback xmlns="">
          <p:sp>
            <p:nvSpPr>
              <p:cNvPr id="10" name="文本框 9"/>
              <p:cNvSpPr txBox="1">
                <a:spLocks noRot="1" noChangeAspect="1" noMove="1" noResize="1" noEditPoints="1" noAdjustHandles="1" noChangeArrowheads="1" noChangeShapeType="1" noTextEdit="1"/>
              </p:cNvSpPr>
              <p:nvPr/>
            </p:nvSpPr>
            <p:spPr>
              <a:xfrm>
                <a:off x="1156447" y="5212977"/>
                <a:ext cx="1963679" cy="601383"/>
              </a:xfrm>
              <a:prstGeom prst="rect">
                <a:avLst/>
              </a:prstGeom>
              <a:blipFill rotWithShape="0">
                <a:blip r:embed="rId6"/>
                <a:stretch>
                  <a:fillRect t="-10101" r="-11491" b="-323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3563469" y="4746813"/>
                <a:ext cx="1742465" cy="451021"/>
              </a:xfrm>
              <a:prstGeom prst="rect">
                <a:avLst/>
              </a:prstGeom>
              <a:noFill/>
            </p:spPr>
            <p:txBody>
              <a:bodyPr wrap="none" lIns="0" tIns="0" rIns="0" bIns="0" rtlCol="0">
                <a:spAutoFit/>
              </a:bodyPr>
              <a:lstStyle/>
              <a:p>
                <a14:m>
                  <m:oMath xmlns:m="http://schemas.openxmlformats.org/officeDocument/2006/math">
                    <m:r>
                      <m:rPr>
                        <m:nor/>
                      </m:rPr>
                      <a:rPr lang="en-US" altLang="zh-CN" sz="3000" dirty="0">
                        <a:solidFill>
                          <a:srgbClr val="00B050"/>
                        </a:solidFill>
                      </a:rPr>
                      <m:t>2.8∗10</m:t>
                    </m:r>
                    <m:r>
                      <m:rPr>
                        <m:nor/>
                      </m:rPr>
                      <a:rPr lang="en-US" altLang="zh-CN" sz="3000" baseline="30000" dirty="0">
                        <a:solidFill>
                          <a:srgbClr val="FF0000"/>
                        </a:solidFill>
                      </a:rPr>
                      <m:t>145</m:t>
                    </m:r>
                  </m:oMath>
                </a14:m>
                <a:r>
                  <a:rPr lang="zh-CN" altLang="en-US" sz="2400" dirty="0">
                    <a:solidFill>
                      <a:srgbClr val="00B0F0"/>
                    </a:solidFill>
                  </a:rPr>
                  <a:t>年</a:t>
                </a:r>
              </a:p>
            </p:txBody>
          </p:sp>
        </mc:Choice>
        <mc:Fallback xmlns="">
          <p:sp>
            <p:nvSpPr>
              <p:cNvPr id="13" name="文本框 12"/>
              <p:cNvSpPr txBox="1">
                <a:spLocks noRot="1" noChangeAspect="1" noMove="1" noResize="1" noEditPoints="1" noAdjustHandles="1" noChangeArrowheads="1" noChangeShapeType="1" noTextEdit="1"/>
              </p:cNvSpPr>
              <p:nvPr/>
            </p:nvSpPr>
            <p:spPr>
              <a:xfrm>
                <a:off x="4751292" y="5186083"/>
                <a:ext cx="2359620" cy="601383"/>
              </a:xfrm>
              <a:prstGeom prst="rect">
                <a:avLst/>
              </a:prstGeom>
              <a:blipFill rotWithShape="0">
                <a:blip r:embed="rId7"/>
                <a:stretch>
                  <a:fillRect t="-11224" r="-9819" b="-32653"/>
                </a:stretch>
              </a:blipFill>
            </p:spPr>
            <p:txBody>
              <a:bodyPr/>
              <a:lstStyle/>
              <a:p>
                <a:r>
                  <a:rPr lang="zh-CN" altLang="en-US">
                    <a:noFill/>
                  </a:rPr>
                  <a:t> </a:t>
                </a:r>
              </a:p>
            </p:txBody>
          </p:sp>
        </mc:Fallback>
      </mc:AlternateContent>
      <p:sp>
        <p:nvSpPr>
          <p:cNvPr id="12" name="文本框 11"/>
          <p:cNvSpPr txBox="1"/>
          <p:nvPr/>
        </p:nvSpPr>
        <p:spPr>
          <a:xfrm>
            <a:off x="900952" y="5335121"/>
            <a:ext cx="4417358" cy="507831"/>
          </a:xfrm>
          <a:prstGeom prst="rect">
            <a:avLst/>
          </a:prstGeom>
          <a:noFill/>
        </p:spPr>
        <p:txBody>
          <a:bodyPr wrap="square" rtlCol="0">
            <a:spAutoFit/>
          </a:bodyPr>
          <a:lstStyle/>
          <a:p>
            <a:r>
              <a:rPr lang="zh-CN" altLang="en-US" sz="2700" dirty="0">
                <a:solidFill>
                  <a:srgbClr val="C00000"/>
                </a:solidFill>
              </a:rPr>
              <a:t>现有超级计算机无能为力！</a:t>
            </a:r>
          </a:p>
        </p:txBody>
      </p:sp>
      <p:sp>
        <p:nvSpPr>
          <p:cNvPr id="14" name="Text Box 2"/>
          <p:cNvSpPr txBox="1">
            <a:spLocks noChangeArrowheads="1"/>
          </p:cNvSpPr>
          <p:nvPr/>
        </p:nvSpPr>
        <p:spPr bwMode="auto">
          <a:xfrm>
            <a:off x="2971800" y="457200"/>
            <a:ext cx="244810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defRPr/>
            </a:pPr>
            <a:r>
              <a:rPr lang="zh-CN" altLang="en-US" sz="4400" dirty="0">
                <a:solidFill>
                  <a:schemeClr val="tx2"/>
                </a:solidFill>
                <a:latin typeface="+mj-lt"/>
                <a:ea typeface="宋体" pitchFamily="2" charset="-122"/>
                <a:cs typeface="+mj-cs"/>
              </a:rPr>
              <a:t>人工智能</a:t>
            </a:r>
            <a:endParaRPr lang="en-US" altLang="zh-TW" sz="4400" dirty="0">
              <a:solidFill>
                <a:schemeClr val="tx2"/>
              </a:solidFill>
              <a:latin typeface="+mj-lt"/>
              <a:ea typeface="宋体" pitchFamily="2" charset="-122"/>
              <a:cs typeface="+mj-cs"/>
            </a:endParaRPr>
          </a:p>
        </p:txBody>
      </p:sp>
    </p:spTree>
    <p:extLst>
      <p:ext uri="{BB962C8B-B14F-4D97-AF65-F5344CB8AC3E}">
        <p14:creationId xmlns:p14="http://schemas.microsoft.com/office/powerpoint/2010/main" val="60045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arn(inVertical)">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P spid="13"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304800"/>
            <a:ext cx="3352800" cy="994172"/>
          </a:xfrm>
        </p:spPr>
        <p:txBody>
          <a:bodyPr/>
          <a:lstStyle/>
          <a:p>
            <a:r>
              <a:rPr lang="zh-CN" altLang="en-US" b="1" dirty="0" smtClean="0"/>
              <a:t>人工智能</a:t>
            </a:r>
            <a:endParaRPr lang="zh-CN" altLang="en-US" b="1" dirty="0"/>
          </a:p>
        </p:txBody>
      </p:sp>
      <p:sp>
        <p:nvSpPr>
          <p:cNvPr id="3" name="文本框 2"/>
          <p:cNvSpPr txBox="1"/>
          <p:nvPr/>
        </p:nvSpPr>
        <p:spPr>
          <a:xfrm>
            <a:off x="228600" y="1371600"/>
            <a:ext cx="4800600" cy="738664"/>
          </a:xfrm>
          <a:prstGeom prst="rect">
            <a:avLst/>
          </a:prstGeom>
          <a:noFill/>
        </p:spPr>
        <p:txBody>
          <a:bodyPr wrap="square" rtlCol="0">
            <a:spAutoFit/>
          </a:bodyPr>
          <a:lstStyle/>
          <a:p>
            <a:r>
              <a:rPr lang="zh-CN" altLang="en-US" sz="2100" dirty="0">
                <a:solidFill>
                  <a:srgbClr val="FF0000"/>
                </a:solidFill>
                <a:effectLst>
                  <a:outerShdw blurRad="38100" dist="38100" dir="2700000" algn="tl">
                    <a:srgbClr val="000000">
                      <a:alpha val="43137"/>
                    </a:srgbClr>
                  </a:outerShdw>
                </a:effectLst>
              </a:rPr>
              <a:t>终极目标</a:t>
            </a:r>
            <a:r>
              <a:rPr lang="zh-CN" altLang="en-US" sz="2100" dirty="0"/>
              <a:t>：</a:t>
            </a:r>
            <a:r>
              <a:rPr lang="zh-CN" altLang="en-US" sz="2100" dirty="0">
                <a:solidFill>
                  <a:srgbClr val="00B050"/>
                </a:solidFill>
              </a:rPr>
              <a:t>探讨智能形成的基本机理，研究利用自动机模拟人的思维过程</a:t>
            </a:r>
            <a:r>
              <a:rPr lang="zh-CN" altLang="en-US" sz="2100" dirty="0"/>
              <a:t>。</a:t>
            </a:r>
          </a:p>
        </p:txBody>
      </p:sp>
      <p:sp>
        <p:nvSpPr>
          <p:cNvPr id="4" name="文本框 3"/>
          <p:cNvSpPr txBox="1"/>
          <p:nvPr/>
        </p:nvSpPr>
        <p:spPr>
          <a:xfrm>
            <a:off x="228600" y="4191000"/>
            <a:ext cx="4185196" cy="738664"/>
          </a:xfrm>
          <a:prstGeom prst="rect">
            <a:avLst/>
          </a:prstGeom>
          <a:noFill/>
        </p:spPr>
        <p:txBody>
          <a:bodyPr wrap="square" rtlCol="0">
            <a:spAutoFit/>
          </a:bodyPr>
          <a:lstStyle/>
          <a:p>
            <a:r>
              <a:rPr lang="zh-CN" altLang="en-US" sz="2100" dirty="0">
                <a:solidFill>
                  <a:srgbClr val="FF0000"/>
                </a:solidFill>
                <a:effectLst>
                  <a:outerShdw blurRad="38100" dist="38100" dir="2700000" algn="tl">
                    <a:srgbClr val="000000">
                      <a:alpha val="43137"/>
                    </a:srgbClr>
                  </a:outerShdw>
                </a:effectLst>
              </a:rPr>
              <a:t>近期目标</a:t>
            </a:r>
            <a:r>
              <a:rPr lang="zh-CN" altLang="en-US" sz="2100" dirty="0"/>
              <a:t>：</a:t>
            </a:r>
            <a:r>
              <a:rPr lang="zh-CN" altLang="en-US" sz="2100" dirty="0">
                <a:solidFill>
                  <a:srgbClr val="0070C0"/>
                </a:solidFill>
              </a:rPr>
              <a:t>研究如何使计算机做那些靠人的智力才能做的工作</a:t>
            </a:r>
            <a:r>
              <a:rPr lang="zh-CN" altLang="en-US" sz="2100" dirty="0"/>
              <a:t>。</a:t>
            </a:r>
          </a:p>
        </p:txBody>
      </p:sp>
      <p:pic>
        <p:nvPicPr>
          <p:cNvPr id="13314" name="Picture 2" descr="https://timgsa.baidu.com/timg?image&amp;quality=80&amp;size=b9999_10000&amp;sec=1565092075274&amp;di=4805bddd0c7993915e7c799de9588040&amp;imgtype=0&amp;src=http%3A%2F%2Fmp.ofweek.com%2FUpload%2FNews%2FImg%2Fmember1%2F201902%2F2114013718365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78750"/>
            <a:ext cx="3657600" cy="2113406"/>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https://timgsa.baidu.com/timg?image&amp;quality=80&amp;size=b9999_10000&amp;sec=1565092171427&amp;di=d8aaf058bf2c79ee425ca2f3f4372889&amp;imgtype=jpg&amp;src=http%3A%2F%2Fphotocdn.sohu.com%2F20150929%2Fmp33781573_1443497277308_3.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4462016"/>
            <a:ext cx="2819400" cy="156698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228600" y="5181600"/>
            <a:ext cx="4038600" cy="738664"/>
          </a:xfrm>
          <a:prstGeom prst="rect">
            <a:avLst/>
          </a:prstGeom>
          <a:noFill/>
        </p:spPr>
        <p:txBody>
          <a:bodyPr wrap="square" rtlCol="0">
            <a:spAutoFit/>
          </a:bodyPr>
          <a:lstStyle/>
          <a:p>
            <a:r>
              <a:rPr lang="zh-CN" altLang="en-US" sz="2100" dirty="0">
                <a:solidFill>
                  <a:srgbClr val="FF0000"/>
                </a:solidFill>
                <a:effectLst>
                  <a:outerShdw blurRad="38100" dist="38100" dir="2700000" algn="tl">
                    <a:srgbClr val="000000">
                      <a:alpha val="43137"/>
                    </a:srgbClr>
                  </a:outerShdw>
                </a:effectLst>
              </a:rPr>
              <a:t>核心</a:t>
            </a:r>
            <a:r>
              <a:rPr lang="zh-CN" altLang="en-US" sz="2100" dirty="0">
                <a:solidFill>
                  <a:srgbClr val="FF0000"/>
                </a:solidFill>
              </a:rPr>
              <a:t>：</a:t>
            </a:r>
            <a:r>
              <a:rPr lang="zh-CN" altLang="en-US" sz="2100" dirty="0">
                <a:solidFill>
                  <a:srgbClr val="00B050"/>
                </a:solidFill>
              </a:rPr>
              <a:t>数学</a:t>
            </a:r>
            <a:r>
              <a:rPr lang="zh-CN" altLang="en-US" sz="2100" dirty="0">
                <a:solidFill>
                  <a:srgbClr val="002060"/>
                </a:solidFill>
              </a:rPr>
              <a:t>理论、</a:t>
            </a:r>
            <a:r>
              <a:rPr lang="zh-CN" altLang="en-US" sz="2100" dirty="0">
                <a:solidFill>
                  <a:srgbClr val="FF0000"/>
                </a:solidFill>
                <a:effectLst>
                  <a:outerShdw blurRad="38100" dist="38100" dir="2700000" algn="tl">
                    <a:srgbClr val="000000">
                      <a:alpha val="43137"/>
                    </a:srgbClr>
                  </a:outerShdw>
                </a:effectLst>
              </a:rPr>
              <a:t>算法</a:t>
            </a:r>
            <a:r>
              <a:rPr lang="zh-CN" altLang="en-US" sz="2100" dirty="0">
                <a:solidFill>
                  <a:srgbClr val="002060"/>
                </a:solidFill>
              </a:rPr>
              <a:t>、</a:t>
            </a:r>
            <a:r>
              <a:rPr lang="zh-CN" altLang="en-US" sz="2100" dirty="0">
                <a:solidFill>
                  <a:srgbClr val="FFC000"/>
                </a:solidFill>
              </a:rPr>
              <a:t>硬件</a:t>
            </a:r>
            <a:r>
              <a:rPr lang="zh-CN" altLang="en-US" sz="2100" dirty="0">
                <a:solidFill>
                  <a:srgbClr val="002060"/>
                </a:solidFill>
              </a:rPr>
              <a:t>技术等多</a:t>
            </a:r>
            <a:r>
              <a:rPr lang="zh-CN" altLang="en-US" sz="2100" dirty="0" smtClean="0">
                <a:solidFill>
                  <a:srgbClr val="002060"/>
                </a:solidFill>
              </a:rPr>
              <a:t>领域、多</a:t>
            </a:r>
            <a:r>
              <a:rPr lang="zh-CN" altLang="en-US" sz="2100" dirty="0">
                <a:solidFill>
                  <a:srgbClr val="002060"/>
                </a:solidFill>
              </a:rPr>
              <a:t>学科交叉组成</a:t>
            </a:r>
            <a:r>
              <a:rPr lang="zh-CN" altLang="en-US" sz="2100" dirty="0"/>
              <a:t>。</a:t>
            </a:r>
          </a:p>
        </p:txBody>
      </p:sp>
      <p:pic>
        <p:nvPicPr>
          <p:cNvPr id="6" name="图片 5"/>
          <p:cNvPicPr>
            <a:picLocks noChangeAspect="1"/>
          </p:cNvPicPr>
          <p:nvPr/>
        </p:nvPicPr>
        <p:blipFill>
          <a:blip r:embed="rId5"/>
          <a:stretch>
            <a:fillRect/>
          </a:stretch>
        </p:blipFill>
        <p:spPr>
          <a:xfrm>
            <a:off x="4724400" y="1371600"/>
            <a:ext cx="4038600" cy="2844109"/>
          </a:xfrm>
          <a:prstGeom prst="rect">
            <a:avLst/>
          </a:prstGeom>
        </p:spPr>
      </p:pic>
      <p:pic>
        <p:nvPicPr>
          <p:cNvPr id="4098" name="Picture 2" descr="http://pic.edu.jg.com.cn/forum/201805/07/1607532ttpvqkqk2idt3zb.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67446" y="4475437"/>
            <a:ext cx="2133354" cy="1525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75349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04800" y="457200"/>
            <a:ext cx="8610600" cy="762000"/>
          </a:xfrm>
        </p:spPr>
        <p:txBody>
          <a:bodyPr/>
          <a:lstStyle/>
          <a:p>
            <a:pPr eaLnBrk="1" hangingPunct="1"/>
            <a:r>
              <a:rPr lang="zh-CN" altLang="en-US" dirty="0" smtClean="0"/>
              <a:t>第一章 算法复杂度分析</a:t>
            </a:r>
          </a:p>
        </p:txBody>
      </p:sp>
      <p:sp>
        <p:nvSpPr>
          <p:cNvPr id="25603" name="Rectangle 3"/>
          <p:cNvSpPr>
            <a:spLocks noGrp="1" noChangeArrowheads="1"/>
          </p:cNvSpPr>
          <p:nvPr>
            <p:ph idx="1"/>
          </p:nvPr>
        </p:nvSpPr>
        <p:spPr/>
        <p:txBody>
          <a:bodyPr/>
          <a:lstStyle/>
          <a:p>
            <a:pPr marL="0" indent="0" eaLnBrk="1" hangingPunct="1">
              <a:buNone/>
            </a:pPr>
            <a:r>
              <a:rPr lang="en-US" altLang="zh-CN" sz="3200" dirty="0" smtClean="0"/>
              <a:t>1.1 </a:t>
            </a:r>
            <a:r>
              <a:rPr lang="zh-CN" altLang="en-US" sz="3200" dirty="0" smtClean="0"/>
              <a:t>算法基本概念</a:t>
            </a:r>
            <a:endParaRPr lang="en-US" altLang="zh-CN" sz="3200" dirty="0" smtClean="0"/>
          </a:p>
          <a:p>
            <a:pPr marL="0" indent="0" eaLnBrk="1" hangingPunct="1">
              <a:buNone/>
            </a:pPr>
            <a:r>
              <a:rPr lang="en-US" altLang="zh-CN" sz="3200" dirty="0" smtClean="0"/>
              <a:t>1.2 </a:t>
            </a:r>
            <a:r>
              <a:rPr lang="zh-CN" altLang="en-US" sz="3200" dirty="0" smtClean="0"/>
              <a:t>插入算法分析举例</a:t>
            </a:r>
            <a:endParaRPr lang="en-US" altLang="zh-CN" sz="3200" dirty="0" smtClean="0"/>
          </a:p>
          <a:p>
            <a:pPr marL="0" indent="0" eaLnBrk="1" hangingPunct="1">
              <a:buNone/>
            </a:pPr>
            <a:r>
              <a:rPr lang="en-US" altLang="zh-CN" sz="3200" dirty="0" smtClean="0"/>
              <a:t>1.3 </a:t>
            </a:r>
            <a:r>
              <a:rPr lang="zh-CN" altLang="en-US" sz="3200" dirty="0" smtClean="0"/>
              <a:t>复杂度分析</a:t>
            </a:r>
            <a:endParaRPr lang="en-US" altLang="zh-CN" sz="3200" dirty="0" smtClean="0"/>
          </a:p>
          <a:p>
            <a:pPr lvl="1"/>
            <a:r>
              <a:rPr lang="zh-CN" altLang="en-US" sz="2800" dirty="0" smtClean="0"/>
              <a:t>渐</a:t>
            </a:r>
            <a:r>
              <a:rPr lang="zh-CN" altLang="en-US" sz="2800" dirty="0"/>
              <a:t>近</a:t>
            </a:r>
            <a:r>
              <a:rPr lang="zh-CN" altLang="en-US" sz="2800" dirty="0" smtClean="0"/>
              <a:t>记号  </a:t>
            </a:r>
            <a:r>
              <a:rPr lang="en-US" altLang="zh-CN" sz="2800" dirty="0" smtClean="0">
                <a:solidFill>
                  <a:srgbClr val="FF0000"/>
                </a:solidFill>
              </a:rPr>
              <a:t>O </a:t>
            </a:r>
            <a:r>
              <a:rPr lang="el-GR" altLang="zh-CN" sz="2800" dirty="0" smtClean="0">
                <a:solidFill>
                  <a:srgbClr val="FF0000"/>
                </a:solidFill>
              </a:rPr>
              <a:t>θ</a:t>
            </a:r>
            <a:r>
              <a:rPr lang="en-US" altLang="zh-CN" sz="2800" dirty="0" smtClean="0">
                <a:solidFill>
                  <a:srgbClr val="FF0000"/>
                </a:solidFill>
              </a:rPr>
              <a:t> </a:t>
            </a:r>
            <a:r>
              <a:rPr lang="el-GR" altLang="zh-CN" sz="2800" dirty="0" smtClean="0">
                <a:solidFill>
                  <a:srgbClr val="FF0000"/>
                </a:solidFill>
              </a:rPr>
              <a:t>Ω</a:t>
            </a:r>
            <a:endParaRPr lang="zh-CN" altLang="en-US" sz="2800" dirty="0">
              <a:solidFill>
                <a:srgbClr val="FF0000"/>
              </a:solidFill>
            </a:endParaRPr>
          </a:p>
          <a:p>
            <a:pPr lvl="1" eaLnBrk="1" hangingPunct="1"/>
            <a:r>
              <a:rPr lang="zh-CN" altLang="en-US" sz="2800" dirty="0" smtClean="0"/>
              <a:t>常用</a:t>
            </a:r>
            <a:r>
              <a:rPr lang="zh-CN" altLang="en-US" sz="2800" dirty="0"/>
              <a:t>函数</a:t>
            </a:r>
          </a:p>
          <a:p>
            <a:pPr eaLnBrk="1" hangingPunct="1"/>
            <a:endParaRPr lang="zh-CN" altLang="en-US" dirty="0" smtClean="0"/>
          </a:p>
        </p:txBody>
      </p:sp>
      <p:pic>
        <p:nvPicPr>
          <p:cNvPr id="190466" name="Picture 2" descr="https://timgsa.baidu.com/timg?image&amp;quality=80&amp;size=b9999_10000&amp;sec=1551801614505&amp;di=2d3cadb0dd97664a44e124ddc7f69aef&amp;imgtype=0&amp;src=http%3A%2F%2Fimg2018.cnblogs.com%2Fblog%2F1256714%2F201811%2F1256714-20181102180953468-1955375759.png"/>
          <p:cNvPicPr>
            <a:picLocks noChangeAspect="1" noChangeArrowheads="1"/>
          </p:cNvPicPr>
          <p:nvPr/>
        </p:nvPicPr>
        <p:blipFill rotWithShape="1">
          <a:blip r:embed="rId3">
            <a:clrChange>
              <a:clrFrom>
                <a:srgbClr val="F5F4EF"/>
              </a:clrFrom>
              <a:clrTo>
                <a:srgbClr val="F5F4EF">
                  <a:alpha val="0"/>
                </a:srgbClr>
              </a:clrTo>
            </a:clrChange>
            <a:extLst>
              <a:ext uri="{28A0092B-C50C-407E-A947-70E740481C1C}">
                <a14:useLocalDpi xmlns:a14="http://schemas.microsoft.com/office/drawing/2010/main" val="0"/>
              </a:ext>
            </a:extLst>
          </a:blip>
          <a:srcRect l="16999" t="4297" r="9582" b="2096"/>
          <a:stretch/>
        </p:blipFill>
        <p:spPr bwMode="auto">
          <a:xfrm>
            <a:off x="4038600" y="2667000"/>
            <a:ext cx="4905632"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6744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09600" y="152400"/>
            <a:ext cx="7772400" cy="1143000"/>
          </a:xfrm>
        </p:spPr>
        <p:txBody>
          <a:bodyPr/>
          <a:lstStyle/>
          <a:p>
            <a:pPr eaLnBrk="1" hangingPunct="1"/>
            <a:r>
              <a:rPr lang="en-US" altLang="zh-CN" dirty="0" smtClean="0"/>
              <a:t>1.1 </a:t>
            </a:r>
            <a:r>
              <a:rPr lang="zh-CN" altLang="en-US" dirty="0" smtClean="0"/>
              <a:t>算法基本概念 </a:t>
            </a:r>
            <a:r>
              <a:rPr lang="en-US" altLang="zh-CN" sz="3600" dirty="0" smtClean="0">
                <a:latin typeface="Arial" panose="020B0604020202020204" pitchFamily="34" charset="0"/>
              </a:rPr>
              <a:t>—</a:t>
            </a:r>
            <a:r>
              <a:rPr lang="zh-CN" altLang="en-US" sz="3600" dirty="0" smtClean="0"/>
              <a:t>什么是算法？</a:t>
            </a:r>
          </a:p>
        </p:txBody>
      </p:sp>
      <p:sp>
        <p:nvSpPr>
          <p:cNvPr id="27651" name="Rectangle 3"/>
          <p:cNvSpPr>
            <a:spLocks noGrp="1" noChangeArrowheads="1"/>
          </p:cNvSpPr>
          <p:nvPr>
            <p:ph idx="1"/>
          </p:nvPr>
        </p:nvSpPr>
        <p:spPr>
          <a:xfrm>
            <a:off x="457200" y="1447800"/>
            <a:ext cx="8458200" cy="5181600"/>
          </a:xfrm>
        </p:spPr>
        <p:txBody>
          <a:bodyPr/>
          <a:lstStyle/>
          <a:p>
            <a:r>
              <a:rPr lang="zh-CN" altLang="en-US" dirty="0" smtClean="0"/>
              <a:t>        算法</a:t>
            </a:r>
            <a:r>
              <a:rPr lang="zh-CN" altLang="en-US" dirty="0"/>
              <a:t>的形式定义是指一种明确、有限、确定且可执行的计算过程。它接受一个或多个输入，经过一系列步骤后，输出一个或多个结果，以解决特定问题。</a:t>
            </a:r>
            <a:endParaRPr lang="zh-CN" altLang="en-US" dirty="0" smtClean="0"/>
          </a:p>
        </p:txBody>
      </p:sp>
      <p:sp>
        <p:nvSpPr>
          <p:cNvPr id="27652" name="Line 4"/>
          <p:cNvSpPr>
            <a:spLocks noChangeShapeType="1"/>
          </p:cNvSpPr>
          <p:nvPr/>
        </p:nvSpPr>
        <p:spPr bwMode="auto">
          <a:xfrm>
            <a:off x="4572000" y="3505200"/>
            <a:ext cx="0" cy="609600"/>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7653" name="Group 5"/>
          <p:cNvGrpSpPr>
            <a:grpSpLocks/>
          </p:cNvGrpSpPr>
          <p:nvPr/>
        </p:nvGrpSpPr>
        <p:grpSpPr bwMode="auto">
          <a:xfrm>
            <a:off x="914400" y="3124200"/>
            <a:ext cx="7294563" cy="2709863"/>
            <a:chOff x="576" y="2825"/>
            <a:chExt cx="4595" cy="1467"/>
          </a:xfrm>
        </p:grpSpPr>
        <p:sp>
          <p:nvSpPr>
            <p:cNvPr id="27654" name="Rectangle 6"/>
            <p:cNvSpPr>
              <a:spLocks noChangeArrowheads="1"/>
            </p:cNvSpPr>
            <p:nvPr/>
          </p:nvSpPr>
          <p:spPr bwMode="auto">
            <a:xfrm>
              <a:off x="2070" y="3812"/>
              <a:ext cx="1728" cy="480"/>
            </a:xfrm>
            <a:prstGeom prst="rect">
              <a:avLst/>
            </a:prstGeom>
            <a:solidFill>
              <a:schemeClr val="accent1"/>
            </a:solidFill>
            <a:ln w="12700">
              <a:solidFill>
                <a:srgbClr val="FF0000"/>
              </a:solidFill>
              <a:miter lim="800000"/>
              <a:headEnd type="none" w="sm" len="sm"/>
              <a:tailEnd type="none" w="sm" len="sm"/>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smtClean="0">
                  <a:solidFill>
                    <a:schemeClr val="bg2"/>
                  </a:solidFill>
                  <a:latin typeface="Arial" panose="020B0604020202020204" pitchFamily="34" charset="0"/>
                  <a:ea typeface="宋体" panose="02010600030101010101" pitchFamily="2" charset="-122"/>
                </a:rPr>
                <a:t>“Computer</a:t>
              </a:r>
              <a:r>
                <a:rPr lang="en-US" altLang="zh-CN" sz="2400" dirty="0">
                  <a:solidFill>
                    <a:schemeClr val="bg2"/>
                  </a:solidFill>
                  <a:latin typeface="Arial" panose="020B0604020202020204" pitchFamily="34" charset="0"/>
                  <a:ea typeface="宋体" panose="02010600030101010101" pitchFamily="2" charset="-122"/>
                </a:rPr>
                <a:t>” </a:t>
              </a:r>
            </a:p>
          </p:txBody>
        </p:sp>
        <p:sp>
          <p:nvSpPr>
            <p:cNvPr id="27656" name="Text Box 8"/>
            <p:cNvSpPr txBox="1">
              <a:spLocks noChangeArrowheads="1"/>
            </p:cNvSpPr>
            <p:nvPr/>
          </p:nvSpPr>
          <p:spPr bwMode="auto">
            <a:xfrm>
              <a:off x="2366" y="2825"/>
              <a:ext cx="9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a:latin typeface="Arial" panose="020B0604020202020204" pitchFamily="34" charset="0"/>
                  <a:ea typeface="宋体" panose="02010600030101010101" pitchFamily="2" charset="-122"/>
                </a:rPr>
                <a:t> </a:t>
              </a:r>
              <a:r>
                <a:rPr lang="en-US" altLang="zh-CN" sz="2400" dirty="0" smtClean="0">
                  <a:latin typeface="Arial" panose="020B0604020202020204" pitchFamily="34" charset="0"/>
                  <a:ea typeface="宋体" panose="02010600030101010101" pitchFamily="2" charset="-122"/>
                </a:rPr>
                <a:t>Problem</a:t>
              </a:r>
              <a:endParaRPr lang="en-US" altLang="zh-CN" sz="2400" dirty="0">
                <a:latin typeface="Arial" panose="020B0604020202020204" pitchFamily="34" charset="0"/>
                <a:ea typeface="宋体" panose="02010600030101010101" pitchFamily="2" charset="-122"/>
              </a:endParaRPr>
            </a:p>
          </p:txBody>
        </p:sp>
        <p:sp>
          <p:nvSpPr>
            <p:cNvPr id="27657" name="Text Box 9"/>
            <p:cNvSpPr txBox="1">
              <a:spLocks noChangeArrowheads="1"/>
            </p:cNvSpPr>
            <p:nvPr/>
          </p:nvSpPr>
          <p:spPr bwMode="auto">
            <a:xfrm>
              <a:off x="2428" y="3279"/>
              <a:ext cx="10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a:latin typeface="Arial" panose="020B0604020202020204" pitchFamily="34" charset="0"/>
                  <a:ea typeface="宋体" panose="02010600030101010101" pitchFamily="2" charset="-122"/>
                </a:rPr>
                <a:t>A</a:t>
              </a:r>
              <a:r>
                <a:rPr lang="en-US" altLang="zh-CN" sz="2400" dirty="0" smtClean="0">
                  <a:latin typeface="Arial" panose="020B0604020202020204" pitchFamily="34" charset="0"/>
                  <a:ea typeface="宋体" panose="02010600030101010101" pitchFamily="2" charset="-122"/>
                </a:rPr>
                <a:t>lgorithm</a:t>
              </a:r>
              <a:endParaRPr lang="en-US" altLang="zh-CN" sz="2400" dirty="0">
                <a:latin typeface="Arial" panose="020B0604020202020204" pitchFamily="34" charset="0"/>
                <a:ea typeface="宋体" panose="02010600030101010101" pitchFamily="2" charset="-122"/>
              </a:endParaRPr>
            </a:p>
          </p:txBody>
        </p:sp>
        <p:sp>
          <p:nvSpPr>
            <p:cNvPr id="27658" name="Text Box 10"/>
            <p:cNvSpPr txBox="1">
              <a:spLocks noChangeArrowheads="1"/>
            </p:cNvSpPr>
            <p:nvPr/>
          </p:nvSpPr>
          <p:spPr bwMode="auto">
            <a:xfrm>
              <a:off x="576" y="3908"/>
              <a:ext cx="7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smtClean="0">
                  <a:latin typeface="Arial" panose="020B0604020202020204" pitchFamily="34" charset="0"/>
                  <a:ea typeface="宋体" panose="02010600030101010101" pitchFamily="2" charset="-122"/>
                </a:rPr>
                <a:t>Input</a:t>
              </a:r>
              <a:endParaRPr lang="en-US" altLang="zh-CN" sz="2400" dirty="0">
                <a:latin typeface="Arial" panose="020B0604020202020204" pitchFamily="34" charset="0"/>
                <a:ea typeface="宋体" panose="02010600030101010101" pitchFamily="2" charset="-122"/>
              </a:endParaRPr>
            </a:p>
          </p:txBody>
        </p:sp>
        <p:sp>
          <p:nvSpPr>
            <p:cNvPr id="27659" name="Text Box 11"/>
            <p:cNvSpPr txBox="1">
              <a:spLocks noChangeArrowheads="1"/>
            </p:cNvSpPr>
            <p:nvPr/>
          </p:nvSpPr>
          <p:spPr bwMode="auto">
            <a:xfrm>
              <a:off x="4416" y="3908"/>
              <a:ext cx="7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a:latin typeface="Arial" panose="020B0604020202020204" pitchFamily="34" charset="0"/>
                  <a:ea typeface="宋体" panose="02010600030101010101" pitchFamily="2" charset="-122"/>
                </a:rPr>
                <a:t>O</a:t>
              </a:r>
              <a:r>
                <a:rPr lang="en-US" altLang="zh-CN" sz="2400" dirty="0" smtClean="0">
                  <a:latin typeface="Arial" panose="020B0604020202020204" pitchFamily="34" charset="0"/>
                  <a:ea typeface="宋体" panose="02010600030101010101" pitchFamily="2" charset="-122"/>
                </a:rPr>
                <a:t>utput</a:t>
              </a:r>
              <a:endParaRPr lang="en-US" altLang="zh-CN" sz="2400" dirty="0">
                <a:latin typeface="Arial" panose="020B0604020202020204" pitchFamily="34" charset="0"/>
                <a:ea typeface="宋体" panose="02010600030101010101" pitchFamily="2" charset="-122"/>
              </a:endParaRPr>
            </a:p>
          </p:txBody>
        </p:sp>
        <p:sp>
          <p:nvSpPr>
            <p:cNvPr id="27660" name="Line 12"/>
            <p:cNvSpPr>
              <a:spLocks noChangeShapeType="1"/>
            </p:cNvSpPr>
            <p:nvPr/>
          </p:nvSpPr>
          <p:spPr bwMode="auto">
            <a:xfrm>
              <a:off x="1296" y="4063"/>
              <a:ext cx="768" cy="0"/>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1" name="Line 13"/>
            <p:cNvSpPr>
              <a:spLocks noChangeShapeType="1"/>
            </p:cNvSpPr>
            <p:nvPr/>
          </p:nvSpPr>
          <p:spPr bwMode="auto">
            <a:xfrm>
              <a:off x="3792" y="4063"/>
              <a:ext cx="576" cy="4"/>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 name="Line 4"/>
          <p:cNvSpPr>
            <a:spLocks noChangeShapeType="1"/>
          </p:cNvSpPr>
          <p:nvPr/>
        </p:nvSpPr>
        <p:spPr bwMode="auto">
          <a:xfrm>
            <a:off x="4572000" y="4343400"/>
            <a:ext cx="0" cy="609600"/>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38408161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685800" y="152400"/>
            <a:ext cx="7772400" cy="1143000"/>
          </a:xfrm>
        </p:spPr>
        <p:txBody>
          <a:bodyPr lIns="92075" tIns="46038" rIns="92075" bIns="46038" anchor="ctr"/>
          <a:lstStyle/>
          <a:p>
            <a:pPr algn="l">
              <a:defRPr/>
            </a:pPr>
            <a:r>
              <a:rPr lang="en-US" altLang="zh-CN" dirty="0" smtClean="0"/>
              <a:t>1.1 </a:t>
            </a:r>
            <a:r>
              <a:rPr lang="zh-CN" altLang="en-US" dirty="0" smtClean="0"/>
              <a:t>算法基本概念 </a:t>
            </a:r>
            <a:r>
              <a:rPr lang="en-US" altLang="zh-CN" sz="3600" dirty="0" smtClean="0">
                <a:latin typeface="Arial" panose="020B0604020202020204" pitchFamily="34" charset="0"/>
              </a:rPr>
              <a:t>—</a:t>
            </a:r>
            <a:r>
              <a:rPr lang="zh-CN" altLang="en-US" dirty="0" smtClean="0">
                <a:ea typeface="宋体" pitchFamily="2" charset="-122"/>
              </a:rPr>
              <a:t>算法</a:t>
            </a:r>
            <a:endParaRPr lang="en-US" altLang="zh-CN" dirty="0" smtClean="0">
              <a:ea typeface="宋体" pitchFamily="2" charset="-122"/>
            </a:endParaRPr>
          </a:p>
        </p:txBody>
      </p:sp>
      <p:sp>
        <p:nvSpPr>
          <p:cNvPr id="9218" name="灯片编号占位符 4"/>
          <p:cNvSpPr>
            <a:spLocks noGrp="1"/>
          </p:cNvSpPr>
          <p:nvPr>
            <p:ph type="sldNum" sz="quarter" idx="12"/>
          </p:nvPr>
        </p:nvSpPr>
        <p:spPr>
          <a:xfrm>
            <a:off x="7061200" y="6426200"/>
            <a:ext cx="1905000" cy="304800"/>
          </a:xfrm>
          <a:prstGeom prst="rect">
            <a:avLst/>
          </a:prstGeom>
          <a:noFill/>
          <a:ln>
            <a:miter lim="800000"/>
            <a:headEnd/>
            <a:tailEnd/>
          </a:ln>
        </p:spPr>
        <p:txBody>
          <a:bodyPr/>
          <a:lstStyle/>
          <a:p>
            <a:r>
              <a:rPr lang="en-US" altLang="zh-CN" smtClean="0">
                <a:ea typeface="宋体" charset="-122"/>
              </a:rPr>
              <a:t>1-</a:t>
            </a:r>
            <a:fld id="{3B67706E-DB41-4336-B876-B6462FE63BEC}" type="slidenum">
              <a:rPr lang="en-US" altLang="zh-CN" smtClean="0">
                <a:ea typeface="宋体" charset="-122"/>
              </a:rPr>
              <a:pPr/>
              <a:t>20</a:t>
            </a:fld>
            <a:endParaRPr lang="en-US" altLang="zh-CN" smtClean="0">
              <a:ea typeface="宋体" charset="-122"/>
            </a:endParaRPr>
          </a:p>
        </p:txBody>
      </p:sp>
      <p:sp>
        <p:nvSpPr>
          <p:cNvPr id="9220" name="Rectangle 4"/>
          <p:cNvSpPr>
            <a:spLocks noChangeArrowheads="1"/>
          </p:cNvSpPr>
          <p:nvPr/>
        </p:nvSpPr>
        <p:spPr bwMode="auto">
          <a:xfrm>
            <a:off x="8723313" y="6218238"/>
            <a:ext cx="184150" cy="473075"/>
          </a:xfrm>
          <a:prstGeom prst="rect">
            <a:avLst/>
          </a:prstGeom>
          <a:noFill/>
          <a:ln w="12700">
            <a:noFill/>
            <a:miter lim="800000"/>
            <a:headEnd type="none" w="sm" len="sm"/>
            <a:tailEnd type="none" w="sm" len="sm"/>
          </a:ln>
        </p:spPr>
        <p:txBody>
          <a:bodyPr wrap="none" anchor="ctr">
            <a:spAutoFit/>
          </a:bodyPr>
          <a:lstStyle/>
          <a:p>
            <a:endParaRPr lang="zh-CN" altLang="zh-CN">
              <a:ea typeface="宋体" charset="-122"/>
            </a:endParaRPr>
          </a:p>
        </p:txBody>
      </p:sp>
      <p:sp>
        <p:nvSpPr>
          <p:cNvPr id="8" name="Rectangle 3"/>
          <p:cNvSpPr txBox="1">
            <a:spLocks noChangeArrowheads="1"/>
          </p:cNvSpPr>
          <p:nvPr/>
        </p:nvSpPr>
        <p:spPr bwMode="auto">
          <a:xfrm>
            <a:off x="457200" y="1524000"/>
            <a:ext cx="8229600" cy="4530725"/>
          </a:xfrm>
          <a:prstGeom prst="rect">
            <a:avLst/>
          </a:prstGeom>
          <a:noFill/>
          <a:ln>
            <a:noFill/>
          </a:ln>
          <a:extLst/>
        </p:spPr>
        <p:txBody>
          <a:bodyPr/>
          <a:lstStyle>
            <a:lvl1pPr marL="342900" indent="-342900"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nSpc>
                <a:spcPct val="150000"/>
              </a:lnSpc>
              <a:defRPr/>
            </a:pPr>
            <a:r>
              <a:rPr lang="zh-CN" altLang="en-US" sz="2800" dirty="0" smtClean="0">
                <a:solidFill>
                  <a:schemeClr val="tx1"/>
                </a:solidFill>
                <a:ea typeface="宋体" pitchFamily="2" charset="-122"/>
              </a:rPr>
              <a:t>算法是若干指令的</a:t>
            </a:r>
            <a:r>
              <a:rPr lang="zh-CN" altLang="en-US" sz="2800" dirty="0" smtClean="0">
                <a:solidFill>
                  <a:srgbClr val="FF0000"/>
                </a:solidFill>
                <a:ea typeface="宋体" pitchFamily="2" charset="-122"/>
              </a:rPr>
              <a:t>有穷序列</a:t>
            </a:r>
            <a:r>
              <a:rPr lang="zh-CN" altLang="en-US" sz="2800" dirty="0" smtClean="0">
                <a:solidFill>
                  <a:schemeClr val="tx1"/>
                </a:solidFill>
                <a:ea typeface="宋体" pitchFamily="2" charset="-122"/>
              </a:rPr>
              <a:t>，满足性质</a:t>
            </a:r>
            <a:r>
              <a:rPr lang="zh-CN" altLang="en-US" sz="2000" dirty="0" smtClean="0">
                <a:solidFill>
                  <a:schemeClr val="tx1"/>
                </a:solidFill>
                <a:ea typeface="宋体" pitchFamily="2" charset="-122"/>
              </a:rPr>
              <a:t>：</a:t>
            </a:r>
          </a:p>
          <a:p>
            <a:pPr lvl="1">
              <a:lnSpc>
                <a:spcPct val="150000"/>
              </a:lnSpc>
              <a:defRPr/>
            </a:pPr>
            <a:r>
              <a:rPr lang="zh-CN" altLang="en-US" sz="2400" dirty="0" smtClean="0">
                <a:solidFill>
                  <a:srgbClr val="FF0000"/>
                </a:solidFill>
                <a:ea typeface="宋体" pitchFamily="2" charset="-122"/>
              </a:rPr>
              <a:t>输入</a:t>
            </a:r>
            <a:r>
              <a:rPr lang="zh-CN" altLang="en-US" sz="2400" dirty="0" smtClean="0">
                <a:solidFill>
                  <a:schemeClr val="tx1"/>
                </a:solidFill>
                <a:ea typeface="宋体" pitchFamily="2" charset="-122"/>
              </a:rPr>
              <a:t>：有外部提供的量作为算法的输入。</a:t>
            </a:r>
          </a:p>
          <a:p>
            <a:pPr lvl="1">
              <a:lnSpc>
                <a:spcPct val="150000"/>
              </a:lnSpc>
              <a:defRPr/>
            </a:pPr>
            <a:r>
              <a:rPr lang="zh-CN" altLang="en-US" sz="2400" dirty="0" smtClean="0">
                <a:solidFill>
                  <a:srgbClr val="FF0000"/>
                </a:solidFill>
                <a:ea typeface="宋体" pitchFamily="2" charset="-122"/>
              </a:rPr>
              <a:t>输出</a:t>
            </a:r>
            <a:r>
              <a:rPr lang="zh-CN" altLang="en-US" sz="2400" dirty="0" smtClean="0">
                <a:solidFill>
                  <a:schemeClr val="tx1"/>
                </a:solidFill>
                <a:ea typeface="宋体" pitchFamily="2" charset="-122"/>
              </a:rPr>
              <a:t>：算法产生至少一个量作为输出。</a:t>
            </a:r>
          </a:p>
          <a:p>
            <a:pPr lvl="1">
              <a:lnSpc>
                <a:spcPct val="150000"/>
              </a:lnSpc>
              <a:defRPr/>
            </a:pPr>
            <a:r>
              <a:rPr lang="zh-CN" altLang="en-US" sz="2400" dirty="0" smtClean="0">
                <a:solidFill>
                  <a:srgbClr val="FF0000"/>
                </a:solidFill>
                <a:ea typeface="宋体" pitchFamily="2" charset="-122"/>
              </a:rPr>
              <a:t>确定性</a:t>
            </a:r>
            <a:r>
              <a:rPr lang="zh-CN" altLang="en-US" sz="2400" dirty="0" smtClean="0">
                <a:solidFill>
                  <a:schemeClr val="tx1"/>
                </a:solidFill>
                <a:ea typeface="宋体" pitchFamily="2" charset="-122"/>
              </a:rPr>
              <a:t>：组成算法的每条指令是清晰，无歧义的。</a:t>
            </a:r>
          </a:p>
          <a:p>
            <a:pPr lvl="1">
              <a:lnSpc>
                <a:spcPct val="150000"/>
              </a:lnSpc>
              <a:defRPr/>
            </a:pPr>
            <a:r>
              <a:rPr lang="zh-CN" altLang="en-US" sz="2400" dirty="0" smtClean="0">
                <a:solidFill>
                  <a:srgbClr val="FF0000"/>
                </a:solidFill>
                <a:ea typeface="宋体" pitchFamily="2" charset="-122"/>
              </a:rPr>
              <a:t>有限性</a:t>
            </a:r>
            <a:r>
              <a:rPr lang="zh-CN" altLang="en-US" sz="2400" dirty="0" smtClean="0">
                <a:solidFill>
                  <a:schemeClr val="tx1"/>
                </a:solidFill>
                <a:ea typeface="宋体" pitchFamily="2" charset="-122"/>
              </a:rPr>
              <a:t>：算法中每条指令的执行次数是有限的，执行每条指令的时间也是有限的。</a:t>
            </a:r>
          </a:p>
          <a:p>
            <a:pPr lvl="1">
              <a:lnSpc>
                <a:spcPct val="150000"/>
              </a:lnSpc>
              <a:defRPr/>
            </a:pPr>
            <a:r>
              <a:rPr lang="zh-CN" altLang="en-US" sz="2400" dirty="0" smtClean="0">
                <a:solidFill>
                  <a:srgbClr val="FF0000"/>
                </a:solidFill>
                <a:ea typeface="宋体" pitchFamily="2" charset="-122"/>
              </a:rPr>
              <a:t>可行性</a:t>
            </a:r>
            <a:r>
              <a:rPr lang="en-US" altLang="zh-CN" sz="2400" dirty="0" smtClean="0">
                <a:solidFill>
                  <a:schemeClr val="tx1"/>
                </a:solidFill>
                <a:ea typeface="宋体" pitchFamily="2" charset="-122"/>
              </a:rPr>
              <a:t>: </a:t>
            </a:r>
            <a:r>
              <a:rPr lang="zh-CN" altLang="en-US" sz="2400" dirty="0" smtClean="0">
                <a:solidFill>
                  <a:schemeClr val="tx1"/>
                </a:solidFill>
                <a:ea typeface="宋体" pitchFamily="2" charset="-122"/>
              </a:rPr>
              <a:t>算法是能够有效解决问题的。</a:t>
            </a:r>
          </a:p>
        </p:txBody>
      </p:sp>
    </p:spTree>
    <p:extLst>
      <p:ext uri="{BB962C8B-B14F-4D97-AF65-F5344CB8AC3E}">
        <p14:creationId xmlns:p14="http://schemas.microsoft.com/office/powerpoint/2010/main" val="3803894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down)">
                                      <p:cBhvr>
                                        <p:cTn id="3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1" name="Rectangle 2"/>
          <p:cNvSpPr>
            <a:spLocks noGrp="1" noChangeArrowheads="1"/>
          </p:cNvSpPr>
          <p:nvPr>
            <p:ph type="title"/>
          </p:nvPr>
        </p:nvSpPr>
        <p:spPr>
          <a:xfrm>
            <a:off x="533400" y="442913"/>
            <a:ext cx="8229600" cy="785150"/>
          </a:xfrm>
        </p:spPr>
        <p:txBody>
          <a:bodyPr/>
          <a:lstStyle/>
          <a:p>
            <a:pPr eaLnBrk="1" hangingPunct="1"/>
            <a:r>
              <a:rPr lang="en-US" altLang="zh-CN" dirty="0" smtClean="0"/>
              <a:t>1.1 </a:t>
            </a:r>
            <a:r>
              <a:rPr lang="zh-CN" altLang="en-US" dirty="0" smtClean="0"/>
              <a:t>算法</a:t>
            </a:r>
            <a:r>
              <a:rPr lang="zh-CN" altLang="en-US" dirty="0"/>
              <a:t>基本概念</a:t>
            </a:r>
            <a:r>
              <a:rPr lang="en-US" altLang="zh-CN" sz="3600" dirty="0" smtClean="0">
                <a:latin typeface="Arial" panose="020B0604020202020204" pitchFamily="34" charset="0"/>
              </a:rPr>
              <a:t>—</a:t>
            </a:r>
            <a:r>
              <a:rPr lang="zh-CN" altLang="en-US" sz="3600" dirty="0" smtClean="0"/>
              <a:t>问题求解过程</a:t>
            </a:r>
          </a:p>
        </p:txBody>
      </p:sp>
      <p:grpSp>
        <p:nvGrpSpPr>
          <p:cNvPr id="7" name="组合 6"/>
          <p:cNvGrpSpPr/>
          <p:nvPr/>
        </p:nvGrpSpPr>
        <p:grpSpPr>
          <a:xfrm>
            <a:off x="1447800" y="1524000"/>
            <a:ext cx="4032250" cy="4754562"/>
            <a:chOff x="2024063" y="1916113"/>
            <a:chExt cx="4032250" cy="4754562"/>
          </a:xfrm>
        </p:grpSpPr>
        <p:sp>
          <p:nvSpPr>
            <p:cNvPr id="3" name="Rectangle 14"/>
            <p:cNvSpPr>
              <a:spLocks noChangeArrowheads="1"/>
            </p:cNvSpPr>
            <p:nvPr/>
          </p:nvSpPr>
          <p:spPr bwMode="auto">
            <a:xfrm>
              <a:off x="3248025" y="4797353"/>
              <a:ext cx="1800225" cy="433315"/>
            </a:xfrm>
            <a:prstGeom prst="rect">
              <a:avLst/>
            </a:prstGeom>
            <a:solidFill>
              <a:schemeClr val="bg1"/>
            </a:solidFill>
            <a:ln w="25400">
              <a:solidFill>
                <a:schemeClr val="accent4">
                  <a:lumMod val="95000"/>
                  <a:lumOff val="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smtClean="0">
                  <a:ln>
                    <a:noFill/>
                  </a:ln>
                  <a:solidFill>
                    <a:schemeClr val="tx1"/>
                  </a:solidFill>
                  <a:effectLst/>
                  <a:latin typeface="Tahoma" panose="020B0604030504040204" pitchFamily="34" charset="0"/>
                  <a:ea typeface="华文新魏" panose="02010800040101010101" pitchFamily="2" charset="-122"/>
                </a:rPr>
                <a:t>证明正确性</a:t>
              </a:r>
            </a:p>
          </p:txBody>
        </p:sp>
        <p:sp>
          <p:nvSpPr>
            <p:cNvPr id="4" name="Rectangle 15"/>
            <p:cNvSpPr>
              <a:spLocks noChangeArrowheads="1"/>
            </p:cNvSpPr>
            <p:nvPr/>
          </p:nvSpPr>
          <p:spPr bwMode="auto">
            <a:xfrm>
              <a:off x="3248025" y="5517357"/>
              <a:ext cx="1800225" cy="433315"/>
            </a:xfrm>
            <a:prstGeom prst="rect">
              <a:avLst/>
            </a:prstGeom>
            <a:solidFill>
              <a:schemeClr val="bg1"/>
            </a:solidFill>
            <a:ln w="25400">
              <a:solidFill>
                <a:schemeClr val="accent4">
                  <a:lumMod val="95000"/>
                  <a:lumOff val="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rPr>
                <a:t>分析算法</a:t>
              </a:r>
            </a:p>
          </p:txBody>
        </p:sp>
        <p:sp>
          <p:nvSpPr>
            <p:cNvPr id="5" name="Rectangle 16"/>
            <p:cNvSpPr>
              <a:spLocks noChangeArrowheads="1"/>
            </p:cNvSpPr>
            <p:nvPr/>
          </p:nvSpPr>
          <p:spPr bwMode="auto">
            <a:xfrm>
              <a:off x="3248025" y="6237360"/>
              <a:ext cx="1800225" cy="433315"/>
            </a:xfrm>
            <a:prstGeom prst="rect">
              <a:avLst/>
            </a:prstGeom>
            <a:solidFill>
              <a:schemeClr val="bg1"/>
            </a:solidFill>
            <a:ln w="25400">
              <a:solidFill>
                <a:schemeClr val="accent4">
                  <a:lumMod val="95000"/>
                  <a:lumOff val="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ahoma" panose="020B0604030504040204" pitchFamily="34" charset="0"/>
                  <a:ea typeface="华文新魏" panose="02010800040101010101" pitchFamily="2" charset="-122"/>
                </a:rPr>
                <a:t>设计程序</a:t>
              </a:r>
            </a:p>
          </p:txBody>
        </p:sp>
        <p:sp>
          <p:nvSpPr>
            <p:cNvPr id="1032" name="Oval 17"/>
            <p:cNvSpPr>
              <a:spLocks noChangeArrowheads="1"/>
            </p:cNvSpPr>
            <p:nvPr/>
          </p:nvSpPr>
          <p:spPr bwMode="auto">
            <a:xfrm>
              <a:off x="3105150" y="1916113"/>
              <a:ext cx="2016125" cy="431800"/>
            </a:xfrm>
            <a:prstGeom prst="ellipse">
              <a:avLst/>
            </a:prstGeom>
            <a:solidFill>
              <a:schemeClr val="bg1"/>
            </a:solidFill>
            <a:ln w="25400">
              <a:solidFill>
                <a:schemeClr val="accent4">
                  <a:lumMod val="95000"/>
                  <a:lumOff val="5000"/>
                </a:schemeClr>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kumimoji="1" lang="zh-CN" altLang="en-US" sz="2000" dirty="0">
                  <a:latin typeface="Arial" panose="020B0604020202020204" pitchFamily="34" charset="0"/>
                </a:rPr>
                <a:t>理解问题</a:t>
              </a:r>
            </a:p>
          </p:txBody>
        </p:sp>
        <p:sp>
          <p:nvSpPr>
            <p:cNvPr id="1033" name="Oval 18"/>
            <p:cNvSpPr>
              <a:spLocks noChangeArrowheads="1"/>
            </p:cNvSpPr>
            <p:nvPr/>
          </p:nvSpPr>
          <p:spPr bwMode="auto">
            <a:xfrm>
              <a:off x="2528888" y="2565400"/>
              <a:ext cx="3095625" cy="1223963"/>
            </a:xfrm>
            <a:prstGeom prst="ellipse">
              <a:avLst/>
            </a:prstGeom>
            <a:solidFill>
              <a:schemeClr val="bg1"/>
            </a:solidFill>
            <a:ln w="25400">
              <a:solidFill>
                <a:schemeClr val="accent4">
                  <a:lumMod val="95000"/>
                  <a:lumOff val="5000"/>
                </a:schemeClr>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kumimoji="1" lang="zh-CN" altLang="en-US" sz="2000" dirty="0">
                  <a:latin typeface="Arial" panose="020B0604020202020204" pitchFamily="34" charset="0"/>
                </a:rPr>
                <a:t>精确解或近似解</a:t>
              </a:r>
            </a:p>
            <a:p>
              <a:pPr algn="ctr" eaLnBrk="1" hangingPunct="1">
                <a:spcBef>
                  <a:spcPct val="0"/>
                </a:spcBef>
                <a:buClrTx/>
                <a:buSzTx/>
                <a:buFontTx/>
                <a:buNone/>
              </a:pPr>
              <a:r>
                <a:rPr kumimoji="1" lang="zh-CN" altLang="en-US" sz="2000" dirty="0">
                  <a:latin typeface="Arial" panose="020B0604020202020204" pitchFamily="34" charset="0"/>
                </a:rPr>
                <a:t>选择数据结构</a:t>
              </a:r>
            </a:p>
            <a:p>
              <a:pPr algn="ctr" eaLnBrk="1" hangingPunct="1">
                <a:spcBef>
                  <a:spcPct val="0"/>
                </a:spcBef>
                <a:buClrTx/>
                <a:buSzTx/>
                <a:buFontTx/>
                <a:buNone/>
              </a:pPr>
              <a:r>
                <a:rPr kumimoji="1" lang="zh-CN" altLang="en-US" sz="2000" dirty="0">
                  <a:latin typeface="Arial" panose="020B0604020202020204" pitchFamily="34" charset="0"/>
                </a:rPr>
                <a:t>算法设计策略</a:t>
              </a:r>
            </a:p>
          </p:txBody>
        </p:sp>
        <p:sp>
          <p:nvSpPr>
            <p:cNvPr id="1034" name="Rectangle 19"/>
            <p:cNvSpPr>
              <a:spLocks noChangeArrowheads="1"/>
            </p:cNvSpPr>
            <p:nvPr/>
          </p:nvSpPr>
          <p:spPr bwMode="auto">
            <a:xfrm>
              <a:off x="3248025" y="4076700"/>
              <a:ext cx="1800225" cy="433388"/>
            </a:xfrm>
            <a:prstGeom prst="rect">
              <a:avLst/>
            </a:prstGeom>
            <a:solidFill>
              <a:schemeClr val="bg1"/>
            </a:solidFill>
            <a:ln w="25400">
              <a:solidFill>
                <a:schemeClr val="accent4">
                  <a:lumMod val="95000"/>
                  <a:lumOff val="5000"/>
                </a:schemeClr>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kumimoji="1" lang="zh-CN" altLang="en-US" sz="2000">
                  <a:latin typeface="Arial" panose="020B0604020202020204" pitchFamily="34" charset="0"/>
                </a:rPr>
                <a:t>设计算法</a:t>
              </a:r>
            </a:p>
          </p:txBody>
        </p:sp>
        <p:sp>
          <p:nvSpPr>
            <p:cNvPr id="1035" name="Line 20"/>
            <p:cNvSpPr>
              <a:spLocks noChangeShapeType="1"/>
            </p:cNvSpPr>
            <p:nvPr/>
          </p:nvSpPr>
          <p:spPr bwMode="auto">
            <a:xfrm>
              <a:off x="4113213" y="2349500"/>
              <a:ext cx="0" cy="2159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6" name="Line 21"/>
            <p:cNvSpPr>
              <a:spLocks noChangeShapeType="1"/>
            </p:cNvSpPr>
            <p:nvPr/>
          </p:nvSpPr>
          <p:spPr bwMode="auto">
            <a:xfrm>
              <a:off x="4113213" y="4508500"/>
              <a:ext cx="0" cy="2889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7" name="Line 22"/>
            <p:cNvSpPr>
              <a:spLocks noChangeShapeType="1"/>
            </p:cNvSpPr>
            <p:nvPr/>
          </p:nvSpPr>
          <p:spPr bwMode="auto">
            <a:xfrm>
              <a:off x="4113213" y="3789363"/>
              <a:ext cx="0" cy="2873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8" name="Line 23"/>
            <p:cNvSpPr>
              <a:spLocks noChangeShapeType="1"/>
            </p:cNvSpPr>
            <p:nvPr/>
          </p:nvSpPr>
          <p:spPr bwMode="auto">
            <a:xfrm>
              <a:off x="4113213" y="5229225"/>
              <a:ext cx="0" cy="2873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39" name="Line 24"/>
            <p:cNvSpPr>
              <a:spLocks noChangeShapeType="1"/>
            </p:cNvSpPr>
            <p:nvPr/>
          </p:nvSpPr>
          <p:spPr bwMode="auto">
            <a:xfrm>
              <a:off x="4113213" y="5949950"/>
              <a:ext cx="0" cy="2873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0" name="Line 25"/>
            <p:cNvSpPr>
              <a:spLocks noChangeShapeType="1"/>
            </p:cNvSpPr>
            <p:nvPr/>
          </p:nvSpPr>
          <p:spPr bwMode="auto">
            <a:xfrm flipH="1">
              <a:off x="2024063" y="3213100"/>
              <a:ext cx="504825"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1" name="Line 26"/>
            <p:cNvSpPr>
              <a:spLocks noChangeShapeType="1"/>
            </p:cNvSpPr>
            <p:nvPr/>
          </p:nvSpPr>
          <p:spPr bwMode="auto">
            <a:xfrm>
              <a:off x="5624513" y="3140075"/>
              <a:ext cx="431800"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2" name="Line 27"/>
            <p:cNvSpPr>
              <a:spLocks noChangeShapeType="1"/>
            </p:cNvSpPr>
            <p:nvPr/>
          </p:nvSpPr>
          <p:spPr bwMode="auto">
            <a:xfrm>
              <a:off x="2024063" y="3213100"/>
              <a:ext cx="0" cy="10080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3" name="Line 28"/>
            <p:cNvSpPr>
              <a:spLocks noChangeShapeType="1"/>
            </p:cNvSpPr>
            <p:nvPr/>
          </p:nvSpPr>
          <p:spPr bwMode="auto">
            <a:xfrm>
              <a:off x="2024063" y="4221163"/>
              <a:ext cx="12239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4" name="Line 29"/>
            <p:cNvSpPr>
              <a:spLocks noChangeShapeType="1"/>
            </p:cNvSpPr>
            <p:nvPr/>
          </p:nvSpPr>
          <p:spPr bwMode="auto">
            <a:xfrm>
              <a:off x="6056313" y="3140075"/>
              <a:ext cx="0" cy="10810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5" name="Line 30"/>
            <p:cNvSpPr>
              <a:spLocks noChangeShapeType="1"/>
            </p:cNvSpPr>
            <p:nvPr/>
          </p:nvSpPr>
          <p:spPr bwMode="auto">
            <a:xfrm flipH="1">
              <a:off x="5048250" y="4221163"/>
              <a:ext cx="10080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6" name="Line 31"/>
            <p:cNvSpPr>
              <a:spLocks noChangeShapeType="1"/>
            </p:cNvSpPr>
            <p:nvPr/>
          </p:nvSpPr>
          <p:spPr bwMode="auto">
            <a:xfrm>
              <a:off x="5048250" y="5732463"/>
              <a:ext cx="5048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7" name="Line 32"/>
            <p:cNvSpPr>
              <a:spLocks noChangeShapeType="1"/>
            </p:cNvSpPr>
            <p:nvPr/>
          </p:nvSpPr>
          <p:spPr bwMode="auto">
            <a:xfrm flipV="1">
              <a:off x="5553075" y="4221163"/>
              <a:ext cx="0" cy="15113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8" name="Line 33"/>
            <p:cNvSpPr>
              <a:spLocks noChangeShapeType="1"/>
            </p:cNvSpPr>
            <p:nvPr/>
          </p:nvSpPr>
          <p:spPr bwMode="auto">
            <a:xfrm>
              <a:off x="2528888" y="4221163"/>
              <a:ext cx="0" cy="792162"/>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9" name="Line 34"/>
            <p:cNvSpPr>
              <a:spLocks noChangeShapeType="1"/>
            </p:cNvSpPr>
            <p:nvPr/>
          </p:nvSpPr>
          <p:spPr bwMode="auto">
            <a:xfrm>
              <a:off x="2528888" y="5013325"/>
              <a:ext cx="7191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2713" y="4267200"/>
            <a:ext cx="4439151" cy="2388865"/>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2864419834"/>
              </p:ext>
            </p:extLst>
          </p:nvPr>
        </p:nvGraphicFramePr>
        <p:xfrm>
          <a:off x="6781800" y="4191000"/>
          <a:ext cx="858982" cy="609600"/>
        </p:xfrm>
        <a:graphic>
          <a:graphicData uri="http://schemas.openxmlformats.org/presentationml/2006/ole">
            <mc:AlternateContent xmlns:mc="http://schemas.openxmlformats.org/markup-compatibility/2006">
              <mc:Choice xmlns:v="urn:schemas-microsoft-com:vml" Requires="v">
                <p:oleObj spid="_x0000_s187420" name="Equation" r:id="rId5" imgW="393480" imgH="279360" progId="Equation.DSMT4">
                  <p:embed/>
                </p:oleObj>
              </mc:Choice>
              <mc:Fallback>
                <p:oleObj name="Equation" r:id="rId5" imgW="393480" imgH="279360" progId="Equation.DSMT4">
                  <p:embed/>
                  <p:pic>
                    <p:nvPicPr>
                      <p:cNvPr id="0" name=""/>
                      <p:cNvPicPr/>
                      <p:nvPr/>
                    </p:nvPicPr>
                    <p:blipFill>
                      <a:blip r:embed="rId6"/>
                      <a:stretch>
                        <a:fillRect/>
                      </a:stretch>
                    </p:blipFill>
                    <p:spPr>
                      <a:xfrm>
                        <a:off x="6781800" y="4191000"/>
                        <a:ext cx="858982" cy="609600"/>
                      </a:xfrm>
                      <a:prstGeom prst="rect">
                        <a:avLst/>
                      </a:prstGeom>
                    </p:spPr>
                  </p:pic>
                </p:oleObj>
              </mc:Fallback>
            </mc:AlternateContent>
          </a:graphicData>
        </a:graphic>
      </p:graphicFrame>
    </p:spTree>
    <p:extLst>
      <p:ext uri="{BB962C8B-B14F-4D97-AF65-F5344CB8AC3E}">
        <p14:creationId xmlns:p14="http://schemas.microsoft.com/office/powerpoint/2010/main" val="8371243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81000" y="457200"/>
            <a:ext cx="8458200" cy="762000"/>
          </a:xfrm>
        </p:spPr>
        <p:txBody>
          <a:bodyPr/>
          <a:lstStyle/>
          <a:p>
            <a:r>
              <a:rPr lang="en-US" altLang="zh-CN" dirty="0"/>
              <a:t>1.1 </a:t>
            </a:r>
            <a:r>
              <a:rPr lang="zh-CN" altLang="en-US" dirty="0"/>
              <a:t>算法基本概念</a:t>
            </a:r>
            <a:r>
              <a:rPr lang="en-US" altLang="zh-CN" dirty="0" smtClean="0"/>
              <a:t>—</a:t>
            </a:r>
            <a:r>
              <a:rPr lang="zh-CN" altLang="en-US" dirty="0" smtClean="0"/>
              <a:t>算法分析 </a:t>
            </a:r>
            <a:r>
              <a:rPr lang="en-US" altLang="zh-CN" dirty="0" smtClean="0"/>
              <a:t>(1)</a:t>
            </a:r>
            <a:r>
              <a:rPr lang="zh-CN" altLang="en-US" dirty="0" smtClean="0"/>
              <a:t> </a:t>
            </a:r>
            <a:endParaRPr lang="zh-CN" altLang="en-US" dirty="0"/>
          </a:p>
        </p:txBody>
      </p:sp>
      <p:sp>
        <p:nvSpPr>
          <p:cNvPr id="44035" name="Rectangle 3"/>
          <p:cNvSpPr>
            <a:spLocks noGrp="1" noChangeArrowheads="1"/>
          </p:cNvSpPr>
          <p:nvPr>
            <p:ph idx="1"/>
          </p:nvPr>
        </p:nvSpPr>
        <p:spPr>
          <a:xfrm>
            <a:off x="609600" y="1447800"/>
            <a:ext cx="8305800" cy="5029200"/>
          </a:xfrm>
        </p:spPr>
        <p:txBody>
          <a:bodyPr/>
          <a:lstStyle/>
          <a:p>
            <a:pPr eaLnBrk="1" hangingPunct="1">
              <a:lnSpc>
                <a:spcPct val="120000"/>
              </a:lnSpc>
              <a:spcBef>
                <a:spcPts val="600"/>
              </a:spcBef>
            </a:pPr>
            <a:r>
              <a:rPr lang="en-US" altLang="zh-CN" sz="2400" b="1" dirty="0" smtClean="0">
                <a:latin typeface="宋体" panose="02010600030101010101" pitchFamily="2" charset="-122"/>
                <a:ea typeface="宋体" panose="02010600030101010101" pitchFamily="2" charset="-122"/>
              </a:rPr>
              <a:t>《</a:t>
            </a:r>
            <a:r>
              <a:rPr lang="zh-CN" altLang="en-US" sz="2400" b="1" dirty="0" smtClean="0">
                <a:latin typeface="宋体" panose="02010600030101010101" pitchFamily="2" charset="-122"/>
                <a:ea typeface="宋体" panose="02010600030101010101" pitchFamily="2" charset="-122"/>
              </a:rPr>
              <a:t>数据结构与算法</a:t>
            </a:r>
            <a:r>
              <a:rPr lang="en-US" altLang="zh-CN" sz="2400" b="1" dirty="0" smtClean="0">
                <a:latin typeface="宋体" panose="02010600030101010101" pitchFamily="2" charset="-122"/>
                <a:ea typeface="宋体" panose="02010600030101010101" pitchFamily="2" charset="-122"/>
              </a:rPr>
              <a:t>》</a:t>
            </a:r>
            <a:r>
              <a:rPr lang="zh-CN" altLang="en-US" sz="2400" b="1" dirty="0" smtClean="0">
                <a:latin typeface="宋体" panose="02010600030101010101" pitchFamily="2" charset="-122"/>
                <a:ea typeface="宋体" panose="02010600030101010101" pitchFamily="2" charset="-122"/>
              </a:rPr>
              <a:t>课讲述过一部分算法分析基础；</a:t>
            </a:r>
            <a:endParaRPr lang="en-US" altLang="zh-CN" sz="2400" b="1" dirty="0" smtClean="0">
              <a:latin typeface="宋体" panose="02010600030101010101" pitchFamily="2" charset="-122"/>
              <a:ea typeface="宋体" panose="02010600030101010101" pitchFamily="2" charset="-122"/>
            </a:endParaRPr>
          </a:p>
          <a:p>
            <a:pPr eaLnBrk="1" hangingPunct="1">
              <a:lnSpc>
                <a:spcPct val="120000"/>
              </a:lnSpc>
              <a:spcBef>
                <a:spcPts val="600"/>
              </a:spcBef>
            </a:pPr>
            <a:r>
              <a:rPr lang="zh-CN" altLang="en-US" sz="2400" b="1" dirty="0" smtClean="0">
                <a:solidFill>
                  <a:srgbClr val="FF0000"/>
                </a:solidFill>
                <a:latin typeface="宋体" panose="02010600030101010101" pitchFamily="2" charset="-122"/>
                <a:ea typeface="宋体" panose="02010600030101010101" pitchFamily="2" charset="-122"/>
              </a:rPr>
              <a:t>如何判断</a:t>
            </a:r>
            <a:r>
              <a:rPr lang="zh-CN" altLang="en-US" sz="2400" b="1" dirty="0" smtClean="0">
                <a:latin typeface="宋体" panose="02010600030101010101" pitchFamily="2" charset="-122"/>
                <a:ea typeface="宋体" panose="02010600030101010101" pitchFamily="2" charset="-122"/>
              </a:rPr>
              <a:t>算法“好”与”不好”</a:t>
            </a:r>
            <a:r>
              <a:rPr lang="en-US" altLang="zh-CN" sz="2400" b="1" dirty="0" smtClean="0">
                <a:latin typeface="宋体" panose="02010600030101010101" pitchFamily="2" charset="-122"/>
                <a:ea typeface="宋体" panose="02010600030101010101" pitchFamily="2" charset="-122"/>
              </a:rPr>
              <a:t>?</a:t>
            </a:r>
          </a:p>
          <a:p>
            <a:pPr lvl="1" eaLnBrk="1" hangingPunct="1">
              <a:lnSpc>
                <a:spcPct val="120000"/>
              </a:lnSpc>
              <a:spcBef>
                <a:spcPts val="600"/>
              </a:spcBef>
            </a:pPr>
            <a:r>
              <a:rPr lang="zh-CN" altLang="en-US" sz="2000" b="1" dirty="0" smtClean="0">
                <a:solidFill>
                  <a:srgbClr val="FF0000"/>
                </a:solidFill>
                <a:latin typeface="宋体" panose="02010600030101010101" pitchFamily="2" charset="-122"/>
                <a:ea typeface="宋体" panose="02010600030101010101" pitchFamily="2" charset="-122"/>
              </a:rPr>
              <a:t>正确性</a:t>
            </a:r>
          </a:p>
          <a:p>
            <a:pPr lvl="1" eaLnBrk="1" hangingPunct="1">
              <a:lnSpc>
                <a:spcPct val="120000"/>
              </a:lnSpc>
              <a:spcBef>
                <a:spcPts val="600"/>
              </a:spcBef>
            </a:pPr>
            <a:r>
              <a:rPr lang="zh-CN" altLang="en-US" sz="2000" b="1" dirty="0" smtClean="0">
                <a:latin typeface="宋体" panose="02010600030101010101" pitchFamily="2" charset="-122"/>
                <a:ea typeface="宋体" panose="02010600030101010101" pitchFamily="2" charset="-122"/>
              </a:rPr>
              <a:t>时间效率</a:t>
            </a:r>
          </a:p>
          <a:p>
            <a:pPr lvl="1" eaLnBrk="1" hangingPunct="1">
              <a:lnSpc>
                <a:spcPct val="120000"/>
              </a:lnSpc>
              <a:spcBef>
                <a:spcPts val="600"/>
              </a:spcBef>
            </a:pPr>
            <a:r>
              <a:rPr lang="zh-CN" altLang="en-US" sz="2000" b="1" dirty="0" smtClean="0">
                <a:latin typeface="宋体" panose="02010600030101010101" pitchFamily="2" charset="-122"/>
                <a:ea typeface="宋体" panose="02010600030101010101" pitchFamily="2" charset="-122"/>
              </a:rPr>
              <a:t>空间效率</a:t>
            </a:r>
          </a:p>
          <a:p>
            <a:pPr eaLnBrk="1" hangingPunct="1">
              <a:lnSpc>
                <a:spcPct val="120000"/>
              </a:lnSpc>
              <a:spcBef>
                <a:spcPts val="600"/>
              </a:spcBef>
            </a:pPr>
            <a:r>
              <a:rPr lang="zh-CN" altLang="en-US" sz="2400" b="1" dirty="0">
                <a:latin typeface="宋体" panose="02010600030101010101" pitchFamily="2" charset="-122"/>
                <a:ea typeface="宋体" panose="02010600030101010101" pitchFamily="2" charset="-122"/>
              </a:rPr>
              <a:t>算法分析是指对算法所需</a:t>
            </a:r>
            <a:r>
              <a:rPr lang="zh-CN" altLang="en-US" sz="2400" b="1" dirty="0" smtClean="0">
                <a:latin typeface="宋体" panose="02010600030101010101" pitchFamily="2" charset="-122"/>
                <a:ea typeface="宋体" panose="02010600030101010101" pitchFamily="2" charset="-122"/>
              </a:rPr>
              <a:t>的</a:t>
            </a:r>
            <a:r>
              <a:rPr lang="zh-CN" altLang="en-US" sz="2400" b="1" dirty="0" smtClean="0">
                <a:solidFill>
                  <a:srgbClr val="FF0000"/>
                </a:solidFill>
                <a:latin typeface="宋体" panose="02010600030101010101" pitchFamily="2" charset="-122"/>
                <a:ea typeface="宋体" panose="02010600030101010101" pitchFamily="2" charset="-122"/>
              </a:rPr>
              <a:t>时间</a:t>
            </a:r>
            <a:r>
              <a:rPr lang="zh-CN" altLang="en-US" sz="2400" b="1" dirty="0" smtClean="0">
                <a:latin typeface="宋体" panose="02010600030101010101" pitchFamily="2" charset="-122"/>
                <a:ea typeface="宋体" panose="02010600030101010101" pitchFamily="2" charset="-122"/>
              </a:rPr>
              <a:t>和</a:t>
            </a:r>
            <a:r>
              <a:rPr lang="zh-CN" altLang="en-US" sz="2400" b="1" dirty="0" smtClean="0">
                <a:solidFill>
                  <a:srgbClr val="FF0000"/>
                </a:solidFill>
                <a:latin typeface="宋体" panose="02010600030101010101" pitchFamily="2" charset="-122"/>
                <a:ea typeface="宋体" panose="02010600030101010101" pitchFamily="2" charset="-122"/>
              </a:rPr>
              <a:t>空间</a:t>
            </a:r>
            <a:r>
              <a:rPr lang="zh-CN" altLang="en-US" sz="2400" b="1" dirty="0" smtClean="0">
                <a:latin typeface="宋体" panose="02010600030101010101" pitchFamily="2" charset="-122"/>
                <a:ea typeface="宋体" panose="02010600030101010101" pitchFamily="2" charset="-122"/>
              </a:rPr>
              <a:t>等资源</a:t>
            </a:r>
            <a:r>
              <a:rPr lang="zh-CN" altLang="en-US" sz="2400" b="1" dirty="0">
                <a:latin typeface="宋体" panose="02010600030101010101" pitchFamily="2" charset="-122"/>
                <a:ea typeface="宋体" panose="02010600030101010101" pitchFamily="2" charset="-122"/>
              </a:rPr>
              <a:t>进行</a:t>
            </a:r>
            <a:r>
              <a:rPr lang="zh-CN" altLang="en-US" sz="2400" b="1" dirty="0" smtClean="0">
                <a:latin typeface="宋体" panose="02010600030101010101" pitchFamily="2" charset="-122"/>
                <a:ea typeface="宋体" panose="02010600030101010101" pitchFamily="2" charset="-122"/>
              </a:rPr>
              <a:t>预测</a:t>
            </a:r>
            <a:endParaRPr lang="en-US" altLang="zh-CN" sz="2400" b="1" dirty="0" smtClean="0">
              <a:latin typeface="宋体" panose="02010600030101010101" pitchFamily="2" charset="-122"/>
              <a:ea typeface="宋体" panose="02010600030101010101" pitchFamily="2" charset="-122"/>
            </a:endParaRPr>
          </a:p>
          <a:p>
            <a:pPr eaLnBrk="1" hangingPunct="1">
              <a:lnSpc>
                <a:spcPct val="120000"/>
              </a:lnSpc>
              <a:spcBef>
                <a:spcPts val="600"/>
              </a:spcBef>
            </a:pPr>
            <a:r>
              <a:rPr lang="zh-CN" altLang="en-US" sz="2400" b="1" dirty="0" smtClean="0">
                <a:latin typeface="宋体" panose="02010600030101010101" pitchFamily="2" charset="-122"/>
                <a:ea typeface="宋体" panose="02010600030101010101" pitchFamily="2" charset="-122"/>
              </a:rPr>
              <a:t>途径</a:t>
            </a:r>
          </a:p>
          <a:p>
            <a:pPr lvl="1" eaLnBrk="1" hangingPunct="1">
              <a:lnSpc>
                <a:spcPct val="120000"/>
              </a:lnSpc>
              <a:spcBef>
                <a:spcPts val="600"/>
              </a:spcBef>
            </a:pPr>
            <a:r>
              <a:rPr lang="zh-CN" altLang="en-US" sz="2000" b="1" dirty="0" smtClean="0">
                <a:latin typeface="宋体" panose="02010600030101010101" pitchFamily="2" charset="-122"/>
                <a:ea typeface="宋体" panose="02010600030101010101" pitchFamily="2" charset="-122"/>
              </a:rPr>
              <a:t>理论</a:t>
            </a:r>
            <a:r>
              <a:rPr lang="en-US" altLang="zh-CN" sz="2000" b="1" dirty="0" smtClean="0">
                <a:latin typeface="宋体" panose="02010600030101010101" pitchFamily="2" charset="-122"/>
                <a:ea typeface="宋体" panose="02010600030101010101" pitchFamily="2" charset="-122"/>
              </a:rPr>
              <a:t>/</a:t>
            </a:r>
            <a:r>
              <a:rPr lang="zh-CN" altLang="en-US" sz="2000" b="1" dirty="0" smtClean="0">
                <a:latin typeface="宋体" panose="02010600030101010101" pitchFamily="2" charset="-122"/>
                <a:ea typeface="宋体" panose="02010600030101010101" pitchFamily="2" charset="-122"/>
              </a:rPr>
              <a:t>数学上的分析        </a:t>
            </a:r>
            <a:r>
              <a:rPr lang="zh-CN" altLang="en-US" sz="2000" b="1" dirty="0" smtClean="0">
                <a:solidFill>
                  <a:srgbClr val="FF0000"/>
                </a:solidFill>
                <a:latin typeface="宋体" panose="02010600030101010101" pitchFamily="2" charset="-122"/>
                <a:ea typeface="宋体" panose="02010600030101010101" pitchFamily="2" charset="-122"/>
              </a:rPr>
              <a:t>先验分析</a:t>
            </a:r>
          </a:p>
          <a:p>
            <a:pPr lvl="1" eaLnBrk="1" hangingPunct="1">
              <a:lnSpc>
                <a:spcPct val="120000"/>
              </a:lnSpc>
              <a:spcBef>
                <a:spcPts val="600"/>
              </a:spcBef>
            </a:pPr>
            <a:r>
              <a:rPr lang="zh-CN" altLang="en-US" sz="2000" b="1" dirty="0" smtClean="0">
                <a:latin typeface="宋体" panose="02010600030101010101" pitchFamily="2" charset="-122"/>
                <a:ea typeface="宋体" panose="02010600030101010101" pitchFamily="2" charset="-122"/>
              </a:rPr>
              <a:t>经验</a:t>
            </a:r>
            <a:r>
              <a:rPr lang="en-US" altLang="zh-CN" sz="2000" b="1" dirty="0" smtClean="0">
                <a:latin typeface="宋体" panose="02010600030101010101" pitchFamily="2" charset="-122"/>
                <a:ea typeface="宋体" panose="02010600030101010101" pitchFamily="2" charset="-122"/>
              </a:rPr>
              <a:t>/</a:t>
            </a:r>
            <a:r>
              <a:rPr lang="zh-CN" altLang="en-US" sz="2000" b="1" dirty="0" smtClean="0">
                <a:latin typeface="宋体" panose="02010600030101010101" pitchFamily="2" charset="-122"/>
                <a:ea typeface="宋体" panose="02010600030101010101" pitchFamily="2" charset="-122"/>
              </a:rPr>
              <a:t>计算机上的执行情况  </a:t>
            </a:r>
            <a:r>
              <a:rPr lang="zh-CN" altLang="en-US" sz="2000" b="1" dirty="0" smtClean="0">
                <a:solidFill>
                  <a:srgbClr val="FF0000"/>
                </a:solidFill>
                <a:latin typeface="宋体" panose="02010600030101010101" pitchFamily="2" charset="-122"/>
                <a:ea typeface="宋体" panose="02010600030101010101" pitchFamily="2" charset="-122"/>
              </a:rPr>
              <a:t>后验分析 </a:t>
            </a:r>
            <a:endParaRPr lang="en-US" altLang="zh-CN" sz="2000" b="1" dirty="0" smtClean="0">
              <a:solidFill>
                <a:srgbClr val="FF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931913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457200" y="1447800"/>
            <a:ext cx="8305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b="1">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nSpc>
                <a:spcPct val="120000"/>
              </a:lnSpc>
              <a:spcBef>
                <a:spcPts val="600"/>
              </a:spcBef>
            </a:pPr>
            <a:r>
              <a:rPr lang="zh-CN" altLang="en-US" sz="2400" kern="0" dirty="0" smtClean="0"/>
              <a:t>算法复杂性 </a:t>
            </a:r>
            <a:r>
              <a:rPr lang="en-US" altLang="zh-CN" sz="2400" kern="0" dirty="0" smtClean="0"/>
              <a:t>= </a:t>
            </a:r>
            <a:r>
              <a:rPr lang="zh-CN" altLang="en-US" sz="2400" kern="0" dirty="0" smtClean="0"/>
              <a:t>算法所需要的计算机资源</a:t>
            </a:r>
          </a:p>
          <a:p>
            <a:pPr>
              <a:lnSpc>
                <a:spcPct val="120000"/>
              </a:lnSpc>
              <a:spcBef>
                <a:spcPts val="600"/>
              </a:spcBef>
            </a:pPr>
            <a:r>
              <a:rPr lang="zh-CN" altLang="en-US" sz="2400" kern="0" dirty="0" smtClean="0"/>
              <a:t>算法的时间复杂性</a:t>
            </a:r>
            <a:r>
              <a:rPr lang="en-US" altLang="zh-CN" sz="2400" i="1" kern="0" dirty="0" smtClean="0"/>
              <a:t>T</a:t>
            </a:r>
            <a:r>
              <a:rPr lang="en-US" altLang="zh-CN" sz="2400" kern="0" dirty="0" smtClean="0"/>
              <a:t>(</a:t>
            </a:r>
            <a:r>
              <a:rPr lang="en-US" altLang="zh-CN" sz="2400" i="1" kern="0" dirty="0" smtClean="0"/>
              <a:t>n</a:t>
            </a:r>
            <a:r>
              <a:rPr lang="en-US" altLang="zh-CN" sz="2400" kern="0" dirty="0" smtClean="0"/>
              <a:t>)</a:t>
            </a:r>
            <a:r>
              <a:rPr lang="zh-CN" altLang="en-US" sz="2400" kern="0" dirty="0" smtClean="0"/>
              <a:t>，</a:t>
            </a:r>
            <a:r>
              <a:rPr lang="zh-CN" altLang="en-US" sz="2400" kern="0" dirty="0"/>
              <a:t>其中</a:t>
            </a:r>
            <a:r>
              <a:rPr lang="en-US" altLang="zh-CN" sz="2400" i="1" kern="0" dirty="0"/>
              <a:t>n</a:t>
            </a:r>
            <a:r>
              <a:rPr lang="zh-CN" altLang="en-US" sz="2400" kern="0" dirty="0"/>
              <a:t>是问题</a:t>
            </a:r>
            <a:r>
              <a:rPr lang="zh-CN" altLang="en-US" sz="2400" kern="0" dirty="0" smtClean="0"/>
              <a:t>的输入规模。</a:t>
            </a:r>
            <a:endParaRPr lang="en-US" altLang="zh-CN" sz="2400" kern="0" dirty="0" smtClean="0"/>
          </a:p>
          <a:p>
            <a:pPr lvl="1">
              <a:lnSpc>
                <a:spcPct val="120000"/>
              </a:lnSpc>
              <a:spcBef>
                <a:spcPts val="600"/>
              </a:spcBef>
            </a:pPr>
            <a:r>
              <a:rPr lang="zh-CN" altLang="en-US" sz="2000" dirty="0" smtClean="0">
                <a:solidFill>
                  <a:srgbClr val="FF0000"/>
                </a:solidFill>
                <a:latin typeface="黑体" panose="02010609060101010101" pitchFamily="49" charset="-122"/>
                <a:ea typeface="黑体" panose="02010609060101010101" pitchFamily="49" charset="-122"/>
              </a:rPr>
              <a:t>最坏</a:t>
            </a:r>
            <a:r>
              <a:rPr lang="zh-CN" altLang="en-US" sz="2000" dirty="0">
                <a:solidFill>
                  <a:srgbClr val="FF0000"/>
                </a:solidFill>
                <a:latin typeface="黑体" panose="02010609060101010101" pitchFamily="49" charset="-122"/>
                <a:ea typeface="黑体" panose="02010609060101010101" pitchFamily="49" charset="-122"/>
              </a:rPr>
              <a:t>情况</a:t>
            </a:r>
            <a:r>
              <a:rPr lang="zh-CN" altLang="en-US" sz="2000" dirty="0"/>
              <a:t>下的时间复杂性</a:t>
            </a:r>
          </a:p>
          <a:p>
            <a:pPr marL="457200" lvl="1" indent="0">
              <a:lnSpc>
                <a:spcPct val="120000"/>
              </a:lnSpc>
              <a:spcBef>
                <a:spcPts val="600"/>
              </a:spcBef>
              <a:buNone/>
            </a:pPr>
            <a:r>
              <a:rPr lang="zh-CN" altLang="en-US" sz="2000" i="1" dirty="0" smtClean="0"/>
              <a:t>     </a:t>
            </a:r>
            <a:r>
              <a:rPr lang="en-US" altLang="zh-CN" sz="2000" i="1" dirty="0" err="1" smtClean="0"/>
              <a:t>T</a:t>
            </a:r>
            <a:r>
              <a:rPr lang="en-US" altLang="zh-CN" sz="2000" baseline="-25000" dirty="0" err="1" smtClean="0"/>
              <a:t>max</a:t>
            </a:r>
            <a:r>
              <a:rPr lang="en-US" altLang="zh-CN" sz="2000" dirty="0" smtClean="0"/>
              <a:t>(</a:t>
            </a:r>
            <a:r>
              <a:rPr lang="en-US" altLang="zh-CN" sz="2000" i="1" dirty="0" smtClean="0"/>
              <a:t>n</a:t>
            </a:r>
            <a:r>
              <a:rPr lang="en-US" altLang="zh-CN" sz="2000" dirty="0"/>
              <a:t>) = max{ </a:t>
            </a:r>
            <a:r>
              <a:rPr lang="en-US" altLang="zh-CN" sz="2000" i="1" dirty="0"/>
              <a:t>T</a:t>
            </a:r>
            <a:r>
              <a:rPr lang="en-US" altLang="zh-CN" sz="2000" dirty="0"/>
              <a:t>(I) | size(I)=</a:t>
            </a:r>
            <a:r>
              <a:rPr lang="en-US" altLang="zh-CN" sz="2000" i="1" dirty="0"/>
              <a:t>n </a:t>
            </a:r>
            <a:r>
              <a:rPr lang="en-US" altLang="zh-CN" sz="2000" dirty="0"/>
              <a:t>}</a:t>
            </a:r>
          </a:p>
          <a:p>
            <a:pPr lvl="1">
              <a:lnSpc>
                <a:spcPct val="120000"/>
              </a:lnSpc>
              <a:spcBef>
                <a:spcPts val="600"/>
              </a:spcBef>
            </a:pPr>
            <a:r>
              <a:rPr lang="zh-CN" altLang="en-US" sz="2000" dirty="0">
                <a:solidFill>
                  <a:srgbClr val="3907F1"/>
                </a:solidFill>
                <a:latin typeface="黑体" panose="02010609060101010101" pitchFamily="49" charset="-122"/>
                <a:ea typeface="黑体" panose="02010609060101010101" pitchFamily="49" charset="-122"/>
              </a:rPr>
              <a:t>最好情况</a:t>
            </a:r>
            <a:r>
              <a:rPr lang="zh-CN" altLang="en-US" sz="2000" dirty="0"/>
              <a:t>下的时间复杂性</a:t>
            </a:r>
          </a:p>
          <a:p>
            <a:pPr marL="457200" lvl="1" indent="0">
              <a:lnSpc>
                <a:spcPct val="120000"/>
              </a:lnSpc>
              <a:spcBef>
                <a:spcPts val="600"/>
              </a:spcBef>
              <a:buNone/>
            </a:pPr>
            <a:r>
              <a:rPr lang="zh-CN" altLang="en-US" sz="2000" i="1" dirty="0" smtClean="0"/>
              <a:t>     </a:t>
            </a:r>
            <a:r>
              <a:rPr lang="en-US" altLang="zh-CN" sz="2000" i="1" dirty="0" err="1" smtClean="0"/>
              <a:t>T</a:t>
            </a:r>
            <a:r>
              <a:rPr lang="en-US" altLang="zh-CN" sz="2000" baseline="-25000" dirty="0" err="1" smtClean="0"/>
              <a:t>min</a:t>
            </a:r>
            <a:r>
              <a:rPr lang="en-US" altLang="zh-CN" sz="2000" dirty="0" smtClean="0"/>
              <a:t>(</a:t>
            </a:r>
            <a:r>
              <a:rPr lang="en-US" altLang="zh-CN" sz="2000" i="1" dirty="0" smtClean="0"/>
              <a:t>n</a:t>
            </a:r>
            <a:r>
              <a:rPr lang="en-US" altLang="zh-CN" sz="2000" dirty="0"/>
              <a:t>) = min{ </a:t>
            </a:r>
            <a:r>
              <a:rPr lang="en-US" altLang="zh-CN" sz="2000" i="1" dirty="0"/>
              <a:t>T</a:t>
            </a:r>
            <a:r>
              <a:rPr lang="en-US" altLang="zh-CN" sz="2000" dirty="0"/>
              <a:t>(I) | size(I)=</a:t>
            </a:r>
            <a:r>
              <a:rPr lang="en-US" altLang="zh-CN" sz="2000" i="1" dirty="0"/>
              <a:t>n </a:t>
            </a:r>
            <a:r>
              <a:rPr lang="en-US" altLang="zh-CN" sz="2000" dirty="0"/>
              <a:t>}</a:t>
            </a:r>
          </a:p>
          <a:p>
            <a:pPr lvl="1">
              <a:lnSpc>
                <a:spcPct val="120000"/>
              </a:lnSpc>
              <a:spcBef>
                <a:spcPts val="600"/>
              </a:spcBef>
            </a:pPr>
            <a:r>
              <a:rPr lang="zh-CN" altLang="en-US" sz="2000" dirty="0">
                <a:solidFill>
                  <a:srgbClr val="00B0F0"/>
                </a:solidFill>
                <a:latin typeface="黑体" panose="02010609060101010101" pitchFamily="49" charset="-122"/>
                <a:ea typeface="黑体" panose="02010609060101010101" pitchFamily="49" charset="-122"/>
              </a:rPr>
              <a:t>平均情况</a:t>
            </a:r>
            <a:r>
              <a:rPr lang="zh-CN" altLang="en-US" sz="2000" dirty="0"/>
              <a:t>下的</a:t>
            </a:r>
            <a:r>
              <a:rPr lang="zh-CN" altLang="en-US" sz="2000" dirty="0" smtClean="0"/>
              <a:t>时间复杂性</a:t>
            </a:r>
            <a:endParaRPr lang="en-US" altLang="zh-CN" sz="2000" dirty="0" smtClean="0"/>
          </a:p>
          <a:p>
            <a:pPr marL="457200" lvl="1" indent="0">
              <a:lnSpc>
                <a:spcPct val="120000"/>
              </a:lnSpc>
              <a:spcBef>
                <a:spcPts val="600"/>
              </a:spcBef>
              <a:buNone/>
            </a:pPr>
            <a:r>
              <a:rPr lang="en-US" altLang="zh-CN" sz="2000" i="1" dirty="0"/>
              <a:t> </a:t>
            </a:r>
            <a:r>
              <a:rPr lang="en-US" altLang="zh-CN" sz="2000" i="1" dirty="0" smtClean="0"/>
              <a:t>  </a:t>
            </a:r>
            <a:r>
              <a:rPr lang="zh-CN" altLang="en-US" sz="2000" i="1" dirty="0" smtClean="0"/>
              <a:t>  </a:t>
            </a:r>
            <a:r>
              <a:rPr lang="en-US" altLang="zh-CN" sz="2000" i="1" dirty="0" err="1"/>
              <a:t>T</a:t>
            </a:r>
            <a:r>
              <a:rPr lang="en-US" altLang="zh-CN" sz="2000" baseline="-25000" dirty="0" err="1"/>
              <a:t>avg</a:t>
            </a:r>
            <a:r>
              <a:rPr lang="en-US" altLang="zh-CN" sz="2000" dirty="0"/>
              <a:t>(</a:t>
            </a:r>
            <a:r>
              <a:rPr lang="en-US" altLang="zh-CN" sz="2000" i="1" dirty="0"/>
              <a:t>n</a:t>
            </a:r>
            <a:r>
              <a:rPr lang="en-US" altLang="zh-CN" sz="2000" dirty="0"/>
              <a:t>) =</a:t>
            </a:r>
          </a:p>
          <a:p>
            <a:pPr marL="457200" lvl="1" indent="0">
              <a:lnSpc>
                <a:spcPct val="120000"/>
              </a:lnSpc>
              <a:spcBef>
                <a:spcPts val="1800"/>
              </a:spcBef>
              <a:buNone/>
            </a:pPr>
            <a:r>
              <a:rPr lang="zh-CN" altLang="en-US" sz="2000" dirty="0" smtClean="0"/>
              <a:t>    其中</a:t>
            </a:r>
            <a:r>
              <a:rPr lang="en-US" altLang="zh-CN" sz="2000" i="1" dirty="0"/>
              <a:t>I</a:t>
            </a:r>
            <a:r>
              <a:rPr lang="zh-CN" altLang="en-US" sz="2000" dirty="0"/>
              <a:t>是问题的规模为</a:t>
            </a:r>
            <a:r>
              <a:rPr lang="en-US" altLang="zh-CN" sz="2000" i="1" dirty="0"/>
              <a:t>n</a:t>
            </a:r>
            <a:r>
              <a:rPr lang="zh-CN" altLang="en-US" sz="2000" dirty="0"/>
              <a:t>的实例，</a:t>
            </a:r>
            <a:r>
              <a:rPr lang="en-US" altLang="zh-CN" sz="2000" i="1" dirty="0"/>
              <a:t>p</a:t>
            </a:r>
            <a:r>
              <a:rPr lang="en-US" altLang="zh-CN" sz="2000" dirty="0"/>
              <a:t>(</a:t>
            </a:r>
            <a:r>
              <a:rPr lang="en-US" altLang="zh-CN" sz="2000" i="1" dirty="0"/>
              <a:t>I</a:t>
            </a:r>
            <a:r>
              <a:rPr lang="en-US" altLang="zh-CN" sz="2000" dirty="0"/>
              <a:t>)</a:t>
            </a:r>
            <a:r>
              <a:rPr lang="zh-CN" altLang="en-US" sz="2000" dirty="0"/>
              <a:t>是</a:t>
            </a:r>
            <a:r>
              <a:rPr lang="zh-CN" altLang="en-US" sz="2000" dirty="0" smtClean="0"/>
              <a:t>实例</a:t>
            </a:r>
            <a:r>
              <a:rPr lang="en-US" altLang="zh-CN" sz="2000" i="1" dirty="0"/>
              <a:t>I</a:t>
            </a:r>
            <a:r>
              <a:rPr lang="zh-CN" altLang="en-US" sz="2000" dirty="0"/>
              <a:t>出现的</a:t>
            </a:r>
            <a:r>
              <a:rPr lang="zh-CN" altLang="en-US" sz="2000" dirty="0" smtClean="0"/>
              <a:t>概率</a:t>
            </a:r>
            <a:endParaRPr lang="zh-CN" altLang="en-US" sz="2000" dirty="0"/>
          </a:p>
          <a:p>
            <a:pPr>
              <a:lnSpc>
                <a:spcPct val="120000"/>
              </a:lnSpc>
              <a:spcBef>
                <a:spcPts val="600"/>
              </a:spcBef>
            </a:pPr>
            <a:r>
              <a:rPr lang="zh-CN" altLang="en-US" sz="2400" kern="0" dirty="0"/>
              <a:t>算法的空间复杂性</a:t>
            </a:r>
            <a:r>
              <a:rPr lang="en-US" altLang="zh-CN" sz="2400" i="1" kern="0" dirty="0"/>
              <a:t>S</a:t>
            </a:r>
            <a:r>
              <a:rPr lang="en-US" altLang="zh-CN" sz="2400" kern="0" dirty="0"/>
              <a:t>(</a:t>
            </a:r>
            <a:r>
              <a:rPr lang="en-US" altLang="zh-CN" sz="2400" i="1" kern="0" dirty="0"/>
              <a:t>n</a:t>
            </a:r>
            <a:r>
              <a:rPr lang="en-US" altLang="zh-CN" sz="2400" kern="0" dirty="0" smtClean="0"/>
              <a:t>)</a:t>
            </a:r>
            <a:r>
              <a:rPr lang="zh-CN" altLang="en-US" sz="2400" kern="0" dirty="0" smtClean="0"/>
              <a:t>；</a:t>
            </a:r>
            <a:endParaRPr lang="en-US" altLang="zh-CN" sz="2400" kern="0" dirty="0" smtClean="0"/>
          </a:p>
        </p:txBody>
      </p:sp>
      <p:sp>
        <p:nvSpPr>
          <p:cNvPr id="13107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1076" name="Object 4"/>
          <p:cNvGraphicFramePr>
            <a:graphicFrameLocks noChangeAspect="1"/>
          </p:cNvGraphicFramePr>
          <p:nvPr>
            <p:extLst>
              <p:ext uri="{D42A27DB-BD31-4B8C-83A1-F6EECF244321}">
                <p14:modId xmlns:p14="http://schemas.microsoft.com/office/powerpoint/2010/main" val="603898260"/>
              </p:ext>
            </p:extLst>
          </p:nvPr>
        </p:nvGraphicFramePr>
        <p:xfrm>
          <a:off x="2286000" y="4648200"/>
          <a:ext cx="1584325" cy="630238"/>
        </p:xfrm>
        <a:graphic>
          <a:graphicData uri="http://schemas.openxmlformats.org/presentationml/2006/ole">
            <mc:AlternateContent xmlns:mc="http://schemas.openxmlformats.org/markup-compatibility/2006">
              <mc:Choice xmlns:v="urn:schemas-microsoft-com:vml" Requires="v">
                <p:oleObj spid="_x0000_s32950" name="Equation" r:id="rId3" imgW="888614" imgH="355446" progId="Equation.DSMT4">
                  <p:embed/>
                </p:oleObj>
              </mc:Choice>
              <mc:Fallback>
                <p:oleObj name="Equation" r:id="rId3" imgW="888614" imgH="355446" progId="Equation.DSMT4">
                  <p:embed/>
                  <p:pic>
                    <p:nvPicPr>
                      <p:cNvPr id="0" name="Picture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648200"/>
                        <a:ext cx="1584325" cy="63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
          <p:cNvSpPr>
            <a:spLocks noGrp="1" noChangeArrowheads="1"/>
          </p:cNvSpPr>
          <p:nvPr>
            <p:ph type="title"/>
          </p:nvPr>
        </p:nvSpPr>
        <p:spPr>
          <a:xfrm>
            <a:off x="304800" y="457200"/>
            <a:ext cx="8458200" cy="762000"/>
          </a:xfrm>
        </p:spPr>
        <p:txBody>
          <a:bodyPr/>
          <a:lstStyle/>
          <a:p>
            <a:r>
              <a:rPr lang="en-US" altLang="zh-CN" dirty="0"/>
              <a:t>1.1 </a:t>
            </a:r>
            <a:r>
              <a:rPr lang="zh-CN" altLang="en-US" dirty="0"/>
              <a:t>算法基本概念</a:t>
            </a:r>
            <a:r>
              <a:rPr lang="en-US" altLang="zh-CN" dirty="0" smtClean="0"/>
              <a:t>—</a:t>
            </a:r>
            <a:r>
              <a:rPr lang="zh-CN" altLang="en-US" dirty="0" smtClean="0"/>
              <a:t>算法分析 </a:t>
            </a:r>
            <a:r>
              <a:rPr lang="en-US" altLang="zh-CN" dirty="0" smtClean="0"/>
              <a:t>(2)</a:t>
            </a:r>
            <a:r>
              <a:rPr lang="zh-CN" altLang="en-US" dirty="0" smtClean="0"/>
              <a:t> </a:t>
            </a:r>
            <a:endParaRPr lang="zh-CN" altLang="en-US" dirty="0"/>
          </a:p>
        </p:txBody>
      </p:sp>
    </p:spTree>
    <p:extLst>
      <p:ext uri="{BB962C8B-B14F-4D97-AF65-F5344CB8AC3E}">
        <p14:creationId xmlns:p14="http://schemas.microsoft.com/office/powerpoint/2010/main" val="166085444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81000" y="457200"/>
            <a:ext cx="8458200" cy="762000"/>
          </a:xfrm>
        </p:spPr>
        <p:txBody>
          <a:bodyPr/>
          <a:lstStyle/>
          <a:p>
            <a:r>
              <a:rPr lang="en-US" altLang="zh-CN" dirty="0"/>
              <a:t>1.1 </a:t>
            </a:r>
            <a:r>
              <a:rPr lang="zh-CN" altLang="en-US" dirty="0"/>
              <a:t>算法基本概念</a:t>
            </a:r>
            <a:r>
              <a:rPr lang="en-US" altLang="zh-CN" dirty="0" smtClean="0"/>
              <a:t>—</a:t>
            </a:r>
            <a:r>
              <a:rPr lang="zh-CN" altLang="en-US" dirty="0" smtClean="0"/>
              <a:t>算法分析 </a:t>
            </a:r>
            <a:r>
              <a:rPr lang="en-US" altLang="zh-CN" dirty="0" smtClean="0"/>
              <a:t>(3)</a:t>
            </a:r>
            <a:r>
              <a:rPr lang="zh-CN" altLang="en-US" dirty="0" smtClean="0"/>
              <a:t> </a:t>
            </a:r>
            <a:endParaRPr lang="zh-CN" altLang="en-US" dirty="0"/>
          </a:p>
        </p:txBody>
      </p:sp>
      <p:sp>
        <p:nvSpPr>
          <p:cNvPr id="9219" name="Rectangle 3"/>
          <p:cNvSpPr>
            <a:spLocks noGrp="1" noChangeArrowheads="1"/>
          </p:cNvSpPr>
          <p:nvPr>
            <p:ph idx="1"/>
          </p:nvPr>
        </p:nvSpPr>
        <p:spPr>
          <a:xfrm>
            <a:off x="448322" y="1371600"/>
            <a:ext cx="8314678" cy="4343400"/>
          </a:xfrm>
        </p:spPr>
        <p:txBody>
          <a:bodyPr/>
          <a:lstStyle/>
          <a:p>
            <a:pPr eaLnBrk="1" hangingPunct="1">
              <a:lnSpc>
                <a:spcPct val="120000"/>
              </a:lnSpc>
              <a:spcBef>
                <a:spcPts val="600"/>
              </a:spcBef>
            </a:pPr>
            <a:r>
              <a:rPr lang="zh-CN" altLang="en-US" sz="2400" b="1" dirty="0" smtClean="0">
                <a:latin typeface="宋体" panose="02010600030101010101" pitchFamily="2" charset="-122"/>
                <a:ea typeface="宋体" panose="02010600030101010101" pitchFamily="2" charset="-122"/>
              </a:rPr>
              <a:t>算法运行时间的</a:t>
            </a:r>
            <a:r>
              <a:rPr lang="zh-CN" altLang="en-US" sz="2400" b="1" dirty="0" smtClean="0">
                <a:solidFill>
                  <a:srgbClr val="FF0000"/>
                </a:solidFill>
                <a:latin typeface="宋体" panose="02010600030101010101" pitchFamily="2" charset="-122"/>
                <a:ea typeface="宋体" panose="02010600030101010101" pitchFamily="2" charset="-122"/>
              </a:rPr>
              <a:t>阶</a:t>
            </a:r>
            <a:r>
              <a:rPr lang="zh-CN" altLang="en-US" sz="2400" b="1" dirty="0" smtClean="0">
                <a:latin typeface="宋体" panose="02010600030101010101" pitchFamily="2" charset="-122"/>
                <a:ea typeface="宋体" panose="02010600030101010101" pitchFamily="2" charset="-122"/>
              </a:rPr>
              <a:t>较简明地刻画了一个算法的效率，并作为不同算法进行比较的工具；</a:t>
            </a:r>
          </a:p>
          <a:p>
            <a:pPr eaLnBrk="1" hangingPunct="1">
              <a:lnSpc>
                <a:spcPct val="120000"/>
              </a:lnSpc>
              <a:spcBef>
                <a:spcPts val="600"/>
              </a:spcBef>
            </a:pPr>
            <a:r>
              <a:rPr lang="zh-CN" altLang="en-US" sz="2400" b="1" dirty="0" smtClean="0">
                <a:latin typeface="宋体" panose="02010600030101010101" pitchFamily="2" charset="-122"/>
                <a:ea typeface="宋体" panose="02010600030101010101" pitchFamily="2" charset="-122"/>
              </a:rPr>
              <a:t>当输入规模足够大时，运行时间中的</a:t>
            </a:r>
            <a:r>
              <a:rPr lang="zh-CN" altLang="en-US" sz="2400" b="1" dirty="0" smtClean="0">
                <a:solidFill>
                  <a:srgbClr val="0000CC"/>
                </a:solidFill>
                <a:latin typeface="黑体" panose="02010609060101010101" pitchFamily="49" charset="-122"/>
                <a:ea typeface="黑体" panose="02010609060101010101" pitchFamily="49" charset="-122"/>
              </a:rPr>
              <a:t>低阶项</a:t>
            </a:r>
            <a:r>
              <a:rPr lang="zh-CN" altLang="en-US" sz="2400" b="1" dirty="0" smtClean="0">
                <a:latin typeface="宋体" panose="02010600030101010101" pitchFamily="2" charset="-122"/>
                <a:ea typeface="宋体" panose="02010600030101010101" pitchFamily="2" charset="-122"/>
              </a:rPr>
              <a:t>和</a:t>
            </a:r>
            <a:r>
              <a:rPr lang="zh-CN" altLang="en-US" sz="2400" b="1" dirty="0">
                <a:solidFill>
                  <a:srgbClr val="0000CC"/>
                </a:solidFill>
                <a:latin typeface="黑体" panose="02010609060101010101" pitchFamily="49" charset="-122"/>
                <a:ea typeface="黑体" panose="02010609060101010101" pitchFamily="49" charset="-122"/>
              </a:rPr>
              <a:t>最高次项的常数系数</a:t>
            </a:r>
            <a:r>
              <a:rPr lang="zh-CN" altLang="en-US" sz="2400" b="1" dirty="0" smtClean="0"/>
              <a:t>可以忽略；</a:t>
            </a:r>
            <a:endParaRPr lang="en-US" altLang="zh-CN" sz="2400" b="1" dirty="0" smtClean="0">
              <a:latin typeface="宋体" panose="02010600030101010101" pitchFamily="2" charset="-122"/>
              <a:ea typeface="宋体" panose="02010600030101010101" pitchFamily="2" charset="-122"/>
            </a:endParaRPr>
          </a:p>
          <a:p>
            <a:pPr eaLnBrk="1" hangingPunct="1">
              <a:lnSpc>
                <a:spcPct val="120000"/>
              </a:lnSpc>
              <a:spcBef>
                <a:spcPts val="600"/>
              </a:spcBef>
            </a:pPr>
            <a:r>
              <a:rPr lang="zh-CN" altLang="en-US" sz="2400" b="1" dirty="0" smtClean="0">
                <a:latin typeface="宋体" panose="02010600030101010101" pitchFamily="2" charset="-122"/>
                <a:ea typeface="宋体" panose="02010600030101010101" pitchFamily="2" charset="-122"/>
              </a:rPr>
              <a:t>输入规模足够大到只需考虑运行时间的</a:t>
            </a:r>
            <a:r>
              <a:rPr lang="zh-CN" altLang="en-US" sz="2400" b="1" dirty="0">
                <a:solidFill>
                  <a:srgbClr val="0000CC"/>
                </a:solidFill>
                <a:latin typeface="黑体" panose="02010609060101010101" pitchFamily="49" charset="-122"/>
                <a:ea typeface="黑体" panose="02010609060101010101" pitchFamily="49" charset="-122"/>
              </a:rPr>
              <a:t>增长量级</a:t>
            </a:r>
            <a:r>
              <a:rPr lang="zh-CN" altLang="en-US" sz="2400" b="1" dirty="0" smtClean="0">
                <a:latin typeface="宋体" panose="02010600030101010101" pitchFamily="2" charset="-122"/>
                <a:ea typeface="宋体" panose="02010600030101010101" pitchFamily="2" charset="-122"/>
              </a:rPr>
              <a:t>时，研究的算法效率即为</a:t>
            </a:r>
            <a:r>
              <a:rPr lang="zh-CN" altLang="en-US" sz="2400" b="1" dirty="0" smtClean="0">
                <a:solidFill>
                  <a:srgbClr val="0000CC"/>
                </a:solidFill>
                <a:latin typeface="黑体" panose="02010609060101010101" pitchFamily="49" charset="-122"/>
                <a:ea typeface="黑体" panose="02010609060101010101" pitchFamily="49" charset="-122"/>
              </a:rPr>
              <a:t>渐近效率</a:t>
            </a:r>
            <a:r>
              <a:rPr lang="zh-CN" altLang="en-US" sz="2400" b="1" dirty="0" smtClean="0">
                <a:latin typeface="宋体" panose="02010600030101010101" pitchFamily="2" charset="-122"/>
                <a:ea typeface="宋体" panose="02010600030101010101" pitchFamily="2" charset="-122"/>
              </a:rPr>
              <a:t>。亦即，只关心从</a:t>
            </a:r>
            <a:r>
              <a:rPr lang="zh-CN" altLang="en-US" sz="2400" b="1" dirty="0" smtClean="0">
                <a:solidFill>
                  <a:srgbClr val="FF0000"/>
                </a:solidFill>
                <a:latin typeface="宋体" panose="02010600030101010101" pitchFamily="2" charset="-122"/>
                <a:ea typeface="宋体" panose="02010600030101010101" pitchFamily="2" charset="-122"/>
              </a:rPr>
              <a:t>极限的角度</a:t>
            </a:r>
            <a:r>
              <a:rPr lang="zh-CN" altLang="en-US" sz="2400" b="1" dirty="0" smtClean="0">
                <a:latin typeface="宋体" panose="02010600030101010101" pitchFamily="2" charset="-122"/>
                <a:ea typeface="宋体" panose="02010600030101010101" pitchFamily="2" charset="-122"/>
              </a:rPr>
              <a:t>考虑运行时间如何随输入规模的增大而增长。</a:t>
            </a:r>
          </a:p>
          <a:p>
            <a:pPr eaLnBrk="1" hangingPunct="1">
              <a:lnSpc>
                <a:spcPct val="120000"/>
              </a:lnSpc>
              <a:spcBef>
                <a:spcPts val="600"/>
              </a:spcBef>
            </a:pPr>
            <a:r>
              <a:rPr lang="zh-CN" altLang="en-US" sz="2400" b="1" dirty="0" smtClean="0">
                <a:latin typeface="宋体" panose="02010600030101010101" pitchFamily="2" charset="-122"/>
                <a:ea typeface="宋体" panose="02010600030101010101" pitchFamily="2" charset="-122"/>
              </a:rPr>
              <a:t>渐近效率更高的算法，对大规模的输入是更好的。（</a:t>
            </a:r>
            <a:r>
              <a:rPr lang="zh-CN" altLang="en-US" sz="2400" b="1" dirty="0" smtClean="0">
                <a:solidFill>
                  <a:srgbClr val="FF0000"/>
                </a:solidFill>
                <a:latin typeface="宋体" panose="02010600030101010101" pitchFamily="2" charset="-122"/>
                <a:ea typeface="宋体" panose="02010600030101010101" pitchFamily="2" charset="-122"/>
              </a:rPr>
              <a:t>对小规模的输入则不一定</a:t>
            </a:r>
            <a:r>
              <a:rPr lang="zh-CN" altLang="en-US" sz="2400" b="1" dirty="0" smtClean="0">
                <a:latin typeface="宋体" panose="02010600030101010101" pitchFamily="2" charset="-122"/>
                <a:ea typeface="宋体" panose="02010600030101010101" pitchFamily="2" charset="-122"/>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1231150532"/>
              </p:ext>
            </p:extLst>
          </p:nvPr>
        </p:nvGraphicFramePr>
        <p:xfrm>
          <a:off x="3494088" y="2667000"/>
          <a:ext cx="4230687" cy="669925"/>
        </p:xfrm>
        <a:graphic>
          <a:graphicData uri="http://schemas.openxmlformats.org/presentationml/2006/ole">
            <mc:AlternateContent xmlns:mc="http://schemas.openxmlformats.org/markup-compatibility/2006">
              <mc:Choice xmlns:v="urn:schemas-microsoft-com:vml" Requires="v">
                <p:oleObj spid="_x0000_s186482" name="Equation" r:id="rId3" imgW="1447560" imgH="228600" progId="Equation.DSMT4">
                  <p:embed/>
                </p:oleObj>
              </mc:Choice>
              <mc:Fallback>
                <p:oleObj name="Equation" r:id="rId3" imgW="1447560" imgH="228600" progId="Equation.DSMT4">
                  <p:embed/>
                  <p:pic>
                    <p:nvPicPr>
                      <p:cNvPr id="0" name=""/>
                      <p:cNvPicPr/>
                      <p:nvPr/>
                    </p:nvPicPr>
                    <p:blipFill>
                      <a:blip r:embed="rId4"/>
                      <a:stretch>
                        <a:fillRect/>
                      </a:stretch>
                    </p:blipFill>
                    <p:spPr>
                      <a:xfrm>
                        <a:off x="3494088" y="2667000"/>
                        <a:ext cx="4230687" cy="669925"/>
                      </a:xfrm>
                      <a:prstGeom prst="rect">
                        <a:avLst/>
                      </a:prstGeom>
                    </p:spPr>
                  </p:pic>
                </p:oleObj>
              </mc:Fallback>
            </mc:AlternateContent>
          </a:graphicData>
        </a:graphic>
      </p:graphicFrame>
    </p:spTree>
    <p:extLst>
      <p:ext uri="{BB962C8B-B14F-4D97-AF65-F5344CB8AC3E}">
        <p14:creationId xmlns:p14="http://schemas.microsoft.com/office/powerpoint/2010/main" val="14402274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04800" y="381000"/>
            <a:ext cx="7772400" cy="914400"/>
          </a:xfrm>
        </p:spPr>
        <p:txBody>
          <a:bodyPr/>
          <a:lstStyle/>
          <a:p>
            <a:r>
              <a:rPr lang="en-US" altLang="zh-CN" dirty="0"/>
              <a:t>1.2 </a:t>
            </a:r>
            <a:r>
              <a:rPr lang="zh-CN" altLang="en-US" dirty="0"/>
              <a:t>插入排序</a:t>
            </a:r>
            <a:r>
              <a:rPr lang="zh-CN" altLang="en-US" dirty="0" smtClean="0"/>
              <a:t> </a:t>
            </a:r>
            <a:r>
              <a:rPr lang="en-US" b="1" dirty="0" smtClean="0">
                <a:solidFill>
                  <a:srgbClr val="0000CC"/>
                </a:solidFill>
              </a:rPr>
              <a:t>(1)</a:t>
            </a:r>
            <a:endParaRPr lang="en-US" dirty="0"/>
          </a:p>
        </p:txBody>
      </p:sp>
      <p:sp>
        <p:nvSpPr>
          <p:cNvPr id="10251" name="Text Box 11"/>
          <p:cNvSpPr txBox="1">
            <a:spLocks noChangeArrowheads="1"/>
          </p:cNvSpPr>
          <p:nvPr/>
        </p:nvSpPr>
        <p:spPr bwMode="auto">
          <a:xfrm>
            <a:off x="457200" y="2531208"/>
            <a:ext cx="492955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200" dirty="0">
                <a:solidFill>
                  <a:srgbClr val="C00000"/>
                </a:solidFill>
                <a:latin typeface="黑体" panose="02010609060101010101" pitchFamily="49" charset="-122"/>
                <a:ea typeface="黑体" panose="02010609060101010101" pitchFamily="49" charset="-122"/>
              </a:rPr>
              <a:t>输入</a:t>
            </a:r>
            <a:r>
              <a:rPr lang="en-US" sz="2200" dirty="0">
                <a:solidFill>
                  <a:srgbClr val="C00000"/>
                </a:solidFill>
                <a:latin typeface="黑体" panose="02010609060101010101" pitchFamily="49" charset="-122"/>
                <a:ea typeface="黑体" panose="02010609060101010101" pitchFamily="49" charset="-122"/>
              </a:rPr>
              <a:t>: </a:t>
            </a:r>
            <a:r>
              <a:rPr lang="en-US" sz="2200" i="1" dirty="0" smtClean="0"/>
              <a:t>n</a:t>
            </a:r>
            <a:r>
              <a:rPr lang="zh-CN" altLang="en-US" sz="2200" dirty="0" smtClean="0"/>
              <a:t>个数的一个序列</a:t>
            </a:r>
            <a:r>
              <a:rPr lang="en-US" sz="2200" dirty="0" smtClean="0"/>
              <a:t> </a:t>
            </a:r>
            <a:r>
              <a:rPr lang="en-US" sz="2200" dirty="0">
                <a:solidFill>
                  <a:schemeClr val="tx2"/>
                </a:solidFill>
                <a:latin typeface="Symbol" pitchFamily="18" charset="2"/>
              </a:rPr>
              <a:t>á</a:t>
            </a:r>
            <a:r>
              <a:rPr lang="en-US" sz="2200" i="1" dirty="0">
                <a:solidFill>
                  <a:schemeClr val="tx2"/>
                </a:solidFill>
              </a:rPr>
              <a:t>a</a:t>
            </a:r>
            <a:r>
              <a:rPr lang="en-US" sz="2200" baseline="-25000" dirty="0">
                <a:solidFill>
                  <a:schemeClr val="tx2"/>
                </a:solidFill>
              </a:rPr>
              <a:t>1</a:t>
            </a:r>
            <a:r>
              <a:rPr lang="en-US" sz="2200" dirty="0">
                <a:solidFill>
                  <a:schemeClr val="tx2"/>
                </a:solidFill>
              </a:rPr>
              <a:t>, </a:t>
            </a:r>
            <a:r>
              <a:rPr lang="en-US" sz="2200" i="1" dirty="0">
                <a:solidFill>
                  <a:schemeClr val="tx2"/>
                </a:solidFill>
              </a:rPr>
              <a:t>a</a:t>
            </a:r>
            <a:r>
              <a:rPr lang="en-US" sz="2200" baseline="-25000" dirty="0">
                <a:solidFill>
                  <a:schemeClr val="tx2"/>
                </a:solidFill>
              </a:rPr>
              <a:t>2</a:t>
            </a:r>
            <a:r>
              <a:rPr lang="en-US" sz="2200" dirty="0">
                <a:solidFill>
                  <a:schemeClr val="tx2"/>
                </a:solidFill>
              </a:rPr>
              <a:t>, …, </a:t>
            </a:r>
            <a:r>
              <a:rPr lang="en-US" sz="2200" i="1" dirty="0" err="1" smtClean="0">
                <a:solidFill>
                  <a:schemeClr val="tx2"/>
                </a:solidFill>
              </a:rPr>
              <a:t>a</a:t>
            </a:r>
            <a:r>
              <a:rPr lang="en-US" sz="2200" i="1" baseline="-25000" dirty="0" err="1" smtClean="0">
                <a:solidFill>
                  <a:schemeClr val="tx2"/>
                </a:solidFill>
              </a:rPr>
              <a:t>n</a:t>
            </a:r>
            <a:r>
              <a:rPr lang="en-US" sz="2200" dirty="0" err="1" smtClean="0">
                <a:solidFill>
                  <a:schemeClr val="tx2"/>
                </a:solidFill>
                <a:latin typeface="Symbol" pitchFamily="18" charset="2"/>
              </a:rPr>
              <a:t>ñ</a:t>
            </a:r>
            <a:r>
              <a:rPr lang="en-US" sz="2200" dirty="0" smtClean="0"/>
              <a:t>.</a:t>
            </a:r>
            <a:endParaRPr lang="en-US" sz="2200" dirty="0"/>
          </a:p>
        </p:txBody>
      </p:sp>
      <p:sp>
        <p:nvSpPr>
          <p:cNvPr id="10276" name="Text Box 36"/>
          <p:cNvSpPr txBox="1">
            <a:spLocks noChangeArrowheads="1"/>
          </p:cNvSpPr>
          <p:nvPr/>
        </p:nvSpPr>
        <p:spPr bwMode="auto">
          <a:xfrm>
            <a:off x="457200" y="3006602"/>
            <a:ext cx="8305800"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Aft>
                <a:spcPts val="1200"/>
              </a:spcAft>
            </a:pPr>
            <a:r>
              <a:rPr lang="zh-CN" altLang="en-US" sz="2200" b="1" dirty="0" smtClean="0">
                <a:solidFill>
                  <a:srgbClr val="C00000"/>
                </a:solidFill>
                <a:latin typeface="黑体" panose="02010609060101010101" pitchFamily="49" charset="-122"/>
                <a:ea typeface="黑体" panose="02010609060101010101" pitchFamily="49" charset="-122"/>
              </a:rPr>
              <a:t>输出</a:t>
            </a:r>
            <a:r>
              <a:rPr lang="en-US" sz="2200" b="1" dirty="0" smtClean="0">
                <a:solidFill>
                  <a:srgbClr val="C00000"/>
                </a:solidFill>
                <a:latin typeface="黑体" panose="02010609060101010101" pitchFamily="49" charset="-122"/>
                <a:ea typeface="黑体" panose="02010609060101010101" pitchFamily="49" charset="-122"/>
              </a:rPr>
              <a:t>:</a:t>
            </a:r>
            <a:r>
              <a:rPr lang="en-US" sz="2200" dirty="0" smtClean="0">
                <a:latin typeface="黑体" panose="02010609060101010101" pitchFamily="49" charset="-122"/>
                <a:ea typeface="黑体" panose="02010609060101010101" pitchFamily="49" charset="-122"/>
              </a:rPr>
              <a:t> </a:t>
            </a:r>
            <a:r>
              <a:rPr lang="zh-CN" altLang="en-US" sz="2200" dirty="0" smtClean="0"/>
              <a:t>输入序列的一个排列</a:t>
            </a:r>
            <a:r>
              <a:rPr lang="en-US" sz="2200" dirty="0" smtClean="0">
                <a:solidFill>
                  <a:schemeClr val="tx2"/>
                </a:solidFill>
                <a:latin typeface="Symbol" pitchFamily="18" charset="2"/>
              </a:rPr>
              <a:t>á</a:t>
            </a:r>
            <a:r>
              <a:rPr lang="en-US" sz="2200" i="1" dirty="0" smtClean="0">
                <a:solidFill>
                  <a:schemeClr val="tx2"/>
                </a:solidFill>
              </a:rPr>
              <a:t>a</a:t>
            </a:r>
            <a:r>
              <a:rPr lang="en-US" altLang="zh-CN" sz="2200" i="1" dirty="0">
                <a:solidFill>
                  <a:schemeClr val="tx2"/>
                </a:solidFill>
                <a:cs typeface="Times New Roman" pitchFamily="18" charset="0"/>
              </a:rPr>
              <a:t>'</a:t>
            </a:r>
            <a:r>
              <a:rPr lang="en-US" sz="2200" baseline="-25000" dirty="0" smtClean="0">
                <a:solidFill>
                  <a:schemeClr val="tx2"/>
                </a:solidFill>
              </a:rPr>
              <a:t>1</a:t>
            </a:r>
            <a:r>
              <a:rPr lang="en-US" sz="2200" i="1" dirty="0">
                <a:solidFill>
                  <a:schemeClr val="tx2"/>
                </a:solidFill>
              </a:rPr>
              <a:t>, </a:t>
            </a:r>
            <a:r>
              <a:rPr lang="en-US" sz="2200" i="1" dirty="0" smtClean="0">
                <a:solidFill>
                  <a:schemeClr val="tx2"/>
                </a:solidFill>
              </a:rPr>
              <a:t>a</a:t>
            </a:r>
            <a:r>
              <a:rPr lang="en-US" altLang="zh-CN" sz="2200" i="1" dirty="0">
                <a:solidFill>
                  <a:schemeClr val="tx2"/>
                </a:solidFill>
                <a:cs typeface="Times New Roman" pitchFamily="18" charset="0"/>
              </a:rPr>
              <a:t>'</a:t>
            </a:r>
            <a:r>
              <a:rPr lang="en-US" sz="2200" baseline="-25000" dirty="0" smtClean="0">
                <a:solidFill>
                  <a:schemeClr val="tx2"/>
                </a:solidFill>
              </a:rPr>
              <a:t>2</a:t>
            </a:r>
            <a:r>
              <a:rPr lang="en-US" sz="2200" i="1" dirty="0">
                <a:solidFill>
                  <a:schemeClr val="tx2"/>
                </a:solidFill>
              </a:rPr>
              <a:t>, </a:t>
            </a:r>
            <a:r>
              <a:rPr lang="en-US" sz="2200" dirty="0">
                <a:solidFill>
                  <a:schemeClr val="tx2"/>
                </a:solidFill>
              </a:rPr>
              <a:t>…</a:t>
            </a:r>
            <a:r>
              <a:rPr lang="en-US" sz="2200" i="1" dirty="0">
                <a:solidFill>
                  <a:schemeClr val="tx2"/>
                </a:solidFill>
              </a:rPr>
              <a:t>, </a:t>
            </a:r>
            <a:r>
              <a:rPr lang="en-US" sz="2200" i="1" dirty="0" err="1" smtClean="0">
                <a:solidFill>
                  <a:schemeClr val="tx2"/>
                </a:solidFill>
              </a:rPr>
              <a:t>a</a:t>
            </a:r>
            <a:r>
              <a:rPr lang="en-US" altLang="zh-CN" sz="2200" i="1" dirty="0" err="1">
                <a:solidFill>
                  <a:schemeClr val="tx2"/>
                </a:solidFill>
                <a:cs typeface="Times New Roman" pitchFamily="18" charset="0"/>
              </a:rPr>
              <a:t>'</a:t>
            </a:r>
            <a:r>
              <a:rPr lang="en-US" sz="2200" i="1" baseline="-25000" dirty="0" err="1" smtClean="0">
                <a:solidFill>
                  <a:schemeClr val="tx2"/>
                </a:solidFill>
              </a:rPr>
              <a:t>n</a:t>
            </a:r>
            <a:r>
              <a:rPr lang="en-US" sz="2200" dirty="0" err="1" smtClean="0">
                <a:solidFill>
                  <a:schemeClr val="tx2"/>
                </a:solidFill>
                <a:latin typeface="Symbol" pitchFamily="18" charset="2"/>
              </a:rPr>
              <a:t>ñ</a:t>
            </a:r>
            <a:r>
              <a:rPr lang="zh-CN" altLang="en-US" sz="2200" dirty="0" smtClean="0"/>
              <a:t>，满足</a:t>
            </a:r>
            <a:r>
              <a:rPr lang="en-US" sz="2200" i="1" dirty="0" smtClean="0">
                <a:solidFill>
                  <a:schemeClr val="tx2"/>
                </a:solidFill>
              </a:rPr>
              <a:t>a</a:t>
            </a:r>
            <a:r>
              <a:rPr lang="en-US" sz="2200" i="1" dirty="0" smtClean="0">
                <a:solidFill>
                  <a:schemeClr val="tx2"/>
                </a:solidFill>
                <a:cs typeface="Times New Roman" pitchFamily="18" charset="0"/>
              </a:rPr>
              <a:t>'</a:t>
            </a:r>
            <a:r>
              <a:rPr lang="en-US" sz="2200" baseline="-25000" dirty="0" smtClean="0">
                <a:solidFill>
                  <a:schemeClr val="tx2"/>
                </a:solidFill>
              </a:rPr>
              <a:t>1</a:t>
            </a:r>
            <a:r>
              <a:rPr lang="en-US" sz="2200" i="1" dirty="0" smtClean="0">
                <a:solidFill>
                  <a:schemeClr val="tx2"/>
                </a:solidFill>
              </a:rPr>
              <a:t> </a:t>
            </a:r>
            <a:r>
              <a:rPr lang="en-US" sz="2200" dirty="0">
                <a:solidFill>
                  <a:schemeClr val="tx2"/>
                </a:solidFill>
                <a:latin typeface="Symbol" pitchFamily="18" charset="2"/>
              </a:rPr>
              <a:t>£</a:t>
            </a:r>
            <a:r>
              <a:rPr lang="en-US" sz="2200" i="1" dirty="0">
                <a:solidFill>
                  <a:schemeClr val="tx2"/>
                </a:solidFill>
              </a:rPr>
              <a:t> a</a:t>
            </a:r>
            <a:r>
              <a:rPr lang="en-US" sz="2200" i="1" dirty="0">
                <a:solidFill>
                  <a:schemeClr val="tx2"/>
                </a:solidFill>
                <a:cs typeface="Times New Roman" pitchFamily="18" charset="0"/>
              </a:rPr>
              <a:t>'</a:t>
            </a:r>
            <a:r>
              <a:rPr lang="en-US" sz="2200" baseline="-25000" dirty="0">
                <a:solidFill>
                  <a:schemeClr val="tx2"/>
                </a:solidFill>
              </a:rPr>
              <a:t>2</a:t>
            </a:r>
            <a:r>
              <a:rPr lang="en-US" sz="2200" i="1" dirty="0">
                <a:solidFill>
                  <a:schemeClr val="tx2"/>
                </a:solidFill>
              </a:rPr>
              <a:t> </a:t>
            </a:r>
            <a:r>
              <a:rPr lang="en-US" sz="2200" dirty="0">
                <a:solidFill>
                  <a:schemeClr val="tx2"/>
                </a:solidFill>
                <a:latin typeface="Symbol" pitchFamily="18" charset="2"/>
              </a:rPr>
              <a:t>£ </a:t>
            </a:r>
            <a:r>
              <a:rPr lang="en-US" sz="2200" baseline="20000" dirty="0">
                <a:solidFill>
                  <a:schemeClr val="tx2"/>
                </a:solidFill>
              </a:rPr>
              <a:t>…</a:t>
            </a:r>
            <a:r>
              <a:rPr lang="en-US" sz="2200" dirty="0">
                <a:solidFill>
                  <a:schemeClr val="tx2"/>
                </a:solidFill>
              </a:rPr>
              <a:t> </a:t>
            </a:r>
            <a:r>
              <a:rPr lang="en-US" sz="2200" dirty="0">
                <a:solidFill>
                  <a:schemeClr val="tx2"/>
                </a:solidFill>
                <a:latin typeface="Symbol" pitchFamily="18" charset="2"/>
              </a:rPr>
              <a:t>£</a:t>
            </a:r>
            <a:r>
              <a:rPr lang="en-US" sz="2200" i="1" dirty="0">
                <a:solidFill>
                  <a:schemeClr val="tx2"/>
                </a:solidFill>
              </a:rPr>
              <a:t> </a:t>
            </a:r>
            <a:r>
              <a:rPr lang="en-US" sz="2200" i="1" dirty="0" err="1" smtClean="0">
                <a:solidFill>
                  <a:schemeClr val="tx2"/>
                </a:solidFill>
              </a:rPr>
              <a:t>a</a:t>
            </a:r>
            <a:r>
              <a:rPr lang="en-US" sz="2200" i="1" dirty="0" err="1" smtClean="0">
                <a:solidFill>
                  <a:schemeClr val="tx2"/>
                </a:solidFill>
                <a:cs typeface="Times New Roman" pitchFamily="18" charset="0"/>
              </a:rPr>
              <a:t>'</a:t>
            </a:r>
            <a:r>
              <a:rPr lang="en-US" sz="2200" i="1" baseline="-25000" dirty="0" err="1" smtClean="0">
                <a:solidFill>
                  <a:schemeClr val="tx2"/>
                </a:solidFill>
              </a:rPr>
              <a:t>n</a:t>
            </a:r>
            <a:endParaRPr lang="en-US" sz="2200" dirty="0"/>
          </a:p>
        </p:txBody>
      </p:sp>
      <p:sp>
        <p:nvSpPr>
          <p:cNvPr id="2" name="TextBox 1"/>
          <p:cNvSpPr txBox="1"/>
          <p:nvPr/>
        </p:nvSpPr>
        <p:spPr>
          <a:xfrm>
            <a:off x="457200" y="2025036"/>
            <a:ext cx="1422184" cy="461665"/>
          </a:xfrm>
          <a:prstGeom prst="rect">
            <a:avLst/>
          </a:prstGeom>
          <a:noFill/>
        </p:spPr>
        <p:txBody>
          <a:bodyPr wrap="none" rtlCol="0">
            <a:spAutoFit/>
          </a:bodyPr>
          <a:lstStyle/>
          <a:p>
            <a:r>
              <a:rPr lang="zh-CN" altLang="en-US" sz="2400" dirty="0" smtClean="0"/>
              <a:t>排序问题</a:t>
            </a:r>
            <a:endParaRPr lang="en-US" sz="2400" dirty="0"/>
          </a:p>
        </p:txBody>
      </p:sp>
      <p:pic>
        <p:nvPicPr>
          <p:cNvPr id="9" name="Picture 5" descr="3_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685" y="909339"/>
            <a:ext cx="2390290" cy="2115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 y="4114800"/>
            <a:ext cx="8774723" cy="208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81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609600" y="381000"/>
            <a:ext cx="7772400" cy="838200"/>
          </a:xfrm>
        </p:spPr>
        <p:txBody>
          <a:bodyPr/>
          <a:lstStyle/>
          <a:p>
            <a:r>
              <a:rPr lang="en-US" altLang="zh-CN" sz="3600" dirty="0"/>
              <a:t>1.2 </a:t>
            </a:r>
            <a:r>
              <a:rPr lang="zh-CN" altLang="en-US" sz="3600" dirty="0"/>
              <a:t>插入排序 </a:t>
            </a:r>
            <a:r>
              <a:rPr lang="en-US" altLang="zh-CN" sz="3600" dirty="0" smtClean="0"/>
              <a:t>(2)</a:t>
            </a:r>
            <a:endParaRPr lang="en-US" sz="3600" b="1" dirty="0" smtClean="0">
              <a:solidFill>
                <a:srgbClr val="0000CC"/>
              </a:solidFill>
            </a:endParaRPr>
          </a:p>
        </p:txBody>
      </p:sp>
      <p:sp>
        <p:nvSpPr>
          <p:cNvPr id="7171" name="Rectangle 3"/>
          <p:cNvSpPr>
            <a:spLocks noGrp="1" noChangeArrowheads="1"/>
          </p:cNvSpPr>
          <p:nvPr>
            <p:ph type="body" idx="4294967295"/>
          </p:nvPr>
        </p:nvSpPr>
        <p:spPr>
          <a:xfrm>
            <a:off x="838200" y="1295400"/>
            <a:ext cx="8305800" cy="4953000"/>
          </a:xfrm>
        </p:spPr>
        <p:txBody>
          <a:bodyPr/>
          <a:lstStyle/>
          <a:p>
            <a:pPr marL="0" indent="0">
              <a:spcAft>
                <a:spcPts val="1200"/>
              </a:spcAft>
              <a:buNone/>
            </a:pPr>
            <a:r>
              <a:rPr lang="zh-CN" altLang="en-US" b="1" u="sng" dirty="0" smtClean="0">
                <a:solidFill>
                  <a:srgbClr val="FF0000"/>
                </a:solidFill>
              </a:rPr>
              <a:t>算法伪代码</a:t>
            </a:r>
            <a:endParaRPr lang="en-US" b="1" u="sng" dirty="0">
              <a:solidFill>
                <a:srgbClr val="FF0000"/>
              </a:solidFill>
            </a:endParaRPr>
          </a:p>
          <a:p>
            <a:pPr marL="0" indent="0">
              <a:spcAft>
                <a:spcPts val="1200"/>
              </a:spcAft>
              <a:buNone/>
            </a:pPr>
            <a:endParaRPr lang="en-US" sz="2400" b="1" dirty="0" smtClean="0"/>
          </a:p>
          <a:p>
            <a:pPr marL="0" indent="0">
              <a:spcAft>
                <a:spcPts val="1200"/>
              </a:spcAft>
              <a:buNone/>
            </a:pPr>
            <a:endParaRPr lang="en-US" sz="2400" b="1" dirty="0"/>
          </a:p>
          <a:p>
            <a:pPr marL="0" indent="0">
              <a:spcAft>
                <a:spcPts val="1200"/>
              </a:spcAft>
              <a:buNone/>
            </a:pPr>
            <a:endParaRPr lang="en-US" sz="2400" b="1" dirty="0" smtClean="0"/>
          </a:p>
          <a:p>
            <a:pPr marL="0" indent="0">
              <a:spcAft>
                <a:spcPts val="1200"/>
              </a:spcAft>
              <a:buNone/>
            </a:pPr>
            <a:endParaRPr lang="en-US" sz="2400" b="1" dirty="0"/>
          </a:p>
          <a:p>
            <a:pPr marL="0" indent="0">
              <a:spcAft>
                <a:spcPts val="1200"/>
              </a:spcAft>
              <a:buNone/>
            </a:pPr>
            <a:endParaRPr lang="en-US" sz="2400" b="1" dirty="0" smtClean="0"/>
          </a:p>
          <a:p>
            <a:pPr marL="0" indent="0">
              <a:spcAft>
                <a:spcPts val="1200"/>
              </a:spcAft>
              <a:buNone/>
            </a:pPr>
            <a:endParaRPr lang="en-US" sz="2400" b="1" dirty="0" smtClean="0"/>
          </a:p>
        </p:txBody>
      </p:sp>
      <p:pic>
        <p:nvPicPr>
          <p:cNvPr id="40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3251" t="35262" r="36108" b="31215"/>
          <a:stretch/>
        </p:blipFill>
        <p:spPr bwMode="auto">
          <a:xfrm>
            <a:off x="304800" y="1828800"/>
            <a:ext cx="8448374"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图片 1"/>
          <p:cNvPicPr>
            <a:picLocks noChangeAspect="1"/>
          </p:cNvPicPr>
          <p:nvPr/>
        </p:nvPicPr>
        <p:blipFill>
          <a:blip r:embed="rId4"/>
          <a:stretch>
            <a:fillRect/>
          </a:stretch>
        </p:blipFill>
        <p:spPr>
          <a:xfrm>
            <a:off x="5638800" y="4524375"/>
            <a:ext cx="2381250" cy="1047750"/>
          </a:xfrm>
          <a:prstGeom prst="rect">
            <a:avLst/>
          </a:prstGeom>
        </p:spPr>
      </p:pic>
      <p:cxnSp>
        <p:nvCxnSpPr>
          <p:cNvPr id="4" name="直接箭头连接符 3"/>
          <p:cNvCxnSpPr/>
          <p:nvPr/>
        </p:nvCxnSpPr>
        <p:spPr bwMode="auto">
          <a:xfrm>
            <a:off x="5334000" y="4343400"/>
            <a:ext cx="914400" cy="304800"/>
          </a:xfrm>
          <a:prstGeom prst="straightConnector1">
            <a:avLst/>
          </a:prstGeom>
          <a:ln w="38100">
            <a:prstDash val="dash"/>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12" name="直接箭头连接符 11"/>
          <p:cNvCxnSpPr/>
          <p:nvPr/>
        </p:nvCxnSpPr>
        <p:spPr bwMode="auto">
          <a:xfrm>
            <a:off x="4495800" y="4419600"/>
            <a:ext cx="1321819" cy="441163"/>
          </a:xfrm>
          <a:prstGeom prst="straightConnector1">
            <a:avLst/>
          </a:prstGeom>
          <a:ln w="38100">
            <a:solidFill>
              <a:srgbClr val="FF0000"/>
            </a:solidFill>
            <a:prstDash val="dash"/>
            <a:headEnd type="none" w="med" len="med"/>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5599164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457200" y="381000"/>
            <a:ext cx="7772400" cy="838200"/>
          </a:xfrm>
        </p:spPr>
        <p:txBody>
          <a:bodyPr/>
          <a:lstStyle/>
          <a:p>
            <a:r>
              <a:rPr lang="en-US" altLang="zh-CN" sz="3600" dirty="0" smtClean="0"/>
              <a:t>1.2 </a:t>
            </a:r>
            <a:r>
              <a:rPr lang="zh-CN" altLang="en-US" sz="3600" dirty="0" smtClean="0"/>
              <a:t>分析插入排序算法 </a:t>
            </a:r>
            <a:r>
              <a:rPr lang="en-US" sz="3600" b="1" dirty="0" smtClean="0">
                <a:solidFill>
                  <a:srgbClr val="0000CC"/>
                </a:solidFill>
              </a:rPr>
              <a:t>(1)</a:t>
            </a:r>
          </a:p>
        </p:txBody>
      </p:sp>
      <p:sp>
        <p:nvSpPr>
          <p:cNvPr id="7171" name="Rectangle 3"/>
          <p:cNvSpPr>
            <a:spLocks noGrp="1" noChangeArrowheads="1"/>
          </p:cNvSpPr>
          <p:nvPr>
            <p:ph type="body" idx="4294967295"/>
          </p:nvPr>
        </p:nvSpPr>
        <p:spPr>
          <a:xfrm>
            <a:off x="533400" y="1371600"/>
            <a:ext cx="8610600" cy="5334000"/>
          </a:xfrm>
        </p:spPr>
        <p:txBody>
          <a:bodyPr/>
          <a:lstStyle/>
          <a:p>
            <a:pPr marL="0" indent="0">
              <a:lnSpc>
                <a:spcPct val="125000"/>
              </a:lnSpc>
              <a:spcBef>
                <a:spcPts val="600"/>
              </a:spcBef>
              <a:buNone/>
            </a:pPr>
            <a:r>
              <a:rPr lang="zh-CN" altLang="en-US" sz="2400" b="1" dirty="0" smtClean="0"/>
              <a:t>      假定一种单处理器计算模型</a:t>
            </a:r>
            <a:r>
              <a:rPr lang="en-US" altLang="zh-CN" sz="2400" b="1" dirty="0" smtClean="0"/>
              <a:t>—</a:t>
            </a:r>
            <a:r>
              <a:rPr lang="zh-CN" altLang="en-US" sz="2400" b="1" dirty="0" smtClean="0">
                <a:solidFill>
                  <a:srgbClr val="3333FF"/>
                </a:solidFill>
                <a:latin typeface="黑体" panose="02010609060101010101" pitchFamily="49" charset="-122"/>
                <a:ea typeface="黑体" panose="02010609060101010101" pitchFamily="49" charset="-122"/>
              </a:rPr>
              <a:t>随机访问模型</a:t>
            </a:r>
            <a:r>
              <a:rPr lang="en-US" altLang="zh-CN" sz="2400" b="1" dirty="0" smtClean="0"/>
              <a:t>(</a:t>
            </a:r>
            <a:r>
              <a:rPr lang="en-US" sz="2400" b="1" dirty="0"/>
              <a:t>Random-Access Machine,</a:t>
            </a:r>
            <a:r>
              <a:rPr lang="en-US" sz="2400" b="1" dirty="0" smtClean="0">
                <a:solidFill>
                  <a:srgbClr val="C00000"/>
                </a:solidFill>
              </a:rPr>
              <a:t> </a:t>
            </a:r>
            <a:r>
              <a:rPr lang="en-US" sz="2400" b="1" dirty="0" smtClean="0">
                <a:solidFill>
                  <a:srgbClr val="3333FF"/>
                </a:solidFill>
                <a:latin typeface="Arial" panose="020B0604020202020204" pitchFamily="34" charset="0"/>
                <a:cs typeface="Arial" panose="020B0604020202020204" pitchFamily="34" charset="0"/>
              </a:rPr>
              <a:t>RAM</a:t>
            </a:r>
            <a:r>
              <a:rPr lang="en-US" sz="2400" b="1" dirty="0" smtClean="0"/>
              <a:t>)</a:t>
            </a:r>
            <a:r>
              <a:rPr lang="zh-CN" altLang="en-US" sz="2400" b="1" dirty="0" smtClean="0"/>
              <a:t>：</a:t>
            </a:r>
            <a:r>
              <a:rPr lang="zh-CN" altLang="en-US" sz="2200" b="1" dirty="0" smtClean="0"/>
              <a:t>指令一条接一条执行，没有并发操作。</a:t>
            </a:r>
            <a:endParaRPr lang="en-US" sz="2200" b="1" dirty="0"/>
          </a:p>
          <a:p>
            <a:pPr>
              <a:lnSpc>
                <a:spcPct val="125000"/>
              </a:lnSpc>
              <a:spcBef>
                <a:spcPts val="600"/>
              </a:spcBef>
            </a:pPr>
            <a:r>
              <a:rPr lang="zh-CN" altLang="en-US" sz="2200" b="1" dirty="0"/>
              <a:t>简单</a:t>
            </a:r>
            <a:r>
              <a:rPr lang="zh-CN" altLang="en-US" sz="2200" b="1" dirty="0" smtClean="0"/>
              <a:t>起见，</a:t>
            </a:r>
            <a:r>
              <a:rPr lang="zh-CN" altLang="en-US" sz="2200" b="1" dirty="0" smtClean="0">
                <a:solidFill>
                  <a:srgbClr val="FF0000"/>
                </a:solidFill>
              </a:rPr>
              <a:t>假设每条指令</a:t>
            </a:r>
            <a:r>
              <a:rPr lang="zh-CN" altLang="en-US" sz="2200" b="1" dirty="0" smtClean="0"/>
              <a:t>所需</a:t>
            </a:r>
            <a:r>
              <a:rPr lang="zh-CN" altLang="en-US" sz="2200" b="1" dirty="0" smtClean="0">
                <a:solidFill>
                  <a:srgbClr val="FF0000"/>
                </a:solidFill>
              </a:rPr>
              <a:t>时间均为常量</a:t>
            </a:r>
            <a:r>
              <a:rPr lang="zh-CN" altLang="en-US" sz="2200" b="1" dirty="0" smtClean="0"/>
              <a:t>。</a:t>
            </a:r>
            <a:endParaRPr lang="en-US" sz="2200" b="1" dirty="0" smtClean="0"/>
          </a:p>
          <a:p>
            <a:pPr lvl="1">
              <a:lnSpc>
                <a:spcPct val="125000"/>
              </a:lnSpc>
              <a:spcBef>
                <a:spcPts val="600"/>
              </a:spcBef>
            </a:pPr>
            <a:r>
              <a:rPr lang="zh-CN" altLang="en-US" sz="2000" b="1" dirty="0" smtClean="0"/>
              <a:t>算术指令：加法、减法、乘法、除法、取余，向下取整、向上取整</a:t>
            </a:r>
            <a:r>
              <a:rPr lang="en-US" sz="2000" b="1" dirty="0" smtClean="0"/>
              <a:t> </a:t>
            </a:r>
          </a:p>
          <a:p>
            <a:pPr lvl="1">
              <a:lnSpc>
                <a:spcPct val="125000"/>
              </a:lnSpc>
              <a:spcBef>
                <a:spcPts val="600"/>
              </a:spcBef>
            </a:pPr>
            <a:r>
              <a:rPr lang="zh-CN" altLang="en-US" sz="2000" b="1" dirty="0" smtClean="0"/>
              <a:t>数据移动指令：装入、存储、复制</a:t>
            </a:r>
            <a:endParaRPr lang="en-US" altLang="zh-CN" sz="2000" b="1" dirty="0" smtClean="0"/>
          </a:p>
          <a:p>
            <a:pPr lvl="1">
              <a:lnSpc>
                <a:spcPct val="125000"/>
              </a:lnSpc>
              <a:spcBef>
                <a:spcPts val="600"/>
              </a:spcBef>
            </a:pPr>
            <a:r>
              <a:rPr lang="zh-CN" altLang="en-US" sz="2000" b="1" dirty="0"/>
              <a:t>控制指令：</a:t>
            </a:r>
            <a:r>
              <a:rPr lang="zh-CN" altLang="en-US" sz="2000" b="1" dirty="0" smtClean="0"/>
              <a:t>条件与无条件转移、子程序调用与返回</a:t>
            </a:r>
            <a:r>
              <a:rPr lang="zh-CN" altLang="en-US" sz="2000" b="1" dirty="0"/>
              <a:t>。</a:t>
            </a:r>
            <a:endParaRPr lang="en-US" sz="2000" b="1" dirty="0"/>
          </a:p>
          <a:p>
            <a:pPr>
              <a:lnSpc>
                <a:spcPct val="125000"/>
              </a:lnSpc>
              <a:spcBef>
                <a:spcPts val="600"/>
              </a:spcBef>
            </a:pPr>
            <a:r>
              <a:rPr lang="en-US" sz="2200" b="1" dirty="0" smtClean="0"/>
              <a:t>RAM</a:t>
            </a:r>
            <a:r>
              <a:rPr lang="zh-CN" altLang="en-US" sz="2200" b="1" dirty="0" smtClean="0"/>
              <a:t>模型中的数据类型有</a:t>
            </a:r>
            <a:r>
              <a:rPr lang="zh-CN" altLang="en-US" sz="2200" b="1" dirty="0" smtClean="0">
                <a:solidFill>
                  <a:srgbClr val="FF0000"/>
                </a:solidFill>
              </a:rPr>
              <a:t>整数型</a:t>
            </a:r>
            <a:r>
              <a:rPr lang="zh-CN" altLang="en-US" sz="2200" b="1" dirty="0" smtClean="0"/>
              <a:t>和</a:t>
            </a:r>
            <a:r>
              <a:rPr lang="zh-CN" altLang="en-US" sz="2200" b="1" dirty="0" smtClean="0">
                <a:solidFill>
                  <a:srgbClr val="FF0000"/>
                </a:solidFill>
              </a:rPr>
              <a:t>浮点实数型</a:t>
            </a:r>
            <a:r>
              <a:rPr lang="zh-CN" altLang="en-US" sz="2200" b="1" dirty="0" smtClean="0"/>
              <a:t>。</a:t>
            </a:r>
            <a:endParaRPr lang="en-US" sz="2200" b="1" dirty="0" smtClean="0"/>
          </a:p>
          <a:p>
            <a:pPr>
              <a:lnSpc>
                <a:spcPct val="125000"/>
              </a:lnSpc>
              <a:spcBef>
                <a:spcPts val="600"/>
              </a:spcBef>
            </a:pPr>
            <a:r>
              <a:rPr lang="zh-CN" altLang="en-US" sz="2400" b="1" dirty="0" smtClean="0"/>
              <a:t>不考虑内存层次的影响。</a:t>
            </a:r>
            <a:endParaRPr lang="en-US" sz="2400" b="1" dirty="0"/>
          </a:p>
        </p:txBody>
      </p:sp>
    </p:spTree>
    <p:extLst>
      <p:ext uri="{BB962C8B-B14F-4D97-AF65-F5344CB8AC3E}">
        <p14:creationId xmlns:p14="http://schemas.microsoft.com/office/powerpoint/2010/main" val="40541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143000" y="457200"/>
            <a:ext cx="6629400" cy="838200"/>
          </a:xfrm>
        </p:spPr>
        <p:txBody>
          <a:bodyPr/>
          <a:lstStyle/>
          <a:p>
            <a:r>
              <a:rPr lang="en-US" altLang="zh-CN" sz="3600" dirty="0" smtClean="0">
                <a:solidFill>
                  <a:schemeClr val="tx1"/>
                </a:solidFill>
              </a:rPr>
              <a:t>1.2 </a:t>
            </a:r>
            <a:r>
              <a:rPr lang="zh-CN" altLang="en-US" sz="3600" dirty="0" smtClean="0">
                <a:solidFill>
                  <a:schemeClr val="tx1"/>
                </a:solidFill>
              </a:rPr>
              <a:t>分析</a:t>
            </a:r>
            <a:r>
              <a:rPr lang="zh-CN" altLang="en-US" sz="3600" dirty="0">
                <a:solidFill>
                  <a:schemeClr val="tx1"/>
                </a:solidFill>
              </a:rPr>
              <a:t>插入排序算法 </a:t>
            </a:r>
            <a:r>
              <a:rPr lang="en-US" altLang="zh-CN" sz="3600" dirty="0" smtClean="0">
                <a:solidFill>
                  <a:schemeClr val="tx1"/>
                </a:solidFill>
              </a:rPr>
              <a:t>(2)</a:t>
            </a:r>
            <a:endParaRPr lang="en-US" sz="3600" b="1" dirty="0" smtClean="0">
              <a:solidFill>
                <a:schemeClr val="tx1"/>
              </a:solidFill>
            </a:endParaRPr>
          </a:p>
        </p:txBody>
      </p:sp>
      <p:sp>
        <p:nvSpPr>
          <p:cNvPr id="7171" name="Rectangle 3"/>
          <p:cNvSpPr>
            <a:spLocks noGrp="1" noChangeArrowheads="1"/>
          </p:cNvSpPr>
          <p:nvPr>
            <p:ph type="body" idx="4294967295"/>
          </p:nvPr>
        </p:nvSpPr>
        <p:spPr>
          <a:xfrm>
            <a:off x="457200" y="1371600"/>
            <a:ext cx="8229600" cy="5257800"/>
          </a:xfrm>
        </p:spPr>
        <p:txBody>
          <a:bodyPr/>
          <a:lstStyle/>
          <a:p>
            <a:pPr>
              <a:lnSpc>
                <a:spcPct val="125000"/>
              </a:lnSpc>
              <a:spcBef>
                <a:spcPts val="600"/>
              </a:spcBef>
            </a:pPr>
            <a:r>
              <a:rPr lang="zh-CN" altLang="en-US" sz="2400" dirty="0" smtClean="0"/>
              <a:t>        一</a:t>
            </a:r>
            <a:r>
              <a:rPr lang="zh-CN" altLang="en-US" sz="2400" dirty="0"/>
              <a:t>个算法的运行时间是指在特定输入下，执行</a:t>
            </a:r>
            <a:r>
              <a:rPr lang="zh-CN" altLang="en-US" sz="2400" b="1" dirty="0">
                <a:solidFill>
                  <a:srgbClr val="FF0000"/>
                </a:solidFill>
              </a:rPr>
              <a:t>基本操作</a:t>
            </a:r>
            <a:r>
              <a:rPr lang="zh-CN" altLang="en-US" sz="2400" dirty="0"/>
              <a:t>或</a:t>
            </a:r>
            <a:r>
              <a:rPr lang="zh-CN" altLang="en-US" sz="2400" b="1" dirty="0" smtClean="0">
                <a:solidFill>
                  <a:srgbClr val="FF0000"/>
                </a:solidFill>
              </a:rPr>
              <a:t>步数</a:t>
            </a:r>
            <a:r>
              <a:rPr lang="zh-CN" altLang="en-US" sz="2400" dirty="0" smtClean="0"/>
              <a:t>。</a:t>
            </a:r>
            <a:r>
              <a:rPr lang="zh-CN" altLang="en-US" sz="2400" b="1" dirty="0" smtClean="0"/>
              <a:t>。</a:t>
            </a:r>
            <a:endParaRPr lang="en-US" altLang="zh-CN" sz="2400" b="1" dirty="0"/>
          </a:p>
          <a:p>
            <a:pPr marL="685800" lvl="1">
              <a:lnSpc>
                <a:spcPct val="125000"/>
              </a:lnSpc>
              <a:spcBef>
                <a:spcPts val="600"/>
              </a:spcBef>
              <a:defRPr/>
            </a:pPr>
            <a:r>
              <a:rPr lang="zh-CN" altLang="en-US" sz="2200" b="1" dirty="0" smtClean="0"/>
              <a:t>基本</a:t>
            </a:r>
            <a:r>
              <a:rPr lang="zh-CN" altLang="en-US" sz="2200" b="1" dirty="0"/>
              <a:t>操作：</a:t>
            </a:r>
            <a:r>
              <a:rPr lang="en-US" altLang="zh-CN" sz="2200" b="1" dirty="0"/>
              <a:t> </a:t>
            </a:r>
            <a:r>
              <a:rPr lang="zh-CN" altLang="en-US" sz="2200" b="1" dirty="0"/>
              <a:t>对算法运行时间影响最大的操作，通常是算法</a:t>
            </a:r>
            <a:r>
              <a:rPr lang="zh-CN" altLang="en-US" sz="2200" b="1" dirty="0">
                <a:solidFill>
                  <a:srgbClr val="FF0000"/>
                </a:solidFill>
              </a:rPr>
              <a:t>最内层循环中</a:t>
            </a:r>
            <a:r>
              <a:rPr lang="zh-CN" altLang="en-US" sz="2200" b="1" dirty="0">
                <a:solidFill>
                  <a:srgbClr val="00B050"/>
                </a:solidFill>
              </a:rPr>
              <a:t>最费时</a:t>
            </a:r>
            <a:r>
              <a:rPr lang="zh-CN" altLang="en-US" sz="2200" b="1" dirty="0">
                <a:solidFill>
                  <a:srgbClr val="FF0000"/>
                </a:solidFill>
              </a:rPr>
              <a:t>的操作</a:t>
            </a:r>
            <a:r>
              <a:rPr lang="zh-CN" altLang="en-US" sz="2200" b="1" dirty="0" smtClean="0"/>
              <a:t>。</a:t>
            </a:r>
            <a:endParaRPr lang="en-US" altLang="zh-CN" sz="2200" b="1" dirty="0" smtClean="0"/>
          </a:p>
          <a:p>
            <a:pPr marL="685800" lvl="1">
              <a:lnSpc>
                <a:spcPct val="125000"/>
              </a:lnSpc>
              <a:spcBef>
                <a:spcPts val="600"/>
              </a:spcBef>
              <a:defRPr/>
            </a:pPr>
            <a:r>
              <a:rPr lang="zh-CN" altLang="en-US" sz="2200" b="1" dirty="0"/>
              <a:t>定义</a:t>
            </a:r>
            <a:r>
              <a:rPr lang="zh-CN" altLang="en-US" sz="2200" b="1" dirty="0">
                <a:latin typeface="宋体" panose="02010600030101010101" pitchFamily="2" charset="-122"/>
                <a:ea typeface="宋体" panose="02010600030101010101" pitchFamily="2" charset="-122"/>
              </a:rPr>
              <a:t>“步”</a:t>
            </a:r>
            <a:r>
              <a:rPr lang="zh-CN" altLang="en-US" sz="2200" b="1" dirty="0"/>
              <a:t>的概念尽量独立于机器。</a:t>
            </a:r>
            <a:endParaRPr lang="en-US" altLang="zh-CN" sz="2200" b="1" dirty="0"/>
          </a:p>
          <a:p>
            <a:pPr algn="just">
              <a:lnSpc>
                <a:spcPct val="125000"/>
              </a:lnSpc>
              <a:spcBef>
                <a:spcPts val="600"/>
              </a:spcBef>
            </a:pPr>
            <a:r>
              <a:rPr lang="zh-CN" altLang="en-US" sz="2400" b="1" dirty="0" smtClean="0"/>
              <a:t>        </a:t>
            </a:r>
            <a:r>
              <a:rPr lang="zh-CN" altLang="en-US" sz="2400" b="1" dirty="0">
                <a:solidFill>
                  <a:srgbClr val="0000CC"/>
                </a:solidFill>
                <a:latin typeface="黑体" panose="02010609060101010101" pitchFamily="49" charset="-122"/>
                <a:ea typeface="黑体" panose="02010609060101010101" pitchFamily="49" charset="-122"/>
              </a:rPr>
              <a:t>算法的运行时间严重依赖于问题的输入规模</a:t>
            </a:r>
            <a:r>
              <a:rPr lang="zh-CN" altLang="en-US" sz="2400" b="1" dirty="0" smtClean="0"/>
              <a:t>。一般</a:t>
            </a:r>
            <a:r>
              <a:rPr lang="zh-CN" altLang="en-US" sz="2400" b="1" dirty="0"/>
              <a:t>地，算法的</a:t>
            </a:r>
            <a:r>
              <a:rPr lang="zh-CN" altLang="en-US" sz="2400" b="1" dirty="0">
                <a:solidFill>
                  <a:srgbClr val="FF0000"/>
                </a:solidFill>
              </a:rPr>
              <a:t>运行时间与输入规模同步增长</a:t>
            </a:r>
            <a:r>
              <a:rPr lang="zh-CN" altLang="en-US" sz="2400" b="1" dirty="0" smtClean="0"/>
              <a:t>。即使</a:t>
            </a:r>
            <a:r>
              <a:rPr lang="zh-CN" altLang="en-US" sz="2400" b="1" dirty="0"/>
              <a:t>规模相同的两个不同输入，其运行时间也可能差别</a:t>
            </a:r>
            <a:r>
              <a:rPr lang="zh-CN" altLang="en-US" sz="2400" b="1" dirty="0" smtClean="0"/>
              <a:t>很大。</a:t>
            </a:r>
            <a:r>
              <a:rPr lang="zh-CN" altLang="en-US" sz="2400" b="1" dirty="0" smtClean="0">
                <a:solidFill>
                  <a:srgbClr val="C00000"/>
                </a:solidFill>
              </a:rPr>
              <a:t>例如：当插入排序在处理</a:t>
            </a:r>
            <a:r>
              <a:rPr lang="en-US" altLang="zh-CN" sz="2400" b="1" dirty="0" smtClean="0">
                <a:solidFill>
                  <a:srgbClr val="C00000"/>
                </a:solidFill>
              </a:rPr>
              <a:t>(1)</a:t>
            </a:r>
            <a:r>
              <a:rPr lang="zh-CN" altLang="en-US" sz="2400" b="1" dirty="0" smtClean="0">
                <a:solidFill>
                  <a:srgbClr val="00B050"/>
                </a:solidFill>
              </a:rPr>
              <a:t>已排序好的</a:t>
            </a:r>
            <a:r>
              <a:rPr lang="en-US" altLang="zh-CN" sz="2400" b="1" i="1" dirty="0" smtClean="0">
                <a:solidFill>
                  <a:srgbClr val="0000CC"/>
                </a:solidFill>
              </a:rPr>
              <a:t>n</a:t>
            </a:r>
            <a:r>
              <a:rPr lang="zh-CN" altLang="en-US" sz="2400" b="1" dirty="0" smtClean="0">
                <a:solidFill>
                  <a:srgbClr val="0000CC"/>
                </a:solidFill>
              </a:rPr>
              <a:t>个元素数组</a:t>
            </a:r>
            <a:r>
              <a:rPr lang="zh-CN" altLang="en-US" sz="2400" b="1" dirty="0" smtClean="0">
                <a:solidFill>
                  <a:srgbClr val="C00000"/>
                </a:solidFill>
              </a:rPr>
              <a:t>和</a:t>
            </a:r>
            <a:r>
              <a:rPr lang="en-US" altLang="zh-CN" sz="2400" b="1" dirty="0" smtClean="0">
                <a:solidFill>
                  <a:srgbClr val="C00000"/>
                </a:solidFill>
              </a:rPr>
              <a:t>(2)</a:t>
            </a:r>
            <a:r>
              <a:rPr lang="zh-CN" altLang="en-US" sz="2400" b="1" dirty="0" smtClean="0">
                <a:solidFill>
                  <a:srgbClr val="00B050"/>
                </a:solidFill>
              </a:rPr>
              <a:t>逆序排列</a:t>
            </a:r>
            <a:r>
              <a:rPr lang="zh-CN" altLang="en-US" sz="2400" b="1" dirty="0" smtClean="0">
                <a:solidFill>
                  <a:srgbClr val="0000CC"/>
                </a:solidFill>
              </a:rPr>
              <a:t>的</a:t>
            </a:r>
            <a:r>
              <a:rPr lang="en-US" altLang="zh-CN" sz="2400" b="1" dirty="0" smtClean="0">
                <a:solidFill>
                  <a:srgbClr val="0000CC"/>
                </a:solidFill>
              </a:rPr>
              <a:t>n</a:t>
            </a:r>
            <a:r>
              <a:rPr lang="zh-CN" altLang="en-US" sz="2400" b="1" dirty="0" smtClean="0">
                <a:solidFill>
                  <a:srgbClr val="0000CC"/>
                </a:solidFill>
              </a:rPr>
              <a:t>个元素数组时</a:t>
            </a:r>
            <a:r>
              <a:rPr lang="zh-CN" altLang="en-US" sz="2400" b="1" dirty="0" smtClean="0">
                <a:solidFill>
                  <a:srgbClr val="C00000"/>
                </a:solidFill>
              </a:rPr>
              <a:t>。</a:t>
            </a:r>
            <a:endParaRPr lang="en-US" sz="2400" b="1" dirty="0" smtClean="0"/>
          </a:p>
        </p:txBody>
      </p:sp>
    </p:spTree>
    <p:extLst>
      <p:ext uri="{BB962C8B-B14F-4D97-AF65-F5344CB8AC3E}">
        <p14:creationId xmlns:p14="http://schemas.microsoft.com/office/powerpoint/2010/main" val="3242908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828800" y="457200"/>
            <a:ext cx="5257800" cy="838200"/>
          </a:xfrm>
        </p:spPr>
        <p:txBody>
          <a:bodyPr/>
          <a:lstStyle/>
          <a:p>
            <a:pPr algn="l"/>
            <a:r>
              <a:rPr lang="en-US" altLang="zh-CN" sz="3600" b="1" dirty="0" smtClean="0">
                <a:solidFill>
                  <a:schemeClr val="tx1"/>
                </a:solidFill>
              </a:rPr>
              <a:t>1.2 </a:t>
            </a:r>
            <a:r>
              <a:rPr lang="zh-CN" altLang="en-US" sz="3600" b="1" dirty="0" smtClean="0">
                <a:solidFill>
                  <a:schemeClr val="tx1"/>
                </a:solidFill>
              </a:rPr>
              <a:t>分析插入排序算法</a:t>
            </a:r>
            <a:r>
              <a:rPr lang="en-US" sz="3600" b="1" dirty="0" smtClean="0">
                <a:solidFill>
                  <a:schemeClr val="tx1"/>
                </a:solidFill>
              </a:rPr>
              <a:t> (</a:t>
            </a:r>
            <a:r>
              <a:rPr lang="en-US" altLang="zh-CN" sz="3600" b="1" dirty="0" smtClean="0">
                <a:solidFill>
                  <a:schemeClr val="tx1"/>
                </a:solidFill>
              </a:rPr>
              <a:t>3</a:t>
            </a:r>
            <a:r>
              <a:rPr lang="en-US" sz="3600" b="1" dirty="0" smtClean="0">
                <a:solidFill>
                  <a:schemeClr val="tx1"/>
                </a:solidFill>
              </a:rPr>
              <a:t>)</a:t>
            </a:r>
          </a:p>
        </p:txBody>
      </p:sp>
      <p:sp>
        <p:nvSpPr>
          <p:cNvPr id="7171" name="Rectangle 3"/>
          <p:cNvSpPr>
            <a:spLocks noGrp="1" noChangeArrowheads="1"/>
          </p:cNvSpPr>
          <p:nvPr>
            <p:ph type="body" idx="4294967295"/>
          </p:nvPr>
        </p:nvSpPr>
        <p:spPr>
          <a:xfrm>
            <a:off x="533400" y="4572000"/>
            <a:ext cx="8153400" cy="2133600"/>
          </a:xfrm>
        </p:spPr>
        <p:txBody>
          <a:bodyPr/>
          <a:lstStyle/>
          <a:p>
            <a:pPr>
              <a:lnSpc>
                <a:spcPct val="125000"/>
              </a:lnSpc>
              <a:spcBef>
                <a:spcPts val="600"/>
              </a:spcBef>
            </a:pPr>
            <a:r>
              <a:rPr lang="zh-CN" altLang="en-US" sz="2000" b="1" dirty="0" smtClean="0"/>
              <a:t>假定每次执行第</a:t>
            </a:r>
            <a:r>
              <a:rPr lang="en-US" altLang="zh-CN" sz="2000" b="1" i="1" dirty="0" err="1" smtClean="0"/>
              <a:t>i</a:t>
            </a:r>
            <a:r>
              <a:rPr lang="zh-CN" altLang="en-US" sz="2000" b="1" dirty="0" smtClean="0"/>
              <a:t>行所花的时间是常量</a:t>
            </a:r>
            <a:r>
              <a:rPr lang="en-US" altLang="zh-CN" sz="2000" b="1" i="1" dirty="0" smtClean="0"/>
              <a:t>c</a:t>
            </a:r>
            <a:r>
              <a:rPr lang="en-US" altLang="zh-CN" sz="2000" b="1" i="1" baseline="-25000" dirty="0" smtClean="0"/>
              <a:t>i</a:t>
            </a:r>
            <a:r>
              <a:rPr lang="zh-CN" altLang="en-US" sz="2000" b="1" dirty="0"/>
              <a:t>；</a:t>
            </a:r>
            <a:endParaRPr lang="en-US" altLang="zh-CN" sz="2000" b="1" dirty="0"/>
          </a:p>
          <a:p>
            <a:pPr>
              <a:lnSpc>
                <a:spcPct val="125000"/>
              </a:lnSpc>
              <a:spcBef>
                <a:spcPts val="600"/>
              </a:spcBef>
            </a:pPr>
            <a:r>
              <a:rPr lang="zh-CN" altLang="en-US" sz="2000" b="1" dirty="0" smtClean="0"/>
              <a:t>对</a:t>
            </a:r>
            <a:r>
              <a:rPr lang="en-US" sz="2000" b="1" dirty="0" smtClean="0"/>
              <a:t> </a:t>
            </a:r>
            <a:r>
              <a:rPr lang="en-US" sz="2000" b="1" i="1" dirty="0"/>
              <a:t>j</a:t>
            </a:r>
            <a:r>
              <a:rPr lang="en-US" sz="2000" b="1" dirty="0"/>
              <a:t> </a:t>
            </a:r>
            <a:r>
              <a:rPr lang="en-US" sz="2000" b="1" dirty="0" smtClean="0"/>
              <a:t>= 2, 3, … </a:t>
            </a:r>
            <a:r>
              <a:rPr lang="en-US" sz="2000" b="1" i="1" dirty="0"/>
              <a:t>n</a:t>
            </a:r>
            <a:r>
              <a:rPr lang="en-US" sz="2000" b="1" dirty="0"/>
              <a:t>, </a:t>
            </a:r>
            <a:r>
              <a:rPr lang="zh-CN" altLang="en-US" sz="2000" b="1" dirty="0" smtClean="0"/>
              <a:t>假设</a:t>
            </a:r>
            <a:r>
              <a:rPr lang="en-US" sz="2000" b="1" dirty="0" err="1" smtClean="0">
                <a:solidFill>
                  <a:srgbClr val="FF0000"/>
                </a:solidFill>
              </a:rPr>
              <a:t>t</a:t>
            </a:r>
            <a:r>
              <a:rPr lang="en-US" sz="2000" b="1" baseline="-25000" dirty="0" err="1" smtClean="0">
                <a:solidFill>
                  <a:srgbClr val="FF0000"/>
                </a:solidFill>
              </a:rPr>
              <a:t>j</a:t>
            </a:r>
            <a:r>
              <a:rPr lang="zh-CN" altLang="en-US" sz="2000" b="1" dirty="0" smtClean="0">
                <a:solidFill>
                  <a:srgbClr val="FF0000"/>
                </a:solidFill>
              </a:rPr>
              <a:t>表示对值 </a:t>
            </a:r>
            <a:r>
              <a:rPr lang="en-US" altLang="zh-CN" sz="2000" b="1" i="1" dirty="0" smtClean="0">
                <a:solidFill>
                  <a:srgbClr val="FF0000"/>
                </a:solidFill>
              </a:rPr>
              <a:t>j </a:t>
            </a:r>
            <a:r>
              <a:rPr lang="zh-CN" altLang="en-US" sz="2000" b="1" dirty="0" smtClean="0">
                <a:solidFill>
                  <a:srgbClr val="FF0000"/>
                </a:solidFill>
              </a:rPr>
              <a:t>执行</a:t>
            </a:r>
            <a:r>
              <a:rPr lang="en-US" altLang="zh-CN" sz="2000" b="1" i="1" dirty="0" smtClean="0">
                <a:solidFill>
                  <a:srgbClr val="FF0000"/>
                </a:solidFill>
              </a:rPr>
              <a:t>while</a:t>
            </a:r>
            <a:r>
              <a:rPr lang="zh-CN" altLang="en-US" sz="2000" b="1" dirty="0" smtClean="0">
                <a:solidFill>
                  <a:srgbClr val="FF0000"/>
                </a:solidFill>
              </a:rPr>
              <a:t>循环</a:t>
            </a:r>
            <a:r>
              <a:rPr lang="zh-CN" altLang="en-US" sz="2000" b="1" dirty="0" smtClean="0">
                <a:solidFill>
                  <a:srgbClr val="00B050"/>
                </a:solidFill>
              </a:rPr>
              <a:t>测试</a:t>
            </a:r>
            <a:r>
              <a:rPr lang="zh-CN" altLang="en-US" sz="2000" b="1" dirty="0">
                <a:solidFill>
                  <a:srgbClr val="00B050"/>
                </a:solidFill>
              </a:rPr>
              <a:t>的次数</a:t>
            </a:r>
            <a:r>
              <a:rPr lang="zh-CN" altLang="en-US" sz="2000" b="1" dirty="0" smtClean="0"/>
              <a:t>。</a:t>
            </a:r>
            <a:endParaRPr lang="en-US" altLang="zh-CN" sz="2000" b="1" dirty="0" smtClean="0"/>
          </a:p>
          <a:p>
            <a:pPr>
              <a:lnSpc>
                <a:spcPct val="125000"/>
              </a:lnSpc>
              <a:spcBef>
                <a:spcPts val="600"/>
              </a:spcBef>
            </a:pPr>
            <a:r>
              <a:rPr lang="zh-CN" altLang="en-US" sz="2000" b="1" dirty="0"/>
              <a:t>当一</a:t>
            </a:r>
            <a:r>
              <a:rPr lang="zh-CN" altLang="en-US" sz="2000" b="1" dirty="0" smtClean="0"/>
              <a:t>个</a:t>
            </a:r>
            <a:r>
              <a:rPr lang="en-US" altLang="zh-CN" sz="2000" b="1" i="1" dirty="0"/>
              <a:t>for</a:t>
            </a:r>
            <a:r>
              <a:rPr lang="zh-CN" altLang="en-US" sz="2000" b="1" dirty="0" smtClean="0"/>
              <a:t>或</a:t>
            </a:r>
            <a:r>
              <a:rPr lang="en-US" altLang="zh-CN" sz="2000" b="1" i="1" dirty="0"/>
              <a:t>while</a:t>
            </a:r>
            <a:r>
              <a:rPr lang="zh-CN" altLang="en-US" sz="2000" b="1" dirty="0" smtClean="0"/>
              <a:t>循环按通常的方式（由于循环头中的测试）</a:t>
            </a:r>
            <a:r>
              <a:rPr lang="zh-CN" altLang="en-US" sz="2000" b="1" dirty="0"/>
              <a:t>退出</a:t>
            </a:r>
            <a:r>
              <a:rPr lang="zh-CN" altLang="en-US" sz="2000" b="1" dirty="0" smtClean="0"/>
              <a:t>时，</a:t>
            </a:r>
            <a:r>
              <a:rPr lang="zh-CN" altLang="en-US" sz="2000" b="1" dirty="0" smtClean="0">
                <a:solidFill>
                  <a:srgbClr val="FF0000"/>
                </a:solidFill>
              </a:rPr>
              <a:t>执行测试的次数</a:t>
            </a:r>
            <a:r>
              <a:rPr lang="zh-CN" altLang="en-US" sz="2000" b="1" dirty="0" smtClean="0"/>
              <a:t>比</a:t>
            </a:r>
            <a:r>
              <a:rPr lang="zh-CN" altLang="en-US" sz="2000" b="1" dirty="0" smtClean="0">
                <a:solidFill>
                  <a:srgbClr val="00B050"/>
                </a:solidFill>
              </a:rPr>
              <a:t>执行循环体</a:t>
            </a:r>
            <a:r>
              <a:rPr lang="zh-CN" altLang="en-US" sz="2000" b="1" dirty="0" smtClean="0"/>
              <a:t>的次数多</a:t>
            </a:r>
            <a:r>
              <a:rPr lang="en-US" altLang="zh-CN" sz="2000" b="1" dirty="0" smtClean="0"/>
              <a:t>1</a:t>
            </a:r>
            <a:r>
              <a:rPr lang="zh-CN" altLang="en-US" sz="2000" b="1" dirty="0" smtClean="0"/>
              <a:t>。</a:t>
            </a:r>
            <a:endParaRPr lang="en-US" sz="2000" b="1" dirty="0"/>
          </a:p>
        </p:txBody>
      </p:sp>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168" t="38846" r="21899" b="25898"/>
          <a:stretch/>
        </p:blipFill>
        <p:spPr bwMode="auto">
          <a:xfrm>
            <a:off x="457200" y="1295400"/>
            <a:ext cx="8363985" cy="313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直接连接符 2"/>
          <p:cNvCxnSpPr/>
          <p:nvPr/>
        </p:nvCxnSpPr>
        <p:spPr bwMode="auto">
          <a:xfrm>
            <a:off x="1295400" y="3276600"/>
            <a:ext cx="6019800" cy="0"/>
          </a:xfrm>
          <a:prstGeom prst="line">
            <a:avLst/>
          </a:prstGeom>
          <a:solidFill>
            <a:schemeClr val="accent1"/>
          </a:solidFill>
          <a:ln w="38100" cap="flat" cmpd="sng" algn="ctr">
            <a:solidFill>
              <a:schemeClr val="accent1"/>
            </a:solidFill>
            <a:prstDash val="lgDash"/>
            <a:round/>
            <a:headEnd type="none" w="med" len="med"/>
            <a:tailEnd type="none" w="med" len="med"/>
          </a:ln>
          <a:effectLst/>
        </p:spPr>
      </p:cxnSp>
    </p:spTree>
    <p:extLst>
      <p:ext uri="{BB962C8B-B14F-4D97-AF65-F5344CB8AC3E}">
        <p14:creationId xmlns:p14="http://schemas.microsoft.com/office/powerpoint/2010/main" val="13703432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3400" y="457200"/>
            <a:ext cx="7772400" cy="838200"/>
          </a:xfrm>
        </p:spPr>
        <p:txBody>
          <a:bodyPr/>
          <a:lstStyle/>
          <a:p>
            <a:r>
              <a:rPr lang="en-US" altLang="zh-CN" sz="3600" dirty="0"/>
              <a:t>1.2 </a:t>
            </a:r>
            <a:r>
              <a:rPr lang="zh-CN" altLang="en-US" sz="3600" dirty="0"/>
              <a:t>分析插入排序算法</a:t>
            </a:r>
            <a:r>
              <a:rPr lang="en-US" altLang="zh-CN" sz="3600" dirty="0"/>
              <a:t> </a:t>
            </a:r>
            <a:r>
              <a:rPr lang="en-US" altLang="zh-CN" sz="3600" dirty="0" smtClean="0"/>
              <a:t>(4)</a:t>
            </a:r>
            <a:endParaRPr lang="en-US" sz="3600" b="1" dirty="0" smtClean="0">
              <a:solidFill>
                <a:srgbClr val="0000CC"/>
              </a:solidFill>
            </a:endParaRPr>
          </a:p>
        </p:txBody>
      </p:sp>
      <p:sp>
        <p:nvSpPr>
          <p:cNvPr id="7171" name="Rectangle 3"/>
          <p:cNvSpPr>
            <a:spLocks noGrp="1" noChangeArrowheads="1"/>
          </p:cNvSpPr>
          <p:nvPr>
            <p:ph type="body" idx="4294967295"/>
          </p:nvPr>
        </p:nvSpPr>
        <p:spPr>
          <a:xfrm>
            <a:off x="533400" y="1371600"/>
            <a:ext cx="8610600" cy="5257800"/>
          </a:xfrm>
        </p:spPr>
        <p:txBody>
          <a:bodyPr/>
          <a:lstStyle/>
          <a:p>
            <a:r>
              <a:rPr lang="zh-CN" altLang="en-US" sz="2400" b="1" dirty="0" smtClean="0"/>
              <a:t>插入排序的运行时间</a:t>
            </a:r>
            <a:r>
              <a:rPr lang="en-US" sz="2400" b="1" dirty="0" smtClean="0"/>
              <a:t>:</a:t>
            </a:r>
          </a:p>
          <a:p>
            <a:pPr marL="0" indent="0">
              <a:buNone/>
            </a:pPr>
            <a:r>
              <a:rPr lang="en-US" sz="2400" b="1" dirty="0" smtClean="0"/>
              <a:t>     </a:t>
            </a:r>
            <a:endParaRPr lang="en-US" sz="2400" b="1" dirty="0"/>
          </a:p>
          <a:p>
            <a:endParaRPr lang="en-US" sz="2400" b="1" dirty="0" smtClean="0"/>
          </a:p>
          <a:p>
            <a:pPr marL="0" indent="0">
              <a:buNone/>
            </a:pPr>
            <a:endParaRPr lang="en-US" sz="2400" b="1" dirty="0" smtClean="0"/>
          </a:p>
          <a:p>
            <a:pPr lvl="1">
              <a:spcBef>
                <a:spcPts val="1800"/>
              </a:spcBef>
            </a:pPr>
            <a:r>
              <a:rPr lang="zh-CN" altLang="en-US" sz="2200" b="1" dirty="0" smtClean="0"/>
              <a:t>运行时间取决于</a:t>
            </a:r>
            <a:r>
              <a:rPr lang="en-US" sz="2200" b="1" i="1" dirty="0" err="1" smtClean="0">
                <a:solidFill>
                  <a:srgbClr val="FF0000"/>
                </a:solidFill>
              </a:rPr>
              <a:t>t</a:t>
            </a:r>
            <a:r>
              <a:rPr lang="en-US" sz="2200" b="1" i="1" baseline="-25000" dirty="0" err="1" smtClean="0">
                <a:solidFill>
                  <a:srgbClr val="FF0000"/>
                </a:solidFill>
              </a:rPr>
              <a:t>j</a:t>
            </a:r>
            <a:r>
              <a:rPr lang="en-US" sz="2200" b="1" dirty="0" smtClean="0">
                <a:solidFill>
                  <a:srgbClr val="FF0000"/>
                </a:solidFill>
              </a:rPr>
              <a:t> </a:t>
            </a:r>
            <a:r>
              <a:rPr lang="zh-CN" altLang="en-US" sz="2200" b="1" dirty="0" smtClean="0"/>
              <a:t>的值，其随输入问题的情况而定</a:t>
            </a:r>
            <a:r>
              <a:rPr lang="zh-CN" altLang="en-US" sz="2200" b="1" dirty="0"/>
              <a:t>。</a:t>
            </a:r>
            <a:endParaRPr lang="en-US" sz="2200" b="1" dirty="0" smtClean="0"/>
          </a:p>
        </p:txBody>
      </p:sp>
      <p:graphicFrame>
        <p:nvGraphicFramePr>
          <p:cNvPr id="4" name="Object 3"/>
          <p:cNvGraphicFramePr>
            <a:graphicFrameLocks noChangeAspect="1"/>
          </p:cNvGraphicFramePr>
          <p:nvPr>
            <p:extLst>
              <p:ext uri="{D42A27DB-BD31-4B8C-83A1-F6EECF244321}">
                <p14:modId xmlns:p14="http://schemas.microsoft.com/office/powerpoint/2010/main" val="2985506325"/>
              </p:ext>
            </p:extLst>
          </p:nvPr>
        </p:nvGraphicFramePr>
        <p:xfrm>
          <a:off x="947384" y="1576144"/>
          <a:ext cx="6761163" cy="1011237"/>
        </p:xfrm>
        <a:graphic>
          <a:graphicData uri="http://schemas.openxmlformats.org/presentationml/2006/ole">
            <mc:AlternateContent xmlns:mc="http://schemas.openxmlformats.org/markup-compatibility/2006">
              <mc:Choice xmlns:v="urn:schemas-microsoft-com:vml" Requires="v">
                <p:oleObj spid="_x0000_s26170" name="Equation" r:id="rId4" imgW="2971800" imgH="444500" progId="Equation.3">
                  <p:embed/>
                </p:oleObj>
              </mc:Choice>
              <mc:Fallback>
                <p:oleObj name="Equation" r:id="rId4" imgW="2971800" imgH="444500" progId="Equation.3">
                  <p:embed/>
                  <p:pic>
                    <p:nvPicPr>
                      <p:cNvPr id="0" name="Picture 2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7384" y="1576144"/>
                        <a:ext cx="6761163" cy="1011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930480677"/>
              </p:ext>
            </p:extLst>
          </p:nvPr>
        </p:nvGraphicFramePr>
        <p:xfrm>
          <a:off x="947384" y="2286000"/>
          <a:ext cx="7080250" cy="1011237"/>
        </p:xfrm>
        <a:graphic>
          <a:graphicData uri="http://schemas.openxmlformats.org/presentationml/2006/ole">
            <mc:AlternateContent xmlns:mc="http://schemas.openxmlformats.org/markup-compatibility/2006">
              <mc:Choice xmlns:v="urn:schemas-microsoft-com:vml" Requires="v">
                <p:oleObj spid="_x0000_s26171" name="Equation" r:id="rId6" imgW="3111500" imgH="444500" progId="Equation.DSMT4">
                  <p:embed/>
                </p:oleObj>
              </mc:Choice>
              <mc:Fallback>
                <p:oleObj name="Equation" r:id="rId6" imgW="3111500" imgH="444500" progId="Equation.DSMT4">
                  <p:embed/>
                  <p:pic>
                    <p:nvPicPr>
                      <p:cNvPr id="0" name="Picture 2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7384" y="2286000"/>
                        <a:ext cx="7080250" cy="1011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 name="Rectangle 3"/>
              <p:cNvSpPr txBox="1">
                <a:spLocks noChangeArrowheads="1"/>
              </p:cNvSpPr>
              <p:nvPr/>
            </p:nvSpPr>
            <p:spPr bwMode="auto">
              <a:xfrm>
                <a:off x="370026" y="3810001"/>
                <a:ext cx="8634274" cy="26584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a:buFont typeface="Wingdings" pitchFamily="2" charset="2"/>
                  <a:buNone/>
                </a:pPr>
                <a:r>
                  <a:rPr lang="zh-CN" altLang="en-US" sz="2400" b="1" kern="0" dirty="0" smtClean="0">
                    <a:solidFill>
                      <a:srgbClr val="3333FF"/>
                    </a:solidFill>
                    <a:latin typeface="黑体" panose="02010609060101010101" pitchFamily="49" charset="-122"/>
                    <a:ea typeface="黑体" panose="02010609060101010101" pitchFamily="49" charset="-122"/>
                  </a:rPr>
                  <a:t>最好情况</a:t>
                </a:r>
                <a:r>
                  <a:rPr lang="en-US" sz="2400" b="1" kern="0" dirty="0" smtClean="0">
                    <a:solidFill>
                      <a:srgbClr val="3333FF"/>
                    </a:solidFill>
                    <a:latin typeface="黑体" panose="02010609060101010101" pitchFamily="49" charset="-122"/>
                    <a:ea typeface="黑体" panose="02010609060101010101" pitchFamily="49" charset="-122"/>
                  </a:rPr>
                  <a:t>:</a:t>
                </a:r>
              </a:p>
              <a:p>
                <a:r>
                  <a:rPr lang="zh-CN" altLang="en-US" sz="2400" b="1" kern="0" dirty="0" smtClean="0"/>
                  <a:t>当</a:t>
                </a:r>
                <a:r>
                  <a:rPr lang="en-US" altLang="zh-CN" sz="2400" b="1" i="1" kern="0" dirty="0" err="1"/>
                  <a:t>i</a:t>
                </a:r>
                <a:r>
                  <a:rPr lang="en-US" altLang="zh-CN" sz="2400" b="1" kern="0" dirty="0"/>
                  <a:t> = </a:t>
                </a:r>
                <a:r>
                  <a:rPr lang="en-US" altLang="zh-CN" sz="2400" b="1" i="1" kern="0" dirty="0"/>
                  <a:t>j</a:t>
                </a:r>
                <a:r>
                  <a:rPr lang="en-US" altLang="zh-CN" sz="2400" b="1" kern="0" dirty="0"/>
                  <a:t> – </a:t>
                </a:r>
                <a:r>
                  <a:rPr lang="en-US" altLang="zh-CN" sz="2400" b="1" kern="0" dirty="0" smtClean="0"/>
                  <a:t>1</a:t>
                </a:r>
                <a:r>
                  <a:rPr lang="zh-CN" altLang="en-US" sz="2400" b="1" kern="0" dirty="0" smtClean="0"/>
                  <a:t>时，</a:t>
                </a:r>
                <a:r>
                  <a:rPr lang="en-US" sz="2400" b="1" i="1" kern="0" dirty="0" smtClean="0"/>
                  <a:t>A</a:t>
                </a:r>
                <a:r>
                  <a:rPr lang="en-US" sz="2400" b="1" kern="0" dirty="0" smtClean="0"/>
                  <a:t>[</a:t>
                </a:r>
                <a:r>
                  <a:rPr lang="en-US" sz="2400" b="1" i="1" kern="0" dirty="0" err="1" smtClean="0"/>
                  <a:t>i</a:t>
                </a:r>
                <a:r>
                  <a:rPr lang="en-US" sz="2400" b="1" kern="0" dirty="0" smtClean="0"/>
                  <a:t>] ≤ </a:t>
                </a:r>
                <a:r>
                  <a:rPr lang="en-US" sz="2400" b="1" i="1" kern="0" dirty="0" smtClean="0"/>
                  <a:t>ke</a:t>
                </a:r>
                <a:r>
                  <a:rPr lang="en-US" sz="2400" b="1" kern="0" dirty="0" smtClean="0"/>
                  <a:t>y</a:t>
                </a:r>
                <a:r>
                  <a:rPr lang="zh-CN" altLang="en-US" sz="2400" b="1" i="1" kern="0" dirty="0" smtClean="0"/>
                  <a:t>；</a:t>
                </a:r>
                <a:r>
                  <a:rPr lang="zh-CN" altLang="en-US" sz="2400" b="1" kern="0" dirty="0" smtClean="0"/>
                  <a:t>所有的</a:t>
                </a:r>
                <a:r>
                  <a:rPr lang="en-US" sz="2400" b="1" kern="0" dirty="0" smtClean="0"/>
                  <a:t> </a:t>
                </a:r>
                <a:r>
                  <a:rPr lang="en-US" sz="2400" b="1" kern="0" dirty="0" err="1" smtClean="0">
                    <a:solidFill>
                      <a:srgbClr val="FF0000"/>
                    </a:solidFill>
                  </a:rPr>
                  <a:t>t</a:t>
                </a:r>
                <a:r>
                  <a:rPr lang="en-US" sz="2400" b="1" kern="0" baseline="-25000" dirty="0" err="1" smtClean="0">
                    <a:solidFill>
                      <a:srgbClr val="FF0000"/>
                    </a:solidFill>
                  </a:rPr>
                  <a:t>j</a:t>
                </a:r>
                <a:r>
                  <a:rPr lang="zh-CN" altLang="en-US" sz="2400" b="1" kern="0" dirty="0" smtClean="0">
                    <a:solidFill>
                      <a:srgbClr val="FF0000"/>
                    </a:solidFill>
                  </a:rPr>
                  <a:t>均为</a:t>
                </a:r>
                <a:r>
                  <a:rPr lang="en-US" sz="2400" b="1" kern="0" dirty="0" smtClean="0">
                    <a:solidFill>
                      <a:srgbClr val="FF0000"/>
                    </a:solidFill>
                  </a:rPr>
                  <a:t>1</a:t>
                </a:r>
                <a:endParaRPr lang="en-US" sz="2400" b="1" kern="0" dirty="0"/>
              </a:p>
              <a:p>
                <a:r>
                  <a:rPr lang="zh-CN" altLang="en-US" sz="2400" b="1" kern="0" dirty="0" smtClean="0"/>
                  <a:t>运行时间</a:t>
                </a:r>
                <a:endParaRPr lang="en-US" sz="2400" b="1" kern="0" dirty="0" smtClean="0"/>
              </a:p>
              <a:p>
                <a:endParaRPr lang="en-US" sz="2400" b="1" kern="0" dirty="0"/>
              </a:p>
              <a:p>
                <a:endParaRPr lang="en-US" sz="2400" b="1" kern="0" dirty="0" smtClean="0"/>
              </a:p>
              <a:p>
                <a:pPr>
                  <a:spcAft>
                    <a:spcPts val="600"/>
                  </a:spcAft>
                </a:pPr>
                <a:r>
                  <a:rPr lang="en-US" sz="2400" b="1" i="1" kern="0" dirty="0" smtClean="0"/>
                  <a:t>T</a:t>
                </a:r>
                <a:r>
                  <a:rPr lang="en-US" sz="2400" b="1" kern="0" dirty="0" smtClean="0"/>
                  <a:t>(</a:t>
                </a:r>
                <a:r>
                  <a:rPr lang="en-US" sz="2400" b="1" i="1" kern="0" dirty="0" smtClean="0"/>
                  <a:t>n</a:t>
                </a:r>
                <a:r>
                  <a:rPr lang="en-US" sz="2400" b="1" kern="0" dirty="0" smtClean="0"/>
                  <a:t>)</a:t>
                </a:r>
                <a:r>
                  <a:rPr lang="zh-CN" altLang="en-US" sz="2400" b="1" kern="0" dirty="0" smtClean="0"/>
                  <a:t>可表示为</a:t>
                </a:r>
                <a14:m>
                  <m:oMath xmlns:m="http://schemas.openxmlformats.org/officeDocument/2006/math">
                    <m:r>
                      <a:rPr lang="en-US" sz="2400" b="1" i="1" kern="0" smtClean="0">
                        <a:latin typeface="Cambria Math"/>
                      </a:rPr>
                      <m:t>𝒂𝒏</m:t>
                    </m:r>
                    <m:r>
                      <a:rPr lang="en-US" sz="2400" b="1" i="1" kern="0" smtClean="0">
                        <a:latin typeface="Cambria Math"/>
                      </a:rPr>
                      <m:t>+</m:t>
                    </m:r>
                    <m:r>
                      <a:rPr lang="en-US" sz="2400" b="1" i="1" kern="0" smtClean="0">
                        <a:latin typeface="Cambria Math"/>
                      </a:rPr>
                      <m:t>𝒃</m:t>
                    </m:r>
                  </m:oMath>
                </a14:m>
                <a:r>
                  <a:rPr lang="en-US" sz="2400" b="1" kern="0" dirty="0" smtClean="0"/>
                  <a:t> </a:t>
                </a:r>
                <a:r>
                  <a:rPr lang="zh-CN" altLang="en-US" sz="2400" b="1" kern="0" dirty="0" smtClean="0"/>
                  <a:t>，其中常量</a:t>
                </a:r>
                <a:r>
                  <a:rPr lang="en-US" sz="2400" b="1" i="1" kern="0" dirty="0" smtClean="0"/>
                  <a:t>a</a:t>
                </a:r>
                <a:r>
                  <a:rPr lang="zh-CN" altLang="en-US" sz="2400" b="1" kern="0" dirty="0" smtClean="0"/>
                  <a:t>和</a:t>
                </a:r>
                <a:r>
                  <a:rPr lang="en-US" sz="2400" b="1" i="1" kern="0" dirty="0" smtClean="0"/>
                  <a:t>b</a:t>
                </a:r>
                <a:r>
                  <a:rPr lang="en-US" sz="2400" b="1" kern="0" dirty="0" smtClean="0"/>
                  <a:t> </a:t>
                </a:r>
                <a:r>
                  <a:rPr lang="zh-CN" altLang="en-US" sz="2400" b="1" kern="0" dirty="0" smtClean="0"/>
                  <a:t>依赖于语句代价</a:t>
                </a:r>
                <a:r>
                  <a:rPr lang="en-US" sz="2400" b="1" i="1" kern="0" dirty="0" smtClean="0"/>
                  <a:t>c</a:t>
                </a:r>
                <a:r>
                  <a:rPr lang="en-US" sz="2400" b="1" i="1" kern="0" baseline="-25000" dirty="0" smtClean="0"/>
                  <a:t>i</a:t>
                </a:r>
                <a:endParaRPr lang="en-US" sz="2400" b="1" kern="0" dirty="0" smtClean="0"/>
              </a:p>
            </p:txBody>
          </p:sp>
        </mc:Choice>
        <mc:Fallback xmlns="">
          <p:sp>
            <p:nvSpPr>
              <p:cNvPr id="7" name="Rectangle 3"/>
              <p:cNvSpPr txBox="1">
                <a:spLocks noRot="1" noChangeAspect="1" noMove="1" noResize="1" noEditPoints="1" noAdjustHandles="1" noChangeArrowheads="1" noChangeShapeType="1" noTextEdit="1"/>
              </p:cNvSpPr>
              <p:nvPr/>
            </p:nvSpPr>
            <p:spPr bwMode="auto">
              <a:xfrm>
                <a:off x="370026" y="3810001"/>
                <a:ext cx="8634274" cy="2658492"/>
              </a:xfrm>
              <a:prstGeom prst="rect">
                <a:avLst/>
              </a:prstGeom>
              <a:blipFill rotWithShape="0">
                <a:blip r:embed="rId8"/>
                <a:stretch>
                  <a:fillRect l="-1130" t="-1835" b="-52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8" name="Object 3"/>
          <p:cNvGraphicFramePr>
            <a:graphicFrameLocks noChangeAspect="1"/>
          </p:cNvGraphicFramePr>
          <p:nvPr>
            <p:extLst>
              <p:ext uri="{D42A27DB-BD31-4B8C-83A1-F6EECF244321}">
                <p14:modId xmlns:p14="http://schemas.microsoft.com/office/powerpoint/2010/main" val="1672767759"/>
              </p:ext>
            </p:extLst>
          </p:nvPr>
        </p:nvGraphicFramePr>
        <p:xfrm>
          <a:off x="281126" y="5029199"/>
          <a:ext cx="8699500" cy="1041400"/>
        </p:xfrm>
        <a:graphic>
          <a:graphicData uri="http://schemas.openxmlformats.org/presentationml/2006/ole">
            <mc:AlternateContent xmlns:mc="http://schemas.openxmlformats.org/markup-compatibility/2006">
              <mc:Choice xmlns:v="urn:schemas-microsoft-com:vml" Requires="v">
                <p:oleObj spid="_x0000_s26172" name="Equation" r:id="rId9" imgW="3822700" imgH="457200" progId="Equation.3">
                  <p:embed/>
                </p:oleObj>
              </mc:Choice>
              <mc:Fallback>
                <p:oleObj name="Equation" r:id="rId9" imgW="3822700" imgH="457200" progId="Equation.3">
                  <p:embed/>
                  <p:pic>
                    <p:nvPicPr>
                      <p:cNvPr id="0" name="Picture 2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126" y="5029199"/>
                        <a:ext cx="869950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1"/>
          <p:cNvSpPr txBox="1"/>
          <p:nvPr/>
        </p:nvSpPr>
        <p:spPr>
          <a:xfrm>
            <a:off x="1970226" y="3810000"/>
            <a:ext cx="2040943" cy="461665"/>
          </a:xfrm>
          <a:prstGeom prst="rect">
            <a:avLst/>
          </a:prstGeom>
          <a:noFill/>
        </p:spPr>
        <p:txBody>
          <a:bodyPr wrap="none" rtlCol="0">
            <a:spAutoFit/>
          </a:bodyPr>
          <a:lstStyle/>
          <a:p>
            <a:r>
              <a:rPr lang="zh-CN" altLang="en-US" sz="2400" dirty="0" smtClean="0">
                <a:solidFill>
                  <a:srgbClr val="3333FF"/>
                </a:solidFill>
                <a:latin typeface="黑体" panose="02010609060101010101" pitchFamily="49" charset="-122"/>
                <a:ea typeface="黑体" panose="02010609060101010101" pitchFamily="49" charset="-122"/>
              </a:rPr>
              <a:t>数组已排好序</a:t>
            </a:r>
            <a:endParaRPr lang="en-US" sz="2400" dirty="0">
              <a:solidFill>
                <a:srgbClr val="3333FF"/>
              </a:solidFill>
              <a:latin typeface="黑体" panose="02010609060101010101" pitchFamily="49" charset="-122"/>
              <a:ea typeface="黑体" panose="02010609060101010101" pitchFamily="49" charset="-122"/>
            </a:endParaRPr>
          </a:p>
        </p:txBody>
      </p:sp>
      <p:sp>
        <p:nvSpPr>
          <p:cNvPr id="10" name="AutoShape 7"/>
          <p:cNvSpPr>
            <a:spLocks noChangeArrowheads="1"/>
          </p:cNvSpPr>
          <p:nvPr/>
        </p:nvSpPr>
        <p:spPr bwMode="auto">
          <a:xfrm>
            <a:off x="4408626" y="6400800"/>
            <a:ext cx="2016125" cy="380999"/>
          </a:xfrm>
          <a:prstGeom prst="wedgeRoundRectCallout">
            <a:avLst>
              <a:gd name="adj1" fmla="val -113431"/>
              <a:gd name="adj2" fmla="val -56683"/>
              <a:gd name="adj3" fmla="val 16667"/>
            </a:avLst>
          </a:prstGeom>
          <a:solidFill>
            <a:schemeClr val="accent6">
              <a:lumMod val="50000"/>
            </a:schemeClr>
          </a:solidFill>
          <a:ln w="9525">
            <a:solidFill>
              <a:schemeClr val="tx1"/>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lang="zh-CN" altLang="en-US" sz="1800" dirty="0">
                <a:solidFill>
                  <a:srgbClr val="FFFFFF"/>
                </a:solidFill>
                <a:latin typeface="Tahoma" panose="020B0604030504040204" pitchFamily="34" charset="0"/>
                <a:ea typeface="宋体" panose="02010600030101010101" pitchFamily="2" charset="-122"/>
              </a:rPr>
              <a:t>线性函数</a:t>
            </a:r>
          </a:p>
        </p:txBody>
      </p:sp>
      <p:pic>
        <p:nvPicPr>
          <p:cNvPr id="3" name="图片 2"/>
          <p:cNvPicPr>
            <a:picLocks noChangeAspect="1"/>
          </p:cNvPicPr>
          <p:nvPr/>
        </p:nvPicPr>
        <p:blipFill>
          <a:blip r:embed="rId11"/>
          <a:stretch>
            <a:fillRect/>
          </a:stretch>
        </p:blipFill>
        <p:spPr>
          <a:xfrm>
            <a:off x="6477000" y="4038600"/>
            <a:ext cx="2362200" cy="771525"/>
          </a:xfrm>
          <a:prstGeom prst="rect">
            <a:avLst/>
          </a:prstGeom>
        </p:spPr>
      </p:pic>
    </p:spTree>
    <p:extLst>
      <p:ext uri="{BB962C8B-B14F-4D97-AF65-F5344CB8AC3E}">
        <p14:creationId xmlns:p14="http://schemas.microsoft.com/office/powerpoint/2010/main" val="60248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P spid="7" grpId="0" uiExpand="1" build="p"/>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3400" y="457200"/>
            <a:ext cx="7772400" cy="838200"/>
          </a:xfrm>
        </p:spPr>
        <p:txBody>
          <a:bodyPr/>
          <a:lstStyle/>
          <a:p>
            <a:r>
              <a:rPr lang="en-US" altLang="zh-CN" sz="3600" dirty="0"/>
              <a:t>1.2 </a:t>
            </a:r>
            <a:r>
              <a:rPr lang="zh-CN" altLang="en-US" sz="3600" dirty="0"/>
              <a:t>分析插入排序算法</a:t>
            </a:r>
            <a:r>
              <a:rPr lang="en-US" altLang="zh-CN" sz="3600" dirty="0"/>
              <a:t> </a:t>
            </a:r>
            <a:r>
              <a:rPr lang="en-US" altLang="zh-CN" sz="3600" dirty="0" smtClean="0"/>
              <a:t>(5)</a:t>
            </a:r>
            <a:endParaRPr lang="en-US" sz="3600" b="1" dirty="0" smtClean="0">
              <a:solidFill>
                <a:srgbClr val="0000CC"/>
              </a:solidFill>
            </a:endParaRPr>
          </a:p>
        </p:txBody>
      </p:sp>
      <p:sp>
        <p:nvSpPr>
          <p:cNvPr id="7171" name="Rectangle 3"/>
          <p:cNvSpPr>
            <a:spLocks noGrp="1" noChangeArrowheads="1"/>
          </p:cNvSpPr>
          <p:nvPr>
            <p:ph type="body" idx="4294967295"/>
          </p:nvPr>
        </p:nvSpPr>
        <p:spPr>
          <a:xfrm>
            <a:off x="533400" y="1447800"/>
            <a:ext cx="8610600" cy="5257800"/>
          </a:xfrm>
        </p:spPr>
        <p:txBody>
          <a:bodyPr/>
          <a:lstStyle/>
          <a:p>
            <a:pPr marL="0" indent="0">
              <a:buNone/>
            </a:pPr>
            <a:r>
              <a:rPr lang="zh-CN" altLang="en-US" sz="2400" b="1" dirty="0" smtClean="0">
                <a:solidFill>
                  <a:srgbClr val="3333FF"/>
                </a:solidFill>
                <a:latin typeface="黑体" panose="02010609060101010101" pitchFamily="49" charset="-122"/>
                <a:ea typeface="黑体" panose="02010609060101010101" pitchFamily="49" charset="-122"/>
              </a:rPr>
              <a:t>最坏情况</a:t>
            </a:r>
            <a:r>
              <a:rPr lang="en-US" sz="2400" b="1" dirty="0" smtClean="0">
                <a:solidFill>
                  <a:srgbClr val="3333FF"/>
                </a:solidFill>
                <a:latin typeface="黑体" panose="02010609060101010101" pitchFamily="49" charset="-122"/>
                <a:ea typeface="黑体" panose="02010609060101010101" pitchFamily="49" charset="-122"/>
              </a:rPr>
              <a:t>:</a:t>
            </a:r>
            <a:endParaRPr lang="en-US" sz="2400" b="1" dirty="0">
              <a:solidFill>
                <a:srgbClr val="3333FF"/>
              </a:solidFill>
              <a:latin typeface="黑体" panose="02010609060101010101" pitchFamily="49" charset="-122"/>
              <a:ea typeface="黑体" panose="02010609060101010101" pitchFamily="49" charset="-122"/>
            </a:endParaRPr>
          </a:p>
          <a:p>
            <a:r>
              <a:rPr lang="zh-CN" altLang="en-US" sz="2400" b="1" dirty="0" smtClean="0"/>
              <a:t>在整个循环测试中，总是</a:t>
            </a:r>
            <a:r>
              <a:rPr lang="en-US" sz="2400" b="1" i="1" dirty="0" smtClean="0"/>
              <a:t>A</a:t>
            </a:r>
            <a:r>
              <a:rPr lang="en-US" sz="2400" b="1" dirty="0" smtClean="0"/>
              <a:t>[</a:t>
            </a:r>
            <a:r>
              <a:rPr lang="en-US" sz="2400" b="1" i="1" dirty="0" err="1" smtClean="0"/>
              <a:t>i</a:t>
            </a:r>
            <a:r>
              <a:rPr lang="en-US" sz="2400" b="1" dirty="0" smtClean="0"/>
              <a:t>] </a:t>
            </a:r>
            <a:r>
              <a:rPr lang="en-US" sz="2400" b="1" dirty="0"/>
              <a:t>&gt; </a:t>
            </a:r>
            <a:r>
              <a:rPr lang="en-US" sz="2400" b="1" i="1" dirty="0"/>
              <a:t>key </a:t>
            </a:r>
            <a:r>
              <a:rPr lang="zh-CN" altLang="en-US" sz="2400" b="1" i="1" dirty="0" smtClean="0"/>
              <a:t>。</a:t>
            </a:r>
            <a:endParaRPr lang="en-US" altLang="zh-CN" sz="2400" b="1" i="1" dirty="0" smtClean="0"/>
          </a:p>
          <a:p>
            <a:r>
              <a:rPr lang="zh-CN" altLang="en-US" sz="2400" b="1" dirty="0" smtClean="0"/>
              <a:t>必须将每个元素</a:t>
            </a:r>
            <a:r>
              <a:rPr lang="en-US" altLang="zh-CN" sz="2400" b="1" i="1" dirty="0" smtClean="0"/>
              <a:t>A</a:t>
            </a:r>
            <a:r>
              <a:rPr lang="en-US" altLang="zh-CN" sz="2400" b="1" dirty="0" smtClean="0"/>
              <a:t>[</a:t>
            </a:r>
            <a:r>
              <a:rPr lang="en-US" altLang="zh-CN" sz="2400" b="1" i="1" dirty="0"/>
              <a:t>j</a:t>
            </a:r>
            <a:r>
              <a:rPr lang="en-US" altLang="zh-CN" sz="2400" b="1" dirty="0" smtClean="0"/>
              <a:t>]</a:t>
            </a:r>
            <a:r>
              <a:rPr lang="zh-CN" altLang="en-US" sz="2400" b="1" dirty="0" smtClean="0"/>
              <a:t>与整个已排序子数组</a:t>
            </a:r>
            <a:r>
              <a:rPr lang="en-US" altLang="zh-CN" sz="2400" b="1" i="1" dirty="0" smtClean="0"/>
              <a:t>A</a:t>
            </a:r>
            <a:r>
              <a:rPr lang="en-US" altLang="zh-CN" sz="2400" b="1" dirty="0"/>
              <a:t>[1</a:t>
            </a:r>
            <a:r>
              <a:rPr lang="en-US" altLang="zh-CN" sz="2400" b="1" dirty="0" smtClean="0"/>
              <a:t>,</a:t>
            </a:r>
            <a:r>
              <a:rPr lang="en-US" altLang="zh-CN" sz="2400" b="1" dirty="0" smtClean="0">
                <a:solidFill>
                  <a:srgbClr val="FF0000"/>
                </a:solidFill>
              </a:rPr>
              <a:t>...</a:t>
            </a:r>
            <a:r>
              <a:rPr lang="en-US" altLang="zh-CN" sz="2400" b="1" dirty="0" smtClean="0"/>
              <a:t>,</a:t>
            </a:r>
            <a:r>
              <a:rPr lang="en-US" altLang="zh-CN" sz="2400" b="1" i="1" dirty="0" smtClean="0">
                <a:solidFill>
                  <a:srgbClr val="FF0000"/>
                </a:solidFill>
              </a:rPr>
              <a:t>j-1</a:t>
            </a:r>
            <a:r>
              <a:rPr lang="en-US" altLang="zh-CN" sz="2400" b="1" dirty="0" smtClean="0"/>
              <a:t>]</a:t>
            </a:r>
            <a:r>
              <a:rPr lang="zh-CN" altLang="en-US" sz="2400" b="1" dirty="0" smtClean="0"/>
              <a:t>中的每个元素进行比较。</a:t>
            </a:r>
            <a:r>
              <a:rPr lang="en-US" sz="2400" b="1" dirty="0" smtClean="0">
                <a:sym typeface="Wingdings" pitchFamily="2" charset="2"/>
              </a:rPr>
              <a:t> </a:t>
            </a:r>
            <a:r>
              <a:rPr lang="en-US" sz="2400" b="1" dirty="0" err="1" smtClean="0">
                <a:solidFill>
                  <a:srgbClr val="FF0000"/>
                </a:solidFill>
              </a:rPr>
              <a:t>t</a:t>
            </a:r>
            <a:r>
              <a:rPr lang="en-US" sz="2400" b="1" baseline="-25000" dirty="0" err="1" smtClean="0">
                <a:solidFill>
                  <a:srgbClr val="FF0000"/>
                </a:solidFill>
              </a:rPr>
              <a:t>j</a:t>
            </a:r>
            <a:r>
              <a:rPr lang="en-US" sz="2400" b="1" dirty="0" smtClean="0">
                <a:solidFill>
                  <a:srgbClr val="FF0000"/>
                </a:solidFill>
              </a:rPr>
              <a:t> = </a:t>
            </a:r>
            <a:r>
              <a:rPr lang="en-US" sz="2400" b="1" dirty="0">
                <a:solidFill>
                  <a:srgbClr val="FF0000"/>
                </a:solidFill>
              </a:rPr>
              <a:t>j </a:t>
            </a:r>
            <a:r>
              <a:rPr lang="en-US" sz="2400" b="1" dirty="0" smtClean="0"/>
              <a:t>. </a:t>
            </a:r>
          </a:p>
          <a:p>
            <a:pPr marL="0" indent="0">
              <a:buNone/>
            </a:pPr>
            <a:r>
              <a:rPr lang="en-US" sz="2400" b="1" dirty="0"/>
              <a:t> </a:t>
            </a:r>
            <a:r>
              <a:rPr lang="en-US" sz="2400" b="1" dirty="0" smtClean="0"/>
              <a:t>    </a:t>
            </a:r>
            <a:endParaRPr lang="en-US" sz="2400" b="1" dirty="0"/>
          </a:p>
        </p:txBody>
      </p:sp>
      <p:graphicFrame>
        <p:nvGraphicFramePr>
          <p:cNvPr id="3" name="Object 2"/>
          <p:cNvGraphicFramePr>
            <a:graphicFrameLocks noChangeAspect="1"/>
          </p:cNvGraphicFramePr>
          <p:nvPr>
            <p:extLst>
              <p:ext uri="{D42A27DB-BD31-4B8C-83A1-F6EECF244321}">
                <p14:modId xmlns:p14="http://schemas.microsoft.com/office/powerpoint/2010/main" val="3573749785"/>
              </p:ext>
            </p:extLst>
          </p:nvPr>
        </p:nvGraphicFramePr>
        <p:xfrm>
          <a:off x="4495800" y="3352800"/>
          <a:ext cx="3822700" cy="1019175"/>
        </p:xfrm>
        <a:graphic>
          <a:graphicData uri="http://schemas.openxmlformats.org/presentationml/2006/ole">
            <mc:AlternateContent xmlns:mc="http://schemas.openxmlformats.org/markup-compatibility/2006">
              <mc:Choice xmlns:v="urn:schemas-microsoft-com:vml" Requires="v">
                <p:oleObj spid="_x0000_s28254" name="公式" r:id="rId4" imgW="1714500" imgH="457200" progId="Equation.3">
                  <p:embed/>
                </p:oleObj>
              </mc:Choice>
              <mc:Fallback>
                <p:oleObj name="公式" r:id="rId4" imgW="1714500" imgH="457200" progId="Equation.3">
                  <p:embed/>
                  <p:pic>
                    <p:nvPicPr>
                      <p:cNvPr id="0" name="Picture 2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3352800"/>
                        <a:ext cx="3822700"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315249114"/>
              </p:ext>
            </p:extLst>
          </p:nvPr>
        </p:nvGraphicFramePr>
        <p:xfrm>
          <a:off x="633274" y="3357583"/>
          <a:ext cx="3087687" cy="1019175"/>
        </p:xfrm>
        <a:graphic>
          <a:graphicData uri="http://schemas.openxmlformats.org/presentationml/2006/ole">
            <mc:AlternateContent xmlns:mc="http://schemas.openxmlformats.org/markup-compatibility/2006">
              <mc:Choice xmlns:v="urn:schemas-microsoft-com:vml" Requires="v">
                <p:oleObj spid="_x0000_s28255" name="公式" r:id="rId6" imgW="1384300" imgH="457200" progId="Equation.3">
                  <p:embed/>
                </p:oleObj>
              </mc:Choice>
              <mc:Fallback>
                <p:oleObj name="公式" r:id="rId6" imgW="1384300" imgH="457200" progId="Equation.3">
                  <p:embed/>
                  <p:pic>
                    <p:nvPicPr>
                      <p:cNvPr id="0" name="Picture 2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3274" y="3357583"/>
                        <a:ext cx="3087687"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Box 3"/>
          <p:cNvSpPr txBox="1"/>
          <p:nvPr/>
        </p:nvSpPr>
        <p:spPr>
          <a:xfrm>
            <a:off x="1812524" y="1448542"/>
            <a:ext cx="2350323" cy="461665"/>
          </a:xfrm>
          <a:prstGeom prst="rect">
            <a:avLst/>
          </a:prstGeom>
          <a:noFill/>
        </p:spPr>
        <p:txBody>
          <a:bodyPr wrap="none" rtlCol="0">
            <a:spAutoFit/>
          </a:bodyPr>
          <a:lstStyle/>
          <a:p>
            <a:r>
              <a:rPr lang="zh-CN" altLang="en-US" sz="2400" dirty="0" smtClean="0">
                <a:solidFill>
                  <a:srgbClr val="3333FF"/>
                </a:solidFill>
                <a:latin typeface="黑体" panose="02010609060101010101" pitchFamily="49" charset="-122"/>
                <a:ea typeface="黑体" panose="02010609060101010101" pitchFamily="49" charset="-122"/>
              </a:rPr>
              <a:t>数组已逆序排好</a:t>
            </a:r>
            <a:endParaRPr lang="en-US" sz="2400" dirty="0">
              <a:solidFill>
                <a:srgbClr val="3333FF"/>
              </a:solidFill>
              <a:latin typeface="黑体" panose="02010609060101010101" pitchFamily="49" charset="-122"/>
              <a:ea typeface="黑体" panose="02010609060101010101" pitchFamily="49" charset="-122"/>
            </a:endParaRPr>
          </a:p>
        </p:txBody>
      </p:sp>
      <p:sp>
        <p:nvSpPr>
          <p:cNvPr id="10" name="Rectangle 3"/>
          <p:cNvSpPr txBox="1">
            <a:spLocks noChangeArrowheads="1"/>
          </p:cNvSpPr>
          <p:nvPr/>
        </p:nvSpPr>
        <p:spPr bwMode="auto">
          <a:xfrm>
            <a:off x="314325" y="5948860"/>
            <a:ext cx="8610600" cy="458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spcBef>
                <a:spcPts val="0"/>
              </a:spcBef>
              <a:spcAft>
                <a:spcPts val="600"/>
              </a:spcAft>
            </a:pPr>
            <a:r>
              <a:rPr lang="en-US" sz="2400" b="1" i="1" kern="0" dirty="0" smtClean="0"/>
              <a:t>T</a:t>
            </a:r>
            <a:r>
              <a:rPr lang="en-US" sz="2400" b="1" kern="0" dirty="0" smtClean="0"/>
              <a:t>(</a:t>
            </a:r>
            <a:r>
              <a:rPr lang="en-US" sz="2400" b="1" i="1" kern="0" dirty="0" smtClean="0"/>
              <a:t>n</a:t>
            </a:r>
            <a:r>
              <a:rPr lang="en-US" sz="2400" b="1" kern="0" dirty="0" smtClean="0"/>
              <a:t>)</a:t>
            </a:r>
            <a:r>
              <a:rPr lang="zh-CN" altLang="en-US" sz="2400" kern="0" dirty="0" smtClean="0"/>
              <a:t>表示为</a:t>
            </a:r>
            <a:r>
              <a:rPr lang="en-US" sz="2400" b="1" i="1" kern="0" dirty="0" smtClean="0"/>
              <a:t>an</a:t>
            </a:r>
            <a:r>
              <a:rPr lang="en-US" sz="2400" b="1" kern="0" baseline="30000" dirty="0" smtClean="0"/>
              <a:t>2</a:t>
            </a:r>
            <a:r>
              <a:rPr lang="en-US" sz="2400" b="1" kern="0" dirty="0" smtClean="0"/>
              <a:t> + </a:t>
            </a:r>
            <a:r>
              <a:rPr lang="en-US" sz="2400" b="1" i="1" kern="0" dirty="0" err="1" smtClean="0"/>
              <a:t>bn</a:t>
            </a:r>
            <a:r>
              <a:rPr lang="en-US" sz="2400" b="1" kern="0" dirty="0" smtClean="0"/>
              <a:t> + </a:t>
            </a:r>
            <a:r>
              <a:rPr lang="en-US" sz="2400" b="1" i="1" kern="0" dirty="0" smtClean="0"/>
              <a:t>c</a:t>
            </a:r>
            <a:r>
              <a:rPr lang="zh-CN" altLang="en-US" sz="2400" b="1" kern="0" dirty="0" smtClean="0"/>
              <a:t>，其中常量</a:t>
            </a:r>
            <a:r>
              <a:rPr lang="en-US" sz="2400" b="1" i="1" kern="0" dirty="0" smtClean="0"/>
              <a:t>a,</a:t>
            </a:r>
            <a:r>
              <a:rPr lang="en-US" sz="2400" b="1" kern="0" dirty="0" smtClean="0"/>
              <a:t> </a:t>
            </a:r>
            <a:r>
              <a:rPr lang="en-US" sz="2400" b="1" i="1" kern="0" dirty="0" smtClean="0"/>
              <a:t>b</a:t>
            </a:r>
            <a:r>
              <a:rPr lang="zh-CN" altLang="en-US" sz="2400" b="1" kern="0" dirty="0" smtClean="0"/>
              <a:t>和</a:t>
            </a:r>
            <a:r>
              <a:rPr lang="en-US" sz="2400" b="1" i="1" kern="0" dirty="0" smtClean="0"/>
              <a:t>c</a:t>
            </a:r>
            <a:r>
              <a:rPr lang="en-US" sz="2400" b="1" kern="0" dirty="0" smtClean="0"/>
              <a:t> </a:t>
            </a:r>
            <a:r>
              <a:rPr lang="zh-CN" altLang="en-US" sz="2400" b="1" kern="0" dirty="0" smtClean="0"/>
              <a:t>依赖于语句代价</a:t>
            </a:r>
            <a:r>
              <a:rPr lang="en-US" sz="2400" b="1" i="1" kern="0" dirty="0" smtClean="0"/>
              <a:t>c</a:t>
            </a:r>
            <a:r>
              <a:rPr lang="en-US" sz="2400" b="1" i="1" kern="0" baseline="-25000" dirty="0" smtClean="0"/>
              <a:t>i</a:t>
            </a:r>
            <a:endParaRPr lang="en-US" sz="2400" b="1" kern="0" dirty="0"/>
          </a:p>
        </p:txBody>
      </p:sp>
      <p:graphicFrame>
        <p:nvGraphicFramePr>
          <p:cNvPr id="11" name="Object 3"/>
          <p:cNvGraphicFramePr>
            <a:graphicFrameLocks noChangeAspect="1"/>
          </p:cNvGraphicFramePr>
          <p:nvPr>
            <p:extLst>
              <p:ext uri="{D42A27DB-BD31-4B8C-83A1-F6EECF244321}">
                <p14:modId xmlns:p14="http://schemas.microsoft.com/office/powerpoint/2010/main" val="1582376553"/>
              </p:ext>
            </p:extLst>
          </p:nvPr>
        </p:nvGraphicFramePr>
        <p:xfrm>
          <a:off x="609600" y="4424362"/>
          <a:ext cx="7499350" cy="1366838"/>
        </p:xfrm>
        <a:graphic>
          <a:graphicData uri="http://schemas.openxmlformats.org/presentationml/2006/ole">
            <mc:AlternateContent xmlns:mc="http://schemas.openxmlformats.org/markup-compatibility/2006">
              <mc:Choice xmlns:v="urn:schemas-microsoft-com:vml" Requires="v">
                <p:oleObj spid="_x0000_s28256" name="公式" r:id="rId8" imgW="3136900" imgH="571500" progId="Equation.3">
                  <p:embed/>
                </p:oleObj>
              </mc:Choice>
              <mc:Fallback>
                <p:oleObj name="公式" r:id="rId8" imgW="3136900" imgH="571500" progId="Equation.3">
                  <p:embed/>
                  <p:pic>
                    <p:nvPicPr>
                      <p:cNvPr id="0" name="Picture 24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 y="4424362"/>
                        <a:ext cx="7499350" cy="1366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AutoShape 5"/>
          <p:cNvSpPr>
            <a:spLocks noChangeArrowheads="1"/>
          </p:cNvSpPr>
          <p:nvPr/>
        </p:nvSpPr>
        <p:spPr bwMode="auto">
          <a:xfrm>
            <a:off x="4724400" y="5334000"/>
            <a:ext cx="2016125" cy="384751"/>
          </a:xfrm>
          <a:prstGeom prst="wedgeRoundRectCallout">
            <a:avLst>
              <a:gd name="adj1" fmla="val -111672"/>
              <a:gd name="adj2" fmla="val -113122"/>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lang="zh-CN" altLang="en-US" sz="1800">
                <a:solidFill>
                  <a:srgbClr val="FFFFFF"/>
                </a:solidFill>
                <a:latin typeface="Tahoma" panose="020B0604030504040204" pitchFamily="34" charset="0"/>
                <a:ea typeface="宋体" panose="02010600030101010101" pitchFamily="2" charset="-122"/>
              </a:rPr>
              <a:t>二次函数</a:t>
            </a:r>
          </a:p>
        </p:txBody>
      </p:sp>
      <p:graphicFrame>
        <p:nvGraphicFramePr>
          <p:cNvPr id="6" name="表格 5"/>
          <p:cNvGraphicFramePr>
            <a:graphicFrameLocks noGrp="1"/>
          </p:cNvGraphicFramePr>
          <p:nvPr>
            <p:extLst>
              <p:ext uri="{D42A27DB-BD31-4B8C-83A1-F6EECF244321}">
                <p14:modId xmlns:p14="http://schemas.microsoft.com/office/powerpoint/2010/main" val="486729210"/>
              </p:ext>
            </p:extLst>
          </p:nvPr>
        </p:nvGraphicFramePr>
        <p:xfrm>
          <a:off x="5631348" y="1557817"/>
          <a:ext cx="1981200" cy="370840"/>
        </p:xfrm>
        <a:graphic>
          <a:graphicData uri="http://schemas.openxmlformats.org/drawingml/2006/table">
            <a:tbl>
              <a:tblPr firstRow="1" bandRow="1">
                <a:tableStyleId>{5C22544A-7EE6-4342-B048-85BDC9FD1C3A}</a:tableStyleId>
              </a:tblPr>
              <a:tblGrid>
                <a:gridCol w="330200">
                  <a:extLst>
                    <a:ext uri="{9D8B030D-6E8A-4147-A177-3AD203B41FA5}">
                      <a16:colId xmlns:a16="http://schemas.microsoft.com/office/drawing/2014/main" val="20000"/>
                    </a:ext>
                  </a:extLst>
                </a:gridCol>
                <a:gridCol w="330200">
                  <a:extLst>
                    <a:ext uri="{9D8B030D-6E8A-4147-A177-3AD203B41FA5}">
                      <a16:colId xmlns:a16="http://schemas.microsoft.com/office/drawing/2014/main" val="20001"/>
                    </a:ext>
                  </a:extLst>
                </a:gridCol>
                <a:gridCol w="330200">
                  <a:extLst>
                    <a:ext uri="{9D8B030D-6E8A-4147-A177-3AD203B41FA5}">
                      <a16:colId xmlns:a16="http://schemas.microsoft.com/office/drawing/2014/main" val="20002"/>
                    </a:ext>
                  </a:extLst>
                </a:gridCol>
                <a:gridCol w="330200">
                  <a:extLst>
                    <a:ext uri="{9D8B030D-6E8A-4147-A177-3AD203B41FA5}">
                      <a16:colId xmlns:a16="http://schemas.microsoft.com/office/drawing/2014/main" val="20003"/>
                    </a:ext>
                  </a:extLst>
                </a:gridCol>
                <a:gridCol w="330200">
                  <a:extLst>
                    <a:ext uri="{9D8B030D-6E8A-4147-A177-3AD203B41FA5}">
                      <a16:colId xmlns:a16="http://schemas.microsoft.com/office/drawing/2014/main" val="20004"/>
                    </a:ext>
                  </a:extLst>
                </a:gridCol>
                <a:gridCol w="330200">
                  <a:extLst>
                    <a:ext uri="{9D8B030D-6E8A-4147-A177-3AD203B41FA5}">
                      <a16:colId xmlns:a16="http://schemas.microsoft.com/office/drawing/2014/main" val="20005"/>
                    </a:ext>
                  </a:extLst>
                </a:gridCol>
              </a:tblGrid>
              <a:tr h="370840">
                <a:tc>
                  <a:txBody>
                    <a:bodyPr/>
                    <a:lstStyle/>
                    <a:p>
                      <a:r>
                        <a:rPr lang="en-US" altLang="zh-CN" dirty="0" smtClean="0">
                          <a:solidFill>
                            <a:srgbClr val="FF0000"/>
                          </a:solidFill>
                        </a:rPr>
                        <a:t>6</a:t>
                      </a:r>
                      <a:endParaRPr lang="zh-CN" altLang="en-US" dirty="0">
                        <a:solidFill>
                          <a:srgbClr val="FF0000"/>
                        </a:solidFill>
                      </a:endParaRPr>
                    </a:p>
                  </a:txBody>
                  <a:tcPr/>
                </a:tc>
                <a:tc>
                  <a:txBody>
                    <a:bodyPr/>
                    <a:lstStyle/>
                    <a:p>
                      <a:r>
                        <a:rPr lang="en-US" altLang="zh-CN" dirty="0" smtClean="0">
                          <a:solidFill>
                            <a:srgbClr val="FF0000"/>
                          </a:solidFill>
                        </a:rPr>
                        <a:t>5</a:t>
                      </a:r>
                      <a:endParaRPr lang="zh-CN" altLang="en-US" dirty="0">
                        <a:solidFill>
                          <a:srgbClr val="FF0000"/>
                        </a:solidFill>
                      </a:endParaRPr>
                    </a:p>
                  </a:txBody>
                  <a:tcPr/>
                </a:tc>
                <a:tc>
                  <a:txBody>
                    <a:bodyPr/>
                    <a:lstStyle/>
                    <a:p>
                      <a:r>
                        <a:rPr lang="en-US" altLang="zh-CN" dirty="0" smtClean="0">
                          <a:solidFill>
                            <a:srgbClr val="FF0000"/>
                          </a:solidFill>
                        </a:rPr>
                        <a:t>4</a:t>
                      </a:r>
                      <a:endParaRPr lang="zh-CN" altLang="en-US" dirty="0">
                        <a:solidFill>
                          <a:srgbClr val="FF0000"/>
                        </a:solidFill>
                      </a:endParaRPr>
                    </a:p>
                  </a:txBody>
                  <a:tcPr/>
                </a:tc>
                <a:tc>
                  <a:txBody>
                    <a:bodyPr/>
                    <a:lstStyle/>
                    <a:p>
                      <a:r>
                        <a:rPr lang="en-US" altLang="zh-CN" dirty="0" smtClean="0">
                          <a:solidFill>
                            <a:srgbClr val="FF0000"/>
                          </a:solidFill>
                        </a:rPr>
                        <a:t>3</a:t>
                      </a:r>
                      <a:endParaRPr lang="zh-CN" altLang="en-US" dirty="0">
                        <a:solidFill>
                          <a:srgbClr val="FF0000"/>
                        </a:solidFill>
                      </a:endParaRPr>
                    </a:p>
                  </a:txBody>
                  <a:tcPr/>
                </a:tc>
                <a:tc>
                  <a:txBody>
                    <a:bodyPr/>
                    <a:lstStyle/>
                    <a:p>
                      <a:r>
                        <a:rPr lang="en-US" altLang="zh-CN" dirty="0" smtClean="0">
                          <a:solidFill>
                            <a:srgbClr val="FF0000"/>
                          </a:solidFill>
                        </a:rPr>
                        <a:t>2</a:t>
                      </a:r>
                      <a:endParaRPr lang="zh-CN" altLang="en-US" dirty="0">
                        <a:solidFill>
                          <a:srgbClr val="FF0000"/>
                        </a:solidFill>
                      </a:endParaRPr>
                    </a:p>
                  </a:txBody>
                  <a:tcPr/>
                </a:tc>
                <a:tc>
                  <a:txBody>
                    <a:bodyPr/>
                    <a:lstStyle/>
                    <a:p>
                      <a:r>
                        <a:rPr lang="en-US" altLang="zh-CN" dirty="0" smtClean="0">
                          <a:solidFill>
                            <a:srgbClr val="FF0000"/>
                          </a:solidFill>
                        </a:rPr>
                        <a:t>1</a:t>
                      </a:r>
                      <a:endParaRPr lang="zh-CN" altLang="en-US" dirty="0">
                        <a:solidFill>
                          <a:srgbClr val="FF0000"/>
                        </a:solidFill>
                      </a:endParaRP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1211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3400" y="457200"/>
            <a:ext cx="7772400" cy="838200"/>
          </a:xfrm>
        </p:spPr>
        <p:txBody>
          <a:bodyPr/>
          <a:lstStyle/>
          <a:p>
            <a:r>
              <a:rPr lang="en-US" altLang="zh-CN" sz="3600" dirty="0"/>
              <a:t>1.2 </a:t>
            </a:r>
            <a:r>
              <a:rPr lang="zh-CN" altLang="en-US" sz="3600" dirty="0"/>
              <a:t>分析插入排序算法</a:t>
            </a:r>
            <a:r>
              <a:rPr lang="en-US" altLang="zh-CN" sz="3600" dirty="0"/>
              <a:t> </a:t>
            </a:r>
            <a:r>
              <a:rPr lang="en-US" altLang="zh-CN" sz="3600" dirty="0" smtClean="0"/>
              <a:t>(6)</a:t>
            </a:r>
            <a:endParaRPr lang="en-US" sz="3600" b="1" dirty="0" smtClean="0">
              <a:solidFill>
                <a:srgbClr val="0000CC"/>
              </a:solidFill>
            </a:endParaRPr>
          </a:p>
        </p:txBody>
      </p:sp>
      <p:sp>
        <p:nvSpPr>
          <p:cNvPr id="7171" name="Rectangle 3"/>
          <p:cNvSpPr>
            <a:spLocks noGrp="1" noChangeArrowheads="1"/>
          </p:cNvSpPr>
          <p:nvPr>
            <p:ph type="body" idx="4294967295"/>
          </p:nvPr>
        </p:nvSpPr>
        <p:spPr>
          <a:xfrm>
            <a:off x="381000" y="1371600"/>
            <a:ext cx="8763000" cy="5257800"/>
          </a:xfrm>
        </p:spPr>
        <p:txBody>
          <a:bodyPr/>
          <a:lstStyle/>
          <a:p>
            <a:pPr marL="0" indent="0">
              <a:buNone/>
            </a:pPr>
            <a:r>
              <a:rPr lang="zh-CN" altLang="en-US" b="1" dirty="0" smtClean="0">
                <a:solidFill>
                  <a:srgbClr val="3333FF"/>
                </a:solidFill>
                <a:latin typeface="黑体" panose="02010609060101010101" pitchFamily="49" charset="-122"/>
                <a:ea typeface="黑体" panose="02010609060101010101" pitchFamily="49" charset="-122"/>
              </a:rPr>
              <a:t>最坏情况</a:t>
            </a:r>
            <a:r>
              <a:rPr lang="zh-CN" altLang="en-US" b="1" dirty="0">
                <a:solidFill>
                  <a:srgbClr val="3333FF"/>
                </a:solidFill>
                <a:latin typeface="黑体" panose="02010609060101010101" pitchFamily="49" charset="-122"/>
                <a:ea typeface="黑体" panose="02010609060101010101" pitchFamily="49" charset="-122"/>
              </a:rPr>
              <a:t>与</a:t>
            </a:r>
            <a:r>
              <a:rPr lang="zh-CN" altLang="en-US" b="1" dirty="0" smtClean="0">
                <a:solidFill>
                  <a:srgbClr val="3333FF"/>
                </a:solidFill>
                <a:latin typeface="黑体" panose="02010609060101010101" pitchFamily="49" charset="-122"/>
                <a:ea typeface="黑体" panose="02010609060101010101" pitchFamily="49" charset="-122"/>
              </a:rPr>
              <a:t>平均情况分析：</a:t>
            </a:r>
            <a:endParaRPr lang="en-US" b="1" i="1" dirty="0">
              <a:solidFill>
                <a:srgbClr val="3333FF"/>
              </a:solidFill>
              <a:latin typeface="黑体" panose="02010609060101010101" pitchFamily="49" charset="-122"/>
              <a:ea typeface="黑体" panose="02010609060101010101" pitchFamily="49" charset="-122"/>
            </a:endParaRPr>
          </a:p>
          <a:p>
            <a:pPr>
              <a:spcBef>
                <a:spcPts val="1200"/>
              </a:spcBef>
            </a:pPr>
            <a:r>
              <a:rPr lang="zh-CN" altLang="en-US" b="1" dirty="0" smtClean="0"/>
              <a:t>通常</a:t>
            </a:r>
            <a:r>
              <a:rPr lang="zh-CN" altLang="en-US" b="1" dirty="0" smtClean="0">
                <a:solidFill>
                  <a:srgbClr val="FF0000"/>
                </a:solidFill>
              </a:rPr>
              <a:t>关心最坏情况</a:t>
            </a:r>
            <a:r>
              <a:rPr lang="zh-CN" altLang="en-US" b="1" dirty="0" smtClean="0"/>
              <a:t>运行时间：</a:t>
            </a:r>
            <a:endParaRPr lang="en-US" b="1" dirty="0"/>
          </a:p>
          <a:p>
            <a:pPr marL="685800" lvl="1">
              <a:spcBef>
                <a:spcPts val="1200"/>
              </a:spcBef>
            </a:pPr>
            <a:r>
              <a:rPr lang="zh-CN" altLang="en-US" sz="2200" b="1" dirty="0" smtClean="0"/>
              <a:t>算法的</a:t>
            </a:r>
            <a:r>
              <a:rPr lang="zh-CN" altLang="en-US" sz="2200" b="1" dirty="0" smtClean="0">
                <a:solidFill>
                  <a:srgbClr val="FF0000"/>
                </a:solidFill>
              </a:rPr>
              <a:t>最坏情况</a:t>
            </a:r>
            <a:r>
              <a:rPr lang="zh-CN" altLang="en-US" sz="2200" b="1" dirty="0" smtClean="0"/>
              <a:t>运行时间给出了任何输入的运行时间的一个</a:t>
            </a:r>
            <a:r>
              <a:rPr lang="zh-CN" altLang="en-US" sz="2200" b="1" dirty="0" smtClean="0">
                <a:solidFill>
                  <a:srgbClr val="CC3300"/>
                </a:solidFill>
              </a:rPr>
              <a:t>上界</a:t>
            </a:r>
            <a:endParaRPr lang="en-US" sz="2200" b="1" dirty="0">
              <a:solidFill>
                <a:srgbClr val="CC3300"/>
              </a:solidFill>
            </a:endParaRPr>
          </a:p>
          <a:p>
            <a:pPr marL="685800" lvl="1">
              <a:spcBef>
                <a:spcPts val="1200"/>
              </a:spcBef>
            </a:pPr>
            <a:r>
              <a:rPr lang="zh-CN" altLang="en-US" sz="2200" b="1" dirty="0" smtClean="0"/>
              <a:t>对某些算法，最坏情况经常出现</a:t>
            </a:r>
            <a:endParaRPr lang="en-US" sz="2200" b="1" dirty="0" smtClean="0"/>
          </a:p>
          <a:p>
            <a:pPr marL="685800" lvl="1">
              <a:spcBef>
                <a:spcPts val="1200"/>
              </a:spcBef>
            </a:pPr>
            <a:r>
              <a:rPr lang="zh-CN" altLang="en-US" sz="2200" b="1" dirty="0" smtClean="0"/>
              <a:t>有时定义平均情况较为困难</a:t>
            </a:r>
            <a:endParaRPr lang="en-US" sz="2200" b="1" dirty="0"/>
          </a:p>
          <a:p>
            <a:pPr marL="685800" lvl="1">
              <a:spcBef>
                <a:spcPts val="1200"/>
              </a:spcBef>
            </a:pPr>
            <a:r>
              <a:rPr lang="zh-CN" altLang="en-US" sz="2200" b="1" dirty="0" smtClean="0"/>
              <a:t>平均情况的时间复杂度往往与最坏情况一样</a:t>
            </a:r>
            <a:endParaRPr lang="en-US" sz="2200" b="1" dirty="0" smtClean="0"/>
          </a:p>
          <a:p>
            <a:pPr marL="400050" lvl="1" indent="0">
              <a:spcBef>
                <a:spcPts val="1200"/>
              </a:spcBef>
              <a:buNone/>
            </a:pPr>
            <a:r>
              <a:rPr lang="zh-CN" altLang="en-US" sz="2200" b="1" dirty="0" smtClean="0"/>
              <a:t>例子</a:t>
            </a:r>
            <a:r>
              <a:rPr lang="en-US" sz="2200" b="1" dirty="0" smtClean="0"/>
              <a:t>: </a:t>
            </a:r>
            <a:r>
              <a:rPr lang="zh-CN" altLang="en-US" sz="2200" b="1" dirty="0" smtClean="0"/>
              <a:t>对插入排序而言，平均情况运行时间仍是</a:t>
            </a:r>
            <a:r>
              <a:rPr lang="en-US" sz="2200" b="1" i="1" dirty="0" smtClean="0"/>
              <a:t>n</a:t>
            </a:r>
            <a:r>
              <a:rPr lang="zh-CN" altLang="en-US" sz="2200" b="1" dirty="0" smtClean="0"/>
              <a:t>的二次函数</a:t>
            </a:r>
            <a:endParaRPr lang="en-US" altLang="zh-CN" sz="2200" b="1" dirty="0" smtClean="0"/>
          </a:p>
          <a:p>
            <a:pPr>
              <a:lnSpc>
                <a:spcPct val="90000"/>
              </a:lnSpc>
              <a:spcBef>
                <a:spcPts val="1200"/>
              </a:spcBef>
            </a:pPr>
            <a:r>
              <a:rPr lang="zh-CN" altLang="en-US" b="1" dirty="0"/>
              <a:t>平均情况分析</a:t>
            </a:r>
            <a:r>
              <a:rPr lang="zh-CN" altLang="en-US" b="1" dirty="0" smtClean="0"/>
              <a:t>：</a:t>
            </a:r>
            <a:endParaRPr lang="en-US" altLang="zh-CN" b="1" dirty="0"/>
          </a:p>
          <a:p>
            <a:pPr marL="685800" lvl="1">
              <a:lnSpc>
                <a:spcPct val="90000"/>
              </a:lnSpc>
              <a:spcBef>
                <a:spcPts val="1200"/>
              </a:spcBef>
            </a:pPr>
            <a:r>
              <a:rPr lang="zh-CN" altLang="en-US" sz="2200" b="1" dirty="0"/>
              <a:t>通常假定一个特定规模下的所有输入的</a:t>
            </a:r>
            <a:r>
              <a:rPr lang="zh-CN" altLang="en-US" sz="2200" b="1" dirty="0">
                <a:latin typeface="宋体" panose="02010600030101010101" pitchFamily="2" charset="-122"/>
                <a:ea typeface="宋体" panose="02010600030101010101" pitchFamily="2" charset="-122"/>
              </a:rPr>
              <a:t>“平均性”</a:t>
            </a:r>
            <a:r>
              <a:rPr lang="zh-CN" altLang="en-US" sz="2200" b="1" dirty="0"/>
              <a:t>都是一样</a:t>
            </a:r>
            <a:r>
              <a:rPr lang="zh-CN" altLang="en-US" sz="2200" b="1" dirty="0" smtClean="0"/>
              <a:t>的</a:t>
            </a:r>
            <a:endParaRPr lang="zh-CN" altLang="en-US" sz="2200" b="1" dirty="0"/>
          </a:p>
          <a:p>
            <a:pPr marL="685800" lvl="1">
              <a:lnSpc>
                <a:spcPct val="90000"/>
              </a:lnSpc>
              <a:spcBef>
                <a:spcPts val="1200"/>
              </a:spcBef>
            </a:pPr>
            <a:r>
              <a:rPr lang="zh-CN" altLang="en-US" sz="2200" b="1" dirty="0"/>
              <a:t>也可以采用随机算法强制达到</a:t>
            </a:r>
            <a:r>
              <a:rPr lang="zh-CN" altLang="en-US" sz="2200" b="1" dirty="0" smtClean="0"/>
              <a:t>平均</a:t>
            </a:r>
            <a:endParaRPr lang="zh-CN" altLang="en-US" sz="2200" b="1" dirty="0"/>
          </a:p>
          <a:p>
            <a:pPr marL="400050" lvl="1" indent="0">
              <a:buNone/>
            </a:pPr>
            <a:endParaRPr lang="en-US" sz="2000" b="1" dirty="0"/>
          </a:p>
        </p:txBody>
      </p:sp>
    </p:spTree>
    <p:extLst>
      <p:ext uri="{BB962C8B-B14F-4D97-AF65-F5344CB8AC3E}">
        <p14:creationId xmlns:p14="http://schemas.microsoft.com/office/powerpoint/2010/main" val="235758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57200"/>
            <a:ext cx="7772400" cy="914400"/>
          </a:xfrm>
        </p:spPr>
        <p:txBody>
          <a:bodyPr/>
          <a:lstStyle/>
          <a:p>
            <a:r>
              <a:rPr lang="en-US" altLang="zh-CN" sz="3600" dirty="0" smtClean="0"/>
              <a:t>1.2</a:t>
            </a:r>
            <a:r>
              <a:rPr lang="zh-CN" altLang="en-US" sz="3600" dirty="0" smtClean="0"/>
              <a:t>插入排序算法平均情况分析（</a:t>
            </a:r>
            <a:r>
              <a:rPr lang="en-US" altLang="zh-CN" sz="3600" dirty="0" smtClean="0"/>
              <a:t>7</a:t>
            </a:r>
            <a:r>
              <a:rPr lang="zh-CN" altLang="en-US" sz="3600" dirty="0" smtClean="0"/>
              <a:t>）</a:t>
            </a:r>
            <a:endParaRPr lang="zh-CN" altLang="en-US" sz="3600" dirty="0"/>
          </a:p>
        </p:txBody>
      </p:sp>
      <p:sp>
        <p:nvSpPr>
          <p:cNvPr id="3" name="内容占位符 2"/>
          <p:cNvSpPr>
            <a:spLocks noGrp="1"/>
          </p:cNvSpPr>
          <p:nvPr>
            <p:ph idx="1"/>
          </p:nvPr>
        </p:nvSpPr>
        <p:spPr>
          <a:xfrm>
            <a:off x="685800" y="1600200"/>
            <a:ext cx="7772400" cy="4495800"/>
          </a:xfrm>
        </p:spPr>
        <p:txBody>
          <a:bodyPr/>
          <a:lstStyle/>
          <a:p>
            <a:r>
              <a:rPr lang="en-US" altLang="zh-CN" b="1" i="1" dirty="0" err="1" smtClean="0">
                <a:solidFill>
                  <a:srgbClr val="FF0000"/>
                </a:solidFill>
              </a:rPr>
              <a:t>t</a:t>
            </a:r>
            <a:r>
              <a:rPr lang="en-US" altLang="zh-CN" b="1" i="1" baseline="-25000" dirty="0" err="1" smtClean="0">
                <a:solidFill>
                  <a:srgbClr val="FF0000"/>
                </a:solidFill>
              </a:rPr>
              <a:t>j</a:t>
            </a:r>
            <a:r>
              <a:rPr lang="zh-CN" altLang="en-US" b="1" dirty="0" smtClean="0"/>
              <a:t>理解为随机变量</a:t>
            </a:r>
            <a:endParaRPr lang="en-US" altLang="zh-CN" b="1" dirty="0" smtClean="0"/>
          </a:p>
          <a:p>
            <a:endParaRPr lang="en-US" altLang="zh-CN" b="1" dirty="0" smtClean="0"/>
          </a:p>
          <a:p>
            <a:endParaRPr lang="en-US" altLang="zh-CN" b="1" dirty="0" smtClean="0"/>
          </a:p>
          <a:p>
            <a:endParaRPr lang="en-US" altLang="zh-CN" b="1" dirty="0" smtClean="0"/>
          </a:p>
          <a:p>
            <a:r>
              <a:rPr lang="zh-CN" altLang="en-US" b="1" dirty="0" smtClean="0"/>
              <a:t>参看最坏情况下</a:t>
            </a:r>
            <a:r>
              <a:rPr lang="en-US" altLang="zh-CN" b="1" i="1" dirty="0" err="1" smtClean="0"/>
              <a:t>t</a:t>
            </a:r>
            <a:r>
              <a:rPr lang="en-US" altLang="zh-CN" b="1" i="1" baseline="-25000" dirty="0" err="1" smtClean="0"/>
              <a:t>j</a:t>
            </a:r>
            <a:r>
              <a:rPr lang="en-US" altLang="zh-CN" b="1" dirty="0" smtClean="0"/>
              <a:t> = </a:t>
            </a:r>
            <a:r>
              <a:rPr lang="en-US" altLang="zh-CN" b="1" i="1" dirty="0" smtClean="0"/>
              <a:t>j </a:t>
            </a:r>
            <a:r>
              <a:rPr lang="zh-CN" altLang="en-US" b="1" dirty="0" smtClean="0"/>
              <a:t>，</a:t>
            </a:r>
            <a:r>
              <a:rPr lang="en-US" altLang="zh-CN" b="1" i="1" dirty="0" smtClean="0"/>
              <a:t>T</a:t>
            </a:r>
            <a:r>
              <a:rPr lang="en-US" altLang="zh-CN" b="1" dirty="0" smtClean="0"/>
              <a:t>(</a:t>
            </a:r>
            <a:r>
              <a:rPr lang="en-US" altLang="zh-CN" b="1" i="1" dirty="0" smtClean="0"/>
              <a:t>n</a:t>
            </a:r>
            <a:r>
              <a:rPr lang="en-US" altLang="zh-CN" b="1" dirty="0" smtClean="0"/>
              <a:t>)</a:t>
            </a:r>
            <a:r>
              <a:rPr lang="zh-CN" altLang="en-US" b="1" dirty="0" smtClean="0"/>
              <a:t>表示为</a:t>
            </a:r>
            <a:r>
              <a:rPr lang="en-US" altLang="zh-CN" b="1" i="1" dirty="0" smtClean="0"/>
              <a:t>an</a:t>
            </a:r>
            <a:r>
              <a:rPr lang="en-US" altLang="zh-CN" b="1" baseline="30000" dirty="0" smtClean="0"/>
              <a:t>2</a:t>
            </a:r>
            <a:r>
              <a:rPr lang="en-US" altLang="zh-CN" b="1" dirty="0" smtClean="0"/>
              <a:t> + </a:t>
            </a:r>
            <a:r>
              <a:rPr lang="en-US" altLang="zh-CN" b="1" i="1" dirty="0" err="1" smtClean="0"/>
              <a:t>bn</a:t>
            </a:r>
            <a:r>
              <a:rPr lang="en-US" altLang="zh-CN" b="1" dirty="0" smtClean="0"/>
              <a:t> + </a:t>
            </a:r>
            <a:r>
              <a:rPr lang="en-US" altLang="zh-CN" b="1" i="1" dirty="0" smtClean="0"/>
              <a:t>c</a:t>
            </a:r>
            <a:r>
              <a:rPr lang="en-US" altLang="zh-CN" b="1" dirty="0" smtClean="0"/>
              <a:t> </a:t>
            </a:r>
            <a:r>
              <a:rPr lang="zh-CN" altLang="en-US" b="1" dirty="0" smtClean="0"/>
              <a:t>，则平均情况下的运行时间仍是</a:t>
            </a:r>
            <a:r>
              <a:rPr lang="en-US" altLang="zh-CN" b="1" dirty="0" smtClean="0"/>
              <a:t>n</a:t>
            </a:r>
            <a:r>
              <a:rPr lang="zh-CN" altLang="en-US" b="1" dirty="0" smtClean="0"/>
              <a:t>的二次函数</a:t>
            </a:r>
            <a:r>
              <a:rPr lang="zh-CN" altLang="en-US" b="1" dirty="0"/>
              <a:t>。</a:t>
            </a:r>
            <a:endParaRPr lang="zh-CN" altLang="en-US" b="1" dirty="0" smtClean="0"/>
          </a:p>
          <a:p>
            <a:endParaRPr lang="zh-CN" altLang="en-US" dirty="0"/>
          </a:p>
        </p:txBody>
      </p:sp>
      <p:graphicFrame>
        <p:nvGraphicFramePr>
          <p:cNvPr id="134146" name="Object 2"/>
          <p:cNvGraphicFramePr>
            <a:graphicFrameLocks noChangeAspect="1"/>
          </p:cNvGraphicFramePr>
          <p:nvPr>
            <p:extLst>
              <p:ext uri="{D42A27DB-BD31-4B8C-83A1-F6EECF244321}">
                <p14:modId xmlns:p14="http://schemas.microsoft.com/office/powerpoint/2010/main" val="2483826334"/>
              </p:ext>
            </p:extLst>
          </p:nvPr>
        </p:nvGraphicFramePr>
        <p:xfrm>
          <a:off x="1157288" y="2284413"/>
          <a:ext cx="4897437" cy="931862"/>
        </p:xfrm>
        <a:graphic>
          <a:graphicData uri="http://schemas.openxmlformats.org/presentationml/2006/ole">
            <mc:AlternateContent xmlns:mc="http://schemas.openxmlformats.org/markup-compatibility/2006">
              <mc:Choice xmlns:v="urn:schemas-microsoft-com:vml" Requires="v">
                <p:oleObj spid="_x0000_s134268" name="Equation" r:id="rId3" imgW="2197080" imgH="419040" progId="Equation.DSMT4">
                  <p:embed/>
                </p:oleObj>
              </mc:Choice>
              <mc:Fallback>
                <p:oleObj name="Equation" r:id="rId3" imgW="2197080" imgH="419040" progId="Equation.DSMT4">
                  <p:embed/>
                  <p:pic>
                    <p:nvPicPr>
                      <p:cNvPr id="0" name="Picture 2"/>
                      <p:cNvPicPr>
                        <a:picLocks noChangeAspect="1" noChangeArrowheads="1"/>
                      </p:cNvPicPr>
                      <p:nvPr/>
                    </p:nvPicPr>
                    <p:blipFill>
                      <a:blip r:embed="rId4"/>
                      <a:srcRect/>
                      <a:stretch>
                        <a:fillRect/>
                      </a:stretch>
                    </p:blipFill>
                    <p:spPr bwMode="auto">
                      <a:xfrm>
                        <a:off x="1157288" y="2284413"/>
                        <a:ext cx="4897437" cy="931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文本框 3"/>
          <p:cNvSpPr txBox="1"/>
          <p:nvPr/>
        </p:nvSpPr>
        <p:spPr>
          <a:xfrm>
            <a:off x="2209800" y="5105400"/>
            <a:ext cx="4191000" cy="523220"/>
          </a:xfrm>
          <a:prstGeom prst="rect">
            <a:avLst/>
          </a:prstGeom>
          <a:noFill/>
        </p:spPr>
        <p:txBody>
          <a:bodyPr wrap="square" rtlCol="0">
            <a:spAutoFit/>
          </a:bodyPr>
          <a:lstStyle/>
          <a:p>
            <a:r>
              <a:rPr lang="zh-CN" altLang="en-US" sz="2800" dirty="0" smtClean="0">
                <a:solidFill>
                  <a:srgbClr val="FF0000"/>
                </a:solidFill>
              </a:rPr>
              <a:t>课后作业：平均复杂度？</a:t>
            </a:r>
            <a:endParaRPr lang="zh-CN" altLang="en-US" sz="2800" dirty="0">
              <a:solidFill>
                <a:srgbClr val="FF0000"/>
              </a:solidFill>
            </a:endParaRPr>
          </a:p>
        </p:txBody>
      </p:sp>
      <p:pic>
        <p:nvPicPr>
          <p:cNvPr id="5" name="图片 4"/>
          <p:cNvPicPr>
            <a:picLocks noChangeAspect="1"/>
          </p:cNvPicPr>
          <p:nvPr/>
        </p:nvPicPr>
        <p:blipFill>
          <a:blip r:embed="rId5"/>
          <a:stretch>
            <a:fillRect/>
          </a:stretch>
        </p:blipFill>
        <p:spPr>
          <a:xfrm>
            <a:off x="6172200" y="1950940"/>
            <a:ext cx="2390775" cy="1238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riginal">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dirty="0">
            <a:latin typeface="WP MathA" pitchFamily="2" charset="2"/>
            <a:sym typeface="Symbol" pitchFamily="18" charset="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original</Template>
  <TotalTime>22781</TotalTime>
  <Words>2621</Words>
  <Application>Microsoft Office PowerPoint</Application>
  <PresentationFormat>全屏显示(4:3)</PresentationFormat>
  <Paragraphs>354</Paragraphs>
  <Slides>33</Slides>
  <Notes>18</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33</vt:i4>
      </vt:variant>
    </vt:vector>
  </HeadingPairs>
  <TitlesOfParts>
    <vt:vector size="52" baseType="lpstr">
      <vt:lpstr>Arial Unicode MS</vt:lpstr>
      <vt:lpstr>Monotype Sorts</vt:lpstr>
      <vt:lpstr>新細明體</vt:lpstr>
      <vt:lpstr>黑体</vt:lpstr>
      <vt:lpstr>华文新魏</vt:lpstr>
      <vt:lpstr>隶书</vt:lpstr>
      <vt:lpstr>宋体</vt:lpstr>
      <vt:lpstr>Arial</vt:lpstr>
      <vt:lpstr>Arial Narrow</vt:lpstr>
      <vt:lpstr>Calibri</vt:lpstr>
      <vt:lpstr>Cambria Math</vt:lpstr>
      <vt:lpstr>Comic Sans MS</vt:lpstr>
      <vt:lpstr>Symbol</vt:lpstr>
      <vt:lpstr>Tahoma</vt:lpstr>
      <vt:lpstr>Times New Roman</vt:lpstr>
      <vt:lpstr>Wingdings</vt:lpstr>
      <vt:lpstr>original</vt:lpstr>
      <vt:lpstr>Equation</vt:lpstr>
      <vt:lpstr>公式</vt:lpstr>
      <vt:lpstr>算法设计与分析</vt:lpstr>
      <vt:lpstr>任课老师： 李炎然</vt:lpstr>
      <vt:lpstr>教材</vt:lpstr>
      <vt:lpstr>基本情况</vt:lpstr>
      <vt:lpstr>关于实验课的说明</vt:lpstr>
      <vt:lpstr>Cloud Studio 在线应用开发</vt:lpstr>
      <vt:lpstr>诚信声明</vt:lpstr>
      <vt:lpstr>主要内容</vt:lpstr>
      <vt:lpstr>课程计划安排</vt:lpstr>
      <vt:lpstr>从腾讯的一道面试题说起</vt:lpstr>
      <vt:lpstr>答案</vt:lpstr>
      <vt:lpstr>为什么他能想到？</vt:lpstr>
      <vt:lpstr>这个问题与算法的关系</vt:lpstr>
      <vt:lpstr>为什么要学习算法？</vt:lpstr>
      <vt:lpstr>PowerPoint 演示文稿</vt:lpstr>
      <vt:lpstr>PowerPoint 演示文稿</vt:lpstr>
      <vt:lpstr>人工智能</vt:lpstr>
      <vt:lpstr>第一章 算法复杂度分析</vt:lpstr>
      <vt:lpstr>1.1 算法基本概念 —什么是算法？</vt:lpstr>
      <vt:lpstr>1.1 算法基本概念 —算法</vt:lpstr>
      <vt:lpstr>1.1 算法基本概念—问题求解过程</vt:lpstr>
      <vt:lpstr>1.1 算法基本概念—算法分析 (1) </vt:lpstr>
      <vt:lpstr>1.1 算法基本概念—算法分析 (2) </vt:lpstr>
      <vt:lpstr>1.1 算法基本概念—算法分析 (3) </vt:lpstr>
      <vt:lpstr>1.2 插入排序 (1)</vt:lpstr>
      <vt:lpstr>1.2 插入排序 (2)</vt:lpstr>
      <vt:lpstr>1.2 分析插入排序算法 (1)</vt:lpstr>
      <vt:lpstr>1.2 分析插入排序算法 (2)</vt:lpstr>
      <vt:lpstr>1.2 分析插入排序算法 (3)</vt:lpstr>
      <vt:lpstr>1.2 分析插入排序算法 (4)</vt:lpstr>
      <vt:lpstr>1.2 分析插入排序算法 (5)</vt:lpstr>
      <vt:lpstr>1.2 分析插入排序算法 (6)</vt:lpstr>
      <vt:lpstr>1.2插入排序算法平均情况分析（7）</vt:lpstr>
    </vt:vector>
  </TitlesOfParts>
  <Company>SUNY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Galaxy</cp:lastModifiedBy>
  <cp:revision>938</cp:revision>
  <dcterms:created xsi:type="dcterms:W3CDTF">1998-05-26T01:10:06Z</dcterms:created>
  <dcterms:modified xsi:type="dcterms:W3CDTF">2025-02-28T05:33:05Z</dcterms:modified>
</cp:coreProperties>
</file>