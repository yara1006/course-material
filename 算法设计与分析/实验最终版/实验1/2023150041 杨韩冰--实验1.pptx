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7" r:id="rId4"/>
    <p:sldId id="258" r:id="rId6"/>
    <p:sldId id="259" r:id="rId7"/>
    <p:sldId id="260" r:id="rId8"/>
    <p:sldId id="319" r:id="rId9"/>
    <p:sldId id="261" r:id="rId10"/>
    <p:sldId id="262" r:id="rId11"/>
    <p:sldId id="320" r:id="rId12"/>
    <p:sldId id="263" r:id="rId13"/>
    <p:sldId id="264" r:id="rId14"/>
    <p:sldId id="265" r:id="rId15"/>
    <p:sldId id="266"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313" r:id="rId29"/>
    <p:sldId id="280" r:id="rId30"/>
    <p:sldId id="281" r:id="rId31"/>
    <p:sldId id="282" r:id="rId32"/>
    <p:sldId id="283" r:id="rId33"/>
    <p:sldId id="284" r:id="rId34"/>
  </p:sldIdLst>
  <p:sldSz cx="12192000" cy="6858000" type="screen16x9"/>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6" d="100"/>
          <a:sy n="116" d="100"/>
        </p:scale>
        <p:origin x="3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gs" Target="tags/tag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64" name=""/>
        <p:cNvGrpSpPr/>
        <p:nvPr/>
      </p:nvGrpSpPr>
      <p:grpSpPr>
        <a:xfrm>
          <a:off x="0" y="0"/>
          <a:ext cx="0" cy="0"/>
          <a:chOff x="0" y="0"/>
          <a:chExt cx="0" cy="0"/>
        </a:xfrm>
      </p:grpSpPr>
      <p:sp>
        <p:nvSpPr>
          <p:cNvPr id="1048883"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84"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0DEAD-618C-4633-AF9C-459E32DFED47}" type="datetimeFigureOut">
              <a:rPr lang="zh-CN" altLang="en-US" smtClean="0"/>
            </a:fld>
            <a:endParaRPr lang="zh-CN" altLang="en-US"/>
          </a:p>
        </p:txBody>
      </p:sp>
      <p:sp>
        <p:nvSpPr>
          <p:cNvPr id="1048885"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8886"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87"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88"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AB174-820C-4A87-9411-D04EFFC8A73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40" name="幻灯片图像占位符 1"/>
          <p:cNvSpPr>
            <a:spLocks noGrp="1" noRot="1" noChangeAspect="1"/>
          </p:cNvSpPr>
          <p:nvPr>
            <p:ph type="sldImg"/>
          </p:nvPr>
        </p:nvSpPr>
        <p:spPr>
          <a:xfrm>
            <a:off x="138113" y="766763"/>
            <a:ext cx="6821487" cy="3838575"/>
          </a:xfrm>
        </p:spPr>
      </p:sp>
      <p:sp>
        <p:nvSpPr>
          <p:cNvPr id="1048641" name="备注占位符 2"/>
          <p:cNvSpPr>
            <a:spLocks noGrp="1"/>
          </p:cNvSpPr>
          <p:nvPr>
            <p:ph type="body" idx="1"/>
          </p:nvPr>
        </p:nvSpPr>
        <p:spPr/>
        <p:txBody>
          <a:bodyPr>
            <a:normAutofit/>
          </a:bodyPr>
          <a:p>
            <a:r>
              <a:rPr lang="zh-CN" altLang="en-US" dirty="0"/>
              <a:t>汇报</a:t>
            </a:r>
            <a:r>
              <a:rPr lang="en-US" altLang="zh-CN" dirty="0"/>
              <a:t>15</a:t>
            </a:r>
            <a:r>
              <a:rPr lang="zh-CN" altLang="en-US" dirty="0"/>
              <a:t>分钟，提问</a:t>
            </a:r>
            <a:r>
              <a:rPr lang="en-US" altLang="zh-CN" dirty="0"/>
              <a:t>10</a:t>
            </a:r>
            <a:r>
              <a:rPr lang="zh-CN" altLang="en-US" dirty="0"/>
              <a:t>分钟</a:t>
            </a:r>
            <a:endParaRPr lang="zh-CN" altLang="en-US" dirty="0"/>
          </a:p>
        </p:txBody>
      </p:sp>
      <p:sp>
        <p:nvSpPr>
          <p:cNvPr id="1048642" name="灯片编号占位符 3"/>
          <p:cNvSpPr>
            <a:spLocks noGrp="1"/>
          </p:cNvSpPr>
          <p:nvPr>
            <p:ph type="sldNum" sz="quarter" idx="10"/>
          </p:nvPr>
        </p:nvSpPr>
        <p:spPr/>
        <p:txBody>
          <a:bodyPr/>
          <a:p>
            <a:fld id="{D2479628-7038-46C5-BFDB-B4D01F73F67E}" type="slidenum">
              <a:rPr lang="ja-JP" altLang="en-US" smtClean="0"/>
            </a:fld>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48" name="幻灯片图像占位符 1"/>
          <p:cNvSpPr>
            <a:spLocks noGrp="1" noRot="1" noChangeAspect="1"/>
          </p:cNvSpPr>
          <p:nvPr>
            <p:ph type="sldImg"/>
          </p:nvPr>
        </p:nvSpPr>
        <p:spPr/>
      </p:sp>
      <p:sp>
        <p:nvSpPr>
          <p:cNvPr id="1048649" name="备注占位符 2"/>
          <p:cNvSpPr>
            <a:spLocks noGrp="1"/>
          </p:cNvSpPr>
          <p:nvPr>
            <p:ph type="body" idx="1"/>
          </p:nvPr>
        </p:nvSpPr>
        <p:spPr/>
        <p:txBody>
          <a:bodyPr/>
          <a:p>
            <a:endParaRPr lang="zh-CN" altLang="en-US"/>
          </a:p>
        </p:txBody>
      </p:sp>
      <p:sp>
        <p:nvSpPr>
          <p:cNvPr id="1048650" name="灯片编号占位符 3"/>
          <p:cNvSpPr>
            <a:spLocks noGrp="1"/>
          </p:cNvSpPr>
          <p:nvPr>
            <p:ph type="sldNum" sz="quarter" idx="10"/>
          </p:nvPr>
        </p:nvSpPr>
        <p:spPr/>
        <p:txBody>
          <a:bodyPr/>
          <a:p>
            <a:fld id="{A11FC198-2D83-4DFC-8CDD-7D23AF44D411}"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53" name="幻灯片图像占位符 1"/>
          <p:cNvSpPr>
            <a:spLocks noGrp="1" noRot="1" noChangeAspect="1" noTextEdit="1"/>
          </p:cNvSpPr>
          <p:nvPr>
            <p:ph type="sldImg"/>
          </p:nvPr>
        </p:nvSpPr>
        <p:spPr>
          <a:xfrm>
            <a:off x="138113" y="766763"/>
            <a:ext cx="6821487" cy="3838575"/>
          </a:xfrm>
        </p:spPr>
      </p:sp>
      <p:sp>
        <p:nvSpPr>
          <p:cNvPr id="1048654" name="备注占位符 2"/>
          <p:cNvSpPr>
            <a:spLocks noGrp="1"/>
          </p:cNvSpPr>
          <p:nvPr>
            <p:ph type="body" idx="1"/>
          </p:nvPr>
        </p:nvSpPr>
        <p:spPr>
          <a:noFill/>
        </p:spPr>
        <p:txBody>
          <a:bodyPr/>
          <a:p>
            <a:endParaRPr lang="zh-CN" altLang="en-US" b="1" dirty="0">
              <a:solidFill>
                <a:schemeClr val="tx2"/>
              </a:solidFill>
            </a:endParaRPr>
          </a:p>
        </p:txBody>
      </p:sp>
      <p:sp>
        <p:nvSpPr>
          <p:cNvPr id="1048655"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34" name="幻灯片图像占位符 1"/>
          <p:cNvSpPr>
            <a:spLocks noGrp="1" noRot="1" noChangeAspect="1" noTextEdit="1"/>
          </p:cNvSpPr>
          <p:nvPr>
            <p:ph type="sldImg"/>
          </p:nvPr>
        </p:nvSpPr>
        <p:spPr>
          <a:xfrm>
            <a:off x="138113" y="766763"/>
            <a:ext cx="6821487" cy="3838575"/>
          </a:xfrm>
        </p:spPr>
      </p:sp>
      <p:sp>
        <p:nvSpPr>
          <p:cNvPr id="1048635" name="备注占位符 2"/>
          <p:cNvSpPr>
            <a:spLocks noGrp="1"/>
          </p:cNvSpPr>
          <p:nvPr>
            <p:ph type="body" idx="1"/>
          </p:nvPr>
        </p:nvSpPr>
        <p:spPr>
          <a:noFill/>
        </p:spPr>
        <p:txBody>
          <a:bodyPr/>
          <a:p>
            <a:r>
              <a:rPr lang="zh-CN" altLang="en-US" b="1" dirty="0">
                <a:solidFill>
                  <a:schemeClr val="tx2"/>
                </a:solidFill>
              </a:rPr>
              <a:t>最好的情况：若待排序的数组元素已经是有序的，那么插入排序时就不需要进行交换动作，只需要进行一次比较动作，时间复杂度是O(n)。</a:t>
            </a:r>
            <a:endParaRPr lang="zh-CN" altLang="en-US" b="1" dirty="0">
              <a:solidFill>
                <a:schemeClr val="tx2"/>
              </a:solidFill>
            </a:endParaRPr>
          </a:p>
          <a:p>
            <a:r>
              <a:rPr lang="zh-CN" altLang="en-US" b="1" dirty="0">
                <a:solidFill>
                  <a:schemeClr val="tx2"/>
                </a:solidFill>
              </a:rPr>
              <a:t>最坏的情况：若待排序的数组元素完全逆序，那么插入排序每进行一次交换动作时，都需要与有序区内的每个元素进行比较，然后才能找到合适的位置。因此每次插入都需要O(i)次操作，总操作次数是O(1+2+3+4+...+n-1),即O(n^2).</a:t>
            </a:r>
            <a:endParaRPr lang="zh-CN" altLang="en-US" b="1" dirty="0">
              <a:solidFill>
                <a:schemeClr val="tx2"/>
              </a:solidFill>
            </a:endParaRPr>
          </a:p>
          <a:p>
            <a:r>
              <a:rPr lang="zh-CN" altLang="en-US" b="1" dirty="0">
                <a:solidFill>
                  <a:schemeClr val="tx2"/>
                </a:solidFill>
              </a:rPr>
              <a:t>平均情况：若输入数据元素随机时，每次插入大约需要O(n/2)次比较和移动，最后的时间复杂度是O(n^2)。</a:t>
            </a:r>
            <a:endParaRPr lang="zh-CN" altLang="en-US" b="1" dirty="0">
              <a:solidFill>
                <a:schemeClr val="tx2"/>
              </a:solidFill>
            </a:endParaRPr>
          </a:p>
        </p:txBody>
      </p:sp>
      <p:sp>
        <p:nvSpPr>
          <p:cNvPr id="1048636"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34" name="幻灯片图像占位符 1"/>
          <p:cNvSpPr>
            <a:spLocks noGrp="1" noRot="1" noChangeAspect="1" noTextEdit="1"/>
          </p:cNvSpPr>
          <p:nvPr>
            <p:ph type="sldImg"/>
          </p:nvPr>
        </p:nvSpPr>
        <p:spPr>
          <a:xfrm>
            <a:off x="138113" y="766763"/>
            <a:ext cx="6821487" cy="3838575"/>
          </a:xfrm>
        </p:spPr>
      </p:sp>
      <p:sp>
        <p:nvSpPr>
          <p:cNvPr id="1048635" name="备注占位符 2"/>
          <p:cNvSpPr>
            <a:spLocks noGrp="1"/>
          </p:cNvSpPr>
          <p:nvPr>
            <p:ph type="body" idx="1"/>
          </p:nvPr>
        </p:nvSpPr>
        <p:spPr>
          <a:noFill/>
        </p:spPr>
        <p:txBody>
          <a:bodyPr/>
          <a:p>
            <a:r>
              <a:rPr lang="zh-CN" altLang="en-US" b="1" dirty="0">
                <a:solidFill>
                  <a:schemeClr val="tx2"/>
                </a:solidFill>
              </a:rPr>
              <a:t>最好的情况：若待排序的数组元素已经是有序的，那么插入排序时就不需要进行交换动作，只需要进行一次比较动作，时间复杂度是O(n)。</a:t>
            </a:r>
            <a:endParaRPr lang="zh-CN" altLang="en-US" b="1" dirty="0">
              <a:solidFill>
                <a:schemeClr val="tx2"/>
              </a:solidFill>
            </a:endParaRPr>
          </a:p>
          <a:p>
            <a:r>
              <a:rPr lang="zh-CN" altLang="en-US" b="1" dirty="0">
                <a:solidFill>
                  <a:schemeClr val="tx2"/>
                </a:solidFill>
              </a:rPr>
              <a:t>最坏的情况：若待排序的数组元素完全逆序，那么插入排序每进行一次交换动作时，都需要与有序区内的每个元素进行比较，然后才能找到合适的位置。因此每次插入都需要O(i)次操作，总操作次数是O(1+2+3+4+...+n-1),即O(n^2).</a:t>
            </a:r>
            <a:endParaRPr lang="zh-CN" altLang="en-US" b="1" dirty="0">
              <a:solidFill>
                <a:schemeClr val="tx2"/>
              </a:solidFill>
            </a:endParaRPr>
          </a:p>
          <a:p>
            <a:r>
              <a:rPr lang="zh-CN" altLang="en-US" b="1" dirty="0">
                <a:solidFill>
                  <a:schemeClr val="tx2"/>
                </a:solidFill>
              </a:rPr>
              <a:t>平均情况：若输入数据元素随机时，每次插入大约需要O(n/2)次比较和移动，最后的时间复杂度是O(n^2)。</a:t>
            </a:r>
            <a:endParaRPr lang="zh-CN" altLang="en-US" b="1" dirty="0">
              <a:solidFill>
                <a:schemeClr val="tx2"/>
              </a:solidFill>
            </a:endParaRPr>
          </a:p>
        </p:txBody>
      </p:sp>
      <p:sp>
        <p:nvSpPr>
          <p:cNvPr id="1048636"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21" name="幻灯片图像占位符 1"/>
          <p:cNvSpPr>
            <a:spLocks noGrp="1" noRot="1" noChangeAspect="1" noTextEdit="1"/>
          </p:cNvSpPr>
          <p:nvPr>
            <p:ph type="sldImg"/>
          </p:nvPr>
        </p:nvSpPr>
        <p:spPr>
          <a:xfrm>
            <a:off x="138113" y="766763"/>
            <a:ext cx="6821487" cy="3838575"/>
          </a:xfrm>
        </p:spPr>
      </p:sp>
      <p:sp>
        <p:nvSpPr>
          <p:cNvPr id="1048622" name="备注占位符 2"/>
          <p:cNvSpPr>
            <a:spLocks noGrp="1"/>
          </p:cNvSpPr>
          <p:nvPr>
            <p:ph type="body" idx="1"/>
          </p:nvPr>
        </p:nvSpPr>
        <p:spPr>
          <a:noFill/>
        </p:spPr>
        <p:txBody>
          <a:bodyPr/>
          <a:p>
            <a:endParaRPr lang="zh-CN" altLang="en-US" b="1" dirty="0">
              <a:solidFill>
                <a:schemeClr val="tx2"/>
              </a:solidFill>
            </a:endParaRPr>
          </a:p>
        </p:txBody>
      </p:sp>
      <p:sp>
        <p:nvSpPr>
          <p:cNvPr id="1048623"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09" name="幻灯片图像占位符 1"/>
          <p:cNvSpPr>
            <a:spLocks noGrp="1" noRot="1" noChangeAspect="1" noTextEdit="1"/>
          </p:cNvSpPr>
          <p:nvPr>
            <p:ph type="sldImg"/>
          </p:nvPr>
        </p:nvSpPr>
        <p:spPr>
          <a:xfrm>
            <a:off x="138113" y="766763"/>
            <a:ext cx="6821487" cy="3838575"/>
          </a:xfrm>
        </p:spPr>
      </p:sp>
      <p:sp>
        <p:nvSpPr>
          <p:cNvPr id="1048610" name="备注占位符 2"/>
          <p:cNvSpPr>
            <a:spLocks noGrp="1"/>
          </p:cNvSpPr>
          <p:nvPr>
            <p:ph type="body" idx="1"/>
          </p:nvPr>
        </p:nvSpPr>
        <p:spPr>
          <a:noFill/>
        </p:spPr>
        <p:txBody>
          <a:bodyPr/>
          <a:p>
            <a:r>
              <a:rPr lang="zh-CN" altLang="en-US" b="1" dirty="0">
                <a:solidFill>
                  <a:schemeClr val="tx2"/>
                </a:solidFill>
              </a:rPr>
              <a:t>从代码可见外层循环从0到n-2执行了n-1次，内层循环执行n-i次,因此总循环次数是(n−1)+(n−2)+(n−3)+⋯+1，T(n)=0.5*(n-1)*n。</a:t>
            </a:r>
            <a:endParaRPr lang="zh-CN" altLang="en-US" b="1" dirty="0">
              <a:solidFill>
                <a:schemeClr val="tx2"/>
              </a:solidFill>
            </a:endParaRPr>
          </a:p>
          <a:p>
            <a:r>
              <a:rPr lang="zh-CN" altLang="en-US" b="1" dirty="0">
                <a:solidFill>
                  <a:schemeClr val="tx2"/>
                </a:solidFill>
              </a:rPr>
              <a:t>在最坏情况下：数组逆序时，每一次比较都需要交换，时间复杂度为O(n^2).</a:t>
            </a:r>
            <a:endParaRPr lang="zh-CN" altLang="en-US" b="1" dirty="0">
              <a:solidFill>
                <a:schemeClr val="tx2"/>
              </a:solidFill>
            </a:endParaRPr>
          </a:p>
          <a:p>
            <a:r>
              <a:rPr lang="zh-CN" altLang="en-US" b="1" dirty="0">
                <a:solidFill>
                  <a:schemeClr val="tx2"/>
                </a:solidFill>
              </a:rPr>
              <a:t>在最好情况下：数组顺序时，只需要进行一轮比较，无需交换，时间复杂度为O(n).</a:t>
            </a:r>
            <a:endParaRPr lang="zh-CN" altLang="en-US" b="1" dirty="0">
              <a:solidFill>
                <a:schemeClr val="tx2"/>
              </a:solidFill>
            </a:endParaRPr>
          </a:p>
          <a:p>
            <a:r>
              <a:rPr lang="zh-CN" altLang="en-US" b="1" dirty="0">
                <a:solidFill>
                  <a:schemeClr val="tx2"/>
                </a:solidFill>
              </a:rPr>
              <a:t>在平均情况下：时间复杂度为O(n^2).</a:t>
            </a:r>
            <a:endParaRPr lang="zh-CN" altLang="en-US" b="1" dirty="0">
              <a:solidFill>
                <a:schemeClr val="tx2"/>
              </a:solidFill>
            </a:endParaRPr>
          </a:p>
        </p:txBody>
      </p:sp>
      <p:sp>
        <p:nvSpPr>
          <p:cNvPr id="1048611"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09" name="幻灯片图像占位符 1"/>
          <p:cNvSpPr>
            <a:spLocks noGrp="1" noRot="1" noChangeAspect="1" noTextEdit="1"/>
          </p:cNvSpPr>
          <p:nvPr>
            <p:ph type="sldImg"/>
          </p:nvPr>
        </p:nvSpPr>
        <p:spPr>
          <a:xfrm>
            <a:off x="138113" y="766763"/>
            <a:ext cx="6821487" cy="3838575"/>
          </a:xfrm>
        </p:spPr>
      </p:sp>
      <p:sp>
        <p:nvSpPr>
          <p:cNvPr id="1048610" name="备注占位符 2"/>
          <p:cNvSpPr>
            <a:spLocks noGrp="1"/>
          </p:cNvSpPr>
          <p:nvPr>
            <p:ph type="body" idx="1"/>
          </p:nvPr>
        </p:nvSpPr>
        <p:spPr>
          <a:noFill/>
        </p:spPr>
        <p:txBody>
          <a:bodyPr/>
          <a:p>
            <a:r>
              <a:rPr lang="zh-CN" altLang="en-US" b="1" dirty="0">
                <a:solidFill>
                  <a:schemeClr val="tx2"/>
                </a:solidFill>
              </a:rPr>
              <a:t>从代码可见外层循环从0到n-2执行了n-1次，内层循环执行n-i次,因此总循环次数是(n−1)+(n−2)+(n−3)+⋯+1，T(n)=0.5*(n-1)*n。</a:t>
            </a:r>
            <a:endParaRPr lang="zh-CN" altLang="en-US" b="1" dirty="0">
              <a:solidFill>
                <a:schemeClr val="tx2"/>
              </a:solidFill>
            </a:endParaRPr>
          </a:p>
          <a:p>
            <a:r>
              <a:rPr lang="zh-CN" altLang="en-US" b="1" dirty="0">
                <a:solidFill>
                  <a:schemeClr val="tx2"/>
                </a:solidFill>
              </a:rPr>
              <a:t>在最坏情况下：数组逆序时，每一次比较都需要交换，时间复杂度为O(n^2).</a:t>
            </a:r>
            <a:endParaRPr lang="zh-CN" altLang="en-US" b="1" dirty="0">
              <a:solidFill>
                <a:schemeClr val="tx2"/>
              </a:solidFill>
            </a:endParaRPr>
          </a:p>
          <a:p>
            <a:r>
              <a:rPr lang="zh-CN" altLang="en-US" b="1" dirty="0">
                <a:solidFill>
                  <a:schemeClr val="tx2"/>
                </a:solidFill>
              </a:rPr>
              <a:t>在最好情况下：数组顺序时，只需要进行一轮比较，无需交换，时间复杂度为O(n).</a:t>
            </a:r>
            <a:endParaRPr lang="zh-CN" altLang="en-US" b="1" dirty="0">
              <a:solidFill>
                <a:schemeClr val="tx2"/>
              </a:solidFill>
            </a:endParaRPr>
          </a:p>
          <a:p>
            <a:r>
              <a:rPr lang="zh-CN" altLang="en-US" b="1" dirty="0">
                <a:solidFill>
                  <a:schemeClr val="tx2"/>
                </a:solidFill>
              </a:rPr>
              <a:t>在平均情况下：时间复杂度为O(n^2).</a:t>
            </a:r>
            <a:endParaRPr lang="zh-CN" altLang="en-US" b="1" dirty="0">
              <a:solidFill>
                <a:schemeClr val="tx2"/>
              </a:solidFill>
            </a:endParaRPr>
          </a:p>
        </p:txBody>
      </p:sp>
      <p:sp>
        <p:nvSpPr>
          <p:cNvPr id="1048611"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88" name="幻灯片图像占位符 1"/>
          <p:cNvSpPr>
            <a:spLocks noGrp="1" noRot="1" noChangeAspect="1" noTextEdit="1"/>
          </p:cNvSpPr>
          <p:nvPr>
            <p:ph type="sldImg"/>
          </p:nvPr>
        </p:nvSpPr>
        <p:spPr>
          <a:xfrm>
            <a:off x="138113" y="766763"/>
            <a:ext cx="6821487" cy="3838575"/>
          </a:xfrm>
        </p:spPr>
      </p:sp>
      <p:sp>
        <p:nvSpPr>
          <p:cNvPr id="1048589" name="备注占位符 2"/>
          <p:cNvSpPr>
            <a:spLocks noGrp="1"/>
          </p:cNvSpPr>
          <p:nvPr>
            <p:ph type="body" idx="1"/>
          </p:nvPr>
        </p:nvSpPr>
        <p:spPr>
          <a:noFill/>
        </p:spPr>
        <p:txBody>
          <a:bodyPr/>
          <a:p>
            <a:r>
              <a:rPr lang="zh-CN" altLang="en-US" b="1" dirty="0">
                <a:solidFill>
                  <a:schemeClr val="tx2"/>
                </a:solidFill>
              </a:rPr>
              <a:t>从代码可见外层循环从0到n-2执行了n-1次，内层循环执行n-i次,因此总循环次数是(n−1)+(n−2)+(n−3)+⋯+1，T(n)=0.5*(n-1)*n。</a:t>
            </a:r>
            <a:endParaRPr lang="zh-CN" altLang="en-US" b="1" dirty="0">
              <a:solidFill>
                <a:schemeClr val="tx2"/>
              </a:solidFill>
            </a:endParaRPr>
          </a:p>
          <a:p>
            <a:r>
              <a:rPr lang="zh-CN" altLang="en-US" b="1" dirty="0">
                <a:solidFill>
                  <a:schemeClr val="tx2"/>
                </a:solidFill>
              </a:rPr>
              <a:t>在最坏情况下：数组逆序时，每一次比较都需要交换，时间复杂度为O(n^2).</a:t>
            </a:r>
            <a:endParaRPr lang="zh-CN" altLang="en-US" b="1" dirty="0">
              <a:solidFill>
                <a:schemeClr val="tx2"/>
              </a:solidFill>
            </a:endParaRPr>
          </a:p>
          <a:p>
            <a:r>
              <a:rPr lang="zh-CN" altLang="en-US" b="1" dirty="0">
                <a:solidFill>
                  <a:schemeClr val="tx2"/>
                </a:solidFill>
              </a:rPr>
              <a:t>在最好情况下：数组顺序时，只需要进行一轮比较，无需交换，时间复杂度为O(n).</a:t>
            </a:r>
            <a:endParaRPr lang="zh-CN" altLang="en-US" b="1" dirty="0">
              <a:solidFill>
                <a:schemeClr val="tx2"/>
              </a:solidFill>
            </a:endParaRPr>
          </a:p>
          <a:p>
            <a:r>
              <a:rPr lang="zh-CN" altLang="en-US" b="1" dirty="0">
                <a:solidFill>
                  <a:schemeClr val="tx2"/>
                </a:solidFill>
              </a:rPr>
              <a:t>在平均情况下：时间复杂度为O(n^2).</a:t>
            </a:r>
            <a:endParaRPr lang="zh-CN" altLang="en-US" b="1" dirty="0">
              <a:solidFill>
                <a:schemeClr val="tx2"/>
              </a:solidFill>
            </a:endParaRPr>
          </a:p>
        </p:txBody>
      </p:sp>
      <p:sp>
        <p:nvSpPr>
          <p:cNvPr id="1048590"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02" name="幻灯片图像占位符 1"/>
          <p:cNvSpPr>
            <a:spLocks noGrp="1" noRot="1" noChangeAspect="1" noTextEdit="1"/>
          </p:cNvSpPr>
          <p:nvPr>
            <p:ph type="sldImg"/>
          </p:nvPr>
        </p:nvSpPr>
        <p:spPr>
          <a:xfrm>
            <a:off x="138113" y="766763"/>
            <a:ext cx="6821487" cy="3838575"/>
          </a:xfrm>
        </p:spPr>
      </p:sp>
      <p:sp>
        <p:nvSpPr>
          <p:cNvPr id="1048603" name="备注占位符 2"/>
          <p:cNvSpPr>
            <a:spLocks noGrp="1"/>
          </p:cNvSpPr>
          <p:nvPr>
            <p:ph type="body" idx="1"/>
          </p:nvPr>
        </p:nvSpPr>
        <p:spPr>
          <a:noFill/>
        </p:spPr>
        <p:txBody>
          <a:bodyPr/>
          <a:p>
            <a:endParaRPr lang="zh-CN" altLang="en-US" b="1" dirty="0">
              <a:solidFill>
                <a:schemeClr val="tx2"/>
              </a:solidFill>
            </a:endParaRPr>
          </a:p>
        </p:txBody>
      </p:sp>
      <p:sp>
        <p:nvSpPr>
          <p:cNvPr id="1048604"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16" name="幻灯片图像占位符 1"/>
          <p:cNvSpPr>
            <a:spLocks noGrp="1" noRot="1" noChangeAspect="1" noTextEdit="1"/>
          </p:cNvSpPr>
          <p:nvPr>
            <p:ph type="sldImg"/>
          </p:nvPr>
        </p:nvSpPr>
        <p:spPr>
          <a:xfrm>
            <a:off x="138113" y="766763"/>
            <a:ext cx="6821487" cy="3838575"/>
          </a:xfrm>
        </p:spPr>
      </p:sp>
      <p:sp>
        <p:nvSpPr>
          <p:cNvPr id="1048617" name="备注占位符 2"/>
          <p:cNvSpPr>
            <a:spLocks noGrp="1"/>
          </p:cNvSpPr>
          <p:nvPr>
            <p:ph type="body" idx="1"/>
          </p:nvPr>
        </p:nvSpPr>
        <p:spPr>
          <a:noFill/>
        </p:spPr>
        <p:txBody>
          <a:bodyPr/>
          <a:p>
            <a:r>
              <a:rPr lang="zh-CN" altLang="en-US" b="1" dirty="0">
                <a:solidFill>
                  <a:schemeClr val="tx2"/>
                </a:solidFill>
              </a:rPr>
              <a:t>从代码可见外层循环从0到n-2执行了n-1次，内层循环执行n-i次,因此总循环次数是(n−1)+(n−2)+(n−3)+⋯+1，T(n)=0.5*(n-1)*n。</a:t>
            </a:r>
            <a:endParaRPr lang="zh-CN" altLang="en-US" b="1" dirty="0">
              <a:solidFill>
                <a:schemeClr val="tx2"/>
              </a:solidFill>
            </a:endParaRPr>
          </a:p>
          <a:p>
            <a:r>
              <a:rPr lang="zh-CN" altLang="en-US" b="1" dirty="0">
                <a:solidFill>
                  <a:schemeClr val="tx2"/>
                </a:solidFill>
              </a:rPr>
              <a:t>在最坏情况下：数组逆序时，每一次比较都需要交换，时间复杂度为O(n^2).</a:t>
            </a:r>
            <a:endParaRPr lang="zh-CN" altLang="en-US" b="1" dirty="0">
              <a:solidFill>
                <a:schemeClr val="tx2"/>
              </a:solidFill>
            </a:endParaRPr>
          </a:p>
          <a:p>
            <a:r>
              <a:rPr lang="zh-CN" altLang="en-US" b="1" dirty="0">
                <a:solidFill>
                  <a:schemeClr val="tx2"/>
                </a:solidFill>
              </a:rPr>
              <a:t>在最好情况下：数组顺序时，只需要进行一轮比较，无需交换，时间复杂度为O(n).</a:t>
            </a:r>
            <a:endParaRPr lang="zh-CN" altLang="en-US" b="1" dirty="0">
              <a:solidFill>
                <a:schemeClr val="tx2"/>
              </a:solidFill>
            </a:endParaRPr>
          </a:p>
          <a:p>
            <a:r>
              <a:rPr lang="zh-CN" altLang="en-US" b="1" dirty="0">
                <a:solidFill>
                  <a:schemeClr val="tx2"/>
                </a:solidFill>
              </a:rPr>
              <a:t>在平均情况下：时间复杂度为O(n^2).</a:t>
            </a:r>
            <a:endParaRPr lang="zh-CN" altLang="en-US" b="1" dirty="0">
              <a:solidFill>
                <a:schemeClr val="tx2"/>
              </a:solidFill>
            </a:endParaRPr>
          </a:p>
        </p:txBody>
      </p:sp>
      <p:sp>
        <p:nvSpPr>
          <p:cNvPr id="1048618"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27" name="幻灯片图像占位符 1"/>
          <p:cNvSpPr>
            <a:spLocks noGrp="1" noRot="1" noChangeAspect="1" noTextEdit="1"/>
          </p:cNvSpPr>
          <p:nvPr>
            <p:ph type="sldImg"/>
          </p:nvPr>
        </p:nvSpPr>
        <p:spPr>
          <a:xfrm>
            <a:off x="138113" y="766763"/>
            <a:ext cx="6821487" cy="3838575"/>
          </a:xfrm>
        </p:spPr>
      </p:sp>
      <p:sp>
        <p:nvSpPr>
          <p:cNvPr id="1048628" name="备注占位符 2"/>
          <p:cNvSpPr>
            <a:spLocks noGrp="1"/>
          </p:cNvSpPr>
          <p:nvPr>
            <p:ph type="body" idx="1"/>
          </p:nvPr>
        </p:nvSpPr>
        <p:spPr>
          <a:noFill/>
        </p:spPr>
        <p:txBody>
          <a:bodyPr/>
          <a:p>
            <a:r>
              <a:rPr lang="zh-CN" altLang="en-US" b="1" dirty="0">
                <a:solidFill>
                  <a:schemeClr val="tx2"/>
                </a:solidFill>
              </a:rPr>
              <a:t>从代码可见外层循环从0到n-2执行了n-1次，内层循环执行n-i次,因此总循环次数是(n−1)+(n−2)+(n−3)+⋯+1，T(n)=0.5*(n-1)*n。</a:t>
            </a:r>
            <a:endParaRPr lang="zh-CN" altLang="en-US" b="1" dirty="0">
              <a:solidFill>
                <a:schemeClr val="tx2"/>
              </a:solidFill>
            </a:endParaRPr>
          </a:p>
          <a:p>
            <a:r>
              <a:rPr lang="zh-CN" altLang="en-US" b="1" dirty="0">
                <a:solidFill>
                  <a:schemeClr val="tx2"/>
                </a:solidFill>
              </a:rPr>
              <a:t>在最坏情况下：数组逆序时，每一次比较都需要交换，时间复杂度为O(n^2).</a:t>
            </a:r>
            <a:endParaRPr lang="zh-CN" altLang="en-US" b="1" dirty="0">
              <a:solidFill>
                <a:schemeClr val="tx2"/>
              </a:solidFill>
            </a:endParaRPr>
          </a:p>
          <a:p>
            <a:r>
              <a:rPr lang="zh-CN" altLang="en-US" b="1" dirty="0">
                <a:solidFill>
                  <a:schemeClr val="tx2"/>
                </a:solidFill>
              </a:rPr>
              <a:t>在最好情况下：数组顺序时，只需要进行一轮比较，无需交换，时间复杂度为O(n).</a:t>
            </a:r>
            <a:endParaRPr lang="zh-CN" altLang="en-US" b="1" dirty="0">
              <a:solidFill>
                <a:schemeClr val="tx2"/>
              </a:solidFill>
            </a:endParaRPr>
          </a:p>
          <a:p>
            <a:r>
              <a:rPr lang="zh-CN" altLang="en-US" b="1" dirty="0">
                <a:solidFill>
                  <a:schemeClr val="tx2"/>
                </a:solidFill>
              </a:rPr>
              <a:t>在平均情况下：时间复杂度为O(n^2).</a:t>
            </a:r>
            <a:endParaRPr lang="zh-CN" altLang="en-US" b="1" dirty="0">
              <a:solidFill>
                <a:schemeClr val="tx2"/>
              </a:solidFill>
            </a:endParaRPr>
          </a:p>
        </p:txBody>
      </p:sp>
      <p:sp>
        <p:nvSpPr>
          <p:cNvPr id="1048629"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659" name="幻灯片图像占位符 1"/>
          <p:cNvSpPr>
            <a:spLocks noGrp="1" noRot="1" noChangeAspect="1" noTextEdit="1"/>
          </p:cNvSpPr>
          <p:nvPr>
            <p:ph type="sldImg"/>
          </p:nvPr>
        </p:nvSpPr>
        <p:spPr>
          <a:xfrm>
            <a:off x="138113" y="766763"/>
            <a:ext cx="6821487" cy="3838575"/>
          </a:xfrm>
        </p:spPr>
      </p:sp>
      <p:sp>
        <p:nvSpPr>
          <p:cNvPr id="1048660" name="备注占位符 2"/>
          <p:cNvSpPr>
            <a:spLocks noGrp="1"/>
          </p:cNvSpPr>
          <p:nvPr>
            <p:ph type="body" idx="1"/>
          </p:nvPr>
        </p:nvSpPr>
        <p:spPr>
          <a:noFill/>
        </p:spPr>
        <p:txBody>
          <a:bodyPr/>
          <a:p>
            <a:endParaRPr lang="zh-CN" altLang="en-US" b="1" dirty="0">
              <a:solidFill>
                <a:schemeClr val="tx2"/>
              </a:solidFill>
            </a:endParaRPr>
          </a:p>
        </p:txBody>
      </p:sp>
      <p:sp>
        <p:nvSpPr>
          <p:cNvPr id="1048661"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666" name="幻灯片图像占位符 1"/>
          <p:cNvSpPr>
            <a:spLocks noGrp="1" noRot="1" noChangeAspect="1" noTextEdit="1"/>
          </p:cNvSpPr>
          <p:nvPr>
            <p:ph type="sldImg"/>
          </p:nvPr>
        </p:nvSpPr>
        <p:spPr>
          <a:xfrm>
            <a:off x="138113" y="766763"/>
            <a:ext cx="6821487" cy="3838575"/>
          </a:xfrm>
        </p:spPr>
      </p:sp>
      <p:sp>
        <p:nvSpPr>
          <p:cNvPr id="1048667" name="备注占位符 2"/>
          <p:cNvSpPr>
            <a:spLocks noGrp="1"/>
          </p:cNvSpPr>
          <p:nvPr>
            <p:ph type="body" idx="1"/>
          </p:nvPr>
        </p:nvSpPr>
        <p:spPr>
          <a:noFill/>
        </p:spPr>
        <p:txBody>
          <a:bodyPr/>
          <a:p>
            <a:r>
              <a:rPr lang="zh-CN" altLang="en-US" b="1" dirty="0">
                <a:solidFill>
                  <a:schemeClr val="tx2"/>
                </a:solidFill>
              </a:rPr>
              <a:t>从代码可见归并排序先进行递归的两两分割，若数组的元素规模为n，那么需要分割log n次，之后在每个已分割的子数组内，都需要进行合并操作，这里数组内的每个元素都需要进行合并操作，所以执行n次。因此总的时间复杂度为T(n)=O(nlogn)。</a:t>
            </a:r>
            <a:endParaRPr lang="zh-CN" altLang="en-US" b="1" dirty="0">
              <a:solidFill>
                <a:schemeClr val="tx2"/>
              </a:solidFill>
            </a:endParaRPr>
          </a:p>
          <a:p>
            <a:r>
              <a:rPr lang="zh-CN" altLang="en-US" b="1" dirty="0">
                <a:solidFill>
                  <a:schemeClr val="tx2"/>
                </a:solidFill>
              </a:rPr>
              <a:t>无论在最优还是最坏情况下，都需要进行分割和合并，所以总的时间复杂度T(n)=O(nlogn)。</a:t>
            </a:r>
            <a:endParaRPr lang="zh-CN" altLang="en-US" b="1" dirty="0">
              <a:solidFill>
                <a:schemeClr val="tx2"/>
              </a:solidFill>
            </a:endParaRPr>
          </a:p>
        </p:txBody>
      </p:sp>
      <p:sp>
        <p:nvSpPr>
          <p:cNvPr id="1048668"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672" name="幻灯片图像占位符 1"/>
          <p:cNvSpPr>
            <a:spLocks noGrp="1" noRot="1" noChangeAspect="1" noTextEdit="1"/>
          </p:cNvSpPr>
          <p:nvPr>
            <p:ph type="sldImg"/>
          </p:nvPr>
        </p:nvSpPr>
        <p:spPr>
          <a:xfrm>
            <a:off x="138113" y="766763"/>
            <a:ext cx="6821487" cy="3838575"/>
          </a:xfrm>
        </p:spPr>
      </p:sp>
      <p:sp>
        <p:nvSpPr>
          <p:cNvPr id="1048673" name="备注占位符 2"/>
          <p:cNvSpPr>
            <a:spLocks noGrp="1"/>
          </p:cNvSpPr>
          <p:nvPr>
            <p:ph type="body" idx="1"/>
          </p:nvPr>
        </p:nvSpPr>
        <p:spPr>
          <a:noFill/>
        </p:spPr>
        <p:txBody>
          <a:bodyPr/>
          <a:p>
            <a:endParaRPr lang="zh-CN" altLang="en-US" b="1" dirty="0">
              <a:solidFill>
                <a:schemeClr val="tx2"/>
              </a:solidFill>
            </a:endParaRPr>
          </a:p>
        </p:txBody>
      </p:sp>
      <p:sp>
        <p:nvSpPr>
          <p:cNvPr id="1048674"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679" name="幻灯片图像占位符 1"/>
          <p:cNvSpPr>
            <a:spLocks noGrp="1" noRot="1" noChangeAspect="1" noTextEdit="1"/>
          </p:cNvSpPr>
          <p:nvPr>
            <p:ph type="sldImg"/>
          </p:nvPr>
        </p:nvSpPr>
        <p:spPr>
          <a:xfrm>
            <a:off x="138113" y="766763"/>
            <a:ext cx="6821487" cy="3838575"/>
          </a:xfrm>
        </p:spPr>
      </p:sp>
      <p:sp>
        <p:nvSpPr>
          <p:cNvPr id="1048680" name="备注占位符 2"/>
          <p:cNvSpPr>
            <a:spLocks noGrp="1"/>
          </p:cNvSpPr>
          <p:nvPr>
            <p:ph type="body" idx="1"/>
          </p:nvPr>
        </p:nvSpPr>
        <p:spPr>
          <a:noFill/>
        </p:spPr>
        <p:txBody>
          <a:bodyPr/>
          <a:p>
            <a:r>
              <a:rPr lang="zh-CN" altLang="en-US" b="1" dirty="0">
                <a:solidFill>
                  <a:schemeClr val="tx2"/>
                </a:solidFill>
              </a:rPr>
              <a:t>在最坏情况下:数组完全逆序，每一次选择的基准都是数组的第一个元素或者是最后一个元素，所以分割阶段的递归深度为n，合并阶段执行n次，时间复杂度为O(n^2).</a:t>
            </a:r>
            <a:endParaRPr lang="zh-CN" altLang="en-US" b="1" dirty="0">
              <a:solidFill>
                <a:schemeClr val="tx2"/>
              </a:solidFill>
            </a:endParaRPr>
          </a:p>
          <a:p>
            <a:r>
              <a:rPr lang="zh-CN" altLang="en-US" b="1" dirty="0">
                <a:solidFill>
                  <a:schemeClr val="tx2"/>
                </a:solidFill>
              </a:rPr>
              <a:t>在最好情况下：每一次选择的基准都可以把数组均分成两半，所以分割阶段的递归深度为log n，合并阶段执行n次，时间复杂度为O(nlogn).</a:t>
            </a:r>
            <a:endParaRPr lang="zh-CN" altLang="en-US" b="1" dirty="0">
              <a:solidFill>
                <a:schemeClr val="tx2"/>
              </a:solidFill>
            </a:endParaRPr>
          </a:p>
          <a:p>
            <a:r>
              <a:rPr lang="zh-CN" altLang="en-US" b="1" dirty="0">
                <a:solidFill>
                  <a:schemeClr val="tx2"/>
                </a:solidFill>
              </a:rPr>
              <a:t>在平均情况下：若数据元素分布随机均匀，分割阶段的递归深度为log n，所以总的时间复杂度为O(nlogn)。</a:t>
            </a:r>
            <a:endParaRPr lang="zh-CN" altLang="en-US" b="1" dirty="0">
              <a:solidFill>
                <a:schemeClr val="tx2"/>
              </a:solidFill>
            </a:endParaRPr>
          </a:p>
        </p:txBody>
      </p:sp>
      <p:sp>
        <p:nvSpPr>
          <p:cNvPr id="1048681"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687" name="幻灯片图像占位符 1"/>
          <p:cNvSpPr>
            <a:spLocks noGrp="1" noRot="1" noChangeAspect="1"/>
          </p:cNvSpPr>
          <p:nvPr>
            <p:ph type="sldImg"/>
          </p:nvPr>
        </p:nvSpPr>
        <p:spPr/>
      </p:sp>
      <p:sp>
        <p:nvSpPr>
          <p:cNvPr id="1048688" name="备注占位符 2"/>
          <p:cNvSpPr>
            <a:spLocks noGrp="1"/>
          </p:cNvSpPr>
          <p:nvPr>
            <p:ph type="body" idx="1"/>
          </p:nvPr>
        </p:nvSpPr>
        <p:spPr/>
        <p:txBody>
          <a:bodyPr/>
          <a:p>
            <a:endParaRPr lang="zh-CN" altLang="en-US"/>
          </a:p>
        </p:txBody>
      </p:sp>
      <p:sp>
        <p:nvSpPr>
          <p:cNvPr id="1048689" name="灯片编号占位符 3"/>
          <p:cNvSpPr>
            <a:spLocks noGrp="1"/>
          </p:cNvSpPr>
          <p:nvPr>
            <p:ph type="sldNum" sz="quarter" idx="10"/>
          </p:nvPr>
        </p:nvSpPr>
        <p:spPr/>
        <p:txBody>
          <a:bodyPr/>
          <a:p>
            <a:fld id="{A11FC198-2D83-4DFC-8CDD-7D23AF44D411}" type="slidenum">
              <a:rPr lang="zh-CN" altLang="en-US" smtClean="0"/>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695" name="幻灯片图像占位符 1"/>
          <p:cNvSpPr>
            <a:spLocks noGrp="1" noRot="1" noChangeAspect="1" noTextEdit="1"/>
          </p:cNvSpPr>
          <p:nvPr>
            <p:ph type="sldImg"/>
          </p:nvPr>
        </p:nvSpPr>
        <p:spPr>
          <a:xfrm>
            <a:off x="138113" y="766763"/>
            <a:ext cx="6821487" cy="3838575"/>
          </a:xfrm>
        </p:spPr>
      </p:sp>
      <p:sp>
        <p:nvSpPr>
          <p:cNvPr id="1048696" name="备注占位符 2"/>
          <p:cNvSpPr>
            <a:spLocks noGrp="1"/>
          </p:cNvSpPr>
          <p:nvPr>
            <p:ph type="body" idx="1"/>
          </p:nvPr>
        </p:nvSpPr>
        <p:spPr>
          <a:noFill/>
        </p:spPr>
        <p:txBody>
          <a:bodyPr/>
          <a:p>
            <a:endParaRPr lang="zh-CN" altLang="en-US" b="1" dirty="0">
              <a:solidFill>
                <a:schemeClr val="tx2"/>
              </a:solidFill>
            </a:endParaRPr>
          </a:p>
        </p:txBody>
      </p:sp>
      <p:sp>
        <p:nvSpPr>
          <p:cNvPr id="1048697"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702" name="幻灯片图像占位符 1"/>
          <p:cNvSpPr>
            <a:spLocks noGrp="1" noRot="1" noChangeAspect="1" noTextEdit="1"/>
          </p:cNvSpPr>
          <p:nvPr>
            <p:ph type="sldImg"/>
          </p:nvPr>
        </p:nvSpPr>
        <p:spPr>
          <a:xfrm>
            <a:off x="138113" y="766763"/>
            <a:ext cx="6821487" cy="3838575"/>
          </a:xfrm>
        </p:spPr>
      </p:sp>
      <p:sp>
        <p:nvSpPr>
          <p:cNvPr id="1048703" name="备注占位符 2"/>
          <p:cNvSpPr>
            <a:spLocks noGrp="1"/>
          </p:cNvSpPr>
          <p:nvPr>
            <p:ph type="body" idx="1"/>
          </p:nvPr>
        </p:nvSpPr>
        <p:spPr>
          <a:noFill/>
        </p:spPr>
        <p:txBody>
          <a:bodyPr/>
          <a:p>
            <a:endParaRPr lang="zh-CN" altLang="en-US" b="1" dirty="0">
              <a:solidFill>
                <a:schemeClr val="tx2"/>
              </a:solidFill>
            </a:endParaRPr>
          </a:p>
        </p:txBody>
      </p:sp>
      <p:sp>
        <p:nvSpPr>
          <p:cNvPr id="1048704"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16" name=""/>
        <p:cNvGrpSpPr/>
        <p:nvPr/>
      </p:nvGrpSpPr>
      <p:grpSpPr>
        <a:xfrm>
          <a:off x="0" y="0"/>
          <a:ext cx="0" cy="0"/>
          <a:chOff x="0" y="0"/>
          <a:chExt cx="0" cy="0"/>
        </a:xfrm>
      </p:grpSpPr>
      <p:sp>
        <p:nvSpPr>
          <p:cNvPr id="1048710" name="幻灯片图像占位符 1"/>
          <p:cNvSpPr>
            <a:spLocks noGrp="1" noRot="1" noChangeAspect="1"/>
          </p:cNvSpPr>
          <p:nvPr>
            <p:ph type="sldImg"/>
          </p:nvPr>
        </p:nvSpPr>
        <p:spPr/>
      </p:sp>
      <p:sp>
        <p:nvSpPr>
          <p:cNvPr id="1048711" name="备注占位符 2"/>
          <p:cNvSpPr>
            <a:spLocks noGrp="1"/>
          </p:cNvSpPr>
          <p:nvPr>
            <p:ph type="body" idx="1"/>
          </p:nvPr>
        </p:nvSpPr>
        <p:spPr/>
        <p:txBody>
          <a:bodyPr/>
          <a:p>
            <a:endParaRPr lang="zh-CN" altLang="en-US"/>
          </a:p>
        </p:txBody>
      </p:sp>
      <p:sp>
        <p:nvSpPr>
          <p:cNvPr id="1048712" name="灯片编号占位符 3"/>
          <p:cNvSpPr>
            <a:spLocks noGrp="1"/>
          </p:cNvSpPr>
          <p:nvPr>
            <p:ph type="sldNum" sz="quarter" idx="10"/>
          </p:nvPr>
        </p:nvSpPr>
        <p:spPr/>
        <p:txBody>
          <a:bodyPr/>
          <a:p>
            <a:fld id="{A11FC198-2D83-4DFC-8CDD-7D23AF44D411}" type="slidenum">
              <a:rPr lang="zh-CN" altLang="en-US" smtClean="0"/>
            </a:fld>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19" name=""/>
        <p:cNvGrpSpPr/>
        <p:nvPr/>
      </p:nvGrpSpPr>
      <p:grpSpPr>
        <a:xfrm>
          <a:off x="0" y="0"/>
          <a:ext cx="0" cy="0"/>
          <a:chOff x="0" y="0"/>
          <a:chExt cx="0" cy="0"/>
        </a:xfrm>
      </p:grpSpPr>
      <p:sp>
        <p:nvSpPr>
          <p:cNvPr id="1048716" name="幻灯片图像占位符 1"/>
          <p:cNvSpPr>
            <a:spLocks noGrp="1" noRot="1" noChangeAspect="1" noTextEdit="1"/>
          </p:cNvSpPr>
          <p:nvPr>
            <p:ph type="sldImg"/>
          </p:nvPr>
        </p:nvSpPr>
        <p:spPr>
          <a:xfrm>
            <a:off x="138113" y="766763"/>
            <a:ext cx="6821487" cy="3838575"/>
          </a:xfrm>
        </p:spPr>
      </p:sp>
      <p:sp>
        <p:nvSpPr>
          <p:cNvPr id="1048717" name="备注占位符 2"/>
          <p:cNvSpPr>
            <a:spLocks noGrp="1"/>
          </p:cNvSpPr>
          <p:nvPr>
            <p:ph type="body" idx="1"/>
          </p:nvPr>
        </p:nvSpPr>
        <p:spPr>
          <a:noFill/>
        </p:spPr>
        <p:txBody>
          <a:bodyPr/>
          <a:p>
            <a:endParaRPr lang="zh-CN" altLang="en-US" b="1" dirty="0">
              <a:solidFill>
                <a:schemeClr val="tx2"/>
              </a:solidFill>
            </a:endParaRPr>
          </a:p>
        </p:txBody>
      </p:sp>
      <p:sp>
        <p:nvSpPr>
          <p:cNvPr id="1048718"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22" name=""/>
        <p:cNvGrpSpPr/>
        <p:nvPr/>
      </p:nvGrpSpPr>
      <p:grpSpPr>
        <a:xfrm>
          <a:off x="0" y="0"/>
          <a:ext cx="0" cy="0"/>
          <a:chOff x="0" y="0"/>
          <a:chExt cx="0" cy="0"/>
        </a:xfrm>
      </p:grpSpPr>
      <p:sp>
        <p:nvSpPr>
          <p:cNvPr id="1048722" name="幻灯片图像占位符 1"/>
          <p:cNvSpPr>
            <a:spLocks noGrp="1" noRot="1" noChangeAspect="1" noTextEdit="1"/>
          </p:cNvSpPr>
          <p:nvPr>
            <p:ph type="sldImg"/>
          </p:nvPr>
        </p:nvSpPr>
        <p:spPr>
          <a:xfrm>
            <a:off x="138113" y="766763"/>
            <a:ext cx="6821487" cy="3838575"/>
          </a:xfrm>
        </p:spPr>
      </p:sp>
      <p:sp>
        <p:nvSpPr>
          <p:cNvPr id="1048723" name="备注占位符 2"/>
          <p:cNvSpPr>
            <a:spLocks noGrp="1"/>
          </p:cNvSpPr>
          <p:nvPr>
            <p:ph type="body" idx="1"/>
          </p:nvPr>
        </p:nvSpPr>
        <p:spPr>
          <a:noFill/>
        </p:spPr>
        <p:txBody>
          <a:bodyPr/>
          <a:p>
            <a:endParaRPr lang="zh-CN" altLang="en-US" b="1" dirty="0">
              <a:solidFill>
                <a:schemeClr val="tx2"/>
              </a:solidFill>
            </a:endParaRPr>
          </a:p>
        </p:txBody>
      </p:sp>
      <p:sp>
        <p:nvSpPr>
          <p:cNvPr id="1048724"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25" name=""/>
        <p:cNvGrpSpPr/>
        <p:nvPr/>
      </p:nvGrpSpPr>
      <p:grpSpPr>
        <a:xfrm>
          <a:off x="0" y="0"/>
          <a:ext cx="0" cy="0"/>
          <a:chOff x="0" y="0"/>
          <a:chExt cx="0" cy="0"/>
        </a:xfrm>
      </p:grpSpPr>
      <p:sp>
        <p:nvSpPr>
          <p:cNvPr id="1048731" name="幻灯片图像占位符 1"/>
          <p:cNvSpPr>
            <a:spLocks noGrp="1" noRot="1" noChangeAspect="1" noTextEdit="1"/>
          </p:cNvSpPr>
          <p:nvPr>
            <p:ph type="sldImg"/>
          </p:nvPr>
        </p:nvSpPr>
        <p:spPr>
          <a:xfrm>
            <a:off x="138113" y="766763"/>
            <a:ext cx="6821487" cy="3838575"/>
          </a:xfrm>
        </p:spPr>
      </p:sp>
      <p:sp>
        <p:nvSpPr>
          <p:cNvPr id="1048732" name="备注占位符 2"/>
          <p:cNvSpPr>
            <a:spLocks noGrp="1"/>
          </p:cNvSpPr>
          <p:nvPr>
            <p:ph type="body" idx="1"/>
          </p:nvPr>
        </p:nvSpPr>
        <p:spPr>
          <a:noFill/>
        </p:spPr>
        <p:txBody>
          <a:bodyPr/>
          <a:p>
            <a:endParaRPr lang="zh-CN" altLang="en-US" b="1" dirty="0">
              <a:solidFill>
                <a:schemeClr val="tx2"/>
              </a:solidFill>
            </a:endParaRPr>
          </a:p>
        </p:txBody>
      </p:sp>
      <p:sp>
        <p:nvSpPr>
          <p:cNvPr id="1048733"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28" name=""/>
        <p:cNvGrpSpPr/>
        <p:nvPr/>
      </p:nvGrpSpPr>
      <p:grpSpPr>
        <a:xfrm>
          <a:off x="0" y="0"/>
          <a:ext cx="0" cy="0"/>
          <a:chOff x="0" y="0"/>
          <a:chExt cx="0" cy="0"/>
        </a:xfrm>
      </p:grpSpPr>
      <p:sp>
        <p:nvSpPr>
          <p:cNvPr id="1048737" name="幻灯片图像占位符 1"/>
          <p:cNvSpPr>
            <a:spLocks noGrp="1" noRot="1" noChangeAspect="1" noTextEdit="1"/>
          </p:cNvSpPr>
          <p:nvPr>
            <p:ph type="sldImg"/>
          </p:nvPr>
        </p:nvSpPr>
        <p:spPr>
          <a:xfrm>
            <a:off x="138113" y="766763"/>
            <a:ext cx="6821487" cy="3838575"/>
          </a:xfrm>
        </p:spPr>
      </p:sp>
      <p:sp>
        <p:nvSpPr>
          <p:cNvPr id="1048738" name="备注占位符 2"/>
          <p:cNvSpPr>
            <a:spLocks noGrp="1"/>
          </p:cNvSpPr>
          <p:nvPr>
            <p:ph type="body" idx="1"/>
          </p:nvPr>
        </p:nvSpPr>
        <p:spPr>
          <a:noFill/>
        </p:spPr>
        <p:txBody>
          <a:bodyPr/>
          <a:p>
            <a:endParaRPr lang="zh-CN" altLang="en-US" b="1" dirty="0">
              <a:solidFill>
                <a:schemeClr val="tx2"/>
              </a:solidFill>
            </a:endParaRPr>
          </a:p>
        </p:txBody>
      </p:sp>
      <p:sp>
        <p:nvSpPr>
          <p:cNvPr id="1048739"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83" name=""/>
        <p:cNvGrpSpPr/>
        <p:nvPr/>
      </p:nvGrpSpPr>
      <p:grpSpPr>
        <a:xfrm>
          <a:off x="0" y="0"/>
          <a:ext cx="0" cy="0"/>
          <a:chOff x="0" y="0"/>
          <a:chExt cx="0" cy="0"/>
        </a:xfrm>
      </p:grpSpPr>
      <p:sp>
        <p:nvSpPr>
          <p:cNvPr id="1048897" name="幻灯片图像占位符 1"/>
          <p:cNvSpPr>
            <a:spLocks noGrp="1" noRot="1" noChangeAspect="1" noTextEdit="1"/>
          </p:cNvSpPr>
          <p:nvPr>
            <p:ph type="sldImg"/>
          </p:nvPr>
        </p:nvSpPr>
        <p:spPr>
          <a:xfrm>
            <a:off x="138113" y="766763"/>
            <a:ext cx="6821487" cy="3838575"/>
          </a:xfrm>
        </p:spPr>
      </p:sp>
      <p:sp>
        <p:nvSpPr>
          <p:cNvPr id="1048898" name="备注占位符 2"/>
          <p:cNvSpPr>
            <a:spLocks noGrp="1"/>
          </p:cNvSpPr>
          <p:nvPr>
            <p:ph type="body" idx="1"/>
          </p:nvPr>
        </p:nvSpPr>
        <p:spPr>
          <a:noFill/>
        </p:spPr>
        <p:txBody>
          <a:bodyPr/>
          <a:p>
            <a:endParaRPr lang="zh-CN" altLang="en-US" b="1" dirty="0">
              <a:solidFill>
                <a:schemeClr val="tx2"/>
              </a:solidFill>
            </a:endParaRPr>
          </a:p>
        </p:txBody>
      </p:sp>
      <p:sp>
        <p:nvSpPr>
          <p:cNvPr id="1048899"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31" name=""/>
        <p:cNvGrpSpPr/>
        <p:nvPr/>
      </p:nvGrpSpPr>
      <p:grpSpPr>
        <a:xfrm>
          <a:off x="0" y="0"/>
          <a:ext cx="0" cy="0"/>
          <a:chOff x="0" y="0"/>
          <a:chExt cx="0" cy="0"/>
        </a:xfrm>
      </p:grpSpPr>
      <p:sp>
        <p:nvSpPr>
          <p:cNvPr id="1048744" name="幻灯片图像占位符 1"/>
          <p:cNvSpPr>
            <a:spLocks noGrp="1" noRot="1" noChangeAspect="1" noTextEdit="1"/>
          </p:cNvSpPr>
          <p:nvPr>
            <p:ph type="sldImg"/>
          </p:nvPr>
        </p:nvSpPr>
        <p:spPr>
          <a:xfrm>
            <a:off x="138113" y="766763"/>
            <a:ext cx="6821487" cy="3838575"/>
          </a:xfrm>
        </p:spPr>
      </p:sp>
      <p:sp>
        <p:nvSpPr>
          <p:cNvPr id="1048745" name="备注占位符 2"/>
          <p:cNvSpPr>
            <a:spLocks noGrp="1"/>
          </p:cNvSpPr>
          <p:nvPr>
            <p:ph type="body" idx="1"/>
          </p:nvPr>
        </p:nvSpPr>
        <p:spPr>
          <a:noFill/>
        </p:spPr>
        <p:txBody>
          <a:bodyPr/>
          <a:p>
            <a:endParaRPr lang="zh-CN" altLang="en-US" b="1" dirty="0">
              <a:solidFill>
                <a:schemeClr val="tx2"/>
              </a:solidFill>
            </a:endParaRPr>
          </a:p>
        </p:txBody>
      </p:sp>
      <p:sp>
        <p:nvSpPr>
          <p:cNvPr id="1048746"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34" name=""/>
        <p:cNvGrpSpPr/>
        <p:nvPr/>
      </p:nvGrpSpPr>
      <p:grpSpPr>
        <a:xfrm>
          <a:off x="0" y="0"/>
          <a:ext cx="0" cy="0"/>
          <a:chOff x="0" y="0"/>
          <a:chExt cx="0" cy="0"/>
        </a:xfrm>
      </p:grpSpPr>
      <p:sp>
        <p:nvSpPr>
          <p:cNvPr id="1048750" name="幻灯片图像占位符 1"/>
          <p:cNvSpPr>
            <a:spLocks noGrp="1" noRot="1" noChangeAspect="1" noTextEdit="1"/>
          </p:cNvSpPr>
          <p:nvPr>
            <p:ph type="sldImg"/>
          </p:nvPr>
        </p:nvSpPr>
        <p:spPr>
          <a:xfrm>
            <a:off x="138113" y="766763"/>
            <a:ext cx="6821487" cy="3838575"/>
          </a:xfrm>
        </p:spPr>
      </p:sp>
      <p:sp>
        <p:nvSpPr>
          <p:cNvPr id="1048751" name="备注占位符 2"/>
          <p:cNvSpPr>
            <a:spLocks noGrp="1"/>
          </p:cNvSpPr>
          <p:nvPr>
            <p:ph type="body" idx="1"/>
          </p:nvPr>
        </p:nvSpPr>
        <p:spPr>
          <a:noFill/>
        </p:spPr>
        <p:txBody>
          <a:bodyPr/>
          <a:p>
            <a:endParaRPr lang="zh-CN" altLang="en-US" b="1" dirty="0">
              <a:solidFill>
                <a:schemeClr val="tx2"/>
              </a:solidFill>
            </a:endParaRPr>
          </a:p>
        </p:txBody>
      </p:sp>
      <p:sp>
        <p:nvSpPr>
          <p:cNvPr id="1048752"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37" name=""/>
        <p:cNvGrpSpPr/>
        <p:nvPr/>
      </p:nvGrpSpPr>
      <p:grpSpPr>
        <a:xfrm>
          <a:off x="0" y="0"/>
          <a:ext cx="0" cy="0"/>
          <a:chOff x="0" y="0"/>
          <a:chExt cx="0" cy="0"/>
        </a:xfrm>
      </p:grpSpPr>
      <p:sp>
        <p:nvSpPr>
          <p:cNvPr id="1048756" name="幻灯片图像占位符 1"/>
          <p:cNvSpPr>
            <a:spLocks noGrp="1" noRot="1" noChangeAspect="1" noTextEdit="1"/>
          </p:cNvSpPr>
          <p:nvPr>
            <p:ph type="sldImg"/>
          </p:nvPr>
        </p:nvSpPr>
        <p:spPr>
          <a:xfrm>
            <a:off x="138113" y="766763"/>
            <a:ext cx="6821487" cy="3838575"/>
          </a:xfrm>
        </p:spPr>
      </p:sp>
      <p:sp>
        <p:nvSpPr>
          <p:cNvPr id="1048757" name="备注占位符 2"/>
          <p:cNvSpPr>
            <a:spLocks noGrp="1"/>
          </p:cNvSpPr>
          <p:nvPr>
            <p:ph type="body" idx="1"/>
          </p:nvPr>
        </p:nvSpPr>
        <p:spPr>
          <a:noFill/>
        </p:spPr>
        <p:txBody>
          <a:bodyPr/>
          <a:p>
            <a:endParaRPr lang="zh-CN" altLang="en-US" b="1" dirty="0">
              <a:solidFill>
                <a:schemeClr val="tx2"/>
              </a:solidFill>
            </a:endParaRPr>
          </a:p>
        </p:txBody>
      </p:sp>
      <p:sp>
        <p:nvSpPr>
          <p:cNvPr id="1048758"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40" name=""/>
        <p:cNvGrpSpPr/>
        <p:nvPr/>
      </p:nvGrpSpPr>
      <p:grpSpPr>
        <a:xfrm>
          <a:off x="0" y="0"/>
          <a:ext cx="0" cy="0"/>
          <a:chOff x="0" y="0"/>
          <a:chExt cx="0" cy="0"/>
        </a:xfrm>
      </p:grpSpPr>
      <p:sp>
        <p:nvSpPr>
          <p:cNvPr id="1048764" name="幻灯片图像占位符 1"/>
          <p:cNvSpPr>
            <a:spLocks noGrp="1" noRot="1" noChangeAspect="1" noTextEdit="1"/>
          </p:cNvSpPr>
          <p:nvPr>
            <p:ph type="sldImg"/>
          </p:nvPr>
        </p:nvSpPr>
        <p:spPr>
          <a:xfrm>
            <a:off x="138113" y="766763"/>
            <a:ext cx="6821487" cy="3838575"/>
          </a:xfrm>
        </p:spPr>
      </p:sp>
      <p:sp>
        <p:nvSpPr>
          <p:cNvPr id="1048765" name="备注占位符 2"/>
          <p:cNvSpPr>
            <a:spLocks noGrp="1"/>
          </p:cNvSpPr>
          <p:nvPr>
            <p:ph type="body" idx="1"/>
          </p:nvPr>
        </p:nvSpPr>
        <p:spPr>
          <a:noFill/>
        </p:spPr>
        <p:txBody>
          <a:bodyPr/>
          <a:p>
            <a:endParaRPr lang="zh-CN" altLang="en-US" b="1" dirty="0">
              <a:solidFill>
                <a:schemeClr val="tx2"/>
              </a:solidFill>
            </a:endParaRPr>
          </a:p>
        </p:txBody>
      </p:sp>
      <p:sp>
        <p:nvSpPr>
          <p:cNvPr id="1048766" name="灯片编号占位符 3"/>
          <p:cNvSpPr txBox="1">
            <a:spLocks noGrp="1"/>
          </p:cNvSpPr>
          <p:nvPr/>
        </p:nvSpPr>
        <p:spPr bwMode="auto">
          <a:xfrm>
            <a:off x="4022937" y="9722882"/>
            <a:ext cx="3076363" cy="511731"/>
          </a:xfrm>
          <a:prstGeom prst="rect">
            <a:avLst/>
          </a:prstGeom>
          <a:noFill/>
          <a:ln w="9525">
            <a:noFill/>
            <a:miter lim="800000"/>
          </a:ln>
        </p:spPr>
        <p:txBody>
          <a:bodyPr lIns="99048" tIns="49524" rIns="99048" bIns="49524" anchor="b"/>
          <a:p>
            <a:pPr algn="r"/>
            <a:fld id="{832A61E9-A767-4ED6-A42F-DF9F225EC9C5}" type="slidenum">
              <a:rPr kumimoji="1" lang="zh-CN" altLang="en-US" sz="1300" smtClean="0">
                <a:solidFill>
                  <a:prstClr val="black"/>
                </a:solidFill>
                <a:latin typeface="Times New Roman" panose="02020603050405020304" pitchFamily="18" charset="0"/>
                <a:ea typeface="宋体" panose="02010600030101010101" pitchFamily="2" charset="-122"/>
              </a:rPr>
            </a:fld>
            <a:endParaRPr kumimoji="1" lang="en-US" altLang="zh-CN" sz="1300" dirty="0">
              <a:solidFill>
                <a:prstClr val="black"/>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a:xfrm>
          <a:off x="0" y="0"/>
          <a:ext cx="0" cy="0"/>
          <a:chOff x="0" y="0"/>
          <a:chExt cx="0" cy="0"/>
        </a:xfrm>
      </p:grpSpPr>
      <p:sp>
        <p:nvSpPr>
          <p:cNvPr id="1048770" name="幻灯片图像占位符 1"/>
          <p:cNvSpPr>
            <a:spLocks noGrp="1" noRot="1" noChangeAspect="1"/>
          </p:cNvSpPr>
          <p:nvPr>
            <p:ph type="sldImg"/>
          </p:nvPr>
        </p:nvSpPr>
        <p:spPr>
          <a:xfrm>
            <a:off x="138113" y="766763"/>
            <a:ext cx="6821487" cy="3838575"/>
          </a:xfrm>
        </p:spPr>
      </p:sp>
      <p:sp>
        <p:nvSpPr>
          <p:cNvPr id="1048771" name="备注占位符 2"/>
          <p:cNvSpPr>
            <a:spLocks noGrp="1"/>
          </p:cNvSpPr>
          <p:nvPr>
            <p:ph type="body" idx="1"/>
          </p:nvPr>
        </p:nvSpPr>
        <p:spPr/>
        <p:txBody>
          <a:bodyPr>
            <a:normAutofit/>
          </a:bodyPr>
          <a:p>
            <a:r>
              <a:rPr lang="zh-CN" altLang="en-US" dirty="0"/>
              <a:t>汇报</a:t>
            </a:r>
            <a:r>
              <a:rPr lang="en-US" altLang="zh-CN" dirty="0"/>
              <a:t>15</a:t>
            </a:r>
            <a:r>
              <a:rPr lang="zh-CN" altLang="en-US" dirty="0"/>
              <a:t>分钟，提问</a:t>
            </a:r>
            <a:r>
              <a:rPr lang="en-US" altLang="zh-CN" dirty="0"/>
              <a:t>10</a:t>
            </a:r>
            <a:r>
              <a:rPr lang="zh-CN" altLang="en-US" dirty="0"/>
              <a:t>分钟</a:t>
            </a:r>
            <a:endParaRPr lang="zh-CN" altLang="en-US" dirty="0"/>
          </a:p>
        </p:txBody>
      </p:sp>
      <p:sp>
        <p:nvSpPr>
          <p:cNvPr id="1048772" name="灯片编号占位符 3"/>
          <p:cNvSpPr>
            <a:spLocks noGrp="1"/>
          </p:cNvSpPr>
          <p:nvPr>
            <p:ph type="sldNum" sz="quarter" idx="10"/>
          </p:nvPr>
        </p:nvSpPr>
        <p:spPr/>
        <p:txBody>
          <a:bodyPr/>
          <a:p>
            <a:fld id="{D2479628-7038-46C5-BFDB-B4D01F73F67E}" type="slidenum">
              <a:rPr lang="ja-JP" altLang="en-US" smtClean="0"/>
            </a:fld>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54" name=""/>
        <p:cNvGrpSpPr/>
        <p:nvPr/>
      </p:nvGrpSpPr>
      <p:grpSpPr>
        <a:xfrm>
          <a:off x="0" y="0"/>
          <a:ext cx="0" cy="0"/>
          <a:chOff x="0" y="0"/>
          <a:chExt cx="0" cy="0"/>
        </a:xfrm>
      </p:grpSpPr>
      <p:sp>
        <p:nvSpPr>
          <p:cNvPr id="1048828"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1048829"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48830"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31" name="页脚占位符 4"/>
          <p:cNvSpPr>
            <a:spLocks noGrp="1"/>
          </p:cNvSpPr>
          <p:nvPr>
            <p:ph type="ftr" sz="quarter" idx="11"/>
          </p:nvPr>
        </p:nvSpPr>
        <p:spPr/>
        <p:txBody>
          <a:bodyPr/>
          <a:p>
            <a:endParaRPr lang="zh-CN" altLang="en-US"/>
          </a:p>
        </p:txBody>
      </p:sp>
      <p:sp>
        <p:nvSpPr>
          <p:cNvPr id="1048832"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57" name=""/>
        <p:cNvGrpSpPr/>
        <p:nvPr/>
      </p:nvGrpSpPr>
      <p:grpSpPr>
        <a:xfrm>
          <a:off x="0" y="0"/>
          <a:ext cx="0" cy="0"/>
          <a:chOff x="0" y="0"/>
          <a:chExt cx="0" cy="0"/>
        </a:xfrm>
      </p:grpSpPr>
      <p:sp>
        <p:nvSpPr>
          <p:cNvPr id="1048842" name="标题 1"/>
          <p:cNvSpPr>
            <a:spLocks noGrp="1"/>
          </p:cNvSpPr>
          <p:nvPr>
            <p:ph type="title"/>
          </p:nvPr>
        </p:nvSpPr>
        <p:spPr/>
        <p:txBody>
          <a:bodyPr/>
          <a:p>
            <a:r>
              <a:rPr lang="zh-CN" altLang="en-US"/>
              <a:t>单击此处编辑母版标题样式</a:t>
            </a:r>
            <a:endParaRPr lang="zh-CN" altLang="en-US"/>
          </a:p>
        </p:txBody>
      </p:sp>
      <p:sp>
        <p:nvSpPr>
          <p:cNvPr id="1048843" name="内容占位符 2"/>
          <p:cNvSpPr>
            <a:spLocks noGrp="1"/>
          </p:cNvSpPr>
          <p:nvPr>
            <p:ph idx="1"/>
          </p:nvPr>
        </p:nvSpPr>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44"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45" name="页脚占位符 4"/>
          <p:cNvSpPr>
            <a:spLocks noGrp="1"/>
          </p:cNvSpPr>
          <p:nvPr>
            <p:ph type="ftr" sz="quarter" idx="11"/>
          </p:nvPr>
        </p:nvSpPr>
        <p:spPr/>
        <p:txBody>
          <a:bodyPr/>
          <a:p>
            <a:endParaRPr lang="zh-CN" altLang="en-US"/>
          </a:p>
        </p:txBody>
      </p:sp>
      <p:sp>
        <p:nvSpPr>
          <p:cNvPr id="1048846"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0" name=""/>
        <p:cNvGrpSpPr/>
        <p:nvPr/>
      </p:nvGrpSpPr>
      <p:grpSpPr>
        <a:xfrm>
          <a:off x="0" y="0"/>
          <a:ext cx="0" cy="0"/>
          <a:chOff x="0" y="0"/>
          <a:chExt cx="0" cy="0"/>
        </a:xfrm>
      </p:grpSpPr>
      <p:sp>
        <p:nvSpPr>
          <p:cNvPr id="1048858"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1048859"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48860"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61" name="页脚占位符 4"/>
          <p:cNvSpPr>
            <a:spLocks noGrp="1"/>
          </p:cNvSpPr>
          <p:nvPr>
            <p:ph type="ftr" sz="quarter" idx="11"/>
          </p:nvPr>
        </p:nvSpPr>
        <p:spPr/>
        <p:txBody>
          <a:bodyPr/>
          <a:p>
            <a:endParaRPr lang="zh-CN" altLang="en-US"/>
          </a:p>
        </p:txBody>
      </p:sp>
      <p:sp>
        <p:nvSpPr>
          <p:cNvPr id="1048862"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1" name=""/>
        <p:cNvGrpSpPr/>
        <p:nvPr/>
      </p:nvGrpSpPr>
      <p:grpSpPr>
        <a:xfrm>
          <a:off x="0" y="0"/>
          <a:ext cx="0" cy="0"/>
          <a:chOff x="0" y="0"/>
          <a:chExt cx="0" cy="0"/>
        </a:xfrm>
      </p:grpSpPr>
      <p:sp>
        <p:nvSpPr>
          <p:cNvPr id="1048863" name="标题 1"/>
          <p:cNvSpPr>
            <a:spLocks noGrp="1"/>
          </p:cNvSpPr>
          <p:nvPr>
            <p:ph type="title"/>
          </p:nvPr>
        </p:nvSpPr>
        <p:spPr/>
        <p:txBody>
          <a:bodyPr/>
          <a:p>
            <a:r>
              <a:rPr lang="zh-CN" altLang="en-US"/>
              <a:t>单击此处编辑母版标题样式</a:t>
            </a:r>
            <a:endParaRPr lang="zh-CN" altLang="en-US"/>
          </a:p>
        </p:txBody>
      </p:sp>
      <p:sp>
        <p:nvSpPr>
          <p:cNvPr id="1048864" name="内容占位符 2"/>
          <p:cNvSpPr>
            <a:spLocks noGrp="1"/>
          </p:cNvSpPr>
          <p:nvPr>
            <p:ph sz="half" idx="1"/>
          </p:nvPr>
        </p:nvSpPr>
        <p:spPr>
          <a:xfrm>
            <a:off x="838200" y="1825625"/>
            <a:ext cx="5181600" cy="435133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65" name="内容占位符 3"/>
          <p:cNvSpPr>
            <a:spLocks noGrp="1"/>
          </p:cNvSpPr>
          <p:nvPr>
            <p:ph sz="half" idx="2"/>
          </p:nvPr>
        </p:nvSpPr>
        <p:spPr>
          <a:xfrm>
            <a:off x="6172200" y="1825625"/>
            <a:ext cx="5181600" cy="435133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66" name="日期占位符 4"/>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67" name="页脚占位符 5"/>
          <p:cNvSpPr>
            <a:spLocks noGrp="1"/>
          </p:cNvSpPr>
          <p:nvPr>
            <p:ph type="ftr" sz="quarter" idx="11"/>
          </p:nvPr>
        </p:nvSpPr>
        <p:spPr/>
        <p:txBody>
          <a:bodyPr/>
          <a:p>
            <a:endParaRPr lang="zh-CN" altLang="en-US"/>
          </a:p>
        </p:txBody>
      </p:sp>
      <p:sp>
        <p:nvSpPr>
          <p:cNvPr id="1048868" name="灯片编号占位符 6"/>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2" name=""/>
        <p:cNvGrpSpPr/>
        <p:nvPr/>
      </p:nvGrpSpPr>
      <p:grpSpPr>
        <a:xfrm>
          <a:off x="0" y="0"/>
          <a:ext cx="0" cy="0"/>
          <a:chOff x="0" y="0"/>
          <a:chExt cx="0" cy="0"/>
        </a:xfrm>
      </p:grpSpPr>
      <p:sp>
        <p:nvSpPr>
          <p:cNvPr id="1048869" name="标题 1"/>
          <p:cNvSpPr>
            <a:spLocks noGrp="1"/>
          </p:cNvSpPr>
          <p:nvPr>
            <p:ph type="title"/>
          </p:nvPr>
        </p:nvSpPr>
        <p:spPr>
          <a:xfrm>
            <a:off x="839788" y="365125"/>
            <a:ext cx="10515600" cy="1325563"/>
          </a:xfrm>
        </p:spPr>
        <p:txBody>
          <a:bodyPr/>
          <a:p>
            <a:r>
              <a:rPr lang="zh-CN" altLang="en-US"/>
              <a:t>单击此处编辑母版标题样式</a:t>
            </a:r>
            <a:endParaRPr lang="zh-CN" altLang="en-US"/>
          </a:p>
        </p:txBody>
      </p:sp>
      <p:sp>
        <p:nvSpPr>
          <p:cNvPr id="1048870"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48871" name="内容占位符 3"/>
          <p:cNvSpPr>
            <a:spLocks noGrp="1"/>
          </p:cNvSpPr>
          <p:nvPr>
            <p:ph sz="half" idx="2"/>
          </p:nvPr>
        </p:nvSpPr>
        <p:spPr>
          <a:xfrm>
            <a:off x="839788" y="2505075"/>
            <a:ext cx="5157787" cy="368458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72"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48873" name="内容占位符 5"/>
          <p:cNvSpPr>
            <a:spLocks noGrp="1"/>
          </p:cNvSpPr>
          <p:nvPr>
            <p:ph sz="quarter" idx="4"/>
          </p:nvPr>
        </p:nvSpPr>
        <p:spPr>
          <a:xfrm>
            <a:off x="6172200" y="2505075"/>
            <a:ext cx="5183188" cy="368458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74" name="日期占位符 6"/>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75" name="页脚占位符 7"/>
          <p:cNvSpPr>
            <a:spLocks noGrp="1"/>
          </p:cNvSpPr>
          <p:nvPr>
            <p:ph type="ftr" sz="quarter" idx="11"/>
          </p:nvPr>
        </p:nvSpPr>
        <p:spPr/>
        <p:txBody>
          <a:bodyPr/>
          <a:p>
            <a:endParaRPr lang="zh-CN" altLang="en-US"/>
          </a:p>
        </p:txBody>
      </p:sp>
      <p:sp>
        <p:nvSpPr>
          <p:cNvPr id="1048876" name="灯片编号占位符 8"/>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55" name=""/>
        <p:cNvGrpSpPr/>
        <p:nvPr/>
      </p:nvGrpSpPr>
      <p:grpSpPr>
        <a:xfrm>
          <a:off x="0" y="0"/>
          <a:ext cx="0" cy="0"/>
          <a:chOff x="0" y="0"/>
          <a:chExt cx="0" cy="0"/>
        </a:xfrm>
      </p:grpSpPr>
      <p:sp>
        <p:nvSpPr>
          <p:cNvPr id="1048833" name="标题 1"/>
          <p:cNvSpPr>
            <a:spLocks noGrp="1"/>
          </p:cNvSpPr>
          <p:nvPr>
            <p:ph type="title"/>
          </p:nvPr>
        </p:nvSpPr>
        <p:spPr/>
        <p:txBody>
          <a:bodyPr/>
          <a:p>
            <a:r>
              <a:rPr lang="zh-CN" altLang="en-US"/>
              <a:t>单击此处编辑母版标题样式</a:t>
            </a:r>
            <a:endParaRPr lang="zh-CN" altLang="en-US"/>
          </a:p>
        </p:txBody>
      </p:sp>
      <p:sp>
        <p:nvSpPr>
          <p:cNvPr id="1048834" name="日期占位符 2"/>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35" name="页脚占位符 3"/>
          <p:cNvSpPr>
            <a:spLocks noGrp="1"/>
          </p:cNvSpPr>
          <p:nvPr>
            <p:ph type="ftr" sz="quarter" idx="11"/>
          </p:nvPr>
        </p:nvSpPr>
        <p:spPr/>
        <p:txBody>
          <a:bodyPr/>
          <a:p>
            <a:endParaRPr lang="zh-CN" altLang="en-US"/>
          </a:p>
        </p:txBody>
      </p:sp>
      <p:sp>
        <p:nvSpPr>
          <p:cNvPr id="1048836" name="灯片编号占位符 4"/>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26" name=""/>
        <p:cNvGrpSpPr/>
        <p:nvPr/>
      </p:nvGrpSpPr>
      <p:grpSpPr>
        <a:xfrm>
          <a:off x="0" y="0"/>
          <a:ext cx="0" cy="0"/>
          <a:chOff x="0" y="0"/>
          <a:chExt cx="0" cy="0"/>
        </a:xfrm>
      </p:grpSpPr>
      <p:sp>
        <p:nvSpPr>
          <p:cNvPr id="1048581" name="日期占位符 1"/>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582" name="页脚占位符 2"/>
          <p:cNvSpPr>
            <a:spLocks noGrp="1"/>
          </p:cNvSpPr>
          <p:nvPr>
            <p:ph type="ftr" sz="quarter" idx="11"/>
          </p:nvPr>
        </p:nvSpPr>
        <p:spPr/>
        <p:txBody>
          <a:bodyPr/>
          <a:p>
            <a:endParaRPr lang="zh-CN" altLang="en-US"/>
          </a:p>
        </p:txBody>
      </p:sp>
      <p:sp>
        <p:nvSpPr>
          <p:cNvPr id="1048583" name="灯片编号占位符 3"/>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3" name=""/>
        <p:cNvGrpSpPr/>
        <p:nvPr/>
      </p:nvGrpSpPr>
      <p:grpSpPr>
        <a:xfrm>
          <a:off x="0" y="0"/>
          <a:ext cx="0" cy="0"/>
          <a:chOff x="0" y="0"/>
          <a:chExt cx="0" cy="0"/>
        </a:xfrm>
      </p:grpSpPr>
      <p:sp>
        <p:nvSpPr>
          <p:cNvPr id="1048877"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8878"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79"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48880" name="日期占位符 4"/>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81" name="页脚占位符 5"/>
          <p:cNvSpPr>
            <a:spLocks noGrp="1"/>
          </p:cNvSpPr>
          <p:nvPr>
            <p:ph type="ftr" sz="quarter" idx="11"/>
          </p:nvPr>
        </p:nvSpPr>
        <p:spPr/>
        <p:txBody>
          <a:bodyPr/>
          <a:p>
            <a:endParaRPr lang="zh-CN" altLang="en-US"/>
          </a:p>
        </p:txBody>
      </p:sp>
      <p:sp>
        <p:nvSpPr>
          <p:cNvPr id="1048882" name="灯片编号占位符 6"/>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58" name=""/>
        <p:cNvGrpSpPr/>
        <p:nvPr/>
      </p:nvGrpSpPr>
      <p:grpSpPr>
        <a:xfrm>
          <a:off x="0" y="0"/>
          <a:ext cx="0" cy="0"/>
          <a:chOff x="0" y="0"/>
          <a:chExt cx="0" cy="0"/>
        </a:xfrm>
      </p:grpSpPr>
      <p:sp>
        <p:nvSpPr>
          <p:cNvPr id="1048847"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8848"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849"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48850" name="日期占位符 4"/>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51" name="页脚占位符 5"/>
          <p:cNvSpPr>
            <a:spLocks noGrp="1"/>
          </p:cNvSpPr>
          <p:nvPr>
            <p:ph type="ftr" sz="quarter" idx="11"/>
          </p:nvPr>
        </p:nvSpPr>
        <p:spPr/>
        <p:txBody>
          <a:bodyPr/>
          <a:p>
            <a:endParaRPr lang="zh-CN" altLang="en-US"/>
          </a:p>
        </p:txBody>
      </p:sp>
      <p:sp>
        <p:nvSpPr>
          <p:cNvPr id="1048852" name="灯片编号占位符 6"/>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59" name=""/>
        <p:cNvGrpSpPr/>
        <p:nvPr/>
      </p:nvGrpSpPr>
      <p:grpSpPr>
        <a:xfrm>
          <a:off x="0" y="0"/>
          <a:ext cx="0" cy="0"/>
          <a:chOff x="0" y="0"/>
          <a:chExt cx="0" cy="0"/>
        </a:xfrm>
      </p:grpSpPr>
      <p:sp>
        <p:nvSpPr>
          <p:cNvPr id="1048853" name="标题 1"/>
          <p:cNvSpPr>
            <a:spLocks noGrp="1"/>
          </p:cNvSpPr>
          <p:nvPr>
            <p:ph type="title"/>
          </p:nvPr>
        </p:nvSpPr>
        <p:spPr/>
        <p:txBody>
          <a:bodyPr/>
          <a:p>
            <a:r>
              <a:rPr lang="zh-CN" altLang="en-US"/>
              <a:t>单击此处编辑母版标题样式</a:t>
            </a:r>
            <a:endParaRPr lang="zh-CN" altLang="en-US"/>
          </a:p>
        </p:txBody>
      </p:sp>
      <p:sp>
        <p:nvSpPr>
          <p:cNvPr id="1048854" name="竖排文字占位符 2"/>
          <p:cNvSpPr>
            <a:spLocks noGrp="1"/>
          </p:cNvSpPr>
          <p:nvPr>
            <p:ph type="body" orient="vert" idx="1"/>
          </p:nvPr>
        </p:nvSpPr>
        <p:spPr/>
        <p:txBody>
          <a:bodyPr vert="eaVert"/>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55"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56" name="页脚占位符 4"/>
          <p:cNvSpPr>
            <a:spLocks noGrp="1"/>
          </p:cNvSpPr>
          <p:nvPr>
            <p:ph type="ftr" sz="quarter" idx="11"/>
          </p:nvPr>
        </p:nvSpPr>
        <p:spPr/>
        <p:txBody>
          <a:bodyPr/>
          <a:p>
            <a:endParaRPr lang="zh-CN" altLang="en-US"/>
          </a:p>
        </p:txBody>
      </p:sp>
      <p:sp>
        <p:nvSpPr>
          <p:cNvPr id="1048857"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56" name=""/>
        <p:cNvGrpSpPr/>
        <p:nvPr/>
      </p:nvGrpSpPr>
      <p:grpSpPr>
        <a:xfrm>
          <a:off x="0" y="0"/>
          <a:ext cx="0" cy="0"/>
          <a:chOff x="0" y="0"/>
          <a:chExt cx="0" cy="0"/>
        </a:xfrm>
      </p:grpSpPr>
      <p:sp>
        <p:nvSpPr>
          <p:cNvPr id="1048837" name="竖排标题 1"/>
          <p:cNvSpPr>
            <a:spLocks noGrp="1"/>
          </p:cNvSpPr>
          <p:nvPr>
            <p:ph type="title" orient="vert"/>
          </p:nvPr>
        </p:nvSpPr>
        <p:spPr>
          <a:xfrm>
            <a:off x="8724900" y="365125"/>
            <a:ext cx="2628900" cy="5811838"/>
          </a:xfrm>
        </p:spPr>
        <p:txBody>
          <a:bodyPr vert="eaVert"/>
          <a:p>
            <a:r>
              <a:rPr lang="zh-CN" altLang="en-US"/>
              <a:t>单击此处编辑母版标题样式</a:t>
            </a:r>
            <a:endParaRPr lang="zh-CN" altLang="en-US"/>
          </a:p>
        </p:txBody>
      </p:sp>
      <p:sp>
        <p:nvSpPr>
          <p:cNvPr id="1048838" name="竖排文字占位符 2"/>
          <p:cNvSpPr>
            <a:spLocks noGrp="1"/>
          </p:cNvSpPr>
          <p:nvPr>
            <p:ph type="body" orient="vert" idx="1"/>
          </p:nvPr>
        </p:nvSpPr>
        <p:spPr>
          <a:xfrm>
            <a:off x="838200" y="365125"/>
            <a:ext cx="7734300" cy="5811838"/>
          </a:xfrm>
        </p:spPr>
        <p:txBody>
          <a:bodyPr vert="eaVert"/>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39"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40" name="页脚占位符 4"/>
          <p:cNvSpPr>
            <a:spLocks noGrp="1"/>
          </p:cNvSpPr>
          <p:nvPr>
            <p:ph type="ftr" sz="quarter" idx="11"/>
          </p:nvPr>
        </p:nvSpPr>
        <p:spPr/>
        <p:txBody>
          <a:bodyPr/>
          <a:p>
            <a:endParaRPr lang="zh-CN" altLang="en-US"/>
          </a:p>
        </p:txBody>
      </p:sp>
      <p:sp>
        <p:nvSpPr>
          <p:cNvPr id="1048841"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solidFill>
          <a:srgbClr val="FCFCFC"/>
        </a:solidFill>
        <a:effectLst/>
      </p:bgPr>
    </p:bg>
    <p:spTree>
      <p:nvGrpSpPr>
        <p:cNvPr id="82"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45" name=""/>
        <p:cNvGrpSpPr/>
        <p:nvPr/>
      </p:nvGrpSpPr>
      <p:grpSpPr>
        <a:xfrm>
          <a:off x="0" y="0"/>
          <a:ext cx="0" cy="0"/>
          <a:chOff x="0" y="0"/>
          <a:chExt cx="0" cy="0"/>
        </a:xfrm>
      </p:grpSpPr>
      <p:sp>
        <p:nvSpPr>
          <p:cNvPr id="1048777"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1048778"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48779"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780" name="页脚占位符 4"/>
          <p:cNvSpPr>
            <a:spLocks noGrp="1"/>
          </p:cNvSpPr>
          <p:nvPr>
            <p:ph type="ftr" sz="quarter" idx="11"/>
          </p:nvPr>
        </p:nvSpPr>
        <p:spPr/>
        <p:txBody>
          <a:bodyPr/>
          <a:p>
            <a:endParaRPr lang="zh-CN" altLang="en-US"/>
          </a:p>
        </p:txBody>
      </p:sp>
      <p:sp>
        <p:nvSpPr>
          <p:cNvPr id="1048781"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51" name=""/>
        <p:cNvGrpSpPr/>
        <p:nvPr/>
      </p:nvGrpSpPr>
      <p:grpSpPr>
        <a:xfrm>
          <a:off x="0" y="0"/>
          <a:ext cx="0" cy="0"/>
          <a:chOff x="0" y="0"/>
          <a:chExt cx="0" cy="0"/>
        </a:xfrm>
      </p:grpSpPr>
      <p:sp>
        <p:nvSpPr>
          <p:cNvPr id="1048809" name="标题 1"/>
          <p:cNvSpPr>
            <a:spLocks noGrp="1"/>
          </p:cNvSpPr>
          <p:nvPr>
            <p:ph type="title"/>
          </p:nvPr>
        </p:nvSpPr>
        <p:spPr/>
        <p:txBody>
          <a:bodyPr/>
          <a:p>
            <a:r>
              <a:rPr lang="zh-CN" altLang="en-US"/>
              <a:t>单击此处编辑母版标题样式</a:t>
            </a:r>
            <a:endParaRPr lang="zh-CN" altLang="en-US"/>
          </a:p>
        </p:txBody>
      </p:sp>
      <p:sp>
        <p:nvSpPr>
          <p:cNvPr id="1048810" name="内容占位符 2"/>
          <p:cNvSpPr>
            <a:spLocks noGrp="1"/>
          </p:cNvSpPr>
          <p:nvPr>
            <p:ph idx="1"/>
          </p:nvPr>
        </p:nvSpPr>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11"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12" name="页脚占位符 4"/>
          <p:cNvSpPr>
            <a:spLocks noGrp="1"/>
          </p:cNvSpPr>
          <p:nvPr>
            <p:ph type="ftr" sz="quarter" idx="11"/>
          </p:nvPr>
        </p:nvSpPr>
        <p:spPr/>
        <p:txBody>
          <a:bodyPr/>
          <a:p>
            <a:endParaRPr lang="zh-CN" altLang="en-US"/>
          </a:p>
        </p:txBody>
      </p:sp>
      <p:sp>
        <p:nvSpPr>
          <p:cNvPr id="1048813"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50" name=""/>
        <p:cNvGrpSpPr/>
        <p:nvPr/>
      </p:nvGrpSpPr>
      <p:grpSpPr>
        <a:xfrm>
          <a:off x="0" y="0"/>
          <a:ext cx="0" cy="0"/>
          <a:chOff x="0" y="0"/>
          <a:chExt cx="0" cy="0"/>
        </a:xfrm>
      </p:grpSpPr>
      <p:sp>
        <p:nvSpPr>
          <p:cNvPr id="1048804"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1048805"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48806"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07" name="页脚占位符 4"/>
          <p:cNvSpPr>
            <a:spLocks noGrp="1"/>
          </p:cNvSpPr>
          <p:nvPr>
            <p:ph type="ftr" sz="quarter" idx="11"/>
          </p:nvPr>
        </p:nvSpPr>
        <p:spPr/>
        <p:txBody>
          <a:bodyPr/>
          <a:p>
            <a:endParaRPr lang="zh-CN" altLang="en-US"/>
          </a:p>
        </p:txBody>
      </p:sp>
      <p:sp>
        <p:nvSpPr>
          <p:cNvPr id="1048808"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53" name=""/>
        <p:cNvGrpSpPr/>
        <p:nvPr/>
      </p:nvGrpSpPr>
      <p:grpSpPr>
        <a:xfrm>
          <a:off x="0" y="0"/>
          <a:ext cx="0" cy="0"/>
          <a:chOff x="0" y="0"/>
          <a:chExt cx="0" cy="0"/>
        </a:xfrm>
      </p:grpSpPr>
      <p:sp>
        <p:nvSpPr>
          <p:cNvPr id="1048822" name="标题 1"/>
          <p:cNvSpPr>
            <a:spLocks noGrp="1"/>
          </p:cNvSpPr>
          <p:nvPr>
            <p:ph type="title"/>
          </p:nvPr>
        </p:nvSpPr>
        <p:spPr/>
        <p:txBody>
          <a:bodyPr/>
          <a:p>
            <a:r>
              <a:rPr lang="zh-CN" altLang="en-US"/>
              <a:t>单击此处编辑母版标题样式</a:t>
            </a:r>
            <a:endParaRPr lang="zh-CN" altLang="en-US"/>
          </a:p>
        </p:txBody>
      </p:sp>
      <p:sp>
        <p:nvSpPr>
          <p:cNvPr id="1048823" name="内容占位符 2"/>
          <p:cNvSpPr>
            <a:spLocks noGrp="1"/>
          </p:cNvSpPr>
          <p:nvPr>
            <p:ph sz="half" idx="1"/>
          </p:nvPr>
        </p:nvSpPr>
        <p:spPr>
          <a:xfrm>
            <a:off x="838200" y="1825625"/>
            <a:ext cx="5181600" cy="435133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24" name="内容占位符 3"/>
          <p:cNvSpPr>
            <a:spLocks noGrp="1"/>
          </p:cNvSpPr>
          <p:nvPr>
            <p:ph sz="half" idx="2"/>
          </p:nvPr>
        </p:nvSpPr>
        <p:spPr>
          <a:xfrm>
            <a:off x="6172200" y="1825625"/>
            <a:ext cx="5181600" cy="435133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25" name="日期占位符 4"/>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26" name="页脚占位符 5"/>
          <p:cNvSpPr>
            <a:spLocks noGrp="1"/>
          </p:cNvSpPr>
          <p:nvPr>
            <p:ph type="ftr" sz="quarter" idx="11"/>
          </p:nvPr>
        </p:nvSpPr>
        <p:spPr/>
        <p:txBody>
          <a:bodyPr/>
          <a:p>
            <a:endParaRPr lang="zh-CN" altLang="en-US"/>
          </a:p>
        </p:txBody>
      </p:sp>
      <p:sp>
        <p:nvSpPr>
          <p:cNvPr id="1048827" name="灯片编号占位符 6"/>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52" name=""/>
        <p:cNvGrpSpPr/>
        <p:nvPr/>
      </p:nvGrpSpPr>
      <p:grpSpPr>
        <a:xfrm>
          <a:off x="0" y="0"/>
          <a:ext cx="0" cy="0"/>
          <a:chOff x="0" y="0"/>
          <a:chExt cx="0" cy="0"/>
        </a:xfrm>
      </p:grpSpPr>
      <p:sp>
        <p:nvSpPr>
          <p:cNvPr id="1048814" name="标题 1"/>
          <p:cNvSpPr>
            <a:spLocks noGrp="1"/>
          </p:cNvSpPr>
          <p:nvPr>
            <p:ph type="title"/>
          </p:nvPr>
        </p:nvSpPr>
        <p:spPr>
          <a:xfrm>
            <a:off x="839788" y="365125"/>
            <a:ext cx="10515600" cy="1325563"/>
          </a:xfrm>
        </p:spPr>
        <p:txBody>
          <a:bodyPr/>
          <a:p>
            <a:r>
              <a:rPr lang="zh-CN" altLang="en-US"/>
              <a:t>单击此处编辑母版标题样式</a:t>
            </a:r>
            <a:endParaRPr lang="zh-CN" altLang="en-US"/>
          </a:p>
        </p:txBody>
      </p:sp>
      <p:sp>
        <p:nvSpPr>
          <p:cNvPr id="1048815"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48816" name="内容占位符 3"/>
          <p:cNvSpPr>
            <a:spLocks noGrp="1"/>
          </p:cNvSpPr>
          <p:nvPr>
            <p:ph sz="half" idx="2"/>
          </p:nvPr>
        </p:nvSpPr>
        <p:spPr>
          <a:xfrm>
            <a:off x="839788" y="2505075"/>
            <a:ext cx="5157787" cy="368458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17"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48818" name="内容占位符 5"/>
          <p:cNvSpPr>
            <a:spLocks noGrp="1"/>
          </p:cNvSpPr>
          <p:nvPr>
            <p:ph sz="quarter" idx="4"/>
          </p:nvPr>
        </p:nvSpPr>
        <p:spPr>
          <a:xfrm>
            <a:off x="6172200" y="2505075"/>
            <a:ext cx="5183188" cy="368458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19" name="日期占位符 6"/>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20" name="页脚占位符 7"/>
          <p:cNvSpPr>
            <a:spLocks noGrp="1"/>
          </p:cNvSpPr>
          <p:nvPr>
            <p:ph type="ftr" sz="quarter" idx="11"/>
          </p:nvPr>
        </p:nvSpPr>
        <p:spPr/>
        <p:txBody>
          <a:bodyPr/>
          <a:p>
            <a:endParaRPr lang="zh-CN" altLang="en-US"/>
          </a:p>
        </p:txBody>
      </p:sp>
      <p:sp>
        <p:nvSpPr>
          <p:cNvPr id="1048821" name="灯片编号占位符 8"/>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4" name=""/>
        <p:cNvGrpSpPr/>
        <p:nvPr/>
      </p:nvGrpSpPr>
      <p:grpSpPr>
        <a:xfrm>
          <a:off x="0" y="0"/>
          <a:ext cx="0" cy="0"/>
          <a:chOff x="0" y="0"/>
          <a:chExt cx="0" cy="0"/>
        </a:xfrm>
      </p:grpSpPr>
      <p:sp>
        <p:nvSpPr>
          <p:cNvPr id="1048773" name="标题 1"/>
          <p:cNvSpPr>
            <a:spLocks noGrp="1"/>
          </p:cNvSpPr>
          <p:nvPr>
            <p:ph type="title"/>
          </p:nvPr>
        </p:nvSpPr>
        <p:spPr/>
        <p:txBody>
          <a:bodyPr/>
          <a:p>
            <a:r>
              <a:rPr lang="zh-CN" altLang="en-US"/>
              <a:t>单击此处编辑母版标题样式</a:t>
            </a:r>
            <a:endParaRPr lang="zh-CN" altLang="en-US"/>
          </a:p>
        </p:txBody>
      </p:sp>
      <p:sp>
        <p:nvSpPr>
          <p:cNvPr id="1048774" name="日期占位符 2"/>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775" name="页脚占位符 3"/>
          <p:cNvSpPr>
            <a:spLocks noGrp="1"/>
          </p:cNvSpPr>
          <p:nvPr>
            <p:ph type="ftr" sz="quarter" idx="11"/>
          </p:nvPr>
        </p:nvSpPr>
        <p:spPr/>
        <p:txBody>
          <a:bodyPr/>
          <a:p>
            <a:endParaRPr lang="zh-CN" altLang="en-US"/>
          </a:p>
        </p:txBody>
      </p:sp>
      <p:sp>
        <p:nvSpPr>
          <p:cNvPr id="1048776" name="灯片编号占位符 4"/>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60" name=""/>
        <p:cNvGrpSpPr/>
        <p:nvPr/>
      </p:nvGrpSpPr>
      <p:grpSpPr>
        <a:xfrm>
          <a:off x="0" y="0"/>
          <a:ext cx="0" cy="0"/>
          <a:chOff x="0" y="0"/>
          <a:chExt cx="0" cy="0"/>
        </a:xfrm>
      </p:grpSpPr>
      <p:sp>
        <p:nvSpPr>
          <p:cNvPr id="1048596" name="日期占位符 1"/>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597" name="页脚占位符 2"/>
          <p:cNvSpPr>
            <a:spLocks noGrp="1"/>
          </p:cNvSpPr>
          <p:nvPr>
            <p:ph type="ftr" sz="quarter" idx="11"/>
          </p:nvPr>
        </p:nvSpPr>
        <p:spPr/>
        <p:txBody>
          <a:bodyPr/>
          <a:p>
            <a:endParaRPr lang="zh-CN" altLang="en-US"/>
          </a:p>
        </p:txBody>
      </p:sp>
      <p:sp>
        <p:nvSpPr>
          <p:cNvPr id="1048598" name="灯片编号占位符 3"/>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7" name=""/>
        <p:cNvGrpSpPr/>
        <p:nvPr/>
      </p:nvGrpSpPr>
      <p:grpSpPr>
        <a:xfrm>
          <a:off x="0" y="0"/>
          <a:ext cx="0" cy="0"/>
          <a:chOff x="0" y="0"/>
          <a:chExt cx="0" cy="0"/>
        </a:xfrm>
      </p:grpSpPr>
      <p:sp>
        <p:nvSpPr>
          <p:cNvPr id="1048787"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8788"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789"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48790" name="日期占位符 4"/>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791" name="页脚占位符 5"/>
          <p:cNvSpPr>
            <a:spLocks noGrp="1"/>
          </p:cNvSpPr>
          <p:nvPr>
            <p:ph type="ftr" sz="quarter" idx="11"/>
          </p:nvPr>
        </p:nvSpPr>
        <p:spPr/>
        <p:txBody>
          <a:bodyPr/>
          <a:p>
            <a:endParaRPr lang="zh-CN" altLang="en-US"/>
          </a:p>
        </p:txBody>
      </p:sp>
      <p:sp>
        <p:nvSpPr>
          <p:cNvPr id="1048792" name="灯片编号占位符 6"/>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8" name=""/>
        <p:cNvGrpSpPr/>
        <p:nvPr/>
      </p:nvGrpSpPr>
      <p:grpSpPr>
        <a:xfrm>
          <a:off x="0" y="0"/>
          <a:ext cx="0" cy="0"/>
          <a:chOff x="0" y="0"/>
          <a:chExt cx="0" cy="0"/>
        </a:xfrm>
      </p:grpSpPr>
      <p:sp>
        <p:nvSpPr>
          <p:cNvPr id="1048793"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8794"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795"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48796" name="日期占位符 4"/>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797" name="页脚占位符 5"/>
          <p:cNvSpPr>
            <a:spLocks noGrp="1"/>
          </p:cNvSpPr>
          <p:nvPr>
            <p:ph type="ftr" sz="quarter" idx="11"/>
          </p:nvPr>
        </p:nvSpPr>
        <p:spPr/>
        <p:txBody>
          <a:bodyPr/>
          <a:p>
            <a:endParaRPr lang="zh-CN" altLang="en-US"/>
          </a:p>
        </p:txBody>
      </p:sp>
      <p:sp>
        <p:nvSpPr>
          <p:cNvPr id="1048798" name="灯片编号占位符 6"/>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9" name=""/>
        <p:cNvGrpSpPr/>
        <p:nvPr/>
      </p:nvGrpSpPr>
      <p:grpSpPr>
        <a:xfrm>
          <a:off x="0" y="0"/>
          <a:ext cx="0" cy="0"/>
          <a:chOff x="0" y="0"/>
          <a:chExt cx="0" cy="0"/>
        </a:xfrm>
      </p:grpSpPr>
      <p:sp>
        <p:nvSpPr>
          <p:cNvPr id="1048799" name="标题 1"/>
          <p:cNvSpPr>
            <a:spLocks noGrp="1"/>
          </p:cNvSpPr>
          <p:nvPr>
            <p:ph type="title"/>
          </p:nvPr>
        </p:nvSpPr>
        <p:spPr/>
        <p:txBody>
          <a:bodyPr/>
          <a:p>
            <a:r>
              <a:rPr lang="zh-CN" altLang="en-US"/>
              <a:t>单击此处编辑母版标题样式</a:t>
            </a:r>
            <a:endParaRPr lang="zh-CN" altLang="en-US"/>
          </a:p>
        </p:txBody>
      </p:sp>
      <p:sp>
        <p:nvSpPr>
          <p:cNvPr id="1048800" name="竖排文字占位符 2"/>
          <p:cNvSpPr>
            <a:spLocks noGrp="1"/>
          </p:cNvSpPr>
          <p:nvPr>
            <p:ph type="body" orient="vert" idx="1"/>
          </p:nvPr>
        </p:nvSpPr>
        <p:spPr/>
        <p:txBody>
          <a:bodyPr vert="eaVert"/>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801"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802" name="页脚占位符 4"/>
          <p:cNvSpPr>
            <a:spLocks noGrp="1"/>
          </p:cNvSpPr>
          <p:nvPr>
            <p:ph type="ftr" sz="quarter" idx="11"/>
          </p:nvPr>
        </p:nvSpPr>
        <p:spPr/>
        <p:txBody>
          <a:bodyPr/>
          <a:p>
            <a:endParaRPr lang="zh-CN" altLang="en-US"/>
          </a:p>
        </p:txBody>
      </p:sp>
      <p:sp>
        <p:nvSpPr>
          <p:cNvPr id="1048803"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46" name=""/>
        <p:cNvGrpSpPr/>
        <p:nvPr/>
      </p:nvGrpSpPr>
      <p:grpSpPr>
        <a:xfrm>
          <a:off x="0" y="0"/>
          <a:ext cx="0" cy="0"/>
          <a:chOff x="0" y="0"/>
          <a:chExt cx="0" cy="0"/>
        </a:xfrm>
      </p:grpSpPr>
      <p:sp>
        <p:nvSpPr>
          <p:cNvPr id="1048782" name="竖排标题 1"/>
          <p:cNvSpPr>
            <a:spLocks noGrp="1"/>
          </p:cNvSpPr>
          <p:nvPr>
            <p:ph type="title" orient="vert"/>
          </p:nvPr>
        </p:nvSpPr>
        <p:spPr>
          <a:xfrm>
            <a:off x="8724900" y="365125"/>
            <a:ext cx="2628900" cy="5811838"/>
          </a:xfrm>
        </p:spPr>
        <p:txBody>
          <a:bodyPr vert="eaVert"/>
          <a:p>
            <a:r>
              <a:rPr lang="zh-CN" altLang="en-US"/>
              <a:t>单击此处编辑母版标题样式</a:t>
            </a:r>
            <a:endParaRPr lang="zh-CN" altLang="en-US"/>
          </a:p>
        </p:txBody>
      </p:sp>
      <p:sp>
        <p:nvSpPr>
          <p:cNvPr id="1048783" name="竖排文字占位符 2"/>
          <p:cNvSpPr>
            <a:spLocks noGrp="1"/>
          </p:cNvSpPr>
          <p:nvPr>
            <p:ph type="body" orient="vert" idx="1"/>
          </p:nvPr>
        </p:nvSpPr>
        <p:spPr>
          <a:xfrm>
            <a:off x="838200" y="365125"/>
            <a:ext cx="7734300" cy="5811838"/>
          </a:xfrm>
        </p:spPr>
        <p:txBody>
          <a:bodyPr vert="eaVert"/>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784" name="日期占位符 3"/>
          <p:cNvSpPr>
            <a:spLocks noGrp="1"/>
          </p:cNvSpPr>
          <p:nvPr>
            <p:ph type="dt" sz="half" idx="10"/>
          </p:nvPr>
        </p:nvSpPr>
        <p:spPr/>
        <p:txBody>
          <a:bodyPr/>
          <a:p>
            <a:fld id="{92116984-95FF-4105-9E1C-DCBB0D38545F}" type="datetimeFigureOut">
              <a:rPr lang="zh-CN" altLang="en-US" smtClean="0"/>
            </a:fld>
            <a:endParaRPr lang="zh-CN" altLang="en-US"/>
          </a:p>
        </p:txBody>
      </p:sp>
      <p:sp>
        <p:nvSpPr>
          <p:cNvPr id="1048785" name="页脚占位符 4"/>
          <p:cNvSpPr>
            <a:spLocks noGrp="1"/>
          </p:cNvSpPr>
          <p:nvPr>
            <p:ph type="ftr" sz="quarter" idx="11"/>
          </p:nvPr>
        </p:nvSpPr>
        <p:spPr/>
        <p:txBody>
          <a:bodyPr/>
          <a:p>
            <a:endParaRPr lang="zh-CN" altLang="en-US"/>
          </a:p>
        </p:txBody>
      </p:sp>
      <p:sp>
        <p:nvSpPr>
          <p:cNvPr id="1048786" name="灯片编号占位符 5"/>
          <p:cNvSpPr>
            <a:spLocks noGrp="1"/>
          </p:cNvSpPr>
          <p:nvPr>
            <p:ph type="sldNum" sz="quarter" idx="12"/>
          </p:nvPr>
        </p:nvSpPr>
        <p:spPr/>
        <p:txBody>
          <a:bodyPr/>
          <a:p>
            <a:fld id="{7FE69229-0799-419F-86AD-224F22BFB1E7}"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标题和内容">
    <p:bg>
      <p:bgPr>
        <a:solidFill>
          <a:srgbClr val="FCFCFC"/>
        </a:solidFill>
        <a:effectLst/>
      </p:bgPr>
    </p:bg>
    <p:spTree>
      <p:nvGrpSpPr>
        <p:cNvPr id="112"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zh-CN" altLang="en-US"/>
              <a:t>单击此处编辑母版标题样式</a:t>
            </a:r>
            <a:endParaRPr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116984-95FF-4105-9E1C-DCBB0D38545F}" type="datetimeFigureOut">
              <a:rPr lang="zh-CN" altLang="en-US" smtClean="0"/>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E69229-0799-419F-86AD-224F22BFB1E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47" name=""/>
        <p:cNvGrpSpPr/>
        <p:nvPr/>
      </p:nvGrpSpPr>
      <p:grpSpPr>
        <a:xfrm>
          <a:off x="0" y="0"/>
          <a:ext cx="0" cy="0"/>
          <a:chOff x="0" y="0"/>
          <a:chExt cx="0" cy="0"/>
        </a:xfrm>
      </p:grpSpPr>
      <p:sp>
        <p:nvSpPr>
          <p:cNvPr id="1048591"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zh-CN" altLang="en-US"/>
              <a:t>单击此处编辑母版标题样式</a:t>
            </a:r>
            <a:endParaRPr lang="zh-CN" altLang="en-US"/>
          </a:p>
        </p:txBody>
      </p:sp>
      <p:sp>
        <p:nvSpPr>
          <p:cNvPr id="1048592"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593"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116984-95FF-4105-9E1C-DCBB0D38545F}" type="datetimeFigureOut">
              <a:rPr lang="zh-CN" altLang="en-US" smtClean="0"/>
            </a:fld>
            <a:endParaRPr lang="zh-CN" altLang="en-US"/>
          </a:p>
        </p:txBody>
      </p:sp>
      <p:sp>
        <p:nvSpPr>
          <p:cNvPr id="1048594"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95"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E69229-0799-419F-86AD-224F22BFB1E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9.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9.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9.xml"/><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9.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9.xml"/><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9.xml"/><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9.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9.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9.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4.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19.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9.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9.xml"/><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9.xml"/><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9.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9.xml"/><Relationship Id="rId2" Type="http://schemas.openxmlformats.org/officeDocument/2006/relationships/image" Target="../media/image2.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19.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9.xml"/><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9.xml"/><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9.xml"/><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37" name="Title 1"/>
          <p:cNvSpPr>
            <a:spLocks noGrp="1"/>
          </p:cNvSpPr>
          <p:nvPr>
            <p:ph type="ctrTitle" idx="4294967295"/>
          </p:nvPr>
        </p:nvSpPr>
        <p:spPr>
          <a:xfrm>
            <a:off x="1703512" y="2247008"/>
            <a:ext cx="8964488" cy="1470025"/>
          </a:xfrm>
        </p:spPr>
        <p:txBody>
          <a:bodyPr>
            <a:normAutofit/>
          </a:bodyPr>
          <a:p>
            <a:pPr algn="ctr"/>
            <a:r>
              <a:rPr lang="zh-CN" altLang="en-US" sz="3600" b="1" dirty="0">
                <a:solidFill>
                  <a:schemeClr val="accent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实验</a:t>
            </a:r>
            <a:r>
              <a:rPr lang="en-US" altLang="zh-CN" sz="3600" b="1" dirty="0">
                <a:solidFill>
                  <a:schemeClr val="accent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3600" b="1" dirty="0">
                <a:solidFill>
                  <a:schemeClr val="accent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en-US" altLang="zh-CN" sz="3600" b="1" dirty="0">
              <a:solidFill>
                <a:schemeClr val="accent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81" name="Picture 9"/>
          <p:cNvPicPr>
            <a:picLocks noChangeAspect="1" noChangeArrowheads="1"/>
          </p:cNvPicPr>
          <p:nvPr/>
        </p:nvPicPr>
        <p:blipFill>
          <a:blip r:embed="rId1" cstate="print"/>
          <a:srcRect/>
          <a:stretch>
            <a:fillRect/>
          </a:stretch>
        </p:blipFill>
        <p:spPr bwMode="auto">
          <a:xfrm>
            <a:off x="1524000" y="3431664"/>
            <a:ext cx="9144000" cy="213361"/>
          </a:xfrm>
          <a:prstGeom prst="rect">
            <a:avLst/>
          </a:prstGeom>
          <a:noFill/>
          <a:ln>
            <a:noFill/>
          </a:ln>
        </p:spPr>
      </p:pic>
      <p:pic>
        <p:nvPicPr>
          <p:cNvPr id="2097182" name="图片 1"/>
          <p:cNvPicPr>
            <a:picLocks noChangeAspect="1"/>
          </p:cNvPicPr>
          <p:nvPr/>
        </p:nvPicPr>
        <p:blipFill>
          <a:blip r:embed="rId2"/>
          <a:stretch>
            <a:fillRect/>
          </a:stretch>
        </p:blipFill>
        <p:spPr>
          <a:xfrm>
            <a:off x="7641937" y="5715700"/>
            <a:ext cx="2361905" cy="800000"/>
          </a:xfrm>
          <a:prstGeom prst="rect">
            <a:avLst/>
          </a:prstGeom>
        </p:spPr>
      </p:pic>
      <p:pic>
        <p:nvPicPr>
          <p:cNvPr id="2097183" name="图片 6"/>
          <p:cNvPicPr>
            <a:picLocks noChangeAspect="1"/>
          </p:cNvPicPr>
          <p:nvPr/>
        </p:nvPicPr>
        <p:blipFill>
          <a:blip r:embed="rId3"/>
          <a:stretch>
            <a:fillRect/>
          </a:stretch>
        </p:blipFill>
        <p:spPr>
          <a:xfrm>
            <a:off x="1524000" y="7427"/>
            <a:ext cx="9144001" cy="2248671"/>
          </a:xfrm>
          <a:prstGeom prst="rect">
            <a:avLst/>
          </a:prstGeom>
        </p:spPr>
      </p:pic>
      <p:sp>
        <p:nvSpPr>
          <p:cNvPr id="1048638" name="灯片编号占位符 12"/>
          <p:cNvSpPr>
            <a:spLocks noGrp="1"/>
          </p:cNvSpPr>
          <p:nvPr>
            <p:ph type="sldNum" sz="quarter" idx="12"/>
          </p:nvPr>
        </p:nvSpPr>
        <p:spPr/>
        <p:txBody>
          <a:bodyPr/>
          <a:p>
            <a:fld id="{4C7C22DE-872A-4FED-AB0B-502B88775D0D}" type="slidenum">
              <a:rPr lang="zh-CN" altLang="en-US" smtClean="0"/>
            </a:fld>
            <a:endParaRPr lang="zh-CN" altLang="en-US"/>
          </a:p>
        </p:txBody>
      </p:sp>
      <p:sp>
        <p:nvSpPr>
          <p:cNvPr id="1048639" name="文本框 4"/>
          <p:cNvSpPr txBox="1"/>
          <p:nvPr/>
        </p:nvSpPr>
        <p:spPr>
          <a:xfrm>
            <a:off x="7762875" y="4967605"/>
            <a:ext cx="3391535" cy="829945"/>
          </a:xfrm>
          <a:prstGeom prst="rect">
            <a:avLst/>
          </a:prstGeom>
          <a:noFill/>
        </p:spPr>
        <p:txBody>
          <a:bodyPr wrap="square" rtlCol="0">
            <a:spAutoFit/>
          </a:bodyPr>
          <a:p>
            <a:r>
              <a:rPr lang="zh-CN" altLang="en-US" sz="2400" b="1" dirty="0">
                <a:solidFill>
                  <a:srgbClr val="FF0000"/>
                </a:solidFill>
              </a:rPr>
              <a:t>报告人</a:t>
            </a:r>
            <a:r>
              <a:rPr lang="zh-CN" altLang="en-US" sz="2400" b="1" dirty="0" smtClean="0">
                <a:solidFill>
                  <a:srgbClr val="FF0000"/>
                </a:solidFill>
              </a:rPr>
              <a:t>：杨韩</a:t>
            </a:r>
            <a:r>
              <a:rPr lang="zh-CN" altLang="en-US" sz="2400" b="1" dirty="0" smtClean="0">
                <a:solidFill>
                  <a:srgbClr val="FF0000"/>
                </a:solidFill>
              </a:rPr>
              <a:t>冰</a:t>
            </a:r>
            <a:endParaRPr lang="zh-CN" altLang="en-US" sz="2400" b="1" dirty="0" smtClean="0">
              <a:solidFill>
                <a:srgbClr val="FF0000"/>
              </a:solidFill>
            </a:endParaRPr>
          </a:p>
          <a:p>
            <a:r>
              <a:rPr lang="zh-CN" altLang="en-US" sz="2400" b="1" dirty="0" smtClean="0">
                <a:solidFill>
                  <a:srgbClr val="FF0000"/>
                </a:solidFill>
              </a:rPr>
              <a:t>日期：</a:t>
            </a:r>
            <a:r>
              <a:rPr lang="en-US" altLang="zh-CN" sz="2400" b="1" dirty="0" smtClean="0">
                <a:solidFill>
                  <a:srgbClr val="FF0000"/>
                </a:solidFill>
              </a:rPr>
              <a:t>2025</a:t>
            </a:r>
            <a:r>
              <a:rPr lang="zh-CN" altLang="en-US" sz="2400" b="1" dirty="0" smtClean="0">
                <a:solidFill>
                  <a:srgbClr val="FF0000"/>
                </a:solidFill>
              </a:rPr>
              <a:t>年</a:t>
            </a:r>
            <a:r>
              <a:rPr lang="en-US" altLang="zh-CN" sz="2400" b="1" dirty="0" smtClean="0">
                <a:solidFill>
                  <a:srgbClr val="FF0000"/>
                </a:solidFill>
              </a:rPr>
              <a:t>3</a:t>
            </a:r>
            <a:r>
              <a:rPr lang="zh-CN" altLang="en-US" sz="2400" b="1" dirty="0" smtClean="0">
                <a:solidFill>
                  <a:srgbClr val="FF0000"/>
                </a:solidFill>
              </a:rPr>
              <a:t>月</a:t>
            </a:r>
            <a:r>
              <a:rPr lang="en-US" altLang="zh-CN" sz="2400" b="1" dirty="0" smtClean="0">
                <a:solidFill>
                  <a:srgbClr val="FF0000"/>
                </a:solidFill>
              </a:rPr>
              <a:t>21</a:t>
            </a:r>
            <a:r>
              <a:rPr lang="zh-CN" altLang="en-US" sz="2400" b="1" dirty="0" smtClean="0">
                <a:solidFill>
                  <a:srgbClr val="FF0000"/>
                </a:solidFill>
              </a:rPr>
              <a:t>号</a:t>
            </a:r>
            <a:endParaRPr lang="zh-CN" altLang="en-US" sz="2400" b="1" dirty="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3034"/>
    </mc:Choice>
    <mc:Fallback>
      <p:transition spd="slow" advTm="230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2097183"/>
                                        </p:tgtEl>
                                        <p:attrNameLst>
                                          <p:attrName>style.visibility</p:attrName>
                                        </p:attrNameLst>
                                      </p:cBhvr>
                                      <p:to>
                                        <p:strVal val="visible"/>
                                      </p:to>
                                    </p:set>
                                    <p:animEffect transition="in" filter="wheel(1)">
                                      <p:cBhvr>
                                        <p:cTn id="7" dur="2000"/>
                                        <p:tgtEl>
                                          <p:spTgt spid="2097183"/>
                                        </p:tgtEl>
                                      </p:cBhvr>
                                    </p:animEffect>
                                  </p:childTnLst>
                                </p:cTn>
                              </p:par>
                              <p:par>
                                <p:cTn id="8" presetID="21" presetClass="entr" presetSubtype="1" fill="hold" nodeType="withEffect">
                                  <p:stCondLst>
                                    <p:cond delay="0"/>
                                  </p:stCondLst>
                                  <p:childTnLst>
                                    <p:set>
                                      <p:cBhvr>
                                        <p:cTn id="9" dur="1" fill="hold">
                                          <p:stCondLst>
                                            <p:cond delay="0"/>
                                          </p:stCondLst>
                                        </p:cTn>
                                        <p:tgtEl>
                                          <p:spTgt spid="2097182"/>
                                        </p:tgtEl>
                                        <p:attrNameLst>
                                          <p:attrName>style.visibility</p:attrName>
                                        </p:attrNameLst>
                                      </p:cBhvr>
                                      <p:to>
                                        <p:strVal val="visible"/>
                                      </p:to>
                                    </p:set>
                                    <p:animEffect transition="in" filter="wheel(1)">
                                      <p:cBhvr>
                                        <p:cTn id="10" dur="2000"/>
                                        <p:tgtEl>
                                          <p:spTgt spid="2097182"/>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048637"/>
                                        </p:tgtEl>
                                        <p:attrNameLst>
                                          <p:attrName>style.visibility</p:attrName>
                                        </p:attrNameLst>
                                      </p:cBhvr>
                                      <p:to>
                                        <p:strVal val="visible"/>
                                      </p:to>
                                    </p:set>
                                    <p:animEffect transition="in" filter="wheel(1)">
                                      <p:cBhvr>
                                        <p:cTn id="13" dur="2000"/>
                                        <p:tgtEl>
                                          <p:spTgt spid="1048637"/>
                                        </p:tgtEl>
                                      </p:cBhvr>
                                    </p:animEffect>
                                  </p:childTnLst>
                                </p:cTn>
                              </p:par>
                              <p:par>
                                <p:cTn id="14" presetID="21" presetClass="entr" presetSubtype="1" fill="hold" nodeType="withEffect">
                                  <p:stCondLst>
                                    <p:cond delay="0"/>
                                  </p:stCondLst>
                                  <p:childTnLst>
                                    <p:set>
                                      <p:cBhvr>
                                        <p:cTn id="15" dur="1" fill="hold">
                                          <p:stCondLst>
                                            <p:cond delay="0"/>
                                          </p:stCondLst>
                                        </p:cTn>
                                        <p:tgtEl>
                                          <p:spTgt spid="2097181"/>
                                        </p:tgtEl>
                                        <p:attrNameLst>
                                          <p:attrName>style.visibility</p:attrName>
                                        </p:attrNameLst>
                                      </p:cBhvr>
                                      <p:to>
                                        <p:strVal val="visible"/>
                                      </p:to>
                                    </p:set>
                                    <p:animEffect transition="in" filter="wheel(1)">
                                      <p:cBhvr>
                                        <p:cTn id="16" dur="2000"/>
                                        <p:tgtEl>
                                          <p:spTgt spid="209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43" name="TextBox 11"/>
          <p:cNvSpPr txBox="1"/>
          <p:nvPr/>
        </p:nvSpPr>
        <p:spPr>
          <a:xfrm>
            <a:off x="5286789" y="2778774"/>
            <a:ext cx="3840481" cy="1043940"/>
          </a:xfrm>
          <a:prstGeom prst="rect">
            <a:avLst/>
          </a:prstGeom>
          <a:noFill/>
        </p:spPr>
        <p:txBody>
          <a:bodyPr wrap="none" rtlCol="0">
            <a:spAutoFit/>
          </a:bodyPr>
          <a:p>
            <a:pPr marL="0" lvl="1" algn="ctr"/>
            <a:r>
              <a:rPr lang="zh-CN" altLang="en-US" sz="1400" b="1" dirty="0">
                <a:solidFill>
                  <a:srgbClr val="080808"/>
                </a:solidFill>
                <a:latin typeface="+mj-ea"/>
                <a:ea typeface="+mj-ea"/>
              </a:rPr>
              <a:t> </a:t>
            </a:r>
            <a:r>
              <a:rPr lang="en-US" altLang="zh-CN" sz="2800" b="1" dirty="0">
                <a:solidFill>
                  <a:srgbClr val="080808"/>
                </a:solidFill>
                <a:latin typeface="+mj-ea"/>
                <a:ea typeface="+mj-ea"/>
              </a:rPr>
              <a:t>SECTION 1</a:t>
            </a:r>
            <a:endParaRPr lang="en-US" altLang="zh-CN" sz="2800" b="1" dirty="0">
              <a:solidFill>
                <a:srgbClr val="080808"/>
              </a:solidFill>
              <a:latin typeface="+mj-ea"/>
              <a:ea typeface="+mj-ea"/>
            </a:endParaRPr>
          </a:p>
          <a:p>
            <a:pPr marL="0" lvl="1" algn="ctr"/>
            <a:r>
              <a:rPr lang="zh-CN" altLang="en-US" sz="3600" b="1" dirty="0">
                <a:solidFill>
                  <a:srgbClr val="C00000"/>
                </a:solidFill>
                <a:latin typeface="微软雅黑" panose="020B0503020204020204" pitchFamily="34" charset="-122"/>
                <a:ea typeface="微软雅黑" panose="020B0503020204020204" pitchFamily="34" charset="-122"/>
              </a:rPr>
              <a:t>排序算法性能分析</a:t>
            </a:r>
            <a:endParaRPr lang="en-US" altLang="zh-CN" sz="3600" b="1" dirty="0">
              <a:solidFill>
                <a:srgbClr val="C00000"/>
              </a:solidFill>
              <a:latin typeface="微软雅黑" panose="020B0503020204020204" pitchFamily="34" charset="-122"/>
              <a:ea typeface="微软雅黑" panose="020B0503020204020204" pitchFamily="34" charset="-122"/>
            </a:endParaRPr>
          </a:p>
        </p:txBody>
      </p:sp>
      <p:cxnSp>
        <p:nvCxnSpPr>
          <p:cNvPr id="3145728" name="直接连接符 12"/>
          <p:cNvCxnSpPr/>
          <p:nvPr/>
        </p:nvCxnSpPr>
        <p:spPr>
          <a:xfrm flipV="1">
            <a:off x="5159896" y="2492896"/>
            <a:ext cx="0" cy="1924424"/>
          </a:xfrm>
          <a:prstGeom prst="line">
            <a:avLst/>
          </a:prstGeom>
          <a:ln w="12700">
            <a:solidFill>
              <a:srgbClr val="080808"/>
            </a:solidFill>
            <a:prstDash val="dash"/>
          </a:ln>
        </p:spPr>
        <p:style>
          <a:lnRef idx="1">
            <a:schemeClr val="accent1"/>
          </a:lnRef>
          <a:fillRef idx="0">
            <a:schemeClr val="accent1"/>
          </a:fillRef>
          <a:effectRef idx="0">
            <a:schemeClr val="accent1"/>
          </a:effectRef>
          <a:fontRef idx="minor">
            <a:schemeClr val="tx1"/>
          </a:fontRef>
        </p:style>
      </p:cxnSp>
      <p:sp>
        <p:nvSpPr>
          <p:cNvPr id="1048644" name="TextBox 13"/>
          <p:cNvSpPr txBox="1"/>
          <p:nvPr/>
        </p:nvSpPr>
        <p:spPr>
          <a:xfrm>
            <a:off x="3841896" y="4086982"/>
            <a:ext cx="902846" cy="246221"/>
          </a:xfrm>
          <a:prstGeom prst="rect">
            <a:avLst/>
          </a:prstGeom>
          <a:noFill/>
        </p:spPr>
        <p:txBody>
          <a:bodyPr wrap="square" lIns="0" tIns="0" rIns="0" bIns="0" rtlCol="0">
            <a:spAutoFit/>
          </a:bodyPr>
          <a:p>
            <a:r>
              <a:rPr lang="en-US" altLang="zh-CN" sz="1600" dirty="0">
                <a:solidFill>
                  <a:srgbClr val="080808"/>
                </a:solidFill>
                <a:latin typeface="+mj-ea"/>
                <a:ea typeface="+mj-ea"/>
              </a:rPr>
              <a:t>PART 01</a:t>
            </a:r>
            <a:endParaRPr lang="zh-CN" altLang="en-US" sz="1600" dirty="0">
              <a:solidFill>
                <a:srgbClr val="080808"/>
              </a:solidFill>
              <a:latin typeface="+mj-ea"/>
              <a:ea typeface="+mj-ea"/>
            </a:endParaRPr>
          </a:p>
        </p:txBody>
      </p:sp>
      <p:grpSp>
        <p:nvGrpSpPr>
          <p:cNvPr id="84" name="组合 15"/>
          <p:cNvGrpSpPr/>
          <p:nvPr/>
        </p:nvGrpSpPr>
        <p:grpSpPr>
          <a:xfrm>
            <a:off x="3647730" y="2564908"/>
            <a:ext cx="1197175" cy="1197175"/>
            <a:chOff x="304800" y="673100"/>
            <a:chExt cx="4000500" cy="4000500"/>
          </a:xfrm>
          <a:effectLst>
            <a:outerShdw blurRad="444500" dist="254000" dir="8100000" algn="tr" rotWithShape="0">
              <a:prstClr val="black">
                <a:alpha val="50000"/>
              </a:prstClr>
            </a:outerShdw>
          </a:effectLst>
        </p:grpSpPr>
        <p:sp>
          <p:nvSpPr>
            <p:cNvPr id="1048645" name="同心圆 1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80808"/>
                </a:solidFill>
                <a:latin typeface="+mj-ea"/>
                <a:ea typeface="+mj-ea"/>
              </a:endParaRPr>
            </a:p>
          </p:txBody>
        </p:sp>
        <p:sp>
          <p:nvSpPr>
            <p:cNvPr id="1048646" name="椭圆 18"/>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80808"/>
                </a:solidFill>
                <a:latin typeface="+mj-ea"/>
                <a:ea typeface="+mj-ea"/>
              </a:endParaRPr>
            </a:p>
          </p:txBody>
        </p:sp>
      </p:grpSp>
      <p:sp>
        <p:nvSpPr>
          <p:cNvPr id="1048647" name="TextBox 13"/>
          <p:cNvSpPr txBox="1"/>
          <p:nvPr/>
        </p:nvSpPr>
        <p:spPr>
          <a:xfrm>
            <a:off x="3868338" y="2778774"/>
            <a:ext cx="902846" cy="736601"/>
          </a:xfrm>
          <a:prstGeom prst="rect">
            <a:avLst/>
          </a:prstGeom>
          <a:noFill/>
        </p:spPr>
        <p:txBody>
          <a:bodyPr wrap="square" lIns="0" tIns="0" rIns="0" bIns="0" rtlCol="0">
            <a:spAutoFit/>
          </a:bodyPr>
          <a:p>
            <a:r>
              <a:rPr lang="en-US" altLang="zh-CN" sz="5000" b="1" dirty="0">
                <a:solidFill>
                  <a:srgbClr val="C00000"/>
                </a:solidFill>
                <a:latin typeface="+mj-ea"/>
                <a:ea typeface="+mj-ea"/>
              </a:rPr>
              <a:t>01</a:t>
            </a:r>
            <a:endParaRPr lang="zh-CN" altLang="en-US" sz="5000" b="1" dirty="0">
              <a:solidFill>
                <a:srgbClr val="C00000"/>
              </a:solidFill>
              <a:latin typeface="+mj-ea"/>
              <a:ea typeface="+mj-ea"/>
            </a:endParaRPr>
          </a:p>
        </p:txBody>
      </p:sp>
      <p:pic>
        <p:nvPicPr>
          <p:cNvPr id="2097184" name="图片 16"/>
          <p:cNvPicPr>
            <a:picLocks noChangeAspect="1"/>
          </p:cNvPicPr>
          <p:nvPr/>
        </p:nvPicPr>
        <p:blipFill>
          <a:blip r:embed="rId1"/>
          <a:stretch>
            <a:fillRect/>
          </a:stretch>
        </p:blipFill>
        <p:spPr>
          <a:xfrm>
            <a:off x="7983822" y="87720"/>
            <a:ext cx="2361905" cy="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45728"/>
                                        </p:tgtEl>
                                        <p:attrNameLst>
                                          <p:attrName>style.visibility</p:attrName>
                                        </p:attrNameLst>
                                      </p:cBhvr>
                                      <p:to>
                                        <p:strVal val="visible"/>
                                      </p:to>
                                    </p:set>
                                    <p:animEffect transition="in" filter="fade">
                                      <p:cBhvr>
                                        <p:cTn id="7" dur="1000"/>
                                        <p:tgtEl>
                                          <p:spTgt spid="3145728"/>
                                        </p:tgtEl>
                                      </p:cBhvr>
                                    </p:animEffect>
                                    <p:anim calcmode="lin" valueType="num">
                                      <p:cBhvr>
                                        <p:cTn id="8" dur="1000" fill="hold"/>
                                        <p:tgtEl>
                                          <p:spTgt spid="3145728"/>
                                        </p:tgtEl>
                                        <p:attrNameLst>
                                          <p:attrName>ppt_x</p:attrName>
                                        </p:attrNameLst>
                                      </p:cBhvr>
                                      <p:tavLst>
                                        <p:tav tm="0">
                                          <p:val>
                                            <p:strVal val="#ppt_x"/>
                                          </p:val>
                                        </p:tav>
                                        <p:tav tm="100000">
                                          <p:val>
                                            <p:strVal val="#ppt_x"/>
                                          </p:val>
                                        </p:tav>
                                      </p:tavLst>
                                    </p:anim>
                                    <p:anim calcmode="lin" valueType="num">
                                      <p:cBhvr>
                                        <p:cTn id="9" dur="1000" fill="hold"/>
                                        <p:tgtEl>
                                          <p:spTgt spid="31457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1000"/>
                                        <p:tgtEl>
                                          <p:spTgt spid="84"/>
                                        </p:tgtEl>
                                      </p:cBhvr>
                                    </p:animEffect>
                                    <p:anim calcmode="lin" valueType="num">
                                      <p:cBhvr>
                                        <p:cTn id="13" dur="1000" fill="hold"/>
                                        <p:tgtEl>
                                          <p:spTgt spid="84"/>
                                        </p:tgtEl>
                                        <p:attrNameLst>
                                          <p:attrName>ppt_x</p:attrName>
                                        </p:attrNameLst>
                                      </p:cBhvr>
                                      <p:tavLst>
                                        <p:tav tm="0">
                                          <p:val>
                                            <p:strVal val="#ppt_x"/>
                                          </p:val>
                                        </p:tav>
                                        <p:tav tm="100000">
                                          <p:val>
                                            <p:strVal val="#ppt_x"/>
                                          </p:val>
                                        </p:tav>
                                      </p:tavLst>
                                    </p:anim>
                                    <p:anim calcmode="lin" valueType="num">
                                      <p:cBhvr>
                                        <p:cTn id="14" dur="1000" fill="hold"/>
                                        <p:tgtEl>
                                          <p:spTgt spid="8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48647"/>
                                        </p:tgtEl>
                                        <p:attrNameLst>
                                          <p:attrName>style.visibility</p:attrName>
                                        </p:attrNameLst>
                                      </p:cBhvr>
                                      <p:to>
                                        <p:strVal val="visible"/>
                                      </p:to>
                                    </p:set>
                                    <p:animEffect transition="in" filter="fade">
                                      <p:cBhvr>
                                        <p:cTn id="17" dur="1000"/>
                                        <p:tgtEl>
                                          <p:spTgt spid="1048647"/>
                                        </p:tgtEl>
                                      </p:cBhvr>
                                    </p:animEffect>
                                    <p:anim calcmode="lin" valueType="num">
                                      <p:cBhvr>
                                        <p:cTn id="18" dur="1000" fill="hold"/>
                                        <p:tgtEl>
                                          <p:spTgt spid="1048647"/>
                                        </p:tgtEl>
                                        <p:attrNameLst>
                                          <p:attrName>ppt_x</p:attrName>
                                        </p:attrNameLst>
                                      </p:cBhvr>
                                      <p:tavLst>
                                        <p:tav tm="0">
                                          <p:val>
                                            <p:strVal val="#ppt_x"/>
                                          </p:val>
                                        </p:tav>
                                        <p:tav tm="100000">
                                          <p:val>
                                            <p:strVal val="#ppt_x"/>
                                          </p:val>
                                        </p:tav>
                                      </p:tavLst>
                                    </p:anim>
                                    <p:anim calcmode="lin" valueType="num">
                                      <p:cBhvr>
                                        <p:cTn id="19" dur="1000" fill="hold"/>
                                        <p:tgtEl>
                                          <p:spTgt spid="104864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48643"/>
                                        </p:tgtEl>
                                        <p:attrNameLst>
                                          <p:attrName>style.visibility</p:attrName>
                                        </p:attrNameLst>
                                      </p:cBhvr>
                                      <p:to>
                                        <p:strVal val="visible"/>
                                      </p:to>
                                    </p:set>
                                    <p:animEffect transition="in" filter="fade">
                                      <p:cBhvr>
                                        <p:cTn id="22" dur="1000"/>
                                        <p:tgtEl>
                                          <p:spTgt spid="1048643"/>
                                        </p:tgtEl>
                                      </p:cBhvr>
                                    </p:animEffect>
                                    <p:anim calcmode="lin" valueType="num">
                                      <p:cBhvr>
                                        <p:cTn id="23" dur="1000" fill="hold"/>
                                        <p:tgtEl>
                                          <p:spTgt spid="1048643"/>
                                        </p:tgtEl>
                                        <p:attrNameLst>
                                          <p:attrName>ppt_x</p:attrName>
                                        </p:attrNameLst>
                                      </p:cBhvr>
                                      <p:tavLst>
                                        <p:tav tm="0">
                                          <p:val>
                                            <p:strVal val="#ppt_x"/>
                                          </p:val>
                                        </p:tav>
                                        <p:tav tm="100000">
                                          <p:val>
                                            <p:strVal val="#ppt_x"/>
                                          </p:val>
                                        </p:tav>
                                      </p:tavLst>
                                    </p:anim>
                                    <p:anim calcmode="lin" valueType="num">
                                      <p:cBhvr>
                                        <p:cTn id="24" dur="1000" fill="hold"/>
                                        <p:tgtEl>
                                          <p:spTgt spid="104864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48644"/>
                                        </p:tgtEl>
                                        <p:attrNameLst>
                                          <p:attrName>style.visibility</p:attrName>
                                        </p:attrNameLst>
                                      </p:cBhvr>
                                      <p:to>
                                        <p:strVal val="visible"/>
                                      </p:to>
                                    </p:set>
                                    <p:animEffect transition="in" filter="fade">
                                      <p:cBhvr>
                                        <p:cTn id="27" dur="1000"/>
                                        <p:tgtEl>
                                          <p:spTgt spid="1048644"/>
                                        </p:tgtEl>
                                      </p:cBhvr>
                                    </p:animEffect>
                                    <p:anim calcmode="lin" valueType="num">
                                      <p:cBhvr>
                                        <p:cTn id="28" dur="1000" fill="hold"/>
                                        <p:tgtEl>
                                          <p:spTgt spid="1048644"/>
                                        </p:tgtEl>
                                        <p:attrNameLst>
                                          <p:attrName>ppt_x</p:attrName>
                                        </p:attrNameLst>
                                      </p:cBhvr>
                                      <p:tavLst>
                                        <p:tav tm="0">
                                          <p:val>
                                            <p:strVal val="#ppt_x"/>
                                          </p:val>
                                        </p:tav>
                                        <p:tav tm="100000">
                                          <p:val>
                                            <p:strVal val="#ppt_x"/>
                                          </p:val>
                                        </p:tav>
                                      </p:tavLst>
                                    </p:anim>
                                    <p:anim calcmode="lin" valueType="num">
                                      <p:cBhvr>
                                        <p:cTn id="29" dur="1000" fill="hold"/>
                                        <p:tgtEl>
                                          <p:spTgt spid="10486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3" grpId="0"/>
      <p:bldP spid="1048644" grpId="0"/>
      <p:bldP spid="10486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651"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85"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86" name="图片 73"/>
          <p:cNvPicPr>
            <a:picLocks noChangeAspect="1"/>
          </p:cNvPicPr>
          <p:nvPr/>
        </p:nvPicPr>
        <p:blipFill>
          <a:blip r:embed="rId2"/>
          <a:stretch>
            <a:fillRect/>
          </a:stretch>
        </p:blipFill>
        <p:spPr>
          <a:xfrm>
            <a:off x="7983822" y="87720"/>
            <a:ext cx="2361905" cy="800000"/>
          </a:xfrm>
          <a:prstGeom prst="rect">
            <a:avLst/>
          </a:prstGeom>
        </p:spPr>
      </p:pic>
      <p:sp>
        <p:nvSpPr>
          <p:cNvPr id="1048652" name="文本框 2"/>
          <p:cNvSpPr txBox="1"/>
          <p:nvPr/>
        </p:nvSpPr>
        <p:spPr>
          <a:xfrm>
            <a:off x="1524000" y="1219200"/>
            <a:ext cx="3981450" cy="584775"/>
          </a:xfrm>
          <a:prstGeom prst="rect">
            <a:avLst/>
          </a:prstGeom>
          <a:noFill/>
        </p:spPr>
        <p:txBody>
          <a:bodyPr wrap="square" rtlCol="0">
            <a:spAutoFit/>
          </a:bodyPr>
          <a:p>
            <a:r>
              <a:rPr lang="en-US" altLang="zh-CN" sz="3200" b="1" dirty="0">
                <a:solidFill>
                  <a:srgbClr val="FF0000"/>
                </a:solidFill>
              </a:rPr>
              <a:t>1</a:t>
            </a:r>
            <a:r>
              <a:rPr lang="zh-CN" altLang="en-US" sz="3200" b="1" dirty="0">
                <a:solidFill>
                  <a:srgbClr val="FF0000"/>
                </a:solidFill>
              </a:rPr>
              <a:t>、插入排序</a:t>
            </a:r>
            <a:endParaRPr lang="zh-CN" altLang="en-US" sz="3200" b="1" dirty="0">
              <a:solidFill>
                <a:srgbClr val="FF0000"/>
              </a:solidFill>
            </a:endParaRPr>
          </a:p>
        </p:txBody>
      </p:sp>
      <p:pic>
        <p:nvPicPr>
          <p:cNvPr id="2097187" name="图片 -2147482620" descr="c1b46129d0de8cb198d8c0588140acf3"/>
          <p:cNvPicPr>
            <a:picLocks noChangeAspect="1"/>
          </p:cNvPicPr>
          <p:nvPr/>
        </p:nvPicPr>
        <p:blipFill>
          <a:blip r:embed="rId3"/>
          <a:stretch>
            <a:fillRect/>
          </a:stretch>
        </p:blipFill>
        <p:spPr>
          <a:xfrm>
            <a:off x="6856730" y="1219200"/>
            <a:ext cx="4475480" cy="5427345"/>
          </a:xfrm>
          <a:prstGeom prst="rect">
            <a:avLst/>
          </a:prstGeom>
          <a:noFill/>
          <a:ln w="9525">
            <a:noFill/>
          </a:ln>
        </p:spPr>
      </p:pic>
      <p:sp>
        <p:nvSpPr>
          <p:cNvPr id="2" name="文本框 1"/>
          <p:cNvSpPr txBox="1"/>
          <p:nvPr/>
        </p:nvSpPr>
        <p:spPr>
          <a:xfrm>
            <a:off x="1645285" y="2410460"/>
            <a:ext cx="4389120" cy="2168525"/>
          </a:xfrm>
          <a:prstGeom prst="rect">
            <a:avLst/>
          </a:prstGeom>
          <a:noFill/>
        </p:spPr>
        <p:txBody>
          <a:bodyPr wrap="square" rtlCol="0">
            <a:spAutoFit/>
          </a:bodyPr>
          <a:p>
            <a:pPr algn="l" fontAlgn="auto">
              <a:lnSpc>
                <a:spcPct val="150000"/>
              </a:lnSpc>
            </a:pPr>
            <a:r>
              <a:rPr lang="zh-CN" altLang="en-US"/>
              <a:t>首先将一个记录插到已经排好序的有序表中，从而一个新的、记录数增1的有序表。同时从无序表中取出第一个元素，通过不断地将当前元素与有序表中的元素进行比较和交换，每个元素都有序。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30"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76"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77" name="图片 73"/>
          <p:cNvPicPr>
            <a:picLocks noChangeAspect="1"/>
          </p:cNvPicPr>
          <p:nvPr/>
        </p:nvPicPr>
        <p:blipFill>
          <a:blip r:embed="rId2"/>
          <a:stretch>
            <a:fillRect/>
          </a:stretch>
        </p:blipFill>
        <p:spPr>
          <a:xfrm>
            <a:off x="7983822" y="87720"/>
            <a:ext cx="2361905" cy="800000"/>
          </a:xfrm>
          <a:prstGeom prst="rect">
            <a:avLst/>
          </a:prstGeom>
        </p:spPr>
      </p:pic>
      <p:sp>
        <p:nvSpPr>
          <p:cNvPr id="1048631" name="文本框 2"/>
          <p:cNvSpPr txBox="1"/>
          <p:nvPr/>
        </p:nvSpPr>
        <p:spPr>
          <a:xfrm>
            <a:off x="1524000" y="1219200"/>
            <a:ext cx="3981450" cy="584775"/>
          </a:xfrm>
          <a:prstGeom prst="rect">
            <a:avLst/>
          </a:prstGeom>
          <a:noFill/>
        </p:spPr>
        <p:txBody>
          <a:bodyPr wrap="square" rtlCol="0">
            <a:spAutoFit/>
          </a:bodyPr>
          <a:p>
            <a:r>
              <a:rPr lang="en-US" altLang="zh-CN" sz="3200" b="1" dirty="0">
                <a:solidFill>
                  <a:srgbClr val="FF0000"/>
                </a:solidFill>
              </a:rPr>
              <a:t>1</a:t>
            </a:r>
            <a:r>
              <a:rPr lang="zh-CN" altLang="en-US" sz="3200" b="1" dirty="0">
                <a:solidFill>
                  <a:srgbClr val="FF0000"/>
                </a:solidFill>
              </a:rPr>
              <a:t>、插入排序</a:t>
            </a:r>
            <a:endParaRPr lang="zh-CN" altLang="en-US" sz="3200" b="1" dirty="0">
              <a:solidFill>
                <a:srgbClr val="FF0000"/>
              </a:solidFill>
            </a:endParaRPr>
          </a:p>
        </p:txBody>
      </p:sp>
      <p:sp>
        <p:nvSpPr>
          <p:cNvPr id="1048632" name="文本框 8"/>
          <p:cNvSpPr txBox="1"/>
          <p:nvPr/>
        </p:nvSpPr>
        <p:spPr>
          <a:xfrm>
            <a:off x="1524000" y="1962150"/>
            <a:ext cx="2990850" cy="1717041"/>
          </a:xfrm>
          <a:prstGeom prst="rect">
            <a:avLst/>
          </a:prstGeom>
          <a:noFill/>
        </p:spPr>
        <p:txBody>
          <a:bodyPr wrap="square" rtlCol="0">
            <a:spAutoFit/>
          </a:bodyPr>
          <a:p>
            <a:r>
              <a:rPr lang="zh-CN" altLang="en-US" sz="2400" b="1" dirty="0"/>
              <a:t>算法复杂度：</a:t>
            </a:r>
            <a:endParaRPr lang="en-US" altLang="zh-CN" sz="2400" b="1" dirty="0"/>
          </a:p>
          <a:p>
            <a:endParaRPr lang="en-US" altLang="zh-CN" sz="2400" b="1" dirty="0"/>
          </a:p>
          <a:p>
            <a:r>
              <a:rPr lang="zh-CN" altLang="en-US" sz="2000" b="1" dirty="0"/>
              <a:t>最坏时间复杂度：</a:t>
            </a:r>
            <a:r>
              <a:rPr lang="en-US" altLang="zh-CN" sz="2000" b="1" dirty="0"/>
              <a:t>O(n^2)</a:t>
            </a:r>
            <a:endParaRPr lang="en-US" altLang="zh-CN" sz="2000" b="1" dirty="0"/>
          </a:p>
          <a:p>
            <a:r>
              <a:rPr lang="zh-CN" altLang="en-US" sz="2000" b="1" dirty="0"/>
              <a:t>最好时间复杂度：</a:t>
            </a:r>
            <a:r>
              <a:rPr lang="en-US" altLang="zh-CN" sz="2000" b="1" dirty="0"/>
              <a:t>O(n)</a:t>
            </a:r>
            <a:endParaRPr lang="en-US" altLang="zh-CN" sz="2000" b="1" dirty="0"/>
          </a:p>
          <a:p>
            <a:r>
              <a:rPr lang="zh-CN" altLang="en-US" sz="2000" b="1" dirty="0"/>
              <a:t>平均时间复杂度：</a:t>
            </a:r>
            <a:r>
              <a:rPr lang="en-US" altLang="zh-CN" sz="2000" b="1" dirty="0"/>
              <a:t>O(n^2)</a:t>
            </a:r>
            <a:endParaRPr lang="en-US" altLang="zh-CN" sz="2000" b="1" dirty="0"/>
          </a:p>
        </p:txBody>
      </p:sp>
      <p:sp>
        <p:nvSpPr>
          <p:cNvPr id="2" name="文本框 1"/>
          <p:cNvSpPr txBox="1"/>
          <p:nvPr/>
        </p:nvSpPr>
        <p:spPr>
          <a:xfrm>
            <a:off x="5005705" y="1962150"/>
            <a:ext cx="6728460" cy="3692525"/>
          </a:xfrm>
          <a:prstGeom prst="rect">
            <a:avLst/>
          </a:prstGeom>
          <a:noFill/>
        </p:spPr>
        <p:txBody>
          <a:bodyPr wrap="square" rtlCol="0">
            <a:spAutoFit/>
          </a:bodyPr>
          <a:p>
            <a:pPr marL="285750" indent="-285750" algn="l" fontAlgn="auto">
              <a:lnSpc>
                <a:spcPct val="150000"/>
              </a:lnSpc>
              <a:buFont typeface="Arial" panose="020B0604020202020204" pitchFamily="34" charset="0"/>
              <a:buChar char="•"/>
            </a:pPr>
            <a:r>
              <a:rPr lang="zh-CN" altLang="en-US" dirty="0">
                <a:solidFill>
                  <a:schemeClr val="tx1"/>
                </a:solidFill>
                <a:sym typeface="+mn-ea"/>
              </a:rPr>
              <a:t>若待排序的数组元素已经是有序的，那么插入排序时就不需要进行交换动作，只需要进行一次比较动作。</a:t>
            </a:r>
            <a:endParaRPr lang="zh-CN" altLang="en-US" dirty="0">
              <a:solidFill>
                <a:schemeClr val="tx1"/>
              </a:solidFill>
            </a:endParaRPr>
          </a:p>
          <a:p>
            <a:pPr marL="285750" indent="-285750" algn="l" fontAlgn="auto">
              <a:lnSpc>
                <a:spcPct val="150000"/>
              </a:lnSpc>
              <a:buFont typeface="Arial" panose="020B0604020202020204" pitchFamily="34" charset="0"/>
              <a:buChar char="•"/>
            </a:pPr>
            <a:r>
              <a:rPr lang="zh-CN" altLang="en-US" dirty="0">
                <a:solidFill>
                  <a:schemeClr val="tx1"/>
                </a:solidFill>
                <a:sym typeface="+mn-ea"/>
              </a:rPr>
              <a:t>若待排序的数组元素完全逆序，那么插入排序每进行一次交换动作时，都需要与有序区内的每个元素进行比较，然后才能找到合适的位置。因此每次插入都需要O(i)次操作，总操作次数是O(1+2+3+4+...+n-1)</a:t>
            </a:r>
            <a:endParaRPr lang="zh-CN" altLang="en-US" dirty="0">
              <a:solidFill>
                <a:schemeClr val="tx1"/>
              </a:solidFill>
              <a:sym typeface="+mn-ea"/>
            </a:endParaRPr>
          </a:p>
          <a:p>
            <a:pPr marL="285750" indent="-285750" algn="l" fontAlgn="auto">
              <a:lnSpc>
                <a:spcPct val="150000"/>
              </a:lnSpc>
              <a:buFont typeface="Arial" panose="020B0604020202020204" pitchFamily="34" charset="0"/>
              <a:buChar char="•"/>
            </a:pPr>
            <a:r>
              <a:rPr lang="zh-CN" altLang="en-US" dirty="0">
                <a:solidFill>
                  <a:schemeClr val="tx1"/>
                </a:solidFill>
                <a:sym typeface="+mn-ea"/>
              </a:rPr>
              <a:t>若输入数据元素随机时，每次插入大约需要O(n/2)次比较和移动。</a:t>
            </a:r>
            <a:endParaRPr lang="zh-CN" altLang="en-US" dirty="0">
              <a:solidFill>
                <a:schemeClr val="tx1"/>
              </a:solidFill>
            </a:endParaRPr>
          </a:p>
          <a:p>
            <a:endParaRPr lang="zh-CN" altLang="en-US"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30"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76"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77" name="图片 73"/>
          <p:cNvPicPr>
            <a:picLocks noChangeAspect="1"/>
          </p:cNvPicPr>
          <p:nvPr/>
        </p:nvPicPr>
        <p:blipFill>
          <a:blip r:embed="rId2"/>
          <a:stretch>
            <a:fillRect/>
          </a:stretch>
        </p:blipFill>
        <p:spPr>
          <a:xfrm>
            <a:off x="7983822" y="87720"/>
            <a:ext cx="2361905" cy="800000"/>
          </a:xfrm>
          <a:prstGeom prst="rect">
            <a:avLst/>
          </a:prstGeom>
        </p:spPr>
      </p:pic>
      <p:sp>
        <p:nvSpPr>
          <p:cNvPr id="1048631" name="文本框 2"/>
          <p:cNvSpPr txBox="1"/>
          <p:nvPr/>
        </p:nvSpPr>
        <p:spPr>
          <a:xfrm>
            <a:off x="1524000" y="1219200"/>
            <a:ext cx="3981450" cy="584775"/>
          </a:xfrm>
          <a:prstGeom prst="rect">
            <a:avLst/>
          </a:prstGeom>
          <a:noFill/>
        </p:spPr>
        <p:txBody>
          <a:bodyPr wrap="square" rtlCol="0">
            <a:spAutoFit/>
          </a:bodyPr>
          <a:p>
            <a:r>
              <a:rPr lang="en-US" altLang="zh-CN" sz="3200" b="1" dirty="0">
                <a:solidFill>
                  <a:srgbClr val="FF0000"/>
                </a:solidFill>
              </a:rPr>
              <a:t>1</a:t>
            </a:r>
            <a:r>
              <a:rPr lang="zh-CN" altLang="en-US" sz="3200" b="1" dirty="0">
                <a:solidFill>
                  <a:srgbClr val="FF0000"/>
                </a:solidFill>
              </a:rPr>
              <a:t>、插入排序</a:t>
            </a:r>
            <a:endParaRPr lang="zh-CN" altLang="en-US" sz="3200" b="1" dirty="0">
              <a:solidFill>
                <a:srgbClr val="FF0000"/>
              </a:solidFill>
            </a:endParaRPr>
          </a:p>
        </p:txBody>
      </p:sp>
      <p:pic>
        <p:nvPicPr>
          <p:cNvPr id="2097178" name="图片 -2147482601" descr="48ae6bcc69f57dfe175b69ad98abc36"/>
          <p:cNvPicPr>
            <a:picLocks noChangeAspect="1"/>
          </p:cNvPicPr>
          <p:nvPr/>
        </p:nvPicPr>
        <p:blipFill>
          <a:blip r:embed="rId3"/>
          <a:srcRect t="17722"/>
          <a:stretch>
            <a:fillRect/>
          </a:stretch>
        </p:blipFill>
        <p:spPr>
          <a:xfrm>
            <a:off x="1223645" y="2836545"/>
            <a:ext cx="5008245" cy="1184275"/>
          </a:xfrm>
          <a:prstGeom prst="rect">
            <a:avLst/>
          </a:prstGeom>
          <a:noFill/>
          <a:ln w="9525">
            <a:noFill/>
          </a:ln>
        </p:spPr>
      </p:pic>
      <p:pic>
        <p:nvPicPr>
          <p:cNvPr id="2097179" name="图片 -2147482600" descr="28bf769b987f1f4fbbb3aef18be447b"/>
          <p:cNvPicPr>
            <a:picLocks noChangeAspect="1"/>
          </p:cNvPicPr>
          <p:nvPr/>
        </p:nvPicPr>
        <p:blipFill>
          <a:blip r:embed="rId4"/>
          <a:stretch>
            <a:fillRect/>
          </a:stretch>
        </p:blipFill>
        <p:spPr>
          <a:xfrm>
            <a:off x="6459855" y="1804035"/>
            <a:ext cx="4718685" cy="3815715"/>
          </a:xfrm>
          <a:prstGeom prst="rect">
            <a:avLst/>
          </a:prstGeom>
          <a:noFill/>
          <a:ln w="9525">
            <a:noFill/>
          </a:ln>
        </p:spPr>
      </p:pic>
      <p:sp>
        <p:nvSpPr>
          <p:cNvPr id="1048633" name="文本框 5"/>
          <p:cNvSpPr txBox="1"/>
          <p:nvPr/>
        </p:nvSpPr>
        <p:spPr>
          <a:xfrm>
            <a:off x="5505450" y="5713095"/>
            <a:ext cx="6313170" cy="306705"/>
          </a:xfrm>
          <a:prstGeom prst="rect">
            <a:avLst/>
          </a:prstGeom>
          <a:noFill/>
        </p:spPr>
        <p:txBody>
          <a:bodyPr wrap="square" rtlCol="0">
            <a:spAutoFit/>
          </a:bodyPr>
          <a:p>
            <a:pPr algn="l"/>
            <a:r>
              <a:rPr lang="zh-CN" altLang="en-US" sz="1400"/>
              <a:t>由于计算机执行算法时的优化、硬件性能、或者某些内存访问模式导致的差异</a:t>
            </a:r>
            <a:endParaRPr lang="zh-CN" altLang="en-US" sz="1400"/>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19"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68"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69" name="图片 73"/>
          <p:cNvPicPr>
            <a:picLocks noChangeAspect="1"/>
          </p:cNvPicPr>
          <p:nvPr/>
        </p:nvPicPr>
        <p:blipFill>
          <a:blip r:embed="rId2"/>
          <a:stretch>
            <a:fillRect/>
          </a:stretch>
        </p:blipFill>
        <p:spPr>
          <a:xfrm>
            <a:off x="7983822" y="87720"/>
            <a:ext cx="2361905" cy="800000"/>
          </a:xfrm>
          <a:prstGeom prst="rect">
            <a:avLst/>
          </a:prstGeom>
        </p:spPr>
      </p:pic>
      <p:sp>
        <p:nvSpPr>
          <p:cNvPr id="1048620"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rPr>
              <a:t>2</a:t>
            </a:r>
            <a:r>
              <a:rPr lang="zh-CN" altLang="en-US" sz="3200" b="1" dirty="0">
                <a:solidFill>
                  <a:srgbClr val="FF0000"/>
                </a:solidFill>
              </a:rPr>
              <a:t>、冒泡排序</a:t>
            </a:r>
            <a:endParaRPr lang="zh-CN" altLang="en-US" sz="3200" b="1" dirty="0">
              <a:solidFill>
                <a:srgbClr val="FF0000"/>
              </a:solidFill>
            </a:endParaRPr>
          </a:p>
        </p:txBody>
      </p:sp>
      <p:pic>
        <p:nvPicPr>
          <p:cNvPr id="2097170" name="图片 4"/>
          <p:cNvPicPr>
            <a:picLocks noChangeAspect="1"/>
          </p:cNvPicPr>
          <p:nvPr/>
        </p:nvPicPr>
        <p:blipFill>
          <a:blip r:embed="rId3"/>
          <a:stretch>
            <a:fillRect/>
          </a:stretch>
        </p:blipFill>
        <p:spPr>
          <a:xfrm>
            <a:off x="5916930" y="2332355"/>
            <a:ext cx="6038850" cy="1816100"/>
          </a:xfrm>
          <a:prstGeom prst="rect">
            <a:avLst/>
          </a:prstGeom>
        </p:spPr>
      </p:pic>
      <p:pic>
        <p:nvPicPr>
          <p:cNvPr id="2097171" name="图片 -2147482619" descr="8b758a0e2ea4fe0535dc0ae586b17f2a"/>
          <p:cNvPicPr>
            <a:picLocks noChangeAspect="1"/>
          </p:cNvPicPr>
          <p:nvPr/>
        </p:nvPicPr>
        <p:blipFill>
          <a:blip r:embed="rId4"/>
          <a:stretch>
            <a:fillRect/>
          </a:stretch>
        </p:blipFill>
        <p:spPr>
          <a:xfrm>
            <a:off x="1216660" y="1940560"/>
            <a:ext cx="4446905" cy="4737100"/>
          </a:xfrm>
          <a:prstGeom prst="rect">
            <a:avLst/>
          </a:prstGeom>
          <a:noFill/>
          <a:ln w="9525">
            <a:noFill/>
          </a:ln>
        </p:spPr>
      </p:pic>
      <p:sp>
        <p:nvSpPr>
          <p:cNvPr id="2" name="文本框 1"/>
          <p:cNvSpPr txBox="1"/>
          <p:nvPr/>
        </p:nvSpPr>
        <p:spPr>
          <a:xfrm>
            <a:off x="5916930" y="4947285"/>
            <a:ext cx="5806440" cy="1198880"/>
          </a:xfrm>
          <a:prstGeom prst="rect">
            <a:avLst/>
          </a:prstGeom>
          <a:noFill/>
        </p:spPr>
        <p:txBody>
          <a:bodyPr wrap="square" rtlCol="0">
            <a:spAutoFit/>
          </a:bodyPr>
          <a:p>
            <a:pPr algn="l" fontAlgn="auto">
              <a:lnSpc>
                <a:spcPct val="150000"/>
              </a:lnSpc>
            </a:pPr>
            <a:r>
              <a:rPr lang="zh-CN" altLang="en-US" sz="1600"/>
              <a:t>重复遍历要排序的数列，每次比较相邻的两个元素，如果它们的顺序不对（与排序目标相关，不是从大到小或者从小到大）就交换这两个元素，直到整个序列有序。</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05"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59"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60" name="图片 73"/>
          <p:cNvPicPr>
            <a:picLocks noChangeAspect="1"/>
          </p:cNvPicPr>
          <p:nvPr/>
        </p:nvPicPr>
        <p:blipFill>
          <a:blip r:embed="rId2"/>
          <a:stretch>
            <a:fillRect/>
          </a:stretch>
        </p:blipFill>
        <p:spPr>
          <a:xfrm>
            <a:off x="7983822" y="87720"/>
            <a:ext cx="2361905" cy="800000"/>
          </a:xfrm>
          <a:prstGeom prst="rect">
            <a:avLst/>
          </a:prstGeom>
        </p:spPr>
      </p:pic>
      <p:sp>
        <p:nvSpPr>
          <p:cNvPr id="1048606"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rPr>
              <a:t>2</a:t>
            </a:r>
            <a:r>
              <a:rPr lang="zh-CN" altLang="en-US" sz="3200" b="1" dirty="0">
                <a:solidFill>
                  <a:srgbClr val="FF0000"/>
                </a:solidFill>
              </a:rPr>
              <a:t>、冒泡排序</a:t>
            </a:r>
            <a:endParaRPr lang="zh-CN" altLang="en-US" sz="3200" b="1" dirty="0">
              <a:solidFill>
                <a:srgbClr val="FF0000"/>
              </a:solidFill>
            </a:endParaRPr>
          </a:p>
        </p:txBody>
      </p:sp>
      <p:sp>
        <p:nvSpPr>
          <p:cNvPr id="2" name="文本框 1"/>
          <p:cNvSpPr txBox="1"/>
          <p:nvPr/>
        </p:nvSpPr>
        <p:spPr>
          <a:xfrm>
            <a:off x="1524000" y="2348230"/>
            <a:ext cx="9144000" cy="3169285"/>
          </a:xfrm>
          <a:prstGeom prst="rect">
            <a:avLst/>
          </a:prstGeom>
          <a:noFill/>
        </p:spPr>
        <p:txBody>
          <a:bodyPr wrap="square" rtlCol="0">
            <a:spAutoFit/>
          </a:bodyPr>
          <a:p>
            <a:pPr algn="l" fontAlgn="auto">
              <a:lnSpc>
                <a:spcPct val="150000"/>
              </a:lnSpc>
            </a:pPr>
            <a:r>
              <a:rPr lang="zh-CN" altLang="en-US" sz="2000" dirty="0">
                <a:solidFill>
                  <a:schemeClr val="tx1"/>
                </a:solidFill>
                <a:sym typeface="+mn-ea"/>
              </a:rPr>
              <a:t>从代码可见外层循环从0到n-2执行了n-1次，内层循环执行n-i次,因此总循环次数是(n−1)+(n−2)+(n−3)+⋯+1，</a:t>
            </a:r>
            <a:r>
              <a:rPr lang="zh-CN" altLang="en-US" sz="2000" b="1" dirty="0">
                <a:solidFill>
                  <a:schemeClr val="tx1"/>
                </a:solidFill>
                <a:sym typeface="+mn-ea"/>
              </a:rPr>
              <a:t>T(n)=0.5*(n-1)*n。</a:t>
            </a:r>
            <a:endParaRPr lang="zh-CN" altLang="en-US" sz="2000" dirty="0">
              <a:solidFill>
                <a:schemeClr val="tx1"/>
              </a:solidFill>
              <a:sym typeface="+mn-ea"/>
            </a:endParaRPr>
          </a:p>
          <a:p>
            <a:pPr algn="l" fontAlgn="auto">
              <a:lnSpc>
                <a:spcPct val="150000"/>
              </a:lnSpc>
            </a:pPr>
            <a:endParaRPr lang="zh-CN" altLang="en-US" sz="2000" dirty="0">
              <a:solidFill>
                <a:schemeClr val="tx1"/>
              </a:solidFill>
            </a:endParaRPr>
          </a:p>
          <a:p>
            <a:pPr algn="l" fontAlgn="auto">
              <a:lnSpc>
                <a:spcPct val="150000"/>
              </a:lnSpc>
            </a:pPr>
            <a:r>
              <a:rPr lang="zh-CN" altLang="en-US" sz="2000" b="1" dirty="0">
                <a:solidFill>
                  <a:schemeClr val="tx1"/>
                </a:solidFill>
                <a:sym typeface="+mn-ea"/>
              </a:rPr>
              <a:t>最坏情况：</a:t>
            </a:r>
            <a:r>
              <a:rPr lang="zh-CN" altLang="en-US" sz="2000" dirty="0">
                <a:solidFill>
                  <a:schemeClr val="tx1"/>
                </a:solidFill>
                <a:sym typeface="+mn-ea"/>
              </a:rPr>
              <a:t>数组逆序时，每一次比较都需要交换，</a:t>
            </a:r>
            <a:r>
              <a:rPr lang="zh-CN" altLang="en-US" sz="2000" b="1" dirty="0">
                <a:solidFill>
                  <a:schemeClr val="tx1"/>
                </a:solidFill>
                <a:sym typeface="+mn-ea"/>
              </a:rPr>
              <a:t>时间复杂度为O(n^2)</a:t>
            </a:r>
            <a:r>
              <a:rPr lang="zh-CN" altLang="en-US" sz="2000" dirty="0">
                <a:solidFill>
                  <a:schemeClr val="tx1"/>
                </a:solidFill>
                <a:sym typeface="+mn-ea"/>
              </a:rPr>
              <a:t>.</a:t>
            </a:r>
            <a:endParaRPr lang="zh-CN" altLang="en-US" sz="2000" dirty="0">
              <a:solidFill>
                <a:schemeClr val="tx1"/>
              </a:solidFill>
            </a:endParaRPr>
          </a:p>
          <a:p>
            <a:pPr algn="l" fontAlgn="auto">
              <a:lnSpc>
                <a:spcPct val="150000"/>
              </a:lnSpc>
            </a:pPr>
            <a:r>
              <a:rPr lang="zh-CN" altLang="en-US" sz="2000" b="1" dirty="0">
                <a:solidFill>
                  <a:schemeClr val="tx1"/>
                </a:solidFill>
                <a:sym typeface="+mn-ea"/>
              </a:rPr>
              <a:t>最好情况：</a:t>
            </a:r>
            <a:r>
              <a:rPr lang="zh-CN" altLang="en-US" sz="2000" dirty="0">
                <a:solidFill>
                  <a:schemeClr val="tx1"/>
                </a:solidFill>
                <a:sym typeface="+mn-ea"/>
              </a:rPr>
              <a:t>数组顺序时，只需要进行一轮比较，</a:t>
            </a:r>
            <a:r>
              <a:rPr lang="zh-CN" altLang="en-US" sz="2000" b="1" dirty="0">
                <a:solidFill>
                  <a:schemeClr val="tx1"/>
                </a:solidFill>
                <a:sym typeface="+mn-ea"/>
              </a:rPr>
              <a:t>时间复杂度为O(n</a:t>
            </a:r>
            <a:r>
              <a:rPr lang="en-US" altLang="zh-CN" sz="2000" b="1" dirty="0">
                <a:solidFill>
                  <a:schemeClr val="tx1"/>
                </a:solidFill>
                <a:sym typeface="+mn-ea"/>
              </a:rPr>
              <a:t>^2</a:t>
            </a:r>
            <a:r>
              <a:rPr lang="zh-CN" altLang="en-US" sz="2000" b="1" dirty="0">
                <a:solidFill>
                  <a:schemeClr val="tx1"/>
                </a:solidFill>
                <a:sym typeface="+mn-ea"/>
              </a:rPr>
              <a:t>).</a:t>
            </a:r>
            <a:endParaRPr lang="zh-CN" altLang="en-US" sz="2000" dirty="0">
              <a:solidFill>
                <a:schemeClr val="tx1"/>
              </a:solidFill>
            </a:endParaRPr>
          </a:p>
          <a:p>
            <a:pPr algn="l" fontAlgn="auto">
              <a:lnSpc>
                <a:spcPct val="150000"/>
              </a:lnSpc>
            </a:pPr>
            <a:r>
              <a:rPr lang="zh-CN" altLang="en-US" sz="2000" b="1" dirty="0">
                <a:solidFill>
                  <a:schemeClr val="tx1"/>
                </a:solidFill>
                <a:sym typeface="+mn-ea"/>
              </a:rPr>
              <a:t>平均情况：时间复杂度为O(n^2).</a:t>
            </a:r>
            <a:endParaRPr lang="zh-CN" altLang="en-US" sz="2000" b="1" dirty="0">
              <a:solidFill>
                <a:schemeClr val="tx1"/>
              </a:solidFill>
            </a:endParaRPr>
          </a:p>
          <a:p>
            <a:endParaRPr lang="zh-CN" altLang="en-US" sz="20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05"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59"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60" name="图片 73"/>
          <p:cNvPicPr>
            <a:picLocks noChangeAspect="1"/>
          </p:cNvPicPr>
          <p:nvPr/>
        </p:nvPicPr>
        <p:blipFill>
          <a:blip r:embed="rId2"/>
          <a:stretch>
            <a:fillRect/>
          </a:stretch>
        </p:blipFill>
        <p:spPr>
          <a:xfrm>
            <a:off x="7983822" y="87720"/>
            <a:ext cx="2361905" cy="800000"/>
          </a:xfrm>
          <a:prstGeom prst="rect">
            <a:avLst/>
          </a:prstGeom>
        </p:spPr>
      </p:pic>
      <p:sp>
        <p:nvSpPr>
          <p:cNvPr id="1048606"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rPr>
              <a:t>2</a:t>
            </a:r>
            <a:r>
              <a:rPr lang="zh-CN" altLang="en-US" sz="3200" b="1" dirty="0">
                <a:solidFill>
                  <a:srgbClr val="FF0000"/>
                </a:solidFill>
              </a:rPr>
              <a:t>、冒泡排序</a:t>
            </a:r>
            <a:endParaRPr lang="zh-CN" altLang="en-US" sz="3200" b="1" dirty="0">
              <a:solidFill>
                <a:srgbClr val="FF0000"/>
              </a:solidFill>
            </a:endParaRPr>
          </a:p>
        </p:txBody>
      </p:sp>
      <p:pic>
        <p:nvPicPr>
          <p:cNvPr id="2097161" name="图片 -2147482598" descr="3d50714ff0ecae8817f7229d3ba3018"/>
          <p:cNvPicPr>
            <a:picLocks noChangeAspect="1"/>
          </p:cNvPicPr>
          <p:nvPr/>
        </p:nvPicPr>
        <p:blipFill>
          <a:blip r:embed="rId3"/>
          <a:srcRect t="18964"/>
          <a:stretch>
            <a:fillRect/>
          </a:stretch>
        </p:blipFill>
        <p:spPr>
          <a:xfrm>
            <a:off x="1242695" y="2931795"/>
            <a:ext cx="4986020" cy="1164590"/>
          </a:xfrm>
          <a:prstGeom prst="rect">
            <a:avLst/>
          </a:prstGeom>
          <a:noFill/>
          <a:ln w="9525">
            <a:noFill/>
          </a:ln>
        </p:spPr>
      </p:pic>
      <p:pic>
        <p:nvPicPr>
          <p:cNvPr id="2097162" name="图片 -2147482599" descr="9d9b2060492e7aef87a7f86865cdeb9"/>
          <p:cNvPicPr>
            <a:picLocks noChangeAspect="1"/>
          </p:cNvPicPr>
          <p:nvPr/>
        </p:nvPicPr>
        <p:blipFill>
          <a:blip r:embed="rId4"/>
          <a:srcRect l="424"/>
          <a:stretch>
            <a:fillRect/>
          </a:stretch>
        </p:blipFill>
        <p:spPr>
          <a:xfrm>
            <a:off x="6330950" y="1698625"/>
            <a:ext cx="5097780" cy="4133215"/>
          </a:xfrm>
          <a:prstGeom prst="rect">
            <a:avLst/>
          </a:prstGeom>
          <a:noFill/>
          <a:ln w="9525">
            <a:noFill/>
          </a:ln>
        </p:spPr>
      </p:pic>
      <p:sp>
        <p:nvSpPr>
          <p:cNvPr id="1048608" name="文本框 5"/>
          <p:cNvSpPr txBox="1"/>
          <p:nvPr/>
        </p:nvSpPr>
        <p:spPr>
          <a:xfrm>
            <a:off x="1243330" y="4508500"/>
            <a:ext cx="4985385" cy="645160"/>
          </a:xfrm>
          <a:prstGeom prst="rect">
            <a:avLst/>
          </a:prstGeom>
          <a:noFill/>
        </p:spPr>
        <p:txBody>
          <a:bodyPr wrap="square" rtlCol="0">
            <a:spAutoFit/>
          </a:bodyPr>
          <a:p>
            <a:r>
              <a:rPr lang="zh-CN" altLang="en-US"/>
              <a:t>由于计算机执行算法时的优化、硬件性能、或者某些内存访问模式导致的差异</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84"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52"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53" name="图片 73"/>
          <p:cNvPicPr>
            <a:picLocks noChangeAspect="1"/>
          </p:cNvPicPr>
          <p:nvPr/>
        </p:nvPicPr>
        <p:blipFill>
          <a:blip r:embed="rId2"/>
          <a:stretch>
            <a:fillRect/>
          </a:stretch>
        </p:blipFill>
        <p:spPr>
          <a:xfrm>
            <a:off x="7983822" y="87720"/>
            <a:ext cx="2361905" cy="800000"/>
          </a:xfrm>
          <a:prstGeom prst="rect">
            <a:avLst/>
          </a:prstGeom>
        </p:spPr>
      </p:pic>
      <p:sp>
        <p:nvSpPr>
          <p:cNvPr id="1048585"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rPr>
              <a:t>2</a:t>
            </a:r>
            <a:r>
              <a:rPr lang="zh-CN" altLang="en-US" sz="3200" b="1" dirty="0">
                <a:solidFill>
                  <a:srgbClr val="FF0000"/>
                </a:solidFill>
              </a:rPr>
              <a:t>、冒泡排序优化</a:t>
            </a:r>
            <a:endParaRPr lang="zh-CN" altLang="en-US" sz="3200" b="1" dirty="0">
              <a:solidFill>
                <a:srgbClr val="FF0000"/>
              </a:solidFill>
            </a:endParaRPr>
          </a:p>
        </p:txBody>
      </p:sp>
      <p:sp>
        <p:nvSpPr>
          <p:cNvPr id="1048586" name="文本框 8"/>
          <p:cNvSpPr txBox="1"/>
          <p:nvPr/>
        </p:nvSpPr>
        <p:spPr>
          <a:xfrm>
            <a:off x="1524000" y="2383790"/>
            <a:ext cx="3792855" cy="2168525"/>
          </a:xfrm>
          <a:prstGeom prst="rect">
            <a:avLst/>
          </a:prstGeom>
          <a:noFill/>
        </p:spPr>
        <p:txBody>
          <a:bodyPr wrap="square" rtlCol="0">
            <a:spAutoFit/>
          </a:bodyPr>
          <a:p>
            <a:pPr fontAlgn="auto">
              <a:lnSpc>
                <a:spcPct val="150000"/>
              </a:lnSpc>
            </a:pPr>
            <a:r>
              <a:rPr lang="zh-CN" altLang="en-US" b="1" dirty="0"/>
              <a:t>优化方法：</a:t>
            </a:r>
            <a:r>
              <a:rPr lang="zh-CN" altLang="en-US" dirty="0"/>
              <a:t>由于原始的冒泡排序都是每次选取无序区的第一个元素进行比较和交换。于是这里考虑可能从两边分别进行冒泡的效率会更好一些。</a:t>
            </a:r>
            <a:endParaRPr lang="zh-CN" altLang="en-US" dirty="0"/>
          </a:p>
        </p:txBody>
      </p:sp>
      <p:sp>
        <p:nvSpPr>
          <p:cNvPr id="1048587" name="文本框 5"/>
          <p:cNvSpPr txBox="1"/>
          <p:nvPr/>
        </p:nvSpPr>
        <p:spPr>
          <a:xfrm>
            <a:off x="1586865" y="4791075"/>
            <a:ext cx="3918585" cy="1337945"/>
          </a:xfrm>
          <a:prstGeom prst="rect">
            <a:avLst/>
          </a:prstGeom>
          <a:noFill/>
        </p:spPr>
        <p:txBody>
          <a:bodyPr wrap="square" rtlCol="0">
            <a:spAutoFit/>
          </a:bodyPr>
          <a:p>
            <a:pPr fontAlgn="auto">
              <a:lnSpc>
                <a:spcPct val="150000"/>
              </a:lnSpc>
            </a:pPr>
            <a:r>
              <a:rPr lang="zh-CN" altLang="en-US"/>
              <a:t>改进后的冒泡排序方法大大减少了运行时间，且随着时间的变化，这种优势的体现越来越明显</a:t>
            </a:r>
            <a:r>
              <a:rPr lang="zh-CN" altLang="en-US" sz="1400"/>
              <a:t>。</a:t>
            </a:r>
            <a:endParaRPr lang="zh-CN" altLang="en-US" sz="1400"/>
          </a:p>
        </p:txBody>
      </p:sp>
      <p:pic>
        <p:nvPicPr>
          <p:cNvPr id="2097154" name="图片 -2147482567" descr="6c0eedbf939f247cba7b03936e77e01"/>
          <p:cNvPicPr>
            <a:picLocks noChangeAspect="1"/>
          </p:cNvPicPr>
          <p:nvPr/>
        </p:nvPicPr>
        <p:blipFill>
          <a:blip r:embed="rId3"/>
          <a:stretch>
            <a:fillRect/>
          </a:stretch>
        </p:blipFill>
        <p:spPr>
          <a:xfrm>
            <a:off x="5797550" y="1377950"/>
            <a:ext cx="4977130" cy="765810"/>
          </a:xfrm>
          <a:prstGeom prst="rect">
            <a:avLst/>
          </a:prstGeom>
          <a:noFill/>
          <a:ln w="9525">
            <a:noFill/>
          </a:ln>
        </p:spPr>
      </p:pic>
      <p:pic>
        <p:nvPicPr>
          <p:cNvPr id="2097155" name="图片 -2147482568"/>
          <p:cNvPicPr>
            <a:picLocks noChangeAspect="1"/>
          </p:cNvPicPr>
          <p:nvPr/>
        </p:nvPicPr>
        <p:blipFill>
          <a:blip r:embed="rId4"/>
          <a:stretch>
            <a:fillRect/>
          </a:stretch>
        </p:blipFill>
        <p:spPr>
          <a:xfrm>
            <a:off x="6035040" y="2560955"/>
            <a:ext cx="4739640" cy="379539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599"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56"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57" name="图片 73"/>
          <p:cNvPicPr>
            <a:picLocks noChangeAspect="1"/>
          </p:cNvPicPr>
          <p:nvPr/>
        </p:nvPicPr>
        <p:blipFill>
          <a:blip r:embed="rId2"/>
          <a:stretch>
            <a:fillRect/>
          </a:stretch>
        </p:blipFill>
        <p:spPr>
          <a:xfrm>
            <a:off x="7983822" y="87720"/>
            <a:ext cx="2361905" cy="800000"/>
          </a:xfrm>
          <a:prstGeom prst="rect">
            <a:avLst/>
          </a:prstGeom>
        </p:spPr>
      </p:pic>
      <p:sp>
        <p:nvSpPr>
          <p:cNvPr id="1048600"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rPr>
              <a:t>3</a:t>
            </a:r>
            <a:r>
              <a:rPr lang="zh-CN" altLang="en-US" sz="3200" b="1" dirty="0">
                <a:solidFill>
                  <a:srgbClr val="FF0000"/>
                </a:solidFill>
              </a:rPr>
              <a:t>、选择排序</a:t>
            </a:r>
            <a:endParaRPr lang="zh-CN" altLang="en-US" sz="3200" b="1" dirty="0">
              <a:solidFill>
                <a:srgbClr val="FF0000"/>
              </a:solidFill>
            </a:endParaRPr>
          </a:p>
        </p:txBody>
      </p:sp>
      <p:pic>
        <p:nvPicPr>
          <p:cNvPr id="2097158" name="图片 -2147482615" descr="1cd0f111e766c89bdaf9180d1ec89592"/>
          <p:cNvPicPr>
            <a:picLocks noChangeAspect="1"/>
          </p:cNvPicPr>
          <p:nvPr/>
        </p:nvPicPr>
        <p:blipFill>
          <a:blip r:embed="rId3"/>
          <a:stretch>
            <a:fillRect/>
          </a:stretch>
        </p:blipFill>
        <p:spPr>
          <a:xfrm>
            <a:off x="1524000" y="1940560"/>
            <a:ext cx="4356735" cy="4641215"/>
          </a:xfrm>
          <a:prstGeom prst="rect">
            <a:avLst/>
          </a:prstGeom>
          <a:noFill/>
          <a:ln w="9525">
            <a:noFill/>
          </a:ln>
        </p:spPr>
      </p:pic>
      <p:sp>
        <p:nvSpPr>
          <p:cNvPr id="1048601" name="文本框 99"/>
          <p:cNvSpPr txBox="1"/>
          <p:nvPr/>
        </p:nvSpPr>
        <p:spPr>
          <a:xfrm>
            <a:off x="6052820" y="2438400"/>
            <a:ext cx="5568950" cy="1753235"/>
          </a:xfrm>
          <a:prstGeom prst="rect">
            <a:avLst/>
          </a:prstGeom>
          <a:noFill/>
          <a:ln w="9525">
            <a:noFill/>
          </a:ln>
        </p:spPr>
        <p:txBody>
          <a:bodyPr wrap="square">
            <a:spAutoFit/>
          </a:bodyPr>
          <a:p>
            <a:pPr indent="0" fontAlgn="auto">
              <a:lnSpc>
                <a:spcPct val="150000"/>
              </a:lnSpc>
            </a:pPr>
            <a:r>
              <a:rPr b="0"/>
              <a:t>从待排序的数据元素中选出最小的一个元素，与序列起始位置的元素交换，然后再从剩余的未排序元素中寻找到最小元素，放到已排序的序列的末尾。</a:t>
            </a:r>
            <a:endParaRPr b="0"/>
          </a:p>
          <a:p>
            <a:pPr indent="0" fontAlgn="auto">
              <a:lnSpc>
                <a:spcPct val="150000"/>
              </a:lnSpc>
            </a:pPr>
            <a:r>
              <a:rPr b="0"/>
              <a:t>以此类推，直到全部待排序的数据元素的个数为零。</a:t>
            </a:r>
            <a:endParaRPr b="0"/>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12"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64"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65" name="图片 73"/>
          <p:cNvPicPr>
            <a:picLocks noChangeAspect="1"/>
          </p:cNvPicPr>
          <p:nvPr/>
        </p:nvPicPr>
        <p:blipFill>
          <a:blip r:embed="rId2"/>
          <a:stretch>
            <a:fillRect/>
          </a:stretch>
        </p:blipFill>
        <p:spPr>
          <a:xfrm>
            <a:off x="7983822" y="87720"/>
            <a:ext cx="2361905" cy="800000"/>
          </a:xfrm>
          <a:prstGeom prst="rect">
            <a:avLst/>
          </a:prstGeom>
        </p:spPr>
      </p:pic>
      <p:sp>
        <p:nvSpPr>
          <p:cNvPr id="1048613"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3</a:t>
            </a:r>
            <a:r>
              <a:rPr lang="zh-CN" altLang="en-US" sz="3200" b="1" dirty="0">
                <a:solidFill>
                  <a:srgbClr val="FF0000"/>
                </a:solidFill>
                <a:sym typeface="+mn-ea"/>
              </a:rPr>
              <a:t>、选择排序</a:t>
            </a:r>
            <a:endParaRPr lang="zh-CN" altLang="en-US" sz="3200" b="1" dirty="0">
              <a:solidFill>
                <a:srgbClr val="FF0000"/>
              </a:solidFill>
            </a:endParaRPr>
          </a:p>
        </p:txBody>
      </p:sp>
      <p:sp>
        <p:nvSpPr>
          <p:cNvPr id="1048614" name="文本框 8"/>
          <p:cNvSpPr txBox="1"/>
          <p:nvPr/>
        </p:nvSpPr>
        <p:spPr>
          <a:xfrm>
            <a:off x="1484630" y="1940560"/>
            <a:ext cx="2990850" cy="2061210"/>
          </a:xfrm>
          <a:prstGeom prst="rect">
            <a:avLst/>
          </a:prstGeom>
          <a:noFill/>
        </p:spPr>
        <p:txBody>
          <a:bodyPr wrap="square" rtlCol="0">
            <a:spAutoFit/>
          </a:bodyPr>
          <a:p>
            <a:r>
              <a:rPr lang="zh-CN" altLang="en-US" sz="2400" b="1" dirty="0"/>
              <a:t>算法复杂度：</a:t>
            </a:r>
            <a:endParaRPr lang="en-US" altLang="zh-CN" sz="2400" b="1" dirty="0"/>
          </a:p>
          <a:p>
            <a:r>
              <a:rPr lang="en-US" altLang="zh-CN" sz="2400" b="1" dirty="0"/>
              <a:t>T(n)=0.5*(n-1)*n</a:t>
            </a:r>
            <a:endParaRPr lang="en-US" altLang="zh-CN" sz="2400" b="1" dirty="0"/>
          </a:p>
          <a:p>
            <a:endParaRPr lang="zh-CN" altLang="en-US" sz="2000" b="1" dirty="0"/>
          </a:p>
          <a:p>
            <a:r>
              <a:rPr lang="zh-CN" altLang="en-US" sz="2000" b="1" dirty="0"/>
              <a:t>最坏时间复杂度：</a:t>
            </a:r>
            <a:r>
              <a:rPr lang="en-US" altLang="zh-CN" sz="2000" b="1" dirty="0"/>
              <a:t>O(n^2)</a:t>
            </a:r>
            <a:endParaRPr lang="en-US" altLang="zh-CN" sz="2000" b="1" dirty="0"/>
          </a:p>
          <a:p>
            <a:r>
              <a:rPr lang="zh-CN" altLang="en-US" sz="2000" b="1" dirty="0"/>
              <a:t>最好时间复杂度：</a:t>
            </a:r>
            <a:r>
              <a:rPr lang="en-US" altLang="zh-CN" sz="2000" b="1" dirty="0"/>
              <a:t>O(n^2)</a:t>
            </a:r>
            <a:endParaRPr lang="en-US" altLang="zh-CN" sz="2000" b="1" dirty="0"/>
          </a:p>
          <a:p>
            <a:r>
              <a:rPr lang="zh-CN" altLang="en-US" sz="2000" b="1" dirty="0"/>
              <a:t>平均时间复杂度：</a:t>
            </a:r>
            <a:r>
              <a:rPr lang="en-US" altLang="zh-CN" sz="2000" b="1" dirty="0"/>
              <a:t>O(n^2)</a:t>
            </a:r>
            <a:endParaRPr lang="en-US" altLang="zh-CN" sz="2000" b="1" dirty="0"/>
          </a:p>
        </p:txBody>
      </p:sp>
      <p:pic>
        <p:nvPicPr>
          <p:cNvPr id="2097166" name="图片 -2147482607" descr="d096ffe38e511281a8aefeb821d1326"/>
          <p:cNvPicPr>
            <a:picLocks noChangeAspect="1"/>
          </p:cNvPicPr>
          <p:nvPr/>
        </p:nvPicPr>
        <p:blipFill>
          <a:blip r:embed="rId3"/>
          <a:srcRect t="19180"/>
          <a:stretch>
            <a:fillRect/>
          </a:stretch>
        </p:blipFill>
        <p:spPr>
          <a:xfrm>
            <a:off x="5957570" y="1314450"/>
            <a:ext cx="4879340" cy="1104265"/>
          </a:xfrm>
          <a:prstGeom prst="rect">
            <a:avLst/>
          </a:prstGeom>
          <a:noFill/>
          <a:ln w="9525">
            <a:noFill/>
          </a:ln>
        </p:spPr>
      </p:pic>
      <p:pic>
        <p:nvPicPr>
          <p:cNvPr id="2097167" name="图片 -2147482609" descr="1e2bbec9d5a27f56c75f38217c178e4"/>
          <p:cNvPicPr>
            <a:picLocks noChangeAspect="1"/>
          </p:cNvPicPr>
          <p:nvPr/>
        </p:nvPicPr>
        <p:blipFill>
          <a:blip r:embed="rId4"/>
          <a:stretch>
            <a:fillRect/>
          </a:stretch>
        </p:blipFill>
        <p:spPr>
          <a:xfrm>
            <a:off x="6001385" y="2735580"/>
            <a:ext cx="4791710" cy="365442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24"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72"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73" name="图片 73"/>
          <p:cNvPicPr>
            <a:picLocks noChangeAspect="1"/>
          </p:cNvPicPr>
          <p:nvPr/>
        </p:nvPicPr>
        <p:blipFill>
          <a:blip r:embed="rId2"/>
          <a:stretch>
            <a:fillRect/>
          </a:stretch>
        </p:blipFill>
        <p:spPr>
          <a:xfrm>
            <a:off x="7983822" y="87720"/>
            <a:ext cx="2361905" cy="800000"/>
          </a:xfrm>
          <a:prstGeom prst="rect">
            <a:avLst/>
          </a:prstGeom>
        </p:spPr>
      </p:pic>
      <p:sp>
        <p:nvSpPr>
          <p:cNvPr id="1048625"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3</a:t>
            </a:r>
            <a:r>
              <a:rPr lang="zh-CN" altLang="en-US" sz="3200" b="1" dirty="0">
                <a:solidFill>
                  <a:srgbClr val="FF0000"/>
                </a:solidFill>
                <a:sym typeface="+mn-ea"/>
              </a:rPr>
              <a:t>、选择排序</a:t>
            </a:r>
            <a:endParaRPr lang="zh-CN" altLang="en-US" sz="3200" b="1" dirty="0">
              <a:solidFill>
                <a:srgbClr val="FF0000"/>
              </a:solidFill>
            </a:endParaRPr>
          </a:p>
        </p:txBody>
      </p:sp>
      <p:pic>
        <p:nvPicPr>
          <p:cNvPr id="2097174" name="图片 -2147482607" descr="d096ffe38e511281a8aefeb821d1326"/>
          <p:cNvPicPr>
            <a:picLocks noChangeAspect="1"/>
          </p:cNvPicPr>
          <p:nvPr/>
        </p:nvPicPr>
        <p:blipFill>
          <a:blip r:embed="rId3"/>
          <a:srcRect t="19180"/>
          <a:stretch>
            <a:fillRect/>
          </a:stretch>
        </p:blipFill>
        <p:spPr>
          <a:xfrm>
            <a:off x="5957570" y="1314450"/>
            <a:ext cx="4879340" cy="1104265"/>
          </a:xfrm>
          <a:prstGeom prst="rect">
            <a:avLst/>
          </a:prstGeom>
          <a:noFill/>
          <a:ln w="9525">
            <a:noFill/>
          </a:ln>
        </p:spPr>
      </p:pic>
      <p:pic>
        <p:nvPicPr>
          <p:cNvPr id="2097175" name="图片 -2147482609" descr="1e2bbec9d5a27f56c75f38217c178e4"/>
          <p:cNvPicPr>
            <a:picLocks noChangeAspect="1"/>
          </p:cNvPicPr>
          <p:nvPr/>
        </p:nvPicPr>
        <p:blipFill>
          <a:blip r:embed="rId4"/>
          <a:stretch>
            <a:fillRect/>
          </a:stretch>
        </p:blipFill>
        <p:spPr>
          <a:xfrm>
            <a:off x="6219825" y="2775585"/>
            <a:ext cx="4704715" cy="3588385"/>
          </a:xfrm>
          <a:prstGeom prst="rect">
            <a:avLst/>
          </a:prstGeom>
          <a:noFill/>
          <a:ln w="9525">
            <a:noFill/>
          </a:ln>
        </p:spPr>
      </p:pic>
      <p:sp>
        <p:nvSpPr>
          <p:cNvPr id="1048626" name="文本框 4"/>
          <p:cNvSpPr txBox="1"/>
          <p:nvPr/>
        </p:nvSpPr>
        <p:spPr>
          <a:xfrm flipH="1">
            <a:off x="1313180" y="2334895"/>
            <a:ext cx="4394200" cy="3830955"/>
          </a:xfrm>
          <a:prstGeom prst="rect">
            <a:avLst/>
          </a:prstGeom>
          <a:noFill/>
        </p:spPr>
        <p:txBody>
          <a:bodyPr wrap="square" rtlCol="0">
            <a:spAutoFit/>
          </a:bodyPr>
          <a:p>
            <a:pPr algn="l" fontAlgn="auto">
              <a:lnSpc>
                <a:spcPct val="150000"/>
              </a:lnSpc>
            </a:pPr>
            <a:r>
              <a:rPr lang="zh-CN" altLang="en-US" b="1"/>
              <a:t>理论上来说，</a:t>
            </a:r>
            <a:r>
              <a:rPr lang="zh-CN" altLang="en-US"/>
              <a:t>随着数据规模的增大，计算机的优化和缓存效率降低，使得误差逐渐增大。</a:t>
            </a:r>
            <a:endParaRPr lang="zh-CN" altLang="en-US"/>
          </a:p>
          <a:p>
            <a:pPr algn="l" fontAlgn="auto">
              <a:lnSpc>
                <a:spcPct val="150000"/>
              </a:lnSpc>
            </a:pPr>
            <a:r>
              <a:rPr lang="zh-CN" altLang="en-US" b="1"/>
              <a:t>但，误差呈现先增大后减少，</a:t>
            </a:r>
            <a:r>
              <a:rPr lang="zh-CN" altLang="en-US"/>
              <a:t>有可能是因为</a:t>
            </a:r>
            <a:r>
              <a:rPr lang="zh-CN" altLang="en-US">
                <a:solidFill>
                  <a:srgbClr val="0070C0"/>
                </a:solidFill>
              </a:rPr>
              <a:t>计算机处理器突然接到其他任务而被打断</a:t>
            </a:r>
            <a:r>
              <a:rPr lang="zh-CN" altLang="en-US"/>
              <a:t>，或者是</a:t>
            </a:r>
            <a:r>
              <a:rPr lang="zh-CN" altLang="en-US">
                <a:solidFill>
                  <a:srgbClr val="0070C0"/>
                </a:solidFill>
              </a:rPr>
              <a:t>因为随机生成的数据随机程度略微不同于其他数据规模导致选择排序合并中的数据比较过程减少</a:t>
            </a:r>
            <a:r>
              <a:rPr lang="zh-CN" altLang="en-US"/>
              <a:t>而引起的略微差异。</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56"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89"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90" name="图片 73"/>
          <p:cNvPicPr>
            <a:picLocks noChangeAspect="1"/>
          </p:cNvPicPr>
          <p:nvPr/>
        </p:nvPicPr>
        <p:blipFill>
          <a:blip r:embed="rId2"/>
          <a:stretch>
            <a:fillRect/>
          </a:stretch>
        </p:blipFill>
        <p:spPr>
          <a:xfrm>
            <a:off x="7983822" y="87720"/>
            <a:ext cx="2361905" cy="800000"/>
          </a:xfrm>
          <a:prstGeom prst="rect">
            <a:avLst/>
          </a:prstGeom>
        </p:spPr>
      </p:pic>
      <p:sp>
        <p:nvSpPr>
          <p:cNvPr id="1048657"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4</a:t>
            </a:r>
            <a:r>
              <a:rPr lang="zh-CN" altLang="en-US" sz="3200" b="1" dirty="0">
                <a:solidFill>
                  <a:srgbClr val="FF0000"/>
                </a:solidFill>
                <a:sym typeface="+mn-ea"/>
              </a:rPr>
              <a:t>、归并排序</a:t>
            </a:r>
            <a:endParaRPr lang="zh-CN" altLang="en-US" sz="3200" b="1" dirty="0">
              <a:solidFill>
                <a:srgbClr val="FF0000"/>
              </a:solidFill>
            </a:endParaRPr>
          </a:p>
        </p:txBody>
      </p:sp>
      <p:pic>
        <p:nvPicPr>
          <p:cNvPr id="2097191" name="图片 -2147482616" descr="09a04284e5cc0434c5504265968c749a"/>
          <p:cNvPicPr>
            <a:picLocks noChangeAspect="1"/>
          </p:cNvPicPr>
          <p:nvPr/>
        </p:nvPicPr>
        <p:blipFill>
          <a:blip r:embed="rId3"/>
          <a:stretch>
            <a:fillRect/>
          </a:stretch>
        </p:blipFill>
        <p:spPr>
          <a:xfrm>
            <a:off x="1252855" y="2186940"/>
            <a:ext cx="4523740" cy="2816225"/>
          </a:xfrm>
          <a:prstGeom prst="rect">
            <a:avLst/>
          </a:prstGeom>
          <a:noFill/>
          <a:ln w="9525">
            <a:noFill/>
          </a:ln>
        </p:spPr>
      </p:pic>
      <p:sp>
        <p:nvSpPr>
          <p:cNvPr id="1048658" name="文本框 3"/>
          <p:cNvSpPr txBox="1"/>
          <p:nvPr/>
        </p:nvSpPr>
        <p:spPr>
          <a:xfrm>
            <a:off x="6335395" y="2056765"/>
            <a:ext cx="4677410" cy="2676525"/>
          </a:xfrm>
          <a:prstGeom prst="rect">
            <a:avLst/>
          </a:prstGeom>
          <a:noFill/>
          <a:ln w="9525">
            <a:noFill/>
          </a:ln>
        </p:spPr>
        <p:txBody>
          <a:bodyPr wrap="square">
            <a:spAutoFit/>
          </a:bodyPr>
          <a:p>
            <a:pPr indent="0" fontAlgn="auto">
              <a:lnSpc>
                <a:spcPct val="150000"/>
              </a:lnSpc>
            </a:pPr>
            <a:r>
              <a:rPr lang="zh-CN" altLang="en-US" sz="1600" b="1">
                <a:latin typeface="宋体" panose="02010600030101010101" pitchFamily="2" charset="-122"/>
              </a:rPr>
              <a:t>算法原理：</a:t>
            </a:r>
            <a:endParaRPr lang="zh-CN" altLang="en-US" sz="1600" b="1">
              <a:latin typeface="宋体" panose="02010600030101010101" pitchFamily="2" charset="-122"/>
            </a:endParaRPr>
          </a:p>
          <a:p>
            <a:pPr indent="0" fontAlgn="auto">
              <a:lnSpc>
                <a:spcPct val="150000"/>
              </a:lnSpc>
            </a:pPr>
            <a:r>
              <a:rPr lang="en-US" sz="1600" b="0">
                <a:latin typeface="宋体" panose="02010600030101010101" pitchFamily="2" charset="-122"/>
              </a:rPr>
              <a:t>采用</a:t>
            </a:r>
            <a:r>
              <a:rPr lang="en-US" sz="1600" b="1">
                <a:latin typeface="宋体" panose="02010600030101010101" pitchFamily="2" charset="-122"/>
              </a:rPr>
              <a:t>分治法</a:t>
            </a:r>
            <a:r>
              <a:rPr lang="en-US" sz="1600" b="0">
                <a:latin typeface="宋体" panose="02010600030101010101" pitchFamily="2" charset="-122"/>
              </a:rPr>
              <a:t>的一个非常典型的应用，将待排序的数组递归地分成两个子数组，并在每个子数组间进行排序，直到每个子数组只有一个元素。</a:t>
            </a:r>
            <a:endParaRPr lang="en-US" sz="1600" b="0">
              <a:latin typeface="宋体" panose="02010600030101010101" pitchFamily="2" charset="-122"/>
            </a:endParaRPr>
          </a:p>
          <a:p>
            <a:pPr indent="0" fontAlgn="auto">
              <a:lnSpc>
                <a:spcPct val="150000"/>
              </a:lnSpc>
            </a:pPr>
            <a:r>
              <a:rPr lang="en-US" sz="1600" b="0">
                <a:latin typeface="宋体" panose="02010600030101010101" pitchFamily="2" charset="-122"/>
              </a:rPr>
              <a:t>合并已排序的两个子数组，保持数组有序。通过比较两个子数组的元素，逐步将较小的元素放入结果数组中，直到两个子数组都被合并完。</a:t>
            </a:r>
            <a:endParaRPr lang="en-US" sz="1600" b="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62"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92"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93" name="图片 73"/>
          <p:cNvPicPr>
            <a:picLocks noChangeAspect="1"/>
          </p:cNvPicPr>
          <p:nvPr/>
        </p:nvPicPr>
        <p:blipFill>
          <a:blip r:embed="rId2"/>
          <a:stretch>
            <a:fillRect/>
          </a:stretch>
        </p:blipFill>
        <p:spPr>
          <a:xfrm>
            <a:off x="7983822" y="87720"/>
            <a:ext cx="2361905" cy="800000"/>
          </a:xfrm>
          <a:prstGeom prst="rect">
            <a:avLst/>
          </a:prstGeom>
        </p:spPr>
      </p:pic>
      <p:sp>
        <p:nvSpPr>
          <p:cNvPr id="1048663" name="文本框 2"/>
          <p:cNvSpPr txBox="1"/>
          <p:nvPr/>
        </p:nvSpPr>
        <p:spPr>
          <a:xfrm>
            <a:off x="1524000" y="1219200"/>
            <a:ext cx="3981450" cy="584775"/>
          </a:xfrm>
          <a:prstGeom prst="rect">
            <a:avLst/>
          </a:prstGeom>
          <a:noFill/>
        </p:spPr>
        <p:txBody>
          <a:bodyPr wrap="square" rtlCol="0">
            <a:spAutoFit/>
          </a:bodyPr>
          <a:p>
            <a:r>
              <a:rPr lang="en-US" altLang="zh-CN" sz="3200" b="1" dirty="0">
                <a:solidFill>
                  <a:srgbClr val="FF0000"/>
                </a:solidFill>
              </a:rPr>
              <a:t>4</a:t>
            </a:r>
            <a:r>
              <a:rPr lang="zh-CN" altLang="en-US" sz="3200" b="1" dirty="0">
                <a:solidFill>
                  <a:srgbClr val="FF0000"/>
                </a:solidFill>
              </a:rPr>
              <a:t>、归并排序</a:t>
            </a:r>
            <a:endParaRPr lang="zh-CN" altLang="en-US" sz="3200" b="1" dirty="0">
              <a:solidFill>
                <a:srgbClr val="FF0000"/>
              </a:solidFill>
            </a:endParaRPr>
          </a:p>
        </p:txBody>
      </p:sp>
      <p:sp>
        <p:nvSpPr>
          <p:cNvPr id="1048664" name="文本框 8"/>
          <p:cNvSpPr txBox="1"/>
          <p:nvPr/>
        </p:nvSpPr>
        <p:spPr>
          <a:xfrm>
            <a:off x="1524000" y="1962149"/>
            <a:ext cx="3200400" cy="2021841"/>
          </a:xfrm>
          <a:prstGeom prst="rect">
            <a:avLst/>
          </a:prstGeom>
          <a:noFill/>
        </p:spPr>
        <p:txBody>
          <a:bodyPr wrap="square" rtlCol="0">
            <a:spAutoFit/>
          </a:bodyPr>
          <a:p>
            <a:r>
              <a:rPr lang="zh-CN" altLang="en-US" sz="2400" b="1" dirty="0"/>
              <a:t>算法复杂度：</a:t>
            </a:r>
            <a:endParaRPr lang="en-US" altLang="zh-CN" sz="2400" b="1" dirty="0"/>
          </a:p>
          <a:p>
            <a:endParaRPr lang="en-US" altLang="zh-CN" sz="2400" b="1" dirty="0"/>
          </a:p>
          <a:p>
            <a:r>
              <a:rPr lang="zh-CN" altLang="en-US" sz="2000" b="1" dirty="0"/>
              <a:t>最坏时间复杂度：</a:t>
            </a:r>
            <a:r>
              <a:rPr lang="en-US" altLang="zh-CN" sz="2000" b="1" dirty="0"/>
              <a:t>O(nlogn)</a:t>
            </a:r>
            <a:endParaRPr lang="en-US" altLang="zh-CN" sz="2000" b="1" dirty="0"/>
          </a:p>
          <a:p>
            <a:r>
              <a:rPr lang="zh-CN" altLang="en-US" sz="2000" b="1" dirty="0"/>
              <a:t>最好时间复杂度：</a:t>
            </a:r>
            <a:r>
              <a:rPr lang="en-US" altLang="zh-CN" sz="2000" b="1" dirty="0"/>
              <a:t>O(nlogn)</a:t>
            </a:r>
            <a:endParaRPr lang="en-US" altLang="zh-CN" sz="2000" b="1" dirty="0"/>
          </a:p>
          <a:p>
            <a:r>
              <a:rPr lang="zh-CN" altLang="en-US" sz="2000" b="1" dirty="0"/>
              <a:t>平均时间复杂度：</a:t>
            </a:r>
            <a:r>
              <a:rPr lang="en-US" altLang="zh-CN" sz="2000" b="1" dirty="0"/>
              <a:t>O(nlogn)</a:t>
            </a:r>
            <a:endParaRPr lang="en-US" altLang="zh-CN" sz="2000" b="1" dirty="0"/>
          </a:p>
          <a:p>
            <a:endParaRPr lang="en-US" altLang="zh-CN" sz="2000" b="1" dirty="0"/>
          </a:p>
        </p:txBody>
      </p:sp>
      <p:pic>
        <p:nvPicPr>
          <p:cNvPr id="2097194" name="图片 -2147482594" descr="14a78180005918b8f3babb6ce2bede4"/>
          <p:cNvPicPr>
            <a:picLocks noChangeAspect="1"/>
          </p:cNvPicPr>
          <p:nvPr/>
        </p:nvPicPr>
        <p:blipFill>
          <a:blip r:embed="rId3"/>
          <a:stretch>
            <a:fillRect/>
          </a:stretch>
        </p:blipFill>
        <p:spPr>
          <a:xfrm>
            <a:off x="5604510" y="1082675"/>
            <a:ext cx="4627245" cy="1346835"/>
          </a:xfrm>
          <a:prstGeom prst="rect">
            <a:avLst/>
          </a:prstGeom>
          <a:noFill/>
          <a:ln w="9525">
            <a:noFill/>
          </a:ln>
        </p:spPr>
      </p:pic>
      <p:pic>
        <p:nvPicPr>
          <p:cNvPr id="2097195" name="图片 -2147482595" descr="336211b8ccbae71a66e89553731c34d"/>
          <p:cNvPicPr>
            <a:picLocks noChangeAspect="1"/>
          </p:cNvPicPr>
          <p:nvPr/>
        </p:nvPicPr>
        <p:blipFill>
          <a:blip r:embed="rId4"/>
          <a:stretch>
            <a:fillRect/>
          </a:stretch>
        </p:blipFill>
        <p:spPr>
          <a:xfrm>
            <a:off x="5676265" y="2677160"/>
            <a:ext cx="4594860" cy="3559810"/>
          </a:xfrm>
          <a:prstGeom prst="rect">
            <a:avLst/>
          </a:prstGeom>
          <a:noFill/>
          <a:ln w="9525">
            <a:noFill/>
          </a:ln>
        </p:spPr>
      </p:pic>
      <p:sp>
        <p:nvSpPr>
          <p:cNvPr id="1048665" name="文本框 4"/>
          <p:cNvSpPr txBox="1"/>
          <p:nvPr/>
        </p:nvSpPr>
        <p:spPr>
          <a:xfrm>
            <a:off x="1391920" y="4181475"/>
            <a:ext cx="4211955" cy="891540"/>
          </a:xfrm>
          <a:prstGeom prst="rect">
            <a:avLst/>
          </a:prstGeom>
          <a:noFill/>
        </p:spPr>
        <p:txBody>
          <a:bodyPr wrap="square" rtlCol="0">
            <a:spAutoFit/>
          </a:bodyPr>
          <a:p>
            <a:r>
              <a:rPr lang="zh-CN" altLang="en-US"/>
              <a:t>分割：递归进行，分割次数</a:t>
            </a:r>
            <a:r>
              <a:rPr lang="en-US" altLang="zh-CN"/>
              <a:t>log n</a:t>
            </a:r>
            <a:r>
              <a:rPr lang="zh-CN" altLang="en-US"/>
              <a:t>次</a:t>
            </a:r>
            <a:endParaRPr lang="zh-CN" altLang="en-US"/>
          </a:p>
          <a:p>
            <a:r>
              <a:rPr lang="zh-CN" altLang="en-US"/>
              <a:t>合并操作：对数组内的每个元素进行，执行</a:t>
            </a:r>
            <a:r>
              <a:rPr lang="en-US" altLang="zh-CN"/>
              <a:t>n</a:t>
            </a:r>
            <a:r>
              <a:rPr lang="zh-CN" altLang="en-US"/>
              <a:t>次</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669"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96"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197" name="图片 73"/>
          <p:cNvPicPr>
            <a:picLocks noChangeAspect="1"/>
          </p:cNvPicPr>
          <p:nvPr/>
        </p:nvPicPr>
        <p:blipFill>
          <a:blip r:embed="rId2"/>
          <a:stretch>
            <a:fillRect/>
          </a:stretch>
        </p:blipFill>
        <p:spPr>
          <a:xfrm>
            <a:off x="7983822" y="87720"/>
            <a:ext cx="2361905" cy="800000"/>
          </a:xfrm>
          <a:prstGeom prst="rect">
            <a:avLst/>
          </a:prstGeom>
        </p:spPr>
      </p:pic>
      <p:sp>
        <p:nvSpPr>
          <p:cNvPr id="1048670"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5</a:t>
            </a:r>
            <a:r>
              <a:rPr lang="zh-CN" altLang="en-US" sz="3200" b="1" dirty="0">
                <a:solidFill>
                  <a:srgbClr val="FF0000"/>
                </a:solidFill>
                <a:sym typeface="+mn-ea"/>
              </a:rPr>
              <a:t>、快速排序</a:t>
            </a:r>
            <a:endParaRPr lang="zh-CN" altLang="en-US" sz="3200" b="1" dirty="0">
              <a:solidFill>
                <a:srgbClr val="FF0000"/>
              </a:solidFill>
            </a:endParaRPr>
          </a:p>
        </p:txBody>
      </p:sp>
      <p:pic>
        <p:nvPicPr>
          <p:cNvPr id="2097198" name="图片 -2147482614" descr="IMG_256"/>
          <p:cNvPicPr>
            <a:picLocks noChangeAspect="1"/>
          </p:cNvPicPr>
          <p:nvPr/>
        </p:nvPicPr>
        <p:blipFill>
          <a:blip r:embed="rId3"/>
          <a:stretch>
            <a:fillRect/>
          </a:stretch>
        </p:blipFill>
        <p:spPr>
          <a:xfrm>
            <a:off x="1524000" y="2132330"/>
            <a:ext cx="4247515" cy="3208020"/>
          </a:xfrm>
          <a:prstGeom prst="rect">
            <a:avLst/>
          </a:prstGeom>
          <a:noFill/>
          <a:ln w="9525">
            <a:noFill/>
          </a:ln>
        </p:spPr>
      </p:pic>
      <p:sp>
        <p:nvSpPr>
          <p:cNvPr id="1048671" name="文本框 99"/>
          <p:cNvSpPr txBox="1"/>
          <p:nvPr/>
        </p:nvSpPr>
        <p:spPr>
          <a:xfrm>
            <a:off x="6055995" y="1544320"/>
            <a:ext cx="5080000" cy="3653790"/>
          </a:xfrm>
          <a:prstGeom prst="rect">
            <a:avLst/>
          </a:prstGeom>
          <a:noFill/>
          <a:ln w="9525">
            <a:noFill/>
          </a:ln>
        </p:spPr>
        <p:txBody>
          <a:bodyPr>
            <a:spAutoFit/>
          </a:bodyPr>
          <a:p>
            <a:pPr indent="0" fontAlgn="auto">
              <a:lnSpc>
                <a:spcPct val="150000"/>
              </a:lnSpc>
            </a:pPr>
            <a:r>
              <a:rPr lang="en-US" sz="1050" b="0">
                <a:latin typeface="宋体" panose="02010600030101010101" pitchFamily="2" charset="-122"/>
                <a:cs typeface="Times New Roman" panose="02020603050405020304" pitchFamily="18" charset="0"/>
              </a:rPr>
              <a:t>Quicksort(left, right, arr)
    if left &lt; right then
        pivot = arr[left]   </a:t>
            </a:r>
            <a:r>
              <a:rPr lang="zh-CN" sz="1050" b="0">
                <a:ea typeface="宋体" panose="02010600030101010101" pitchFamily="2" charset="-122"/>
                <a:cs typeface="Times New Roman" panose="02020603050405020304" pitchFamily="18" charset="0"/>
              </a:rPr>
              <a:t>// 选择基准元素，通常选择数组的第一个元素</a:t>
            </a:r>
            <a:r>
              <a:rPr lang="en-US" sz="1050" b="0">
                <a:latin typeface="宋体" panose="02010600030101010101" pitchFamily="2" charset="-122"/>
                <a:cs typeface="Times New Roman" panose="02020603050405020304" pitchFamily="18" charset="0"/>
              </a:rPr>
              <a:t>
        l = left
        r = right
        while l &lt; r do</a:t>
            </a:r>
            <a:r>
              <a:rPr lang="zh-CN" sz="1050" b="0">
                <a:ea typeface="宋体" panose="02010600030101010101" pitchFamily="2" charset="-122"/>
                <a:cs typeface="Times New Roman" panose="02020603050405020304" pitchFamily="18" charset="0"/>
              </a:rPr>
              <a:t>
            while arr[l] &lt;= pivot and l &lt; r do // 找到左边大于基准的元素</a:t>
            </a:r>
            <a:r>
              <a:rPr lang="en-US" sz="1050" b="0">
                <a:latin typeface="宋体" panose="02010600030101010101" pitchFamily="2" charset="-122"/>
                <a:cs typeface="Times New Roman" panose="02020603050405020304" pitchFamily="18" charset="0"/>
              </a:rPr>
              <a:t>
                l = l + 1
            while arr[r] &gt; pivot do 	</a:t>
            </a:r>
            <a:r>
              <a:rPr lang="zh-CN" sz="1050" b="0">
                <a:ea typeface="宋体" panose="02010600030101010101" pitchFamily="2" charset="-122"/>
                <a:cs typeface="Times New Roman" panose="02020603050405020304" pitchFamily="18" charset="0"/>
              </a:rPr>
              <a:t>// 找到右边小于基准的元素</a:t>
            </a:r>
            <a:r>
              <a:rPr lang="en-US" sz="1050" b="0">
                <a:latin typeface="宋体" panose="02010600030101010101" pitchFamily="2" charset="-122"/>
                <a:cs typeface="Times New Roman" panose="02020603050405020304" pitchFamily="18" charset="0"/>
              </a:rPr>
              <a:t>
                r = r - 1 
            if l &lt; r then						</a:t>
            </a:r>
            <a:r>
              <a:rPr lang="zh-CN" sz="1050" b="0">
                <a:ea typeface="宋体" panose="02010600030101010101" pitchFamily="2" charset="-122"/>
                <a:cs typeface="Times New Roman" panose="02020603050405020304" pitchFamily="18" charset="0"/>
              </a:rPr>
              <a:t>// 交换 arr[l] 和 arr[r]</a:t>
            </a:r>
            <a:r>
              <a:rPr lang="en-US" sz="1050" b="0">
                <a:latin typeface="宋体" panose="02010600030101010101" pitchFamily="2" charset="-122"/>
                <a:cs typeface="Times New Roman" panose="02020603050405020304" pitchFamily="18" charset="0"/>
              </a:rPr>
              <a:t>
                swap arr[l] and arr[r]</a:t>
            </a:r>
            <a:endParaRPr lang="zh-CN" sz="1050" b="0">
              <a:ea typeface="宋体" panose="02010600030101010101" pitchFamily="2" charset="-122"/>
              <a:cs typeface="Times New Roman" panose="02020603050405020304" pitchFamily="18" charset="0"/>
            </a:endParaRPr>
          </a:p>
          <a:p>
            <a:pPr indent="0" fontAlgn="auto">
              <a:lnSpc>
                <a:spcPct val="150000"/>
              </a:lnSpc>
            </a:pPr>
            <a:r>
              <a:rPr lang="en-US" altLang="zh-CN" sz="1050" b="0">
                <a:ea typeface="宋体" panose="02010600030101010101" pitchFamily="2" charset="-122"/>
                <a:cs typeface="Times New Roman" panose="02020603050405020304" pitchFamily="18" charset="0"/>
              </a:rPr>
              <a:t>             </a:t>
            </a:r>
            <a:r>
              <a:rPr lang="zh-CN" sz="1050" b="0">
                <a:ea typeface="宋体" panose="02010600030101010101" pitchFamily="2" charset="-122"/>
                <a:cs typeface="Times New Roman" panose="02020603050405020304" pitchFamily="18" charset="0"/>
              </a:rPr>
              <a:t>// 将基准元素放到正确的位置</a:t>
            </a:r>
            <a:r>
              <a:rPr lang="en-US" sz="1050" b="0">
                <a:latin typeface="宋体" panose="02010600030101010101" pitchFamily="2" charset="-122"/>
                <a:cs typeface="Times New Roman" panose="02020603050405020304" pitchFamily="18" charset="0"/>
              </a:rPr>
              <a:t>
        swap arr[left] and arr[r]
        Quicksort(left, r - 1, arr)
        Quicksort(r + 1, right, arr)</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675" name="矩形 51"/>
          <p:cNvSpPr/>
          <p:nvPr/>
        </p:nvSpPr>
        <p:spPr>
          <a:xfrm>
            <a:off x="1919537" y="188641"/>
            <a:ext cx="3840481" cy="62484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排序算法性能分析</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199"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00" name="图片 73"/>
          <p:cNvPicPr>
            <a:picLocks noChangeAspect="1"/>
          </p:cNvPicPr>
          <p:nvPr/>
        </p:nvPicPr>
        <p:blipFill>
          <a:blip r:embed="rId2"/>
          <a:stretch>
            <a:fillRect/>
          </a:stretch>
        </p:blipFill>
        <p:spPr>
          <a:xfrm>
            <a:off x="7983822" y="87720"/>
            <a:ext cx="2361905" cy="800000"/>
          </a:xfrm>
          <a:prstGeom prst="rect">
            <a:avLst/>
          </a:prstGeom>
        </p:spPr>
      </p:pic>
      <p:sp>
        <p:nvSpPr>
          <p:cNvPr id="1048676"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5</a:t>
            </a:r>
            <a:r>
              <a:rPr lang="zh-CN" altLang="en-US" sz="3200" b="1" dirty="0">
                <a:solidFill>
                  <a:srgbClr val="FF0000"/>
                </a:solidFill>
                <a:sym typeface="+mn-ea"/>
              </a:rPr>
              <a:t>、快速排序</a:t>
            </a:r>
            <a:endParaRPr lang="zh-CN" altLang="en-US" sz="3200" b="1" dirty="0">
              <a:solidFill>
                <a:srgbClr val="FF0000"/>
              </a:solidFill>
            </a:endParaRPr>
          </a:p>
        </p:txBody>
      </p:sp>
      <p:sp>
        <p:nvSpPr>
          <p:cNvPr id="1048677" name="文本框 8"/>
          <p:cNvSpPr txBox="1"/>
          <p:nvPr/>
        </p:nvSpPr>
        <p:spPr>
          <a:xfrm>
            <a:off x="1524000" y="1962149"/>
            <a:ext cx="3200400" cy="2021841"/>
          </a:xfrm>
          <a:prstGeom prst="rect">
            <a:avLst/>
          </a:prstGeom>
          <a:noFill/>
        </p:spPr>
        <p:txBody>
          <a:bodyPr wrap="square" rtlCol="0">
            <a:spAutoFit/>
          </a:bodyPr>
          <a:p>
            <a:r>
              <a:rPr lang="zh-CN" altLang="en-US" sz="2400" b="1" dirty="0"/>
              <a:t>算法复杂度：</a:t>
            </a:r>
            <a:endParaRPr lang="en-US" altLang="zh-CN" sz="2400" b="1" dirty="0"/>
          </a:p>
          <a:p>
            <a:endParaRPr lang="en-US" altLang="zh-CN" sz="2400" b="1" dirty="0"/>
          </a:p>
          <a:p>
            <a:r>
              <a:rPr lang="zh-CN" altLang="en-US" sz="2000" b="1" dirty="0"/>
              <a:t>最坏时间复杂度：</a:t>
            </a:r>
            <a:r>
              <a:rPr lang="en-US" altLang="zh-CN" sz="2000" b="1" dirty="0"/>
              <a:t>O(n^2)</a:t>
            </a:r>
            <a:endParaRPr lang="en-US" altLang="zh-CN" sz="2000" b="1" dirty="0"/>
          </a:p>
          <a:p>
            <a:r>
              <a:rPr lang="zh-CN" altLang="en-US" sz="2000" b="1" dirty="0"/>
              <a:t>最好时间复杂度：</a:t>
            </a:r>
            <a:r>
              <a:rPr lang="en-US" altLang="zh-CN" sz="2000" b="1" dirty="0"/>
              <a:t>O(nlogn)</a:t>
            </a:r>
            <a:endParaRPr lang="en-US" altLang="zh-CN" sz="2000" b="1" dirty="0"/>
          </a:p>
          <a:p>
            <a:r>
              <a:rPr lang="zh-CN" altLang="en-US" sz="2000" b="1" dirty="0"/>
              <a:t>平均时间复杂度：</a:t>
            </a:r>
            <a:r>
              <a:rPr lang="en-US" altLang="zh-CN" sz="2000" b="1" dirty="0"/>
              <a:t>O(nlogn)</a:t>
            </a:r>
            <a:endParaRPr lang="en-US" altLang="zh-CN" sz="2000" b="1" dirty="0"/>
          </a:p>
          <a:p>
            <a:endParaRPr lang="en-US" altLang="zh-CN" sz="2000" b="1" dirty="0"/>
          </a:p>
        </p:txBody>
      </p:sp>
      <p:pic>
        <p:nvPicPr>
          <p:cNvPr id="2097201" name="图片 -2147482591" descr="f1c2f7029a75a05b58c52758fc6dff2"/>
          <p:cNvPicPr>
            <a:picLocks noChangeAspect="1"/>
          </p:cNvPicPr>
          <p:nvPr/>
        </p:nvPicPr>
        <p:blipFill>
          <a:blip r:embed="rId3"/>
          <a:stretch>
            <a:fillRect/>
          </a:stretch>
        </p:blipFill>
        <p:spPr>
          <a:xfrm>
            <a:off x="6069965" y="1134745"/>
            <a:ext cx="4476115" cy="1313815"/>
          </a:xfrm>
          <a:prstGeom prst="rect">
            <a:avLst/>
          </a:prstGeom>
          <a:noFill/>
          <a:ln w="9525">
            <a:noFill/>
          </a:ln>
        </p:spPr>
      </p:pic>
      <p:pic>
        <p:nvPicPr>
          <p:cNvPr id="2097202" name="图片 -2147482590" descr="6c6b0e52e1f62d5733e4d08ba3f8f95"/>
          <p:cNvPicPr>
            <a:picLocks noChangeAspect="1"/>
          </p:cNvPicPr>
          <p:nvPr/>
        </p:nvPicPr>
        <p:blipFill>
          <a:blip r:embed="rId4"/>
          <a:stretch>
            <a:fillRect/>
          </a:stretch>
        </p:blipFill>
        <p:spPr>
          <a:xfrm>
            <a:off x="6035040" y="2755265"/>
            <a:ext cx="4545965" cy="3521710"/>
          </a:xfrm>
          <a:prstGeom prst="rect">
            <a:avLst/>
          </a:prstGeom>
          <a:noFill/>
          <a:ln w="9525">
            <a:noFill/>
          </a:ln>
        </p:spPr>
      </p:pic>
      <p:sp>
        <p:nvSpPr>
          <p:cNvPr id="1048678" name="文本框 4"/>
          <p:cNvSpPr txBox="1"/>
          <p:nvPr/>
        </p:nvSpPr>
        <p:spPr>
          <a:xfrm>
            <a:off x="1555750" y="4442460"/>
            <a:ext cx="3865880" cy="624840"/>
          </a:xfrm>
          <a:prstGeom prst="rect">
            <a:avLst/>
          </a:prstGeom>
          <a:noFill/>
        </p:spPr>
        <p:txBody>
          <a:bodyPr wrap="none" rtlCol="0">
            <a:spAutoFit/>
          </a:bodyPr>
          <a:p>
            <a:r>
              <a:rPr lang="zh-CN" altLang="en-US"/>
              <a:t>选择基准</a:t>
            </a:r>
            <a:r>
              <a:rPr lang="en-US" altLang="zh-CN"/>
              <a:t>--</a:t>
            </a:r>
            <a:r>
              <a:rPr lang="zh-CN" altLang="en-US"/>
              <a:t>递归深度</a:t>
            </a:r>
            <a:r>
              <a:rPr lang="en-US" altLang="zh-CN"/>
              <a:t> </a:t>
            </a:r>
            <a:r>
              <a:rPr lang="zh-CN" altLang="en-US"/>
              <a:t>【</a:t>
            </a:r>
            <a:r>
              <a:rPr lang="en-US" altLang="zh-CN"/>
              <a:t>log n OR n</a:t>
            </a:r>
            <a:r>
              <a:rPr lang="zh-CN" altLang="en-US"/>
              <a:t>】</a:t>
            </a:r>
            <a:endParaRPr lang="zh-CN" altLang="en-US"/>
          </a:p>
          <a:p>
            <a:r>
              <a:rPr lang="zh-CN" altLang="en-US"/>
              <a:t>合并操作：执行</a:t>
            </a:r>
            <a:r>
              <a:rPr lang="en-US" altLang="zh-CN"/>
              <a:t>n</a:t>
            </a:r>
            <a:r>
              <a:rPr lang="zh-CN" altLang="en-US"/>
              <a:t>次</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682" name="TextBox 11"/>
          <p:cNvSpPr txBox="1"/>
          <p:nvPr/>
        </p:nvSpPr>
        <p:spPr>
          <a:xfrm>
            <a:off x="5501302" y="2685994"/>
            <a:ext cx="5669281" cy="1043940"/>
          </a:xfrm>
          <a:prstGeom prst="rect">
            <a:avLst/>
          </a:prstGeom>
          <a:noFill/>
        </p:spPr>
        <p:txBody>
          <a:bodyPr wrap="none" rtlCol="0">
            <a:spAutoFit/>
          </a:bodyPr>
          <a:p>
            <a:pPr marL="0" lvl="1" algn="ctr"/>
            <a:r>
              <a:rPr lang="zh-CN" altLang="en-US" sz="1400" b="1" dirty="0">
                <a:solidFill>
                  <a:srgbClr val="080808"/>
                </a:solidFill>
                <a:latin typeface="+mj-ea"/>
                <a:ea typeface="+mj-ea"/>
              </a:rPr>
              <a:t> </a:t>
            </a:r>
            <a:r>
              <a:rPr lang="en-US" altLang="zh-CN" sz="2800" b="1" dirty="0">
                <a:solidFill>
                  <a:srgbClr val="080808"/>
                </a:solidFill>
                <a:latin typeface="+mj-ea"/>
                <a:ea typeface="+mj-ea"/>
              </a:rPr>
              <a:t>SECTION 2</a:t>
            </a:r>
            <a:endParaRPr lang="en-US" altLang="zh-CN" sz="2800" b="1" dirty="0">
              <a:solidFill>
                <a:srgbClr val="080808"/>
              </a:solidFill>
              <a:latin typeface="+mj-ea"/>
              <a:ea typeface="+mj-ea"/>
            </a:endParaRPr>
          </a:p>
          <a:p>
            <a:pPr marL="0" lvl="1" algn="ctr"/>
            <a:r>
              <a:rPr lang="zh-CN" altLang="en-US" sz="3600" b="1" dirty="0">
                <a:solidFill>
                  <a:srgbClr val="C00000"/>
                </a:solidFill>
                <a:latin typeface="微软雅黑" panose="020B0503020204020204" pitchFamily="34" charset="-122"/>
                <a:ea typeface="微软雅黑" panose="020B0503020204020204" pitchFamily="34" charset="-122"/>
              </a:rPr>
              <a:t>相同时间复杂度下效率</a:t>
            </a:r>
            <a:r>
              <a:rPr lang="zh-CN" altLang="en-US" sz="3600" b="1" dirty="0">
                <a:solidFill>
                  <a:srgbClr val="C00000"/>
                </a:solidFill>
                <a:latin typeface="微软雅黑" panose="020B0503020204020204" pitchFamily="34" charset="-122"/>
                <a:ea typeface="微软雅黑" panose="020B0503020204020204" pitchFamily="34" charset="-122"/>
              </a:rPr>
              <a:t>比较</a:t>
            </a:r>
            <a:endParaRPr lang="zh-CN" altLang="en-US" sz="3600" b="1" dirty="0">
              <a:solidFill>
                <a:srgbClr val="C00000"/>
              </a:solidFill>
              <a:latin typeface="微软雅黑" panose="020B0503020204020204" pitchFamily="34" charset="-122"/>
              <a:ea typeface="微软雅黑" panose="020B0503020204020204" pitchFamily="34" charset="-122"/>
            </a:endParaRPr>
          </a:p>
        </p:txBody>
      </p:sp>
      <p:cxnSp>
        <p:nvCxnSpPr>
          <p:cNvPr id="3145729" name="直接连接符 12"/>
          <p:cNvCxnSpPr/>
          <p:nvPr/>
        </p:nvCxnSpPr>
        <p:spPr>
          <a:xfrm flipV="1">
            <a:off x="5159896" y="2492896"/>
            <a:ext cx="0" cy="1924424"/>
          </a:xfrm>
          <a:prstGeom prst="line">
            <a:avLst/>
          </a:prstGeom>
          <a:ln w="12700">
            <a:solidFill>
              <a:srgbClr val="080808"/>
            </a:solidFill>
            <a:prstDash val="dash"/>
          </a:ln>
        </p:spPr>
        <p:style>
          <a:lnRef idx="1">
            <a:schemeClr val="accent1"/>
          </a:lnRef>
          <a:fillRef idx="0">
            <a:schemeClr val="accent1"/>
          </a:fillRef>
          <a:effectRef idx="0">
            <a:schemeClr val="accent1"/>
          </a:effectRef>
          <a:fontRef idx="minor">
            <a:schemeClr val="tx1"/>
          </a:fontRef>
        </p:style>
      </p:cxnSp>
      <p:sp>
        <p:nvSpPr>
          <p:cNvPr id="1048683" name="TextBox 13"/>
          <p:cNvSpPr txBox="1"/>
          <p:nvPr/>
        </p:nvSpPr>
        <p:spPr>
          <a:xfrm>
            <a:off x="3841896" y="4086982"/>
            <a:ext cx="902846" cy="246221"/>
          </a:xfrm>
          <a:prstGeom prst="rect">
            <a:avLst/>
          </a:prstGeom>
          <a:noFill/>
        </p:spPr>
        <p:txBody>
          <a:bodyPr wrap="square" lIns="0" tIns="0" rIns="0" bIns="0" rtlCol="0">
            <a:spAutoFit/>
          </a:bodyPr>
          <a:p>
            <a:r>
              <a:rPr lang="en-US" altLang="zh-CN" sz="1600" dirty="0">
                <a:solidFill>
                  <a:srgbClr val="080808"/>
                </a:solidFill>
                <a:latin typeface="+mj-ea"/>
                <a:ea typeface="+mj-ea"/>
              </a:rPr>
              <a:t>PART 02</a:t>
            </a:r>
            <a:endParaRPr lang="zh-CN" altLang="en-US" sz="1600" dirty="0">
              <a:solidFill>
                <a:srgbClr val="080808"/>
              </a:solidFill>
              <a:latin typeface="+mj-ea"/>
              <a:ea typeface="+mj-ea"/>
            </a:endParaRPr>
          </a:p>
        </p:txBody>
      </p:sp>
      <p:grpSp>
        <p:nvGrpSpPr>
          <p:cNvPr id="103" name="组合 15"/>
          <p:cNvGrpSpPr/>
          <p:nvPr/>
        </p:nvGrpSpPr>
        <p:grpSpPr>
          <a:xfrm>
            <a:off x="3647730" y="2564908"/>
            <a:ext cx="1197175" cy="1197175"/>
            <a:chOff x="304800" y="673100"/>
            <a:chExt cx="4000500" cy="4000500"/>
          </a:xfrm>
          <a:effectLst>
            <a:outerShdw blurRad="444500" dist="254000" dir="8100000" algn="tr" rotWithShape="0">
              <a:prstClr val="black">
                <a:alpha val="50000"/>
              </a:prstClr>
            </a:outerShdw>
          </a:effectLst>
        </p:grpSpPr>
        <p:sp>
          <p:nvSpPr>
            <p:cNvPr id="1048684" name="同心圆 1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80808"/>
                </a:solidFill>
                <a:latin typeface="+mj-ea"/>
                <a:ea typeface="+mj-ea"/>
              </a:endParaRPr>
            </a:p>
          </p:txBody>
        </p:sp>
        <p:sp>
          <p:nvSpPr>
            <p:cNvPr id="1048685" name="椭圆 18"/>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80808"/>
                </a:solidFill>
                <a:latin typeface="+mj-ea"/>
                <a:ea typeface="+mj-ea"/>
              </a:endParaRPr>
            </a:p>
          </p:txBody>
        </p:sp>
      </p:grpSp>
      <p:sp>
        <p:nvSpPr>
          <p:cNvPr id="1048686" name="TextBox 13"/>
          <p:cNvSpPr txBox="1"/>
          <p:nvPr/>
        </p:nvSpPr>
        <p:spPr>
          <a:xfrm>
            <a:off x="3868338" y="2778774"/>
            <a:ext cx="902846" cy="736601"/>
          </a:xfrm>
          <a:prstGeom prst="rect">
            <a:avLst/>
          </a:prstGeom>
          <a:noFill/>
        </p:spPr>
        <p:txBody>
          <a:bodyPr wrap="square" lIns="0" tIns="0" rIns="0" bIns="0" rtlCol="0">
            <a:spAutoFit/>
          </a:bodyPr>
          <a:p>
            <a:r>
              <a:rPr lang="en-US" altLang="zh-CN" sz="5000" b="1" dirty="0">
                <a:solidFill>
                  <a:srgbClr val="C00000"/>
                </a:solidFill>
                <a:latin typeface="+mj-ea"/>
                <a:ea typeface="+mj-ea"/>
              </a:rPr>
              <a:t>02</a:t>
            </a:r>
            <a:endParaRPr lang="zh-CN" altLang="en-US" sz="5000" b="1" dirty="0">
              <a:solidFill>
                <a:srgbClr val="C00000"/>
              </a:solidFill>
              <a:latin typeface="+mj-ea"/>
              <a:ea typeface="+mj-ea"/>
            </a:endParaRPr>
          </a:p>
        </p:txBody>
      </p:sp>
      <p:pic>
        <p:nvPicPr>
          <p:cNvPr id="2097203" name="图片 16"/>
          <p:cNvPicPr>
            <a:picLocks noChangeAspect="1"/>
          </p:cNvPicPr>
          <p:nvPr/>
        </p:nvPicPr>
        <p:blipFill>
          <a:blip r:embed="rId1"/>
          <a:stretch>
            <a:fillRect/>
          </a:stretch>
        </p:blipFill>
        <p:spPr>
          <a:xfrm>
            <a:off x="7983822" y="87720"/>
            <a:ext cx="2361905" cy="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45729"/>
                                        </p:tgtEl>
                                        <p:attrNameLst>
                                          <p:attrName>style.visibility</p:attrName>
                                        </p:attrNameLst>
                                      </p:cBhvr>
                                      <p:to>
                                        <p:strVal val="visible"/>
                                      </p:to>
                                    </p:set>
                                    <p:animEffect transition="in" filter="fade">
                                      <p:cBhvr>
                                        <p:cTn id="7" dur="1000"/>
                                        <p:tgtEl>
                                          <p:spTgt spid="3145729"/>
                                        </p:tgtEl>
                                      </p:cBhvr>
                                    </p:animEffect>
                                    <p:anim calcmode="lin" valueType="num">
                                      <p:cBhvr>
                                        <p:cTn id="8" dur="1000" fill="hold"/>
                                        <p:tgtEl>
                                          <p:spTgt spid="3145729"/>
                                        </p:tgtEl>
                                        <p:attrNameLst>
                                          <p:attrName>ppt_x</p:attrName>
                                        </p:attrNameLst>
                                      </p:cBhvr>
                                      <p:tavLst>
                                        <p:tav tm="0">
                                          <p:val>
                                            <p:strVal val="#ppt_x"/>
                                          </p:val>
                                        </p:tav>
                                        <p:tav tm="100000">
                                          <p:val>
                                            <p:strVal val="#ppt_x"/>
                                          </p:val>
                                        </p:tav>
                                      </p:tavLst>
                                    </p:anim>
                                    <p:anim calcmode="lin" valueType="num">
                                      <p:cBhvr>
                                        <p:cTn id="9" dur="1000" fill="hold"/>
                                        <p:tgtEl>
                                          <p:spTgt spid="314572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3"/>
                                        </p:tgtEl>
                                        <p:attrNameLst>
                                          <p:attrName>style.visibility</p:attrName>
                                        </p:attrNameLst>
                                      </p:cBhvr>
                                      <p:to>
                                        <p:strVal val="visible"/>
                                      </p:to>
                                    </p:set>
                                    <p:animEffect transition="in" filter="fade">
                                      <p:cBhvr>
                                        <p:cTn id="12" dur="1000"/>
                                        <p:tgtEl>
                                          <p:spTgt spid="103"/>
                                        </p:tgtEl>
                                      </p:cBhvr>
                                    </p:animEffect>
                                    <p:anim calcmode="lin" valueType="num">
                                      <p:cBhvr>
                                        <p:cTn id="13" dur="1000" fill="hold"/>
                                        <p:tgtEl>
                                          <p:spTgt spid="103"/>
                                        </p:tgtEl>
                                        <p:attrNameLst>
                                          <p:attrName>ppt_x</p:attrName>
                                        </p:attrNameLst>
                                      </p:cBhvr>
                                      <p:tavLst>
                                        <p:tav tm="0">
                                          <p:val>
                                            <p:strVal val="#ppt_x"/>
                                          </p:val>
                                        </p:tav>
                                        <p:tav tm="100000">
                                          <p:val>
                                            <p:strVal val="#ppt_x"/>
                                          </p:val>
                                        </p:tav>
                                      </p:tavLst>
                                    </p:anim>
                                    <p:anim calcmode="lin" valueType="num">
                                      <p:cBhvr>
                                        <p:cTn id="14" dur="1000" fill="hold"/>
                                        <p:tgtEl>
                                          <p:spTgt spid="10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48686"/>
                                        </p:tgtEl>
                                        <p:attrNameLst>
                                          <p:attrName>style.visibility</p:attrName>
                                        </p:attrNameLst>
                                      </p:cBhvr>
                                      <p:to>
                                        <p:strVal val="visible"/>
                                      </p:to>
                                    </p:set>
                                    <p:animEffect transition="in" filter="fade">
                                      <p:cBhvr>
                                        <p:cTn id="17" dur="1000"/>
                                        <p:tgtEl>
                                          <p:spTgt spid="1048686"/>
                                        </p:tgtEl>
                                      </p:cBhvr>
                                    </p:animEffect>
                                    <p:anim calcmode="lin" valueType="num">
                                      <p:cBhvr>
                                        <p:cTn id="18" dur="1000" fill="hold"/>
                                        <p:tgtEl>
                                          <p:spTgt spid="1048686"/>
                                        </p:tgtEl>
                                        <p:attrNameLst>
                                          <p:attrName>ppt_x</p:attrName>
                                        </p:attrNameLst>
                                      </p:cBhvr>
                                      <p:tavLst>
                                        <p:tav tm="0">
                                          <p:val>
                                            <p:strVal val="#ppt_x"/>
                                          </p:val>
                                        </p:tav>
                                        <p:tav tm="100000">
                                          <p:val>
                                            <p:strVal val="#ppt_x"/>
                                          </p:val>
                                        </p:tav>
                                      </p:tavLst>
                                    </p:anim>
                                    <p:anim calcmode="lin" valueType="num">
                                      <p:cBhvr>
                                        <p:cTn id="19" dur="1000" fill="hold"/>
                                        <p:tgtEl>
                                          <p:spTgt spid="104868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48682"/>
                                        </p:tgtEl>
                                        <p:attrNameLst>
                                          <p:attrName>style.visibility</p:attrName>
                                        </p:attrNameLst>
                                      </p:cBhvr>
                                      <p:to>
                                        <p:strVal val="visible"/>
                                      </p:to>
                                    </p:set>
                                    <p:animEffect transition="in" filter="fade">
                                      <p:cBhvr>
                                        <p:cTn id="22" dur="1000"/>
                                        <p:tgtEl>
                                          <p:spTgt spid="1048682"/>
                                        </p:tgtEl>
                                      </p:cBhvr>
                                    </p:animEffect>
                                    <p:anim calcmode="lin" valueType="num">
                                      <p:cBhvr>
                                        <p:cTn id="23" dur="1000" fill="hold"/>
                                        <p:tgtEl>
                                          <p:spTgt spid="1048682"/>
                                        </p:tgtEl>
                                        <p:attrNameLst>
                                          <p:attrName>ppt_x</p:attrName>
                                        </p:attrNameLst>
                                      </p:cBhvr>
                                      <p:tavLst>
                                        <p:tav tm="0">
                                          <p:val>
                                            <p:strVal val="#ppt_x"/>
                                          </p:val>
                                        </p:tav>
                                        <p:tav tm="100000">
                                          <p:val>
                                            <p:strVal val="#ppt_x"/>
                                          </p:val>
                                        </p:tav>
                                      </p:tavLst>
                                    </p:anim>
                                    <p:anim calcmode="lin" valueType="num">
                                      <p:cBhvr>
                                        <p:cTn id="24" dur="1000" fill="hold"/>
                                        <p:tgtEl>
                                          <p:spTgt spid="104868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48683"/>
                                        </p:tgtEl>
                                        <p:attrNameLst>
                                          <p:attrName>style.visibility</p:attrName>
                                        </p:attrNameLst>
                                      </p:cBhvr>
                                      <p:to>
                                        <p:strVal val="visible"/>
                                      </p:to>
                                    </p:set>
                                    <p:animEffect transition="in" filter="fade">
                                      <p:cBhvr>
                                        <p:cTn id="27" dur="1000"/>
                                        <p:tgtEl>
                                          <p:spTgt spid="1048683"/>
                                        </p:tgtEl>
                                      </p:cBhvr>
                                    </p:animEffect>
                                    <p:anim calcmode="lin" valueType="num">
                                      <p:cBhvr>
                                        <p:cTn id="28" dur="1000" fill="hold"/>
                                        <p:tgtEl>
                                          <p:spTgt spid="1048683"/>
                                        </p:tgtEl>
                                        <p:attrNameLst>
                                          <p:attrName>ppt_x</p:attrName>
                                        </p:attrNameLst>
                                      </p:cBhvr>
                                      <p:tavLst>
                                        <p:tav tm="0">
                                          <p:val>
                                            <p:strVal val="#ppt_x"/>
                                          </p:val>
                                        </p:tav>
                                        <p:tav tm="100000">
                                          <p:val>
                                            <p:strVal val="#ppt_x"/>
                                          </p:val>
                                        </p:tav>
                                      </p:tavLst>
                                    </p:anim>
                                    <p:anim calcmode="lin" valueType="num">
                                      <p:cBhvr>
                                        <p:cTn id="29" dur="1000" fill="hold"/>
                                        <p:tgtEl>
                                          <p:spTgt spid="10486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82" grpId="0"/>
      <p:bldP spid="1048683" grpId="0"/>
      <p:bldP spid="104868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690" name="矩形 51"/>
          <p:cNvSpPr/>
          <p:nvPr/>
        </p:nvSpPr>
        <p:spPr>
          <a:xfrm>
            <a:off x="1523932" y="224836"/>
            <a:ext cx="5669280"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相同时间复杂度下效率</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比较</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04"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05" name="图片 73"/>
          <p:cNvPicPr>
            <a:picLocks noChangeAspect="1"/>
          </p:cNvPicPr>
          <p:nvPr/>
        </p:nvPicPr>
        <p:blipFill>
          <a:blip r:embed="rId2"/>
          <a:stretch>
            <a:fillRect/>
          </a:stretch>
        </p:blipFill>
        <p:spPr>
          <a:xfrm>
            <a:off x="7983822" y="87720"/>
            <a:ext cx="2361905" cy="800000"/>
          </a:xfrm>
          <a:prstGeom prst="rect">
            <a:avLst/>
          </a:prstGeom>
        </p:spPr>
      </p:pic>
      <p:sp>
        <p:nvSpPr>
          <p:cNvPr id="1048691"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1</a:t>
            </a:r>
            <a:r>
              <a:rPr lang="zh-CN" altLang="en-US" sz="3200" b="1" dirty="0">
                <a:solidFill>
                  <a:srgbClr val="FF0000"/>
                </a:solidFill>
                <a:sym typeface="+mn-ea"/>
              </a:rPr>
              <a:t>、</a:t>
            </a:r>
            <a:r>
              <a:rPr lang="en-US" altLang="zh-CN" sz="3200" b="1" dirty="0">
                <a:solidFill>
                  <a:srgbClr val="FF0000"/>
                </a:solidFill>
                <a:sym typeface="+mn-ea"/>
              </a:rPr>
              <a:t>O(n^2</a:t>
            </a:r>
            <a:r>
              <a:rPr lang="en-US" altLang="zh-CN" sz="3200" b="1" dirty="0">
                <a:solidFill>
                  <a:srgbClr val="FF0000"/>
                </a:solidFill>
                <a:sym typeface="+mn-ea"/>
              </a:rPr>
              <a:t>)</a:t>
            </a:r>
            <a:endParaRPr lang="en-US" altLang="zh-CN" sz="3200" b="1" dirty="0">
              <a:solidFill>
                <a:srgbClr val="FF0000"/>
              </a:solidFill>
              <a:sym typeface="+mn-ea"/>
            </a:endParaRPr>
          </a:p>
        </p:txBody>
      </p:sp>
      <p:sp>
        <p:nvSpPr>
          <p:cNvPr id="1048692" name="文本框 3"/>
          <p:cNvSpPr txBox="1"/>
          <p:nvPr/>
        </p:nvSpPr>
        <p:spPr>
          <a:xfrm>
            <a:off x="1524000" y="2049145"/>
            <a:ext cx="5669280" cy="645160"/>
          </a:xfrm>
          <a:prstGeom prst="rect">
            <a:avLst/>
          </a:prstGeom>
          <a:noFill/>
        </p:spPr>
        <p:txBody>
          <a:bodyPr wrap="square" rtlCol="0">
            <a:spAutoFit/>
          </a:bodyPr>
          <a:p>
            <a:r>
              <a:rPr lang="zh-CN" altLang="en-US"/>
              <a:t>时间复杂度为</a:t>
            </a:r>
            <a:r>
              <a:rPr lang="en-US" altLang="zh-CN"/>
              <a:t>O(n^2)</a:t>
            </a:r>
            <a:r>
              <a:rPr lang="zh-CN" altLang="en-US"/>
              <a:t>的算法有选择排序，插入排序，冒泡排序。</a:t>
            </a:r>
            <a:endParaRPr lang="zh-CN" altLang="en-US"/>
          </a:p>
        </p:txBody>
      </p:sp>
      <p:pic>
        <p:nvPicPr>
          <p:cNvPr id="2097206" name="图片 -2147482589"/>
          <p:cNvPicPr>
            <a:picLocks noChangeAspect="1"/>
          </p:cNvPicPr>
          <p:nvPr/>
        </p:nvPicPr>
        <p:blipFill>
          <a:blip r:embed="rId3"/>
          <a:stretch>
            <a:fillRect/>
          </a:stretch>
        </p:blipFill>
        <p:spPr>
          <a:xfrm>
            <a:off x="1668145" y="3046730"/>
            <a:ext cx="4958080" cy="1146175"/>
          </a:xfrm>
          <a:prstGeom prst="rect">
            <a:avLst/>
          </a:prstGeom>
          <a:noFill/>
          <a:ln w="9525">
            <a:noFill/>
          </a:ln>
        </p:spPr>
      </p:pic>
      <p:pic>
        <p:nvPicPr>
          <p:cNvPr id="2097207" name="图片 -2147482588"/>
          <p:cNvPicPr>
            <a:picLocks noChangeAspect="1"/>
          </p:cNvPicPr>
          <p:nvPr/>
        </p:nvPicPr>
        <p:blipFill>
          <a:blip r:embed="rId4"/>
          <a:stretch>
            <a:fillRect/>
          </a:stretch>
        </p:blipFill>
        <p:spPr>
          <a:xfrm>
            <a:off x="7107555" y="2153920"/>
            <a:ext cx="4586605" cy="3702685"/>
          </a:xfrm>
          <a:prstGeom prst="rect">
            <a:avLst/>
          </a:prstGeom>
          <a:noFill/>
          <a:ln w="9525">
            <a:noFill/>
          </a:ln>
        </p:spPr>
      </p:pic>
      <p:sp>
        <p:nvSpPr>
          <p:cNvPr id="1048693" name="文本框 5"/>
          <p:cNvSpPr txBox="1"/>
          <p:nvPr/>
        </p:nvSpPr>
        <p:spPr>
          <a:xfrm>
            <a:off x="1668145" y="5344160"/>
            <a:ext cx="5052060" cy="922020"/>
          </a:xfrm>
          <a:prstGeom prst="rect">
            <a:avLst/>
          </a:prstGeom>
          <a:noFill/>
        </p:spPr>
        <p:txBody>
          <a:bodyPr wrap="square" rtlCol="0">
            <a:spAutoFit/>
          </a:bodyPr>
          <a:p>
            <a:pPr algn="l"/>
            <a:r>
              <a:rPr lang="zh-CN" altLang="en-US"/>
              <a:t>冒泡排序需要频繁的交换比较造成时间成本过高，即使都已经排好序，仍会进行所有的比较和交换操作</a:t>
            </a:r>
            <a:endParaRPr lang="zh-CN" altLang="en-US"/>
          </a:p>
        </p:txBody>
      </p:sp>
      <p:sp>
        <p:nvSpPr>
          <p:cNvPr id="1048694" name="文本框 6"/>
          <p:cNvSpPr txBox="1"/>
          <p:nvPr/>
        </p:nvSpPr>
        <p:spPr>
          <a:xfrm>
            <a:off x="1668145" y="4690110"/>
            <a:ext cx="4069080" cy="368300"/>
          </a:xfrm>
          <a:prstGeom prst="rect">
            <a:avLst/>
          </a:prstGeom>
          <a:noFill/>
        </p:spPr>
        <p:txBody>
          <a:bodyPr wrap="none" rtlCol="0">
            <a:spAutoFit/>
          </a:bodyPr>
          <a:p>
            <a:r>
              <a:rPr lang="zh-CN" altLang="en-US"/>
              <a:t>相同时间复杂度</a:t>
            </a:r>
            <a:r>
              <a:rPr lang="en-US" altLang="zh-CN"/>
              <a:t>--</a:t>
            </a:r>
            <a:r>
              <a:rPr lang="zh-CN" altLang="en-US"/>
              <a:t>冒泡排序用时</a:t>
            </a:r>
            <a:r>
              <a:rPr lang="zh-CN" altLang="en-US"/>
              <a:t>最大？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698" name="矩形 51"/>
          <p:cNvSpPr/>
          <p:nvPr/>
        </p:nvSpPr>
        <p:spPr>
          <a:xfrm>
            <a:off x="1523932" y="224836"/>
            <a:ext cx="5669280"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相同时间复杂度下效率</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比较</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08"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09" name="图片 73"/>
          <p:cNvPicPr>
            <a:picLocks noChangeAspect="1"/>
          </p:cNvPicPr>
          <p:nvPr/>
        </p:nvPicPr>
        <p:blipFill>
          <a:blip r:embed="rId2"/>
          <a:stretch>
            <a:fillRect/>
          </a:stretch>
        </p:blipFill>
        <p:spPr>
          <a:xfrm>
            <a:off x="7983822" y="87720"/>
            <a:ext cx="2361905" cy="800000"/>
          </a:xfrm>
          <a:prstGeom prst="rect">
            <a:avLst/>
          </a:prstGeom>
        </p:spPr>
      </p:pic>
      <p:sp>
        <p:nvSpPr>
          <p:cNvPr id="1048699"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2</a:t>
            </a:r>
            <a:r>
              <a:rPr lang="zh-CN" altLang="en-US" sz="3200" b="1" dirty="0">
                <a:solidFill>
                  <a:srgbClr val="FF0000"/>
                </a:solidFill>
                <a:sym typeface="+mn-ea"/>
              </a:rPr>
              <a:t>、</a:t>
            </a:r>
            <a:r>
              <a:rPr lang="en-US" altLang="zh-CN" sz="3200" b="1" dirty="0">
                <a:solidFill>
                  <a:srgbClr val="FF0000"/>
                </a:solidFill>
                <a:sym typeface="+mn-ea"/>
              </a:rPr>
              <a:t>O(nlogn)</a:t>
            </a:r>
            <a:endParaRPr lang="en-US" altLang="zh-CN" sz="3200" b="1" dirty="0">
              <a:solidFill>
                <a:srgbClr val="FF0000"/>
              </a:solidFill>
              <a:sym typeface="+mn-ea"/>
            </a:endParaRPr>
          </a:p>
        </p:txBody>
      </p:sp>
      <p:sp>
        <p:nvSpPr>
          <p:cNvPr id="1048700" name="文本框 3"/>
          <p:cNvSpPr txBox="1"/>
          <p:nvPr/>
        </p:nvSpPr>
        <p:spPr>
          <a:xfrm>
            <a:off x="1524000" y="2049145"/>
            <a:ext cx="5669280" cy="368300"/>
          </a:xfrm>
          <a:prstGeom prst="rect">
            <a:avLst/>
          </a:prstGeom>
          <a:noFill/>
        </p:spPr>
        <p:txBody>
          <a:bodyPr wrap="square" rtlCol="0">
            <a:spAutoFit/>
          </a:bodyPr>
          <a:p>
            <a:r>
              <a:rPr lang="zh-CN" altLang="en-US"/>
              <a:t>时间复杂度为</a:t>
            </a:r>
            <a:r>
              <a:rPr lang="en-US" altLang="zh-CN"/>
              <a:t>O(nlogn)</a:t>
            </a:r>
            <a:r>
              <a:rPr lang="zh-CN" altLang="en-US"/>
              <a:t>的算法有归并排序，快速排序。</a:t>
            </a:r>
            <a:endParaRPr lang="zh-CN" altLang="en-US"/>
          </a:p>
        </p:txBody>
      </p:sp>
      <p:pic>
        <p:nvPicPr>
          <p:cNvPr id="2097210" name="图片 -2147482584"/>
          <p:cNvPicPr>
            <a:picLocks noChangeAspect="1"/>
          </p:cNvPicPr>
          <p:nvPr/>
        </p:nvPicPr>
        <p:blipFill>
          <a:blip r:embed="rId3"/>
          <a:stretch>
            <a:fillRect/>
          </a:stretch>
        </p:blipFill>
        <p:spPr>
          <a:xfrm>
            <a:off x="1616075" y="2842895"/>
            <a:ext cx="5261610" cy="974090"/>
          </a:xfrm>
          <a:prstGeom prst="rect">
            <a:avLst/>
          </a:prstGeom>
          <a:noFill/>
          <a:ln w="9525">
            <a:noFill/>
          </a:ln>
        </p:spPr>
      </p:pic>
      <p:pic>
        <p:nvPicPr>
          <p:cNvPr id="2097211" name="图片 -2147482583"/>
          <p:cNvPicPr>
            <a:picLocks noChangeAspect="1"/>
          </p:cNvPicPr>
          <p:nvPr/>
        </p:nvPicPr>
        <p:blipFill>
          <a:blip r:embed="rId4"/>
          <a:stretch>
            <a:fillRect/>
          </a:stretch>
        </p:blipFill>
        <p:spPr>
          <a:xfrm>
            <a:off x="7012305" y="2318385"/>
            <a:ext cx="4848860" cy="3764915"/>
          </a:xfrm>
          <a:prstGeom prst="rect">
            <a:avLst/>
          </a:prstGeom>
          <a:noFill/>
          <a:ln w="9525">
            <a:noFill/>
          </a:ln>
        </p:spPr>
      </p:pic>
      <p:sp>
        <p:nvSpPr>
          <p:cNvPr id="1048701" name="文本框 6"/>
          <p:cNvSpPr txBox="1"/>
          <p:nvPr/>
        </p:nvSpPr>
        <p:spPr>
          <a:xfrm>
            <a:off x="1616075" y="4050665"/>
            <a:ext cx="4670425" cy="1568450"/>
          </a:xfrm>
          <a:prstGeom prst="rect">
            <a:avLst/>
          </a:prstGeom>
          <a:noFill/>
        </p:spPr>
        <p:txBody>
          <a:bodyPr wrap="square" rtlCol="0">
            <a:spAutoFit/>
          </a:bodyPr>
          <a:p>
            <a:pPr algn="l" fontAlgn="auto">
              <a:lnSpc>
                <a:spcPct val="150000"/>
              </a:lnSpc>
            </a:pPr>
            <a:r>
              <a:rPr lang="zh-CN" altLang="en-US" sz="1600" b="1"/>
              <a:t>快速排序</a:t>
            </a:r>
            <a:r>
              <a:rPr lang="zh-CN" altLang="en-US" sz="1600"/>
              <a:t>是一个原地排序的算法，可以通过交换元素在数组中就地进行排序</a:t>
            </a:r>
            <a:r>
              <a:rPr lang="en-US" altLang="zh-CN" sz="1600"/>
              <a:t>.</a:t>
            </a:r>
            <a:endParaRPr lang="en-US" altLang="zh-CN" sz="1600"/>
          </a:p>
          <a:p>
            <a:pPr algn="l" fontAlgn="auto">
              <a:lnSpc>
                <a:spcPct val="150000"/>
              </a:lnSpc>
            </a:pPr>
            <a:r>
              <a:rPr lang="zh-CN" altLang="en-US" sz="1600" b="1"/>
              <a:t>归并排序</a:t>
            </a:r>
            <a:r>
              <a:rPr lang="zh-CN" altLang="en-US" sz="1600"/>
              <a:t>需要额外的储存空间来存储临时的合并数组。</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3" name=""/>
        <p:cNvGrpSpPr/>
        <p:nvPr/>
      </p:nvGrpSpPr>
      <p:grpSpPr>
        <a:xfrm>
          <a:off x="0" y="0"/>
          <a:ext cx="0" cy="0"/>
          <a:chOff x="0" y="0"/>
          <a:chExt cx="0" cy="0"/>
        </a:xfrm>
      </p:grpSpPr>
      <p:sp>
        <p:nvSpPr>
          <p:cNvPr id="1048705" name="TextBox 11"/>
          <p:cNvSpPr txBox="1"/>
          <p:nvPr/>
        </p:nvSpPr>
        <p:spPr>
          <a:xfrm>
            <a:off x="5582899" y="2916499"/>
            <a:ext cx="2252980" cy="1043940"/>
          </a:xfrm>
          <a:prstGeom prst="rect">
            <a:avLst/>
          </a:prstGeom>
          <a:noFill/>
        </p:spPr>
        <p:txBody>
          <a:bodyPr wrap="none" rtlCol="0">
            <a:spAutoFit/>
          </a:bodyPr>
          <a:p>
            <a:pPr marL="0" lvl="1" algn="ctr"/>
            <a:r>
              <a:rPr lang="zh-CN" altLang="en-US" sz="1400" b="1" dirty="0">
                <a:solidFill>
                  <a:srgbClr val="080808"/>
                </a:solidFill>
                <a:latin typeface="+mj-ea"/>
                <a:ea typeface="+mj-ea"/>
              </a:rPr>
              <a:t> </a:t>
            </a:r>
            <a:r>
              <a:rPr lang="en-US" altLang="zh-CN" sz="2800" b="1" dirty="0">
                <a:solidFill>
                  <a:srgbClr val="080808"/>
                </a:solidFill>
                <a:latin typeface="+mj-ea"/>
                <a:ea typeface="+mj-ea"/>
              </a:rPr>
              <a:t>SECTION 2</a:t>
            </a:r>
            <a:endParaRPr lang="en-US" altLang="zh-CN" sz="2800" b="1" dirty="0">
              <a:solidFill>
                <a:srgbClr val="080808"/>
              </a:solidFill>
              <a:latin typeface="+mj-ea"/>
              <a:ea typeface="+mj-ea"/>
            </a:endParaRPr>
          </a:p>
          <a:p>
            <a:pPr marL="0" lvl="1" algn="ctr"/>
            <a:r>
              <a:rPr lang="zh-CN" altLang="en-US" sz="3600" b="1" dirty="0">
                <a:solidFill>
                  <a:srgbClr val="C00000"/>
                </a:solidFill>
                <a:latin typeface="微软雅黑" panose="020B0503020204020204" pitchFamily="34" charset="-122"/>
                <a:ea typeface="微软雅黑" panose="020B0503020204020204" pitchFamily="34" charset="-122"/>
              </a:rPr>
              <a:t>前</a:t>
            </a:r>
            <a:r>
              <a:rPr lang="en-US" altLang="zh-CN" sz="3600" b="1" dirty="0">
                <a:solidFill>
                  <a:srgbClr val="C00000"/>
                </a:solidFill>
                <a:latin typeface="微软雅黑" panose="020B0503020204020204" pitchFamily="34" charset="-122"/>
                <a:ea typeface="微软雅黑" panose="020B0503020204020204" pitchFamily="34" charset="-122"/>
              </a:rPr>
              <a:t>k</a:t>
            </a:r>
            <a:r>
              <a:rPr lang="zh-CN" altLang="en-US" sz="3600" b="1" dirty="0">
                <a:solidFill>
                  <a:srgbClr val="C00000"/>
                </a:solidFill>
                <a:latin typeface="微软雅黑" panose="020B0503020204020204" pitchFamily="34" charset="-122"/>
                <a:ea typeface="微软雅黑" panose="020B0503020204020204" pitchFamily="34" charset="-122"/>
              </a:rPr>
              <a:t>大问题</a:t>
            </a:r>
            <a:endParaRPr lang="en-US" altLang="zh-CN" sz="3600" b="1" dirty="0">
              <a:solidFill>
                <a:srgbClr val="C00000"/>
              </a:solidFill>
              <a:latin typeface="微软雅黑" panose="020B0503020204020204" pitchFamily="34" charset="-122"/>
              <a:ea typeface="微软雅黑" panose="020B0503020204020204" pitchFamily="34" charset="-122"/>
            </a:endParaRPr>
          </a:p>
        </p:txBody>
      </p:sp>
      <p:cxnSp>
        <p:nvCxnSpPr>
          <p:cNvPr id="3145730" name="直接连接符 12"/>
          <p:cNvCxnSpPr/>
          <p:nvPr/>
        </p:nvCxnSpPr>
        <p:spPr>
          <a:xfrm flipV="1">
            <a:off x="5159896" y="2492896"/>
            <a:ext cx="0" cy="1924424"/>
          </a:xfrm>
          <a:prstGeom prst="line">
            <a:avLst/>
          </a:prstGeom>
          <a:ln w="12700">
            <a:solidFill>
              <a:srgbClr val="080808"/>
            </a:solidFill>
            <a:prstDash val="dash"/>
          </a:ln>
        </p:spPr>
        <p:style>
          <a:lnRef idx="1">
            <a:schemeClr val="accent1"/>
          </a:lnRef>
          <a:fillRef idx="0">
            <a:schemeClr val="accent1"/>
          </a:fillRef>
          <a:effectRef idx="0">
            <a:schemeClr val="accent1"/>
          </a:effectRef>
          <a:fontRef idx="minor">
            <a:schemeClr val="tx1"/>
          </a:fontRef>
        </p:style>
      </p:cxnSp>
      <p:sp>
        <p:nvSpPr>
          <p:cNvPr id="1048706" name="TextBox 13"/>
          <p:cNvSpPr txBox="1"/>
          <p:nvPr/>
        </p:nvSpPr>
        <p:spPr>
          <a:xfrm>
            <a:off x="3841896" y="4086982"/>
            <a:ext cx="902846" cy="246221"/>
          </a:xfrm>
          <a:prstGeom prst="rect">
            <a:avLst/>
          </a:prstGeom>
          <a:noFill/>
        </p:spPr>
        <p:txBody>
          <a:bodyPr wrap="square" lIns="0" tIns="0" rIns="0" bIns="0" rtlCol="0">
            <a:spAutoFit/>
          </a:bodyPr>
          <a:p>
            <a:r>
              <a:rPr lang="en-US" altLang="zh-CN" sz="1600" dirty="0">
                <a:solidFill>
                  <a:srgbClr val="080808"/>
                </a:solidFill>
                <a:latin typeface="+mj-ea"/>
                <a:ea typeface="+mj-ea"/>
              </a:rPr>
              <a:t>PART 02</a:t>
            </a:r>
            <a:endParaRPr lang="zh-CN" altLang="en-US" sz="1600" dirty="0">
              <a:solidFill>
                <a:srgbClr val="080808"/>
              </a:solidFill>
              <a:latin typeface="+mj-ea"/>
              <a:ea typeface="+mj-ea"/>
            </a:endParaRPr>
          </a:p>
        </p:txBody>
      </p:sp>
      <p:grpSp>
        <p:nvGrpSpPr>
          <p:cNvPr id="114" name="组合 15"/>
          <p:cNvGrpSpPr/>
          <p:nvPr/>
        </p:nvGrpSpPr>
        <p:grpSpPr>
          <a:xfrm>
            <a:off x="3647730" y="2564908"/>
            <a:ext cx="1197175" cy="1197175"/>
            <a:chOff x="304800" y="673100"/>
            <a:chExt cx="4000500" cy="4000500"/>
          </a:xfrm>
          <a:effectLst>
            <a:outerShdw blurRad="444500" dist="254000" dir="8100000" algn="tr" rotWithShape="0">
              <a:prstClr val="black">
                <a:alpha val="50000"/>
              </a:prstClr>
            </a:outerShdw>
          </a:effectLst>
        </p:grpSpPr>
        <p:sp>
          <p:nvSpPr>
            <p:cNvPr id="1048707" name="同心圆 1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80808"/>
                </a:solidFill>
                <a:latin typeface="+mj-ea"/>
                <a:ea typeface="+mj-ea"/>
              </a:endParaRPr>
            </a:p>
          </p:txBody>
        </p:sp>
        <p:sp>
          <p:nvSpPr>
            <p:cNvPr id="1048708" name="椭圆 18"/>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080808"/>
                </a:solidFill>
                <a:latin typeface="+mj-ea"/>
                <a:ea typeface="+mj-ea"/>
              </a:endParaRPr>
            </a:p>
          </p:txBody>
        </p:sp>
      </p:grpSp>
      <p:sp>
        <p:nvSpPr>
          <p:cNvPr id="1048709" name="TextBox 13"/>
          <p:cNvSpPr txBox="1"/>
          <p:nvPr/>
        </p:nvSpPr>
        <p:spPr>
          <a:xfrm>
            <a:off x="3868338" y="2778774"/>
            <a:ext cx="902846" cy="736600"/>
          </a:xfrm>
          <a:prstGeom prst="rect">
            <a:avLst/>
          </a:prstGeom>
          <a:noFill/>
        </p:spPr>
        <p:txBody>
          <a:bodyPr wrap="square" lIns="0" tIns="0" rIns="0" bIns="0" rtlCol="0">
            <a:spAutoFit/>
          </a:bodyPr>
          <a:p>
            <a:r>
              <a:rPr lang="en-US" altLang="zh-CN" sz="5000" b="1" dirty="0">
                <a:solidFill>
                  <a:srgbClr val="C00000"/>
                </a:solidFill>
                <a:latin typeface="+mj-ea"/>
                <a:ea typeface="+mj-ea"/>
              </a:rPr>
              <a:t>03</a:t>
            </a:r>
            <a:endParaRPr lang="zh-CN" altLang="en-US" sz="5000" b="1" dirty="0">
              <a:solidFill>
                <a:srgbClr val="C00000"/>
              </a:solidFill>
              <a:latin typeface="+mj-ea"/>
              <a:ea typeface="+mj-ea"/>
            </a:endParaRPr>
          </a:p>
        </p:txBody>
      </p:sp>
      <p:pic>
        <p:nvPicPr>
          <p:cNvPr id="2097212" name="图片 16"/>
          <p:cNvPicPr>
            <a:picLocks noChangeAspect="1"/>
          </p:cNvPicPr>
          <p:nvPr/>
        </p:nvPicPr>
        <p:blipFill>
          <a:blip r:embed="rId1"/>
          <a:stretch>
            <a:fillRect/>
          </a:stretch>
        </p:blipFill>
        <p:spPr>
          <a:xfrm>
            <a:off x="7983822" y="87720"/>
            <a:ext cx="2361905" cy="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45730"/>
                                        </p:tgtEl>
                                        <p:attrNameLst>
                                          <p:attrName>style.visibility</p:attrName>
                                        </p:attrNameLst>
                                      </p:cBhvr>
                                      <p:to>
                                        <p:strVal val="visible"/>
                                      </p:to>
                                    </p:set>
                                    <p:animEffect transition="in" filter="fade">
                                      <p:cBhvr>
                                        <p:cTn id="7" dur="1000"/>
                                        <p:tgtEl>
                                          <p:spTgt spid="3145730"/>
                                        </p:tgtEl>
                                      </p:cBhvr>
                                    </p:animEffect>
                                    <p:anim calcmode="lin" valueType="num">
                                      <p:cBhvr>
                                        <p:cTn id="8" dur="1000" fill="hold"/>
                                        <p:tgtEl>
                                          <p:spTgt spid="3145730"/>
                                        </p:tgtEl>
                                        <p:attrNameLst>
                                          <p:attrName>ppt_x</p:attrName>
                                        </p:attrNameLst>
                                      </p:cBhvr>
                                      <p:tavLst>
                                        <p:tav tm="0">
                                          <p:val>
                                            <p:strVal val="#ppt_x"/>
                                          </p:val>
                                        </p:tav>
                                        <p:tav tm="100000">
                                          <p:val>
                                            <p:strVal val="#ppt_x"/>
                                          </p:val>
                                        </p:tav>
                                      </p:tavLst>
                                    </p:anim>
                                    <p:anim calcmode="lin" valueType="num">
                                      <p:cBhvr>
                                        <p:cTn id="9" dur="1000" fill="hold"/>
                                        <p:tgtEl>
                                          <p:spTgt spid="314573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1000"/>
                                        <p:tgtEl>
                                          <p:spTgt spid="114"/>
                                        </p:tgtEl>
                                      </p:cBhvr>
                                    </p:animEffect>
                                    <p:anim calcmode="lin" valueType="num">
                                      <p:cBhvr>
                                        <p:cTn id="13" dur="1000" fill="hold"/>
                                        <p:tgtEl>
                                          <p:spTgt spid="114"/>
                                        </p:tgtEl>
                                        <p:attrNameLst>
                                          <p:attrName>ppt_x</p:attrName>
                                        </p:attrNameLst>
                                      </p:cBhvr>
                                      <p:tavLst>
                                        <p:tav tm="0">
                                          <p:val>
                                            <p:strVal val="#ppt_x"/>
                                          </p:val>
                                        </p:tav>
                                        <p:tav tm="100000">
                                          <p:val>
                                            <p:strVal val="#ppt_x"/>
                                          </p:val>
                                        </p:tav>
                                      </p:tavLst>
                                    </p:anim>
                                    <p:anim calcmode="lin" valueType="num">
                                      <p:cBhvr>
                                        <p:cTn id="14" dur="1000" fill="hold"/>
                                        <p:tgtEl>
                                          <p:spTgt spid="11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48709"/>
                                        </p:tgtEl>
                                        <p:attrNameLst>
                                          <p:attrName>style.visibility</p:attrName>
                                        </p:attrNameLst>
                                      </p:cBhvr>
                                      <p:to>
                                        <p:strVal val="visible"/>
                                      </p:to>
                                    </p:set>
                                    <p:animEffect transition="in" filter="fade">
                                      <p:cBhvr>
                                        <p:cTn id="17" dur="1000"/>
                                        <p:tgtEl>
                                          <p:spTgt spid="1048709"/>
                                        </p:tgtEl>
                                      </p:cBhvr>
                                    </p:animEffect>
                                    <p:anim calcmode="lin" valueType="num">
                                      <p:cBhvr>
                                        <p:cTn id="18" dur="1000" fill="hold"/>
                                        <p:tgtEl>
                                          <p:spTgt spid="1048709"/>
                                        </p:tgtEl>
                                        <p:attrNameLst>
                                          <p:attrName>ppt_x</p:attrName>
                                        </p:attrNameLst>
                                      </p:cBhvr>
                                      <p:tavLst>
                                        <p:tav tm="0">
                                          <p:val>
                                            <p:strVal val="#ppt_x"/>
                                          </p:val>
                                        </p:tav>
                                        <p:tav tm="100000">
                                          <p:val>
                                            <p:strVal val="#ppt_x"/>
                                          </p:val>
                                        </p:tav>
                                      </p:tavLst>
                                    </p:anim>
                                    <p:anim calcmode="lin" valueType="num">
                                      <p:cBhvr>
                                        <p:cTn id="19" dur="1000" fill="hold"/>
                                        <p:tgtEl>
                                          <p:spTgt spid="104870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48705"/>
                                        </p:tgtEl>
                                        <p:attrNameLst>
                                          <p:attrName>style.visibility</p:attrName>
                                        </p:attrNameLst>
                                      </p:cBhvr>
                                      <p:to>
                                        <p:strVal val="visible"/>
                                      </p:to>
                                    </p:set>
                                    <p:animEffect transition="in" filter="fade">
                                      <p:cBhvr>
                                        <p:cTn id="22" dur="1000"/>
                                        <p:tgtEl>
                                          <p:spTgt spid="1048705"/>
                                        </p:tgtEl>
                                      </p:cBhvr>
                                    </p:animEffect>
                                    <p:anim calcmode="lin" valueType="num">
                                      <p:cBhvr>
                                        <p:cTn id="23" dur="1000" fill="hold"/>
                                        <p:tgtEl>
                                          <p:spTgt spid="1048705"/>
                                        </p:tgtEl>
                                        <p:attrNameLst>
                                          <p:attrName>ppt_x</p:attrName>
                                        </p:attrNameLst>
                                      </p:cBhvr>
                                      <p:tavLst>
                                        <p:tav tm="0">
                                          <p:val>
                                            <p:strVal val="#ppt_x"/>
                                          </p:val>
                                        </p:tav>
                                        <p:tav tm="100000">
                                          <p:val>
                                            <p:strVal val="#ppt_x"/>
                                          </p:val>
                                        </p:tav>
                                      </p:tavLst>
                                    </p:anim>
                                    <p:anim calcmode="lin" valueType="num">
                                      <p:cBhvr>
                                        <p:cTn id="24" dur="1000" fill="hold"/>
                                        <p:tgtEl>
                                          <p:spTgt spid="104870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48706"/>
                                        </p:tgtEl>
                                        <p:attrNameLst>
                                          <p:attrName>style.visibility</p:attrName>
                                        </p:attrNameLst>
                                      </p:cBhvr>
                                      <p:to>
                                        <p:strVal val="visible"/>
                                      </p:to>
                                    </p:set>
                                    <p:animEffect transition="in" filter="fade">
                                      <p:cBhvr>
                                        <p:cTn id="27" dur="1000"/>
                                        <p:tgtEl>
                                          <p:spTgt spid="1048706"/>
                                        </p:tgtEl>
                                      </p:cBhvr>
                                    </p:animEffect>
                                    <p:anim calcmode="lin" valueType="num">
                                      <p:cBhvr>
                                        <p:cTn id="28" dur="1000" fill="hold"/>
                                        <p:tgtEl>
                                          <p:spTgt spid="1048706"/>
                                        </p:tgtEl>
                                        <p:attrNameLst>
                                          <p:attrName>ppt_x</p:attrName>
                                        </p:attrNameLst>
                                      </p:cBhvr>
                                      <p:tavLst>
                                        <p:tav tm="0">
                                          <p:val>
                                            <p:strVal val="#ppt_x"/>
                                          </p:val>
                                        </p:tav>
                                        <p:tav tm="100000">
                                          <p:val>
                                            <p:strVal val="#ppt_x"/>
                                          </p:val>
                                        </p:tav>
                                      </p:tavLst>
                                    </p:anim>
                                    <p:anim calcmode="lin" valueType="num">
                                      <p:cBhvr>
                                        <p:cTn id="29" dur="1000" fill="hold"/>
                                        <p:tgtEl>
                                          <p:spTgt spid="10487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05" grpId="0"/>
      <p:bldP spid="1048706" grpId="0"/>
      <p:bldP spid="104870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17" name=""/>
        <p:cNvGrpSpPr/>
        <p:nvPr/>
      </p:nvGrpSpPr>
      <p:grpSpPr>
        <a:xfrm>
          <a:off x="0" y="0"/>
          <a:ext cx="0" cy="0"/>
          <a:chOff x="0" y="0"/>
          <a:chExt cx="0" cy="0"/>
        </a:xfrm>
      </p:grpSpPr>
      <p:sp>
        <p:nvSpPr>
          <p:cNvPr id="1048713"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13"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14" name="图片 73"/>
          <p:cNvPicPr>
            <a:picLocks noChangeAspect="1"/>
          </p:cNvPicPr>
          <p:nvPr/>
        </p:nvPicPr>
        <p:blipFill>
          <a:blip r:embed="rId2"/>
          <a:stretch>
            <a:fillRect/>
          </a:stretch>
        </p:blipFill>
        <p:spPr>
          <a:xfrm>
            <a:off x="7983822" y="87720"/>
            <a:ext cx="2361905" cy="800000"/>
          </a:xfrm>
          <a:prstGeom prst="rect">
            <a:avLst/>
          </a:prstGeom>
        </p:spPr>
      </p:pic>
      <p:sp>
        <p:nvSpPr>
          <p:cNvPr id="1048714"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1</a:t>
            </a:r>
            <a:r>
              <a:rPr lang="zh-CN" altLang="en-US" sz="3200" b="1" dirty="0">
                <a:solidFill>
                  <a:srgbClr val="FF0000"/>
                </a:solidFill>
                <a:sym typeface="+mn-ea"/>
              </a:rPr>
              <a:t>、全局排序</a:t>
            </a:r>
            <a:endParaRPr lang="zh-CN" altLang="en-US" sz="3200" b="1" dirty="0">
              <a:solidFill>
                <a:srgbClr val="FF0000"/>
              </a:solidFill>
              <a:sym typeface="+mn-ea"/>
            </a:endParaRPr>
          </a:p>
        </p:txBody>
      </p:sp>
      <p:sp>
        <p:nvSpPr>
          <p:cNvPr id="1048715" name="文本框 3"/>
          <p:cNvSpPr txBox="1"/>
          <p:nvPr/>
        </p:nvSpPr>
        <p:spPr>
          <a:xfrm>
            <a:off x="1524000" y="2049145"/>
            <a:ext cx="3492500" cy="1901191"/>
          </a:xfrm>
          <a:prstGeom prst="rect">
            <a:avLst/>
          </a:prstGeom>
          <a:noFill/>
        </p:spPr>
        <p:txBody>
          <a:bodyPr wrap="square" rtlCol="0">
            <a:spAutoFit/>
          </a:bodyPr>
          <a:p>
            <a:pPr fontAlgn="auto">
              <a:lnSpc>
                <a:spcPct val="150000"/>
              </a:lnSpc>
            </a:pPr>
            <a:r>
              <a:rPr sz="1600"/>
              <a:t>作为最直接的方法，就是将这n个数直接排序之后，取出最大得k个，即为所得。</a:t>
            </a:r>
            <a:endParaRPr sz="1600"/>
          </a:p>
          <a:p>
            <a:pPr fontAlgn="auto">
              <a:lnSpc>
                <a:spcPct val="150000"/>
              </a:lnSpc>
            </a:pPr>
            <a:r>
              <a:rPr sz="1600"/>
              <a:t>选择全局排序时间复杂度为</a:t>
            </a:r>
            <a:r>
              <a:rPr sz="1600" b="1"/>
              <a:t>O(nlogn)</a:t>
            </a:r>
            <a:r>
              <a:rPr sz="1600"/>
              <a:t>中比较快速</a:t>
            </a:r>
            <a:r>
              <a:rPr lang="zh-CN" sz="1600"/>
              <a:t>的</a:t>
            </a:r>
            <a:r>
              <a:rPr sz="1600"/>
              <a:t>方法--</a:t>
            </a:r>
            <a:r>
              <a:rPr sz="1600" b="1"/>
              <a:t>快速排序</a:t>
            </a:r>
            <a:r>
              <a:rPr sz="1600"/>
              <a:t>。</a:t>
            </a:r>
            <a:endParaRPr sz="1600"/>
          </a:p>
        </p:txBody>
      </p:sp>
      <p:pic>
        <p:nvPicPr>
          <p:cNvPr id="2097215" name="图片 -2147482581" descr="93afd878d98dac223c226516ca017d8"/>
          <p:cNvPicPr>
            <a:picLocks noChangeAspect="1"/>
          </p:cNvPicPr>
          <p:nvPr/>
        </p:nvPicPr>
        <p:blipFill>
          <a:blip r:embed="rId3"/>
          <a:stretch>
            <a:fillRect/>
          </a:stretch>
        </p:blipFill>
        <p:spPr>
          <a:xfrm>
            <a:off x="5017135" y="1214755"/>
            <a:ext cx="6308725" cy="675640"/>
          </a:xfrm>
          <a:prstGeom prst="rect">
            <a:avLst/>
          </a:prstGeom>
          <a:noFill/>
          <a:ln w="9525">
            <a:noFill/>
          </a:ln>
        </p:spPr>
      </p:pic>
      <p:pic>
        <p:nvPicPr>
          <p:cNvPr id="2097216" name="图片 -2147482576" descr="de210cc56439caa86634f285402e740"/>
          <p:cNvPicPr>
            <a:picLocks noChangeAspect="1"/>
          </p:cNvPicPr>
          <p:nvPr/>
        </p:nvPicPr>
        <p:blipFill>
          <a:blip r:embed="rId4"/>
          <a:stretch>
            <a:fillRect/>
          </a:stretch>
        </p:blipFill>
        <p:spPr>
          <a:xfrm>
            <a:off x="6154420" y="2217420"/>
            <a:ext cx="5118100" cy="3846195"/>
          </a:xfrm>
          <a:prstGeom prst="rect">
            <a:avLst/>
          </a:prstGeom>
          <a:noFill/>
          <a:ln w="9525">
            <a:noFill/>
          </a:ln>
        </p:spPr>
      </p:pic>
      <p:pic>
        <p:nvPicPr>
          <p:cNvPr id="2097242" name="图片 2097241"/>
          <p:cNvPicPr/>
          <p:nvPr/>
        </p:nvPicPr>
        <p:blipFill>
          <a:blip r:embed="rId5"/>
          <a:stretch>
            <a:fillRect/>
          </a:stretch>
        </p:blipFill>
        <p:spPr>
          <a:xfrm>
            <a:off x="1523931" y="4196716"/>
            <a:ext cx="3854194" cy="167525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8719"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17"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18" name="图片 73"/>
          <p:cNvPicPr>
            <a:picLocks noChangeAspect="1"/>
          </p:cNvPicPr>
          <p:nvPr/>
        </p:nvPicPr>
        <p:blipFill>
          <a:blip r:embed="rId2"/>
          <a:stretch>
            <a:fillRect/>
          </a:stretch>
        </p:blipFill>
        <p:spPr>
          <a:xfrm>
            <a:off x="7983822" y="87720"/>
            <a:ext cx="2361905" cy="800000"/>
          </a:xfrm>
          <a:prstGeom prst="rect">
            <a:avLst/>
          </a:prstGeom>
        </p:spPr>
      </p:pic>
      <p:sp>
        <p:nvSpPr>
          <p:cNvPr id="1048720"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2</a:t>
            </a:r>
            <a:r>
              <a:rPr lang="zh-CN" altLang="en-US" sz="3200" b="1" dirty="0">
                <a:solidFill>
                  <a:srgbClr val="FF0000"/>
                </a:solidFill>
                <a:sym typeface="+mn-ea"/>
              </a:rPr>
              <a:t>、局部排序</a:t>
            </a:r>
            <a:endParaRPr lang="zh-CN" altLang="en-US" sz="3200" b="1" dirty="0">
              <a:solidFill>
                <a:srgbClr val="FF0000"/>
              </a:solidFill>
              <a:sym typeface="+mn-ea"/>
            </a:endParaRPr>
          </a:p>
        </p:txBody>
      </p:sp>
      <p:sp>
        <p:nvSpPr>
          <p:cNvPr id="1048721" name="文本框 3"/>
          <p:cNvSpPr txBox="1"/>
          <p:nvPr/>
        </p:nvSpPr>
        <p:spPr>
          <a:xfrm>
            <a:off x="1524000" y="2049145"/>
            <a:ext cx="3492500" cy="1177290"/>
          </a:xfrm>
          <a:prstGeom prst="rect">
            <a:avLst/>
          </a:prstGeom>
          <a:noFill/>
        </p:spPr>
        <p:txBody>
          <a:bodyPr wrap="square" rtlCol="0">
            <a:spAutoFit/>
          </a:bodyPr>
          <a:p>
            <a:pPr fontAlgn="auto">
              <a:lnSpc>
                <a:spcPct val="150000"/>
              </a:lnSpc>
            </a:pPr>
            <a:r>
              <a:rPr sz="1600"/>
              <a:t>只对最大的k个排序。</a:t>
            </a:r>
            <a:endParaRPr sz="1600"/>
          </a:p>
          <a:p>
            <a:pPr fontAlgn="auto">
              <a:lnSpc>
                <a:spcPct val="150000"/>
              </a:lnSpc>
            </a:pPr>
            <a:r>
              <a:rPr sz="1600"/>
              <a:t>选择</a:t>
            </a:r>
            <a:r>
              <a:rPr lang="zh-CN" sz="1600" b="1"/>
              <a:t>冒泡</a:t>
            </a:r>
            <a:r>
              <a:rPr sz="1600" b="1"/>
              <a:t>排序</a:t>
            </a:r>
            <a:r>
              <a:rPr lang="zh-CN" sz="1600" b="1"/>
              <a:t>，</a:t>
            </a:r>
            <a:r>
              <a:rPr lang="zh-CN" sz="1600" b="1"/>
              <a:t>冒</a:t>
            </a:r>
            <a:r>
              <a:rPr lang="en-US" altLang="zh-CN" sz="1600" b="1"/>
              <a:t>k</a:t>
            </a:r>
            <a:r>
              <a:rPr lang="zh-CN" altLang="zh-CN" sz="1600" b="1"/>
              <a:t>个</a:t>
            </a:r>
            <a:r>
              <a:rPr lang="zh-CN" altLang="zh-CN" sz="1600" b="1"/>
              <a:t>泡</a:t>
            </a:r>
            <a:r>
              <a:rPr lang="zh-CN" altLang="zh-CN" sz="1600" b="1"/>
              <a:t>。</a:t>
            </a:r>
            <a:endParaRPr sz="1600" b="1"/>
          </a:p>
          <a:p>
            <a:pPr fontAlgn="auto">
              <a:lnSpc>
                <a:spcPct val="150000"/>
              </a:lnSpc>
            </a:pPr>
            <a:r>
              <a:rPr sz="1600"/>
              <a:t>时间复杂度为</a:t>
            </a:r>
            <a:r>
              <a:rPr sz="1600" b="1"/>
              <a:t>O(nk)</a:t>
            </a:r>
            <a:endParaRPr sz="1600" b="1"/>
          </a:p>
        </p:txBody>
      </p:sp>
      <p:pic>
        <p:nvPicPr>
          <p:cNvPr id="2097219" name="图片 -2147482579" descr="8f79031d0d8050b398aa6aa1246bd27"/>
          <p:cNvPicPr>
            <a:picLocks noChangeAspect="1"/>
          </p:cNvPicPr>
          <p:nvPr/>
        </p:nvPicPr>
        <p:blipFill>
          <a:blip r:embed="rId3"/>
          <a:stretch>
            <a:fillRect/>
          </a:stretch>
        </p:blipFill>
        <p:spPr>
          <a:xfrm>
            <a:off x="4258945" y="1219200"/>
            <a:ext cx="7007860" cy="730250"/>
          </a:xfrm>
          <a:prstGeom prst="rect">
            <a:avLst/>
          </a:prstGeom>
          <a:noFill/>
          <a:ln w="9525">
            <a:noFill/>
          </a:ln>
        </p:spPr>
      </p:pic>
      <p:pic>
        <p:nvPicPr>
          <p:cNvPr id="2097220" name="图片 -2147482571" descr="dbdfd2fcec3bfff72224d29d17ddd51"/>
          <p:cNvPicPr>
            <a:picLocks noChangeAspect="1"/>
          </p:cNvPicPr>
          <p:nvPr/>
        </p:nvPicPr>
        <p:blipFill>
          <a:blip r:embed="rId4"/>
          <a:stretch>
            <a:fillRect/>
          </a:stretch>
        </p:blipFill>
        <p:spPr>
          <a:xfrm>
            <a:off x="6261100" y="2280920"/>
            <a:ext cx="5005705" cy="3809365"/>
          </a:xfrm>
          <a:prstGeom prst="rect">
            <a:avLst/>
          </a:prstGeom>
          <a:noFill/>
          <a:ln w="9525">
            <a:noFill/>
          </a:ln>
        </p:spPr>
      </p:pic>
      <p:pic>
        <p:nvPicPr>
          <p:cNvPr id="2097243" name="图片 2097242"/>
          <p:cNvPicPr/>
          <p:nvPr/>
        </p:nvPicPr>
        <p:blipFill>
          <a:blip r:embed="rId5"/>
          <a:stretch>
            <a:fillRect/>
          </a:stretch>
        </p:blipFill>
        <p:spPr>
          <a:xfrm>
            <a:off x="1564005" y="3472180"/>
            <a:ext cx="4160520" cy="26181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048725"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21"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22" name="图片 73"/>
          <p:cNvPicPr>
            <a:picLocks noChangeAspect="1"/>
          </p:cNvPicPr>
          <p:nvPr/>
        </p:nvPicPr>
        <p:blipFill>
          <a:blip r:embed="rId2"/>
          <a:stretch>
            <a:fillRect/>
          </a:stretch>
        </p:blipFill>
        <p:spPr>
          <a:xfrm>
            <a:off x="7983822" y="87720"/>
            <a:ext cx="2361905" cy="800000"/>
          </a:xfrm>
          <a:prstGeom prst="rect">
            <a:avLst/>
          </a:prstGeom>
        </p:spPr>
      </p:pic>
      <p:sp>
        <p:nvSpPr>
          <p:cNvPr id="1048726"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3</a:t>
            </a:r>
            <a:r>
              <a:rPr lang="zh-CN" altLang="en-US" sz="3200" b="1" dirty="0">
                <a:solidFill>
                  <a:srgbClr val="FF0000"/>
                </a:solidFill>
                <a:sym typeface="+mn-ea"/>
              </a:rPr>
              <a:t>、堆排序</a:t>
            </a:r>
            <a:endParaRPr lang="zh-CN" altLang="en-US" sz="3200" b="1" dirty="0">
              <a:solidFill>
                <a:srgbClr val="FF0000"/>
              </a:solidFill>
              <a:sym typeface="+mn-ea"/>
            </a:endParaRPr>
          </a:p>
        </p:txBody>
      </p:sp>
      <p:sp>
        <p:nvSpPr>
          <p:cNvPr id="1048727" name="Freeform 28"/>
          <p:cNvSpPr/>
          <p:nvPr/>
        </p:nvSpPr>
        <p:spPr>
          <a:xfrm>
            <a:off x="5560060" y="1802765"/>
            <a:ext cx="5715635" cy="4354195"/>
          </a:xfrm>
          <a:custGeom>
            <a:avLst/>
            <a:gdLst/>
            <a:ahLst/>
            <a:cxnLst/>
            <a:rect l="l" t="t" r="r" b="b"/>
            <a:pathLst>
              <a:path w="7466578" h="5534134">
                <a:moveTo>
                  <a:pt x="0" y="0"/>
                </a:moveTo>
                <a:lnTo>
                  <a:pt x="7466578" y="0"/>
                </a:lnTo>
                <a:lnTo>
                  <a:pt x="7466578" y="5534134"/>
                </a:lnTo>
                <a:lnTo>
                  <a:pt x="0" y="5534134"/>
                </a:lnTo>
                <a:lnTo>
                  <a:pt x="0" y="0"/>
                </a:lnTo>
                <a:close/>
              </a:path>
            </a:pathLst>
          </a:custGeom>
          <a:blipFill>
            <a:blip r:embed="rId3"/>
            <a:stretch>
              <a:fillRect/>
            </a:stretch>
          </a:blipFill>
        </p:spPr>
      </p:sp>
      <p:sp>
        <p:nvSpPr>
          <p:cNvPr id="1048728" name="文本框 8"/>
          <p:cNvSpPr txBox="1"/>
          <p:nvPr/>
        </p:nvSpPr>
        <p:spPr>
          <a:xfrm>
            <a:off x="1524000" y="2045970"/>
            <a:ext cx="3880485" cy="2091691"/>
          </a:xfrm>
          <a:prstGeom prst="rect">
            <a:avLst/>
          </a:prstGeom>
          <a:noFill/>
        </p:spPr>
        <p:txBody>
          <a:bodyPr wrap="square" rtlCol="0">
            <a:spAutoFit/>
          </a:bodyPr>
          <a:p>
            <a:pPr fontAlgn="auto">
              <a:lnSpc>
                <a:spcPct val="150000"/>
              </a:lnSpc>
            </a:pPr>
            <a:r>
              <a:rPr lang="zh-CN" altLang="en-US" b="1"/>
              <a:t>算法原理：</a:t>
            </a:r>
            <a:endParaRPr lang="zh-CN" altLang="en-US" b="1"/>
          </a:p>
          <a:p>
            <a:pPr fontAlgn="auto">
              <a:lnSpc>
                <a:spcPct val="150000"/>
              </a:lnSpc>
            </a:pPr>
            <a:r>
              <a:rPr lang="zh-CN" altLang="en-US"/>
              <a:t>先构建一个</a:t>
            </a:r>
            <a:r>
              <a:rPr lang="zh-CN" altLang="en-US" u="sng"/>
              <a:t>最大堆</a:t>
            </a:r>
            <a:r>
              <a:rPr lang="zh-CN" altLang="en-US"/>
              <a:t>，然后将根节点与数组末尾元素交换，对剩余的元素进行堆化调整，继续重复这个过程直至所有的元素都被排序</a:t>
            </a:r>
            <a:r>
              <a:rPr lang="zh-CN" altLang="en-US"/>
              <a:t>完成</a:t>
            </a:r>
            <a:endParaRPr lang="zh-CN" altLang="en-US"/>
          </a:p>
        </p:txBody>
      </p:sp>
      <p:sp>
        <p:nvSpPr>
          <p:cNvPr id="1048729" name="文本框 9"/>
          <p:cNvSpPr txBox="1"/>
          <p:nvPr/>
        </p:nvSpPr>
        <p:spPr>
          <a:xfrm>
            <a:off x="1524000" y="4581525"/>
            <a:ext cx="3874135" cy="1691641"/>
          </a:xfrm>
          <a:prstGeom prst="rect">
            <a:avLst/>
          </a:prstGeom>
          <a:noFill/>
        </p:spPr>
        <p:txBody>
          <a:bodyPr wrap="square" rtlCol="0">
            <a:spAutoFit/>
          </a:bodyPr>
          <a:p>
            <a:pPr fontAlgn="auto">
              <a:lnSpc>
                <a:spcPct val="150000"/>
              </a:lnSpc>
            </a:pPr>
            <a:r>
              <a:rPr lang="zh-CN" altLang="en-US" b="1"/>
              <a:t>构造堆</a:t>
            </a:r>
            <a:r>
              <a:rPr lang="zh-CN" altLang="en-US"/>
              <a:t>：需要对每个非叶子节点（n/2）进行调整，复杂度为</a:t>
            </a:r>
            <a:r>
              <a:rPr lang="zh-CN" altLang="en-US" b="1">
                <a:solidFill>
                  <a:srgbClr val="FF0000"/>
                </a:solidFill>
              </a:rPr>
              <a:t>O(n)</a:t>
            </a:r>
            <a:endParaRPr lang="zh-CN" altLang="en-US" b="1">
              <a:solidFill>
                <a:srgbClr val="FF0000"/>
              </a:solidFill>
            </a:endParaRPr>
          </a:p>
          <a:p>
            <a:pPr fontAlgn="auto">
              <a:lnSpc>
                <a:spcPct val="150000"/>
              </a:lnSpc>
            </a:pPr>
            <a:r>
              <a:rPr lang="zh-CN" altLang="en-US" b="1"/>
              <a:t>堆调整</a:t>
            </a:r>
            <a:r>
              <a:rPr lang="zh-CN" altLang="en-US"/>
              <a:t>：</a:t>
            </a:r>
            <a:r>
              <a:rPr lang="zh-CN" altLang="en-US" b="1">
                <a:solidFill>
                  <a:srgbClr val="FF0000"/>
                </a:solidFill>
              </a:rPr>
              <a:t>O(log n）</a:t>
            </a:r>
            <a:endParaRPr lang="zh-CN" altLang="en-US" b="1">
              <a:solidFill>
                <a:srgbClr val="FF0000"/>
              </a:solidFill>
            </a:endParaRPr>
          </a:p>
          <a:p>
            <a:pPr fontAlgn="auto">
              <a:lnSpc>
                <a:spcPct val="150000"/>
              </a:lnSpc>
            </a:pPr>
            <a:r>
              <a:rPr lang="zh-CN" altLang="en-US" b="1">
                <a:solidFill>
                  <a:schemeClr val="tx1"/>
                </a:solidFill>
              </a:rPr>
              <a:t>时间复杂度：</a:t>
            </a:r>
            <a:r>
              <a:rPr lang="en-US" altLang="zh-CN" b="1">
                <a:solidFill>
                  <a:srgbClr val="FF0000"/>
                </a:solidFill>
              </a:rPr>
              <a:t>O(nlogn)</a:t>
            </a:r>
            <a:endParaRPr lang="en-US" altLang="zh-CN" b="1">
              <a:solidFill>
                <a:srgbClr val="FF0000"/>
              </a:solidFill>
            </a:endParaRPr>
          </a:p>
        </p:txBody>
      </p:sp>
      <p:cxnSp>
        <p:nvCxnSpPr>
          <p:cNvPr id="3145731" name="直接箭头连接符 10"/>
          <p:cNvCxnSpPr/>
          <p:nvPr/>
        </p:nvCxnSpPr>
        <p:spPr>
          <a:xfrm flipV="1">
            <a:off x="3231515" y="1718310"/>
            <a:ext cx="1891665" cy="8337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48730" name="文本框 11"/>
          <p:cNvSpPr txBox="1"/>
          <p:nvPr/>
        </p:nvSpPr>
        <p:spPr>
          <a:xfrm>
            <a:off x="5123180" y="1379855"/>
            <a:ext cx="1325880" cy="368300"/>
          </a:xfrm>
          <a:prstGeom prst="rect">
            <a:avLst/>
          </a:prstGeom>
          <a:noFill/>
        </p:spPr>
        <p:txBody>
          <a:bodyPr wrap="none" rtlCol="0">
            <a:spAutoFit/>
          </a:bodyPr>
          <a:p>
            <a:r>
              <a:rPr lang="zh-CN" altLang="en-US"/>
              <a:t>根的值</a:t>
            </a:r>
            <a:r>
              <a:rPr lang="zh-CN" altLang="en-US"/>
              <a:t>最大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34"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23"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24" name="图片 73"/>
          <p:cNvPicPr>
            <a:picLocks noChangeAspect="1"/>
          </p:cNvPicPr>
          <p:nvPr/>
        </p:nvPicPr>
        <p:blipFill>
          <a:blip r:embed="rId2"/>
          <a:stretch>
            <a:fillRect/>
          </a:stretch>
        </p:blipFill>
        <p:spPr>
          <a:xfrm>
            <a:off x="7983822" y="87720"/>
            <a:ext cx="2361905" cy="800000"/>
          </a:xfrm>
          <a:prstGeom prst="rect">
            <a:avLst/>
          </a:prstGeom>
        </p:spPr>
      </p:pic>
      <p:sp>
        <p:nvSpPr>
          <p:cNvPr id="1048735"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3</a:t>
            </a:r>
            <a:r>
              <a:rPr lang="zh-CN" altLang="en-US" sz="3200" b="1" dirty="0">
                <a:solidFill>
                  <a:srgbClr val="FF0000"/>
                </a:solidFill>
                <a:sym typeface="+mn-ea"/>
              </a:rPr>
              <a:t>、维持堆</a:t>
            </a:r>
            <a:endParaRPr lang="zh-CN" altLang="en-US" sz="3200" b="1" dirty="0">
              <a:solidFill>
                <a:srgbClr val="FF0000"/>
              </a:solidFill>
              <a:sym typeface="+mn-ea"/>
            </a:endParaRPr>
          </a:p>
        </p:txBody>
      </p:sp>
      <p:sp>
        <p:nvSpPr>
          <p:cNvPr id="1048736" name="文本框 3"/>
          <p:cNvSpPr txBox="1"/>
          <p:nvPr/>
        </p:nvSpPr>
        <p:spPr>
          <a:xfrm>
            <a:off x="1524000" y="2545715"/>
            <a:ext cx="4490085" cy="3046095"/>
          </a:xfrm>
          <a:prstGeom prst="rect">
            <a:avLst/>
          </a:prstGeom>
          <a:noFill/>
        </p:spPr>
        <p:txBody>
          <a:bodyPr wrap="square" rtlCol="0">
            <a:spAutoFit/>
          </a:bodyPr>
          <a:p>
            <a:pPr marL="285750" indent="-285750" fontAlgn="auto">
              <a:lnSpc>
                <a:spcPct val="150000"/>
              </a:lnSpc>
              <a:buFont typeface="Arial" panose="020B0604020202020204" pitchFamily="34" charset="0"/>
              <a:buChar char="•"/>
            </a:pPr>
            <a:r>
              <a:rPr sz="1600" b="1"/>
              <a:t>只找到topK，但是不去排序topK。</a:t>
            </a:r>
            <a:endParaRPr sz="1600" b="1"/>
          </a:p>
          <a:p>
            <a:pPr marL="285750" indent="-285750" fontAlgn="auto">
              <a:lnSpc>
                <a:spcPct val="150000"/>
              </a:lnSpc>
              <a:buFont typeface="Arial" panose="020B0604020202020204" pitchFamily="34" charset="0"/>
              <a:buChar char="•"/>
            </a:pPr>
            <a:r>
              <a:rPr sz="1600"/>
              <a:t>用无序数组前k个元素先去生成一个小顶堆，存储当前最大的k个元素。</a:t>
            </a:r>
            <a:endParaRPr sz="1600"/>
          </a:p>
          <a:p>
            <a:pPr marL="285750" indent="-285750" fontAlgn="auto">
              <a:lnSpc>
                <a:spcPct val="150000"/>
              </a:lnSpc>
              <a:buFont typeface="Arial" panose="020B0604020202020204" pitchFamily="34" charset="0"/>
              <a:buChar char="•"/>
            </a:pPr>
            <a:r>
              <a:rPr sz="1600"/>
              <a:t>接着从第k+1个元素开始扫描，与堆顶的元素对</a:t>
            </a:r>
            <a:r>
              <a:rPr lang="zh-CN" sz="1600"/>
              <a:t>比</a:t>
            </a:r>
            <a:r>
              <a:rPr sz="1600"/>
              <a:t>，如果被扫描的元素大于堆顶，则替换堆顶的元素，并调整堆，保证当前堆元素总是当前最大的k个数。</a:t>
            </a:r>
            <a:endParaRPr sz="1600"/>
          </a:p>
          <a:p>
            <a:pPr marL="285750" indent="-285750" fontAlgn="auto">
              <a:lnSpc>
                <a:spcPct val="150000"/>
              </a:lnSpc>
              <a:buFont typeface="Arial" panose="020B0604020202020204" pitchFamily="34" charset="0"/>
              <a:buChar char="•"/>
            </a:pPr>
            <a:r>
              <a:rPr sz="1600" b="1">
                <a:solidFill>
                  <a:srgbClr val="FF0000"/>
                </a:solidFill>
              </a:rPr>
              <a:t>时间复杂度为O(n*log(k))</a:t>
            </a:r>
            <a:r>
              <a:rPr sz="1600"/>
              <a:t>。</a:t>
            </a:r>
            <a:endParaRPr sz="1600"/>
          </a:p>
        </p:txBody>
      </p:sp>
      <p:pic>
        <p:nvPicPr>
          <p:cNvPr id="2097250" name="图片 2097249"/>
          <p:cNvPicPr/>
          <p:nvPr/>
        </p:nvPicPr>
        <p:blipFill>
          <a:blip r:embed="rId3"/>
          <a:stretch>
            <a:fillRect/>
          </a:stretch>
        </p:blipFill>
        <p:spPr>
          <a:xfrm>
            <a:off x="6480810" y="1082040"/>
            <a:ext cx="3349625" cy="1850390"/>
          </a:xfrm>
          <a:prstGeom prst="rect">
            <a:avLst/>
          </a:prstGeom>
        </p:spPr>
      </p:pic>
      <p:pic>
        <p:nvPicPr>
          <p:cNvPr id="2097251" name="图片 2097250"/>
          <p:cNvPicPr/>
          <p:nvPr/>
        </p:nvPicPr>
        <p:blipFill>
          <a:blip r:embed="rId4"/>
          <a:stretch>
            <a:fillRect/>
          </a:stretch>
        </p:blipFill>
        <p:spPr>
          <a:xfrm>
            <a:off x="6382385" y="2932430"/>
            <a:ext cx="3546475" cy="1778000"/>
          </a:xfrm>
          <a:prstGeom prst="rect">
            <a:avLst/>
          </a:prstGeom>
        </p:spPr>
      </p:pic>
      <p:pic>
        <p:nvPicPr>
          <p:cNvPr id="2097252" name="图片 2097251"/>
          <p:cNvPicPr/>
          <p:nvPr/>
        </p:nvPicPr>
        <p:blipFill>
          <a:blip r:embed="rId5"/>
          <a:stretch>
            <a:fillRect/>
          </a:stretch>
        </p:blipFill>
        <p:spPr>
          <a:xfrm>
            <a:off x="6382385" y="4826635"/>
            <a:ext cx="3645535" cy="17760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81" name=""/>
        <p:cNvGrpSpPr/>
        <p:nvPr/>
      </p:nvGrpSpPr>
      <p:grpSpPr>
        <a:xfrm>
          <a:off x="0" y="0"/>
          <a:ext cx="0" cy="0"/>
          <a:chOff x="0" y="0"/>
          <a:chExt cx="0" cy="0"/>
        </a:xfrm>
      </p:grpSpPr>
      <p:sp>
        <p:nvSpPr>
          <p:cNvPr id="1048894"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44"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45" name="图片 73"/>
          <p:cNvPicPr>
            <a:picLocks noChangeAspect="1"/>
          </p:cNvPicPr>
          <p:nvPr/>
        </p:nvPicPr>
        <p:blipFill>
          <a:blip r:embed="rId2"/>
          <a:stretch>
            <a:fillRect/>
          </a:stretch>
        </p:blipFill>
        <p:spPr>
          <a:xfrm>
            <a:off x="7983822" y="87720"/>
            <a:ext cx="2361905" cy="800000"/>
          </a:xfrm>
          <a:prstGeom prst="rect">
            <a:avLst/>
          </a:prstGeom>
        </p:spPr>
      </p:pic>
      <p:sp>
        <p:nvSpPr>
          <p:cNvPr id="1048895"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3</a:t>
            </a:r>
            <a:r>
              <a:rPr lang="zh-CN" altLang="en-US" sz="3200" b="1" dirty="0">
                <a:solidFill>
                  <a:srgbClr val="FF0000"/>
                </a:solidFill>
                <a:sym typeface="+mn-ea"/>
              </a:rPr>
              <a:t>、</a:t>
            </a:r>
            <a:r>
              <a:rPr lang="zh-CN" altLang="en-US" sz="3200" b="1" dirty="0">
                <a:solidFill>
                  <a:srgbClr val="FF0000"/>
                </a:solidFill>
                <a:sym typeface="+mn-ea"/>
              </a:rPr>
              <a:t>维持堆</a:t>
            </a:r>
            <a:endParaRPr lang="zh-CN" altLang="en-US" sz="3200" b="1" dirty="0">
              <a:solidFill>
                <a:srgbClr val="FF0000"/>
              </a:solidFill>
              <a:sym typeface="+mn-ea"/>
            </a:endParaRPr>
          </a:p>
        </p:txBody>
      </p:sp>
      <p:pic>
        <p:nvPicPr>
          <p:cNvPr id="2097246" name="图片 -2147482578" descr="24f78a8ad096e824d56135b4b2dff9b"/>
          <p:cNvPicPr>
            <a:picLocks noChangeAspect="1"/>
          </p:cNvPicPr>
          <p:nvPr/>
        </p:nvPicPr>
        <p:blipFill>
          <a:blip r:embed="rId3"/>
          <a:stretch>
            <a:fillRect/>
          </a:stretch>
        </p:blipFill>
        <p:spPr>
          <a:xfrm>
            <a:off x="4637405" y="1293495"/>
            <a:ext cx="6924675" cy="722630"/>
          </a:xfrm>
          <a:prstGeom prst="rect">
            <a:avLst/>
          </a:prstGeom>
          <a:noFill/>
          <a:ln w="9525">
            <a:noFill/>
          </a:ln>
        </p:spPr>
      </p:pic>
      <p:pic>
        <p:nvPicPr>
          <p:cNvPr id="2097247" name="图片 -2147482573" descr="b6895087c7ace0379ffe2d7c1c60ae0"/>
          <p:cNvPicPr>
            <a:picLocks noChangeAspect="1"/>
          </p:cNvPicPr>
          <p:nvPr/>
        </p:nvPicPr>
        <p:blipFill>
          <a:blip r:embed="rId4"/>
          <a:stretch>
            <a:fillRect/>
          </a:stretch>
        </p:blipFill>
        <p:spPr>
          <a:xfrm>
            <a:off x="1524000" y="2294255"/>
            <a:ext cx="5458460" cy="42481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29" name=""/>
        <p:cNvGrpSpPr/>
        <p:nvPr/>
      </p:nvGrpSpPr>
      <p:grpSpPr>
        <a:xfrm>
          <a:off x="0" y="0"/>
          <a:ext cx="0" cy="0"/>
          <a:chOff x="0" y="0"/>
          <a:chExt cx="0" cy="0"/>
        </a:xfrm>
      </p:grpSpPr>
      <p:sp>
        <p:nvSpPr>
          <p:cNvPr id="1048740"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27"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28" name="图片 73"/>
          <p:cNvPicPr>
            <a:picLocks noChangeAspect="1"/>
          </p:cNvPicPr>
          <p:nvPr/>
        </p:nvPicPr>
        <p:blipFill>
          <a:blip r:embed="rId2"/>
          <a:stretch>
            <a:fillRect/>
          </a:stretch>
        </p:blipFill>
        <p:spPr>
          <a:xfrm>
            <a:off x="7983822" y="87720"/>
            <a:ext cx="2361905" cy="800000"/>
          </a:xfrm>
          <a:prstGeom prst="rect">
            <a:avLst/>
          </a:prstGeom>
        </p:spPr>
      </p:pic>
      <p:sp>
        <p:nvSpPr>
          <p:cNvPr id="1048741"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4</a:t>
            </a:r>
            <a:r>
              <a:rPr lang="zh-CN" altLang="en-US" sz="3200" b="1" dirty="0">
                <a:solidFill>
                  <a:srgbClr val="FF0000"/>
                </a:solidFill>
                <a:sym typeface="+mn-ea"/>
              </a:rPr>
              <a:t>、随机排序</a:t>
            </a:r>
            <a:endParaRPr lang="zh-CN" altLang="en-US" sz="3200" b="1" dirty="0">
              <a:solidFill>
                <a:srgbClr val="FF0000"/>
              </a:solidFill>
              <a:sym typeface="+mn-ea"/>
            </a:endParaRPr>
          </a:p>
        </p:txBody>
      </p:sp>
      <p:sp>
        <p:nvSpPr>
          <p:cNvPr id="1048742" name="文本框 3"/>
          <p:cNvSpPr txBox="1"/>
          <p:nvPr/>
        </p:nvSpPr>
        <p:spPr>
          <a:xfrm>
            <a:off x="1524000" y="2152015"/>
            <a:ext cx="8408670" cy="1539240"/>
          </a:xfrm>
          <a:prstGeom prst="rect">
            <a:avLst/>
          </a:prstGeom>
          <a:noFill/>
        </p:spPr>
        <p:txBody>
          <a:bodyPr wrap="square" rtlCol="0">
            <a:spAutoFit/>
          </a:bodyPr>
          <a:p>
            <a:pPr indent="0" fontAlgn="auto">
              <a:lnSpc>
                <a:spcPct val="150000"/>
              </a:lnSpc>
              <a:buFont typeface="Arial" panose="020B0604020202020204" pitchFamily="34" charset="0"/>
              <a:buNone/>
            </a:pPr>
            <a:r>
              <a:rPr lang="zh-CN" altLang="en-US" sz="1600" b="1"/>
              <a:t>分治法：</a:t>
            </a:r>
            <a:r>
              <a:rPr lang="zh-CN" altLang="en-US" sz="1600"/>
              <a:t>大问题</a:t>
            </a:r>
            <a:r>
              <a:rPr lang="en-US" altLang="zh-CN" sz="1600"/>
              <a:t>--</a:t>
            </a:r>
            <a:r>
              <a:rPr lang="zh-CN" altLang="en-US" sz="1600"/>
              <a:t>小问题</a:t>
            </a:r>
            <a:r>
              <a:rPr lang="en-US" altLang="zh-CN" sz="1600"/>
              <a:t>--</a:t>
            </a:r>
            <a:r>
              <a:rPr lang="zh-CN" altLang="en-US" sz="1600"/>
              <a:t>每个子问题都解决</a:t>
            </a:r>
            <a:r>
              <a:rPr lang="en-US" altLang="zh-CN" sz="1600"/>
              <a:t>  </a:t>
            </a:r>
            <a:r>
              <a:rPr lang="zh-CN" altLang="en-US" sz="1600"/>
              <a:t>【快速排序</a:t>
            </a:r>
            <a:r>
              <a:rPr lang="en-US" altLang="zh-CN" sz="1600"/>
              <a:t> O(</a:t>
            </a:r>
            <a:r>
              <a:rPr lang="en-US" altLang="zh-CN" sz="1600"/>
              <a:t>nlogn)</a:t>
            </a:r>
            <a:r>
              <a:rPr lang="zh-CN" altLang="en-US" sz="1600"/>
              <a:t>】</a:t>
            </a:r>
            <a:endParaRPr lang="zh-CN" altLang="en-US" sz="1600"/>
          </a:p>
          <a:p>
            <a:pPr indent="0" fontAlgn="auto">
              <a:lnSpc>
                <a:spcPct val="150000"/>
              </a:lnSpc>
              <a:buFont typeface="Arial" panose="020B0604020202020204" pitchFamily="34" charset="0"/>
              <a:buNone/>
            </a:pPr>
            <a:endParaRPr lang="zh-CN" altLang="en-US" sz="1600"/>
          </a:p>
          <a:p>
            <a:pPr indent="0" fontAlgn="auto">
              <a:lnSpc>
                <a:spcPct val="150000"/>
              </a:lnSpc>
              <a:buFont typeface="Arial" panose="020B0604020202020204" pitchFamily="34" charset="0"/>
              <a:buNone/>
            </a:pPr>
            <a:r>
              <a:rPr lang="zh-CN" altLang="en-US" sz="1600" b="1"/>
              <a:t>减治法：</a:t>
            </a:r>
            <a:r>
              <a:rPr lang="zh-CN" altLang="en-US" sz="1600"/>
              <a:t>大问题</a:t>
            </a:r>
            <a:r>
              <a:rPr lang="en-US" altLang="zh-CN" sz="1600"/>
              <a:t>--</a:t>
            </a:r>
            <a:r>
              <a:rPr lang="zh-CN" altLang="en-US" sz="1600"/>
              <a:t>小问题</a:t>
            </a:r>
            <a:r>
              <a:rPr lang="en-US" altLang="zh-CN" sz="1600"/>
              <a:t>--</a:t>
            </a:r>
            <a:r>
              <a:rPr lang="zh-CN" altLang="en-US" sz="1600"/>
              <a:t>子问题中只解决一个【二分查找</a:t>
            </a:r>
            <a:r>
              <a:rPr lang="en-US" altLang="zh-CN" sz="1600"/>
              <a:t>O(log n)</a:t>
            </a:r>
            <a:r>
              <a:rPr lang="zh-CN" altLang="en-US" sz="1600"/>
              <a:t>，随机选择</a:t>
            </a:r>
            <a:r>
              <a:rPr lang="en-US" altLang="zh-CN" sz="1600"/>
              <a:t> O(n) </a:t>
            </a:r>
            <a:r>
              <a:rPr lang="zh-CN" altLang="en-US" sz="1600"/>
              <a:t>】</a:t>
            </a:r>
            <a:endParaRPr lang="zh-CN" altLang="en-US" sz="1600"/>
          </a:p>
          <a:p>
            <a:pPr indent="0" fontAlgn="auto">
              <a:lnSpc>
                <a:spcPct val="150000"/>
              </a:lnSpc>
              <a:buFont typeface="Arial" panose="020B0604020202020204" pitchFamily="34" charset="0"/>
              <a:buNone/>
            </a:pPr>
            <a:endParaRPr lang="zh-CN" altLang="en-US" sz="1600"/>
          </a:p>
        </p:txBody>
      </p:sp>
      <p:sp>
        <p:nvSpPr>
          <p:cNvPr id="1048743" name="文本框 5"/>
          <p:cNvSpPr txBox="1"/>
          <p:nvPr/>
        </p:nvSpPr>
        <p:spPr>
          <a:xfrm>
            <a:off x="1577975" y="4006850"/>
            <a:ext cx="9662795" cy="1198880"/>
          </a:xfrm>
          <a:prstGeom prst="rect">
            <a:avLst/>
          </a:prstGeom>
          <a:noFill/>
        </p:spPr>
        <p:txBody>
          <a:bodyPr wrap="square" rtlCol="0">
            <a:spAutoFit/>
          </a:bodyPr>
          <a:p>
            <a:pPr algn="l" fontAlgn="auto">
              <a:lnSpc>
                <a:spcPct val="150000"/>
              </a:lnSpc>
            </a:pPr>
            <a:r>
              <a:rPr lang="zh-CN" altLang="en-US" sz="1600"/>
              <a:t>与堆排序的整体思路类似，我们采用随机排序只希望选出前k大的数，而不去进行排序。</a:t>
            </a:r>
            <a:endParaRPr lang="zh-CN" altLang="en-US" sz="1600"/>
          </a:p>
          <a:p>
            <a:pPr algn="l" fontAlgn="auto">
              <a:lnSpc>
                <a:spcPct val="150000"/>
              </a:lnSpc>
            </a:pPr>
            <a:r>
              <a:rPr lang="zh-CN" altLang="en-US" sz="1600" b="1"/>
              <a:t>利用快速排序的特性：</a:t>
            </a:r>
            <a:r>
              <a:rPr lang="zh-CN" altLang="en-US" sz="1600"/>
              <a:t>每次选择一个</a:t>
            </a:r>
            <a:r>
              <a:rPr lang="zh-CN" altLang="en-US" sz="1600" b="1"/>
              <a:t>pivot（基准元素）</a:t>
            </a:r>
            <a:r>
              <a:rPr lang="zh-CN" altLang="en-US" sz="1600"/>
              <a:t>，然后将数组分为两部分，一部分是比基准元素小的，另一部分是比基准元素大的，再继续递归基准元素左右的所有数组元素。</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47"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29"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30" name="图片 73"/>
          <p:cNvPicPr>
            <a:picLocks noChangeAspect="1"/>
          </p:cNvPicPr>
          <p:nvPr/>
        </p:nvPicPr>
        <p:blipFill>
          <a:blip r:embed="rId2"/>
          <a:stretch>
            <a:fillRect/>
          </a:stretch>
        </p:blipFill>
        <p:spPr>
          <a:xfrm>
            <a:off x="7983822" y="87720"/>
            <a:ext cx="2361905" cy="800000"/>
          </a:xfrm>
          <a:prstGeom prst="rect">
            <a:avLst/>
          </a:prstGeom>
        </p:spPr>
      </p:pic>
      <p:sp>
        <p:nvSpPr>
          <p:cNvPr id="1048748" name="文本框 2"/>
          <p:cNvSpPr txBox="1"/>
          <p:nvPr/>
        </p:nvSpPr>
        <p:spPr>
          <a:xfrm>
            <a:off x="1524000" y="1219200"/>
            <a:ext cx="3981450" cy="583565"/>
          </a:xfrm>
          <a:prstGeom prst="rect">
            <a:avLst/>
          </a:prstGeom>
          <a:noFill/>
        </p:spPr>
        <p:txBody>
          <a:bodyPr wrap="square" rtlCol="0">
            <a:spAutoFit/>
          </a:bodyPr>
          <a:p>
            <a:r>
              <a:rPr lang="en-US" altLang="zh-CN" sz="3200" b="1" dirty="0">
                <a:solidFill>
                  <a:srgbClr val="FF0000"/>
                </a:solidFill>
                <a:sym typeface="+mn-ea"/>
              </a:rPr>
              <a:t>4</a:t>
            </a:r>
            <a:r>
              <a:rPr lang="zh-CN" altLang="en-US" sz="3200" b="1" dirty="0">
                <a:solidFill>
                  <a:srgbClr val="FF0000"/>
                </a:solidFill>
                <a:sym typeface="+mn-ea"/>
              </a:rPr>
              <a:t>、随机排序</a:t>
            </a:r>
            <a:endParaRPr lang="zh-CN" altLang="en-US" sz="3200" b="1" dirty="0">
              <a:solidFill>
                <a:srgbClr val="FF0000"/>
              </a:solidFill>
              <a:sym typeface="+mn-ea"/>
            </a:endParaRPr>
          </a:p>
        </p:txBody>
      </p:sp>
      <p:sp>
        <p:nvSpPr>
          <p:cNvPr id="1048749" name="文本框 3"/>
          <p:cNvSpPr txBox="1"/>
          <p:nvPr/>
        </p:nvSpPr>
        <p:spPr>
          <a:xfrm>
            <a:off x="1524000" y="2360295"/>
            <a:ext cx="4490085" cy="3415030"/>
          </a:xfrm>
          <a:prstGeom prst="rect">
            <a:avLst/>
          </a:prstGeom>
          <a:noFill/>
        </p:spPr>
        <p:txBody>
          <a:bodyPr wrap="square" rtlCol="0">
            <a:spAutoFit/>
          </a:bodyPr>
          <a:p>
            <a:pPr marL="285750" indent="-285750" fontAlgn="auto">
              <a:lnSpc>
                <a:spcPct val="150000"/>
              </a:lnSpc>
              <a:buFont typeface="Arial" panose="020B0604020202020204" pitchFamily="34" charset="0"/>
              <a:buChar char="•"/>
            </a:pPr>
            <a:r>
              <a:rPr sz="1600"/>
              <a:t>与快速排序不同的是，基于快速选择的随机排序只需要对</a:t>
            </a:r>
            <a:r>
              <a:rPr sz="1600" b="1">
                <a:solidFill>
                  <a:srgbClr val="FF0000"/>
                </a:solidFill>
              </a:rPr>
              <a:t>一部分进行递归</a:t>
            </a:r>
            <a:r>
              <a:rPr sz="1600"/>
              <a:t>，每次划分操作都只需要将问题规模减半，即</a:t>
            </a:r>
            <a:r>
              <a:rPr sz="1600" b="1">
                <a:solidFill>
                  <a:srgbClr val="FF0000"/>
                </a:solidFill>
              </a:rPr>
              <a:t>时间复杂度为O(n)</a:t>
            </a:r>
            <a:r>
              <a:rPr sz="1600"/>
              <a:t>。</a:t>
            </a:r>
            <a:endParaRPr sz="1600"/>
          </a:p>
          <a:p>
            <a:pPr marL="285750" indent="-285750" fontAlgn="auto">
              <a:lnSpc>
                <a:spcPct val="150000"/>
              </a:lnSpc>
              <a:buFont typeface="Arial" panose="020B0604020202020204" pitchFamily="34" charset="0"/>
              <a:buChar char="•"/>
            </a:pPr>
            <a:r>
              <a:rPr sz="1600"/>
              <a:t>在最坏情况下，如果每次选择的基准元素恰好都是最大或者最小元素时，时间复杂度为O(n^2)。</a:t>
            </a:r>
            <a:endParaRPr sz="1600"/>
          </a:p>
          <a:p>
            <a:pPr marL="285750" indent="-285750" fontAlgn="auto">
              <a:lnSpc>
                <a:spcPct val="150000"/>
              </a:lnSpc>
              <a:buFont typeface="Arial" panose="020B0604020202020204" pitchFamily="34" charset="0"/>
              <a:buChar char="•"/>
            </a:pPr>
            <a:r>
              <a:rPr sz="1600"/>
              <a:t>但是在使用随机基准的情况下，这种情况很少发生</a:t>
            </a:r>
            <a:r>
              <a:rPr lang="zh-CN" sz="1600"/>
              <a:t>。</a:t>
            </a:r>
            <a:endParaRPr lang="zh-CN" sz="1600"/>
          </a:p>
        </p:txBody>
      </p:sp>
      <p:pic>
        <p:nvPicPr>
          <p:cNvPr id="2097231" name="图片 -2147482577" descr="8ba681c7f6a3408662121c23ef429c9"/>
          <p:cNvPicPr>
            <a:picLocks noChangeAspect="1"/>
          </p:cNvPicPr>
          <p:nvPr/>
        </p:nvPicPr>
        <p:blipFill>
          <a:blip r:embed="rId3"/>
          <a:stretch>
            <a:fillRect/>
          </a:stretch>
        </p:blipFill>
        <p:spPr>
          <a:xfrm>
            <a:off x="4422140" y="1283970"/>
            <a:ext cx="6519545" cy="679450"/>
          </a:xfrm>
          <a:prstGeom prst="rect">
            <a:avLst/>
          </a:prstGeom>
          <a:noFill/>
          <a:ln w="9525">
            <a:noFill/>
          </a:ln>
        </p:spPr>
      </p:pic>
      <p:pic>
        <p:nvPicPr>
          <p:cNvPr id="2097232" name="图片 -2147482572" descr="79c22f5a6483d71b9ded383dae5c0dc"/>
          <p:cNvPicPr>
            <a:picLocks noChangeAspect="1"/>
          </p:cNvPicPr>
          <p:nvPr/>
        </p:nvPicPr>
        <p:blipFill>
          <a:blip r:embed="rId4"/>
          <a:stretch>
            <a:fillRect/>
          </a:stretch>
        </p:blipFill>
        <p:spPr>
          <a:xfrm>
            <a:off x="6380480" y="2359660"/>
            <a:ext cx="4608195" cy="358902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048753"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33"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34" name="图片 73"/>
          <p:cNvPicPr>
            <a:picLocks noChangeAspect="1"/>
          </p:cNvPicPr>
          <p:nvPr/>
        </p:nvPicPr>
        <p:blipFill>
          <a:blip r:embed="rId2"/>
          <a:stretch>
            <a:fillRect/>
          </a:stretch>
        </p:blipFill>
        <p:spPr>
          <a:xfrm>
            <a:off x="7983822" y="87720"/>
            <a:ext cx="2361905" cy="800000"/>
          </a:xfrm>
          <a:prstGeom prst="rect">
            <a:avLst/>
          </a:prstGeom>
        </p:spPr>
      </p:pic>
      <p:sp>
        <p:nvSpPr>
          <p:cNvPr id="1048754" name="文本框 2"/>
          <p:cNvSpPr txBox="1"/>
          <p:nvPr/>
        </p:nvSpPr>
        <p:spPr>
          <a:xfrm>
            <a:off x="1524000" y="1219200"/>
            <a:ext cx="5997575" cy="583565"/>
          </a:xfrm>
          <a:prstGeom prst="rect">
            <a:avLst/>
          </a:prstGeom>
          <a:noFill/>
        </p:spPr>
        <p:txBody>
          <a:bodyPr wrap="square" rtlCol="0">
            <a:spAutoFit/>
          </a:bodyPr>
          <a:p>
            <a:r>
              <a:rPr lang="en-US" altLang="zh-CN" sz="3200" b="1" dirty="0">
                <a:solidFill>
                  <a:srgbClr val="FF0000"/>
                </a:solidFill>
                <a:sym typeface="+mn-ea"/>
              </a:rPr>
              <a:t>5</a:t>
            </a:r>
            <a:r>
              <a:rPr lang="zh-CN" altLang="en-US" sz="3200" b="1" dirty="0">
                <a:solidFill>
                  <a:srgbClr val="FF0000"/>
                </a:solidFill>
                <a:sym typeface="+mn-ea"/>
              </a:rPr>
              <a:t>、四种排序算法的效率比较</a:t>
            </a:r>
            <a:endParaRPr lang="zh-CN" altLang="en-US" sz="3200" b="1" dirty="0">
              <a:solidFill>
                <a:srgbClr val="FF0000"/>
              </a:solidFill>
              <a:sym typeface="+mn-ea"/>
            </a:endParaRPr>
          </a:p>
        </p:txBody>
      </p:sp>
      <p:pic>
        <p:nvPicPr>
          <p:cNvPr id="2097235" name="图片 -2147482570"/>
          <p:cNvPicPr>
            <a:picLocks noChangeAspect="1"/>
          </p:cNvPicPr>
          <p:nvPr/>
        </p:nvPicPr>
        <p:blipFill>
          <a:blip r:embed="rId3"/>
          <a:stretch>
            <a:fillRect/>
          </a:stretch>
        </p:blipFill>
        <p:spPr>
          <a:xfrm>
            <a:off x="1524000" y="1940560"/>
            <a:ext cx="6822440" cy="4288155"/>
          </a:xfrm>
          <a:prstGeom prst="rect">
            <a:avLst/>
          </a:prstGeom>
          <a:noFill/>
          <a:ln w="9525">
            <a:noFill/>
          </a:ln>
        </p:spPr>
      </p:pic>
      <p:sp>
        <p:nvSpPr>
          <p:cNvPr id="1048755" name="文本框 5"/>
          <p:cNvSpPr txBox="1"/>
          <p:nvPr/>
        </p:nvSpPr>
        <p:spPr>
          <a:xfrm>
            <a:off x="8667750" y="2684145"/>
            <a:ext cx="2834005" cy="922020"/>
          </a:xfrm>
          <a:prstGeom prst="rect">
            <a:avLst/>
          </a:prstGeom>
          <a:noFill/>
        </p:spPr>
        <p:txBody>
          <a:bodyPr wrap="square" rtlCol="0">
            <a:spAutoFit/>
          </a:bodyPr>
          <a:p>
            <a:pPr algn="l" fontAlgn="auto">
              <a:lnSpc>
                <a:spcPct val="150000"/>
              </a:lnSpc>
            </a:pPr>
            <a:r>
              <a:rPr lang="zh-CN" altLang="en-US"/>
              <a:t>将</a:t>
            </a:r>
            <a:r>
              <a:rPr lang="en-US" altLang="zh-CN"/>
              <a:t>K</a:t>
            </a:r>
            <a:r>
              <a:rPr lang="zh-CN" altLang="en-US"/>
              <a:t>值设定为</a:t>
            </a:r>
            <a:r>
              <a:rPr lang="en-US" altLang="zh-CN"/>
              <a:t>10</a:t>
            </a:r>
            <a:endParaRPr lang="en-US" altLang="zh-CN"/>
          </a:p>
          <a:p>
            <a:pPr algn="l" fontAlgn="auto">
              <a:lnSpc>
                <a:spcPct val="150000"/>
              </a:lnSpc>
            </a:pPr>
            <a:r>
              <a:rPr lang="zh-CN" altLang="en-US"/>
              <a:t>维持堆性质优于随机</a:t>
            </a:r>
            <a:r>
              <a:rPr lang="zh-CN" altLang="en-US"/>
              <a:t>排序？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048759" name="矩形 51"/>
          <p:cNvSpPr/>
          <p:nvPr/>
        </p:nvSpPr>
        <p:spPr>
          <a:xfrm>
            <a:off x="1523932" y="224836"/>
            <a:ext cx="3242945" cy="645160"/>
          </a:xfrm>
          <a:prstGeom prst="rect">
            <a:avLst/>
          </a:prstGeom>
        </p:spPr>
        <p:txBody>
          <a:bodyPr wrap="none">
            <a:spAutoFit/>
          </a:bodyPr>
          <a:p>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前</a:t>
            </a:r>
            <a:r>
              <a:rPr lang="en-US" altLang="zh-CN"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K</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大问题</a:t>
            </a:r>
            <a:r>
              <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求解</a:t>
            </a:r>
            <a:endParaRPr lang="zh-CN" altLang="en-US" sz="36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36" name="Picture 9"/>
          <p:cNvPicPr>
            <a:picLocks noChangeAspect="1" noChangeArrowheads="1"/>
          </p:cNvPicPr>
          <p:nvPr/>
        </p:nvPicPr>
        <p:blipFill>
          <a:blip r:embed="rId1" cstate="print"/>
          <a:srcRect/>
          <a:stretch>
            <a:fillRect/>
          </a:stretch>
        </p:blipFill>
        <p:spPr bwMode="auto">
          <a:xfrm>
            <a:off x="1524000" y="868220"/>
            <a:ext cx="9144000" cy="213361"/>
          </a:xfrm>
          <a:prstGeom prst="rect">
            <a:avLst/>
          </a:prstGeom>
          <a:noFill/>
          <a:ln>
            <a:noFill/>
          </a:ln>
        </p:spPr>
      </p:pic>
      <p:pic>
        <p:nvPicPr>
          <p:cNvPr id="2097237" name="图片 73"/>
          <p:cNvPicPr>
            <a:picLocks noChangeAspect="1"/>
          </p:cNvPicPr>
          <p:nvPr/>
        </p:nvPicPr>
        <p:blipFill>
          <a:blip r:embed="rId2"/>
          <a:stretch>
            <a:fillRect/>
          </a:stretch>
        </p:blipFill>
        <p:spPr>
          <a:xfrm>
            <a:off x="7983822" y="87720"/>
            <a:ext cx="2361905" cy="800000"/>
          </a:xfrm>
          <a:prstGeom prst="rect">
            <a:avLst/>
          </a:prstGeom>
        </p:spPr>
      </p:pic>
      <p:sp>
        <p:nvSpPr>
          <p:cNvPr id="1048760" name="文本框 2"/>
          <p:cNvSpPr txBox="1"/>
          <p:nvPr/>
        </p:nvSpPr>
        <p:spPr>
          <a:xfrm>
            <a:off x="1524000" y="1219200"/>
            <a:ext cx="5997575" cy="583565"/>
          </a:xfrm>
          <a:prstGeom prst="rect">
            <a:avLst/>
          </a:prstGeom>
          <a:noFill/>
        </p:spPr>
        <p:txBody>
          <a:bodyPr wrap="square" rtlCol="0">
            <a:spAutoFit/>
          </a:bodyPr>
          <a:p>
            <a:r>
              <a:rPr lang="en-US" altLang="zh-CN" sz="3200" b="1" dirty="0">
                <a:solidFill>
                  <a:srgbClr val="FF0000"/>
                </a:solidFill>
                <a:sym typeface="+mn-ea"/>
              </a:rPr>
              <a:t>5</a:t>
            </a:r>
            <a:r>
              <a:rPr lang="zh-CN" altLang="en-US" sz="3200" b="1" dirty="0">
                <a:solidFill>
                  <a:srgbClr val="FF0000"/>
                </a:solidFill>
                <a:sym typeface="+mn-ea"/>
              </a:rPr>
              <a:t>、四种排序算法的效率比较</a:t>
            </a:r>
            <a:endParaRPr lang="zh-CN" altLang="en-US" sz="3200" b="1" dirty="0">
              <a:solidFill>
                <a:srgbClr val="FF0000"/>
              </a:solidFill>
              <a:sym typeface="+mn-ea"/>
            </a:endParaRPr>
          </a:p>
        </p:txBody>
      </p:sp>
      <p:pic>
        <p:nvPicPr>
          <p:cNvPr id="2097238" name="图片 -2147482569"/>
          <p:cNvPicPr>
            <a:picLocks noChangeAspect="1"/>
          </p:cNvPicPr>
          <p:nvPr/>
        </p:nvPicPr>
        <p:blipFill>
          <a:blip r:embed="rId3"/>
          <a:stretch>
            <a:fillRect/>
          </a:stretch>
        </p:blipFill>
        <p:spPr>
          <a:xfrm>
            <a:off x="1659255" y="2708275"/>
            <a:ext cx="7590155" cy="889635"/>
          </a:xfrm>
          <a:prstGeom prst="rect">
            <a:avLst/>
          </a:prstGeom>
          <a:noFill/>
          <a:ln w="9525">
            <a:noFill/>
          </a:ln>
        </p:spPr>
      </p:pic>
      <p:sp>
        <p:nvSpPr>
          <p:cNvPr id="1048761" name="文本框 3"/>
          <p:cNvSpPr txBox="1"/>
          <p:nvPr/>
        </p:nvSpPr>
        <p:spPr>
          <a:xfrm>
            <a:off x="1717040" y="2152015"/>
            <a:ext cx="1617980" cy="368300"/>
          </a:xfrm>
          <a:prstGeom prst="rect">
            <a:avLst/>
          </a:prstGeom>
          <a:noFill/>
        </p:spPr>
        <p:txBody>
          <a:bodyPr wrap="none" rtlCol="0">
            <a:spAutoFit/>
          </a:bodyPr>
          <a:p>
            <a:r>
              <a:rPr lang="zh-CN" altLang="en-US" b="1"/>
              <a:t>增大</a:t>
            </a:r>
            <a:r>
              <a:rPr lang="en-US" altLang="zh-CN" b="1"/>
              <a:t>K</a:t>
            </a:r>
            <a:r>
              <a:rPr lang="zh-CN" altLang="en-US" b="1"/>
              <a:t>值至</a:t>
            </a:r>
            <a:r>
              <a:rPr lang="en-US" altLang="zh-CN" b="1"/>
              <a:t>100</a:t>
            </a:r>
            <a:endParaRPr lang="en-US" altLang="zh-CN" b="1"/>
          </a:p>
        </p:txBody>
      </p:sp>
      <p:sp>
        <p:nvSpPr>
          <p:cNvPr id="1048762" name="文本框 4"/>
          <p:cNvSpPr txBox="1"/>
          <p:nvPr/>
        </p:nvSpPr>
        <p:spPr>
          <a:xfrm>
            <a:off x="1717040" y="4311650"/>
            <a:ext cx="7040880" cy="368300"/>
          </a:xfrm>
          <a:prstGeom prst="rect">
            <a:avLst/>
          </a:prstGeom>
          <a:noFill/>
        </p:spPr>
        <p:txBody>
          <a:bodyPr wrap="none" rtlCol="0">
            <a:spAutoFit/>
          </a:bodyPr>
          <a:p>
            <a:pPr algn="l"/>
            <a:r>
              <a:rPr lang="zh-CN" altLang="en-US"/>
              <a:t>可以</a:t>
            </a:r>
            <a:r>
              <a:rPr lang="zh-CN" altLang="en-US"/>
              <a:t>看到，维持堆性质算法相较于随机排序的时间减少优势相差不大</a:t>
            </a:r>
            <a:endParaRPr lang="zh-CN" altLang="en-US"/>
          </a:p>
        </p:txBody>
      </p:sp>
      <p:sp>
        <p:nvSpPr>
          <p:cNvPr id="1048763" name="文本框 5"/>
          <p:cNvSpPr txBox="1"/>
          <p:nvPr/>
        </p:nvSpPr>
        <p:spPr>
          <a:xfrm>
            <a:off x="1717040" y="5224780"/>
            <a:ext cx="6163945" cy="368300"/>
          </a:xfrm>
          <a:prstGeom prst="rect">
            <a:avLst/>
          </a:prstGeom>
          <a:noFill/>
        </p:spPr>
        <p:txBody>
          <a:bodyPr wrap="none" rtlCol="0">
            <a:spAutoFit/>
          </a:bodyPr>
          <a:p>
            <a:pPr algn="l"/>
            <a:r>
              <a:rPr lang="zh-CN" altLang="en-US" b="1">
                <a:sym typeface="+mn-ea"/>
              </a:rPr>
              <a:t>总结：</a:t>
            </a:r>
            <a:r>
              <a:rPr lang="zh-CN" altLang="en-US">
                <a:sym typeface="+mn-ea"/>
              </a:rPr>
              <a:t>对于前</a:t>
            </a:r>
            <a:r>
              <a:rPr lang="en-US" altLang="zh-CN">
                <a:sym typeface="+mn-ea"/>
              </a:rPr>
              <a:t>K</a:t>
            </a:r>
            <a:r>
              <a:rPr lang="zh-CN" altLang="en-US">
                <a:sym typeface="+mn-ea"/>
              </a:rPr>
              <a:t>大问题的求解</a:t>
            </a:r>
            <a:r>
              <a:rPr lang="zh-CN" altLang="en-US" b="1">
                <a:solidFill>
                  <a:srgbClr val="FF0000"/>
                </a:solidFill>
                <a:sym typeface="+mn-ea"/>
              </a:rPr>
              <a:t>采取维持当前的</a:t>
            </a:r>
            <a:r>
              <a:rPr lang="en-US" altLang="zh-CN" b="1">
                <a:solidFill>
                  <a:srgbClr val="FF0000"/>
                </a:solidFill>
                <a:sym typeface="+mn-ea"/>
              </a:rPr>
              <a:t>K</a:t>
            </a:r>
            <a:r>
              <a:rPr lang="zh-CN" altLang="en-US" b="1">
                <a:solidFill>
                  <a:srgbClr val="FF0000"/>
                </a:solidFill>
                <a:sym typeface="+mn-ea"/>
              </a:rPr>
              <a:t>大个堆的问题</a:t>
            </a:r>
            <a:endParaRPr lang="zh-CN" altLang="en-US" b="1">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1048767" name="Title 1"/>
          <p:cNvSpPr>
            <a:spLocks noGrp="1"/>
          </p:cNvSpPr>
          <p:nvPr>
            <p:ph type="ctrTitle" idx="4294967295"/>
          </p:nvPr>
        </p:nvSpPr>
        <p:spPr>
          <a:xfrm>
            <a:off x="1703512" y="2247008"/>
            <a:ext cx="8964488" cy="1470025"/>
          </a:xfrm>
        </p:spPr>
        <p:txBody>
          <a:bodyPr>
            <a:normAutofit/>
          </a:bodyPr>
          <a:p>
            <a:pPr algn="ctr"/>
            <a:r>
              <a:rPr lang="zh-CN" altLang="en-US" sz="3600" b="1" dirty="0">
                <a:solidFill>
                  <a:schemeClr val="accent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谢谢</a:t>
            </a:r>
            <a:r>
              <a:rPr lang="zh-CN" altLang="en-US" sz="3600" b="1" dirty="0">
                <a:solidFill>
                  <a:schemeClr val="accent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倾听！</a:t>
            </a:r>
            <a:endParaRPr lang="zh-CN" altLang="en-US" sz="3600" b="1" dirty="0">
              <a:solidFill>
                <a:schemeClr val="accent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097239" name="Picture 9"/>
          <p:cNvPicPr>
            <a:picLocks noChangeAspect="1" noChangeArrowheads="1"/>
          </p:cNvPicPr>
          <p:nvPr/>
        </p:nvPicPr>
        <p:blipFill>
          <a:blip r:embed="rId1" cstate="print"/>
          <a:srcRect/>
          <a:stretch>
            <a:fillRect/>
          </a:stretch>
        </p:blipFill>
        <p:spPr bwMode="auto">
          <a:xfrm>
            <a:off x="1524000" y="3431664"/>
            <a:ext cx="9144000" cy="213361"/>
          </a:xfrm>
          <a:prstGeom prst="rect">
            <a:avLst/>
          </a:prstGeom>
          <a:noFill/>
          <a:ln>
            <a:noFill/>
          </a:ln>
        </p:spPr>
      </p:pic>
      <p:pic>
        <p:nvPicPr>
          <p:cNvPr id="2097240" name="图片 1"/>
          <p:cNvPicPr>
            <a:picLocks noChangeAspect="1"/>
          </p:cNvPicPr>
          <p:nvPr/>
        </p:nvPicPr>
        <p:blipFill>
          <a:blip r:embed="rId2"/>
          <a:stretch>
            <a:fillRect/>
          </a:stretch>
        </p:blipFill>
        <p:spPr>
          <a:xfrm>
            <a:off x="7641937" y="5715700"/>
            <a:ext cx="2361905" cy="800000"/>
          </a:xfrm>
          <a:prstGeom prst="rect">
            <a:avLst/>
          </a:prstGeom>
        </p:spPr>
      </p:pic>
      <p:pic>
        <p:nvPicPr>
          <p:cNvPr id="2097241" name="图片 6"/>
          <p:cNvPicPr>
            <a:picLocks noChangeAspect="1"/>
          </p:cNvPicPr>
          <p:nvPr/>
        </p:nvPicPr>
        <p:blipFill>
          <a:blip r:embed="rId3"/>
          <a:stretch>
            <a:fillRect/>
          </a:stretch>
        </p:blipFill>
        <p:spPr>
          <a:xfrm>
            <a:off x="1524000" y="7427"/>
            <a:ext cx="9144001" cy="2248671"/>
          </a:xfrm>
          <a:prstGeom prst="rect">
            <a:avLst/>
          </a:prstGeom>
        </p:spPr>
      </p:pic>
      <p:sp>
        <p:nvSpPr>
          <p:cNvPr id="1048768" name="灯片编号占位符 12"/>
          <p:cNvSpPr>
            <a:spLocks noGrp="1"/>
          </p:cNvSpPr>
          <p:nvPr>
            <p:ph type="sldNum" sz="quarter" idx="12"/>
          </p:nvPr>
        </p:nvSpPr>
        <p:spPr/>
        <p:txBody>
          <a:bodyPr/>
          <a:p>
            <a:fld id="{4C7C22DE-872A-4FED-AB0B-502B88775D0D}" type="slidenum">
              <a:rPr lang="zh-CN" altLang="en-US" smtClean="0"/>
            </a:fld>
            <a:endParaRPr lang="zh-CN" altLang="en-US"/>
          </a:p>
        </p:txBody>
      </p:sp>
      <p:sp>
        <p:nvSpPr>
          <p:cNvPr id="1048769" name="文本框 2"/>
          <p:cNvSpPr txBox="1"/>
          <p:nvPr/>
        </p:nvSpPr>
        <p:spPr>
          <a:xfrm>
            <a:off x="7642225" y="4820285"/>
            <a:ext cx="3391535" cy="829945"/>
          </a:xfrm>
          <a:prstGeom prst="rect">
            <a:avLst/>
          </a:prstGeom>
          <a:noFill/>
        </p:spPr>
        <p:txBody>
          <a:bodyPr wrap="square" rtlCol="0">
            <a:spAutoFit/>
          </a:bodyPr>
          <a:p>
            <a:r>
              <a:rPr lang="zh-CN" altLang="en-US" sz="2400" b="1" dirty="0">
                <a:solidFill>
                  <a:srgbClr val="FF0000"/>
                </a:solidFill>
              </a:rPr>
              <a:t>报告人</a:t>
            </a:r>
            <a:r>
              <a:rPr lang="zh-CN" altLang="en-US" sz="2400" b="1" dirty="0" smtClean="0">
                <a:solidFill>
                  <a:srgbClr val="FF0000"/>
                </a:solidFill>
              </a:rPr>
              <a:t>：杨韩</a:t>
            </a:r>
            <a:r>
              <a:rPr lang="zh-CN" altLang="en-US" sz="2400" b="1" dirty="0" smtClean="0">
                <a:solidFill>
                  <a:srgbClr val="FF0000"/>
                </a:solidFill>
              </a:rPr>
              <a:t>冰</a:t>
            </a:r>
            <a:endParaRPr lang="zh-CN" altLang="en-US" sz="2400" b="1" dirty="0" smtClean="0">
              <a:solidFill>
                <a:srgbClr val="FF0000"/>
              </a:solidFill>
            </a:endParaRPr>
          </a:p>
          <a:p>
            <a:r>
              <a:rPr lang="zh-CN" altLang="en-US" sz="2400" b="1" dirty="0" smtClean="0">
                <a:solidFill>
                  <a:srgbClr val="FF0000"/>
                </a:solidFill>
              </a:rPr>
              <a:t>日期：</a:t>
            </a:r>
            <a:r>
              <a:rPr lang="en-US" altLang="zh-CN" sz="2400" b="1" dirty="0" smtClean="0">
                <a:solidFill>
                  <a:srgbClr val="FF0000"/>
                </a:solidFill>
              </a:rPr>
              <a:t>2025</a:t>
            </a:r>
            <a:r>
              <a:rPr lang="zh-CN" altLang="en-US" sz="2400" b="1" dirty="0" smtClean="0">
                <a:solidFill>
                  <a:srgbClr val="FF0000"/>
                </a:solidFill>
              </a:rPr>
              <a:t>年</a:t>
            </a:r>
            <a:r>
              <a:rPr lang="en-US" altLang="zh-CN" sz="2400" b="1" dirty="0" smtClean="0">
                <a:solidFill>
                  <a:srgbClr val="FF0000"/>
                </a:solidFill>
              </a:rPr>
              <a:t>3</a:t>
            </a:r>
            <a:r>
              <a:rPr lang="zh-CN" altLang="en-US" sz="2400" b="1" dirty="0" smtClean="0">
                <a:solidFill>
                  <a:srgbClr val="FF0000"/>
                </a:solidFill>
              </a:rPr>
              <a:t>月</a:t>
            </a:r>
            <a:r>
              <a:rPr lang="en-US" altLang="zh-CN" sz="2400" b="1" dirty="0" smtClean="0">
                <a:solidFill>
                  <a:srgbClr val="FF0000"/>
                </a:solidFill>
              </a:rPr>
              <a:t>21</a:t>
            </a:r>
            <a:r>
              <a:rPr lang="zh-CN" altLang="en-US" sz="2400" b="1" dirty="0" smtClean="0">
                <a:solidFill>
                  <a:srgbClr val="FF0000"/>
                </a:solidFill>
              </a:rPr>
              <a:t>号</a:t>
            </a:r>
            <a:endParaRPr lang="zh-CN" altLang="en-US" sz="2400" b="1" dirty="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3034"/>
    </mc:Choice>
    <mc:Fallback>
      <p:transition spd="slow" advTm="230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2097241"/>
                                        </p:tgtEl>
                                        <p:attrNameLst>
                                          <p:attrName>style.visibility</p:attrName>
                                        </p:attrNameLst>
                                      </p:cBhvr>
                                      <p:to>
                                        <p:strVal val="visible"/>
                                      </p:to>
                                    </p:set>
                                    <p:animEffect transition="in" filter="wheel(1)">
                                      <p:cBhvr>
                                        <p:cTn id="7" dur="2000"/>
                                        <p:tgtEl>
                                          <p:spTgt spid="2097241"/>
                                        </p:tgtEl>
                                      </p:cBhvr>
                                    </p:animEffect>
                                  </p:childTnLst>
                                </p:cTn>
                              </p:par>
                              <p:par>
                                <p:cTn id="8" presetID="21" presetClass="entr" presetSubtype="1" fill="hold" nodeType="withEffect">
                                  <p:stCondLst>
                                    <p:cond delay="0"/>
                                  </p:stCondLst>
                                  <p:childTnLst>
                                    <p:set>
                                      <p:cBhvr>
                                        <p:cTn id="9" dur="1" fill="hold">
                                          <p:stCondLst>
                                            <p:cond delay="0"/>
                                          </p:stCondLst>
                                        </p:cTn>
                                        <p:tgtEl>
                                          <p:spTgt spid="2097240"/>
                                        </p:tgtEl>
                                        <p:attrNameLst>
                                          <p:attrName>style.visibility</p:attrName>
                                        </p:attrNameLst>
                                      </p:cBhvr>
                                      <p:to>
                                        <p:strVal val="visible"/>
                                      </p:to>
                                    </p:set>
                                    <p:animEffect transition="in" filter="wheel(1)">
                                      <p:cBhvr>
                                        <p:cTn id="10" dur="2000"/>
                                        <p:tgtEl>
                                          <p:spTgt spid="2097240"/>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048767"/>
                                        </p:tgtEl>
                                        <p:attrNameLst>
                                          <p:attrName>style.visibility</p:attrName>
                                        </p:attrNameLst>
                                      </p:cBhvr>
                                      <p:to>
                                        <p:strVal val="visible"/>
                                      </p:to>
                                    </p:set>
                                    <p:animEffect transition="in" filter="wheel(1)">
                                      <p:cBhvr>
                                        <p:cTn id="13" dur="2000"/>
                                        <p:tgtEl>
                                          <p:spTgt spid="1048767"/>
                                        </p:tgtEl>
                                      </p:cBhvr>
                                    </p:animEffect>
                                  </p:childTnLst>
                                </p:cTn>
                              </p:par>
                              <p:par>
                                <p:cTn id="14" presetID="21" presetClass="entr" presetSubtype="1" fill="hold" nodeType="withEffect">
                                  <p:stCondLst>
                                    <p:cond delay="0"/>
                                  </p:stCondLst>
                                  <p:childTnLst>
                                    <p:set>
                                      <p:cBhvr>
                                        <p:cTn id="15" dur="1" fill="hold">
                                          <p:stCondLst>
                                            <p:cond delay="0"/>
                                          </p:stCondLst>
                                        </p:cTn>
                                        <p:tgtEl>
                                          <p:spTgt spid="2097239"/>
                                        </p:tgtEl>
                                        <p:attrNameLst>
                                          <p:attrName>style.visibility</p:attrName>
                                        </p:attrNameLst>
                                      </p:cBhvr>
                                      <p:to>
                                        <p:strVal val="visible"/>
                                      </p:to>
                                    </p:set>
                                    <p:animEffect transition="in" filter="wheel(1)">
                                      <p:cBhvr>
                                        <p:cTn id="16" dur="2000"/>
                                        <p:tgtEl>
                                          <p:spTgt spid="2097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67" grpId="0"/>
    </p:bldLst>
  </p:timing>
</p:sld>
</file>

<file path=ppt/tags/tag1.xml><?xml version="1.0" encoding="utf-8"?>
<p:tagLst xmlns:p="http://schemas.openxmlformats.org/presentationml/2006/main">
  <p:tag name="KSO_WPP_MARK_KEY" val="9b58dd4b-245b-45af-8d6b-5ec2ccd15358"/>
  <p:tag name="COMMONDATA" val="eyJoZGlkIjoiYmI3YWU5ODM1NzcyZWM5NWJjYjI2YjA1YmE3NmRkZG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3351</Words>
  <Application>WPS 演示</Application>
  <PresentationFormat/>
  <Paragraphs>258</Paragraphs>
  <Slides>30</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30</vt:i4>
      </vt:variant>
    </vt:vector>
  </HeadingPairs>
  <TitlesOfParts>
    <vt:vector size="42" baseType="lpstr">
      <vt:lpstr>Arial</vt:lpstr>
      <vt:lpstr>宋体</vt:lpstr>
      <vt:lpstr>Wingdings</vt:lpstr>
      <vt:lpstr>微软雅黑</vt:lpstr>
      <vt:lpstr>Times New Roman</vt:lpstr>
      <vt:lpstr>等线</vt:lpstr>
      <vt:lpstr>Arial Unicode MS</vt:lpstr>
      <vt:lpstr>等线 Light</vt:lpstr>
      <vt:lpstr>Calibri</vt:lpstr>
      <vt:lpstr>Yu Gothic</vt:lpstr>
      <vt:lpstr>Office 主题​​</vt:lpstr>
      <vt:lpstr>1_Office 主题​​</vt:lpstr>
      <vt:lpstr>实验1：排序算法性能分析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谢谢倾听！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实验1：排序算法性能分析</dc:title>
  <dc:creator>黄 俊杰</dc:creator>
  <cp:lastModifiedBy>MoMaek</cp:lastModifiedBy>
  <cp:revision>9</cp:revision>
  <dcterms:created xsi:type="dcterms:W3CDTF">2025-03-14T02:45:00Z</dcterms:created>
  <dcterms:modified xsi:type="dcterms:W3CDTF">2025-03-21T06:00:29Z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8B5888C531CA41D7A9090794D7CE3259</vt:lpwstr>
  </property>
  <property fmtid="{D5CDD505-2E9C-101B-9397-08002B2CF9AE}" pid="3" name="KSOProductBuildVer">
    <vt:lpwstr>2052-11.1.0.12165</vt:lpwstr>
  </property>
</Properties>
</file>