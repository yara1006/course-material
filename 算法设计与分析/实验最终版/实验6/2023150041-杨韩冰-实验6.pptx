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76" r:id="rId5"/>
    <p:sldId id="258" r:id="rId6"/>
    <p:sldId id="300" r:id="rId7"/>
    <p:sldId id="277" r:id="rId8"/>
    <p:sldId id="259" r:id="rId9"/>
    <p:sldId id="261" r:id="rId11"/>
    <p:sldId id="301" r:id="rId12"/>
    <p:sldId id="278" r:id="rId13"/>
    <p:sldId id="279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294" r:id="rId22"/>
    <p:sldId id="295" r:id="rId23"/>
    <p:sldId id="296" r:id="rId24"/>
    <p:sldId id="272" r:id="rId25"/>
  </p:sldIdLst>
  <p:sldSz cx="18288000" cy="10287000"/>
  <p:notesSz cx="6858000" cy="9144000"/>
  <p:embeddedFontLst>
    <p:embeddedFont>
      <p:font typeface="华文琥珀" panose="02010800040101010101" charset="-122"/>
      <p:regular r:id="rId29"/>
    </p:embeddedFont>
    <p:embeddedFont>
      <p:font typeface="方正黑体简体" panose="02000000000000000000" charset="-122"/>
      <p:regular r:id="rId30"/>
    </p:embeddedFont>
    <p:embeddedFont>
      <p:font typeface="微软雅黑" panose="020B0503020204020204" charset="-122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9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7CC"/>
    <a:srgbClr val="D4DFE2"/>
    <a:srgbClr val="EAF1EA"/>
    <a:srgbClr val="C2C3D2"/>
    <a:srgbClr val="D3DDD9"/>
    <a:srgbClr val="F6E4E3"/>
    <a:srgbClr val="FFFCF7"/>
    <a:srgbClr val="FBE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8"/>
        <p:guide pos="29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slide" Target="slide4.xml"/><Relationship Id="rId5" Type="http://schemas.openxmlformats.org/officeDocument/2006/relationships/tags" Target="../tags/tag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slide" Target="slide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7.xml"/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image" Target="../media/image6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GI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6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16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GI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6.GIF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6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GIF"/><Relationship Id="rId2" Type="http://schemas.openxmlformats.org/officeDocument/2006/relationships/image" Target="../media/image10.GIF"/><Relationship Id="rId1" Type="http://schemas.openxmlformats.org/officeDocument/2006/relationships/image" Target="../media/image16.GIF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0.GIF"/><Relationship Id="rId2" Type="http://schemas.openxmlformats.org/officeDocument/2006/relationships/image" Target="../media/image10.GIF"/><Relationship Id="rId1" Type="http://schemas.openxmlformats.org/officeDocument/2006/relationships/image" Target="../media/image16.GIF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GIF"/><Relationship Id="rId3" Type="http://schemas.openxmlformats.org/officeDocument/2006/relationships/image" Target="../media/image36.GIF"/><Relationship Id="rId2" Type="http://schemas.openxmlformats.org/officeDocument/2006/relationships/image" Target="../media/image1.GIF"/><Relationship Id="rId1" Type="http://schemas.openxmlformats.org/officeDocument/2006/relationships/image" Target="../media/image3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3000870" y="4304347"/>
            <a:ext cx="13258165" cy="2995681"/>
            <a:chOff x="-1" y="1799495"/>
            <a:chExt cx="17677552" cy="3994241"/>
          </a:xfrm>
        </p:grpSpPr>
        <p:sp>
          <p:nvSpPr>
            <p:cNvPr id="4" name="TextBox 4"/>
            <p:cNvSpPr txBox="1"/>
            <p:nvPr/>
          </p:nvSpPr>
          <p:spPr>
            <a:xfrm>
              <a:off x="-1" y="1799495"/>
              <a:ext cx="17677552" cy="223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090"/>
                </a:lnSpc>
              </a:pPr>
              <a:r>
                <a:rPr lang="en-US" sz="9900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Hertical Rough"/>
                </a:rPr>
                <a:t>实验6 </a:t>
              </a:r>
              <a:r>
                <a:rPr lang="zh-CN" altLang="en-US" sz="9900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Hertical Rough"/>
                </a:rPr>
                <a:t>图论</a:t>
              </a:r>
              <a:r>
                <a:rPr lang="en-US" altLang="zh-CN" sz="9900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Hertical Rough"/>
                </a:rPr>
                <a:t>-</a:t>
              </a:r>
              <a:r>
                <a:rPr lang="zh-CN" altLang="en-US" sz="9900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Hertical Rough"/>
                </a:rPr>
                <a:t>最大流应用</a:t>
              </a:r>
              <a:endParaRPr lang="en-US" sz="99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Hertical Rough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074916"/>
              <a:ext cx="16381678" cy="718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5"/>
                </a:lnSpc>
                <a:spcBef>
                  <a:spcPct val="0"/>
                </a:spcBef>
              </a:pPr>
              <a:r>
                <a:rPr lang="zh-CN" altLang="en-US" sz="3005" b="1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Agrandir" panose="00000500000000000000"/>
                </a:rPr>
                <a:t>杨韩冰</a:t>
              </a:r>
              <a:r>
                <a:rPr lang="en-US" altLang="zh-CN" sz="3005" b="1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Agrandir" panose="00000500000000000000"/>
                </a:rPr>
                <a:t>      2023150041</a:t>
              </a:r>
              <a:endParaRPr lang="en-US" altLang="zh-CN" sz="3005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Agrandir" panose="00000500000000000000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1524000" y="4076700"/>
            <a:ext cx="5044440" cy="2280920"/>
            <a:chOff x="-249954" y="-1422098"/>
            <a:chExt cx="3460767" cy="1251930"/>
          </a:xfrm>
        </p:grpSpPr>
        <p:sp>
          <p:nvSpPr>
            <p:cNvPr id="4" name="Freeform 4"/>
            <p:cNvSpPr/>
            <p:nvPr/>
          </p:nvSpPr>
          <p:spPr>
            <a:xfrm>
              <a:off x="-249954" y="-1422098"/>
              <a:ext cx="3460767" cy="1251930"/>
            </a:xfrm>
            <a:custGeom>
              <a:avLst/>
              <a:gdLst/>
              <a:ahLst/>
              <a:cxnLst/>
              <a:rect l="l" t="t" r="r" b="b"/>
              <a:pathLst>
                <a:path w="3460767" h="1251930">
                  <a:moveTo>
                    <a:pt x="3336307" y="1251930"/>
                  </a:moveTo>
                  <a:lnTo>
                    <a:pt x="124460" y="1251930"/>
                  </a:lnTo>
                  <a:cubicBezTo>
                    <a:pt x="55880" y="1251930"/>
                    <a:pt x="0" y="1196050"/>
                    <a:pt x="0" y="11274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36307" y="0"/>
                  </a:lnTo>
                  <a:cubicBezTo>
                    <a:pt x="3404887" y="0"/>
                    <a:pt x="3460767" y="55880"/>
                    <a:pt x="3460767" y="124460"/>
                  </a:cubicBezTo>
                  <a:lnTo>
                    <a:pt x="3460767" y="1127470"/>
                  </a:lnTo>
                  <a:cubicBezTo>
                    <a:pt x="3460767" y="1196050"/>
                    <a:pt x="3404887" y="1251930"/>
                    <a:pt x="3336307" y="1251930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819400" y="4686300"/>
            <a:ext cx="3677920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 u="none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目录</a:t>
            </a:r>
            <a:endParaRPr lang="zh-CN" altLang="en-US" sz="7000" b="1" u="none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grpSp>
        <p:nvGrpSpPr>
          <p:cNvPr id="12" name="Group 12"/>
          <p:cNvGrpSpPr/>
          <p:nvPr>
            <p:custDataLst>
              <p:tags r:id="rId1"/>
            </p:custDataLst>
          </p:nvPr>
        </p:nvGrpSpPr>
        <p:grpSpPr>
          <a:xfrm rot="0">
            <a:off x="9809000" y="2776259"/>
            <a:ext cx="6907145" cy="868440"/>
            <a:chOff x="0" y="0"/>
            <a:chExt cx="9209527" cy="1157920"/>
          </a:xfrm>
        </p:grpSpPr>
        <p:sp>
          <p:nvSpPr>
            <p:cNvPr id="13" name="Freeform 13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>
              <p:custDataLst>
                <p:tags r:id="rId5"/>
              </p:custDataLst>
            </p:nvPr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6" action="ppaction://hlinksldjump"/>
                </a:rPr>
                <a:t>问题分析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6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6" action="ppaction://hlinksldjump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7"/>
              </p:custDataLst>
            </p:nvPr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1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16" name="Group 16"/>
          <p:cNvGrpSpPr/>
          <p:nvPr>
            <p:custDataLst>
              <p:tags r:id="rId8"/>
            </p:custDataLst>
          </p:nvPr>
        </p:nvGrpSpPr>
        <p:grpSpPr>
          <a:xfrm rot="0">
            <a:off x="9809000" y="4064940"/>
            <a:ext cx="6907145" cy="868440"/>
            <a:chOff x="0" y="0"/>
            <a:chExt cx="9209527" cy="1157920"/>
          </a:xfrm>
        </p:grpSpPr>
        <p:sp>
          <p:nvSpPr>
            <p:cNvPr id="17" name="TextBox 17"/>
            <p:cNvSpPr txBox="1"/>
            <p:nvPr>
              <p:custDataLst>
                <p:tags r:id="rId9"/>
              </p:custDataLst>
            </p:nvPr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10" action="ppaction://hlinksldjump"/>
                </a:rPr>
                <a:t>流网络模型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10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10" action="ppaction://hlinksldjump"/>
              </a:endParaRPr>
            </a:p>
          </p:txBody>
        </p:sp>
        <p:sp>
          <p:nvSpPr>
            <p:cNvPr id="18" name="Freeform 18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2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0" name="Group 20"/>
          <p:cNvGrpSpPr/>
          <p:nvPr>
            <p:custDataLst>
              <p:tags r:id="rId13"/>
            </p:custDataLst>
          </p:nvPr>
        </p:nvGrpSpPr>
        <p:grpSpPr>
          <a:xfrm rot="0">
            <a:off x="9809000" y="5353620"/>
            <a:ext cx="6907145" cy="868440"/>
            <a:chOff x="0" y="0"/>
            <a:chExt cx="9209527" cy="1157920"/>
          </a:xfrm>
        </p:grpSpPr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10" action="ppaction://hlinksldjump"/>
                </a:rPr>
                <a:t>最大流算法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10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10" action="ppaction://hlinksldjump"/>
              </a:endParaRPr>
            </a:p>
          </p:txBody>
        </p:sp>
        <p:sp>
          <p:nvSpPr>
            <p:cNvPr id="22" name="Freeform 22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3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7"/>
            </p:custDataLst>
          </p:nvPr>
        </p:nvGrpSpPr>
        <p:grpSpPr>
          <a:xfrm rot="0">
            <a:off x="9809000" y="6642301"/>
            <a:ext cx="6907145" cy="868440"/>
            <a:chOff x="0" y="0"/>
            <a:chExt cx="9209527" cy="1157920"/>
          </a:xfrm>
        </p:grpSpPr>
        <p:sp>
          <p:nvSpPr>
            <p:cNvPr id="25" name="TextBox 25"/>
            <p:cNvSpPr txBox="1"/>
            <p:nvPr>
              <p:custDataLst>
                <p:tags r:id="rId18"/>
              </p:custDataLst>
            </p:nvPr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10" action="ppaction://hlinksldjump"/>
                </a:rPr>
                <a:t>实验结果</a:t>
              </a:r>
              <a:endParaRPr lang="zh-CN" altLang="en-US" sz="3000" b="1">
                <a:solidFill>
                  <a:srgbClr val="2B2B2B"/>
                </a:solidFill>
                <a:latin typeface="Agrandir" panose="00000500000000000000"/>
                <a:ea typeface="宋体" panose="02010600030101010101" pitchFamily="2" charset="-122"/>
                <a:cs typeface="Agrandir" panose="00000500000000000000"/>
                <a:sym typeface="Agrandir" panose="00000500000000000000"/>
                <a:hlinkClick r:id="rId10" action="ppaction://hlinksldjump"/>
              </a:endParaRPr>
            </a:p>
          </p:txBody>
        </p:sp>
        <p:sp>
          <p:nvSpPr>
            <p:cNvPr id="26" name="Freeform 26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>
              <p:custDataLst>
                <p:tags r:id="rId20"/>
              </p:custDataLst>
            </p:nvPr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4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问题分析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 descr="C:\Users\Yang\Documents\WeChat Files\wxid_fteq6jzfq3dv12\FileStorage\Temp\1709442191599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34600" y="114300"/>
            <a:ext cx="5492115" cy="40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3203220">
            <a:off x="1000886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问题分析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19200" y="1943100"/>
            <a:ext cx="8774430" cy="283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在美国职业棒球联赛（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MLB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）中，球队的季后赛资格取决于其在分区中的排名。如果一支球队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在剩余赛程中无论如何都无法成为分区冠军或并列第一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，则会</a:t>
            </a:r>
            <a:r>
              <a:rPr lang="zh-CN" altLang="en-US" sz="2400" b="1">
                <a:solidFill>
                  <a:srgbClr val="FF0000"/>
                </a:solidFill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被提前淘汰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。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1996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年，旧金山巨人队因竞争对手之间的胜负关系，早在数学上被淘汰，但媒体两天后才意识到这一点。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4914900"/>
            <a:ext cx="9291320" cy="378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实验要求：解决美国职业棒球大联盟中“球队淘汰判定”的问题。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设共有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n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支队伍参赛，在某一时刻，每只球队的比赛状态如下：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w[i]: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第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i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支队伍当前的胜场数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l[i]: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第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i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支队伍当前的负场数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r[i]: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第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i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支队伍还未进行的比赛场数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g[i][j]: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第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i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支队伍与第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j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支队伍之间还剩下的比赛场次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9220200" y="6438900"/>
          <a:ext cx="8435340" cy="28740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85090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i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team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w[i]</a:t>
                      </a:r>
                      <a:r>
                        <a:rPr lang="zh-CN" altLang="en-US" sz="2000"/>
                        <a:t>胜</a:t>
                      </a:r>
                      <a:endParaRPr lang="zh-CN" altLang="en-US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l[i]</a:t>
                      </a:r>
                      <a:r>
                        <a:rPr lang="zh-CN" altLang="en-US" sz="2000"/>
                        <a:t>负</a:t>
                      </a:r>
                      <a:endParaRPr lang="zh-CN" altLang="en-US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r[i]</a:t>
                      </a:r>
                      <a:r>
                        <a:rPr lang="zh-CN" altLang="en-US" sz="2000"/>
                        <a:t>余</a:t>
                      </a:r>
                      <a:endParaRPr lang="zh-CN" altLang="en-US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Atlanta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</a:t>
                      </a:r>
                      <a:endParaRPr lang="en-US" altLang="zh-CN" sz="1600"/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Philly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NewYork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Montreal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</a:tr>
              <a:tr h="44386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Atlanta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6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44386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Philly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79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56769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New York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78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78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6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6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56769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Montreal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77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0" grpId="1"/>
      <p:bldP spid="12" grpId="1"/>
      <p:bldP spid="1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0886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问题分析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019300"/>
            <a:ext cx="8410575" cy="7282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判断球队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 x 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是否被淘汰，可以从两种情况出发进行分析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平凡淘汰</a:t>
            </a:r>
            <a:endParaRPr lang="zh-CN" altLang="en-US" sz="2400" b="1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球队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x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满足</a:t>
            </a:r>
            <a:r>
              <a:rPr lang="en-US" altLang="zh-CN" sz="2400">
                <a:solidFill>
                  <a:srgbClr val="FF0000"/>
                </a:solidFill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w[x]+r[x]&lt;w[j]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，已胜场数加上其剩余比赛场数（即理论上可能获得的最大胜场数）仍小于某支球队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 j 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的当前胜场数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 w[j]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即使最后追平也无法获胜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。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非平凡淘汰</a:t>
            </a:r>
            <a:endParaRPr lang="zh-CN" altLang="en-US" sz="2400" b="1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没有明显的胜场差距证明球队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x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已经被淘汰，引入</a:t>
            </a:r>
            <a:r>
              <a:rPr lang="zh-CN" altLang="en-US" sz="2400">
                <a:solidFill>
                  <a:srgbClr val="FF0000"/>
                </a:solidFill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最大流模型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，构建基于剩余比赛场次的网络图，分析是否存在一种比赛结果分配方式，使得球队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x 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有机会获胜。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若最大流计算结果无法满足该条件，则说明球队</a:t>
            </a:r>
            <a:r>
              <a:rPr lang="en-US" altLang="zh-CN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 x </a:t>
            </a: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也已经被淘汰，属于非平凡淘汰情况。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8839200" y="266700"/>
          <a:ext cx="8435340" cy="28740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85090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i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team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w[i]</a:t>
                      </a:r>
                      <a:r>
                        <a:rPr lang="zh-CN" altLang="en-US" sz="2000"/>
                        <a:t>胜</a:t>
                      </a:r>
                      <a:endParaRPr lang="zh-CN" altLang="en-US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l[i]</a:t>
                      </a:r>
                      <a:r>
                        <a:rPr lang="zh-CN" altLang="en-US" sz="2000"/>
                        <a:t>负</a:t>
                      </a:r>
                      <a:endParaRPr lang="zh-CN" altLang="en-US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r[i]</a:t>
                      </a:r>
                      <a:r>
                        <a:rPr lang="zh-CN" altLang="en-US" sz="2000"/>
                        <a:t>余</a:t>
                      </a:r>
                      <a:endParaRPr lang="zh-CN" altLang="en-US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Atlanta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</a:t>
                      </a:r>
                      <a:endParaRPr lang="en-US" altLang="zh-CN" sz="1600"/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Philly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NewYork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VS Montreal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</a:tr>
              <a:tr h="44386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Atlanta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6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44386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Philly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79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56769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New York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78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78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6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6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56769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/>
                        <a:t>Montreal</a:t>
                      </a:r>
                      <a:endParaRPr lang="en-US" altLang="zh-CN" sz="16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77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82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3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1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2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0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/>
                        <a:t>--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420600" y="5027930"/>
            <a:ext cx="4799330" cy="1873250"/>
          </a:xfrm>
          <a:prstGeom prst="rect">
            <a:avLst/>
          </a:prstGeom>
          <a:solidFill>
            <a:srgbClr val="B3B7CC"/>
          </a:solidFill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如何将现实世界的赛程，胜场数与“胜场分配可能性”转化为图中的流量限制问题。</a:t>
            </a:r>
            <a:endParaRPr lang="zh-CN" altLang="en-US" sz="2400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10134600" y="5431155"/>
            <a:ext cx="1905000" cy="10668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0" grpId="1"/>
      <p:bldP spid="13" grpId="1"/>
      <p:bldP spid="10" grpId="2"/>
      <p:bldP spid="13" grpId="2"/>
      <p:bldP spid="5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02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流网络模型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9365" y="4953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2.1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模型建立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42975" y="1925320"/>
            <a:ext cx="16565880" cy="7481570"/>
          </a:xfrm>
          <a:prstGeom prst="rect">
            <a:avLst/>
          </a:prstGeom>
          <a:solidFill>
            <a:schemeClr val="bg1"/>
          </a:solidFill>
          <a:ln w="38100">
            <a:solidFill>
              <a:srgbClr val="C2C3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费城</a:t>
            </a:r>
            <a:r>
              <a:rPr lang="en-US" altLang="zh-CN"/>
              <a:t> Phillies (x=1) </a:t>
            </a:r>
            <a:r>
              <a:rPr lang="zh-CN" altLang="en-US"/>
              <a:t>淘汰判定流网络【零容量边以浅灰色显示】</a:t>
            </a:r>
            <a:endParaRPr lang="zh-CN" altLang="en-US"/>
          </a:p>
        </p:txBody>
      </p:sp>
      <p:pic>
        <p:nvPicPr>
          <p:cNvPr id="31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275" y="3261360"/>
            <a:ext cx="7307580" cy="58400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219200" y="2019300"/>
            <a:ext cx="8730615" cy="701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需要建立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流网络模型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四类节点：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源点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：虚拟起点，代表所有未进行的比赛场次；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比赛节点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g[i][j]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：表示球队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与球队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之间仍有未进行的比赛（且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i,j ≠ x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队伍节点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：除目标队伍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外的所有其他参赛队伍；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汇点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：虚拟终点，用于统计队伍的最大可胜场数限制。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各节点间的边及容量设置：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S-&gt;g[i][j]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g[i][j]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（即队伍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之间未打的场次）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g[i][j]-&gt;i/j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：容量为无穷大，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i-&gt;T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：容量为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w[x]+r[x]-w[i]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，表示队伍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在不超过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的最大胜场前提下还能赢的场次，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这确保了当流量达到该边的容量时，队伍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已经赢得了足够多的比赛，超过了队伍x的可能胜场数，从而淘汰队伍x。</a:t>
            </a:r>
            <a:endParaRPr lang="en-US" sz="2000">
              <a:solidFill>
                <a:srgbClr val="636A7C"/>
              </a:solidFill>
              <a:latin typeface="思源黑体 2 Semi-Bold"/>
              <a:ea typeface="思源黑体 2 Semi-Bold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658600" y="2613660"/>
            <a:ext cx="32632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费城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Phillies (x=1)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淘汰判定流网络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990600" y="2019300"/>
            <a:ext cx="16468090" cy="7599045"/>
          </a:xfrm>
          <a:prstGeom prst="rect">
            <a:avLst/>
          </a:prstGeom>
          <a:solidFill>
            <a:schemeClr val="bg1"/>
          </a:solidFill>
          <a:ln w="381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TextBox 10"/>
          <p:cNvSpPr txBox="1"/>
          <p:nvPr/>
        </p:nvSpPr>
        <p:spPr>
          <a:xfrm>
            <a:off x="1269365" y="495300"/>
            <a:ext cx="11135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2.2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模型评判与最大流判断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11" name="图片 2" descr="6588ae9ddcf85c04e47e544bbb07ccc"/>
          <p:cNvPicPr>
            <a:picLocks noChangeAspect="1"/>
          </p:cNvPicPr>
          <p:nvPr/>
        </p:nvPicPr>
        <p:blipFill>
          <a:blip r:embed="rId4"/>
          <a:srcRect t="3068"/>
          <a:stretch>
            <a:fillRect/>
          </a:stretch>
        </p:blipFill>
        <p:spPr>
          <a:xfrm>
            <a:off x="11887200" y="2324100"/>
            <a:ext cx="4724400" cy="65976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295400" y="2095500"/>
            <a:ext cx="10807700" cy="7197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20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通过最大流算法对网络进行求解，然后依据结果判断队伍是否淘汰：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总流量需求：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通过源点到比赛节点的所有边的容量总和，我们得到了从源点流出的总流量需求，记为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FlowFromS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（也是所有从源点S流出的最大流量）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最大流计算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计算从源点到汇点的最大流量，记为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MaxFlow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。这个最大流量表示在所有可能的比赛结果分配下，能实际流动的最大流量。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淘汰判定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FlowFromS&lt;=MaxFlow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说明所有比赛的流量需求都能被满足，没有出现任何流量瓶颈，即所有比赛的结果能够分配得当，使得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队伍x没有被淘汰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FlowFromS&gt;MaxFlow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说明存在流量瓶颈，某些比赛结果无法合理分配，从而导致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队伍x被淘汰。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：需优先检查平凡淘汰情况（存在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w[x]+r[x]&lt;w[j]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），且汇点边的容量需为非负值。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总体流程如右图所示：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08075" y="1659255"/>
            <a:ext cx="16438880" cy="8042275"/>
          </a:xfrm>
          <a:prstGeom prst="rect">
            <a:avLst/>
          </a:prstGeom>
          <a:solidFill>
            <a:schemeClr val="bg1"/>
          </a:solidFill>
          <a:ln w="381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TextBox 10"/>
          <p:cNvSpPr txBox="1"/>
          <p:nvPr/>
        </p:nvSpPr>
        <p:spPr>
          <a:xfrm>
            <a:off x="1269365" y="495300"/>
            <a:ext cx="757555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2.3 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淘汰子集分析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47800" y="2022475"/>
            <a:ext cx="7464425" cy="698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5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淘汰子集的定义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 algn="l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在非平凡淘汰情况下，即使没有队伍满足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w[x] + r[x] &lt; w[j]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，队伍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仍可能因剩余比赛的分配方式被淘汰。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 algn="l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淘汰子集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某个球队被判定为被淘汰之后，可能导致其淘汰的其他球队的集合。给出了对于被淘汰球队为何被淘汰的一种解释。</a:t>
            </a:r>
            <a:endParaRPr lang="en-US" sz="2000" u="none" strike="noStrike" spc="293">
              <a:solidFill>
                <a:srgbClr val="000000">
                  <a:alpha val="80000"/>
                </a:srgbClr>
              </a:solidFill>
              <a:ea typeface="思源黑体 2" panose="020B0500000000000000" charset="-122"/>
            </a:endParaRPr>
          </a:p>
          <a:p>
            <a:pPr indent="457200" algn="l">
              <a:lnSpc>
                <a:spcPct val="150000"/>
              </a:lnSpc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最小割与淘汰子集的关系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最小割定理，最大流的值等于最小割的容量。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而在流网络中：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最小割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可将网络分为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集合（源点侧）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集合（汇点侧）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集合中的队伍节点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即为淘汰子集，这是因为这些队伍到汇点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的边已饱和（即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w[x] + r[x] - w[j]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被耗尽）。那么即使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中的队伍赢得更多比赛，队伍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也无法超越它们的胜场数而赢得胜利。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2400300"/>
            <a:ext cx="5702935" cy="32340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9677400" y="5829300"/>
            <a:ext cx="7690485" cy="371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淘汰子集的提取方法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计算最大流的值：使用最大流算法求解流网络。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构建残存网络：在最大流完成后，保留残余容量大于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的边。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划分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S/T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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从源点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出发，使用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BFS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遍历残余网络中所有可达节点，记为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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不可达节点（包括汇点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）属于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提取淘汰子集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：即为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集合中的队伍节点（排除源点和比赛节点）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50000"/>
              </a:lnSpc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72800" y="134620"/>
            <a:ext cx="6096000" cy="152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sym typeface="+mn-ea"/>
              </a:rPr>
              <a:t>例如假设球队x求完最大流的残存网络如图所示，此时队伍1和2在s-side中，表示队伍1和2按照目前的趋势赢下比赛，球队x没有机会超过他们，所以队伍1和2可以淘汰掉队伍x，即加入淘汰子集。</a:t>
            </a:r>
            <a:endParaRPr lang="en-US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</a:endParaRPr>
          </a:p>
          <a:p>
            <a:pPr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sym typeface="+mn-ea"/>
              </a:rPr>
              <a:t>s-side中的球队总的胜利场次已经足以淘汰被考虑的球队x。</a:t>
            </a:r>
            <a:endParaRPr lang="en-US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</a:endParaRPr>
          </a:p>
          <a:p>
            <a:pPr>
              <a:lnSpc>
                <a:spcPct val="100000"/>
              </a:lnSpc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最大流算法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3.1Ford-Fulkerson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FF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1065" y="1951990"/>
            <a:ext cx="16555085" cy="782383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71600" y="2705100"/>
            <a:ext cx="6617970" cy="425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深度优先搜索（DFS）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来寻找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增广路径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，直到没有增广路径为止。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初始化：所有边流量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f(u,v)=0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寻找增广路径：在残余图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 f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计算瓶颈容量：路径上的最小剩余容量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更新流量：正向边流量增加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、反向边流量减少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终止条件：残存网络中无增广路径时终止。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570" y="3086100"/>
            <a:ext cx="9195435" cy="26898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077200" y="2476183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266700" indent="-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0">
                <a:latin typeface="Wingdings" panose="05000000000000000000"/>
                <a:ea typeface="宋体" panose="02010600030101010101" pitchFamily="2" charset="-122"/>
              </a:rPr>
              <a:t>l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流网络</a:t>
            </a:r>
            <a:r>
              <a:rPr lang="en-US" altLang="zh-CN" b="0">
                <a:latin typeface="Times New Roman" panose="02020603050405020304"/>
                <a:ea typeface="Times New Roman" panose="02020603050405020304"/>
              </a:rPr>
              <a:t>G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初始化，构造残存网络</a:t>
            </a:r>
            <a:r>
              <a:rPr lang="en-US" altLang="zh-CN" b="0">
                <a:latin typeface="Times New Roman" panose="02020603050405020304"/>
                <a:ea typeface="Times New Roman" panose="02020603050405020304"/>
              </a:rPr>
              <a:t>Gf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b="1">
                <a:latin typeface="Times New Roman" panose="02020603050405020304"/>
                <a:ea typeface="宋体" panose="02010600030101010101" pitchFamily="2" charset="-122"/>
              </a:rPr>
              <a:t>总流量</a:t>
            </a:r>
            <a:r>
              <a:rPr lang="en-US" altLang="zh-CN" b="1">
                <a:latin typeface="Times New Roman" panose="02020603050405020304"/>
                <a:ea typeface="Times New Roman" panose="02020603050405020304"/>
              </a:rPr>
              <a:t>=0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b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7048500"/>
            <a:ext cx="8997315" cy="24872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8077200" y="6362700"/>
            <a:ext cx="896048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在残存网络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Gf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中找到一条增广路径，并按照其容量更新流网络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G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，总流量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=0+11=11</a:t>
            </a:r>
            <a:endParaRPr lang="en-US" altLang="zh-CN" b="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12404725" y="5878830"/>
            <a:ext cx="366395" cy="5334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20865" y="-38176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3.1Ford-Fulkerson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FF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76400" y="2476500"/>
            <a:ext cx="785241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0">
                <a:latin typeface="Wingdings" panose="05000000000000000000"/>
                <a:ea typeface="宋体" panose="02010600030101010101" pitchFamily="2" charset="-122"/>
              </a:rPr>
              <a:t>l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更新残存网络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Gf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，总流量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=11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，找到新的增广路径，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总流量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=11+5=16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b="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1200" y="5885815"/>
            <a:ext cx="896048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总流量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=16+3=19</a:t>
            </a:r>
            <a:endParaRPr lang="en-US" altLang="zh-CN" b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086100"/>
            <a:ext cx="9371330" cy="268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6438900"/>
            <a:ext cx="9424670" cy="30410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下箭头 8"/>
          <p:cNvSpPr/>
          <p:nvPr/>
        </p:nvSpPr>
        <p:spPr>
          <a:xfrm>
            <a:off x="11658600" y="4686300"/>
            <a:ext cx="1447800" cy="2286000"/>
          </a:xfrm>
          <a:prstGeom prst="downArrow">
            <a:avLst/>
          </a:prstGeom>
          <a:solidFill>
            <a:srgbClr val="D4DFE2"/>
          </a:solidFill>
          <a:ln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3.1Ford-Fulkerson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FF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1065" y="1933575"/>
            <a:ext cx="17056100" cy="768540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7800" y="2552700"/>
            <a:ext cx="6617970" cy="381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初始化：所有边流量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f(u,v)=0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寻找增广路径：在残余图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 f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</a:t>
            </a: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计算瓶颈容量：路径上的最小剩余容量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更新流量：正向边流量增加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、反向边流量减少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终止条件：残存网络中无增广路径时终止。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23015" y="2247900"/>
            <a:ext cx="311213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0">
                <a:latin typeface="Wingdings" panose="05000000000000000000"/>
                <a:ea typeface="宋体" panose="02010600030101010101" pitchFamily="2" charset="-122"/>
              </a:rPr>
              <a:t>l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总流量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=19+3=22</a:t>
            </a:r>
            <a:endParaRPr lang="zh-CN" altLang="en-US" b="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582400" y="5676900"/>
            <a:ext cx="297180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总流量</a:t>
            </a:r>
            <a:r>
              <a:rPr lang="en-US" altLang="zh-CN" b="0">
                <a:latin typeface="Times New Roman" panose="02020603050405020304"/>
                <a:ea typeface="宋体" panose="02010600030101010101" pitchFamily="2" charset="-122"/>
              </a:rPr>
              <a:t>=22+2=24</a:t>
            </a:r>
            <a:endParaRPr lang="en-US" altLang="zh-CN" b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7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81300"/>
            <a:ext cx="898398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052695"/>
            <a:ext cx="8535670" cy="2585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81200" y="8191183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266700" indent="-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0">
                <a:latin typeface="Wingdings" panose="05000000000000000000"/>
                <a:ea typeface="宋体" panose="02010600030101010101" pitchFamily="2" charset="-122"/>
              </a:rPr>
              <a:t>l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不能找出增广路径</a:t>
            </a:r>
            <a:r>
              <a:rPr lang="en-US" altLang="zh-CN" b="0">
                <a:latin typeface="Times New Roman" panose="02020603050405020304"/>
                <a:ea typeface="Times New Roman" panose="02020603050405020304"/>
              </a:rPr>
              <a:t>p</a:t>
            </a:r>
            <a:r>
              <a:rPr lang="zh-CN" altLang="en-US" b="0">
                <a:latin typeface="Times New Roman" panose="02020603050405020304"/>
                <a:ea typeface="宋体" panose="02010600030101010101" pitchFamily="2" charset="-122"/>
              </a:rPr>
              <a:t>，算法结束，</a:t>
            </a:r>
            <a:r>
              <a:rPr lang="zh-CN" altLang="en-US" b="1">
                <a:latin typeface="Times New Roman" panose="02020603050405020304"/>
                <a:ea typeface="宋体" panose="02010600030101010101" pitchFamily="2" charset="-122"/>
              </a:rPr>
              <a:t>总流量</a:t>
            </a:r>
            <a:r>
              <a:rPr lang="en-US" altLang="zh-CN" b="1">
                <a:latin typeface="Times New Roman" panose="02020603050405020304"/>
                <a:ea typeface="Times New Roman" panose="02020603050405020304"/>
              </a:rPr>
              <a:t>=24</a:t>
            </a:r>
            <a:endParaRPr lang="zh-CN" altLang="en-US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cxnSp>
        <p:nvCxnSpPr>
          <p:cNvPr id="8" name="直接箭头连接符 7"/>
          <p:cNvCxnSpPr>
            <a:endCxn id="5" idx="3"/>
          </p:cNvCxnSpPr>
          <p:nvPr/>
        </p:nvCxnSpPr>
        <p:spPr>
          <a:xfrm flipH="1">
            <a:off x="7061200" y="8115300"/>
            <a:ext cx="1473200" cy="329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6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520815"/>
            <a:ext cx="8724900" cy="284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744665" y="-38938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3.1Ford-Fulkerson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FF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41130" y="1951990"/>
            <a:ext cx="848106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  <a:p>
            <a:pPr algn="ctr"/>
            <a:r>
              <a:rPr lang="en-US" altLang="zh-CN"/>
              <a:t>Ford-Fulkerson</a:t>
            </a:r>
            <a:r>
              <a:rPr lang="zh-CN" altLang="en-US"/>
              <a:t>算法</a:t>
            </a:r>
            <a:endParaRPr lang="zh-CN" altLang="en-US"/>
          </a:p>
          <a:p>
            <a:pPr algn="ctr"/>
            <a:r>
              <a:rPr lang="en-US" altLang="zh-CN"/>
              <a:t> 1:Ford-Fulkerson(G, s, t):</a:t>
            </a:r>
            <a:endParaRPr lang="en-US" altLang="zh-CN"/>
          </a:p>
          <a:p>
            <a:pPr algn="ctr"/>
            <a:r>
              <a:rPr lang="en-US" altLang="zh-CN"/>
              <a:t> 2:   for </a:t>
            </a:r>
            <a:r>
              <a:rPr lang="zh-CN" altLang="en-US"/>
              <a:t>所有边</a:t>
            </a:r>
            <a:r>
              <a:rPr lang="en-US" altLang="zh-CN"/>
              <a:t>(u,v): f(u,v)=0</a:t>
            </a:r>
            <a:endParaRPr lang="en-US" altLang="zh-CN"/>
          </a:p>
          <a:p>
            <a:pPr algn="ctr"/>
            <a:r>
              <a:rPr lang="en-US" altLang="zh-CN"/>
              <a:t> 3:   while DFS</a:t>
            </a:r>
            <a:r>
              <a:rPr lang="zh-CN" altLang="en-US"/>
              <a:t>找到增广路径</a:t>
            </a:r>
            <a:r>
              <a:rPr lang="en-US" altLang="zh-CN"/>
              <a:t>p:</a:t>
            </a:r>
            <a:endParaRPr lang="en-US" altLang="zh-CN"/>
          </a:p>
          <a:p>
            <a:pPr algn="ctr"/>
            <a:r>
              <a:rPr lang="en-US" altLang="zh-CN"/>
              <a:t> 4:      c = min{p</a:t>
            </a:r>
            <a:r>
              <a:rPr lang="zh-CN" altLang="en-US"/>
              <a:t>中边的剩余容量</a:t>
            </a:r>
            <a:r>
              <a:rPr lang="en-US" altLang="zh-CN"/>
              <a:t>}</a:t>
            </a:r>
            <a:endParaRPr lang="en-US" altLang="zh-CN"/>
          </a:p>
          <a:p>
            <a:pPr algn="ctr"/>
            <a:r>
              <a:rPr lang="en-US" altLang="zh-CN"/>
              <a:t> 5:      for </a:t>
            </a:r>
            <a:r>
              <a:rPr lang="zh-CN" altLang="en-US"/>
              <a:t>每条边</a:t>
            </a:r>
            <a:r>
              <a:rPr lang="en-US" altLang="zh-CN"/>
              <a:t>(u,v) in p:</a:t>
            </a:r>
            <a:endParaRPr lang="en-US" altLang="zh-CN"/>
          </a:p>
          <a:p>
            <a:pPr algn="ctr"/>
            <a:r>
              <a:rPr lang="en-US" altLang="zh-CN"/>
              <a:t> 6:         f(u,v) += c</a:t>
            </a:r>
            <a:endParaRPr lang="en-US" altLang="zh-CN"/>
          </a:p>
          <a:p>
            <a:pPr algn="ctr"/>
            <a:r>
              <a:rPr lang="en-US" altLang="zh-CN"/>
              <a:t> 7:         f(v,u) -= c</a:t>
            </a:r>
            <a:endParaRPr lang="en-US" altLang="zh-CN"/>
          </a:p>
          <a:p>
            <a:pPr algn="ctr"/>
            <a:r>
              <a:rPr lang="en-US" altLang="zh-CN"/>
              <a:t> 8:   return ∑f(s,v)</a:t>
            </a:r>
            <a:endParaRPr lang="en-US" altLang="zh-CN"/>
          </a:p>
          <a:p>
            <a:pPr algn="ctr"/>
            <a:r>
              <a:rPr lang="en-US" altLang="zh-CN"/>
              <a:t> 9:DFS(G, s, t, parent):</a:t>
            </a:r>
            <a:endParaRPr lang="en-US" altLang="zh-CN"/>
          </a:p>
          <a:p>
            <a:pPr algn="ctr"/>
            <a:r>
              <a:rPr lang="en-US" altLang="zh-CN"/>
              <a:t> 10:   if s == t: return True</a:t>
            </a:r>
            <a:endParaRPr lang="en-US" altLang="zh-CN"/>
          </a:p>
          <a:p>
            <a:pPr algn="ctr"/>
            <a:r>
              <a:rPr lang="en-US" altLang="zh-CN"/>
              <a:t> 11:   for </a:t>
            </a:r>
            <a:r>
              <a:rPr lang="zh-CN" altLang="en-US"/>
              <a:t>每条边</a:t>
            </a:r>
            <a:r>
              <a:rPr lang="en-US" altLang="zh-CN"/>
              <a:t>(s,v) with </a:t>
            </a:r>
            <a:r>
              <a:rPr lang="zh-CN" altLang="en-US"/>
              <a:t>剩余容量</a:t>
            </a:r>
            <a:r>
              <a:rPr lang="en-US" altLang="zh-CN"/>
              <a:t>&gt;0:</a:t>
            </a:r>
            <a:endParaRPr lang="en-US" altLang="zh-CN"/>
          </a:p>
          <a:p>
            <a:pPr algn="ctr"/>
            <a:r>
              <a:rPr lang="en-US" altLang="zh-CN"/>
              <a:t> 12:      parent[v] = s</a:t>
            </a:r>
            <a:endParaRPr lang="en-US" altLang="zh-CN"/>
          </a:p>
          <a:p>
            <a:pPr algn="ctr"/>
            <a:r>
              <a:rPr lang="en-US" altLang="zh-CN"/>
              <a:t> 13:      if DFS(G, v, t, parent): return True</a:t>
            </a:r>
            <a:endParaRPr lang="en-US" altLang="zh-CN"/>
          </a:p>
          <a:p>
            <a:pPr algn="ctr"/>
            <a:r>
              <a:rPr lang="en-US" altLang="zh-CN"/>
              <a:t> 14:   return False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171700"/>
            <a:ext cx="7772400" cy="7195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主要由两个因素影响：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需要找到的增广路径数量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每次查找增广路径所需的时间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当最大流量为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时，由于每条增广路径至少增加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单位流量，所以最多需要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次增广。而每次使用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查找路径时，最坏情况下需要检查所有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条边，时间复杂度为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O(E)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总时间复杂度为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O(F*E)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需要注意的是：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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查找路径时，可能会选择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绕远的路径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（比如经过所有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个节点的路径）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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而每次只能增加路径上的最小剩余容量。故当最大流量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很大时（比如与网络规模无关的大数），算法效率会显著降低。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086100"/>
            <a:ext cx="8100060" cy="53181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144000" y="2323465"/>
            <a:ext cx="763460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伪代码：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744665" y="-38938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3.2 Edmonds-Karp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EK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1065" y="1951990"/>
            <a:ext cx="1662112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  <a:p>
            <a:pPr algn="ctr"/>
            <a:r>
              <a:rPr lang="en-US" altLang="zh-CN"/>
              <a:t>Ford-Fulkerson</a:t>
            </a:r>
            <a:r>
              <a:rPr lang="zh-CN" altLang="en-US"/>
              <a:t>算法</a:t>
            </a:r>
            <a:endParaRPr lang="zh-CN" altLang="en-US"/>
          </a:p>
          <a:p>
            <a:pPr algn="ctr"/>
            <a:r>
              <a:rPr lang="en-US" altLang="zh-CN"/>
              <a:t> 1:Ford-Fulkerson(G, s, t):</a:t>
            </a:r>
            <a:endParaRPr lang="en-US" altLang="zh-CN"/>
          </a:p>
          <a:p>
            <a:pPr algn="ctr"/>
            <a:r>
              <a:rPr lang="en-US" altLang="zh-CN"/>
              <a:t> 2:   for </a:t>
            </a:r>
            <a:r>
              <a:rPr lang="zh-CN" altLang="en-US"/>
              <a:t>所有边</a:t>
            </a:r>
            <a:r>
              <a:rPr lang="en-US" altLang="zh-CN"/>
              <a:t>(u,v): f(u,v)=0</a:t>
            </a:r>
            <a:endParaRPr lang="en-US" altLang="zh-CN"/>
          </a:p>
          <a:p>
            <a:pPr algn="ctr"/>
            <a:r>
              <a:rPr lang="en-US" altLang="zh-CN"/>
              <a:t> 3:   while DFS</a:t>
            </a:r>
            <a:r>
              <a:rPr lang="zh-CN" altLang="en-US"/>
              <a:t>找到增广路径</a:t>
            </a:r>
            <a:r>
              <a:rPr lang="en-US" altLang="zh-CN"/>
              <a:t>p:</a:t>
            </a:r>
            <a:endParaRPr lang="en-US" altLang="zh-CN"/>
          </a:p>
          <a:p>
            <a:pPr algn="ctr"/>
            <a:r>
              <a:rPr lang="en-US" altLang="zh-CN"/>
              <a:t> 4:      c = min{p</a:t>
            </a:r>
            <a:r>
              <a:rPr lang="zh-CN" altLang="en-US"/>
              <a:t>中边的剩余容量</a:t>
            </a:r>
            <a:r>
              <a:rPr lang="en-US" altLang="zh-CN"/>
              <a:t>}</a:t>
            </a:r>
            <a:endParaRPr lang="en-US" altLang="zh-CN"/>
          </a:p>
          <a:p>
            <a:pPr algn="ctr"/>
            <a:r>
              <a:rPr lang="en-US" altLang="zh-CN"/>
              <a:t> 5:      for </a:t>
            </a:r>
            <a:r>
              <a:rPr lang="zh-CN" altLang="en-US"/>
              <a:t>每条边</a:t>
            </a:r>
            <a:r>
              <a:rPr lang="en-US" altLang="zh-CN"/>
              <a:t>(u,v) in p:</a:t>
            </a:r>
            <a:endParaRPr lang="en-US" altLang="zh-CN"/>
          </a:p>
          <a:p>
            <a:pPr algn="ctr"/>
            <a:r>
              <a:rPr lang="en-US" altLang="zh-CN"/>
              <a:t> 6:         f(u,v) += c</a:t>
            </a:r>
            <a:endParaRPr lang="en-US" altLang="zh-CN"/>
          </a:p>
          <a:p>
            <a:pPr algn="ctr"/>
            <a:r>
              <a:rPr lang="en-US" altLang="zh-CN"/>
              <a:t> 7:         f(v,u) -= c</a:t>
            </a:r>
            <a:endParaRPr lang="en-US" altLang="zh-CN"/>
          </a:p>
          <a:p>
            <a:pPr algn="ctr"/>
            <a:r>
              <a:rPr lang="en-US" altLang="zh-CN"/>
              <a:t> 8:   return ∑f(s,v)</a:t>
            </a:r>
            <a:endParaRPr lang="en-US" altLang="zh-CN"/>
          </a:p>
          <a:p>
            <a:pPr algn="ctr"/>
            <a:r>
              <a:rPr lang="en-US" altLang="zh-CN"/>
              <a:t> 9:DFS(G, s, t, parent):</a:t>
            </a:r>
            <a:endParaRPr lang="en-US" altLang="zh-CN"/>
          </a:p>
          <a:p>
            <a:pPr algn="ctr"/>
            <a:r>
              <a:rPr lang="en-US" altLang="zh-CN"/>
              <a:t> 10:   if s == t: return True</a:t>
            </a:r>
            <a:endParaRPr lang="en-US" altLang="zh-CN"/>
          </a:p>
          <a:p>
            <a:pPr algn="ctr"/>
            <a:r>
              <a:rPr lang="en-US" altLang="zh-CN"/>
              <a:t> 11:   for </a:t>
            </a:r>
            <a:r>
              <a:rPr lang="zh-CN" altLang="en-US"/>
              <a:t>每条边</a:t>
            </a:r>
            <a:r>
              <a:rPr lang="en-US" altLang="zh-CN"/>
              <a:t>(s,v) with </a:t>
            </a:r>
            <a:r>
              <a:rPr lang="zh-CN" altLang="en-US"/>
              <a:t>剩余容量</a:t>
            </a:r>
            <a:r>
              <a:rPr lang="en-US" altLang="zh-CN"/>
              <a:t>&gt;0:</a:t>
            </a:r>
            <a:endParaRPr lang="en-US" altLang="zh-CN"/>
          </a:p>
          <a:p>
            <a:pPr algn="ctr"/>
            <a:r>
              <a:rPr lang="en-US" altLang="zh-CN"/>
              <a:t> 12:      parent[v] = s</a:t>
            </a:r>
            <a:endParaRPr lang="en-US" altLang="zh-CN"/>
          </a:p>
          <a:p>
            <a:pPr algn="ctr"/>
            <a:r>
              <a:rPr lang="en-US" altLang="zh-CN"/>
              <a:t> 13:      if DFS(G, v, t, parent): return True</a:t>
            </a:r>
            <a:endParaRPr lang="en-US" altLang="zh-CN"/>
          </a:p>
          <a:p>
            <a:pPr algn="ctr"/>
            <a:r>
              <a:rPr lang="en-US" altLang="zh-CN"/>
              <a:t> 14:   return False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32535" y="2105660"/>
            <a:ext cx="7835265" cy="7412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来寻找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最短增广路径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（即边数最少的路径）。尽量避免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产生的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绕远路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算法思路：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初始化：所有边的流量设为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，残余容量等于原始容量。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寻找增广路径：用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从源点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出发，找到一条到汇点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的最短路径（按边数计算），且路径上的每条边残余容量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&gt;0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计算可推送流量：增广路径上的最小残余容量即为本次可推送的流量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Δf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更新残存网络：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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对于路径上的每条边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(u, v)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，减少其残存容量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c(u, v) -= Δf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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增加反向边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(v, u)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的残余容量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c(v, u) += Δf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（允许流量回退）。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重复：直到无法找到新的增广路径，算法终止，此时的总流量即为最大流。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01200" y="2324100"/>
            <a:ext cx="7634605" cy="6355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时间复杂度：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每次通过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BFS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寻找最短增广路径的时间为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O(E)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，而算法最多需要进行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O(VE)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次增广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why?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ts val="42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在最坏情况下，每次增广路径至少增加1的流量，每次增广都会导致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至少一条路径满载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，因此想要再经过这条边只能是通过走它的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反向边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的方式，而从反向边经过会导致长度至少增加2，而最短增广路径的总路程不会超过n，换句话说，经过一条边的路径最多有V/2种，一共E条边，因此最多增广次数为(VE)/2。所以最多需要 O(V*E) 次增广路径查找。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总时间复杂度为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O(VE</a:t>
            </a:r>
            <a:r>
              <a:rPr lang="en-US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²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9372600" y="1943100"/>
            <a:ext cx="0" cy="7620000"/>
          </a:xfrm>
          <a:prstGeom prst="line">
            <a:avLst/>
          </a:prstGeom>
          <a:ln w="57150">
            <a:solidFill>
              <a:srgbClr val="D3DDD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744665" y="-38938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3.3Dinic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算法（简称为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DC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1065" y="1951990"/>
            <a:ext cx="1662112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  <a:p>
            <a:pPr algn="ctr"/>
            <a:r>
              <a:rPr lang="en-US" altLang="zh-CN"/>
              <a:t>Ford-Fulkerson</a:t>
            </a:r>
            <a:r>
              <a:rPr lang="zh-CN" altLang="en-US"/>
              <a:t>算法</a:t>
            </a:r>
            <a:endParaRPr lang="zh-CN" altLang="en-US"/>
          </a:p>
          <a:p>
            <a:pPr algn="ctr"/>
            <a:r>
              <a:rPr lang="en-US" altLang="zh-CN"/>
              <a:t> 1:Ford-Fulkerson(G, s, t):</a:t>
            </a:r>
            <a:endParaRPr lang="en-US" altLang="zh-CN"/>
          </a:p>
          <a:p>
            <a:pPr algn="ctr"/>
            <a:r>
              <a:rPr lang="en-US" altLang="zh-CN"/>
              <a:t> 2:   for </a:t>
            </a:r>
            <a:r>
              <a:rPr lang="zh-CN" altLang="en-US"/>
              <a:t>所有边</a:t>
            </a:r>
            <a:r>
              <a:rPr lang="en-US" altLang="zh-CN"/>
              <a:t>(u,v): f(u,v)=0</a:t>
            </a:r>
            <a:endParaRPr lang="en-US" altLang="zh-CN"/>
          </a:p>
          <a:p>
            <a:pPr algn="ctr"/>
            <a:r>
              <a:rPr lang="en-US" altLang="zh-CN"/>
              <a:t> 3:   while DFS</a:t>
            </a:r>
            <a:r>
              <a:rPr lang="zh-CN" altLang="en-US"/>
              <a:t>找到增广路径</a:t>
            </a:r>
            <a:r>
              <a:rPr lang="en-US" altLang="zh-CN"/>
              <a:t>p:</a:t>
            </a:r>
            <a:endParaRPr lang="en-US" altLang="zh-CN"/>
          </a:p>
          <a:p>
            <a:pPr algn="ctr"/>
            <a:r>
              <a:rPr lang="en-US" altLang="zh-CN"/>
              <a:t> 4:      c = min{p</a:t>
            </a:r>
            <a:r>
              <a:rPr lang="zh-CN" altLang="en-US"/>
              <a:t>中边的剩余容量</a:t>
            </a:r>
            <a:r>
              <a:rPr lang="en-US" altLang="zh-CN"/>
              <a:t>}</a:t>
            </a:r>
            <a:endParaRPr lang="en-US" altLang="zh-CN"/>
          </a:p>
          <a:p>
            <a:pPr algn="ctr"/>
            <a:r>
              <a:rPr lang="en-US" altLang="zh-CN"/>
              <a:t> 5:      for </a:t>
            </a:r>
            <a:r>
              <a:rPr lang="zh-CN" altLang="en-US"/>
              <a:t>每条边</a:t>
            </a:r>
            <a:r>
              <a:rPr lang="en-US" altLang="zh-CN"/>
              <a:t>(u,v) in p:</a:t>
            </a:r>
            <a:endParaRPr lang="en-US" altLang="zh-CN"/>
          </a:p>
          <a:p>
            <a:pPr algn="ctr"/>
            <a:r>
              <a:rPr lang="en-US" altLang="zh-CN"/>
              <a:t> 6:         f(u,v) += c</a:t>
            </a:r>
            <a:endParaRPr lang="en-US" altLang="zh-CN"/>
          </a:p>
          <a:p>
            <a:pPr algn="ctr"/>
            <a:r>
              <a:rPr lang="en-US" altLang="zh-CN"/>
              <a:t> 7:         f(v,u) -= c</a:t>
            </a:r>
            <a:endParaRPr lang="en-US" altLang="zh-CN"/>
          </a:p>
          <a:p>
            <a:pPr algn="ctr"/>
            <a:r>
              <a:rPr lang="en-US" altLang="zh-CN"/>
              <a:t> 8:   return ∑f(s,v)</a:t>
            </a:r>
            <a:endParaRPr lang="en-US" altLang="zh-CN"/>
          </a:p>
          <a:p>
            <a:pPr algn="ctr"/>
            <a:r>
              <a:rPr lang="en-US" altLang="zh-CN"/>
              <a:t> 9:DFS(G, s, t, parent):</a:t>
            </a:r>
            <a:endParaRPr lang="en-US" altLang="zh-CN"/>
          </a:p>
          <a:p>
            <a:pPr algn="ctr"/>
            <a:r>
              <a:rPr lang="en-US" altLang="zh-CN"/>
              <a:t> 10:   if s == t: return True</a:t>
            </a:r>
            <a:endParaRPr lang="en-US" altLang="zh-CN"/>
          </a:p>
          <a:p>
            <a:pPr algn="ctr"/>
            <a:r>
              <a:rPr lang="en-US" altLang="zh-CN"/>
              <a:t> 11:   for </a:t>
            </a:r>
            <a:r>
              <a:rPr lang="zh-CN" altLang="en-US"/>
              <a:t>每条边</a:t>
            </a:r>
            <a:r>
              <a:rPr lang="en-US" altLang="zh-CN"/>
              <a:t>(s,v) with </a:t>
            </a:r>
            <a:r>
              <a:rPr lang="zh-CN" altLang="en-US"/>
              <a:t>剩余容量</a:t>
            </a:r>
            <a:r>
              <a:rPr lang="en-US" altLang="zh-CN"/>
              <a:t>&gt;0:</a:t>
            </a:r>
            <a:endParaRPr lang="en-US" altLang="zh-CN"/>
          </a:p>
          <a:p>
            <a:pPr algn="ctr"/>
            <a:r>
              <a:rPr lang="en-US" altLang="zh-CN"/>
              <a:t> 12:      parent[v] = s</a:t>
            </a:r>
            <a:endParaRPr lang="en-US" altLang="zh-CN"/>
          </a:p>
          <a:p>
            <a:pPr algn="ctr"/>
            <a:r>
              <a:rPr lang="en-US" altLang="zh-CN"/>
              <a:t> 13:      if DFS(G, v, t, parent): return True</a:t>
            </a:r>
            <a:endParaRPr lang="en-US" altLang="zh-CN"/>
          </a:p>
          <a:p>
            <a:pPr algn="ctr"/>
            <a:r>
              <a:rPr lang="en-US" altLang="zh-CN"/>
              <a:t> 14:   return False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32535" y="2105660"/>
            <a:ext cx="8214360" cy="295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Ford-Fulkerson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）和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Edmonds-Karp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EK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）算法的基础上进行优化，通过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分层图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阻塞流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的结合，避免了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绕远路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和重复遍历低效路径。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算法思路：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BFS-&amp;-DFS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。直到再无法从源点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到汇点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构建分层图为止：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5400" y="5067300"/>
            <a:ext cx="79635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构建分层图（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从源点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出发，为每个节点标记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构建一张只包含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正向边且层数严格递增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的新图，称为分层图。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6819900"/>
            <a:ext cx="7416165" cy="26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9601200" y="2324100"/>
            <a:ext cx="77749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在分层图中寻找增广路径（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在分层图中使用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，寻找从源点到汇点的所有可能增广路径，增广路径必须是严格遵循分层图结构，只能沿着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Level[u] + 1 = Level[v]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的边搜索；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在每次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过程中更新残余容量，直到无法从源点找到任何一条增广路径为止，形成一个阻塞流；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回到步骤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，重新构建新的分层图，进行下一轮处理。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905500"/>
            <a:ext cx="7152640" cy="2305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9372600" y="1943100"/>
            <a:ext cx="0" cy="7620000"/>
          </a:xfrm>
          <a:prstGeom prst="line">
            <a:avLst/>
          </a:prstGeom>
          <a:ln w="57150">
            <a:solidFill>
              <a:srgbClr val="D3DDD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744665" y="-38938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3.3Dinic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算法（简称为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DC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1065" y="1951990"/>
            <a:ext cx="1662112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无法构建新的分层图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0" y="2324100"/>
            <a:ext cx="77749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在分层图中寻找增广路径（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在分层图中使用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，寻找从源点到汇点的所有可能增广路径，增广路径必须是严格遵循分层图结构，只能沿着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Level[u] + 1 = Level[v]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的边搜索；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在每次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过程中更新残余容量，直到无法从源点找到任何一条增广路径为止，形成一个阻塞流；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回到步骤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，重新构建新的分层图，进行下一轮处理。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2715260"/>
            <a:ext cx="8011795" cy="264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870" y="6422390"/>
            <a:ext cx="7959725" cy="260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5829300"/>
            <a:ext cx="6925945" cy="24758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2192000" y="2247900"/>
            <a:ext cx="234569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增广路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15800" y="5829300"/>
            <a:ext cx="23444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增广路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10000" y="8648700"/>
            <a:ext cx="273431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无法构建新的分层图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Flow=2+2+1= 5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372600" y="1943100"/>
            <a:ext cx="0" cy="7620000"/>
          </a:xfrm>
          <a:prstGeom prst="line">
            <a:avLst/>
          </a:prstGeom>
          <a:ln w="57150">
            <a:solidFill>
              <a:srgbClr val="D3DDD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744665" y="-38938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129133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3.3Dinic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算法（简称为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DC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）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1065" y="1951990"/>
            <a:ext cx="1662112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无法构建新的分层图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0" y="2171700"/>
            <a:ext cx="8644890" cy="689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复杂度分析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构建分层网络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O(E)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和在分层网络中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找到阻塞流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O(E*V)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每次构建分层网络和找到阻塞流的总时间复杂度是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O(E)+O(E*V)=O(E*V)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在最坏情况下，需要进行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O(V)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次构建分层网络的操作。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总时间复杂度：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O((V^2)*E)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算法优化：</a:t>
            </a:r>
            <a:endParaRPr 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多路增广优化：</a:t>
            </a:r>
            <a:endParaRPr lang="zh-CN" altLang="en-US" sz="2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在构建分层图后，算法通过一次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即可找到多条增广路径，而非传统单路径增广中每次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DFS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仅找一条路径。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当前弧优化：</a:t>
            </a:r>
            <a:endParaRPr lang="zh-CN" altLang="en-US" sz="2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通过记录每个节点当前正在处理的邻边，使得DFS在回溯时可以从上次停止的地方继续，而不是重新开始。因为在DC算法中，一条边增广一次后，不会再次增广，所以下次增广时不用在考虑这些边。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63200" y="7353300"/>
            <a:ext cx="4457700" cy="124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时间复杂度虽仍保持理论上的</a:t>
            </a:r>
            <a:r>
              <a:rPr lang="en-US" altLang="zh-CN"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O(V</a:t>
            </a:r>
            <a:r>
              <a:rPr lang="en-US" altLang="en-US"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²</a:t>
            </a:r>
            <a:r>
              <a:rPr lang="en-US" altLang="zh-CN"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E)</a:t>
            </a:r>
            <a:r>
              <a:rPr lang="zh-CN" altLang="en-US"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，但是大大提高了运行效率</a:t>
            </a:r>
            <a:endParaRPr lang="zh-CN" altLang="en-US" sz="20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62375" y="1054544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结果分析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1.</a:t>
            </a:r>
            <a:r>
              <a:rPr lang="zh-CN" altLang="en-US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实验数据</a:t>
            </a:r>
            <a:endParaRPr lang="zh-CN" altLang="en-US" sz="6000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0600" y="2004695"/>
            <a:ext cx="16714470" cy="7580630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pic>
        <p:nvPicPr>
          <p:cNvPr id="30" name="图片 12"/>
          <p:cNvPicPr>
            <a:picLocks noChangeAspect="1"/>
          </p:cNvPicPr>
          <p:nvPr/>
        </p:nvPicPr>
        <p:blipFill>
          <a:blip r:embed="rId4"/>
          <a:srcRect t="8189"/>
          <a:stretch>
            <a:fillRect/>
          </a:stretch>
        </p:blipFill>
        <p:spPr>
          <a:xfrm>
            <a:off x="1371600" y="2628900"/>
            <a:ext cx="9378315" cy="549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3800" y="6896100"/>
            <a:ext cx="5485130" cy="15182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125200" y="2673985"/>
            <a:ext cx="6299200" cy="3267710"/>
          </a:xfrm>
          <a:prstGeom prst="rect">
            <a:avLst/>
          </a:prstGeom>
        </p:spPr>
        <p:txBody>
          <a:bodyPr>
            <a:no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FlowFromS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=MaxFlow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），故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未被淘汰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Philly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FlowFromS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&gt;MaxFlow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无法正确分配流，故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被淘汰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，同时导致其淘汰子集为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New_York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New_York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FlowFromS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=MaxFlow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），故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未被淘汰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FlowFromS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&gt;MaxFlow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），已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被淘汰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，事实上球队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无法得到最大流，原因是当前胜场数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w[x]+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剩余场次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r[x]&lt;Atlanta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的当前胜场数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w[i],(77+3&lt;83)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，故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被平凡淘汰，其淘汰子集为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0185" y="460375"/>
            <a:ext cx="8660765" cy="9152890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0600" y="2552700"/>
            <a:ext cx="7517130" cy="5965825"/>
          </a:xfrm>
          <a:prstGeom prst="rect">
            <a:avLst/>
          </a:prstGeom>
          <a:solidFill>
            <a:srgbClr val="FFFCF7"/>
          </a:solidFill>
          <a:ln w="38100">
            <a:solidFill>
              <a:srgbClr val="C2C3D2"/>
            </a:solidFill>
          </a:ln>
        </p:spPr>
        <p:txBody>
          <a:bodyPr wrap="square" rtlCol="0">
            <a:noAutofit/>
          </a:bodyPr>
          <a:p>
            <a:pPr marL="0" lvl="1"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不同队伍数量对算法效率的影响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随着队伍数量增加运行时间也随之增加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当队伍数达到250支时，EK的运行时间已经很慢了，所以队伍数量就没有再增加了。而此时优化后的DC算法还是很快的，大概1.5秒就跑出来了。</a:t>
            </a:r>
            <a:endParaRPr 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直观上运行效率：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EK&lt;DC&lt;FF&lt;DC*</a:t>
            </a:r>
            <a:endParaRPr 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虽然理论上EK通常比FF更高效，因为EK避免了FF中DFS可能导致的“绕远路”问题，但在实际运行中，例如稀疏图或增广路径较短时，FF的DFS在这些数据上能够快速找到增广路径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en-US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565" y="800100"/>
            <a:ext cx="8342630" cy="31864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5152" t="4293" r="7263"/>
          <a:stretch>
            <a:fillRect/>
          </a:stretch>
        </p:blipFill>
        <p:spPr>
          <a:xfrm>
            <a:off x="9614535" y="4152900"/>
            <a:ext cx="777240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18920460" y="499681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1600451" y="-6515175"/>
            <a:ext cx="13761077" cy="1415359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11408" y="4605020"/>
            <a:ext cx="8465185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8000" b="1" u="none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Thank you!</a:t>
            </a:r>
            <a:endParaRPr lang="en-US" sz="8000" b="1" u="none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2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3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4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5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6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7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8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9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0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1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2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3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4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5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6.xml><?xml version="1.0" encoding="utf-8"?>
<p:tagLst xmlns:p="http://schemas.openxmlformats.org/presentationml/2006/main">
  <p:tag name="KSO_WM_DIAGRAM_VIRTUALLY_FRAME" val="{&quot;height&quot;:474.0938582677165,&quot;left&quot;:772.3622047244095,&quot;top&quot;:218.6030708661417,&quot;width&quot;:543.8877952755905}"/>
</p:tagLst>
</file>

<file path=ppt/tags/tag17.xml><?xml version="1.0" encoding="utf-8"?>
<p:tagLst xmlns:p="http://schemas.openxmlformats.org/presentationml/2006/main">
  <p:tag name="TABLE_ENDDRAG_ORIGIN_RECT" val="664*226"/>
  <p:tag name="TABLE_ENDDRAG_RECT" val="726*507*664*226"/>
</p:tagLst>
</file>

<file path=ppt/tags/tag18.xml><?xml version="1.0" encoding="utf-8"?>
<p:tagLst xmlns:p="http://schemas.openxmlformats.org/presentationml/2006/main">
  <p:tag name="TABLE_ENDDRAG_ORIGIN_RECT" val="664*226"/>
  <p:tag name="TABLE_ENDDRAG_RECT" val="726*507*664*2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6228</Words>
  <Application>WPS 演示</Application>
  <PresentationFormat>On-screen Show (4:3)</PresentationFormat>
  <Paragraphs>492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宋体</vt:lpstr>
      <vt:lpstr>Wingdings</vt:lpstr>
      <vt:lpstr>华文琥珀</vt:lpstr>
      <vt:lpstr>Hertical Rough</vt:lpstr>
      <vt:lpstr>Segoe Print</vt:lpstr>
      <vt:lpstr>Agrandir</vt:lpstr>
      <vt:lpstr>Agrandir Bold</vt:lpstr>
      <vt:lpstr>方正黑体简体</vt:lpstr>
      <vt:lpstr>Wingdings</vt:lpstr>
      <vt:lpstr>微软雅黑</vt:lpstr>
      <vt:lpstr>思源黑体 2 Semi-Bold</vt:lpstr>
      <vt:lpstr>Times New Roman</vt:lpstr>
      <vt:lpstr>思源黑体 2</vt:lpstr>
      <vt:lpstr>思源黑体 2 Bold</vt:lpstr>
      <vt:lpstr>Arial Unicode MS</vt:lpstr>
      <vt:lpstr>Calibri</vt:lpstr>
      <vt:lpstr>Wingdings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Pembentangan Asas Ringkas Bertompok Pastel</dc:title>
  <dc:creator/>
  <cp:lastModifiedBy>杨韩冰</cp:lastModifiedBy>
  <cp:revision>28</cp:revision>
  <dcterms:created xsi:type="dcterms:W3CDTF">2006-08-16T00:00:00Z</dcterms:created>
  <dcterms:modified xsi:type="dcterms:W3CDTF">2025-06-20T05:40:25Z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C0F67DB846CC4E9DB31034FA0AC0679F_13</vt:lpwstr>
  </property>
  <property fmtid="{D5CDD505-2E9C-101B-9397-08002B2CF9AE}" pid="3" name="KSOProductBuildVer">
    <vt:lpwstr>2052-12.1.0.20305</vt:lpwstr>
  </property>
</Properties>
</file>