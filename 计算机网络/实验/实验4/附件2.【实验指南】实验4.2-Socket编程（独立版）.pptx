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5"/>
  </p:handoutMasterIdLst>
  <p:sldIdLst>
    <p:sldId id="333" r:id="rId3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3" r:id="rId31"/>
    <p:sldId id="362" r:id="rId32"/>
    <p:sldId id="360" r:id="rId33"/>
    <p:sldId id="364" r:id="rId34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1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5050"/>
    <a:srgbClr val="FF3399"/>
    <a:srgbClr val="EAEAEA"/>
    <a:srgbClr val="000000"/>
    <a:srgbClr val="1B9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91"/>
    <p:restoredTop sz="96144"/>
  </p:normalViewPr>
  <p:slideViewPr>
    <p:cSldViewPr showGuides="1">
      <p:cViewPr varScale="1">
        <p:scale>
          <a:sx n="90" d="100"/>
          <a:sy n="90" d="100"/>
        </p:scale>
        <p:origin x="1157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Tx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Tx/>
              <a:buNone/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Tx/>
              <a:buNone/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101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Tx/>
              <a:buNone/>
              <a:defRPr sz="1200">
                <a:latin typeface="Arial" panose="020B0604020202020204" pitchFamily="34" charset="0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8195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819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024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24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2291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229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4339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434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638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638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843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048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22531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253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458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2662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662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28675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2867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3072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072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32771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277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34819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482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3686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686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38915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3891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4096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096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43011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301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45059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506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4710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710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49155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915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5120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0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53251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325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55299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530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5734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734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59395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9396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144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1444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3491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3492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5539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5540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TW" altLang="en-US" sz="1800" b="1" dirty="0">
                <a:latin typeface="Arial" panose="020B0604020202020204" pitchFamily="34" charset="0"/>
                <a:ea typeface="PMingLiU" pitchFamily="18" charset="-120"/>
              </a:rPr>
            </a:fld>
            <a:endParaRPr lang="zh-TW" altLang="en-US" sz="1800" b="1" dirty="0">
              <a:latin typeface="Arial" panose="020B0604020202020204" pitchFamily="34" charset="0"/>
              <a:ea typeface="PMingLiU" pitchFamily="18" charset="-120"/>
            </a:endParaRPr>
          </a:p>
        </p:txBody>
      </p:sp>
      <p:sp>
        <p:nvSpPr>
          <p:cNvPr id="67587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67588" name="Rectangle 3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 anchorCtr="0"/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  <a:p>
            <a:pPr lvl="0" eaLnBrk="1" hangingPunct="1">
              <a:spcBef>
                <a:spcPct val="0"/>
              </a:spcBef>
            </a:pP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gradFill rotWithShape="0">
          <a:gsLst>
            <a:gs pos="0">
              <a:srgbClr val="FFFFFF"/>
            </a:gs>
            <a:gs pos="100000">
              <a:srgbClr val="CEEAF9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1075" y="3175"/>
            <a:ext cx="6034088" cy="6683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3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015163" y="125413"/>
            <a:ext cx="1733550" cy="5064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矩形 5"/>
          <p:cNvSpPr/>
          <p:nvPr/>
        </p:nvSpPr>
        <p:spPr>
          <a:xfrm>
            <a:off x="2568922" y="-98114"/>
            <a:ext cx="3013967" cy="769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  <a:sym typeface="+mn-ea"/>
              </a:rPr>
              <a:t>计算机网络</a:t>
            </a:r>
            <a:endParaRPr kumimoji="0" lang="zh-CN" altLang="en-US" sz="4400" b="1" i="0" u="none" strike="noStrike" kern="1200" cap="none" spc="0" normalizeH="0" baseline="0" noProof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  <a:sym typeface="+mn-ea"/>
            </a:endParaRPr>
          </a:p>
        </p:txBody>
      </p:sp>
      <p:pic>
        <p:nvPicPr>
          <p:cNvPr id="2055" name="图片 1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23850" y="0"/>
            <a:ext cx="657225" cy="67151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8" name="Straight Connector 9"/>
          <p:cNvCxnSpPr/>
          <p:nvPr/>
        </p:nvCxnSpPr>
        <p:spPr>
          <a:xfrm>
            <a:off x="250825" y="1268413"/>
            <a:ext cx="8497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CEEAF9"/>
            </a:gs>
          </a:gsLst>
          <a:lin ang="5400000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9" name="Rectangle 8"/>
          <p:cNvSpPr/>
          <p:nvPr/>
        </p:nvSpPr>
        <p:spPr>
          <a:xfrm>
            <a:off x="0" y="6334125"/>
            <a:ext cx="9144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0" name="Straight Connector 9"/>
          <p:cNvCxnSpPr/>
          <p:nvPr/>
        </p:nvCxnSpPr>
        <p:spPr>
          <a:xfrm>
            <a:off x="250825" y="692150"/>
            <a:ext cx="8497888" cy="0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hf sldNum="0" hdr="0" ftr="0" dt="0"/>
  <p:txStyles>
    <p:titleStyle>
      <a:lvl1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85000"/>
        </a:lnSpc>
        <a:spcBef>
          <a:spcPct val="0"/>
        </a:spcBef>
        <a:spcAft>
          <a:spcPct val="0"/>
        </a:spcAft>
        <a:defRPr sz="4800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marL="90805" indent="-90805" algn="l" rtl="0" eaLnBrk="0" fontAlgn="base" hangingPunct="0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rgbClr val="404040"/>
          </a:solidFill>
          <a:latin typeface="+mn-lt"/>
          <a:ea typeface="+mn-ea"/>
          <a:cs typeface="+mn-cs"/>
        </a:defRPr>
      </a:lvl1pPr>
      <a:lvl2pPr marL="382905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567055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749300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4pPr>
      <a:lvl5pPr marL="932180" indent="-182880" algn="l" rtl="0" eaLnBrk="0" fontAlgn="base" hangingPunct="0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hyperlink" Target="http://www.qqread.com/ArtImage/20051127/5_2.gif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矩形 19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50825" y="1557338"/>
            <a:ext cx="8642350" cy="4721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marR="0" indent="-457200" defTabSz="914400" eaLnBrk="1" hangingPunct="1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实验目的</a:t>
            </a:r>
            <a:endParaRPr kumimoji="0" lang="zh-CN" altLang="en-US" sz="2800" kern="1200" cap="none" spc="0" normalizeH="0" baseline="0" noProof="0" dirty="0">
              <a:latin typeface="华文仿宋" panose="02010600040101010101" pitchFamily="2" charset="-122"/>
              <a:ea typeface="华文仿宋" panose="02010600040101010101" pitchFamily="2" charset="-122"/>
              <a:cs typeface="+mn-cs"/>
              <a:sym typeface="+mn-ea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zh-CN" altLang="en-US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掌握</a:t>
            </a:r>
            <a:r>
              <a:rPr kumimoji="0" lang="en-US" altLang="zh-CN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Socket</a:t>
            </a:r>
            <a:r>
              <a:rPr kumimoji="0" lang="zh-CN" altLang="en-US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的</a:t>
            </a:r>
            <a:r>
              <a:rPr kumimoji="0" lang="en-US" altLang="zh-CN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TCP</a:t>
            </a:r>
            <a:r>
              <a:rPr kumimoji="0" lang="zh-CN" altLang="en-US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通信、 </a:t>
            </a:r>
            <a:r>
              <a:rPr kumimoji="0" lang="en-US" altLang="zh-CN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Socket</a:t>
            </a:r>
            <a:r>
              <a:rPr kumimoji="0" lang="zh-CN" altLang="en-US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的</a:t>
            </a:r>
            <a:r>
              <a:rPr kumimoji="0" lang="en-US" altLang="zh-CN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UDP</a:t>
            </a:r>
            <a:r>
              <a:rPr kumimoji="0" lang="zh-CN" altLang="en-US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通信</a:t>
            </a:r>
            <a:endParaRPr kumimoji="0" lang="zh-CN" altLang="en-US" sz="2400" b="0" kern="1200" cap="none" spc="0" normalizeH="0" baseline="0" noProof="0" dirty="0">
              <a:latin typeface="华文仿宋" panose="02010600040101010101" pitchFamily="2" charset="-122"/>
              <a:ea typeface="华文仿宋" panose="02010600040101010101" pitchFamily="2" charset="-122"/>
              <a:cs typeface="+mn-cs"/>
              <a:sym typeface="+mn-ea"/>
            </a:endParaRPr>
          </a:p>
          <a:p>
            <a:pPr marL="457200" marR="0" indent="-457200" defTabSz="914400" eaLnBrk="1" hangingPunct="1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实验内容</a:t>
            </a:r>
            <a:endParaRPr kumimoji="0" lang="zh-CN" altLang="en-US" sz="2800" kern="1200" cap="none" spc="0" normalizeH="0" baseline="0" noProof="0" dirty="0">
              <a:latin typeface="华文仿宋" panose="02010600040101010101" pitchFamily="2" charset="-122"/>
              <a:ea typeface="华文仿宋" panose="02010600040101010101" pitchFamily="2" charset="-122"/>
              <a:cs typeface="+mn-cs"/>
              <a:sym typeface="+mn-ea"/>
            </a:endParaRPr>
          </a:p>
          <a:p>
            <a:pPr marR="0" defTabSz="914400" eaLnBrk="1" hangingPunct="1">
              <a:lnSpc>
                <a:spcPct val="120000"/>
              </a:lnSpc>
              <a:buClrTx/>
              <a:buSzTx/>
              <a:buFontTx/>
              <a:buNone/>
              <a:defRPr/>
            </a:pPr>
            <a:r>
              <a:rPr kumimoji="0" lang="en-US" altLang="zh-CN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Socket</a:t>
            </a:r>
            <a:r>
              <a:rPr kumimoji="0" lang="zh-CN" altLang="en-US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r>
              <a:rPr kumimoji="0" lang="en-US" altLang="zh-CN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ServerSocket</a:t>
            </a:r>
            <a:r>
              <a:rPr kumimoji="0" lang="zh-CN" altLang="en-US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类和</a:t>
            </a:r>
            <a:r>
              <a:rPr kumimoji="0" lang="en-US" altLang="zh-CN" sz="2400" b="0" kern="1200" cap="none" spc="0" normalizeH="0" baseline="0" noProof="0" dirty="0" err="1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DatagramPacket</a:t>
            </a:r>
            <a:r>
              <a:rPr kumimoji="0" lang="en-US" altLang="zh-CN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 </a:t>
            </a:r>
            <a:r>
              <a:rPr kumimoji="0" lang="zh-CN" altLang="en-US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r>
              <a:rPr kumimoji="0" lang="en-US" altLang="zh-CN" sz="2400" b="0" kern="1200" cap="none" spc="0" normalizeH="0" baseline="0" noProof="0" dirty="0" err="1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DatagramSocket</a:t>
            </a:r>
            <a:r>
              <a:rPr kumimoji="0" lang="zh-CN" altLang="en-US" sz="2400" b="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类的使用</a:t>
            </a:r>
            <a:endParaRPr kumimoji="0" lang="zh-CN" altLang="en-US" sz="2400" b="0" kern="1200" cap="none" spc="0" normalizeH="0" baseline="0" noProof="0" dirty="0">
              <a:latin typeface="华文仿宋" panose="02010600040101010101" pitchFamily="2" charset="-122"/>
              <a:ea typeface="华文仿宋" panose="02010600040101010101" pitchFamily="2" charset="-122"/>
              <a:cs typeface="+mn-cs"/>
              <a:sym typeface="+mn-ea"/>
            </a:endParaRPr>
          </a:p>
          <a:p>
            <a:pPr marL="457200" marR="0" indent="-457200" defTabSz="914400" eaLnBrk="1" hangingPunct="1">
              <a:lnSpc>
                <a:spcPct val="120000"/>
              </a:lnSpc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800" kern="1200" cap="none" spc="0" normalizeH="0" baseline="0" noProof="0" dirty="0"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实验环境和要求</a:t>
            </a:r>
            <a:endParaRPr kumimoji="0" lang="zh-CN" altLang="en-US" sz="2800" kern="1200" cap="none" spc="0" normalizeH="0" baseline="0" noProof="0" dirty="0">
              <a:latin typeface="华文仿宋" panose="02010600040101010101" pitchFamily="2" charset="-122"/>
              <a:ea typeface="华文仿宋" panose="02010600040101010101" pitchFamily="2" charset="-122"/>
              <a:cs typeface="+mn-cs"/>
              <a:sym typeface="+mn-ea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使用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Windows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操作系统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  <a:sym typeface="+mn-ea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Internet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连接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  <a:sym typeface="+mn-ea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Eclipse+Java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开发环境（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可以选用其他开发环境与语言，但需要在报告中写清楚，以便验收和批改时进行程序检验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171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7173" name="文本框 7"/>
          <p:cNvSpPr txBox="1"/>
          <p:nvPr/>
        </p:nvSpPr>
        <p:spPr>
          <a:xfrm>
            <a:off x="250825" y="1412875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Arial" panose="020B0604020202020204" pitchFamily="34" charset="0"/>
              </a:rPr>
              <a:t>网络编程模型</a:t>
            </a:r>
            <a:endParaRPr lang="zh-CN" altLang="en-US" sz="2400" dirty="0">
              <a:latin typeface="Arial" panose="020B0604020202020204" pitchFamily="34" charset="0"/>
            </a:endParaRPr>
          </a:p>
        </p:txBody>
      </p:sp>
      <p:pic>
        <p:nvPicPr>
          <p:cNvPr id="7174" name="Picture 5" descr="Winsocket编程之TCP/IP体系结构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413" y="1412875"/>
            <a:ext cx="5976937" cy="4848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219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9221" name="文本框 7"/>
          <p:cNvSpPr txBox="1"/>
          <p:nvPr/>
        </p:nvSpPr>
        <p:spPr>
          <a:xfrm>
            <a:off x="250825" y="1412875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Java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对网络编程的支持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61938" y="1998663"/>
            <a:ext cx="8631238" cy="309086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java.net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包中的主要的类和可能产生的例外包括：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面向应用层的类：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URL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URLConnection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面向传输层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/IP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层的类：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1257300" marR="0" lvl="2" indent="-34290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TCP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协议相关类：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Socket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ServerSocket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1257300" marR="0" lvl="2" indent="-34290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UDP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协议相关类：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DatagramPacket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DatagramSocket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MulticastSocket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表示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IP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地址的类：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InetAddress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800100" marR="0" lvl="1" indent="-34290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可能产生的异常：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BindException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ConnectException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914400" marR="0" lvl="2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MalformedURLException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NoRouteToHostException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ProtocolException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SocketException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UnknownHostException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UnknownServiceException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1267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1269" name="文本框 7"/>
          <p:cNvSpPr txBox="1"/>
          <p:nvPr/>
        </p:nvSpPr>
        <p:spPr>
          <a:xfrm>
            <a:off x="250825" y="1412875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套接字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11270" name="Text Box 3"/>
          <p:cNvSpPr txBox="1"/>
          <p:nvPr/>
        </p:nvSpPr>
        <p:spPr>
          <a:xfrm>
            <a:off x="261938" y="1998663"/>
            <a:ext cx="8631237" cy="3800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用于实现网络上客户端程序和服务器程序之间的连接。</a:t>
            </a:r>
            <a:endParaRPr lang="en-US" altLang="zh-CN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套接字负责网络上进程之间的通信</a:t>
            </a:r>
            <a:endParaRPr lang="en-US" altLang="zh-CN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客户端程序可以向套接字里写入请求，然后服务器会处理这个请求，并把处理结果通过套接字送回。</a:t>
            </a:r>
            <a:endParaRPr lang="en-US" altLang="zh-CN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服务器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应用程序一般会侦听一个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特定端口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，用来等待客户的连接请求，当一个连接请求到达时，客户和服务器会建立一个通信连接，在连接过程中，客户被分配一个本地端口号并与一个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连接，客户通过写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来通知服务器，再通过读取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来获取服务器发送过来的信息。</a:t>
            </a:r>
            <a:endParaRPr lang="en-US" altLang="zh-CN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类似地，服务器也获取一个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本地端口号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，它需要一个新的端口号来侦听原始端口上的其他连接请求。服务器也给它的本地端口连接一个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，通过读写它来与客户通信。 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3315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3317" name="文本框 7"/>
          <p:cNvSpPr txBox="1"/>
          <p:nvPr/>
        </p:nvSpPr>
        <p:spPr>
          <a:xfrm>
            <a:off x="250825" y="1412875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套接字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（续）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13318" name="Text Box 3"/>
          <p:cNvSpPr txBox="1"/>
          <p:nvPr/>
        </p:nvSpPr>
        <p:spPr>
          <a:xfrm>
            <a:off x="261938" y="1998663"/>
            <a:ext cx="8631237" cy="3462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可以根据通信性质分类，这种性质对于用户是可见的。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应用程序一般仅在同一类的套接字之间进行通信。不过只要底层的通信协议允许，不同类型的套接字之间也可以通信。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目前可以使用两种套接字，即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流套接字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数据报套接字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。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流套接字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提供了双向的、有序的、无重复的并且无记录边界的数据流服务。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是一种流套接字协议</a:t>
            </a:r>
            <a:endParaRPr lang="en-US" altLang="zh-CN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数据报套接字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支持双向的数据流，但并不保证是可靠、有序、无重复的，也就是说，一个以数据报套接字来接收信息的进程有可能发现信息重复了，或者和发出的顺序不同了。数据报套接字的一个重要特点是它保留了记录边界。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UDP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即是一种数据报套接字协议。 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363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5365" name="文本框 7"/>
          <p:cNvSpPr txBox="1"/>
          <p:nvPr/>
        </p:nvSpPr>
        <p:spPr>
          <a:xfrm>
            <a:off x="250825" y="1412875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端口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15366" name="Text Box 3"/>
          <p:cNvSpPr txBox="1"/>
          <p:nvPr/>
        </p:nvSpPr>
        <p:spPr>
          <a:xfrm>
            <a:off x="261938" y="1998663"/>
            <a:ext cx="8631237" cy="2446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端口是一个逻辑概念。每一个服务器都运行在该主机的一个对外开放的端口上。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一个主机上可以有多种服务器，也就是有多个端口。程序员可以在创建自己的服务器程序时使用其它端口（即除了系统默认的端口）。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端口常以数字编号，作为客户可指定一个端口号，用这个端口号来连接相应的服务器以接收服务。 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如果把 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IP 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地址看作电话号码，则端口类似电话的分机号码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787525" y="4508500"/>
            <a:ext cx="5568950" cy="341313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</a:ln>
          <a:effectLst/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+mn-ea"/>
              </a:rPr>
              <a:t>cmd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Wingdings" panose="05000000000000000000" pitchFamily="2" charset="2"/>
              </a:rPr>
              <a:t>netstat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Wingdings" panose="05000000000000000000" pitchFamily="2" charset="2"/>
              </a:rPr>
              <a:t> –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Wingdings" panose="05000000000000000000" pitchFamily="2" charset="2"/>
              </a:rPr>
              <a:t>na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Wingdings" panose="05000000000000000000" pitchFamily="2" charset="2"/>
              </a:rPr>
              <a:t>  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Wingdings" panose="05000000000000000000" pitchFamily="2" charset="2"/>
              </a:rPr>
              <a:t>可以查看本机的端口使用情况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411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7413" name="文本框 7"/>
          <p:cNvSpPr txBox="1"/>
          <p:nvPr/>
        </p:nvSpPr>
        <p:spPr>
          <a:xfrm>
            <a:off x="250825" y="1412875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17414" name="Text Box 3"/>
          <p:cNvSpPr txBox="1"/>
          <p:nvPr/>
        </p:nvSpPr>
        <p:spPr>
          <a:xfrm>
            <a:off x="261938" y="1998663"/>
            <a:ext cx="8631237" cy="414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是网络上运行的程序之间双向通信链路的最后终结点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grpSp>
        <p:nvGrpSpPr>
          <p:cNvPr id="17415" name="Group 4"/>
          <p:cNvGrpSpPr/>
          <p:nvPr/>
        </p:nvGrpSpPr>
        <p:grpSpPr>
          <a:xfrm>
            <a:off x="2854325" y="2413000"/>
            <a:ext cx="5943600" cy="3902075"/>
            <a:chOff x="1392" y="1296"/>
            <a:chExt cx="3744" cy="2458"/>
          </a:xfrm>
        </p:grpSpPr>
        <p:sp>
          <p:nvSpPr>
            <p:cNvPr id="17417" name="Rectangle 5"/>
            <p:cNvSpPr/>
            <p:nvPr/>
          </p:nvSpPr>
          <p:spPr>
            <a:xfrm>
              <a:off x="3792" y="1536"/>
              <a:ext cx="1344" cy="1440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418" name="Text Box 6"/>
            <p:cNvSpPr txBox="1"/>
            <p:nvPr/>
          </p:nvSpPr>
          <p:spPr>
            <a:xfrm>
              <a:off x="4032" y="1296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dirty="0">
                  <a:latin typeface="Times New Roman" panose="02020603050405020304" pitchFamily="18" charset="0"/>
                </a:rPr>
                <a:t>网络服务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7419" name="Text Box 7"/>
            <p:cNvSpPr txBox="1"/>
            <p:nvPr/>
          </p:nvSpPr>
          <p:spPr>
            <a:xfrm>
              <a:off x="4464" y="2256"/>
              <a:ext cx="484" cy="294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sz="2400" dirty="0">
                  <a:latin typeface="Times New Roman" panose="02020603050405020304" pitchFamily="18" charset="0"/>
                </a:rPr>
                <a:t>Mail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0" name="Text Box 8"/>
            <p:cNvSpPr txBox="1"/>
            <p:nvPr/>
          </p:nvSpPr>
          <p:spPr>
            <a:xfrm>
              <a:off x="4560" y="1584"/>
              <a:ext cx="335" cy="294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sz="2400" dirty="0">
                  <a:latin typeface="Times New Roman" panose="02020603050405020304" pitchFamily="18" charset="0"/>
                </a:rPr>
                <a:t>ftp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1" name="Text Box 9"/>
            <p:cNvSpPr txBox="1"/>
            <p:nvPr/>
          </p:nvSpPr>
          <p:spPr>
            <a:xfrm>
              <a:off x="4368" y="2592"/>
              <a:ext cx="580" cy="294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sz="2400" dirty="0">
                  <a:latin typeface="Times New Roman" panose="02020603050405020304" pitchFamily="18" charset="0"/>
                </a:rPr>
                <a:t>finger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2" name="Rectangle 10"/>
            <p:cNvSpPr/>
            <p:nvPr/>
          </p:nvSpPr>
          <p:spPr>
            <a:xfrm>
              <a:off x="3792" y="1680"/>
              <a:ext cx="336" cy="192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dirty="0">
                  <a:latin typeface="Times New Roman" panose="02020603050405020304" pitchFamily="18" charset="0"/>
                </a:rPr>
                <a:t>20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3" name="Text Box 11"/>
            <p:cNvSpPr txBox="1"/>
            <p:nvPr/>
          </p:nvSpPr>
          <p:spPr>
            <a:xfrm>
              <a:off x="4368" y="1920"/>
              <a:ext cx="547" cy="294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sz="2400" dirty="0">
                  <a:latin typeface="Times New Roman" panose="02020603050405020304" pitchFamily="18" charset="0"/>
                </a:rPr>
                <a:t>telnet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7424" name="Group 12"/>
            <p:cNvGrpSpPr/>
            <p:nvPr/>
          </p:nvGrpSpPr>
          <p:grpSpPr>
            <a:xfrm>
              <a:off x="4032" y="3216"/>
              <a:ext cx="829" cy="538"/>
              <a:chOff x="1008" y="2640"/>
              <a:chExt cx="795" cy="538"/>
            </a:xfrm>
          </p:grpSpPr>
          <p:sp>
            <p:nvSpPr>
              <p:cNvPr id="17438" name="Rectangle 13"/>
              <p:cNvSpPr/>
              <p:nvPr/>
            </p:nvSpPr>
            <p:spPr>
              <a:xfrm>
                <a:off x="1008" y="2640"/>
                <a:ext cx="768" cy="528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 anchorCtr="0"/>
              <a:p>
                <a:pPr algn="ctr"/>
                <a:endParaRPr lang="zh-CN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39" name="Text Box 14"/>
              <p:cNvSpPr txBox="1"/>
              <p:nvPr/>
            </p:nvSpPr>
            <p:spPr>
              <a:xfrm>
                <a:off x="1008" y="2688"/>
                <a:ext cx="729" cy="25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数据结构</a:t>
                </a:r>
                <a:endPara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40" name="Text Box 15"/>
              <p:cNvSpPr txBox="1"/>
              <p:nvPr/>
            </p:nvSpPr>
            <p:spPr>
              <a:xfrm>
                <a:off x="1008" y="2928"/>
                <a:ext cx="795" cy="25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sz="2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I/O</a:t>
                </a:r>
                <a:r>
                  <a:rPr lang="zh-CN" altLang="en-US" sz="2000" dirty="0">
                    <a:solidFill>
                      <a:schemeClr val="bg1"/>
                    </a:solidFill>
                    <a:latin typeface="Times New Roman" panose="02020603050405020304" pitchFamily="18" charset="0"/>
                  </a:rPr>
                  <a:t>缓冲区</a:t>
                </a:r>
                <a:endPara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7425" name="Text Box 16"/>
            <p:cNvSpPr txBox="1"/>
            <p:nvPr/>
          </p:nvSpPr>
          <p:spPr>
            <a:xfrm>
              <a:off x="4128" y="2976"/>
              <a:ext cx="4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2000" dirty="0">
                  <a:latin typeface="Times New Roman" panose="02020603050405020304" pitchFamily="18" charset="0"/>
                </a:rPr>
                <a:t>端口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6" name="Rectangle 17"/>
            <p:cNvSpPr/>
            <p:nvPr/>
          </p:nvSpPr>
          <p:spPr>
            <a:xfrm>
              <a:off x="3792" y="1968"/>
              <a:ext cx="336" cy="192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dirty="0">
                  <a:latin typeface="Times New Roman" panose="02020603050405020304" pitchFamily="18" charset="0"/>
                </a:rPr>
                <a:t>21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7" name="Rectangle 18"/>
            <p:cNvSpPr/>
            <p:nvPr/>
          </p:nvSpPr>
          <p:spPr>
            <a:xfrm>
              <a:off x="3792" y="2256"/>
              <a:ext cx="336" cy="192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dirty="0">
                  <a:latin typeface="Times New Roman" panose="02020603050405020304" pitchFamily="18" charset="0"/>
                </a:rPr>
                <a:t>23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8" name="Rectangle 19"/>
            <p:cNvSpPr/>
            <p:nvPr/>
          </p:nvSpPr>
          <p:spPr>
            <a:xfrm>
              <a:off x="3792" y="2592"/>
              <a:ext cx="336" cy="192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29" name="Line 20"/>
            <p:cNvSpPr/>
            <p:nvPr/>
          </p:nvSpPr>
          <p:spPr>
            <a:xfrm flipH="1" flipV="1">
              <a:off x="3984" y="2736"/>
              <a:ext cx="192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30" name="Line 21"/>
            <p:cNvSpPr/>
            <p:nvPr/>
          </p:nvSpPr>
          <p:spPr>
            <a:xfrm flipH="1">
              <a:off x="4128" y="1680"/>
              <a:ext cx="432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31" name="Line 22"/>
            <p:cNvSpPr/>
            <p:nvPr/>
          </p:nvSpPr>
          <p:spPr>
            <a:xfrm flipH="1">
              <a:off x="4128" y="2064"/>
              <a:ext cx="24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32" name="Rectangle 23"/>
            <p:cNvSpPr/>
            <p:nvPr/>
          </p:nvSpPr>
          <p:spPr>
            <a:xfrm>
              <a:off x="1392" y="2016"/>
              <a:ext cx="1008" cy="576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Times New Roman" panose="02020603050405020304" pitchFamily="18" charset="0"/>
                </a:rPr>
                <a:t>客户程序</a:t>
              </a:r>
              <a:endPara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433" name="Line 24"/>
            <p:cNvSpPr/>
            <p:nvPr/>
          </p:nvSpPr>
          <p:spPr>
            <a:xfrm>
              <a:off x="2448" y="2256"/>
              <a:ext cx="12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7434" name="AutoShape 25"/>
            <p:cNvSpPr/>
            <p:nvPr/>
          </p:nvSpPr>
          <p:spPr>
            <a:xfrm>
              <a:off x="3648" y="1728"/>
              <a:ext cx="48" cy="1008"/>
            </a:xfrm>
            <a:prstGeom prst="leftBrace">
              <a:avLst>
                <a:gd name="adj1" fmla="val 175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17435" name="Text Box 26"/>
            <p:cNvSpPr txBox="1"/>
            <p:nvPr/>
          </p:nvSpPr>
          <p:spPr>
            <a:xfrm>
              <a:off x="2688" y="2016"/>
              <a:ext cx="63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dirty="0">
                  <a:latin typeface="Times New Roman" panose="02020603050405020304" pitchFamily="18" charset="0"/>
                </a:rPr>
                <a:t>Socket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36" name="Rectangle 27"/>
            <p:cNvSpPr/>
            <p:nvPr/>
          </p:nvSpPr>
          <p:spPr>
            <a:xfrm>
              <a:off x="2688" y="1488"/>
              <a:ext cx="720" cy="336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r>
                <a:rPr lang="en-US" altLang="zh-CN" sz="2400" dirty="0">
                  <a:latin typeface="Times New Roman" panose="02020603050405020304" pitchFamily="18" charset="0"/>
                </a:rPr>
                <a:t>IP,port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7437" name="Line 28"/>
            <p:cNvSpPr/>
            <p:nvPr/>
          </p:nvSpPr>
          <p:spPr>
            <a:xfrm>
              <a:off x="3024" y="182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7416" name="Text Box 29"/>
          <p:cNvSpPr txBox="1"/>
          <p:nvPr/>
        </p:nvSpPr>
        <p:spPr>
          <a:xfrm>
            <a:off x="261938" y="4864100"/>
            <a:ext cx="5030787" cy="830263"/>
          </a:xfrm>
          <a:prstGeom prst="rect">
            <a:avLst/>
          </a:prstGeom>
          <a:noFill/>
          <a:ln w="19050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IP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与端口的组合得出一个套接字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可以完全分辨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Internet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上运行的程序</a:t>
            </a:r>
            <a:endParaRPr lang="zh-CN" altLang="en-US" sz="20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9459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9461" name="文本框 7"/>
          <p:cNvSpPr txBox="1"/>
          <p:nvPr/>
        </p:nvSpPr>
        <p:spPr>
          <a:xfrm>
            <a:off x="250825" y="1412875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通信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-TCP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19462" name="Text Box 3"/>
          <p:cNvSpPr txBox="1"/>
          <p:nvPr/>
        </p:nvSpPr>
        <p:spPr>
          <a:xfrm>
            <a:off x="261938" y="1998663"/>
            <a:ext cx="8631237" cy="2446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一对一的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 C/S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通信</a:t>
            </a:r>
            <a:endParaRPr lang="en-US" altLang="zh-CN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是一种可靠的、基于连接的网络协议，在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Internet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上大都采用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TCP/IP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协议进行互联。网络上的两个进程采用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C/S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模式进行通信。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800100" lvl="1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当两台主机准备进行交谈时，都必须建立一个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，其中一方作为服务器打开一个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并侦听来自网络的连接请求，另一个作为客户，它向网络上的服务器发送请求，通过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与服务器传递信息，要建立连接，只需指定主机的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IP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地址和端口即可。 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1507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1509" name="文本框 7"/>
          <p:cNvSpPr txBox="1"/>
          <p:nvPr/>
        </p:nvSpPr>
        <p:spPr>
          <a:xfrm>
            <a:off x="250825" y="1412875"/>
            <a:ext cx="457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工作模式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pic>
        <p:nvPicPr>
          <p:cNvPr id="21510" name="Picture 6" descr="jt-2001-4-7-socketmode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95475" y="1998663"/>
            <a:ext cx="5353050" cy="4454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555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3557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使用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协议的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编程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23558" name="文本框 8"/>
          <p:cNvSpPr txBox="1"/>
          <p:nvPr/>
        </p:nvSpPr>
        <p:spPr>
          <a:xfrm>
            <a:off x="250825" y="1998663"/>
            <a:ext cx="8642350" cy="2730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1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、</a:t>
            </a:r>
            <a:r>
              <a:rPr lang="zh-CN" altLang="en-US" dirty="0">
                <a:latin typeface="Times New Roman" panose="02020603050405020304" pitchFamily="18" charset="0"/>
                <a:ea typeface="华文仿宋" panose="02010600040101010101" pitchFamily="2" charset="-122"/>
              </a:rPr>
              <a:t>概述</a:t>
            </a:r>
            <a:endParaRPr lang="zh-CN" altLang="en-US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Java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提供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和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ServerSocket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类作为标准的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套接字编程技术，通过它们实现主机与主机之间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(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应用程序间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)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的对话。位于：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java.net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包中。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使用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进行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C/S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程序设计的一般连接过程：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Server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端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Listen(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监听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)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某个端口是否有连接请求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Client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端向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Server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端发出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Connect(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连接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)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请求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Server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端向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Client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端发回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Accept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（接受）消息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连接建立后，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Server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端和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Client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端都可以通过套接字类提供的一些方法与对方通信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5603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5605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使用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协议的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编程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25606" name="文本框 8"/>
          <p:cNvSpPr txBox="1"/>
          <p:nvPr/>
        </p:nvSpPr>
        <p:spPr>
          <a:xfrm>
            <a:off x="250825" y="1998663"/>
            <a:ext cx="8642350" cy="205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华文仿宋" panose="0201060004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dirty="0">
                <a:latin typeface="Times New Roman" panose="02020603050405020304" pitchFamily="18" charset="0"/>
                <a:ea typeface="华文仿宋" panose="02010600040101010101" pitchFamily="2" charset="-122"/>
              </a:rPr>
              <a:t>类的构建方法</a:t>
            </a:r>
            <a:endParaRPr lang="zh-CN" altLang="en-US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public Socket(String host, int port)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public Socket(InetAddress address, int port)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public Socket(String host, int port, InetAddress localAddr, int localPort)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上述方法都将</a:t>
            </a:r>
            <a:r>
              <a:rPr lang="zh-CN" altLang="en-US" b="0" dirty="0">
                <a:solidFill>
                  <a:srgbClr val="0000FF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抛出例外</a:t>
            </a:r>
            <a:r>
              <a:rPr lang="en-US" altLang="zh-CN" b="0" dirty="0">
                <a:solidFill>
                  <a:srgbClr val="0000FF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IOException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，程序中需要捕获处理。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7651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7653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使用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协议的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编程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27654" name="文本框 8"/>
          <p:cNvSpPr txBox="1"/>
          <p:nvPr/>
        </p:nvSpPr>
        <p:spPr>
          <a:xfrm>
            <a:off x="250825" y="1998663"/>
            <a:ext cx="8642350" cy="43926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仿宋" panose="0201060004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dirty="0">
                <a:latin typeface="Times New Roman" panose="02020603050405020304" pitchFamily="18" charset="0"/>
                <a:ea typeface="华文仿宋" panose="02010600040101010101" pitchFamily="2" charset="-122"/>
              </a:rPr>
              <a:t>的常见方法</a:t>
            </a:r>
            <a:endParaRPr lang="zh-CN" altLang="en-US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2.1 Socket</a:t>
            </a:r>
            <a:r>
              <a:rPr lang="zh-CN" altLang="en-US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的输入</a:t>
            </a:r>
            <a:r>
              <a:rPr lang="en-US" altLang="zh-CN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/</a:t>
            </a:r>
            <a:r>
              <a:rPr lang="zh-CN" altLang="en-US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输出流管理；抛出例外</a:t>
            </a:r>
            <a:r>
              <a:rPr lang="en-US" altLang="zh-CN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IOException</a:t>
            </a:r>
            <a:endParaRPr lang="zh-CN" altLang="en-US" u="sng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public InputStream getInputStream()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public void shutdownInput() 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public OutputStream getOutputStream() 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public void shutdownOutput()                               //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关闭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public void close() throws IOException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2.2 </a:t>
            </a:r>
            <a:r>
              <a:rPr lang="zh-CN" altLang="en-US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设置</a:t>
            </a:r>
            <a:r>
              <a:rPr lang="en-US" altLang="zh-CN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/</a:t>
            </a:r>
            <a:r>
              <a:rPr lang="zh-CN" altLang="en-US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获取</a:t>
            </a:r>
            <a:r>
              <a:rPr lang="en-US" altLang="zh-CN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数据</a:t>
            </a:r>
            <a:endParaRPr lang="zh-CN" altLang="en-US" u="sng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public InetAddress getInetAddress()                     //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返回此套接字链接的地址对象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public InetAddress getLocalAddress()                 // 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返回此套接字本地的地址对象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public int getPort()                                               // 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返回此套接字链接地址的端口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上述方法都将抛出例外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SocketException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，程序中需要捕获处理。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9699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9701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使用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协议的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编程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29702" name="文本框 8"/>
          <p:cNvSpPr txBox="1"/>
          <p:nvPr/>
        </p:nvSpPr>
        <p:spPr>
          <a:xfrm>
            <a:off x="250825" y="1998663"/>
            <a:ext cx="8642350" cy="372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</a:rPr>
              <a:t>4</a:t>
            </a:r>
            <a:r>
              <a:rPr lang="zh-CN" altLang="en-US" dirty="0">
                <a:latin typeface="Times New Roman" panose="02020603050405020304" pitchFamily="18" charset="0"/>
                <a:ea typeface="华文仿宋" panose="0201060004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</a:rPr>
              <a:t>ServerSocket</a:t>
            </a:r>
            <a:r>
              <a:rPr lang="zh-CN" altLang="en-US" dirty="0">
                <a:latin typeface="Times New Roman" panose="02020603050405020304" pitchFamily="18" charset="0"/>
                <a:ea typeface="华文仿宋" panose="02010600040101010101" pitchFamily="2" charset="-122"/>
              </a:rPr>
              <a:t>类</a:t>
            </a:r>
            <a:endParaRPr lang="en-US" altLang="zh-CN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4.1 </a:t>
            </a:r>
            <a:r>
              <a:rPr lang="zh-CN" altLang="en-US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构造方法</a:t>
            </a:r>
            <a:r>
              <a:rPr lang="zh-CN" altLang="en-US" dirty="0">
                <a:latin typeface="Times New Roman" panose="02020603050405020304" pitchFamily="18" charset="0"/>
                <a:ea typeface="华文仿宋" panose="02010600040101010101" pitchFamily="2" charset="-122"/>
              </a:rPr>
              <a:t>：</a:t>
            </a:r>
            <a:endParaRPr lang="en-US" altLang="zh-CN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public ServerSocket(int port)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public ServerSocket(int port, int backlog)                                         //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支持指定数目的连接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public ServerSocket(int port, int backlog, InetAddress bindAddr)  //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在指定的机器上运行</a:t>
            </a:r>
            <a:r>
              <a:rPr lang="en-US" altLang="zh-CN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4.2 </a:t>
            </a:r>
            <a:r>
              <a:rPr lang="zh-CN" altLang="en-US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主要方法：</a:t>
            </a:r>
            <a:endParaRPr lang="zh-CN" altLang="en-US" u="sng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public Socket accept()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：等待客户端的连接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public void close()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：关闭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4.3 </a:t>
            </a:r>
            <a:r>
              <a:rPr lang="zh-CN" altLang="en-US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设置</a:t>
            </a:r>
            <a:r>
              <a:rPr lang="en-US" altLang="zh-CN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/</a:t>
            </a:r>
            <a:r>
              <a:rPr lang="zh-CN" altLang="en-US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获取</a:t>
            </a:r>
            <a:r>
              <a:rPr lang="en-US" altLang="zh-CN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数据的方法</a:t>
            </a:r>
            <a:endParaRPr lang="zh-CN" altLang="en-US" u="sng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public InetAddress  getInetAddress()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public int getLocalPort()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，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…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1747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31749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使用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协议的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编程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31750" name="文本框 8"/>
          <p:cNvSpPr txBox="1"/>
          <p:nvPr/>
        </p:nvSpPr>
        <p:spPr>
          <a:xfrm>
            <a:off x="250825" y="1998663"/>
            <a:ext cx="8642350" cy="2398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</a:rPr>
              <a:t>5</a:t>
            </a:r>
            <a:r>
              <a:rPr lang="zh-CN" altLang="en-US" dirty="0">
                <a:latin typeface="Times New Roman" panose="02020603050405020304" pitchFamily="18" charset="0"/>
                <a:ea typeface="华文仿宋" panose="02010600040101010101" pitchFamily="2" charset="-122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dirty="0">
                <a:latin typeface="Times New Roman" panose="02020603050405020304" pitchFamily="18" charset="0"/>
                <a:ea typeface="华文仿宋" panose="02010600040101010101" pitchFamily="2" charset="-122"/>
              </a:rPr>
              <a:t>通信程序的基本步骤</a:t>
            </a:r>
            <a:endParaRPr lang="en-US" altLang="zh-CN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（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1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）在客户方和服务器方创建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Socket/ServerSocket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实例。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（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2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）打开连接到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的输入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输出流。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（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3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）利用输入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输出流，按照一定的协议对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进行读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写操作。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（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4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）关闭输入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输出流和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。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通常，程序员的主要工作是针对所要完成的功能在第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3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步进行编程，第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1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2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、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4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步对所有的通信程序来说几乎都是一样的。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3795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33797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使用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协议的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编程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grpSp>
        <p:nvGrpSpPr>
          <p:cNvPr id="33798" name="Group 34"/>
          <p:cNvGrpSpPr/>
          <p:nvPr/>
        </p:nvGrpSpPr>
        <p:grpSpPr>
          <a:xfrm>
            <a:off x="539750" y="1970088"/>
            <a:ext cx="8280400" cy="4267200"/>
            <a:chOff x="384" y="1296"/>
            <a:chExt cx="5216" cy="2688"/>
          </a:xfrm>
        </p:grpSpPr>
        <p:sp>
          <p:nvSpPr>
            <p:cNvPr id="33799" name="Rectangle 5"/>
            <p:cNvSpPr/>
            <p:nvPr/>
          </p:nvSpPr>
          <p:spPr>
            <a:xfrm>
              <a:off x="384" y="2688"/>
              <a:ext cx="4512" cy="912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3800" name="Rectangle 6"/>
            <p:cNvSpPr/>
            <p:nvPr/>
          </p:nvSpPr>
          <p:spPr>
            <a:xfrm>
              <a:off x="384" y="1296"/>
              <a:ext cx="2112" cy="26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01" name="Text Box 7"/>
            <p:cNvSpPr txBox="1"/>
            <p:nvPr/>
          </p:nvSpPr>
          <p:spPr>
            <a:xfrm>
              <a:off x="768" y="1296"/>
              <a:ext cx="123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Server</a:t>
              </a:r>
              <a:r>
                <a:rPr lang="zh-CN" altLang="en-US" dirty="0">
                  <a:latin typeface="Times New Roman" panose="02020603050405020304" pitchFamily="18" charset="0"/>
                </a:rPr>
                <a:t>端程序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02" name="Line 8"/>
            <p:cNvSpPr/>
            <p:nvPr/>
          </p:nvSpPr>
          <p:spPr>
            <a:xfrm flipV="1">
              <a:off x="384" y="1680"/>
              <a:ext cx="21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3" name="Text Box 9"/>
            <p:cNvSpPr txBox="1"/>
            <p:nvPr/>
          </p:nvSpPr>
          <p:spPr>
            <a:xfrm>
              <a:off x="525" y="1680"/>
              <a:ext cx="18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ServerSocket(port #)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04" name="Text Box 10"/>
            <p:cNvSpPr txBox="1"/>
            <p:nvPr/>
          </p:nvSpPr>
          <p:spPr>
            <a:xfrm>
              <a:off x="528" y="1938"/>
              <a:ext cx="2045" cy="47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>
                <a:lnSpc>
                  <a:spcPct val="90000"/>
                </a:lnSpc>
              </a:pPr>
              <a:r>
                <a:rPr lang="en-US" altLang="zh-CN" dirty="0">
                  <a:solidFill>
                    <a:schemeClr val="hlink"/>
                  </a:solidFill>
                  <a:latin typeface="Times New Roman" panose="02020603050405020304" pitchFamily="18" charset="0"/>
                </a:rPr>
                <a:t>Socket socket</a:t>
              </a:r>
              <a:r>
                <a:rPr lang="en-US" altLang="zh-CN" dirty="0">
                  <a:latin typeface="Times New Roman" panose="02020603050405020304" pitchFamily="18" charset="0"/>
                </a:rPr>
                <a:t> = </a:t>
              </a:r>
              <a:endParaRPr lang="en-US" altLang="zh-CN" dirty="0">
                <a:latin typeface="Times New Roman" panose="02020603050405020304" pitchFamily="18" charset="0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dirty="0">
                  <a:latin typeface="Times New Roman" panose="02020603050405020304" pitchFamily="18" charset="0"/>
                </a:rPr>
                <a:t>   ServerSocket.accept()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05" name="Text Box 11"/>
            <p:cNvSpPr txBox="1"/>
            <p:nvPr/>
          </p:nvSpPr>
          <p:spPr>
            <a:xfrm>
              <a:off x="940" y="2400"/>
              <a:ext cx="702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接收连接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06" name="Line 12"/>
            <p:cNvSpPr/>
            <p:nvPr/>
          </p:nvSpPr>
          <p:spPr>
            <a:xfrm>
              <a:off x="384" y="2688"/>
              <a:ext cx="21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7" name="Text Box 13"/>
            <p:cNvSpPr txBox="1"/>
            <p:nvPr/>
          </p:nvSpPr>
          <p:spPr>
            <a:xfrm>
              <a:off x="662" y="2832"/>
              <a:ext cx="13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OutputStream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08" name="Text Box 14"/>
            <p:cNvSpPr txBox="1"/>
            <p:nvPr/>
          </p:nvSpPr>
          <p:spPr>
            <a:xfrm>
              <a:off x="699" y="3194"/>
              <a:ext cx="11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InputStream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09" name="Line 15"/>
            <p:cNvSpPr/>
            <p:nvPr/>
          </p:nvSpPr>
          <p:spPr>
            <a:xfrm>
              <a:off x="384" y="3600"/>
              <a:ext cx="21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0" name="Text Box 16"/>
            <p:cNvSpPr txBox="1"/>
            <p:nvPr/>
          </p:nvSpPr>
          <p:spPr>
            <a:xfrm>
              <a:off x="716" y="3696"/>
              <a:ext cx="11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Close Socket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11" name="Line 17"/>
            <p:cNvSpPr/>
            <p:nvPr/>
          </p:nvSpPr>
          <p:spPr>
            <a:xfrm>
              <a:off x="1968" y="3024"/>
              <a:ext cx="336" cy="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2" name="Rectangle 18"/>
            <p:cNvSpPr/>
            <p:nvPr/>
          </p:nvSpPr>
          <p:spPr>
            <a:xfrm>
              <a:off x="2784" y="1296"/>
              <a:ext cx="2112" cy="268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/>
              <a:endParaRPr lang="zh-CN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13" name="Text Box 19"/>
            <p:cNvSpPr txBox="1"/>
            <p:nvPr/>
          </p:nvSpPr>
          <p:spPr>
            <a:xfrm>
              <a:off x="3216" y="1296"/>
              <a:ext cx="119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Client</a:t>
              </a:r>
              <a:r>
                <a:rPr lang="zh-CN" altLang="en-US" dirty="0">
                  <a:latin typeface="Times New Roman" panose="02020603050405020304" pitchFamily="18" charset="0"/>
                </a:rPr>
                <a:t>端程序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3814" name="Line 20"/>
            <p:cNvSpPr/>
            <p:nvPr/>
          </p:nvSpPr>
          <p:spPr>
            <a:xfrm flipV="1">
              <a:off x="2784" y="1680"/>
              <a:ext cx="21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5" name="Text Box 21"/>
            <p:cNvSpPr txBox="1"/>
            <p:nvPr/>
          </p:nvSpPr>
          <p:spPr>
            <a:xfrm>
              <a:off x="3024" y="1776"/>
              <a:ext cx="172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Socket(host, port #)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16" name="Text Box 22"/>
            <p:cNvSpPr txBox="1"/>
            <p:nvPr/>
          </p:nvSpPr>
          <p:spPr>
            <a:xfrm>
              <a:off x="3004" y="2173"/>
              <a:ext cx="1288" cy="23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与服务器建立连接</a:t>
              </a:r>
              <a:endPara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817" name="Line 23"/>
            <p:cNvSpPr/>
            <p:nvPr/>
          </p:nvSpPr>
          <p:spPr>
            <a:xfrm>
              <a:off x="2784" y="2688"/>
              <a:ext cx="21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8" name="Text Box 24"/>
            <p:cNvSpPr txBox="1"/>
            <p:nvPr/>
          </p:nvSpPr>
          <p:spPr>
            <a:xfrm>
              <a:off x="3062" y="2880"/>
              <a:ext cx="131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OutputStream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19" name="Text Box 25"/>
            <p:cNvSpPr txBox="1"/>
            <p:nvPr/>
          </p:nvSpPr>
          <p:spPr>
            <a:xfrm>
              <a:off x="3099" y="3216"/>
              <a:ext cx="11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InputStream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20" name="Line 26"/>
            <p:cNvSpPr/>
            <p:nvPr/>
          </p:nvSpPr>
          <p:spPr>
            <a:xfrm>
              <a:off x="2784" y="3600"/>
              <a:ext cx="21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1" name="Text Box 27"/>
            <p:cNvSpPr txBox="1"/>
            <p:nvPr/>
          </p:nvSpPr>
          <p:spPr>
            <a:xfrm>
              <a:off x="3116" y="3696"/>
              <a:ext cx="11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Close Socket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33822" name="Line 28"/>
            <p:cNvSpPr/>
            <p:nvPr/>
          </p:nvSpPr>
          <p:spPr>
            <a:xfrm>
              <a:off x="2640" y="3408"/>
              <a:ext cx="480" cy="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3823" name="Line 29"/>
            <p:cNvSpPr/>
            <p:nvPr/>
          </p:nvSpPr>
          <p:spPr>
            <a:xfrm flipH="1">
              <a:off x="2688" y="3024"/>
              <a:ext cx="384" cy="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4" name="Line 30"/>
            <p:cNvSpPr/>
            <p:nvPr/>
          </p:nvSpPr>
          <p:spPr>
            <a:xfrm>
              <a:off x="2304" y="3024"/>
              <a:ext cx="336" cy="384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5" name="Line 31"/>
            <p:cNvSpPr/>
            <p:nvPr/>
          </p:nvSpPr>
          <p:spPr>
            <a:xfrm flipH="1">
              <a:off x="2352" y="3024"/>
              <a:ext cx="336" cy="336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6" name="Line 32"/>
            <p:cNvSpPr/>
            <p:nvPr/>
          </p:nvSpPr>
          <p:spPr>
            <a:xfrm flipH="1">
              <a:off x="1872" y="3360"/>
              <a:ext cx="480" cy="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3827" name="Text Box 33"/>
            <p:cNvSpPr txBox="1"/>
            <p:nvPr/>
          </p:nvSpPr>
          <p:spPr>
            <a:xfrm>
              <a:off x="4944" y="2976"/>
              <a:ext cx="6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solidFill>
                    <a:schemeClr val="hlink"/>
                  </a:solidFill>
                  <a:latin typeface="Arial" panose="020B0604020202020204" pitchFamily="34" charset="0"/>
                </a:rPr>
                <a:t>socket</a:t>
              </a:r>
              <a:endParaRPr lang="en-US" altLang="zh-CN" dirty="0">
                <a:solidFill>
                  <a:schemeClr val="hlink"/>
                </a:solidFill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5843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35845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典型示例：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35846" name="Rectangle 3"/>
          <p:cNvSpPr txBox="1"/>
          <p:nvPr/>
        </p:nvSpPr>
        <p:spPr>
          <a:xfrm>
            <a:off x="250825" y="1998663"/>
            <a:ext cx="8642350" cy="43878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90805" indent="-90805"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</a:rPr>
              <a:t> 创建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</a:rPr>
              <a:t>Socket</a:t>
            </a:r>
            <a:r>
              <a:rPr lang="en-US" altLang="zh-CN" sz="2000" b="0" dirty="0">
                <a:solidFill>
                  <a:srgbClr val="404040"/>
                </a:solidFill>
                <a:latin typeface="Calibri" panose="020F0502020204030204" pitchFamily="34" charset="0"/>
              </a:rPr>
              <a:t> </a:t>
            </a:r>
            <a:endParaRPr lang="en-US" altLang="zh-CN" sz="2000" b="0" dirty="0">
              <a:solidFill>
                <a:srgbClr val="404040"/>
              </a:solidFill>
              <a:latin typeface="Calibri" panose="020F0502020204030204" pitchFamily="34" charset="0"/>
            </a:endParaRPr>
          </a:p>
          <a:p>
            <a:pPr marL="90805" indent="-90805"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</a:pP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</a:rPr>
              <a:t>下面是一个典型的创建客户端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</a:rPr>
              <a:t>Socket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</a:rPr>
              <a:t>的代码</a:t>
            </a:r>
            <a:r>
              <a:rPr lang="zh-CN" altLang="en-US" sz="2800" b="0" dirty="0">
                <a:solidFill>
                  <a:srgbClr val="404040"/>
                </a:solidFill>
                <a:latin typeface="Times New Roman" panose="02020603050405020304" pitchFamily="18" charset="0"/>
              </a:rPr>
              <a:t>： </a:t>
            </a:r>
            <a:endParaRPr lang="zh-CN" altLang="en-US" sz="2800" b="0" dirty="0">
              <a:solidFill>
                <a:srgbClr val="404040"/>
              </a:solidFill>
              <a:latin typeface="Times New Roman" panose="02020603050405020304" pitchFamily="18" charset="0"/>
            </a:endParaRPr>
          </a:p>
          <a:p>
            <a:pPr marL="90805" indent="-90805"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</a:pPr>
            <a:endParaRPr lang="en-US" altLang="zh-CN" sz="2800" b="0" dirty="0">
              <a:solidFill>
                <a:srgbClr val="40404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7" name="Text Box 4"/>
          <p:cNvSpPr txBox="1"/>
          <p:nvPr/>
        </p:nvSpPr>
        <p:spPr>
          <a:xfrm>
            <a:off x="1295400" y="3179763"/>
            <a:ext cx="6553200" cy="2397125"/>
          </a:xfrm>
          <a:prstGeom prst="rect">
            <a:avLst/>
          </a:prstGeom>
          <a:noFill/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    try{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            Socket socket=new Socket("127.0.0.1",1432); 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　　　　　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// 127.0.0.1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是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TCP/IP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协议中默认的本机地址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　　　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}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    catch(IOException e){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　　　　　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System.out.println("Error:"+e);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　　　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}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7891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37893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典型示例：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38" name="Rectangle 3"/>
          <p:cNvSpPr txBox="1">
            <a:spLocks noChangeArrowheads="1"/>
          </p:cNvSpPr>
          <p:nvPr/>
        </p:nvSpPr>
        <p:spPr>
          <a:xfrm>
            <a:off x="250825" y="1998663"/>
            <a:ext cx="8642350" cy="4387850"/>
          </a:xfrm>
          <a:prstGeom prst="rect">
            <a:avLst/>
          </a:prstGeom>
        </p:spPr>
        <p:txBody>
          <a:bodyPr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805" marR="0" lvl="0" indent="-90805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 创建服务器应用程序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382905" marR="0" lvl="1" indent="-18288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要创建服务器，你需要创建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ServerSocket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对象监听客户请求的特定端口。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382905" marR="0" lvl="1" indent="-18288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当它认出有效请求，服务器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Socket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获得客户创建的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Socket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对象。用这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Socket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产生位于服务器和客户机之间的通信。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90805" marR="0" lvl="0" indent="-90805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ServerSocket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类</a:t>
            </a:r>
            <a:endParaRPr kumimoji="0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382905" marR="0" lvl="1" indent="-18288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ServerSocket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类的构造函数带两个参数：第一个是端口号码；第二个参数表示可连接的最大数。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382905" marR="0" lvl="1" indent="-18288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ServerSocket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类提供如下方法：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567055" marR="0" lvl="2" indent="-18288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监听连接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567055" marR="0" lvl="2" indent="-18288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返回地址和本机端口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567055" marR="0" lvl="2" indent="-18288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返回表示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Socket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的串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Calibri" panose="020F0502020204030204" pitchFamily="34" charset="0"/>
              <a:buNone/>
              <a:defRPr/>
            </a:pP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9939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39941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典型示例：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39942" name="Rectangle 3"/>
          <p:cNvSpPr txBox="1"/>
          <p:nvPr/>
        </p:nvSpPr>
        <p:spPr>
          <a:xfrm>
            <a:off x="250825" y="1998663"/>
            <a:ext cx="8642350" cy="390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90805" indent="-90805"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 创建服务器应用程序</a:t>
            </a:r>
            <a:endParaRPr lang="en-US" altLang="zh-CN" sz="2800" b="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39943" name="Text Box 4"/>
          <p:cNvSpPr txBox="1"/>
          <p:nvPr/>
        </p:nvSpPr>
        <p:spPr>
          <a:xfrm>
            <a:off x="1727200" y="2708275"/>
            <a:ext cx="5689600" cy="2586038"/>
          </a:xfrm>
          <a:prstGeom prst="rect">
            <a:avLst/>
          </a:prstGeom>
          <a:noFill/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try {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    server = new ServerSocket(1432);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    //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创建一个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ServerSocket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在端口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1432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监听客户请求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} catch (Exception e) {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   System.out.println("can not listen to:" + e);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   //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出错，打印出错信息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} 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System.out.println("Server started…");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this.start();                //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启动线程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1987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1989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典型示例：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38" name="Rectangle 3"/>
          <p:cNvSpPr txBox="1">
            <a:spLocks noChangeArrowheads="1"/>
          </p:cNvSpPr>
          <p:nvPr/>
        </p:nvSpPr>
        <p:spPr>
          <a:xfrm>
            <a:off x="250825" y="1998663"/>
            <a:ext cx="8642350" cy="1430338"/>
          </a:xfrm>
          <a:prstGeom prst="rect">
            <a:avLst/>
          </a:prstGeom>
        </p:spPr>
        <p:txBody>
          <a:bodyPr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805" marR="0" lvl="0" indent="-90805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监听客户请求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ServerSocket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对象通过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accept()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方法来监听客户的请求，如果接收到客户的请求，则产生一个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Socket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对象，并继续执行后面的代码；如果没有接收到客户请求，则产生一个错误信息。 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</p:txBody>
      </p:sp>
      <p:sp>
        <p:nvSpPr>
          <p:cNvPr id="41991" name="Text Box 4"/>
          <p:cNvSpPr txBox="1"/>
          <p:nvPr/>
        </p:nvSpPr>
        <p:spPr>
          <a:xfrm>
            <a:off x="1852613" y="3429000"/>
            <a:ext cx="5599112" cy="3054350"/>
          </a:xfrm>
          <a:prstGeom prst="rect">
            <a:avLst/>
          </a:prstGeom>
          <a:noFill/>
          <a:ln w="12700" cap="sq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sv-SE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 socket = null;</a:t>
            </a:r>
            <a:endParaRPr lang="sv-SE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sv-SE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try {</a:t>
            </a:r>
            <a:endParaRPr lang="sv-SE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sv-SE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 socket = server.accept();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 // 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使用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accept()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阻塞等待客户请求，有客户请求到         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// 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来则产生一个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对象，并继续执行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} catch (Exception e) {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 System.out.println("can not listen to:" + e);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 //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出错，打印出错信息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}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4035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4037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典型示例：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38" name="Rectangle 3"/>
          <p:cNvSpPr txBox="1">
            <a:spLocks noChangeArrowheads="1"/>
          </p:cNvSpPr>
          <p:nvPr/>
        </p:nvSpPr>
        <p:spPr>
          <a:xfrm>
            <a:off x="250825" y="1998663"/>
            <a:ext cx="8642350" cy="1935163"/>
          </a:xfrm>
          <a:prstGeom prst="rect">
            <a:avLst/>
          </a:prstGeom>
        </p:spPr>
        <p:txBody>
          <a:bodyPr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805" marR="0" lvl="0" indent="-90805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服务器的输入和输出流 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Calibri" panose="020F0502020204030204" pitchFamily="34" charset="0"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服务器端用到了以下的输入和输出流：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382905" marR="0" lvl="1" indent="-182880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BufferedReader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对象用来表示从客户端输入到服务器的流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382905" marR="0" lvl="1" indent="-182880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PrintWriter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对象表示服务器端输出到客户端的流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382905" marR="0" lvl="1" indent="-182880" algn="l" defTabSz="9144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BufferedReader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对象表示从系统标准输入设备输入到服务器端的流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</p:txBody>
      </p:sp>
      <p:sp>
        <p:nvSpPr>
          <p:cNvPr id="44039" name="Text Box 4"/>
          <p:cNvSpPr txBox="1"/>
          <p:nvPr/>
        </p:nvSpPr>
        <p:spPr>
          <a:xfrm>
            <a:off x="179388" y="3836988"/>
            <a:ext cx="8785225" cy="303053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BufferedReader is = new BufferedReader(new InputStreamReader(socket.getInputStream()));</a:t>
            </a:r>
            <a:endParaRPr lang="en-US" altLang="zh-CN" b="0" dirty="0">
              <a:solidFill>
                <a:srgbClr val="00000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//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由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对象得到输入流，并构造相应的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BufferedReader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对象</a:t>
            </a:r>
            <a:endParaRPr lang="zh-CN" altLang="en-US" b="0" dirty="0">
              <a:solidFill>
                <a:srgbClr val="00000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PrintWriter os = new PrintWriter(socket.getOutputStream());</a:t>
            </a:r>
            <a:endParaRPr lang="en-US" altLang="zh-CN" b="0" dirty="0">
              <a:solidFill>
                <a:srgbClr val="00000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//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由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对象得到输出流，并构造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PrintWriter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对象</a:t>
            </a:r>
            <a:endParaRPr lang="zh-CN" altLang="en-US" b="0" dirty="0">
              <a:solidFill>
                <a:srgbClr val="00000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BufferedReader sin = new BufferedReader(new InputStreamReader(System.in));</a:t>
            </a:r>
            <a:endParaRPr lang="en-US" altLang="zh-CN" b="0" dirty="0">
              <a:solidFill>
                <a:srgbClr val="00000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//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由系统标准输入设备构造</a:t>
            </a: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BufferedReader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对象</a:t>
            </a:r>
            <a:endParaRPr lang="zh-CN" altLang="en-US" b="0" dirty="0">
              <a:solidFill>
                <a:srgbClr val="00000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{            </a:t>
            </a:r>
            <a:endParaRPr lang="en-US" altLang="zh-CN" b="0" dirty="0">
              <a:solidFill>
                <a:srgbClr val="00000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        new Server();</a:t>
            </a:r>
            <a:endParaRPr lang="en-US" altLang="zh-CN" b="0" dirty="0">
              <a:solidFill>
                <a:srgbClr val="00000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}</a:t>
            </a:r>
            <a:r>
              <a:rPr lang="zh-CN" altLang="en-US" b="0" dirty="0">
                <a:solidFill>
                  <a:srgbClr val="0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　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　</a:t>
            </a:r>
            <a:r>
              <a:rPr lang="zh-CN" altLang="en-US" sz="1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　　　</a:t>
            </a:r>
            <a:r>
              <a:rPr lang="zh-CN" altLang="en-US" sz="1000" dirty="0">
                <a:latin typeface="Times New Roman" panose="02020603050405020304" pitchFamily="18" charset="0"/>
              </a:rPr>
              <a:t>　　　　　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6083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6085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典型示例：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46086" name="Rectangle 3"/>
          <p:cNvSpPr txBox="1"/>
          <p:nvPr/>
        </p:nvSpPr>
        <p:spPr>
          <a:xfrm>
            <a:off x="250825" y="1998663"/>
            <a:ext cx="8642350" cy="25828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90805" indent="-90805"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完整的服务器程序</a:t>
            </a:r>
            <a:endParaRPr lang="en-US" altLang="zh-CN" sz="200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382905" lvl="1" indent="-182880" algn="just" ea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服务器程序创建了一个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BufferedReader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对象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(is)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和一个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PrintStream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对象（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os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）。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is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使用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getInputStream()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方法检索客户端的输入；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os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使用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getOutputStream()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方法使得服务器可以把输出写到客户端。这样一来，就开始了双向通信。</a:t>
            </a:r>
            <a:endParaRPr lang="en-US" altLang="zh-CN" b="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382905" lvl="1" indent="-182880" algn="just" ea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当客户连接到服务器时，服务器在标准输出上打印从客户端读入的字符串，然后由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BufferedReader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对象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sin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的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readline()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方法从标准输入读入一字符串，并发送到客户端程序。当有一方输入“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bye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”时，通信结束。</a:t>
            </a:r>
            <a:endParaRPr lang="en-US" altLang="zh-CN" b="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382905" lvl="1" indent="-182880" algn="just" ea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到了结束的时候，服务器中断循环。关闭客户套接字。关闭套接字很重要，如果让连接开着，很快就将耗尽服务器的内存。  </a:t>
            </a:r>
            <a:endParaRPr lang="zh-CN" altLang="en-US" b="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48131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48133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典型示例：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250825" y="1998663"/>
            <a:ext cx="8642350" cy="2798763"/>
          </a:xfrm>
          <a:prstGeom prst="rect">
            <a:avLst/>
          </a:prstGeom>
        </p:spPr>
        <p:txBody>
          <a:bodyPr/>
          <a:lstStyle>
            <a:lvl1pPr marL="90805" indent="-90805" algn="l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38290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567055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74930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932180" indent="-182880" algn="l" rtl="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805" marR="0" lvl="0" indent="-90805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华文仿宋" panose="02010600040101010101" pitchFamily="2" charset="-122"/>
                <a:ea typeface="华文仿宋" panose="02010600040101010101" pitchFamily="2" charset="-122"/>
                <a:cs typeface="+mn-cs"/>
                <a:sym typeface="+mn-ea"/>
              </a:rPr>
              <a:t>创建服务器应用程序所用的类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华文仿宋" panose="02010600040101010101" pitchFamily="2" charset="-122"/>
              <a:ea typeface="华文仿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alibri" panose="020F0502020204030204" pitchFamily="34" charset="0"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ObjectInputStream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类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90805" marR="0" lvl="0" indent="-90805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ObjectInputStream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类中包含从持久的存储介质中读出类的对象的功能。持久的存储介质可以是磁盘或套接字。 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90805" marR="0" lvl="0" indent="-90805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这由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ObjectInputStream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类的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readObject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()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方法来完成。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readObject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()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方法的语法如下：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382905" marR="0" lvl="1" indent="-18288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FileInputStream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fp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=new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FileInputStream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(“data.txt”);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382905" marR="0" lvl="1" indent="-18288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ObjectInputStream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istream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= new ObjectInputStream(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fp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);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382905" marR="0" lvl="1" indent="-182880" algn="l" defTabSz="914400" rtl="0" eaLnBrk="1" fontAlgn="base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Date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date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= (Date)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istream.readObject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();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0179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50181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一般步骤：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50182" name="Rectangle 3"/>
          <p:cNvSpPr txBox="1"/>
          <p:nvPr/>
        </p:nvSpPr>
        <p:spPr>
          <a:xfrm>
            <a:off x="250825" y="1998663"/>
            <a:ext cx="8642350" cy="2654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步骤</a:t>
            </a:r>
            <a:r>
              <a:rPr lang="en-US" altLang="zh-CN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</a:t>
            </a: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：选择创建网络服务器应用程序所需的类和方法。</a:t>
            </a:r>
            <a:endParaRPr lang="zh-CN" altLang="en-US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步骤</a:t>
            </a:r>
            <a:r>
              <a:rPr lang="en-US" altLang="zh-CN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：确定用户定义的类，它们的目的，方法。</a:t>
            </a:r>
            <a:endParaRPr lang="zh-CN" altLang="en-US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步骤</a:t>
            </a:r>
            <a:r>
              <a:rPr lang="en-US" altLang="zh-CN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3</a:t>
            </a: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：确定用户定义的类中的数据类型和变量。</a:t>
            </a:r>
            <a:endParaRPr lang="zh-CN" altLang="en-US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步骤</a:t>
            </a:r>
            <a:r>
              <a:rPr lang="en-US" altLang="zh-CN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4</a:t>
            </a: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：确定服务器的</a:t>
            </a:r>
            <a:r>
              <a:rPr lang="en-US" altLang="zh-CN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IP</a:t>
            </a: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地址和端口号。</a:t>
            </a:r>
            <a:endParaRPr lang="zh-CN" altLang="en-US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步骤</a:t>
            </a:r>
            <a:r>
              <a:rPr lang="en-US" altLang="zh-CN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5</a:t>
            </a: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：确定查询参数。</a:t>
            </a:r>
            <a:endParaRPr lang="zh-CN" altLang="en-US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步骤</a:t>
            </a:r>
            <a:r>
              <a:rPr lang="en-US" altLang="zh-CN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6</a:t>
            </a: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：确定要处理的异常。</a:t>
            </a:r>
            <a:endParaRPr lang="zh-CN" altLang="en-US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步骤</a:t>
            </a:r>
            <a:r>
              <a:rPr lang="en-US" altLang="zh-CN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7</a:t>
            </a:r>
            <a:r>
              <a:rPr lang="zh-CN" altLang="en-US" sz="2000" b="0" dirty="0">
                <a:solidFill>
                  <a:srgbClr val="40404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：确定异常的出错信息。</a:t>
            </a:r>
            <a:endParaRPr lang="en-US" altLang="zh-CN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2227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52229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数据报通讯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(UDP)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52230" name="Rectangle 3"/>
          <p:cNvSpPr txBox="1"/>
          <p:nvPr/>
        </p:nvSpPr>
        <p:spPr>
          <a:xfrm>
            <a:off x="250825" y="1998663"/>
            <a:ext cx="8642350" cy="2654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endParaRPr lang="en-US" altLang="zh-CN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52231" name="Text Box 2"/>
          <p:cNvSpPr txBox="1"/>
          <p:nvPr/>
        </p:nvSpPr>
        <p:spPr>
          <a:xfrm>
            <a:off x="249238" y="2025650"/>
            <a:ext cx="8640762" cy="3370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sz="2000" dirty="0">
                <a:latin typeface="Times New Roman" panose="02020603050405020304" pitchFamily="18" charset="0"/>
                <a:ea typeface="华文仿宋" panose="02010600040101010101" pitchFamily="2" charset="-122"/>
              </a:rPr>
              <a:t>1</a:t>
            </a:r>
            <a:r>
              <a:rPr lang="zh-CN" altLang="en-US" sz="2000" dirty="0">
                <a:latin typeface="Times New Roman" panose="02020603050405020304" pitchFamily="18" charset="0"/>
                <a:ea typeface="华文仿宋" panose="02010600040101010101" pitchFamily="2" charset="-122"/>
              </a:rPr>
              <a:t>、概述</a:t>
            </a:r>
            <a:endParaRPr lang="zh-CN" altLang="en-US" sz="20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   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UDP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通信是一种无连接的数据报通信。使用该协议，两个程序进行通信时不用建立连接；数据以独立的包为单位发送，包的容量限定在</a:t>
            </a:r>
            <a:r>
              <a:rPr lang="en-US" altLang="zh-CN" b="0" u="sng" dirty="0">
                <a:solidFill>
                  <a:srgbClr val="C0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64KB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以内；每个数据报需要有完整的收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发地址，可以随时进行收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/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发数据报，但不保证传送顺序和内容准确；数据报可能会被丢失、延误等。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UDP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通信是不可靠的通信，但通信速度较快，常常被应用在某些要求实时交互，准确性要求不高，但传输速度要求较高的场合。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     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Java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中，基于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UDP</a:t>
            </a: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协议实现网络通信的类有三个：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用于表示通信数据的数据报类：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DatagramPacket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用于进行端到端通信的类：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DatagramSocket</a:t>
            </a:r>
            <a:endParaRPr lang="en-US" altLang="zh-CN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marL="742950" lvl="1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用于广播通信的类：</a:t>
            </a:r>
            <a:r>
              <a:rPr lang="en-US" altLang="zh-CN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MulticastSocket</a:t>
            </a:r>
            <a:endParaRPr lang="zh-CN" altLang="en-US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grpSp>
        <p:nvGrpSpPr>
          <p:cNvPr id="52232" name="Group 13"/>
          <p:cNvGrpSpPr/>
          <p:nvPr/>
        </p:nvGrpSpPr>
        <p:grpSpPr>
          <a:xfrm>
            <a:off x="460375" y="5395913"/>
            <a:ext cx="8218488" cy="865187"/>
            <a:chOff x="288" y="3727"/>
            <a:chExt cx="5177" cy="545"/>
          </a:xfrm>
        </p:grpSpPr>
        <p:sp>
          <p:nvSpPr>
            <p:cNvPr id="52233" name="Rectangle 4"/>
            <p:cNvSpPr/>
            <p:nvPr/>
          </p:nvSpPr>
          <p:spPr>
            <a:xfrm>
              <a:off x="960" y="3978"/>
              <a:ext cx="3888" cy="288"/>
            </a:xfrm>
            <a:prstGeom prst="rect">
              <a:avLst/>
            </a:prstGeom>
            <a:solidFill>
              <a:srgbClr val="FF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34" name="Rectangle 5"/>
            <p:cNvSpPr/>
            <p:nvPr/>
          </p:nvSpPr>
          <p:spPr>
            <a:xfrm>
              <a:off x="1160" y="4026"/>
              <a:ext cx="521" cy="19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35" name="Rectangle 6"/>
            <p:cNvSpPr/>
            <p:nvPr/>
          </p:nvSpPr>
          <p:spPr>
            <a:xfrm>
              <a:off x="2804" y="4026"/>
              <a:ext cx="521" cy="19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36" name="Rectangle 7"/>
            <p:cNvSpPr/>
            <p:nvPr/>
          </p:nvSpPr>
          <p:spPr>
            <a:xfrm>
              <a:off x="3485" y="4026"/>
              <a:ext cx="521" cy="19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37" name="Rectangle 8"/>
            <p:cNvSpPr/>
            <p:nvPr/>
          </p:nvSpPr>
          <p:spPr>
            <a:xfrm>
              <a:off x="4207" y="4026"/>
              <a:ext cx="521" cy="19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38" name="Rectangle 9"/>
            <p:cNvSpPr/>
            <p:nvPr/>
          </p:nvSpPr>
          <p:spPr>
            <a:xfrm>
              <a:off x="2002" y="4026"/>
              <a:ext cx="521" cy="19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39" name="Text Box 10"/>
            <p:cNvSpPr txBox="1"/>
            <p:nvPr/>
          </p:nvSpPr>
          <p:spPr>
            <a:xfrm>
              <a:off x="2352" y="3727"/>
              <a:ext cx="78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dirty="0">
                  <a:latin typeface="Times New Roman" panose="02020603050405020304" pitchFamily="18" charset="0"/>
                </a:rPr>
                <a:t>datagram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52240" name="Text Box 11"/>
            <p:cNvSpPr txBox="1"/>
            <p:nvPr/>
          </p:nvSpPr>
          <p:spPr>
            <a:xfrm>
              <a:off x="288" y="3978"/>
              <a:ext cx="633" cy="29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server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2241" name="Text Box 12"/>
            <p:cNvSpPr txBox="1"/>
            <p:nvPr/>
          </p:nvSpPr>
          <p:spPr>
            <a:xfrm>
              <a:off x="4896" y="3978"/>
              <a:ext cx="569" cy="29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Times New Roman" panose="02020603050405020304" pitchFamily="18" charset="0"/>
                </a:rPr>
                <a:t>client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4275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54277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数据报通讯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(UDP)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54278" name="Rectangle 3"/>
          <p:cNvSpPr txBox="1"/>
          <p:nvPr/>
        </p:nvSpPr>
        <p:spPr>
          <a:xfrm>
            <a:off x="250825" y="1998663"/>
            <a:ext cx="8642350" cy="2654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endParaRPr lang="en-US" altLang="zh-CN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249238" y="2025650"/>
            <a:ext cx="8640763" cy="42370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、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UDP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通信基本模式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将数据打包，发往目的地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接受别人发来的数据包，察看数据包内容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2.1 </a:t>
            </a:r>
            <a:r>
              <a:rPr kumimoji="0" lang="zh-CN" altLang="en-US" sz="2000" b="1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发送数据包</a:t>
            </a:r>
            <a:endParaRPr kumimoji="0" lang="en-US" altLang="zh-CN" sz="2000" b="1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1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）用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DatagramPacket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类将数据打包，即创建数据包对象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DatagramPacket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(byte data[], int length,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InetAddtress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address,int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port)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注：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Address: </a:t>
            </a:r>
            <a:r>
              <a:rPr kumimoji="0" lang="zh-CN" alt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目标主机地址    </a:t>
            </a:r>
            <a:r>
              <a:rPr kumimoji="0" lang="en-US" altLang="zh-CN" sz="1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Port:</a:t>
            </a:r>
            <a:r>
              <a:rPr kumimoji="0" lang="zh-CN" altLang="en-US" sz="1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目标主机端口</a:t>
            </a:r>
            <a:endParaRPr kumimoji="0" lang="en-US" altLang="zh-CN" sz="18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示例：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byte data[]=“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近来好吗”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.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getByte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();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InetAddress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address=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inetAddress.getByname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(www.sina.com.cn);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    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DatagramPacket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data_pack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=new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DatagramPacket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(data,data.length,address,980);                                                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注：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data_pack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常用方法：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Public int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getPort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();   public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InetAddress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getAddress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();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       Public byte[]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getData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仿宋" panose="02010600040101010101" pitchFamily="2" charset="-122"/>
                <a:cs typeface="+mn-cs"/>
                <a:sym typeface="+mn-ea"/>
              </a:rPr>
              <a:t>();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仿宋" panose="0201060004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6323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56325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数据报通讯</a:t>
            </a:r>
            <a:r>
              <a:rPr lang="en-US" altLang="zh-CN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(UDP)</a:t>
            </a:r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56326" name="Rectangle 3"/>
          <p:cNvSpPr txBox="1"/>
          <p:nvPr/>
        </p:nvSpPr>
        <p:spPr>
          <a:xfrm>
            <a:off x="250825" y="1998663"/>
            <a:ext cx="8642350" cy="2654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endParaRPr lang="en-US" altLang="zh-CN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56327" name="Text Box 2"/>
          <p:cNvSpPr txBox="1"/>
          <p:nvPr/>
        </p:nvSpPr>
        <p:spPr>
          <a:xfrm>
            <a:off x="249238" y="2025650"/>
            <a:ext cx="8640762" cy="3752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华文仿宋" panose="02010600040101010101" pitchFamily="2" charset="-122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）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用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DatagramSocket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类的构造方法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DatagramSocket()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创建一个对象，该对象负责发送数据包。例：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DatagramSocket mail_out=new DatagramSocket();</a:t>
            </a:r>
            <a:endParaRPr lang="en-US" altLang="zh-CN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Mail_out.send(data_pack);</a:t>
            </a:r>
            <a:endParaRPr lang="en-US" altLang="zh-CN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2.2 </a:t>
            </a:r>
            <a:r>
              <a:rPr lang="zh-CN" altLang="en-US" sz="2000" u="sng" dirty="0">
                <a:latin typeface="Times New Roman" panose="02020603050405020304" pitchFamily="18" charset="0"/>
                <a:ea typeface="华文仿宋" panose="02010600040101010101" pitchFamily="2" charset="-122"/>
              </a:rPr>
              <a:t>接收数据包</a:t>
            </a:r>
            <a:endParaRPr lang="en-US" altLang="zh-CN" sz="2000" u="sng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DatagramSocket mail_in=new DatagramSocket(int port);</a:t>
            </a:r>
            <a:endParaRPr lang="en-US" altLang="zh-CN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注意：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mail_in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的主要方法：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Receive(DatagramPacket pack)                      //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接收数据包给</a:t>
            </a: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pack, </a:t>
            </a:r>
            <a:r>
              <a:rPr lang="zh-CN" altLang="en-US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例如：</a:t>
            </a:r>
            <a:endParaRPr lang="zh-CN" altLang="en-US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DatagramPacket pack=new DatagramPacket(data,length)</a:t>
            </a:r>
            <a:endParaRPr lang="en-US" altLang="zh-CN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Mail_in.receive(pack); </a:t>
            </a:r>
            <a:endParaRPr lang="en-US" altLang="zh-CN" sz="20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58371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58373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实验内容与要求：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58374" name="Rectangle 3"/>
          <p:cNvSpPr txBox="1"/>
          <p:nvPr/>
        </p:nvSpPr>
        <p:spPr>
          <a:xfrm>
            <a:off x="250825" y="1998663"/>
            <a:ext cx="8642350" cy="21510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endParaRPr lang="en-US" altLang="zh-CN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58375" name="Rectangle 6"/>
          <p:cNvSpPr txBox="1"/>
          <p:nvPr/>
        </p:nvSpPr>
        <p:spPr>
          <a:xfrm>
            <a:off x="250825" y="1998663"/>
            <a:ext cx="8642350" cy="38782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1. 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编写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程序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实现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客户端、服务器之间的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通信</a:t>
            </a:r>
            <a:endParaRPr lang="zh-CN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en-US" altLang="zh-CN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1.1 </a:t>
            </a:r>
            <a:r>
              <a:rPr lang="zh-CN" altLang="en-US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基本内容（</a:t>
            </a:r>
            <a:r>
              <a:rPr lang="en-US" altLang="zh-CN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90%</a:t>
            </a:r>
            <a:r>
              <a:rPr lang="zh-CN" altLang="en-US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</a:t>
            </a:r>
            <a:endParaRPr lang="en-US" altLang="zh-CN" sz="2000" u="sng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功能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：（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1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指令交互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：</a:t>
            </a:r>
            <a:r>
              <a:rPr lang="zh-CN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客户端向服务器端发送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Time</a:t>
            </a:r>
            <a:r>
              <a:rPr lang="zh-CN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命令，服务器端接受到该字符串后将服务器端当前时间返回给客户端；客户端向服务器端发送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Exit</a:t>
            </a:r>
            <a:r>
              <a:rPr lang="zh-CN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命令，服务器端向客户端返回“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Bye</a:t>
            </a:r>
            <a:r>
              <a:rPr lang="zh-CN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”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后关闭连接退出程序；（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2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文件传输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：客户端向服务器端发送文件请求，服务器端接收到请求后，先向其传输文件名，当客户端接收后，再向客户端传输文件。客户端接收文件，并对其改名（文件名可自行定义）和存在本地。</a:t>
            </a:r>
            <a:endParaRPr lang="en-US" altLang="zh-CN" sz="2000" b="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要求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：（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1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</a:t>
            </a:r>
            <a:r>
              <a:rPr lang="zh-CN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编写完整程序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包含</a:t>
            </a:r>
            <a:r>
              <a:rPr lang="zh-CN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服务器端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程序和客户端程序；（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2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）服务器端能够持续监听客户端的请求；（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3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）关闭服务器时，请严格按照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四次挥手的流程来实现；（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3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</a:t>
            </a:r>
            <a:r>
              <a:rPr lang="zh-CN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服务器端和客户端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均需</a:t>
            </a:r>
            <a:r>
              <a:rPr lang="zh-CN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打印出接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收</a:t>
            </a:r>
            <a:r>
              <a:rPr lang="zh-CN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到的消息和发出的命令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。</a:t>
            </a:r>
            <a:endParaRPr lang="en-US" altLang="zh-CN" sz="2000" b="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0419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60421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实验内容与要求（续）：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60422" name="Rectangle 3"/>
          <p:cNvSpPr txBox="1"/>
          <p:nvPr/>
        </p:nvSpPr>
        <p:spPr>
          <a:xfrm>
            <a:off x="250825" y="1998663"/>
            <a:ext cx="8642350" cy="21510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endParaRPr lang="en-US" altLang="zh-CN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60423" name="Rectangle 6"/>
          <p:cNvSpPr txBox="1"/>
          <p:nvPr/>
        </p:nvSpPr>
        <p:spPr>
          <a:xfrm>
            <a:off x="250825" y="1998663"/>
            <a:ext cx="8642350" cy="3014662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1. 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编写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程序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实现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客户端、服务器之间的</a:t>
            </a:r>
            <a:r>
              <a:rPr lang="zh-CN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通信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（续）</a:t>
            </a:r>
            <a:endParaRPr lang="zh-CN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en-US" altLang="zh-CN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1.2 </a:t>
            </a:r>
            <a:r>
              <a:rPr lang="zh-CN" altLang="en-US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进阶拓展（</a:t>
            </a:r>
            <a:r>
              <a:rPr lang="en-US" altLang="zh-CN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10%</a:t>
            </a:r>
            <a:r>
              <a:rPr lang="zh-CN" altLang="en-US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</a:t>
            </a:r>
            <a:endParaRPr lang="en-US" altLang="zh-CN" sz="2000" u="sng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</a:pP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功能：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（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1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在服务器端存储一个包含学生学号、姓名、性别信息的数据库，客户端每次发送一个学生学号给服务器，服务器则返回对应该学号的学生姓名和性别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（提示：需要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解决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粘包问题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）；（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2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）实现图片、音频、视频等任意文件格式的传输等；（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3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）在移动端基于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Android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或者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iOS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开发整个项目；（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4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）请查阅并学习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网络数据大小端问题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的相关资料，并在你所设计的程序中解决该问题；（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5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）其它自定义高级功能或者高阶实现方式。</a:t>
            </a:r>
            <a:endParaRPr lang="en-US" altLang="zh-CN" sz="2000" b="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以上各项占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5%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，可叠加，超过三项增益减半</a:t>
            </a:r>
            <a:endParaRPr lang="en-US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2467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62469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实验内容与要求（续）：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62470" name="Rectangle 3"/>
          <p:cNvSpPr txBox="1"/>
          <p:nvPr/>
        </p:nvSpPr>
        <p:spPr>
          <a:xfrm>
            <a:off x="250825" y="1998663"/>
            <a:ext cx="8642350" cy="26543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endParaRPr lang="en-US" altLang="zh-CN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62471" name="Rectangle 6"/>
          <p:cNvSpPr txBox="1"/>
          <p:nvPr/>
        </p:nvSpPr>
        <p:spPr>
          <a:xfrm>
            <a:off x="250825" y="1998663"/>
            <a:ext cx="8642350" cy="44545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2. 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编写一个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UDP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程序，实现不同客户端之间的聊天功能</a:t>
            </a:r>
            <a:endParaRPr lang="en-US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en-US" altLang="zh-CN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2.1 </a:t>
            </a:r>
            <a:r>
              <a:rPr lang="zh-CN" altLang="en-US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基本内容（</a:t>
            </a:r>
            <a:r>
              <a:rPr lang="en-US" altLang="zh-CN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85%</a:t>
            </a:r>
            <a:r>
              <a:rPr lang="zh-CN" altLang="en-US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</a:t>
            </a:r>
            <a:endParaRPr lang="zh-CN" altLang="zh-CN" sz="2000" u="sng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功能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：参考微信或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QQ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聊天，包含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聊天内容区域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和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输入文本区域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，分别为当前聊天的历史信息和当前要传送出去的聊天文本。通过设计合适的功能按钮，实现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确定发送当前输入文本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、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删除当前输入文本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以及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退出聊天系统的功能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。</a:t>
            </a:r>
            <a:endParaRPr lang="zh-CN" altLang="en-US" sz="2000" b="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要求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：（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1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</a:t>
            </a:r>
            <a:r>
              <a:rPr lang="zh-CN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编写完整程序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包含</a:t>
            </a:r>
            <a:r>
              <a:rPr lang="zh-CN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一个服务器端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程序和多个客户端程序（不同客户端代码几乎一样），使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多个客户端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之间可以彼此通信聊天（类同微信、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QQ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）；（</a:t>
            </a:r>
            <a:r>
              <a:rPr lang="en-US" altLang="zh-CN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2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）客户端之间能够借助用户设计的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UI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界面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显示聊天交互过程，并包含上述所有功能</a:t>
            </a:r>
            <a:endParaRPr lang="en-US" altLang="zh-CN" sz="2000" b="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en-US" altLang="zh-CN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2.2 </a:t>
            </a:r>
            <a:r>
              <a:rPr lang="zh-CN" altLang="en-US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进阶拓展（</a:t>
            </a:r>
            <a:r>
              <a:rPr lang="en-US" altLang="zh-CN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10%</a:t>
            </a:r>
            <a:r>
              <a:rPr lang="zh-CN" altLang="en-US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</a:t>
            </a:r>
            <a:endParaRPr lang="en-US" altLang="zh-CN" sz="2000" u="sng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额外功能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群聊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、发表情、聊天记录搜索、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收发文件（含文本、图片、音频）、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消息限时撤回、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UI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界面的美化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等。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各项占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5%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，可叠加，超过三项增益减半</a:t>
            </a:r>
            <a:endParaRPr lang="en-US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4515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54325" y="765175"/>
            <a:ext cx="3681413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实验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4-2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Socket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编程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64517" name="文本框 7"/>
          <p:cNvSpPr txBox="1"/>
          <p:nvPr/>
        </p:nvSpPr>
        <p:spPr>
          <a:xfrm>
            <a:off x="250825" y="1412875"/>
            <a:ext cx="864235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24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实验内容与要求（续）：</a:t>
            </a:r>
            <a:endParaRPr lang="zh-CN" altLang="en-US" sz="24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sp>
        <p:nvSpPr>
          <p:cNvPr id="64518" name="Rectangle 3"/>
          <p:cNvSpPr txBox="1"/>
          <p:nvPr/>
        </p:nvSpPr>
        <p:spPr>
          <a:xfrm>
            <a:off x="250825" y="1998663"/>
            <a:ext cx="8642350" cy="164623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90805" indent="-90805" eaLnBrk="1" hangingPunct="1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</a:pPr>
            <a:endParaRPr lang="en-US" altLang="zh-CN" sz="2000" b="0" dirty="0">
              <a:solidFill>
                <a:srgbClr val="404040"/>
              </a:solidFill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  <p:sp>
        <p:nvSpPr>
          <p:cNvPr id="64519" name="Rectangle 6"/>
          <p:cNvSpPr txBox="1"/>
          <p:nvPr/>
        </p:nvSpPr>
        <p:spPr>
          <a:xfrm>
            <a:off x="250825" y="1998663"/>
            <a:ext cx="8642350" cy="33750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2. 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编写一个</a:t>
            </a:r>
            <a:r>
              <a:rPr lang="en-US" altLang="zh-CN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UDP</a:t>
            </a: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程序，实现不同客户端之间的聊天功能</a:t>
            </a:r>
            <a:endParaRPr lang="en-US" altLang="zh-CN" sz="200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en-US" altLang="zh-CN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2.3 </a:t>
            </a:r>
            <a:r>
              <a:rPr lang="zh-CN" altLang="en-US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高阶玩家（</a:t>
            </a:r>
            <a:r>
              <a:rPr lang="en-US" altLang="zh-CN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5%</a:t>
            </a:r>
            <a:r>
              <a:rPr lang="zh-CN" altLang="en-US" sz="2000" u="sng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）</a:t>
            </a:r>
            <a:endParaRPr lang="zh-CN" altLang="zh-CN" sz="2000" u="sng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zh-CN" altLang="en-US" sz="200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功能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：实现即时音视频通话、对战类游戏（如下棋）集成、在移动端实现完整项目等高级功能与实现。</a:t>
            </a:r>
            <a:r>
              <a:rPr lang="zh-CN" altLang="en-US" sz="2000" dirty="0">
                <a:latin typeface="Times New Roman" panose="02020603050405020304" pitchFamily="18" charset="0"/>
                <a:ea typeface="华文仿宋" panose="02010600040101010101" pitchFamily="2" charset="-122"/>
              </a:rPr>
              <a:t>每项各占</a:t>
            </a:r>
            <a:r>
              <a:rPr lang="en-US" altLang="zh-CN" sz="2000" dirty="0">
                <a:latin typeface="Times New Roman" panose="02020603050405020304" pitchFamily="18" charset="0"/>
                <a:ea typeface="华文仿宋" panose="02010600040101010101" pitchFamily="2" charset="-122"/>
              </a:rPr>
              <a:t>5%</a:t>
            </a:r>
            <a:r>
              <a:rPr lang="zh-CN" altLang="en-US" sz="200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，可以叠加、上不封底</a:t>
            </a:r>
            <a:r>
              <a:rPr lang="zh-CN" altLang="en-US" sz="2000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。</a:t>
            </a:r>
            <a:endParaRPr lang="en-US" altLang="zh-CN" sz="2000" b="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endParaRPr lang="en-US" altLang="zh-CN" sz="2000" b="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zh-CN" altLang="en-US" sz="2000" dirty="0">
                <a:latin typeface="Times New Roman" panose="02020603050405020304" pitchFamily="18" charset="0"/>
                <a:ea typeface="华文仿宋" panose="02010600040101010101" pitchFamily="2" charset="-122"/>
              </a:rPr>
              <a:t>参考资料：</a:t>
            </a:r>
            <a:endParaRPr lang="en-US" altLang="zh-CN" sz="200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[1] Elliotte Rusty Harold 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著，李帅等 译，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Java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网络编程（第四版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)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，中国电力出版社</a:t>
            </a:r>
            <a:endParaRPr lang="zh-CN" altLang="en-US" b="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ea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</a:pP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[2] Brandon Rhodes 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著，诸豪文 译，</a:t>
            </a:r>
            <a:r>
              <a:rPr lang="en-US" altLang="zh-CN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Python</a:t>
            </a:r>
            <a:r>
              <a:rPr lang="zh-CN" altLang="en-US" b="0" dirty="0">
                <a:solidFill>
                  <a:srgbClr val="40404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网路编程（第三版），人民邮电出版社</a:t>
            </a:r>
            <a:endParaRPr lang="zh-CN" altLang="en-US" b="0" dirty="0">
              <a:solidFill>
                <a:srgbClr val="40404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  <p:pic>
        <p:nvPicPr>
          <p:cNvPr id="64520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8038" y="5373688"/>
            <a:ext cx="960437" cy="12636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21" name="Picture 4" descr="Python网络编程第三版》随书源码_web_211xun的博客-CSDN博客_python网络编程第三版源代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525" y="5373688"/>
            <a:ext cx="1069975" cy="12636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AutoShape 6" descr="“计算机网络 词云”的图片搜索结果"/>
          <p:cNvSpPr>
            <a:spLocks noChangeAspect="1"/>
          </p:cNvSpPr>
          <p:nvPr/>
        </p:nvSpPr>
        <p:spPr>
          <a:xfrm>
            <a:off x="155575" y="-144462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6563" name="AutoShape 12" descr="“计算机网络 词云”的图片搜索结果"/>
          <p:cNvSpPr>
            <a:spLocks noChangeAspect="1"/>
          </p:cNvSpPr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84438" y="765175"/>
            <a:ext cx="4133850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企业面试所涉及本章内容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2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66565" name="文本框 7"/>
          <p:cNvSpPr txBox="1"/>
          <p:nvPr/>
        </p:nvSpPr>
        <p:spPr>
          <a:xfrm>
            <a:off x="250825" y="1412875"/>
            <a:ext cx="8642350" cy="48625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Q1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：请你来说一下</a:t>
            </a: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编程中服务器端和客户端主要用到哪些函数</a:t>
            </a:r>
            <a:endParaRPr lang="en-US" altLang="zh-CN" sz="24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Q2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：建立</a:t>
            </a: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服务器的各个系统调用过程是怎样的？</a:t>
            </a:r>
            <a:endParaRPr lang="en-US" altLang="zh-CN" sz="24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Q3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：请说明客户端和服务端建立</a:t>
            </a: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连接的过程以及相关方法名</a:t>
            </a:r>
            <a:endParaRPr lang="en-US" altLang="zh-CN" sz="24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Q4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：请解释什么是</a:t>
            </a: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TCP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粘包，以及如何解决该问题？</a:t>
            </a:r>
            <a:endParaRPr lang="en-US" altLang="zh-CN" sz="24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Q5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：阻塞</a:t>
            </a: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和非阻塞</a:t>
            </a: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的区别？</a:t>
            </a:r>
            <a:endParaRPr lang="en-US" altLang="zh-CN" sz="24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Q6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：</a:t>
            </a: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发送速度过快会发什么？</a:t>
            </a:r>
            <a:endParaRPr lang="en-US" altLang="zh-CN" sz="24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Q7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：</a:t>
            </a: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socket api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详细说</a:t>
            </a: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Bind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绑定哪些信息，可以不</a:t>
            </a:r>
            <a:r>
              <a:rPr lang="en-US" altLang="zh-CN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bind</a:t>
            </a:r>
            <a:r>
              <a:rPr lang="zh-CN" altLang="en-US" sz="2400" b="0" dirty="0">
                <a:latin typeface="Times New Roman" panose="02020603050405020304" pitchFamily="18" charset="0"/>
                <a:ea typeface="华文仿宋" panose="02010600040101010101" pitchFamily="2" charset="-122"/>
              </a:rPr>
              <a:t>吗？</a:t>
            </a:r>
            <a:endParaRPr lang="en-US" altLang="zh-CN" sz="2400" b="0" dirty="0">
              <a:latin typeface="Times New Roman" panose="02020603050405020304" pitchFamily="18" charset="0"/>
              <a:ea typeface="华文仿宋" panose="02010600040101010101" pitchFamily="2" charset="-122"/>
            </a:endParaRP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仿宋" panose="02010600040101010101" pitchFamily="2" charset="-122"/>
              </a:rPr>
              <a:t>以上问题仅供大家参考，在实验报告中无需回答！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回顾">
  <a:themeElements>
    <a:clrScheme name="自定义 12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C0D8F1"/>
      </a:accent1>
      <a:accent2>
        <a:srgbClr val="C0D8F1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回顾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8950</Words>
  <Application>WPS 演示</Application>
  <PresentationFormat>全屏显示(4:3)</PresentationFormat>
  <Paragraphs>423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9" baseType="lpstr">
      <vt:lpstr>Arial</vt:lpstr>
      <vt:lpstr>宋体</vt:lpstr>
      <vt:lpstr>Wingdings</vt:lpstr>
      <vt:lpstr>Calibri Light</vt:lpstr>
      <vt:lpstr>Calibri</vt:lpstr>
      <vt:lpstr>等线</vt:lpstr>
      <vt:lpstr>Times New Roman</vt:lpstr>
      <vt:lpstr>+mn-ea</vt:lpstr>
      <vt:lpstr>Segoe Print</vt:lpstr>
      <vt:lpstr>华文仿宋</vt:lpstr>
      <vt:lpstr>楷体_GB2312</vt:lpstr>
      <vt:lpstr>新宋体</vt:lpstr>
      <vt:lpstr>PMingLiU</vt:lpstr>
      <vt:lpstr>MingLiU-ExtB</vt:lpstr>
      <vt:lpstr>隶书</vt:lpstr>
      <vt:lpstr>微软雅黑</vt:lpstr>
      <vt:lpstr>Arial Unicode MS</vt:lpstr>
      <vt:lpstr>回顾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杨韩冰</cp:lastModifiedBy>
  <cp:revision>94</cp:revision>
  <dcterms:created xsi:type="dcterms:W3CDTF">2025-04-22T03:19:24Z</dcterms:created>
  <dcterms:modified xsi:type="dcterms:W3CDTF">2025-04-22T15:04:08Z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6BB3130061144462A65192DE2482BD07_12</vt:lpwstr>
  </property>
  <property fmtid="{D5CDD505-2E9C-101B-9397-08002B2CF9AE}" pid="3" name="KSOProductBuildVer">
    <vt:lpwstr>2052-12.1.0.20305</vt:lpwstr>
  </property>
</Properties>
</file>