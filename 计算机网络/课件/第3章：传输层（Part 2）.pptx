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312" r:id="rId6"/>
    <p:sldId id="313" r:id="rId7"/>
    <p:sldId id="283" r:id="rId8"/>
    <p:sldId id="284" r:id="rId9"/>
    <p:sldId id="285" r:id="rId10"/>
    <p:sldId id="287" r:id="rId11"/>
    <p:sldId id="288" r:id="rId12"/>
    <p:sldId id="286" r:id="rId13"/>
    <p:sldId id="290" r:id="rId14"/>
    <p:sldId id="289" r:id="rId15"/>
    <p:sldId id="291" r:id="rId16"/>
    <p:sldId id="266" r:id="rId17"/>
    <p:sldId id="292" r:id="rId18"/>
    <p:sldId id="293" r:id="rId19"/>
    <p:sldId id="270" r:id="rId20"/>
    <p:sldId id="271" r:id="rId21"/>
    <p:sldId id="297" r:id="rId22"/>
    <p:sldId id="298" r:id="rId23"/>
    <p:sldId id="299" r:id="rId24"/>
    <p:sldId id="294" r:id="rId25"/>
    <p:sldId id="300" r:id="rId26"/>
    <p:sldId id="275" r:id="rId27"/>
    <p:sldId id="311" r:id="rId28"/>
    <p:sldId id="314" r:id="rId29"/>
    <p:sldId id="301" r:id="rId30"/>
    <p:sldId id="306" r:id="rId31"/>
    <p:sldId id="307" r:id="rId32"/>
    <p:sldId id="305" r:id="rId33"/>
    <p:sldId id="308" r:id="rId34"/>
    <p:sldId id="304" r:id="rId35"/>
    <p:sldId id="277" r:id="rId36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  <a:srgbClr val="00B050"/>
    <a:srgbClr val="002060"/>
    <a:srgbClr val="A91F24"/>
    <a:srgbClr val="DC1111"/>
    <a:srgbClr val="940A40"/>
    <a:srgbClr val="01A8EF"/>
    <a:srgbClr val="AE4F74"/>
    <a:srgbClr val="BE6B8B"/>
    <a:srgbClr val="D3EF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41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271" y="1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2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AECE4-D632-437F-9C42-22F9B76FE2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ECA83-BC4F-44D2-9786-4893DCA926D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ECA83-BC4F-44D2-9786-4893DCA926D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228600" indent="-228600">
              <a:buFont typeface="+mj-lt"/>
              <a:buAutoNum type="arabicPeriod"/>
            </a:pPr>
            <a:r>
              <a:rPr lang="zh-CN" altLang="en-US"/>
              <a:t>四次：是为了通信效率的考虑，三次是为了保证通信的正确建立，防止已失效的连接回到接收方。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1"/>
          <p:cNvSpPr>
            <a:spLocks noChangeArrowheads="1"/>
          </p:cNvSpPr>
          <p:nvPr userDrawn="1"/>
        </p:nvSpPr>
        <p:spPr bwMode="auto">
          <a:xfrm>
            <a:off x="0" y="6708236"/>
            <a:ext cx="12192000" cy="149763"/>
          </a:xfrm>
          <a:prstGeom prst="roundRect">
            <a:avLst>
              <a:gd name="adj" fmla="val 0"/>
            </a:avLst>
          </a:prstGeom>
          <a:solidFill>
            <a:srgbClr val="940A40"/>
          </a:solidFill>
          <a:ln>
            <a:noFill/>
          </a:ln>
          <a:effectLst>
            <a:outerShdw blurRad="254000" dist="101600" dir="5400000" algn="ctr" rotWithShape="0">
              <a:srgbClr val="C30F0F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2000" rtlCol="0" anchor="ctr"/>
          <a:lstStyle/>
          <a:p>
            <a:endParaRPr lang="zh-CN" altLang="en-US" sz="2800" dirty="0">
              <a:ln w="19050">
                <a:noFill/>
              </a:ln>
              <a:gradFill>
                <a:gsLst>
                  <a:gs pos="100000">
                    <a:srgbClr val="E9BE61"/>
                  </a:gs>
                  <a:gs pos="49000">
                    <a:srgbClr val="FEEFAC"/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708400" y="796925"/>
            <a:ext cx="7898130" cy="5631180"/>
            <a:chOff x="5980" y="1215"/>
            <a:chExt cx="12438" cy="8868"/>
          </a:xfrm>
        </p:grpSpPr>
        <p:pic>
          <p:nvPicPr>
            <p:cNvPr id="2" name="图片 1" descr="深圳大学标志-03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5980" y="1215"/>
              <a:ext cx="12439" cy="8868"/>
            </a:xfrm>
            <a:prstGeom prst="rect">
              <a:avLst/>
            </a:prstGeom>
            <a:noFill/>
          </p:spPr>
        </p:pic>
        <p:sp>
          <p:nvSpPr>
            <p:cNvPr id="3" name="矩形 2"/>
            <p:cNvSpPr/>
            <p:nvPr userDrawn="1"/>
          </p:nvSpPr>
          <p:spPr>
            <a:xfrm>
              <a:off x="7760" y="1558"/>
              <a:ext cx="9720" cy="8280"/>
            </a:xfrm>
            <a:prstGeom prst="rect">
              <a:avLst/>
            </a:prstGeom>
            <a:solidFill>
              <a:schemeClr val="bg1"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图片 7" descr="深圳大学标志-0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57715" y="0"/>
            <a:ext cx="2369820" cy="935355"/>
          </a:xfrm>
          <a:prstGeom prst="rect">
            <a:avLst/>
          </a:prstGeom>
        </p:spPr>
      </p:pic>
      <p:cxnSp>
        <p:nvCxnSpPr>
          <p:cNvPr id="12" name="直接连接符 11"/>
          <p:cNvCxnSpPr/>
          <p:nvPr userDrawn="1"/>
        </p:nvCxnSpPr>
        <p:spPr>
          <a:xfrm>
            <a:off x="-10160" y="822325"/>
            <a:ext cx="11833860" cy="0"/>
          </a:xfrm>
          <a:prstGeom prst="line">
            <a:avLst/>
          </a:prstGeom>
          <a:ln>
            <a:solidFill>
              <a:srgbClr val="A91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06A3A-B0F9-4CA7-B9FA-E5DCD0E6FC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EB040-DE28-4918-A5AA-DE13ADD2AA5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1.png"/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1.png"/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1.png"/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2.png"/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2.png"/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1000"/>
                </a:schemeClr>
              </a:gs>
              <a:gs pos="100000">
                <a:srgbClr val="AE4F74">
                  <a:alpha val="10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深圳大学标志-白色-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0" y="-115570"/>
            <a:ext cx="2261235" cy="89217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0" y="1685290"/>
            <a:ext cx="12192000" cy="4681220"/>
            <a:chOff x="0" y="2654"/>
            <a:chExt cx="19200" cy="7372"/>
          </a:xfrm>
        </p:grpSpPr>
        <p:grpSp>
          <p:nvGrpSpPr>
            <p:cNvPr id="2" name="组合 1"/>
            <p:cNvGrpSpPr/>
            <p:nvPr/>
          </p:nvGrpSpPr>
          <p:grpSpPr>
            <a:xfrm>
              <a:off x="0" y="2654"/>
              <a:ext cx="19200" cy="7373"/>
              <a:chOff x="208" y="1601460"/>
              <a:chExt cx="12191793" cy="4681855"/>
            </a:xfrm>
          </p:grpSpPr>
          <p:pic>
            <p:nvPicPr>
              <p:cNvPr id="11" name="图片 10" descr="F:\小章鱼\2021年\4月\20210409 深大计算机网络微视频制作ppt\意向图\src=http___n.sinaimg.cn_sinacn_w1080h720_20180226_fd09-fyrwsqi4643197.pngsrc=http___n.sinaimg.cn_sinacn_w1080h720_20180226_fd09-fyrwsqi4643197"/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208" y="1601460"/>
                <a:ext cx="6132195" cy="3628390"/>
              </a:xfrm>
              <a:custGeom>
                <a:avLst/>
                <a:gdLst>
                  <a:gd name="connsiteX0" fmla="*/ 258760 w 6132609"/>
                  <a:gd name="connsiteY0" fmla="*/ 0 h 3741440"/>
                  <a:gd name="connsiteX1" fmla="*/ 6132609 w 6132609"/>
                  <a:gd name="connsiteY1" fmla="*/ 0 h 3741440"/>
                  <a:gd name="connsiteX2" fmla="*/ 6132609 w 6132609"/>
                  <a:gd name="connsiteY2" fmla="*/ 586186 h 3741440"/>
                  <a:gd name="connsiteX3" fmla="*/ 5135581 w 6132609"/>
                  <a:gd name="connsiteY3" fmla="*/ 3741440 h 3741440"/>
                  <a:gd name="connsiteX4" fmla="*/ 0 w 6132609"/>
                  <a:gd name="connsiteY4" fmla="*/ 3741440 h 3741440"/>
                  <a:gd name="connsiteX5" fmla="*/ 0 w 6132609"/>
                  <a:gd name="connsiteY5" fmla="*/ 818887 h 374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32609" h="3741440">
                    <a:moveTo>
                      <a:pt x="258760" y="0"/>
                    </a:moveTo>
                    <a:lnTo>
                      <a:pt x="6132609" y="0"/>
                    </a:lnTo>
                    <a:lnTo>
                      <a:pt x="6132609" y="586186"/>
                    </a:lnTo>
                    <a:lnTo>
                      <a:pt x="5135581" y="3741440"/>
                    </a:lnTo>
                    <a:lnTo>
                      <a:pt x="0" y="3741440"/>
                    </a:lnTo>
                    <a:lnTo>
                      <a:pt x="0" y="818887"/>
                    </a:lnTo>
                    <a:close/>
                  </a:path>
                </a:pathLst>
              </a:custGeom>
            </p:spPr>
          </p:pic>
          <p:sp>
            <p:nvSpPr>
              <p:cNvPr id="17" name="任意多边形 16"/>
              <p:cNvSpPr/>
              <p:nvPr/>
            </p:nvSpPr>
            <p:spPr>
              <a:xfrm>
                <a:off x="5326743" y="2334339"/>
                <a:ext cx="6865257" cy="2162629"/>
              </a:xfrm>
              <a:custGeom>
                <a:avLst/>
                <a:gdLst>
                  <a:gd name="connsiteX0" fmla="*/ 690203 w 6865257"/>
                  <a:gd name="connsiteY0" fmla="*/ 0 h 2162629"/>
                  <a:gd name="connsiteX1" fmla="*/ 6865257 w 6865257"/>
                  <a:gd name="connsiteY1" fmla="*/ 0 h 2162629"/>
                  <a:gd name="connsiteX2" fmla="*/ 6865257 w 6865257"/>
                  <a:gd name="connsiteY2" fmla="*/ 2162629 h 2162629"/>
                  <a:gd name="connsiteX3" fmla="*/ 0 w 6865257"/>
                  <a:gd name="connsiteY3" fmla="*/ 2162629 h 2162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65257" h="2162629">
                    <a:moveTo>
                      <a:pt x="690203" y="0"/>
                    </a:moveTo>
                    <a:lnTo>
                      <a:pt x="6865257" y="0"/>
                    </a:lnTo>
                    <a:lnTo>
                      <a:pt x="6865257" y="2162629"/>
                    </a:lnTo>
                    <a:lnTo>
                      <a:pt x="0" y="2162629"/>
                    </a:lnTo>
                    <a:close/>
                  </a:path>
                </a:pathLst>
              </a:custGeom>
              <a:solidFill>
                <a:srgbClr val="940A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3454400" y="2334340"/>
                <a:ext cx="8737601" cy="2162629"/>
              </a:xfrm>
              <a:custGeom>
                <a:avLst/>
                <a:gdLst>
                  <a:gd name="connsiteX0" fmla="*/ 690203 w 8737601"/>
                  <a:gd name="connsiteY0" fmla="*/ 0 h 2162629"/>
                  <a:gd name="connsiteX1" fmla="*/ 8737601 w 8737601"/>
                  <a:gd name="connsiteY1" fmla="*/ 0 h 2162629"/>
                  <a:gd name="connsiteX2" fmla="*/ 8737601 w 8737601"/>
                  <a:gd name="connsiteY2" fmla="*/ 5658 h 2162629"/>
                  <a:gd name="connsiteX3" fmla="*/ 2613346 w 8737601"/>
                  <a:gd name="connsiteY3" fmla="*/ 5658 h 2162629"/>
                  <a:gd name="connsiteX4" fmla="*/ 1924949 w 8737601"/>
                  <a:gd name="connsiteY4" fmla="*/ 2162629 h 2162629"/>
                  <a:gd name="connsiteX5" fmla="*/ 0 w 8737601"/>
                  <a:gd name="connsiteY5" fmla="*/ 2162629 h 2162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37601" h="2162629">
                    <a:moveTo>
                      <a:pt x="690203" y="0"/>
                    </a:moveTo>
                    <a:lnTo>
                      <a:pt x="8737601" y="0"/>
                    </a:lnTo>
                    <a:lnTo>
                      <a:pt x="8737601" y="5658"/>
                    </a:lnTo>
                    <a:lnTo>
                      <a:pt x="2613346" y="5658"/>
                    </a:lnTo>
                    <a:lnTo>
                      <a:pt x="1924949" y="2162629"/>
                    </a:lnTo>
                    <a:lnTo>
                      <a:pt x="0" y="2162629"/>
                    </a:lnTo>
                    <a:close/>
                  </a:path>
                </a:pathLst>
              </a:custGeom>
              <a:solidFill>
                <a:srgbClr val="940A40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6336031" y="2625090"/>
                <a:ext cx="418655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5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计算机网络 </a:t>
                </a:r>
                <a:endParaRPr lang="zh-CN" altLang="en-US" sz="5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TextBox 7"/>
              <p:cNvSpPr>
                <a:spLocks noChangeArrowheads="1"/>
              </p:cNvSpPr>
              <p:nvPr/>
            </p:nvSpPr>
            <p:spPr bwMode="auto">
              <a:xfrm>
                <a:off x="6205523" y="3531631"/>
                <a:ext cx="5401330" cy="615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4000" b="1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微软雅黑" panose="020B0503020204020204" pitchFamily="34" charset="-122"/>
                    <a:cs typeface="LilyUPC" panose="020B0604020202020204" pitchFamily="34" charset="-34"/>
                    <a:sym typeface="微软雅黑" panose="020B0503020204020204" pitchFamily="34" charset="-122"/>
                  </a:rPr>
                  <a:t>ComputerNetwork</a:t>
                </a:r>
                <a:endParaRPr lang="en-US" altLang="zh-CN" sz="4000" b="1" dirty="0">
                  <a:solidFill>
                    <a:schemeClr val="bg1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LilyUPC" panose="020B0604020202020204" pitchFamily="34" charset="-34"/>
                  <a:sym typeface="微软雅黑" panose="020B0503020204020204" pitchFamily="34" charset="-122"/>
                </a:endParaRPr>
              </a:p>
            </p:txBody>
          </p:sp>
          <p:grpSp>
            <p:nvGrpSpPr>
              <p:cNvPr id="22" name="Group 8"/>
              <p:cNvGrpSpPr/>
              <p:nvPr/>
            </p:nvGrpSpPr>
            <p:grpSpPr bwMode="auto">
              <a:xfrm>
                <a:off x="6376935" y="4754668"/>
                <a:ext cx="4692249" cy="338774"/>
                <a:chOff x="275" y="0"/>
                <a:chExt cx="7391" cy="533"/>
              </a:xfrm>
            </p:grpSpPr>
            <p:sp>
              <p:nvSpPr>
                <p:cNvPr id="23" name="直接连接符 16"/>
                <p:cNvSpPr>
                  <a:spLocks noChangeShapeType="1"/>
                </p:cNvSpPr>
                <p:nvPr/>
              </p:nvSpPr>
              <p:spPr bwMode="auto">
                <a:xfrm>
                  <a:off x="1700" y="90"/>
                  <a:ext cx="3" cy="340"/>
                </a:xfrm>
                <a:prstGeom prst="line">
                  <a:avLst/>
                </a:prstGeom>
                <a:noFill/>
                <a:ln w="9525">
                  <a:solidFill>
                    <a:schemeClr val="tx1">
                      <a:alpha val="60000"/>
                    </a:schemeClr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5" name="直接连接符 18"/>
                <p:cNvSpPr>
                  <a:spLocks noChangeShapeType="1"/>
                </p:cNvSpPr>
                <p:nvPr/>
              </p:nvSpPr>
              <p:spPr bwMode="auto">
                <a:xfrm>
                  <a:off x="5221" y="90"/>
                  <a:ext cx="0" cy="340"/>
                </a:xfrm>
                <a:prstGeom prst="line">
                  <a:avLst/>
                </a:prstGeom>
                <a:noFill/>
                <a:ln w="9525">
                  <a:solidFill>
                    <a:schemeClr val="tx1">
                      <a:alpha val="60000"/>
                    </a:schemeClr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6" name="TextBox 20"/>
                <p:cNvSpPr>
                  <a:spLocks noChangeArrowheads="1"/>
                </p:cNvSpPr>
                <p:nvPr/>
              </p:nvSpPr>
              <p:spPr bwMode="auto">
                <a:xfrm>
                  <a:off x="275" y="0"/>
                  <a:ext cx="1260" cy="5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授课人</a:t>
                  </a:r>
                  <a:endParaRPr lang="zh-CN" altLang="en-US" sz="1600" dirty="0">
                    <a:latin typeface="等线" panose="02010600030101010101" pitchFamily="2" charset="-122"/>
                    <a:ea typeface="等线" panose="02010600030101010101" pitchFamily="2" charset="-122"/>
                    <a:sym typeface="方正兰亭中黑_GBK" panose="02000000000000000000" pitchFamily="2" charset="-122"/>
                  </a:endParaRPr>
                </a:p>
              </p:txBody>
            </p:sp>
            <p:sp>
              <p:nvSpPr>
                <p:cNvPr id="27" name="TextBox 21"/>
                <p:cNvSpPr>
                  <a:spLocks noChangeArrowheads="1"/>
                </p:cNvSpPr>
                <p:nvPr/>
              </p:nvSpPr>
              <p:spPr bwMode="auto">
                <a:xfrm>
                  <a:off x="1823" y="0"/>
                  <a:ext cx="124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algn="l"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邹永攀</a:t>
                  </a:r>
                  <a:endParaRPr lang="zh-CN" altLang="en-US" sz="1600" dirty="0">
                    <a:latin typeface="等线" panose="02010600030101010101" pitchFamily="2" charset="-122"/>
                    <a:ea typeface="等线" panose="02010600030101010101" pitchFamily="2" charset="-122"/>
                    <a:sym typeface="方正兰亭中黑_GBK" panose="02000000000000000000" pitchFamily="2" charset="-122"/>
                  </a:endParaRPr>
                </a:p>
              </p:txBody>
            </p:sp>
            <p:sp>
              <p:nvSpPr>
                <p:cNvPr id="28" name="TextBox 22"/>
                <p:cNvSpPr>
                  <a:spLocks noChangeArrowheads="1"/>
                </p:cNvSpPr>
                <p:nvPr/>
              </p:nvSpPr>
              <p:spPr bwMode="auto">
                <a:xfrm>
                  <a:off x="4017" y="0"/>
                  <a:ext cx="92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日期</a:t>
                  </a:r>
                  <a:endParaRPr lang="zh-CN" altLang="en-US" sz="1600" dirty="0">
                    <a:latin typeface="等线" panose="02010600030101010101" pitchFamily="2" charset="-122"/>
                    <a:ea typeface="等线" panose="02010600030101010101" pitchFamily="2" charset="-122"/>
                    <a:sym typeface="方正兰亭中黑_GBK" panose="02000000000000000000" pitchFamily="2" charset="-122"/>
                  </a:endParaRPr>
                </a:p>
              </p:txBody>
            </p:sp>
            <p:sp>
              <p:nvSpPr>
                <p:cNvPr id="29" name="TextBox 23"/>
                <p:cNvSpPr>
                  <a:spLocks noChangeArrowheads="1"/>
                </p:cNvSpPr>
                <p:nvPr/>
              </p:nvSpPr>
              <p:spPr bwMode="auto">
                <a:xfrm>
                  <a:off x="5221" y="0"/>
                  <a:ext cx="2445" cy="5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2025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年</a:t>
                  </a: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4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月</a:t>
                  </a:r>
                  <a:r>
                    <a:rPr lang="en-US" altLang="zh-CN" sz="160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17</a:t>
                  </a:r>
                  <a:r>
                    <a:rPr lang="zh-CN" altLang="en-US" sz="160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日</a:t>
                  </a:r>
                  <a:endParaRPr lang="zh-CN" altLang="en-US" sz="1600" dirty="0">
                    <a:latin typeface="等线" panose="02010600030101010101" pitchFamily="2" charset="-122"/>
                    <a:ea typeface="等线" panose="02010600030101010101" pitchFamily="2" charset="-122"/>
                    <a:sym typeface="方正兰亭中黑_GBK" panose="02000000000000000000" pitchFamily="2" charset="-122"/>
                  </a:endParaRPr>
                </a:p>
              </p:txBody>
            </p:sp>
          </p:grpSp>
          <p:sp>
            <p:nvSpPr>
              <p:cNvPr id="30" name="矩形 29"/>
              <p:cNvSpPr/>
              <p:nvPr/>
            </p:nvSpPr>
            <p:spPr>
              <a:xfrm>
                <a:off x="362158" y="5869295"/>
                <a:ext cx="11762740" cy="4140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400" spc="2500" noProof="1">
                    <a:latin typeface="Century Gothic" panose="020B0502020202020204" pitchFamily="34" charset="0"/>
                    <a:ea typeface="+mj-ea"/>
                  </a:rPr>
                  <a:t>Computer Network Curriculum</a:t>
                </a:r>
                <a:endParaRPr lang="en-US" altLang="zh-CN" sz="1400" spc="2500" noProof="1">
                  <a:latin typeface="Century Gothic" panose="020B0502020202020204" pitchFamily="34" charset="0"/>
                  <a:ea typeface="+mj-ea"/>
                </a:endParaRPr>
              </a:p>
            </p:txBody>
          </p:sp>
        </p:grpSp>
        <p:sp>
          <p:nvSpPr>
            <p:cNvPr id="9" name="任意多边形 8"/>
            <p:cNvSpPr/>
            <p:nvPr/>
          </p:nvSpPr>
          <p:spPr>
            <a:xfrm>
              <a:off x="6635" y="2936"/>
              <a:ext cx="12565" cy="754"/>
            </a:xfrm>
            <a:custGeom>
              <a:avLst/>
              <a:gdLst>
                <a:gd name="connsiteX0" fmla="*/ 265 w 12565"/>
                <a:gd name="connsiteY0" fmla="*/ 0 h 754"/>
                <a:gd name="connsiteX1" fmla="*/ 12565 w 12565"/>
                <a:gd name="connsiteY1" fmla="*/ 12 h 754"/>
                <a:gd name="connsiteX2" fmla="*/ 12565 w 12565"/>
                <a:gd name="connsiteY2" fmla="*/ 754 h 754"/>
                <a:gd name="connsiteX3" fmla="*/ 0 w 12565"/>
                <a:gd name="connsiteY3" fmla="*/ 754 h 754"/>
                <a:gd name="connsiteX4" fmla="*/ 265 w 12565"/>
                <a:gd name="connsiteY4" fmla="*/ 0 h 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65" h="754">
                  <a:moveTo>
                    <a:pt x="265" y="0"/>
                  </a:moveTo>
                  <a:lnTo>
                    <a:pt x="12565" y="12"/>
                  </a:lnTo>
                  <a:lnTo>
                    <a:pt x="12565" y="754"/>
                  </a:lnTo>
                  <a:lnTo>
                    <a:pt x="0" y="754"/>
                  </a:lnTo>
                  <a:lnTo>
                    <a:pt x="265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  <a:alpha val="0"/>
                  </a:schemeClr>
                </a:gs>
                <a:gs pos="0">
                  <a:srgbClr val="01A8EF">
                    <a:alpha val="57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1422400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前讲复习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文本框 31"/>
          <p:cNvSpPr txBox="1">
            <a:spLocks noChangeArrowheads="1"/>
          </p:cNvSpPr>
          <p:nvPr/>
        </p:nvSpPr>
        <p:spPr bwMode="auto">
          <a:xfrm>
            <a:off x="945515" y="3235325"/>
            <a:ext cx="1137920" cy="4298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传输层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左大括号 32"/>
          <p:cNvSpPr/>
          <p:nvPr/>
        </p:nvSpPr>
        <p:spPr>
          <a:xfrm>
            <a:off x="2353945" y="1984058"/>
            <a:ext cx="260350" cy="283686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2536825" y="1587500"/>
            <a:ext cx="2519045" cy="857885"/>
            <a:chOff x="3995" y="2440"/>
            <a:chExt cx="3967" cy="1351"/>
          </a:xfrm>
        </p:grpSpPr>
        <p:sp>
          <p:nvSpPr>
            <p:cNvPr id="5125" name="文本框 18"/>
            <p:cNvSpPr txBox="1"/>
            <p:nvPr/>
          </p:nvSpPr>
          <p:spPr>
            <a:xfrm>
              <a:off x="3995" y="2845"/>
              <a:ext cx="234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传输层协议概述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38" name="左大括号 37"/>
            <p:cNvSpPr/>
            <p:nvPr/>
          </p:nvSpPr>
          <p:spPr>
            <a:xfrm>
              <a:off x="6267" y="2642"/>
              <a:ext cx="283" cy="923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28" name="文本框 40"/>
            <p:cNvSpPr txBox="1"/>
            <p:nvPr/>
          </p:nvSpPr>
          <p:spPr>
            <a:xfrm>
              <a:off x="6460" y="2440"/>
              <a:ext cx="1502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基本概念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5129" name="文本框 40"/>
            <p:cNvSpPr txBox="1"/>
            <p:nvPr/>
          </p:nvSpPr>
          <p:spPr>
            <a:xfrm>
              <a:off x="6460" y="3307"/>
              <a:ext cx="1432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协议对比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546350" y="3524250"/>
            <a:ext cx="1821815" cy="2665730"/>
            <a:chOff x="4010" y="5490"/>
            <a:chExt cx="2869" cy="4198"/>
          </a:xfrm>
        </p:grpSpPr>
        <p:sp>
          <p:nvSpPr>
            <p:cNvPr id="5127" name="文本框 40"/>
            <p:cNvSpPr txBox="1"/>
            <p:nvPr/>
          </p:nvSpPr>
          <p:spPr>
            <a:xfrm>
              <a:off x="4010" y="7355"/>
              <a:ext cx="2547" cy="4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传输控制协议</a:t>
              </a:r>
              <a:r>
                <a:rPr lang="en-US" altLang="zh-CN" sz="1400" dirty="0">
                  <a:latin typeface="Arial" panose="020B0604020202020204" pitchFamily="34" charset="0"/>
                </a:rPr>
                <a:t>TCP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69" name="左大括号 68"/>
            <p:cNvSpPr/>
            <p:nvPr/>
          </p:nvSpPr>
          <p:spPr>
            <a:xfrm>
              <a:off x="6597" y="5490"/>
              <a:ext cx="283" cy="4198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5" name="右大括号 84"/>
          <p:cNvSpPr/>
          <p:nvPr/>
        </p:nvSpPr>
        <p:spPr>
          <a:xfrm>
            <a:off x="9338945" y="3523933"/>
            <a:ext cx="220663" cy="1098550"/>
          </a:xfrm>
          <a:prstGeom prst="rightBrace">
            <a:avLst>
              <a:gd name="adj1" fmla="val 8333"/>
              <a:gd name="adj2" fmla="val 4917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5010150" y="1258570"/>
            <a:ext cx="3553460" cy="1017270"/>
            <a:chOff x="7890" y="1922"/>
            <a:chExt cx="5596" cy="1602"/>
          </a:xfrm>
        </p:grpSpPr>
        <p:sp>
          <p:nvSpPr>
            <p:cNvPr id="42" name="左大括号 41"/>
            <p:cNvSpPr/>
            <p:nvPr/>
          </p:nvSpPr>
          <p:spPr>
            <a:xfrm>
              <a:off x="7890" y="2100"/>
              <a:ext cx="283" cy="1183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35" name="文本框 40"/>
            <p:cNvSpPr txBox="1"/>
            <p:nvPr/>
          </p:nvSpPr>
          <p:spPr>
            <a:xfrm>
              <a:off x="8042" y="1922"/>
              <a:ext cx="4878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传输层的功能；与上下层之间的关系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5136" name="文本框 40"/>
            <p:cNvSpPr txBox="1"/>
            <p:nvPr/>
          </p:nvSpPr>
          <p:spPr>
            <a:xfrm>
              <a:off x="8012" y="2477"/>
              <a:ext cx="547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进程、接口、套接字、端口号、进程标识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5137" name="文本框 40"/>
            <p:cNvSpPr txBox="1"/>
            <p:nvPr/>
          </p:nvSpPr>
          <p:spPr>
            <a:xfrm>
              <a:off x="8082" y="3040"/>
              <a:ext cx="2943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多路复用与多路分解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</p:grpSp>
      <p:sp>
        <p:nvSpPr>
          <p:cNvPr id="46" name="右大括号 45"/>
          <p:cNvSpPr/>
          <p:nvPr/>
        </p:nvSpPr>
        <p:spPr>
          <a:xfrm>
            <a:off x="8421370" y="1390333"/>
            <a:ext cx="141288" cy="890588"/>
          </a:xfrm>
          <a:prstGeom prst="rightBrace">
            <a:avLst>
              <a:gd name="adj1" fmla="val 8333"/>
              <a:gd name="adj2" fmla="val 4917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7" name="文本框 40"/>
          <p:cNvSpPr txBox="1">
            <a:spLocks noChangeArrowheads="1"/>
          </p:cNvSpPr>
          <p:nvPr/>
        </p:nvSpPr>
        <p:spPr bwMode="auto">
          <a:xfrm>
            <a:off x="8690610" y="1651635"/>
            <a:ext cx="1877060" cy="3683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3.1~3.2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，理解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533650" y="2406650"/>
            <a:ext cx="4099560" cy="1029970"/>
            <a:chOff x="3990" y="3730"/>
            <a:chExt cx="6456" cy="1622"/>
          </a:xfrm>
        </p:grpSpPr>
        <p:sp>
          <p:nvSpPr>
            <p:cNvPr id="5140" name="矩形 4"/>
            <p:cNvSpPr/>
            <p:nvPr/>
          </p:nvSpPr>
          <p:spPr>
            <a:xfrm>
              <a:off x="3990" y="4285"/>
              <a:ext cx="2867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用户数据报协议</a:t>
              </a:r>
              <a:r>
                <a:rPr lang="en-US" altLang="zh-CN" sz="1400" dirty="0">
                  <a:latin typeface="Arial" panose="020B0604020202020204" pitchFamily="34" charset="0"/>
                </a:rPr>
                <a:t>UDP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48" name="左大括号 47"/>
            <p:cNvSpPr/>
            <p:nvPr/>
          </p:nvSpPr>
          <p:spPr>
            <a:xfrm>
              <a:off x="6900" y="3905"/>
              <a:ext cx="233" cy="1215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42" name="文本框 40"/>
            <p:cNvSpPr txBox="1"/>
            <p:nvPr/>
          </p:nvSpPr>
          <p:spPr>
            <a:xfrm>
              <a:off x="7045" y="3730"/>
              <a:ext cx="337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协议主要特点及适用范围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5143" name="文本框 40"/>
            <p:cNvSpPr txBox="1"/>
            <p:nvPr/>
          </p:nvSpPr>
          <p:spPr>
            <a:xfrm>
              <a:off x="7072" y="4297"/>
              <a:ext cx="337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数据报格式（尤其报头）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5144" name="文本框 40"/>
            <p:cNvSpPr txBox="1"/>
            <p:nvPr/>
          </p:nvSpPr>
          <p:spPr>
            <a:xfrm>
              <a:off x="6952" y="4870"/>
              <a:ext cx="3375" cy="48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</a:rPr>
                <a:t> </a:t>
              </a:r>
              <a:r>
                <a:rPr lang="zh-CN" altLang="en-US" sz="1400" dirty="0">
                  <a:latin typeface="Arial" panose="020B0604020202020204" pitchFamily="34" charset="0"/>
                </a:rPr>
                <a:t>校验和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354195" y="3419475"/>
            <a:ext cx="2142490" cy="843915"/>
            <a:chOff x="6857" y="5325"/>
            <a:chExt cx="3374" cy="1329"/>
          </a:xfrm>
        </p:grpSpPr>
        <p:sp>
          <p:nvSpPr>
            <p:cNvPr id="5145" name="文本框 40"/>
            <p:cNvSpPr txBox="1"/>
            <p:nvPr/>
          </p:nvSpPr>
          <p:spPr>
            <a:xfrm>
              <a:off x="6857" y="5325"/>
              <a:ext cx="3375" cy="4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协议主要特点及适用范围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5146" name="文本框 40"/>
            <p:cNvSpPr txBox="1"/>
            <p:nvPr/>
          </p:nvSpPr>
          <p:spPr>
            <a:xfrm>
              <a:off x="6857" y="6170"/>
              <a:ext cx="337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数据报格式（尤其报头）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438900" y="3524250"/>
            <a:ext cx="3026410" cy="1130935"/>
            <a:chOff x="10140" y="5490"/>
            <a:chExt cx="4766" cy="1781"/>
          </a:xfrm>
        </p:grpSpPr>
        <p:sp>
          <p:nvSpPr>
            <p:cNvPr id="79" name="左大括号 78"/>
            <p:cNvSpPr/>
            <p:nvPr/>
          </p:nvSpPr>
          <p:spPr>
            <a:xfrm>
              <a:off x="10140" y="5710"/>
              <a:ext cx="283" cy="1368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51" name="文本框 40"/>
            <p:cNvSpPr txBox="1"/>
            <p:nvPr/>
          </p:nvSpPr>
          <p:spPr>
            <a:xfrm>
              <a:off x="10422" y="5490"/>
              <a:ext cx="3375" cy="4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源端口号、目的端口号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5152" name="文本框 40"/>
            <p:cNvSpPr txBox="1"/>
            <p:nvPr/>
          </p:nvSpPr>
          <p:spPr>
            <a:xfrm>
              <a:off x="10422" y="5952"/>
              <a:ext cx="292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发送序号、确认序号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5153" name="文本框 40"/>
            <p:cNvSpPr txBox="1"/>
            <p:nvPr/>
          </p:nvSpPr>
          <p:spPr>
            <a:xfrm>
              <a:off x="10470" y="6385"/>
              <a:ext cx="4437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400" dirty="0">
                  <a:latin typeface="Arial" panose="020B0604020202020204" pitchFamily="34" charset="0"/>
                </a:rPr>
                <a:t>URG, ACK, PSH, RST, SYN, FIN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5154" name="文本框 40"/>
            <p:cNvSpPr txBox="1"/>
            <p:nvPr/>
          </p:nvSpPr>
          <p:spPr>
            <a:xfrm>
              <a:off x="10465" y="6787"/>
              <a:ext cx="4437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报头长度、窗口、校验和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4376420" y="4533900"/>
            <a:ext cx="2533650" cy="626110"/>
            <a:chOff x="6892" y="7080"/>
            <a:chExt cx="3990" cy="986"/>
          </a:xfrm>
        </p:grpSpPr>
        <p:sp>
          <p:nvSpPr>
            <p:cNvPr id="78" name="左大括号 77"/>
            <p:cNvSpPr/>
            <p:nvPr/>
          </p:nvSpPr>
          <p:spPr>
            <a:xfrm>
              <a:off x="9149" y="7220"/>
              <a:ext cx="315" cy="653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47" name="文本框 40"/>
            <p:cNvSpPr txBox="1"/>
            <p:nvPr/>
          </p:nvSpPr>
          <p:spPr>
            <a:xfrm>
              <a:off x="6892" y="7330"/>
              <a:ext cx="2328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连接建立与释放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5155" name="文本框 40"/>
            <p:cNvSpPr txBox="1"/>
            <p:nvPr/>
          </p:nvSpPr>
          <p:spPr>
            <a:xfrm>
              <a:off x="9374" y="7080"/>
              <a:ext cx="1508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三次握手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5156" name="文本框 40"/>
            <p:cNvSpPr txBox="1"/>
            <p:nvPr/>
          </p:nvSpPr>
          <p:spPr>
            <a:xfrm>
              <a:off x="9374" y="7582"/>
              <a:ext cx="1508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四次挥手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</p:grpSp>
      <p:sp>
        <p:nvSpPr>
          <p:cNvPr id="65" name="文本框 40"/>
          <p:cNvSpPr txBox="1">
            <a:spLocks noChangeArrowheads="1"/>
          </p:cNvSpPr>
          <p:nvPr/>
        </p:nvSpPr>
        <p:spPr bwMode="auto">
          <a:xfrm>
            <a:off x="9796145" y="3887470"/>
            <a:ext cx="1021080" cy="3683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重点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" name="右大括号 65"/>
          <p:cNvSpPr/>
          <p:nvPr/>
        </p:nvSpPr>
        <p:spPr>
          <a:xfrm>
            <a:off x="6616383" y="2507933"/>
            <a:ext cx="93663" cy="855663"/>
          </a:xfrm>
          <a:prstGeom prst="rightBrace">
            <a:avLst>
              <a:gd name="adj1" fmla="val 8333"/>
              <a:gd name="adj2" fmla="val 4917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7" name="文本框 40"/>
          <p:cNvSpPr txBox="1">
            <a:spLocks noChangeArrowheads="1"/>
          </p:cNvSpPr>
          <p:nvPr/>
        </p:nvSpPr>
        <p:spPr bwMode="auto">
          <a:xfrm>
            <a:off x="6919278" y="2595245"/>
            <a:ext cx="3648075" cy="646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3.3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，较为简单，要求理解，尤其报文格式及校验和计算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4325620" y="5109845"/>
            <a:ext cx="2049780" cy="1236345"/>
            <a:chOff x="6812" y="7987"/>
            <a:chExt cx="3228" cy="1947"/>
          </a:xfrm>
        </p:grpSpPr>
        <p:sp>
          <p:nvSpPr>
            <p:cNvPr id="5148" name="文本框 40"/>
            <p:cNvSpPr txBox="1"/>
            <p:nvPr/>
          </p:nvSpPr>
          <p:spPr>
            <a:xfrm>
              <a:off x="6882" y="7987"/>
              <a:ext cx="2838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滑动窗口与确认重传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5149" name="文本框 40"/>
            <p:cNvSpPr txBox="1"/>
            <p:nvPr/>
          </p:nvSpPr>
          <p:spPr>
            <a:xfrm>
              <a:off x="6880" y="8720"/>
              <a:ext cx="2835" cy="4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滑动窗口与流量控制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5150" name="文本框 40"/>
            <p:cNvSpPr txBox="1"/>
            <p:nvPr/>
          </p:nvSpPr>
          <p:spPr>
            <a:xfrm>
              <a:off x="6812" y="9450"/>
              <a:ext cx="2838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dirty="0">
                  <a:latin typeface="Arial" panose="020B0604020202020204" pitchFamily="34" charset="0"/>
                </a:rPr>
                <a:t>拥塞窗口与拥塞控制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43" name="右大括号 42"/>
            <p:cNvSpPr/>
            <p:nvPr/>
          </p:nvSpPr>
          <p:spPr>
            <a:xfrm>
              <a:off x="9690" y="8100"/>
              <a:ext cx="350" cy="1730"/>
            </a:xfrm>
            <a:prstGeom prst="rightBrace">
              <a:avLst>
                <a:gd name="adj1" fmla="val 8333"/>
                <a:gd name="adj2" fmla="val 49177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162" name="文本框 4"/>
          <p:cNvSpPr txBox="1"/>
          <p:nvPr/>
        </p:nvSpPr>
        <p:spPr>
          <a:xfrm>
            <a:off x="6438583" y="5541645"/>
            <a:ext cx="16764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重点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+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难点！</a:t>
            </a:r>
            <a:endParaRPr lang="zh-CN" altLang="en-US" sz="2000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 bldLvl="0" animBg="1"/>
      <p:bldP spid="33" grpId="0" bldLvl="0" animBg="1"/>
      <p:bldP spid="85" grpId="0" bldLvl="0" animBg="1"/>
      <p:bldP spid="46" grpId="0" bldLvl="0" animBg="1"/>
      <p:bldP spid="47" grpId="0" bldLvl="0" animBg="1"/>
      <p:bldP spid="47" grpId="1" bldLvl="0" animBg="1"/>
      <p:bldP spid="65" grpId="0" bldLvl="0" animBg="1"/>
      <p:bldP spid="66" grpId="0" bldLvl="0" animBg="1"/>
      <p:bldP spid="67" grpId="0" bldLvl="0" animBg="1"/>
      <p:bldP spid="516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5" name="文本框 8"/>
          <p:cNvSpPr txBox="1">
            <a:spLocks noChangeArrowheads="1"/>
          </p:cNvSpPr>
          <p:nvPr/>
        </p:nvSpPr>
        <p:spPr bwMode="auto">
          <a:xfrm>
            <a:off x="860425" y="939049"/>
            <a:ext cx="4532842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3.4.1 TCP</a:t>
            </a:r>
            <a:r>
              <a:rPr lang="zh-CN" altLang="en-US" sz="2200" dirty="0">
                <a:latin typeface="Times New Roman" panose="02020603050405020304" pitchFamily="18" charset="0"/>
              </a:rPr>
              <a:t>协议的主要特点及应用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475740" y="1670510"/>
            <a:ext cx="9645650" cy="234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支持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面向连接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的服务：打电话式、会话式通信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支持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字节流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传输：字节管道、字节按序传输和到达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支持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全双工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服务：一个应用进程可以同时收发数据、捎带确认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支持建立多个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并发的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TCP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连接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（服务器同时响应多个连接）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支持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可靠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传输服务：不丢失、不重复、有序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7" name="Picture 2" descr="What is HTTP (Hypertext Transfer Protocol)? - Definition from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9" t="13914" r="12251" b="16516"/>
          <a:stretch>
            <a:fillRect/>
          </a:stretch>
        </p:blipFill>
        <p:spPr bwMode="auto">
          <a:xfrm>
            <a:off x="1185863" y="4591733"/>
            <a:ext cx="3168650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" name="Picture 4" descr="Buy Universal Email App - Mail for All Mailbox - Microsoft Sto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513" y="4583795"/>
            <a:ext cx="1741487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" name="Picture 6" descr="UNIX Communication Commands | Telnet Command |Telnet Command Exampl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313" y="5129590"/>
            <a:ext cx="2816754" cy="125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" name="Picture 8" descr="What is file transfer protocol (FTP)?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0" r="6146" b="3149"/>
          <a:stretch>
            <a:fillRect/>
          </a:stretch>
        </p:blipFill>
        <p:spPr bwMode="auto">
          <a:xfrm>
            <a:off x="6183313" y="3485245"/>
            <a:ext cx="2932112" cy="165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5" name="文本框 8"/>
          <p:cNvSpPr txBox="1">
            <a:spLocks noChangeArrowheads="1"/>
          </p:cNvSpPr>
          <p:nvPr/>
        </p:nvSpPr>
        <p:spPr bwMode="auto">
          <a:xfrm>
            <a:off x="860425" y="939049"/>
            <a:ext cx="4532842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3.4.1 TCP</a:t>
            </a:r>
            <a:r>
              <a:rPr lang="zh-CN" altLang="en-US" sz="2200" dirty="0">
                <a:latin typeface="Times New Roman" panose="02020603050405020304" pitchFamily="18" charset="0"/>
              </a:rPr>
              <a:t>协议的主要特点及应用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8" name="Object 1"/>
          <p:cNvGraphicFramePr>
            <a:graphicFrameLocks noChangeAspect="1"/>
          </p:cNvGraphicFramePr>
          <p:nvPr/>
        </p:nvGraphicFramePr>
        <p:xfrm>
          <a:off x="3766079" y="1670767"/>
          <a:ext cx="4824412" cy="490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6896100" imgH="7010400" progId="Visio.Drawing.11">
                  <p:embed/>
                </p:oleObj>
              </mc:Choice>
              <mc:Fallback>
                <p:oleObj name="" r:id="rId1" imgW="6896100" imgH="70104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6079" y="1670767"/>
                        <a:ext cx="4824412" cy="490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等腰三角形 18"/>
          <p:cNvSpPr/>
          <p:nvPr/>
        </p:nvSpPr>
        <p:spPr>
          <a:xfrm>
            <a:off x="5458354" y="4639392"/>
            <a:ext cx="107950" cy="73025"/>
          </a:xfrm>
          <a:prstGeom prst="triangle">
            <a:avLst/>
          </a:prstGeom>
          <a:solidFill>
            <a:srgbClr val="FF0000"/>
          </a:solidFill>
          <a:ln w="15875" cap="flat" cmpd="sng" algn="ctr">
            <a:solidFill>
              <a:srgbClr val="FF3399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等腰三角形 19"/>
          <p:cNvSpPr/>
          <p:nvPr/>
        </p:nvSpPr>
        <p:spPr>
          <a:xfrm>
            <a:off x="7114116" y="4639392"/>
            <a:ext cx="107950" cy="73025"/>
          </a:xfrm>
          <a:prstGeom prst="triangle">
            <a:avLst/>
          </a:prstGeom>
          <a:solidFill>
            <a:srgbClr val="FF0000"/>
          </a:solidFill>
          <a:ln w="15875" cap="flat" cmpd="sng" algn="ctr">
            <a:solidFill>
              <a:srgbClr val="FF3399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等腰三角形 20"/>
          <p:cNvSpPr/>
          <p:nvPr/>
        </p:nvSpPr>
        <p:spPr>
          <a:xfrm flipV="1">
            <a:off x="5404379" y="5287092"/>
            <a:ext cx="107950" cy="73025"/>
          </a:xfrm>
          <a:prstGeom prst="triangle">
            <a:avLst/>
          </a:prstGeom>
          <a:solidFill>
            <a:srgbClr val="FF0000"/>
          </a:solidFill>
          <a:ln w="15875" cap="flat" cmpd="sng" algn="ctr">
            <a:solidFill>
              <a:srgbClr val="FF3399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圆角矩形标注 11"/>
          <p:cNvSpPr/>
          <p:nvPr/>
        </p:nvSpPr>
        <p:spPr>
          <a:xfrm>
            <a:off x="2289704" y="2912192"/>
            <a:ext cx="1476375" cy="1116012"/>
          </a:xfrm>
          <a:prstGeom prst="wedgeRoundRectCallout">
            <a:avLst>
              <a:gd name="adj1" fmla="val 35690"/>
              <a:gd name="adj2" fmla="val 71411"/>
              <a:gd name="adj3" fmla="val 16667"/>
            </a:avLst>
          </a:prstGeom>
          <a:solidFill>
            <a:srgbClr val="C0D8F1"/>
          </a:solidFill>
          <a:ln w="15875" cap="flat" cmpd="sng" algn="ctr">
            <a:solidFill>
              <a:srgbClr val="C0D8F1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sym typeface="+mn-ea"/>
              </a:rPr>
              <a:t>注意：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sym typeface="+mn-ea"/>
              </a:rPr>
              <a:t>TCP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sym typeface="+mn-ea"/>
              </a:rPr>
              <a:t>传输单元是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sym typeface="+mn-ea"/>
              </a:rPr>
              <a:t>“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sym typeface="+mn-ea"/>
              </a:rPr>
              <a:t>报文段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sym typeface="+mn-ea"/>
              </a:rPr>
              <a:t>”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/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报头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33462" y="3240679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33460" y="3786806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033456" y="4879060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95998" y="4879060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33451" y="4332933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cxnSp>
        <p:nvCxnSpPr>
          <p:cNvPr id="12" name="直接连接符 11"/>
          <p:cNvCxnSpPr>
            <a:stCxn id="39" idx="0"/>
            <a:endCxn id="39" idx="2"/>
          </p:cNvCxnSpPr>
          <p:nvPr/>
        </p:nvCxnSpPr>
        <p:spPr>
          <a:xfrm>
            <a:off x="6095989" y="4332933"/>
            <a:ext cx="0" cy="540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60331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117261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457817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4039933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56472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3042226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1956748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1033451" y="5417939"/>
            <a:ext cx="10125076" cy="900799"/>
          </a:xfrm>
          <a:prstGeom prst="rect">
            <a:avLst/>
          </a:prstGeom>
          <a:solidFill>
            <a:schemeClr val="accent1">
              <a:alpha val="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57184" y="44236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报头长度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204059" y="4414813"/>
            <a:ext cx="69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保留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88468" y="4423622"/>
            <a:ext cx="65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URG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513693" y="4435316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ACK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019273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PSH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579172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RST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070849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SYN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577440" y="4437451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FIN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229406" y="4384297"/>
            <a:ext cx="79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窗口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047356" y="5631667"/>
            <a:ext cx="10125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选项及填充（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&lt;=40B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）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11172419" y="2683194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1172419" y="5403430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172419" y="6305598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1413636" y="2697703"/>
            <a:ext cx="0" cy="2720236"/>
          </a:xfrm>
          <a:prstGeom prst="line">
            <a:avLst/>
          </a:prstGeom>
          <a:ln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11413636" y="5403430"/>
            <a:ext cx="0" cy="916677"/>
          </a:xfrm>
          <a:prstGeom prst="line">
            <a:avLst/>
          </a:prstGeom>
          <a:ln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1390190" y="3395942"/>
            <a:ext cx="461665" cy="14773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固定长度部分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1429521" y="5432447"/>
            <a:ext cx="738664" cy="87178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可变长度部分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源端口号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394321" y="3279796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发送序号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380423" y="3832328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确认序号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85820" y="4924582"/>
            <a:ext cx="1107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校验和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915780" y="4914774"/>
            <a:ext cx="142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紧急指针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5" name="文本框 8"/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6" grpId="0" animBg="1"/>
      <p:bldP spid="17" grpId="0" animBg="1"/>
      <p:bldP spid="10" grpId="0"/>
      <p:bldP spid="20" grpId="0"/>
      <p:bldP spid="21" grpId="0"/>
      <p:bldP spid="22" grpId="0" animBg="1"/>
      <p:bldP spid="24" grpId="0" animBg="1"/>
      <p:bldP spid="30" grpId="0" animBg="1"/>
      <p:bldP spid="31" grpId="0" animBg="1"/>
      <p:bldP spid="39" grpId="0" animBg="1"/>
      <p:bldP spid="46" grpId="0" animBg="1"/>
      <p:bldP spid="47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48" grpId="0"/>
      <p:bldP spid="49" grpId="0"/>
      <p:bldP spid="18" grpId="0"/>
      <p:bldP spid="60" grpId="0"/>
      <p:bldP spid="6" grpId="0"/>
      <p:bldP spid="61" grpId="0"/>
      <p:bldP spid="62" grpId="0"/>
      <p:bldP spid="63" grpId="0"/>
      <p:bldP spid="9" grpId="0"/>
      <p:bldP spid="6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/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报头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33462" y="3240679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33460" y="3786806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033456" y="4879060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95998" y="4879060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33451" y="4332933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cxnSp>
        <p:nvCxnSpPr>
          <p:cNvPr id="12" name="直接连接符 11"/>
          <p:cNvCxnSpPr>
            <a:stCxn id="39" idx="0"/>
            <a:endCxn id="39" idx="2"/>
          </p:cNvCxnSpPr>
          <p:nvPr/>
        </p:nvCxnSpPr>
        <p:spPr>
          <a:xfrm>
            <a:off x="6095989" y="4332933"/>
            <a:ext cx="0" cy="540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60331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117261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457817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4039933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56472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3042226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1956748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1033451" y="5417939"/>
            <a:ext cx="10125076" cy="900799"/>
          </a:xfrm>
          <a:prstGeom prst="rect">
            <a:avLst/>
          </a:prstGeom>
          <a:solidFill>
            <a:schemeClr val="accent1">
              <a:alpha val="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57184" y="44236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报头长度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204059" y="4414813"/>
            <a:ext cx="69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保留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88468" y="4423622"/>
            <a:ext cx="65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URG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513693" y="4435316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ACK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019273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PSH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579172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RST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070849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SYN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577440" y="4437451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FIN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229406" y="4384297"/>
            <a:ext cx="79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窗口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047356" y="5631667"/>
            <a:ext cx="10125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选项及填充（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&lt;=40B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）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11172419" y="2683194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1172419" y="5403430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172419" y="6305598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1413636" y="2697703"/>
            <a:ext cx="0" cy="2720236"/>
          </a:xfrm>
          <a:prstGeom prst="line">
            <a:avLst/>
          </a:prstGeom>
          <a:ln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11413636" y="5403430"/>
            <a:ext cx="0" cy="916677"/>
          </a:xfrm>
          <a:prstGeom prst="line">
            <a:avLst/>
          </a:prstGeom>
          <a:ln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1390190" y="3395942"/>
            <a:ext cx="461665" cy="14773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固定长度部分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1429521" y="5432447"/>
            <a:ext cx="738664" cy="87178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可变长度部分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源端口号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394321" y="3279796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发送序号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380423" y="3832328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确认序号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85820" y="4924582"/>
            <a:ext cx="1107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校验和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915780" y="4914774"/>
            <a:ext cx="142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紧急指针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5" name="文本框 8"/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30" grpId="0" animBg="1"/>
      <p:bldP spid="31" grpId="0" animBg="1"/>
      <p:bldP spid="39" grpId="0" animBg="1"/>
      <p:bldP spid="46" grpId="0" animBg="1"/>
      <p:bldP spid="47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48" grpId="0"/>
      <p:bldP spid="49" grpId="0"/>
      <p:bldP spid="18" grpId="0"/>
      <p:bldP spid="60" grpId="0"/>
      <p:bldP spid="62" grpId="0"/>
      <p:bldP spid="63" grpId="0"/>
      <p:bldP spid="9" grpId="0"/>
      <p:bldP spid="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/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报头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源端口号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052195" y="5031740"/>
            <a:ext cx="10251440" cy="438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17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目的端口号</a:t>
            </a:r>
            <a:r>
              <a:rPr lang="zh-CN" altLang="en-US" sz="17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表示TCP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报文接收方的端口号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117600" y="5565140"/>
            <a:ext cx="10251440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16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bit，所能表示的序号范围是：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0~(2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-1)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7" name="直接连接符 66"/>
          <p:cNvCxnSpPr/>
          <p:nvPr/>
        </p:nvCxnSpPr>
        <p:spPr bwMode="auto">
          <a:xfrm>
            <a:off x="1409700" y="5542915"/>
            <a:ext cx="5365750" cy="0"/>
          </a:xfrm>
          <a:prstGeom prst="line">
            <a:avLst/>
          </a:prstGeom>
          <a:solidFill>
            <a:srgbClr val="5B9BD5"/>
          </a:solidFill>
          <a:ln w="12700" cap="flat" cmpd="sng" algn="ctr">
            <a:solidFill>
              <a:srgbClr val="A91F24"/>
            </a:solidFill>
            <a:prstDash val="solid"/>
            <a:round/>
            <a:headEnd type="none" w="sm" len="sm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8" name="矩形 67"/>
          <p:cNvSpPr/>
          <p:nvPr/>
        </p:nvSpPr>
        <p:spPr>
          <a:xfrm>
            <a:off x="1091883" y="3597152"/>
            <a:ext cx="10251440" cy="438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17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源端口号</a:t>
            </a:r>
            <a:r>
              <a:rPr lang="zh-CN" altLang="en-US" sz="17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TCP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报文发送方的端口号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157288" y="4130552"/>
            <a:ext cx="10251440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16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bit，所能表示的序号范围是：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0~(2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-1)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70" name="直接连接符 69"/>
          <p:cNvCxnSpPr/>
          <p:nvPr/>
        </p:nvCxnSpPr>
        <p:spPr bwMode="auto">
          <a:xfrm>
            <a:off x="1449388" y="4108327"/>
            <a:ext cx="5365750" cy="0"/>
          </a:xfrm>
          <a:prstGeom prst="line">
            <a:avLst/>
          </a:prstGeom>
          <a:solidFill>
            <a:srgbClr val="5B9BD5"/>
          </a:solidFill>
          <a:ln w="12700" cap="flat" cmpd="sng" algn="ctr">
            <a:solidFill>
              <a:srgbClr val="A91F24"/>
            </a:solidFill>
            <a:prstDash val="solid"/>
            <a:round/>
            <a:headEnd type="none" w="sm" len="sm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文本框 8"/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/>
      <p:bldP spid="68" grpId="0"/>
      <p:bldP spid="6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/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报头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33462" y="3240679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源端口号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394321" y="3279796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发送序号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052195" y="5031740"/>
            <a:ext cx="10251440" cy="438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17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发送序号（seq）</a:t>
            </a:r>
            <a:r>
              <a:rPr lang="zh-CN" altLang="en-US" sz="17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表示TCP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数据字段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的第一个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字节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的序号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117600" y="5565140"/>
            <a:ext cx="1025144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连接建立时（即SYN=1），初始序号（ISN）由随机数生成器生成，发送端和接收端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独立产生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可能不一样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占32 bit，所能表示的序号范围是：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0~(2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32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-1)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7" name="直接连接符 66"/>
          <p:cNvCxnSpPr/>
          <p:nvPr/>
        </p:nvCxnSpPr>
        <p:spPr bwMode="auto">
          <a:xfrm>
            <a:off x="1409700" y="5542915"/>
            <a:ext cx="5365750" cy="0"/>
          </a:xfrm>
          <a:prstGeom prst="line">
            <a:avLst/>
          </a:prstGeom>
          <a:solidFill>
            <a:srgbClr val="5B9BD5"/>
          </a:solidFill>
          <a:ln w="12700" cap="flat" cmpd="sng" algn="ctr">
            <a:solidFill>
              <a:srgbClr val="A91F24"/>
            </a:solidFill>
            <a:prstDash val="solid"/>
            <a:round/>
            <a:headEnd type="none" w="sm" len="sm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文本框 8"/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62" grpId="0"/>
      <p:bldP spid="65" grpId="0"/>
      <p:bldP spid="6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/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报头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33462" y="3240679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33460" y="3786806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源端口号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394321" y="3279796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发送序号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380423" y="3832328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确认序号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052195" y="4917440"/>
            <a:ext cx="10251440" cy="48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17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确认序号（ack）</a:t>
            </a:r>
            <a:r>
              <a:rPr lang="zh-CN" altLang="en-US" sz="17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只有当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ACK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位=1时有效，表示发送此报文段的进程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期望接收的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下一个新字节的序号。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117600" y="5400040"/>
            <a:ext cx="978535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确认序号=N+1，表示接收方已经成功接收了序号为N及之前的所有字节，要求发送方接下来应该发送       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   起始序号为N+1的字节段。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注意区分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ack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与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ACK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！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7" name="直接连接符 66"/>
          <p:cNvCxnSpPr/>
          <p:nvPr/>
        </p:nvCxnSpPr>
        <p:spPr bwMode="auto">
          <a:xfrm>
            <a:off x="1409700" y="5428615"/>
            <a:ext cx="9493250" cy="0"/>
          </a:xfrm>
          <a:prstGeom prst="line">
            <a:avLst/>
          </a:prstGeom>
          <a:solidFill>
            <a:srgbClr val="5B9BD5"/>
          </a:solidFill>
          <a:ln w="12700" cap="flat" cmpd="sng" algn="ctr">
            <a:solidFill>
              <a:srgbClr val="A91F24"/>
            </a:solidFill>
            <a:prstDash val="solid"/>
            <a:round/>
            <a:headEnd type="none" w="sm" len="sm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文本框 8"/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63" grpId="0"/>
      <p:bldP spid="65" grpId="0"/>
      <p:bldP spid="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/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报头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33462" y="3240679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33460" y="3786806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33451" y="4332933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cxnSp>
        <p:nvCxnSpPr>
          <p:cNvPr id="12" name="直接连接符 11"/>
          <p:cNvCxnSpPr>
            <a:stCxn id="39" idx="0"/>
            <a:endCxn id="39" idx="2"/>
          </p:cNvCxnSpPr>
          <p:nvPr/>
        </p:nvCxnSpPr>
        <p:spPr>
          <a:xfrm>
            <a:off x="6095989" y="4332933"/>
            <a:ext cx="0" cy="540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60331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117261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457817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4039933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56472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3042226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1956748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957184" y="44236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报头长度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204059" y="4414813"/>
            <a:ext cx="69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保留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88468" y="4423622"/>
            <a:ext cx="65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URG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513693" y="4435316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ACK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019273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PSH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579172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RST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070849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SYN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577440" y="4437451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FIN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229406" y="4384297"/>
            <a:ext cx="79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窗口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源端口号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394321" y="3279796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发送序号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380423" y="3832328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确认序号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052195" y="5081446"/>
            <a:ext cx="10106329" cy="438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17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窗口值</a:t>
            </a:r>
            <a:r>
              <a:rPr lang="zh-CN" altLang="en-US" sz="17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指示当前进程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可以接收的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数据长度 (单位: 字节)。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117599" y="5564046"/>
            <a:ext cx="10040927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·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准备接收下一个TCP报文的接收方，通知即将发送报文的发送方下一个报文中最多可以发送的字节数，      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  是发送方确定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发送窗口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的依据，是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动态可变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9" name="直接连接符 68"/>
          <p:cNvCxnSpPr/>
          <p:nvPr/>
        </p:nvCxnSpPr>
        <p:spPr bwMode="auto">
          <a:xfrm>
            <a:off x="1409700" y="5592621"/>
            <a:ext cx="5238750" cy="0"/>
          </a:xfrm>
          <a:prstGeom prst="line">
            <a:avLst/>
          </a:prstGeom>
          <a:solidFill>
            <a:srgbClr val="5B9BD5"/>
          </a:solidFill>
          <a:ln w="12700" cap="flat" cmpd="sng" algn="ctr">
            <a:solidFill>
              <a:srgbClr val="A91F24"/>
            </a:solidFill>
            <a:prstDash val="solid"/>
            <a:round/>
            <a:headEnd type="none" w="sm" len="sm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对话气泡: 圆角矩形 18"/>
          <p:cNvSpPr/>
          <p:nvPr/>
        </p:nvSpPr>
        <p:spPr>
          <a:xfrm flipV="1">
            <a:off x="1033445" y="5001950"/>
            <a:ext cx="10125076" cy="1495370"/>
          </a:xfrm>
          <a:prstGeom prst="wedgeRoundRectCallout">
            <a:avLst>
              <a:gd name="adj1" fmla="val 26157"/>
              <a:gd name="adj2" fmla="val 90847"/>
              <a:gd name="adj3" fmla="val 16667"/>
            </a:avLst>
          </a:prstGeom>
          <a:noFill/>
          <a:ln w="254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8"/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7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48" grpId="0"/>
      <p:bldP spid="67" grpId="0"/>
      <p:bldP spid="68" grpId="0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/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报头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33462" y="3240679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33460" y="3786806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33451" y="4332933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cxnSp>
        <p:nvCxnSpPr>
          <p:cNvPr id="12" name="直接连接符 11"/>
          <p:cNvCxnSpPr>
            <a:stCxn id="39" idx="0"/>
            <a:endCxn id="39" idx="2"/>
          </p:cNvCxnSpPr>
          <p:nvPr/>
        </p:nvCxnSpPr>
        <p:spPr>
          <a:xfrm>
            <a:off x="6095989" y="4332933"/>
            <a:ext cx="0" cy="540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60331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117261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457817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4039933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56472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3042226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1956748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957184" y="44236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报头长度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204059" y="4414813"/>
            <a:ext cx="69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保留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88468" y="4423622"/>
            <a:ext cx="65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URG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513693" y="4435316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ACK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019273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PSH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579172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RST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070849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SYN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577440" y="4437451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FIN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229406" y="4384297"/>
            <a:ext cx="79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窗口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源端口号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394321" y="3279796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发送序号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380423" y="3832328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确认序号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033451" y="5247652"/>
            <a:ext cx="8320446" cy="810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17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报头长度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：表示TCP报文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首部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的大小，单位是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4字节</a:t>
            </a:r>
            <a:endParaRPr lang="zh-CN" altLang="en-US" sz="1600" b="1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 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思考：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和UDP报头中的长度字段有什么不同？该字段的取值范围是[5,15]，为什么?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对话气泡: 圆角矩形 7"/>
          <p:cNvSpPr/>
          <p:nvPr/>
        </p:nvSpPr>
        <p:spPr>
          <a:xfrm flipV="1">
            <a:off x="1033451" y="5247652"/>
            <a:ext cx="8320446" cy="899738"/>
          </a:xfrm>
          <a:prstGeom prst="wedgeRoundRectCallout">
            <a:avLst>
              <a:gd name="adj1" fmla="val -44851"/>
              <a:gd name="adj2" fmla="val 91170"/>
              <a:gd name="adj3" fmla="val 16667"/>
            </a:avLst>
          </a:prstGeom>
          <a:noFill/>
          <a:ln w="254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8"/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/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报头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33462" y="3240679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33460" y="3786806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033456" y="4879060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95998" y="4879060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33451" y="4332933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cxnSp>
        <p:nvCxnSpPr>
          <p:cNvPr id="12" name="直接连接符 11"/>
          <p:cNvCxnSpPr>
            <a:stCxn id="39" idx="0"/>
            <a:endCxn id="39" idx="2"/>
          </p:cNvCxnSpPr>
          <p:nvPr/>
        </p:nvCxnSpPr>
        <p:spPr>
          <a:xfrm>
            <a:off x="6095989" y="4332933"/>
            <a:ext cx="0" cy="540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60331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117261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457817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4039933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56472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3042226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1956748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957184" y="44236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报头长度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204059" y="4414813"/>
            <a:ext cx="69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保留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88468" y="4423622"/>
            <a:ext cx="65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URG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513693" y="4435316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ACK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019273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PSH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579172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RST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070849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SYN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577440" y="4437451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FIN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229406" y="4384297"/>
            <a:ext cx="79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窗口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源端口号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394321" y="3279796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发送序号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380423" y="3832328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确认序号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85820" y="4924582"/>
            <a:ext cx="1107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校验和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915780" y="4914774"/>
            <a:ext cx="142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紧急指针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1008856" y="5758815"/>
            <a:ext cx="9632102" cy="810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Char char="Ø"/>
            </a:pPr>
            <a:r>
              <a:rPr lang="zh-CN" altLang="en-US" sz="17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校验和</a:t>
            </a:r>
            <a:r>
              <a:rPr lang="zh-CN" altLang="en-US" sz="17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与UDP校验和的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相同点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：1）计算方式相同；2）也需要伪首部。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indent="0" algn="just" fontAlgn="auto">
              <a:lnSpc>
                <a:spcPct val="150000"/>
              </a:lnSpc>
              <a:buClr>
                <a:srgbClr val="A91F24"/>
              </a:buClr>
              <a:buSzPct val="80000"/>
              <a:buFont typeface="Wingdings" panose="05000000000000000000" charset="0"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               与UDP校验和的</a:t>
            </a: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不同点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：1）UDP校验和可选，TCP校验和必须；2）伪首部协议字段值为6。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对话气泡: 圆角矩形 12"/>
          <p:cNvSpPr/>
          <p:nvPr/>
        </p:nvSpPr>
        <p:spPr>
          <a:xfrm flipV="1">
            <a:off x="957184" y="5758814"/>
            <a:ext cx="9683774" cy="852805"/>
          </a:xfrm>
          <a:prstGeom prst="wedgeRoundRectCallout">
            <a:avLst>
              <a:gd name="adj1" fmla="val -22737"/>
              <a:gd name="adj2" fmla="val 84389"/>
              <a:gd name="adj3" fmla="val 16667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3" name="直接连接符 72"/>
          <p:cNvCxnSpPr/>
          <p:nvPr/>
        </p:nvCxnSpPr>
        <p:spPr>
          <a:xfrm flipV="1">
            <a:off x="11172419" y="2683194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V="1">
            <a:off x="11172419" y="5403430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11413636" y="2697703"/>
            <a:ext cx="0" cy="2720236"/>
          </a:xfrm>
          <a:prstGeom prst="line">
            <a:avLst/>
          </a:prstGeom>
          <a:ln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11390190" y="3395942"/>
            <a:ext cx="461665" cy="14773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固定长度部分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7" name="文本框 8"/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9" grpId="0"/>
      <p:bldP spid="64" grpId="0"/>
      <p:bldP spid="72" grpId="0"/>
      <p:bldP spid="13" grpId="0" animBg="1"/>
      <p:bldP spid="7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557713" y="1311861"/>
            <a:ext cx="5850643" cy="540341"/>
            <a:chOff x="4557713" y="1311861"/>
            <a:chExt cx="5850643" cy="540341"/>
          </a:xfrm>
        </p:grpSpPr>
        <p:sp>
          <p:nvSpPr>
            <p:cNvPr id="3" name="矩形 2"/>
            <p:cNvSpPr/>
            <p:nvPr/>
          </p:nvSpPr>
          <p:spPr>
            <a:xfrm>
              <a:off x="4557713" y="1311861"/>
              <a:ext cx="1538287" cy="540341"/>
            </a:xfrm>
            <a:prstGeom prst="rect">
              <a:avLst/>
            </a:prstGeom>
            <a:solidFill>
              <a:schemeClr val="accent1">
                <a:alpha val="2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TCP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charset="-122"/>
                </a:rPr>
                <a:t>报头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6096000" y="1311861"/>
              <a:ext cx="4312356" cy="540341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/>
                  </a:solidFill>
                </a:rPr>
                <a:t>数据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 flipH="1">
            <a:off x="1033460" y="1852202"/>
            <a:ext cx="3524254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96001" y="1852202"/>
            <a:ext cx="5062537" cy="848136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33462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096001" y="2700338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0425" y="2358374"/>
            <a:ext cx="296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890415" y="2343865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892629" y="2358374"/>
            <a:ext cx="43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33462" y="3240679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33460" y="3786806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033456" y="4879060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95998" y="4879060"/>
            <a:ext cx="5062537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33451" y="4332933"/>
            <a:ext cx="10125076" cy="540341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cxnSp>
        <p:nvCxnSpPr>
          <p:cNvPr id="12" name="直接连接符 11"/>
          <p:cNvCxnSpPr>
            <a:stCxn id="39" idx="0"/>
            <a:endCxn id="39" idx="2"/>
          </p:cNvCxnSpPr>
          <p:nvPr/>
        </p:nvCxnSpPr>
        <p:spPr>
          <a:xfrm>
            <a:off x="6095989" y="4332933"/>
            <a:ext cx="0" cy="540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60331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117261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457817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4039933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564724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3042226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1956748" y="4327143"/>
            <a:ext cx="0" cy="546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1033451" y="5417939"/>
            <a:ext cx="10125076" cy="900799"/>
          </a:xfrm>
          <a:prstGeom prst="rect">
            <a:avLst/>
          </a:prstGeom>
          <a:solidFill>
            <a:schemeClr val="accent1">
              <a:alpha val="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57184" y="44236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报头长度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204059" y="4414813"/>
            <a:ext cx="69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保留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988468" y="4423622"/>
            <a:ext cx="65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URG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513693" y="4435316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ACK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019273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PSH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579172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RST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070849" y="4423622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SYN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577440" y="4437451"/>
            <a:ext cx="6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FIN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229406" y="4384297"/>
            <a:ext cx="79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窗口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047356" y="5631667"/>
            <a:ext cx="10125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选项及填充（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&lt;=40B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）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11172419" y="2683194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1172419" y="5403430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172419" y="6305598"/>
            <a:ext cx="733933" cy="14509"/>
          </a:xfrm>
          <a:prstGeom prst="line">
            <a:avLst/>
          </a:prstGeom>
          <a:ln w="158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1413636" y="2697703"/>
            <a:ext cx="0" cy="2720236"/>
          </a:xfrm>
          <a:prstGeom prst="line">
            <a:avLst/>
          </a:prstGeom>
          <a:ln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11413636" y="5403430"/>
            <a:ext cx="0" cy="916677"/>
          </a:xfrm>
          <a:prstGeom prst="line">
            <a:avLst/>
          </a:prstGeom>
          <a:ln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1390190" y="3395942"/>
            <a:ext cx="461665" cy="14773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固定长度部分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1503261" y="5432447"/>
            <a:ext cx="738664" cy="87178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可变长度部分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24252" y="2739675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源端口号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758306" y="2749782"/>
            <a:ext cx="17378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charset="-122"/>
              </a:rPr>
              <a:t>目的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端口号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394321" y="3279796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发送序号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380423" y="3832328"/>
            <a:ext cx="1431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charset="-122"/>
              </a:rPr>
              <a:t>确认序号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85820" y="4924582"/>
            <a:ext cx="1107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校验和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915780" y="4914774"/>
            <a:ext cx="142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紧急指针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5" name="文本框 8"/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9" grpId="0"/>
      <p:bldP spid="6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927225" y="1541463"/>
          <a:ext cx="8642350" cy="4691057"/>
        </p:xfrm>
        <a:graphic>
          <a:graphicData uri="http://schemas.openxmlformats.org/drawingml/2006/table">
            <a:tbl>
              <a:tblPr/>
              <a:tblGrid>
                <a:gridCol w="1110418"/>
                <a:gridCol w="7531932"/>
              </a:tblGrid>
              <a:tr h="3860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bg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标志</a:t>
                      </a:r>
                      <a:endParaRPr lang="zh-CN" sz="1800" b="1" kern="100" dirty="0">
                        <a:solidFill>
                          <a:schemeClr val="bg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1" marR="68591" marT="0" marB="0" anchor="ctr" anchorCtr="1">
                    <a:lnL>
                      <a:noFill/>
                    </a:lnL>
                    <a:lnR w="9525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A9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bg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说</a:t>
                      </a:r>
                      <a:r>
                        <a:rPr lang="en-US" sz="1800" b="1" kern="100" dirty="0">
                          <a:solidFill>
                            <a:schemeClr val="bg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  </a:t>
                      </a:r>
                      <a:r>
                        <a:rPr lang="zh-CN" sz="1800" b="1" kern="100" dirty="0">
                          <a:solidFill>
                            <a:schemeClr val="bg1"/>
                          </a:solidFill>
                          <a:latin typeface="Calibri" panose="020F0502020204030204"/>
                          <a:ea typeface="宋体" panose="02010600030101010101" pitchFamily="2" charset="-122"/>
                          <a:cs typeface="Times New Roman" panose="02020603050405020304"/>
                        </a:rPr>
                        <a:t>明</a:t>
                      </a:r>
                      <a:endParaRPr lang="zh-CN" sz="1800" b="1" kern="100" dirty="0">
                        <a:solidFill>
                          <a:schemeClr val="bg1"/>
                        </a:solidFill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1" marR="68591" marT="0" marB="0" anchor="ctr" anchorCtr="1">
                    <a:lnL w="9525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19050">
                      <a:solidFill>
                        <a:schemeClr val="tx1"/>
                      </a:solidFill>
                      <a:prstDash val="solid"/>
                    </a:lnB>
                    <a:solidFill>
                      <a:srgbClr val="A91F24"/>
                    </a:solidFill>
                  </a:tcPr>
                </a:tc>
              </a:tr>
              <a:tr h="11982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SYN</a:t>
                      </a:r>
                      <a:endParaRPr lang="zh-CN" sz="20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>
                      <a:noFill/>
                    </a:lnL>
                    <a:lnR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当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SYN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，而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ACK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时，表明这是一个建立连接请求报文，若对方同意建立该连接，则应在发回的报文中将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SYN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ACK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标志位同时置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。实质上，就是用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SYN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来代表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Connection Request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Connection Accepted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，用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ACK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位来区分这两种情况。</a:t>
                      </a:r>
                      <a:endParaRPr lang="zh-CN" sz="20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19050">
                      <a:solidFill>
                        <a:schemeClr val="tx1"/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8365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ACK</a:t>
                      </a:r>
                      <a:endParaRPr lang="zh-CN" sz="20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>
                      <a:noFill/>
                    </a:lnL>
                    <a:lnR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确认号字段的值有效。只有当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ACK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时，确认序号字段才有意义。当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ACK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时，确认序号没有意义</a:t>
                      </a:r>
                      <a:r>
                        <a:rPr lang="zh-CN" sz="20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。</a:t>
                      </a:r>
                      <a:endParaRPr lang="zh-CN" sz="20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4504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FIN</a:t>
                      </a:r>
                      <a:endParaRPr lang="zh-CN" sz="20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>
                      <a:noFill/>
                    </a:lnL>
                    <a:lnR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终止连接。当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FIN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时，表明数据已经发送完毕，并请求释放连接</a:t>
                      </a:r>
                      <a:r>
                        <a:rPr lang="zh-CN" sz="20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。</a:t>
                      </a:r>
                      <a:endParaRPr lang="zh-CN" sz="20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199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RST</a:t>
                      </a:r>
                      <a:endParaRPr lang="zh-CN" sz="2000" kern="10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>
                      <a:noFill/>
                    </a:lnL>
                    <a:lnR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连接必须复位。当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RST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时，表明出现严重差错，必须释放连接，然后重新建立连接。</a:t>
                      </a:r>
                      <a:endParaRPr lang="zh-CN" sz="20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7799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URG</a:t>
                      </a:r>
                      <a:endParaRPr lang="zh-CN" sz="2000" kern="10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>
                      <a:noFill/>
                    </a:lnL>
                    <a:lnR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此报文是紧急数据，应尽快传送出去。此标志位要与紧急指针字段配合使用，由紧急指针指出在本报文段中的紧急数据的最后一个字节的编号。</a:t>
                      </a:r>
                      <a:endParaRPr lang="zh-CN" sz="20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199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PSH</a:t>
                      </a:r>
                      <a:endParaRPr lang="zh-CN" sz="20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>
                      <a:noFill/>
                    </a:lnL>
                    <a:lnR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将数据推向前。当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PSH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＝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时，请求接收方</a:t>
                      </a:r>
                      <a:r>
                        <a:rPr lang="en-US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zh-CN" sz="1600" kern="1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软件将该报文立即推送给应用程序。</a:t>
                      </a:r>
                      <a:endParaRPr lang="zh-CN" sz="2000" kern="1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 anchor="ctr" anchorCtr="1">
                    <a:lnL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906780" y="1687830"/>
            <a:ext cx="3606226" cy="584835"/>
          </a:xfrm>
          <a:prstGeom prst="roundRect">
            <a:avLst>
              <a:gd name="adj" fmla="val 0"/>
            </a:avLst>
          </a:prstGeom>
          <a:solidFill>
            <a:srgbClr val="A91F2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dist">
              <a:spcBef>
                <a:spcPts val="750"/>
              </a:spcBef>
            </a:pPr>
            <a:r>
              <a:rPr lang="zh-CN" altLang="en-US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TCP最大段长度（MSS）</a:t>
            </a:r>
            <a:endParaRPr lang="zh-CN" altLang="en-US" sz="2400" b="1" kern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06780" y="2279015"/>
            <a:ext cx="10652125" cy="732790"/>
            <a:chOff x="1428" y="3106"/>
            <a:chExt cx="16775" cy="1154"/>
          </a:xfrm>
        </p:grpSpPr>
        <p:sp>
          <p:nvSpPr>
            <p:cNvPr id="10" name="矩形 9"/>
            <p:cNvSpPr/>
            <p:nvPr/>
          </p:nvSpPr>
          <p:spPr>
            <a:xfrm>
              <a:off x="1428" y="3106"/>
              <a:ext cx="16775" cy="9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zh-CN" altLang="en-US" sz="2400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定义：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TCP报文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数据部分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的最大长度，</a:t>
              </a:r>
              <a:r>
                <a:rPr lang="zh-CN" altLang="en-US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不包括TCP报头长度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。默认值为</a:t>
              </a:r>
              <a:r>
                <a:rPr lang="en-US" altLang="zh-CN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536</a:t>
              </a:r>
              <a:r>
                <a:rPr lang="zh-CN" altLang="en-US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字节</a:t>
              </a:r>
              <a:endParaRPr lang="zh-CN" altLang="en-US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1428" y="4260"/>
              <a:ext cx="15295" cy="0"/>
            </a:xfrm>
            <a:prstGeom prst="line">
              <a:avLst/>
            </a:prstGeom>
            <a:ln>
              <a:solidFill>
                <a:srgbClr val="A91F2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317092" y="3429000"/>
            <a:ext cx="5283798" cy="1502420"/>
            <a:chOff x="966021" y="3429000"/>
            <a:chExt cx="5283798" cy="1502420"/>
          </a:xfrm>
        </p:grpSpPr>
        <p:sp>
          <p:nvSpPr>
            <p:cNvPr id="24" name="Rectangle 6"/>
            <p:cNvSpPr>
              <a:spLocks noChangeArrowheads="1"/>
            </p:cNvSpPr>
            <p:nvPr/>
          </p:nvSpPr>
          <p:spPr bwMode="auto">
            <a:xfrm>
              <a:off x="2400625" y="3899667"/>
              <a:ext cx="2805554" cy="500394"/>
            </a:xfrm>
            <a:prstGeom prst="rect">
              <a:avLst/>
            </a:prstGeom>
            <a:gradFill rotWithShape="1">
              <a:gsLst>
                <a:gs pos="0">
                  <a:srgbClr val="B2B28E"/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Rectangle 7"/>
            <p:cNvSpPr>
              <a:spLocks noChangeArrowheads="1"/>
            </p:cNvSpPr>
            <p:nvPr/>
          </p:nvSpPr>
          <p:spPr bwMode="auto">
            <a:xfrm>
              <a:off x="966021" y="4401300"/>
              <a:ext cx="4240157" cy="5301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Line 12"/>
            <p:cNvSpPr>
              <a:spLocks noChangeShapeType="1"/>
            </p:cNvSpPr>
            <p:nvPr/>
          </p:nvSpPr>
          <p:spPr bwMode="auto">
            <a:xfrm>
              <a:off x="2430757" y="4401300"/>
              <a:ext cx="0" cy="53012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Rectangle 14"/>
            <p:cNvSpPr>
              <a:spLocks noChangeArrowheads="1"/>
            </p:cNvSpPr>
            <p:nvPr/>
          </p:nvSpPr>
          <p:spPr bwMode="auto">
            <a:xfrm>
              <a:off x="966021" y="4428548"/>
              <a:ext cx="1637068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dirty="0">
                  <a:ea typeface="黑体" panose="02010609060101010101" charset="-122"/>
                </a:rPr>
                <a:t>UDP </a:t>
              </a:r>
              <a:r>
                <a:rPr kumimoji="1" lang="zh-CN" altLang="en-US" sz="2400" dirty="0">
                  <a:ea typeface="黑体" panose="02010609060101010101" charset="-122"/>
                </a:rPr>
                <a:t>头部</a:t>
              </a:r>
              <a:endParaRPr kumimoji="1" lang="zh-CN" altLang="en-US" sz="2400" dirty="0">
                <a:ea typeface="黑体" panose="02010609060101010101" charset="-122"/>
              </a:endParaRPr>
            </a:p>
          </p:txBody>
        </p:sp>
        <p:sp>
          <p:nvSpPr>
            <p:cNvPr id="38" name="Rectangle 15"/>
            <p:cNvSpPr>
              <a:spLocks noChangeArrowheads="1"/>
            </p:cNvSpPr>
            <p:nvPr/>
          </p:nvSpPr>
          <p:spPr bwMode="auto">
            <a:xfrm>
              <a:off x="2424004" y="4428548"/>
              <a:ext cx="2775421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00" dirty="0">
                  <a:ea typeface="黑体" panose="02010609060101010101" charset="-122"/>
                </a:rPr>
                <a:t>UDP</a:t>
              </a:r>
              <a:r>
                <a:rPr kumimoji="1" lang="zh-CN" altLang="en-US" sz="2400" dirty="0">
                  <a:ea typeface="黑体" panose="02010609060101010101" charset="-122"/>
                </a:rPr>
                <a:t>的数据部分</a:t>
              </a:r>
              <a:endParaRPr kumimoji="1" lang="zh-CN" altLang="en-US" sz="2400" dirty="0">
                <a:ea typeface="黑体" panose="02010609060101010101" charset="-122"/>
              </a:endParaRPr>
            </a:p>
          </p:txBody>
        </p:sp>
        <p:sp>
          <p:nvSpPr>
            <p:cNvPr id="39" name="Rectangle 16"/>
            <p:cNvSpPr>
              <a:spLocks noChangeArrowheads="1"/>
            </p:cNvSpPr>
            <p:nvPr/>
          </p:nvSpPr>
          <p:spPr bwMode="auto">
            <a:xfrm>
              <a:off x="5251282" y="4444861"/>
              <a:ext cx="998537" cy="358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zh-CN" altLang="en-US" sz="2400" dirty="0">
                  <a:solidFill>
                    <a:schemeClr val="tx1">
                      <a:lumMod val="60000"/>
                      <a:lumOff val="40000"/>
                    </a:schemeClr>
                  </a:solidFill>
                  <a:ea typeface="黑体" panose="02010609060101010101" charset="-122"/>
                </a:rPr>
                <a:t>传输层</a:t>
              </a:r>
              <a:endParaRPr kumimoji="1" lang="zh-CN" altLang="en-US" sz="2400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charset="-122"/>
              </a:endParaRPr>
            </a:p>
          </p:txBody>
        </p:sp>
        <p:sp>
          <p:nvSpPr>
            <p:cNvPr id="41" name="AutoShape 18"/>
            <p:cNvSpPr>
              <a:spLocks noChangeArrowheads="1"/>
            </p:cNvSpPr>
            <p:nvPr/>
          </p:nvSpPr>
          <p:spPr bwMode="auto">
            <a:xfrm rot="16200000" flipH="1">
              <a:off x="3600920" y="4018899"/>
              <a:ext cx="528883" cy="234679"/>
            </a:xfrm>
            <a:prstGeom prst="rightArrow">
              <a:avLst>
                <a:gd name="adj1" fmla="val 50000"/>
                <a:gd name="adj2" fmla="val 14749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Rectangle 19"/>
            <p:cNvSpPr>
              <a:spLocks noChangeArrowheads="1"/>
            </p:cNvSpPr>
            <p:nvPr/>
          </p:nvSpPr>
          <p:spPr bwMode="auto">
            <a:xfrm>
              <a:off x="2430758" y="3429000"/>
              <a:ext cx="2775424" cy="442180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400">
                  <a:ea typeface="黑体" panose="02010609060101010101" charset="-122"/>
                </a:rPr>
                <a:t>应用层报文</a:t>
              </a:r>
              <a:endParaRPr kumimoji="1" lang="zh-CN" altLang="en-US" sz="2400">
                <a:ea typeface="黑体" panose="02010609060101010101" charset="-122"/>
              </a:endParaRPr>
            </a:p>
          </p:txBody>
        </p:sp>
        <p:sp>
          <p:nvSpPr>
            <p:cNvPr id="43" name="Rectangle 20"/>
            <p:cNvSpPr>
              <a:spLocks noChangeArrowheads="1"/>
            </p:cNvSpPr>
            <p:nvPr/>
          </p:nvSpPr>
          <p:spPr bwMode="auto">
            <a:xfrm>
              <a:off x="5234304" y="3429000"/>
              <a:ext cx="998538" cy="3571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zh-CN" altLang="en-US" sz="2400" dirty="0">
                  <a:solidFill>
                    <a:schemeClr val="tx1">
                      <a:lumMod val="60000"/>
                      <a:lumOff val="40000"/>
                    </a:schemeClr>
                  </a:solidFill>
                  <a:ea typeface="黑体" panose="02010609060101010101" charset="-122"/>
                </a:rPr>
                <a:t>应用层</a:t>
              </a:r>
              <a:endParaRPr kumimoji="1" lang="zh-CN" altLang="en-US" sz="2400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6564700" y="3429000"/>
            <a:ext cx="5283798" cy="1502420"/>
            <a:chOff x="966021" y="3429000"/>
            <a:chExt cx="5283798" cy="1502420"/>
          </a:xfrm>
        </p:grpSpPr>
        <p:sp>
          <p:nvSpPr>
            <p:cNvPr id="55" name="Rectangle 6"/>
            <p:cNvSpPr>
              <a:spLocks noChangeArrowheads="1"/>
            </p:cNvSpPr>
            <p:nvPr/>
          </p:nvSpPr>
          <p:spPr bwMode="auto">
            <a:xfrm>
              <a:off x="2424005" y="3899667"/>
              <a:ext cx="1755494" cy="500394"/>
            </a:xfrm>
            <a:prstGeom prst="rect">
              <a:avLst/>
            </a:prstGeom>
            <a:gradFill rotWithShape="1">
              <a:gsLst>
                <a:gs pos="0">
                  <a:srgbClr val="B2B28E"/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Rectangle 7"/>
            <p:cNvSpPr>
              <a:spLocks noChangeArrowheads="1"/>
            </p:cNvSpPr>
            <p:nvPr/>
          </p:nvSpPr>
          <p:spPr bwMode="auto">
            <a:xfrm>
              <a:off x="966021" y="4401300"/>
              <a:ext cx="3213481" cy="5301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Line 12"/>
            <p:cNvSpPr>
              <a:spLocks noChangeShapeType="1"/>
            </p:cNvSpPr>
            <p:nvPr/>
          </p:nvSpPr>
          <p:spPr bwMode="auto">
            <a:xfrm>
              <a:off x="2430757" y="4401300"/>
              <a:ext cx="0" cy="53012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Rectangle 14"/>
            <p:cNvSpPr>
              <a:spLocks noChangeArrowheads="1"/>
            </p:cNvSpPr>
            <p:nvPr/>
          </p:nvSpPr>
          <p:spPr bwMode="auto">
            <a:xfrm>
              <a:off x="966021" y="4428548"/>
              <a:ext cx="1515559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dirty="0">
                  <a:ea typeface="黑体" panose="02010609060101010101" charset="-122"/>
                </a:rPr>
                <a:t>TCP </a:t>
              </a:r>
              <a:r>
                <a:rPr kumimoji="1" lang="zh-CN" altLang="en-US" sz="2400" dirty="0">
                  <a:ea typeface="黑体" panose="02010609060101010101" charset="-122"/>
                </a:rPr>
                <a:t>头部</a:t>
              </a:r>
              <a:endParaRPr kumimoji="1" lang="zh-CN" altLang="en-US" sz="2400" dirty="0">
                <a:ea typeface="黑体" panose="02010609060101010101" charset="-122"/>
              </a:endParaRPr>
            </a:p>
          </p:txBody>
        </p:sp>
        <p:sp>
          <p:nvSpPr>
            <p:cNvPr id="59" name="Rectangle 15"/>
            <p:cNvSpPr>
              <a:spLocks noChangeArrowheads="1"/>
            </p:cNvSpPr>
            <p:nvPr/>
          </p:nvSpPr>
          <p:spPr bwMode="auto">
            <a:xfrm>
              <a:off x="2424005" y="4428548"/>
              <a:ext cx="1814490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88" tIns="44450" rIns="90488" bIns="44450">
              <a:spAutoFit/>
            </a:bodyPr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sz="2400" dirty="0">
                  <a:ea typeface="黑体" panose="02010609060101010101" charset="-122"/>
                </a:rPr>
                <a:t>TCP</a:t>
              </a:r>
              <a:r>
                <a:rPr kumimoji="1" lang="zh-CN" altLang="en-US" sz="2400" dirty="0">
                  <a:ea typeface="黑体" panose="02010609060101010101" charset="-122"/>
                </a:rPr>
                <a:t>的数据</a:t>
              </a:r>
              <a:endParaRPr kumimoji="1" lang="zh-CN" altLang="en-US" sz="2400" dirty="0">
                <a:ea typeface="黑体" panose="02010609060101010101" charset="-122"/>
              </a:endParaRPr>
            </a:p>
          </p:txBody>
        </p:sp>
        <p:sp>
          <p:nvSpPr>
            <p:cNvPr id="60" name="Rectangle 16"/>
            <p:cNvSpPr>
              <a:spLocks noChangeArrowheads="1"/>
            </p:cNvSpPr>
            <p:nvPr/>
          </p:nvSpPr>
          <p:spPr bwMode="auto">
            <a:xfrm>
              <a:off x="5251282" y="4444861"/>
              <a:ext cx="998537" cy="358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zh-CN" altLang="en-US" sz="2400" dirty="0">
                  <a:solidFill>
                    <a:schemeClr val="tx1">
                      <a:lumMod val="60000"/>
                      <a:lumOff val="40000"/>
                    </a:schemeClr>
                  </a:solidFill>
                  <a:ea typeface="黑体" panose="02010609060101010101" charset="-122"/>
                </a:rPr>
                <a:t>传输层</a:t>
              </a:r>
              <a:endParaRPr kumimoji="1" lang="zh-CN" altLang="en-US" sz="2400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charset="-122"/>
              </a:endParaRPr>
            </a:p>
          </p:txBody>
        </p:sp>
        <p:sp>
          <p:nvSpPr>
            <p:cNvPr id="61" name="AutoShape 18"/>
            <p:cNvSpPr>
              <a:spLocks noChangeArrowheads="1"/>
            </p:cNvSpPr>
            <p:nvPr/>
          </p:nvSpPr>
          <p:spPr bwMode="auto">
            <a:xfrm rot="16200000" flipH="1">
              <a:off x="2988866" y="4018899"/>
              <a:ext cx="528883" cy="234679"/>
            </a:xfrm>
            <a:prstGeom prst="rightArrow">
              <a:avLst>
                <a:gd name="adj1" fmla="val 50000"/>
                <a:gd name="adj2" fmla="val 14749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Rectangle 19"/>
            <p:cNvSpPr>
              <a:spLocks noChangeArrowheads="1"/>
            </p:cNvSpPr>
            <p:nvPr/>
          </p:nvSpPr>
          <p:spPr bwMode="auto">
            <a:xfrm>
              <a:off x="2430758" y="3429000"/>
              <a:ext cx="2775424" cy="442180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620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400">
                  <a:ea typeface="黑体" panose="02010609060101010101" charset="-122"/>
                </a:rPr>
                <a:t>应用层报文</a:t>
              </a:r>
              <a:endParaRPr kumimoji="1" lang="zh-CN" altLang="en-US" sz="2400">
                <a:ea typeface="黑体" panose="02010609060101010101" charset="-122"/>
              </a:endParaRPr>
            </a:p>
          </p:txBody>
        </p:sp>
        <p:sp>
          <p:nvSpPr>
            <p:cNvPr id="63" name="Rectangle 20"/>
            <p:cNvSpPr>
              <a:spLocks noChangeArrowheads="1"/>
            </p:cNvSpPr>
            <p:nvPr/>
          </p:nvSpPr>
          <p:spPr bwMode="auto">
            <a:xfrm>
              <a:off x="5234304" y="3429000"/>
              <a:ext cx="998538" cy="3571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kumimoji="1" lang="zh-CN" altLang="en-US" sz="2400" dirty="0">
                  <a:solidFill>
                    <a:schemeClr val="tx1">
                      <a:lumMod val="60000"/>
                      <a:lumOff val="40000"/>
                    </a:schemeClr>
                  </a:solidFill>
                  <a:ea typeface="黑体" panose="02010609060101010101" charset="-122"/>
                </a:rPr>
                <a:t>应用层</a:t>
              </a:r>
              <a:endParaRPr kumimoji="1" lang="zh-CN" altLang="en-US" sz="2400" dirty="0">
                <a:solidFill>
                  <a:schemeClr val="tx1">
                    <a:lumMod val="60000"/>
                    <a:lumOff val="40000"/>
                  </a:schemeClr>
                </a:solidFill>
                <a:ea typeface="黑体" panose="02010609060101010101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307116" y="5140441"/>
            <a:ext cx="2805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</a:rPr>
              <a:t>UDP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：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面向报文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传输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303443" y="5140441"/>
            <a:ext cx="2862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</a:rPr>
              <a:t>TCP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：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面向字节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传输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4" name="文本框 8"/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8" grpId="0" animBg="1"/>
      <p:bldP spid="15" grpId="0"/>
      <p:bldP spid="6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906780" y="1687830"/>
            <a:ext cx="3606226" cy="584835"/>
          </a:xfrm>
          <a:prstGeom prst="roundRect">
            <a:avLst>
              <a:gd name="adj" fmla="val 0"/>
            </a:avLst>
          </a:prstGeom>
          <a:solidFill>
            <a:srgbClr val="A91F2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dist">
              <a:spcBef>
                <a:spcPts val="750"/>
              </a:spcBef>
            </a:pPr>
            <a:r>
              <a:rPr lang="zh-CN" altLang="en-US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TCP最大段长度（MSS）</a:t>
            </a:r>
            <a:endParaRPr lang="zh-CN" altLang="en-US" sz="2400" b="1" kern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06780" y="2279015"/>
            <a:ext cx="10652125" cy="732790"/>
            <a:chOff x="1428" y="3106"/>
            <a:chExt cx="16775" cy="1154"/>
          </a:xfrm>
        </p:grpSpPr>
        <p:sp>
          <p:nvSpPr>
            <p:cNvPr id="10" name="矩形 9"/>
            <p:cNvSpPr/>
            <p:nvPr/>
          </p:nvSpPr>
          <p:spPr>
            <a:xfrm>
              <a:off x="1428" y="3106"/>
              <a:ext cx="16775" cy="9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zh-CN" altLang="en-US" sz="2400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定义：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TCP报文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数据部分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的最大长度，</a:t>
              </a:r>
              <a:r>
                <a:rPr lang="zh-CN" altLang="en-US" b="1" dirty="0">
                  <a:solidFill>
                    <a:srgbClr val="A91F24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不包括TCP报头长度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。默认值为</a:t>
              </a:r>
              <a:r>
                <a:rPr lang="en-US" altLang="zh-CN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536</a:t>
              </a:r>
              <a:r>
                <a:rPr lang="zh-CN" altLang="en-US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字节</a:t>
              </a:r>
              <a:endParaRPr lang="zh-CN" altLang="en-US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1428" y="4260"/>
              <a:ext cx="15295" cy="0"/>
            </a:xfrm>
            <a:prstGeom prst="line">
              <a:avLst/>
            </a:prstGeom>
            <a:ln>
              <a:solidFill>
                <a:srgbClr val="A91F2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916305" y="3158490"/>
            <a:ext cx="9885680" cy="677107"/>
            <a:chOff x="1443" y="5363"/>
            <a:chExt cx="15568" cy="1071"/>
          </a:xfrm>
        </p:grpSpPr>
        <p:sp>
          <p:nvSpPr>
            <p:cNvPr id="6" name="矩形 5"/>
            <p:cNvSpPr/>
            <p:nvPr/>
          </p:nvSpPr>
          <p:spPr>
            <a:xfrm>
              <a:off x="1443" y="5363"/>
              <a:ext cx="15568" cy="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00100" lvl="1" indent="-3429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2400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区别：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MSS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与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窗口长度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有什么区别？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1533" y="6434"/>
              <a:ext cx="15221" cy="0"/>
            </a:xfrm>
            <a:prstGeom prst="line">
              <a:avLst/>
            </a:prstGeom>
            <a:ln>
              <a:solidFill>
                <a:srgbClr val="A91F2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916305" y="3970996"/>
            <a:ext cx="9885680" cy="701969"/>
            <a:chOff x="916305" y="3970996"/>
            <a:chExt cx="9885680" cy="701969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939969" y="4672965"/>
              <a:ext cx="9732116" cy="0"/>
            </a:xfrm>
            <a:prstGeom prst="line">
              <a:avLst/>
            </a:prstGeom>
            <a:ln>
              <a:solidFill>
                <a:srgbClr val="A91F2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916305" y="3970996"/>
              <a:ext cx="9885680" cy="5810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00100" lvl="1" indent="-3429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2400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思考：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MSS的值的大小应该如何选择？过大与过小分别有什么影响？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60316" y="4989195"/>
            <a:ext cx="10122535" cy="1159260"/>
            <a:chOff x="860316" y="4989195"/>
            <a:chExt cx="10122535" cy="1159260"/>
          </a:xfrm>
        </p:grpSpPr>
        <p:sp>
          <p:nvSpPr>
            <p:cNvPr id="30" name="矩形 29"/>
            <p:cNvSpPr/>
            <p:nvPr/>
          </p:nvSpPr>
          <p:spPr>
            <a:xfrm>
              <a:off x="860316" y="4989195"/>
              <a:ext cx="10122535" cy="10129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lang="zh-CN" altLang="en-US" sz="2400" b="1" dirty="0">
                  <a:solidFill>
                    <a:srgbClr val="A91F2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rPr>
                <a:t>大小选择：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1) 考虑协议开销，不能太小；2) 考虑分段导致的网络层开销和传输出错概率，不能太大；3) 考虑发送和接收缓冲区的限制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31" name="直接连接符 30"/>
            <p:cNvCxnSpPr/>
            <p:nvPr/>
          </p:nvCxnSpPr>
          <p:spPr>
            <a:xfrm>
              <a:off x="973455" y="6148455"/>
              <a:ext cx="9665335" cy="0"/>
            </a:xfrm>
            <a:prstGeom prst="line">
              <a:avLst/>
            </a:prstGeom>
            <a:ln>
              <a:solidFill>
                <a:srgbClr val="A91F24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文本框 8"/>
          <p:cNvSpPr txBox="1">
            <a:spLocks noChangeArrowheads="1"/>
          </p:cNvSpPr>
          <p:nvPr/>
        </p:nvSpPr>
        <p:spPr bwMode="auto">
          <a:xfrm>
            <a:off x="860425" y="939049"/>
            <a:ext cx="3076576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49867" y="2023534"/>
            <a:ext cx="10096500" cy="1722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捕捉一组完整的TCP会话通信过程，观察SYN, ACK, FIN, PSH, URG, RST会在什么情况下出现。</a:t>
            </a:r>
            <a:endParaRPr lang="zh-CN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zh-CN" altLang="zh-CN" b="0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TCP报文段为什么没有字段定义数据字段的长度？这样做会有什么潜在的问题？</a:t>
            </a:r>
            <a:endParaRPr lang="en-US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defRPr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	</a:t>
            </a:r>
            <a:endParaRPr lang="zh-CN" altLang="zh-CN" b="0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20000"/>
              </a:lnSpc>
              <a:spcAft>
                <a:spcPts val="0"/>
              </a:spcAft>
              <a:buClrTx/>
              <a:buSzTx/>
              <a:defRPr/>
            </a:pPr>
            <a:r>
              <a:rPr lang="en-US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3. </a:t>
            </a: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TCPv6的数据结构与TCPv4的数据结构有何不同？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860425" y="939049"/>
            <a:ext cx="4532842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3.4.2 TCP</a:t>
            </a:r>
            <a:r>
              <a:rPr lang="zh-CN" altLang="en-US" sz="2200" dirty="0">
                <a:latin typeface="Times New Roman" panose="02020603050405020304" pitchFamily="18" charset="0"/>
              </a:rPr>
              <a:t>报文格式（</a:t>
            </a:r>
            <a:r>
              <a:rPr lang="zh-CN" alt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拓展思考题</a:t>
            </a:r>
            <a:r>
              <a:rPr lang="zh-CN" altLang="en-US" sz="2200" dirty="0">
                <a:latin typeface="Times New Roman" panose="02020603050405020304" pitchFamily="18" charset="0"/>
              </a:rPr>
              <a:t>）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3797" name="Object 2"/>
          <p:cNvGraphicFramePr>
            <a:graphicFrameLocks noChangeAspect="1"/>
          </p:cNvGraphicFramePr>
          <p:nvPr/>
        </p:nvGraphicFramePr>
        <p:xfrm>
          <a:off x="6978809" y="852646"/>
          <a:ext cx="3648710" cy="6091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4634230" imgH="7730490" progId="Visio.Drawing.11">
                  <p:embed/>
                </p:oleObj>
              </mc:Choice>
              <mc:Fallback>
                <p:oleObj name="" r:id="rId1" imgW="4634230" imgH="773049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78809" y="852646"/>
                        <a:ext cx="3648710" cy="60915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3598545" y="1700530"/>
            <a:ext cx="7049770" cy="1200150"/>
            <a:chOff x="5667" y="2678"/>
            <a:chExt cx="11102" cy="1890"/>
          </a:xfrm>
        </p:grpSpPr>
        <p:sp>
          <p:nvSpPr>
            <p:cNvPr id="4" name="矩形 3"/>
            <p:cNvSpPr/>
            <p:nvPr/>
          </p:nvSpPr>
          <p:spPr>
            <a:xfrm>
              <a:off x="10987" y="2678"/>
              <a:ext cx="5783" cy="189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 flipV="1">
              <a:off x="5667" y="3439"/>
              <a:ext cx="4819" cy="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1465580" y="1865630"/>
            <a:ext cx="3523615" cy="991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  <a:endParaRPr lang="zh-CN" altLang="en-US" sz="1900" b="1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个报文段交互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994150" y="2969260"/>
            <a:ext cx="6670040" cy="944880"/>
            <a:chOff x="6290" y="4676"/>
            <a:chExt cx="10504" cy="1488"/>
          </a:xfrm>
        </p:grpSpPr>
        <p:sp>
          <p:nvSpPr>
            <p:cNvPr id="13" name="矩形 12"/>
            <p:cNvSpPr/>
            <p:nvPr/>
          </p:nvSpPr>
          <p:spPr>
            <a:xfrm>
              <a:off x="11012" y="4676"/>
              <a:ext cx="5783" cy="1488"/>
            </a:xfrm>
            <a:prstGeom prst="rect">
              <a:avLst/>
            </a:prstGeom>
            <a:noFill/>
            <a:ln w="28575"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5" name="直接箭头连接符 4"/>
            <p:cNvCxnSpPr/>
            <p:nvPr/>
          </p:nvCxnSpPr>
          <p:spPr>
            <a:xfrm>
              <a:off x="6290" y="5322"/>
              <a:ext cx="4196" cy="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 5"/>
          <p:cNvSpPr/>
          <p:nvPr/>
        </p:nvSpPr>
        <p:spPr>
          <a:xfrm>
            <a:off x="1465580" y="3065780"/>
            <a:ext cx="5384165" cy="945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数据双向传输阶段</a:t>
            </a:r>
            <a:endParaRPr lang="zh-CN" altLang="en-US" sz="1900" b="1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以滑动窗口中的多个报文段为单位的双向传输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470910" y="3956685"/>
            <a:ext cx="7190105" cy="2545080"/>
            <a:chOff x="5466" y="6231"/>
            <a:chExt cx="11323" cy="4008"/>
          </a:xfrm>
        </p:grpSpPr>
        <p:sp>
          <p:nvSpPr>
            <p:cNvPr id="16" name="矩形 15"/>
            <p:cNvSpPr/>
            <p:nvPr/>
          </p:nvSpPr>
          <p:spPr>
            <a:xfrm>
              <a:off x="11007" y="6231"/>
              <a:ext cx="5783" cy="4008"/>
            </a:xfrm>
            <a:prstGeom prst="rect">
              <a:avLst/>
            </a:prstGeom>
            <a:noFill/>
            <a:ln w="28575">
              <a:solidFill>
                <a:srgbClr val="00206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7" name="直接箭头连接符 6"/>
            <p:cNvCxnSpPr/>
            <p:nvPr/>
          </p:nvCxnSpPr>
          <p:spPr>
            <a:xfrm flipV="1">
              <a:off x="5466" y="7761"/>
              <a:ext cx="5020" cy="8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矩形 10"/>
          <p:cNvSpPr/>
          <p:nvPr/>
        </p:nvSpPr>
        <p:spPr>
          <a:xfrm>
            <a:off x="1465580" y="4584700"/>
            <a:ext cx="5193665" cy="1360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释放连接阶段</a:t>
            </a:r>
            <a:endParaRPr lang="zh-CN" altLang="en-US" sz="1900" b="1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两个方向的连接，可以间隔开来释放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每个方向的连接释放，需要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个报文段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10" grpId="0"/>
      <p:bldP spid="6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连接建立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66" y="1578011"/>
            <a:ext cx="702495" cy="70249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648" y="1578011"/>
            <a:ext cx="715579" cy="715579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5637050" y="2578233"/>
            <a:ext cx="1394162" cy="5989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0080942" y="2564662"/>
            <a:ext cx="1394161" cy="5989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连接符: 肘形 29"/>
          <p:cNvCxnSpPr>
            <a:stCxn id="14" idx="1"/>
            <a:endCxn id="24" idx="1"/>
          </p:cNvCxnSpPr>
          <p:nvPr/>
        </p:nvCxnSpPr>
        <p:spPr>
          <a:xfrm rot="10800000" flipV="1">
            <a:off x="5637050" y="1929259"/>
            <a:ext cx="342716" cy="948424"/>
          </a:xfrm>
          <a:prstGeom prst="bentConnector3">
            <a:avLst>
              <a:gd name="adj1" fmla="val 166702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5098485" y="2248605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主动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36" name="连接符: 肘形 35"/>
          <p:cNvCxnSpPr>
            <a:stCxn id="17" idx="3"/>
            <a:endCxn id="33" idx="3"/>
          </p:cNvCxnSpPr>
          <p:nvPr/>
        </p:nvCxnSpPr>
        <p:spPr>
          <a:xfrm>
            <a:off x="11131227" y="1935801"/>
            <a:ext cx="343876" cy="928311"/>
          </a:xfrm>
          <a:prstGeom prst="bentConnector3">
            <a:avLst>
              <a:gd name="adj1" fmla="val 166477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11378022" y="2242624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被动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621738" y="3175409"/>
            <a:ext cx="1402726" cy="12520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SYN-SENT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0076354" y="3163561"/>
            <a:ext cx="1394163" cy="6786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LISTEN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7024464" y="3163561"/>
            <a:ext cx="3075519" cy="678611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 flipH="1">
            <a:off x="6987548" y="3854020"/>
            <a:ext cx="3049235" cy="585328"/>
          </a:xfrm>
          <a:prstGeom prst="straightConnector1">
            <a:avLst/>
          </a:prstGeom>
          <a:ln w="15875">
            <a:solidFill>
              <a:schemeClr val="accent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5617015" y="4448318"/>
            <a:ext cx="1394163" cy="13588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0076353" y="3855636"/>
            <a:ext cx="1394163" cy="12695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SYN-RCVD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317" name="直接箭头连接符 13316"/>
          <p:cNvCxnSpPr/>
          <p:nvPr/>
        </p:nvCxnSpPr>
        <p:spPr>
          <a:xfrm>
            <a:off x="6987548" y="4453675"/>
            <a:ext cx="3112435" cy="67153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10076353" y="5151921"/>
            <a:ext cx="1394163" cy="6552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 rot="823709">
            <a:off x="7371862" y="3170138"/>
            <a:ext cx="2402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Hey, connection request</a:t>
            </a:r>
            <a:endParaRPr lang="zh-CN" altLang="en-US" sz="1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 rot="20910729">
            <a:off x="7242259" y="3838817"/>
            <a:ext cx="2169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OK, I agree to connect</a:t>
            </a:r>
            <a:endParaRPr lang="zh-CN" altLang="en-US" sz="1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 rot="701508">
            <a:off x="7498756" y="4509241"/>
            <a:ext cx="2541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OK, we can transfer data </a:t>
            </a:r>
            <a:endParaRPr lang="zh-CN" altLang="en-US" sz="1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箭头: 左右 49"/>
          <p:cNvSpPr/>
          <p:nvPr/>
        </p:nvSpPr>
        <p:spPr>
          <a:xfrm>
            <a:off x="7075169" y="5364342"/>
            <a:ext cx="2919434" cy="358902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7942876" y="5323134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</a:rPr>
              <a:t>数据传输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1838" y="3359860"/>
            <a:ext cx="1257576" cy="125757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883646" y="3258581"/>
            <a:ext cx="1358855" cy="1358855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>
            <a:off x="1509823" y="3471530"/>
            <a:ext cx="2541182" cy="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634083" y="3082441"/>
            <a:ext cx="236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喂，听得到我说话吗？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1509823" y="4034673"/>
            <a:ext cx="2541183" cy="0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1500549" y="3646073"/>
            <a:ext cx="2550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听得到，你听得到我吗？</a:t>
            </a:r>
            <a:endParaRPr lang="zh-CN" altLang="en-US" dirty="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381797" y="4137174"/>
            <a:ext cx="273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听到了，我们可以说话了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1495078" y="4544877"/>
            <a:ext cx="2444285" cy="259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574229" y="4740710"/>
            <a:ext cx="691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253876" y="4631353"/>
            <a:ext cx="618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24" grpId="0" animBg="1"/>
      <p:bldP spid="33" grpId="0" animBg="1"/>
      <p:bldP spid="34" grpId="0"/>
      <p:bldP spid="41" grpId="0"/>
      <p:bldP spid="47" grpId="0" animBg="1"/>
      <p:bldP spid="59" grpId="0" animBg="1"/>
      <p:bldP spid="69" grpId="0" animBg="1"/>
      <p:bldP spid="70" grpId="0" animBg="1"/>
      <p:bldP spid="75" grpId="0" animBg="1"/>
      <p:bldP spid="3" grpId="0"/>
      <p:bldP spid="43" grpId="0"/>
      <p:bldP spid="48" grpId="0"/>
      <p:bldP spid="50" grpId="0" animBg="1"/>
      <p:bldP spid="35" grpId="0"/>
      <p:bldP spid="12" grpId="0"/>
      <p:bldP spid="42" grpId="0"/>
      <p:bldP spid="45" grpId="0"/>
      <p:bldP spid="23" grpId="0"/>
      <p:bldP spid="5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连接建立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66" y="1578011"/>
            <a:ext cx="702495" cy="70249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648" y="1578011"/>
            <a:ext cx="715579" cy="715579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5637050" y="2578233"/>
            <a:ext cx="1394162" cy="5989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0080942" y="2564662"/>
            <a:ext cx="1394161" cy="5989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连接符: 肘形 29"/>
          <p:cNvCxnSpPr>
            <a:stCxn id="14" idx="1"/>
            <a:endCxn id="24" idx="1"/>
          </p:cNvCxnSpPr>
          <p:nvPr/>
        </p:nvCxnSpPr>
        <p:spPr>
          <a:xfrm rot="10800000" flipV="1">
            <a:off x="5637050" y="1929259"/>
            <a:ext cx="342716" cy="948424"/>
          </a:xfrm>
          <a:prstGeom prst="bentConnector3">
            <a:avLst>
              <a:gd name="adj1" fmla="val 166702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5098485" y="2248605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主动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36" name="连接符: 肘形 35"/>
          <p:cNvCxnSpPr>
            <a:stCxn id="17" idx="3"/>
            <a:endCxn id="33" idx="3"/>
          </p:cNvCxnSpPr>
          <p:nvPr/>
        </p:nvCxnSpPr>
        <p:spPr>
          <a:xfrm>
            <a:off x="11131227" y="1935801"/>
            <a:ext cx="343876" cy="928311"/>
          </a:xfrm>
          <a:prstGeom prst="bentConnector3">
            <a:avLst>
              <a:gd name="adj1" fmla="val 166477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11378022" y="2242624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被动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621738" y="3175409"/>
            <a:ext cx="1402726" cy="12520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SYN-SENT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0076354" y="3163561"/>
            <a:ext cx="1394163" cy="6786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LISTEN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7024464" y="3163561"/>
            <a:ext cx="3075519" cy="678611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 flipH="1">
            <a:off x="6987548" y="3854020"/>
            <a:ext cx="3049235" cy="585328"/>
          </a:xfrm>
          <a:prstGeom prst="straightConnector1">
            <a:avLst/>
          </a:prstGeom>
          <a:ln w="15875">
            <a:solidFill>
              <a:schemeClr val="accent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5617015" y="4448318"/>
            <a:ext cx="1394163" cy="13588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0076353" y="3855636"/>
            <a:ext cx="1394163" cy="12695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SYN-RCVD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317" name="直接箭头连接符 13316"/>
          <p:cNvCxnSpPr/>
          <p:nvPr/>
        </p:nvCxnSpPr>
        <p:spPr>
          <a:xfrm>
            <a:off x="6987548" y="4453675"/>
            <a:ext cx="3112435" cy="67153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10076353" y="5151921"/>
            <a:ext cx="1394163" cy="6552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箭头: 左右 49"/>
          <p:cNvSpPr/>
          <p:nvPr/>
        </p:nvSpPr>
        <p:spPr>
          <a:xfrm>
            <a:off x="7075169" y="5364342"/>
            <a:ext cx="2919434" cy="358902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7942876" y="5323134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</a:rPr>
              <a:t>数据传输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 rot="786145">
            <a:off x="7379478" y="3145739"/>
            <a:ext cx="2241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SYN=1, ACK=0, seq=x</a:t>
            </a:r>
            <a:endParaRPr lang="zh-CN" altLang="en-US" sz="1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 rot="20910729">
            <a:off x="6993880" y="3884456"/>
            <a:ext cx="2709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SYN=1, ACK=1, seq=y, ack=x+1</a:t>
            </a:r>
            <a:endParaRPr lang="zh-CN" altLang="en-US" sz="1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 rot="768234">
            <a:off x="7540761" y="4499377"/>
            <a:ext cx="2233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ACK=1, seq=x+1, ack=y+1</a:t>
            </a:r>
            <a:endParaRPr lang="zh-CN" altLang="en-US" sz="1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79690" y="1523861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45120" y="1969631"/>
            <a:ext cx="4553365" cy="1249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客户端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：发送连接建立请求，SYN=1，ACK=0，Seq=x。SYN=1的报文段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不携带数据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，但要消耗掉一个序号。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23477" y="3341035"/>
            <a:ext cx="4633708" cy="1249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服务器端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：收到请求并同意，SYN=1，ACK=1，Seq=y, ack=x+1。该报文段也是SYN=1的报文段，不携带数据，但要消耗掉一个序号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82314" y="4789440"/>
            <a:ext cx="4784521" cy="879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客户端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：收到服务器的确认，并对此进行确认。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    ACK=1, Seq=x+1, ack=y+1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436818" y="5868641"/>
            <a:ext cx="7312935" cy="823009"/>
            <a:chOff x="3105" y="8516"/>
            <a:chExt cx="13382" cy="1532"/>
          </a:xfrm>
        </p:grpSpPr>
        <p:pic>
          <p:nvPicPr>
            <p:cNvPr id="58" name="Picture 2"/>
            <p:cNvPicPr>
              <a:picLocks noChangeAspect="1"/>
            </p:cNvPicPr>
            <p:nvPr/>
          </p:nvPicPr>
          <p:blipFill>
            <a:blip r:embed="rId3"/>
            <a:srcRect l="44176" t="22581"/>
            <a:stretch>
              <a:fillRect/>
            </a:stretch>
          </p:blipFill>
          <p:spPr>
            <a:xfrm>
              <a:off x="3105" y="8516"/>
              <a:ext cx="13382" cy="153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" name="矩形 60"/>
            <p:cNvSpPr/>
            <p:nvPr/>
          </p:nvSpPr>
          <p:spPr>
            <a:xfrm>
              <a:off x="7332" y="8643"/>
              <a:ext cx="1200" cy="44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9617" y="9091"/>
              <a:ext cx="1200" cy="44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8360" y="9091"/>
              <a:ext cx="1200" cy="447"/>
            </a:xfrm>
            <a:prstGeom prst="rect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8532" y="9538"/>
              <a:ext cx="1200" cy="445"/>
            </a:xfrm>
            <a:prstGeom prst="rect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50" grpId="0" animBg="1"/>
      <p:bldP spid="35" grpId="0"/>
      <p:bldP spid="40" grpId="0"/>
      <p:bldP spid="44" grpId="0"/>
      <p:bldP spid="49" grpId="0"/>
      <p:bldP spid="53" grpId="0"/>
      <p:bldP spid="54" grpId="0"/>
      <p:bldP spid="5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连接建立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66" y="1578011"/>
            <a:ext cx="702495" cy="70249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648" y="1578011"/>
            <a:ext cx="715579" cy="715579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5637050" y="2578233"/>
            <a:ext cx="1394162" cy="5989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0080942" y="2564662"/>
            <a:ext cx="1394161" cy="5989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连接符: 肘形 29"/>
          <p:cNvCxnSpPr>
            <a:stCxn id="14" idx="1"/>
            <a:endCxn id="24" idx="1"/>
          </p:cNvCxnSpPr>
          <p:nvPr/>
        </p:nvCxnSpPr>
        <p:spPr>
          <a:xfrm rot="10800000" flipV="1">
            <a:off x="5637050" y="1929259"/>
            <a:ext cx="342716" cy="948424"/>
          </a:xfrm>
          <a:prstGeom prst="bentConnector3">
            <a:avLst>
              <a:gd name="adj1" fmla="val 166702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5098485" y="2248605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主动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36" name="连接符: 肘形 35"/>
          <p:cNvCxnSpPr>
            <a:stCxn id="17" idx="3"/>
            <a:endCxn id="33" idx="3"/>
          </p:cNvCxnSpPr>
          <p:nvPr/>
        </p:nvCxnSpPr>
        <p:spPr>
          <a:xfrm>
            <a:off x="11131227" y="1935801"/>
            <a:ext cx="343876" cy="928311"/>
          </a:xfrm>
          <a:prstGeom prst="bentConnector3">
            <a:avLst>
              <a:gd name="adj1" fmla="val 166477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11378022" y="2242624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被动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621738" y="3175409"/>
            <a:ext cx="1402726" cy="12520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SYN-SENT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0076354" y="3163561"/>
            <a:ext cx="1394163" cy="6786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LISTEN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7024464" y="3163561"/>
            <a:ext cx="3075519" cy="678611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 flipH="1">
            <a:off x="6987548" y="3854020"/>
            <a:ext cx="3049235" cy="585328"/>
          </a:xfrm>
          <a:prstGeom prst="straightConnector1">
            <a:avLst/>
          </a:prstGeom>
          <a:ln w="15875">
            <a:solidFill>
              <a:schemeClr val="accent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5617015" y="4448318"/>
            <a:ext cx="1394163" cy="13588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0076353" y="3855636"/>
            <a:ext cx="1394163" cy="12695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SYN-RCVD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317" name="直接箭头连接符 13316"/>
          <p:cNvCxnSpPr/>
          <p:nvPr/>
        </p:nvCxnSpPr>
        <p:spPr>
          <a:xfrm>
            <a:off x="6987548" y="4453675"/>
            <a:ext cx="3112435" cy="671530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10076353" y="5151921"/>
            <a:ext cx="1394163" cy="6552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箭头: 左右 49"/>
          <p:cNvSpPr/>
          <p:nvPr/>
        </p:nvSpPr>
        <p:spPr>
          <a:xfrm>
            <a:off x="7075169" y="5364342"/>
            <a:ext cx="2919434" cy="358902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7942876" y="5323134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</a:rPr>
              <a:t>数据传输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 rot="786145">
            <a:off x="7379478" y="3145739"/>
            <a:ext cx="2241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SYN=1, ACK=0, seq=x</a:t>
            </a:r>
            <a:endParaRPr lang="zh-CN" altLang="en-US" sz="1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 rot="20910729">
            <a:off x="6993880" y="3884456"/>
            <a:ext cx="2709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SYN=1, ACK=1, seq=y, ack=x+1</a:t>
            </a:r>
            <a:endParaRPr lang="zh-CN" altLang="en-US" sz="1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 rot="699247">
            <a:off x="7557187" y="4514945"/>
            <a:ext cx="2233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ACK=1, seq=x+1, ack=y+1</a:t>
            </a:r>
            <a:endParaRPr lang="zh-CN" altLang="en-US" sz="1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79690" y="1523861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0567" y="2245047"/>
            <a:ext cx="4007918" cy="8811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为什么要三次握手？一次、两次、四次行不行？</a:t>
            </a:r>
            <a:endParaRPr lang="zh-CN" altLang="en-US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1496" y="2237115"/>
            <a:ext cx="889071" cy="88907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26" y="3506775"/>
            <a:ext cx="889071" cy="889071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1090567" y="3502866"/>
            <a:ext cx="4007918" cy="8811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charset="-122"/>
              </a:rPr>
              <a:t>什么是 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charset="-122"/>
              </a:rPr>
              <a:t>SYN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charset="-122"/>
              </a:rPr>
              <a:t>攻击？如何避免 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charset="-122"/>
              </a:rPr>
              <a:t>SYN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charset="-122"/>
              </a:rPr>
              <a:t>攻击？</a:t>
            </a:r>
            <a:endParaRPr lang="zh-CN" altLang="en-US" b="1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26" y="4764594"/>
            <a:ext cx="889071" cy="889071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1090567" y="4760685"/>
            <a:ext cx="4007918" cy="8583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黑体" panose="02010609060101010101" charset="-122"/>
                <a:ea typeface="黑体" panose="02010609060101010101" charset="-122"/>
              </a:rPr>
              <a:t>初始序列号为什么要动态随机选取而不能固定不变？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24" grpId="0" animBg="1"/>
      <p:bldP spid="33" grpId="0" animBg="1"/>
      <p:bldP spid="34" grpId="0"/>
      <p:bldP spid="41" grpId="0"/>
      <p:bldP spid="47" grpId="0" animBg="1"/>
      <p:bldP spid="59" grpId="0" animBg="1"/>
      <p:bldP spid="69" grpId="0" animBg="1"/>
      <p:bldP spid="70" grpId="0" animBg="1"/>
      <p:bldP spid="75" grpId="0" animBg="1"/>
      <p:bldP spid="50" grpId="0" animBg="1"/>
      <p:bldP spid="35" grpId="0"/>
      <p:bldP spid="40" grpId="0"/>
      <p:bldP spid="44" grpId="0"/>
      <p:bldP spid="49" grpId="0"/>
      <p:bldP spid="52" grpId="0"/>
      <p:bldP spid="3" grpId="0" animBg="1"/>
      <p:bldP spid="39" grpId="0" animBg="1"/>
      <p:bldP spid="4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连接释放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66" y="940063"/>
            <a:ext cx="702495" cy="702495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648" y="940063"/>
            <a:ext cx="715579" cy="715579"/>
          </a:xfrm>
          <a:prstGeom prst="rect">
            <a:avLst/>
          </a:prstGeom>
        </p:spPr>
      </p:pic>
      <p:cxnSp>
        <p:nvCxnSpPr>
          <p:cNvPr id="85" name="连接符: 肘形 84"/>
          <p:cNvCxnSpPr>
            <a:stCxn id="81" idx="1"/>
          </p:cNvCxnSpPr>
          <p:nvPr/>
        </p:nvCxnSpPr>
        <p:spPr>
          <a:xfrm rot="10800000" flipV="1">
            <a:off x="5637050" y="1291311"/>
            <a:ext cx="342716" cy="948424"/>
          </a:xfrm>
          <a:prstGeom prst="bentConnector3">
            <a:avLst>
              <a:gd name="adj1" fmla="val 166702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5098485" y="1610657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主动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87" name="连接符: 肘形 86"/>
          <p:cNvCxnSpPr>
            <a:stCxn id="82" idx="3"/>
            <a:endCxn id="108" idx="3"/>
          </p:cNvCxnSpPr>
          <p:nvPr/>
        </p:nvCxnSpPr>
        <p:spPr>
          <a:xfrm>
            <a:off x="11131227" y="1297853"/>
            <a:ext cx="348158" cy="2407648"/>
          </a:xfrm>
          <a:prstGeom prst="bentConnector3">
            <a:avLst>
              <a:gd name="adj1" fmla="val 16566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11425869" y="2452214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被动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5712213" y="1974008"/>
            <a:ext cx="1394163" cy="7024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080940" y="1974008"/>
            <a:ext cx="1394163" cy="122639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箭头: 左右 96"/>
          <p:cNvSpPr/>
          <p:nvPr/>
        </p:nvSpPr>
        <p:spPr>
          <a:xfrm>
            <a:off x="7133941" y="2046713"/>
            <a:ext cx="2919434" cy="358902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文本框 97"/>
          <p:cNvSpPr txBox="1"/>
          <p:nvPr/>
        </p:nvSpPr>
        <p:spPr>
          <a:xfrm>
            <a:off x="7988094" y="2005505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</a:rPr>
              <a:t>数据传输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13324" name="直接箭头连接符 13323"/>
          <p:cNvCxnSpPr/>
          <p:nvPr/>
        </p:nvCxnSpPr>
        <p:spPr>
          <a:xfrm>
            <a:off x="7106376" y="2636880"/>
            <a:ext cx="2974564" cy="563521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103"/>
          <p:cNvSpPr/>
          <p:nvPr/>
        </p:nvSpPr>
        <p:spPr>
          <a:xfrm>
            <a:off x="5707932" y="2695946"/>
            <a:ext cx="1402726" cy="12520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FIN-WAIT-1</a:t>
            </a:r>
            <a:endParaRPr lang="zh-CN" altLang="en-US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326" name="直接箭头连接符 13325"/>
          <p:cNvCxnSpPr/>
          <p:nvPr/>
        </p:nvCxnSpPr>
        <p:spPr>
          <a:xfrm flipH="1">
            <a:off x="7133941" y="3200401"/>
            <a:ext cx="2946999" cy="747636"/>
          </a:xfrm>
          <a:prstGeom prst="straightConnector1">
            <a:avLst/>
          </a:prstGeom>
          <a:ln w="15875">
            <a:solidFill>
              <a:schemeClr val="accent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5707931" y="3967480"/>
            <a:ext cx="1402726" cy="9557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FIN-WAIT-2</a:t>
            </a:r>
            <a:endParaRPr lang="zh-CN" altLang="en-US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10076659" y="3225096"/>
            <a:ext cx="1402726" cy="9608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CLOSE-WAIT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28" name="箭头: 左 13327"/>
          <p:cNvSpPr/>
          <p:nvPr/>
        </p:nvSpPr>
        <p:spPr>
          <a:xfrm rot="20693636">
            <a:off x="7850850" y="3766496"/>
            <a:ext cx="1717159" cy="416580"/>
          </a:xfrm>
          <a:prstGeom prst="leftArrow">
            <a:avLst/>
          </a:prstGeom>
          <a:solidFill>
            <a:srgbClr val="7030A0">
              <a:alpha val="46000"/>
            </a:srgbClr>
          </a:solidFill>
          <a:ln>
            <a:solidFill>
              <a:srgbClr val="7030A0">
                <a:alpha val="4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 rot="20697877">
            <a:off x="8181390" y="3737997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数据传输</a:t>
            </a:r>
            <a:endParaRPr lang="zh-CN" altLang="en-US" sz="20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112" name="直接箭头连接符 111"/>
          <p:cNvCxnSpPr/>
          <p:nvPr/>
        </p:nvCxnSpPr>
        <p:spPr>
          <a:xfrm flipH="1">
            <a:off x="7133940" y="4175554"/>
            <a:ext cx="2946999" cy="747636"/>
          </a:xfrm>
          <a:prstGeom prst="straightConnector1">
            <a:avLst/>
          </a:prstGeom>
          <a:ln w="15875">
            <a:solidFill>
              <a:schemeClr val="accent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/>
          <p:cNvSpPr/>
          <p:nvPr/>
        </p:nvSpPr>
        <p:spPr>
          <a:xfrm>
            <a:off x="5707931" y="4942633"/>
            <a:ext cx="1402726" cy="9557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TIME-WAIT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(2MSL)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10085727" y="4208939"/>
            <a:ext cx="1402726" cy="12520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LAST-ACK</a:t>
            </a:r>
            <a:endParaRPr lang="zh-CN" altLang="en-US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" name="直接箭头连接符 114"/>
          <p:cNvCxnSpPr/>
          <p:nvPr/>
        </p:nvCxnSpPr>
        <p:spPr>
          <a:xfrm>
            <a:off x="7133940" y="4970803"/>
            <a:ext cx="2951787" cy="490227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/>
          <p:cNvSpPr/>
          <p:nvPr/>
        </p:nvSpPr>
        <p:spPr>
          <a:xfrm>
            <a:off x="10085727" y="5486613"/>
            <a:ext cx="1402726" cy="955710"/>
          </a:xfrm>
          <a:prstGeom prst="rect">
            <a:avLst/>
          </a:prstGeom>
          <a:solidFill>
            <a:srgbClr val="7030A0">
              <a:alpha val="46000"/>
            </a:srgbClr>
          </a:solidFill>
          <a:ln>
            <a:solidFill>
              <a:srgbClr val="7030A0">
                <a:alpha val="4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5707931" y="5917786"/>
            <a:ext cx="1402726" cy="524537"/>
          </a:xfrm>
          <a:prstGeom prst="rect">
            <a:avLst/>
          </a:prstGeom>
          <a:solidFill>
            <a:srgbClr val="7030A0">
              <a:alpha val="46000"/>
            </a:srgbClr>
          </a:solidFill>
          <a:ln>
            <a:solidFill>
              <a:srgbClr val="7030A0">
                <a:alpha val="4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箭头: 左右 118"/>
          <p:cNvSpPr/>
          <p:nvPr/>
        </p:nvSpPr>
        <p:spPr>
          <a:xfrm>
            <a:off x="7147722" y="6000603"/>
            <a:ext cx="2919434" cy="358902"/>
          </a:xfrm>
          <a:prstGeom prst="leftRightArrow">
            <a:avLst/>
          </a:prstGeom>
          <a:solidFill>
            <a:srgbClr val="CC66FF">
              <a:alpha val="62000"/>
            </a:srgbClr>
          </a:solidFill>
          <a:ln>
            <a:solidFill>
              <a:srgbClr val="CC66FF">
                <a:alpha val="6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文本框 119"/>
          <p:cNvSpPr txBox="1"/>
          <p:nvPr/>
        </p:nvSpPr>
        <p:spPr>
          <a:xfrm>
            <a:off x="7969381" y="5959395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</a:rPr>
              <a:t>断开连接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21" name="图片 1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1838" y="3359860"/>
            <a:ext cx="1257576" cy="1257576"/>
          </a:xfrm>
          <a:prstGeom prst="rect">
            <a:avLst/>
          </a:prstGeom>
        </p:spPr>
      </p:pic>
      <p:pic>
        <p:nvPicPr>
          <p:cNvPr id="122" name="图片 1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883646" y="3258581"/>
            <a:ext cx="1358855" cy="1358855"/>
          </a:xfrm>
          <a:prstGeom prst="rect">
            <a:avLst/>
          </a:prstGeom>
        </p:spPr>
      </p:pic>
      <p:cxnSp>
        <p:nvCxnSpPr>
          <p:cNvPr id="123" name="直接箭头连接符 122"/>
          <p:cNvCxnSpPr/>
          <p:nvPr/>
        </p:nvCxnSpPr>
        <p:spPr>
          <a:xfrm>
            <a:off x="1509823" y="3471530"/>
            <a:ext cx="2541182" cy="0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本框 123"/>
          <p:cNvSpPr txBox="1"/>
          <p:nvPr/>
        </p:nvSpPr>
        <p:spPr>
          <a:xfrm>
            <a:off x="1634083" y="3082441"/>
            <a:ext cx="236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Hi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，我有事下回聊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125" name="直接箭头连接符 124"/>
          <p:cNvCxnSpPr/>
          <p:nvPr/>
        </p:nvCxnSpPr>
        <p:spPr>
          <a:xfrm flipH="1">
            <a:off x="1509823" y="3868425"/>
            <a:ext cx="2541183" cy="0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本框 125"/>
          <p:cNvSpPr txBox="1"/>
          <p:nvPr/>
        </p:nvSpPr>
        <p:spPr>
          <a:xfrm>
            <a:off x="1634083" y="3479825"/>
            <a:ext cx="232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好的，你先忙</a:t>
            </a:r>
            <a:endParaRPr lang="zh-CN" altLang="en-US" dirty="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128" name="直接箭头连接符 127"/>
          <p:cNvCxnSpPr/>
          <p:nvPr/>
        </p:nvCxnSpPr>
        <p:spPr>
          <a:xfrm>
            <a:off x="1509823" y="4776719"/>
            <a:ext cx="2444285" cy="259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文本框 128"/>
          <p:cNvSpPr txBox="1"/>
          <p:nvPr/>
        </p:nvSpPr>
        <p:spPr>
          <a:xfrm>
            <a:off x="574229" y="4740710"/>
            <a:ext cx="691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4253876" y="4631353"/>
            <a:ext cx="618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 flipH="1">
            <a:off x="1523505" y="4369548"/>
            <a:ext cx="2541183" cy="0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1634083" y="4001240"/>
            <a:ext cx="232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我有事也要先撤啦</a:t>
            </a:r>
            <a:endParaRPr lang="zh-CN" altLang="en-US" dirty="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634082" y="4393641"/>
            <a:ext cx="236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好的，下回聊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 rot="634458">
            <a:off x="7662571" y="2564923"/>
            <a:ext cx="2246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</a:rPr>
              <a:t>客户机请求释放连接</a:t>
            </a:r>
            <a:endParaRPr lang="zh-CN" altLang="en-US" dirty="0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 rot="20773660">
            <a:off x="7166378" y="3281507"/>
            <a:ext cx="2269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服务器同意释放连接</a:t>
            </a:r>
            <a:endParaRPr lang="zh-CN" altLang="en-US" dirty="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 rot="20765169">
            <a:off x="7486611" y="4174257"/>
            <a:ext cx="2246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服务器请求释放连接</a:t>
            </a:r>
            <a:endParaRPr lang="zh-CN" altLang="en-US" dirty="0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 rot="589296">
            <a:off x="7861921" y="4899230"/>
            <a:ext cx="2250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</a:rPr>
              <a:t>客户机同意释放连接</a:t>
            </a:r>
            <a:endParaRPr lang="zh-CN" altLang="en-US" dirty="0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86" grpId="0"/>
      <p:bldP spid="88" grpId="0"/>
      <p:bldP spid="93" grpId="0" animBg="1"/>
      <p:bldP spid="96" grpId="0" animBg="1"/>
      <p:bldP spid="97" grpId="0" animBg="1"/>
      <p:bldP spid="98" grpId="0"/>
      <p:bldP spid="104" grpId="0" animBg="1"/>
      <p:bldP spid="107" grpId="0" animBg="1"/>
      <p:bldP spid="108" grpId="0" animBg="1"/>
      <p:bldP spid="13328" grpId="0" animBg="1"/>
      <p:bldP spid="111" grpId="0"/>
      <p:bldP spid="113" grpId="0" animBg="1"/>
      <p:bldP spid="114" grpId="0" animBg="1"/>
      <p:bldP spid="117" grpId="0" animBg="1"/>
      <p:bldP spid="118" grpId="0" animBg="1"/>
      <p:bldP spid="119" grpId="0" animBg="1"/>
      <p:bldP spid="120" grpId="0"/>
      <p:bldP spid="124" grpId="0"/>
      <p:bldP spid="126" grpId="0"/>
      <p:bldP spid="129" grpId="0"/>
      <p:bldP spid="130" grpId="0"/>
      <p:bldP spid="45" grpId="0"/>
      <p:bldP spid="46" grpId="0"/>
      <p:bldP spid="3" grpId="0"/>
      <p:bldP spid="48" grpId="0"/>
      <p:bldP spid="49" grpId="0"/>
      <p:bldP spid="5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连接释放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66" y="940063"/>
            <a:ext cx="702495" cy="702495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648" y="940063"/>
            <a:ext cx="715579" cy="715579"/>
          </a:xfrm>
          <a:prstGeom prst="rect">
            <a:avLst/>
          </a:prstGeom>
        </p:spPr>
      </p:pic>
      <p:cxnSp>
        <p:nvCxnSpPr>
          <p:cNvPr id="85" name="连接符: 肘形 84"/>
          <p:cNvCxnSpPr>
            <a:stCxn id="81" idx="1"/>
          </p:cNvCxnSpPr>
          <p:nvPr/>
        </p:nvCxnSpPr>
        <p:spPr>
          <a:xfrm rot="10800000" flipV="1">
            <a:off x="5637050" y="1291311"/>
            <a:ext cx="342716" cy="948424"/>
          </a:xfrm>
          <a:prstGeom prst="bentConnector3">
            <a:avLst>
              <a:gd name="adj1" fmla="val 166702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5098485" y="1610657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主动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87" name="连接符: 肘形 86"/>
          <p:cNvCxnSpPr>
            <a:stCxn id="82" idx="3"/>
            <a:endCxn id="108" idx="3"/>
          </p:cNvCxnSpPr>
          <p:nvPr/>
        </p:nvCxnSpPr>
        <p:spPr>
          <a:xfrm>
            <a:off x="11131227" y="1297853"/>
            <a:ext cx="348158" cy="2407648"/>
          </a:xfrm>
          <a:prstGeom prst="bentConnector3">
            <a:avLst>
              <a:gd name="adj1" fmla="val 165660"/>
            </a:avLst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11425869" y="2452214"/>
            <a:ext cx="68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被动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5712213" y="1974008"/>
            <a:ext cx="1394163" cy="7024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0080940" y="1974008"/>
            <a:ext cx="1394163" cy="122639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箭头: 左右 96"/>
          <p:cNvSpPr/>
          <p:nvPr/>
        </p:nvSpPr>
        <p:spPr>
          <a:xfrm>
            <a:off x="7133941" y="2046713"/>
            <a:ext cx="2919434" cy="358902"/>
          </a:xfrm>
          <a:prstGeom prst="left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文本框 97"/>
          <p:cNvSpPr txBox="1"/>
          <p:nvPr/>
        </p:nvSpPr>
        <p:spPr>
          <a:xfrm>
            <a:off x="7988094" y="2005505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</a:rPr>
              <a:t>数据传输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13324" name="直接箭头连接符 13323"/>
          <p:cNvCxnSpPr/>
          <p:nvPr/>
        </p:nvCxnSpPr>
        <p:spPr>
          <a:xfrm>
            <a:off x="7106376" y="2636880"/>
            <a:ext cx="2974564" cy="563521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 103"/>
          <p:cNvSpPr/>
          <p:nvPr/>
        </p:nvSpPr>
        <p:spPr>
          <a:xfrm>
            <a:off x="5707932" y="2695946"/>
            <a:ext cx="1402726" cy="12520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FIN-WAIT-1</a:t>
            </a:r>
            <a:endParaRPr lang="zh-CN" altLang="en-US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326" name="直接箭头连接符 13325"/>
          <p:cNvCxnSpPr/>
          <p:nvPr/>
        </p:nvCxnSpPr>
        <p:spPr>
          <a:xfrm flipH="1">
            <a:off x="7133941" y="3200401"/>
            <a:ext cx="2946999" cy="747636"/>
          </a:xfrm>
          <a:prstGeom prst="straightConnector1">
            <a:avLst/>
          </a:prstGeom>
          <a:ln w="15875">
            <a:solidFill>
              <a:schemeClr val="accent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5707931" y="3967480"/>
            <a:ext cx="1402726" cy="9557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FIN-WAIT-2</a:t>
            </a:r>
            <a:endParaRPr lang="zh-CN" altLang="en-US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10076659" y="3225096"/>
            <a:ext cx="1402726" cy="9608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CLOSE-WAIT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28" name="箭头: 左 13327"/>
          <p:cNvSpPr/>
          <p:nvPr/>
        </p:nvSpPr>
        <p:spPr>
          <a:xfrm rot="20693636">
            <a:off x="7850850" y="3766496"/>
            <a:ext cx="1717159" cy="416580"/>
          </a:xfrm>
          <a:prstGeom prst="leftArrow">
            <a:avLst/>
          </a:prstGeom>
          <a:solidFill>
            <a:srgbClr val="7030A0">
              <a:alpha val="46000"/>
            </a:srgbClr>
          </a:solidFill>
          <a:ln>
            <a:solidFill>
              <a:srgbClr val="7030A0">
                <a:alpha val="4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 rot="20697877">
            <a:off x="8181390" y="3737997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charset="-122"/>
                <a:ea typeface="黑体" panose="02010609060101010101" charset="-122"/>
              </a:rPr>
              <a:t>数据传输</a:t>
            </a:r>
            <a:endParaRPr lang="zh-CN" altLang="en-US" sz="20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112" name="直接箭头连接符 111"/>
          <p:cNvCxnSpPr/>
          <p:nvPr/>
        </p:nvCxnSpPr>
        <p:spPr>
          <a:xfrm flipH="1">
            <a:off x="7133940" y="4175554"/>
            <a:ext cx="2946999" cy="747636"/>
          </a:xfrm>
          <a:prstGeom prst="straightConnector1">
            <a:avLst/>
          </a:prstGeom>
          <a:ln w="15875">
            <a:solidFill>
              <a:schemeClr val="accent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/>
          <p:cNvSpPr/>
          <p:nvPr/>
        </p:nvSpPr>
        <p:spPr>
          <a:xfrm>
            <a:off x="5707931" y="4942633"/>
            <a:ext cx="1402726" cy="9557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TIME-WAIT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(2MSL)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10085727" y="4208939"/>
            <a:ext cx="1402726" cy="12520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LAST-ACK</a:t>
            </a:r>
            <a:endParaRPr lang="zh-CN" altLang="en-US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" name="直接箭头连接符 114"/>
          <p:cNvCxnSpPr/>
          <p:nvPr/>
        </p:nvCxnSpPr>
        <p:spPr>
          <a:xfrm>
            <a:off x="7133940" y="4970803"/>
            <a:ext cx="2951787" cy="490227"/>
          </a:xfrm>
          <a:prstGeom prst="straightConnector1">
            <a:avLst/>
          </a:prstGeom>
          <a:ln w="15875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/>
          <p:cNvSpPr/>
          <p:nvPr/>
        </p:nvSpPr>
        <p:spPr>
          <a:xfrm>
            <a:off x="10085727" y="5486613"/>
            <a:ext cx="1402726" cy="955710"/>
          </a:xfrm>
          <a:prstGeom prst="rect">
            <a:avLst/>
          </a:prstGeom>
          <a:solidFill>
            <a:srgbClr val="7030A0">
              <a:alpha val="46000"/>
            </a:srgbClr>
          </a:solidFill>
          <a:ln>
            <a:solidFill>
              <a:srgbClr val="7030A0">
                <a:alpha val="4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5707931" y="5917786"/>
            <a:ext cx="1402726" cy="524537"/>
          </a:xfrm>
          <a:prstGeom prst="rect">
            <a:avLst/>
          </a:prstGeom>
          <a:solidFill>
            <a:srgbClr val="7030A0">
              <a:alpha val="46000"/>
            </a:srgbClr>
          </a:solidFill>
          <a:ln>
            <a:solidFill>
              <a:srgbClr val="7030A0">
                <a:alpha val="4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箭头: 左右 118"/>
          <p:cNvSpPr/>
          <p:nvPr/>
        </p:nvSpPr>
        <p:spPr>
          <a:xfrm>
            <a:off x="7147722" y="6000603"/>
            <a:ext cx="2919434" cy="358902"/>
          </a:xfrm>
          <a:prstGeom prst="leftRightArrow">
            <a:avLst/>
          </a:prstGeom>
          <a:solidFill>
            <a:srgbClr val="CC66FF">
              <a:alpha val="62000"/>
            </a:srgbClr>
          </a:solidFill>
          <a:ln>
            <a:solidFill>
              <a:srgbClr val="CC66FF">
                <a:alpha val="6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文本框 119"/>
          <p:cNvSpPr txBox="1"/>
          <p:nvPr/>
        </p:nvSpPr>
        <p:spPr>
          <a:xfrm>
            <a:off x="7969381" y="5959395"/>
            <a:ext cx="1238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</a:rPr>
              <a:t>断开连接</a:t>
            </a:r>
            <a:endParaRPr lang="zh-CN" altLang="en-US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 rot="634458">
            <a:off x="7662571" y="2564923"/>
            <a:ext cx="2246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FIN=1, seq=u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 rot="20773660">
            <a:off x="7163753" y="3275161"/>
            <a:ext cx="2452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ACK=1, seq=v, ack=u+1</a:t>
            </a:r>
            <a:endParaRPr lang="zh-CN" altLang="en-US" sz="1600" b="1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 rot="20700573">
            <a:off x="7486611" y="4212224"/>
            <a:ext cx="2246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FIN=1, seq=w, ack=u+1</a:t>
            </a:r>
            <a:endParaRPr lang="zh-CN" altLang="en-US" sz="1600" b="1" dirty="0">
              <a:solidFill>
                <a:schemeClr val="accent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 rot="589296">
            <a:off x="7601509" y="4941724"/>
            <a:ext cx="2638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ACK=1, seq=u+1, ack=w+1</a:t>
            </a:r>
            <a:endParaRPr lang="zh-CN" altLang="en-US" sz="1600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348470" y="1527810"/>
            <a:ext cx="4323715" cy="479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释放连接阶段</a:t>
            </a:r>
            <a:endParaRPr lang="zh-CN" altLang="en-US" sz="1900" b="1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13900" y="1973580"/>
            <a:ext cx="427736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两个方向的连接，可以间隔开来释放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13900" y="2448560"/>
            <a:ext cx="427736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每个方向的连接释放，需要2个报文段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13900" y="2936240"/>
            <a:ext cx="4058285" cy="1291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MSL：Maximum Segment Lifetime, 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最大报文生存时间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，是任何报文段被丢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    弃前在网络内的最长时间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32" y="5018599"/>
            <a:ext cx="717550" cy="717550"/>
          </a:xfrm>
          <a:prstGeom prst="rect">
            <a:avLst/>
          </a:prstGeom>
        </p:spPr>
      </p:pic>
      <p:sp>
        <p:nvSpPr>
          <p:cNvPr id="60" name="文本框 59"/>
          <p:cNvSpPr txBox="1"/>
          <p:nvPr/>
        </p:nvSpPr>
        <p:spPr>
          <a:xfrm>
            <a:off x="1038141" y="5232116"/>
            <a:ext cx="293870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为什么需要等待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  <a:sym typeface="+mn-ea"/>
              </a:rPr>
              <a:t>2MSL?</a:t>
            </a:r>
            <a:endParaRPr lang="zh-CN" altLang="en-US" b="1" dirty="0">
              <a:solidFill>
                <a:srgbClr val="A91F24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字魂105号-简雅黑" panose="00000500000000000000" charset="-122"/>
            </a:endParaRPr>
          </a:p>
        </p:txBody>
      </p:sp>
      <p:sp>
        <p:nvSpPr>
          <p:cNvPr id="61" name="í$1ïdê"/>
          <p:cNvSpPr/>
          <p:nvPr/>
        </p:nvSpPr>
        <p:spPr bwMode="auto">
          <a:xfrm>
            <a:off x="1043480" y="4190597"/>
            <a:ext cx="4320999" cy="717550"/>
          </a:xfrm>
          <a:custGeom>
            <a:avLst/>
            <a:gdLst>
              <a:gd name="T0" fmla="*/ 559 w 1046"/>
              <a:gd name="T1" fmla="*/ 39 h 650"/>
              <a:gd name="T2" fmla="*/ 523 w 1046"/>
              <a:gd name="T3" fmla="*/ 0 h 650"/>
              <a:gd name="T4" fmla="*/ 487 w 1046"/>
              <a:gd name="T5" fmla="*/ 39 h 650"/>
              <a:gd name="T6" fmla="*/ 0 w 1046"/>
              <a:gd name="T7" fmla="*/ 39 h 650"/>
              <a:gd name="T8" fmla="*/ 0 w 1046"/>
              <a:gd name="T9" fmla="*/ 650 h 650"/>
              <a:gd name="T10" fmla="*/ 523 w 1046"/>
              <a:gd name="T11" fmla="*/ 609 h 650"/>
              <a:gd name="T12" fmla="*/ 1046 w 1046"/>
              <a:gd name="T13" fmla="*/ 650 h 650"/>
              <a:gd name="T14" fmla="*/ 1046 w 1046"/>
              <a:gd name="T15" fmla="*/ 39 h 650"/>
              <a:gd name="T16" fmla="*/ 559 w 1046"/>
              <a:gd name="T17" fmla="*/ 39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46" h="650">
                <a:moveTo>
                  <a:pt x="559" y="39"/>
                </a:moveTo>
                <a:cubicBezTo>
                  <a:pt x="523" y="0"/>
                  <a:pt x="523" y="0"/>
                  <a:pt x="523" y="0"/>
                </a:cubicBezTo>
                <a:cubicBezTo>
                  <a:pt x="487" y="39"/>
                  <a:pt x="487" y="39"/>
                  <a:pt x="487" y="39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650"/>
                  <a:pt x="0" y="650"/>
                  <a:pt x="0" y="650"/>
                </a:cubicBezTo>
                <a:cubicBezTo>
                  <a:pt x="142" y="625"/>
                  <a:pt x="324" y="609"/>
                  <a:pt x="523" y="609"/>
                </a:cubicBezTo>
                <a:cubicBezTo>
                  <a:pt x="722" y="609"/>
                  <a:pt x="904" y="625"/>
                  <a:pt x="1046" y="650"/>
                </a:cubicBezTo>
                <a:cubicBezTo>
                  <a:pt x="1046" y="39"/>
                  <a:pt x="1046" y="39"/>
                  <a:pt x="1046" y="39"/>
                </a:cubicBezTo>
                <a:lnTo>
                  <a:pt x="559" y="39"/>
                </a:lnTo>
                <a:close/>
              </a:path>
            </a:pathLst>
          </a:custGeom>
          <a:noFill/>
          <a:ln w="12700" cap="flat" cmpd="sng" algn="ctr">
            <a:solidFill>
              <a:srgbClr val="A91F24"/>
            </a:solidFill>
            <a:prstDash val="solid"/>
            <a:miter lim="800000"/>
          </a:ln>
          <a:effectLst>
            <a:outerShdw sx="103000" sy="103000" algn="ctr" rotWithShape="0">
              <a:prstClr val="black">
                <a:alpha val="8000"/>
              </a:prstClr>
            </a:outerShdw>
          </a:effectLst>
        </p:spPr>
        <p:txBody>
          <a:bodyPr wrap="square" lIns="121920" tIns="60960" rIns="121920" bIns="60960" rtlCol="0" anchor="ctr">
            <a:normAutofit/>
          </a:bodyPr>
          <a:lstStyle/>
          <a:p>
            <a:pPr algn="ctr" defTabSz="1219200">
              <a:defRPr/>
            </a:pPr>
            <a:endParaRPr lang="en-US" sz="1865" kern="0" spc="4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929832" y="4278941"/>
            <a:ext cx="4434647" cy="56832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lang="zh-CN" altLang="en-US" sz="1550" b="1" noProof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尽管有时FIN报文的数据字段长度=0(图中蓝色框Len=0)，但FIN报文仍需要消耗额外1个序列号</a:t>
            </a:r>
            <a:endParaRPr lang="zh-CN" altLang="en-US" sz="1550" b="1" noProof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32" y="4213536"/>
            <a:ext cx="717550" cy="717550"/>
          </a:xfrm>
          <a:prstGeom prst="rect">
            <a:avLst/>
          </a:prstGeom>
        </p:spPr>
      </p:pic>
      <p:grpSp>
        <p:nvGrpSpPr>
          <p:cNvPr id="65" name="组合 14"/>
          <p:cNvGrpSpPr/>
          <p:nvPr/>
        </p:nvGrpSpPr>
        <p:grpSpPr>
          <a:xfrm>
            <a:off x="218726" y="5814965"/>
            <a:ext cx="5418324" cy="948425"/>
            <a:chOff x="301190" y="3717032"/>
            <a:chExt cx="8483278" cy="972108"/>
          </a:xfrm>
        </p:grpSpPr>
        <p:pic>
          <p:nvPicPr>
            <p:cNvPr id="66" name="Picture 3"/>
            <p:cNvPicPr>
              <a:picLocks noChangeAspect="1"/>
            </p:cNvPicPr>
            <p:nvPr/>
          </p:nvPicPr>
          <p:blipFill>
            <a:blip r:embed="rId5"/>
            <a:srcRect l="38702" t="15625"/>
            <a:stretch>
              <a:fillRect/>
            </a:stretch>
          </p:blipFill>
          <p:spPr>
            <a:xfrm>
              <a:off x="301190" y="3717032"/>
              <a:ext cx="8483278" cy="97210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7" name="矩形 66"/>
            <p:cNvSpPr/>
            <p:nvPr/>
          </p:nvSpPr>
          <p:spPr>
            <a:xfrm>
              <a:off x="5038110" y="3717032"/>
              <a:ext cx="938177" cy="28750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7857403" y="3717032"/>
              <a:ext cx="855631" cy="28750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5163518" y="4206263"/>
              <a:ext cx="957226" cy="2303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4625376" y="3979119"/>
              <a:ext cx="919128" cy="20649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4487269" y="4220558"/>
              <a:ext cx="588940" cy="21602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4931752" y="4436582"/>
              <a:ext cx="590528" cy="21602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7295450" y="4220558"/>
              <a:ext cx="588941" cy="21602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5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98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4995" y="1726565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思考以下两个问题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60425" y="2299335"/>
            <a:ext cx="611632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：假如客户端建立了到服务器的连接，传输了一些数据，但是突发故障崩溃。此种情况下，服务器将处于一种什么状态？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823200" y="729615"/>
            <a:ext cx="3687445" cy="6090920"/>
            <a:chOff x="11860" y="1149"/>
            <a:chExt cx="5807" cy="9592"/>
          </a:xfrm>
        </p:grpSpPr>
        <p:graphicFrame>
          <p:nvGraphicFramePr>
            <p:cNvPr id="33797" name="Object 2"/>
            <p:cNvGraphicFramePr>
              <a:graphicFrameLocks noChangeAspect="1"/>
            </p:cNvGraphicFramePr>
            <p:nvPr/>
          </p:nvGraphicFramePr>
          <p:xfrm>
            <a:off x="11863" y="1149"/>
            <a:ext cx="5746" cy="95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1" imgW="4634230" imgH="7730490" progId="Visio.Drawing.11">
                    <p:embed/>
                  </p:oleObj>
                </mc:Choice>
                <mc:Fallback>
                  <p:oleObj name="" r:id="rId1" imgW="4634230" imgH="7730490" progId="Visio.Drawing.11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1863" y="1149"/>
                          <a:ext cx="5746" cy="95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/>
            <p:nvPr/>
          </p:nvSpPr>
          <p:spPr>
            <a:xfrm>
              <a:off x="11860" y="2484"/>
              <a:ext cx="5783" cy="189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1885" y="4482"/>
              <a:ext cx="5783" cy="1488"/>
            </a:xfrm>
            <a:prstGeom prst="rect">
              <a:avLst/>
            </a:prstGeom>
            <a:noFill/>
            <a:ln w="28575"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1880" y="6037"/>
              <a:ext cx="5783" cy="4008"/>
            </a:xfrm>
            <a:prstGeom prst="rect">
              <a:avLst/>
            </a:prstGeom>
            <a:noFill/>
            <a:ln w="28575">
              <a:solidFill>
                <a:srgbClr val="00206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矩形 16"/>
          <p:cNvSpPr/>
          <p:nvPr/>
        </p:nvSpPr>
        <p:spPr bwMode="auto">
          <a:xfrm>
            <a:off x="892810" y="3332480"/>
            <a:ext cx="6014085" cy="1319530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52830" y="3368040"/>
            <a:ext cx="569404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保持定时器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（服务器端）：每次收到客户端发来的消息就复位；定时器设定为2小时，超时则发送探测包。连续十个探测包还没收到回应，则中断连接。</a:t>
            </a:r>
            <a:endParaRPr lang="zh-CN" altLang="en-US" sz="160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60425" y="4775835"/>
            <a:ext cx="611632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：客户端最终进入的TIME-WAIT状态该如何实现？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892810" y="5415280"/>
            <a:ext cx="6014085" cy="608965"/>
          </a:xfrm>
          <a:prstGeom prst="rect">
            <a:avLst/>
          </a:prstGeom>
          <a:noFill/>
          <a:ln w="9525" cap="flat" cmpd="sng" algn="ctr">
            <a:solidFill>
              <a:srgbClr val="A91F2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字魂105号-简雅黑" panose="00000500000000000000" charset="-122"/>
              <a:ea typeface="字魂105号-简雅黑" panose="00000500000000000000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52830" y="5450840"/>
            <a:ext cx="569404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时间等待定时器</a:t>
            </a:r>
            <a:r>
              <a:rPr lang="zh-CN" altLang="en-US" sz="1600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（客户端）：设定为报文寿命的2倍</a:t>
            </a:r>
            <a:endParaRPr lang="zh-CN" altLang="en-US" sz="1600" dirty="0">
              <a:solidFill>
                <a:srgbClr val="A91F2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8" name="KSO_Shape"/>
          <p:cNvSpPr/>
          <p:nvPr/>
        </p:nvSpPr>
        <p:spPr bwMode="auto">
          <a:xfrm>
            <a:off x="4203065" y="929640"/>
            <a:ext cx="1071880" cy="1369695"/>
          </a:xfrm>
          <a:custGeom>
            <a:avLst/>
            <a:gdLst>
              <a:gd name="T0" fmla="*/ 440790 w 2792413"/>
              <a:gd name="T1" fmla="*/ 2575798 h 3389313"/>
              <a:gd name="T2" fmla="*/ 1147253 w 2792413"/>
              <a:gd name="T3" fmla="*/ 1201035 h 3389313"/>
              <a:gd name="T4" fmla="*/ 1223433 w 2792413"/>
              <a:gd name="T5" fmla="*/ 1473921 h 3389313"/>
              <a:gd name="T6" fmla="*/ 1315165 w 2792413"/>
              <a:gd name="T7" fmla="*/ 1458373 h 3389313"/>
              <a:gd name="T8" fmla="*/ 1462128 w 2792413"/>
              <a:gd name="T9" fmla="*/ 1368574 h 3389313"/>
              <a:gd name="T10" fmla="*/ 1552274 w 2792413"/>
              <a:gd name="T11" fmla="*/ 1517392 h 3389313"/>
              <a:gd name="T12" fmla="*/ 1632262 w 2792413"/>
              <a:gd name="T13" fmla="*/ 1262910 h 3389313"/>
              <a:gd name="T14" fmla="*/ 1689714 w 2792413"/>
              <a:gd name="T15" fmla="*/ 1093784 h 3389313"/>
              <a:gd name="T16" fmla="*/ 1947454 w 2792413"/>
              <a:gd name="T17" fmla="*/ 1176285 h 3389313"/>
              <a:gd name="T18" fmla="*/ 2040457 w 2792413"/>
              <a:gd name="T19" fmla="*/ 1240064 h 3389313"/>
              <a:gd name="T20" fmla="*/ 2124889 w 2792413"/>
              <a:gd name="T21" fmla="*/ 1394276 h 3389313"/>
              <a:gd name="T22" fmla="*/ 2358823 w 2792413"/>
              <a:gd name="T23" fmla="*/ 1575460 h 3389313"/>
              <a:gd name="T24" fmla="*/ 2669254 w 2792413"/>
              <a:gd name="T25" fmla="*/ 1240381 h 3389313"/>
              <a:gd name="T26" fmla="*/ 2738767 w 2792413"/>
              <a:gd name="T27" fmla="*/ 1227371 h 3389313"/>
              <a:gd name="T28" fmla="*/ 2783840 w 2792413"/>
              <a:gd name="T29" fmla="*/ 1283853 h 3389313"/>
              <a:gd name="T30" fmla="*/ 2705122 w 2792413"/>
              <a:gd name="T31" fmla="*/ 1422200 h 3389313"/>
              <a:gd name="T32" fmla="*/ 2761621 w 2792413"/>
              <a:gd name="T33" fmla="*/ 1492008 h 3389313"/>
              <a:gd name="T34" fmla="*/ 2775270 w 2792413"/>
              <a:gd name="T35" fmla="*/ 1582441 h 3389313"/>
              <a:gd name="T36" fmla="*/ 2740355 w 2792413"/>
              <a:gd name="T37" fmla="*/ 1669383 h 3389313"/>
              <a:gd name="T38" fmla="*/ 2438811 w 2792413"/>
              <a:gd name="T39" fmla="*/ 2001606 h 3389313"/>
              <a:gd name="T40" fmla="*/ 2326447 w 2792413"/>
              <a:gd name="T41" fmla="*/ 2083155 h 3389313"/>
              <a:gd name="T42" fmla="*/ 2234397 w 2792413"/>
              <a:gd name="T43" fmla="*/ 2095530 h 3389313"/>
              <a:gd name="T44" fmla="*/ 2140759 w 2792413"/>
              <a:gd name="T45" fmla="*/ 2059674 h 3389313"/>
              <a:gd name="T46" fmla="*/ 2049979 w 2792413"/>
              <a:gd name="T47" fmla="*/ 1965116 h 3389313"/>
              <a:gd name="T48" fmla="*/ 1428165 w 2792413"/>
              <a:gd name="T49" fmla="*/ 2143126 h 3389313"/>
              <a:gd name="T50" fmla="*/ 1429434 w 2792413"/>
              <a:gd name="T51" fmla="*/ 1759182 h 3389313"/>
              <a:gd name="T52" fmla="*/ 1368174 w 2792413"/>
              <a:gd name="T53" fmla="*/ 1755057 h 3389313"/>
              <a:gd name="T54" fmla="*/ 1337384 w 2792413"/>
              <a:gd name="T55" fmla="*/ 1826769 h 3389313"/>
              <a:gd name="T56" fmla="*/ 852376 w 2792413"/>
              <a:gd name="T57" fmla="*/ 1682710 h 3389313"/>
              <a:gd name="T58" fmla="*/ 784766 w 2792413"/>
              <a:gd name="T59" fmla="*/ 2018424 h 3389313"/>
              <a:gd name="T60" fmla="*/ 485762 w 2792413"/>
              <a:gd name="T61" fmla="*/ 1784884 h 3389313"/>
              <a:gd name="T62" fmla="*/ 583526 w 2792413"/>
              <a:gd name="T63" fmla="*/ 1432036 h 3389313"/>
              <a:gd name="T64" fmla="*/ 667641 w 2792413"/>
              <a:gd name="T65" fmla="*/ 1278141 h 3389313"/>
              <a:gd name="T66" fmla="*/ 848249 w 2792413"/>
              <a:gd name="T67" fmla="*/ 1188343 h 3389313"/>
              <a:gd name="T68" fmla="*/ 1117099 w 2792413"/>
              <a:gd name="T69" fmla="*/ 1090294 h 3389313"/>
              <a:gd name="T70" fmla="*/ 1495426 w 2792413"/>
              <a:gd name="T71" fmla="*/ 10798 h 3389313"/>
              <a:gd name="T72" fmla="*/ 1596073 w 2792413"/>
              <a:gd name="T73" fmla="*/ 50816 h 3389313"/>
              <a:gd name="T74" fmla="*/ 1679258 w 2792413"/>
              <a:gd name="T75" fmla="*/ 116241 h 3389313"/>
              <a:gd name="T76" fmla="*/ 1743076 w 2792413"/>
              <a:gd name="T77" fmla="*/ 203263 h 3389313"/>
              <a:gd name="T78" fmla="*/ 1802448 w 2792413"/>
              <a:gd name="T79" fmla="*/ 402397 h 3389313"/>
              <a:gd name="T80" fmla="*/ 1849121 w 2792413"/>
              <a:gd name="T81" fmla="*/ 458612 h 3389313"/>
              <a:gd name="T82" fmla="*/ 1861186 w 2792413"/>
              <a:gd name="T83" fmla="*/ 526260 h 3389313"/>
              <a:gd name="T84" fmla="*/ 1823086 w 2792413"/>
              <a:gd name="T85" fmla="*/ 626621 h 3389313"/>
              <a:gd name="T86" fmla="*/ 1771651 w 2792413"/>
              <a:gd name="T87" fmla="*/ 681248 h 3389313"/>
              <a:gd name="T88" fmla="*/ 1688148 w 2792413"/>
              <a:gd name="T89" fmla="*/ 863867 h 3389313"/>
              <a:gd name="T90" fmla="*/ 1552576 w 2792413"/>
              <a:gd name="T91" fmla="*/ 992176 h 3389313"/>
              <a:gd name="T92" fmla="*/ 1464628 w 2792413"/>
              <a:gd name="T93" fmla="*/ 1024254 h 3389313"/>
              <a:gd name="T94" fmla="*/ 1364933 w 2792413"/>
              <a:gd name="T95" fmla="*/ 1028383 h 3389313"/>
              <a:gd name="T96" fmla="*/ 1273493 w 2792413"/>
              <a:gd name="T97" fmla="*/ 1003928 h 3389313"/>
              <a:gd name="T98" fmla="*/ 1136333 w 2792413"/>
              <a:gd name="T99" fmla="*/ 893721 h 3389313"/>
              <a:gd name="T100" fmla="*/ 1043305 w 2792413"/>
              <a:gd name="T101" fmla="*/ 719677 h 3389313"/>
              <a:gd name="T102" fmla="*/ 984250 w 2792413"/>
              <a:gd name="T103" fmla="*/ 642183 h 3389313"/>
              <a:gd name="T104" fmla="*/ 943610 w 2792413"/>
              <a:gd name="T105" fmla="*/ 580887 h 3389313"/>
              <a:gd name="T106" fmla="*/ 930275 w 2792413"/>
              <a:gd name="T107" fmla="*/ 508792 h 3389313"/>
              <a:gd name="T108" fmla="*/ 958215 w 2792413"/>
              <a:gd name="T109" fmla="*/ 440826 h 3389313"/>
              <a:gd name="T110" fmla="*/ 1010603 w 2792413"/>
              <a:gd name="T111" fmla="*/ 336019 h 3389313"/>
              <a:gd name="T112" fmla="*/ 1081405 w 2792413"/>
              <a:gd name="T113" fmla="*/ 168327 h 3389313"/>
              <a:gd name="T114" fmla="*/ 1152525 w 2792413"/>
              <a:gd name="T115" fmla="*/ 89245 h 3389313"/>
              <a:gd name="T116" fmla="*/ 1242060 w 2792413"/>
              <a:gd name="T117" fmla="*/ 32713 h 3389313"/>
              <a:gd name="T118" fmla="*/ 1348105 w 2792413"/>
              <a:gd name="T119" fmla="*/ 3494 h 3389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792413" h="3389313">
                <a:moveTo>
                  <a:pt x="520700" y="2665413"/>
                </a:moveTo>
                <a:lnTo>
                  <a:pt x="2271713" y="2665413"/>
                </a:lnTo>
                <a:lnTo>
                  <a:pt x="2258063" y="3389313"/>
                </a:lnTo>
                <a:lnTo>
                  <a:pt x="534985" y="3389313"/>
                </a:lnTo>
                <a:lnTo>
                  <a:pt x="520700" y="2665413"/>
                </a:lnTo>
                <a:close/>
                <a:moveTo>
                  <a:pt x="0" y="2312988"/>
                </a:moveTo>
                <a:lnTo>
                  <a:pt x="2792413" y="2312988"/>
                </a:lnTo>
                <a:lnTo>
                  <a:pt x="2504058" y="3016251"/>
                </a:lnTo>
                <a:lnTo>
                  <a:pt x="2343366" y="3016251"/>
                </a:lnTo>
                <a:lnTo>
                  <a:pt x="2351623" y="2575798"/>
                </a:lnTo>
                <a:lnTo>
                  <a:pt x="440790" y="2575798"/>
                </a:lnTo>
                <a:lnTo>
                  <a:pt x="449047" y="3016251"/>
                </a:lnTo>
                <a:lnTo>
                  <a:pt x="288355" y="3016251"/>
                </a:lnTo>
                <a:lnTo>
                  <a:pt x="0" y="2312988"/>
                </a:lnTo>
                <a:close/>
                <a:moveTo>
                  <a:pt x="1131065" y="1087438"/>
                </a:moveTo>
                <a:lnTo>
                  <a:pt x="1131065" y="1087755"/>
                </a:lnTo>
                <a:lnTo>
                  <a:pt x="1131700" y="1087438"/>
                </a:lnTo>
                <a:lnTo>
                  <a:pt x="1133287" y="1104890"/>
                </a:lnTo>
                <a:lnTo>
                  <a:pt x="1135826" y="1125198"/>
                </a:lnTo>
                <a:lnTo>
                  <a:pt x="1138683" y="1148044"/>
                </a:lnTo>
                <a:lnTo>
                  <a:pt x="1142492" y="1173112"/>
                </a:lnTo>
                <a:lnTo>
                  <a:pt x="1147253" y="1201035"/>
                </a:lnTo>
                <a:lnTo>
                  <a:pt x="1153284" y="1231179"/>
                </a:lnTo>
                <a:lnTo>
                  <a:pt x="1160267" y="1262910"/>
                </a:lnTo>
                <a:lnTo>
                  <a:pt x="1168520" y="1297180"/>
                </a:lnTo>
                <a:lnTo>
                  <a:pt x="1178042" y="1333670"/>
                </a:lnTo>
                <a:lnTo>
                  <a:pt x="1183439" y="1352074"/>
                </a:lnTo>
                <a:lnTo>
                  <a:pt x="1188835" y="1371430"/>
                </a:lnTo>
                <a:lnTo>
                  <a:pt x="1195183" y="1391103"/>
                </a:lnTo>
                <a:lnTo>
                  <a:pt x="1201531" y="1411094"/>
                </a:lnTo>
                <a:lnTo>
                  <a:pt x="1208514" y="1431719"/>
                </a:lnTo>
                <a:lnTo>
                  <a:pt x="1215497" y="1452344"/>
                </a:lnTo>
                <a:lnTo>
                  <a:pt x="1223433" y="1473921"/>
                </a:lnTo>
                <a:lnTo>
                  <a:pt x="1231685" y="1495498"/>
                </a:lnTo>
                <a:lnTo>
                  <a:pt x="1240573" y="1517392"/>
                </a:lnTo>
                <a:lnTo>
                  <a:pt x="1249461" y="1539604"/>
                </a:lnTo>
                <a:lnTo>
                  <a:pt x="1258983" y="1562450"/>
                </a:lnTo>
                <a:lnTo>
                  <a:pt x="1269458" y="1585296"/>
                </a:lnTo>
                <a:lnTo>
                  <a:pt x="1279932" y="1608460"/>
                </a:lnTo>
                <a:lnTo>
                  <a:pt x="1291359" y="1632258"/>
                </a:lnTo>
                <a:lnTo>
                  <a:pt x="1294851" y="1601162"/>
                </a:lnTo>
                <a:lnTo>
                  <a:pt x="1298977" y="1571018"/>
                </a:lnTo>
                <a:lnTo>
                  <a:pt x="1306913" y="1512315"/>
                </a:lnTo>
                <a:lnTo>
                  <a:pt x="1315165" y="1458373"/>
                </a:lnTo>
                <a:lnTo>
                  <a:pt x="1323101" y="1409824"/>
                </a:lnTo>
                <a:lnTo>
                  <a:pt x="1330084" y="1368574"/>
                </a:lnTo>
                <a:lnTo>
                  <a:pt x="1336115" y="1335574"/>
                </a:lnTo>
                <a:lnTo>
                  <a:pt x="1342780" y="1300670"/>
                </a:lnTo>
                <a:lnTo>
                  <a:pt x="1298025" y="1196275"/>
                </a:lnTo>
                <a:lnTo>
                  <a:pt x="1370395" y="1127736"/>
                </a:lnTo>
                <a:lnTo>
                  <a:pt x="1421817" y="1127736"/>
                </a:lnTo>
                <a:lnTo>
                  <a:pt x="1494187" y="1196275"/>
                </a:lnTo>
                <a:lnTo>
                  <a:pt x="1449749" y="1300670"/>
                </a:lnTo>
                <a:lnTo>
                  <a:pt x="1456415" y="1335574"/>
                </a:lnTo>
                <a:lnTo>
                  <a:pt x="1462128" y="1368574"/>
                </a:lnTo>
                <a:lnTo>
                  <a:pt x="1469746" y="1409824"/>
                </a:lnTo>
                <a:lnTo>
                  <a:pt x="1477364" y="1458373"/>
                </a:lnTo>
                <a:lnTo>
                  <a:pt x="1485617" y="1512315"/>
                </a:lnTo>
                <a:lnTo>
                  <a:pt x="1493869" y="1571018"/>
                </a:lnTo>
                <a:lnTo>
                  <a:pt x="1497678" y="1601162"/>
                </a:lnTo>
                <a:lnTo>
                  <a:pt x="1501170" y="1632258"/>
                </a:lnTo>
                <a:lnTo>
                  <a:pt x="1512279" y="1608460"/>
                </a:lnTo>
                <a:lnTo>
                  <a:pt x="1523072" y="1585296"/>
                </a:lnTo>
                <a:lnTo>
                  <a:pt x="1533229" y="1562450"/>
                </a:lnTo>
                <a:lnTo>
                  <a:pt x="1542751" y="1539604"/>
                </a:lnTo>
                <a:lnTo>
                  <a:pt x="1552274" y="1517392"/>
                </a:lnTo>
                <a:lnTo>
                  <a:pt x="1560844" y="1495498"/>
                </a:lnTo>
                <a:lnTo>
                  <a:pt x="1568779" y="1473921"/>
                </a:lnTo>
                <a:lnTo>
                  <a:pt x="1576715" y="1452344"/>
                </a:lnTo>
                <a:lnTo>
                  <a:pt x="1584015" y="1431719"/>
                </a:lnTo>
                <a:lnTo>
                  <a:pt x="1590681" y="1411094"/>
                </a:lnTo>
                <a:lnTo>
                  <a:pt x="1597346" y="1391103"/>
                </a:lnTo>
                <a:lnTo>
                  <a:pt x="1603377" y="1371430"/>
                </a:lnTo>
                <a:lnTo>
                  <a:pt x="1609408" y="1352074"/>
                </a:lnTo>
                <a:lnTo>
                  <a:pt x="1614487" y="1333670"/>
                </a:lnTo>
                <a:lnTo>
                  <a:pt x="1624327" y="1297180"/>
                </a:lnTo>
                <a:lnTo>
                  <a:pt x="1632262" y="1262910"/>
                </a:lnTo>
                <a:lnTo>
                  <a:pt x="1639563" y="1231179"/>
                </a:lnTo>
                <a:lnTo>
                  <a:pt x="1644959" y="1201035"/>
                </a:lnTo>
                <a:lnTo>
                  <a:pt x="1649720" y="1173112"/>
                </a:lnTo>
                <a:lnTo>
                  <a:pt x="1653846" y="1148044"/>
                </a:lnTo>
                <a:lnTo>
                  <a:pt x="1657020" y="1125198"/>
                </a:lnTo>
                <a:lnTo>
                  <a:pt x="1659242" y="1104890"/>
                </a:lnTo>
                <a:lnTo>
                  <a:pt x="1660829" y="1087438"/>
                </a:lnTo>
                <a:lnTo>
                  <a:pt x="1661464" y="1087755"/>
                </a:lnTo>
                <a:lnTo>
                  <a:pt x="1661464" y="1087438"/>
                </a:lnTo>
                <a:lnTo>
                  <a:pt x="1675430" y="1090294"/>
                </a:lnTo>
                <a:lnTo>
                  <a:pt x="1689714" y="1093784"/>
                </a:lnTo>
                <a:lnTo>
                  <a:pt x="1703998" y="1097592"/>
                </a:lnTo>
                <a:lnTo>
                  <a:pt x="1718916" y="1101400"/>
                </a:lnTo>
                <a:lnTo>
                  <a:pt x="1749705" y="1110919"/>
                </a:lnTo>
                <a:lnTo>
                  <a:pt x="1782399" y="1120756"/>
                </a:lnTo>
                <a:lnTo>
                  <a:pt x="1812871" y="1129640"/>
                </a:lnTo>
                <a:lnTo>
                  <a:pt x="1841120" y="1138208"/>
                </a:lnTo>
                <a:lnTo>
                  <a:pt x="1866831" y="1146458"/>
                </a:lnTo>
                <a:lnTo>
                  <a:pt x="1890002" y="1154390"/>
                </a:lnTo>
                <a:lnTo>
                  <a:pt x="1911269" y="1162006"/>
                </a:lnTo>
                <a:lnTo>
                  <a:pt x="1930314" y="1168987"/>
                </a:lnTo>
                <a:lnTo>
                  <a:pt x="1947454" y="1176285"/>
                </a:lnTo>
                <a:lnTo>
                  <a:pt x="1962690" y="1183266"/>
                </a:lnTo>
                <a:lnTo>
                  <a:pt x="1976021" y="1189612"/>
                </a:lnTo>
                <a:lnTo>
                  <a:pt x="1987766" y="1195958"/>
                </a:lnTo>
                <a:lnTo>
                  <a:pt x="1998240" y="1201670"/>
                </a:lnTo>
                <a:lnTo>
                  <a:pt x="2006811" y="1207381"/>
                </a:lnTo>
                <a:lnTo>
                  <a:pt x="2014111" y="1212775"/>
                </a:lnTo>
                <a:lnTo>
                  <a:pt x="2020142" y="1218487"/>
                </a:lnTo>
                <a:lnTo>
                  <a:pt x="2025221" y="1223564"/>
                </a:lnTo>
                <a:lnTo>
                  <a:pt x="2029030" y="1228641"/>
                </a:lnTo>
                <a:lnTo>
                  <a:pt x="2035061" y="1234035"/>
                </a:lnTo>
                <a:lnTo>
                  <a:pt x="2040457" y="1240064"/>
                </a:lnTo>
                <a:lnTo>
                  <a:pt x="2046170" y="1246410"/>
                </a:lnTo>
                <a:lnTo>
                  <a:pt x="2051249" y="1252756"/>
                </a:lnTo>
                <a:lnTo>
                  <a:pt x="2056010" y="1259420"/>
                </a:lnTo>
                <a:lnTo>
                  <a:pt x="2060771" y="1266401"/>
                </a:lnTo>
                <a:lnTo>
                  <a:pt x="2065215" y="1273699"/>
                </a:lnTo>
                <a:lnTo>
                  <a:pt x="2068706" y="1281631"/>
                </a:lnTo>
                <a:lnTo>
                  <a:pt x="2069976" y="1283535"/>
                </a:lnTo>
                <a:lnTo>
                  <a:pt x="2072833" y="1289564"/>
                </a:lnTo>
                <a:lnTo>
                  <a:pt x="2083942" y="1312410"/>
                </a:lnTo>
                <a:lnTo>
                  <a:pt x="2101717" y="1348584"/>
                </a:lnTo>
                <a:lnTo>
                  <a:pt x="2124889" y="1394276"/>
                </a:lnTo>
                <a:lnTo>
                  <a:pt x="2151869" y="1446950"/>
                </a:lnTo>
                <a:lnTo>
                  <a:pt x="2182341" y="1504382"/>
                </a:lnTo>
                <a:lnTo>
                  <a:pt x="2197894" y="1534210"/>
                </a:lnTo>
                <a:lnTo>
                  <a:pt x="2214399" y="1563719"/>
                </a:lnTo>
                <a:lnTo>
                  <a:pt x="2230588" y="1593229"/>
                </a:lnTo>
                <a:lnTo>
                  <a:pt x="2247093" y="1622104"/>
                </a:lnTo>
                <a:lnTo>
                  <a:pt x="2260742" y="1645902"/>
                </a:lnTo>
                <a:lnTo>
                  <a:pt x="2274073" y="1668431"/>
                </a:lnTo>
                <a:lnTo>
                  <a:pt x="2305497" y="1634479"/>
                </a:lnTo>
                <a:lnTo>
                  <a:pt x="2332478" y="1604652"/>
                </a:lnTo>
                <a:lnTo>
                  <a:pt x="2358823" y="1575460"/>
                </a:lnTo>
                <a:lnTo>
                  <a:pt x="2406752" y="1520883"/>
                </a:lnTo>
                <a:lnTo>
                  <a:pt x="2443572" y="1478046"/>
                </a:lnTo>
                <a:lnTo>
                  <a:pt x="2465157" y="1453296"/>
                </a:lnTo>
                <a:lnTo>
                  <a:pt x="2468013" y="1449805"/>
                </a:lnTo>
                <a:lnTo>
                  <a:pt x="2471822" y="1445681"/>
                </a:lnTo>
                <a:lnTo>
                  <a:pt x="2475631" y="1441555"/>
                </a:lnTo>
                <a:lnTo>
                  <a:pt x="2483567" y="1434257"/>
                </a:lnTo>
                <a:lnTo>
                  <a:pt x="2491819" y="1427276"/>
                </a:lnTo>
                <a:lnTo>
                  <a:pt x="2500390" y="1420930"/>
                </a:lnTo>
                <a:lnTo>
                  <a:pt x="2664175" y="1245141"/>
                </a:lnTo>
                <a:lnTo>
                  <a:pt x="2669254" y="1240381"/>
                </a:lnTo>
                <a:lnTo>
                  <a:pt x="2674967" y="1235939"/>
                </a:lnTo>
                <a:lnTo>
                  <a:pt x="2680681" y="1232131"/>
                </a:lnTo>
                <a:lnTo>
                  <a:pt x="2686712" y="1229275"/>
                </a:lnTo>
                <a:lnTo>
                  <a:pt x="2693060" y="1227054"/>
                </a:lnTo>
                <a:lnTo>
                  <a:pt x="2699408" y="1225150"/>
                </a:lnTo>
                <a:lnTo>
                  <a:pt x="2706074" y="1224198"/>
                </a:lnTo>
                <a:lnTo>
                  <a:pt x="2712422" y="1223247"/>
                </a:lnTo>
                <a:lnTo>
                  <a:pt x="2719088" y="1223247"/>
                </a:lnTo>
                <a:lnTo>
                  <a:pt x="2725754" y="1224198"/>
                </a:lnTo>
                <a:lnTo>
                  <a:pt x="2732419" y="1225468"/>
                </a:lnTo>
                <a:lnTo>
                  <a:pt x="2738767" y="1227371"/>
                </a:lnTo>
                <a:lnTo>
                  <a:pt x="2745116" y="1229910"/>
                </a:lnTo>
                <a:lnTo>
                  <a:pt x="2751147" y="1233400"/>
                </a:lnTo>
                <a:lnTo>
                  <a:pt x="2757178" y="1237525"/>
                </a:lnTo>
                <a:lnTo>
                  <a:pt x="2762574" y="1241968"/>
                </a:lnTo>
                <a:lnTo>
                  <a:pt x="2767335" y="1247045"/>
                </a:lnTo>
                <a:lnTo>
                  <a:pt x="2771779" y="1252756"/>
                </a:lnTo>
                <a:lnTo>
                  <a:pt x="2775270" y="1258151"/>
                </a:lnTo>
                <a:lnTo>
                  <a:pt x="2778444" y="1264497"/>
                </a:lnTo>
                <a:lnTo>
                  <a:pt x="2780666" y="1270843"/>
                </a:lnTo>
                <a:lnTo>
                  <a:pt x="2782571" y="1277189"/>
                </a:lnTo>
                <a:lnTo>
                  <a:pt x="2783840" y="1283853"/>
                </a:lnTo>
                <a:lnTo>
                  <a:pt x="2784475" y="1290199"/>
                </a:lnTo>
                <a:lnTo>
                  <a:pt x="2784475" y="1296862"/>
                </a:lnTo>
                <a:lnTo>
                  <a:pt x="2783840" y="1303526"/>
                </a:lnTo>
                <a:lnTo>
                  <a:pt x="2782253" y="1310189"/>
                </a:lnTo>
                <a:lnTo>
                  <a:pt x="2780349" y="1316535"/>
                </a:lnTo>
                <a:lnTo>
                  <a:pt x="2777492" y="1322882"/>
                </a:lnTo>
                <a:lnTo>
                  <a:pt x="2774635" y="1328911"/>
                </a:lnTo>
                <a:lnTo>
                  <a:pt x="2770509" y="1334622"/>
                </a:lnTo>
                <a:lnTo>
                  <a:pt x="2766065" y="1340334"/>
                </a:lnTo>
                <a:lnTo>
                  <a:pt x="2694964" y="1416171"/>
                </a:lnTo>
                <a:lnTo>
                  <a:pt x="2705122" y="1422200"/>
                </a:lnTo>
                <a:lnTo>
                  <a:pt x="2709883" y="1426007"/>
                </a:lnTo>
                <a:lnTo>
                  <a:pt x="2714644" y="1429815"/>
                </a:lnTo>
                <a:lnTo>
                  <a:pt x="2721310" y="1435844"/>
                </a:lnTo>
                <a:lnTo>
                  <a:pt x="2727658" y="1441873"/>
                </a:lnTo>
                <a:lnTo>
                  <a:pt x="2733689" y="1448854"/>
                </a:lnTo>
                <a:lnTo>
                  <a:pt x="2739085" y="1455517"/>
                </a:lnTo>
                <a:lnTo>
                  <a:pt x="2744481" y="1462498"/>
                </a:lnTo>
                <a:lnTo>
                  <a:pt x="2749242" y="1469478"/>
                </a:lnTo>
                <a:lnTo>
                  <a:pt x="2753686" y="1476777"/>
                </a:lnTo>
                <a:lnTo>
                  <a:pt x="2757812" y="1484392"/>
                </a:lnTo>
                <a:lnTo>
                  <a:pt x="2761621" y="1492008"/>
                </a:lnTo>
                <a:lnTo>
                  <a:pt x="2764478" y="1499940"/>
                </a:lnTo>
                <a:lnTo>
                  <a:pt x="2767335" y="1507873"/>
                </a:lnTo>
                <a:lnTo>
                  <a:pt x="2770191" y="1515806"/>
                </a:lnTo>
                <a:lnTo>
                  <a:pt x="2771779" y="1524056"/>
                </a:lnTo>
                <a:lnTo>
                  <a:pt x="2773683" y="1532306"/>
                </a:lnTo>
                <a:lnTo>
                  <a:pt x="2774953" y="1540556"/>
                </a:lnTo>
                <a:lnTo>
                  <a:pt x="2775905" y="1548806"/>
                </a:lnTo>
                <a:lnTo>
                  <a:pt x="2776222" y="1557373"/>
                </a:lnTo>
                <a:lnTo>
                  <a:pt x="2776222" y="1565623"/>
                </a:lnTo>
                <a:lnTo>
                  <a:pt x="2775905" y="1574191"/>
                </a:lnTo>
                <a:lnTo>
                  <a:pt x="2775270" y="1582441"/>
                </a:lnTo>
                <a:lnTo>
                  <a:pt x="2774000" y="1591008"/>
                </a:lnTo>
                <a:lnTo>
                  <a:pt x="2772731" y="1598941"/>
                </a:lnTo>
                <a:lnTo>
                  <a:pt x="2770826" y="1607508"/>
                </a:lnTo>
                <a:lnTo>
                  <a:pt x="2768604" y="1615758"/>
                </a:lnTo>
                <a:lnTo>
                  <a:pt x="2765430" y="1623691"/>
                </a:lnTo>
                <a:lnTo>
                  <a:pt x="2762574" y="1631624"/>
                </a:lnTo>
                <a:lnTo>
                  <a:pt x="2758765" y="1639556"/>
                </a:lnTo>
                <a:lnTo>
                  <a:pt x="2754956" y="1647489"/>
                </a:lnTo>
                <a:lnTo>
                  <a:pt x="2750194" y="1654787"/>
                </a:lnTo>
                <a:lnTo>
                  <a:pt x="2745433" y="1662085"/>
                </a:lnTo>
                <a:lnTo>
                  <a:pt x="2740355" y="1669383"/>
                </a:lnTo>
                <a:lnTo>
                  <a:pt x="2734641" y="1676364"/>
                </a:lnTo>
                <a:lnTo>
                  <a:pt x="2716549" y="1697941"/>
                </a:lnTo>
                <a:lnTo>
                  <a:pt x="2670206" y="1751249"/>
                </a:lnTo>
                <a:lnTo>
                  <a:pt x="2639417" y="1786470"/>
                </a:lnTo>
                <a:lnTo>
                  <a:pt x="2605136" y="1824865"/>
                </a:lnTo>
                <a:lnTo>
                  <a:pt x="2569586" y="1864529"/>
                </a:lnTo>
                <a:lnTo>
                  <a:pt x="2532766" y="1904827"/>
                </a:lnTo>
                <a:lnTo>
                  <a:pt x="2508325" y="1930529"/>
                </a:lnTo>
                <a:lnTo>
                  <a:pt x="2484519" y="1955914"/>
                </a:lnTo>
                <a:lnTo>
                  <a:pt x="2461030" y="1979712"/>
                </a:lnTo>
                <a:lnTo>
                  <a:pt x="2438811" y="2001606"/>
                </a:lnTo>
                <a:lnTo>
                  <a:pt x="2426115" y="2013347"/>
                </a:lnTo>
                <a:lnTo>
                  <a:pt x="2413418" y="2025087"/>
                </a:lnTo>
                <a:lnTo>
                  <a:pt x="2400722" y="2035876"/>
                </a:lnTo>
                <a:lnTo>
                  <a:pt x="2387708" y="2046664"/>
                </a:lnTo>
                <a:lnTo>
                  <a:pt x="2380090" y="2052376"/>
                </a:lnTo>
                <a:lnTo>
                  <a:pt x="2371837" y="2058405"/>
                </a:lnTo>
                <a:lnTo>
                  <a:pt x="2362314" y="2064751"/>
                </a:lnTo>
                <a:lnTo>
                  <a:pt x="2351205" y="2071414"/>
                </a:lnTo>
                <a:lnTo>
                  <a:pt x="2343904" y="2075222"/>
                </a:lnTo>
                <a:lnTo>
                  <a:pt x="2335969" y="2079347"/>
                </a:lnTo>
                <a:lnTo>
                  <a:pt x="2326447" y="2083155"/>
                </a:lnTo>
                <a:lnTo>
                  <a:pt x="2315337" y="2087280"/>
                </a:lnTo>
                <a:lnTo>
                  <a:pt x="2307719" y="2089501"/>
                </a:lnTo>
                <a:lnTo>
                  <a:pt x="2300101" y="2091405"/>
                </a:lnTo>
                <a:lnTo>
                  <a:pt x="2292801" y="2093309"/>
                </a:lnTo>
                <a:lnTo>
                  <a:pt x="2284865" y="2094578"/>
                </a:lnTo>
                <a:lnTo>
                  <a:pt x="2277565" y="2095530"/>
                </a:lnTo>
                <a:lnTo>
                  <a:pt x="2270582" y="2096164"/>
                </a:lnTo>
                <a:lnTo>
                  <a:pt x="2262964" y="2096799"/>
                </a:lnTo>
                <a:lnTo>
                  <a:pt x="2255981" y="2097116"/>
                </a:lnTo>
                <a:lnTo>
                  <a:pt x="2244871" y="2096799"/>
                </a:lnTo>
                <a:lnTo>
                  <a:pt x="2234397" y="2095530"/>
                </a:lnTo>
                <a:lnTo>
                  <a:pt x="2224557" y="2093943"/>
                </a:lnTo>
                <a:lnTo>
                  <a:pt x="2215034" y="2092357"/>
                </a:lnTo>
                <a:lnTo>
                  <a:pt x="2206147" y="2090453"/>
                </a:lnTo>
                <a:lnTo>
                  <a:pt x="2197894" y="2087597"/>
                </a:lnTo>
                <a:lnTo>
                  <a:pt x="2190593" y="2085058"/>
                </a:lnTo>
                <a:lnTo>
                  <a:pt x="2183610" y="2082520"/>
                </a:lnTo>
                <a:lnTo>
                  <a:pt x="2176945" y="2079982"/>
                </a:lnTo>
                <a:lnTo>
                  <a:pt x="2170596" y="2077126"/>
                </a:lnTo>
                <a:lnTo>
                  <a:pt x="2159487" y="2071097"/>
                </a:lnTo>
                <a:lnTo>
                  <a:pt x="2149647" y="2065385"/>
                </a:lnTo>
                <a:lnTo>
                  <a:pt x="2140759" y="2059674"/>
                </a:lnTo>
                <a:lnTo>
                  <a:pt x="2133141" y="2053962"/>
                </a:lnTo>
                <a:lnTo>
                  <a:pt x="2125841" y="2048251"/>
                </a:lnTo>
                <a:lnTo>
                  <a:pt x="2119175" y="2043174"/>
                </a:lnTo>
                <a:lnTo>
                  <a:pt x="2113462" y="2037779"/>
                </a:lnTo>
                <a:lnTo>
                  <a:pt x="2102670" y="2027308"/>
                </a:lnTo>
                <a:lnTo>
                  <a:pt x="2092512" y="2017154"/>
                </a:lnTo>
                <a:lnTo>
                  <a:pt x="2083307" y="2006683"/>
                </a:lnTo>
                <a:lnTo>
                  <a:pt x="2074737" y="1996847"/>
                </a:lnTo>
                <a:lnTo>
                  <a:pt x="2066167" y="1986375"/>
                </a:lnTo>
                <a:lnTo>
                  <a:pt x="2057914" y="1975904"/>
                </a:lnTo>
                <a:lnTo>
                  <a:pt x="2049979" y="1965116"/>
                </a:lnTo>
                <a:lnTo>
                  <a:pt x="2042044" y="1954010"/>
                </a:lnTo>
                <a:lnTo>
                  <a:pt x="2026490" y="1931798"/>
                </a:lnTo>
                <a:lnTo>
                  <a:pt x="2013476" y="1912125"/>
                </a:lnTo>
                <a:lnTo>
                  <a:pt x="2000462" y="1891817"/>
                </a:lnTo>
                <a:lnTo>
                  <a:pt x="1987131" y="1870557"/>
                </a:lnTo>
                <a:lnTo>
                  <a:pt x="1974117" y="1848663"/>
                </a:lnTo>
                <a:lnTo>
                  <a:pt x="1961103" y="1826769"/>
                </a:lnTo>
                <a:lnTo>
                  <a:pt x="1948089" y="1803922"/>
                </a:lnTo>
                <a:lnTo>
                  <a:pt x="1922061" y="1758547"/>
                </a:lnTo>
                <a:lnTo>
                  <a:pt x="1922061" y="2143126"/>
                </a:lnTo>
                <a:lnTo>
                  <a:pt x="1428165" y="2143126"/>
                </a:lnTo>
                <a:lnTo>
                  <a:pt x="1455462" y="1826769"/>
                </a:lnTo>
                <a:lnTo>
                  <a:pt x="1455145" y="1818519"/>
                </a:lnTo>
                <a:lnTo>
                  <a:pt x="1454510" y="1810269"/>
                </a:lnTo>
                <a:lnTo>
                  <a:pt x="1452923" y="1802653"/>
                </a:lnTo>
                <a:lnTo>
                  <a:pt x="1450701" y="1795038"/>
                </a:lnTo>
                <a:lnTo>
                  <a:pt x="1448479" y="1788057"/>
                </a:lnTo>
                <a:lnTo>
                  <a:pt x="1445623" y="1781076"/>
                </a:lnTo>
                <a:lnTo>
                  <a:pt x="1441814" y="1774730"/>
                </a:lnTo>
                <a:lnTo>
                  <a:pt x="1438005" y="1769018"/>
                </a:lnTo>
                <a:lnTo>
                  <a:pt x="1433878" y="1763941"/>
                </a:lnTo>
                <a:lnTo>
                  <a:pt x="1429434" y="1759182"/>
                </a:lnTo>
                <a:lnTo>
                  <a:pt x="1424673" y="1755057"/>
                </a:lnTo>
                <a:lnTo>
                  <a:pt x="1419595" y="1751566"/>
                </a:lnTo>
                <a:lnTo>
                  <a:pt x="1413881" y="1748711"/>
                </a:lnTo>
                <a:lnTo>
                  <a:pt x="1408485" y="1746807"/>
                </a:lnTo>
                <a:lnTo>
                  <a:pt x="1402454" y="1745538"/>
                </a:lnTo>
                <a:lnTo>
                  <a:pt x="1396423" y="1744903"/>
                </a:lnTo>
                <a:lnTo>
                  <a:pt x="1390710" y="1745538"/>
                </a:lnTo>
                <a:lnTo>
                  <a:pt x="1384679" y="1746807"/>
                </a:lnTo>
                <a:lnTo>
                  <a:pt x="1378966" y="1748711"/>
                </a:lnTo>
                <a:lnTo>
                  <a:pt x="1373570" y="1751566"/>
                </a:lnTo>
                <a:lnTo>
                  <a:pt x="1368174" y="1755057"/>
                </a:lnTo>
                <a:lnTo>
                  <a:pt x="1363412" y="1759182"/>
                </a:lnTo>
                <a:lnTo>
                  <a:pt x="1358969" y="1763941"/>
                </a:lnTo>
                <a:lnTo>
                  <a:pt x="1354842" y="1769018"/>
                </a:lnTo>
                <a:lnTo>
                  <a:pt x="1351351" y="1774730"/>
                </a:lnTo>
                <a:lnTo>
                  <a:pt x="1347542" y="1781076"/>
                </a:lnTo>
                <a:lnTo>
                  <a:pt x="1344367" y="1788057"/>
                </a:lnTo>
                <a:lnTo>
                  <a:pt x="1342146" y="1795038"/>
                </a:lnTo>
                <a:lnTo>
                  <a:pt x="1339924" y="1802653"/>
                </a:lnTo>
                <a:lnTo>
                  <a:pt x="1338971" y="1810269"/>
                </a:lnTo>
                <a:lnTo>
                  <a:pt x="1337702" y="1818519"/>
                </a:lnTo>
                <a:lnTo>
                  <a:pt x="1337384" y="1826769"/>
                </a:lnTo>
                <a:lnTo>
                  <a:pt x="1364999" y="2143126"/>
                </a:lnTo>
                <a:lnTo>
                  <a:pt x="870151" y="2143126"/>
                </a:lnTo>
                <a:lnTo>
                  <a:pt x="870151" y="1651297"/>
                </a:lnTo>
                <a:lnTo>
                  <a:pt x="869833" y="1651297"/>
                </a:lnTo>
                <a:lnTo>
                  <a:pt x="868881" y="1652249"/>
                </a:lnTo>
                <a:lnTo>
                  <a:pt x="867294" y="1653201"/>
                </a:lnTo>
                <a:lnTo>
                  <a:pt x="864755" y="1656691"/>
                </a:lnTo>
                <a:lnTo>
                  <a:pt x="861581" y="1661133"/>
                </a:lnTo>
                <a:lnTo>
                  <a:pt x="858724" y="1667162"/>
                </a:lnTo>
                <a:lnTo>
                  <a:pt x="855867" y="1674143"/>
                </a:lnTo>
                <a:lnTo>
                  <a:pt x="852376" y="1682710"/>
                </a:lnTo>
                <a:lnTo>
                  <a:pt x="848884" y="1691912"/>
                </a:lnTo>
                <a:lnTo>
                  <a:pt x="845710" y="1702701"/>
                </a:lnTo>
                <a:lnTo>
                  <a:pt x="839044" y="1726816"/>
                </a:lnTo>
                <a:lnTo>
                  <a:pt x="832061" y="1755057"/>
                </a:lnTo>
                <a:lnTo>
                  <a:pt x="824443" y="1786153"/>
                </a:lnTo>
                <a:lnTo>
                  <a:pt x="817460" y="1820423"/>
                </a:lnTo>
                <a:lnTo>
                  <a:pt x="810477" y="1856913"/>
                </a:lnTo>
                <a:lnTo>
                  <a:pt x="803811" y="1895308"/>
                </a:lnTo>
                <a:lnTo>
                  <a:pt x="797145" y="1935606"/>
                </a:lnTo>
                <a:lnTo>
                  <a:pt x="790797" y="1976221"/>
                </a:lnTo>
                <a:lnTo>
                  <a:pt x="784766" y="2018424"/>
                </a:lnTo>
                <a:lnTo>
                  <a:pt x="779688" y="2060308"/>
                </a:lnTo>
                <a:lnTo>
                  <a:pt x="774609" y="2101876"/>
                </a:lnTo>
                <a:lnTo>
                  <a:pt x="771118" y="2143126"/>
                </a:lnTo>
                <a:lnTo>
                  <a:pt x="438150" y="2143126"/>
                </a:lnTo>
                <a:lnTo>
                  <a:pt x="443864" y="2084741"/>
                </a:lnTo>
                <a:lnTo>
                  <a:pt x="449894" y="2028577"/>
                </a:lnTo>
                <a:lnTo>
                  <a:pt x="455925" y="1975269"/>
                </a:lnTo>
                <a:lnTo>
                  <a:pt x="463226" y="1923865"/>
                </a:lnTo>
                <a:lnTo>
                  <a:pt x="470209" y="1875317"/>
                </a:lnTo>
                <a:lnTo>
                  <a:pt x="478144" y="1828990"/>
                </a:lnTo>
                <a:lnTo>
                  <a:pt x="485762" y="1784884"/>
                </a:lnTo>
                <a:lnTo>
                  <a:pt x="494015" y="1742682"/>
                </a:lnTo>
                <a:lnTo>
                  <a:pt x="502585" y="1702701"/>
                </a:lnTo>
                <a:lnTo>
                  <a:pt x="511155" y="1665258"/>
                </a:lnTo>
                <a:lnTo>
                  <a:pt x="520043" y="1629085"/>
                </a:lnTo>
                <a:lnTo>
                  <a:pt x="528931" y="1595450"/>
                </a:lnTo>
                <a:lnTo>
                  <a:pt x="537818" y="1563719"/>
                </a:lnTo>
                <a:lnTo>
                  <a:pt x="547023" y="1533892"/>
                </a:lnTo>
                <a:lnTo>
                  <a:pt x="556228" y="1505969"/>
                </a:lnTo>
                <a:lnTo>
                  <a:pt x="565116" y="1479632"/>
                </a:lnTo>
                <a:lnTo>
                  <a:pt x="574638" y="1454882"/>
                </a:lnTo>
                <a:lnTo>
                  <a:pt x="583526" y="1432036"/>
                </a:lnTo>
                <a:lnTo>
                  <a:pt x="592413" y="1410777"/>
                </a:lnTo>
                <a:lnTo>
                  <a:pt x="601301" y="1391420"/>
                </a:lnTo>
                <a:lnTo>
                  <a:pt x="609871" y="1373334"/>
                </a:lnTo>
                <a:lnTo>
                  <a:pt x="618124" y="1356516"/>
                </a:lnTo>
                <a:lnTo>
                  <a:pt x="626059" y="1341920"/>
                </a:lnTo>
                <a:lnTo>
                  <a:pt x="633995" y="1327959"/>
                </a:lnTo>
                <a:lnTo>
                  <a:pt x="641930" y="1315266"/>
                </a:lnTo>
                <a:lnTo>
                  <a:pt x="648913" y="1304160"/>
                </a:lnTo>
                <a:lnTo>
                  <a:pt x="655579" y="1294324"/>
                </a:lnTo>
                <a:lnTo>
                  <a:pt x="661927" y="1285756"/>
                </a:lnTo>
                <a:lnTo>
                  <a:pt x="667641" y="1278141"/>
                </a:lnTo>
                <a:lnTo>
                  <a:pt x="673037" y="1271478"/>
                </a:lnTo>
                <a:lnTo>
                  <a:pt x="677798" y="1266083"/>
                </a:lnTo>
                <a:lnTo>
                  <a:pt x="681924" y="1261641"/>
                </a:lnTo>
                <a:lnTo>
                  <a:pt x="699065" y="1252756"/>
                </a:lnTo>
                <a:lnTo>
                  <a:pt x="717475" y="1243237"/>
                </a:lnTo>
                <a:lnTo>
                  <a:pt x="737154" y="1234035"/>
                </a:lnTo>
                <a:lnTo>
                  <a:pt x="758104" y="1224833"/>
                </a:lnTo>
                <a:lnTo>
                  <a:pt x="779688" y="1215948"/>
                </a:lnTo>
                <a:lnTo>
                  <a:pt x="801907" y="1206746"/>
                </a:lnTo>
                <a:lnTo>
                  <a:pt x="824761" y="1197227"/>
                </a:lnTo>
                <a:lnTo>
                  <a:pt x="848249" y="1188343"/>
                </a:lnTo>
                <a:lnTo>
                  <a:pt x="895544" y="1170891"/>
                </a:lnTo>
                <a:lnTo>
                  <a:pt x="942204" y="1154390"/>
                </a:lnTo>
                <a:lnTo>
                  <a:pt x="987594" y="1138525"/>
                </a:lnTo>
                <a:lnTo>
                  <a:pt x="1030445" y="1124564"/>
                </a:lnTo>
                <a:lnTo>
                  <a:pt x="1041554" y="1118217"/>
                </a:lnTo>
                <a:lnTo>
                  <a:pt x="1053299" y="1112188"/>
                </a:lnTo>
                <a:lnTo>
                  <a:pt x="1065678" y="1107111"/>
                </a:lnTo>
                <a:lnTo>
                  <a:pt x="1077740" y="1102352"/>
                </a:lnTo>
                <a:lnTo>
                  <a:pt x="1090754" y="1097909"/>
                </a:lnTo>
                <a:lnTo>
                  <a:pt x="1103768" y="1094102"/>
                </a:lnTo>
                <a:lnTo>
                  <a:pt x="1117099" y="1090294"/>
                </a:lnTo>
                <a:lnTo>
                  <a:pt x="1131065" y="1087438"/>
                </a:lnTo>
                <a:close/>
                <a:moveTo>
                  <a:pt x="1401445" y="0"/>
                </a:moveTo>
                <a:lnTo>
                  <a:pt x="1412240" y="318"/>
                </a:lnTo>
                <a:lnTo>
                  <a:pt x="1423353" y="635"/>
                </a:lnTo>
                <a:lnTo>
                  <a:pt x="1433513" y="1588"/>
                </a:lnTo>
                <a:lnTo>
                  <a:pt x="1444308" y="2223"/>
                </a:lnTo>
                <a:lnTo>
                  <a:pt x="1454786" y="3494"/>
                </a:lnTo>
                <a:lnTo>
                  <a:pt x="1465263" y="4764"/>
                </a:lnTo>
                <a:lnTo>
                  <a:pt x="1475423" y="6670"/>
                </a:lnTo>
                <a:lnTo>
                  <a:pt x="1485266" y="8575"/>
                </a:lnTo>
                <a:lnTo>
                  <a:pt x="1495426" y="10798"/>
                </a:lnTo>
                <a:lnTo>
                  <a:pt x="1505268" y="13339"/>
                </a:lnTo>
                <a:lnTo>
                  <a:pt x="1515111" y="15880"/>
                </a:lnTo>
                <a:lnTo>
                  <a:pt x="1524636" y="19056"/>
                </a:lnTo>
                <a:lnTo>
                  <a:pt x="1533843" y="22232"/>
                </a:lnTo>
                <a:lnTo>
                  <a:pt x="1543368" y="25726"/>
                </a:lnTo>
                <a:lnTo>
                  <a:pt x="1552576" y="29219"/>
                </a:lnTo>
                <a:lnTo>
                  <a:pt x="1561466" y="33030"/>
                </a:lnTo>
                <a:lnTo>
                  <a:pt x="1570356" y="37159"/>
                </a:lnTo>
                <a:lnTo>
                  <a:pt x="1578928" y="41605"/>
                </a:lnTo>
                <a:lnTo>
                  <a:pt x="1587818" y="46052"/>
                </a:lnTo>
                <a:lnTo>
                  <a:pt x="1596073" y="50816"/>
                </a:lnTo>
                <a:lnTo>
                  <a:pt x="1604646" y="55897"/>
                </a:lnTo>
                <a:lnTo>
                  <a:pt x="1612583" y="60979"/>
                </a:lnTo>
                <a:lnTo>
                  <a:pt x="1620521" y="66378"/>
                </a:lnTo>
                <a:lnTo>
                  <a:pt x="1628776" y="72095"/>
                </a:lnTo>
                <a:lnTo>
                  <a:pt x="1636078" y="77812"/>
                </a:lnTo>
                <a:lnTo>
                  <a:pt x="1644016" y="83528"/>
                </a:lnTo>
                <a:lnTo>
                  <a:pt x="1651318" y="89880"/>
                </a:lnTo>
                <a:lnTo>
                  <a:pt x="1658303" y="96232"/>
                </a:lnTo>
                <a:lnTo>
                  <a:pt x="1665606" y="102902"/>
                </a:lnTo>
                <a:lnTo>
                  <a:pt x="1672591" y="109571"/>
                </a:lnTo>
                <a:lnTo>
                  <a:pt x="1679258" y="116241"/>
                </a:lnTo>
                <a:lnTo>
                  <a:pt x="1685926" y="123546"/>
                </a:lnTo>
                <a:lnTo>
                  <a:pt x="1692593" y="130851"/>
                </a:lnTo>
                <a:lnTo>
                  <a:pt x="1698943" y="138155"/>
                </a:lnTo>
                <a:lnTo>
                  <a:pt x="1704976" y="145778"/>
                </a:lnTo>
                <a:lnTo>
                  <a:pt x="1710691" y="153400"/>
                </a:lnTo>
                <a:lnTo>
                  <a:pt x="1716723" y="161658"/>
                </a:lnTo>
                <a:lnTo>
                  <a:pt x="1722438" y="169597"/>
                </a:lnTo>
                <a:lnTo>
                  <a:pt x="1727836" y="177537"/>
                </a:lnTo>
                <a:lnTo>
                  <a:pt x="1733233" y="186113"/>
                </a:lnTo>
                <a:lnTo>
                  <a:pt x="1738313" y="194688"/>
                </a:lnTo>
                <a:lnTo>
                  <a:pt x="1743076" y="203263"/>
                </a:lnTo>
                <a:lnTo>
                  <a:pt x="1747838" y="212156"/>
                </a:lnTo>
                <a:lnTo>
                  <a:pt x="1752283" y="221048"/>
                </a:lnTo>
                <a:lnTo>
                  <a:pt x="1760856" y="239469"/>
                </a:lnTo>
                <a:lnTo>
                  <a:pt x="1768793" y="258207"/>
                </a:lnTo>
                <a:lnTo>
                  <a:pt x="1776096" y="277581"/>
                </a:lnTo>
                <a:lnTo>
                  <a:pt x="1782446" y="297272"/>
                </a:lnTo>
                <a:lnTo>
                  <a:pt x="1788161" y="317916"/>
                </a:lnTo>
                <a:lnTo>
                  <a:pt x="1792923" y="338560"/>
                </a:lnTo>
                <a:lnTo>
                  <a:pt x="1797051" y="359521"/>
                </a:lnTo>
                <a:lnTo>
                  <a:pt x="1799908" y="380800"/>
                </a:lnTo>
                <a:lnTo>
                  <a:pt x="1802448" y="402397"/>
                </a:lnTo>
                <a:lnTo>
                  <a:pt x="1804036" y="424946"/>
                </a:lnTo>
                <a:lnTo>
                  <a:pt x="1809751" y="426534"/>
                </a:lnTo>
                <a:lnTo>
                  <a:pt x="1815148" y="428758"/>
                </a:lnTo>
                <a:lnTo>
                  <a:pt x="1819911" y="431616"/>
                </a:lnTo>
                <a:lnTo>
                  <a:pt x="1825308" y="434474"/>
                </a:lnTo>
                <a:lnTo>
                  <a:pt x="1829753" y="437968"/>
                </a:lnTo>
                <a:lnTo>
                  <a:pt x="1834198" y="441144"/>
                </a:lnTo>
                <a:lnTo>
                  <a:pt x="1838326" y="445273"/>
                </a:lnTo>
                <a:lnTo>
                  <a:pt x="1842453" y="449401"/>
                </a:lnTo>
                <a:lnTo>
                  <a:pt x="1845628" y="453848"/>
                </a:lnTo>
                <a:lnTo>
                  <a:pt x="1849121" y="458612"/>
                </a:lnTo>
                <a:lnTo>
                  <a:pt x="1851978" y="463693"/>
                </a:lnTo>
                <a:lnTo>
                  <a:pt x="1854201" y="469728"/>
                </a:lnTo>
                <a:lnTo>
                  <a:pt x="1856423" y="475762"/>
                </a:lnTo>
                <a:lnTo>
                  <a:pt x="1858328" y="482114"/>
                </a:lnTo>
                <a:lnTo>
                  <a:pt x="1859916" y="488784"/>
                </a:lnTo>
                <a:lnTo>
                  <a:pt x="1860868" y="496088"/>
                </a:lnTo>
                <a:lnTo>
                  <a:pt x="1861503" y="502123"/>
                </a:lnTo>
                <a:lnTo>
                  <a:pt x="1862138" y="507839"/>
                </a:lnTo>
                <a:lnTo>
                  <a:pt x="1862138" y="513874"/>
                </a:lnTo>
                <a:lnTo>
                  <a:pt x="1861503" y="519908"/>
                </a:lnTo>
                <a:lnTo>
                  <a:pt x="1861186" y="526260"/>
                </a:lnTo>
                <a:lnTo>
                  <a:pt x="1860868" y="532294"/>
                </a:lnTo>
                <a:lnTo>
                  <a:pt x="1858963" y="544998"/>
                </a:lnTo>
                <a:lnTo>
                  <a:pt x="1856106" y="557385"/>
                </a:lnTo>
                <a:lnTo>
                  <a:pt x="1852296" y="569771"/>
                </a:lnTo>
                <a:lnTo>
                  <a:pt x="1847851" y="582157"/>
                </a:lnTo>
                <a:lnTo>
                  <a:pt x="1842771" y="593908"/>
                </a:lnTo>
                <a:lnTo>
                  <a:pt x="1836738" y="605342"/>
                </a:lnTo>
                <a:lnTo>
                  <a:pt x="1833881" y="611059"/>
                </a:lnTo>
                <a:lnTo>
                  <a:pt x="1830071" y="616140"/>
                </a:lnTo>
                <a:lnTo>
                  <a:pt x="1826578" y="621540"/>
                </a:lnTo>
                <a:lnTo>
                  <a:pt x="1823086" y="626621"/>
                </a:lnTo>
                <a:lnTo>
                  <a:pt x="1818958" y="631385"/>
                </a:lnTo>
                <a:lnTo>
                  <a:pt x="1814831" y="635831"/>
                </a:lnTo>
                <a:lnTo>
                  <a:pt x="1810703" y="640278"/>
                </a:lnTo>
                <a:lnTo>
                  <a:pt x="1806258" y="644407"/>
                </a:lnTo>
                <a:lnTo>
                  <a:pt x="1801813" y="648218"/>
                </a:lnTo>
                <a:lnTo>
                  <a:pt x="1797051" y="652029"/>
                </a:lnTo>
                <a:lnTo>
                  <a:pt x="1792288" y="655205"/>
                </a:lnTo>
                <a:lnTo>
                  <a:pt x="1787208" y="658063"/>
                </a:lnTo>
                <a:lnTo>
                  <a:pt x="1782128" y="660922"/>
                </a:lnTo>
                <a:lnTo>
                  <a:pt x="1777048" y="663145"/>
                </a:lnTo>
                <a:lnTo>
                  <a:pt x="1771651" y="681248"/>
                </a:lnTo>
                <a:lnTo>
                  <a:pt x="1766571" y="699033"/>
                </a:lnTo>
                <a:lnTo>
                  <a:pt x="1760538" y="716501"/>
                </a:lnTo>
                <a:lnTo>
                  <a:pt x="1754188" y="733969"/>
                </a:lnTo>
                <a:lnTo>
                  <a:pt x="1747521" y="751437"/>
                </a:lnTo>
                <a:lnTo>
                  <a:pt x="1740218" y="768587"/>
                </a:lnTo>
                <a:lnTo>
                  <a:pt x="1732598" y="785420"/>
                </a:lnTo>
                <a:lnTo>
                  <a:pt x="1724661" y="801618"/>
                </a:lnTo>
                <a:lnTo>
                  <a:pt x="1716406" y="817497"/>
                </a:lnTo>
                <a:lnTo>
                  <a:pt x="1707516" y="833695"/>
                </a:lnTo>
                <a:lnTo>
                  <a:pt x="1698308" y="848940"/>
                </a:lnTo>
                <a:lnTo>
                  <a:pt x="1688148" y="863867"/>
                </a:lnTo>
                <a:lnTo>
                  <a:pt x="1677988" y="878159"/>
                </a:lnTo>
                <a:lnTo>
                  <a:pt x="1667511" y="892451"/>
                </a:lnTo>
                <a:lnTo>
                  <a:pt x="1656716" y="905790"/>
                </a:lnTo>
                <a:lnTo>
                  <a:pt x="1644968" y="918811"/>
                </a:lnTo>
                <a:lnTo>
                  <a:pt x="1633221" y="931515"/>
                </a:lnTo>
                <a:lnTo>
                  <a:pt x="1620838" y="943266"/>
                </a:lnTo>
                <a:lnTo>
                  <a:pt x="1607821" y="954382"/>
                </a:lnTo>
                <a:lnTo>
                  <a:pt x="1594803" y="964863"/>
                </a:lnTo>
                <a:lnTo>
                  <a:pt x="1581151" y="974709"/>
                </a:lnTo>
                <a:lnTo>
                  <a:pt x="1567181" y="983919"/>
                </a:lnTo>
                <a:lnTo>
                  <a:pt x="1552576" y="992176"/>
                </a:lnTo>
                <a:lnTo>
                  <a:pt x="1545273" y="996305"/>
                </a:lnTo>
                <a:lnTo>
                  <a:pt x="1537336" y="1000116"/>
                </a:lnTo>
                <a:lnTo>
                  <a:pt x="1530033" y="1003610"/>
                </a:lnTo>
                <a:lnTo>
                  <a:pt x="1522096" y="1006786"/>
                </a:lnTo>
                <a:lnTo>
                  <a:pt x="1513841" y="1010279"/>
                </a:lnTo>
                <a:lnTo>
                  <a:pt x="1506221" y="1012820"/>
                </a:lnTo>
                <a:lnTo>
                  <a:pt x="1497966" y="1015679"/>
                </a:lnTo>
                <a:lnTo>
                  <a:pt x="1489711" y="1017902"/>
                </a:lnTo>
                <a:lnTo>
                  <a:pt x="1481456" y="1020443"/>
                </a:lnTo>
                <a:lnTo>
                  <a:pt x="1473201" y="1022348"/>
                </a:lnTo>
                <a:lnTo>
                  <a:pt x="1464628" y="1024254"/>
                </a:lnTo>
                <a:lnTo>
                  <a:pt x="1455738" y="1025842"/>
                </a:lnTo>
                <a:lnTo>
                  <a:pt x="1447166" y="1027112"/>
                </a:lnTo>
                <a:lnTo>
                  <a:pt x="1438276" y="1028383"/>
                </a:lnTo>
                <a:lnTo>
                  <a:pt x="1429068" y="1029018"/>
                </a:lnTo>
                <a:lnTo>
                  <a:pt x="1419860" y="1029971"/>
                </a:lnTo>
                <a:lnTo>
                  <a:pt x="1410653" y="1030288"/>
                </a:lnTo>
                <a:lnTo>
                  <a:pt x="1401445" y="1030288"/>
                </a:lnTo>
                <a:lnTo>
                  <a:pt x="1391920" y="1030288"/>
                </a:lnTo>
                <a:lnTo>
                  <a:pt x="1382713" y="1029971"/>
                </a:lnTo>
                <a:lnTo>
                  <a:pt x="1373823" y="1029018"/>
                </a:lnTo>
                <a:lnTo>
                  <a:pt x="1364933" y="1028383"/>
                </a:lnTo>
                <a:lnTo>
                  <a:pt x="1356043" y="1027112"/>
                </a:lnTo>
                <a:lnTo>
                  <a:pt x="1347153" y="1025842"/>
                </a:lnTo>
                <a:lnTo>
                  <a:pt x="1338580" y="1024254"/>
                </a:lnTo>
                <a:lnTo>
                  <a:pt x="1330008" y="1022348"/>
                </a:lnTo>
                <a:lnTo>
                  <a:pt x="1321753" y="1020443"/>
                </a:lnTo>
                <a:lnTo>
                  <a:pt x="1313180" y="1018219"/>
                </a:lnTo>
                <a:lnTo>
                  <a:pt x="1305243" y="1015679"/>
                </a:lnTo>
                <a:lnTo>
                  <a:pt x="1297305" y="1013138"/>
                </a:lnTo>
                <a:lnTo>
                  <a:pt x="1289050" y="1010279"/>
                </a:lnTo>
                <a:lnTo>
                  <a:pt x="1281430" y="1007104"/>
                </a:lnTo>
                <a:lnTo>
                  <a:pt x="1273493" y="1003928"/>
                </a:lnTo>
                <a:lnTo>
                  <a:pt x="1266190" y="1000434"/>
                </a:lnTo>
                <a:lnTo>
                  <a:pt x="1250950" y="992812"/>
                </a:lnTo>
                <a:lnTo>
                  <a:pt x="1236345" y="984554"/>
                </a:lnTo>
                <a:lnTo>
                  <a:pt x="1222693" y="975344"/>
                </a:lnTo>
                <a:lnTo>
                  <a:pt x="1209040" y="965498"/>
                </a:lnTo>
                <a:lnTo>
                  <a:pt x="1196023" y="955017"/>
                </a:lnTo>
                <a:lnTo>
                  <a:pt x="1183005" y="943901"/>
                </a:lnTo>
                <a:lnTo>
                  <a:pt x="1170623" y="932150"/>
                </a:lnTo>
                <a:lnTo>
                  <a:pt x="1158875" y="919764"/>
                </a:lnTo>
                <a:lnTo>
                  <a:pt x="1147128" y="907378"/>
                </a:lnTo>
                <a:lnTo>
                  <a:pt x="1136333" y="893721"/>
                </a:lnTo>
                <a:lnTo>
                  <a:pt x="1125538" y="879747"/>
                </a:lnTo>
                <a:lnTo>
                  <a:pt x="1115695" y="865455"/>
                </a:lnTo>
                <a:lnTo>
                  <a:pt x="1105853" y="850845"/>
                </a:lnTo>
                <a:lnTo>
                  <a:pt x="1096645" y="835601"/>
                </a:lnTo>
                <a:lnTo>
                  <a:pt x="1087755" y="820038"/>
                </a:lnTo>
                <a:lnTo>
                  <a:pt x="1079183" y="803841"/>
                </a:lnTo>
                <a:lnTo>
                  <a:pt x="1070928" y="787643"/>
                </a:lnTo>
                <a:lnTo>
                  <a:pt x="1063625" y="770811"/>
                </a:lnTo>
                <a:lnTo>
                  <a:pt x="1056323" y="753978"/>
                </a:lnTo>
                <a:lnTo>
                  <a:pt x="1049655" y="737145"/>
                </a:lnTo>
                <a:lnTo>
                  <a:pt x="1043305" y="719677"/>
                </a:lnTo>
                <a:lnTo>
                  <a:pt x="1037273" y="702209"/>
                </a:lnTo>
                <a:lnTo>
                  <a:pt x="1031558" y="684106"/>
                </a:lnTo>
                <a:lnTo>
                  <a:pt x="1026795" y="666321"/>
                </a:lnTo>
                <a:lnTo>
                  <a:pt x="1020763" y="664415"/>
                </a:lnTo>
                <a:lnTo>
                  <a:pt x="1015365" y="662827"/>
                </a:lnTo>
                <a:lnTo>
                  <a:pt x="1009650" y="659969"/>
                </a:lnTo>
                <a:lnTo>
                  <a:pt x="1004253" y="657110"/>
                </a:lnTo>
                <a:lnTo>
                  <a:pt x="998855" y="653617"/>
                </a:lnTo>
                <a:lnTo>
                  <a:pt x="993775" y="650441"/>
                </a:lnTo>
                <a:lnTo>
                  <a:pt x="989013" y="646312"/>
                </a:lnTo>
                <a:lnTo>
                  <a:pt x="984250" y="642183"/>
                </a:lnTo>
                <a:lnTo>
                  <a:pt x="979805" y="637737"/>
                </a:lnTo>
                <a:lnTo>
                  <a:pt x="975360" y="632973"/>
                </a:lnTo>
                <a:lnTo>
                  <a:pt x="970598" y="627891"/>
                </a:lnTo>
                <a:lnTo>
                  <a:pt x="966788" y="622492"/>
                </a:lnTo>
                <a:lnTo>
                  <a:pt x="962978" y="617411"/>
                </a:lnTo>
                <a:lnTo>
                  <a:pt x="959168" y="611376"/>
                </a:lnTo>
                <a:lnTo>
                  <a:pt x="955358" y="605660"/>
                </a:lnTo>
                <a:lnTo>
                  <a:pt x="952500" y="599625"/>
                </a:lnTo>
                <a:lnTo>
                  <a:pt x="949325" y="593591"/>
                </a:lnTo>
                <a:lnTo>
                  <a:pt x="946468" y="587239"/>
                </a:lnTo>
                <a:lnTo>
                  <a:pt x="943610" y="580887"/>
                </a:lnTo>
                <a:lnTo>
                  <a:pt x="941388" y="574535"/>
                </a:lnTo>
                <a:lnTo>
                  <a:pt x="939165" y="567865"/>
                </a:lnTo>
                <a:lnTo>
                  <a:pt x="937260" y="561196"/>
                </a:lnTo>
                <a:lnTo>
                  <a:pt x="935355" y="554526"/>
                </a:lnTo>
                <a:lnTo>
                  <a:pt x="934085" y="547857"/>
                </a:lnTo>
                <a:lnTo>
                  <a:pt x="932815" y="541505"/>
                </a:lnTo>
                <a:lnTo>
                  <a:pt x="931863" y="534835"/>
                </a:lnTo>
                <a:lnTo>
                  <a:pt x="930910" y="528166"/>
                </a:lnTo>
                <a:lnTo>
                  <a:pt x="930593" y="521496"/>
                </a:lnTo>
                <a:lnTo>
                  <a:pt x="930275" y="515144"/>
                </a:lnTo>
                <a:lnTo>
                  <a:pt x="930275" y="508792"/>
                </a:lnTo>
                <a:lnTo>
                  <a:pt x="930593" y="502440"/>
                </a:lnTo>
                <a:lnTo>
                  <a:pt x="931228" y="496088"/>
                </a:lnTo>
                <a:lnTo>
                  <a:pt x="932498" y="488148"/>
                </a:lnTo>
                <a:lnTo>
                  <a:pt x="934403" y="480526"/>
                </a:lnTo>
                <a:lnTo>
                  <a:pt x="936625" y="473539"/>
                </a:lnTo>
                <a:lnTo>
                  <a:pt x="939165" y="466869"/>
                </a:lnTo>
                <a:lnTo>
                  <a:pt x="942023" y="460835"/>
                </a:lnTo>
                <a:lnTo>
                  <a:pt x="945515" y="455436"/>
                </a:lnTo>
                <a:lnTo>
                  <a:pt x="949325" y="450037"/>
                </a:lnTo>
                <a:lnTo>
                  <a:pt x="953770" y="445273"/>
                </a:lnTo>
                <a:lnTo>
                  <a:pt x="958215" y="440826"/>
                </a:lnTo>
                <a:lnTo>
                  <a:pt x="962978" y="437015"/>
                </a:lnTo>
                <a:lnTo>
                  <a:pt x="968058" y="433204"/>
                </a:lnTo>
                <a:lnTo>
                  <a:pt x="973773" y="430345"/>
                </a:lnTo>
                <a:lnTo>
                  <a:pt x="979805" y="427805"/>
                </a:lnTo>
                <a:lnTo>
                  <a:pt x="985520" y="425264"/>
                </a:lnTo>
                <a:lnTo>
                  <a:pt x="992188" y="423358"/>
                </a:lnTo>
                <a:lnTo>
                  <a:pt x="998855" y="421453"/>
                </a:lnTo>
                <a:lnTo>
                  <a:pt x="1000443" y="399538"/>
                </a:lnTo>
                <a:lnTo>
                  <a:pt x="1002983" y="377942"/>
                </a:lnTo>
                <a:lnTo>
                  <a:pt x="1006475" y="356663"/>
                </a:lnTo>
                <a:lnTo>
                  <a:pt x="1010603" y="336019"/>
                </a:lnTo>
                <a:lnTo>
                  <a:pt x="1015365" y="315057"/>
                </a:lnTo>
                <a:lnTo>
                  <a:pt x="1020763" y="295049"/>
                </a:lnTo>
                <a:lnTo>
                  <a:pt x="1027748" y="275358"/>
                </a:lnTo>
                <a:lnTo>
                  <a:pt x="1034733" y="256302"/>
                </a:lnTo>
                <a:lnTo>
                  <a:pt x="1042353" y="237564"/>
                </a:lnTo>
                <a:lnTo>
                  <a:pt x="1051243" y="219143"/>
                </a:lnTo>
                <a:lnTo>
                  <a:pt x="1060768" y="201675"/>
                </a:lnTo>
                <a:lnTo>
                  <a:pt x="1065530" y="193417"/>
                </a:lnTo>
                <a:lnTo>
                  <a:pt x="1070610" y="184842"/>
                </a:lnTo>
                <a:lnTo>
                  <a:pt x="1076008" y="176585"/>
                </a:lnTo>
                <a:lnTo>
                  <a:pt x="1081405" y="168327"/>
                </a:lnTo>
                <a:lnTo>
                  <a:pt x="1087120" y="160070"/>
                </a:lnTo>
                <a:lnTo>
                  <a:pt x="1092835" y="152447"/>
                </a:lnTo>
                <a:lnTo>
                  <a:pt x="1098868" y="144507"/>
                </a:lnTo>
                <a:lnTo>
                  <a:pt x="1104900" y="137202"/>
                </a:lnTo>
                <a:lnTo>
                  <a:pt x="1111250" y="129580"/>
                </a:lnTo>
                <a:lnTo>
                  <a:pt x="1117600" y="122593"/>
                </a:lnTo>
                <a:lnTo>
                  <a:pt x="1124268" y="115606"/>
                </a:lnTo>
                <a:lnTo>
                  <a:pt x="1131253" y="108619"/>
                </a:lnTo>
                <a:lnTo>
                  <a:pt x="1137920" y="101949"/>
                </a:lnTo>
                <a:lnTo>
                  <a:pt x="1144905" y="95597"/>
                </a:lnTo>
                <a:lnTo>
                  <a:pt x="1152525" y="89245"/>
                </a:lnTo>
                <a:lnTo>
                  <a:pt x="1159828" y="82893"/>
                </a:lnTo>
                <a:lnTo>
                  <a:pt x="1167130" y="76859"/>
                </a:lnTo>
                <a:lnTo>
                  <a:pt x="1175068" y="71460"/>
                </a:lnTo>
                <a:lnTo>
                  <a:pt x="1183005" y="65743"/>
                </a:lnTo>
                <a:lnTo>
                  <a:pt x="1190943" y="60661"/>
                </a:lnTo>
                <a:lnTo>
                  <a:pt x="1198880" y="55262"/>
                </a:lnTo>
                <a:lnTo>
                  <a:pt x="1207453" y="50498"/>
                </a:lnTo>
                <a:lnTo>
                  <a:pt x="1216025" y="45734"/>
                </a:lnTo>
                <a:lnTo>
                  <a:pt x="1224598" y="41288"/>
                </a:lnTo>
                <a:lnTo>
                  <a:pt x="1233170" y="36841"/>
                </a:lnTo>
                <a:lnTo>
                  <a:pt x="1242060" y="32713"/>
                </a:lnTo>
                <a:lnTo>
                  <a:pt x="1250950" y="28902"/>
                </a:lnTo>
                <a:lnTo>
                  <a:pt x="1260158" y="25408"/>
                </a:lnTo>
                <a:lnTo>
                  <a:pt x="1269365" y="21914"/>
                </a:lnTo>
                <a:lnTo>
                  <a:pt x="1278890" y="19056"/>
                </a:lnTo>
                <a:lnTo>
                  <a:pt x="1288415" y="15880"/>
                </a:lnTo>
                <a:lnTo>
                  <a:pt x="1297940" y="13339"/>
                </a:lnTo>
                <a:lnTo>
                  <a:pt x="1307783" y="10798"/>
                </a:lnTo>
                <a:lnTo>
                  <a:pt x="1317625" y="8575"/>
                </a:lnTo>
                <a:lnTo>
                  <a:pt x="1327785" y="6670"/>
                </a:lnTo>
                <a:lnTo>
                  <a:pt x="1337945" y="4764"/>
                </a:lnTo>
                <a:lnTo>
                  <a:pt x="1348105" y="3494"/>
                </a:lnTo>
                <a:lnTo>
                  <a:pt x="1358583" y="2223"/>
                </a:lnTo>
                <a:lnTo>
                  <a:pt x="1369060" y="1588"/>
                </a:lnTo>
                <a:lnTo>
                  <a:pt x="1379855" y="635"/>
                </a:lnTo>
                <a:lnTo>
                  <a:pt x="1390650" y="318"/>
                </a:lnTo>
                <a:lnTo>
                  <a:pt x="1401445" y="0"/>
                </a:lnTo>
                <a:close/>
              </a:path>
            </a:pathLst>
          </a:custGeom>
          <a:solidFill>
            <a:srgbClr val="A91F24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31" name="圆角矩形 15"/>
          <p:cNvSpPr/>
          <p:nvPr/>
        </p:nvSpPr>
        <p:spPr>
          <a:xfrm>
            <a:off x="5408930" y="1073785"/>
            <a:ext cx="2162810" cy="750570"/>
          </a:xfrm>
          <a:prstGeom prst="roundRect">
            <a:avLst/>
          </a:prstGeom>
          <a:solidFill>
            <a:srgbClr val="A91F2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r>
              <a:rPr kumimoji="1" lang="zh-CN" altLang="en-US" sz="2300" b="1" dirty="0">
                <a:ln w="25400"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105号-简雅黑" panose="00000500000000000000" charset="-122"/>
              </a:rPr>
              <a:t>万事大吉了吗？</a:t>
            </a:r>
            <a:endParaRPr kumimoji="1" lang="zh-CN" altLang="en-US" sz="2300" b="1" dirty="0">
              <a:ln w="25400">
                <a:noFill/>
              </a:ln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3" grpId="0"/>
      <p:bldP spid="8" grpId="0"/>
      <p:bldP spid="17" grpId="0" bldLvl="0" animBg="1"/>
      <p:bldP spid="21" grpId="0"/>
      <p:bldP spid="22" grpId="0"/>
      <p:bldP spid="23" grpId="0" bldLvl="0" animBg="1"/>
      <p:bldP spid="24" grpId="0"/>
      <p:bldP spid="28" grpId="0" bldLvl="0" animBg="1"/>
      <p:bldP spid="31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1422400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前讲复习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742950" y="3155950"/>
            <a:ext cx="1421765" cy="4298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前讲复习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左大括号 3"/>
          <p:cNvSpPr/>
          <p:nvPr/>
        </p:nvSpPr>
        <p:spPr>
          <a:xfrm>
            <a:off x="2276475" y="1893888"/>
            <a:ext cx="260350" cy="299085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左大括号 6"/>
          <p:cNvSpPr/>
          <p:nvPr/>
        </p:nvSpPr>
        <p:spPr>
          <a:xfrm>
            <a:off x="4888230" y="1633538"/>
            <a:ext cx="179388" cy="201612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2438400" y="4298950"/>
            <a:ext cx="2139950" cy="1150620"/>
            <a:chOff x="3840" y="6770"/>
            <a:chExt cx="3370" cy="1812"/>
          </a:xfrm>
        </p:grpSpPr>
        <p:sp>
          <p:nvSpPr>
            <p:cNvPr id="6" name="左大括号 5"/>
            <p:cNvSpPr/>
            <p:nvPr/>
          </p:nvSpPr>
          <p:spPr>
            <a:xfrm>
              <a:off x="6968" y="6770"/>
              <a:ext cx="243" cy="1813"/>
            </a:xfrm>
            <a:prstGeom prst="lef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文本框 40"/>
            <p:cNvSpPr txBox="1"/>
            <p:nvPr/>
          </p:nvSpPr>
          <p:spPr>
            <a:xfrm>
              <a:off x="3840" y="7450"/>
              <a:ext cx="3188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TCP连接建立与释放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501900" y="1163320"/>
            <a:ext cx="2425700" cy="1583690"/>
            <a:chOff x="3940" y="1832"/>
            <a:chExt cx="3820" cy="2494"/>
          </a:xfrm>
        </p:grpSpPr>
        <p:grpSp>
          <p:nvGrpSpPr>
            <p:cNvPr id="31" name="组合 30"/>
            <p:cNvGrpSpPr/>
            <p:nvPr/>
          </p:nvGrpSpPr>
          <p:grpSpPr>
            <a:xfrm>
              <a:off x="3940" y="2120"/>
              <a:ext cx="2852" cy="1928"/>
              <a:chOff x="3940" y="2120"/>
              <a:chExt cx="2852" cy="1928"/>
            </a:xfrm>
          </p:grpSpPr>
          <p:sp>
            <p:nvSpPr>
              <p:cNvPr id="5" name="左大括号 4"/>
              <p:cNvSpPr/>
              <p:nvPr/>
            </p:nvSpPr>
            <p:spPr>
              <a:xfrm>
                <a:off x="6510" y="2120"/>
                <a:ext cx="283" cy="1928"/>
              </a:xfrm>
              <a:prstGeom prst="leftBrac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" name="文本框 40"/>
              <p:cNvSpPr txBox="1"/>
              <p:nvPr/>
            </p:nvSpPr>
            <p:spPr>
              <a:xfrm>
                <a:off x="3940" y="2734"/>
                <a:ext cx="2555" cy="5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TCP数据报格式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" name="文本框 40"/>
            <p:cNvSpPr txBox="1"/>
            <p:nvPr/>
          </p:nvSpPr>
          <p:spPr>
            <a:xfrm>
              <a:off x="6790" y="1832"/>
              <a:ext cx="970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40"/>
            <p:cNvSpPr txBox="1"/>
            <p:nvPr/>
          </p:nvSpPr>
          <p:spPr>
            <a:xfrm>
              <a:off x="6728" y="3796"/>
              <a:ext cx="970" cy="5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dist">
                <a:buClrTx/>
                <a:buSzTx/>
                <a:buFontTx/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报头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4927600" y="1132205"/>
            <a:ext cx="5144770" cy="368300"/>
            <a:chOff x="7760" y="1783"/>
            <a:chExt cx="8102" cy="580"/>
          </a:xfrm>
        </p:grpSpPr>
        <p:cxnSp>
          <p:nvCxnSpPr>
            <p:cNvPr id="13" name="直接箭头连接符 12"/>
            <p:cNvCxnSpPr/>
            <p:nvPr/>
          </p:nvCxnSpPr>
          <p:spPr>
            <a:xfrm>
              <a:off x="7760" y="2073"/>
              <a:ext cx="102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39" name="文本框 5"/>
            <p:cNvSpPr txBox="1"/>
            <p:nvPr/>
          </p:nvSpPr>
          <p:spPr>
            <a:xfrm>
              <a:off x="8718" y="1783"/>
              <a:ext cx="7145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最大段长度</a:t>
              </a:r>
              <a:r>
                <a:rPr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MSS</a:t>
              </a:r>
              <a:r>
                <a:rPr lang="zh-CN" altLang="en-US" b="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（定义、确定原则、计算）</a:t>
              </a:r>
              <a:endPara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5067935" y="1535430"/>
            <a:ext cx="3743960" cy="369570"/>
            <a:chOff x="7981" y="2418"/>
            <a:chExt cx="5896" cy="582"/>
          </a:xfrm>
        </p:grpSpPr>
        <p:sp>
          <p:nvSpPr>
            <p:cNvPr id="9" name="文本框 40"/>
            <p:cNvSpPr txBox="1"/>
            <p:nvPr/>
          </p:nvSpPr>
          <p:spPr>
            <a:xfrm>
              <a:off x="7981" y="2468"/>
              <a:ext cx="3147" cy="4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b="0" dirty="0">
                  <a:latin typeface="黑体" panose="02010609060101010101" charset="-122"/>
                  <a:ea typeface="黑体" panose="02010609060101010101" charset="-122"/>
                </a:rPr>
                <a:t>源端口号、目的端口号</a:t>
              </a:r>
              <a:endParaRPr lang="zh-CN" altLang="en-US" sz="1400" b="0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cxnSp>
          <p:nvCxnSpPr>
            <p:cNvPr id="53" name="直接箭头连接符 52"/>
            <p:cNvCxnSpPr/>
            <p:nvPr/>
          </p:nvCxnSpPr>
          <p:spPr>
            <a:xfrm>
              <a:off x="11047" y="2709"/>
              <a:ext cx="102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53"/>
            <p:cNvSpPr txBox="1"/>
            <p:nvPr/>
          </p:nvSpPr>
          <p:spPr>
            <a:xfrm>
              <a:off x="12063" y="2418"/>
              <a:ext cx="1815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b="0" dirty="0">
                  <a:latin typeface="Times New Roman" panose="02020603050405020304" pitchFamily="18" charset="0"/>
                  <a:ea typeface="黑体" panose="02010609060101010101" charset="-122"/>
                </a:rPr>
                <a:t>各占</a:t>
              </a:r>
              <a:r>
                <a:rPr lang="en-US" altLang="zh-CN" b="0" dirty="0">
                  <a:latin typeface="Times New Roman" panose="02020603050405020304" pitchFamily="18" charset="0"/>
                  <a:ea typeface="黑体" panose="02010609060101010101" charset="-122"/>
                </a:rPr>
                <a:t>16</a:t>
              </a:r>
              <a:r>
                <a:rPr lang="zh-CN" altLang="en-US" b="0" dirty="0">
                  <a:latin typeface="Times New Roman" panose="02020603050405020304" pitchFamily="18" charset="0"/>
                  <a:ea typeface="黑体" panose="02010609060101010101" charset="-122"/>
                </a:rPr>
                <a:t>位</a:t>
              </a:r>
              <a:endParaRPr lang="zh-CN" altLang="en-US" b="0" dirty="0"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</p:grpSp>
      <p:sp>
        <p:nvSpPr>
          <p:cNvPr id="16" name="文本框 40"/>
          <p:cNvSpPr txBox="1"/>
          <p:nvPr/>
        </p:nvSpPr>
        <p:spPr>
          <a:xfrm>
            <a:off x="5018088" y="3233738"/>
            <a:ext cx="773112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0" dirty="0">
                <a:latin typeface="黑体" panose="02010609060101010101" charset="-122"/>
                <a:ea typeface="黑体" panose="02010609060101010101" charset="-122"/>
              </a:rPr>
              <a:t>校验和</a:t>
            </a:r>
            <a:endParaRPr lang="zh-CN" altLang="en-US" sz="1400" b="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4559300" y="3964305"/>
            <a:ext cx="1162050" cy="707390"/>
            <a:chOff x="7180" y="6243"/>
            <a:chExt cx="1830" cy="1114"/>
          </a:xfrm>
        </p:grpSpPr>
        <p:sp>
          <p:nvSpPr>
            <p:cNvPr id="5133" name="文本框 40"/>
            <p:cNvSpPr txBox="1"/>
            <p:nvPr/>
          </p:nvSpPr>
          <p:spPr>
            <a:xfrm>
              <a:off x="7180" y="6558"/>
              <a:ext cx="1649" cy="5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5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三次握手</a:t>
              </a:r>
              <a:endPara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左大括号 55"/>
            <p:cNvSpPr/>
            <p:nvPr/>
          </p:nvSpPr>
          <p:spPr>
            <a:xfrm>
              <a:off x="8818" y="6243"/>
              <a:ext cx="193" cy="1115"/>
            </a:xfrm>
            <a:prstGeom prst="lef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文本框 40"/>
          <p:cNvSpPr txBox="1"/>
          <p:nvPr/>
        </p:nvSpPr>
        <p:spPr>
          <a:xfrm>
            <a:off x="5721350" y="3843655"/>
            <a:ext cx="1998980" cy="3060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0" dirty="0">
                <a:latin typeface="黑体" panose="02010609060101010101" charset="-122"/>
                <a:ea typeface="黑体" panose="02010609060101010101" charset="-122"/>
              </a:rPr>
              <a:t>三次握手的基本过程</a:t>
            </a:r>
            <a:endParaRPr lang="zh-CN" altLang="en-US" sz="1400" b="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8" name="文本框 40"/>
          <p:cNvSpPr txBox="1"/>
          <p:nvPr/>
        </p:nvSpPr>
        <p:spPr>
          <a:xfrm>
            <a:off x="5743575" y="4159250"/>
            <a:ext cx="439293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每次握手时，数据报的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Seq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、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、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、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的变化</a:t>
            </a:r>
            <a:endParaRPr lang="zh-CN" altLang="en-US" sz="1400" b="0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9" name="文本框 40"/>
          <p:cNvSpPr txBox="1"/>
          <p:nvPr/>
        </p:nvSpPr>
        <p:spPr>
          <a:xfrm>
            <a:off x="5721350" y="4492625"/>
            <a:ext cx="360045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为什么要三次握手，而不能只进行两次？</a:t>
            </a:r>
            <a:endParaRPr lang="zh-CN" altLang="en-US" sz="1400" b="0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562475" y="4885055"/>
            <a:ext cx="1146175" cy="1141730"/>
            <a:chOff x="7185" y="7693"/>
            <a:chExt cx="1805" cy="1798"/>
          </a:xfrm>
        </p:grpSpPr>
        <p:sp>
          <p:nvSpPr>
            <p:cNvPr id="5134" name="文本框 40"/>
            <p:cNvSpPr txBox="1"/>
            <p:nvPr/>
          </p:nvSpPr>
          <p:spPr>
            <a:xfrm>
              <a:off x="7185" y="8293"/>
              <a:ext cx="1508" cy="5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5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四次挥手</a:t>
              </a:r>
              <a:endPara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左大括号 59"/>
            <p:cNvSpPr/>
            <p:nvPr/>
          </p:nvSpPr>
          <p:spPr>
            <a:xfrm>
              <a:off x="8828" y="7693"/>
              <a:ext cx="163" cy="1798"/>
            </a:xfrm>
            <a:prstGeom prst="lef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0" name="文本框 40"/>
          <p:cNvSpPr txBox="1"/>
          <p:nvPr/>
        </p:nvSpPr>
        <p:spPr>
          <a:xfrm>
            <a:off x="5708650" y="4813300"/>
            <a:ext cx="1998663" cy="306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0" dirty="0">
                <a:latin typeface="黑体" panose="02010609060101010101" charset="-122"/>
                <a:ea typeface="黑体" panose="02010609060101010101" charset="-122"/>
              </a:rPr>
              <a:t>四次挥手的基本过程</a:t>
            </a:r>
            <a:endParaRPr lang="zh-CN" altLang="en-US" sz="1400" b="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文本框 40"/>
          <p:cNvSpPr txBox="1"/>
          <p:nvPr/>
        </p:nvSpPr>
        <p:spPr>
          <a:xfrm>
            <a:off x="5692775" y="5178425"/>
            <a:ext cx="4391025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每次挥手时，数据报的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Seq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、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、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FIN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、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的变化</a:t>
            </a:r>
            <a:endParaRPr lang="zh-CN" altLang="en-US" sz="1400" b="0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2" name="文本框 40"/>
          <p:cNvSpPr txBox="1"/>
          <p:nvPr/>
        </p:nvSpPr>
        <p:spPr>
          <a:xfrm>
            <a:off x="5695950" y="5507038"/>
            <a:ext cx="4392613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每次挥手后，收发端进入的状态（能否收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/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发数据）</a:t>
            </a:r>
            <a:endParaRPr lang="zh-CN" altLang="en-US" sz="1400" b="0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3" name="文本框 40"/>
          <p:cNvSpPr txBox="1"/>
          <p:nvPr/>
        </p:nvSpPr>
        <p:spPr>
          <a:xfrm>
            <a:off x="5708650" y="5857875"/>
            <a:ext cx="374015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黑体" panose="02010609060101010101" charset="-122"/>
              </a:rPr>
              <a:t>时间等待定时器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（为什么等</a:t>
            </a:r>
            <a:r>
              <a:rPr lang="en-US" altLang="zh-CN" sz="1400" b="0" dirty="0">
                <a:latin typeface="Times New Roman" panose="02020603050405020304" pitchFamily="18" charset="0"/>
                <a:ea typeface="黑体" panose="02010609060101010101" charset="-122"/>
              </a:rPr>
              <a:t>2MSL?</a:t>
            </a:r>
            <a:r>
              <a:rPr lang="zh-CN" altLang="en-US" sz="1400" b="0" dirty="0">
                <a:latin typeface="Times New Roman" panose="02020603050405020304" pitchFamily="18" charset="0"/>
                <a:ea typeface="黑体" panose="02010609060101010101" charset="-122"/>
              </a:rPr>
              <a:t>）</a:t>
            </a:r>
            <a:endParaRPr lang="zh-CN" altLang="en-US" sz="1400" b="0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24" name="文本框 40"/>
          <p:cNvSpPr txBox="1"/>
          <p:nvPr/>
        </p:nvSpPr>
        <p:spPr>
          <a:xfrm>
            <a:off x="4516755" y="4713605"/>
            <a:ext cx="1273810" cy="321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保持定时器</a:t>
            </a:r>
            <a:endParaRPr lang="zh-CN" altLang="en-US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5018405" y="1938655"/>
            <a:ext cx="5188585" cy="1276985"/>
            <a:chOff x="7903" y="3053"/>
            <a:chExt cx="8171" cy="2011"/>
          </a:xfrm>
        </p:grpSpPr>
        <p:sp>
          <p:nvSpPr>
            <p:cNvPr id="5130" name="文本框 40"/>
            <p:cNvSpPr txBox="1"/>
            <p:nvPr/>
          </p:nvSpPr>
          <p:spPr>
            <a:xfrm>
              <a:off x="7903" y="3053"/>
              <a:ext cx="144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b="0" dirty="0">
                  <a:latin typeface="黑体" panose="02010609060101010101" charset="-122"/>
                  <a:ea typeface="黑体" panose="02010609060101010101" charset="-122"/>
                </a:rPr>
                <a:t>发送序号</a:t>
              </a:r>
              <a:endParaRPr lang="zh-CN" altLang="en-US" sz="1400" b="0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5132" name="文本框 40"/>
            <p:cNvSpPr txBox="1"/>
            <p:nvPr/>
          </p:nvSpPr>
          <p:spPr>
            <a:xfrm>
              <a:off x="7903" y="4068"/>
              <a:ext cx="1462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b="0" dirty="0">
                  <a:latin typeface="黑体" panose="02010609060101010101" charset="-122"/>
                  <a:ea typeface="黑体" panose="02010609060101010101" charset="-122"/>
                </a:rPr>
                <a:t>报头长度</a:t>
              </a:r>
              <a:endParaRPr lang="zh-CN" altLang="en-US" sz="1400" b="0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4" name="文本框 40"/>
            <p:cNvSpPr txBox="1"/>
            <p:nvPr/>
          </p:nvSpPr>
          <p:spPr>
            <a:xfrm>
              <a:off x="7903" y="3555"/>
              <a:ext cx="1445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b="0" dirty="0">
                  <a:latin typeface="黑体" panose="02010609060101010101" charset="-122"/>
                  <a:ea typeface="黑体" panose="02010609060101010101" charset="-122"/>
                </a:rPr>
                <a:t>确认序号</a:t>
              </a:r>
              <a:endParaRPr lang="zh-CN" altLang="en-US" sz="1400" b="0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5141" name="文本框 40"/>
            <p:cNvSpPr txBox="1"/>
            <p:nvPr/>
          </p:nvSpPr>
          <p:spPr>
            <a:xfrm>
              <a:off x="7903" y="4580"/>
              <a:ext cx="1462" cy="4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1400" b="0" dirty="0">
                  <a:latin typeface="黑体" panose="02010609060101010101" charset="-122"/>
                  <a:ea typeface="黑体" panose="02010609060101010101" charset="-122"/>
                </a:rPr>
                <a:t>窗口</a:t>
              </a:r>
              <a:endParaRPr lang="zh-CN" altLang="en-US" sz="1400" b="0" dirty="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71" name="左大括号 70"/>
            <p:cNvSpPr/>
            <p:nvPr/>
          </p:nvSpPr>
          <p:spPr>
            <a:xfrm flipH="1">
              <a:off x="9523" y="3265"/>
              <a:ext cx="218" cy="1578"/>
            </a:xfrm>
            <a:prstGeom prst="leftBrace">
              <a:avLst>
                <a:gd name="adj1" fmla="val 0"/>
                <a:gd name="adj2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文本框 71"/>
            <p:cNvSpPr txBox="1"/>
            <p:nvPr/>
          </p:nvSpPr>
          <p:spPr>
            <a:xfrm>
              <a:off x="9880" y="3744"/>
              <a:ext cx="6195" cy="58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b="0" dirty="0">
                  <a:latin typeface="Times New Roman" panose="02020603050405020304" pitchFamily="18" charset="0"/>
                  <a:ea typeface="黑体" panose="02010609060101010101" charset="-122"/>
                </a:rPr>
                <a:t>含义、自身占位数、单位等</a:t>
              </a:r>
              <a:endParaRPr lang="zh-CN" altLang="en-US" b="0" dirty="0">
                <a:latin typeface="Times New Roman" panose="02020603050405020304" pitchFamily="18" charset="0"/>
                <a:ea typeface="黑体" panose="02010609060101010101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5067935" y="3319145"/>
            <a:ext cx="5176520" cy="645160"/>
            <a:chOff x="7981" y="5227"/>
            <a:chExt cx="8152" cy="1016"/>
          </a:xfrm>
        </p:grpSpPr>
        <p:grpSp>
          <p:nvGrpSpPr>
            <p:cNvPr id="55" name="组合 54"/>
            <p:cNvGrpSpPr/>
            <p:nvPr/>
          </p:nvGrpSpPr>
          <p:grpSpPr>
            <a:xfrm>
              <a:off x="7981" y="5553"/>
              <a:ext cx="5001" cy="484"/>
              <a:chOff x="7981" y="5553"/>
              <a:chExt cx="5001" cy="484"/>
            </a:xfrm>
          </p:grpSpPr>
          <p:sp>
            <p:nvSpPr>
              <p:cNvPr id="5131" name="文本框 40"/>
              <p:cNvSpPr txBox="1"/>
              <p:nvPr/>
            </p:nvSpPr>
            <p:spPr>
              <a:xfrm>
                <a:off x="7981" y="5553"/>
                <a:ext cx="4262" cy="4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1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URG, </a:t>
                </a:r>
                <a:r>
                  <a:rPr lang="en-US" altLang="zh-CN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ACK</a:t>
                </a:r>
                <a:r>
                  <a:rPr lang="en-US" altLang="zh-CN" sz="1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PSH, RST, </a:t>
                </a:r>
                <a:r>
                  <a:rPr lang="en-US" altLang="zh-CN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SYN</a:t>
                </a:r>
                <a:r>
                  <a:rPr lang="en-US" altLang="zh-CN" sz="1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</a:t>
                </a:r>
                <a:endParaRPr lang="zh-CN" altLang="en-US" sz="1400" dirty="0">
                  <a:solidFill>
                    <a:srgbClr val="FF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73" name="直接箭头连接符 72"/>
              <p:cNvCxnSpPr/>
              <p:nvPr/>
            </p:nvCxnSpPr>
            <p:spPr>
              <a:xfrm>
                <a:off x="12130" y="5802"/>
                <a:ext cx="853" cy="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文本框 40"/>
            <p:cNvSpPr txBox="1">
              <a:spLocks noChangeArrowheads="1"/>
            </p:cNvSpPr>
            <p:nvPr/>
          </p:nvSpPr>
          <p:spPr bwMode="auto">
            <a:xfrm>
              <a:off x="12983" y="5227"/>
              <a:ext cx="3150" cy="1016"/>
            </a:xfrm>
            <a:prstGeom prst="rect">
              <a:avLst/>
            </a:prstGeom>
            <a:solidFill>
              <a:srgbClr val="DEEBF7"/>
            </a:solidFill>
            <a:ln>
              <a:noFill/>
            </a:ln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连接建立和释放过程中的作用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0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" grpId="0" animBg="1"/>
      <p:bldP spid="4" grpId="0" animBg="1"/>
      <p:bldP spid="7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34795" y="1280160"/>
            <a:ext cx="6696075" cy="4476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0d 28 00 15 00 00 00 06</a:t>
            </a:r>
            <a:r>
              <a:rPr lang="en-US" altLang="zh-CN">
                <a:solidFill>
                  <a:srgbClr val="FF0000"/>
                </a:solidFill>
              </a:rPr>
              <a:t> 00 00 00 00 </a:t>
            </a:r>
            <a:r>
              <a:rPr lang="en-US" altLang="zh-CN"/>
              <a:t>70 02 40 00 c0 29 00 00</a:t>
            </a:r>
            <a:endParaRPr lang="en-US" altLang="zh-CN"/>
          </a:p>
          <a:p>
            <a:r>
              <a:rPr lang="zh-CN" altLang="en-US"/>
              <a:t>源端口号：</a:t>
            </a:r>
            <a:r>
              <a:rPr lang="en-US" altLang="zh-CN"/>
              <a:t> 0x0d28</a:t>
            </a:r>
            <a:endParaRPr lang="zh-CN" altLang="en-US"/>
          </a:p>
          <a:p>
            <a:r>
              <a:rPr lang="zh-CN" altLang="en-US"/>
              <a:t>目的端口号：</a:t>
            </a:r>
            <a:r>
              <a:rPr lang="en-US" altLang="zh-CN"/>
              <a:t> 0x0015 =21  [</a:t>
            </a:r>
            <a:r>
              <a:rPr lang="zh-CN" altLang="en-US"/>
              <a:t>是</a:t>
            </a:r>
            <a:r>
              <a:rPr lang="en-US" altLang="zh-CN"/>
              <a:t>FTP</a:t>
            </a:r>
            <a:r>
              <a:rPr lang="zh-CN" altLang="en-US"/>
              <a:t>的控制连接</a:t>
            </a:r>
            <a:r>
              <a:rPr lang="en-US" altLang="zh-CN"/>
              <a:t>]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发送序列号：</a:t>
            </a:r>
            <a:r>
              <a:rPr lang="en-US" altLang="zh-CN">
                <a:sym typeface="+mn-ea"/>
              </a:rPr>
              <a:t> 00 00 00 06  </a:t>
            </a:r>
            <a:endParaRPr lang="en-US" altLang="zh-CN">
              <a:sym typeface="+mn-ea"/>
            </a:endParaRPr>
          </a:p>
          <a:p>
            <a:r>
              <a:rPr lang="zh-CN" altLang="en-US"/>
              <a:t>确认序号：</a:t>
            </a:r>
            <a:r>
              <a:rPr lang="en-US" altLang="zh-CN"/>
              <a:t>00 00 00 00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TCP</a:t>
            </a:r>
            <a:r>
              <a:rPr lang="zh-CN" altLang="en-US"/>
              <a:t>头部长度：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TCP</a:t>
            </a:r>
            <a:r>
              <a:rPr lang="zh-CN" altLang="en-US"/>
              <a:t>连接是有什么应用层协议建立的？</a:t>
            </a:r>
            <a:r>
              <a:rPr lang="en-US" altLang="zh-CN"/>
              <a:t> ftp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TCP</a:t>
            </a:r>
            <a:r>
              <a:rPr lang="zh-CN" altLang="en-US"/>
              <a:t>连接的壮态是什么？</a:t>
            </a:r>
            <a:r>
              <a:rPr lang="en-US" altLang="zh-CN"/>
              <a:t>--</a:t>
            </a:r>
            <a:r>
              <a:rPr lang="zh-CN" altLang="en-US"/>
              <a:t>提取控制位，提取数值</a:t>
            </a:r>
            <a:endParaRPr lang="zh-CN" altLang="en-US"/>
          </a:p>
          <a:p>
            <a:r>
              <a:rPr lang="en-US" altLang="zh-CN"/>
              <a:t>ACK SYN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79690" y="1523861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09331" y="2272581"/>
            <a:ext cx="5086669" cy="4428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为什么要三次握手？一次、两次、四次行不行？</a:t>
            </a:r>
            <a:endParaRPr lang="zh-CN" altLang="en-US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8726" y="2088690"/>
            <a:ext cx="810661" cy="810661"/>
          </a:xfrm>
          <a:prstGeom prst="rect">
            <a:avLst/>
          </a:prstGeom>
        </p:spPr>
      </p:pic>
      <p:cxnSp>
        <p:nvCxnSpPr>
          <p:cNvPr id="37" name="直接箭头连接符 36"/>
          <p:cNvCxnSpPr/>
          <p:nvPr/>
        </p:nvCxnSpPr>
        <p:spPr>
          <a:xfrm>
            <a:off x="8977745" y="2053451"/>
            <a:ext cx="0" cy="3571494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11131068" y="2017580"/>
            <a:ext cx="0" cy="360736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图片 4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278" y="1302001"/>
            <a:ext cx="715579" cy="715579"/>
          </a:xfrm>
          <a:prstGeom prst="rect">
            <a:avLst/>
          </a:prstGeom>
        </p:spPr>
      </p:pic>
      <p:cxnSp>
        <p:nvCxnSpPr>
          <p:cNvPr id="46" name="直接箭头连接符 45"/>
          <p:cNvCxnSpPr/>
          <p:nvPr/>
        </p:nvCxnSpPr>
        <p:spPr>
          <a:xfrm>
            <a:off x="8977745" y="2398955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8977745" y="2893807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 rot="813296">
            <a:off x="9430977" y="2280682"/>
            <a:ext cx="133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请求包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285" y="1304340"/>
            <a:ext cx="702495" cy="702495"/>
          </a:xfrm>
          <a:prstGeom prst="rect">
            <a:avLst/>
          </a:prstGeom>
        </p:spPr>
      </p:pic>
      <p:cxnSp>
        <p:nvCxnSpPr>
          <p:cNvPr id="61" name="直接箭头连接符 60"/>
          <p:cNvCxnSpPr/>
          <p:nvPr/>
        </p:nvCxnSpPr>
        <p:spPr>
          <a:xfrm>
            <a:off x="8972977" y="342289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 rot="20767183">
            <a:off x="9045716" y="2893783"/>
            <a:ext cx="115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确认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 rot="813296">
            <a:off x="10197355" y="3456931"/>
            <a:ext cx="90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952161" y="2414228"/>
            <a:ext cx="588947" cy="588947"/>
          </a:xfrm>
          <a:prstGeom prst="rect">
            <a:avLst/>
          </a:prstGeom>
        </p:spPr>
      </p:pic>
      <p:sp>
        <p:nvSpPr>
          <p:cNvPr id="67" name="文本框 66"/>
          <p:cNvSpPr txBox="1"/>
          <p:nvPr/>
        </p:nvSpPr>
        <p:spPr>
          <a:xfrm>
            <a:off x="1049851" y="2903283"/>
            <a:ext cx="7204359" cy="870751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一次握手显然不可行，因为没有收到对方的任何回复，无法确定对方是否同意建立连接并进行通信。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4" grpId="0"/>
      <p:bldP spid="65" grpId="0"/>
      <p:bldP spid="6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79690" y="1523861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09331" y="2272581"/>
            <a:ext cx="5086669" cy="4428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为什么要三次握手？一次、两次、四次行不行？</a:t>
            </a:r>
            <a:endParaRPr lang="zh-CN" altLang="en-US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8726" y="2088690"/>
            <a:ext cx="810661" cy="810661"/>
          </a:xfrm>
          <a:prstGeom prst="rect">
            <a:avLst/>
          </a:prstGeom>
        </p:spPr>
      </p:pic>
      <p:cxnSp>
        <p:nvCxnSpPr>
          <p:cNvPr id="37" name="直接箭头连接符 36"/>
          <p:cNvCxnSpPr/>
          <p:nvPr/>
        </p:nvCxnSpPr>
        <p:spPr>
          <a:xfrm>
            <a:off x="8977745" y="2053451"/>
            <a:ext cx="0" cy="3571494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11131068" y="2017580"/>
            <a:ext cx="0" cy="360736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图片 4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278" y="1302001"/>
            <a:ext cx="715579" cy="715579"/>
          </a:xfrm>
          <a:prstGeom prst="rect">
            <a:avLst/>
          </a:prstGeom>
        </p:spPr>
      </p:pic>
      <p:cxnSp>
        <p:nvCxnSpPr>
          <p:cNvPr id="46" name="直接箭头连接符 45"/>
          <p:cNvCxnSpPr/>
          <p:nvPr/>
        </p:nvCxnSpPr>
        <p:spPr>
          <a:xfrm>
            <a:off x="8977745" y="2398955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8977745" y="2893807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 rot="813296">
            <a:off x="9430977" y="2280682"/>
            <a:ext cx="133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请求包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285" y="1304340"/>
            <a:ext cx="702495" cy="702495"/>
          </a:xfrm>
          <a:prstGeom prst="rect">
            <a:avLst/>
          </a:prstGeom>
        </p:spPr>
      </p:pic>
      <p:cxnSp>
        <p:nvCxnSpPr>
          <p:cNvPr id="61" name="直接箭头连接符 60"/>
          <p:cNvCxnSpPr/>
          <p:nvPr/>
        </p:nvCxnSpPr>
        <p:spPr>
          <a:xfrm>
            <a:off x="8972977" y="342289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 rot="20767183">
            <a:off x="9045716" y="2893783"/>
            <a:ext cx="115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确认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 rot="813296">
            <a:off x="10197355" y="3456931"/>
            <a:ext cx="90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952161" y="2414228"/>
            <a:ext cx="588947" cy="588947"/>
          </a:xfrm>
          <a:prstGeom prst="rect">
            <a:avLst/>
          </a:prstGeom>
        </p:spPr>
      </p:pic>
      <p:sp>
        <p:nvSpPr>
          <p:cNvPr id="67" name="文本框 66"/>
          <p:cNvSpPr txBox="1"/>
          <p:nvPr/>
        </p:nvSpPr>
        <p:spPr>
          <a:xfrm>
            <a:off x="1049851" y="2903283"/>
            <a:ext cx="7204359" cy="870751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四次握手肯定可以，但是相比于三次握手，没有增加任何必要的信息，浪费了信道资源，没有必要。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 flipH="1">
            <a:off x="8987265" y="3974887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 rot="20767183">
            <a:off x="9055236" y="3974863"/>
            <a:ext cx="115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确认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3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79690" y="1523861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09331" y="2272581"/>
            <a:ext cx="5086669" cy="4428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为什么要三次握手？一次、两次、四次行不行？</a:t>
            </a:r>
            <a:endParaRPr lang="zh-CN" altLang="en-US" b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8726" y="2088690"/>
            <a:ext cx="810661" cy="810661"/>
          </a:xfrm>
          <a:prstGeom prst="rect">
            <a:avLst/>
          </a:prstGeom>
        </p:spPr>
      </p:pic>
      <p:cxnSp>
        <p:nvCxnSpPr>
          <p:cNvPr id="37" name="直接箭头连接符 36"/>
          <p:cNvCxnSpPr/>
          <p:nvPr/>
        </p:nvCxnSpPr>
        <p:spPr>
          <a:xfrm>
            <a:off x="8977745" y="2053451"/>
            <a:ext cx="0" cy="3571494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11131068" y="2017580"/>
            <a:ext cx="0" cy="360736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图片 4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278" y="1302001"/>
            <a:ext cx="715579" cy="715579"/>
          </a:xfrm>
          <a:prstGeom prst="rect">
            <a:avLst/>
          </a:prstGeom>
        </p:spPr>
      </p:pic>
      <p:cxnSp>
        <p:nvCxnSpPr>
          <p:cNvPr id="46" name="直接箭头连接符 45"/>
          <p:cNvCxnSpPr/>
          <p:nvPr/>
        </p:nvCxnSpPr>
        <p:spPr>
          <a:xfrm>
            <a:off x="8977745" y="2398955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8977745" y="2893807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 rot="813296">
            <a:off x="9430977" y="2280682"/>
            <a:ext cx="133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请求包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285" y="1304340"/>
            <a:ext cx="702495" cy="702495"/>
          </a:xfrm>
          <a:prstGeom prst="rect">
            <a:avLst/>
          </a:prstGeom>
        </p:spPr>
      </p:pic>
      <p:cxnSp>
        <p:nvCxnSpPr>
          <p:cNvPr id="61" name="直接箭头连接符 60"/>
          <p:cNvCxnSpPr/>
          <p:nvPr/>
        </p:nvCxnSpPr>
        <p:spPr>
          <a:xfrm>
            <a:off x="8972977" y="342289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 rot="20767183">
            <a:off x="9045716" y="2893783"/>
            <a:ext cx="115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确认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 rot="813296">
            <a:off x="10197355" y="3456931"/>
            <a:ext cx="90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952161" y="2414228"/>
            <a:ext cx="588947" cy="588947"/>
          </a:xfrm>
          <a:prstGeom prst="rect">
            <a:avLst/>
          </a:prstGeom>
        </p:spPr>
      </p:pic>
      <p:sp>
        <p:nvSpPr>
          <p:cNvPr id="67" name="文本框 66"/>
          <p:cNvSpPr txBox="1"/>
          <p:nvPr/>
        </p:nvSpPr>
        <p:spPr>
          <a:xfrm>
            <a:off x="1049851" y="2903283"/>
            <a:ext cx="7204359" cy="455253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）客户端和服务器无法通过两次握手确认彼此的收发功能是否正常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214534" y="2658425"/>
            <a:ext cx="885635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客户端发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ok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，收？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12412" y="3095821"/>
            <a:ext cx="900573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服务器发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ok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，收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ok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45869" y="3499465"/>
            <a:ext cx="7204359" cy="1286250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）客户端与服务器之间的序列号无法同步，也就是服务器返回的确认可能会丢失，导致客户端无法知道服务器的起始序列号，自然无法保证可靠性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29387" y="4926644"/>
            <a:ext cx="7204359" cy="455253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）防止已失效的连接请求报文段突然又传送到了服务器端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49851" y="5949645"/>
            <a:ext cx="720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参考文献：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《</a:t>
            </a:r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计算机网络（第七版）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》</a:t>
            </a:r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（谢希仁著）；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RFC 793</a:t>
            </a:r>
            <a:endParaRPr lang="zh-CN" altLang="en-US" i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67" grpId="0" animBg="1"/>
      <p:bldP spid="4" grpId="0" animBg="1"/>
      <p:bldP spid="31" grpId="0" animBg="1"/>
      <p:bldP spid="33" grpId="0" animBg="1"/>
      <p:bldP spid="34" grpId="0" animBg="1"/>
      <p:bldP spid="3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79690" y="1523861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97" y="2053451"/>
            <a:ext cx="760012" cy="760012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997309" y="2213101"/>
            <a:ext cx="4151087" cy="4552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charset="-122"/>
              </a:rPr>
              <a:t>什么是 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charset="-122"/>
              </a:rPr>
              <a:t>SYN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charset="-122"/>
              </a:rPr>
              <a:t>攻击？如何避免 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charset="-122"/>
              </a:rPr>
              <a:t>SYN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charset="-122"/>
              </a:rPr>
              <a:t>攻击？</a:t>
            </a:r>
            <a:endParaRPr lang="zh-CN" altLang="en-US" b="1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8977745" y="2053451"/>
            <a:ext cx="0" cy="3571494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11131068" y="2017580"/>
            <a:ext cx="0" cy="360736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278" y="1302001"/>
            <a:ext cx="715579" cy="715579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>
            <a:off x="8977745" y="2398955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8977745" y="2893807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 rot="813296">
            <a:off x="9430977" y="2280682"/>
            <a:ext cx="133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请求包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>
            <a:off x="8979533" y="25298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8981321" y="26822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8979533" y="3046207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 flipH="1">
            <a:off x="8981321" y="3187849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285" y="1304340"/>
            <a:ext cx="702495" cy="702495"/>
          </a:xfrm>
          <a:prstGeom prst="rect">
            <a:avLst/>
          </a:prstGeom>
        </p:spPr>
      </p:pic>
      <p:cxnSp>
        <p:nvCxnSpPr>
          <p:cNvPr id="30" name="直接箭头连接符 29"/>
          <p:cNvCxnSpPr/>
          <p:nvPr/>
        </p:nvCxnSpPr>
        <p:spPr>
          <a:xfrm>
            <a:off x="8972977" y="342289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8974765" y="3596641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8969997" y="3749041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 rot="20767183">
            <a:off x="9045716" y="2893783"/>
            <a:ext cx="115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确认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 rot="813296">
            <a:off x="10197355" y="3456931"/>
            <a:ext cx="90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8962265" y="28346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8971785" y="29870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8967022" y="31394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008" y="2974572"/>
            <a:ext cx="429730" cy="4297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49851" y="2903283"/>
            <a:ext cx="7204359" cy="1892249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攻击也叫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洪泛（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 Flood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），是指攻击者发送大量的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包给服务器，但是并不回复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包，导致连接处于“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半打开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” 状况，消耗了服务器大量的资源。当合法用户发送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包请求建立连接时，服务器由于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资源被占用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而拒绝与其连接并提供服务。因此，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攻击属于拒绝服务攻击（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Denial-of-service attack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）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952161" y="2414228"/>
            <a:ext cx="588947" cy="588947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1062182" y="4966122"/>
            <a:ext cx="7204359" cy="1153586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应对措施主要包括：过滤（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Filtering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）、增加积压（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Increasing Backlog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）、减少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SYN-RECEIVED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定时（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Reducing SYN-RECEIVED Timer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）、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缓存（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 Cache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）等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62182" y="6290298"/>
            <a:ext cx="720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参考文献：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RFC 4987</a:t>
            </a:r>
            <a:endParaRPr lang="zh-CN" altLang="en-US" i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" grpId="0" animBg="1"/>
      <p:bldP spid="38" grpId="0" animBg="1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41707" y="908355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79690" y="1523861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97" y="2053451"/>
            <a:ext cx="760012" cy="760012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997309" y="2213101"/>
            <a:ext cx="4151087" cy="4552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charset="-122"/>
              </a:rPr>
              <a:t>什么是 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charset="-122"/>
              </a:rPr>
              <a:t>SYN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charset="-122"/>
              </a:rPr>
              <a:t>攻击？如何避免 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charset="-122"/>
              </a:rPr>
              <a:t>SYN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charset="-122"/>
              </a:rPr>
              <a:t>攻击？</a:t>
            </a:r>
            <a:endParaRPr lang="zh-CN" altLang="en-US" b="1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8977745" y="2053451"/>
            <a:ext cx="0" cy="3571494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11131068" y="2017580"/>
            <a:ext cx="0" cy="360736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278" y="1302001"/>
            <a:ext cx="715579" cy="715579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>
            <a:off x="8977745" y="2398955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8977745" y="2893807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 rot="813296">
            <a:off x="9430977" y="2280682"/>
            <a:ext cx="133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请求包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>
            <a:off x="8979533" y="25298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8981321" y="26822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8979533" y="3046207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 flipH="1">
            <a:off x="8981321" y="3187849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285" y="1304340"/>
            <a:ext cx="702495" cy="702495"/>
          </a:xfrm>
          <a:prstGeom prst="rect">
            <a:avLst/>
          </a:prstGeom>
        </p:spPr>
      </p:pic>
      <p:cxnSp>
        <p:nvCxnSpPr>
          <p:cNvPr id="30" name="直接箭头连接符 29"/>
          <p:cNvCxnSpPr/>
          <p:nvPr/>
        </p:nvCxnSpPr>
        <p:spPr>
          <a:xfrm>
            <a:off x="8972977" y="342289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8974765" y="3596641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8969997" y="3749041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 rot="20767183">
            <a:off x="9045716" y="2893783"/>
            <a:ext cx="115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确认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 rot="813296">
            <a:off x="10197355" y="3456931"/>
            <a:ext cx="90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8962265" y="28346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8971785" y="29870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8967022" y="313943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008" y="2974572"/>
            <a:ext cx="429730" cy="4297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49851" y="2903283"/>
            <a:ext cx="7204359" cy="1892249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攻击也叫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洪泛（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 Flood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），是指攻击者发送大量的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包给服务器，但是并不回复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包，导致连接处于“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半打开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” 状况，消耗了服务器大量的资源。当合法用户发送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包请求建立连接时，服务器由于</a:t>
            </a:r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资源被占用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而拒绝与其连接并提供服务。因此，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攻击属于拒绝服务攻击（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Denial-of-service attack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）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952161" y="2414228"/>
            <a:ext cx="588947" cy="588947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1062182" y="4966122"/>
            <a:ext cx="7204359" cy="1153586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应对措施主要包括：过滤（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Filtering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）、增加积压（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Increasing Backlog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）、减少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SYN-RECEIVED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定时（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Reducing SYN-RECEIVED Timer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）、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缓存（</a:t>
            </a:r>
            <a:r>
              <a:rPr lang="en-US" altLang="zh-CN" sz="1600" dirty="0">
                <a:latin typeface="Times New Roman" panose="02020603050405020304" pitchFamily="18" charset="0"/>
                <a:ea typeface="黑体" panose="02010609060101010101" charset="-122"/>
              </a:rPr>
              <a:t>SYN Cache</a:t>
            </a:r>
            <a:r>
              <a:rPr lang="zh-CN" altLang="en-US" sz="1600" dirty="0">
                <a:latin typeface="Times New Roman" panose="02020603050405020304" pitchFamily="18" charset="0"/>
                <a:ea typeface="黑体" panose="02010609060101010101" charset="-122"/>
              </a:rPr>
              <a:t>）等</a:t>
            </a:r>
            <a:endParaRPr lang="zh-CN" altLang="en-US" sz="1600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62182" y="6290298"/>
            <a:ext cx="720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参考文献：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RFC 4987</a:t>
            </a:r>
            <a:endParaRPr lang="zh-CN" altLang="en-US" i="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" grpId="0" animBg="1"/>
      <p:bldP spid="38" grpId="0" animBg="1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2693045" cy="49686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3.4 传输控制协议</a:t>
            </a:r>
            <a:endParaRPr lang="zh-CN" altLang="en-US" sz="2800" b="1" dirty="0">
              <a:solidFill>
                <a:srgbClr val="940A4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41708" y="908355"/>
            <a:ext cx="6280510" cy="54034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</a:t>
            </a:r>
            <a:endParaRPr lang="zh-CN" altLang="en-US" sz="2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1325245" y="131508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79690" y="1523861"/>
            <a:ext cx="5731510" cy="529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900" b="1" dirty="0">
                <a:solidFill>
                  <a:srgbClr val="A91F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建立连接阶段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97" y="2053451"/>
            <a:ext cx="760012" cy="760012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997309" y="2213101"/>
            <a:ext cx="6070465" cy="4552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charset="-122"/>
              </a:rPr>
              <a:t>初始序列号为什么每次都要动态随机选取而不能固定不变？</a:t>
            </a:r>
            <a:endParaRPr lang="zh-CN" altLang="en-US" b="1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7514702" y="2731185"/>
            <a:ext cx="0" cy="3571494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9668025" y="2695314"/>
            <a:ext cx="0" cy="360736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235" y="1979735"/>
            <a:ext cx="715579" cy="715579"/>
          </a:xfrm>
          <a:prstGeom prst="rect">
            <a:avLst/>
          </a:prstGeom>
        </p:spPr>
      </p:pic>
      <p:cxnSp>
        <p:nvCxnSpPr>
          <p:cNvPr id="38" name="直接箭头连接符 37"/>
          <p:cNvCxnSpPr/>
          <p:nvPr/>
        </p:nvCxnSpPr>
        <p:spPr>
          <a:xfrm>
            <a:off x="7514702" y="3076689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>
            <a:off x="7514702" y="3571541"/>
            <a:ext cx="2153323" cy="535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 rot="813296">
            <a:off x="7668785" y="2954861"/>
            <a:ext cx="1930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SYN, seq= ISN_C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242" y="1982074"/>
            <a:ext cx="702495" cy="702495"/>
          </a:xfrm>
          <a:prstGeom prst="rect">
            <a:avLst/>
          </a:prstGeom>
        </p:spPr>
      </p:pic>
      <p:cxnSp>
        <p:nvCxnSpPr>
          <p:cNvPr id="43" name="直接箭头连接符 42"/>
          <p:cNvCxnSpPr/>
          <p:nvPr/>
        </p:nvCxnSpPr>
        <p:spPr>
          <a:xfrm>
            <a:off x="7509934" y="4100633"/>
            <a:ext cx="2153323" cy="494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 rot="20767183">
            <a:off x="7582673" y="3571517"/>
            <a:ext cx="115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确认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 rot="813296">
            <a:off x="8734312" y="4134665"/>
            <a:ext cx="90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ACK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4710" y="1979735"/>
            <a:ext cx="702495" cy="7024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950536" y="1607047"/>
            <a:ext cx="111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C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（非法）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1036559" y="1607047"/>
            <a:ext cx="111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charset="-122"/>
              </a:rPr>
              <a:t>（合法）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cxnSp>
        <p:nvCxnSpPr>
          <p:cNvPr id="50" name="直接箭头连接符 49"/>
          <p:cNvCxnSpPr/>
          <p:nvPr/>
        </p:nvCxnSpPr>
        <p:spPr>
          <a:xfrm>
            <a:off x="11595956" y="2695314"/>
            <a:ext cx="0" cy="3607365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弧形 3"/>
          <p:cNvSpPr/>
          <p:nvPr/>
        </p:nvSpPr>
        <p:spPr>
          <a:xfrm>
            <a:off x="8380207" y="1118296"/>
            <a:ext cx="3270081" cy="908001"/>
          </a:xfrm>
          <a:prstGeom prst="arc">
            <a:avLst>
              <a:gd name="adj1" fmla="val 16200000"/>
              <a:gd name="adj2" fmla="val 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33097" y="941386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假冒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charset="-122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charset="-122"/>
              </a:rPr>
              <a:t>IP</a:t>
            </a:r>
            <a:endParaRPr lang="zh-CN" altLang="en-US" dirty="0"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sp>
        <p:nvSpPr>
          <p:cNvPr id="53" name="弧形 52"/>
          <p:cNvSpPr/>
          <p:nvPr/>
        </p:nvSpPr>
        <p:spPr>
          <a:xfrm flipH="1">
            <a:off x="7334687" y="1130119"/>
            <a:ext cx="2691127" cy="823550"/>
          </a:xfrm>
          <a:prstGeom prst="arc">
            <a:avLst>
              <a:gd name="adj1" fmla="val 16200000"/>
              <a:gd name="adj2" fmla="val 76390"/>
            </a:avLst>
          </a:prstGeom>
          <a:ln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直接箭头连接符 53"/>
          <p:cNvCxnSpPr/>
          <p:nvPr/>
        </p:nvCxnSpPr>
        <p:spPr>
          <a:xfrm>
            <a:off x="9671452" y="3575370"/>
            <a:ext cx="1914373" cy="535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316" grpId="0"/>
      <p:bldP spid="52" grpId="0"/>
      <p:bldP spid="39" grpId="0" animBg="1"/>
      <p:bldP spid="44" grpId="0"/>
      <p:bldP spid="4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1422400" cy="534035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前讲复习</a:t>
            </a:r>
            <a:endParaRPr lang="zh-CN" altLang="en-US" sz="2800" b="1" dirty="0">
              <a:solidFill>
                <a:srgbClr val="940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3063" y="1983105"/>
            <a:ext cx="10761859" cy="3412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0" hangingPunct="0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为什么TCP释放连接用了4个报文段，而TCP建立连接只需要3个？</a:t>
            </a:r>
            <a:endParaRPr lang="zh-CN" altLang="zh-CN" b="0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 eaLnBrk="0" hangingPunct="0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对于数据字段长度=0的SYN/FIN报文段S，假定S的序号为x，为什么其ACK报文段的序号等于x</a:t>
            </a:r>
            <a:r>
              <a:rPr lang="zh-CN" altLang="zh-CN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+1</a:t>
            </a: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？</a:t>
            </a:r>
            <a:endParaRPr lang="zh-CN" altLang="zh-CN" b="0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 eaLnBrk="0" hangingPunct="0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zh-CN" altLang="zh-CN" kern="1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请查阅TCP状态机图示，了解客户机和服务器在TCP通信过程中的状态变化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0" hangingPunct="0">
              <a:lnSpc>
                <a:spcPct val="150000"/>
              </a:lnSpc>
              <a:spcAft>
                <a:spcPts val="600"/>
              </a:spcAft>
            </a:pPr>
            <a:endParaRPr lang="en-US" altLang="zh-CN" kern="10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0" hangingPunct="0">
              <a:lnSpc>
                <a:spcPct val="150000"/>
              </a:lnSpc>
              <a:spcAft>
                <a:spcPts val="600"/>
              </a:spcAft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参考资料：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0" hangingPunct="0">
              <a:lnSpc>
                <a:spcPct val="150000"/>
              </a:lnSpc>
              <a:spcAft>
                <a:spcPts val="60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[1] </a:t>
            </a:r>
            <a:r>
              <a:rPr lang="en-US" altLang="zh-CN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Kevin R. Fall </a:t>
            </a:r>
            <a:r>
              <a:rPr lang="zh-CN" altLang="en-US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著，吴英等 译。</a:t>
            </a:r>
            <a:r>
              <a:rPr lang="en-US" altLang="zh-CN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《TCP/IP</a:t>
            </a:r>
            <a:r>
              <a:rPr lang="zh-CN" altLang="en-US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详解 卷</a:t>
            </a:r>
            <a:r>
              <a:rPr lang="en-US" altLang="zh-CN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：协议</a:t>
            </a:r>
            <a:r>
              <a:rPr lang="en-US" altLang="zh-CN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》</a:t>
            </a:r>
            <a:endParaRPr lang="en-US" altLang="zh-CN" i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0" hangingPunct="0">
              <a:lnSpc>
                <a:spcPct val="150000"/>
              </a:lnSpc>
              <a:spcAft>
                <a:spcPts val="600"/>
              </a:spcAft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[2] </a:t>
            </a:r>
            <a:r>
              <a:rPr lang="en-US" altLang="zh-CN" i="1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F.Kurose</a:t>
            </a:r>
            <a:r>
              <a:rPr lang="en-US" altLang="zh-CN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James</a:t>
            </a:r>
            <a:r>
              <a:rPr lang="zh-CN" altLang="en-US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等 著，陈鸣 译。</a:t>
            </a:r>
            <a:r>
              <a:rPr lang="en-US" altLang="zh-CN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《</a:t>
            </a:r>
            <a:r>
              <a:rPr lang="zh-CN" altLang="en-US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计算机网络：自顶向下方法</a:t>
            </a:r>
            <a:r>
              <a:rPr lang="en-US" altLang="zh-CN" i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》</a:t>
            </a:r>
            <a:endParaRPr lang="en-US" altLang="zh-CN" i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316" name="文本框 8"/>
          <p:cNvSpPr txBox="1"/>
          <p:nvPr/>
        </p:nvSpPr>
        <p:spPr>
          <a:xfrm>
            <a:off x="523875" y="928688"/>
            <a:ext cx="7993063" cy="54034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3.4.3 TCP基本通信过程（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拓展学习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/>
    </mc:Choice>
    <mc:Fallback>
      <p:transition spd="slow" advClick="0"/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" grpId="0"/>
      <p:bldP spid="13316" grpId="0"/>
    </p:bldLst>
  </p:timing>
</p:sld>
</file>

<file path=ppt/tags/tag1.xml><?xml version="1.0" encoding="utf-8"?>
<p:tagLst xmlns:p="http://schemas.openxmlformats.org/presentationml/2006/main">
  <p:tag name="KSO_WM_UNIT_TABLE_BEAUTIFY" val="smartTable{97bc3331-6234-450f-b85c-c261ced6e4e6}"/>
</p:tagLst>
</file>

<file path=ppt/tags/tag2.xml><?xml version="1.0" encoding="utf-8"?>
<p:tagLst xmlns:p="http://schemas.openxmlformats.org/presentationml/2006/main">
  <p:tag name="ISPRING_PRESENTATION_TITLE" val="09130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6531</Words>
  <Application>WPS 演示</Application>
  <PresentationFormat>宽屏</PresentationFormat>
  <Paragraphs>997</Paragraphs>
  <Slides>33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33</vt:i4>
      </vt:variant>
    </vt:vector>
  </HeadingPairs>
  <TitlesOfParts>
    <vt:vector size="57" baseType="lpstr">
      <vt:lpstr>Arial</vt:lpstr>
      <vt:lpstr>宋体</vt:lpstr>
      <vt:lpstr>Wingdings</vt:lpstr>
      <vt:lpstr>思源宋体 CN Heavy</vt:lpstr>
      <vt:lpstr>微软雅黑</vt:lpstr>
      <vt:lpstr>Century Gothic</vt:lpstr>
      <vt:lpstr>LilyUPC</vt:lpstr>
      <vt:lpstr>Microsoft Sans Serif</vt:lpstr>
      <vt:lpstr>等线</vt:lpstr>
      <vt:lpstr>Calibri</vt:lpstr>
      <vt:lpstr>方正兰亭中黑_GBK</vt:lpstr>
      <vt:lpstr>黑体</vt:lpstr>
      <vt:lpstr>Times New Roman</vt:lpstr>
      <vt:lpstr>Calibri</vt:lpstr>
      <vt:lpstr>Wingdings</vt:lpstr>
      <vt:lpstr>Arial Unicode MS</vt:lpstr>
      <vt:lpstr>等线 Light</vt:lpstr>
      <vt:lpstr>Times New Roman</vt:lpstr>
      <vt:lpstr>楷体</vt:lpstr>
      <vt:lpstr>字魂105号-简雅黑</vt:lpstr>
      <vt:lpstr>Office 主题​​</vt:lpstr>
      <vt:lpstr>Visio.Drawing.11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091304</dc:title>
  <dc:creator>龙时富</dc:creator>
  <cp:lastModifiedBy>杨韩冰</cp:lastModifiedBy>
  <cp:revision>1486</cp:revision>
  <dcterms:created xsi:type="dcterms:W3CDTF">2017-09-08T08:49:00Z</dcterms:created>
  <dcterms:modified xsi:type="dcterms:W3CDTF">2025-04-24T07:03:07Z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B42D9C8F560943EBA97B28C3E8596B62_12</vt:lpwstr>
  </property>
</Properties>
</file>